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3.xml" ContentType="application/vnd.openxmlformats-officedocument.presentationml.notesSlide+xml"/>
  <Override PartName="/ppt/tags/tag11.xml" ContentType="application/vnd.openxmlformats-officedocument.presentationml.tags+xml"/>
  <Override PartName="/ppt/notesSlides/notesSlide4.xml" ContentType="application/vnd.openxmlformats-officedocument.presentationml.notesSlide+xml"/>
  <Override PartName="/ppt/tags/tag12.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3" r:id="rId2"/>
  </p:sldMasterIdLst>
  <p:notesMasterIdLst>
    <p:notesMasterId r:id="rId34"/>
  </p:notesMasterIdLst>
  <p:sldIdLst>
    <p:sldId id="257" r:id="rId3"/>
    <p:sldId id="773" r:id="rId4"/>
    <p:sldId id="774" r:id="rId5"/>
    <p:sldId id="817" r:id="rId6"/>
    <p:sldId id="353" r:id="rId7"/>
    <p:sldId id="420" r:id="rId8"/>
    <p:sldId id="402" r:id="rId9"/>
    <p:sldId id="413" r:id="rId10"/>
    <p:sldId id="412" r:id="rId11"/>
    <p:sldId id="404" r:id="rId12"/>
    <p:sldId id="387" r:id="rId13"/>
    <p:sldId id="388" r:id="rId14"/>
    <p:sldId id="389" r:id="rId15"/>
    <p:sldId id="405" r:id="rId16"/>
    <p:sldId id="419" r:id="rId17"/>
    <p:sldId id="391" r:id="rId18"/>
    <p:sldId id="392" r:id="rId19"/>
    <p:sldId id="393" r:id="rId20"/>
    <p:sldId id="394" r:id="rId21"/>
    <p:sldId id="395" r:id="rId22"/>
    <p:sldId id="407" r:id="rId23"/>
    <p:sldId id="408" r:id="rId24"/>
    <p:sldId id="409" r:id="rId25"/>
    <p:sldId id="418" r:id="rId26"/>
    <p:sldId id="397" r:id="rId27"/>
    <p:sldId id="398" r:id="rId28"/>
    <p:sldId id="399" r:id="rId29"/>
    <p:sldId id="400" r:id="rId30"/>
    <p:sldId id="410" r:id="rId31"/>
    <p:sldId id="411" r:id="rId32"/>
    <p:sldId id="364" r:id="rId3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926A"/>
    <a:srgbClr val="009900"/>
    <a:srgbClr val="008000"/>
    <a:srgbClr val="CC6600"/>
    <a:srgbClr val="993300"/>
    <a:srgbClr val="4A7BA8"/>
    <a:srgbClr val="CDEAE0"/>
    <a:srgbClr val="A9D18E"/>
    <a:srgbClr val="96D1C0"/>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208" autoAdjust="0"/>
  </p:normalViewPr>
  <p:slideViewPr>
    <p:cSldViewPr snapToGrid="0">
      <p:cViewPr varScale="1">
        <p:scale>
          <a:sx n="73" d="100"/>
          <a:sy n="73" d="100"/>
        </p:scale>
        <p:origin x="380"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2AF9E-48EE-42D5-92EE-A38B2128E26C}" type="datetimeFigureOut">
              <a:rPr lang="zh-CN" altLang="en-US" smtClean="0"/>
              <a:t>2023/7/5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8465ED-FED4-4674-A2E9-69B850FDFA18}" type="slidenum">
              <a:rPr lang="zh-CN" altLang="en-US" smtClean="0"/>
              <a:t>‹#›</a:t>
            </a:fld>
            <a:endParaRPr lang="zh-CN" altLang="en-US"/>
          </a:p>
        </p:txBody>
      </p:sp>
    </p:spTree>
    <p:extLst>
      <p:ext uri="{BB962C8B-B14F-4D97-AF65-F5344CB8AC3E}">
        <p14:creationId xmlns:p14="http://schemas.microsoft.com/office/powerpoint/2010/main" val="27170742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98465ED-FED4-4674-A2E9-69B850FDFA18}" type="slidenum">
              <a:rPr lang="zh-CN" altLang="en-US" smtClean="0"/>
              <a:t>4</a:t>
            </a:fld>
            <a:endParaRPr lang="zh-CN" altLang="en-US"/>
          </a:p>
        </p:txBody>
      </p:sp>
    </p:spTree>
    <p:extLst>
      <p:ext uri="{BB962C8B-B14F-4D97-AF65-F5344CB8AC3E}">
        <p14:creationId xmlns:p14="http://schemas.microsoft.com/office/powerpoint/2010/main" val="17851144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98465ED-FED4-4674-A2E9-69B850FDFA18}" type="slidenum">
              <a:rPr lang="zh-CN" altLang="en-US" smtClean="0"/>
              <a:t>6</a:t>
            </a:fld>
            <a:endParaRPr lang="zh-CN" altLang="en-US"/>
          </a:p>
        </p:txBody>
      </p:sp>
    </p:spTree>
    <p:extLst>
      <p:ext uri="{BB962C8B-B14F-4D97-AF65-F5344CB8AC3E}">
        <p14:creationId xmlns:p14="http://schemas.microsoft.com/office/powerpoint/2010/main" val="14177135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98465ED-FED4-4674-A2E9-69B850FDFA18}" type="slidenum">
              <a:rPr lang="zh-CN" altLang="en-US" smtClean="0"/>
              <a:t>15</a:t>
            </a:fld>
            <a:endParaRPr lang="zh-CN" altLang="en-US"/>
          </a:p>
        </p:txBody>
      </p:sp>
    </p:spTree>
    <p:extLst>
      <p:ext uri="{BB962C8B-B14F-4D97-AF65-F5344CB8AC3E}">
        <p14:creationId xmlns:p14="http://schemas.microsoft.com/office/powerpoint/2010/main" val="14689013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98465ED-FED4-4674-A2E9-69B850FDFA18}" type="slidenum">
              <a:rPr lang="zh-CN" altLang="en-US" smtClean="0"/>
              <a:t>24</a:t>
            </a:fld>
            <a:endParaRPr lang="zh-CN" altLang="en-US"/>
          </a:p>
        </p:txBody>
      </p:sp>
    </p:spTree>
    <p:extLst>
      <p:ext uri="{BB962C8B-B14F-4D97-AF65-F5344CB8AC3E}">
        <p14:creationId xmlns:p14="http://schemas.microsoft.com/office/powerpoint/2010/main" val="20114563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98465ED-FED4-4674-A2E9-69B850FDFA18}" type="slidenum">
              <a:rPr lang="zh-CN" altLang="en-US" smtClean="0"/>
              <a:t>26</a:t>
            </a:fld>
            <a:endParaRPr lang="zh-CN" altLang="en-US"/>
          </a:p>
        </p:txBody>
      </p:sp>
    </p:spTree>
    <p:extLst>
      <p:ext uri="{BB962C8B-B14F-4D97-AF65-F5344CB8AC3E}">
        <p14:creationId xmlns:p14="http://schemas.microsoft.com/office/powerpoint/2010/main" val="21943767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98465ED-FED4-4674-A2E9-69B850FDFA18}" type="slidenum">
              <a:rPr lang="zh-CN" altLang="en-US" smtClean="0"/>
              <a:t>29</a:t>
            </a:fld>
            <a:endParaRPr lang="zh-CN" altLang="en-US"/>
          </a:p>
        </p:txBody>
      </p:sp>
    </p:spTree>
    <p:extLst>
      <p:ext uri="{BB962C8B-B14F-4D97-AF65-F5344CB8AC3E}">
        <p14:creationId xmlns:p14="http://schemas.microsoft.com/office/powerpoint/2010/main" val="9380602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normAutofit/>
          </a:bodyPr>
          <a:lstStyle>
            <a:lvl1pPr algn="ctr" fontAlgn="auto">
              <a:lnSpc>
                <a:spcPct val="300000"/>
              </a:lnSpc>
              <a:defRPr sz="4400" b="1" baseline="0"/>
            </a:lvl1pPr>
          </a:lstStyle>
          <a:p>
            <a:r>
              <a:rPr lang="zh-CN" altLang="en-US" dirty="0"/>
              <a:t>单击此处编辑母版标题样式</a:t>
            </a:r>
          </a:p>
        </p:txBody>
      </p:sp>
      <p:sp>
        <p:nvSpPr>
          <p:cNvPr id="3" name="副标题 2"/>
          <p:cNvSpPr>
            <a:spLocks noGrp="1"/>
          </p:cNvSpPr>
          <p:nvPr>
            <p:ph type="subTitle" idx="1"/>
          </p:nvPr>
        </p:nvSpPr>
        <p:spPr>
          <a:xfrm>
            <a:off x="1524000" y="3602038"/>
            <a:ext cx="9144000" cy="1655762"/>
          </a:xfrm>
          <a:prstGeom prst="rect">
            <a:avLst/>
          </a:prstGeom>
        </p:spPr>
        <p:txBody>
          <a:bodyPr>
            <a:normAutofit/>
          </a:bodyPr>
          <a:lstStyle>
            <a:lvl1pPr marL="0" indent="0" algn="ctr">
              <a:buNone/>
              <a:defRPr sz="2800" b="1">
                <a:latin typeface="+mj-ea"/>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单击以编辑母版副标题样式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C97792F0-EF9F-4BE1-B63F-330AAC244D27}" type="datetimeFigureOut">
              <a:rPr lang="zh-CN" altLang="en-US" smtClean="0"/>
              <a:t>2023/7/5</a:t>
            </a:fld>
            <a:endParaRPr lang="zh-CN" altLang="en-US" dirty="0"/>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4D33D2BE-6074-4EB8-AFBD-6B932328C7F8}" type="slidenum">
              <a:rPr lang="zh-CN" altLang="en-US" smtClean="0"/>
              <a:t>‹#›</a:t>
            </a:fld>
            <a:endParaRPr lang="zh-CN" altLang="en-US"/>
          </a:p>
        </p:txBody>
      </p:sp>
    </p:spTree>
    <p:extLst>
      <p:ext uri="{BB962C8B-B14F-4D97-AF65-F5344CB8AC3E}">
        <p14:creationId xmlns:p14="http://schemas.microsoft.com/office/powerpoint/2010/main" val="2087876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normAutofit/>
          </a:bodyPr>
          <a:lstStyle>
            <a:lvl1pPr>
              <a:defRPr sz="2800" b="1"/>
            </a:lvl1pPr>
          </a:lstStyle>
          <a:p>
            <a:r>
              <a:rPr lang="zh-CN" altLang="en-US" dirty="0"/>
              <a:t>单击此处编辑母版标题样式</a:t>
            </a:r>
          </a:p>
        </p:txBody>
      </p:sp>
      <p:sp>
        <p:nvSpPr>
          <p:cNvPr id="3" name="内容占位符 2"/>
          <p:cNvSpPr>
            <a:spLocks noGrp="1"/>
          </p:cNvSpPr>
          <p:nvPr>
            <p:ph idx="1"/>
          </p:nvPr>
        </p:nvSpPr>
        <p:spPr>
          <a:xfrm>
            <a:off x="838200" y="1825625"/>
            <a:ext cx="10515600" cy="4351338"/>
          </a:xfrm>
          <a:prstGeom prst="rect">
            <a:avLst/>
          </a:prstGeom>
        </p:spPr>
        <p:txBody>
          <a:bodyPr>
            <a:normAutofit/>
          </a:bodyPr>
          <a:lstStyle>
            <a:lvl1pPr>
              <a:defRPr sz="2800" b="1">
                <a:latin typeface="+mn-ea"/>
                <a:ea typeface="+mn-ea"/>
              </a:defRPr>
            </a:lvl1pPr>
            <a:lvl2pPr>
              <a:defRPr sz="2400" b="1">
                <a:latin typeface="+mn-ea"/>
                <a:ea typeface="+mn-ea"/>
              </a:defRPr>
            </a:lvl2pPr>
            <a:lvl3pPr>
              <a:defRPr sz="2400" b="1">
                <a:latin typeface="+mn-ea"/>
                <a:ea typeface="+mn-ea"/>
              </a:defRPr>
            </a:lvl3pPr>
            <a:lvl4pPr>
              <a:defRPr sz="2400" b="1">
                <a:latin typeface="+mn-ea"/>
                <a:ea typeface="+mn-ea"/>
              </a:defRPr>
            </a:lvl4pPr>
            <a:lvl5pPr>
              <a:defRPr sz="2400" b="1">
                <a:latin typeface="+mn-ea"/>
                <a:ea typeface="+mn-ea"/>
              </a:defRPr>
            </a:lvl5pPr>
          </a:lstStyle>
          <a:p>
            <a:pPr lvl="0"/>
            <a:r>
              <a:rPr lang="zh-CN" altLang="en-US" dirty="0"/>
              <a:t>编辑母版文本样式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C97792F0-EF9F-4BE1-B63F-330AAC244D27}" type="datetimeFigureOut">
              <a:rPr lang="zh-CN" altLang="en-US" smtClean="0"/>
              <a:t>2023/7/5</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4D33D2BE-6074-4EB8-AFBD-6B932328C7F8}" type="slidenum">
              <a:rPr lang="zh-CN" altLang="en-US" smtClean="0"/>
              <a:t>‹#›</a:t>
            </a:fld>
            <a:endParaRPr lang="zh-CN" altLang="en-US"/>
          </a:p>
        </p:txBody>
      </p:sp>
    </p:spTree>
    <p:extLst>
      <p:ext uri="{BB962C8B-B14F-4D97-AF65-F5344CB8AC3E}">
        <p14:creationId xmlns:p14="http://schemas.microsoft.com/office/powerpoint/2010/main" val="648709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normAutofit/>
          </a:bodyPr>
          <a:lstStyle>
            <a:lvl1pPr>
              <a:defRPr sz="4000" b="1"/>
            </a:lvl1pPr>
          </a:lstStyle>
          <a:p>
            <a:r>
              <a:rPr lang="zh-CN" altLang="en-US" dirty="0"/>
              <a:t>单击此处编辑母版标题样式</a:t>
            </a:r>
          </a:p>
        </p:txBody>
      </p:sp>
      <p:sp>
        <p:nvSpPr>
          <p:cNvPr id="3" name="文本占位符 2"/>
          <p:cNvSpPr>
            <a:spLocks noGrp="1"/>
          </p:cNvSpPr>
          <p:nvPr>
            <p:ph type="body" idx="1"/>
          </p:nvPr>
        </p:nvSpPr>
        <p:spPr>
          <a:xfrm>
            <a:off x="831850" y="4589463"/>
            <a:ext cx="10515600" cy="1500187"/>
          </a:xfrm>
          <a:prstGeom prst="rect">
            <a:avLst/>
          </a:prstGeom>
        </p:spPr>
        <p:txBody>
          <a:bodyPr/>
          <a:lstStyle>
            <a:lvl1pPr marL="0" indent="0">
              <a:buNone/>
              <a:defRPr sz="2800" b="1">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编辑母版文本样式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C97792F0-EF9F-4BE1-B63F-330AAC244D27}" type="datetimeFigureOut">
              <a:rPr lang="zh-CN" altLang="en-US" smtClean="0"/>
              <a:t>2023/7/5</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4D33D2BE-6074-4EB8-AFBD-6B932328C7F8}" type="slidenum">
              <a:rPr lang="zh-CN" altLang="en-US" smtClean="0"/>
              <a:t>‹#›</a:t>
            </a:fld>
            <a:endParaRPr lang="zh-CN" altLang="en-US"/>
          </a:p>
        </p:txBody>
      </p:sp>
    </p:spTree>
    <p:extLst>
      <p:ext uri="{BB962C8B-B14F-4D97-AF65-F5344CB8AC3E}">
        <p14:creationId xmlns:p14="http://schemas.microsoft.com/office/powerpoint/2010/main" val="32720957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normAutofit/>
          </a:bodyPr>
          <a:lstStyle>
            <a:lvl1pPr>
              <a:defRPr sz="2800" b="1"/>
            </a:lvl1pPr>
          </a:lstStyle>
          <a:p>
            <a:r>
              <a:rPr lang="zh-CN" altLang="en-US" dirty="0"/>
              <a:t>单击此处编辑母版标题样式</a:t>
            </a:r>
          </a:p>
        </p:txBody>
      </p:sp>
      <p:sp>
        <p:nvSpPr>
          <p:cNvPr id="3" name="文本占位符 2"/>
          <p:cNvSpPr>
            <a:spLocks noGrp="1"/>
          </p:cNvSpPr>
          <p:nvPr>
            <p:ph type="body" idx="1"/>
          </p:nvPr>
        </p:nvSpPr>
        <p:spPr>
          <a:xfrm>
            <a:off x="839788" y="1681163"/>
            <a:ext cx="5157787" cy="823912"/>
          </a:xfrm>
          <a:prstGeom prst="rect">
            <a:avLst/>
          </a:prstGeo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p>
        </p:txBody>
      </p:sp>
      <p:sp>
        <p:nvSpPr>
          <p:cNvPr id="4" name="内容占位符 3"/>
          <p:cNvSpPr>
            <a:spLocks noGrp="1"/>
          </p:cNvSpPr>
          <p:nvPr>
            <p:ph sz="half" idx="2"/>
          </p:nvPr>
        </p:nvSpPr>
        <p:spPr>
          <a:xfrm>
            <a:off x="839788" y="2505075"/>
            <a:ext cx="5157787" cy="3684588"/>
          </a:xfrm>
          <a:prstGeom prst="rect">
            <a:avLst/>
          </a:prstGeom>
        </p:spPr>
        <p:txBody>
          <a:bodyPr>
            <a:normAutofit/>
          </a:bodyPr>
          <a:lstStyle>
            <a:lvl1pPr>
              <a:defRPr sz="2800" b="1"/>
            </a:lvl1pPr>
            <a:lvl2pPr>
              <a:defRPr sz="2400" b="1"/>
            </a:lvl2pPr>
            <a:lvl3pPr>
              <a:defRPr sz="2400" b="1"/>
            </a:lvl3pPr>
            <a:lvl4pPr>
              <a:defRPr sz="2400" b="1"/>
            </a:lvl4pPr>
            <a:lvl5pPr>
              <a:defRPr sz="2400" b="1"/>
            </a:lvl5pPr>
          </a:lstStyle>
          <a:p>
            <a:pPr lvl="0"/>
            <a:r>
              <a:rPr lang="zh-CN" altLang="en-US" dirty="0"/>
              <a:t>编辑母版文本样式</a:t>
            </a:r>
          </a:p>
        </p:txBody>
      </p:sp>
      <p:sp>
        <p:nvSpPr>
          <p:cNvPr id="5" name="文本占位符 4"/>
          <p:cNvSpPr>
            <a:spLocks noGrp="1"/>
          </p:cNvSpPr>
          <p:nvPr>
            <p:ph type="body" sz="quarter" idx="3"/>
          </p:nvPr>
        </p:nvSpPr>
        <p:spPr>
          <a:xfrm>
            <a:off x="6172200" y="1681163"/>
            <a:ext cx="5183188" cy="823912"/>
          </a:xfrm>
          <a:prstGeom prst="rect">
            <a:avLst/>
          </a:prstGeo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p>
        </p:txBody>
      </p:sp>
      <p:sp>
        <p:nvSpPr>
          <p:cNvPr id="6" name="内容占位符 5"/>
          <p:cNvSpPr>
            <a:spLocks noGrp="1"/>
          </p:cNvSpPr>
          <p:nvPr>
            <p:ph sz="quarter" idx="4"/>
          </p:nvPr>
        </p:nvSpPr>
        <p:spPr>
          <a:xfrm>
            <a:off x="6172200" y="2505075"/>
            <a:ext cx="5183188" cy="3684588"/>
          </a:xfrm>
          <a:prstGeom prst="rect">
            <a:avLst/>
          </a:prstGeom>
        </p:spPr>
        <p:txBody>
          <a:bodyPr>
            <a:normAutofit/>
          </a:bodyPr>
          <a:lstStyle>
            <a:lvl1pPr>
              <a:defRPr sz="2800" b="1">
                <a:latin typeface="+mn-ea"/>
                <a:ea typeface="+mn-ea"/>
              </a:defRPr>
            </a:lvl1pPr>
            <a:lvl2pPr>
              <a:defRPr sz="2400" b="1">
                <a:latin typeface="+mn-ea"/>
                <a:ea typeface="+mn-ea"/>
              </a:defRPr>
            </a:lvl2pPr>
            <a:lvl3pPr>
              <a:defRPr sz="2400" b="1">
                <a:latin typeface="+mn-ea"/>
                <a:ea typeface="+mn-ea"/>
              </a:defRPr>
            </a:lvl3pPr>
            <a:lvl4pPr>
              <a:defRPr sz="2400" b="1">
                <a:latin typeface="+mn-ea"/>
                <a:ea typeface="+mn-ea"/>
              </a:defRPr>
            </a:lvl4pPr>
            <a:lvl5pPr>
              <a:defRPr sz="2400" b="1">
                <a:latin typeface="+mn-ea"/>
                <a:ea typeface="+mn-ea"/>
              </a:defRPr>
            </a:lvl5pPr>
          </a:lstStyle>
          <a:p>
            <a:pPr lvl="0"/>
            <a:r>
              <a:rPr lang="zh-CN" altLang="en-US" dirty="0"/>
              <a:t>编辑母版文本样式</a:t>
            </a:r>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C97792F0-EF9F-4BE1-B63F-330AAC244D27}" type="datetimeFigureOut">
              <a:rPr lang="zh-CN" altLang="en-US" smtClean="0"/>
              <a:t>2023/7/5</a:t>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4D33D2BE-6074-4EB8-AFBD-6B932328C7F8}" type="slidenum">
              <a:rPr lang="zh-CN" altLang="en-US" smtClean="0"/>
              <a:t>‹#›</a:t>
            </a:fld>
            <a:endParaRPr lang="zh-CN" altLang="en-US"/>
          </a:p>
        </p:txBody>
      </p:sp>
    </p:spTree>
    <p:extLst>
      <p:ext uri="{BB962C8B-B14F-4D97-AF65-F5344CB8AC3E}">
        <p14:creationId xmlns:p14="http://schemas.microsoft.com/office/powerpoint/2010/main" val="30958868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normAutofit/>
          </a:bodyPr>
          <a:lstStyle>
            <a:lvl1pPr>
              <a:defRPr sz="2800" b="1"/>
            </a:lvl1pPr>
          </a:lstStyle>
          <a:p>
            <a:r>
              <a:rPr lang="zh-CN" altLang="en-US" dirty="0"/>
              <a:t>单击此处编辑母版标题样式</a:t>
            </a:r>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C97792F0-EF9F-4BE1-B63F-330AAC244D27}" type="datetimeFigureOut">
              <a:rPr lang="zh-CN" altLang="en-US" smtClean="0"/>
              <a:t>2023/7/5</a:t>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4D33D2BE-6074-4EB8-AFBD-6B932328C7F8}" type="slidenum">
              <a:rPr lang="zh-CN" altLang="en-US" smtClean="0"/>
              <a:t>‹#›</a:t>
            </a:fld>
            <a:endParaRPr lang="zh-CN" altLang="en-US"/>
          </a:p>
        </p:txBody>
      </p:sp>
    </p:spTree>
    <p:extLst>
      <p:ext uri="{BB962C8B-B14F-4D97-AF65-F5344CB8AC3E}">
        <p14:creationId xmlns:p14="http://schemas.microsoft.com/office/powerpoint/2010/main" val="1942127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C97792F0-EF9F-4BE1-B63F-330AAC244D27}" type="datetimeFigureOut">
              <a:rPr lang="zh-CN" altLang="en-US" smtClean="0"/>
              <a:t>2023/7/5</a:t>
            </a:fld>
            <a:endParaRPr lang="zh-CN" altLang="en-US" dirty="0"/>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4D33D2BE-6074-4EB8-AFBD-6B932328C7F8}" type="slidenum">
              <a:rPr lang="zh-CN" altLang="en-US" smtClean="0"/>
              <a:t>‹#›</a:t>
            </a:fld>
            <a:endParaRPr lang="zh-CN" altLang="en-US"/>
          </a:p>
        </p:txBody>
      </p:sp>
      <p:sp>
        <p:nvSpPr>
          <p:cNvPr id="6" name="动作按钮: 后退或前一项 5">
            <a:hlinkClick r:id="" action="ppaction://hlinkshowjump?jump=previousslide" highlightClick="1"/>
          </p:cNvPr>
          <p:cNvSpPr/>
          <p:nvPr/>
        </p:nvSpPr>
        <p:spPr>
          <a:xfrm>
            <a:off x="10566200" y="6366510"/>
            <a:ext cx="360000" cy="360000"/>
          </a:xfrm>
          <a:prstGeom prst="actionButtonBackPrevious">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动作按钮: 前进或下一项 6">
            <a:hlinkClick r:id="" action="ppaction://hlinkshowjump?jump=nextslide" highlightClick="1"/>
          </p:cNvPr>
          <p:cNvSpPr/>
          <p:nvPr/>
        </p:nvSpPr>
        <p:spPr>
          <a:xfrm>
            <a:off x="11013440" y="6366510"/>
            <a:ext cx="360000" cy="360000"/>
          </a:xfrm>
          <a:prstGeom prst="actionButtonForwardNex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动作按钮: 第一张 7">
            <a:hlinkClick r:id="" action="ppaction://hlinkshowjump?jump=firstslide" highlightClick="1"/>
          </p:cNvPr>
          <p:cNvSpPr/>
          <p:nvPr/>
        </p:nvSpPr>
        <p:spPr>
          <a:xfrm>
            <a:off x="11462820" y="6366510"/>
            <a:ext cx="360000" cy="360000"/>
          </a:xfrm>
          <a:prstGeom prst="actionButtonHom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动作按钮: 后退或前一项 8">
            <a:hlinkClick r:id="" action="ppaction://hlinkshowjump?jump=previousslide" highlightClick="1"/>
          </p:cNvPr>
          <p:cNvSpPr/>
          <p:nvPr userDrawn="1"/>
        </p:nvSpPr>
        <p:spPr>
          <a:xfrm>
            <a:off x="10566200" y="6366510"/>
            <a:ext cx="360000" cy="360000"/>
          </a:xfrm>
          <a:prstGeom prst="actionButtonBackPrevious">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动作按钮: 前进或下一项 9">
            <a:hlinkClick r:id="" action="ppaction://hlinkshowjump?jump=nextslide" highlightClick="1"/>
          </p:cNvPr>
          <p:cNvSpPr/>
          <p:nvPr userDrawn="1"/>
        </p:nvSpPr>
        <p:spPr>
          <a:xfrm>
            <a:off x="11013440" y="6366510"/>
            <a:ext cx="360000" cy="360000"/>
          </a:xfrm>
          <a:prstGeom prst="actionButtonForwardNex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动作按钮: 第一张 10">
            <a:hlinkClick r:id="" action="ppaction://hlinkshowjump?jump=firstslide" highlightClick="1"/>
          </p:cNvPr>
          <p:cNvSpPr/>
          <p:nvPr userDrawn="1"/>
        </p:nvSpPr>
        <p:spPr>
          <a:xfrm>
            <a:off x="11462820" y="6366510"/>
            <a:ext cx="360000" cy="360000"/>
          </a:xfrm>
          <a:prstGeom prst="actionButtonHom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棱台 15"/>
          <p:cNvSpPr/>
          <p:nvPr userDrawn="1"/>
        </p:nvSpPr>
        <p:spPr>
          <a:xfrm>
            <a:off x="1" y="-27160"/>
            <a:ext cx="540000" cy="6885160"/>
          </a:xfrm>
          <a:prstGeom prst="bevel">
            <a:avLst/>
          </a:prstGeom>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ltLang="zh-CN" dirty="0"/>
          </a:p>
          <a:p>
            <a:pPr algn="ctr"/>
            <a:endParaRPr lang="zh-CN" altLang="en-US" sz="2800" b="1" dirty="0"/>
          </a:p>
        </p:txBody>
      </p:sp>
    </p:spTree>
    <p:extLst>
      <p:ext uri="{BB962C8B-B14F-4D97-AF65-F5344CB8AC3E}">
        <p14:creationId xmlns:p14="http://schemas.microsoft.com/office/powerpoint/2010/main" val="19505256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1443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normAutofit/>
          </a:bodyPr>
          <a:lstStyle>
            <a:lvl1pPr>
              <a:defRPr sz="2800" b="1"/>
            </a:lvl1pPr>
          </a:lstStyle>
          <a:p>
            <a:r>
              <a:rPr lang="zh-CN" altLang="en-US" dirty="0"/>
              <a:t>单击此处编辑母版标题样式</a:t>
            </a:r>
          </a:p>
        </p:txBody>
      </p:sp>
      <p:sp>
        <p:nvSpPr>
          <p:cNvPr id="3" name="内容占位符 2"/>
          <p:cNvSpPr>
            <a:spLocks noGrp="1"/>
          </p:cNvSpPr>
          <p:nvPr>
            <p:ph idx="1"/>
          </p:nvPr>
        </p:nvSpPr>
        <p:spPr>
          <a:xfrm>
            <a:off x="5183188" y="987425"/>
            <a:ext cx="6172200" cy="4873625"/>
          </a:xfrm>
          <a:prstGeom prst="rect">
            <a:avLst/>
          </a:prstGeom>
        </p:spPr>
        <p:txBody>
          <a:bodyPr/>
          <a:lstStyle>
            <a:lvl1pPr>
              <a:defRPr sz="2800" b="1">
                <a:latin typeface="+mj-ea"/>
                <a:ea typeface="+mj-ea"/>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编辑母版文本样式</a:t>
            </a:r>
          </a:p>
        </p:txBody>
      </p:sp>
      <p:sp>
        <p:nvSpPr>
          <p:cNvPr id="4" name="文本占位符 3"/>
          <p:cNvSpPr>
            <a:spLocks noGrp="1"/>
          </p:cNvSpPr>
          <p:nvPr>
            <p:ph type="body" sz="half" idx="2"/>
          </p:nvPr>
        </p:nvSpPr>
        <p:spPr>
          <a:xfrm>
            <a:off x="839788" y="2057400"/>
            <a:ext cx="3932237" cy="3811588"/>
          </a:xfrm>
          <a:prstGeom prst="rect">
            <a:avLst/>
          </a:prstGeom>
        </p:spPr>
        <p:txBody>
          <a:bodyPr>
            <a:normAutofit/>
          </a:bodyPr>
          <a:lstStyle>
            <a:lvl1pPr marL="0" indent="0">
              <a:buNone/>
              <a:defRPr sz="2800" b="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endParaRPr lang="zh-CN" altLang="en-US" dirty="0"/>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C97792F0-EF9F-4BE1-B63F-330AAC244D27}" type="datetimeFigureOut">
              <a:rPr lang="zh-CN" altLang="en-US" smtClean="0"/>
              <a:t>2023/7/5</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4D33D2BE-6074-4EB8-AFBD-6B932328C7F8}" type="slidenum">
              <a:rPr lang="zh-CN" altLang="en-US" smtClean="0"/>
              <a:t>‹#›</a:t>
            </a:fld>
            <a:endParaRPr lang="zh-CN" altLang="en-US"/>
          </a:p>
        </p:txBody>
      </p:sp>
    </p:spTree>
    <p:extLst>
      <p:ext uri="{BB962C8B-B14F-4D97-AF65-F5344CB8AC3E}">
        <p14:creationId xmlns:p14="http://schemas.microsoft.com/office/powerpoint/2010/main" val="2356197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normAutofit/>
          </a:bodyPr>
          <a:lstStyle>
            <a:lvl1pPr>
              <a:defRPr sz="2800" b="1"/>
            </a:lvl1pPr>
          </a:lstStyle>
          <a:p>
            <a:r>
              <a:rPr lang="zh-CN" altLang="en-US" dirty="0"/>
              <a:t>单击此处编辑母版标题样式</a:t>
            </a:r>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normAutofit/>
          </a:bodyPr>
          <a:lstStyle>
            <a:lvl1pPr marL="0" indent="0">
              <a:buNone/>
              <a:defRPr sz="2800" b="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C97792F0-EF9F-4BE1-B63F-330AAC244D27}" type="datetimeFigureOut">
              <a:rPr lang="zh-CN" altLang="en-US" smtClean="0"/>
              <a:t>2023/7/5</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4D33D2BE-6074-4EB8-AFBD-6B932328C7F8}" type="slidenum">
              <a:rPr lang="zh-CN" altLang="en-US" smtClean="0"/>
              <a:t>‹#›</a:t>
            </a:fld>
            <a:endParaRPr lang="zh-CN" altLang="en-US"/>
          </a:p>
        </p:txBody>
      </p:sp>
    </p:spTree>
    <p:extLst>
      <p:ext uri="{BB962C8B-B14F-4D97-AF65-F5344CB8AC3E}">
        <p14:creationId xmlns:p14="http://schemas.microsoft.com/office/powerpoint/2010/main" val="25949504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normAutofit/>
          </a:bodyPr>
          <a:lstStyle>
            <a:lvl1pPr>
              <a:defRPr sz="2800" b="1"/>
            </a:lvl1pPr>
          </a:lstStyle>
          <a:p>
            <a:r>
              <a:rPr lang="zh-CN" altLang="en-US" dirty="0"/>
              <a:t>单击此处编辑母版标题样式</a:t>
            </a:r>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lvl1pPr>
              <a:defRPr b="0"/>
            </a:lvl1pPr>
          </a:lstStyle>
          <a:p>
            <a:pPr lvl="0"/>
            <a:r>
              <a:rPr lang="zh-CN" altLang="en-US" dirty="0"/>
              <a:t>编辑母版文本样式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C97792F0-EF9F-4BE1-B63F-330AAC244D27}" type="datetimeFigureOut">
              <a:rPr lang="zh-CN" altLang="en-US" smtClean="0"/>
              <a:t>2023/7/5</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4D33D2BE-6074-4EB8-AFBD-6B932328C7F8}" type="slidenum">
              <a:rPr lang="zh-CN" altLang="en-US" smtClean="0"/>
              <a:t>‹#›</a:t>
            </a:fld>
            <a:endParaRPr lang="zh-CN" altLang="en-US"/>
          </a:p>
        </p:txBody>
      </p:sp>
    </p:spTree>
    <p:extLst>
      <p:ext uri="{BB962C8B-B14F-4D97-AF65-F5344CB8AC3E}">
        <p14:creationId xmlns:p14="http://schemas.microsoft.com/office/powerpoint/2010/main" val="38607329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normAutofit/>
          </a:bodyPr>
          <a:lstStyle>
            <a:lvl1pPr>
              <a:defRPr sz="2800" b="1"/>
            </a:lvl1pPr>
          </a:lstStyle>
          <a:p>
            <a:r>
              <a:rPr lang="zh-CN" altLang="en-US" dirty="0"/>
              <a:t>单击此处编辑母版标题样式</a:t>
            </a:r>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lvl1pPr>
              <a:defRPr b="1"/>
            </a:lvl1pPr>
          </a:lstStyle>
          <a:p>
            <a:pPr lvl="0"/>
            <a:r>
              <a:rPr lang="zh-CN" altLang="en-US" dirty="0"/>
              <a:t>编辑母版文本样式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C97792F0-EF9F-4BE1-B63F-330AAC244D27}" type="datetimeFigureOut">
              <a:rPr lang="zh-CN" altLang="en-US" smtClean="0"/>
              <a:t>2023/7/5</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4D33D2BE-6074-4EB8-AFBD-6B932328C7F8}" type="slidenum">
              <a:rPr lang="zh-CN" altLang="en-US" smtClean="0"/>
              <a:t>‹#›</a:t>
            </a:fld>
            <a:endParaRPr lang="zh-CN" altLang="en-US"/>
          </a:p>
        </p:txBody>
      </p:sp>
    </p:spTree>
    <p:extLst>
      <p:ext uri="{BB962C8B-B14F-4D97-AF65-F5344CB8AC3E}">
        <p14:creationId xmlns:p14="http://schemas.microsoft.com/office/powerpoint/2010/main" val="19588454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1017804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562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825625"/>
            <a:ext cx="51562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3657328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
        <p:nvSpPr>
          <p:cNvPr id="7" name="图文框 6"/>
          <p:cNvSpPr/>
          <p:nvPr userDrawn="1"/>
        </p:nvSpPr>
        <p:spPr>
          <a:xfrm>
            <a:off x="0" y="-1"/>
            <a:ext cx="12192001" cy="6858001"/>
          </a:xfrm>
          <a:prstGeom prst="frame">
            <a:avLst>
              <a:gd name="adj1" fmla="val 50000"/>
            </a:avLst>
          </a:prstGeom>
          <a:gradFill flip="none" rotWithShape="1">
            <a:gsLst>
              <a:gs pos="74000">
                <a:srgbClr val="007434">
                  <a:alpha val="31000"/>
                </a:srgbClr>
              </a:gs>
              <a:gs pos="4000">
                <a:schemeClr val="bg1">
                  <a:alpha val="0"/>
                </a:schemeClr>
              </a:gs>
              <a:gs pos="100000">
                <a:schemeClr val="bg1">
                  <a:alpha val="64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字魂36号-正文宋楷" panose="00000500000000000000" pitchFamily="2" charset="-122"/>
              <a:ea typeface="字魂36号-正文宋楷" panose="00000500000000000000" pitchFamily="2" charset="-122"/>
            </a:endParaRPr>
          </a:p>
        </p:txBody>
      </p:sp>
      <p:pic>
        <p:nvPicPr>
          <p:cNvPr id="8" name="图片 7"/>
          <p:cNvPicPr>
            <a:picLocks noChangeAspect="1"/>
          </p:cNvPicPr>
          <p:nvPr userDrawn="1"/>
        </p:nvPicPr>
        <p:blipFill rotWithShape="1">
          <a:blip r:embed="rId2" cstate="print">
            <a:extLst>
              <a:ext uri="{28A0092B-C50C-407E-A947-70E740481C1C}">
                <a14:useLocalDpi xmlns:a14="http://schemas.microsoft.com/office/drawing/2010/main" val="0"/>
              </a:ext>
            </a:extLst>
          </a:blip>
          <a:srcRect l="35303" r="7303" b="29466"/>
          <a:stretch>
            <a:fillRect/>
          </a:stretch>
        </p:blipFill>
        <p:spPr>
          <a:xfrm flipH="1">
            <a:off x="0" y="-1905"/>
            <a:ext cx="6996430" cy="6859905"/>
          </a:xfrm>
          <a:prstGeom prst="rect">
            <a:avLst/>
          </a:prstGeom>
        </p:spPr>
      </p:pic>
      <p:sp>
        <p:nvSpPr>
          <p:cNvPr id="9" name="Rectangle 1"/>
          <p:cNvSpPr/>
          <p:nvPr userDrawn="1"/>
        </p:nvSpPr>
        <p:spPr>
          <a:xfrm>
            <a:off x="0" y="-1270"/>
            <a:ext cx="12192000" cy="6858635"/>
          </a:xfrm>
          <a:prstGeom prst="rect">
            <a:avLst/>
          </a:prstGeom>
          <a:gradFill flip="none" rotWithShape="1">
            <a:gsLst>
              <a:gs pos="0">
                <a:srgbClr val="009E47">
                  <a:alpha val="42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0" name="矩形: 剪去对角 21"/>
          <p:cNvSpPr/>
          <p:nvPr userDrawn="1"/>
        </p:nvSpPr>
        <p:spPr>
          <a:xfrm>
            <a:off x="2496186" y="1627425"/>
            <a:ext cx="7199628" cy="3231673"/>
          </a:xfrm>
          <a:prstGeom prst="snip2DiagRect">
            <a:avLst>
              <a:gd name="adj1" fmla="val 0"/>
              <a:gd name="adj2" fmla="val 6393"/>
            </a:avLst>
          </a:prstGeom>
          <a:gradFill flip="none" rotWithShape="1">
            <a:gsLst>
              <a:gs pos="0">
                <a:schemeClr val="bg1"/>
              </a:gs>
              <a:gs pos="29000">
                <a:schemeClr val="bg1">
                  <a:alpha val="50000"/>
                </a:schemeClr>
              </a:gs>
              <a:gs pos="66000">
                <a:schemeClr val="bg1"/>
              </a:gs>
              <a:gs pos="100000">
                <a:schemeClr val="bg1">
                  <a:lumMod val="95000"/>
                </a:schemeClr>
              </a:gs>
            </a:gsLst>
            <a:lin ang="8100000" scaled="1"/>
            <a:tileRect/>
          </a:gradFill>
          <a:ln>
            <a:gradFill flip="none" rotWithShape="1">
              <a:gsLst>
                <a:gs pos="53000">
                  <a:srgbClr val="AA69D6"/>
                </a:gs>
                <a:gs pos="2419">
                  <a:srgbClr val="AC5FD4"/>
                </a:gs>
                <a:gs pos="26000">
                  <a:srgbClr val="AC5FD4"/>
                </a:gs>
                <a:gs pos="100000">
                  <a:srgbClr val="7030A0"/>
                </a:gs>
              </a:gsLst>
              <a:path path="circle">
                <a:fillToRect l="50000" t="50000" r="50000" b="50000"/>
              </a:path>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1" name="矩形 10"/>
          <p:cNvSpPr/>
          <p:nvPr userDrawn="1"/>
        </p:nvSpPr>
        <p:spPr>
          <a:xfrm>
            <a:off x="2914015" y="2211408"/>
            <a:ext cx="6363970" cy="2123658"/>
          </a:xfrm>
          <a:prstGeom prst="rect">
            <a:avLst/>
          </a:prstGeom>
        </p:spPr>
        <p:txBody>
          <a:bodyPr wrap="square">
            <a:spAutoFit/>
          </a:bodyPr>
          <a:lstStyle/>
          <a:p>
            <a:pPr lvl="0" indent="575945" algn="just">
              <a:lnSpc>
                <a:spcPct val="150000"/>
              </a:lnSpc>
            </a:pPr>
            <a:r>
              <a:rPr lang="zh-CN" altLang="en-US"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rPr>
              <a:t>本</a:t>
            </a:r>
            <a:r>
              <a:rPr lang="en-US" altLang="zh-CN"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rPr>
              <a:t>PPT</a:t>
            </a:r>
            <a:r>
              <a:rPr lang="zh-CN" altLang="en-US"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rPr>
              <a:t>为高等教育出版社出版的</a:t>
            </a:r>
            <a:r>
              <a:rPr lang="en-US" altLang="zh-CN"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rPr>
              <a:t>《</a:t>
            </a:r>
            <a:r>
              <a:rPr lang="zh-CN" altLang="en-US"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rPr>
              <a:t>高等数学</a:t>
            </a:r>
            <a:r>
              <a:rPr lang="en-US" altLang="zh-CN"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rPr>
              <a:t>》</a:t>
            </a:r>
            <a:r>
              <a:rPr lang="zh-CN" altLang="en-US"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rPr>
              <a:t>（第八版）教材配套课件，仅供受赠老师本人用于“高等数学”课堂教学。未经许可，任何人不能进行任何其他方式的传播。</a:t>
            </a:r>
            <a:endParaRPr lang="zh-CN" altLang="en-US"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sym typeface="+mn-ea"/>
            </a:endParaRPr>
          </a:p>
        </p:txBody>
      </p:sp>
      <p:grpSp>
        <p:nvGrpSpPr>
          <p:cNvPr id="12" name="组合 11"/>
          <p:cNvGrpSpPr/>
          <p:nvPr userDrawn="1"/>
        </p:nvGrpSpPr>
        <p:grpSpPr>
          <a:xfrm>
            <a:off x="4981488" y="5711355"/>
            <a:ext cx="2229025" cy="475907"/>
            <a:chOff x="3928951" y="7786292"/>
            <a:chExt cx="2663761" cy="568726"/>
          </a:xfrm>
        </p:grpSpPr>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1954" y="7786292"/>
              <a:ext cx="2050758" cy="472171"/>
            </a:xfrm>
            <a:prstGeom prst="rect">
              <a:avLst/>
            </a:prstGeom>
          </p:spPr>
        </p:pic>
        <p:pic>
          <p:nvPicPr>
            <p:cNvPr id="14" name="图片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28951" y="7804037"/>
              <a:ext cx="551568" cy="550981"/>
            </a:xfrm>
            <a:prstGeom prst="rect">
              <a:avLst/>
            </a:prstGeom>
          </p:spPr>
        </p:pic>
      </p:grpSp>
    </p:spTree>
    <p:extLst>
      <p:ext uri="{BB962C8B-B14F-4D97-AF65-F5344CB8AC3E}">
        <p14:creationId xmlns:p14="http://schemas.microsoft.com/office/powerpoint/2010/main" val="24858933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0" name="Rectangle 1"/>
          <p:cNvSpPr/>
          <p:nvPr userDrawn="1"/>
        </p:nvSpPr>
        <p:spPr>
          <a:xfrm>
            <a:off x="297498" y="6546328"/>
            <a:ext cx="82948" cy="81477"/>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5" name="Rectangle 1"/>
          <p:cNvSpPr/>
          <p:nvPr userDrawn="1"/>
        </p:nvSpPr>
        <p:spPr>
          <a:xfrm rot="2659048">
            <a:off x="9774913" y="172138"/>
            <a:ext cx="147664" cy="140036"/>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9" name="矩形 8"/>
          <p:cNvSpPr/>
          <p:nvPr/>
        </p:nvSpPr>
        <p:spPr>
          <a:xfrm>
            <a:off x="476828" y="6435405"/>
            <a:ext cx="1532890" cy="306705"/>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第一节</a:t>
            </a:r>
            <a:r>
              <a:rPr lang="en-US" altLang="zh-CN" sz="1400" dirty="0">
                <a:solidFill>
                  <a:schemeClr val="bg1">
                    <a:lumMod val="50000"/>
                  </a:schemeClr>
                </a:solidFill>
                <a:latin typeface="微软雅黑" panose="020B0503020204020204" pitchFamily="34" charset="-122"/>
                <a:ea typeface="微软雅黑" panose="020B0503020204020204" pitchFamily="34" charset="-122"/>
              </a:rPr>
              <a:t>  </a:t>
            </a:r>
            <a:r>
              <a:rPr lang="zh-CN" altLang="en-US" sz="1400" dirty="0">
                <a:solidFill>
                  <a:schemeClr val="bg1">
                    <a:lumMod val="50000"/>
                  </a:schemeClr>
                </a:solidFill>
                <a:latin typeface="微软雅黑" panose="020B0503020204020204" pitchFamily="34" charset="-122"/>
                <a:ea typeface="微软雅黑" panose="020B0503020204020204" pitchFamily="34" charset="-122"/>
              </a:rPr>
              <a:t>导数概念</a:t>
            </a:r>
          </a:p>
        </p:txBody>
      </p:sp>
      <p:cxnSp>
        <p:nvCxnSpPr>
          <p:cNvPr id="10" name="直接连接符 9"/>
          <p:cNvCxnSpPr/>
          <p:nvPr userDrawn="1"/>
        </p:nvCxnSpPr>
        <p:spPr>
          <a:xfrm flipV="1">
            <a:off x="2511359" y="6615405"/>
            <a:ext cx="9680641" cy="124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userDrawn="1"/>
        </p:nvCxnSpPr>
        <p:spPr>
          <a:xfrm>
            <a:off x="0" y="217369"/>
            <a:ext cx="9508067" cy="28338"/>
          </a:xfrm>
          <a:prstGeom prst="line">
            <a:avLst/>
          </a:prstGeom>
          <a:ln>
            <a:solidFill>
              <a:srgbClr val="04926A"/>
            </a:solidFill>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10030085" y="112357"/>
            <a:ext cx="1763395" cy="306705"/>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第二章   导数与积分</a:t>
            </a:r>
          </a:p>
        </p:txBody>
      </p:sp>
    </p:spTree>
    <p:extLst>
      <p:ext uri="{BB962C8B-B14F-4D97-AF65-F5344CB8AC3E}">
        <p14:creationId xmlns:p14="http://schemas.microsoft.com/office/powerpoint/2010/main" val="24251607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15" name="Rectangle 1"/>
          <p:cNvSpPr/>
          <p:nvPr userDrawn="1"/>
        </p:nvSpPr>
        <p:spPr>
          <a:xfrm rot="2659048">
            <a:off x="9774913" y="172138"/>
            <a:ext cx="147664" cy="140036"/>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cxnSp>
        <p:nvCxnSpPr>
          <p:cNvPr id="11" name="直接连接符 10"/>
          <p:cNvCxnSpPr/>
          <p:nvPr userDrawn="1"/>
        </p:nvCxnSpPr>
        <p:spPr>
          <a:xfrm>
            <a:off x="0" y="217369"/>
            <a:ext cx="9508067" cy="28338"/>
          </a:xfrm>
          <a:prstGeom prst="line">
            <a:avLst/>
          </a:prstGeom>
          <a:ln>
            <a:solidFill>
              <a:srgbClr val="04926A"/>
            </a:solidFill>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10030085" y="112357"/>
            <a:ext cx="1779654"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第一章   函数与极限</a:t>
            </a:r>
          </a:p>
        </p:txBody>
      </p:sp>
    </p:spTree>
    <p:extLst>
      <p:ext uri="{BB962C8B-B14F-4D97-AF65-F5344CB8AC3E}">
        <p14:creationId xmlns:p14="http://schemas.microsoft.com/office/powerpoint/2010/main" val="7925331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8" name="Rectangle 1"/>
          <p:cNvSpPr/>
          <p:nvPr userDrawn="1"/>
        </p:nvSpPr>
        <p:spPr>
          <a:xfrm rot="2659048">
            <a:off x="9774913" y="172138"/>
            <a:ext cx="147664" cy="140036"/>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cxnSp>
        <p:nvCxnSpPr>
          <p:cNvPr id="11" name="直接连接符 10"/>
          <p:cNvCxnSpPr/>
          <p:nvPr userDrawn="1"/>
        </p:nvCxnSpPr>
        <p:spPr>
          <a:xfrm>
            <a:off x="0" y="217369"/>
            <a:ext cx="9508067" cy="28338"/>
          </a:xfrm>
          <a:prstGeom prst="line">
            <a:avLst/>
          </a:prstGeom>
          <a:ln>
            <a:solidFill>
              <a:srgbClr val="04926A"/>
            </a:solidFill>
          </a:ln>
        </p:spPr>
        <p:style>
          <a:lnRef idx="1">
            <a:schemeClr val="accent1"/>
          </a:lnRef>
          <a:fillRef idx="0">
            <a:schemeClr val="accent1"/>
          </a:fillRef>
          <a:effectRef idx="0">
            <a:schemeClr val="accent1"/>
          </a:effectRef>
          <a:fontRef idx="minor">
            <a:schemeClr val="tx1"/>
          </a:fontRef>
        </p:style>
      </p:cxnSp>
      <p:sp>
        <p:nvSpPr>
          <p:cNvPr id="12" name="矩形 11"/>
          <p:cNvSpPr/>
          <p:nvPr userDrawn="1"/>
        </p:nvSpPr>
        <p:spPr>
          <a:xfrm>
            <a:off x="10030085" y="112357"/>
            <a:ext cx="1779654"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第一章   函数与极限</a:t>
            </a:r>
          </a:p>
        </p:txBody>
      </p:sp>
      <p:sp>
        <p:nvSpPr>
          <p:cNvPr id="5" name="Rectangle 1"/>
          <p:cNvSpPr/>
          <p:nvPr userDrawn="1"/>
        </p:nvSpPr>
        <p:spPr>
          <a:xfrm>
            <a:off x="6096000" y="6338672"/>
            <a:ext cx="6100032" cy="516885"/>
          </a:xfrm>
          <a:prstGeom prst="rect">
            <a:avLst/>
          </a:prstGeom>
          <a:solidFill>
            <a:srgbClr val="04926A"/>
          </a:solidFill>
          <a:ln w="12700" cap="flat" cmpd="sng" algn="ctr">
            <a:noFill/>
            <a:prstDash val="solid"/>
            <a:miter lim="800000"/>
          </a:ln>
          <a:effectLst>
            <a:outerShdw blurRad="50800" dist="38100" dir="16200000" rotWithShape="0">
              <a:schemeClr val="bg1">
                <a:lumMod val="50000"/>
                <a:alpha val="55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6" name="Rectangle 1"/>
          <p:cNvSpPr/>
          <p:nvPr userDrawn="1"/>
        </p:nvSpPr>
        <p:spPr>
          <a:xfrm>
            <a:off x="0" y="6335487"/>
            <a:ext cx="3095897" cy="522514"/>
          </a:xfrm>
          <a:prstGeom prst="rect">
            <a:avLst/>
          </a:prstGeom>
          <a:solidFill>
            <a:srgbClr val="04926A"/>
          </a:solidFill>
          <a:ln w="12700" cap="flat" cmpd="sng" algn="ctr">
            <a:noFill/>
            <a:prstDash val="solid"/>
            <a:miter lim="800000"/>
          </a:ln>
          <a:effectLst>
            <a:outerShdw blurRad="50800" dist="38100" dir="16200000" rotWithShape="0">
              <a:schemeClr val="bg1">
                <a:lumMod val="50000"/>
                <a:alpha val="55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7" name="Rectangle 1"/>
          <p:cNvSpPr/>
          <p:nvPr userDrawn="1"/>
        </p:nvSpPr>
        <p:spPr>
          <a:xfrm>
            <a:off x="3095897" y="6335487"/>
            <a:ext cx="3000104" cy="522514"/>
          </a:xfrm>
          <a:prstGeom prst="rect">
            <a:avLst/>
          </a:prstGeom>
          <a:solidFill>
            <a:schemeClr val="bg1"/>
          </a:solidFill>
          <a:ln w="12700" cap="flat" cmpd="sng" algn="ctr">
            <a:solidFill>
              <a:srgbClr val="04926A"/>
            </a:solidFill>
            <a:prstDash val="solid"/>
            <a:miter lim="800000"/>
          </a:ln>
          <a:effectLst>
            <a:outerShdw blurRad="50800" dist="38100" dir="16200000" rotWithShape="0">
              <a:schemeClr val="bg1">
                <a:lumMod val="50000"/>
                <a:alpha val="55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9" name="Rectangle 1"/>
          <p:cNvSpPr/>
          <p:nvPr userDrawn="1"/>
        </p:nvSpPr>
        <p:spPr>
          <a:xfrm>
            <a:off x="6091968" y="7110185"/>
            <a:ext cx="6100032" cy="224344"/>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0" name="Rectangle 1"/>
          <p:cNvSpPr/>
          <p:nvPr userDrawn="1"/>
        </p:nvSpPr>
        <p:spPr>
          <a:xfrm>
            <a:off x="-4032" y="7110186"/>
            <a:ext cx="3099929" cy="224344"/>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3" name="Rectangle 1"/>
          <p:cNvSpPr/>
          <p:nvPr userDrawn="1"/>
        </p:nvSpPr>
        <p:spPr>
          <a:xfrm>
            <a:off x="3095897" y="7110186"/>
            <a:ext cx="2996071" cy="224344"/>
          </a:xfrm>
          <a:prstGeom prst="rect">
            <a:avLst/>
          </a:prstGeom>
          <a:solidFill>
            <a:schemeClr val="bg1"/>
          </a:solidFill>
          <a:ln w="12700" cap="flat" cmpd="sng" algn="ctr">
            <a:solidFill>
              <a:srgbClr val="0492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279743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7" name="图文框 6"/>
          <p:cNvSpPr/>
          <p:nvPr userDrawn="1"/>
        </p:nvSpPr>
        <p:spPr>
          <a:xfrm>
            <a:off x="0" y="-1"/>
            <a:ext cx="12192001" cy="6858001"/>
          </a:xfrm>
          <a:prstGeom prst="frame">
            <a:avLst>
              <a:gd name="adj1" fmla="val 50000"/>
            </a:avLst>
          </a:prstGeom>
          <a:gradFill flip="none" rotWithShape="1">
            <a:gsLst>
              <a:gs pos="74000">
                <a:srgbClr val="007434">
                  <a:alpha val="31000"/>
                </a:srgbClr>
              </a:gs>
              <a:gs pos="4000">
                <a:schemeClr val="bg1">
                  <a:alpha val="0"/>
                </a:schemeClr>
              </a:gs>
              <a:gs pos="100000">
                <a:schemeClr val="bg1">
                  <a:alpha val="64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字魂36号-正文宋楷" panose="00000500000000000000" pitchFamily="2" charset="-122"/>
              <a:ea typeface="字魂36号-正文宋楷" panose="00000500000000000000" pitchFamily="2" charset="-122"/>
            </a:endParaRPr>
          </a:p>
        </p:txBody>
      </p:sp>
      <p:pic>
        <p:nvPicPr>
          <p:cNvPr id="8" name="图片 7"/>
          <p:cNvPicPr>
            <a:picLocks noChangeAspect="1"/>
          </p:cNvPicPr>
          <p:nvPr userDrawn="1"/>
        </p:nvPicPr>
        <p:blipFill rotWithShape="1">
          <a:blip r:embed="rId2" cstate="print">
            <a:extLst>
              <a:ext uri="{28A0092B-C50C-407E-A947-70E740481C1C}">
                <a14:useLocalDpi xmlns:a14="http://schemas.microsoft.com/office/drawing/2010/main" val="0"/>
              </a:ext>
            </a:extLst>
          </a:blip>
          <a:srcRect l="35303" r="7303" b="29466"/>
          <a:stretch>
            <a:fillRect/>
          </a:stretch>
        </p:blipFill>
        <p:spPr>
          <a:xfrm flipH="1">
            <a:off x="0" y="-1905"/>
            <a:ext cx="6996430" cy="6859905"/>
          </a:xfrm>
          <a:prstGeom prst="rect">
            <a:avLst/>
          </a:prstGeom>
        </p:spPr>
      </p:pic>
      <p:sp>
        <p:nvSpPr>
          <p:cNvPr id="9" name="Rectangle 1"/>
          <p:cNvSpPr/>
          <p:nvPr userDrawn="1"/>
        </p:nvSpPr>
        <p:spPr>
          <a:xfrm>
            <a:off x="0" y="-1270"/>
            <a:ext cx="12192000" cy="6858635"/>
          </a:xfrm>
          <a:prstGeom prst="rect">
            <a:avLst/>
          </a:prstGeom>
          <a:gradFill flip="none" rotWithShape="1">
            <a:gsLst>
              <a:gs pos="0">
                <a:srgbClr val="009E47">
                  <a:alpha val="42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0" name="矩形: 剪去对角 21"/>
          <p:cNvSpPr/>
          <p:nvPr userDrawn="1"/>
        </p:nvSpPr>
        <p:spPr>
          <a:xfrm>
            <a:off x="2496186" y="1627425"/>
            <a:ext cx="7199628" cy="3231673"/>
          </a:xfrm>
          <a:prstGeom prst="snip2DiagRect">
            <a:avLst>
              <a:gd name="adj1" fmla="val 0"/>
              <a:gd name="adj2" fmla="val 6393"/>
            </a:avLst>
          </a:prstGeom>
          <a:gradFill flip="none" rotWithShape="1">
            <a:gsLst>
              <a:gs pos="0">
                <a:schemeClr val="bg1"/>
              </a:gs>
              <a:gs pos="29000">
                <a:schemeClr val="bg1">
                  <a:alpha val="50000"/>
                </a:schemeClr>
              </a:gs>
              <a:gs pos="66000">
                <a:schemeClr val="bg1"/>
              </a:gs>
              <a:gs pos="100000">
                <a:schemeClr val="bg1">
                  <a:lumMod val="95000"/>
                </a:schemeClr>
              </a:gs>
            </a:gsLst>
            <a:lin ang="8100000" scaled="1"/>
            <a:tileRect/>
          </a:gradFill>
          <a:ln>
            <a:gradFill flip="none" rotWithShape="1">
              <a:gsLst>
                <a:gs pos="53000">
                  <a:srgbClr val="AA69D6"/>
                </a:gs>
                <a:gs pos="2419">
                  <a:srgbClr val="AC5FD4"/>
                </a:gs>
                <a:gs pos="26000">
                  <a:srgbClr val="AC5FD4"/>
                </a:gs>
                <a:gs pos="100000">
                  <a:srgbClr val="7030A0"/>
                </a:gs>
              </a:gsLst>
              <a:path path="circle">
                <a:fillToRect l="50000" t="50000" r="50000" b="50000"/>
              </a:path>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1" name="矩形 10"/>
          <p:cNvSpPr/>
          <p:nvPr userDrawn="1"/>
        </p:nvSpPr>
        <p:spPr>
          <a:xfrm>
            <a:off x="2914015" y="2211408"/>
            <a:ext cx="6363970" cy="2123658"/>
          </a:xfrm>
          <a:prstGeom prst="rect">
            <a:avLst/>
          </a:prstGeom>
        </p:spPr>
        <p:txBody>
          <a:bodyPr wrap="square">
            <a:spAutoFit/>
          </a:bodyPr>
          <a:lstStyle/>
          <a:p>
            <a:pPr lvl="0" indent="575945" algn="just">
              <a:lnSpc>
                <a:spcPct val="150000"/>
              </a:lnSpc>
            </a:pPr>
            <a:r>
              <a:rPr lang="zh-CN" altLang="en-US"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rPr>
              <a:t>本</a:t>
            </a:r>
            <a:r>
              <a:rPr lang="en-US" altLang="zh-CN"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rPr>
              <a:t>PPT</a:t>
            </a:r>
            <a:r>
              <a:rPr lang="zh-CN" altLang="en-US"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rPr>
              <a:t>为高等教育出版社出版的</a:t>
            </a:r>
            <a:r>
              <a:rPr lang="en-US" altLang="zh-CN"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rPr>
              <a:t>《</a:t>
            </a:r>
            <a:r>
              <a:rPr lang="zh-CN" altLang="en-US"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rPr>
              <a:t>高等数学</a:t>
            </a:r>
            <a:r>
              <a:rPr lang="en-US" altLang="zh-CN"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rPr>
              <a:t>》</a:t>
            </a:r>
            <a:r>
              <a:rPr lang="zh-CN" altLang="en-US"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rPr>
              <a:t>（第八版）教材配套课件，仅供受赠老师本人用于“高等数学”课堂教学。未经许可，任何人不能进行任何其他方式的传播。</a:t>
            </a:r>
            <a:endParaRPr lang="zh-CN" altLang="en-US"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sym typeface="+mn-ea"/>
            </a:endParaRPr>
          </a:p>
        </p:txBody>
      </p:sp>
      <p:grpSp>
        <p:nvGrpSpPr>
          <p:cNvPr id="12" name="组合 11"/>
          <p:cNvGrpSpPr/>
          <p:nvPr userDrawn="1"/>
        </p:nvGrpSpPr>
        <p:grpSpPr>
          <a:xfrm>
            <a:off x="4981488" y="5711355"/>
            <a:ext cx="2229025" cy="475907"/>
            <a:chOff x="3928951" y="7786292"/>
            <a:chExt cx="2663761" cy="568726"/>
          </a:xfrm>
        </p:grpSpPr>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1954" y="7786292"/>
              <a:ext cx="2050758" cy="472171"/>
            </a:xfrm>
            <a:prstGeom prst="rect">
              <a:avLst/>
            </a:prstGeom>
          </p:spPr>
        </p:pic>
        <p:pic>
          <p:nvPicPr>
            <p:cNvPr id="14" name="图片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28951" y="7804037"/>
              <a:ext cx="551568" cy="550981"/>
            </a:xfrm>
            <a:prstGeom prst="rect">
              <a:avLst/>
            </a:prstGeom>
          </p:spPr>
        </p:pic>
      </p:grpSp>
    </p:spTree>
    <p:extLst>
      <p:ext uri="{BB962C8B-B14F-4D97-AF65-F5344CB8AC3E}">
        <p14:creationId xmlns:p14="http://schemas.microsoft.com/office/powerpoint/2010/main" val="32522691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CD453706-F419-4023-A58A-D6EE144B71A3}" type="datetimeFigureOut">
              <a:rPr lang="zh-CN" altLang="en-US" smtClean="0"/>
              <a:t>2023/7/5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1D7C98F-223D-4AB2-8916-8559149228E5}" type="slidenum">
              <a:rPr lang="zh-CN" altLang="en-US" smtClean="0"/>
              <a:t>‹#›</a:t>
            </a:fld>
            <a:endParaRPr lang="zh-CN" altLang="en-US"/>
          </a:p>
        </p:txBody>
      </p:sp>
    </p:spTree>
    <p:extLst>
      <p:ext uri="{BB962C8B-B14F-4D97-AF65-F5344CB8AC3E}">
        <p14:creationId xmlns:p14="http://schemas.microsoft.com/office/powerpoint/2010/main" val="26874372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CD453706-F419-4023-A58A-D6EE144B71A3}" type="datetimeFigureOut">
              <a:rPr lang="zh-CN" altLang="en-US" smtClean="0"/>
              <a:t>2023/7/5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1D7C98F-223D-4AB2-8916-8559149228E5}" type="slidenum">
              <a:rPr lang="zh-CN" altLang="en-US" smtClean="0"/>
              <a:t>‹#›</a:t>
            </a:fld>
            <a:endParaRPr lang="zh-CN" altLang="en-US"/>
          </a:p>
        </p:txBody>
      </p:sp>
    </p:spTree>
    <p:extLst>
      <p:ext uri="{BB962C8B-B14F-4D97-AF65-F5344CB8AC3E}">
        <p14:creationId xmlns:p14="http://schemas.microsoft.com/office/powerpoint/2010/main" val="35094714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CD453706-F419-4023-A58A-D6EE144B71A3}" type="datetimeFigureOut">
              <a:rPr lang="zh-CN" altLang="en-US" smtClean="0"/>
              <a:t>2023/7/5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1D7C98F-223D-4AB2-8916-8559149228E5}" type="slidenum">
              <a:rPr lang="zh-CN" altLang="en-US" smtClean="0"/>
              <a:t>‹#›</a:t>
            </a:fld>
            <a:endParaRPr lang="zh-CN" altLang="en-US"/>
          </a:p>
        </p:txBody>
      </p:sp>
    </p:spTree>
    <p:extLst>
      <p:ext uri="{BB962C8B-B14F-4D97-AF65-F5344CB8AC3E}">
        <p14:creationId xmlns:p14="http://schemas.microsoft.com/office/powerpoint/2010/main" val="17411357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D453706-F419-4023-A58A-D6EE144B71A3}" type="datetimeFigureOut">
              <a:rPr lang="zh-CN" altLang="en-US" smtClean="0"/>
              <a:t>2023/7/5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1D7C98F-223D-4AB2-8916-8559149228E5}" type="slidenum">
              <a:rPr lang="zh-CN" altLang="en-US" smtClean="0"/>
              <a:t>‹#›</a:t>
            </a:fld>
            <a:endParaRPr lang="zh-CN" altLang="en-US"/>
          </a:p>
        </p:txBody>
      </p:sp>
    </p:spTree>
    <p:extLst>
      <p:ext uri="{BB962C8B-B14F-4D97-AF65-F5344CB8AC3E}">
        <p14:creationId xmlns:p14="http://schemas.microsoft.com/office/powerpoint/2010/main" val="9406274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CD453706-F419-4023-A58A-D6EE144B71A3}" type="datetimeFigureOut">
              <a:rPr lang="zh-CN" altLang="en-US" smtClean="0"/>
              <a:t>2023/7/5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1D7C98F-223D-4AB2-8916-8559149228E5}" type="slidenum">
              <a:rPr lang="zh-CN" altLang="en-US" smtClean="0"/>
              <a:t>‹#›</a:t>
            </a:fld>
            <a:endParaRPr lang="zh-CN" altLang="en-US"/>
          </a:p>
        </p:txBody>
      </p:sp>
    </p:spTree>
    <p:extLst>
      <p:ext uri="{BB962C8B-B14F-4D97-AF65-F5344CB8AC3E}">
        <p14:creationId xmlns:p14="http://schemas.microsoft.com/office/powerpoint/2010/main" val="14091899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CD453706-F419-4023-A58A-D6EE144B71A3}" type="datetimeFigureOut">
              <a:rPr lang="zh-CN" altLang="en-US" smtClean="0"/>
              <a:t>2023/7/5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1D7C98F-223D-4AB2-8916-8559149228E5}" type="slidenum">
              <a:rPr lang="zh-CN" altLang="en-US" smtClean="0"/>
              <a:t>‹#›</a:t>
            </a:fld>
            <a:endParaRPr lang="zh-CN" altLang="en-US"/>
          </a:p>
        </p:txBody>
      </p:sp>
    </p:spTree>
    <p:extLst>
      <p:ext uri="{BB962C8B-B14F-4D97-AF65-F5344CB8AC3E}">
        <p14:creationId xmlns:p14="http://schemas.microsoft.com/office/powerpoint/2010/main" val="378367576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D453706-F419-4023-A58A-D6EE144B71A3}" type="datetimeFigureOut">
              <a:rPr lang="zh-CN" altLang="en-US" smtClean="0"/>
              <a:t>2023/7/5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D7C98F-223D-4AB2-8916-8559149228E5}" type="slidenum">
              <a:rPr lang="zh-CN" altLang="en-US" smtClean="0"/>
              <a:t>‹#›</a:t>
            </a:fld>
            <a:endParaRPr lang="zh-CN" altLang="en-US"/>
          </a:p>
        </p:txBody>
      </p:sp>
    </p:spTree>
    <p:extLst>
      <p:ext uri="{BB962C8B-B14F-4D97-AF65-F5344CB8AC3E}">
        <p14:creationId xmlns:p14="http://schemas.microsoft.com/office/powerpoint/2010/main" val="69286510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D453706-F419-4023-A58A-D6EE144B71A3}" type="datetimeFigureOut">
              <a:rPr lang="zh-CN" altLang="en-US" smtClean="0"/>
              <a:t>2023/7/5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D7C98F-223D-4AB2-8916-8559149228E5}" type="slidenum">
              <a:rPr lang="zh-CN" altLang="en-US" smtClean="0"/>
              <a:t>‹#›</a:t>
            </a:fld>
            <a:endParaRPr lang="zh-CN" altLang="en-US"/>
          </a:p>
        </p:txBody>
      </p:sp>
    </p:spTree>
    <p:extLst>
      <p:ext uri="{BB962C8B-B14F-4D97-AF65-F5344CB8AC3E}">
        <p14:creationId xmlns:p14="http://schemas.microsoft.com/office/powerpoint/2010/main" val="19657311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D453706-F419-4023-A58A-D6EE144B71A3}" type="datetimeFigureOut">
              <a:rPr lang="zh-CN" altLang="en-US" smtClean="0"/>
              <a:t>2023/7/5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D7C98F-223D-4AB2-8916-8559149228E5}" type="slidenum">
              <a:rPr lang="zh-CN" altLang="en-US" smtClean="0"/>
              <a:t>‹#›</a:t>
            </a:fld>
            <a:endParaRPr lang="zh-CN" altLang="en-US"/>
          </a:p>
        </p:txBody>
      </p:sp>
    </p:spTree>
    <p:extLst>
      <p:ext uri="{BB962C8B-B14F-4D97-AF65-F5344CB8AC3E}">
        <p14:creationId xmlns:p14="http://schemas.microsoft.com/office/powerpoint/2010/main" val="20786724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24075D-6A03-AD95-9043-BD46AB089E2A}"/>
              </a:ext>
            </a:extLst>
          </p:cNvPr>
          <p:cNvSpPr/>
          <p:nvPr userDrawn="1"/>
        </p:nvSpPr>
        <p:spPr>
          <a:xfrm>
            <a:off x="297498" y="6546328"/>
            <a:ext cx="82948" cy="81477"/>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3" name="Rectangle 1">
            <a:extLst>
              <a:ext uri="{FF2B5EF4-FFF2-40B4-BE49-F238E27FC236}">
                <a16:creationId xmlns:a16="http://schemas.microsoft.com/office/drawing/2014/main" id="{465C0387-72EA-5492-FAE2-CBE0AA176BE7}"/>
              </a:ext>
            </a:extLst>
          </p:cNvPr>
          <p:cNvSpPr/>
          <p:nvPr userDrawn="1"/>
        </p:nvSpPr>
        <p:spPr>
          <a:xfrm rot="2659048">
            <a:off x="8822413" y="172138"/>
            <a:ext cx="147664" cy="140036"/>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6" name="矩形 5">
            <a:extLst>
              <a:ext uri="{FF2B5EF4-FFF2-40B4-BE49-F238E27FC236}">
                <a16:creationId xmlns:a16="http://schemas.microsoft.com/office/drawing/2014/main" id="{6E238C5A-CE89-F4D3-D923-4F54C80462D9}"/>
              </a:ext>
            </a:extLst>
          </p:cNvPr>
          <p:cNvSpPr/>
          <p:nvPr userDrawn="1"/>
        </p:nvSpPr>
        <p:spPr>
          <a:xfrm>
            <a:off x="9144001" y="112357"/>
            <a:ext cx="3014264" cy="307777"/>
          </a:xfrm>
          <a:prstGeom prst="rect">
            <a:avLst/>
          </a:prstGeom>
        </p:spPr>
        <p:txBody>
          <a:bodyPr wrap="squar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第八章  </a:t>
            </a:r>
            <a:r>
              <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rPr>
              <a:t>向量代数与空间解析几何</a:t>
            </a:r>
          </a:p>
        </p:txBody>
      </p:sp>
      <p:sp>
        <p:nvSpPr>
          <p:cNvPr id="7" name="矩形 6">
            <a:extLst>
              <a:ext uri="{FF2B5EF4-FFF2-40B4-BE49-F238E27FC236}">
                <a16:creationId xmlns:a16="http://schemas.microsoft.com/office/drawing/2014/main" id="{81302AE6-5E38-176F-A173-749D65F9C43E}"/>
              </a:ext>
            </a:extLst>
          </p:cNvPr>
          <p:cNvSpPr/>
          <p:nvPr userDrawn="1"/>
        </p:nvSpPr>
        <p:spPr>
          <a:xfrm>
            <a:off x="476828" y="6454455"/>
            <a:ext cx="2550698"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第二节  数量积 向量积 混合积</a:t>
            </a:r>
          </a:p>
        </p:txBody>
      </p:sp>
      <p:cxnSp>
        <p:nvCxnSpPr>
          <p:cNvPr id="9" name="直接连接符 8">
            <a:extLst>
              <a:ext uri="{FF2B5EF4-FFF2-40B4-BE49-F238E27FC236}">
                <a16:creationId xmlns:a16="http://schemas.microsoft.com/office/drawing/2014/main" id="{19CE2CA9-B6FD-026D-81B0-81A61B9138A9}"/>
              </a:ext>
            </a:extLst>
          </p:cNvPr>
          <p:cNvCxnSpPr/>
          <p:nvPr userDrawn="1"/>
        </p:nvCxnSpPr>
        <p:spPr>
          <a:xfrm>
            <a:off x="0" y="235728"/>
            <a:ext cx="8534400" cy="0"/>
          </a:xfrm>
          <a:prstGeom prst="line">
            <a:avLst/>
          </a:prstGeom>
          <a:ln>
            <a:solidFill>
              <a:srgbClr val="04926A"/>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9FC0C45E-7655-13A6-7659-910FB7DD5E63}"/>
              </a:ext>
            </a:extLst>
          </p:cNvPr>
          <p:cNvCxnSpPr/>
          <p:nvPr userDrawn="1"/>
        </p:nvCxnSpPr>
        <p:spPr>
          <a:xfrm>
            <a:off x="3057525" y="6619875"/>
            <a:ext cx="9144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04539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60" r:id="rId6"/>
    <p:sldLayoutId id="2147483655" r:id="rId7"/>
    <p:sldLayoutId id="2147483656" r:id="rId8"/>
    <p:sldLayoutId id="2147483657" r:id="rId9"/>
    <p:sldLayoutId id="2147483658" r:id="rId10"/>
    <p:sldLayoutId id="2147483659" r:id="rId11"/>
    <p:sldLayoutId id="2147483661" r:id="rId12"/>
    <p:sldLayoutId id="2147483662" r:id="rId13"/>
    <p:sldLayoutId id="2147483677" r:id="rId14"/>
  </p:sldLayoutIdLst>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453706-F419-4023-A58A-D6EE144B71A3}" type="datetimeFigureOut">
              <a:rPr lang="zh-CN" altLang="en-US" smtClean="0"/>
              <a:t>2023/7/5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D7C98F-223D-4AB2-8916-8559149228E5}" type="slidenum">
              <a:rPr lang="zh-CN" altLang="en-US" smtClean="0"/>
              <a:t>‹#›</a:t>
            </a:fld>
            <a:endParaRPr lang="zh-CN" altLang="en-US"/>
          </a:p>
        </p:txBody>
      </p:sp>
    </p:spTree>
    <p:extLst>
      <p:ext uri="{BB962C8B-B14F-4D97-AF65-F5344CB8AC3E}">
        <p14:creationId xmlns:p14="http://schemas.microsoft.com/office/powerpoint/2010/main" val="3281283562"/>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1.jpeg"/><Relationship Id="rId4"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2.xml"/><Relationship Id="rId1" Type="http://schemas.openxmlformats.org/officeDocument/2006/relationships/tags" Target="../tags/tag4.xml"/><Relationship Id="rId4" Type="http://schemas.openxmlformats.org/officeDocument/2006/relationships/image" Target="../media/image1.jpeg"/></Relationships>
</file>

<file path=ppt/slides/_rels/slide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5.xml"/><Relationship Id="rId6" Type="http://schemas.openxmlformats.org/officeDocument/2006/relationships/image" Target="../media/image5.jpe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3" Type="http://schemas.openxmlformats.org/officeDocument/2006/relationships/image" Target="../media/image6.jpeg"/><Relationship Id="rId3" Type="http://schemas.openxmlformats.org/officeDocument/2006/relationships/notesSlide" Target="../notesSlides/notesSlide2.xml"/><Relationship Id="rId12" Type="http://schemas.openxmlformats.org/officeDocument/2006/relationships/image" Target="../media/image16.png"/><Relationship Id="rId2" Type="http://schemas.openxmlformats.org/officeDocument/2006/relationships/slideLayout" Target="../slideLayouts/slideLayout7.xml"/><Relationship Id="rId1" Type="http://schemas.openxmlformats.org/officeDocument/2006/relationships/tags" Target="../tags/tag5.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18" Type="http://schemas.openxmlformats.org/officeDocument/2006/relationships/image" Target="../media/image31.png"/><Relationship Id="rId3" Type="http://schemas.openxmlformats.org/officeDocument/2006/relationships/image" Target="../media/image17.png"/><Relationship Id="rId21" Type="http://schemas.openxmlformats.org/officeDocument/2006/relationships/image" Target="../media/image34.png"/><Relationship Id="rId7" Type="http://schemas.openxmlformats.org/officeDocument/2006/relationships/image" Target="../media/image20.png"/><Relationship Id="rId12" Type="http://schemas.openxmlformats.org/officeDocument/2006/relationships/image" Target="../media/image25.png"/><Relationship Id="rId17" Type="http://schemas.openxmlformats.org/officeDocument/2006/relationships/image" Target="../media/image30.png"/><Relationship Id="rId2" Type="http://schemas.openxmlformats.org/officeDocument/2006/relationships/image" Target="../media/image1510.png"/><Relationship Id="rId16" Type="http://schemas.openxmlformats.org/officeDocument/2006/relationships/image" Target="../media/image29.png"/><Relationship Id="rId20"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10.png"/><Relationship Id="rId15" Type="http://schemas.openxmlformats.org/officeDocument/2006/relationships/image" Target="../media/image28.png"/><Relationship Id="rId10" Type="http://schemas.openxmlformats.org/officeDocument/2006/relationships/image" Target="../media/image23.png"/><Relationship Id="rId19" Type="http://schemas.openxmlformats.org/officeDocument/2006/relationships/image" Target="../media/image32.png"/><Relationship Id="rId4" Type="http://schemas.openxmlformats.org/officeDocument/2006/relationships/image" Target="../media/image18.png"/><Relationship Id="rId9" Type="http://schemas.openxmlformats.org/officeDocument/2006/relationships/image" Target="../media/image22.png"/><Relationship Id="rId14" Type="http://schemas.openxmlformats.org/officeDocument/2006/relationships/image" Target="../media/image27.png"/><Relationship Id="rId22" Type="http://schemas.openxmlformats.org/officeDocument/2006/relationships/image" Target="../media/image35.png"/></Relationships>
</file>

<file path=ppt/slides/_rels/slide9.xml.rels><?xml version="1.0" encoding="UTF-8" standalone="yes"?>
<Relationships xmlns="http://schemas.openxmlformats.org/package/2006/relationships"><Relationship Id="rId18" Type="http://schemas.openxmlformats.org/officeDocument/2006/relationships/image" Target="../media/image51.png"/><Relationship Id="rId3" Type="http://schemas.openxmlformats.org/officeDocument/2006/relationships/image" Target="../media/image36.png"/><Relationship Id="rId17" Type="http://schemas.openxmlformats.org/officeDocument/2006/relationships/image" Target="../media/image50.png"/><Relationship Id="rId2" Type="http://schemas.openxmlformats.org/officeDocument/2006/relationships/slideLayout" Target="../slideLayouts/slideLayout7.xml"/><Relationship Id="rId16" Type="http://schemas.openxmlformats.org/officeDocument/2006/relationships/image" Target="../media/image49.png"/><Relationship Id="rId1" Type="http://schemas.openxmlformats.org/officeDocument/2006/relationships/tags" Target="../tags/tag7.xml"/><Relationship Id="rId6" Type="http://schemas.openxmlformats.org/officeDocument/2006/relationships/image" Target="../media/image39.png"/><Relationship Id="rId5" Type="http://schemas.openxmlformats.org/officeDocument/2006/relationships/image" Target="../media/image38.png"/><Relationship Id="rId15" Type="http://schemas.openxmlformats.org/officeDocument/2006/relationships/image" Target="../media/image48.png"/><Relationship Id="rId4" Type="http://schemas.openxmlformats.org/officeDocument/2006/relationships/image" Target="../media/image37.png"/><Relationship Id="rId14" Type="http://schemas.openxmlformats.org/officeDocument/2006/relationships/image" Target="../media/image47.png"/></Relationships>
</file>

<file path=ppt/slides/_rels/slide10.xml.rels><?xml version="1.0" encoding="UTF-8" standalone="yes"?>
<Relationships xmlns="http://schemas.openxmlformats.org/package/2006/relationships"><Relationship Id="rId8" Type="http://schemas.openxmlformats.org/officeDocument/2006/relationships/image" Target="../media/image58.png"/><Relationship Id="rId7" Type="http://schemas.openxmlformats.org/officeDocument/2006/relationships/image" Target="../media/image57.png"/><Relationship Id="rId12" Type="http://schemas.openxmlformats.org/officeDocument/2006/relationships/image" Target="../media/image7.jpeg"/><Relationship Id="rId2" Type="http://schemas.openxmlformats.org/officeDocument/2006/relationships/image" Target="../media/image52.png"/><Relationship Id="rId1" Type="http://schemas.openxmlformats.org/officeDocument/2006/relationships/slideLayout" Target="../slideLayouts/slideLayout1.xml"/><Relationship Id="rId6" Type="http://schemas.openxmlformats.org/officeDocument/2006/relationships/image" Target="../media/image56.png"/><Relationship Id="rId11" Type="http://schemas.openxmlformats.org/officeDocument/2006/relationships/image" Target="../media/image12.png"/><Relationship Id="rId5" Type="http://schemas.openxmlformats.org/officeDocument/2006/relationships/image" Target="../media/image55.png"/><Relationship Id="rId10" Type="http://schemas.openxmlformats.org/officeDocument/2006/relationships/image" Target="../media/image11.png"/><Relationship Id="rId4" Type="http://schemas.openxmlformats.org/officeDocument/2006/relationships/image" Target="../media/image54.png"/><Relationship Id="rId9" Type="http://schemas.openxmlformats.org/officeDocument/2006/relationships/image" Target="../media/image59.png"/></Relationships>
</file>

<file path=ppt/slides/_rels/slide1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slideLayout" Target="../slideLayouts/slideLayout12.xml"/><Relationship Id="rId1" Type="http://schemas.openxmlformats.org/officeDocument/2006/relationships/tags" Target="../tags/tag8.xml"/><Relationship Id="rId5" Type="http://schemas.openxmlformats.org/officeDocument/2006/relationships/image" Target="../media/image64.png"/><Relationship Id="rId4" Type="http://schemas.openxmlformats.org/officeDocument/2006/relationships/image" Target="../media/image63.png"/></Relationships>
</file>

<file path=ppt/slides/_rels/slide1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slideLayout" Target="../slideLayouts/slideLayout12.xml"/><Relationship Id="rId1" Type="http://schemas.openxmlformats.org/officeDocument/2006/relationships/tags" Target="../tags/tag9.xml"/><Relationship Id="rId5" Type="http://schemas.openxmlformats.org/officeDocument/2006/relationships/image" Target="../media/image67.png"/><Relationship Id="rId4" Type="http://schemas.openxmlformats.org/officeDocument/2006/relationships/image" Target="../media/image66.png"/></Relationships>
</file>

<file path=ppt/slides/_rels/slide1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image" Target="../media/image700.png"/><Relationship Id="rId5" Type="http://schemas.openxmlformats.org/officeDocument/2006/relationships/image" Target="../media/image70.png"/><Relationship Id="rId4" Type="http://schemas.openxmlformats.org/officeDocument/2006/relationships/image" Target="../media/image69.png"/></Relationships>
</file>

<file path=ppt/slides/_rels/slide14.xml.rels><?xml version="1.0" encoding="UTF-8" standalone="yes"?>
<Relationships xmlns="http://schemas.openxmlformats.org/package/2006/relationships"><Relationship Id="rId8" Type="http://schemas.openxmlformats.org/officeDocument/2006/relationships/image" Target="../media/image74.png"/><Relationship Id="rId7" Type="http://schemas.openxmlformats.org/officeDocument/2006/relationships/image" Target="../media/image73.png"/><Relationship Id="rId2" Type="http://schemas.openxmlformats.org/officeDocument/2006/relationships/image" Target="../media/image52.png"/><Relationship Id="rId1" Type="http://schemas.openxmlformats.org/officeDocument/2006/relationships/slideLayout" Target="../slideLayouts/slideLayout1.xml"/><Relationship Id="rId6" Type="http://schemas.openxmlformats.org/officeDocument/2006/relationships/image" Target="../media/image721.png"/><Relationship Id="rId5" Type="http://schemas.openxmlformats.org/officeDocument/2006/relationships/image" Target="../media/image710.png"/><Relationship Id="rId10" Type="http://schemas.openxmlformats.org/officeDocument/2006/relationships/image" Target="../media/image76.png"/><Relationship Id="rId9" Type="http://schemas.openxmlformats.org/officeDocument/2006/relationships/image" Target="../media/image75.png"/></Relationships>
</file>

<file path=ppt/slides/_rels/slide15.xml.rels><?xml version="1.0" encoding="UTF-8" standalone="yes"?>
<Relationships xmlns="http://schemas.openxmlformats.org/package/2006/relationships"><Relationship Id="rId13" Type="http://schemas.openxmlformats.org/officeDocument/2006/relationships/image" Target="../media/image740.png"/><Relationship Id="rId26" Type="http://schemas.openxmlformats.org/officeDocument/2006/relationships/image" Target="../media/image8.jpeg"/><Relationship Id="rId3" Type="http://schemas.openxmlformats.org/officeDocument/2006/relationships/image" Target="../media/image52.png"/><Relationship Id="rId21" Type="http://schemas.openxmlformats.org/officeDocument/2006/relationships/image" Target="../media/image87.png"/><Relationship Id="rId7" Type="http://schemas.openxmlformats.org/officeDocument/2006/relationships/image" Target="../media/image80.png"/><Relationship Id="rId12" Type="http://schemas.openxmlformats.org/officeDocument/2006/relationships/image" Target="../media/image730.png"/><Relationship Id="rId25" Type="http://schemas.openxmlformats.org/officeDocument/2006/relationships/image" Target="../media/image91.png"/><Relationship Id="rId2" Type="http://schemas.openxmlformats.org/officeDocument/2006/relationships/notesSlide" Target="../notesSlides/notesSlide3.xml"/><Relationship Id="rId16" Type="http://schemas.openxmlformats.org/officeDocument/2006/relationships/image" Target="../media/image84.png"/><Relationship Id="rId20" Type="http://schemas.openxmlformats.org/officeDocument/2006/relationships/image" Target="../media/image86.png"/><Relationship Id="rId1" Type="http://schemas.openxmlformats.org/officeDocument/2006/relationships/slideLayout" Target="../slideLayouts/slideLayout7.xml"/><Relationship Id="rId6" Type="http://schemas.openxmlformats.org/officeDocument/2006/relationships/image" Target="../media/image79.png"/><Relationship Id="rId11" Type="http://schemas.openxmlformats.org/officeDocument/2006/relationships/image" Target="../media/image720.png"/><Relationship Id="rId5" Type="http://schemas.openxmlformats.org/officeDocument/2006/relationships/image" Target="../media/image78.png"/><Relationship Id="rId15" Type="http://schemas.openxmlformats.org/officeDocument/2006/relationships/image" Target="../media/image83.png"/><Relationship Id="rId19" Type="http://schemas.openxmlformats.org/officeDocument/2006/relationships/image" Target="../media/image800.png"/><Relationship Id="rId4" Type="http://schemas.openxmlformats.org/officeDocument/2006/relationships/image" Target="../media/image77.png"/><Relationship Id="rId14" Type="http://schemas.openxmlformats.org/officeDocument/2006/relationships/image" Target="../media/image82.png"/><Relationship Id="rId22" Type="http://schemas.openxmlformats.org/officeDocument/2006/relationships/image" Target="../media/image88.png"/></Relationships>
</file>

<file path=ppt/slides/_rels/slide16.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93.png"/><Relationship Id="rId7" Type="http://schemas.openxmlformats.org/officeDocument/2006/relationships/image" Target="../media/image930.png"/><Relationship Id="rId2" Type="http://schemas.openxmlformats.org/officeDocument/2006/relationships/image" Target="../media/image92.png"/><Relationship Id="rId1" Type="http://schemas.openxmlformats.org/officeDocument/2006/relationships/slideLayout" Target="../slideLayouts/slideLayout13.xml"/><Relationship Id="rId6" Type="http://schemas.openxmlformats.org/officeDocument/2006/relationships/image" Target="../media/image96.png"/><Relationship Id="rId11" Type="http://schemas.openxmlformats.org/officeDocument/2006/relationships/image" Target="../media/image9.jpeg"/><Relationship Id="rId5" Type="http://schemas.openxmlformats.org/officeDocument/2006/relationships/image" Target="../media/image95.png"/><Relationship Id="rId10" Type="http://schemas.openxmlformats.org/officeDocument/2006/relationships/image" Target="../media/image98.png"/><Relationship Id="rId4" Type="http://schemas.openxmlformats.org/officeDocument/2006/relationships/image" Target="../media/image94.png"/><Relationship Id="rId9" Type="http://schemas.openxmlformats.org/officeDocument/2006/relationships/image" Target="../media/image950.png"/></Relationships>
</file>

<file path=ppt/slides/_rels/slide17.xml.rels><?xml version="1.0" encoding="UTF-8" standalone="yes"?>
<Relationships xmlns="http://schemas.openxmlformats.org/package/2006/relationships"><Relationship Id="rId8" Type="http://schemas.openxmlformats.org/officeDocument/2006/relationships/image" Target="../media/image105.png"/><Relationship Id="rId7" Type="http://schemas.openxmlformats.org/officeDocument/2006/relationships/image" Target="../media/image104.png"/><Relationship Id="rId12" Type="http://schemas.openxmlformats.org/officeDocument/2006/relationships/image" Target="../media/image10.jpeg"/><Relationship Id="rId1" Type="http://schemas.openxmlformats.org/officeDocument/2006/relationships/slideLayout" Target="../slideLayouts/slideLayout12.xml"/><Relationship Id="rId6" Type="http://schemas.openxmlformats.org/officeDocument/2006/relationships/image" Target="../media/image103.png"/><Relationship Id="rId11" Type="http://schemas.openxmlformats.org/officeDocument/2006/relationships/image" Target="../media/image108.png"/><Relationship Id="rId10" Type="http://schemas.openxmlformats.org/officeDocument/2006/relationships/image" Target="../media/image107.png"/><Relationship Id="rId9" Type="http://schemas.openxmlformats.org/officeDocument/2006/relationships/image" Target="../media/image106.png"/></Relationships>
</file>

<file path=ppt/slides/_rels/slide18.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2.xml"/><Relationship Id="rId6" Type="http://schemas.openxmlformats.org/officeDocument/2006/relationships/image" Target="../media/image118.png"/><Relationship Id="rId5" Type="http://schemas.openxmlformats.org/officeDocument/2006/relationships/image" Target="../media/image117.png"/><Relationship Id="rId4" Type="http://schemas.openxmlformats.org/officeDocument/2006/relationships/image" Target="../media/image116.png"/></Relationships>
</file>

<file path=ppt/slides/_rels/slide19.xml.rels><?xml version="1.0" encoding="UTF-8" standalone="yes"?>
<Relationships xmlns="http://schemas.openxmlformats.org/package/2006/relationships"><Relationship Id="rId3" Type="http://schemas.openxmlformats.org/officeDocument/2006/relationships/image" Target="../media/image121.png"/><Relationship Id="rId7" Type="http://schemas.openxmlformats.org/officeDocument/2006/relationships/image" Target="../media/image125.png"/><Relationship Id="rId2" Type="http://schemas.openxmlformats.org/officeDocument/2006/relationships/image" Target="../media/image120.png"/><Relationship Id="rId1" Type="http://schemas.openxmlformats.org/officeDocument/2006/relationships/slideLayout" Target="../slideLayouts/slideLayout12.xml"/><Relationship Id="rId6" Type="http://schemas.openxmlformats.org/officeDocument/2006/relationships/image" Target="../media/image124.png"/><Relationship Id="rId5" Type="http://schemas.openxmlformats.org/officeDocument/2006/relationships/image" Target="../media/image123.png"/><Relationship Id="rId4" Type="http://schemas.openxmlformats.org/officeDocument/2006/relationships/image" Target="../media/image122.png"/></Relationships>
</file>

<file path=ppt/slides/_rels/slide20.xml.rels><?xml version="1.0" encoding="UTF-8" standalone="yes"?>
<Relationships xmlns="http://schemas.openxmlformats.org/package/2006/relationships"><Relationship Id="rId3" Type="http://schemas.openxmlformats.org/officeDocument/2006/relationships/image" Target="../media/image129.png"/><Relationship Id="rId7" Type="http://schemas.openxmlformats.org/officeDocument/2006/relationships/image" Target="../media/image133.png"/><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image" Target="../media/image132.png"/><Relationship Id="rId5" Type="http://schemas.openxmlformats.org/officeDocument/2006/relationships/image" Target="../media/image131.png"/><Relationship Id="rId4" Type="http://schemas.openxmlformats.org/officeDocument/2006/relationships/image" Target="../media/image130.png"/></Relationships>
</file>

<file path=ppt/slides/_rels/slide21.xml.rels><?xml version="1.0" encoding="UTF-8" standalone="yes"?>
<Relationships xmlns="http://schemas.openxmlformats.org/package/2006/relationships"><Relationship Id="rId8" Type="http://schemas.openxmlformats.org/officeDocument/2006/relationships/image" Target="../media/image136.png"/><Relationship Id="rId13" Type="http://schemas.openxmlformats.org/officeDocument/2006/relationships/image" Target="../media/image141.png"/><Relationship Id="rId12" Type="http://schemas.openxmlformats.org/officeDocument/2006/relationships/image" Target="../media/image140.png"/><Relationship Id="rId2" Type="http://schemas.openxmlformats.org/officeDocument/2006/relationships/image" Target="../media/image1510.png"/><Relationship Id="rId1" Type="http://schemas.openxmlformats.org/officeDocument/2006/relationships/slideLayout" Target="../slideLayouts/slideLayout1.xml"/><Relationship Id="rId11" Type="http://schemas.openxmlformats.org/officeDocument/2006/relationships/image" Target="../media/image139.png"/><Relationship Id="rId10" Type="http://schemas.openxmlformats.org/officeDocument/2006/relationships/image" Target="../media/image138.png"/><Relationship Id="rId9" Type="http://schemas.openxmlformats.org/officeDocument/2006/relationships/image" Target="../media/image137.png"/></Relationships>
</file>

<file path=ppt/slides/_rels/slide22.xml.rels><?xml version="1.0" encoding="UTF-8" standalone="yes"?>
<Relationships xmlns="http://schemas.openxmlformats.org/package/2006/relationships"><Relationship Id="rId8" Type="http://schemas.openxmlformats.org/officeDocument/2006/relationships/image" Target="../media/image1420.png"/><Relationship Id="rId13" Type="http://schemas.openxmlformats.org/officeDocument/2006/relationships/image" Target="../media/image44.png"/><Relationship Id="rId7" Type="http://schemas.openxmlformats.org/officeDocument/2006/relationships/image" Target="../media/image143.png"/><Relationship Id="rId12" Type="http://schemas.openxmlformats.org/officeDocument/2006/relationships/image" Target="../media/image43.png"/><Relationship Id="rId2" Type="http://schemas.openxmlformats.org/officeDocument/2006/relationships/image" Target="../media/image1510.png"/><Relationship Id="rId1" Type="http://schemas.openxmlformats.org/officeDocument/2006/relationships/slideLayout" Target="../slideLayouts/slideLayout1.xml"/><Relationship Id="rId11" Type="http://schemas.openxmlformats.org/officeDocument/2006/relationships/image" Target="../media/image42.png"/><Relationship Id="rId10" Type="http://schemas.openxmlformats.org/officeDocument/2006/relationships/image" Target="../media/image41.png"/><Relationship Id="rId9" Type="http://schemas.openxmlformats.org/officeDocument/2006/relationships/image" Target="../media/image40.png"/></Relationships>
</file>

<file path=ppt/slides/_rels/slide23.xml.rels><?xml version="1.0" encoding="UTF-8" standalone="yes"?>
<Relationships xmlns="http://schemas.openxmlformats.org/package/2006/relationships"><Relationship Id="rId13" Type="http://schemas.openxmlformats.org/officeDocument/2006/relationships/image" Target="../media/image155.png"/><Relationship Id="rId12" Type="http://schemas.openxmlformats.org/officeDocument/2006/relationships/image" Target="../media/image154.png"/><Relationship Id="rId2" Type="http://schemas.openxmlformats.org/officeDocument/2006/relationships/image" Target="../media/image1510.png"/><Relationship Id="rId1" Type="http://schemas.openxmlformats.org/officeDocument/2006/relationships/slideLayout" Target="../slideLayouts/slideLayout2.xml"/><Relationship Id="rId11" Type="http://schemas.openxmlformats.org/officeDocument/2006/relationships/image" Target="../media/image153.png"/><Relationship Id="rId15" Type="http://schemas.openxmlformats.org/officeDocument/2006/relationships/image" Target="../media/image157.png"/><Relationship Id="rId10" Type="http://schemas.openxmlformats.org/officeDocument/2006/relationships/image" Target="../media/image152.png"/><Relationship Id="rId9" Type="http://schemas.openxmlformats.org/officeDocument/2006/relationships/image" Target="../media/image151.png"/><Relationship Id="rId14" Type="http://schemas.openxmlformats.org/officeDocument/2006/relationships/image" Target="../media/image156.png"/></Relationships>
</file>

<file path=ppt/slides/_rels/slide24.xml.rels><?xml version="1.0" encoding="UTF-8" standalone="yes"?>
<Relationships xmlns="http://schemas.openxmlformats.org/package/2006/relationships"><Relationship Id="rId8" Type="http://schemas.openxmlformats.org/officeDocument/2006/relationships/image" Target="../media/image1600.png"/><Relationship Id="rId13" Type="http://schemas.openxmlformats.org/officeDocument/2006/relationships/image" Target="../media/image165.png"/><Relationship Id="rId18" Type="http://schemas.openxmlformats.org/officeDocument/2006/relationships/image" Target="../media/image170.png"/><Relationship Id="rId26" Type="http://schemas.openxmlformats.org/officeDocument/2006/relationships/image" Target="../media/image178.png"/><Relationship Id="rId3" Type="http://schemas.openxmlformats.org/officeDocument/2006/relationships/image" Target="../media/image1510.png"/><Relationship Id="rId21" Type="http://schemas.openxmlformats.org/officeDocument/2006/relationships/image" Target="../media/image173.png"/><Relationship Id="rId7" Type="http://schemas.openxmlformats.org/officeDocument/2006/relationships/image" Target="../media/image160.png"/><Relationship Id="rId12" Type="http://schemas.openxmlformats.org/officeDocument/2006/relationships/image" Target="../media/image164.png"/><Relationship Id="rId17" Type="http://schemas.openxmlformats.org/officeDocument/2006/relationships/image" Target="../media/image169.png"/><Relationship Id="rId25" Type="http://schemas.openxmlformats.org/officeDocument/2006/relationships/image" Target="../media/image177.png"/><Relationship Id="rId2" Type="http://schemas.openxmlformats.org/officeDocument/2006/relationships/notesSlide" Target="../notesSlides/notesSlide4.xml"/><Relationship Id="rId16" Type="http://schemas.openxmlformats.org/officeDocument/2006/relationships/image" Target="../media/image168.png"/><Relationship Id="rId20" Type="http://schemas.openxmlformats.org/officeDocument/2006/relationships/image" Target="../media/image172.png"/><Relationship Id="rId1" Type="http://schemas.openxmlformats.org/officeDocument/2006/relationships/slideLayout" Target="../slideLayouts/slideLayout7.xml"/><Relationship Id="rId11" Type="http://schemas.openxmlformats.org/officeDocument/2006/relationships/image" Target="../media/image163.png"/><Relationship Id="rId24" Type="http://schemas.openxmlformats.org/officeDocument/2006/relationships/image" Target="../media/image176.png"/><Relationship Id="rId5" Type="http://schemas.openxmlformats.org/officeDocument/2006/relationships/image" Target="../media/image159.png"/><Relationship Id="rId15" Type="http://schemas.openxmlformats.org/officeDocument/2006/relationships/image" Target="../media/image167.png"/><Relationship Id="rId23" Type="http://schemas.openxmlformats.org/officeDocument/2006/relationships/image" Target="../media/image175.png"/><Relationship Id="rId19" Type="http://schemas.openxmlformats.org/officeDocument/2006/relationships/image" Target="../media/image171.png"/><Relationship Id="rId4" Type="http://schemas.openxmlformats.org/officeDocument/2006/relationships/image" Target="../media/image158.png"/><Relationship Id="rId14" Type="http://schemas.openxmlformats.org/officeDocument/2006/relationships/image" Target="../media/image166.png"/><Relationship Id="rId22" Type="http://schemas.openxmlformats.org/officeDocument/2006/relationships/image" Target="../media/image174.png"/><Relationship Id="rId27" Type="http://schemas.openxmlformats.org/officeDocument/2006/relationships/image" Target="../media/image11.jpeg"/></Relationships>
</file>

<file path=ppt/slides/_rels/slide25.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slideLayout" Target="../slideLayouts/slideLayout2.xml"/><Relationship Id="rId1" Type="http://schemas.openxmlformats.org/officeDocument/2006/relationships/tags" Target="../tags/tag12.xml"/><Relationship Id="rId6" Type="http://schemas.openxmlformats.org/officeDocument/2006/relationships/image" Target="../media/image187.png"/><Relationship Id="rId5" Type="http://schemas.openxmlformats.org/officeDocument/2006/relationships/image" Target="../media/image186.png"/><Relationship Id="rId4" Type="http://schemas.openxmlformats.org/officeDocument/2006/relationships/image" Target="../media/image185.png"/></Relationships>
</file>

<file path=ppt/slides/_rels/slide26.xml.rels><?xml version="1.0" encoding="UTF-8" standalone="yes"?>
<Relationships xmlns="http://schemas.openxmlformats.org/package/2006/relationships"><Relationship Id="rId13" Type="http://schemas.openxmlformats.org/officeDocument/2006/relationships/image" Target="../media/image194.png"/><Relationship Id="rId3" Type="http://schemas.openxmlformats.org/officeDocument/2006/relationships/image" Target="../media/image46.png"/><Relationship Id="rId17" Type="http://schemas.openxmlformats.org/officeDocument/2006/relationships/image" Target="../media/image12.jpg"/><Relationship Id="rId2" Type="http://schemas.openxmlformats.org/officeDocument/2006/relationships/notesSlide" Target="../notesSlides/notesSlide5.xml"/><Relationship Id="rId16" Type="http://schemas.openxmlformats.org/officeDocument/2006/relationships/image" Target="../media/image197.png"/><Relationship Id="rId1" Type="http://schemas.openxmlformats.org/officeDocument/2006/relationships/slideLayout" Target="../slideLayouts/slideLayout12.xml"/><Relationship Id="rId15" Type="http://schemas.openxmlformats.org/officeDocument/2006/relationships/image" Target="../media/image196.png"/><Relationship Id="rId14" Type="http://schemas.openxmlformats.org/officeDocument/2006/relationships/image" Target="../media/image195.png"/></Relationships>
</file>

<file path=ppt/slides/_rels/slide27.xml.rels><?xml version="1.0" encoding="UTF-8" standalone="yes"?>
<Relationships xmlns="http://schemas.openxmlformats.org/package/2006/relationships"><Relationship Id="rId8" Type="http://schemas.openxmlformats.org/officeDocument/2006/relationships/image" Target="../media/image203.png"/><Relationship Id="rId3" Type="http://schemas.openxmlformats.org/officeDocument/2006/relationships/image" Target="../media/image199.png"/><Relationship Id="rId7" Type="http://schemas.openxmlformats.org/officeDocument/2006/relationships/image" Target="../media/image202.png"/><Relationship Id="rId2" Type="http://schemas.openxmlformats.org/officeDocument/2006/relationships/image" Target="../media/image198.png"/><Relationship Id="rId1" Type="http://schemas.openxmlformats.org/officeDocument/2006/relationships/slideLayout" Target="../slideLayouts/slideLayout12.xml"/><Relationship Id="rId6" Type="http://schemas.openxmlformats.org/officeDocument/2006/relationships/image" Target="../media/image2010.png"/><Relationship Id="rId5" Type="http://schemas.openxmlformats.org/officeDocument/2006/relationships/image" Target="../media/image201.png"/><Relationship Id="rId4" Type="http://schemas.openxmlformats.org/officeDocument/2006/relationships/image" Target="../media/image200.png"/><Relationship Id="rId9" Type="http://schemas.openxmlformats.org/officeDocument/2006/relationships/image" Target="../media/image204.png"/></Relationships>
</file>

<file path=ppt/slides/_rels/slide28.xml.rels><?xml version="1.0" encoding="UTF-8" standalone="yes"?>
<Relationships xmlns="http://schemas.openxmlformats.org/package/2006/relationships"><Relationship Id="rId3" Type="http://schemas.openxmlformats.org/officeDocument/2006/relationships/image" Target="../media/image206.png"/><Relationship Id="rId7" Type="http://schemas.openxmlformats.org/officeDocument/2006/relationships/image" Target="../media/image210.png"/><Relationship Id="rId2" Type="http://schemas.openxmlformats.org/officeDocument/2006/relationships/image" Target="../media/image205.png"/><Relationship Id="rId1" Type="http://schemas.openxmlformats.org/officeDocument/2006/relationships/slideLayout" Target="../slideLayouts/slideLayout2.xml"/><Relationship Id="rId6" Type="http://schemas.openxmlformats.org/officeDocument/2006/relationships/image" Target="../media/image209.png"/><Relationship Id="rId5" Type="http://schemas.openxmlformats.org/officeDocument/2006/relationships/image" Target="../media/image208.png"/><Relationship Id="rId4" Type="http://schemas.openxmlformats.org/officeDocument/2006/relationships/image" Target="../media/image207.png"/></Relationships>
</file>

<file path=ppt/slides/_rels/slide29.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1510.png"/><Relationship Id="rId7" Type="http://schemas.openxmlformats.org/officeDocument/2006/relationships/image" Target="../media/image6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211.png"/><Relationship Id="rId4" Type="http://schemas.openxmlformats.org/officeDocument/2006/relationships/image" Target="../media/image2100.png"/><Relationship Id="rId9" Type="http://schemas.openxmlformats.org/officeDocument/2006/relationships/image" Target="../media/image71.png"/></Relationships>
</file>

<file path=ppt/slides/_rels/slide30.xml.rels><?xml version="1.0" encoding="UTF-8" standalone="yes"?>
<Relationships xmlns="http://schemas.openxmlformats.org/package/2006/relationships"><Relationship Id="rId8" Type="http://schemas.openxmlformats.org/officeDocument/2006/relationships/image" Target="../media/image222.png"/><Relationship Id="rId7" Type="http://schemas.openxmlformats.org/officeDocument/2006/relationships/image" Target="../media/image221.png"/><Relationship Id="rId2" Type="http://schemas.openxmlformats.org/officeDocument/2006/relationships/image" Target="../media/image1510.png"/><Relationship Id="rId1" Type="http://schemas.openxmlformats.org/officeDocument/2006/relationships/slideLayout" Target="../slideLayouts/slideLayout1.xml"/><Relationship Id="rId6" Type="http://schemas.openxmlformats.org/officeDocument/2006/relationships/image" Target="../media/image217.png"/><Relationship Id="rId5" Type="http://schemas.openxmlformats.org/officeDocument/2006/relationships/image" Target="../media/image219.png"/><Relationship Id="rId10" Type="http://schemas.openxmlformats.org/officeDocument/2006/relationships/image" Target="../media/image224.png"/><Relationship Id="rId4" Type="http://schemas.openxmlformats.org/officeDocument/2006/relationships/image" Target="../media/image218.png"/><Relationship Id="rId9" Type="http://schemas.openxmlformats.org/officeDocument/2006/relationships/image" Target="../media/image2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lum bright="70000" contrast="-70000"/>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1" y="-1"/>
            <a:ext cx="12192000" cy="6871855"/>
          </a:xfrm>
          <a:prstGeom prst="rect">
            <a:avLst/>
          </a:prstGeom>
        </p:spPr>
      </p:pic>
      <p:sp>
        <p:nvSpPr>
          <p:cNvPr id="9" name="图文框 8"/>
          <p:cNvSpPr/>
          <p:nvPr/>
        </p:nvSpPr>
        <p:spPr>
          <a:xfrm>
            <a:off x="0" y="-1"/>
            <a:ext cx="12192001" cy="6858001"/>
          </a:xfrm>
          <a:prstGeom prst="frame">
            <a:avLst>
              <a:gd name="adj1" fmla="val 50000"/>
            </a:avLst>
          </a:prstGeom>
          <a:gradFill flip="none" rotWithShape="1">
            <a:gsLst>
              <a:gs pos="74000">
                <a:srgbClr val="007434">
                  <a:alpha val="31000"/>
                </a:srgbClr>
              </a:gs>
              <a:gs pos="4000">
                <a:schemeClr val="bg1">
                  <a:alpha val="0"/>
                </a:schemeClr>
              </a:gs>
              <a:gs pos="100000">
                <a:schemeClr val="bg1">
                  <a:alpha val="64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字魂36号-正文宋楷" panose="00000500000000000000" pitchFamily="2" charset="-122"/>
              <a:ea typeface="字魂36号-正文宋楷" panose="00000500000000000000" pitchFamily="2" charset="-122"/>
            </a:endParaRPr>
          </a:p>
        </p:txBody>
      </p:sp>
      <p:sp>
        <p:nvSpPr>
          <p:cNvPr id="6" name="Rectangle 1"/>
          <p:cNvSpPr/>
          <p:nvPr/>
        </p:nvSpPr>
        <p:spPr>
          <a:xfrm>
            <a:off x="0" y="1312540"/>
            <a:ext cx="11144250" cy="3564260"/>
          </a:xfrm>
          <a:prstGeom prst="rect">
            <a:avLst/>
          </a:prstGeom>
          <a:gradFill flip="none" rotWithShape="1">
            <a:gsLst>
              <a:gs pos="0">
                <a:srgbClr val="009E47">
                  <a:alpha val="88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3" name="TextBox 12"/>
          <p:cNvSpPr txBox="1"/>
          <p:nvPr/>
        </p:nvSpPr>
        <p:spPr>
          <a:xfrm>
            <a:off x="5524507" y="2152682"/>
            <a:ext cx="5109091" cy="1569660"/>
          </a:xfrm>
          <a:prstGeom prst="rect">
            <a:avLst/>
          </a:prstGeom>
          <a:noFill/>
        </p:spPr>
        <p:txBody>
          <a:bodyPr wrap="none" rtlCol="0">
            <a:spAutoFit/>
          </a:bodyPr>
          <a:lstStyle/>
          <a:p>
            <a:pPr defTabSz="1218565"/>
            <a:r>
              <a:rPr lang="zh-CN" altLang="en-US" sz="9600" b="1">
                <a:solidFill>
                  <a:schemeClr val="bg1"/>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rPr>
              <a:t>高等数学</a:t>
            </a:r>
            <a:endParaRPr lang="en-US" altLang="zh-CN" sz="9600" b="1" dirty="0">
              <a:solidFill>
                <a:schemeClr val="bg1"/>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endParaRPr>
          </a:p>
        </p:txBody>
      </p:sp>
      <p:sp>
        <p:nvSpPr>
          <p:cNvPr id="4" name="TextBox 12"/>
          <p:cNvSpPr txBox="1"/>
          <p:nvPr/>
        </p:nvSpPr>
        <p:spPr>
          <a:xfrm>
            <a:off x="9118170" y="3703526"/>
            <a:ext cx="1415772" cy="584775"/>
          </a:xfrm>
          <a:prstGeom prst="rect">
            <a:avLst/>
          </a:prstGeom>
          <a:noFill/>
        </p:spPr>
        <p:txBody>
          <a:bodyPr wrap="none" rtlCol="0">
            <a:spAutoFit/>
          </a:bodyPr>
          <a:lstStyle/>
          <a:p>
            <a:pPr defTabSz="1218565"/>
            <a:r>
              <a:rPr lang="zh-CN" altLang="en-US" sz="3200" b="1" dirty="0">
                <a:solidFill>
                  <a:schemeClr val="bg1"/>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rPr>
              <a:t>第八版</a:t>
            </a:r>
            <a:endParaRPr lang="en-US" altLang="zh-CN" sz="3200" b="1" dirty="0">
              <a:solidFill>
                <a:schemeClr val="bg1"/>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endParaRPr>
          </a:p>
        </p:txBody>
      </p:sp>
      <p:sp>
        <p:nvSpPr>
          <p:cNvPr id="5" name="文本框 4"/>
          <p:cNvSpPr txBox="1"/>
          <p:nvPr/>
        </p:nvSpPr>
        <p:spPr>
          <a:xfrm>
            <a:off x="6783949" y="5176128"/>
            <a:ext cx="3672673" cy="430887"/>
          </a:xfrm>
          <a:prstGeom prst="rect">
            <a:avLst/>
          </a:prstGeom>
          <a:noFill/>
        </p:spPr>
        <p:txBody>
          <a:bodyPr wrap="square" rtlCol="0">
            <a:spAutoFit/>
          </a:bodyPr>
          <a:lstStyle/>
          <a:p>
            <a:pPr algn="r"/>
            <a:r>
              <a:rPr lang="zh-CN" altLang="en-US" sz="2200" b="1" dirty="0">
                <a:solidFill>
                  <a:srgbClr val="04926A"/>
                </a:solidFill>
                <a:latin typeface="微软雅黑" panose="020B0503020204020204" pitchFamily="34" charset="-122"/>
                <a:ea typeface="微软雅黑" panose="020B0503020204020204" pitchFamily="34" charset="-122"/>
              </a:rPr>
              <a:t>同济大学数学科学学院   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randombar(horizontal)">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flipH="1">
            <a:off x="0" y="0"/>
            <a:ext cx="12192000" cy="6872990"/>
          </a:xfrm>
          <a:prstGeom prst="rect">
            <a:avLst/>
          </a:prstGeom>
          <a:gradFill flip="none" rotWithShape="1">
            <a:gsLst>
              <a:gs pos="0">
                <a:srgbClr val="009E47">
                  <a:alpha val="88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4" name="矩形 13"/>
          <p:cNvSpPr/>
          <p:nvPr/>
        </p:nvSpPr>
        <p:spPr>
          <a:xfrm>
            <a:off x="789305" y="2369185"/>
            <a:ext cx="11083290" cy="4504055"/>
          </a:xfrm>
          <a:prstGeom prst="rect">
            <a:avLst/>
          </a:prstGeom>
          <a:solidFill>
            <a:schemeClr val="bg1"/>
          </a:solidFill>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629285" y="2499995"/>
            <a:ext cx="10923270" cy="4373245"/>
          </a:xfrm>
          <a:prstGeom prst="rect">
            <a:avLst/>
          </a:prstGeom>
          <a:solidFill>
            <a:schemeClr val="bg1"/>
          </a:solidFill>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487045" y="2640330"/>
            <a:ext cx="10746105" cy="4232910"/>
          </a:xfrm>
          <a:prstGeom prst="rect">
            <a:avLst/>
          </a:prstGeom>
          <a:solidFill>
            <a:schemeClr val="bg1"/>
          </a:solidFill>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任意多边形 41"/>
          <p:cNvSpPr/>
          <p:nvPr/>
        </p:nvSpPr>
        <p:spPr>
          <a:xfrm flipH="1">
            <a:off x="4953210" y="3160432"/>
            <a:ext cx="1784904" cy="429397"/>
          </a:xfrm>
          <a:custGeom>
            <a:avLst/>
            <a:gdLst/>
            <a:ahLst/>
            <a:cxnLst/>
            <a:rect l="l" t="t" r="r" b="b"/>
            <a:pathLst>
              <a:path w="1784904" h="429397">
                <a:moveTo>
                  <a:pt x="326672" y="316347"/>
                </a:moveTo>
                <a:cubicBezTo>
                  <a:pt x="322782" y="316737"/>
                  <a:pt x="318710" y="321188"/>
                  <a:pt x="314454" y="329699"/>
                </a:cubicBezTo>
                <a:cubicBezTo>
                  <a:pt x="309673" y="355056"/>
                  <a:pt x="310417" y="375966"/>
                  <a:pt x="316687" y="392430"/>
                </a:cubicBezTo>
                <a:cubicBezTo>
                  <a:pt x="326956" y="411666"/>
                  <a:pt x="343187" y="421926"/>
                  <a:pt x="365381" y="423210"/>
                </a:cubicBezTo>
                <a:cubicBezTo>
                  <a:pt x="383985" y="421777"/>
                  <a:pt x="393287" y="411824"/>
                  <a:pt x="393287" y="393351"/>
                </a:cubicBezTo>
                <a:cubicBezTo>
                  <a:pt x="393287" y="384012"/>
                  <a:pt x="384450" y="374934"/>
                  <a:pt x="366777" y="366116"/>
                </a:cubicBezTo>
                <a:cubicBezTo>
                  <a:pt x="348062" y="355102"/>
                  <a:pt x="337634" y="344787"/>
                  <a:pt x="335495" y="335169"/>
                </a:cubicBezTo>
                <a:cubicBezTo>
                  <a:pt x="334286" y="325439"/>
                  <a:pt x="332621" y="319486"/>
                  <a:pt x="330500" y="317309"/>
                </a:cubicBezTo>
                <a:cubicBezTo>
                  <a:pt x="329244" y="316537"/>
                  <a:pt x="327968" y="316216"/>
                  <a:pt x="326672" y="316347"/>
                </a:cubicBezTo>
                <a:close/>
                <a:moveTo>
                  <a:pt x="90072" y="314517"/>
                </a:moveTo>
                <a:cubicBezTo>
                  <a:pt x="88181" y="314481"/>
                  <a:pt x="85529" y="315049"/>
                  <a:pt x="82115" y="316221"/>
                </a:cubicBezTo>
                <a:cubicBezTo>
                  <a:pt x="78822" y="316221"/>
                  <a:pt x="74432" y="316919"/>
                  <a:pt x="68944" y="318314"/>
                </a:cubicBezTo>
                <a:cubicBezTo>
                  <a:pt x="41001" y="328025"/>
                  <a:pt x="20240" y="340294"/>
                  <a:pt x="6659" y="355121"/>
                </a:cubicBezTo>
                <a:cubicBezTo>
                  <a:pt x="-7721" y="387658"/>
                  <a:pt x="1190" y="408606"/>
                  <a:pt x="33393" y="417964"/>
                </a:cubicBezTo>
                <a:cubicBezTo>
                  <a:pt x="52480" y="417964"/>
                  <a:pt x="62712" y="406969"/>
                  <a:pt x="64088" y="384980"/>
                </a:cubicBezTo>
                <a:cubicBezTo>
                  <a:pt x="65205" y="364051"/>
                  <a:pt x="72683" y="346107"/>
                  <a:pt x="86524" y="331150"/>
                </a:cubicBezTo>
                <a:cubicBezTo>
                  <a:pt x="94561" y="320170"/>
                  <a:pt x="95743" y="314625"/>
                  <a:pt x="90072" y="314517"/>
                </a:cubicBezTo>
                <a:close/>
                <a:moveTo>
                  <a:pt x="187597" y="314463"/>
                </a:moveTo>
                <a:cubicBezTo>
                  <a:pt x="184025" y="314463"/>
                  <a:pt x="177449" y="315663"/>
                  <a:pt x="167868" y="318063"/>
                </a:cubicBezTo>
                <a:cubicBezTo>
                  <a:pt x="140149" y="326881"/>
                  <a:pt x="121899" y="339420"/>
                  <a:pt x="113118" y="355679"/>
                </a:cubicBezTo>
                <a:cubicBezTo>
                  <a:pt x="103630" y="385742"/>
                  <a:pt x="112662" y="404169"/>
                  <a:pt x="140214" y="410959"/>
                </a:cubicBezTo>
                <a:cubicBezTo>
                  <a:pt x="159506" y="410959"/>
                  <a:pt x="169152" y="398086"/>
                  <a:pt x="169152" y="372338"/>
                </a:cubicBezTo>
                <a:cubicBezTo>
                  <a:pt x="169152" y="352712"/>
                  <a:pt x="173217" y="338322"/>
                  <a:pt x="181346" y="329169"/>
                </a:cubicBezTo>
                <a:cubicBezTo>
                  <a:pt x="188397" y="323941"/>
                  <a:pt x="190481" y="319039"/>
                  <a:pt x="187597" y="314463"/>
                </a:cubicBezTo>
                <a:close/>
                <a:moveTo>
                  <a:pt x="277968" y="311505"/>
                </a:moveTo>
                <a:cubicBezTo>
                  <a:pt x="274629" y="311868"/>
                  <a:pt x="269620" y="313003"/>
                  <a:pt x="262941" y="314909"/>
                </a:cubicBezTo>
                <a:cubicBezTo>
                  <a:pt x="234701" y="328434"/>
                  <a:pt x="216898" y="342564"/>
                  <a:pt x="209531" y="357298"/>
                </a:cubicBezTo>
                <a:cubicBezTo>
                  <a:pt x="198815" y="387528"/>
                  <a:pt x="209121" y="406002"/>
                  <a:pt x="240450" y="412717"/>
                </a:cubicBezTo>
                <a:cubicBezTo>
                  <a:pt x="260616" y="411285"/>
                  <a:pt x="269536" y="397118"/>
                  <a:pt x="267211" y="370218"/>
                </a:cubicBezTo>
                <a:cubicBezTo>
                  <a:pt x="264867" y="350610"/>
                  <a:pt x="266634" y="337485"/>
                  <a:pt x="272513" y="330843"/>
                </a:cubicBezTo>
                <a:cubicBezTo>
                  <a:pt x="280643" y="318770"/>
                  <a:pt x="284131" y="312733"/>
                  <a:pt x="282977" y="312733"/>
                </a:cubicBezTo>
                <a:cubicBezTo>
                  <a:pt x="282977" y="311551"/>
                  <a:pt x="281308" y="311142"/>
                  <a:pt x="277968" y="311505"/>
                </a:cubicBezTo>
                <a:close/>
                <a:moveTo>
                  <a:pt x="637411" y="288371"/>
                </a:moveTo>
                <a:lnTo>
                  <a:pt x="637411" y="330229"/>
                </a:lnTo>
                <a:lnTo>
                  <a:pt x="576578" y="330229"/>
                </a:lnTo>
                <a:lnTo>
                  <a:pt x="560588" y="304138"/>
                </a:lnTo>
                <a:cubicBezTo>
                  <a:pt x="576922" y="307635"/>
                  <a:pt x="584503" y="302380"/>
                  <a:pt x="583331" y="288371"/>
                </a:cubicBezTo>
                <a:close/>
                <a:moveTo>
                  <a:pt x="1182178" y="241100"/>
                </a:moveTo>
                <a:lnTo>
                  <a:pt x="1182178" y="272438"/>
                </a:lnTo>
                <a:lnTo>
                  <a:pt x="1049293" y="272438"/>
                </a:lnTo>
                <a:lnTo>
                  <a:pt x="1049293" y="241100"/>
                </a:lnTo>
                <a:close/>
                <a:moveTo>
                  <a:pt x="637411" y="225333"/>
                </a:moveTo>
                <a:lnTo>
                  <a:pt x="637411" y="270707"/>
                </a:lnTo>
                <a:lnTo>
                  <a:pt x="583331" y="270707"/>
                </a:lnTo>
                <a:lnTo>
                  <a:pt x="583331" y="225333"/>
                </a:lnTo>
                <a:close/>
                <a:moveTo>
                  <a:pt x="752995" y="225333"/>
                </a:moveTo>
                <a:lnTo>
                  <a:pt x="752995" y="268949"/>
                </a:lnTo>
                <a:lnTo>
                  <a:pt x="697157" y="268949"/>
                </a:lnTo>
                <a:lnTo>
                  <a:pt x="697157" y="225333"/>
                </a:lnTo>
                <a:close/>
                <a:moveTo>
                  <a:pt x="1170514" y="197317"/>
                </a:moveTo>
                <a:cubicBezTo>
                  <a:pt x="1180616" y="196163"/>
                  <a:pt x="1184504" y="199679"/>
                  <a:pt x="1182178" y="207865"/>
                </a:cubicBezTo>
                <a:lnTo>
                  <a:pt x="1182178" y="225166"/>
                </a:lnTo>
                <a:lnTo>
                  <a:pt x="1049293" y="225166"/>
                </a:lnTo>
                <a:lnTo>
                  <a:pt x="1049293" y="197317"/>
                </a:lnTo>
                <a:close/>
                <a:moveTo>
                  <a:pt x="1604553" y="188582"/>
                </a:moveTo>
                <a:cubicBezTo>
                  <a:pt x="1622710" y="230459"/>
                  <a:pt x="1648327" y="264252"/>
                  <a:pt x="1681404" y="289962"/>
                </a:cubicBezTo>
                <a:lnTo>
                  <a:pt x="1604553" y="289962"/>
                </a:lnTo>
                <a:close/>
                <a:moveTo>
                  <a:pt x="250830" y="181578"/>
                </a:moveTo>
                <a:cubicBezTo>
                  <a:pt x="259276" y="182415"/>
                  <a:pt x="263499" y="185299"/>
                  <a:pt x="263499" y="190229"/>
                </a:cubicBezTo>
                <a:lnTo>
                  <a:pt x="263499" y="261945"/>
                </a:lnTo>
                <a:lnTo>
                  <a:pt x="132373" y="261945"/>
                </a:lnTo>
                <a:lnTo>
                  <a:pt x="132373" y="181578"/>
                </a:lnTo>
                <a:close/>
                <a:moveTo>
                  <a:pt x="737759" y="165812"/>
                </a:moveTo>
                <a:cubicBezTo>
                  <a:pt x="750242" y="164639"/>
                  <a:pt x="755321" y="168156"/>
                  <a:pt x="752995" y="176360"/>
                </a:cubicBezTo>
                <a:lnTo>
                  <a:pt x="752995" y="209400"/>
                </a:lnTo>
                <a:lnTo>
                  <a:pt x="697157" y="209400"/>
                </a:lnTo>
                <a:lnTo>
                  <a:pt x="697157" y="165812"/>
                </a:lnTo>
                <a:close/>
                <a:moveTo>
                  <a:pt x="1229548" y="165184"/>
                </a:moveTo>
                <a:cubicBezTo>
                  <a:pt x="1224915" y="165677"/>
                  <a:pt x="1219311" y="167783"/>
                  <a:pt x="1212735" y="171504"/>
                </a:cubicBezTo>
                <a:cubicBezTo>
                  <a:pt x="1199340" y="177085"/>
                  <a:pt x="1189118" y="180378"/>
                  <a:pt x="1182067" y="181383"/>
                </a:cubicBezTo>
                <a:lnTo>
                  <a:pt x="1049991" y="181383"/>
                </a:lnTo>
                <a:cubicBezTo>
                  <a:pt x="1052707" y="181364"/>
                  <a:pt x="1054214" y="180611"/>
                  <a:pt x="1054512" y="179122"/>
                </a:cubicBezTo>
                <a:cubicBezTo>
                  <a:pt x="1050121" y="171793"/>
                  <a:pt x="1044559" y="167300"/>
                  <a:pt x="1037824" y="165644"/>
                </a:cubicBezTo>
                <a:cubicBezTo>
                  <a:pt x="1010607" y="166909"/>
                  <a:pt x="988683" y="177913"/>
                  <a:pt x="972052" y="198656"/>
                </a:cubicBezTo>
                <a:cubicBezTo>
                  <a:pt x="973745" y="204423"/>
                  <a:pt x="977075" y="209790"/>
                  <a:pt x="982042" y="214757"/>
                </a:cubicBezTo>
                <a:cubicBezTo>
                  <a:pt x="983549" y="217008"/>
                  <a:pt x="984302" y="218171"/>
                  <a:pt x="984302" y="218246"/>
                </a:cubicBezTo>
                <a:lnTo>
                  <a:pt x="984302" y="283962"/>
                </a:lnTo>
                <a:cubicBezTo>
                  <a:pt x="983130" y="303068"/>
                  <a:pt x="995790" y="313300"/>
                  <a:pt x="1022281" y="314658"/>
                </a:cubicBezTo>
                <a:cubicBezTo>
                  <a:pt x="1043787" y="318156"/>
                  <a:pt x="1052791" y="312119"/>
                  <a:pt x="1049293" y="296548"/>
                </a:cubicBezTo>
                <a:lnTo>
                  <a:pt x="1049293" y="290130"/>
                </a:lnTo>
                <a:lnTo>
                  <a:pt x="1080715" y="290130"/>
                </a:lnTo>
                <a:cubicBezTo>
                  <a:pt x="1086482" y="290130"/>
                  <a:pt x="1088193" y="293599"/>
                  <a:pt x="1085849" y="300538"/>
                </a:cubicBezTo>
                <a:lnTo>
                  <a:pt x="1085849" y="326741"/>
                </a:lnTo>
                <a:lnTo>
                  <a:pt x="998422" y="326741"/>
                </a:lnTo>
                <a:cubicBezTo>
                  <a:pt x="999538" y="326741"/>
                  <a:pt x="998320" y="324072"/>
                  <a:pt x="994766" y="318732"/>
                </a:cubicBezTo>
                <a:cubicBezTo>
                  <a:pt x="986916" y="303050"/>
                  <a:pt x="979102" y="295208"/>
                  <a:pt x="971326" y="295208"/>
                </a:cubicBezTo>
                <a:cubicBezTo>
                  <a:pt x="960517" y="297924"/>
                  <a:pt x="945263" y="307282"/>
                  <a:pt x="925561" y="323281"/>
                </a:cubicBezTo>
                <a:cubicBezTo>
                  <a:pt x="921524" y="329197"/>
                  <a:pt x="920092" y="333699"/>
                  <a:pt x="921264" y="336787"/>
                </a:cubicBezTo>
                <a:cubicBezTo>
                  <a:pt x="921264" y="343038"/>
                  <a:pt x="925719" y="345577"/>
                  <a:pt x="934631" y="344405"/>
                </a:cubicBezTo>
                <a:lnTo>
                  <a:pt x="1085849" y="344405"/>
                </a:lnTo>
                <a:lnTo>
                  <a:pt x="1085849" y="407192"/>
                </a:lnTo>
                <a:cubicBezTo>
                  <a:pt x="1083524" y="420029"/>
                  <a:pt x="1096639" y="427098"/>
                  <a:pt x="1125196" y="428400"/>
                </a:cubicBezTo>
                <a:cubicBezTo>
                  <a:pt x="1144636" y="431953"/>
                  <a:pt x="1153194" y="426010"/>
                  <a:pt x="1150869" y="410569"/>
                </a:cubicBezTo>
                <a:lnTo>
                  <a:pt x="1150869" y="344405"/>
                </a:lnTo>
                <a:lnTo>
                  <a:pt x="1299604" y="344405"/>
                </a:lnTo>
                <a:cubicBezTo>
                  <a:pt x="1307678" y="344405"/>
                  <a:pt x="1312794" y="342266"/>
                  <a:pt x="1314952" y="337987"/>
                </a:cubicBezTo>
                <a:cubicBezTo>
                  <a:pt x="1316459" y="332518"/>
                  <a:pt x="1312691" y="328769"/>
                  <a:pt x="1303650" y="326741"/>
                </a:cubicBezTo>
                <a:lnTo>
                  <a:pt x="1150869" y="326741"/>
                </a:lnTo>
                <a:lnTo>
                  <a:pt x="1150869" y="290130"/>
                </a:lnTo>
                <a:lnTo>
                  <a:pt x="1182178" y="290130"/>
                </a:lnTo>
                <a:lnTo>
                  <a:pt x="1182178" y="293785"/>
                </a:lnTo>
                <a:cubicBezTo>
                  <a:pt x="1183927" y="302622"/>
                  <a:pt x="1196559" y="308993"/>
                  <a:pt x="1220074" y="312900"/>
                </a:cubicBezTo>
                <a:cubicBezTo>
                  <a:pt x="1239310" y="316398"/>
                  <a:pt x="1248342" y="310435"/>
                  <a:pt x="1247170" y="295013"/>
                </a:cubicBezTo>
                <a:lnTo>
                  <a:pt x="1247170" y="194219"/>
                </a:lnTo>
                <a:cubicBezTo>
                  <a:pt x="1248342" y="179969"/>
                  <a:pt x="1246128" y="171411"/>
                  <a:pt x="1240528" y="168546"/>
                </a:cubicBezTo>
                <a:cubicBezTo>
                  <a:pt x="1237840" y="165812"/>
                  <a:pt x="1234180" y="164691"/>
                  <a:pt x="1229548" y="165184"/>
                </a:cubicBezTo>
                <a:close/>
                <a:moveTo>
                  <a:pt x="637411" y="164053"/>
                </a:moveTo>
                <a:lnTo>
                  <a:pt x="637411" y="209400"/>
                </a:lnTo>
                <a:lnTo>
                  <a:pt x="583331" y="209400"/>
                </a:lnTo>
                <a:lnTo>
                  <a:pt x="583331" y="164053"/>
                </a:lnTo>
                <a:close/>
                <a:moveTo>
                  <a:pt x="1539561" y="122028"/>
                </a:moveTo>
                <a:lnTo>
                  <a:pt x="1539561" y="289962"/>
                </a:lnTo>
                <a:lnTo>
                  <a:pt x="1537915" y="289962"/>
                </a:lnTo>
                <a:cubicBezTo>
                  <a:pt x="1537747" y="289962"/>
                  <a:pt x="1534696" y="286009"/>
                  <a:pt x="1528762" y="278102"/>
                </a:cubicBezTo>
                <a:cubicBezTo>
                  <a:pt x="1523795" y="269433"/>
                  <a:pt x="1519228" y="264047"/>
                  <a:pt x="1515060" y="261945"/>
                </a:cubicBezTo>
                <a:cubicBezTo>
                  <a:pt x="1508140" y="261945"/>
                  <a:pt x="1500615" y="264847"/>
                  <a:pt x="1492485" y="270652"/>
                </a:cubicBezTo>
                <a:cubicBezTo>
                  <a:pt x="1518102" y="240514"/>
                  <a:pt x="1533729" y="190973"/>
                  <a:pt x="1539366" y="122028"/>
                </a:cubicBezTo>
                <a:close/>
                <a:moveTo>
                  <a:pt x="1178662" y="78245"/>
                </a:moveTo>
                <a:cubicBezTo>
                  <a:pt x="1159798" y="81184"/>
                  <a:pt x="1145306" y="88970"/>
                  <a:pt x="1135186" y="101601"/>
                </a:cubicBezTo>
                <a:cubicBezTo>
                  <a:pt x="1129158" y="116019"/>
                  <a:pt x="1132563" y="128605"/>
                  <a:pt x="1145399" y="139357"/>
                </a:cubicBezTo>
                <a:lnTo>
                  <a:pt x="1103737" y="139357"/>
                </a:lnTo>
                <a:cubicBezTo>
                  <a:pt x="1089617" y="112252"/>
                  <a:pt x="1082556" y="91881"/>
                  <a:pt x="1082556" y="78245"/>
                </a:cubicBezTo>
                <a:close/>
                <a:moveTo>
                  <a:pt x="215553" y="11133"/>
                </a:moveTo>
                <a:cubicBezTo>
                  <a:pt x="212440" y="10891"/>
                  <a:pt x="208712" y="11077"/>
                  <a:pt x="204368" y="11691"/>
                </a:cubicBezTo>
                <a:cubicBezTo>
                  <a:pt x="201168" y="12751"/>
                  <a:pt x="199085" y="13281"/>
                  <a:pt x="198117" y="13281"/>
                </a:cubicBezTo>
                <a:cubicBezTo>
                  <a:pt x="168166" y="14714"/>
                  <a:pt x="154520" y="20155"/>
                  <a:pt x="157180" y="29606"/>
                </a:cubicBezTo>
                <a:cubicBezTo>
                  <a:pt x="158706" y="32620"/>
                  <a:pt x="160817" y="35494"/>
                  <a:pt x="163515" y="38229"/>
                </a:cubicBezTo>
                <a:cubicBezTo>
                  <a:pt x="167124" y="41838"/>
                  <a:pt x="168928" y="45224"/>
                  <a:pt x="168928" y="48386"/>
                </a:cubicBezTo>
                <a:lnTo>
                  <a:pt x="168928" y="81593"/>
                </a:lnTo>
                <a:lnTo>
                  <a:pt x="93752" y="81593"/>
                </a:lnTo>
                <a:cubicBezTo>
                  <a:pt x="93752" y="81593"/>
                  <a:pt x="91454" y="77984"/>
                  <a:pt x="86859" y="70766"/>
                </a:cubicBezTo>
                <a:cubicBezTo>
                  <a:pt x="77167" y="53446"/>
                  <a:pt x="67967" y="46135"/>
                  <a:pt x="59261" y="48833"/>
                </a:cubicBezTo>
                <a:cubicBezTo>
                  <a:pt x="48508" y="57223"/>
                  <a:pt x="35765" y="67548"/>
                  <a:pt x="21031" y="79807"/>
                </a:cubicBezTo>
                <a:cubicBezTo>
                  <a:pt x="16901" y="83919"/>
                  <a:pt x="14835" y="86868"/>
                  <a:pt x="14835" y="88653"/>
                </a:cubicBezTo>
                <a:cubicBezTo>
                  <a:pt x="14835" y="94569"/>
                  <a:pt x="17793" y="97527"/>
                  <a:pt x="23709" y="97527"/>
                </a:cubicBezTo>
                <a:lnTo>
                  <a:pt x="168928" y="97527"/>
                </a:lnTo>
                <a:lnTo>
                  <a:pt x="168928" y="163886"/>
                </a:lnTo>
                <a:lnTo>
                  <a:pt x="131312" y="163886"/>
                </a:lnTo>
                <a:cubicBezTo>
                  <a:pt x="133061" y="163867"/>
                  <a:pt x="133414" y="161942"/>
                  <a:pt x="132373" y="158110"/>
                </a:cubicBezTo>
                <a:cubicBezTo>
                  <a:pt x="126866" y="148492"/>
                  <a:pt x="120345" y="142232"/>
                  <a:pt x="112811" y="139329"/>
                </a:cubicBezTo>
                <a:cubicBezTo>
                  <a:pt x="89296" y="148185"/>
                  <a:pt x="70646" y="162770"/>
                  <a:pt x="56861" y="183085"/>
                </a:cubicBezTo>
                <a:cubicBezTo>
                  <a:pt x="58572" y="188778"/>
                  <a:pt x="63028" y="194507"/>
                  <a:pt x="70227" y="200275"/>
                </a:cubicBezTo>
                <a:cubicBezTo>
                  <a:pt x="71827" y="201335"/>
                  <a:pt x="72627" y="201484"/>
                  <a:pt x="72627" y="200721"/>
                </a:cubicBezTo>
                <a:lnTo>
                  <a:pt x="72627" y="282037"/>
                </a:lnTo>
                <a:cubicBezTo>
                  <a:pt x="76981" y="296604"/>
                  <a:pt x="88915" y="304538"/>
                  <a:pt x="108430" y="305840"/>
                </a:cubicBezTo>
                <a:cubicBezTo>
                  <a:pt x="127889" y="308203"/>
                  <a:pt x="135870" y="303385"/>
                  <a:pt x="132373" y="291385"/>
                </a:cubicBezTo>
                <a:lnTo>
                  <a:pt x="132373" y="277879"/>
                </a:lnTo>
                <a:lnTo>
                  <a:pt x="137535" y="277879"/>
                </a:lnTo>
                <a:lnTo>
                  <a:pt x="263499" y="277879"/>
                </a:lnTo>
                <a:lnTo>
                  <a:pt x="263499" y="291274"/>
                </a:lnTo>
                <a:cubicBezTo>
                  <a:pt x="269545" y="303347"/>
                  <a:pt x="282224" y="309384"/>
                  <a:pt x="301534" y="309384"/>
                </a:cubicBezTo>
                <a:cubicBezTo>
                  <a:pt x="314836" y="310556"/>
                  <a:pt x="320901" y="305077"/>
                  <a:pt x="319729" y="292948"/>
                </a:cubicBezTo>
                <a:lnTo>
                  <a:pt x="319729" y="153449"/>
                </a:lnTo>
                <a:cubicBezTo>
                  <a:pt x="319729" y="144036"/>
                  <a:pt x="307162" y="145357"/>
                  <a:pt x="282029" y="157412"/>
                </a:cubicBezTo>
                <a:cubicBezTo>
                  <a:pt x="270141" y="161728"/>
                  <a:pt x="262830" y="163886"/>
                  <a:pt x="260095" y="163886"/>
                </a:cubicBezTo>
                <a:lnTo>
                  <a:pt x="226943" y="163886"/>
                </a:lnTo>
                <a:lnTo>
                  <a:pt x="226943" y="148203"/>
                </a:lnTo>
                <a:lnTo>
                  <a:pt x="226943" y="24862"/>
                </a:lnTo>
                <a:cubicBezTo>
                  <a:pt x="228688" y="16435"/>
                  <a:pt x="224891" y="11858"/>
                  <a:pt x="215553" y="11133"/>
                </a:cubicBezTo>
                <a:close/>
                <a:moveTo>
                  <a:pt x="1149983" y="6033"/>
                </a:moveTo>
                <a:cubicBezTo>
                  <a:pt x="1146011" y="5638"/>
                  <a:pt x="1140930" y="5738"/>
                  <a:pt x="1134739" y="6333"/>
                </a:cubicBezTo>
                <a:cubicBezTo>
                  <a:pt x="1109643" y="7579"/>
                  <a:pt x="1093002" y="12305"/>
                  <a:pt x="1084817" y="20509"/>
                </a:cubicBezTo>
                <a:cubicBezTo>
                  <a:pt x="1072669" y="40061"/>
                  <a:pt x="1073013" y="53418"/>
                  <a:pt x="1085849" y="60581"/>
                </a:cubicBezTo>
                <a:lnTo>
                  <a:pt x="1022923" y="60581"/>
                </a:lnTo>
                <a:cubicBezTo>
                  <a:pt x="1024169" y="60581"/>
                  <a:pt x="1023035" y="57706"/>
                  <a:pt x="1019518" y="51958"/>
                </a:cubicBezTo>
                <a:cubicBezTo>
                  <a:pt x="1010589" y="34917"/>
                  <a:pt x="1002682" y="25532"/>
                  <a:pt x="995799" y="23802"/>
                </a:cubicBezTo>
                <a:cubicBezTo>
                  <a:pt x="985400" y="23802"/>
                  <a:pt x="968433" y="34340"/>
                  <a:pt x="944900" y="55418"/>
                </a:cubicBezTo>
                <a:cubicBezTo>
                  <a:pt x="939654" y="63027"/>
                  <a:pt x="938723" y="68971"/>
                  <a:pt x="942109" y="73250"/>
                </a:cubicBezTo>
                <a:cubicBezTo>
                  <a:pt x="945681" y="76580"/>
                  <a:pt x="953002" y="77668"/>
                  <a:pt x="964071" y="76515"/>
                </a:cubicBezTo>
                <a:lnTo>
                  <a:pt x="1035089" y="76515"/>
                </a:lnTo>
                <a:cubicBezTo>
                  <a:pt x="1002403" y="89295"/>
                  <a:pt x="997111" y="99695"/>
                  <a:pt x="1019211" y="107713"/>
                </a:cubicBezTo>
                <a:cubicBezTo>
                  <a:pt x="1024309" y="110261"/>
                  <a:pt x="1027406" y="111536"/>
                  <a:pt x="1028504" y="111536"/>
                </a:cubicBezTo>
                <a:cubicBezTo>
                  <a:pt x="1044466" y="121098"/>
                  <a:pt x="1057163" y="130372"/>
                  <a:pt x="1066595" y="139357"/>
                </a:cubicBezTo>
                <a:lnTo>
                  <a:pt x="991557" y="139357"/>
                </a:lnTo>
                <a:cubicBezTo>
                  <a:pt x="979074" y="117796"/>
                  <a:pt x="967652" y="105545"/>
                  <a:pt x="957290" y="102606"/>
                </a:cubicBezTo>
                <a:cubicBezTo>
                  <a:pt x="950369" y="102606"/>
                  <a:pt x="937189" y="111099"/>
                  <a:pt x="917748" y="128084"/>
                </a:cubicBezTo>
                <a:cubicBezTo>
                  <a:pt x="915255" y="130539"/>
                  <a:pt x="912716" y="132409"/>
                  <a:pt x="910130" y="133693"/>
                </a:cubicBezTo>
                <a:cubicBezTo>
                  <a:pt x="904716" y="142901"/>
                  <a:pt x="902586" y="148454"/>
                  <a:pt x="903739" y="150352"/>
                </a:cubicBezTo>
                <a:cubicBezTo>
                  <a:pt x="903739" y="154817"/>
                  <a:pt x="909879" y="156463"/>
                  <a:pt x="922157" y="155291"/>
                </a:cubicBezTo>
                <a:lnTo>
                  <a:pt x="1313612" y="155291"/>
                </a:lnTo>
                <a:cubicBezTo>
                  <a:pt x="1321686" y="155291"/>
                  <a:pt x="1326532" y="153691"/>
                  <a:pt x="1328151" y="150492"/>
                </a:cubicBezTo>
                <a:cubicBezTo>
                  <a:pt x="1331369" y="146027"/>
                  <a:pt x="1328458" y="142315"/>
                  <a:pt x="1319417" y="139357"/>
                </a:cubicBezTo>
                <a:lnTo>
                  <a:pt x="1191136" y="139357"/>
                </a:lnTo>
                <a:cubicBezTo>
                  <a:pt x="1198131" y="137367"/>
                  <a:pt x="1200466" y="129795"/>
                  <a:pt x="1198140" y="116642"/>
                </a:cubicBezTo>
                <a:cubicBezTo>
                  <a:pt x="1195796" y="100197"/>
                  <a:pt x="1198364" y="87398"/>
                  <a:pt x="1205842" y="78245"/>
                </a:cubicBezTo>
                <a:lnTo>
                  <a:pt x="1278591" y="78245"/>
                </a:lnTo>
                <a:cubicBezTo>
                  <a:pt x="1285977" y="78245"/>
                  <a:pt x="1291344" y="76580"/>
                  <a:pt x="1294693" y="73250"/>
                </a:cubicBezTo>
                <a:cubicBezTo>
                  <a:pt x="1298023" y="67129"/>
                  <a:pt x="1295176" y="62906"/>
                  <a:pt x="1286153" y="60581"/>
                </a:cubicBezTo>
                <a:lnTo>
                  <a:pt x="1136042" y="60581"/>
                </a:lnTo>
                <a:lnTo>
                  <a:pt x="1137551" y="59046"/>
                </a:lnTo>
                <a:cubicBezTo>
                  <a:pt x="1138718" y="56944"/>
                  <a:pt x="1139651" y="53251"/>
                  <a:pt x="1140348" y="47968"/>
                </a:cubicBezTo>
                <a:cubicBezTo>
                  <a:pt x="1142376" y="37494"/>
                  <a:pt x="1147520" y="29159"/>
                  <a:pt x="1155780" y="22964"/>
                </a:cubicBezTo>
                <a:cubicBezTo>
                  <a:pt x="1163831" y="12863"/>
                  <a:pt x="1161898" y="7219"/>
                  <a:pt x="1149983" y="6033"/>
                </a:cubicBezTo>
                <a:close/>
                <a:moveTo>
                  <a:pt x="582640" y="3654"/>
                </a:moveTo>
                <a:cubicBezTo>
                  <a:pt x="574534" y="4640"/>
                  <a:pt x="566448" y="8258"/>
                  <a:pt x="558384" y="14509"/>
                </a:cubicBezTo>
                <a:cubicBezTo>
                  <a:pt x="513010" y="48833"/>
                  <a:pt x="509922" y="64822"/>
                  <a:pt x="549119" y="62478"/>
                </a:cubicBezTo>
                <a:cubicBezTo>
                  <a:pt x="554719" y="61306"/>
                  <a:pt x="557686" y="60730"/>
                  <a:pt x="558021" y="60748"/>
                </a:cubicBezTo>
                <a:cubicBezTo>
                  <a:pt x="568420" y="63055"/>
                  <a:pt x="582550" y="64804"/>
                  <a:pt x="600409" y="65994"/>
                </a:cubicBezTo>
                <a:cubicBezTo>
                  <a:pt x="619013" y="67166"/>
                  <a:pt x="631347" y="67752"/>
                  <a:pt x="637411" y="67752"/>
                </a:cubicBezTo>
                <a:lnTo>
                  <a:pt x="637411" y="99090"/>
                </a:lnTo>
                <a:lnTo>
                  <a:pt x="530702" y="99090"/>
                </a:lnTo>
                <a:cubicBezTo>
                  <a:pt x="530683" y="99090"/>
                  <a:pt x="526907" y="93193"/>
                  <a:pt x="519372" y="81398"/>
                </a:cubicBezTo>
                <a:cubicBezTo>
                  <a:pt x="511094" y="69548"/>
                  <a:pt x="504917" y="62609"/>
                  <a:pt x="500843" y="60581"/>
                </a:cubicBezTo>
                <a:cubicBezTo>
                  <a:pt x="493439" y="60581"/>
                  <a:pt x="477942" y="71110"/>
                  <a:pt x="454353" y="92170"/>
                </a:cubicBezTo>
                <a:cubicBezTo>
                  <a:pt x="445646" y="107406"/>
                  <a:pt x="446586" y="115024"/>
                  <a:pt x="457171" y="115024"/>
                </a:cubicBezTo>
                <a:lnTo>
                  <a:pt x="637411" y="115024"/>
                </a:lnTo>
                <a:lnTo>
                  <a:pt x="637411" y="148120"/>
                </a:lnTo>
                <a:lnTo>
                  <a:pt x="588493" y="148120"/>
                </a:lnTo>
                <a:cubicBezTo>
                  <a:pt x="589182" y="148120"/>
                  <a:pt x="586661" y="145255"/>
                  <a:pt x="580931" y="139525"/>
                </a:cubicBezTo>
                <a:cubicBezTo>
                  <a:pt x="572969" y="128921"/>
                  <a:pt x="565667" y="123619"/>
                  <a:pt x="559025" y="123619"/>
                </a:cubicBezTo>
                <a:cubicBezTo>
                  <a:pt x="531232" y="136232"/>
                  <a:pt x="513587" y="152203"/>
                  <a:pt x="506089" y="171532"/>
                </a:cubicBezTo>
                <a:cubicBezTo>
                  <a:pt x="508303" y="176425"/>
                  <a:pt x="511615" y="179606"/>
                  <a:pt x="516023" y="181076"/>
                </a:cubicBezTo>
                <a:cubicBezTo>
                  <a:pt x="517568" y="182099"/>
                  <a:pt x="518340" y="182229"/>
                  <a:pt x="518340" y="181466"/>
                </a:cubicBezTo>
                <a:lnTo>
                  <a:pt x="518340" y="279526"/>
                </a:lnTo>
                <a:cubicBezTo>
                  <a:pt x="518340" y="290427"/>
                  <a:pt x="524758" y="297050"/>
                  <a:pt x="537594" y="299394"/>
                </a:cubicBezTo>
                <a:cubicBezTo>
                  <a:pt x="520925" y="306891"/>
                  <a:pt x="507140" y="316695"/>
                  <a:pt x="496239" y="328806"/>
                </a:cubicBezTo>
                <a:cubicBezTo>
                  <a:pt x="492295" y="338052"/>
                  <a:pt x="494146" y="343838"/>
                  <a:pt x="501792" y="346163"/>
                </a:cubicBezTo>
                <a:lnTo>
                  <a:pt x="637411" y="346163"/>
                </a:lnTo>
                <a:lnTo>
                  <a:pt x="637411" y="389779"/>
                </a:lnTo>
                <a:lnTo>
                  <a:pt x="547501" y="389779"/>
                </a:lnTo>
                <a:cubicBezTo>
                  <a:pt x="546589" y="388849"/>
                  <a:pt x="543929" y="383975"/>
                  <a:pt x="539520" y="375157"/>
                </a:cubicBezTo>
                <a:cubicBezTo>
                  <a:pt x="530106" y="360386"/>
                  <a:pt x="522497" y="353000"/>
                  <a:pt x="516693" y="353000"/>
                </a:cubicBezTo>
                <a:cubicBezTo>
                  <a:pt x="510554" y="353000"/>
                  <a:pt x="497727" y="360302"/>
                  <a:pt x="478212" y="374906"/>
                </a:cubicBezTo>
                <a:cubicBezTo>
                  <a:pt x="476835" y="376189"/>
                  <a:pt x="475459" y="377520"/>
                  <a:pt x="474082" y="378896"/>
                </a:cubicBezTo>
                <a:cubicBezTo>
                  <a:pt x="466585" y="383882"/>
                  <a:pt x="462073" y="388672"/>
                  <a:pt x="460548" y="393267"/>
                </a:cubicBezTo>
                <a:cubicBezTo>
                  <a:pt x="460548" y="399648"/>
                  <a:pt x="464371" y="403797"/>
                  <a:pt x="472017" y="405713"/>
                </a:cubicBezTo>
                <a:lnTo>
                  <a:pt x="845138" y="405713"/>
                </a:lnTo>
                <a:cubicBezTo>
                  <a:pt x="850999" y="404243"/>
                  <a:pt x="855956" y="401481"/>
                  <a:pt x="860012" y="397425"/>
                </a:cubicBezTo>
                <a:cubicBezTo>
                  <a:pt x="860012" y="392328"/>
                  <a:pt x="855891" y="389779"/>
                  <a:pt x="847650" y="389779"/>
                </a:cubicBezTo>
                <a:lnTo>
                  <a:pt x="697157" y="389779"/>
                </a:lnTo>
                <a:lnTo>
                  <a:pt x="697157" y="347921"/>
                </a:lnTo>
                <a:lnTo>
                  <a:pt x="819633" y="347921"/>
                </a:lnTo>
                <a:cubicBezTo>
                  <a:pt x="825865" y="347921"/>
                  <a:pt x="830842" y="346061"/>
                  <a:pt x="834562" y="342340"/>
                </a:cubicBezTo>
                <a:cubicBezTo>
                  <a:pt x="836348" y="336480"/>
                  <a:pt x="833418" y="332443"/>
                  <a:pt x="825772" y="330229"/>
                </a:cubicBezTo>
                <a:lnTo>
                  <a:pt x="697157" y="330229"/>
                </a:lnTo>
                <a:lnTo>
                  <a:pt x="697157" y="284883"/>
                </a:lnTo>
                <a:lnTo>
                  <a:pt x="751237" y="284883"/>
                </a:lnTo>
                <a:cubicBezTo>
                  <a:pt x="751237" y="299748"/>
                  <a:pt x="758409" y="307887"/>
                  <a:pt x="772752" y="309300"/>
                </a:cubicBezTo>
                <a:cubicBezTo>
                  <a:pt x="799411" y="316370"/>
                  <a:pt x="811568" y="310947"/>
                  <a:pt x="809224" y="293032"/>
                </a:cubicBezTo>
                <a:lnTo>
                  <a:pt x="809224" y="147115"/>
                </a:lnTo>
                <a:cubicBezTo>
                  <a:pt x="810396" y="139525"/>
                  <a:pt x="808024" y="134679"/>
                  <a:pt x="802109" y="132576"/>
                </a:cubicBezTo>
                <a:cubicBezTo>
                  <a:pt x="797067" y="130083"/>
                  <a:pt x="789942" y="131572"/>
                  <a:pt x="780733" y="137041"/>
                </a:cubicBezTo>
                <a:cubicBezTo>
                  <a:pt x="779580" y="138195"/>
                  <a:pt x="778231" y="139153"/>
                  <a:pt x="776687" y="139915"/>
                </a:cubicBezTo>
                <a:cubicBezTo>
                  <a:pt x="766008" y="145366"/>
                  <a:pt x="758325" y="148101"/>
                  <a:pt x="753637" y="148120"/>
                </a:cubicBezTo>
                <a:lnTo>
                  <a:pt x="697157" y="148120"/>
                </a:lnTo>
                <a:lnTo>
                  <a:pt x="697157" y="115024"/>
                </a:lnTo>
                <a:lnTo>
                  <a:pt x="863416" y="115024"/>
                </a:lnTo>
                <a:cubicBezTo>
                  <a:pt x="871490" y="115024"/>
                  <a:pt x="876337" y="113424"/>
                  <a:pt x="877955" y="110224"/>
                </a:cubicBezTo>
                <a:cubicBezTo>
                  <a:pt x="881173" y="105759"/>
                  <a:pt x="878262" y="102048"/>
                  <a:pt x="869221" y="99090"/>
                </a:cubicBezTo>
                <a:lnTo>
                  <a:pt x="697157" y="99090"/>
                </a:lnTo>
                <a:lnTo>
                  <a:pt x="697157" y="71241"/>
                </a:lnTo>
                <a:cubicBezTo>
                  <a:pt x="729490" y="73585"/>
                  <a:pt x="760976" y="74757"/>
                  <a:pt x="791616" y="74757"/>
                </a:cubicBezTo>
                <a:cubicBezTo>
                  <a:pt x="817363" y="74757"/>
                  <a:pt x="823595" y="70766"/>
                  <a:pt x="810313" y="62785"/>
                </a:cubicBezTo>
                <a:cubicBezTo>
                  <a:pt x="740921" y="49856"/>
                  <a:pt x="676339" y="32852"/>
                  <a:pt x="616566" y="11774"/>
                </a:cubicBezTo>
                <a:cubicBezTo>
                  <a:pt x="613031" y="10602"/>
                  <a:pt x="609850" y="9542"/>
                  <a:pt x="607023" y="8593"/>
                </a:cubicBezTo>
                <a:cubicBezTo>
                  <a:pt x="598874" y="4314"/>
                  <a:pt x="590747" y="2668"/>
                  <a:pt x="582640" y="3654"/>
                </a:cubicBezTo>
                <a:close/>
                <a:moveTo>
                  <a:pt x="1593345" y="363"/>
                </a:moveTo>
                <a:cubicBezTo>
                  <a:pt x="1590269" y="-308"/>
                  <a:pt x="1586582" y="-48"/>
                  <a:pt x="1582284" y="1143"/>
                </a:cubicBezTo>
                <a:cubicBezTo>
                  <a:pt x="1543291" y="5124"/>
                  <a:pt x="1525544" y="10974"/>
                  <a:pt x="1529041" y="18695"/>
                </a:cubicBezTo>
                <a:cubicBezTo>
                  <a:pt x="1529041" y="21318"/>
                  <a:pt x="1530846" y="24425"/>
                  <a:pt x="1534455" y="28015"/>
                </a:cubicBezTo>
                <a:cubicBezTo>
                  <a:pt x="1537859" y="32276"/>
                  <a:pt x="1539561" y="36145"/>
                  <a:pt x="1539561" y="39624"/>
                </a:cubicBezTo>
                <a:lnTo>
                  <a:pt x="1539561" y="106094"/>
                </a:lnTo>
                <a:lnTo>
                  <a:pt x="1462627" y="106094"/>
                </a:lnTo>
                <a:cubicBezTo>
                  <a:pt x="1463761" y="106094"/>
                  <a:pt x="1460627" y="100271"/>
                  <a:pt x="1453222" y="88626"/>
                </a:cubicBezTo>
                <a:cubicBezTo>
                  <a:pt x="1446023" y="76645"/>
                  <a:pt x="1440674" y="69789"/>
                  <a:pt x="1437177" y="68059"/>
                </a:cubicBezTo>
                <a:cubicBezTo>
                  <a:pt x="1426071" y="64208"/>
                  <a:pt x="1406918" y="75603"/>
                  <a:pt x="1379720" y="102243"/>
                </a:cubicBezTo>
                <a:cubicBezTo>
                  <a:pt x="1374213" y="109145"/>
                  <a:pt x="1371460" y="113368"/>
                  <a:pt x="1371460" y="114912"/>
                </a:cubicBezTo>
                <a:cubicBezTo>
                  <a:pt x="1371460" y="120828"/>
                  <a:pt x="1376399" y="123200"/>
                  <a:pt x="1386278" y="122028"/>
                </a:cubicBezTo>
                <a:lnTo>
                  <a:pt x="1520307" y="122028"/>
                </a:lnTo>
                <a:cubicBezTo>
                  <a:pt x="1506540" y="196386"/>
                  <a:pt x="1458134" y="248913"/>
                  <a:pt x="1375088" y="279609"/>
                </a:cubicBezTo>
                <a:cubicBezTo>
                  <a:pt x="1362158" y="287255"/>
                  <a:pt x="1362540" y="294678"/>
                  <a:pt x="1376232" y="301878"/>
                </a:cubicBezTo>
                <a:cubicBezTo>
                  <a:pt x="1380418" y="303980"/>
                  <a:pt x="1383050" y="305570"/>
                  <a:pt x="1384129" y="306649"/>
                </a:cubicBezTo>
                <a:cubicBezTo>
                  <a:pt x="1390733" y="311040"/>
                  <a:pt x="1397905" y="319337"/>
                  <a:pt x="1405644" y="331541"/>
                </a:cubicBezTo>
                <a:cubicBezTo>
                  <a:pt x="1411355" y="340117"/>
                  <a:pt x="1415253" y="344405"/>
                  <a:pt x="1417336" y="344405"/>
                </a:cubicBezTo>
                <a:cubicBezTo>
                  <a:pt x="1424833" y="347921"/>
                  <a:pt x="1442479" y="335671"/>
                  <a:pt x="1470273" y="307654"/>
                </a:cubicBezTo>
                <a:lnTo>
                  <a:pt x="1539561" y="307654"/>
                </a:lnTo>
                <a:lnTo>
                  <a:pt x="1539561" y="398430"/>
                </a:lnTo>
                <a:cubicBezTo>
                  <a:pt x="1536064" y="413443"/>
                  <a:pt x="1550798" y="422261"/>
                  <a:pt x="1583763" y="424884"/>
                </a:cubicBezTo>
                <a:cubicBezTo>
                  <a:pt x="1598795" y="426112"/>
                  <a:pt x="1605725" y="418410"/>
                  <a:pt x="1604553" y="401779"/>
                </a:cubicBezTo>
                <a:lnTo>
                  <a:pt x="1604553" y="307654"/>
                </a:lnTo>
                <a:lnTo>
                  <a:pt x="1693487" y="307654"/>
                </a:lnTo>
                <a:cubicBezTo>
                  <a:pt x="1703309" y="316398"/>
                  <a:pt x="1723885" y="328881"/>
                  <a:pt x="1755213" y="345103"/>
                </a:cubicBezTo>
                <a:cubicBezTo>
                  <a:pt x="1770803" y="353977"/>
                  <a:pt x="1780700" y="356832"/>
                  <a:pt x="1784904" y="353670"/>
                </a:cubicBezTo>
                <a:cubicBezTo>
                  <a:pt x="1784904" y="349019"/>
                  <a:pt x="1777147" y="340610"/>
                  <a:pt x="1761631" y="328443"/>
                </a:cubicBezTo>
                <a:cubicBezTo>
                  <a:pt x="1699961" y="279721"/>
                  <a:pt x="1659275" y="210916"/>
                  <a:pt x="1639574" y="122028"/>
                </a:cubicBezTo>
                <a:lnTo>
                  <a:pt x="1744526" y="122028"/>
                </a:lnTo>
                <a:cubicBezTo>
                  <a:pt x="1753381" y="122028"/>
                  <a:pt x="1760059" y="121275"/>
                  <a:pt x="1764562" y="119768"/>
                </a:cubicBezTo>
                <a:cubicBezTo>
                  <a:pt x="1769957" y="113126"/>
                  <a:pt x="1767594" y="108569"/>
                  <a:pt x="1757474" y="106094"/>
                </a:cubicBezTo>
                <a:lnTo>
                  <a:pt x="1604553" y="106094"/>
                </a:lnTo>
                <a:lnTo>
                  <a:pt x="1604553" y="31531"/>
                </a:lnTo>
                <a:cubicBezTo>
                  <a:pt x="1606311" y="12765"/>
                  <a:pt x="1602575" y="2376"/>
                  <a:pt x="1593345" y="363"/>
                </a:cubicBezTo>
                <a:close/>
              </a:path>
            </a:pathLst>
          </a:custGeom>
          <a:gradFill flip="none" rotWithShape="1">
            <a:gsLst>
              <a:gs pos="0">
                <a:srgbClr val="009E47">
                  <a:alpha val="88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cxnSp>
        <p:nvCxnSpPr>
          <p:cNvPr id="47" name="直接连接符 46"/>
          <p:cNvCxnSpPr>
            <a:cxnSpLocks/>
          </p:cNvCxnSpPr>
          <p:nvPr/>
        </p:nvCxnSpPr>
        <p:spPr>
          <a:xfrm>
            <a:off x="1399662" y="3843270"/>
            <a:ext cx="8892000" cy="0"/>
          </a:xfrm>
          <a:prstGeom prst="line">
            <a:avLst/>
          </a:prstGeom>
          <a:ln w="12700">
            <a:solidFill>
              <a:srgbClr val="04926A"/>
            </a:solidFill>
            <a:prstDash val="dash"/>
            <a:headEnd type="oval"/>
            <a:tailEnd type="oval"/>
          </a:ln>
        </p:spPr>
        <p:style>
          <a:lnRef idx="1">
            <a:schemeClr val="accent1"/>
          </a:lnRef>
          <a:fillRef idx="0">
            <a:schemeClr val="accent1"/>
          </a:fillRef>
          <a:effectRef idx="0">
            <a:schemeClr val="accent1"/>
          </a:effectRef>
          <a:fontRef idx="minor">
            <a:schemeClr val="tx1"/>
          </a:fontRef>
        </p:style>
      </p:cxnSp>
      <p:grpSp>
        <p:nvGrpSpPr>
          <p:cNvPr id="18" name="组合 17"/>
          <p:cNvGrpSpPr/>
          <p:nvPr/>
        </p:nvGrpSpPr>
        <p:grpSpPr>
          <a:xfrm>
            <a:off x="1399663" y="4450080"/>
            <a:ext cx="2469515" cy="1557020"/>
            <a:chOff x="3032" y="6990"/>
            <a:chExt cx="3889" cy="2452"/>
          </a:xfrm>
        </p:grpSpPr>
        <p:sp>
          <p:nvSpPr>
            <p:cNvPr id="51" name="矩形: 圆角 40"/>
            <p:cNvSpPr/>
            <p:nvPr/>
          </p:nvSpPr>
          <p:spPr>
            <a:xfrm rot="16200000" flipV="1">
              <a:off x="3965" y="6486"/>
              <a:ext cx="2023" cy="3889"/>
            </a:xfrm>
            <a:prstGeom prst="roundRect">
              <a:avLst>
                <a:gd name="adj" fmla="val 6487"/>
              </a:avLst>
            </a:prstGeom>
            <a:solidFill>
              <a:srgbClr val="FFFFFF"/>
            </a:solidFill>
            <a:ln w="6350" cap="flat" cmpd="sng" algn="ctr">
              <a:gradFill flip="none" rotWithShape="1">
                <a:gsLst>
                  <a:gs pos="0">
                    <a:srgbClr val="058C79"/>
                  </a:gs>
                  <a:gs pos="100000">
                    <a:schemeClr val="bg1"/>
                  </a:gs>
                </a:gsLst>
                <a:lin ang="0" scaled="1"/>
                <a:tileRect/>
              </a:gradFill>
              <a:prstDash val="solid"/>
              <a:miter lim="800000"/>
            </a:ln>
            <a:effectLst>
              <a:outerShdw blurRad="50800" dist="38100" dir="2700000" algn="tl" rotWithShape="0">
                <a:prstClr val="black">
                  <a:alpha val="40000"/>
                </a:prstClr>
              </a:outerShdw>
            </a:effectLst>
          </p:spPr>
          <p:txBody>
            <a:bodyPr lIns="68580" tIns="34290" rIns="68580" bIns="34290" rtlCol="0" anchor="ctr"/>
            <a:lstStyle/>
            <a:p>
              <a:pPr algn="ctr" defTabSz="342900">
                <a:defRPr/>
              </a:pPr>
              <a:endParaRPr lang="zh-CN" altLang="en-US" kern="0" dirty="0">
                <a:solidFill>
                  <a:srgbClr val="FFFFFF"/>
                </a:solidFill>
                <a:latin typeface="Calibri" panose="020F0502020204030204"/>
                <a:ea typeface="微软雅黑 Light" panose="020B0502040204020203" charset="-122"/>
              </a:endParaRPr>
            </a:p>
          </p:txBody>
        </p:sp>
        <p:sp>
          <p:nvSpPr>
            <p:cNvPr id="50" name="矩形 49"/>
            <p:cNvSpPr/>
            <p:nvPr/>
          </p:nvSpPr>
          <p:spPr>
            <a:xfrm>
              <a:off x="3338" y="6990"/>
              <a:ext cx="3276" cy="727"/>
            </a:xfrm>
            <a:prstGeom prst="rect">
              <a:avLst/>
            </a:prstGeom>
            <a:gradFill>
              <a:gsLst>
                <a:gs pos="0">
                  <a:srgbClr val="009E47">
                    <a:alpha val="88000"/>
                  </a:srgbClr>
                </a:gs>
                <a:gs pos="55000">
                  <a:srgbClr val="039463"/>
                </a:gs>
                <a:gs pos="100000">
                  <a:srgbClr val="068885"/>
                </a:gs>
              </a:gsLst>
              <a:path path="circle">
                <a:fillToRect t="100000" r="100000"/>
              </a:path>
              <a:tileRect l="-100000" b="-100000"/>
            </a:gradFill>
            <a:effectLst>
              <a:outerShdw blurRad="50800" dist="38100" algn="l" rotWithShape="0">
                <a:prstClr val="black">
                  <a:alpha val="40000"/>
                </a:prstClr>
              </a:outerShdw>
            </a:effectLst>
          </p:spPr>
          <p:txBody>
            <a:bodyPr wrap="square">
              <a:spAutoFit/>
            </a:bodyPr>
            <a:lstStyle/>
            <a:p>
              <a:pPr algn="ctr"/>
              <a:r>
                <a:rPr lang="zh-CN" altLang="en-US" sz="2400" b="1" dirty="0">
                  <a:solidFill>
                    <a:schemeClr val="bg1"/>
                  </a:solidFill>
                  <a:latin typeface="宋体" panose="02010600030101010101" pitchFamily="2" charset="-122"/>
                  <a:ea typeface="宋体" panose="02010600030101010101" pitchFamily="2" charset="-122"/>
                </a:rPr>
                <a:t>平面解析几何</a:t>
              </a:r>
            </a:p>
          </p:txBody>
        </p:sp>
        <p:sp>
          <p:nvSpPr>
            <p:cNvPr id="52" name="矩形 51"/>
            <p:cNvSpPr/>
            <p:nvPr/>
          </p:nvSpPr>
          <p:spPr>
            <a:xfrm>
              <a:off x="3100" y="8196"/>
              <a:ext cx="3752" cy="727"/>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2400" b="1" dirty="0">
                  <a:latin typeface="宋体" panose="02010600030101010101" pitchFamily="2" charset="-122"/>
                  <a:ea typeface="宋体" panose="02010600030101010101" pitchFamily="2" charset="-122"/>
                </a:rPr>
                <a:t>一元函数微积分</a:t>
              </a:r>
            </a:p>
          </p:txBody>
        </p:sp>
      </p:grpSp>
      <p:grpSp>
        <p:nvGrpSpPr>
          <p:cNvPr id="19" name="组合 18"/>
          <p:cNvGrpSpPr/>
          <p:nvPr/>
        </p:nvGrpSpPr>
        <p:grpSpPr>
          <a:xfrm>
            <a:off x="4659331" y="4450080"/>
            <a:ext cx="2795905" cy="1561109"/>
            <a:chOff x="7155" y="6949"/>
            <a:chExt cx="4403" cy="2458"/>
          </a:xfrm>
        </p:grpSpPr>
        <p:sp>
          <p:nvSpPr>
            <p:cNvPr id="2" name="矩形: 圆角 40"/>
            <p:cNvSpPr/>
            <p:nvPr/>
          </p:nvSpPr>
          <p:spPr>
            <a:xfrm rot="16200000" flipV="1">
              <a:off x="8345" y="6193"/>
              <a:ext cx="2024" cy="4403"/>
            </a:xfrm>
            <a:prstGeom prst="roundRect">
              <a:avLst>
                <a:gd name="adj" fmla="val 6487"/>
              </a:avLst>
            </a:prstGeom>
            <a:solidFill>
              <a:srgbClr val="FFFFFF"/>
            </a:solidFill>
            <a:ln w="6350" cap="flat" cmpd="sng" algn="ctr">
              <a:gradFill flip="none" rotWithShape="1">
                <a:gsLst>
                  <a:gs pos="0">
                    <a:srgbClr val="058C79"/>
                  </a:gs>
                  <a:gs pos="100000">
                    <a:schemeClr val="bg1"/>
                  </a:gs>
                </a:gsLst>
                <a:lin ang="0" scaled="1"/>
                <a:tileRect/>
              </a:gradFill>
              <a:prstDash val="solid"/>
              <a:miter lim="800000"/>
            </a:ln>
            <a:effectLst>
              <a:outerShdw blurRad="50800" dist="38100" dir="2700000" algn="tl" rotWithShape="0">
                <a:prstClr val="black">
                  <a:alpha val="40000"/>
                </a:prstClr>
              </a:outerShdw>
            </a:effectLst>
          </p:spPr>
          <p:txBody>
            <a:bodyPr lIns="68580" tIns="34290" rIns="68580" bIns="34290" rtlCol="0" anchor="ctr"/>
            <a:lstStyle/>
            <a:p>
              <a:pPr algn="ctr" defTabSz="342900">
                <a:defRPr/>
              </a:pPr>
              <a:endParaRPr lang="zh-CN" altLang="en-US" kern="0" dirty="0">
                <a:solidFill>
                  <a:srgbClr val="FFFFFF"/>
                </a:solidFill>
                <a:latin typeface="Calibri" panose="020F0502020204030204"/>
                <a:ea typeface="微软雅黑 Light" panose="020B0502040204020203" charset="-122"/>
              </a:endParaRPr>
            </a:p>
          </p:txBody>
        </p:sp>
        <p:sp>
          <p:nvSpPr>
            <p:cNvPr id="3" name="矩形 2"/>
            <p:cNvSpPr/>
            <p:nvPr/>
          </p:nvSpPr>
          <p:spPr>
            <a:xfrm>
              <a:off x="7719" y="6949"/>
              <a:ext cx="3277" cy="727"/>
            </a:xfrm>
            <a:prstGeom prst="rect">
              <a:avLst/>
            </a:prstGeom>
            <a:gradFill>
              <a:gsLst>
                <a:gs pos="0">
                  <a:srgbClr val="009E47">
                    <a:alpha val="88000"/>
                  </a:srgbClr>
                </a:gs>
                <a:gs pos="55000">
                  <a:srgbClr val="039463"/>
                </a:gs>
                <a:gs pos="100000">
                  <a:srgbClr val="068885"/>
                </a:gs>
              </a:gsLst>
              <a:path path="circle">
                <a:fillToRect t="100000" r="100000"/>
              </a:path>
              <a:tileRect l="-100000" b="-100000"/>
            </a:gradFill>
            <a:effectLst>
              <a:outerShdw blurRad="50800" dist="38100" algn="l" rotWithShape="0">
                <a:prstClr val="black">
                  <a:alpha val="40000"/>
                </a:prstClr>
              </a:outerShdw>
            </a:effectLst>
          </p:spPr>
          <p:txBody>
            <a:bodyPr wrap="square">
              <a:spAutoFit/>
            </a:bodyPr>
            <a:lstStyle/>
            <a:p>
              <a:pPr lvl="0" algn="ctr"/>
              <a:r>
                <a:rPr lang="zh-CN" altLang="en-US" sz="2400" b="1" dirty="0">
                  <a:solidFill>
                    <a:schemeClr val="bg1"/>
                  </a:solidFill>
                  <a:latin typeface="宋体" panose="02010600030101010101" pitchFamily="2" charset="-122"/>
                  <a:ea typeface="宋体" panose="02010600030101010101" pitchFamily="2" charset="-122"/>
                </a:rPr>
                <a:t>空间解析几何</a:t>
              </a:r>
            </a:p>
          </p:txBody>
        </p:sp>
        <p:sp>
          <p:nvSpPr>
            <p:cNvPr id="13" name="矩形 12"/>
            <p:cNvSpPr/>
            <p:nvPr/>
          </p:nvSpPr>
          <p:spPr>
            <a:xfrm>
              <a:off x="7399" y="8109"/>
              <a:ext cx="3916" cy="727"/>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2400" b="1" dirty="0">
                  <a:latin typeface="宋体" panose="02010600030101010101" pitchFamily="2" charset="-122"/>
                  <a:ea typeface="宋体" panose="02010600030101010101" pitchFamily="2" charset="-122"/>
                </a:rPr>
                <a:t>多元函数微积分</a:t>
              </a:r>
            </a:p>
          </p:txBody>
        </p:sp>
      </p:grpSp>
      <p:grpSp>
        <p:nvGrpSpPr>
          <p:cNvPr id="20" name="组合 19"/>
          <p:cNvGrpSpPr/>
          <p:nvPr/>
        </p:nvGrpSpPr>
        <p:grpSpPr>
          <a:xfrm>
            <a:off x="8208065" y="4450080"/>
            <a:ext cx="2080895" cy="1559203"/>
            <a:chOff x="8027" y="6949"/>
            <a:chExt cx="3277" cy="2455"/>
          </a:xfrm>
        </p:grpSpPr>
        <p:sp>
          <p:nvSpPr>
            <p:cNvPr id="21" name="矩形: 圆角 40"/>
            <p:cNvSpPr/>
            <p:nvPr/>
          </p:nvSpPr>
          <p:spPr>
            <a:xfrm rot="16200000" flipV="1">
              <a:off x="8645" y="6745"/>
              <a:ext cx="2041" cy="3277"/>
            </a:xfrm>
            <a:prstGeom prst="roundRect">
              <a:avLst>
                <a:gd name="adj" fmla="val 6487"/>
              </a:avLst>
            </a:prstGeom>
            <a:solidFill>
              <a:srgbClr val="FFFFFF"/>
            </a:solidFill>
            <a:ln w="6350" cap="flat" cmpd="sng" algn="ctr">
              <a:gradFill flip="none" rotWithShape="1">
                <a:gsLst>
                  <a:gs pos="0">
                    <a:srgbClr val="058C79"/>
                  </a:gs>
                  <a:gs pos="100000">
                    <a:schemeClr val="bg1"/>
                  </a:gs>
                </a:gsLst>
                <a:lin ang="0" scaled="1"/>
                <a:tileRect/>
              </a:gradFill>
              <a:prstDash val="solid"/>
              <a:miter lim="800000"/>
            </a:ln>
            <a:effectLst>
              <a:outerShdw blurRad="50800" dist="38100" dir="2700000" algn="tl" rotWithShape="0">
                <a:prstClr val="black">
                  <a:alpha val="40000"/>
                </a:prstClr>
              </a:outerShdw>
            </a:effectLst>
          </p:spPr>
          <p:txBody>
            <a:bodyPr lIns="68580" tIns="34290" rIns="68580" bIns="34290" rtlCol="0" anchor="ctr"/>
            <a:lstStyle/>
            <a:p>
              <a:pPr algn="ctr" defTabSz="342900">
                <a:defRPr/>
              </a:pPr>
              <a:endParaRPr lang="zh-CN" altLang="en-US" kern="0" dirty="0">
                <a:solidFill>
                  <a:srgbClr val="FFFFFF"/>
                </a:solidFill>
                <a:latin typeface="Calibri" panose="020F0502020204030204"/>
                <a:ea typeface="微软雅黑 Light" panose="020B0502040204020203" charset="-122"/>
              </a:endParaRPr>
            </a:p>
          </p:txBody>
        </p:sp>
        <p:sp>
          <p:nvSpPr>
            <p:cNvPr id="23" name="矩形 22"/>
            <p:cNvSpPr/>
            <p:nvPr/>
          </p:nvSpPr>
          <p:spPr>
            <a:xfrm>
              <a:off x="8337" y="6949"/>
              <a:ext cx="2656" cy="725"/>
            </a:xfrm>
            <a:prstGeom prst="rect">
              <a:avLst/>
            </a:prstGeom>
            <a:gradFill>
              <a:gsLst>
                <a:gs pos="0">
                  <a:srgbClr val="009E47">
                    <a:alpha val="88000"/>
                  </a:srgbClr>
                </a:gs>
                <a:gs pos="55000">
                  <a:srgbClr val="039463"/>
                </a:gs>
                <a:gs pos="100000">
                  <a:srgbClr val="068885"/>
                </a:gs>
              </a:gsLst>
              <a:path path="circle">
                <a:fillToRect t="100000" r="100000"/>
              </a:path>
              <a:tileRect l="-100000" b="-100000"/>
            </a:gradFill>
            <a:effectLst>
              <a:outerShdw blurRad="50800" dist="38100" algn="l" rotWithShape="0">
                <a:prstClr val="black">
                  <a:alpha val="40000"/>
                </a:prstClr>
              </a:outerShdw>
            </a:effectLst>
          </p:spPr>
          <p:txBody>
            <a:bodyPr wrap="square">
              <a:spAutoFit/>
            </a:bodyPr>
            <a:lstStyle/>
            <a:p>
              <a:pPr algn="ctr"/>
              <a:r>
                <a:rPr lang="zh-CN" altLang="en-US" sz="2400" b="1" dirty="0">
                  <a:solidFill>
                    <a:schemeClr val="bg1"/>
                  </a:solidFill>
                  <a:latin typeface="宋体" panose="02010600030101010101" pitchFamily="2" charset="-122"/>
                  <a:ea typeface="宋体" panose="02010600030101010101" pitchFamily="2" charset="-122"/>
                </a:rPr>
                <a:t>空间形式</a:t>
              </a:r>
            </a:p>
          </p:txBody>
        </p:sp>
        <p:sp>
          <p:nvSpPr>
            <p:cNvPr id="24" name="矩形 23"/>
            <p:cNvSpPr/>
            <p:nvPr/>
          </p:nvSpPr>
          <p:spPr>
            <a:xfrm>
              <a:off x="8547" y="7978"/>
              <a:ext cx="2240" cy="1308"/>
            </a:xfrm>
            <a:prstGeom prst="rect">
              <a:avLst/>
            </a:prstGeom>
          </p:spPr>
          <p:txBody>
            <a:bodyPr wrap="none">
              <a:spAutoFit/>
            </a:bodyPr>
            <a:lstStyle/>
            <a:p>
              <a:pPr algn="ctr">
                <a:defRPr/>
              </a:pPr>
              <a:r>
                <a:rPr lang="zh-CN" altLang="en-US" sz="2400" b="1" dirty="0">
                  <a:latin typeface="宋体" panose="02010600030101010101" pitchFamily="2" charset="-122"/>
                  <a:ea typeface="宋体" panose="02010600030101010101" pitchFamily="2" charset="-122"/>
                </a:rPr>
                <a:t>数量关系</a:t>
              </a:r>
            </a:p>
            <a:p>
              <a:pPr algn="ctr">
                <a:defRPr/>
              </a:pPr>
              <a:r>
                <a:rPr lang="zh-CN" altLang="en-US" sz="2400" b="1" dirty="0">
                  <a:latin typeface="宋体" panose="02010600030101010101" pitchFamily="2" charset="-122"/>
                  <a:ea typeface="宋体" panose="02010600030101010101" pitchFamily="2" charset="-122"/>
                </a:rPr>
                <a:t>基本方法</a:t>
              </a:r>
            </a:p>
          </p:txBody>
        </p:sp>
      </p:grpSp>
      <p:sp>
        <p:nvSpPr>
          <p:cNvPr id="26" name="矩形 25"/>
          <p:cNvSpPr/>
          <p:nvPr/>
        </p:nvSpPr>
        <p:spPr>
          <a:xfrm>
            <a:off x="1801178" y="884555"/>
            <a:ext cx="8589645" cy="769441"/>
          </a:xfrm>
          <a:prstGeom prst="rect">
            <a:avLst/>
          </a:prstGeom>
        </p:spPr>
        <p:txBody>
          <a:bodyPr wrap="square">
            <a:spAutoFit/>
          </a:bodyPr>
          <a:lstStyle/>
          <a:p>
            <a:r>
              <a:rPr lang="zh-CN" altLang="en-US" sz="4400" b="1" dirty="0">
                <a:solidFill>
                  <a:schemeClr val="bg1"/>
                </a:solidFill>
                <a:latin typeface="微软雅黑" panose="020B0503020204020204" pitchFamily="34" charset="-122"/>
                <a:ea typeface="微软雅黑" panose="020B0503020204020204" pitchFamily="34" charset="-122"/>
                <a:sym typeface="+mn-lt"/>
              </a:rPr>
              <a:t>第八章   </a:t>
            </a:r>
            <a:r>
              <a:rPr lang="zh-CN" altLang="en-US" sz="4400" b="1" baseline="0" dirty="0">
                <a:solidFill>
                  <a:schemeClr val="bg1"/>
                </a:solidFill>
                <a:latin typeface="+mj-ea"/>
                <a:ea typeface="+mj-ea"/>
              </a:rPr>
              <a:t>向量代数与空间解析几何</a:t>
            </a:r>
            <a:endParaRPr lang="zh-CN" altLang="en-US" sz="4400" dirty="0">
              <a:solidFill>
                <a:schemeClr val="bg1"/>
              </a:solidFill>
            </a:endParaRPr>
          </a:p>
        </p:txBody>
      </p:sp>
      <p:sp>
        <p:nvSpPr>
          <p:cNvPr id="5" name="右箭头 4"/>
          <p:cNvSpPr/>
          <p:nvPr/>
        </p:nvSpPr>
        <p:spPr>
          <a:xfrm>
            <a:off x="3933317" y="4460240"/>
            <a:ext cx="936000" cy="250190"/>
          </a:xfrm>
          <a:prstGeom prst="rightArrow">
            <a:avLst/>
          </a:prstGeom>
          <a:gradFill flip="none" rotWithShape="1">
            <a:gsLst>
              <a:gs pos="100000">
                <a:srgbClr val="007434">
                  <a:alpha val="100000"/>
                </a:srgbClr>
              </a:gs>
              <a:gs pos="4000">
                <a:schemeClr val="bg1"/>
              </a:gs>
            </a:gsLst>
            <a:lin ang="3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36号-正文宋楷" panose="00000500000000000000" pitchFamily="2" charset="-122"/>
              <a:ea typeface="字魂36号-正文宋楷" panose="00000500000000000000" pitchFamily="2" charset="-122"/>
            </a:endParaRPr>
          </a:p>
        </p:txBody>
      </p:sp>
      <p:sp>
        <p:nvSpPr>
          <p:cNvPr id="6" name="右箭头 5"/>
          <p:cNvSpPr/>
          <p:nvPr/>
        </p:nvSpPr>
        <p:spPr>
          <a:xfrm>
            <a:off x="7358085" y="4472305"/>
            <a:ext cx="936000" cy="250190"/>
          </a:xfrm>
          <a:prstGeom prst="rightArrow">
            <a:avLst/>
          </a:prstGeom>
          <a:gradFill flip="none" rotWithShape="1">
            <a:gsLst>
              <a:gs pos="100000">
                <a:srgbClr val="007434">
                  <a:alpha val="100000"/>
                </a:srgbClr>
              </a:gs>
              <a:gs pos="4000">
                <a:schemeClr val="bg1"/>
              </a:gs>
            </a:gsLst>
            <a:lin ang="3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36号-正文宋楷" panose="00000500000000000000" pitchFamily="2" charset="-122"/>
              <a:ea typeface="字魂36号-正文宋楷" panose="00000500000000000000"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C71DEC6B-FE0C-63E7-582C-366093F91D79}"/>
              </a:ext>
            </a:extLst>
          </p:cNvPr>
          <p:cNvSpPr/>
          <p:nvPr/>
        </p:nvSpPr>
        <p:spPr>
          <a:xfrm>
            <a:off x="-1" y="0"/>
            <a:ext cx="121920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图文框 19"/>
          <p:cNvSpPr/>
          <p:nvPr/>
        </p:nvSpPr>
        <p:spPr>
          <a:xfrm>
            <a:off x="0" y="0"/>
            <a:ext cx="12192001" cy="6869151"/>
          </a:xfrm>
          <a:prstGeom prst="frame">
            <a:avLst>
              <a:gd name="adj1" fmla="val 50000"/>
            </a:avLst>
          </a:prstGeom>
          <a:gradFill flip="none" rotWithShape="1">
            <a:gsLst>
              <a:gs pos="74000">
                <a:srgbClr val="007434">
                  <a:alpha val="31000"/>
                </a:srgbClr>
              </a:gs>
              <a:gs pos="4000">
                <a:schemeClr val="bg1">
                  <a:alpha val="0"/>
                </a:schemeClr>
              </a:gs>
              <a:gs pos="100000">
                <a:schemeClr val="bg1">
                  <a:alpha val="64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字魂36号-正文宋楷" panose="00000500000000000000" pitchFamily="2" charset="-122"/>
              <a:ea typeface="字魂36号-正文宋楷" panose="00000500000000000000" pitchFamily="2" charset="-122"/>
            </a:endParaRPr>
          </a:p>
        </p:txBody>
      </p:sp>
      <p:pic>
        <p:nvPicPr>
          <p:cNvPr id="19" name="图片 18"/>
          <p:cNvPicPr>
            <a:picLocks noChangeAspect="1"/>
          </p:cNvPicPr>
          <p:nvPr/>
        </p:nvPicPr>
        <p:blipFill rotWithShape="1">
          <a:blip r:embed="rId5" cstate="print">
            <a:extLst>
              <a:ext uri="{28A0092B-C50C-407E-A947-70E740481C1C}">
                <a14:useLocalDpi xmlns:a14="http://schemas.microsoft.com/office/drawing/2010/main" val="0"/>
              </a:ext>
            </a:extLst>
          </a:blip>
          <a:srcRect l="35303" r="7303" b="29466"/>
          <a:stretch>
            <a:fillRect/>
          </a:stretch>
        </p:blipFill>
        <p:spPr>
          <a:xfrm flipH="1">
            <a:off x="-1" y="569167"/>
            <a:ext cx="6996701" cy="5718449"/>
          </a:xfrm>
          <a:prstGeom prst="rect">
            <a:avLst/>
          </a:prstGeom>
        </p:spPr>
      </p:pic>
      <p:sp>
        <p:nvSpPr>
          <p:cNvPr id="11" name="Rectangle 1"/>
          <p:cNvSpPr/>
          <p:nvPr/>
        </p:nvSpPr>
        <p:spPr>
          <a:xfrm>
            <a:off x="0" y="575945"/>
            <a:ext cx="7143115" cy="5731549"/>
          </a:xfrm>
          <a:prstGeom prst="rect">
            <a:avLst/>
          </a:prstGeom>
          <a:gradFill flip="none" rotWithShape="1">
            <a:gsLst>
              <a:gs pos="0">
                <a:srgbClr val="009E47">
                  <a:alpha val="42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4" name="PA-102232"/>
          <p:cNvSpPr/>
          <p:nvPr>
            <p:custDataLst>
              <p:tags r:id="rId1"/>
            </p:custDataLst>
          </p:nvPr>
        </p:nvSpPr>
        <p:spPr>
          <a:xfrm>
            <a:off x="3193962" y="985594"/>
            <a:ext cx="8667480" cy="4889494"/>
          </a:xfrm>
          <a:prstGeom prst="rect">
            <a:avLst/>
          </a:prstGeom>
          <a:solidFill>
            <a:schemeClr val="bg1"/>
          </a:solidFill>
          <a:ln>
            <a:noFill/>
          </a:ln>
          <a:effectLst>
            <a:outerShdw blurRad="393700" dist="889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6BB6"/>
              </a:solidFill>
              <a:cs typeface="+mn-ea"/>
              <a:sym typeface="+mn-lt"/>
            </a:endParaRPr>
          </a:p>
        </p:txBody>
      </p:sp>
      <p:sp>
        <p:nvSpPr>
          <p:cNvPr id="7" name="PA-文本框 8"/>
          <p:cNvSpPr txBox="1"/>
          <p:nvPr>
            <p:custDataLst>
              <p:tags r:id="rId2"/>
            </p:custDataLst>
          </p:nvPr>
        </p:nvSpPr>
        <p:spPr>
          <a:xfrm>
            <a:off x="763914" y="3419985"/>
            <a:ext cx="2430970" cy="584775"/>
          </a:xfrm>
          <a:prstGeom prst="rect">
            <a:avLst/>
          </a:prstGeom>
          <a:noFill/>
        </p:spPr>
        <p:txBody>
          <a:bodyPr wrap="square" rtlCol="0">
            <a:spAutoFit/>
          </a:bodyPr>
          <a:lstStyle/>
          <a:p>
            <a:r>
              <a:rPr kumimoji="1" lang="en-GB" altLang="zh-CN" sz="3200" b="1" i="1" dirty="0">
                <a:solidFill>
                  <a:schemeClr val="bg1"/>
                </a:solidFill>
                <a:effectLst>
                  <a:outerShdw blurRad="38100" dist="38100" dir="2700000" algn="tl">
                    <a:srgbClr val="000000">
                      <a:alpha val="43137"/>
                    </a:srgbClr>
                  </a:outerShdw>
                </a:effectLst>
                <a:cs typeface="+mn-ea"/>
                <a:sym typeface="+mn-lt"/>
              </a:rPr>
              <a:t>CONTENTS</a:t>
            </a:r>
          </a:p>
        </p:txBody>
      </p:sp>
      <p:sp>
        <p:nvSpPr>
          <p:cNvPr id="9" name="PA-矩形 6"/>
          <p:cNvSpPr/>
          <p:nvPr>
            <p:custDataLst>
              <p:tags r:id="rId3"/>
            </p:custDataLst>
          </p:nvPr>
        </p:nvSpPr>
        <p:spPr>
          <a:xfrm>
            <a:off x="705880" y="4171950"/>
            <a:ext cx="2114550" cy="724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E79937"/>
              </a:solidFill>
              <a:cs typeface="+mn-ea"/>
              <a:sym typeface="+mn-lt"/>
            </a:endParaRPr>
          </a:p>
        </p:txBody>
      </p:sp>
      <p:sp>
        <p:nvSpPr>
          <p:cNvPr id="13" name="矩形 12"/>
          <p:cNvSpPr/>
          <p:nvPr/>
        </p:nvSpPr>
        <p:spPr>
          <a:xfrm>
            <a:off x="938250" y="2640333"/>
            <a:ext cx="1649811" cy="769441"/>
          </a:xfrm>
          <a:prstGeom prst="rect">
            <a:avLst/>
          </a:prstGeom>
        </p:spPr>
        <p:txBody>
          <a:bodyPr wrap="none">
            <a:spAutoFit/>
          </a:bodyPr>
          <a:lstStyle/>
          <a:p>
            <a:pPr algn="dist"/>
            <a:r>
              <a:rPr kumimoji="1" lang="zh-CN" altLang="en-US" sz="4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目  录</a:t>
            </a:r>
          </a:p>
        </p:txBody>
      </p:sp>
      <p:sp>
        <p:nvSpPr>
          <p:cNvPr id="14" name="矩形 13"/>
          <p:cNvSpPr/>
          <p:nvPr/>
        </p:nvSpPr>
        <p:spPr>
          <a:xfrm>
            <a:off x="824436" y="1860681"/>
            <a:ext cx="1877437" cy="769441"/>
          </a:xfrm>
          <a:prstGeom prst="rect">
            <a:avLst/>
          </a:prstGeom>
        </p:spPr>
        <p:txBody>
          <a:bodyPr wrap="none">
            <a:spAutoFit/>
          </a:bodyPr>
          <a:lstStyle/>
          <a:p>
            <a:pPr algn="dist"/>
            <a:r>
              <a:rPr kumimoji="1" lang="zh-CN" altLang="en-US" sz="4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第八章</a:t>
            </a:r>
          </a:p>
        </p:txBody>
      </p:sp>
      <p:sp>
        <p:nvSpPr>
          <p:cNvPr id="3" name="矩形 2"/>
          <p:cNvSpPr/>
          <p:nvPr/>
        </p:nvSpPr>
        <p:spPr>
          <a:xfrm>
            <a:off x="5748849" y="1544187"/>
            <a:ext cx="4206916" cy="461665"/>
          </a:xfrm>
          <a:prstGeom prst="rect">
            <a:avLst/>
          </a:prstGeom>
        </p:spPr>
        <p:txBody>
          <a:bodyPr wrap="square">
            <a:spAutoFit/>
          </a:bodyPr>
          <a:lstStyle/>
          <a:p>
            <a:r>
              <a:rPr lang="zh-CN" altLang="en-US" sz="2400" dirty="0">
                <a:latin typeface="微软雅黑" panose="020B0503020204020204" pitchFamily="34" charset="-122"/>
                <a:ea typeface="微软雅黑" panose="020B0503020204020204" pitchFamily="34" charset="-122"/>
              </a:rPr>
              <a:t>第一节   向量及其线性运算</a:t>
            </a:r>
          </a:p>
        </p:txBody>
      </p:sp>
      <p:sp>
        <p:nvSpPr>
          <p:cNvPr id="24" name="矩形 23"/>
          <p:cNvSpPr/>
          <p:nvPr/>
        </p:nvSpPr>
        <p:spPr>
          <a:xfrm>
            <a:off x="5748849" y="2226710"/>
            <a:ext cx="4334841" cy="461665"/>
          </a:xfrm>
          <a:prstGeom prst="rect">
            <a:avLst/>
          </a:prstGeom>
        </p:spPr>
        <p:txBody>
          <a:bodyPr wrap="none">
            <a:spAutoFit/>
          </a:bodyPr>
          <a:lstStyle/>
          <a:p>
            <a:r>
              <a:rPr lang="zh-CN" altLang="en-US" sz="2400" b="1" dirty="0">
                <a:solidFill>
                  <a:srgbClr val="04926A"/>
                </a:solidFill>
                <a:latin typeface="微软雅黑" panose="020B0503020204020204" pitchFamily="34" charset="-122"/>
                <a:ea typeface="微软雅黑" panose="020B0503020204020204" pitchFamily="34" charset="-122"/>
              </a:rPr>
              <a:t>第二节   数量积 向量积 混合积</a:t>
            </a:r>
          </a:p>
        </p:txBody>
      </p:sp>
      <p:sp>
        <p:nvSpPr>
          <p:cNvPr id="28" name="矩形 27"/>
          <p:cNvSpPr/>
          <p:nvPr/>
        </p:nvSpPr>
        <p:spPr>
          <a:xfrm>
            <a:off x="5748849" y="2909233"/>
            <a:ext cx="3228769" cy="461665"/>
          </a:xfrm>
          <a:prstGeom prst="rect">
            <a:avLst/>
          </a:prstGeom>
        </p:spPr>
        <p:txBody>
          <a:bodyPr wrap="none">
            <a:spAutoFit/>
          </a:bodyPr>
          <a:lstStyle/>
          <a:p>
            <a:r>
              <a:rPr lang="zh-CN" altLang="en-US" sz="2400" dirty="0">
                <a:latin typeface="微软雅黑" panose="020B0503020204020204" pitchFamily="34" charset="-122"/>
                <a:ea typeface="微软雅黑" panose="020B0503020204020204" pitchFamily="34" charset="-122"/>
              </a:rPr>
              <a:t>第三节   平面及其方程</a:t>
            </a:r>
          </a:p>
        </p:txBody>
      </p:sp>
      <p:sp>
        <p:nvSpPr>
          <p:cNvPr id="29" name="矩形 28"/>
          <p:cNvSpPr/>
          <p:nvPr/>
        </p:nvSpPr>
        <p:spPr>
          <a:xfrm>
            <a:off x="5749162" y="3591756"/>
            <a:ext cx="4914427" cy="461665"/>
          </a:xfrm>
          <a:prstGeom prst="rect">
            <a:avLst/>
          </a:prstGeom>
        </p:spPr>
        <p:txBody>
          <a:bodyPr wrap="square">
            <a:spAutoFit/>
          </a:bodyPr>
          <a:lstStyle/>
          <a:p>
            <a:r>
              <a:rPr lang="zh-CN" altLang="en-US" sz="2400" dirty="0">
                <a:latin typeface="微软雅黑" panose="020B0503020204020204" pitchFamily="34" charset="-122"/>
                <a:ea typeface="微软雅黑" panose="020B0503020204020204" pitchFamily="34" charset="-122"/>
              </a:rPr>
              <a:t>第四节   空间直线及其方程</a:t>
            </a:r>
          </a:p>
        </p:txBody>
      </p:sp>
      <p:sp>
        <p:nvSpPr>
          <p:cNvPr id="32" name="矩形 31"/>
          <p:cNvSpPr/>
          <p:nvPr/>
        </p:nvSpPr>
        <p:spPr>
          <a:xfrm>
            <a:off x="5749162" y="4274279"/>
            <a:ext cx="3228769" cy="461665"/>
          </a:xfrm>
          <a:prstGeom prst="rect">
            <a:avLst/>
          </a:prstGeom>
        </p:spPr>
        <p:txBody>
          <a:bodyPr wrap="none">
            <a:spAutoFit/>
          </a:bodyPr>
          <a:lstStyle/>
          <a:p>
            <a:pPr algn="l"/>
            <a:r>
              <a:rPr lang="zh-CN" altLang="en-US" sz="2400" dirty="0">
                <a:latin typeface="微软雅黑" panose="020B0503020204020204" pitchFamily="34" charset="-122"/>
                <a:ea typeface="微软雅黑" panose="020B0503020204020204" pitchFamily="34" charset="-122"/>
                <a:sym typeface="+mn-ea"/>
              </a:rPr>
              <a:t>第五节   曲面及其方程</a:t>
            </a:r>
            <a:endParaRPr lang="zh-CN" altLang="en-US" sz="2400"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flipH="1">
            <a:off x="5225323" y="1652691"/>
            <a:ext cx="26504" cy="3600000"/>
          </a:xfrm>
          <a:prstGeom prst="line">
            <a:avLst/>
          </a:prstGeom>
          <a:ln>
            <a:solidFill>
              <a:srgbClr val="007434"/>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8D88A371-A813-7284-EA0D-B8C63B93E271}"/>
              </a:ext>
            </a:extLst>
          </p:cNvPr>
          <p:cNvSpPr/>
          <p:nvPr/>
        </p:nvSpPr>
        <p:spPr>
          <a:xfrm>
            <a:off x="5737415" y="4956800"/>
            <a:ext cx="3994369" cy="461665"/>
          </a:xfrm>
          <a:prstGeom prst="rect">
            <a:avLst/>
          </a:prstGeom>
        </p:spPr>
        <p:txBody>
          <a:bodyPr wrap="square">
            <a:spAutoFit/>
          </a:bodyPr>
          <a:lstStyle/>
          <a:p>
            <a:pPr algn="l"/>
            <a:r>
              <a:rPr lang="zh-CN" altLang="en-US" sz="2400" dirty="0">
                <a:latin typeface="微软雅黑" panose="020B0503020204020204" pitchFamily="34" charset="-122"/>
                <a:ea typeface="微软雅黑" panose="020B0503020204020204" pitchFamily="34" charset="-122"/>
                <a:sym typeface="+mn-ea"/>
              </a:rPr>
              <a:t>第六节   空间曲线及其方程</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a:extLst>
              <a:ext uri="{FF2B5EF4-FFF2-40B4-BE49-F238E27FC236}">
                <a16:creationId xmlns:a16="http://schemas.microsoft.com/office/drawing/2014/main" id="{F2A10CEB-5CA9-4551-5EE7-D195BAB94096}"/>
              </a:ext>
            </a:extLst>
          </p:cNvPr>
          <p:cNvGrpSpPr/>
          <p:nvPr/>
        </p:nvGrpSpPr>
        <p:grpSpPr>
          <a:xfrm>
            <a:off x="-6985" y="-47904"/>
            <a:ext cx="12289790" cy="6917055"/>
            <a:chOff x="-6985" y="-47904"/>
            <a:chExt cx="12289790" cy="6917055"/>
          </a:xfrm>
        </p:grpSpPr>
        <p:sp>
          <p:nvSpPr>
            <p:cNvPr id="7" name="图文框 6">
              <a:extLst>
                <a:ext uri="{FF2B5EF4-FFF2-40B4-BE49-F238E27FC236}">
                  <a16:creationId xmlns:a16="http://schemas.microsoft.com/office/drawing/2014/main" id="{3CA61783-234C-EFE9-EC35-35C4F7127CF9}"/>
                </a:ext>
              </a:extLst>
            </p:cNvPr>
            <p:cNvSpPr/>
            <p:nvPr/>
          </p:nvSpPr>
          <p:spPr>
            <a:xfrm>
              <a:off x="0" y="11150"/>
              <a:ext cx="12192001" cy="6858001"/>
            </a:xfrm>
            <a:prstGeom prst="frame">
              <a:avLst>
                <a:gd name="adj1" fmla="val 50000"/>
              </a:avLst>
            </a:prstGeom>
            <a:gradFill flip="none" rotWithShape="1">
              <a:gsLst>
                <a:gs pos="74000">
                  <a:srgbClr val="007434">
                    <a:alpha val="31000"/>
                  </a:srgbClr>
                </a:gs>
                <a:gs pos="4000">
                  <a:schemeClr val="bg1">
                    <a:alpha val="0"/>
                  </a:schemeClr>
                </a:gs>
                <a:gs pos="100000">
                  <a:schemeClr val="bg1">
                    <a:alpha val="64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字魂36号-正文宋楷" panose="00000500000000000000" pitchFamily="2" charset="-122"/>
                <a:ea typeface="字魂36号-正文宋楷" panose="00000500000000000000" pitchFamily="2" charset="-122"/>
                <a:cs typeface="+mn-cs"/>
              </a:endParaRPr>
            </a:p>
          </p:txBody>
        </p:sp>
        <p:pic>
          <p:nvPicPr>
            <p:cNvPr id="13" name="图片 12">
              <a:extLst>
                <a:ext uri="{FF2B5EF4-FFF2-40B4-BE49-F238E27FC236}">
                  <a16:creationId xmlns:a16="http://schemas.microsoft.com/office/drawing/2014/main" id="{9949B233-E9E5-C6C4-356E-99FC6DEEA753}"/>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5303" r="7303" b="29466"/>
            <a:stretch>
              <a:fillRect/>
            </a:stretch>
          </p:blipFill>
          <p:spPr>
            <a:xfrm flipH="1">
              <a:off x="0" y="8611"/>
              <a:ext cx="6996430" cy="6860540"/>
            </a:xfrm>
            <a:prstGeom prst="rect">
              <a:avLst/>
            </a:prstGeom>
          </p:spPr>
        </p:pic>
        <p:sp>
          <p:nvSpPr>
            <p:cNvPr id="14" name="Rectangle 1">
              <a:extLst>
                <a:ext uri="{FF2B5EF4-FFF2-40B4-BE49-F238E27FC236}">
                  <a16:creationId xmlns:a16="http://schemas.microsoft.com/office/drawing/2014/main" id="{85486088-4289-7ED4-3CCB-07E732450E04}"/>
                </a:ext>
              </a:extLst>
            </p:cNvPr>
            <p:cNvSpPr/>
            <p:nvPr/>
          </p:nvSpPr>
          <p:spPr>
            <a:xfrm>
              <a:off x="-6985" y="-47904"/>
              <a:ext cx="12289790" cy="6917055"/>
            </a:xfrm>
            <a:prstGeom prst="rect">
              <a:avLst/>
            </a:prstGeom>
            <a:gradFill flip="none" rotWithShape="1">
              <a:gsLst>
                <a:gs pos="0">
                  <a:srgbClr val="009E47">
                    <a:alpha val="42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sp>
        <p:nvSpPr>
          <p:cNvPr id="16" name="PA-102232">
            <a:extLst>
              <a:ext uri="{FF2B5EF4-FFF2-40B4-BE49-F238E27FC236}">
                <a16:creationId xmlns:a16="http://schemas.microsoft.com/office/drawing/2014/main" id="{FA395C5F-797D-7C0F-0C0A-391EC34DE262}"/>
              </a:ext>
            </a:extLst>
          </p:cNvPr>
          <p:cNvSpPr/>
          <p:nvPr>
            <p:custDataLst>
              <p:tags r:id="rId1"/>
            </p:custDataLst>
          </p:nvPr>
        </p:nvSpPr>
        <p:spPr>
          <a:xfrm>
            <a:off x="369888" y="1163782"/>
            <a:ext cx="11536045" cy="4998027"/>
          </a:xfrm>
          <a:prstGeom prst="rect">
            <a:avLst/>
          </a:prstGeom>
          <a:solidFill>
            <a:schemeClr val="bg1"/>
          </a:solidFill>
          <a:ln>
            <a:noFill/>
          </a:ln>
          <a:effectLst>
            <a:outerShdw blurRad="393700" dist="889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006BB6"/>
              </a:solidFill>
              <a:effectLst/>
              <a:uLnTx/>
              <a:uFillTx/>
              <a:latin typeface="Calibri"/>
              <a:ea typeface="宋体" panose="02010600030101010101" pitchFamily="2" charset="-122"/>
              <a:cs typeface="+mn-ea"/>
              <a:sym typeface="+mn-lt"/>
            </a:endParaRPr>
          </a:p>
        </p:txBody>
      </p:sp>
      <p:sp>
        <p:nvSpPr>
          <p:cNvPr id="6" name="Text Box 62"/>
          <p:cNvSpPr txBox="1">
            <a:spLocks noChangeArrowheads="1"/>
          </p:cNvSpPr>
          <p:nvPr/>
        </p:nvSpPr>
        <p:spPr bwMode="auto">
          <a:xfrm>
            <a:off x="3236884" y="308711"/>
            <a:ext cx="5718232" cy="584775"/>
          </a:xfrm>
          <a:prstGeom prst="rect">
            <a:avLst/>
          </a:prstGeom>
          <a:noFill/>
          <a:ln>
            <a:noFill/>
          </a:ln>
          <a:effectLst/>
        </p:spPr>
        <p:txBody>
          <a:bodyPr wrap="none">
            <a:spAutoFit/>
          </a:bodyPr>
          <a:lstStyle/>
          <a:p>
            <a:r>
              <a:rPr lang="zh-CN" altLang="en-US" sz="3200" b="1" dirty="0">
                <a:solidFill>
                  <a:schemeClr val="bg1"/>
                </a:solidFill>
                <a:latin typeface="微软雅黑" panose="020B0503020204020204" pitchFamily="34" charset="-122"/>
                <a:ea typeface="微软雅黑" panose="020B0503020204020204" pitchFamily="34" charset="-122"/>
              </a:rPr>
              <a:t>第二节   数量积 向量积 混合积</a:t>
            </a:r>
          </a:p>
        </p:txBody>
      </p:sp>
      <p:sp>
        <p:nvSpPr>
          <p:cNvPr id="12" name="矩形: 圆角 40">
            <a:extLst>
              <a:ext uri="{FF2B5EF4-FFF2-40B4-BE49-F238E27FC236}">
                <a16:creationId xmlns:a16="http://schemas.microsoft.com/office/drawing/2014/main" id="{1912BAEB-AC37-E423-F6CB-E1B0732FDB96}"/>
              </a:ext>
            </a:extLst>
          </p:cNvPr>
          <p:cNvSpPr/>
          <p:nvPr/>
        </p:nvSpPr>
        <p:spPr>
          <a:xfrm flipV="1">
            <a:off x="3977910" y="3217237"/>
            <a:ext cx="4320000" cy="901065"/>
          </a:xfrm>
          <a:prstGeom prst="roundRect">
            <a:avLst>
              <a:gd name="adj" fmla="val 6487"/>
            </a:avLst>
          </a:prstGeom>
          <a:solidFill>
            <a:srgbClr val="FFFFFF"/>
          </a:solidFill>
          <a:ln w="19050" cap="flat" cmpd="sng" algn="ctr">
            <a:gradFill flip="none" rotWithShape="1">
              <a:gsLst>
                <a:gs pos="0">
                  <a:srgbClr val="058C79"/>
                </a:gs>
                <a:gs pos="100000">
                  <a:schemeClr val="bg1"/>
                </a:gs>
              </a:gsLst>
              <a:lin ang="0" scaled="1"/>
              <a:tileRect/>
            </a:gradFill>
            <a:prstDash val="solid"/>
            <a:miter lim="800000"/>
          </a:ln>
          <a:effectLst>
            <a:outerShdw blurRad="63500" dist="38100" dir="2280000" algn="tl" rotWithShape="0">
              <a:prstClr val="black">
                <a:alpha val="45000"/>
              </a:prstClr>
            </a:outerShdw>
          </a:effectLst>
        </p:spPr>
        <p:txBody>
          <a:bodyPr lIns="68580" tIns="34290" rIns="68580" bIns="34290"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Calibri" panose="020F0502020204030204"/>
              <a:ea typeface="微软雅黑 Light" panose="020B0502040204020203" charset="-122"/>
              <a:cs typeface="+mn-cs"/>
            </a:endParaRPr>
          </a:p>
        </p:txBody>
      </p:sp>
      <p:sp>
        <p:nvSpPr>
          <p:cNvPr id="17" name="矩形 16">
            <a:extLst>
              <a:ext uri="{FF2B5EF4-FFF2-40B4-BE49-F238E27FC236}">
                <a16:creationId xmlns:a16="http://schemas.microsoft.com/office/drawing/2014/main" id="{CF98919C-5025-83DC-C0D5-365276AA3669}"/>
              </a:ext>
            </a:extLst>
          </p:cNvPr>
          <p:cNvSpPr/>
          <p:nvPr/>
        </p:nvSpPr>
        <p:spPr>
          <a:xfrm>
            <a:off x="4218088" y="3406467"/>
            <a:ext cx="3416320" cy="523220"/>
          </a:xfrm>
          <a:prstGeom prst="rect">
            <a:avLst/>
          </a:prstGeom>
        </p:spPr>
        <p:txBody>
          <a:bodyPr wrap="none">
            <a:spAutoFit/>
          </a:bodyPr>
          <a:lstStyle/>
          <a:p>
            <a:r>
              <a:rPr lang="zh-CN" altLang="en-US" sz="2800" b="1" dirty="0">
                <a:latin typeface="微软雅黑" panose="020B0503020204020204" pitchFamily="34" charset="-122"/>
                <a:ea typeface="微软雅黑" panose="020B0503020204020204" pitchFamily="34" charset="-122"/>
              </a:rPr>
              <a:t>二、两</a:t>
            </a:r>
            <a:r>
              <a:rPr kumimoji="1" lang="zh-CN" altLang="en-US" sz="2800" b="1" i="0" u="none" strike="noStrike"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向量的向量积</a:t>
            </a:r>
            <a:endParaRPr lang="zh-CN" altLang="en-US" sz="2800" dirty="0"/>
          </a:p>
        </p:txBody>
      </p:sp>
      <p:sp>
        <p:nvSpPr>
          <p:cNvPr id="22" name="矩形: 圆角 40">
            <a:extLst>
              <a:ext uri="{FF2B5EF4-FFF2-40B4-BE49-F238E27FC236}">
                <a16:creationId xmlns:a16="http://schemas.microsoft.com/office/drawing/2014/main" id="{2AFCDF72-0B32-3B23-3BEA-A6D0061312B5}"/>
              </a:ext>
            </a:extLst>
          </p:cNvPr>
          <p:cNvSpPr/>
          <p:nvPr/>
        </p:nvSpPr>
        <p:spPr>
          <a:xfrm flipV="1">
            <a:off x="3977910" y="1847145"/>
            <a:ext cx="4320000" cy="901065"/>
          </a:xfrm>
          <a:prstGeom prst="roundRect">
            <a:avLst>
              <a:gd name="adj" fmla="val 6487"/>
            </a:avLst>
          </a:prstGeom>
          <a:solidFill>
            <a:srgbClr val="FFFFFF"/>
          </a:solidFill>
          <a:ln w="19050" cap="flat" cmpd="sng" algn="ctr">
            <a:gradFill flip="none" rotWithShape="1">
              <a:gsLst>
                <a:gs pos="0">
                  <a:srgbClr val="058C79"/>
                </a:gs>
                <a:gs pos="100000">
                  <a:schemeClr val="bg1"/>
                </a:gs>
              </a:gsLst>
              <a:lin ang="0" scaled="1"/>
              <a:tileRect/>
            </a:gradFill>
            <a:prstDash val="solid"/>
            <a:miter lim="800000"/>
          </a:ln>
          <a:effectLst>
            <a:outerShdw blurRad="63500" dist="38100" dir="2280000" algn="tl" rotWithShape="0">
              <a:prstClr val="black">
                <a:alpha val="45000"/>
              </a:prstClr>
            </a:outerShdw>
          </a:effectLst>
        </p:spPr>
        <p:txBody>
          <a:bodyPr lIns="68580" tIns="34290" rIns="68580" bIns="34290"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Calibri" panose="020F0502020204030204"/>
              <a:ea typeface="微软雅黑 Light" panose="020B0502040204020203" charset="-122"/>
              <a:cs typeface="+mn-cs"/>
            </a:endParaRPr>
          </a:p>
        </p:txBody>
      </p:sp>
      <p:sp>
        <p:nvSpPr>
          <p:cNvPr id="23" name="矩形 22">
            <a:extLst>
              <a:ext uri="{FF2B5EF4-FFF2-40B4-BE49-F238E27FC236}">
                <a16:creationId xmlns:a16="http://schemas.microsoft.com/office/drawing/2014/main" id="{39FFA758-C763-F6DD-43E6-7491515A6524}"/>
              </a:ext>
            </a:extLst>
          </p:cNvPr>
          <p:cNvSpPr/>
          <p:nvPr/>
        </p:nvSpPr>
        <p:spPr>
          <a:xfrm>
            <a:off x="4218088" y="2036375"/>
            <a:ext cx="3416320" cy="523220"/>
          </a:xfrm>
          <a:prstGeom prst="rect">
            <a:avLst/>
          </a:prstGeom>
        </p:spPr>
        <p:txBody>
          <a:bodyPr wrap="none">
            <a:spAutoFit/>
          </a:bodyPr>
          <a:lstStyle/>
          <a:p>
            <a:r>
              <a:rPr lang="zh-CN" altLang="en-US" sz="2800" b="1" dirty="0">
                <a:latin typeface="微软雅黑" panose="020B0503020204020204" pitchFamily="34" charset="-122"/>
                <a:ea typeface="微软雅黑" panose="020B0503020204020204" pitchFamily="34" charset="-122"/>
              </a:rPr>
              <a:t>一、两</a:t>
            </a:r>
            <a:r>
              <a:rPr kumimoji="1" lang="zh-CN" altLang="en-US" sz="2800" b="1" i="0" u="none" strike="noStrike"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向量的数量积</a:t>
            </a:r>
            <a:endParaRPr lang="zh-CN" altLang="en-US" sz="2800" dirty="0"/>
          </a:p>
        </p:txBody>
      </p:sp>
      <p:sp>
        <p:nvSpPr>
          <p:cNvPr id="25" name="矩形: 圆角 40">
            <a:extLst>
              <a:ext uri="{FF2B5EF4-FFF2-40B4-BE49-F238E27FC236}">
                <a16:creationId xmlns:a16="http://schemas.microsoft.com/office/drawing/2014/main" id="{44CBD125-8AD6-B216-239D-7580D93E4279}"/>
              </a:ext>
            </a:extLst>
          </p:cNvPr>
          <p:cNvSpPr/>
          <p:nvPr/>
        </p:nvSpPr>
        <p:spPr>
          <a:xfrm flipV="1">
            <a:off x="3977910" y="4587329"/>
            <a:ext cx="4320000" cy="901065"/>
          </a:xfrm>
          <a:prstGeom prst="roundRect">
            <a:avLst>
              <a:gd name="adj" fmla="val 6487"/>
            </a:avLst>
          </a:prstGeom>
          <a:solidFill>
            <a:srgbClr val="FFFFFF"/>
          </a:solidFill>
          <a:ln w="19050" cap="flat" cmpd="sng" algn="ctr">
            <a:gradFill flip="none" rotWithShape="1">
              <a:gsLst>
                <a:gs pos="0">
                  <a:srgbClr val="058C79"/>
                </a:gs>
                <a:gs pos="100000">
                  <a:schemeClr val="bg1"/>
                </a:gs>
              </a:gsLst>
              <a:lin ang="0" scaled="1"/>
              <a:tileRect/>
            </a:gradFill>
            <a:prstDash val="solid"/>
            <a:miter lim="800000"/>
          </a:ln>
          <a:effectLst>
            <a:outerShdw blurRad="63500" dist="38100" dir="2280000" algn="tl" rotWithShape="0">
              <a:prstClr val="black">
                <a:alpha val="45000"/>
              </a:prstClr>
            </a:outerShdw>
          </a:effectLst>
        </p:spPr>
        <p:txBody>
          <a:bodyPr lIns="68580" tIns="34290" rIns="68580" bIns="34290"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Calibri" panose="020F0502020204030204"/>
              <a:ea typeface="微软雅黑 Light" panose="020B0502040204020203" charset="-122"/>
              <a:cs typeface="+mn-cs"/>
            </a:endParaRPr>
          </a:p>
        </p:txBody>
      </p:sp>
      <p:sp>
        <p:nvSpPr>
          <p:cNvPr id="26" name="矩形 25">
            <a:extLst>
              <a:ext uri="{FF2B5EF4-FFF2-40B4-BE49-F238E27FC236}">
                <a16:creationId xmlns:a16="http://schemas.microsoft.com/office/drawing/2014/main" id="{E5042539-EA59-0168-576C-46B998111EF3}"/>
              </a:ext>
            </a:extLst>
          </p:cNvPr>
          <p:cNvSpPr/>
          <p:nvPr/>
        </p:nvSpPr>
        <p:spPr>
          <a:xfrm>
            <a:off x="4218088" y="4776559"/>
            <a:ext cx="3057247" cy="523220"/>
          </a:xfrm>
          <a:prstGeom prst="rect">
            <a:avLst/>
          </a:prstGeom>
        </p:spPr>
        <p:txBody>
          <a:bodyPr wrap="none">
            <a:spAutoFit/>
          </a:bodyPr>
          <a:lstStyle/>
          <a:p>
            <a:r>
              <a:rPr lang="zh-CN" altLang="en-US" sz="2800" b="1" dirty="0">
                <a:latin typeface="微软雅黑" panose="020B0503020204020204" pitchFamily="34" charset="-122"/>
                <a:ea typeface="微软雅黑" panose="020B0503020204020204" pitchFamily="34" charset="-122"/>
              </a:rPr>
              <a:t>三、</a:t>
            </a:r>
            <a:r>
              <a:rPr kumimoji="1" lang="zh-CN" altLang="en-US" sz="2800" b="1" i="0" u="none" strike="noStrike"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向量的混合积</a:t>
            </a:r>
            <a:endParaRPr lang="zh-CN" altLang="en-US" sz="2800" dirty="0"/>
          </a:p>
        </p:txBody>
      </p:sp>
    </p:spTree>
    <p:extLst>
      <p:ext uri="{BB962C8B-B14F-4D97-AF65-F5344CB8AC3E}">
        <p14:creationId xmlns:p14="http://schemas.microsoft.com/office/powerpoint/2010/main" val="2877102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Object 5">
                <a:extLst>
                  <a:ext uri="{FF2B5EF4-FFF2-40B4-BE49-F238E27FC236}">
                    <a16:creationId xmlns:a16="http://schemas.microsoft.com/office/drawing/2014/main" id="{742BC0B1-E367-4DC5-AC26-B1EA4B18A055}"/>
                  </a:ext>
                </a:extLst>
              </p:cNvPr>
              <p:cNvSpPr txBox="1"/>
              <p:nvPr/>
            </p:nvSpPr>
            <p:spPr bwMode="auto">
              <a:xfrm>
                <a:off x="1650400" y="3230148"/>
                <a:ext cx="3037041" cy="560801"/>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i="1">
                          <a:latin typeface="Cambria Math" panose="02040503050406030204" pitchFamily="18" charset="0"/>
                          <a:ea typeface="黑体" panose="02010609060101010101" pitchFamily="49" charset="-122"/>
                        </a:rPr>
                        <m:t>𝑊</m:t>
                      </m:r>
                      <m:r>
                        <a:rPr kumimoji="1" lang="zh-CN" altLang="en-US" sz="2800" i="1">
                          <a:latin typeface="Cambria Math" panose="02040503050406030204" pitchFamily="18" charset="0"/>
                          <a:ea typeface="黑体" panose="02010609060101010101" pitchFamily="49" charset="-122"/>
                        </a:rPr>
                        <m:t>=|</m:t>
                      </m:r>
                      <m:r>
                        <a:rPr kumimoji="1" lang="zh-CN" altLang="en-US" sz="2800" b="1" i="1">
                          <a:latin typeface="Cambria Math" panose="02040503050406030204" pitchFamily="18" charset="0"/>
                          <a:ea typeface="黑体" panose="02010609060101010101" pitchFamily="49" charset="-122"/>
                        </a:rPr>
                        <m:t>𝑭</m:t>
                      </m:r>
                      <m:r>
                        <a:rPr kumimoji="1" lang="zh-CN" altLang="en-US" sz="2800" i="1">
                          <a:latin typeface="Cambria Math" panose="02040503050406030204" pitchFamily="18" charset="0"/>
                          <a:ea typeface="黑体" panose="02010609060101010101" pitchFamily="49" charset="-122"/>
                        </a:rPr>
                        <m:t>||</m:t>
                      </m:r>
                      <m:r>
                        <a:rPr kumimoji="1" lang="zh-CN" altLang="en-US" sz="2800" b="1" i="1">
                          <a:latin typeface="Cambria Math" panose="02040503050406030204" pitchFamily="18" charset="0"/>
                          <a:ea typeface="黑体" panose="02010609060101010101" pitchFamily="49" charset="-122"/>
                        </a:rPr>
                        <m:t>𝒔</m:t>
                      </m:r>
                      <m:r>
                        <a:rPr kumimoji="1" lang="zh-CN" altLang="en-US" sz="2800" i="1">
                          <a:latin typeface="Cambria Math" panose="02040503050406030204" pitchFamily="18" charset="0"/>
                          <a:ea typeface="黑体" panose="02010609060101010101" pitchFamily="49" charset="-122"/>
                        </a:rPr>
                        <m:t>|</m:t>
                      </m:r>
                      <m:func>
                        <m:funcPr>
                          <m:ctrlPr>
                            <a:rPr kumimoji="1" lang="zh-CN" altLang="en-US" sz="2800" i="1">
                              <a:latin typeface="Cambria Math" panose="02040503050406030204" pitchFamily="18" charset="0"/>
                              <a:ea typeface="黑体" panose="02010609060101010101" pitchFamily="49" charset="-122"/>
                            </a:rPr>
                          </m:ctrlPr>
                        </m:funcPr>
                        <m:fName>
                          <m:r>
                            <m:rPr>
                              <m:sty m:val="p"/>
                            </m:rPr>
                            <a:rPr kumimoji="1" lang="zh-CN" altLang="en-US" sz="2800" i="0">
                              <a:latin typeface="Cambria Math" panose="02040503050406030204" pitchFamily="18" charset="0"/>
                              <a:ea typeface="黑体" panose="02010609060101010101" pitchFamily="49" charset="-122"/>
                            </a:rPr>
                            <m:t>cos</m:t>
                          </m:r>
                        </m:fName>
                        <m:e>
                          <m:r>
                            <a:rPr kumimoji="1" lang="zh-CN" altLang="en-US" sz="2800" i="1">
                              <a:latin typeface="Cambria Math" panose="02040503050406030204" pitchFamily="18" charset="0"/>
                              <a:ea typeface="黑体" panose="02010609060101010101" pitchFamily="49" charset="-122"/>
                            </a:rPr>
                            <m:t>𝜃</m:t>
                          </m:r>
                        </m:e>
                      </m:func>
                      <m:r>
                        <a:rPr kumimoji="1" lang="zh-CN" altLang="en-US" sz="2800" i="1">
                          <a:latin typeface="Cambria Math" panose="02040503050406030204" pitchFamily="18" charset="0"/>
                          <a:ea typeface="黑体" panose="02010609060101010101" pitchFamily="49" charset="-122"/>
                        </a:rPr>
                        <m:t>,</m:t>
                      </m:r>
                    </m:oMath>
                  </m:oMathPara>
                </a14:m>
                <a:endParaRPr kumimoji="1" lang="zh-CN" altLang="en-US" sz="2800" i="1" dirty="0">
                  <a:latin typeface="Cambria Math" panose="02040503050406030204" pitchFamily="18" charset="0"/>
                  <a:ea typeface="黑体" panose="02010609060101010101" pitchFamily="49" charset="-122"/>
                </a:endParaRPr>
              </a:p>
            </p:txBody>
          </p:sp>
        </mc:Choice>
        <mc:Fallback xmlns="">
          <p:sp>
            <p:nvSpPr>
              <p:cNvPr id="13" name="Object 5">
                <a:extLst>
                  <a:ext uri="{FF2B5EF4-FFF2-40B4-BE49-F238E27FC236}">
                    <a16:creationId xmlns:a16="http://schemas.microsoft.com/office/drawing/2014/main" id="{742BC0B1-E367-4DC5-AC26-B1EA4B18A055}"/>
                  </a:ext>
                </a:extLst>
              </p:cNvPr>
              <p:cNvSpPr txBox="1">
                <a:spLocks noRot="1" noChangeAspect="1" noMove="1" noResize="1" noEditPoints="1" noAdjustHandles="1" noChangeArrowheads="1" noChangeShapeType="1" noTextEdit="1"/>
              </p:cNvSpPr>
              <p:nvPr/>
            </p:nvSpPr>
            <p:spPr bwMode="auto">
              <a:xfrm>
                <a:off x="1650400" y="3230148"/>
                <a:ext cx="3037041" cy="560801"/>
              </a:xfrm>
              <a:prstGeom prst="rect">
                <a:avLst/>
              </a:prstGeom>
              <a:blipFill>
                <a:blip r:embed="rId2"/>
                <a:stretch>
                  <a:fillRect/>
                </a:stretch>
              </a:blipFill>
              <a:ln>
                <a:noFill/>
              </a:ln>
              <a:effectLst/>
            </p:spPr>
            <p:txBody>
              <a:bodyPr/>
              <a:lstStyle/>
              <a:p>
                <a:r>
                  <a:rPr lang="zh-CN" altLang="en-US">
                    <a:noFill/>
                  </a:rPr>
                  <a:t> </a:t>
                </a:r>
              </a:p>
            </p:txBody>
          </p:sp>
        </mc:Fallback>
      </mc:AlternateContent>
      <p:sp>
        <p:nvSpPr>
          <p:cNvPr id="14" name="Text Box 7">
            <a:extLst>
              <a:ext uri="{FF2B5EF4-FFF2-40B4-BE49-F238E27FC236}">
                <a16:creationId xmlns:a16="http://schemas.microsoft.com/office/drawing/2014/main" id="{9D728E76-7257-C73D-E727-60FFD243A3A9}"/>
              </a:ext>
            </a:extLst>
          </p:cNvPr>
          <p:cNvSpPr txBox="1">
            <a:spLocks noChangeArrowheads="1"/>
          </p:cNvSpPr>
          <p:nvPr/>
        </p:nvSpPr>
        <p:spPr bwMode="auto">
          <a:xfrm>
            <a:off x="1650400" y="5124281"/>
            <a:ext cx="1371600" cy="519113"/>
          </a:xfrm>
          <a:prstGeom prst="rect">
            <a:avLst/>
          </a:prstGeom>
          <a:noFill/>
          <a:ln>
            <a:noFill/>
          </a:ln>
          <a:extLst>
            <a:ext uri="{909E8E84-426E-40DD-AFC4-6F175D3DCCD1}">
              <a14:hiddenFill xmlns:a14="http://schemas.microsoft.com/office/drawing/2010/main">
                <a:solidFill>
                  <a:srgbClr val="99FFCC"/>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spcBef>
                <a:spcPct val="50000"/>
              </a:spcBef>
            </a:pPr>
            <a:r>
              <a:rPr lang="zh-CN" altLang="en-US" sz="2800" b="1" dirty="0">
                <a:solidFill>
                  <a:srgbClr val="04926A"/>
                </a:solidFill>
              </a:rPr>
              <a:t>启示</a:t>
            </a:r>
          </a:p>
        </p:txBody>
      </p:sp>
      <p:sp>
        <p:nvSpPr>
          <p:cNvPr id="15" name="Rectangle 13">
            <a:extLst>
              <a:ext uri="{FF2B5EF4-FFF2-40B4-BE49-F238E27FC236}">
                <a16:creationId xmlns:a16="http://schemas.microsoft.com/office/drawing/2014/main" id="{FD5C03CD-2497-0290-3464-2ABF8F552331}"/>
              </a:ext>
            </a:extLst>
          </p:cNvPr>
          <p:cNvSpPr>
            <a:spLocks noChangeArrowheads="1"/>
          </p:cNvSpPr>
          <p:nvPr/>
        </p:nvSpPr>
        <p:spPr bwMode="auto">
          <a:xfrm>
            <a:off x="1679896" y="1624014"/>
            <a:ext cx="939479" cy="519113"/>
          </a:xfrm>
          <a:prstGeom prst="rect">
            <a:avLst/>
          </a:prstGeom>
          <a:noFill/>
          <a:ln>
            <a:noFill/>
          </a:ln>
          <a:extLst>
            <a:ext uri="{909E8E84-426E-40DD-AFC4-6F175D3DCCD1}">
              <a14:hiddenFill xmlns:a14="http://schemas.microsoft.com/office/drawing/2010/main">
                <a:solidFill>
                  <a:srgbClr val="99FFCC"/>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1" hangingPunct="1"/>
            <a:r>
              <a:rPr lang="zh-CN" altLang="en-US" sz="2800" b="1" dirty="0">
                <a:solidFill>
                  <a:srgbClr val="04926A"/>
                </a:solidFill>
              </a:rPr>
              <a:t>引例</a:t>
            </a:r>
          </a:p>
        </p:txBody>
      </p:sp>
      <p:sp>
        <p:nvSpPr>
          <p:cNvPr id="16" name="Rectangle 14">
            <a:extLst>
              <a:ext uri="{FF2B5EF4-FFF2-40B4-BE49-F238E27FC236}">
                <a16:creationId xmlns:a16="http://schemas.microsoft.com/office/drawing/2014/main" id="{915D90F5-5724-D8A9-7C7C-1B831B8102C7}"/>
              </a:ext>
            </a:extLst>
          </p:cNvPr>
          <p:cNvSpPr>
            <a:spLocks noChangeArrowheads="1"/>
          </p:cNvSpPr>
          <p:nvPr/>
        </p:nvSpPr>
        <p:spPr bwMode="auto">
          <a:xfrm>
            <a:off x="2507334" y="5120174"/>
            <a:ext cx="6468437"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1" hangingPunct="1"/>
            <a:r>
              <a:rPr lang="zh-CN" altLang="en-US" sz="2800" dirty="0"/>
              <a:t>两向量作这样的运算，结果是一个数量</a:t>
            </a:r>
            <a:r>
              <a:rPr lang="en-US" altLang="zh-CN" sz="2800" dirty="0"/>
              <a:t>.</a:t>
            </a:r>
          </a:p>
        </p:txBody>
      </p:sp>
      <p:sp>
        <p:nvSpPr>
          <p:cNvPr id="17" name="Rectangle 16">
            <a:extLst>
              <a:ext uri="{FF2B5EF4-FFF2-40B4-BE49-F238E27FC236}">
                <a16:creationId xmlns:a16="http://schemas.microsoft.com/office/drawing/2014/main" id="{EB4599EF-1E99-4B0D-044B-5019398AF149}"/>
              </a:ext>
            </a:extLst>
          </p:cNvPr>
          <p:cNvSpPr>
            <a:spLocks noGrp="1" noChangeArrowheads="1"/>
          </p:cNvSpPr>
          <p:nvPr>
            <p:ph type="title"/>
          </p:nvPr>
        </p:nvSpPr>
        <p:spPr>
          <a:xfrm>
            <a:off x="838200" y="752368"/>
            <a:ext cx="4409680" cy="681941"/>
          </a:xfrm>
        </p:spPr>
        <p:txBody>
          <a:bodyPr>
            <a:normAutofit/>
          </a:bodyPr>
          <a:lstStyle/>
          <a:p>
            <a:r>
              <a:rPr lang="zh-CN" altLang="en-US" sz="3200" dirty="0">
                <a:solidFill>
                  <a:srgbClr val="04926A"/>
                </a:solidFill>
                <a:latin typeface="微软雅黑" panose="020B0503020204020204" pitchFamily="34" charset="-122"/>
                <a:ea typeface="微软雅黑" panose="020B0503020204020204" pitchFamily="34" charset="-122"/>
                <a:cs typeface="+mn-cs"/>
              </a:rPr>
              <a:t>一、两向量的数量积</a:t>
            </a:r>
          </a:p>
        </p:txBody>
      </p:sp>
      <mc:AlternateContent xmlns:mc="http://schemas.openxmlformats.org/markup-compatibility/2006" xmlns:a14="http://schemas.microsoft.com/office/drawing/2010/main">
        <mc:Choice Requires="a14">
          <p:sp>
            <p:nvSpPr>
              <p:cNvPr id="19" name="对象 2">
                <a:extLst>
                  <a:ext uri="{FF2B5EF4-FFF2-40B4-BE49-F238E27FC236}">
                    <a16:creationId xmlns:a16="http://schemas.microsoft.com/office/drawing/2014/main" id="{35F727B5-60CC-38A5-EEAF-E3D7D902B4FC}"/>
                  </a:ext>
                </a:extLst>
              </p:cNvPr>
              <p:cNvSpPr txBox="1"/>
              <p:nvPr/>
            </p:nvSpPr>
            <p:spPr>
              <a:xfrm>
                <a:off x="1650400" y="3889514"/>
                <a:ext cx="3597480" cy="4445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i="1">
                          <a:latin typeface="Cambria Math" panose="02040503050406030204" pitchFamily="18" charset="0"/>
                          <a:ea typeface="黑体" panose="02010609060101010101" pitchFamily="49" charset="-122"/>
                        </a:rPr>
                        <m:t>(</m:t>
                      </m:r>
                      <m:r>
                        <a:rPr kumimoji="1" lang="zh-CN" altLang="en-US" sz="2800" i="1">
                          <a:latin typeface="Cambria Math" panose="02040503050406030204" pitchFamily="18" charset="0"/>
                          <a:ea typeface="黑体" panose="02010609060101010101" pitchFamily="49" charset="-122"/>
                        </a:rPr>
                        <m:t>其中</m:t>
                      </m:r>
                      <m:r>
                        <a:rPr kumimoji="1" lang="zh-CN" altLang="en-US" sz="2800" i="1">
                          <a:latin typeface="Cambria Math" panose="02040503050406030204" pitchFamily="18" charset="0"/>
                          <a:ea typeface="黑体" panose="02010609060101010101" pitchFamily="49" charset="-122"/>
                        </a:rPr>
                        <m:t>𝜃</m:t>
                      </m:r>
                      <m:r>
                        <a:rPr kumimoji="1" lang="zh-CN" altLang="en-US" sz="2800" i="1">
                          <a:latin typeface="Cambria Math" panose="02040503050406030204" pitchFamily="18" charset="0"/>
                          <a:ea typeface="黑体" panose="02010609060101010101" pitchFamily="49" charset="-122"/>
                        </a:rPr>
                        <m:t>为</m:t>
                      </m:r>
                      <m:r>
                        <a:rPr kumimoji="1" lang="zh-CN" altLang="en-US" sz="2800" b="1" i="1">
                          <a:latin typeface="Cambria Math" panose="02040503050406030204" pitchFamily="18" charset="0"/>
                          <a:ea typeface="黑体" panose="02010609060101010101" pitchFamily="49" charset="-122"/>
                        </a:rPr>
                        <m:t>𝑭</m:t>
                      </m:r>
                      <m:r>
                        <a:rPr kumimoji="1" lang="zh-CN" altLang="en-US" sz="2800" i="1">
                          <a:latin typeface="Cambria Math" panose="02040503050406030204" pitchFamily="18" charset="0"/>
                          <a:ea typeface="黑体" panose="02010609060101010101" pitchFamily="49" charset="-122"/>
                        </a:rPr>
                        <m:t>与</m:t>
                      </m:r>
                      <m:r>
                        <a:rPr kumimoji="1" lang="zh-CN" altLang="en-US" sz="2800" b="1" i="1">
                          <a:latin typeface="Cambria Math" panose="02040503050406030204" pitchFamily="18" charset="0"/>
                          <a:ea typeface="黑体" panose="02010609060101010101" pitchFamily="49" charset="-122"/>
                        </a:rPr>
                        <m:t>𝒔</m:t>
                      </m:r>
                      <m:r>
                        <a:rPr kumimoji="1" lang="zh-CN" altLang="en-US" sz="2800" i="1">
                          <a:latin typeface="Cambria Math" panose="02040503050406030204" pitchFamily="18" charset="0"/>
                          <a:ea typeface="黑体" panose="02010609060101010101" pitchFamily="49" charset="-122"/>
                        </a:rPr>
                        <m:t>的夹角</m:t>
                      </m:r>
                      <m:r>
                        <a:rPr kumimoji="1" lang="zh-CN" altLang="en-US" sz="2800" i="1">
                          <a:latin typeface="Cambria Math" panose="02040503050406030204" pitchFamily="18" charset="0"/>
                          <a:ea typeface="黑体" panose="02010609060101010101" pitchFamily="49" charset="-122"/>
                        </a:rPr>
                        <m:t>)</m:t>
                      </m:r>
                    </m:oMath>
                  </m:oMathPara>
                </a14:m>
                <a:endParaRPr kumimoji="1" lang="zh-CN" altLang="en-US" sz="2800" i="1" dirty="0">
                  <a:latin typeface="Cambria Math" panose="02040503050406030204" pitchFamily="18" charset="0"/>
                  <a:ea typeface="黑体" panose="02010609060101010101" pitchFamily="49" charset="-122"/>
                </a:endParaRPr>
              </a:p>
            </p:txBody>
          </p:sp>
        </mc:Choice>
        <mc:Fallback xmlns="">
          <p:sp>
            <p:nvSpPr>
              <p:cNvPr id="19" name="对象 2">
                <a:extLst>
                  <a:ext uri="{FF2B5EF4-FFF2-40B4-BE49-F238E27FC236}">
                    <a16:creationId xmlns:a16="http://schemas.microsoft.com/office/drawing/2014/main" id="{35F727B5-60CC-38A5-EEAF-E3D7D902B4FC}"/>
                  </a:ext>
                </a:extLst>
              </p:cNvPr>
              <p:cNvSpPr txBox="1">
                <a:spLocks noRot="1" noChangeAspect="1" noMove="1" noResize="1" noEditPoints="1" noAdjustHandles="1" noChangeArrowheads="1" noChangeShapeType="1" noTextEdit="1"/>
              </p:cNvSpPr>
              <p:nvPr/>
            </p:nvSpPr>
            <p:spPr>
              <a:xfrm>
                <a:off x="1650400" y="3889514"/>
                <a:ext cx="3597480" cy="444500"/>
              </a:xfrm>
              <a:prstGeom prst="rect">
                <a:avLst/>
              </a:prstGeom>
              <a:blipFill>
                <a:blip r:embed="rId4"/>
                <a:stretch>
                  <a:fillRect b="-68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Rectangle 14">
                <a:extLst>
                  <a:ext uri="{FF2B5EF4-FFF2-40B4-BE49-F238E27FC236}">
                    <a16:creationId xmlns:a16="http://schemas.microsoft.com/office/drawing/2014/main" id="{741270E3-D09F-1F2E-F584-F9002FFABEDE}"/>
                  </a:ext>
                </a:extLst>
              </p:cNvPr>
              <p:cNvSpPr>
                <a:spLocks noChangeArrowheads="1"/>
              </p:cNvSpPr>
              <p:nvPr/>
            </p:nvSpPr>
            <p:spPr bwMode="auto">
              <a:xfrm>
                <a:off x="2507334" y="1598555"/>
                <a:ext cx="7017350" cy="954107"/>
              </a:xfrm>
              <a:prstGeom prst="rect">
                <a:avLst/>
              </a:prstGeom>
              <a:noFill/>
              <a:ln>
                <a:noFill/>
              </a:ln>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Lst>
            </p:spPr>
            <p:txBody>
              <a:bodyPr wrap="square">
                <a:spAutoFit/>
              </a:bodyPr>
              <a:lstStyle/>
              <a:p>
                <a:r>
                  <a:rPr lang="zh-CN" altLang="en-US" sz="2800" dirty="0"/>
                  <a:t>一物体在常力</a:t>
                </a:r>
                <a14:m>
                  <m:oMath xmlns:m="http://schemas.openxmlformats.org/officeDocument/2006/math">
                    <m:r>
                      <a:rPr kumimoji="1" lang="en-US" altLang="zh-CN" sz="2800" b="1" i="1" smtClean="0">
                        <a:latin typeface="Cambria Math" panose="02040503050406030204" pitchFamily="18" charset="0"/>
                        <a:ea typeface="黑体" panose="02010609060101010101" pitchFamily="49" charset="-122"/>
                      </a:rPr>
                      <m:t>𝑭</m:t>
                    </m:r>
                  </m:oMath>
                </a14:m>
                <a:r>
                  <a:rPr lang="zh-CN" altLang="en-US" sz="2800" dirty="0"/>
                  <a:t>作用下沿直线从点</a:t>
                </a:r>
                <a14:m>
                  <m:oMath xmlns:m="http://schemas.openxmlformats.org/officeDocument/2006/math">
                    <m:sSub>
                      <m:sSubPr>
                        <m:ctrlPr>
                          <a:rPr kumimoji="1" lang="en-US" altLang="zh-CN" sz="2800" i="1" dirty="0">
                            <a:latin typeface="Cambria Math" panose="02040503050406030204" pitchFamily="18" charset="0"/>
                            <a:ea typeface="黑体" panose="02010609060101010101" pitchFamily="49" charset="-122"/>
                            <a:cs typeface="Cambria Math" panose="02040503050406030204" charset="0"/>
                          </a:rPr>
                        </m:ctrlPr>
                      </m:sSubPr>
                      <m:e>
                        <m:r>
                          <a:rPr kumimoji="1" lang="en-US" altLang="zh-CN" sz="2800" i="1" dirty="0">
                            <a:latin typeface="Cambria Math" panose="02040503050406030204" pitchFamily="18" charset="0"/>
                            <a:ea typeface="黑体" panose="02010609060101010101" pitchFamily="49" charset="-122"/>
                            <a:cs typeface="Cambria Math" panose="02040503050406030204" charset="0"/>
                          </a:rPr>
                          <m:t>𝑀</m:t>
                        </m:r>
                      </m:e>
                      <m:sub>
                        <m:r>
                          <a:rPr kumimoji="1" lang="en-US" altLang="zh-CN" sz="2800" b="0" i="1" dirty="0" smtClean="0">
                            <a:latin typeface="Cambria Math" panose="02040503050406030204" pitchFamily="18" charset="0"/>
                            <a:ea typeface="黑体" panose="02010609060101010101" pitchFamily="49" charset="-122"/>
                            <a:cs typeface="Cambria Math" panose="02040503050406030204" charset="0"/>
                          </a:rPr>
                          <m:t>1</m:t>
                        </m:r>
                      </m:sub>
                    </m:sSub>
                  </m:oMath>
                </a14:m>
                <a:r>
                  <a:rPr lang="zh-CN" altLang="en-US" sz="2800" dirty="0"/>
                  <a:t>移动</a:t>
                </a:r>
                <a:endParaRPr lang="en-US" altLang="zh-CN" sz="2800" dirty="0"/>
              </a:p>
              <a:p>
                <a:r>
                  <a:rPr lang="zh-CN" altLang="en-US" sz="2800" dirty="0"/>
                  <a:t>到点</a:t>
                </a:r>
                <a14:m>
                  <m:oMath xmlns:m="http://schemas.openxmlformats.org/officeDocument/2006/math">
                    <m:sSub>
                      <m:sSubPr>
                        <m:ctrlPr>
                          <a:rPr kumimoji="1" lang="en-US" altLang="zh-CN" sz="2800" i="1" dirty="0">
                            <a:latin typeface="Cambria Math" panose="02040503050406030204" pitchFamily="18" charset="0"/>
                            <a:ea typeface="黑体" panose="02010609060101010101" pitchFamily="49" charset="-122"/>
                            <a:cs typeface="Cambria Math" panose="02040503050406030204" charset="0"/>
                          </a:rPr>
                        </m:ctrlPr>
                      </m:sSubPr>
                      <m:e>
                        <m:r>
                          <a:rPr kumimoji="1" lang="en-US" altLang="zh-CN" sz="2800" b="0" i="1" dirty="0" smtClean="0">
                            <a:latin typeface="Cambria Math" panose="02040503050406030204" pitchFamily="18" charset="0"/>
                            <a:ea typeface="黑体" panose="02010609060101010101" pitchFamily="49" charset="-122"/>
                            <a:cs typeface="Cambria Math" panose="02040503050406030204" charset="0"/>
                          </a:rPr>
                          <m:t>𝑀</m:t>
                        </m:r>
                      </m:e>
                      <m:sub>
                        <m:r>
                          <a:rPr kumimoji="1" lang="en-US" altLang="zh-CN" sz="2800" b="0" i="1" dirty="0" smtClean="0">
                            <a:latin typeface="Cambria Math" panose="02040503050406030204" pitchFamily="18" charset="0"/>
                            <a:ea typeface="黑体" panose="02010609060101010101" pitchFamily="49" charset="-122"/>
                            <a:cs typeface="Cambria Math" panose="02040503050406030204" charset="0"/>
                          </a:rPr>
                          <m:t>2</m:t>
                        </m:r>
                      </m:sub>
                    </m:sSub>
                    <m:r>
                      <a:rPr kumimoji="1" lang="en-US" altLang="zh-CN" sz="2800" b="0" i="1" dirty="0" smtClean="0">
                        <a:latin typeface="Cambria Math" panose="02040503050406030204" pitchFamily="18" charset="0"/>
                        <a:ea typeface="黑体" panose="02010609060101010101" pitchFamily="49" charset="-122"/>
                        <a:cs typeface="Cambria Math" panose="02040503050406030204" charset="0"/>
                      </a:rPr>
                      <m:t> ,</m:t>
                    </m:r>
                  </m:oMath>
                </a14:m>
                <a:r>
                  <a:rPr lang="en-US" altLang="zh-CN" sz="2800" i="1" baseline="-25000" dirty="0">
                    <a:latin typeface="Cambria Math" panose="02040503050406030204" charset="0"/>
                    <a:ea typeface="MS Mincho" panose="02020609040205080304" charset="-128"/>
                    <a:cs typeface="Cambria Math" panose="02040503050406030204" charset="0"/>
                  </a:rPr>
                  <a:t> </a:t>
                </a:r>
                <a:r>
                  <a:rPr lang="zh-CN" altLang="en-US" sz="2800" dirty="0"/>
                  <a:t>以</a:t>
                </a:r>
                <a14:m>
                  <m:oMath xmlns:m="http://schemas.openxmlformats.org/officeDocument/2006/math">
                    <m:r>
                      <a:rPr kumimoji="1" lang="en-US" altLang="zh-CN" sz="2800" b="1" i="1" dirty="0">
                        <a:latin typeface="Cambria Math" panose="02040503050406030204" pitchFamily="18" charset="0"/>
                        <a:ea typeface="黑体" panose="02010609060101010101" pitchFamily="49" charset="-122"/>
                      </a:rPr>
                      <m:t>𝒔</m:t>
                    </m:r>
                  </m:oMath>
                </a14:m>
                <a:r>
                  <a:rPr lang="zh-CN" altLang="en-US" sz="2800" dirty="0"/>
                  <a:t>表示位移，则力</a:t>
                </a:r>
                <a14:m>
                  <m:oMath xmlns:m="http://schemas.openxmlformats.org/officeDocument/2006/math">
                    <m:r>
                      <a:rPr kumimoji="1" lang="en-US" altLang="zh-CN" sz="2800" b="1" i="1">
                        <a:latin typeface="Cambria Math" panose="02040503050406030204" pitchFamily="18" charset="0"/>
                        <a:ea typeface="黑体" panose="02010609060101010101" pitchFamily="49" charset="-122"/>
                      </a:rPr>
                      <m:t>𝑭</m:t>
                    </m:r>
                  </m:oMath>
                </a14:m>
                <a:r>
                  <a:rPr lang="zh-CN" altLang="en-US" sz="2800" dirty="0"/>
                  <a:t>所作的功为 </a:t>
                </a:r>
                <a:endParaRPr lang="en-US" altLang="zh-CN" sz="2800" dirty="0"/>
              </a:p>
            </p:txBody>
          </p:sp>
        </mc:Choice>
        <mc:Fallback xmlns="">
          <p:sp>
            <p:nvSpPr>
              <p:cNvPr id="20" name="Rectangle 14">
                <a:extLst>
                  <a:ext uri="{FF2B5EF4-FFF2-40B4-BE49-F238E27FC236}">
                    <a16:creationId xmlns:a16="http://schemas.microsoft.com/office/drawing/2014/main" id="{741270E3-D09F-1F2E-F584-F9002FFABEDE}"/>
                  </a:ext>
                </a:extLst>
              </p:cNvPr>
              <p:cNvSpPr>
                <a:spLocks noRot="1" noChangeAspect="1" noMove="1" noResize="1" noEditPoints="1" noAdjustHandles="1" noChangeArrowheads="1" noChangeShapeType="1" noTextEdit="1"/>
              </p:cNvSpPr>
              <p:nvPr/>
            </p:nvSpPr>
            <p:spPr bwMode="auto">
              <a:xfrm>
                <a:off x="2507334" y="1598555"/>
                <a:ext cx="7017350" cy="954107"/>
              </a:xfrm>
              <a:prstGeom prst="rect">
                <a:avLst/>
              </a:prstGeom>
              <a:blipFill>
                <a:blip r:embed="rId5"/>
                <a:stretch>
                  <a:fillRect l="-1738" t="-7643" b="-15287"/>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p:pic>
        <p:nvPicPr>
          <p:cNvPr id="3" name="图片 2" descr="折线图&#10;&#10;描述已自动生成">
            <a:extLst>
              <a:ext uri="{FF2B5EF4-FFF2-40B4-BE49-F238E27FC236}">
                <a16:creationId xmlns:a16="http://schemas.microsoft.com/office/drawing/2014/main" id="{27177BF4-3708-CF0D-5C75-E41091F4FA8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487643" y="3002734"/>
            <a:ext cx="3037041" cy="1706012"/>
          </a:xfrm>
          <a:prstGeom prst="rect">
            <a:avLst/>
          </a:prstGeom>
        </p:spPr>
      </p:pic>
    </p:spTree>
    <p:extLst>
      <p:ext uri="{BB962C8B-B14F-4D97-AF65-F5344CB8AC3E}">
        <p14:creationId xmlns:p14="http://schemas.microsoft.com/office/powerpoint/2010/main" val="2238332961"/>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wipe(left)">
                                      <p:cBhvr>
                                        <p:cTn id="21" dur="500"/>
                                        <p:tgtEl>
                                          <p:spTgt spid="20"/>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left)">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wipe(left)">
                                      <p:cBhvr>
                                        <p:cTn id="30" dur="5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iterate type="lt">
                                    <p:tmPct val="100000"/>
                                  </p:iterate>
                                  <p:childTnLst>
                                    <p:set>
                                      <p:cBhvr>
                                        <p:cTn id="34" dur="1" fill="hold">
                                          <p:stCondLst>
                                            <p:cond delay="0"/>
                                          </p:stCondLst>
                                        </p:cTn>
                                        <p:tgtEl>
                                          <p:spTgt spid="14"/>
                                        </p:tgtEl>
                                        <p:attrNameLst>
                                          <p:attrName>style.visibility</p:attrName>
                                        </p:attrNameLst>
                                      </p:cBhvr>
                                      <p:to>
                                        <p:strVal val="visible"/>
                                      </p:to>
                                    </p:set>
                                    <p:animEffect transition="in" filter="wipe(left)">
                                      <p:cBhvr>
                                        <p:cTn id="35" dur="75"/>
                                        <p:tgtEl>
                                          <p:spTgt spid="14"/>
                                        </p:tgtEl>
                                      </p:cBhvr>
                                    </p:animEffect>
                                  </p:childTnLst>
                                </p:cTn>
                              </p:par>
                            </p:childTnLst>
                          </p:cTn>
                        </p:par>
                        <p:par>
                          <p:cTn id="36" fill="hold">
                            <p:stCondLst>
                              <p:cond delay="150"/>
                            </p:stCondLst>
                            <p:childTnLst>
                              <p:par>
                                <p:cTn id="37" presetID="22" presetClass="entr" presetSubtype="8" fill="hold" grpId="0" nodeType="after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wipe(left)">
                                      <p:cBhvr>
                                        <p:cTn id="3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autoUpdateAnimBg="0"/>
      <p:bldP spid="15" grpId="0" autoUpdateAnimBg="0"/>
      <p:bldP spid="16" grpId="0" autoUpdateAnimBg="0"/>
      <p:bldP spid="17" grpId="0"/>
      <p:bldP spid="19" grpId="0"/>
      <p:bldP spid="20"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
            <a:extLst>
              <a:ext uri="{FF2B5EF4-FFF2-40B4-BE49-F238E27FC236}">
                <a16:creationId xmlns:a16="http://schemas.microsoft.com/office/drawing/2014/main" id="{9772DBCB-4EB2-4FB5-7A64-93D3C5EA7A33}"/>
              </a:ext>
            </a:extLst>
          </p:cNvPr>
          <p:cNvSpPr/>
          <p:nvPr/>
        </p:nvSpPr>
        <p:spPr>
          <a:xfrm>
            <a:off x="1477734" y="1297822"/>
            <a:ext cx="9302837" cy="1225054"/>
          </a:xfrm>
          <a:prstGeom prst="rect">
            <a:avLst/>
          </a:prstGeom>
          <a:solidFill>
            <a:srgbClr val="04926A">
              <a:alpha val="2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9" name="PA-102231">
            <a:extLst>
              <a:ext uri="{FF2B5EF4-FFF2-40B4-BE49-F238E27FC236}">
                <a16:creationId xmlns:a16="http://schemas.microsoft.com/office/drawing/2014/main" id="{CA659DD6-C44D-937B-5CBC-BEA2D3F7B4B8}"/>
              </a:ext>
            </a:extLst>
          </p:cNvPr>
          <p:cNvSpPr/>
          <p:nvPr>
            <p:custDataLst>
              <p:tags r:id="rId1"/>
            </p:custDataLst>
          </p:nvPr>
        </p:nvSpPr>
        <p:spPr>
          <a:xfrm>
            <a:off x="930798" y="1504704"/>
            <a:ext cx="1093871" cy="787792"/>
          </a:xfrm>
          <a:prstGeom prst="rect">
            <a:avLst/>
          </a:prstGeom>
          <a:solidFill>
            <a:schemeClr val="bg1"/>
          </a:solidFill>
          <a:ln w="19050">
            <a:gradFill>
              <a:gsLst>
                <a:gs pos="5000">
                  <a:srgbClr val="17A45E"/>
                </a:gs>
                <a:gs pos="56000">
                  <a:srgbClr val="039267"/>
                </a:gs>
                <a:gs pos="100000">
                  <a:srgbClr val="068983"/>
                </a:gs>
              </a:gsLst>
              <a:lin ang="10800000" scaled="0"/>
            </a:gradFill>
          </a:ln>
          <a:effectLst>
            <a:outerShdw blurRad="203200" dist="63500" dir="3000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n>
                <a:solidFill>
                  <a:schemeClr val="bg1">
                    <a:lumMod val="95000"/>
                  </a:schemeClr>
                </a:solidFill>
              </a:ln>
              <a:cs typeface="+mn-ea"/>
              <a:sym typeface="+mn-lt"/>
            </a:endParaRPr>
          </a:p>
        </p:txBody>
      </p:sp>
      <p:sp>
        <p:nvSpPr>
          <p:cNvPr id="20" name="Rectangle 2">
            <a:extLst>
              <a:ext uri="{FF2B5EF4-FFF2-40B4-BE49-F238E27FC236}">
                <a16:creationId xmlns:a16="http://schemas.microsoft.com/office/drawing/2014/main" id="{7B29C585-70E9-46A3-32C6-1A51844D90C9}"/>
              </a:ext>
            </a:extLst>
          </p:cNvPr>
          <p:cNvSpPr txBox="1">
            <a:spLocks noChangeArrowheads="1"/>
          </p:cNvSpPr>
          <p:nvPr/>
        </p:nvSpPr>
        <p:spPr>
          <a:xfrm>
            <a:off x="930799" y="1651108"/>
            <a:ext cx="1341632" cy="526262"/>
          </a:xfrm>
          <a:noFill/>
          <a:ln>
            <a:noFill/>
          </a:ln>
        </p:spPr>
        <p:txBody>
          <a:bodyPr>
            <a:no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pPr>
              <a:lnSpc>
                <a:spcPct val="100000"/>
              </a:lnSpc>
            </a:pPr>
            <a:r>
              <a:rPr kumimoji="1" lang="zh-CN" altLang="en-US" sz="2800" dirty="0">
                <a:solidFill>
                  <a:srgbClr val="04926A"/>
                </a:solidFill>
                <a:latin typeface="微软雅黑" panose="020B0503020204020204" pitchFamily="34" charset="-122"/>
                <a:ea typeface="微软雅黑" panose="020B0503020204020204" pitchFamily="34" charset="-122"/>
                <a:cs typeface="+mn-cs"/>
              </a:rPr>
              <a:t>定义1</a:t>
            </a:r>
            <a:endParaRPr kumimoji="1" lang="en-US" altLang="zh-CN" sz="2800" dirty="0">
              <a:solidFill>
                <a:srgbClr val="04926A"/>
              </a:solidFill>
              <a:latin typeface="微软雅黑" panose="020B0503020204020204" pitchFamily="34" charset="-122"/>
              <a:ea typeface="微软雅黑" panose="020B0503020204020204" pitchFamily="34" charset="-122"/>
              <a:cs typeface="+mn-cs"/>
            </a:endParaRPr>
          </a:p>
        </p:txBody>
      </p:sp>
      <p:sp>
        <p:nvSpPr>
          <p:cNvPr id="21" name="Text Box 23">
            <a:extLst>
              <a:ext uri="{FF2B5EF4-FFF2-40B4-BE49-F238E27FC236}">
                <a16:creationId xmlns:a16="http://schemas.microsoft.com/office/drawing/2014/main" id="{7297CA17-FBFF-1F42-7714-DE35A070F389}"/>
              </a:ext>
            </a:extLst>
          </p:cNvPr>
          <p:cNvSpPr txBox="1">
            <a:spLocks noChangeArrowheads="1"/>
          </p:cNvSpPr>
          <p:nvPr/>
        </p:nvSpPr>
        <p:spPr bwMode="auto">
          <a:xfrm>
            <a:off x="1271335" y="646672"/>
            <a:ext cx="2133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0"/>
              </a:spcBef>
              <a:spcAft>
                <a:spcPct val="0"/>
              </a:spcAft>
              <a:defRPr/>
            </a:pPr>
            <a:r>
              <a:rPr kumimoji="1" lang="en-US" altLang="zh-CN" sz="2800" b="1" dirty="0">
                <a:solidFill>
                  <a:srgbClr val="04926A"/>
                </a:solidFill>
                <a:latin typeface="微软雅黑" panose="020B0503020204020204" pitchFamily="34" charset="-122"/>
                <a:ea typeface="微软雅黑" panose="020B0503020204020204" pitchFamily="34" charset="-122"/>
              </a:rPr>
              <a:t>1.  </a:t>
            </a:r>
            <a:r>
              <a:rPr kumimoji="1" lang="zh-CN" altLang="en-US" sz="2800" b="1" dirty="0">
                <a:solidFill>
                  <a:srgbClr val="04926A"/>
                </a:solidFill>
                <a:latin typeface="微软雅黑" panose="020B0503020204020204" pitchFamily="34" charset="-122"/>
                <a:ea typeface="微软雅黑" panose="020B0503020204020204" pitchFamily="34" charset="-122"/>
              </a:rPr>
              <a:t>定义</a:t>
            </a:r>
          </a:p>
        </p:txBody>
      </p:sp>
      <mc:AlternateContent xmlns:mc="http://schemas.openxmlformats.org/markup-compatibility/2006" xmlns:a14="http://schemas.microsoft.com/office/drawing/2010/main">
        <mc:Choice Requires="a14">
          <p:sp>
            <p:nvSpPr>
              <p:cNvPr id="22" name="Text Box 25">
                <a:extLst>
                  <a:ext uri="{FF2B5EF4-FFF2-40B4-BE49-F238E27FC236}">
                    <a16:creationId xmlns:a16="http://schemas.microsoft.com/office/drawing/2014/main" id="{7A61F04F-0D5B-D054-2F06-0386E63C613B}"/>
                  </a:ext>
                </a:extLst>
              </p:cNvPr>
              <p:cNvSpPr txBox="1">
                <a:spLocks noChangeArrowheads="1"/>
              </p:cNvSpPr>
              <p:nvPr/>
            </p:nvSpPr>
            <p:spPr bwMode="auto">
              <a:xfrm>
                <a:off x="2244167" y="1369753"/>
                <a:ext cx="8451850"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sz="2800" dirty="0">
                    <a:solidFill>
                      <a:srgbClr val="000000"/>
                    </a:solidFill>
                    <a:latin typeface="Times New Roman" panose="02020603050405020304" pitchFamily="18" charset="0"/>
                  </a:rPr>
                  <a:t>对于任意两个向量</a:t>
                </a:r>
                <a14:m>
                  <m:oMath xmlns:m="http://schemas.openxmlformats.org/officeDocument/2006/math">
                    <m:r>
                      <a:rPr kumimoji="1" lang="en-US" altLang="zh-CN" sz="2800" b="1" i="1" dirty="0">
                        <a:latin typeface="Cambria Math" panose="02040503050406030204" pitchFamily="18" charset="0"/>
                        <a:ea typeface="黑体" panose="02010609060101010101" pitchFamily="49" charset="-122"/>
                      </a:rPr>
                      <m:t>𝒂</m:t>
                    </m:r>
                  </m:oMath>
                </a14:m>
                <a:r>
                  <a:rPr lang="zh-CN" altLang="en-US" sz="2800" dirty="0">
                    <a:solidFill>
                      <a:srgbClr val="000000"/>
                    </a:solidFill>
                    <a:latin typeface="Times New Roman" panose="02020603050405020304" pitchFamily="18" charset="0"/>
                  </a:rPr>
                  <a:t>和</a:t>
                </a:r>
                <a14:m>
                  <m:oMath xmlns:m="http://schemas.openxmlformats.org/officeDocument/2006/math">
                    <m:r>
                      <a:rPr kumimoji="1" lang="en-US" altLang="zh-CN" sz="2800" b="1" i="1" dirty="0">
                        <a:latin typeface="Cambria Math" panose="02040503050406030204" pitchFamily="18" charset="0"/>
                        <a:ea typeface="黑体" panose="02010609060101010101" pitchFamily="49" charset="-122"/>
                      </a:rPr>
                      <m:t>𝒃</m:t>
                    </m:r>
                    <m:r>
                      <a:rPr kumimoji="1" lang="en-US" altLang="zh-CN" sz="2800" b="0" i="1" dirty="0" smtClean="0">
                        <a:latin typeface="Cambria Math" panose="02040503050406030204" pitchFamily="18" charset="0"/>
                        <a:ea typeface="黑体" panose="02010609060101010101" pitchFamily="49" charset="-122"/>
                      </a:rPr>
                      <m:t>, </m:t>
                    </m:r>
                  </m:oMath>
                </a14:m>
                <a:r>
                  <a:rPr lang="zh-CN" altLang="en-US" sz="2800" dirty="0">
                    <a:solidFill>
                      <a:srgbClr val="000000"/>
                    </a:solidFill>
                    <a:latin typeface="Times New Roman" panose="02020603050405020304" pitchFamily="18" charset="0"/>
                  </a:rPr>
                  <a:t>称</a:t>
                </a:r>
                <a:r>
                  <a:rPr kumimoji="1" lang="en-US" altLang="zh-CN" sz="2800" dirty="0">
                    <a:latin typeface="Cambria Math" panose="02040503050406030204" pitchFamily="18" charset="0"/>
                    <a:ea typeface="黑体" panose="02010609060101010101" pitchFamily="49" charset="-122"/>
                    <a:cs typeface="黑体" panose="02010609060101010101" pitchFamily="49" charset="-122"/>
                  </a:rPr>
                  <a:t>| </a:t>
                </a:r>
                <a14:m>
                  <m:oMath xmlns:m="http://schemas.openxmlformats.org/officeDocument/2006/math">
                    <m:r>
                      <a:rPr kumimoji="1" lang="en-US" altLang="zh-CN" sz="2800" b="1" i="1" dirty="0">
                        <a:latin typeface="Cambria Math" panose="02040503050406030204" pitchFamily="18" charset="0"/>
                        <a:ea typeface="黑体" panose="02010609060101010101" pitchFamily="49" charset="-122"/>
                      </a:rPr>
                      <m:t>𝒂</m:t>
                    </m:r>
                  </m:oMath>
                </a14:m>
                <a:r>
                  <a:rPr kumimoji="1" lang="en-US" altLang="zh-CN" sz="2800" dirty="0">
                    <a:latin typeface="Cambria Math" panose="02040503050406030204" pitchFamily="18" charset="0"/>
                    <a:ea typeface="黑体" panose="02010609060101010101" pitchFamily="49" charset="-122"/>
                    <a:cs typeface="黑体" panose="02010609060101010101" pitchFamily="49" charset="-122"/>
                  </a:rPr>
                  <a:t> | | </a:t>
                </a:r>
                <a14:m>
                  <m:oMath xmlns:m="http://schemas.openxmlformats.org/officeDocument/2006/math">
                    <m:r>
                      <a:rPr kumimoji="1" lang="en-US" altLang="zh-CN" sz="2800" b="1" i="1" dirty="0">
                        <a:latin typeface="Cambria Math" panose="02040503050406030204" pitchFamily="18" charset="0"/>
                        <a:ea typeface="黑体" panose="02010609060101010101" pitchFamily="49" charset="-122"/>
                      </a:rPr>
                      <m:t>𝒃</m:t>
                    </m:r>
                  </m:oMath>
                </a14:m>
                <a:r>
                  <a:rPr kumimoji="1" lang="en-US" altLang="zh-CN" sz="2800" dirty="0">
                    <a:latin typeface="Cambria Math" panose="02040503050406030204" pitchFamily="18" charset="0"/>
                    <a:ea typeface="黑体" panose="02010609060101010101" pitchFamily="49" charset="-122"/>
                    <a:cs typeface="黑体" panose="02010609060101010101" pitchFamily="49" charset="-122"/>
                  </a:rPr>
                  <a:t> | cos</a:t>
                </a:r>
                <a:r>
                  <a:rPr kumimoji="1" lang="en-US" altLang="zh-CN" sz="2800" i="1" dirty="0">
                    <a:latin typeface="Cambria Math" panose="02040503050406030204" pitchFamily="18" charset="0"/>
                    <a:ea typeface="黑体" panose="02010609060101010101" pitchFamily="49" charset="-122"/>
                    <a:cs typeface="黑体" panose="02010609060101010101" pitchFamily="49" charset="-122"/>
                    <a:sym typeface="Symbol" panose="05050102010706020507" pitchFamily="18" charset="2"/>
                  </a:rPr>
                  <a:t></a:t>
                </a:r>
                <a:r>
                  <a:rPr kumimoji="1" lang="en-US" altLang="zh-CN" sz="2800" dirty="0">
                    <a:latin typeface="Cambria Math" panose="02040503050406030204" pitchFamily="18" charset="0"/>
                    <a:ea typeface="黑体" panose="02010609060101010101" pitchFamily="49" charset="-122"/>
                    <a:cs typeface="黑体" panose="02010609060101010101" pitchFamily="49" charset="-122"/>
                    <a:sym typeface="Symbol" panose="05050102010706020507" pitchFamily="18" charset="2"/>
                  </a:rPr>
                  <a:t> </a:t>
                </a:r>
                <a:r>
                  <a:rPr lang="zh-CN" altLang="en-US" sz="2800" dirty="0">
                    <a:solidFill>
                      <a:srgbClr val="000000"/>
                    </a:solidFill>
                    <a:latin typeface="Times New Roman" panose="02020603050405020304" pitchFamily="18" charset="0"/>
                  </a:rPr>
                  <a:t>为</a:t>
                </a:r>
                <a14:m>
                  <m:oMath xmlns:m="http://schemas.openxmlformats.org/officeDocument/2006/math">
                    <m:r>
                      <a:rPr kumimoji="1" lang="en-US" altLang="zh-CN" sz="2800" b="1" i="1" dirty="0">
                        <a:latin typeface="Cambria Math" panose="02040503050406030204" pitchFamily="18" charset="0"/>
                        <a:ea typeface="黑体" panose="02010609060101010101" pitchFamily="49" charset="-122"/>
                      </a:rPr>
                      <m:t>𝒂</m:t>
                    </m:r>
                  </m:oMath>
                </a14:m>
                <a:endParaRPr lang="en-US" altLang="zh-CN" sz="2800" b="1" dirty="0">
                  <a:latin typeface="Cambria Math" panose="02040503050406030204" charset="0"/>
                  <a:ea typeface="MS Mincho" panose="02020609040205080304" charset="-128"/>
                  <a:cs typeface="Cambria Math" panose="02040503050406030204" charset="0"/>
                </a:endParaRPr>
              </a:p>
            </p:txBody>
          </p:sp>
        </mc:Choice>
        <mc:Fallback xmlns="">
          <p:sp>
            <p:nvSpPr>
              <p:cNvPr id="22" name="Text Box 25">
                <a:extLst>
                  <a:ext uri="{FF2B5EF4-FFF2-40B4-BE49-F238E27FC236}">
                    <a16:creationId xmlns:a16="http://schemas.microsoft.com/office/drawing/2014/main" id="{7A61F04F-0D5B-D054-2F06-0386E63C613B}"/>
                  </a:ext>
                </a:extLst>
              </p:cNvPr>
              <p:cNvSpPr txBox="1">
                <a:spLocks noRot="1" noChangeAspect="1" noMove="1" noResize="1" noEditPoints="1" noAdjustHandles="1" noChangeArrowheads="1" noChangeShapeType="1" noTextEdit="1"/>
              </p:cNvSpPr>
              <p:nvPr/>
            </p:nvSpPr>
            <p:spPr bwMode="auto">
              <a:xfrm>
                <a:off x="2244167" y="1369753"/>
                <a:ext cx="8451850" cy="523220"/>
              </a:xfrm>
              <a:prstGeom prst="rect">
                <a:avLst/>
              </a:prstGeom>
              <a:blipFill>
                <a:blip r:embed="rId4"/>
                <a:stretch>
                  <a:fillRect l="-1442" t="-16279" b="-3139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Rectangle 26">
                <a:extLst>
                  <a:ext uri="{FF2B5EF4-FFF2-40B4-BE49-F238E27FC236}">
                    <a16:creationId xmlns:a16="http://schemas.microsoft.com/office/drawing/2014/main" id="{0709B695-C0E7-59A2-8CEE-7193DDEE7646}"/>
                  </a:ext>
                </a:extLst>
              </p:cNvPr>
              <p:cNvSpPr>
                <a:spLocks noChangeArrowheads="1"/>
              </p:cNvSpPr>
              <p:nvPr/>
            </p:nvSpPr>
            <p:spPr bwMode="auto">
              <a:xfrm>
                <a:off x="2244167" y="1900964"/>
                <a:ext cx="5226050"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dirty="0">
                    <a:solidFill>
                      <a:srgbClr val="000000"/>
                    </a:solidFill>
                    <a:latin typeface="Times New Roman" panose="02020603050405020304" pitchFamily="18" charset="0"/>
                  </a:rPr>
                  <a:t>与</a:t>
                </a:r>
                <a14:m>
                  <m:oMath xmlns:m="http://schemas.openxmlformats.org/officeDocument/2006/math">
                    <m:r>
                      <a:rPr kumimoji="1" lang="en-US" altLang="zh-CN" sz="2800" b="1" i="1" dirty="0">
                        <a:latin typeface="Cambria Math" panose="02040503050406030204" pitchFamily="18" charset="0"/>
                        <a:ea typeface="黑体" panose="02010609060101010101" pitchFamily="49" charset="-122"/>
                      </a:rPr>
                      <m:t>𝒃</m:t>
                    </m:r>
                  </m:oMath>
                </a14:m>
                <a:r>
                  <a:rPr lang="zh-CN" altLang="en-US" sz="2800" dirty="0">
                    <a:solidFill>
                      <a:srgbClr val="000000"/>
                    </a:solidFill>
                    <a:latin typeface="Times New Roman" panose="02020603050405020304" pitchFamily="18" charset="0"/>
                  </a:rPr>
                  <a:t>的</a:t>
                </a:r>
                <a:r>
                  <a:rPr lang="zh-CN" altLang="en-US" sz="2800" b="1" dirty="0">
                    <a:solidFill>
                      <a:srgbClr val="04926A"/>
                    </a:solidFill>
                    <a:latin typeface="Times New Roman" panose="02020603050405020304" pitchFamily="18" charset="0"/>
                  </a:rPr>
                  <a:t>数量积</a:t>
                </a:r>
                <a:r>
                  <a:rPr lang="zh-CN" altLang="en-US" sz="2800" dirty="0">
                    <a:solidFill>
                      <a:srgbClr val="000000"/>
                    </a:solidFill>
                    <a:latin typeface="Times New Roman" panose="02020603050405020304" pitchFamily="18" charset="0"/>
                  </a:rPr>
                  <a:t>，记作 </a:t>
                </a:r>
                <a14:m>
                  <m:oMath xmlns:m="http://schemas.openxmlformats.org/officeDocument/2006/math">
                    <m:r>
                      <a:rPr kumimoji="1" lang="en-US" altLang="zh-CN" sz="2800" b="1" i="1" dirty="0">
                        <a:latin typeface="Cambria Math" panose="02040503050406030204" pitchFamily="18" charset="0"/>
                        <a:ea typeface="黑体" panose="02010609060101010101" pitchFamily="49" charset="-122"/>
                      </a:rPr>
                      <m:t>𝒂</m:t>
                    </m:r>
                  </m:oMath>
                </a14:m>
                <a:r>
                  <a:rPr lang="en-US" altLang="zh-CN" sz="2800" b="1" dirty="0">
                    <a:solidFill>
                      <a:srgbClr val="000000"/>
                    </a:solidFill>
                    <a:latin typeface="Times New Roman" panose="02020603050405020304" pitchFamily="18" charset="0"/>
                  </a:rPr>
                  <a:t> · </a:t>
                </a:r>
                <a14:m>
                  <m:oMath xmlns:m="http://schemas.openxmlformats.org/officeDocument/2006/math">
                    <m:r>
                      <a:rPr kumimoji="1" lang="en-US" altLang="zh-CN" sz="2800" b="1" i="1" dirty="0">
                        <a:latin typeface="Cambria Math" panose="02040503050406030204" pitchFamily="18" charset="0"/>
                        <a:ea typeface="黑体" panose="02010609060101010101" pitchFamily="49" charset="-122"/>
                      </a:rPr>
                      <m:t>𝒃</m:t>
                    </m:r>
                  </m:oMath>
                </a14:m>
                <a:r>
                  <a:rPr lang="en-US" altLang="zh-CN" sz="2800" b="1" dirty="0">
                    <a:solidFill>
                      <a:srgbClr val="000000"/>
                    </a:solidFill>
                    <a:latin typeface="Times New Roman" panose="02020603050405020304" pitchFamily="18" charset="0"/>
                  </a:rPr>
                  <a:t> </a:t>
                </a:r>
                <a:r>
                  <a:rPr lang="zh-CN" altLang="en-US" sz="2800" dirty="0">
                    <a:solidFill>
                      <a:srgbClr val="000000"/>
                    </a:solidFill>
                    <a:latin typeface="Times New Roman" panose="02020603050405020304" pitchFamily="18" charset="0"/>
                  </a:rPr>
                  <a:t>，即</a:t>
                </a:r>
              </a:p>
            </p:txBody>
          </p:sp>
        </mc:Choice>
        <mc:Fallback xmlns="">
          <p:sp>
            <p:nvSpPr>
              <p:cNvPr id="23" name="Rectangle 26">
                <a:extLst>
                  <a:ext uri="{FF2B5EF4-FFF2-40B4-BE49-F238E27FC236}">
                    <a16:creationId xmlns:a16="http://schemas.microsoft.com/office/drawing/2014/main" id="{0709B695-C0E7-59A2-8CEE-7193DDEE7646}"/>
                  </a:ext>
                </a:extLst>
              </p:cNvPr>
              <p:cNvSpPr>
                <a:spLocks noRot="1" noChangeAspect="1" noMove="1" noResize="1" noEditPoints="1" noAdjustHandles="1" noChangeArrowheads="1" noChangeShapeType="1" noTextEdit="1"/>
              </p:cNvSpPr>
              <p:nvPr/>
            </p:nvSpPr>
            <p:spPr bwMode="auto">
              <a:xfrm>
                <a:off x="2244167" y="1900964"/>
                <a:ext cx="5226050" cy="523220"/>
              </a:xfrm>
              <a:prstGeom prst="rect">
                <a:avLst/>
              </a:prstGeom>
              <a:blipFill>
                <a:blip r:embed="rId5"/>
                <a:stretch>
                  <a:fillRect l="-2334" t="-16279" b="-3255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Rectangle 27">
                <a:extLst>
                  <a:ext uri="{FF2B5EF4-FFF2-40B4-BE49-F238E27FC236}">
                    <a16:creationId xmlns:a16="http://schemas.microsoft.com/office/drawing/2014/main" id="{C85D0C19-4403-16DA-8757-1DE784C030CD}"/>
                  </a:ext>
                </a:extLst>
              </p:cNvPr>
              <p:cNvSpPr>
                <a:spLocks noChangeArrowheads="1"/>
              </p:cNvSpPr>
              <p:nvPr/>
            </p:nvSpPr>
            <p:spPr bwMode="auto">
              <a:xfrm>
                <a:off x="3392010" y="2696014"/>
                <a:ext cx="3256440" cy="523220"/>
              </a:xfrm>
              <a:prstGeom prst="rect">
                <a:avLst/>
              </a:prstGeom>
              <a:solidFill>
                <a:srgbClr val="96D1C0"/>
              </a:solidFill>
              <a:ln w="9525">
                <a:noFill/>
                <a:miter lim="800000"/>
                <a:headEnd/>
                <a:tailEnd/>
              </a:ln>
              <a:effectLst/>
            </p:spPr>
            <p:txBody>
              <a:bodyPr wrap="square">
                <a:spAutoFit/>
              </a:bodyPr>
              <a:lstStyle/>
              <a:p>
                <a:pPr lvl="0" algn="ctr" fontAlgn="base">
                  <a:spcBef>
                    <a:spcPct val="0"/>
                  </a:spcBef>
                  <a:spcAft>
                    <a:spcPct val="0"/>
                  </a:spcAft>
                  <a:defRPr/>
                </a:pPr>
                <a14:m>
                  <m:oMath xmlns:m="http://schemas.openxmlformats.org/officeDocument/2006/math">
                    <m:r>
                      <a:rPr kumimoji="1" lang="en-US" altLang="zh-CN" sz="2800" b="1" i="1" dirty="0" smtClean="0">
                        <a:solidFill>
                          <a:schemeClr val="tx1"/>
                        </a:solidFill>
                        <a:latin typeface="Cambria Math" panose="02040503050406030204" pitchFamily="18" charset="0"/>
                        <a:ea typeface="Cambria Math" panose="02040503050406030204" pitchFamily="18" charset="0"/>
                      </a:rPr>
                      <m:t>𝒂</m:t>
                    </m:r>
                    <m:r>
                      <a:rPr kumimoji="1" lang="en-US" altLang="zh-CN" sz="2800" b="1" i="1" dirty="0" smtClean="0">
                        <a:solidFill>
                          <a:schemeClr val="tx1"/>
                        </a:solidFill>
                        <a:latin typeface="Cambria Math" panose="02040503050406030204" pitchFamily="18" charset="0"/>
                        <a:ea typeface="Cambria Math" panose="02040503050406030204" pitchFamily="18" charset="0"/>
                      </a:rPr>
                      <m:t>∙</m:t>
                    </m:r>
                    <m:r>
                      <a:rPr kumimoji="1" lang="en-US" altLang="zh-CN" sz="2800" b="1" i="1" dirty="0">
                        <a:solidFill>
                          <a:schemeClr val="tx1"/>
                        </a:solidFill>
                        <a:latin typeface="Cambria Math" panose="02040503050406030204" pitchFamily="18" charset="0"/>
                        <a:ea typeface="黑体" panose="02010609060101010101" pitchFamily="49" charset="-122"/>
                      </a:rPr>
                      <m:t>𝒃</m:t>
                    </m:r>
                    <m:r>
                      <a:rPr kumimoji="1" lang="en-US" altLang="zh-CN" sz="2800" b="0" i="1" dirty="0" smtClean="0">
                        <a:solidFill>
                          <a:schemeClr val="tx1"/>
                        </a:solidFill>
                        <a:latin typeface="Cambria Math" panose="02040503050406030204" pitchFamily="18" charset="0"/>
                        <a:ea typeface="黑体" panose="02010609060101010101" pitchFamily="49" charset="-122"/>
                      </a:rPr>
                      <m:t>=</m:t>
                    </m:r>
                    <m:d>
                      <m:dPr>
                        <m:begChr m:val="|"/>
                        <m:endChr m:val="|"/>
                        <m:ctrlPr>
                          <a:rPr kumimoji="1" lang="en-US" altLang="zh-CN" sz="2800" b="1" i="1" dirty="0" smtClean="0">
                            <a:solidFill>
                              <a:schemeClr val="tx1"/>
                            </a:solidFill>
                            <a:latin typeface="Cambria Math" panose="02040503050406030204" pitchFamily="18" charset="0"/>
                            <a:ea typeface="黑体" panose="02010609060101010101" pitchFamily="49" charset="-122"/>
                          </a:rPr>
                        </m:ctrlPr>
                      </m:dPr>
                      <m:e>
                        <m:r>
                          <a:rPr kumimoji="1" lang="en-US" altLang="zh-CN" sz="2800" b="1" i="1" dirty="0">
                            <a:solidFill>
                              <a:schemeClr val="tx1"/>
                            </a:solidFill>
                            <a:latin typeface="Cambria Math" panose="02040503050406030204" pitchFamily="18" charset="0"/>
                            <a:ea typeface="黑体" panose="02010609060101010101" pitchFamily="49" charset="-122"/>
                          </a:rPr>
                          <m:t>𝒂</m:t>
                        </m:r>
                      </m:e>
                    </m:d>
                    <m:d>
                      <m:dPr>
                        <m:begChr m:val="|"/>
                        <m:endChr m:val="|"/>
                        <m:ctrlPr>
                          <a:rPr kumimoji="1" lang="en-US" altLang="zh-CN" sz="2800" b="1" i="1" dirty="0" smtClean="0">
                            <a:solidFill>
                              <a:schemeClr val="tx1"/>
                            </a:solidFill>
                            <a:latin typeface="Cambria Math" panose="02040503050406030204" pitchFamily="18" charset="0"/>
                            <a:ea typeface="黑体" panose="02010609060101010101" pitchFamily="49" charset="-122"/>
                          </a:rPr>
                        </m:ctrlPr>
                      </m:dPr>
                      <m:e>
                        <m:r>
                          <a:rPr kumimoji="1" lang="en-US" altLang="zh-CN" sz="2800" b="1" i="1" dirty="0" smtClean="0">
                            <a:solidFill>
                              <a:schemeClr val="tx1"/>
                            </a:solidFill>
                            <a:latin typeface="Cambria Math" panose="02040503050406030204" pitchFamily="18" charset="0"/>
                            <a:ea typeface="黑体" panose="02010609060101010101" pitchFamily="49" charset="-122"/>
                          </a:rPr>
                          <m:t>𝒃</m:t>
                        </m:r>
                      </m:e>
                    </m:d>
                    <m:func>
                      <m:funcPr>
                        <m:ctrlPr>
                          <a:rPr kumimoji="1" lang="en-US" altLang="zh-CN" sz="2800" b="0" i="1" dirty="0" smtClean="0">
                            <a:solidFill>
                              <a:schemeClr val="tx1"/>
                            </a:solidFill>
                            <a:latin typeface="Cambria Math" panose="02040503050406030204" pitchFamily="18" charset="0"/>
                            <a:ea typeface="黑体" panose="02010609060101010101" pitchFamily="49" charset="-122"/>
                          </a:rPr>
                        </m:ctrlPr>
                      </m:funcPr>
                      <m:fName>
                        <m:r>
                          <m:rPr>
                            <m:sty m:val="p"/>
                          </m:rPr>
                          <a:rPr kumimoji="1" lang="en-US" altLang="zh-CN" sz="2800" b="0" i="0" dirty="0" smtClean="0">
                            <a:solidFill>
                              <a:schemeClr val="tx1"/>
                            </a:solidFill>
                            <a:latin typeface="Cambria Math" panose="02040503050406030204" pitchFamily="18" charset="0"/>
                            <a:ea typeface="黑体" panose="02010609060101010101" pitchFamily="49" charset="-122"/>
                          </a:rPr>
                          <m:t>cos</m:t>
                        </m:r>
                      </m:fName>
                      <m:e>
                        <m:r>
                          <a:rPr kumimoji="1" lang="zh-CN" altLang="en-US" sz="2800" b="0" i="1" dirty="0" smtClean="0">
                            <a:solidFill>
                              <a:schemeClr val="tx1"/>
                            </a:solidFill>
                            <a:latin typeface="Cambria Math" panose="02040503050406030204" pitchFamily="18" charset="0"/>
                            <a:ea typeface="黑体" panose="02010609060101010101" pitchFamily="49" charset="-122"/>
                          </a:rPr>
                          <m:t>𝜃</m:t>
                        </m:r>
                      </m:e>
                    </m:func>
                  </m:oMath>
                </a14:m>
                <a:r>
                  <a:rPr kumimoji="1" lang="en-US" altLang="zh-CN" sz="2800" dirty="0">
                    <a:latin typeface="Cambria Math" panose="02040503050406030204" pitchFamily="18" charset="0"/>
                    <a:ea typeface="黑体" panose="02010609060101010101" pitchFamily="49" charset="-122"/>
                    <a:sym typeface="Symbol" panose="05050102010706020507" pitchFamily="18" charset="2"/>
                  </a:rPr>
                  <a:t> </a:t>
                </a:r>
              </a:p>
            </p:txBody>
          </p:sp>
        </mc:Choice>
        <mc:Fallback xmlns="">
          <p:sp>
            <p:nvSpPr>
              <p:cNvPr id="24" name="Rectangle 27">
                <a:extLst>
                  <a:ext uri="{FF2B5EF4-FFF2-40B4-BE49-F238E27FC236}">
                    <a16:creationId xmlns:a16="http://schemas.microsoft.com/office/drawing/2014/main" id="{C85D0C19-4403-16DA-8757-1DE784C030CD}"/>
                  </a:ext>
                </a:extLst>
              </p:cNvPr>
              <p:cNvSpPr>
                <a:spLocks noRot="1" noChangeAspect="1" noMove="1" noResize="1" noEditPoints="1" noAdjustHandles="1" noChangeArrowheads="1" noChangeShapeType="1" noTextEdit="1"/>
              </p:cNvSpPr>
              <p:nvPr/>
            </p:nvSpPr>
            <p:spPr bwMode="auto">
              <a:xfrm>
                <a:off x="3392010" y="2696014"/>
                <a:ext cx="3256440" cy="523220"/>
              </a:xfrm>
              <a:prstGeom prst="rect">
                <a:avLst/>
              </a:prstGeom>
              <a:blipFill>
                <a:blip r:embed="rId6"/>
                <a:stretch>
                  <a:fillRect/>
                </a:stretch>
              </a:blipFill>
              <a:ln w="9525">
                <a:noFill/>
                <a:miter lim="800000"/>
                <a:headEnd/>
                <a:tailEnd/>
              </a:ln>
              <a:effectLst/>
            </p:spPr>
            <p:txBody>
              <a:bodyPr/>
              <a:lstStyle/>
              <a:p>
                <a:r>
                  <a:rPr lang="zh-CN" altLang="en-US">
                    <a:noFill/>
                  </a:rPr>
                  <a:t> </a:t>
                </a:r>
              </a:p>
            </p:txBody>
          </p:sp>
        </mc:Fallback>
      </mc:AlternateContent>
      <p:sp>
        <p:nvSpPr>
          <p:cNvPr id="32" name="Text Box 74">
            <a:extLst>
              <a:ext uri="{FF2B5EF4-FFF2-40B4-BE49-F238E27FC236}">
                <a16:creationId xmlns:a16="http://schemas.microsoft.com/office/drawing/2014/main" id="{769EF3A9-C5DA-7F84-C4AD-B794B24FF6B1}"/>
              </a:ext>
            </a:extLst>
          </p:cNvPr>
          <p:cNvSpPr txBox="1">
            <a:spLocks noChangeArrowheads="1"/>
          </p:cNvSpPr>
          <p:nvPr/>
        </p:nvSpPr>
        <p:spPr bwMode="auto">
          <a:xfrm>
            <a:off x="2185735" y="3408762"/>
            <a:ext cx="2438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sz="2800" dirty="0">
                <a:solidFill>
                  <a:srgbClr val="000000"/>
                </a:solidFill>
                <a:latin typeface="Times New Roman" panose="02020603050405020304" pitchFamily="18" charset="0"/>
              </a:rPr>
              <a:t>引例中功即为</a:t>
            </a:r>
          </a:p>
        </p:txBody>
      </p:sp>
      <mc:AlternateContent xmlns:mc="http://schemas.openxmlformats.org/markup-compatibility/2006" xmlns:a14="http://schemas.microsoft.com/office/drawing/2010/main">
        <mc:Choice Requires="a14">
          <p:sp>
            <p:nvSpPr>
              <p:cNvPr id="33" name="Object 76">
                <a:extLst>
                  <a:ext uri="{FF2B5EF4-FFF2-40B4-BE49-F238E27FC236}">
                    <a16:creationId xmlns:a16="http://schemas.microsoft.com/office/drawing/2014/main" id="{F9BDE2F5-D903-5A34-979C-40E7BC30A20D}"/>
                  </a:ext>
                </a:extLst>
              </p:cNvPr>
              <p:cNvSpPr txBox="1"/>
              <p:nvPr/>
            </p:nvSpPr>
            <p:spPr bwMode="auto">
              <a:xfrm>
                <a:off x="4465385" y="3432574"/>
                <a:ext cx="1887790" cy="47783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b="0" i="1">
                          <a:latin typeface="Cambria Math" panose="02040503050406030204" pitchFamily="18" charset="0"/>
                          <a:ea typeface="黑体" panose="02010609060101010101" pitchFamily="49" charset="-122"/>
                          <a:cs typeface="黑体" panose="02010609060101010101" pitchFamily="49" charset="-122"/>
                        </a:rPr>
                        <m:t>𝑊</m:t>
                      </m:r>
                      <m:r>
                        <a:rPr kumimoji="1" lang="zh-CN" altLang="en-US" sz="2800" b="0" i="1">
                          <a:latin typeface="Cambria Math" panose="02040503050406030204" pitchFamily="18" charset="0"/>
                          <a:ea typeface="黑体" panose="02010609060101010101" pitchFamily="49" charset="-122"/>
                          <a:cs typeface="黑体" panose="02010609060101010101" pitchFamily="49" charset="-122"/>
                        </a:rPr>
                        <m:t>=</m:t>
                      </m:r>
                      <m:r>
                        <a:rPr kumimoji="1" lang="zh-CN" altLang="en-US" sz="2800" b="1" i="1">
                          <a:latin typeface="Cambria Math" panose="02040503050406030204" pitchFamily="18" charset="0"/>
                          <a:ea typeface="黑体" panose="02010609060101010101" pitchFamily="49" charset="-122"/>
                          <a:cs typeface="黑体" panose="02010609060101010101" pitchFamily="49" charset="-122"/>
                        </a:rPr>
                        <m:t>𝑭</m:t>
                      </m:r>
                      <m:r>
                        <a:rPr kumimoji="1" lang="zh-CN" altLang="en-US" sz="2800" b="1" i="1">
                          <a:latin typeface="Cambria Math" panose="02040503050406030204" pitchFamily="18" charset="0"/>
                          <a:ea typeface="黑体" panose="02010609060101010101" pitchFamily="49" charset="-122"/>
                          <a:cs typeface="黑体" panose="02010609060101010101" pitchFamily="49" charset="-122"/>
                        </a:rPr>
                        <m:t>⋅</m:t>
                      </m:r>
                      <m:r>
                        <a:rPr kumimoji="1" lang="zh-CN" altLang="en-US" sz="2800" b="1" i="1">
                          <a:latin typeface="Cambria Math" panose="02040503050406030204" pitchFamily="18" charset="0"/>
                          <a:ea typeface="黑体" panose="02010609060101010101" pitchFamily="49" charset="-122"/>
                          <a:cs typeface="黑体" panose="02010609060101010101" pitchFamily="49" charset="-122"/>
                        </a:rPr>
                        <m:t>𝒔</m:t>
                      </m:r>
                      <m:r>
                        <a:rPr kumimoji="1" lang="zh-CN" altLang="en-US" sz="2800" b="0" i="1">
                          <a:latin typeface="Cambria Math" panose="02040503050406030204" pitchFamily="18" charset="0"/>
                          <a:ea typeface="黑体" panose="02010609060101010101" pitchFamily="49" charset="-122"/>
                          <a:cs typeface="黑体" panose="02010609060101010101" pitchFamily="49" charset="-122"/>
                        </a:rPr>
                        <m:t>.</m:t>
                      </m:r>
                    </m:oMath>
                  </m:oMathPara>
                </a14:m>
                <a:endParaRPr kumimoji="1" lang="zh-CN" altLang="en-US" sz="2800" i="1" dirty="0">
                  <a:latin typeface="Cambria Math" panose="02040503050406030204" pitchFamily="18" charset="0"/>
                  <a:ea typeface="黑体" panose="02010609060101010101" pitchFamily="49" charset="-122"/>
                  <a:cs typeface="黑体" panose="02010609060101010101" pitchFamily="49" charset="-122"/>
                </a:endParaRPr>
              </a:p>
            </p:txBody>
          </p:sp>
        </mc:Choice>
        <mc:Fallback xmlns="">
          <p:sp>
            <p:nvSpPr>
              <p:cNvPr id="33" name="Object 76">
                <a:extLst>
                  <a:ext uri="{FF2B5EF4-FFF2-40B4-BE49-F238E27FC236}">
                    <a16:creationId xmlns:a16="http://schemas.microsoft.com/office/drawing/2014/main" id="{F9BDE2F5-D903-5A34-979C-40E7BC30A20D}"/>
                  </a:ext>
                </a:extLst>
              </p:cNvPr>
              <p:cNvSpPr txBox="1">
                <a:spLocks noRot="1" noChangeAspect="1" noMove="1" noResize="1" noEditPoints="1" noAdjustHandles="1" noChangeArrowheads="1" noChangeShapeType="1" noTextEdit="1"/>
              </p:cNvSpPr>
              <p:nvPr/>
            </p:nvSpPr>
            <p:spPr bwMode="auto">
              <a:xfrm>
                <a:off x="4465385" y="3432574"/>
                <a:ext cx="1887790" cy="477837"/>
              </a:xfrm>
              <a:prstGeom prst="rect">
                <a:avLst/>
              </a:prstGeom>
              <a:blipFill>
                <a:blip r:embed="rId9"/>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Text Box 77">
                <a:extLst>
                  <a:ext uri="{FF2B5EF4-FFF2-40B4-BE49-F238E27FC236}">
                    <a16:creationId xmlns:a16="http://schemas.microsoft.com/office/drawing/2014/main" id="{97472FD7-A83B-4C13-5D63-12E31559E8BE}"/>
                  </a:ext>
                </a:extLst>
              </p:cNvPr>
              <p:cNvSpPr txBox="1">
                <a:spLocks noChangeArrowheads="1"/>
              </p:cNvSpPr>
              <p:nvPr/>
            </p:nvSpPr>
            <p:spPr bwMode="auto">
              <a:xfrm>
                <a:off x="2185735" y="4108849"/>
                <a:ext cx="6310993"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pPr>
                <a:r>
                  <a:rPr lang="zh-CN" altLang="en-US" sz="2800" dirty="0">
                    <a:solidFill>
                      <a:srgbClr val="000000"/>
                    </a:solidFill>
                    <a:latin typeface="Times New Roman" panose="02020603050405020304" pitchFamily="18" charset="0"/>
                  </a:rPr>
                  <a:t>当向量</a:t>
                </a:r>
                <a14:m>
                  <m:oMath xmlns:m="http://schemas.openxmlformats.org/officeDocument/2006/math">
                    <m:r>
                      <a:rPr kumimoji="1" lang="en-US" altLang="zh-CN" sz="2800" b="1" i="1" dirty="0">
                        <a:latin typeface="Cambria Math" panose="02040503050406030204" pitchFamily="18" charset="0"/>
                        <a:ea typeface="黑体" panose="02010609060101010101" pitchFamily="49" charset="-122"/>
                      </a:rPr>
                      <m:t>𝒂</m:t>
                    </m:r>
                    <m:r>
                      <a:rPr kumimoji="1" lang="en-US" altLang="zh-CN" sz="2800" i="1" dirty="0" smtClean="0">
                        <a:latin typeface="Cambria Math" panose="02040503050406030204" pitchFamily="18" charset="0"/>
                        <a:ea typeface="Cambria Math" panose="02040503050406030204" pitchFamily="18" charset="0"/>
                      </a:rPr>
                      <m:t>≠</m:t>
                    </m:r>
                    <m:r>
                      <a:rPr kumimoji="1" lang="en-US" altLang="zh-CN" sz="2800" b="1" i="1" dirty="0" smtClean="0">
                        <a:latin typeface="Cambria Math" panose="02040503050406030204" pitchFamily="18" charset="0"/>
                        <a:ea typeface="Cambria Math" panose="02040503050406030204" pitchFamily="18" charset="0"/>
                      </a:rPr>
                      <m:t>𝟎</m:t>
                    </m:r>
                  </m:oMath>
                </a14:m>
                <a:r>
                  <a:rPr lang="zh-CN" altLang="en-US" sz="2800" dirty="0">
                    <a:solidFill>
                      <a:srgbClr val="000000"/>
                    </a:solidFill>
                    <a:latin typeface="Times New Roman" panose="02020603050405020304" pitchFamily="18" charset="0"/>
                    <a:sym typeface="Symbol" panose="05050102010706020507" pitchFamily="18" charset="2"/>
                  </a:rPr>
                  <a:t>时，</a:t>
                </a:r>
                <a14:m>
                  <m:oMath xmlns:m="http://schemas.openxmlformats.org/officeDocument/2006/math">
                    <m:sSub>
                      <m:sSubPr>
                        <m:ctrlPr>
                          <a:rPr kumimoji="1" lang="en-US" altLang="zh-CN" sz="2800" i="1" dirty="0">
                            <a:latin typeface="Cambria Math" panose="02040503050406030204" pitchFamily="18" charset="0"/>
                            <a:ea typeface="黑体" panose="02010609060101010101" pitchFamily="49" charset="-122"/>
                            <a:cs typeface="Cambria Math" panose="02040503050406030204" charset="0"/>
                          </a:rPr>
                        </m:ctrlPr>
                      </m:sSubPr>
                      <m:e>
                        <m:r>
                          <m:rPr>
                            <m:sty m:val="p"/>
                          </m:rPr>
                          <a:rPr kumimoji="1" lang="en-US" altLang="zh-CN" sz="2800" dirty="0">
                            <a:latin typeface="Cambria Math" panose="02040503050406030204" pitchFamily="18" charset="0"/>
                            <a:ea typeface="黑体" panose="02010609060101010101" pitchFamily="49" charset="-122"/>
                            <a:cs typeface="Cambria Math" panose="02040503050406030204" charset="0"/>
                          </a:rPr>
                          <m:t>P</m:t>
                        </m:r>
                        <m:r>
                          <m:rPr>
                            <m:sty m:val="p"/>
                          </m:rPr>
                          <a:rPr kumimoji="1" lang="en-US" altLang="zh-CN" sz="2800" b="0" i="0" dirty="0" smtClean="0">
                            <a:latin typeface="Cambria Math" panose="02040503050406030204" pitchFamily="18" charset="0"/>
                            <a:ea typeface="黑体" panose="02010609060101010101" pitchFamily="49" charset="-122"/>
                            <a:cs typeface="Cambria Math" panose="02040503050406030204" charset="0"/>
                          </a:rPr>
                          <m:t>rj</m:t>
                        </m:r>
                      </m:e>
                      <m:sub>
                        <m:r>
                          <a:rPr kumimoji="1" lang="en-US" altLang="zh-CN" sz="2800" b="0" i="1" dirty="0" smtClean="0">
                            <a:latin typeface="Cambria Math" panose="02040503050406030204" pitchFamily="18" charset="0"/>
                            <a:ea typeface="黑体" panose="02010609060101010101" pitchFamily="49" charset="-122"/>
                            <a:cs typeface="Cambria Math" panose="02040503050406030204" charset="0"/>
                          </a:rPr>
                          <m:t>𝑎</m:t>
                        </m:r>
                      </m:sub>
                    </m:sSub>
                    <m:r>
                      <a:rPr kumimoji="1" lang="en-US" altLang="zh-CN" sz="2800" b="1" i="1" dirty="0" smtClean="0">
                        <a:latin typeface="Cambria Math" panose="02040503050406030204" pitchFamily="18" charset="0"/>
                        <a:ea typeface="黑体" panose="02010609060101010101" pitchFamily="49" charset="-122"/>
                        <a:cs typeface="Cambria Math" panose="02040503050406030204" charset="0"/>
                      </a:rPr>
                      <m:t>𝒃</m:t>
                    </m:r>
                    <m:r>
                      <a:rPr kumimoji="1" lang="en-US" altLang="zh-CN" sz="2800" b="0" i="1" dirty="0" smtClean="0">
                        <a:latin typeface="Cambria Math" panose="02040503050406030204" pitchFamily="18" charset="0"/>
                        <a:ea typeface="黑体" panose="02010609060101010101" pitchFamily="49" charset="-122"/>
                        <a:cs typeface="Cambria Math" panose="02040503050406030204" charset="0"/>
                      </a:rPr>
                      <m:t>=</m:t>
                    </m:r>
                    <m:d>
                      <m:dPr>
                        <m:begChr m:val="|"/>
                        <m:endChr m:val="|"/>
                        <m:ctrlPr>
                          <a:rPr kumimoji="1" lang="en-US" altLang="zh-CN" sz="2800" b="1" i="1" dirty="0" smtClean="0">
                            <a:latin typeface="Cambria Math" panose="02040503050406030204" pitchFamily="18" charset="0"/>
                            <a:ea typeface="黑体" panose="02010609060101010101" pitchFamily="49" charset="-122"/>
                            <a:cs typeface="Cambria Math" panose="02040503050406030204" charset="0"/>
                          </a:rPr>
                        </m:ctrlPr>
                      </m:dPr>
                      <m:e>
                        <m:r>
                          <a:rPr kumimoji="1" lang="en-US" altLang="zh-CN" sz="2800" b="1" i="1" dirty="0" smtClean="0">
                            <a:latin typeface="Cambria Math" panose="02040503050406030204" pitchFamily="18" charset="0"/>
                            <a:ea typeface="黑体" panose="02010609060101010101" pitchFamily="49" charset="-122"/>
                            <a:cs typeface="Cambria Math" panose="02040503050406030204" charset="0"/>
                          </a:rPr>
                          <m:t>𝒃</m:t>
                        </m:r>
                      </m:e>
                    </m:d>
                    <m:func>
                      <m:funcPr>
                        <m:ctrlPr>
                          <a:rPr kumimoji="1" lang="en-US" altLang="zh-CN" sz="2800" i="1" dirty="0">
                            <a:latin typeface="Cambria Math" panose="02040503050406030204" pitchFamily="18" charset="0"/>
                            <a:ea typeface="黑体" panose="02010609060101010101" pitchFamily="49" charset="-122"/>
                          </a:rPr>
                        </m:ctrlPr>
                      </m:funcPr>
                      <m:fName>
                        <m:r>
                          <m:rPr>
                            <m:sty m:val="p"/>
                          </m:rPr>
                          <a:rPr kumimoji="1" lang="en-US" altLang="zh-CN" sz="2800" dirty="0">
                            <a:latin typeface="Cambria Math" panose="02040503050406030204" pitchFamily="18" charset="0"/>
                            <a:ea typeface="黑体" panose="02010609060101010101" pitchFamily="49" charset="-122"/>
                          </a:rPr>
                          <m:t>cos</m:t>
                        </m:r>
                      </m:fName>
                      <m:e>
                        <m:r>
                          <a:rPr kumimoji="1" lang="zh-CN" altLang="en-US" sz="2800" i="1" dirty="0">
                            <a:latin typeface="Cambria Math" panose="02040503050406030204" pitchFamily="18" charset="0"/>
                            <a:ea typeface="黑体" panose="02010609060101010101" pitchFamily="49" charset="-122"/>
                          </a:rPr>
                          <m:t>𝜃</m:t>
                        </m:r>
                      </m:e>
                    </m:func>
                    <m:r>
                      <a:rPr kumimoji="1" lang="en-US" altLang="zh-CN" sz="2800" b="0" i="1" dirty="0" smtClean="0">
                        <a:latin typeface="Cambria Math" panose="02040503050406030204" pitchFamily="18" charset="0"/>
                        <a:ea typeface="黑体" panose="02010609060101010101" pitchFamily="49" charset="-122"/>
                      </a:rPr>
                      <m:t>,</m:t>
                    </m:r>
                  </m:oMath>
                </a14:m>
                <a:r>
                  <a:rPr lang="zh-CN" altLang="en-US" sz="2800" dirty="0">
                    <a:solidFill>
                      <a:srgbClr val="000000"/>
                    </a:solidFill>
                    <a:latin typeface="Times New Roman" panose="02020603050405020304" pitchFamily="18" charset="0"/>
                    <a:sym typeface="Symbol" panose="05050102010706020507" pitchFamily="18" charset="2"/>
                  </a:rPr>
                  <a:t>故</a:t>
                </a:r>
              </a:p>
            </p:txBody>
          </p:sp>
        </mc:Choice>
        <mc:Fallback xmlns="">
          <p:sp>
            <p:nvSpPr>
              <p:cNvPr id="34" name="Text Box 77">
                <a:extLst>
                  <a:ext uri="{FF2B5EF4-FFF2-40B4-BE49-F238E27FC236}">
                    <a16:creationId xmlns:a16="http://schemas.microsoft.com/office/drawing/2014/main" id="{97472FD7-A83B-4C13-5D63-12E31559E8BE}"/>
                  </a:ext>
                </a:extLst>
              </p:cNvPr>
              <p:cNvSpPr txBox="1">
                <a:spLocks noRot="1" noChangeAspect="1" noMove="1" noResize="1" noEditPoints="1" noAdjustHandles="1" noChangeArrowheads="1" noChangeShapeType="1" noTextEdit="1"/>
              </p:cNvSpPr>
              <p:nvPr/>
            </p:nvSpPr>
            <p:spPr bwMode="auto">
              <a:xfrm>
                <a:off x="2185735" y="4108849"/>
                <a:ext cx="6310993" cy="523220"/>
              </a:xfrm>
              <a:prstGeom prst="rect">
                <a:avLst/>
              </a:prstGeom>
              <a:blipFill>
                <a:blip r:embed="rId10"/>
                <a:stretch>
                  <a:fillRect l="-2029" t="-15116" b="-2790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Rectangle 78">
                <a:extLst>
                  <a:ext uri="{FF2B5EF4-FFF2-40B4-BE49-F238E27FC236}">
                    <a16:creationId xmlns:a16="http://schemas.microsoft.com/office/drawing/2014/main" id="{6CA1CA1F-E9FC-3700-6425-9EB6F6E3EFBE}"/>
                  </a:ext>
                </a:extLst>
              </p:cNvPr>
              <p:cNvSpPr>
                <a:spLocks noChangeArrowheads="1"/>
              </p:cNvSpPr>
              <p:nvPr/>
            </p:nvSpPr>
            <p:spPr bwMode="auto">
              <a:xfrm>
                <a:off x="4008185" y="4708924"/>
                <a:ext cx="3352800" cy="519113"/>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accent2"/>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p>
                <a:pPr fontAlgn="base">
                  <a:spcBef>
                    <a:spcPct val="0"/>
                  </a:spcBef>
                  <a:spcAft>
                    <a:spcPct val="0"/>
                  </a:spcAft>
                </a:pPr>
                <a14:m>
                  <m:oMathPara xmlns:m="http://schemas.openxmlformats.org/officeDocument/2006/math">
                    <m:oMathParaPr>
                      <m:jc m:val="centerGroup"/>
                    </m:oMathParaPr>
                    <m:oMath xmlns:m="http://schemas.openxmlformats.org/officeDocument/2006/math">
                      <m:r>
                        <a:rPr kumimoji="1" lang="en-US" altLang="zh-CN" sz="2800" b="1" i="1" dirty="0" smtClean="0">
                          <a:latin typeface="Cambria Math" panose="02040503050406030204" pitchFamily="18" charset="0"/>
                          <a:ea typeface="Cambria Math" panose="02040503050406030204" pitchFamily="18" charset="0"/>
                        </a:rPr>
                        <m:t>𝒂</m:t>
                      </m:r>
                      <m:r>
                        <a:rPr kumimoji="1" lang="en-US" altLang="zh-CN" sz="2800" b="1" i="1" dirty="0" smtClean="0">
                          <a:latin typeface="Cambria Math" panose="02040503050406030204" pitchFamily="18" charset="0"/>
                          <a:ea typeface="Cambria Math" panose="02040503050406030204" pitchFamily="18" charset="0"/>
                        </a:rPr>
                        <m:t>∙</m:t>
                      </m:r>
                      <m:r>
                        <a:rPr kumimoji="1" lang="en-US" altLang="zh-CN" sz="2800" b="1" i="1" dirty="0">
                          <a:latin typeface="Cambria Math" panose="02040503050406030204" pitchFamily="18" charset="0"/>
                          <a:ea typeface="黑体" panose="02010609060101010101" pitchFamily="49" charset="-122"/>
                        </a:rPr>
                        <m:t>𝒃</m:t>
                      </m:r>
                      <m:r>
                        <a:rPr kumimoji="1" lang="en-US" altLang="zh-CN" sz="2800" i="1" dirty="0">
                          <a:latin typeface="Cambria Math" panose="02040503050406030204" pitchFamily="18" charset="0"/>
                          <a:ea typeface="黑体" panose="02010609060101010101" pitchFamily="49" charset="-122"/>
                        </a:rPr>
                        <m:t>=</m:t>
                      </m:r>
                      <m:d>
                        <m:dPr>
                          <m:begChr m:val="|"/>
                          <m:endChr m:val="|"/>
                          <m:ctrlPr>
                            <a:rPr kumimoji="1" lang="en-US" altLang="zh-CN" sz="2800" b="1" i="1" dirty="0">
                              <a:latin typeface="Cambria Math" panose="02040503050406030204" pitchFamily="18" charset="0"/>
                              <a:ea typeface="黑体" panose="02010609060101010101" pitchFamily="49" charset="-122"/>
                            </a:rPr>
                          </m:ctrlPr>
                        </m:dPr>
                        <m:e>
                          <m:r>
                            <a:rPr kumimoji="1" lang="en-US" altLang="zh-CN" sz="2800" b="1" i="1" dirty="0">
                              <a:latin typeface="Cambria Math" panose="02040503050406030204" pitchFamily="18" charset="0"/>
                              <a:ea typeface="黑体" panose="02010609060101010101" pitchFamily="49" charset="-122"/>
                            </a:rPr>
                            <m:t>𝒂</m:t>
                          </m:r>
                        </m:e>
                      </m:d>
                      <m:r>
                        <a:rPr kumimoji="1" lang="en-US" altLang="zh-CN" sz="2800" b="1" i="1" dirty="0" smtClean="0">
                          <a:latin typeface="Cambria Math" panose="02040503050406030204" pitchFamily="18" charset="0"/>
                          <a:ea typeface="黑体" panose="02010609060101010101" pitchFamily="49" charset="-122"/>
                        </a:rPr>
                        <m:t> </m:t>
                      </m:r>
                      <m:sSub>
                        <m:sSubPr>
                          <m:ctrlPr>
                            <a:rPr kumimoji="1" lang="en-US" altLang="zh-CN" sz="2800" i="1" dirty="0">
                              <a:latin typeface="Cambria Math" panose="02040503050406030204" pitchFamily="18" charset="0"/>
                              <a:ea typeface="黑体" panose="02010609060101010101" pitchFamily="49" charset="-122"/>
                              <a:cs typeface="Cambria Math" panose="02040503050406030204" charset="0"/>
                            </a:rPr>
                          </m:ctrlPr>
                        </m:sSubPr>
                        <m:e>
                          <m:r>
                            <m:rPr>
                              <m:sty m:val="p"/>
                            </m:rPr>
                            <a:rPr kumimoji="1" lang="en-US" altLang="zh-CN" sz="2800" b="0" i="0" dirty="0" smtClean="0">
                              <a:latin typeface="Cambria Math" panose="02040503050406030204" pitchFamily="18" charset="0"/>
                              <a:ea typeface="黑体" panose="02010609060101010101" pitchFamily="49" charset="-122"/>
                              <a:cs typeface="Cambria Math" panose="02040503050406030204" charset="0"/>
                            </a:rPr>
                            <m:t>P</m:t>
                          </m:r>
                          <m:r>
                            <m:rPr>
                              <m:sty m:val="p"/>
                            </m:rPr>
                            <a:rPr kumimoji="1" lang="en-US" altLang="zh-CN" sz="2800" dirty="0">
                              <a:latin typeface="Cambria Math" panose="02040503050406030204" pitchFamily="18" charset="0"/>
                              <a:ea typeface="黑体" panose="02010609060101010101" pitchFamily="49" charset="-122"/>
                              <a:cs typeface="Cambria Math" panose="02040503050406030204" charset="0"/>
                            </a:rPr>
                            <m:t>rj</m:t>
                          </m:r>
                        </m:e>
                        <m:sub>
                          <m:r>
                            <a:rPr kumimoji="1" lang="en-US" altLang="zh-CN" sz="2800" i="1" dirty="0">
                              <a:latin typeface="Cambria Math" panose="02040503050406030204" pitchFamily="18" charset="0"/>
                              <a:ea typeface="黑体" panose="02010609060101010101" pitchFamily="49" charset="-122"/>
                              <a:cs typeface="Cambria Math" panose="02040503050406030204" charset="0"/>
                            </a:rPr>
                            <m:t>𝑎</m:t>
                          </m:r>
                        </m:sub>
                      </m:sSub>
                      <m:r>
                        <a:rPr kumimoji="1" lang="en-US" altLang="zh-CN" sz="2800" b="1" i="1" dirty="0">
                          <a:latin typeface="Cambria Math" panose="02040503050406030204" pitchFamily="18" charset="0"/>
                          <a:ea typeface="黑体" panose="02010609060101010101" pitchFamily="49" charset="-122"/>
                          <a:cs typeface="Cambria Math" panose="02040503050406030204" charset="0"/>
                        </a:rPr>
                        <m:t>𝒃</m:t>
                      </m:r>
                    </m:oMath>
                  </m:oMathPara>
                </a14:m>
                <a:endParaRPr kumimoji="1" lang="en-US" altLang="zh-CN" sz="2800" b="1" dirty="0">
                  <a:latin typeface="Cambria Math" panose="02040503050406030204" pitchFamily="18" charset="0"/>
                  <a:ea typeface="黑体" panose="02010609060101010101" pitchFamily="49" charset="-122"/>
                  <a:cs typeface="黑体" panose="02010609060101010101" pitchFamily="49" charset="-122"/>
                  <a:sym typeface="Symbol" panose="05050102010706020507" pitchFamily="18" charset="2"/>
                </a:endParaRPr>
              </a:p>
            </p:txBody>
          </p:sp>
        </mc:Choice>
        <mc:Fallback xmlns="">
          <p:sp>
            <p:nvSpPr>
              <p:cNvPr id="35" name="Rectangle 78">
                <a:extLst>
                  <a:ext uri="{FF2B5EF4-FFF2-40B4-BE49-F238E27FC236}">
                    <a16:creationId xmlns:a16="http://schemas.microsoft.com/office/drawing/2014/main" id="{6CA1CA1F-E9FC-3700-6425-9EB6F6E3EFBE}"/>
                  </a:ext>
                </a:extLst>
              </p:cNvPr>
              <p:cNvSpPr>
                <a:spLocks noRot="1" noChangeAspect="1" noMove="1" noResize="1" noEditPoints="1" noAdjustHandles="1" noChangeArrowheads="1" noChangeShapeType="1" noTextEdit="1"/>
              </p:cNvSpPr>
              <p:nvPr/>
            </p:nvSpPr>
            <p:spPr bwMode="auto">
              <a:xfrm>
                <a:off x="4008185" y="4708924"/>
                <a:ext cx="3352800" cy="519113"/>
              </a:xfrm>
              <a:prstGeom prst="rect">
                <a:avLst/>
              </a:prstGeom>
              <a:blipFill>
                <a:blip r:embed="rId11"/>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Text Box 79">
                <a:extLst>
                  <a:ext uri="{FF2B5EF4-FFF2-40B4-BE49-F238E27FC236}">
                    <a16:creationId xmlns:a16="http://schemas.microsoft.com/office/drawing/2014/main" id="{3EF74C72-065D-6B6A-832D-7C4603DBF847}"/>
                  </a:ext>
                </a:extLst>
              </p:cNvPr>
              <p:cNvSpPr txBox="1">
                <a:spLocks noChangeArrowheads="1"/>
              </p:cNvSpPr>
              <p:nvPr/>
            </p:nvSpPr>
            <p:spPr bwMode="auto">
              <a:xfrm>
                <a:off x="2185734" y="5389962"/>
                <a:ext cx="6596315"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pPr>
                <a:r>
                  <a:rPr lang="zh-CN" altLang="en-US" sz="2800" dirty="0">
                    <a:solidFill>
                      <a:srgbClr val="000000"/>
                    </a:solidFill>
                    <a:latin typeface="Times New Roman" panose="02020603050405020304" pitchFamily="18" charset="0"/>
                  </a:rPr>
                  <a:t>同理，当</a:t>
                </a:r>
                <a14:m>
                  <m:oMath xmlns:m="http://schemas.openxmlformats.org/officeDocument/2006/math">
                    <m:r>
                      <a:rPr kumimoji="1" lang="en-US" altLang="zh-CN" sz="2800" b="1" i="1" dirty="0" smtClean="0">
                        <a:latin typeface="Cambria Math" panose="02040503050406030204" pitchFamily="18" charset="0"/>
                        <a:ea typeface="黑体" panose="02010609060101010101" pitchFamily="49" charset="-122"/>
                      </a:rPr>
                      <m:t>𝒃</m:t>
                    </m:r>
                    <m:r>
                      <a:rPr kumimoji="1" lang="en-US" altLang="zh-CN" sz="2800" i="1" dirty="0">
                        <a:latin typeface="Cambria Math" panose="02040503050406030204" pitchFamily="18" charset="0"/>
                        <a:ea typeface="Cambria Math" panose="02040503050406030204" pitchFamily="18" charset="0"/>
                      </a:rPr>
                      <m:t>≠</m:t>
                    </m:r>
                    <m:r>
                      <a:rPr kumimoji="1" lang="en-US" altLang="zh-CN" sz="2800" b="1" i="1" dirty="0">
                        <a:latin typeface="Cambria Math" panose="02040503050406030204" pitchFamily="18" charset="0"/>
                        <a:ea typeface="Cambria Math" panose="02040503050406030204" pitchFamily="18" charset="0"/>
                      </a:rPr>
                      <m:t>𝟎</m:t>
                    </m:r>
                  </m:oMath>
                </a14:m>
                <a:r>
                  <a:rPr lang="zh-CN" altLang="en-US" sz="2800" dirty="0">
                    <a:solidFill>
                      <a:srgbClr val="000000"/>
                    </a:solidFill>
                    <a:latin typeface="Times New Roman" panose="02020603050405020304" pitchFamily="18" charset="0"/>
                    <a:sym typeface="Symbol" panose="05050102010706020507" pitchFamily="18" charset="2"/>
                  </a:rPr>
                  <a:t>时，有 </a:t>
                </a:r>
                <a14:m>
                  <m:oMath xmlns:m="http://schemas.openxmlformats.org/officeDocument/2006/math">
                    <m:r>
                      <a:rPr kumimoji="1" lang="en-US" altLang="zh-CN" sz="2800" b="1" i="1" dirty="0">
                        <a:latin typeface="Cambria Math" panose="02040503050406030204" pitchFamily="18" charset="0"/>
                        <a:ea typeface="Cambria Math" panose="02040503050406030204" pitchFamily="18" charset="0"/>
                      </a:rPr>
                      <m:t>𝒂</m:t>
                    </m:r>
                    <m:r>
                      <a:rPr kumimoji="1" lang="en-US" altLang="zh-CN" sz="2800" b="1" i="1" dirty="0">
                        <a:latin typeface="Cambria Math" panose="02040503050406030204" pitchFamily="18" charset="0"/>
                        <a:ea typeface="Cambria Math" panose="02040503050406030204" pitchFamily="18" charset="0"/>
                      </a:rPr>
                      <m:t>∙</m:t>
                    </m:r>
                    <m:r>
                      <a:rPr kumimoji="1" lang="en-US" altLang="zh-CN" sz="2800" b="1" i="1" dirty="0">
                        <a:latin typeface="Cambria Math" panose="02040503050406030204" pitchFamily="18" charset="0"/>
                        <a:ea typeface="黑体" panose="02010609060101010101" pitchFamily="49" charset="-122"/>
                      </a:rPr>
                      <m:t>𝒃</m:t>
                    </m:r>
                    <m:r>
                      <a:rPr kumimoji="1" lang="en-US" altLang="zh-CN" sz="2800" i="1" dirty="0">
                        <a:latin typeface="Cambria Math" panose="02040503050406030204" pitchFamily="18" charset="0"/>
                        <a:ea typeface="黑体" panose="02010609060101010101" pitchFamily="49" charset="-122"/>
                      </a:rPr>
                      <m:t>=</m:t>
                    </m:r>
                    <m:d>
                      <m:dPr>
                        <m:begChr m:val="|"/>
                        <m:endChr m:val="|"/>
                        <m:ctrlPr>
                          <a:rPr kumimoji="1" lang="en-US" altLang="zh-CN" sz="2800" b="1" i="1" dirty="0">
                            <a:latin typeface="Cambria Math" panose="02040503050406030204" pitchFamily="18" charset="0"/>
                            <a:ea typeface="黑体" panose="02010609060101010101" pitchFamily="49" charset="-122"/>
                          </a:rPr>
                        </m:ctrlPr>
                      </m:dPr>
                      <m:e>
                        <m:r>
                          <a:rPr kumimoji="1" lang="en-US" altLang="zh-CN" sz="2800" b="1" i="1" dirty="0">
                            <a:latin typeface="Cambria Math" panose="02040503050406030204" pitchFamily="18" charset="0"/>
                            <a:ea typeface="黑体" panose="02010609060101010101" pitchFamily="49" charset="-122"/>
                          </a:rPr>
                          <m:t>𝒃</m:t>
                        </m:r>
                      </m:e>
                    </m:d>
                    <m:r>
                      <a:rPr kumimoji="1" lang="en-US" altLang="zh-CN" sz="2800" b="1" i="1" dirty="0" smtClean="0">
                        <a:latin typeface="Cambria Math" panose="02040503050406030204" pitchFamily="18" charset="0"/>
                        <a:ea typeface="黑体" panose="02010609060101010101" pitchFamily="49" charset="-122"/>
                      </a:rPr>
                      <m:t> </m:t>
                    </m:r>
                    <m:sSub>
                      <m:sSubPr>
                        <m:ctrlPr>
                          <a:rPr kumimoji="1" lang="en-US" altLang="zh-CN" sz="2800" i="1" dirty="0">
                            <a:latin typeface="Cambria Math" panose="02040503050406030204" pitchFamily="18" charset="0"/>
                            <a:ea typeface="黑体" panose="02010609060101010101" pitchFamily="49" charset="-122"/>
                            <a:cs typeface="Cambria Math" panose="02040503050406030204" charset="0"/>
                          </a:rPr>
                        </m:ctrlPr>
                      </m:sSubPr>
                      <m:e>
                        <m:r>
                          <m:rPr>
                            <m:sty m:val="p"/>
                          </m:rPr>
                          <a:rPr kumimoji="1" lang="en-US" altLang="zh-CN" sz="2800" dirty="0">
                            <a:latin typeface="Cambria Math" panose="02040503050406030204" pitchFamily="18" charset="0"/>
                            <a:ea typeface="黑体" panose="02010609060101010101" pitchFamily="49" charset="-122"/>
                            <a:cs typeface="Cambria Math" panose="02040503050406030204" charset="0"/>
                          </a:rPr>
                          <m:t>Prj</m:t>
                        </m:r>
                      </m:e>
                      <m:sub>
                        <m:r>
                          <a:rPr kumimoji="1" lang="en-US" altLang="zh-CN" sz="2800" b="0" i="1" dirty="0" smtClean="0">
                            <a:latin typeface="Cambria Math" panose="02040503050406030204" pitchFamily="18" charset="0"/>
                            <a:ea typeface="黑体" panose="02010609060101010101" pitchFamily="49" charset="-122"/>
                            <a:cs typeface="Cambria Math" panose="02040503050406030204" charset="0"/>
                          </a:rPr>
                          <m:t>𝑏</m:t>
                        </m:r>
                      </m:sub>
                    </m:sSub>
                    <m:r>
                      <a:rPr kumimoji="1" lang="en-US" altLang="zh-CN" sz="2800" b="1" i="1" dirty="0" smtClean="0">
                        <a:latin typeface="Cambria Math" panose="02040503050406030204" pitchFamily="18" charset="0"/>
                        <a:ea typeface="黑体" panose="02010609060101010101" pitchFamily="49" charset="-122"/>
                        <a:cs typeface="Cambria Math" panose="02040503050406030204" charset="0"/>
                      </a:rPr>
                      <m:t>𝒂</m:t>
                    </m:r>
                    <m:r>
                      <a:rPr kumimoji="1" lang="en-US" altLang="zh-CN" sz="2800" b="0" i="1" dirty="0" smtClean="0">
                        <a:latin typeface="Cambria Math" panose="02040503050406030204" pitchFamily="18" charset="0"/>
                        <a:ea typeface="黑体" panose="02010609060101010101" pitchFamily="49" charset="-122"/>
                        <a:cs typeface="Cambria Math" panose="02040503050406030204" charset="0"/>
                      </a:rPr>
                      <m:t>.</m:t>
                    </m:r>
                  </m:oMath>
                </a14:m>
                <a:endParaRPr kumimoji="1" lang="zh-CN" altLang="en-US" sz="2800" dirty="0">
                  <a:latin typeface="Cambria Math" panose="02040503050406030204" pitchFamily="18" charset="0"/>
                  <a:ea typeface="黑体" panose="02010609060101010101" pitchFamily="49" charset="-122"/>
                  <a:cs typeface="黑体" panose="02010609060101010101" pitchFamily="49" charset="-122"/>
                  <a:sym typeface="Symbol" panose="05050102010706020507" pitchFamily="18" charset="2"/>
                </a:endParaRPr>
              </a:p>
            </p:txBody>
          </p:sp>
        </mc:Choice>
        <mc:Fallback xmlns="">
          <p:sp>
            <p:nvSpPr>
              <p:cNvPr id="36" name="Text Box 79">
                <a:extLst>
                  <a:ext uri="{FF2B5EF4-FFF2-40B4-BE49-F238E27FC236}">
                    <a16:creationId xmlns:a16="http://schemas.microsoft.com/office/drawing/2014/main" id="{3EF74C72-065D-6B6A-832D-7C4603DBF847}"/>
                  </a:ext>
                </a:extLst>
              </p:cNvPr>
              <p:cNvSpPr txBox="1">
                <a:spLocks noRot="1" noChangeAspect="1" noMove="1" noResize="1" noEditPoints="1" noAdjustHandles="1" noChangeArrowheads="1" noChangeShapeType="1" noTextEdit="1"/>
              </p:cNvSpPr>
              <p:nvPr/>
            </p:nvSpPr>
            <p:spPr bwMode="auto">
              <a:xfrm>
                <a:off x="2185734" y="5389962"/>
                <a:ext cx="6596315" cy="523220"/>
              </a:xfrm>
              <a:prstGeom prst="rect">
                <a:avLst/>
              </a:prstGeom>
              <a:blipFill>
                <a:blip r:embed="rId12"/>
                <a:stretch>
                  <a:fillRect l="-1941" t="-15116" b="-2790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pic>
        <p:nvPicPr>
          <p:cNvPr id="3" name="图片 2" descr="图表&#10;&#10;低可信度描述已自动生成">
            <a:extLst>
              <a:ext uri="{FF2B5EF4-FFF2-40B4-BE49-F238E27FC236}">
                <a16:creationId xmlns:a16="http://schemas.microsoft.com/office/drawing/2014/main" id="{8157989D-EC19-882D-4B8B-42699AAEC080}"/>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8342176" y="3005347"/>
            <a:ext cx="3147486" cy="1626721"/>
          </a:xfrm>
          <a:prstGeom prst="rect">
            <a:avLst/>
          </a:prstGeom>
        </p:spPr>
      </p:pic>
    </p:spTree>
    <p:extLst>
      <p:ext uri="{BB962C8B-B14F-4D97-AF65-F5344CB8AC3E}">
        <p14:creationId xmlns:p14="http://schemas.microsoft.com/office/powerpoint/2010/main" val="2698498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left)">
                                      <p:cBhvr>
                                        <p:cTn id="12" dur="500"/>
                                        <p:tgtEl>
                                          <p:spTgt spid="20"/>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wipe(left)">
                                      <p:cBhvr>
                                        <p:cTn id="15" dur="500"/>
                                        <p:tgtEl>
                                          <p:spTgt spid="19"/>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wipe(left)">
                                      <p:cBhvr>
                                        <p:cTn id="18" dur="500"/>
                                        <p:tgtEl>
                                          <p:spTgt spid="18"/>
                                        </p:tgtEl>
                                      </p:cBhvr>
                                    </p:animEffect>
                                  </p:childTnLst>
                                </p:cTn>
                              </p:par>
                            </p:childTnLst>
                          </p:cTn>
                        </p:par>
                        <p:par>
                          <p:cTn id="19" fill="hold">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ipe(left)">
                                      <p:cBhvr>
                                        <p:cTn id="22" dur="500"/>
                                        <p:tgtEl>
                                          <p:spTgt spid="22"/>
                                        </p:tgtEl>
                                      </p:cBhvr>
                                    </p:animEffect>
                                  </p:childTnLst>
                                </p:cTn>
                              </p:par>
                            </p:childTnLst>
                          </p:cTn>
                        </p:par>
                        <p:par>
                          <p:cTn id="23" fill="hold">
                            <p:stCondLst>
                              <p:cond delay="1000"/>
                            </p:stCondLst>
                            <p:childTnLst>
                              <p:par>
                                <p:cTn id="24" presetID="22" presetClass="entr" presetSubtype="8" fill="hold" grpId="0" nodeType="after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wipe(left)">
                                      <p:cBhvr>
                                        <p:cTn id="26" dur="500"/>
                                        <p:tgtEl>
                                          <p:spTgt spid="2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wipe(left)">
                                      <p:cBhvr>
                                        <p:cTn id="31" dur="500"/>
                                        <p:tgtEl>
                                          <p:spTgt spid="2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wipe(left)">
                                      <p:cBhvr>
                                        <p:cTn id="36" dur="500"/>
                                        <p:tgtEl>
                                          <p:spTgt spid="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32"/>
                                        </p:tgtEl>
                                        <p:attrNameLst>
                                          <p:attrName>style.visibility</p:attrName>
                                        </p:attrNameLst>
                                      </p:cBhvr>
                                      <p:to>
                                        <p:strVal val="visible"/>
                                      </p:to>
                                    </p:set>
                                    <p:animEffect transition="in" filter="wipe(left)">
                                      <p:cBhvr>
                                        <p:cTn id="41" dur="500"/>
                                        <p:tgtEl>
                                          <p:spTgt spid="32"/>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33"/>
                                        </p:tgtEl>
                                        <p:attrNameLst>
                                          <p:attrName>style.visibility</p:attrName>
                                        </p:attrNameLst>
                                      </p:cBhvr>
                                      <p:to>
                                        <p:strVal val="visible"/>
                                      </p:to>
                                    </p:set>
                                    <p:animEffect transition="in" filter="wipe(left)">
                                      <p:cBhvr>
                                        <p:cTn id="46" dur="500"/>
                                        <p:tgtEl>
                                          <p:spTgt spid="33"/>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34"/>
                                        </p:tgtEl>
                                        <p:attrNameLst>
                                          <p:attrName>style.visibility</p:attrName>
                                        </p:attrNameLst>
                                      </p:cBhvr>
                                      <p:to>
                                        <p:strVal val="visible"/>
                                      </p:to>
                                    </p:set>
                                    <p:animEffect transition="in" filter="wipe(left)">
                                      <p:cBhvr>
                                        <p:cTn id="51" dur="500"/>
                                        <p:tgtEl>
                                          <p:spTgt spid="34"/>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35"/>
                                        </p:tgtEl>
                                        <p:attrNameLst>
                                          <p:attrName>style.visibility</p:attrName>
                                        </p:attrNameLst>
                                      </p:cBhvr>
                                      <p:to>
                                        <p:strVal val="visible"/>
                                      </p:to>
                                    </p:set>
                                    <p:animEffect transition="in" filter="wipe(left)">
                                      <p:cBhvr>
                                        <p:cTn id="56" dur="500"/>
                                        <p:tgtEl>
                                          <p:spTgt spid="35"/>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36"/>
                                        </p:tgtEl>
                                        <p:attrNameLst>
                                          <p:attrName>style.visibility</p:attrName>
                                        </p:attrNameLst>
                                      </p:cBhvr>
                                      <p:to>
                                        <p:strVal val="visible"/>
                                      </p:to>
                                    </p:set>
                                    <p:animEffect transition="in" filter="wipe(left)">
                                      <p:cBhvr>
                                        <p:cTn id="61"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P spid="19" grpId="0" bldLvl="0" animBg="1"/>
      <p:bldP spid="19" grpId="1" animBg="1"/>
      <p:bldP spid="20" grpId="0"/>
      <p:bldP spid="21" grpId="0"/>
      <p:bldP spid="22" grpId="0"/>
      <p:bldP spid="23" grpId="0"/>
      <p:bldP spid="24" grpId="0" animBg="1"/>
      <p:bldP spid="32" grpId="0"/>
      <p:bldP spid="33" grpId="0"/>
      <p:bldP spid="34" grpId="0"/>
      <p:bldP spid="35" grpId="0"/>
      <p:bldP spid="3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E6F219C9-1AC4-6FE9-9333-C6F6B12168ED}"/>
              </a:ext>
            </a:extLst>
          </p:cNvPr>
          <p:cNvGrpSpPr/>
          <p:nvPr/>
        </p:nvGrpSpPr>
        <p:grpSpPr>
          <a:xfrm>
            <a:off x="532130" y="575945"/>
            <a:ext cx="11149330" cy="5612130"/>
            <a:chOff x="838" y="907"/>
            <a:chExt cx="17558" cy="8838"/>
          </a:xfrm>
        </p:grpSpPr>
        <p:sp>
          <p:nvSpPr>
            <p:cNvPr id="10" name="PA-102232">
              <a:extLst>
                <a:ext uri="{FF2B5EF4-FFF2-40B4-BE49-F238E27FC236}">
                  <a16:creationId xmlns:a16="http://schemas.microsoft.com/office/drawing/2014/main" id="{3B5BA059-C81E-BCB9-FD14-614BEF199A02}"/>
                </a:ext>
              </a:extLst>
            </p:cNvPr>
            <p:cNvSpPr/>
            <p:nvPr>
              <p:custDataLst>
                <p:tags r:id="rId1"/>
              </p:custDataLst>
            </p:nvPr>
          </p:nvSpPr>
          <p:spPr>
            <a:xfrm>
              <a:off x="872" y="907"/>
              <a:ext cx="17524" cy="8826"/>
            </a:xfrm>
            <a:prstGeom prst="rect">
              <a:avLst/>
            </a:prstGeom>
            <a:solidFill>
              <a:schemeClr val="bg1"/>
            </a:solidFill>
            <a:ln>
              <a:noFill/>
            </a:ln>
            <a:effectLst>
              <a:outerShdw blurRad="393700" dist="889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6BB6"/>
                </a:solidFill>
                <a:cs typeface="+mn-ea"/>
                <a:sym typeface="+mn-lt"/>
              </a:endParaRPr>
            </a:p>
          </p:txBody>
        </p:sp>
        <p:grpSp>
          <p:nvGrpSpPr>
            <p:cNvPr id="11" name="组合 10">
              <a:extLst>
                <a:ext uri="{FF2B5EF4-FFF2-40B4-BE49-F238E27FC236}">
                  <a16:creationId xmlns:a16="http://schemas.microsoft.com/office/drawing/2014/main" id="{385D852D-6832-1B93-09B0-5E075A16760B}"/>
                </a:ext>
              </a:extLst>
            </p:cNvPr>
            <p:cNvGrpSpPr/>
            <p:nvPr/>
          </p:nvGrpSpPr>
          <p:grpSpPr>
            <a:xfrm>
              <a:off x="838" y="9635"/>
              <a:ext cx="17558" cy="110"/>
              <a:chOff x="838" y="9635"/>
              <a:chExt cx="17558" cy="110"/>
            </a:xfrm>
          </p:grpSpPr>
          <p:sp>
            <p:nvSpPr>
              <p:cNvPr id="12" name="Rectangle 1">
                <a:extLst>
                  <a:ext uri="{FF2B5EF4-FFF2-40B4-BE49-F238E27FC236}">
                    <a16:creationId xmlns:a16="http://schemas.microsoft.com/office/drawing/2014/main" id="{E4CD996A-52F9-6BD1-C1EF-B013490D1712}"/>
                  </a:ext>
                </a:extLst>
              </p:cNvPr>
              <p:cNvSpPr/>
              <p:nvPr/>
            </p:nvSpPr>
            <p:spPr>
              <a:xfrm>
                <a:off x="5321" y="9650"/>
                <a:ext cx="4286" cy="83"/>
              </a:xfrm>
              <a:prstGeom prst="rect">
                <a:avLst/>
              </a:prstGeom>
              <a:solidFill>
                <a:schemeClr val="bg1"/>
              </a:solidFill>
              <a:ln w="3175" cap="flat" cmpd="sng" algn="ctr">
                <a:solidFill>
                  <a:srgbClr val="0492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3" name="Rectangle 1">
                <a:extLst>
                  <a:ext uri="{FF2B5EF4-FFF2-40B4-BE49-F238E27FC236}">
                    <a16:creationId xmlns:a16="http://schemas.microsoft.com/office/drawing/2014/main" id="{95F2E12F-2409-D4EF-413B-F7FB004E4E1C}"/>
                  </a:ext>
                </a:extLst>
              </p:cNvPr>
              <p:cNvSpPr/>
              <p:nvPr/>
            </p:nvSpPr>
            <p:spPr>
              <a:xfrm>
                <a:off x="838" y="9650"/>
                <a:ext cx="4483" cy="83"/>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4" name="Rectangle 1">
                <a:extLst>
                  <a:ext uri="{FF2B5EF4-FFF2-40B4-BE49-F238E27FC236}">
                    <a16:creationId xmlns:a16="http://schemas.microsoft.com/office/drawing/2014/main" id="{122804EB-CB3B-E2AD-6943-6083D80E02BC}"/>
                  </a:ext>
                </a:extLst>
              </p:cNvPr>
              <p:cNvSpPr/>
              <p:nvPr/>
            </p:nvSpPr>
            <p:spPr>
              <a:xfrm>
                <a:off x="9602" y="9635"/>
                <a:ext cx="8794" cy="111"/>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p:sp>
        <p:nvSpPr>
          <p:cNvPr id="9247" name="Text Box 31"/>
          <p:cNvSpPr txBox="1">
            <a:spLocks noChangeArrowheads="1"/>
          </p:cNvSpPr>
          <p:nvPr/>
        </p:nvSpPr>
        <p:spPr bwMode="auto">
          <a:xfrm>
            <a:off x="2192214" y="3491840"/>
            <a:ext cx="61722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spcBef>
                <a:spcPct val="50000"/>
              </a:spcBef>
            </a:pPr>
            <a:r>
              <a:rPr lang="zh-CN" altLang="en-US" sz="2800" dirty="0"/>
              <a:t>数量积也称为“</a:t>
            </a:r>
            <a:r>
              <a:rPr lang="zh-CN" altLang="en-US" sz="2800" b="1" dirty="0">
                <a:solidFill>
                  <a:srgbClr val="04926A"/>
                </a:solidFill>
                <a:ea typeface="黑体" panose="02010609060101010101" pitchFamily="49" charset="-122"/>
              </a:rPr>
              <a:t>点积</a:t>
            </a:r>
            <a:r>
              <a:rPr lang="zh-CN" altLang="en-US" sz="2800" dirty="0"/>
              <a:t>”“</a:t>
            </a:r>
            <a:r>
              <a:rPr lang="zh-CN" altLang="en-US" sz="2800" b="1" dirty="0">
                <a:solidFill>
                  <a:srgbClr val="04926A"/>
                </a:solidFill>
                <a:ea typeface="黑体" panose="02010609060101010101" pitchFamily="49" charset="-122"/>
              </a:rPr>
              <a:t>内积</a:t>
            </a:r>
            <a:r>
              <a:rPr lang="zh-CN" altLang="en-US" sz="2800" dirty="0"/>
              <a:t>”</a:t>
            </a:r>
            <a:r>
              <a:rPr lang="en-US" altLang="zh-CN" sz="2800" dirty="0"/>
              <a:t>.</a:t>
            </a:r>
          </a:p>
        </p:txBody>
      </p:sp>
      <p:sp>
        <p:nvSpPr>
          <p:cNvPr id="9248" name="Text Box 32"/>
          <p:cNvSpPr txBox="1">
            <a:spLocks noChangeArrowheads="1"/>
          </p:cNvSpPr>
          <p:nvPr/>
        </p:nvSpPr>
        <p:spPr bwMode="auto">
          <a:xfrm>
            <a:off x="2192214" y="2324173"/>
            <a:ext cx="8033238" cy="9541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1" hangingPunct="1">
              <a:spcBef>
                <a:spcPct val="50000"/>
              </a:spcBef>
            </a:pPr>
            <a:r>
              <a:rPr kumimoji="1" lang="zh-CN" altLang="en-US" sz="2800" b="1" dirty="0">
                <a:solidFill>
                  <a:srgbClr val="04926A"/>
                </a:solidFill>
                <a:latin typeface="微软雅黑" panose="020B0503020204020204" pitchFamily="34" charset="-122"/>
                <a:ea typeface="微软雅黑" panose="020B0503020204020204" pitchFamily="34" charset="-122"/>
              </a:rPr>
              <a:t>结论</a:t>
            </a:r>
            <a:r>
              <a:rPr lang="zh-CN" altLang="en-US" sz="2800" dirty="0"/>
              <a:t> </a:t>
            </a:r>
            <a:r>
              <a:rPr lang="zh-CN" altLang="en-US" sz="2800" b="1" dirty="0">
                <a:solidFill>
                  <a:schemeClr val="accent2"/>
                </a:solidFill>
                <a:latin typeface="黑体" panose="02010609060101010101" pitchFamily="49" charset="-122"/>
                <a:ea typeface="黑体" panose="02010609060101010101" pitchFamily="49" charset="-122"/>
              </a:rPr>
              <a:t> </a:t>
            </a:r>
            <a:r>
              <a:rPr lang="zh-CN" altLang="en-US" sz="2800" dirty="0">
                <a:latin typeface="黑体" panose="02010609060101010101" pitchFamily="49" charset="-122"/>
                <a:ea typeface="黑体" panose="02010609060101010101" pitchFamily="49" charset="-122"/>
              </a:rPr>
              <a:t>两向量的数量积等于其中一个向量的模和另一个向量在这向量的方向上的投影的乘积</a:t>
            </a:r>
            <a:r>
              <a:rPr lang="en-US" altLang="zh-CN" sz="2800" dirty="0">
                <a:latin typeface="黑体" panose="02010609060101010101" pitchFamily="49" charset="-122"/>
                <a:ea typeface="黑体" panose="02010609060101010101" pitchFamily="49" charset="-122"/>
              </a:rPr>
              <a:t>.</a:t>
            </a:r>
          </a:p>
        </p:txBody>
      </p:sp>
    </p:spTree>
    <p:extLst>
      <p:ext uri="{BB962C8B-B14F-4D97-AF65-F5344CB8AC3E}">
        <p14:creationId xmlns:p14="http://schemas.microsoft.com/office/powerpoint/2010/main" val="3786982242"/>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48"/>
                                        </p:tgtEl>
                                        <p:attrNameLst>
                                          <p:attrName>style.visibility</p:attrName>
                                        </p:attrNameLst>
                                      </p:cBhvr>
                                      <p:to>
                                        <p:strVal val="visible"/>
                                      </p:to>
                                    </p:set>
                                    <p:animEffect transition="in" filter="wipe(left)">
                                      <p:cBhvr>
                                        <p:cTn id="7" dur="500"/>
                                        <p:tgtEl>
                                          <p:spTgt spid="92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247"/>
                                        </p:tgtEl>
                                        <p:attrNameLst>
                                          <p:attrName>style.visibility</p:attrName>
                                        </p:attrNameLst>
                                      </p:cBhvr>
                                      <p:to>
                                        <p:strVal val="visible"/>
                                      </p:to>
                                    </p:set>
                                    <p:animEffect transition="in" filter="wipe(left)">
                                      <p:cBhvr>
                                        <p:cTn id="12" dur="500"/>
                                        <p:tgtEl>
                                          <p:spTgt spid="92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47" grpId="0" autoUpdateAnimBg="0"/>
      <p:bldP spid="9248"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48">
            <a:extLst>
              <a:ext uri="{FF2B5EF4-FFF2-40B4-BE49-F238E27FC236}">
                <a16:creationId xmlns:a16="http://schemas.microsoft.com/office/drawing/2014/main" id="{FC057569-EEBB-0893-F83B-D25DDE908371}"/>
              </a:ext>
            </a:extLst>
          </p:cNvPr>
          <p:cNvGrpSpPr/>
          <p:nvPr/>
        </p:nvGrpSpPr>
        <p:grpSpPr>
          <a:xfrm>
            <a:off x="687324" y="535820"/>
            <a:ext cx="10817987" cy="5803091"/>
            <a:chOff x="687324" y="535820"/>
            <a:chExt cx="10817987" cy="5803091"/>
          </a:xfrm>
        </p:grpSpPr>
        <mc:AlternateContent xmlns:mc="http://schemas.openxmlformats.org/markup-compatibility/2006" xmlns:a14="http://schemas.microsoft.com/office/drawing/2010/main">
          <mc:Choice Requires="a14">
            <p:sp>
              <p:nvSpPr>
                <p:cNvPr id="50" name="矩形 49">
                  <a:extLst>
                    <a:ext uri="{FF2B5EF4-FFF2-40B4-BE49-F238E27FC236}">
                      <a16:creationId xmlns:a16="http://schemas.microsoft.com/office/drawing/2014/main" id="{6FDDE68F-7061-476F-428A-F107791C03B4}"/>
                    </a:ext>
                  </a:extLst>
                </p:cNvPr>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xmlns="">
            <p:sp>
              <p:nvSpPr>
                <p:cNvPr id="50" name="矩形 49">
                  <a:extLst>
                    <a:ext uri="{FF2B5EF4-FFF2-40B4-BE49-F238E27FC236}">
                      <a16:creationId xmlns:a16="http://schemas.microsoft.com/office/drawing/2014/main" id="{6FDDE68F-7061-476F-428A-F107791C03B4}"/>
                    </a:ext>
                  </a:extLst>
                </p:cNvPr>
                <p:cNvSpPr>
                  <a:spLocks noRot="1" noChangeAspect="1" noMove="1" noResize="1" noEditPoints="1" noAdjustHandles="1" noChangeArrowheads="1" noChangeShapeType="1" noTextEdit="1"/>
                </p:cNvSpPr>
                <p:nvPr/>
              </p:nvSpPr>
              <p:spPr>
                <a:xfrm>
                  <a:off x="687959" y="536260"/>
                  <a:ext cx="10817352" cy="5799897"/>
                </a:xfrm>
                <a:prstGeom prst="rect">
                  <a:avLst/>
                </a:prstGeom>
                <a:blipFill>
                  <a:blip r:embed="rId2"/>
                  <a:stretch>
                    <a:fillRect/>
                  </a:stretch>
                </a:blipFill>
                <a:ln>
                  <a:noFill/>
                </a:ln>
                <a:effectLst>
                  <a:outerShdw blurRad="63500" sx="102000" sy="102000" algn="ctr" rotWithShape="0">
                    <a:prstClr val="black">
                      <a:alpha val="9000"/>
                    </a:prstClr>
                  </a:outerShdw>
                </a:effectLst>
              </p:spPr>
              <p:txBody>
                <a:bodyPr/>
                <a:lstStyle/>
                <a:p>
                  <a:r>
                    <a:rPr lang="zh-CN" altLang="en-US">
                      <a:noFill/>
                    </a:rPr>
                    <a:t> </a:t>
                  </a:r>
                </a:p>
              </p:txBody>
            </p:sp>
          </mc:Fallback>
        </mc:AlternateContent>
        <p:sp>
          <p:nvSpPr>
            <p:cNvPr id="51" name="半闭框 50">
              <a:extLst>
                <a:ext uri="{FF2B5EF4-FFF2-40B4-BE49-F238E27FC236}">
                  <a16:creationId xmlns:a16="http://schemas.microsoft.com/office/drawing/2014/main" id="{69DE1BD7-DE02-64DE-CDF0-0D67BD1D5172}"/>
                </a:ext>
              </a:extLst>
            </p:cNvPr>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2" name="半闭框 51">
              <a:extLst>
                <a:ext uri="{FF2B5EF4-FFF2-40B4-BE49-F238E27FC236}">
                  <a16:creationId xmlns:a16="http://schemas.microsoft.com/office/drawing/2014/main" id="{55BF5C22-3F28-E0B9-47F3-7482DA47EFEC}"/>
                </a:ext>
              </a:extLst>
            </p:cNvPr>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3" name="半闭框 52">
              <a:extLst>
                <a:ext uri="{FF2B5EF4-FFF2-40B4-BE49-F238E27FC236}">
                  <a16:creationId xmlns:a16="http://schemas.microsoft.com/office/drawing/2014/main" id="{AA221CDE-9AC0-64AE-94AE-0D529FE0E4F0}"/>
                </a:ext>
              </a:extLst>
            </p:cNvPr>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54" name="半闭框 53">
              <a:extLst>
                <a:ext uri="{FF2B5EF4-FFF2-40B4-BE49-F238E27FC236}">
                  <a16:creationId xmlns:a16="http://schemas.microsoft.com/office/drawing/2014/main" id="{B10DC202-B02E-896E-609C-68E800409C9D}"/>
                </a:ext>
              </a:extLst>
            </p:cNvPr>
            <p:cNvSpPr/>
            <p:nvPr/>
          </p:nvSpPr>
          <p:spPr>
            <a:xfrm flipH="1" flipV="1">
              <a:off x="10823530"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mc:AlternateContent xmlns:mc="http://schemas.openxmlformats.org/markup-compatibility/2006" xmlns:a14="http://schemas.microsoft.com/office/drawing/2010/main">
        <mc:Choice Requires="a14">
          <p:sp>
            <p:nvSpPr>
              <p:cNvPr id="2" name="Object 3"/>
              <p:cNvSpPr txBox="1"/>
              <p:nvPr/>
            </p:nvSpPr>
            <p:spPr bwMode="auto">
              <a:xfrm>
                <a:off x="3251389" y="2621571"/>
                <a:ext cx="2227174" cy="564809"/>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r>
                        <a:rPr kumimoji="1" lang="zh-CN" altLang="en-US" sz="2800" smtClean="0">
                          <a:latin typeface="Cambria Math" panose="02040503050406030204" pitchFamily="18" charset="0"/>
                          <a:ea typeface="黑体" panose="02010609060101010101" pitchFamily="49" charset="-122"/>
                          <a:cs typeface="黑体" panose="02010609060101010101" pitchFamily="49" charset="-122"/>
                        </a:rPr>
                        <m:t>(2)  </m:t>
                      </m:r>
                      <m:r>
                        <a:rPr kumimoji="1" lang="en-US" altLang="zh-CN" sz="2800" b="1" i="1" smtClean="0">
                          <a:latin typeface="Cambria Math" panose="02040503050406030204" pitchFamily="18" charset="0"/>
                          <a:ea typeface="黑体" panose="02010609060101010101" pitchFamily="49" charset="-122"/>
                          <a:cs typeface="黑体" panose="02010609060101010101" pitchFamily="49" charset="-122"/>
                        </a:rPr>
                        <m:t>𝒂</m:t>
                      </m:r>
                      <m:r>
                        <a:rPr kumimoji="1" lang="zh-CN" altLang="en-US" sz="2800" b="1">
                          <a:latin typeface="Cambria Math" panose="02040503050406030204" pitchFamily="18" charset="0"/>
                          <a:ea typeface="黑体" panose="02010609060101010101" pitchFamily="49" charset="-122"/>
                          <a:cs typeface="黑体" panose="02010609060101010101" pitchFamily="49" charset="-122"/>
                        </a:rPr>
                        <m:t>⋅</m:t>
                      </m:r>
                      <m:r>
                        <a:rPr kumimoji="1" lang="en-US" altLang="zh-CN" sz="2800" b="1" i="1" smtClean="0">
                          <a:latin typeface="Cambria Math" panose="02040503050406030204" pitchFamily="18" charset="0"/>
                          <a:ea typeface="黑体" panose="02010609060101010101" pitchFamily="49" charset="-122"/>
                          <a:cs typeface="黑体" panose="02010609060101010101" pitchFamily="49" charset="-122"/>
                        </a:rPr>
                        <m:t>𝒃</m:t>
                      </m:r>
                      <m:r>
                        <a:rPr kumimoji="1" lang="zh-CN" altLang="en-US" sz="2800">
                          <a:latin typeface="Cambria Math" panose="02040503050406030204" pitchFamily="18" charset="0"/>
                          <a:ea typeface="黑体" panose="02010609060101010101" pitchFamily="49" charset="-122"/>
                          <a:cs typeface="黑体" panose="02010609060101010101" pitchFamily="49" charset="-122"/>
                        </a:rPr>
                        <m:t>=0</m:t>
                      </m:r>
                    </m:oMath>
                  </m:oMathPara>
                </a14:m>
                <a:endParaRPr kumimoji="1" lang="zh-CN" altLang="en-US" sz="2800" dirty="0">
                  <a:latin typeface="Cambria Math" panose="02040503050406030204" pitchFamily="18" charset="0"/>
                  <a:ea typeface="黑体" panose="02010609060101010101" pitchFamily="49" charset="-122"/>
                  <a:cs typeface="黑体" panose="02010609060101010101" pitchFamily="49" charset="-122"/>
                </a:endParaRPr>
              </a:p>
            </p:txBody>
          </p:sp>
        </mc:Choice>
        <mc:Fallback xmlns="">
          <p:sp>
            <p:nvSpPr>
              <p:cNvPr id="2" name="Object 3"/>
              <p:cNvSpPr txBox="1">
                <a:spLocks noRot="1" noChangeAspect="1" noMove="1" noResize="1" noEditPoints="1" noAdjustHandles="1" noChangeArrowheads="1" noChangeShapeType="1" noTextEdit="1"/>
              </p:cNvSpPr>
              <p:nvPr/>
            </p:nvSpPr>
            <p:spPr bwMode="auto">
              <a:xfrm>
                <a:off x="3251389" y="2621571"/>
                <a:ext cx="2227174" cy="564809"/>
              </a:xfrm>
              <a:prstGeom prst="rect">
                <a:avLst/>
              </a:prstGeom>
              <a:blipFill>
                <a:blip r:embed="rId3"/>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Object 5"/>
              <p:cNvSpPr txBox="1"/>
              <p:nvPr/>
            </p:nvSpPr>
            <p:spPr bwMode="auto">
              <a:xfrm>
                <a:off x="5713378" y="2593205"/>
                <a:ext cx="1215592" cy="5334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en-US" altLang="zh-CN" sz="2800" b="1" i="1" smtClean="0">
                          <a:latin typeface="Cambria Math" panose="02040503050406030204" pitchFamily="18" charset="0"/>
                          <a:ea typeface="黑体" panose="02010609060101010101" pitchFamily="49" charset="-122"/>
                          <a:cs typeface="黑体" panose="02010609060101010101" pitchFamily="49" charset="-122"/>
                        </a:rPr>
                        <m:t>𝒂</m:t>
                      </m:r>
                      <m:r>
                        <a:rPr kumimoji="1" lang="zh-CN" altLang="en-US" sz="2800">
                          <a:latin typeface="Cambria Math" panose="02040503050406030204" pitchFamily="18" charset="0"/>
                          <a:ea typeface="黑体" panose="02010609060101010101" pitchFamily="49" charset="-122"/>
                          <a:cs typeface="黑体" panose="02010609060101010101" pitchFamily="49" charset="-122"/>
                        </a:rPr>
                        <m:t>⊥</m:t>
                      </m:r>
                      <m:r>
                        <a:rPr kumimoji="1" lang="en-US" altLang="zh-CN" sz="2800" b="1" i="1" smtClean="0">
                          <a:latin typeface="Cambria Math" panose="02040503050406030204" pitchFamily="18" charset="0"/>
                          <a:ea typeface="黑体" panose="02010609060101010101" pitchFamily="49" charset="-122"/>
                          <a:cs typeface="黑体" panose="02010609060101010101" pitchFamily="49" charset="-122"/>
                        </a:rPr>
                        <m:t>𝒃</m:t>
                      </m:r>
                      <m:r>
                        <a:rPr kumimoji="1" lang="zh-CN" altLang="en-US" sz="2800">
                          <a:latin typeface="Cambria Math" panose="02040503050406030204" pitchFamily="18" charset="0"/>
                          <a:ea typeface="黑体" panose="02010609060101010101" pitchFamily="49" charset="-122"/>
                          <a:cs typeface="黑体" panose="02010609060101010101" pitchFamily="49" charset="-122"/>
                        </a:rPr>
                        <m:t>.</m:t>
                      </m:r>
                    </m:oMath>
                  </m:oMathPara>
                </a14:m>
                <a:endParaRPr kumimoji="1" lang="zh-CN" altLang="en-US" sz="2800" dirty="0">
                  <a:latin typeface="Cambria Math" panose="02040503050406030204" pitchFamily="18" charset="0"/>
                  <a:ea typeface="黑体" panose="02010609060101010101" pitchFamily="49" charset="-122"/>
                  <a:cs typeface="黑体" panose="02010609060101010101" pitchFamily="49" charset="-122"/>
                </a:endParaRPr>
              </a:p>
            </p:txBody>
          </p:sp>
        </mc:Choice>
        <mc:Fallback xmlns="">
          <p:sp>
            <p:nvSpPr>
              <p:cNvPr id="4" name="Object 5"/>
              <p:cNvSpPr txBox="1">
                <a:spLocks noRot="1" noChangeAspect="1" noMove="1" noResize="1" noEditPoints="1" noAdjustHandles="1" noChangeArrowheads="1" noChangeShapeType="1" noTextEdit="1"/>
              </p:cNvSpPr>
              <p:nvPr/>
            </p:nvSpPr>
            <p:spPr bwMode="auto">
              <a:xfrm>
                <a:off x="5713378" y="2593205"/>
                <a:ext cx="1215592" cy="533400"/>
              </a:xfrm>
              <a:prstGeom prst="rect">
                <a:avLst/>
              </a:prstGeom>
              <a:blipFill>
                <a:blip r:embed="rId4"/>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Object 7"/>
              <p:cNvSpPr txBox="1"/>
              <p:nvPr/>
            </p:nvSpPr>
            <p:spPr bwMode="auto">
              <a:xfrm>
                <a:off x="3861753" y="3388254"/>
                <a:ext cx="671512" cy="40481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smtClean="0">
                          <a:solidFill>
                            <a:srgbClr val="04926A"/>
                          </a:solidFill>
                          <a:latin typeface="Cambria Math" panose="02040503050406030204" pitchFamily="18" charset="0"/>
                          <a:ea typeface="黑体" panose="02010609060101010101" pitchFamily="49" charset="-122"/>
                          <a:cs typeface="黑体" panose="02010609060101010101" pitchFamily="49" charset="-122"/>
                        </a:rPr>
                        <m:t>(⇒)</m:t>
                      </m:r>
                    </m:oMath>
                  </m:oMathPara>
                </a14:m>
                <a:endParaRPr kumimoji="1" lang="zh-CN" altLang="en-US" sz="2200" dirty="0">
                  <a:solidFill>
                    <a:srgbClr val="04926A"/>
                  </a:solidFill>
                  <a:latin typeface="Cambria Math" panose="02040503050406030204" pitchFamily="18" charset="0"/>
                  <a:ea typeface="黑体" panose="02010609060101010101" pitchFamily="49" charset="-122"/>
                  <a:cs typeface="黑体" panose="02010609060101010101" pitchFamily="49" charset="-122"/>
                </a:endParaRPr>
              </a:p>
            </p:txBody>
          </p:sp>
        </mc:Choice>
        <mc:Fallback xmlns="">
          <p:sp>
            <p:nvSpPr>
              <p:cNvPr id="5" name="Object 7"/>
              <p:cNvSpPr txBox="1">
                <a:spLocks noRot="1" noChangeAspect="1" noMove="1" noResize="1" noEditPoints="1" noAdjustHandles="1" noChangeArrowheads="1" noChangeShapeType="1" noTextEdit="1"/>
              </p:cNvSpPr>
              <p:nvPr/>
            </p:nvSpPr>
            <p:spPr bwMode="auto">
              <a:xfrm>
                <a:off x="3861753" y="3388254"/>
                <a:ext cx="671512" cy="404812"/>
              </a:xfrm>
              <a:prstGeom prst="rect">
                <a:avLst/>
              </a:prstGeom>
              <a:blipFill>
                <a:blip r:embed="rId5"/>
                <a:stretch>
                  <a:fillRect l="-5405" r="-3604" b="-27273"/>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Object 8"/>
              <p:cNvSpPr txBox="1"/>
              <p:nvPr/>
            </p:nvSpPr>
            <p:spPr bwMode="auto">
              <a:xfrm>
                <a:off x="4488251" y="3390218"/>
                <a:ext cx="1754188" cy="443136"/>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kumimoji="1" lang="zh-CN" altLang="en-US" sz="2200">
                          <a:latin typeface="Cambria Math" panose="02040503050406030204" pitchFamily="18" charset="0"/>
                          <a:ea typeface="黑体" panose="02010609060101010101" pitchFamily="49" charset="-122"/>
                          <a:cs typeface="黑体" panose="02010609060101010101" pitchFamily="49" charset="-122"/>
                        </a:rPr>
                        <m:t>∵</m:t>
                      </m:r>
                      <m:r>
                        <a:rPr kumimoji="1" lang="en-US" altLang="zh-CN" sz="2200" b="1" i="1">
                          <a:latin typeface="Cambria Math" panose="02040503050406030204" pitchFamily="18" charset="0"/>
                          <a:ea typeface="黑体" panose="02010609060101010101" pitchFamily="49" charset="-122"/>
                          <a:cs typeface="黑体" panose="02010609060101010101" pitchFamily="49" charset="-122"/>
                        </a:rPr>
                        <m:t>𝒂</m:t>
                      </m:r>
                      <m:r>
                        <a:rPr kumimoji="1" lang="zh-CN" altLang="en-US" sz="2200" b="1">
                          <a:latin typeface="Cambria Math" panose="02040503050406030204" pitchFamily="18" charset="0"/>
                          <a:ea typeface="黑体" panose="02010609060101010101" pitchFamily="49" charset="-122"/>
                          <a:cs typeface="黑体" panose="02010609060101010101" pitchFamily="49" charset="-122"/>
                        </a:rPr>
                        <m:t>⋅</m:t>
                      </m:r>
                      <m:r>
                        <a:rPr kumimoji="1" lang="en-US" altLang="zh-CN" sz="2200" b="1" i="1">
                          <a:latin typeface="Cambria Math" panose="02040503050406030204" pitchFamily="18" charset="0"/>
                          <a:ea typeface="黑体" panose="02010609060101010101" pitchFamily="49" charset="-122"/>
                          <a:cs typeface="黑体" panose="02010609060101010101" pitchFamily="49" charset="-122"/>
                        </a:rPr>
                        <m:t>𝒃</m:t>
                      </m:r>
                      <m:r>
                        <a:rPr kumimoji="1" lang="zh-CN" altLang="en-US" sz="2200">
                          <a:latin typeface="Cambria Math" panose="02040503050406030204" pitchFamily="18" charset="0"/>
                          <a:ea typeface="黑体" panose="02010609060101010101" pitchFamily="49" charset="-122"/>
                          <a:cs typeface="黑体" panose="02010609060101010101" pitchFamily="49" charset="-122"/>
                        </a:rPr>
                        <m:t>=0,</m:t>
                      </m:r>
                    </m:oMath>
                  </m:oMathPara>
                </a14:m>
                <a:endParaRPr kumimoji="1" lang="zh-CN" altLang="en-US" sz="2200" dirty="0">
                  <a:latin typeface="Cambria Math" panose="02040503050406030204" pitchFamily="18" charset="0"/>
                  <a:ea typeface="黑体" panose="02010609060101010101" pitchFamily="49" charset="-122"/>
                  <a:cs typeface="黑体" panose="02010609060101010101" pitchFamily="49" charset="-122"/>
                </a:endParaRPr>
              </a:p>
            </p:txBody>
          </p:sp>
        </mc:Choice>
        <mc:Fallback xmlns="">
          <p:sp>
            <p:nvSpPr>
              <p:cNvPr id="6" name="Object 8"/>
              <p:cNvSpPr txBox="1">
                <a:spLocks noRot="1" noChangeAspect="1" noMove="1" noResize="1" noEditPoints="1" noAdjustHandles="1" noChangeArrowheads="1" noChangeShapeType="1" noTextEdit="1"/>
              </p:cNvSpPr>
              <p:nvPr/>
            </p:nvSpPr>
            <p:spPr bwMode="auto">
              <a:xfrm>
                <a:off x="4488251" y="3390218"/>
                <a:ext cx="1754188" cy="443136"/>
              </a:xfrm>
              <a:prstGeom prst="rect">
                <a:avLst/>
              </a:prstGeom>
              <a:blipFill>
                <a:blip r:embed="rId6"/>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Object 9"/>
              <p:cNvSpPr txBox="1"/>
              <p:nvPr/>
            </p:nvSpPr>
            <p:spPr bwMode="auto">
              <a:xfrm>
                <a:off x="5907231" y="3377630"/>
                <a:ext cx="1315501" cy="46831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smtClean="0">
                          <a:latin typeface="Cambria Math" panose="02040503050406030204" pitchFamily="18" charset="0"/>
                          <a:ea typeface="黑体" panose="02010609060101010101" pitchFamily="49" charset="-122"/>
                          <a:cs typeface="黑体" panose="02010609060101010101" pitchFamily="49" charset="-122"/>
                        </a:rPr>
                        <m:t>|</m:t>
                      </m:r>
                      <m:r>
                        <a:rPr kumimoji="1" lang="en-US" altLang="zh-CN" sz="2200" b="1" i="1" smtClean="0">
                          <a:latin typeface="Cambria Math" panose="02040503050406030204" pitchFamily="18" charset="0"/>
                          <a:ea typeface="黑体" panose="02010609060101010101" pitchFamily="49" charset="-122"/>
                          <a:cs typeface="黑体" panose="02010609060101010101" pitchFamily="49" charset="-122"/>
                        </a:rPr>
                        <m:t>𝒂</m:t>
                      </m:r>
                      <m:r>
                        <a:rPr kumimoji="1" lang="zh-CN" altLang="en-US" sz="2200">
                          <a:latin typeface="Cambria Math" panose="02040503050406030204" pitchFamily="18" charset="0"/>
                          <a:ea typeface="黑体" panose="02010609060101010101" pitchFamily="49" charset="-122"/>
                          <a:cs typeface="黑体" panose="02010609060101010101" pitchFamily="49" charset="-122"/>
                        </a:rPr>
                        <m:t>|≠0,</m:t>
                      </m:r>
                    </m:oMath>
                  </m:oMathPara>
                </a14:m>
                <a:endParaRPr kumimoji="1" lang="zh-CN" altLang="en-US" sz="2200" dirty="0">
                  <a:latin typeface="Cambria Math" panose="02040503050406030204" pitchFamily="18" charset="0"/>
                  <a:ea typeface="黑体" panose="02010609060101010101" pitchFamily="49" charset="-122"/>
                  <a:cs typeface="黑体" panose="02010609060101010101" pitchFamily="49" charset="-122"/>
                </a:endParaRPr>
              </a:p>
            </p:txBody>
          </p:sp>
        </mc:Choice>
        <mc:Fallback xmlns="">
          <p:sp>
            <p:nvSpPr>
              <p:cNvPr id="7" name="Object 9"/>
              <p:cNvSpPr txBox="1">
                <a:spLocks noRot="1" noChangeAspect="1" noMove="1" noResize="1" noEditPoints="1" noAdjustHandles="1" noChangeArrowheads="1" noChangeShapeType="1" noTextEdit="1"/>
              </p:cNvSpPr>
              <p:nvPr/>
            </p:nvSpPr>
            <p:spPr bwMode="auto">
              <a:xfrm>
                <a:off x="5907231" y="3377630"/>
                <a:ext cx="1315501" cy="468313"/>
              </a:xfrm>
              <a:prstGeom prst="rect">
                <a:avLst/>
              </a:prstGeom>
              <a:blipFill>
                <a:blip r:embed="rId7"/>
                <a:stretch>
                  <a:fillRect l="-2778" b="-9091"/>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Object 10"/>
              <p:cNvSpPr txBox="1"/>
              <p:nvPr/>
            </p:nvSpPr>
            <p:spPr bwMode="auto">
              <a:xfrm>
                <a:off x="6948404" y="3388254"/>
                <a:ext cx="1213253" cy="519576"/>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kumimoji="1" lang="zh-CN" altLang="en-US" sz="2200" smtClean="0">
                          <a:latin typeface="Cambria Math" panose="02040503050406030204" pitchFamily="18" charset="0"/>
                          <a:ea typeface="黑体" panose="02010609060101010101" pitchFamily="49" charset="-122"/>
                          <a:cs typeface="黑体" panose="02010609060101010101" pitchFamily="49" charset="-122"/>
                        </a:rPr>
                        <m:t>|</m:t>
                      </m:r>
                      <m:r>
                        <a:rPr kumimoji="1" lang="en-US" altLang="zh-CN" sz="2200" b="1" i="1" smtClean="0">
                          <a:latin typeface="Cambria Math" panose="02040503050406030204" pitchFamily="18" charset="0"/>
                          <a:ea typeface="黑体" panose="02010609060101010101" pitchFamily="49" charset="-122"/>
                          <a:cs typeface="黑体" panose="02010609060101010101" pitchFamily="49" charset="-122"/>
                        </a:rPr>
                        <m:t>𝒃</m:t>
                      </m:r>
                      <m:r>
                        <a:rPr kumimoji="1" lang="zh-CN" altLang="en-US" sz="2200">
                          <a:latin typeface="Cambria Math" panose="02040503050406030204" pitchFamily="18" charset="0"/>
                          <a:ea typeface="黑体" panose="02010609060101010101" pitchFamily="49" charset="-122"/>
                          <a:cs typeface="黑体" panose="02010609060101010101" pitchFamily="49" charset="-122"/>
                        </a:rPr>
                        <m:t>|≠0,</m:t>
                      </m:r>
                    </m:oMath>
                  </m:oMathPara>
                </a14:m>
                <a:endParaRPr kumimoji="1" lang="zh-CN" altLang="en-US" sz="2200" dirty="0">
                  <a:latin typeface="Cambria Math" panose="02040503050406030204" pitchFamily="18" charset="0"/>
                  <a:ea typeface="黑体" panose="02010609060101010101" pitchFamily="49" charset="-122"/>
                  <a:cs typeface="黑体" panose="02010609060101010101" pitchFamily="49" charset="-122"/>
                </a:endParaRPr>
              </a:p>
            </p:txBody>
          </p:sp>
        </mc:Choice>
        <mc:Fallback xmlns="">
          <p:sp>
            <p:nvSpPr>
              <p:cNvPr id="8" name="Object 10"/>
              <p:cNvSpPr txBox="1">
                <a:spLocks noRot="1" noChangeAspect="1" noMove="1" noResize="1" noEditPoints="1" noAdjustHandles="1" noChangeArrowheads="1" noChangeShapeType="1" noTextEdit="1"/>
              </p:cNvSpPr>
              <p:nvPr/>
            </p:nvSpPr>
            <p:spPr bwMode="auto">
              <a:xfrm>
                <a:off x="6948404" y="3388254"/>
                <a:ext cx="1213253" cy="519576"/>
              </a:xfrm>
              <a:prstGeom prst="rect">
                <a:avLst/>
              </a:prstGeom>
              <a:blipFill>
                <a:blip r:embed="rId8"/>
                <a:stretch>
                  <a:fillRect l="-3518"/>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Object 11"/>
              <p:cNvSpPr txBox="1"/>
              <p:nvPr/>
            </p:nvSpPr>
            <p:spPr bwMode="auto">
              <a:xfrm>
                <a:off x="4488251" y="4100763"/>
                <a:ext cx="2101850" cy="51435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latin typeface="Cambria Math" panose="02040503050406030204" pitchFamily="18" charset="0"/>
                          <a:ea typeface="黑体" panose="02010609060101010101" pitchFamily="49" charset="-122"/>
                          <a:cs typeface="黑体" panose="02010609060101010101" pitchFamily="49" charset="-122"/>
                        </a:rPr>
                        <m:t>∴</m:t>
                      </m:r>
                      <m:func>
                        <m:funcPr>
                          <m:ctrlPr>
                            <a:rPr kumimoji="1" lang="zh-CN" altLang="en-US" sz="2200" i="1">
                              <a:latin typeface="Cambria Math" panose="02040503050406030204" pitchFamily="18" charset="0"/>
                              <a:ea typeface="黑体" panose="02010609060101010101" pitchFamily="49" charset="-122"/>
                              <a:cs typeface="黑体" panose="02010609060101010101" pitchFamily="49" charset="-122"/>
                            </a:rPr>
                          </m:ctrlPr>
                        </m:funcPr>
                        <m:fName>
                          <m:r>
                            <m:rPr>
                              <m:sty m:val="p"/>
                            </m:rPr>
                            <a:rPr kumimoji="1" lang="zh-CN" altLang="en-US" sz="2200">
                              <a:latin typeface="Cambria Math" panose="02040503050406030204" pitchFamily="18" charset="0"/>
                              <a:ea typeface="黑体" panose="02010609060101010101" pitchFamily="49" charset="-122"/>
                              <a:cs typeface="黑体" panose="02010609060101010101" pitchFamily="49" charset="-122"/>
                            </a:rPr>
                            <m:t>cos</m:t>
                          </m:r>
                        </m:fName>
                        <m:e>
                          <m:r>
                            <a:rPr kumimoji="1" lang="zh-CN" altLang="en-US" sz="2200">
                              <a:latin typeface="Cambria Math" panose="02040503050406030204" pitchFamily="18" charset="0"/>
                              <a:ea typeface="黑体" panose="02010609060101010101" pitchFamily="49" charset="-122"/>
                              <a:cs typeface="黑体" panose="02010609060101010101" pitchFamily="49" charset="-122"/>
                            </a:rPr>
                            <m:t>𝜃</m:t>
                          </m:r>
                        </m:e>
                      </m:func>
                      <m:r>
                        <a:rPr kumimoji="1" lang="zh-CN" altLang="en-US" sz="2200">
                          <a:latin typeface="Cambria Math" panose="02040503050406030204" pitchFamily="18" charset="0"/>
                          <a:ea typeface="黑体" panose="02010609060101010101" pitchFamily="49" charset="-122"/>
                          <a:cs typeface="黑体" panose="02010609060101010101" pitchFamily="49" charset="-122"/>
                        </a:rPr>
                        <m:t>=0,</m:t>
                      </m:r>
                    </m:oMath>
                  </m:oMathPara>
                </a14:m>
                <a:endParaRPr kumimoji="1" lang="zh-CN" altLang="en-US" sz="2200" dirty="0">
                  <a:latin typeface="Cambria Math" panose="02040503050406030204" pitchFamily="18" charset="0"/>
                  <a:ea typeface="黑体" panose="02010609060101010101" pitchFamily="49" charset="-122"/>
                  <a:cs typeface="黑体" panose="02010609060101010101" pitchFamily="49" charset="-122"/>
                </a:endParaRPr>
              </a:p>
            </p:txBody>
          </p:sp>
        </mc:Choice>
        <mc:Fallback xmlns="">
          <p:sp>
            <p:nvSpPr>
              <p:cNvPr id="9" name="Object 11"/>
              <p:cNvSpPr txBox="1">
                <a:spLocks noRot="1" noChangeAspect="1" noMove="1" noResize="1" noEditPoints="1" noAdjustHandles="1" noChangeArrowheads="1" noChangeShapeType="1" noTextEdit="1"/>
              </p:cNvSpPr>
              <p:nvPr/>
            </p:nvSpPr>
            <p:spPr bwMode="auto">
              <a:xfrm>
                <a:off x="4488251" y="4100763"/>
                <a:ext cx="2101850" cy="514350"/>
              </a:xfrm>
              <a:prstGeom prst="rect">
                <a:avLst/>
              </a:prstGeom>
              <a:blipFill>
                <a:blip r:embed="rId9"/>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Object 13"/>
              <p:cNvSpPr txBox="1"/>
              <p:nvPr/>
            </p:nvSpPr>
            <p:spPr bwMode="auto">
              <a:xfrm>
                <a:off x="6928970" y="4114127"/>
                <a:ext cx="1250280" cy="40481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smtClean="0">
                          <a:latin typeface="Cambria Math" panose="02040503050406030204" pitchFamily="18" charset="0"/>
                          <a:ea typeface="黑体" panose="02010609060101010101" pitchFamily="49" charset="-122"/>
                          <a:cs typeface="黑体" panose="02010609060101010101" pitchFamily="49" charset="-122"/>
                        </a:rPr>
                        <m:t>∴</m:t>
                      </m:r>
                      <m:r>
                        <a:rPr kumimoji="1" lang="en-US" altLang="zh-CN" sz="2200" b="1" i="1" smtClean="0">
                          <a:latin typeface="Cambria Math" panose="02040503050406030204" pitchFamily="18" charset="0"/>
                          <a:ea typeface="黑体" panose="02010609060101010101" pitchFamily="49" charset="-122"/>
                          <a:cs typeface="黑体" panose="02010609060101010101" pitchFamily="49" charset="-122"/>
                        </a:rPr>
                        <m:t>𝒂</m:t>
                      </m:r>
                      <m:r>
                        <a:rPr kumimoji="1" lang="zh-CN" altLang="en-US" sz="2200">
                          <a:latin typeface="Cambria Math" panose="02040503050406030204" pitchFamily="18" charset="0"/>
                          <a:ea typeface="黑体" panose="02010609060101010101" pitchFamily="49" charset="-122"/>
                          <a:cs typeface="黑体" panose="02010609060101010101" pitchFamily="49" charset="-122"/>
                        </a:rPr>
                        <m:t>⊥</m:t>
                      </m:r>
                      <m:r>
                        <a:rPr kumimoji="1" lang="en-US" altLang="zh-CN" sz="2200" b="1" i="1" smtClean="0">
                          <a:latin typeface="Cambria Math" panose="02040503050406030204" pitchFamily="18" charset="0"/>
                          <a:ea typeface="黑体" panose="02010609060101010101" pitchFamily="49" charset="-122"/>
                          <a:cs typeface="黑体" panose="02010609060101010101" pitchFamily="49" charset="-122"/>
                        </a:rPr>
                        <m:t>𝒃</m:t>
                      </m:r>
                      <m:r>
                        <a:rPr kumimoji="1" lang="zh-CN" altLang="en-US" sz="2200">
                          <a:latin typeface="Cambria Math" panose="02040503050406030204" pitchFamily="18" charset="0"/>
                          <a:ea typeface="黑体" panose="02010609060101010101" pitchFamily="49" charset="-122"/>
                          <a:cs typeface="黑体" panose="02010609060101010101" pitchFamily="49" charset="-122"/>
                        </a:rPr>
                        <m:t>.</m:t>
                      </m:r>
                    </m:oMath>
                  </m:oMathPara>
                </a14:m>
                <a:endParaRPr kumimoji="1" lang="zh-CN" altLang="en-US" sz="2200" dirty="0">
                  <a:latin typeface="Cambria Math" panose="02040503050406030204" pitchFamily="18" charset="0"/>
                  <a:ea typeface="黑体" panose="02010609060101010101" pitchFamily="49" charset="-122"/>
                  <a:cs typeface="黑体" panose="02010609060101010101" pitchFamily="49" charset="-122"/>
                </a:endParaRPr>
              </a:p>
            </p:txBody>
          </p:sp>
        </mc:Choice>
        <mc:Fallback xmlns="">
          <p:sp>
            <p:nvSpPr>
              <p:cNvPr id="10" name="Object 13"/>
              <p:cNvSpPr txBox="1">
                <a:spLocks noRot="1" noChangeAspect="1" noMove="1" noResize="1" noEditPoints="1" noAdjustHandles="1" noChangeArrowheads="1" noChangeShapeType="1" noTextEdit="1"/>
              </p:cNvSpPr>
              <p:nvPr/>
            </p:nvSpPr>
            <p:spPr bwMode="auto">
              <a:xfrm>
                <a:off x="6928970" y="4114127"/>
                <a:ext cx="1250280" cy="404812"/>
              </a:xfrm>
              <a:prstGeom prst="rect">
                <a:avLst/>
              </a:prstGeom>
              <a:blipFill>
                <a:blip r:embed="rId10"/>
                <a:stretch>
                  <a:fillRect b="-4545"/>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Object 14"/>
              <p:cNvSpPr txBox="1"/>
              <p:nvPr/>
            </p:nvSpPr>
            <p:spPr bwMode="auto">
              <a:xfrm>
                <a:off x="3246583" y="1279312"/>
                <a:ext cx="2865890" cy="49371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smtClean="0">
                          <a:latin typeface="Cambria Math" panose="02040503050406030204" pitchFamily="18" charset="0"/>
                          <a:ea typeface="黑体" panose="02010609060101010101" pitchFamily="49" charset="-122"/>
                          <a:cs typeface="黑体" panose="02010609060101010101" pitchFamily="49" charset="-122"/>
                        </a:rPr>
                        <m:t>(1)  </m:t>
                      </m:r>
                      <m:r>
                        <a:rPr kumimoji="1" lang="en-US" altLang="zh-CN" sz="2800" b="1" i="1" smtClean="0">
                          <a:latin typeface="Cambria Math" panose="02040503050406030204" pitchFamily="18" charset="0"/>
                          <a:ea typeface="黑体" panose="02010609060101010101" pitchFamily="49" charset="-122"/>
                          <a:cs typeface="黑体" panose="02010609060101010101" pitchFamily="49" charset="-122"/>
                        </a:rPr>
                        <m:t>𝒂</m:t>
                      </m:r>
                      <m:r>
                        <a:rPr kumimoji="1" lang="zh-CN" altLang="en-US" sz="2800" b="1">
                          <a:latin typeface="Cambria Math" panose="02040503050406030204" pitchFamily="18" charset="0"/>
                          <a:ea typeface="黑体" panose="02010609060101010101" pitchFamily="49" charset="-122"/>
                          <a:cs typeface="黑体" panose="02010609060101010101" pitchFamily="49" charset="-122"/>
                        </a:rPr>
                        <m:t>⋅</m:t>
                      </m:r>
                      <m:r>
                        <a:rPr kumimoji="1" lang="en-US" altLang="zh-CN" sz="2800" b="1" i="1" smtClean="0">
                          <a:latin typeface="Cambria Math" panose="02040503050406030204" pitchFamily="18" charset="0"/>
                          <a:ea typeface="黑体" panose="02010609060101010101" pitchFamily="49" charset="-122"/>
                          <a:cs typeface="黑体" panose="02010609060101010101" pitchFamily="49" charset="-122"/>
                        </a:rPr>
                        <m:t>𝒂</m:t>
                      </m:r>
                      <m:r>
                        <a:rPr kumimoji="1" lang="zh-CN" altLang="en-US" sz="2800">
                          <a:latin typeface="Cambria Math" panose="02040503050406030204" pitchFamily="18" charset="0"/>
                          <a:ea typeface="黑体" panose="02010609060101010101" pitchFamily="49" charset="-122"/>
                          <a:cs typeface="黑体" panose="02010609060101010101" pitchFamily="49" charset="-122"/>
                        </a:rPr>
                        <m:t>=|</m:t>
                      </m:r>
                      <m:r>
                        <a:rPr kumimoji="1" lang="en-US" altLang="zh-CN" sz="2800" b="1" i="1" smtClean="0">
                          <a:latin typeface="Cambria Math" panose="02040503050406030204" pitchFamily="18" charset="0"/>
                          <a:ea typeface="黑体" panose="02010609060101010101" pitchFamily="49" charset="-122"/>
                          <a:cs typeface="黑体" panose="02010609060101010101" pitchFamily="49" charset="-122"/>
                        </a:rPr>
                        <m:t>𝒂</m:t>
                      </m:r>
                      <m:sSup>
                        <m:sSupPr>
                          <m:ctrlPr>
                            <a:rPr kumimoji="1" lang="zh-CN" altLang="en-US" sz="2800" i="1">
                              <a:latin typeface="Cambria Math" panose="02040503050406030204" pitchFamily="18" charset="0"/>
                              <a:ea typeface="黑体" panose="02010609060101010101" pitchFamily="49" charset="-122"/>
                              <a:cs typeface="黑体" panose="02010609060101010101" pitchFamily="49" charset="-122"/>
                            </a:rPr>
                          </m:ctrlPr>
                        </m:sSupPr>
                        <m:e>
                          <m:r>
                            <a:rPr kumimoji="1" lang="zh-CN" altLang="en-US" sz="2800">
                              <a:latin typeface="Cambria Math" panose="02040503050406030204" pitchFamily="18" charset="0"/>
                              <a:ea typeface="黑体" panose="02010609060101010101" pitchFamily="49" charset="-122"/>
                              <a:cs typeface="黑体" panose="02010609060101010101" pitchFamily="49" charset="-122"/>
                            </a:rPr>
                            <m:t>|</m:t>
                          </m:r>
                        </m:e>
                        <m:sup>
                          <m:r>
                            <a:rPr kumimoji="1" lang="zh-CN" altLang="en-US" sz="2800">
                              <a:latin typeface="Cambria Math" panose="02040503050406030204" pitchFamily="18" charset="0"/>
                              <a:ea typeface="黑体" panose="02010609060101010101" pitchFamily="49" charset="-122"/>
                              <a:cs typeface="黑体" panose="02010609060101010101" pitchFamily="49" charset="-122"/>
                            </a:rPr>
                            <m:t>2</m:t>
                          </m:r>
                        </m:sup>
                      </m:sSup>
                      <m:r>
                        <a:rPr kumimoji="1" lang="zh-CN" altLang="en-US" sz="2800">
                          <a:latin typeface="Cambria Math" panose="02040503050406030204" pitchFamily="18" charset="0"/>
                          <a:ea typeface="黑体" panose="02010609060101010101" pitchFamily="49" charset="-122"/>
                          <a:cs typeface="黑体" panose="02010609060101010101" pitchFamily="49" charset="-122"/>
                        </a:rPr>
                        <m:t>.</m:t>
                      </m:r>
                    </m:oMath>
                  </m:oMathPara>
                </a14:m>
                <a:endParaRPr kumimoji="1" lang="zh-CN" altLang="en-US" sz="2800" dirty="0">
                  <a:latin typeface="Cambria Math" panose="02040503050406030204" pitchFamily="18" charset="0"/>
                  <a:ea typeface="黑体" panose="02010609060101010101" pitchFamily="49" charset="-122"/>
                  <a:cs typeface="黑体" panose="02010609060101010101" pitchFamily="49" charset="-122"/>
                </a:endParaRPr>
              </a:p>
            </p:txBody>
          </p:sp>
        </mc:Choice>
        <mc:Fallback xmlns="">
          <p:sp>
            <p:nvSpPr>
              <p:cNvPr id="11" name="Object 14"/>
              <p:cNvSpPr txBox="1">
                <a:spLocks noRot="1" noChangeAspect="1" noMove="1" noResize="1" noEditPoints="1" noAdjustHandles="1" noChangeArrowheads="1" noChangeShapeType="1" noTextEdit="1"/>
              </p:cNvSpPr>
              <p:nvPr/>
            </p:nvSpPr>
            <p:spPr bwMode="auto">
              <a:xfrm>
                <a:off x="3246583" y="1279312"/>
                <a:ext cx="2865890" cy="493712"/>
              </a:xfrm>
              <a:prstGeom prst="rect">
                <a:avLst/>
              </a:prstGeom>
              <a:blipFill>
                <a:blip r:embed="rId11"/>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Object 15"/>
              <p:cNvSpPr txBox="1"/>
              <p:nvPr/>
            </p:nvSpPr>
            <p:spPr bwMode="auto">
              <a:xfrm>
                <a:off x="3861753" y="4990181"/>
                <a:ext cx="671513" cy="40481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smtClean="0">
                          <a:solidFill>
                            <a:srgbClr val="04926A"/>
                          </a:solidFill>
                          <a:latin typeface="Cambria Math" panose="02040503050406030204" pitchFamily="18" charset="0"/>
                          <a:ea typeface="黑体" panose="02010609060101010101" pitchFamily="49" charset="-122"/>
                          <a:cs typeface="黑体" panose="02010609060101010101" pitchFamily="49" charset="-122"/>
                        </a:rPr>
                        <m:t>(⇐)</m:t>
                      </m:r>
                    </m:oMath>
                  </m:oMathPara>
                </a14:m>
                <a:endParaRPr kumimoji="1" lang="zh-CN" altLang="en-US" sz="2200" dirty="0">
                  <a:solidFill>
                    <a:srgbClr val="04926A"/>
                  </a:solidFill>
                  <a:latin typeface="Cambria Math" panose="02040503050406030204" pitchFamily="18" charset="0"/>
                  <a:ea typeface="黑体" panose="02010609060101010101" pitchFamily="49" charset="-122"/>
                  <a:cs typeface="黑体" panose="02010609060101010101" pitchFamily="49" charset="-122"/>
                </a:endParaRPr>
              </a:p>
            </p:txBody>
          </p:sp>
        </mc:Choice>
        <mc:Fallback xmlns="">
          <p:sp>
            <p:nvSpPr>
              <p:cNvPr id="12" name="Object 15"/>
              <p:cNvSpPr txBox="1">
                <a:spLocks noRot="1" noChangeAspect="1" noMove="1" noResize="1" noEditPoints="1" noAdjustHandles="1" noChangeArrowheads="1" noChangeShapeType="1" noTextEdit="1"/>
              </p:cNvSpPr>
              <p:nvPr/>
            </p:nvSpPr>
            <p:spPr bwMode="auto">
              <a:xfrm>
                <a:off x="3861753" y="4990181"/>
                <a:ext cx="671513" cy="404813"/>
              </a:xfrm>
              <a:prstGeom prst="rect">
                <a:avLst/>
              </a:prstGeom>
              <a:blipFill>
                <a:blip r:embed="rId12"/>
                <a:stretch>
                  <a:fillRect l="-5405" r="-3604" b="-27273"/>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Object 16"/>
              <p:cNvSpPr txBox="1"/>
              <p:nvPr/>
            </p:nvSpPr>
            <p:spPr bwMode="auto">
              <a:xfrm>
                <a:off x="4491916" y="5021365"/>
                <a:ext cx="1225127" cy="46534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smtClean="0">
                          <a:latin typeface="Cambria Math" panose="02040503050406030204" pitchFamily="18" charset="0"/>
                          <a:ea typeface="黑体" panose="02010609060101010101" pitchFamily="49" charset="-122"/>
                          <a:cs typeface="黑体" panose="02010609060101010101" pitchFamily="49" charset="-122"/>
                        </a:rPr>
                        <m:t>∵</m:t>
                      </m:r>
                      <m:r>
                        <a:rPr kumimoji="1" lang="en-US" altLang="zh-CN" sz="2200" b="1" i="1" smtClean="0">
                          <a:latin typeface="Cambria Math" panose="02040503050406030204" pitchFamily="18" charset="0"/>
                          <a:ea typeface="黑体" panose="02010609060101010101" pitchFamily="49" charset="-122"/>
                          <a:cs typeface="黑体" panose="02010609060101010101" pitchFamily="49" charset="-122"/>
                        </a:rPr>
                        <m:t>𝒂</m:t>
                      </m:r>
                      <m:r>
                        <a:rPr kumimoji="1" lang="zh-CN" altLang="en-US" sz="2200">
                          <a:latin typeface="Cambria Math" panose="02040503050406030204" pitchFamily="18" charset="0"/>
                          <a:ea typeface="黑体" panose="02010609060101010101" pitchFamily="49" charset="-122"/>
                          <a:cs typeface="黑体" panose="02010609060101010101" pitchFamily="49" charset="-122"/>
                        </a:rPr>
                        <m:t>⊥</m:t>
                      </m:r>
                      <m:r>
                        <a:rPr kumimoji="1" lang="en-US" altLang="zh-CN" sz="2200" b="1" i="1" smtClean="0">
                          <a:latin typeface="Cambria Math" panose="02040503050406030204" pitchFamily="18" charset="0"/>
                          <a:ea typeface="黑体" panose="02010609060101010101" pitchFamily="49" charset="-122"/>
                          <a:cs typeface="黑体" panose="02010609060101010101" pitchFamily="49" charset="-122"/>
                        </a:rPr>
                        <m:t>𝒃</m:t>
                      </m:r>
                      <m:r>
                        <a:rPr kumimoji="1" lang="zh-CN" altLang="en-US" sz="2200">
                          <a:latin typeface="Cambria Math" panose="02040503050406030204" pitchFamily="18" charset="0"/>
                          <a:ea typeface="黑体" panose="02010609060101010101" pitchFamily="49" charset="-122"/>
                          <a:cs typeface="黑体" panose="02010609060101010101" pitchFamily="49" charset="-122"/>
                        </a:rPr>
                        <m:t>,</m:t>
                      </m:r>
                    </m:oMath>
                  </m:oMathPara>
                </a14:m>
                <a:endParaRPr kumimoji="1" lang="zh-CN" altLang="en-US" sz="2200" dirty="0">
                  <a:latin typeface="Cambria Math" panose="02040503050406030204" pitchFamily="18" charset="0"/>
                  <a:ea typeface="黑体" panose="02010609060101010101" pitchFamily="49" charset="-122"/>
                  <a:cs typeface="黑体" panose="02010609060101010101" pitchFamily="49" charset="-122"/>
                </a:endParaRPr>
              </a:p>
            </p:txBody>
          </p:sp>
        </mc:Choice>
        <mc:Fallback xmlns="">
          <p:sp>
            <p:nvSpPr>
              <p:cNvPr id="13" name="Object 16"/>
              <p:cNvSpPr txBox="1">
                <a:spLocks noRot="1" noChangeAspect="1" noMove="1" noResize="1" noEditPoints="1" noAdjustHandles="1" noChangeArrowheads="1" noChangeShapeType="1" noTextEdit="1"/>
              </p:cNvSpPr>
              <p:nvPr/>
            </p:nvSpPr>
            <p:spPr bwMode="auto">
              <a:xfrm>
                <a:off x="4491916" y="5021365"/>
                <a:ext cx="1225127" cy="465348"/>
              </a:xfrm>
              <a:prstGeom prst="rect">
                <a:avLst/>
              </a:prstGeom>
              <a:blipFill>
                <a:blip r:embed="rId13"/>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Object 18"/>
              <p:cNvSpPr txBox="1"/>
              <p:nvPr/>
            </p:nvSpPr>
            <p:spPr bwMode="auto">
              <a:xfrm>
                <a:off x="6833846" y="5021824"/>
                <a:ext cx="1989976" cy="522994"/>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latin typeface="Cambria Math" panose="02040503050406030204" pitchFamily="18" charset="0"/>
                          <a:ea typeface="黑体" panose="02010609060101010101" pitchFamily="49" charset="-122"/>
                          <a:cs typeface="黑体" panose="02010609060101010101" pitchFamily="49" charset="-122"/>
                        </a:rPr>
                        <m:t>∴</m:t>
                      </m:r>
                      <m:func>
                        <m:funcPr>
                          <m:ctrlPr>
                            <a:rPr kumimoji="1" lang="zh-CN" altLang="en-US" sz="2200" i="1">
                              <a:latin typeface="Cambria Math" panose="02040503050406030204" pitchFamily="18" charset="0"/>
                              <a:ea typeface="黑体" panose="02010609060101010101" pitchFamily="49" charset="-122"/>
                              <a:cs typeface="黑体" panose="02010609060101010101" pitchFamily="49" charset="-122"/>
                            </a:rPr>
                          </m:ctrlPr>
                        </m:funcPr>
                        <m:fName>
                          <m:r>
                            <m:rPr>
                              <m:sty m:val="p"/>
                            </m:rPr>
                            <a:rPr kumimoji="1" lang="zh-CN" altLang="en-US" sz="2200">
                              <a:latin typeface="Cambria Math" panose="02040503050406030204" pitchFamily="18" charset="0"/>
                              <a:ea typeface="黑体" panose="02010609060101010101" pitchFamily="49" charset="-122"/>
                              <a:cs typeface="黑体" panose="02010609060101010101" pitchFamily="49" charset="-122"/>
                            </a:rPr>
                            <m:t>cos</m:t>
                          </m:r>
                        </m:fName>
                        <m:e>
                          <m:r>
                            <a:rPr kumimoji="1" lang="zh-CN" altLang="en-US" sz="2200">
                              <a:latin typeface="Cambria Math" panose="02040503050406030204" pitchFamily="18" charset="0"/>
                              <a:ea typeface="黑体" panose="02010609060101010101" pitchFamily="49" charset="-122"/>
                              <a:cs typeface="黑体" panose="02010609060101010101" pitchFamily="49" charset="-122"/>
                            </a:rPr>
                            <m:t>𝜃</m:t>
                          </m:r>
                        </m:e>
                      </m:func>
                      <m:r>
                        <a:rPr kumimoji="1" lang="zh-CN" altLang="en-US" sz="2200">
                          <a:latin typeface="Cambria Math" panose="02040503050406030204" pitchFamily="18" charset="0"/>
                          <a:ea typeface="黑体" panose="02010609060101010101" pitchFamily="49" charset="-122"/>
                          <a:cs typeface="黑体" panose="02010609060101010101" pitchFamily="49" charset="-122"/>
                        </a:rPr>
                        <m:t>=0,</m:t>
                      </m:r>
                    </m:oMath>
                  </m:oMathPara>
                </a14:m>
                <a:endParaRPr kumimoji="1" lang="zh-CN" altLang="en-US" sz="2200" dirty="0">
                  <a:latin typeface="Cambria Math" panose="02040503050406030204" pitchFamily="18" charset="0"/>
                  <a:ea typeface="黑体" panose="02010609060101010101" pitchFamily="49" charset="-122"/>
                  <a:cs typeface="黑体" panose="02010609060101010101" pitchFamily="49" charset="-122"/>
                </a:endParaRPr>
              </a:p>
            </p:txBody>
          </p:sp>
        </mc:Choice>
        <mc:Fallback xmlns="">
          <p:sp>
            <p:nvSpPr>
              <p:cNvPr id="14" name="Object 18"/>
              <p:cNvSpPr txBox="1">
                <a:spLocks noRot="1" noChangeAspect="1" noMove="1" noResize="1" noEditPoints="1" noAdjustHandles="1" noChangeArrowheads="1" noChangeShapeType="1" noTextEdit="1"/>
              </p:cNvSpPr>
              <p:nvPr/>
            </p:nvSpPr>
            <p:spPr bwMode="auto">
              <a:xfrm>
                <a:off x="6833846" y="5021824"/>
                <a:ext cx="1989976" cy="522994"/>
              </a:xfrm>
              <a:prstGeom prst="rect">
                <a:avLst/>
              </a:prstGeom>
              <a:blipFill>
                <a:blip r:embed="rId14"/>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Object 19"/>
              <p:cNvSpPr txBox="1"/>
              <p:nvPr/>
            </p:nvSpPr>
            <p:spPr bwMode="auto">
              <a:xfrm>
                <a:off x="4799308" y="5657192"/>
                <a:ext cx="3029526" cy="477852"/>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kumimoji="1" lang="en-US" altLang="zh-CN" sz="2200" b="1" i="1">
                          <a:latin typeface="Cambria Math" panose="02040503050406030204" pitchFamily="18" charset="0"/>
                          <a:ea typeface="黑体" panose="02010609060101010101" pitchFamily="49" charset="-122"/>
                          <a:cs typeface="黑体" panose="02010609060101010101" pitchFamily="49" charset="-122"/>
                        </a:rPr>
                        <m:t>𝒂</m:t>
                      </m:r>
                      <m:r>
                        <a:rPr kumimoji="1" lang="zh-CN" altLang="en-US" sz="2200">
                          <a:latin typeface="Cambria Math" panose="02040503050406030204" pitchFamily="18" charset="0"/>
                          <a:ea typeface="黑体" panose="02010609060101010101" pitchFamily="49" charset="-122"/>
                          <a:cs typeface="黑体" panose="02010609060101010101" pitchFamily="49" charset="-122"/>
                        </a:rPr>
                        <m:t>⋅</m:t>
                      </m:r>
                      <m:r>
                        <a:rPr kumimoji="1" lang="en-US" altLang="zh-CN" sz="2200" b="1" i="1">
                          <a:latin typeface="Cambria Math" panose="02040503050406030204" pitchFamily="18" charset="0"/>
                          <a:ea typeface="黑体" panose="02010609060101010101" pitchFamily="49" charset="-122"/>
                          <a:cs typeface="黑体" panose="02010609060101010101" pitchFamily="49" charset="-122"/>
                        </a:rPr>
                        <m:t>𝒃</m:t>
                      </m:r>
                      <m:r>
                        <a:rPr kumimoji="1" lang="zh-CN" altLang="en-US" sz="2200">
                          <a:latin typeface="Cambria Math" panose="02040503050406030204" pitchFamily="18" charset="0"/>
                          <a:ea typeface="黑体" panose="02010609060101010101" pitchFamily="49" charset="-122"/>
                          <a:cs typeface="黑体" panose="02010609060101010101" pitchFamily="49" charset="-122"/>
                        </a:rPr>
                        <m:t>=|</m:t>
                      </m:r>
                      <m:r>
                        <a:rPr kumimoji="1" lang="en-US" altLang="zh-CN" sz="2200" b="1" i="1">
                          <a:latin typeface="Cambria Math" panose="02040503050406030204" pitchFamily="18" charset="0"/>
                          <a:ea typeface="黑体" panose="02010609060101010101" pitchFamily="49" charset="-122"/>
                          <a:cs typeface="黑体" panose="02010609060101010101" pitchFamily="49" charset="-122"/>
                        </a:rPr>
                        <m:t>𝒂</m:t>
                      </m:r>
                      <m:r>
                        <a:rPr kumimoji="1" lang="zh-CN" altLang="en-US" sz="2200" b="1">
                          <a:latin typeface="Cambria Math" panose="02040503050406030204" pitchFamily="18" charset="0"/>
                          <a:ea typeface="黑体" panose="02010609060101010101" pitchFamily="49" charset="-122"/>
                          <a:cs typeface="黑体" panose="02010609060101010101" pitchFamily="49" charset="-122"/>
                        </a:rPr>
                        <m:t>||</m:t>
                      </m:r>
                      <m:r>
                        <a:rPr kumimoji="1" lang="en-US" altLang="zh-CN" sz="2200" b="1" i="1">
                          <a:latin typeface="Cambria Math" panose="02040503050406030204" pitchFamily="18" charset="0"/>
                          <a:ea typeface="黑体" panose="02010609060101010101" pitchFamily="49" charset="-122"/>
                          <a:cs typeface="黑体" panose="02010609060101010101" pitchFamily="49" charset="-122"/>
                        </a:rPr>
                        <m:t>𝒃</m:t>
                      </m:r>
                      <m:r>
                        <a:rPr kumimoji="1" lang="zh-CN" altLang="en-US" sz="2200">
                          <a:latin typeface="Cambria Math" panose="02040503050406030204" pitchFamily="18" charset="0"/>
                          <a:ea typeface="黑体" panose="02010609060101010101" pitchFamily="49" charset="-122"/>
                          <a:cs typeface="黑体" panose="02010609060101010101" pitchFamily="49" charset="-122"/>
                        </a:rPr>
                        <m:t>|</m:t>
                      </m:r>
                      <m:func>
                        <m:funcPr>
                          <m:ctrlPr>
                            <a:rPr kumimoji="1" lang="zh-CN" altLang="en-US" sz="2200" i="1">
                              <a:latin typeface="Cambria Math" panose="02040503050406030204" pitchFamily="18" charset="0"/>
                              <a:ea typeface="黑体" panose="02010609060101010101" pitchFamily="49" charset="-122"/>
                              <a:cs typeface="黑体" panose="02010609060101010101" pitchFamily="49" charset="-122"/>
                            </a:rPr>
                          </m:ctrlPr>
                        </m:funcPr>
                        <m:fName>
                          <m:r>
                            <m:rPr>
                              <m:sty m:val="p"/>
                            </m:rPr>
                            <a:rPr kumimoji="1" lang="zh-CN" altLang="en-US" sz="2200">
                              <a:latin typeface="Cambria Math" panose="02040503050406030204" pitchFamily="18" charset="0"/>
                              <a:ea typeface="黑体" panose="02010609060101010101" pitchFamily="49" charset="-122"/>
                              <a:cs typeface="黑体" panose="02010609060101010101" pitchFamily="49" charset="-122"/>
                            </a:rPr>
                            <m:t>cos</m:t>
                          </m:r>
                        </m:fName>
                        <m:e>
                          <m:r>
                            <a:rPr kumimoji="1" lang="zh-CN" altLang="en-US" sz="2200">
                              <a:latin typeface="Cambria Math" panose="02040503050406030204" pitchFamily="18" charset="0"/>
                              <a:ea typeface="黑体" panose="02010609060101010101" pitchFamily="49" charset="-122"/>
                              <a:cs typeface="黑体" panose="02010609060101010101" pitchFamily="49" charset="-122"/>
                            </a:rPr>
                            <m:t>𝜃</m:t>
                          </m:r>
                        </m:e>
                      </m:func>
                      <m:r>
                        <a:rPr kumimoji="1" lang="zh-CN" altLang="en-US" sz="2200">
                          <a:latin typeface="Cambria Math" panose="02040503050406030204" pitchFamily="18" charset="0"/>
                          <a:ea typeface="黑体" panose="02010609060101010101" pitchFamily="49" charset="-122"/>
                          <a:cs typeface="黑体" panose="02010609060101010101" pitchFamily="49" charset="-122"/>
                        </a:rPr>
                        <m:t>=0.</m:t>
                      </m:r>
                    </m:oMath>
                  </m:oMathPara>
                </a14:m>
                <a:endParaRPr kumimoji="1" lang="zh-CN" altLang="en-US" sz="2200" dirty="0">
                  <a:latin typeface="Cambria Math" panose="02040503050406030204" pitchFamily="18" charset="0"/>
                  <a:ea typeface="黑体" panose="02010609060101010101" pitchFamily="49" charset="-122"/>
                  <a:cs typeface="黑体" panose="02010609060101010101" pitchFamily="49" charset="-122"/>
                </a:endParaRPr>
              </a:p>
            </p:txBody>
          </p:sp>
        </mc:Choice>
        <mc:Fallback xmlns="">
          <p:sp>
            <p:nvSpPr>
              <p:cNvPr id="15" name="Object 19"/>
              <p:cNvSpPr txBox="1">
                <a:spLocks noRot="1" noChangeAspect="1" noMove="1" noResize="1" noEditPoints="1" noAdjustHandles="1" noChangeArrowheads="1" noChangeShapeType="1" noTextEdit="1"/>
              </p:cNvSpPr>
              <p:nvPr/>
            </p:nvSpPr>
            <p:spPr bwMode="auto">
              <a:xfrm>
                <a:off x="4799308" y="5657192"/>
                <a:ext cx="3029526" cy="477852"/>
              </a:xfrm>
              <a:prstGeom prst="rect">
                <a:avLst/>
              </a:prstGeom>
              <a:blipFill>
                <a:blip r:embed="rId15"/>
                <a:stretch>
                  <a:fillRect b="-7692"/>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Object 21"/>
              <p:cNvSpPr txBox="1"/>
              <p:nvPr/>
            </p:nvSpPr>
            <p:spPr bwMode="auto">
              <a:xfrm>
                <a:off x="3976411" y="1984535"/>
                <a:ext cx="1281054" cy="46877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latin typeface="Cambria Math" panose="02040503050406030204" pitchFamily="18" charset="0"/>
                          <a:ea typeface="黑体" panose="02010609060101010101" pitchFamily="49" charset="-122"/>
                          <a:cs typeface="黑体" panose="02010609060101010101" pitchFamily="49" charset="-122"/>
                        </a:rPr>
                        <m:t>∵</m:t>
                      </m:r>
                      <m:r>
                        <a:rPr kumimoji="1" lang="zh-CN" altLang="en-US" sz="2200">
                          <a:latin typeface="Cambria Math" panose="02040503050406030204" pitchFamily="18" charset="0"/>
                          <a:ea typeface="黑体" panose="02010609060101010101" pitchFamily="49" charset="-122"/>
                          <a:cs typeface="黑体" panose="02010609060101010101" pitchFamily="49" charset="-122"/>
                        </a:rPr>
                        <m:t>𝜃</m:t>
                      </m:r>
                      <m:r>
                        <a:rPr kumimoji="1" lang="zh-CN" altLang="en-US" sz="2200">
                          <a:latin typeface="Cambria Math" panose="02040503050406030204" pitchFamily="18" charset="0"/>
                          <a:ea typeface="黑体" panose="02010609060101010101" pitchFamily="49" charset="-122"/>
                          <a:cs typeface="黑体" panose="02010609060101010101" pitchFamily="49" charset="-122"/>
                        </a:rPr>
                        <m:t>=0,</m:t>
                      </m:r>
                    </m:oMath>
                  </m:oMathPara>
                </a14:m>
                <a:endParaRPr kumimoji="1" lang="zh-CN" altLang="en-US" sz="2200" dirty="0">
                  <a:latin typeface="Cambria Math" panose="02040503050406030204" pitchFamily="18" charset="0"/>
                  <a:ea typeface="黑体" panose="02010609060101010101" pitchFamily="49" charset="-122"/>
                  <a:cs typeface="黑体" panose="02010609060101010101" pitchFamily="49" charset="-122"/>
                </a:endParaRPr>
              </a:p>
            </p:txBody>
          </p:sp>
        </mc:Choice>
        <mc:Fallback xmlns="">
          <p:sp>
            <p:nvSpPr>
              <p:cNvPr id="16" name="Object 21"/>
              <p:cNvSpPr txBox="1">
                <a:spLocks noRot="1" noChangeAspect="1" noMove="1" noResize="1" noEditPoints="1" noAdjustHandles="1" noChangeArrowheads="1" noChangeShapeType="1" noTextEdit="1"/>
              </p:cNvSpPr>
              <p:nvPr/>
            </p:nvSpPr>
            <p:spPr bwMode="auto">
              <a:xfrm>
                <a:off x="3976411" y="1984535"/>
                <a:ext cx="1281054" cy="468777"/>
              </a:xfrm>
              <a:prstGeom prst="rect">
                <a:avLst/>
              </a:prstGeom>
              <a:blipFill>
                <a:blip r:embed="rId16"/>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Object 22"/>
              <p:cNvSpPr txBox="1"/>
              <p:nvPr/>
            </p:nvSpPr>
            <p:spPr bwMode="auto">
              <a:xfrm>
                <a:off x="5124393" y="1974731"/>
                <a:ext cx="3881655" cy="45209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kumimoji="1" lang="zh-CN" altLang="en-US" sz="2200" smtClean="0">
                          <a:latin typeface="Cambria Math" panose="02040503050406030204" pitchFamily="18" charset="0"/>
                          <a:ea typeface="黑体" panose="02010609060101010101" pitchFamily="49" charset="-122"/>
                          <a:cs typeface="黑体" panose="02010609060101010101" pitchFamily="49" charset="-122"/>
                        </a:rPr>
                        <m:t>∴</m:t>
                      </m:r>
                      <m:r>
                        <a:rPr kumimoji="1" lang="en-US" altLang="zh-CN" sz="2200" b="1" i="1" smtClean="0">
                          <a:latin typeface="Cambria Math" panose="02040503050406030204" pitchFamily="18" charset="0"/>
                          <a:ea typeface="黑体" panose="02010609060101010101" pitchFamily="49" charset="-122"/>
                          <a:cs typeface="黑体" panose="02010609060101010101" pitchFamily="49" charset="-122"/>
                        </a:rPr>
                        <m:t>𝒂</m:t>
                      </m:r>
                      <m:r>
                        <a:rPr kumimoji="1" lang="zh-CN" altLang="en-US" sz="2200" b="1">
                          <a:latin typeface="Cambria Math" panose="02040503050406030204" pitchFamily="18" charset="0"/>
                          <a:ea typeface="黑体" panose="02010609060101010101" pitchFamily="49" charset="-122"/>
                          <a:cs typeface="黑体" panose="02010609060101010101" pitchFamily="49" charset="-122"/>
                        </a:rPr>
                        <m:t>⋅</m:t>
                      </m:r>
                      <m:r>
                        <a:rPr kumimoji="1" lang="en-US" altLang="zh-CN" sz="2200" b="1" i="1" smtClean="0">
                          <a:latin typeface="Cambria Math" panose="02040503050406030204" pitchFamily="18" charset="0"/>
                          <a:ea typeface="黑体" panose="02010609060101010101" pitchFamily="49" charset="-122"/>
                          <a:cs typeface="黑体" panose="02010609060101010101" pitchFamily="49" charset="-122"/>
                        </a:rPr>
                        <m:t>𝒂</m:t>
                      </m:r>
                      <m:r>
                        <a:rPr kumimoji="1" lang="zh-CN" altLang="en-US" sz="2200">
                          <a:latin typeface="Cambria Math" panose="02040503050406030204" pitchFamily="18" charset="0"/>
                          <a:ea typeface="黑体" panose="02010609060101010101" pitchFamily="49" charset="-122"/>
                          <a:cs typeface="黑体" panose="02010609060101010101" pitchFamily="49" charset="-122"/>
                        </a:rPr>
                        <m:t>=|</m:t>
                      </m:r>
                      <m:r>
                        <a:rPr kumimoji="1" lang="en-US" altLang="zh-CN" sz="2200" b="1" i="1" smtClean="0">
                          <a:latin typeface="Cambria Math" panose="02040503050406030204" pitchFamily="18" charset="0"/>
                          <a:ea typeface="黑体" panose="02010609060101010101" pitchFamily="49" charset="-122"/>
                          <a:cs typeface="黑体" panose="02010609060101010101" pitchFamily="49" charset="-122"/>
                        </a:rPr>
                        <m:t>𝒂</m:t>
                      </m:r>
                      <m:r>
                        <a:rPr kumimoji="1" lang="zh-CN" altLang="en-US" sz="2200" b="1">
                          <a:latin typeface="Cambria Math" panose="02040503050406030204" pitchFamily="18" charset="0"/>
                          <a:ea typeface="黑体" panose="02010609060101010101" pitchFamily="49" charset="-122"/>
                          <a:cs typeface="黑体" panose="02010609060101010101" pitchFamily="49" charset="-122"/>
                        </a:rPr>
                        <m:t>||</m:t>
                      </m:r>
                      <m:r>
                        <a:rPr kumimoji="1" lang="en-US" altLang="zh-CN" sz="2200" b="1" i="1" smtClean="0">
                          <a:latin typeface="Cambria Math" panose="02040503050406030204" pitchFamily="18" charset="0"/>
                          <a:ea typeface="黑体" panose="02010609060101010101" pitchFamily="49" charset="-122"/>
                          <a:cs typeface="黑体" panose="02010609060101010101" pitchFamily="49" charset="-122"/>
                        </a:rPr>
                        <m:t>𝒂</m:t>
                      </m:r>
                      <m:r>
                        <a:rPr kumimoji="1" lang="zh-CN" altLang="en-US" sz="2200">
                          <a:latin typeface="Cambria Math" panose="02040503050406030204" pitchFamily="18" charset="0"/>
                          <a:ea typeface="黑体" panose="02010609060101010101" pitchFamily="49" charset="-122"/>
                          <a:cs typeface="黑体" panose="02010609060101010101" pitchFamily="49" charset="-122"/>
                        </a:rPr>
                        <m:t>|</m:t>
                      </m:r>
                      <m:func>
                        <m:funcPr>
                          <m:ctrlPr>
                            <a:rPr kumimoji="1" lang="zh-CN" altLang="en-US" sz="2200" i="1">
                              <a:latin typeface="Cambria Math" panose="02040503050406030204" pitchFamily="18" charset="0"/>
                              <a:ea typeface="黑体" panose="02010609060101010101" pitchFamily="49" charset="-122"/>
                              <a:cs typeface="黑体" panose="02010609060101010101" pitchFamily="49" charset="-122"/>
                            </a:rPr>
                          </m:ctrlPr>
                        </m:funcPr>
                        <m:fName>
                          <m:r>
                            <m:rPr>
                              <m:sty m:val="p"/>
                            </m:rPr>
                            <a:rPr kumimoji="1" lang="zh-CN" altLang="en-US" sz="2200">
                              <a:latin typeface="Cambria Math" panose="02040503050406030204" pitchFamily="18" charset="0"/>
                              <a:ea typeface="黑体" panose="02010609060101010101" pitchFamily="49" charset="-122"/>
                              <a:cs typeface="黑体" panose="02010609060101010101" pitchFamily="49" charset="-122"/>
                            </a:rPr>
                            <m:t>cos</m:t>
                          </m:r>
                        </m:fName>
                        <m:e>
                          <m:r>
                            <a:rPr kumimoji="1" lang="zh-CN" altLang="en-US" sz="2200">
                              <a:latin typeface="Cambria Math" panose="02040503050406030204" pitchFamily="18" charset="0"/>
                              <a:ea typeface="黑体" panose="02010609060101010101" pitchFamily="49" charset="-122"/>
                              <a:cs typeface="黑体" panose="02010609060101010101" pitchFamily="49" charset="-122"/>
                            </a:rPr>
                            <m:t>𝜃</m:t>
                          </m:r>
                        </m:e>
                      </m:func>
                      <m:r>
                        <a:rPr kumimoji="1" lang="zh-CN" altLang="en-US" sz="2200">
                          <a:latin typeface="Cambria Math" panose="02040503050406030204" pitchFamily="18" charset="0"/>
                          <a:ea typeface="黑体" panose="02010609060101010101" pitchFamily="49" charset="-122"/>
                          <a:cs typeface="黑体" panose="02010609060101010101" pitchFamily="49" charset="-122"/>
                        </a:rPr>
                        <m:t>=|</m:t>
                      </m:r>
                      <m:r>
                        <a:rPr kumimoji="1" lang="en-US" altLang="zh-CN" sz="2200" b="1" i="1" smtClean="0">
                          <a:latin typeface="Cambria Math" panose="02040503050406030204" pitchFamily="18" charset="0"/>
                          <a:ea typeface="黑体" panose="02010609060101010101" pitchFamily="49" charset="-122"/>
                          <a:cs typeface="黑体" panose="02010609060101010101" pitchFamily="49" charset="-122"/>
                        </a:rPr>
                        <m:t>𝒂</m:t>
                      </m:r>
                      <m:sSup>
                        <m:sSupPr>
                          <m:ctrlPr>
                            <a:rPr kumimoji="1" lang="zh-CN" altLang="en-US" sz="2200" i="1">
                              <a:latin typeface="Cambria Math" panose="02040503050406030204" pitchFamily="18" charset="0"/>
                              <a:ea typeface="黑体" panose="02010609060101010101" pitchFamily="49" charset="-122"/>
                              <a:cs typeface="黑体" panose="02010609060101010101" pitchFamily="49" charset="-122"/>
                            </a:rPr>
                          </m:ctrlPr>
                        </m:sSupPr>
                        <m:e>
                          <m:r>
                            <a:rPr kumimoji="1" lang="zh-CN" altLang="en-US" sz="2200">
                              <a:latin typeface="Cambria Math" panose="02040503050406030204" pitchFamily="18" charset="0"/>
                              <a:ea typeface="黑体" panose="02010609060101010101" pitchFamily="49" charset="-122"/>
                              <a:cs typeface="黑体" panose="02010609060101010101" pitchFamily="49" charset="-122"/>
                            </a:rPr>
                            <m:t>|</m:t>
                          </m:r>
                        </m:e>
                        <m:sup>
                          <m:r>
                            <a:rPr kumimoji="1" lang="zh-CN" altLang="en-US" sz="2200">
                              <a:latin typeface="Cambria Math" panose="02040503050406030204" pitchFamily="18" charset="0"/>
                              <a:ea typeface="黑体" panose="02010609060101010101" pitchFamily="49" charset="-122"/>
                              <a:cs typeface="黑体" panose="02010609060101010101" pitchFamily="49" charset="-122"/>
                            </a:rPr>
                            <m:t>2</m:t>
                          </m:r>
                        </m:sup>
                      </m:sSup>
                      <m:r>
                        <a:rPr kumimoji="1" lang="zh-CN" altLang="en-US" sz="2200">
                          <a:latin typeface="Cambria Math" panose="02040503050406030204" pitchFamily="18" charset="0"/>
                          <a:ea typeface="黑体" panose="02010609060101010101" pitchFamily="49" charset="-122"/>
                          <a:cs typeface="黑体" panose="02010609060101010101" pitchFamily="49" charset="-122"/>
                        </a:rPr>
                        <m:t>.</m:t>
                      </m:r>
                    </m:oMath>
                  </m:oMathPara>
                </a14:m>
                <a:endParaRPr kumimoji="1" lang="zh-CN" altLang="en-US" sz="2200" dirty="0">
                  <a:latin typeface="Cambria Math" panose="02040503050406030204" pitchFamily="18" charset="0"/>
                  <a:ea typeface="黑体" panose="02010609060101010101" pitchFamily="49" charset="-122"/>
                  <a:cs typeface="黑体" panose="02010609060101010101" pitchFamily="49" charset="-122"/>
                </a:endParaRPr>
              </a:p>
            </p:txBody>
          </p:sp>
        </mc:Choice>
        <mc:Fallback xmlns="">
          <p:sp>
            <p:nvSpPr>
              <p:cNvPr id="17" name="Object 22"/>
              <p:cNvSpPr txBox="1">
                <a:spLocks noRot="1" noChangeAspect="1" noMove="1" noResize="1" noEditPoints="1" noAdjustHandles="1" noChangeArrowheads="1" noChangeShapeType="1" noTextEdit="1"/>
              </p:cNvSpPr>
              <p:nvPr/>
            </p:nvSpPr>
            <p:spPr bwMode="auto">
              <a:xfrm>
                <a:off x="5124393" y="1974731"/>
                <a:ext cx="3881655" cy="452090"/>
              </a:xfrm>
              <a:prstGeom prst="rect">
                <a:avLst/>
              </a:prstGeom>
              <a:blipFill>
                <a:blip r:embed="rId17"/>
                <a:stretch>
                  <a:fillRect b="-13514"/>
                </a:stretch>
              </a:blipFill>
              <a:ln>
                <a:noFill/>
              </a:ln>
              <a:effectLst/>
            </p:spPr>
            <p:txBody>
              <a:bodyPr/>
              <a:lstStyle/>
              <a:p>
                <a:r>
                  <a:rPr lang="zh-CN" altLang="en-US">
                    <a:noFill/>
                  </a:rPr>
                  <a:t> </a:t>
                </a:r>
              </a:p>
            </p:txBody>
          </p:sp>
        </mc:Fallback>
      </mc:AlternateContent>
      <p:sp>
        <p:nvSpPr>
          <p:cNvPr id="18" name="Rectangle 23"/>
          <p:cNvSpPr>
            <a:spLocks noChangeArrowheads="1"/>
          </p:cNvSpPr>
          <p:nvPr/>
        </p:nvSpPr>
        <p:spPr bwMode="auto">
          <a:xfrm>
            <a:off x="3330142" y="1953647"/>
            <a:ext cx="593591"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1" hangingPunct="1"/>
            <a:r>
              <a:rPr kumimoji="1" lang="zh-CN" altLang="en-US" sz="2800" b="1" dirty="0">
                <a:solidFill>
                  <a:srgbClr val="04926A"/>
                </a:solidFill>
                <a:latin typeface="微软雅黑" panose="020B0503020204020204" pitchFamily="34" charset="-122"/>
                <a:ea typeface="微软雅黑" panose="020B0503020204020204" pitchFamily="34" charset="-122"/>
              </a:rPr>
              <a:t>证</a:t>
            </a:r>
          </a:p>
        </p:txBody>
      </p:sp>
      <p:sp>
        <p:nvSpPr>
          <p:cNvPr id="19" name="Rectangle 24"/>
          <p:cNvSpPr>
            <a:spLocks noChangeArrowheads="1"/>
          </p:cNvSpPr>
          <p:nvPr/>
        </p:nvSpPr>
        <p:spPr bwMode="auto">
          <a:xfrm>
            <a:off x="3330142" y="3363869"/>
            <a:ext cx="65787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kumimoji="1" lang="zh-CN" altLang="en-US" sz="2800" b="1" dirty="0">
                <a:solidFill>
                  <a:srgbClr val="04926A"/>
                </a:solidFill>
                <a:latin typeface="微软雅黑" panose="020B0503020204020204" pitchFamily="34" charset="-122"/>
                <a:ea typeface="微软雅黑" panose="020B0503020204020204" pitchFamily="34" charset="-122"/>
              </a:rPr>
              <a:t>证</a:t>
            </a:r>
          </a:p>
        </p:txBody>
      </p:sp>
      <p:grpSp>
        <p:nvGrpSpPr>
          <p:cNvPr id="20" name="Group 26"/>
          <p:cNvGrpSpPr>
            <a:grpSpLocks/>
          </p:cNvGrpSpPr>
          <p:nvPr/>
        </p:nvGrpSpPr>
        <p:grpSpPr bwMode="auto">
          <a:xfrm>
            <a:off x="6018755" y="4000839"/>
            <a:ext cx="1074562" cy="719129"/>
            <a:chOff x="2668" y="2331"/>
            <a:chExt cx="636" cy="459"/>
          </a:xfrm>
        </p:grpSpPr>
        <mc:AlternateContent xmlns:mc="http://schemas.openxmlformats.org/markup-compatibility/2006" xmlns:a14="http://schemas.microsoft.com/office/drawing/2010/main">
          <mc:Choice Requires="a14">
            <p:sp>
              <p:nvSpPr>
                <p:cNvPr id="21" name="Object 12"/>
                <p:cNvSpPr txBox="1"/>
                <p:nvPr/>
              </p:nvSpPr>
              <p:spPr bwMode="auto">
                <a:xfrm>
                  <a:off x="2668" y="2400"/>
                  <a:ext cx="636" cy="34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latin typeface="Cambria Math" panose="02040503050406030204" pitchFamily="18" charset="0"/>
                            <a:ea typeface="黑体" panose="02010609060101010101" pitchFamily="49" charset="-122"/>
                            <a:cs typeface="黑体" panose="02010609060101010101" pitchFamily="49" charset="-122"/>
                          </a:rPr>
                          <m:t>𝜃</m:t>
                        </m:r>
                        <m:r>
                          <a:rPr kumimoji="1" lang="zh-CN" altLang="en-US" sz="2200">
                            <a:latin typeface="Cambria Math" panose="02040503050406030204" pitchFamily="18" charset="0"/>
                            <a:ea typeface="黑体" panose="02010609060101010101" pitchFamily="49" charset="-122"/>
                            <a:cs typeface="黑体" panose="02010609060101010101" pitchFamily="49" charset="-122"/>
                          </a:rPr>
                          <m:t>=</m:t>
                        </m:r>
                      </m:oMath>
                    </m:oMathPara>
                  </a14:m>
                  <a:endParaRPr kumimoji="1" lang="zh-CN" altLang="en-US" sz="2200" dirty="0">
                    <a:latin typeface="Cambria Math" panose="02040503050406030204" pitchFamily="18" charset="0"/>
                    <a:ea typeface="黑体" panose="02010609060101010101" pitchFamily="49" charset="-122"/>
                    <a:cs typeface="黑体" panose="02010609060101010101" pitchFamily="49" charset="-122"/>
                  </a:endParaRPr>
                </a:p>
              </p:txBody>
            </p:sp>
          </mc:Choice>
          <mc:Fallback xmlns="">
            <p:sp>
              <p:nvSpPr>
                <p:cNvPr id="21" name="Object 12"/>
                <p:cNvSpPr txBox="1">
                  <a:spLocks noRot="1" noChangeAspect="1" noMove="1" noResize="1" noEditPoints="1" noAdjustHandles="1" noChangeArrowheads="1" noChangeShapeType="1" noTextEdit="1"/>
                </p:cNvSpPr>
                <p:nvPr/>
              </p:nvSpPr>
              <p:spPr bwMode="auto">
                <a:xfrm>
                  <a:off x="2668" y="2400"/>
                  <a:ext cx="636" cy="343"/>
                </a:xfrm>
                <a:prstGeom prst="rect">
                  <a:avLst/>
                </a:prstGeom>
                <a:blipFill>
                  <a:blip r:embed="rId18"/>
                  <a:stretch>
                    <a:fillRect l="-568"/>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Object 25"/>
                <p:cNvSpPr txBox="1"/>
                <p:nvPr/>
              </p:nvSpPr>
              <p:spPr bwMode="auto">
                <a:xfrm>
                  <a:off x="2964" y="2331"/>
                  <a:ext cx="254" cy="459"/>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f>
                          <m:fPr>
                            <m:ctrlPr>
                              <a:rPr kumimoji="1" lang="zh-CN" altLang="en-US" sz="2200" i="1">
                                <a:latin typeface="Cambria Math" panose="02040503050406030204" pitchFamily="18" charset="0"/>
                                <a:ea typeface="黑体" panose="02010609060101010101" pitchFamily="49" charset="-122"/>
                                <a:cs typeface="黑体" panose="02010609060101010101" pitchFamily="49" charset="-122"/>
                              </a:rPr>
                            </m:ctrlPr>
                          </m:fPr>
                          <m:num>
                            <m:r>
                              <m:rPr>
                                <m:sty m:val="p"/>
                              </m:rPr>
                              <a:rPr kumimoji="1" lang="zh-CN" altLang="en-US" sz="2200" i="0">
                                <a:latin typeface="Cambria Math" panose="02040503050406030204" pitchFamily="18" charset="0"/>
                                <a:ea typeface="黑体" panose="02010609060101010101" pitchFamily="49" charset="-122"/>
                                <a:cs typeface="黑体" panose="02010609060101010101" pitchFamily="49" charset="-122"/>
                              </a:rPr>
                              <m:t>π</m:t>
                            </m:r>
                          </m:num>
                          <m:den>
                            <m:r>
                              <a:rPr kumimoji="1" lang="zh-CN" altLang="en-US" sz="2200">
                                <a:latin typeface="Cambria Math" panose="02040503050406030204" pitchFamily="18" charset="0"/>
                                <a:ea typeface="黑体" panose="02010609060101010101" pitchFamily="49" charset="-122"/>
                                <a:cs typeface="黑体" panose="02010609060101010101" pitchFamily="49" charset="-122"/>
                              </a:rPr>
                              <m:t>2</m:t>
                            </m:r>
                          </m:den>
                        </m:f>
                        <m:r>
                          <a:rPr kumimoji="1" lang="zh-CN" altLang="en-US" sz="2200">
                            <a:latin typeface="Cambria Math" panose="02040503050406030204" pitchFamily="18" charset="0"/>
                            <a:ea typeface="黑体" panose="02010609060101010101" pitchFamily="49" charset="-122"/>
                            <a:cs typeface="黑体" panose="02010609060101010101" pitchFamily="49" charset="-122"/>
                          </a:rPr>
                          <m:t>,</m:t>
                        </m:r>
                      </m:oMath>
                    </m:oMathPara>
                  </a14:m>
                  <a:endParaRPr kumimoji="1" lang="zh-CN" altLang="en-US" sz="2200" dirty="0">
                    <a:latin typeface="Cambria Math" panose="02040503050406030204" pitchFamily="18" charset="0"/>
                    <a:ea typeface="黑体" panose="02010609060101010101" pitchFamily="49" charset="-122"/>
                    <a:cs typeface="黑体" panose="02010609060101010101" pitchFamily="49" charset="-122"/>
                  </a:endParaRPr>
                </a:p>
              </p:txBody>
            </p:sp>
          </mc:Choice>
          <mc:Fallback xmlns="">
            <p:sp>
              <p:nvSpPr>
                <p:cNvPr id="22" name="Object 25"/>
                <p:cNvSpPr txBox="1">
                  <a:spLocks noRot="1" noChangeAspect="1" noMove="1" noResize="1" noEditPoints="1" noAdjustHandles="1" noChangeArrowheads="1" noChangeShapeType="1" noTextEdit="1"/>
                </p:cNvSpPr>
                <p:nvPr/>
              </p:nvSpPr>
              <p:spPr bwMode="auto">
                <a:xfrm>
                  <a:off x="2964" y="2331"/>
                  <a:ext cx="254" cy="459"/>
                </a:xfrm>
                <a:prstGeom prst="rect">
                  <a:avLst/>
                </a:prstGeom>
                <a:blipFill>
                  <a:blip r:embed="rId19"/>
                  <a:stretch>
                    <a:fillRect/>
                  </a:stretch>
                </a:blipFill>
                <a:ln>
                  <a:noFill/>
                </a:ln>
                <a:effectLst/>
              </p:spPr>
              <p:txBody>
                <a:bodyPr/>
                <a:lstStyle/>
                <a:p>
                  <a:r>
                    <a:rPr lang="zh-CN" altLang="en-US">
                      <a:noFill/>
                    </a:rPr>
                    <a:t> </a:t>
                  </a:r>
                </a:p>
              </p:txBody>
            </p:sp>
          </mc:Fallback>
        </mc:AlternateContent>
      </p:grpSp>
      <p:grpSp>
        <p:nvGrpSpPr>
          <p:cNvPr id="23" name="Group 28"/>
          <p:cNvGrpSpPr>
            <a:grpSpLocks/>
          </p:cNvGrpSpPr>
          <p:nvPr/>
        </p:nvGrpSpPr>
        <p:grpSpPr bwMode="auto">
          <a:xfrm>
            <a:off x="5643671" y="4840111"/>
            <a:ext cx="1200764" cy="766900"/>
            <a:chOff x="2066" y="2853"/>
            <a:chExt cx="776" cy="459"/>
          </a:xfrm>
        </p:grpSpPr>
        <mc:AlternateContent xmlns:mc="http://schemas.openxmlformats.org/markup-compatibility/2006" xmlns:a14="http://schemas.microsoft.com/office/drawing/2010/main">
          <mc:Choice Requires="a14">
            <p:sp>
              <p:nvSpPr>
                <p:cNvPr id="24" name="Object 17"/>
                <p:cNvSpPr txBox="1"/>
                <p:nvPr/>
              </p:nvSpPr>
              <p:spPr bwMode="auto">
                <a:xfrm>
                  <a:off x="2595" y="2853"/>
                  <a:ext cx="247" cy="459"/>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f>
                          <m:fPr>
                            <m:ctrlPr>
                              <a:rPr kumimoji="1" lang="zh-CN" altLang="en-US" sz="2200" i="1">
                                <a:latin typeface="Cambria Math" panose="02040503050406030204" pitchFamily="18" charset="0"/>
                                <a:ea typeface="黑体" panose="02010609060101010101" pitchFamily="49" charset="-122"/>
                                <a:cs typeface="黑体" panose="02010609060101010101" pitchFamily="49" charset="-122"/>
                              </a:rPr>
                            </m:ctrlPr>
                          </m:fPr>
                          <m:num>
                            <m:r>
                              <m:rPr>
                                <m:sty m:val="p"/>
                              </m:rPr>
                              <a:rPr kumimoji="1" lang="zh-CN" altLang="en-US" sz="2200" i="0">
                                <a:latin typeface="Cambria Math" panose="02040503050406030204" pitchFamily="18" charset="0"/>
                                <a:ea typeface="黑体" panose="02010609060101010101" pitchFamily="49" charset="-122"/>
                                <a:cs typeface="黑体" panose="02010609060101010101" pitchFamily="49" charset="-122"/>
                              </a:rPr>
                              <m:t>π</m:t>
                            </m:r>
                          </m:num>
                          <m:den>
                            <m:r>
                              <a:rPr kumimoji="1" lang="zh-CN" altLang="en-US" sz="2200">
                                <a:latin typeface="Cambria Math" panose="02040503050406030204" pitchFamily="18" charset="0"/>
                                <a:ea typeface="黑体" panose="02010609060101010101" pitchFamily="49" charset="-122"/>
                                <a:cs typeface="黑体" panose="02010609060101010101" pitchFamily="49" charset="-122"/>
                              </a:rPr>
                              <m:t>2</m:t>
                            </m:r>
                          </m:den>
                        </m:f>
                        <m:r>
                          <a:rPr kumimoji="1" lang="zh-CN" altLang="en-US" sz="2200">
                            <a:latin typeface="Cambria Math" panose="02040503050406030204" pitchFamily="18" charset="0"/>
                            <a:ea typeface="黑体" panose="02010609060101010101" pitchFamily="49" charset="-122"/>
                            <a:cs typeface="黑体" panose="02010609060101010101" pitchFamily="49" charset="-122"/>
                          </a:rPr>
                          <m:t>,</m:t>
                        </m:r>
                      </m:oMath>
                    </m:oMathPara>
                  </a14:m>
                  <a:endParaRPr kumimoji="1" lang="zh-CN" altLang="en-US" sz="2200" dirty="0">
                    <a:latin typeface="Cambria Math" panose="02040503050406030204" pitchFamily="18" charset="0"/>
                    <a:ea typeface="黑体" panose="02010609060101010101" pitchFamily="49" charset="-122"/>
                    <a:cs typeface="黑体" panose="02010609060101010101" pitchFamily="49" charset="-122"/>
                  </a:endParaRPr>
                </a:p>
              </p:txBody>
            </p:sp>
          </mc:Choice>
          <mc:Fallback xmlns="">
            <p:sp>
              <p:nvSpPr>
                <p:cNvPr id="24" name="Object 17"/>
                <p:cNvSpPr txBox="1">
                  <a:spLocks noRot="1" noChangeAspect="1" noMove="1" noResize="1" noEditPoints="1" noAdjustHandles="1" noChangeArrowheads="1" noChangeShapeType="1" noTextEdit="1"/>
                </p:cNvSpPr>
                <p:nvPr/>
              </p:nvSpPr>
              <p:spPr bwMode="auto">
                <a:xfrm>
                  <a:off x="2595" y="2853"/>
                  <a:ext cx="247" cy="459"/>
                </a:xfrm>
                <a:prstGeom prst="rect">
                  <a:avLst/>
                </a:prstGeom>
                <a:blipFill>
                  <a:blip r:embed="rId20"/>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Object 27"/>
                <p:cNvSpPr txBox="1"/>
                <p:nvPr/>
              </p:nvSpPr>
              <p:spPr bwMode="auto">
                <a:xfrm>
                  <a:off x="2066" y="2954"/>
                  <a:ext cx="595" cy="286"/>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latin typeface="Cambria Math" panose="02040503050406030204" pitchFamily="18" charset="0"/>
                            <a:ea typeface="黑体" panose="02010609060101010101" pitchFamily="49" charset="-122"/>
                            <a:cs typeface="黑体" panose="02010609060101010101" pitchFamily="49" charset="-122"/>
                          </a:rPr>
                          <m:t>∴</m:t>
                        </m:r>
                        <m:r>
                          <a:rPr kumimoji="1" lang="zh-CN" altLang="en-US" sz="2200">
                            <a:latin typeface="Cambria Math" panose="02040503050406030204" pitchFamily="18" charset="0"/>
                            <a:ea typeface="黑体" panose="02010609060101010101" pitchFamily="49" charset="-122"/>
                            <a:cs typeface="黑体" panose="02010609060101010101" pitchFamily="49" charset="-122"/>
                          </a:rPr>
                          <m:t>𝜃</m:t>
                        </m:r>
                        <m:r>
                          <a:rPr kumimoji="1" lang="zh-CN" altLang="en-US" sz="2200">
                            <a:latin typeface="Cambria Math" panose="02040503050406030204" pitchFamily="18" charset="0"/>
                            <a:ea typeface="黑体" panose="02010609060101010101" pitchFamily="49" charset="-122"/>
                            <a:cs typeface="黑体" panose="02010609060101010101" pitchFamily="49" charset="-122"/>
                          </a:rPr>
                          <m:t>=</m:t>
                        </m:r>
                      </m:oMath>
                    </m:oMathPara>
                  </a14:m>
                  <a:endParaRPr kumimoji="1" lang="zh-CN" altLang="en-US" sz="2200" dirty="0">
                    <a:latin typeface="Cambria Math" panose="02040503050406030204" pitchFamily="18" charset="0"/>
                    <a:ea typeface="黑体" panose="02010609060101010101" pitchFamily="49" charset="-122"/>
                    <a:cs typeface="黑体" panose="02010609060101010101" pitchFamily="49" charset="-122"/>
                  </a:endParaRPr>
                </a:p>
              </p:txBody>
            </p:sp>
          </mc:Choice>
          <mc:Fallback xmlns="">
            <p:sp>
              <p:nvSpPr>
                <p:cNvPr id="25" name="Object 27"/>
                <p:cNvSpPr txBox="1">
                  <a:spLocks noRot="1" noChangeAspect="1" noMove="1" noResize="1" noEditPoints="1" noAdjustHandles="1" noChangeArrowheads="1" noChangeShapeType="1" noTextEdit="1"/>
                </p:cNvSpPr>
                <p:nvPr/>
              </p:nvSpPr>
              <p:spPr bwMode="auto">
                <a:xfrm>
                  <a:off x="2066" y="2954"/>
                  <a:ext cx="595" cy="286"/>
                </a:xfrm>
                <a:prstGeom prst="rect">
                  <a:avLst/>
                </a:prstGeom>
                <a:blipFill>
                  <a:blip r:embed="rId21"/>
                  <a:stretch>
                    <a:fillRect/>
                  </a:stretch>
                </a:blipFill>
                <a:ln>
                  <a:noFill/>
                </a:ln>
                <a:effectLst/>
              </p:spPr>
              <p:txBody>
                <a:bodyPr/>
                <a:lstStyle/>
                <a:p>
                  <a:r>
                    <a:rPr lang="zh-CN" altLang="en-US">
                      <a:noFill/>
                    </a:rPr>
                    <a:t> </a:t>
                  </a:r>
                </a:p>
              </p:txBody>
            </p:sp>
          </mc:Fallback>
        </mc:AlternateContent>
      </p:grpSp>
      <p:sp>
        <p:nvSpPr>
          <p:cNvPr id="26" name="Text Box 40"/>
          <p:cNvSpPr txBox="1">
            <a:spLocks noChangeArrowheads="1"/>
          </p:cNvSpPr>
          <p:nvPr/>
        </p:nvSpPr>
        <p:spPr bwMode="auto">
          <a:xfrm>
            <a:off x="2625224" y="750395"/>
            <a:ext cx="157228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en-US" altLang="zh-CN" sz="2800" b="1" dirty="0">
                <a:solidFill>
                  <a:srgbClr val="04926A"/>
                </a:solidFill>
                <a:latin typeface="微软雅黑" panose="020B0503020204020204" pitchFamily="34" charset="-122"/>
                <a:ea typeface="微软雅黑" panose="020B0503020204020204" pitchFamily="34" charset="-122"/>
              </a:rPr>
              <a:t>2.  </a:t>
            </a:r>
            <a:r>
              <a:rPr kumimoji="1" lang="zh-CN" altLang="en-US" sz="2800" b="1" dirty="0">
                <a:solidFill>
                  <a:srgbClr val="04926A"/>
                </a:solidFill>
                <a:latin typeface="微软雅黑" panose="020B0503020204020204" pitchFamily="34" charset="-122"/>
                <a:ea typeface="微软雅黑" panose="020B0503020204020204" pitchFamily="34" charset="-122"/>
              </a:rPr>
              <a:t>性质</a:t>
            </a:r>
          </a:p>
        </p:txBody>
      </p:sp>
      <mc:AlternateContent xmlns:mc="http://schemas.openxmlformats.org/markup-compatibility/2006" xmlns:a14="http://schemas.microsoft.com/office/drawing/2010/main">
        <mc:Choice Requires="a14">
          <p:sp>
            <p:nvSpPr>
              <p:cNvPr id="3" name="Object 4"/>
              <p:cNvSpPr txBox="1"/>
              <p:nvPr/>
            </p:nvSpPr>
            <p:spPr bwMode="auto">
              <a:xfrm>
                <a:off x="5263390" y="2633410"/>
                <a:ext cx="511969" cy="432981"/>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i="1" smtClean="0">
                          <a:solidFill>
                            <a:srgbClr val="04926A"/>
                          </a:solidFill>
                          <a:latin typeface="Cambria Math" panose="02040503050406030204" pitchFamily="18" charset="0"/>
                          <a:ea typeface="黑体" panose="02010609060101010101" pitchFamily="49" charset="-122"/>
                          <a:cs typeface="黑体" panose="02010609060101010101" pitchFamily="49" charset="-122"/>
                        </a:rPr>
                        <m:t>⇔</m:t>
                      </m:r>
                    </m:oMath>
                  </m:oMathPara>
                </a14:m>
                <a:endParaRPr kumimoji="1" lang="zh-CN" altLang="en-US" sz="2800" dirty="0">
                  <a:solidFill>
                    <a:srgbClr val="04926A"/>
                  </a:solidFill>
                  <a:latin typeface="Cambria Math" panose="02040503050406030204" pitchFamily="18" charset="0"/>
                  <a:ea typeface="黑体" panose="02010609060101010101" pitchFamily="49" charset="-122"/>
                  <a:cs typeface="黑体" panose="02010609060101010101" pitchFamily="49" charset="-122"/>
                </a:endParaRPr>
              </a:p>
            </p:txBody>
          </p:sp>
        </mc:Choice>
        <mc:Fallback xmlns="">
          <p:sp>
            <p:nvSpPr>
              <p:cNvPr id="3" name="Object 4"/>
              <p:cNvSpPr txBox="1">
                <a:spLocks noRot="1" noChangeAspect="1" noMove="1" noResize="1" noEditPoints="1" noAdjustHandles="1" noChangeArrowheads="1" noChangeShapeType="1" noTextEdit="1"/>
              </p:cNvSpPr>
              <p:nvPr/>
            </p:nvSpPr>
            <p:spPr bwMode="auto">
              <a:xfrm>
                <a:off x="5263390" y="2633410"/>
                <a:ext cx="511969" cy="432981"/>
              </a:xfrm>
              <a:prstGeom prst="rect">
                <a:avLst/>
              </a:prstGeom>
              <a:blipFill>
                <a:blip r:embed="rId22"/>
                <a:stretch>
                  <a:fillRect/>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23733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500"/>
                                        <p:tgtEl>
                                          <p:spTgt spid="26"/>
                                        </p:tgtEl>
                                      </p:cBhvr>
                                    </p:animEffect>
                                  </p:childTnLst>
                                </p:cTn>
                              </p:par>
                              <p:par>
                                <p:cTn id="8" presetID="22" presetClass="entr" presetSubtype="8" fill="hold"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wipe(left)">
                                      <p:cBhvr>
                                        <p:cTn id="10" dur="500"/>
                                        <p:tgtEl>
                                          <p:spTgt spid="4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wipe(left)">
                                      <p:cBhvr>
                                        <p:cTn id="20" dur="5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5" dur="5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30" dur="500"/>
                                        <p:tgtEl>
                                          <p:spTgt spid="1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left)">
                                      <p:cBhvr>
                                        <p:cTn id="35" dur="500"/>
                                        <p:tgtEl>
                                          <p:spTgt spid="2"/>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wipe(down)">
                                      <p:cBhvr>
                                        <p:cTn id="38" dur="500"/>
                                        <p:tgtEl>
                                          <p:spTgt spid="3"/>
                                        </p:tgtEl>
                                      </p:cBhvr>
                                    </p:animEffect>
                                  </p:childTnLst>
                                </p:cTn>
                              </p:par>
                            </p:childTnLst>
                          </p:cTn>
                        </p:par>
                        <p:par>
                          <p:cTn id="39" fill="hold">
                            <p:stCondLst>
                              <p:cond delay="500"/>
                            </p:stCondLst>
                            <p:childTnLst>
                              <p:par>
                                <p:cTn id="40" presetID="22" presetClass="entr" presetSubtype="8" fill="hold" grpId="0" nodeType="after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wipe(left)">
                                      <p:cBhvr>
                                        <p:cTn id="42" dur="500"/>
                                        <p:tgtEl>
                                          <p:spTgt spid="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left)">
                                      <p:cBhvr>
                                        <p:cTn id="47" dur="50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wipe(left)">
                                      <p:cBhvr>
                                        <p:cTn id="52" dur="500"/>
                                        <p:tgtEl>
                                          <p:spTgt spid="5"/>
                                        </p:tgtEl>
                                      </p:cBhvr>
                                    </p:animEffect>
                                  </p:childTnLst>
                                </p:cTn>
                              </p:par>
                            </p:childTnLst>
                          </p:cTn>
                        </p:par>
                        <p:par>
                          <p:cTn id="53" fill="hold">
                            <p:stCondLst>
                              <p:cond delay="500"/>
                            </p:stCondLst>
                            <p:childTnLst>
                              <p:par>
                                <p:cTn id="54" presetID="22" presetClass="entr" presetSubtype="8" fill="hold" grpId="0" nodeType="afterEffect">
                                  <p:stCondLst>
                                    <p:cond delay="0"/>
                                  </p:stCondLst>
                                  <p:childTnLst>
                                    <p:set>
                                      <p:cBhvr>
                                        <p:cTn id="55" dur="1" fill="hold">
                                          <p:stCondLst>
                                            <p:cond delay="0"/>
                                          </p:stCondLst>
                                        </p:cTn>
                                        <p:tgtEl>
                                          <p:spTgt spid="6"/>
                                        </p:tgtEl>
                                        <p:attrNameLst>
                                          <p:attrName>style.visibility</p:attrName>
                                        </p:attrNameLst>
                                      </p:cBhvr>
                                      <p:to>
                                        <p:strVal val="visible"/>
                                      </p:to>
                                    </p:set>
                                    <p:animEffect transition="in" filter="wipe(left)">
                                      <p:cBhvr>
                                        <p:cTn id="56" dur="500"/>
                                        <p:tgtEl>
                                          <p:spTgt spid="6"/>
                                        </p:tgtEl>
                                      </p:cBhvr>
                                    </p:animEffect>
                                  </p:childTnLst>
                                </p:cTn>
                              </p:par>
                            </p:childTnLst>
                          </p:cTn>
                        </p:par>
                        <p:par>
                          <p:cTn id="57" fill="hold">
                            <p:stCondLst>
                              <p:cond delay="1000"/>
                            </p:stCondLst>
                            <p:childTnLst>
                              <p:par>
                                <p:cTn id="58" presetID="22" presetClass="entr" presetSubtype="8" fill="hold" grpId="0" nodeType="afterEffect">
                                  <p:stCondLst>
                                    <p:cond delay="0"/>
                                  </p:stCondLst>
                                  <p:childTnLst>
                                    <p:set>
                                      <p:cBhvr>
                                        <p:cTn id="59" dur="1" fill="hold">
                                          <p:stCondLst>
                                            <p:cond delay="0"/>
                                          </p:stCondLst>
                                        </p:cTn>
                                        <p:tgtEl>
                                          <p:spTgt spid="7"/>
                                        </p:tgtEl>
                                        <p:attrNameLst>
                                          <p:attrName>style.visibility</p:attrName>
                                        </p:attrNameLst>
                                      </p:cBhvr>
                                      <p:to>
                                        <p:strVal val="visible"/>
                                      </p:to>
                                    </p:set>
                                    <p:animEffect transition="in" filter="wipe(left)">
                                      <p:cBhvr>
                                        <p:cTn id="60" dur="500"/>
                                        <p:tgtEl>
                                          <p:spTgt spid="7"/>
                                        </p:tgtEl>
                                      </p:cBhvr>
                                    </p:animEffect>
                                  </p:childTnLst>
                                </p:cTn>
                              </p:par>
                            </p:childTnLst>
                          </p:cTn>
                        </p:par>
                        <p:par>
                          <p:cTn id="61" fill="hold">
                            <p:stCondLst>
                              <p:cond delay="1500"/>
                            </p:stCondLst>
                            <p:childTnLst>
                              <p:par>
                                <p:cTn id="62" presetID="22" presetClass="entr" presetSubtype="4" fill="hold" grpId="0" nodeType="afterEffect">
                                  <p:stCondLst>
                                    <p:cond delay="0"/>
                                  </p:stCondLst>
                                  <p:childTnLst>
                                    <p:set>
                                      <p:cBhvr>
                                        <p:cTn id="63" dur="1" fill="hold">
                                          <p:stCondLst>
                                            <p:cond delay="0"/>
                                          </p:stCondLst>
                                        </p:cTn>
                                        <p:tgtEl>
                                          <p:spTgt spid="8"/>
                                        </p:tgtEl>
                                        <p:attrNameLst>
                                          <p:attrName>style.visibility</p:attrName>
                                        </p:attrNameLst>
                                      </p:cBhvr>
                                      <p:to>
                                        <p:strVal val="visible"/>
                                      </p:to>
                                    </p:set>
                                    <p:animEffect transition="in" filter="wipe(down)">
                                      <p:cBhvr>
                                        <p:cTn id="64" dur="500"/>
                                        <p:tgtEl>
                                          <p:spTgt spid="8"/>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9"/>
                                        </p:tgtEl>
                                        <p:attrNameLst>
                                          <p:attrName>style.visibility</p:attrName>
                                        </p:attrNameLst>
                                      </p:cBhvr>
                                      <p:to>
                                        <p:strVal val="visible"/>
                                      </p:to>
                                    </p:set>
                                    <p:animEffect transition="in" filter="wipe(left)">
                                      <p:cBhvr>
                                        <p:cTn id="69" dur="500"/>
                                        <p:tgtEl>
                                          <p:spTgt spid="9"/>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wipe(left)">
                                      <p:cBhvr>
                                        <p:cTn id="74" dur="500"/>
                                        <p:tgtEl>
                                          <p:spTgt spid="20"/>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10"/>
                                        </p:tgtEl>
                                        <p:attrNameLst>
                                          <p:attrName>style.visibility</p:attrName>
                                        </p:attrNameLst>
                                      </p:cBhvr>
                                      <p:to>
                                        <p:strVal val="visible"/>
                                      </p:to>
                                    </p:set>
                                    <p:animEffect transition="in" filter="wipe(left)">
                                      <p:cBhvr>
                                        <p:cTn id="79" dur="500"/>
                                        <p:tgtEl>
                                          <p:spTgt spid="10"/>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12"/>
                                        </p:tgtEl>
                                        <p:attrNameLst>
                                          <p:attrName>style.visibility</p:attrName>
                                        </p:attrNameLst>
                                      </p:cBhvr>
                                      <p:to>
                                        <p:strVal val="visible"/>
                                      </p:to>
                                    </p:set>
                                    <p:animEffect transition="in" filter="wipe(left)">
                                      <p:cBhvr>
                                        <p:cTn id="84" dur="500"/>
                                        <p:tgtEl>
                                          <p:spTgt spid="12"/>
                                        </p:tgtEl>
                                      </p:cBhvr>
                                    </p:animEffect>
                                  </p:childTnLst>
                                </p:cTn>
                              </p:par>
                            </p:childTnLst>
                          </p:cTn>
                        </p:par>
                        <p:par>
                          <p:cTn id="85" fill="hold">
                            <p:stCondLst>
                              <p:cond delay="500"/>
                            </p:stCondLst>
                            <p:childTnLst>
                              <p:par>
                                <p:cTn id="86" presetID="22" presetClass="entr" presetSubtype="8" fill="hold" grpId="0" nodeType="afterEffect">
                                  <p:stCondLst>
                                    <p:cond delay="0"/>
                                  </p:stCondLst>
                                  <p:childTnLst>
                                    <p:set>
                                      <p:cBhvr>
                                        <p:cTn id="87" dur="1" fill="hold">
                                          <p:stCondLst>
                                            <p:cond delay="0"/>
                                          </p:stCondLst>
                                        </p:cTn>
                                        <p:tgtEl>
                                          <p:spTgt spid="13"/>
                                        </p:tgtEl>
                                        <p:attrNameLst>
                                          <p:attrName>style.visibility</p:attrName>
                                        </p:attrNameLst>
                                      </p:cBhvr>
                                      <p:to>
                                        <p:strVal val="visible"/>
                                      </p:to>
                                    </p:set>
                                    <p:animEffect transition="in" filter="wipe(left)">
                                      <p:cBhvr>
                                        <p:cTn id="88" dur="500"/>
                                        <p:tgtEl>
                                          <p:spTgt spid="13"/>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nodeType="clickEffect">
                                  <p:stCondLst>
                                    <p:cond delay="0"/>
                                  </p:stCondLst>
                                  <p:childTnLst>
                                    <p:set>
                                      <p:cBhvr>
                                        <p:cTn id="92" dur="1" fill="hold">
                                          <p:stCondLst>
                                            <p:cond delay="0"/>
                                          </p:stCondLst>
                                        </p:cTn>
                                        <p:tgtEl>
                                          <p:spTgt spid="23"/>
                                        </p:tgtEl>
                                        <p:attrNameLst>
                                          <p:attrName>style.visibility</p:attrName>
                                        </p:attrNameLst>
                                      </p:cBhvr>
                                      <p:to>
                                        <p:strVal val="visible"/>
                                      </p:to>
                                    </p:set>
                                    <p:animEffect transition="in" filter="wipe(left)">
                                      <p:cBhvr>
                                        <p:cTn id="93" dur="500"/>
                                        <p:tgtEl>
                                          <p:spTgt spid="23"/>
                                        </p:tgtEl>
                                      </p:cBhvr>
                                    </p:animEffect>
                                  </p:childTnLst>
                                </p:cTn>
                              </p:par>
                            </p:childTnLst>
                          </p:cTn>
                        </p:par>
                        <p:par>
                          <p:cTn id="94" fill="hold">
                            <p:stCondLst>
                              <p:cond delay="500"/>
                            </p:stCondLst>
                            <p:childTnLst>
                              <p:par>
                                <p:cTn id="95" presetID="22" presetClass="entr" presetSubtype="8" fill="hold" grpId="0" nodeType="afterEffect">
                                  <p:stCondLst>
                                    <p:cond delay="0"/>
                                  </p:stCondLst>
                                  <p:childTnLst>
                                    <p:set>
                                      <p:cBhvr>
                                        <p:cTn id="96" dur="1" fill="hold">
                                          <p:stCondLst>
                                            <p:cond delay="0"/>
                                          </p:stCondLst>
                                        </p:cTn>
                                        <p:tgtEl>
                                          <p:spTgt spid="14"/>
                                        </p:tgtEl>
                                        <p:attrNameLst>
                                          <p:attrName>style.visibility</p:attrName>
                                        </p:attrNameLst>
                                      </p:cBhvr>
                                      <p:to>
                                        <p:strVal val="visible"/>
                                      </p:to>
                                    </p:set>
                                    <p:animEffect transition="in" filter="wipe(left)">
                                      <p:cBhvr>
                                        <p:cTn id="97" dur="500"/>
                                        <p:tgtEl>
                                          <p:spTgt spid="14"/>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15"/>
                                        </p:tgtEl>
                                        <p:attrNameLst>
                                          <p:attrName>style.visibility</p:attrName>
                                        </p:attrNameLst>
                                      </p:cBhvr>
                                      <p:to>
                                        <p:strVal val="visible"/>
                                      </p:to>
                                    </p:set>
                                    <p:animEffect transition="in" filter="wipe(left)">
                                      <p:cBhvr>
                                        <p:cTn id="10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autoUpdateAnimBg="0"/>
      <p:bldP spid="19" grpId="0" autoUpdateAnimBg="0"/>
      <p:bldP spid="26" grpId="0"/>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a:extLst>
              <a:ext uri="{FF2B5EF4-FFF2-40B4-BE49-F238E27FC236}">
                <a16:creationId xmlns:a16="http://schemas.microsoft.com/office/drawing/2014/main" id="{9C47B3F2-BD7B-F903-E03B-33E6E43B651E}"/>
              </a:ext>
            </a:extLst>
          </p:cNvPr>
          <p:cNvGrpSpPr/>
          <p:nvPr/>
        </p:nvGrpSpPr>
        <p:grpSpPr>
          <a:xfrm>
            <a:off x="532130" y="516952"/>
            <a:ext cx="11149330" cy="5612130"/>
            <a:chOff x="838" y="907"/>
            <a:chExt cx="17558" cy="8838"/>
          </a:xfrm>
        </p:grpSpPr>
        <p:sp>
          <p:nvSpPr>
            <p:cNvPr id="42" name="PA-102232">
              <a:extLst>
                <a:ext uri="{FF2B5EF4-FFF2-40B4-BE49-F238E27FC236}">
                  <a16:creationId xmlns:a16="http://schemas.microsoft.com/office/drawing/2014/main" id="{61DAF318-BC48-802E-14CA-5DEE3F07ABAB}"/>
                </a:ext>
              </a:extLst>
            </p:cNvPr>
            <p:cNvSpPr/>
            <p:nvPr>
              <p:custDataLst>
                <p:tags r:id="rId1"/>
              </p:custDataLst>
            </p:nvPr>
          </p:nvSpPr>
          <p:spPr>
            <a:xfrm>
              <a:off x="872" y="907"/>
              <a:ext cx="17524" cy="8826"/>
            </a:xfrm>
            <a:prstGeom prst="rect">
              <a:avLst/>
            </a:prstGeom>
            <a:solidFill>
              <a:schemeClr val="bg1"/>
            </a:solidFill>
            <a:ln>
              <a:noFill/>
            </a:ln>
            <a:effectLst>
              <a:outerShdw blurRad="393700" dist="889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6BB6"/>
                </a:solidFill>
                <a:cs typeface="+mn-ea"/>
                <a:sym typeface="+mn-lt"/>
              </a:endParaRPr>
            </a:p>
          </p:txBody>
        </p:sp>
        <p:grpSp>
          <p:nvGrpSpPr>
            <p:cNvPr id="43" name="组合 42">
              <a:extLst>
                <a:ext uri="{FF2B5EF4-FFF2-40B4-BE49-F238E27FC236}">
                  <a16:creationId xmlns:a16="http://schemas.microsoft.com/office/drawing/2014/main" id="{D2E54156-5100-BF77-CF67-DE647DFE0C28}"/>
                </a:ext>
              </a:extLst>
            </p:cNvPr>
            <p:cNvGrpSpPr/>
            <p:nvPr/>
          </p:nvGrpSpPr>
          <p:grpSpPr>
            <a:xfrm>
              <a:off x="838" y="9635"/>
              <a:ext cx="17558" cy="110"/>
              <a:chOff x="838" y="9635"/>
              <a:chExt cx="17558" cy="110"/>
            </a:xfrm>
          </p:grpSpPr>
          <p:sp>
            <p:nvSpPr>
              <p:cNvPr id="44" name="Rectangle 1">
                <a:extLst>
                  <a:ext uri="{FF2B5EF4-FFF2-40B4-BE49-F238E27FC236}">
                    <a16:creationId xmlns:a16="http://schemas.microsoft.com/office/drawing/2014/main" id="{CBCB1E6C-33CF-9B45-00C5-ACE80A29CA83}"/>
                  </a:ext>
                </a:extLst>
              </p:cNvPr>
              <p:cNvSpPr/>
              <p:nvPr/>
            </p:nvSpPr>
            <p:spPr>
              <a:xfrm>
                <a:off x="5321" y="9650"/>
                <a:ext cx="4286" cy="83"/>
              </a:xfrm>
              <a:prstGeom prst="rect">
                <a:avLst/>
              </a:prstGeom>
              <a:solidFill>
                <a:schemeClr val="bg1"/>
              </a:solidFill>
              <a:ln w="3175" cap="flat" cmpd="sng" algn="ctr">
                <a:solidFill>
                  <a:srgbClr val="0492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45" name="Rectangle 1">
                <a:extLst>
                  <a:ext uri="{FF2B5EF4-FFF2-40B4-BE49-F238E27FC236}">
                    <a16:creationId xmlns:a16="http://schemas.microsoft.com/office/drawing/2014/main" id="{4EF2673D-AB7F-7C8D-DACD-D57F321B8ED0}"/>
                  </a:ext>
                </a:extLst>
              </p:cNvPr>
              <p:cNvSpPr/>
              <p:nvPr/>
            </p:nvSpPr>
            <p:spPr>
              <a:xfrm>
                <a:off x="838" y="9650"/>
                <a:ext cx="4483" cy="83"/>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46" name="Rectangle 1">
                <a:extLst>
                  <a:ext uri="{FF2B5EF4-FFF2-40B4-BE49-F238E27FC236}">
                    <a16:creationId xmlns:a16="http://schemas.microsoft.com/office/drawing/2014/main" id="{52CA4C67-2D86-EC1C-D842-4639CF6B2D8B}"/>
                  </a:ext>
                </a:extLst>
              </p:cNvPr>
              <p:cNvSpPr/>
              <p:nvPr/>
            </p:nvSpPr>
            <p:spPr>
              <a:xfrm>
                <a:off x="9602" y="9635"/>
                <a:ext cx="8794" cy="111"/>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p:sp>
        <p:nvSpPr>
          <p:cNvPr id="2" name="Rectangle 84"/>
          <p:cNvSpPr>
            <a:spLocks noChangeArrowheads="1"/>
          </p:cNvSpPr>
          <p:nvPr/>
        </p:nvSpPr>
        <p:spPr bwMode="auto">
          <a:xfrm>
            <a:off x="1450240" y="3010922"/>
            <a:ext cx="100806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defRPr/>
            </a:pPr>
            <a:r>
              <a:rPr kumimoji="1" lang="zh-CN" altLang="en-US" sz="2800" b="1" dirty="0">
                <a:solidFill>
                  <a:srgbClr val="04926A"/>
                </a:solidFill>
                <a:latin typeface="微软雅黑" panose="020B0503020204020204" pitchFamily="34" charset="-122"/>
                <a:ea typeface="微软雅黑" panose="020B0503020204020204" pitchFamily="34" charset="-122"/>
              </a:rPr>
              <a:t>证明</a:t>
            </a:r>
          </a:p>
        </p:txBody>
      </p:sp>
      <mc:AlternateContent xmlns:mc="http://schemas.openxmlformats.org/markup-compatibility/2006" xmlns:a14="http://schemas.microsoft.com/office/drawing/2010/main">
        <mc:Choice Requires="a14">
          <p:sp>
            <p:nvSpPr>
              <p:cNvPr id="3" name="Text Box 98"/>
              <p:cNvSpPr txBox="1">
                <a:spLocks noChangeArrowheads="1"/>
              </p:cNvSpPr>
              <p:nvPr/>
            </p:nvSpPr>
            <p:spPr bwMode="auto">
              <a:xfrm>
                <a:off x="1939436" y="1241918"/>
                <a:ext cx="3861289"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defRPr/>
                </a:pPr>
                <a:r>
                  <a:rPr lang="en-US" altLang="zh-CN" sz="2800" dirty="0">
                    <a:latin typeface="Times New Roman" panose="02020603050405020304" pitchFamily="18" charset="0"/>
                  </a:rPr>
                  <a:t>(1) </a:t>
                </a:r>
                <a:r>
                  <a:rPr lang="zh-CN" altLang="en-US" sz="2800" dirty="0">
                    <a:latin typeface="Times New Roman" panose="02020603050405020304" pitchFamily="18" charset="0"/>
                  </a:rPr>
                  <a:t>交换律 </a:t>
                </a:r>
                <a14:m>
                  <m:oMath xmlns:m="http://schemas.openxmlformats.org/officeDocument/2006/math">
                    <m:r>
                      <a:rPr kumimoji="1" lang="en-US" altLang="zh-CN" sz="2800" b="1" i="1">
                        <a:latin typeface="Cambria Math" panose="02040503050406030204" pitchFamily="18" charset="0"/>
                        <a:ea typeface="黑体" panose="02010609060101010101" pitchFamily="49" charset="-122"/>
                        <a:cs typeface="黑体" panose="02010609060101010101" pitchFamily="49" charset="-122"/>
                      </a:rPr>
                      <m:t>𝒂</m:t>
                    </m:r>
                    <m:r>
                      <a:rPr kumimoji="1" lang="zh-CN" altLang="en-US" sz="2800">
                        <a:latin typeface="Cambria Math" panose="02040503050406030204" pitchFamily="18" charset="0"/>
                        <a:ea typeface="黑体" panose="02010609060101010101" pitchFamily="49" charset="-122"/>
                        <a:cs typeface="黑体" panose="02010609060101010101" pitchFamily="49" charset="-122"/>
                      </a:rPr>
                      <m:t>⋅</m:t>
                    </m:r>
                    <m:r>
                      <a:rPr kumimoji="1" lang="en-US" altLang="zh-CN" sz="2800" b="1" i="1">
                        <a:latin typeface="Cambria Math" panose="02040503050406030204" pitchFamily="18" charset="0"/>
                        <a:ea typeface="黑体" panose="02010609060101010101" pitchFamily="49" charset="-122"/>
                        <a:cs typeface="黑体" panose="02010609060101010101" pitchFamily="49" charset="-122"/>
                      </a:rPr>
                      <m:t>𝒃</m:t>
                    </m:r>
                  </m:oMath>
                </a14:m>
                <a:r>
                  <a:rPr kumimoji="1" lang="en-US" altLang="zh-CN" sz="2800" dirty="0">
                    <a:latin typeface="Cambria Math" panose="02040503050406030204" pitchFamily="18" charset="0"/>
                    <a:ea typeface="黑体" panose="02010609060101010101" pitchFamily="49" charset="-122"/>
                    <a:cs typeface="黑体" panose="02010609060101010101" pitchFamily="49" charset="-122"/>
                  </a:rPr>
                  <a:t>= </a:t>
                </a:r>
                <a14:m>
                  <m:oMath xmlns:m="http://schemas.openxmlformats.org/officeDocument/2006/math">
                    <m:r>
                      <a:rPr kumimoji="1" lang="en-US" altLang="zh-CN" sz="2800" b="1" i="1" dirty="0">
                        <a:latin typeface="Cambria Math" panose="02040503050406030204" pitchFamily="18" charset="0"/>
                        <a:ea typeface="黑体" panose="02010609060101010101" pitchFamily="49" charset="-122"/>
                      </a:rPr>
                      <m:t>𝒃</m:t>
                    </m:r>
                    <m:r>
                      <a:rPr kumimoji="1" lang="zh-CN" altLang="en-US" sz="2800">
                        <a:latin typeface="Cambria Math" panose="02040503050406030204" pitchFamily="18" charset="0"/>
                        <a:ea typeface="黑体" panose="02010609060101010101" pitchFamily="49" charset="-122"/>
                        <a:cs typeface="黑体" panose="02010609060101010101" pitchFamily="49" charset="-122"/>
                      </a:rPr>
                      <m:t>⋅</m:t>
                    </m:r>
                    <m:r>
                      <a:rPr kumimoji="1" lang="en-US" altLang="zh-CN" sz="2800" b="1" i="1" smtClean="0">
                        <a:latin typeface="Cambria Math" panose="02040503050406030204" pitchFamily="18" charset="0"/>
                        <a:ea typeface="黑体" panose="02010609060101010101" pitchFamily="49" charset="-122"/>
                        <a:cs typeface="黑体" panose="02010609060101010101" pitchFamily="49" charset="-122"/>
                      </a:rPr>
                      <m:t>𝒂</m:t>
                    </m:r>
                    <m:r>
                      <a:rPr kumimoji="1" lang="en-US" altLang="zh-CN" sz="2800" b="0" i="1" smtClean="0">
                        <a:latin typeface="Cambria Math" panose="02040503050406030204" pitchFamily="18" charset="0"/>
                        <a:ea typeface="黑体" panose="02010609060101010101" pitchFamily="49" charset="-122"/>
                        <a:cs typeface="黑体" panose="02010609060101010101" pitchFamily="49" charset="-122"/>
                      </a:rPr>
                      <m:t>;</m:t>
                    </m:r>
                  </m:oMath>
                </a14:m>
                <a:endParaRPr kumimoji="1" lang="zh-CN" altLang="en-US" sz="2800" i="1" dirty="0">
                  <a:latin typeface="Cambria Math" panose="02040503050406030204" pitchFamily="18" charset="0"/>
                  <a:ea typeface="黑体" panose="02010609060101010101" pitchFamily="49" charset="-122"/>
                  <a:cs typeface="黑体" panose="02010609060101010101" pitchFamily="49" charset="-122"/>
                </a:endParaRPr>
              </a:p>
            </p:txBody>
          </p:sp>
        </mc:Choice>
        <mc:Fallback xmlns="">
          <p:sp>
            <p:nvSpPr>
              <p:cNvPr id="3" name="Text Box 98"/>
              <p:cNvSpPr txBox="1">
                <a:spLocks noRot="1" noChangeAspect="1" noMove="1" noResize="1" noEditPoints="1" noAdjustHandles="1" noChangeArrowheads="1" noChangeShapeType="1" noTextEdit="1"/>
              </p:cNvSpPr>
              <p:nvPr/>
            </p:nvSpPr>
            <p:spPr bwMode="auto">
              <a:xfrm>
                <a:off x="1939436" y="1241918"/>
                <a:ext cx="3861289" cy="523220"/>
              </a:xfrm>
              <a:prstGeom prst="rect">
                <a:avLst/>
              </a:prstGeom>
              <a:blipFill>
                <a:blip r:embed="rId3"/>
                <a:stretch>
                  <a:fillRect l="-3155" t="-16279" b="-3255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Text Box 99"/>
              <p:cNvSpPr txBox="1">
                <a:spLocks noChangeArrowheads="1"/>
              </p:cNvSpPr>
              <p:nvPr/>
            </p:nvSpPr>
            <p:spPr bwMode="auto">
              <a:xfrm>
                <a:off x="1939436" y="1824463"/>
                <a:ext cx="7204563"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defRPr/>
                </a:pPr>
                <a:r>
                  <a:rPr lang="en-US" altLang="zh-CN" sz="2800" dirty="0">
                    <a:latin typeface="Times New Roman" panose="02020603050405020304" pitchFamily="18" charset="0"/>
                  </a:rPr>
                  <a:t>(2) </a:t>
                </a:r>
                <a:r>
                  <a:rPr lang="zh-CN" altLang="en-US" sz="2800" dirty="0">
                    <a:latin typeface="Times New Roman" panose="02020603050405020304" pitchFamily="18" charset="0"/>
                  </a:rPr>
                  <a:t>结合律 </a:t>
                </a:r>
                <a14:m>
                  <m:oMath xmlns:m="http://schemas.openxmlformats.org/officeDocument/2006/math">
                    <m:r>
                      <a:rPr kumimoji="1" lang="en-US" altLang="zh-CN" sz="2800" i="1" dirty="0">
                        <a:latin typeface="Cambria Math" panose="02040503050406030204" pitchFamily="18" charset="0"/>
                        <a:ea typeface="黑体" panose="02010609060101010101" pitchFamily="49" charset="-122"/>
                      </a:rPr>
                      <m:t>𝜆</m:t>
                    </m:r>
                    <m:d>
                      <m:dPr>
                        <m:ctrlPr>
                          <a:rPr kumimoji="1" lang="en-US" altLang="zh-CN" sz="2800" b="0" i="1" dirty="0" smtClean="0">
                            <a:latin typeface="Cambria Math" panose="02040503050406030204" pitchFamily="18" charset="0"/>
                            <a:ea typeface="黑体" panose="02010609060101010101" pitchFamily="49" charset="-122"/>
                          </a:rPr>
                        </m:ctrlPr>
                      </m:dPr>
                      <m:e>
                        <m:r>
                          <a:rPr kumimoji="1" lang="en-US" altLang="zh-CN" sz="2800" b="1" i="1">
                            <a:latin typeface="Cambria Math" panose="02040503050406030204" pitchFamily="18" charset="0"/>
                            <a:ea typeface="黑体" panose="02010609060101010101" pitchFamily="49" charset="-122"/>
                            <a:cs typeface="黑体" panose="02010609060101010101" pitchFamily="49" charset="-122"/>
                          </a:rPr>
                          <m:t>𝒂</m:t>
                        </m:r>
                        <m:r>
                          <a:rPr kumimoji="1" lang="zh-CN" altLang="en-US" sz="2800">
                            <a:latin typeface="Cambria Math" panose="02040503050406030204" pitchFamily="18" charset="0"/>
                            <a:ea typeface="黑体" panose="02010609060101010101" pitchFamily="49" charset="-122"/>
                            <a:cs typeface="黑体" panose="02010609060101010101" pitchFamily="49" charset="-122"/>
                          </a:rPr>
                          <m:t>⋅</m:t>
                        </m:r>
                        <m:r>
                          <a:rPr kumimoji="1" lang="en-US" altLang="zh-CN" sz="2800" b="1" i="1">
                            <a:latin typeface="Cambria Math" panose="02040503050406030204" pitchFamily="18" charset="0"/>
                            <a:ea typeface="黑体" panose="02010609060101010101" pitchFamily="49" charset="-122"/>
                            <a:cs typeface="黑体" panose="02010609060101010101" pitchFamily="49" charset="-122"/>
                          </a:rPr>
                          <m:t>𝒃</m:t>
                        </m:r>
                      </m:e>
                    </m:d>
                    <m:r>
                      <a:rPr kumimoji="1" lang="en-US" altLang="zh-CN" sz="2800" b="0" i="1" smtClean="0">
                        <a:latin typeface="Cambria Math" panose="02040503050406030204" pitchFamily="18" charset="0"/>
                        <a:ea typeface="黑体" panose="02010609060101010101" pitchFamily="49" charset="-122"/>
                        <a:cs typeface="黑体" panose="02010609060101010101" pitchFamily="49" charset="-122"/>
                      </a:rPr>
                      <m:t>=</m:t>
                    </m:r>
                    <m:d>
                      <m:dPr>
                        <m:ctrlPr>
                          <a:rPr kumimoji="1" lang="en-US" altLang="zh-CN" sz="2800" b="0" i="1" dirty="0" smtClean="0">
                            <a:latin typeface="Cambria Math" panose="02040503050406030204" pitchFamily="18" charset="0"/>
                            <a:ea typeface="黑体" panose="02010609060101010101" pitchFamily="49" charset="-122"/>
                          </a:rPr>
                        </m:ctrlPr>
                      </m:dPr>
                      <m:e>
                        <m:r>
                          <a:rPr kumimoji="1" lang="en-US" altLang="zh-CN" sz="2800" i="1" dirty="0">
                            <a:latin typeface="Cambria Math" panose="02040503050406030204" pitchFamily="18" charset="0"/>
                            <a:ea typeface="黑体" panose="02010609060101010101" pitchFamily="49" charset="-122"/>
                          </a:rPr>
                          <m:t>𝜆</m:t>
                        </m:r>
                        <m:r>
                          <a:rPr kumimoji="1" lang="en-US" altLang="zh-CN" sz="2800" b="1" i="1">
                            <a:latin typeface="Cambria Math" panose="02040503050406030204" pitchFamily="18" charset="0"/>
                            <a:ea typeface="黑体" panose="02010609060101010101" pitchFamily="49" charset="-122"/>
                            <a:cs typeface="黑体" panose="02010609060101010101" pitchFamily="49" charset="-122"/>
                          </a:rPr>
                          <m:t>𝒂</m:t>
                        </m:r>
                      </m:e>
                    </m:d>
                    <m:r>
                      <a:rPr kumimoji="1" lang="zh-CN" altLang="en-US" sz="2800">
                        <a:latin typeface="Cambria Math" panose="02040503050406030204" pitchFamily="18" charset="0"/>
                        <a:ea typeface="黑体" panose="02010609060101010101" pitchFamily="49" charset="-122"/>
                        <a:cs typeface="黑体" panose="02010609060101010101" pitchFamily="49" charset="-122"/>
                      </a:rPr>
                      <m:t>⋅</m:t>
                    </m:r>
                    <m:r>
                      <a:rPr kumimoji="1" lang="en-US" altLang="zh-CN" sz="2800" b="1" i="1">
                        <a:latin typeface="Cambria Math" panose="02040503050406030204" pitchFamily="18" charset="0"/>
                        <a:ea typeface="黑体" panose="02010609060101010101" pitchFamily="49" charset="-122"/>
                        <a:cs typeface="黑体" panose="02010609060101010101" pitchFamily="49" charset="-122"/>
                      </a:rPr>
                      <m:t>𝒃</m:t>
                    </m:r>
                    <m:r>
                      <a:rPr kumimoji="1" lang="en-US" altLang="zh-CN" sz="2800" b="0" i="0" smtClean="0">
                        <a:latin typeface="Cambria Math" panose="02040503050406030204" pitchFamily="18" charset="0"/>
                        <a:ea typeface="黑体" panose="02010609060101010101" pitchFamily="49" charset="-122"/>
                        <a:cs typeface="黑体" panose="02010609060101010101" pitchFamily="49" charset="-122"/>
                      </a:rPr>
                      <m:t>=</m:t>
                    </m:r>
                    <m:r>
                      <a:rPr kumimoji="1" lang="en-US" altLang="zh-CN" sz="2800" b="1" i="1" smtClean="0">
                        <a:latin typeface="Cambria Math" panose="02040503050406030204" pitchFamily="18" charset="0"/>
                        <a:ea typeface="黑体" panose="02010609060101010101" pitchFamily="49" charset="-122"/>
                        <a:cs typeface="黑体" panose="02010609060101010101" pitchFamily="49" charset="-122"/>
                      </a:rPr>
                      <m:t>𝒂</m:t>
                    </m:r>
                    <m:r>
                      <a:rPr kumimoji="1" lang="zh-CN" altLang="en-US" sz="2800">
                        <a:latin typeface="Cambria Math" panose="02040503050406030204" pitchFamily="18" charset="0"/>
                        <a:ea typeface="黑体" panose="02010609060101010101" pitchFamily="49" charset="-122"/>
                        <a:cs typeface="黑体" panose="02010609060101010101" pitchFamily="49" charset="-122"/>
                      </a:rPr>
                      <m:t>⋅</m:t>
                    </m:r>
                    <m:d>
                      <m:dPr>
                        <m:ctrlPr>
                          <a:rPr kumimoji="1" lang="en-US" altLang="zh-CN" sz="2800" b="0" i="1" smtClean="0">
                            <a:latin typeface="Cambria Math" panose="02040503050406030204" pitchFamily="18" charset="0"/>
                            <a:ea typeface="黑体" panose="02010609060101010101" pitchFamily="49" charset="-122"/>
                            <a:cs typeface="黑体" panose="02010609060101010101" pitchFamily="49" charset="-122"/>
                          </a:rPr>
                        </m:ctrlPr>
                      </m:dPr>
                      <m:e>
                        <m:r>
                          <a:rPr kumimoji="1" lang="en-US" altLang="zh-CN" sz="2800" i="1" dirty="0">
                            <a:latin typeface="Cambria Math" panose="02040503050406030204" pitchFamily="18" charset="0"/>
                            <a:ea typeface="黑体" panose="02010609060101010101" pitchFamily="49" charset="-122"/>
                          </a:rPr>
                          <m:t>𝜆</m:t>
                        </m:r>
                        <m:r>
                          <a:rPr kumimoji="1" lang="en-US" altLang="zh-CN" sz="2800" b="1" i="1">
                            <a:latin typeface="Cambria Math" panose="02040503050406030204" pitchFamily="18" charset="0"/>
                            <a:ea typeface="黑体" panose="02010609060101010101" pitchFamily="49" charset="-122"/>
                            <a:cs typeface="黑体" panose="02010609060101010101" pitchFamily="49" charset="-122"/>
                          </a:rPr>
                          <m:t>𝒃</m:t>
                        </m:r>
                      </m:e>
                    </m:d>
                    <m:r>
                      <a:rPr kumimoji="1" lang="en-US" altLang="zh-CN" sz="2800" b="0" i="0" smtClean="0">
                        <a:latin typeface="Cambria Math" panose="02040503050406030204" pitchFamily="18" charset="0"/>
                        <a:ea typeface="黑体" panose="02010609060101010101" pitchFamily="49" charset="-122"/>
                        <a:cs typeface="黑体" panose="02010609060101010101" pitchFamily="49" charset="-122"/>
                      </a:rPr>
                      <m:t>;</m:t>
                    </m:r>
                  </m:oMath>
                </a14:m>
                <a:endParaRPr kumimoji="1" lang="zh-CN" altLang="en-US" sz="2800" i="1" dirty="0">
                  <a:latin typeface="Cambria Math" panose="02040503050406030204" pitchFamily="18" charset="0"/>
                  <a:ea typeface="黑体" panose="02010609060101010101" pitchFamily="49" charset="-122"/>
                  <a:cs typeface="黑体" panose="02010609060101010101" pitchFamily="49" charset="-122"/>
                </a:endParaRPr>
              </a:p>
            </p:txBody>
          </p:sp>
        </mc:Choice>
        <mc:Fallback xmlns="">
          <p:sp>
            <p:nvSpPr>
              <p:cNvPr id="4" name="Text Box 99"/>
              <p:cNvSpPr txBox="1">
                <a:spLocks noRot="1" noChangeAspect="1" noMove="1" noResize="1" noEditPoints="1" noAdjustHandles="1" noChangeArrowheads="1" noChangeShapeType="1" noTextEdit="1"/>
              </p:cNvSpPr>
              <p:nvPr/>
            </p:nvSpPr>
            <p:spPr bwMode="auto">
              <a:xfrm>
                <a:off x="1939436" y="1824463"/>
                <a:ext cx="7204563" cy="523220"/>
              </a:xfrm>
              <a:prstGeom prst="rect">
                <a:avLst/>
              </a:prstGeom>
              <a:blipFill>
                <a:blip r:embed="rId4"/>
                <a:stretch>
                  <a:fillRect l="-1692" t="-15116" b="-3255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Text Box 100"/>
              <p:cNvSpPr txBox="1">
                <a:spLocks noChangeArrowheads="1"/>
              </p:cNvSpPr>
              <p:nvPr/>
            </p:nvSpPr>
            <p:spPr bwMode="auto">
              <a:xfrm>
                <a:off x="1939436" y="2407007"/>
                <a:ext cx="5834037"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defRPr/>
                </a:pPr>
                <a:r>
                  <a:rPr lang="en-US" altLang="zh-CN" sz="2800" dirty="0">
                    <a:latin typeface="Times New Roman" panose="02020603050405020304" pitchFamily="18" charset="0"/>
                  </a:rPr>
                  <a:t>(3) </a:t>
                </a:r>
                <a:r>
                  <a:rPr lang="zh-CN" altLang="en-US" sz="2800" dirty="0">
                    <a:latin typeface="Times New Roman" panose="02020603050405020304" pitchFamily="18" charset="0"/>
                  </a:rPr>
                  <a:t>分配律 </a:t>
                </a:r>
                <a14:m>
                  <m:oMath xmlns:m="http://schemas.openxmlformats.org/officeDocument/2006/math">
                    <m:d>
                      <m:dPr>
                        <m:ctrlPr>
                          <a:rPr kumimoji="1" lang="en-US" altLang="zh-CN" sz="2800" b="0" i="1" dirty="0" smtClean="0">
                            <a:latin typeface="Cambria Math" panose="02040503050406030204" pitchFamily="18" charset="0"/>
                            <a:ea typeface="黑体" panose="02010609060101010101" pitchFamily="49" charset="-122"/>
                          </a:rPr>
                        </m:ctrlPr>
                      </m:dPr>
                      <m:e>
                        <m:r>
                          <a:rPr kumimoji="1" lang="en-US" altLang="zh-CN" sz="2800" b="1" i="1" dirty="0">
                            <a:latin typeface="Cambria Math" panose="02040503050406030204" pitchFamily="18" charset="0"/>
                            <a:ea typeface="黑体" panose="02010609060101010101" pitchFamily="49" charset="-122"/>
                          </a:rPr>
                          <m:t>𝒂</m:t>
                        </m:r>
                        <m:r>
                          <a:rPr kumimoji="1" lang="en-US" altLang="zh-CN" sz="2800" b="0" i="0" dirty="0" smtClean="0">
                            <a:latin typeface="Cambria Math" panose="02040503050406030204" pitchFamily="18" charset="0"/>
                            <a:ea typeface="黑体" panose="02010609060101010101" pitchFamily="49" charset="-122"/>
                          </a:rPr>
                          <m:t>+</m:t>
                        </m:r>
                        <m:r>
                          <a:rPr kumimoji="1" lang="en-US" altLang="zh-CN" sz="2800" b="1" i="1">
                            <a:latin typeface="Cambria Math" panose="02040503050406030204" pitchFamily="18" charset="0"/>
                            <a:ea typeface="黑体" panose="02010609060101010101" pitchFamily="49" charset="-122"/>
                            <a:cs typeface="黑体" panose="02010609060101010101" pitchFamily="49" charset="-122"/>
                          </a:rPr>
                          <m:t>𝒃</m:t>
                        </m:r>
                      </m:e>
                    </m:d>
                    <m:r>
                      <a:rPr kumimoji="1" lang="zh-CN" altLang="en-US" sz="2800">
                        <a:latin typeface="Cambria Math" panose="02040503050406030204" pitchFamily="18" charset="0"/>
                        <a:ea typeface="黑体" panose="02010609060101010101" pitchFamily="49" charset="-122"/>
                        <a:cs typeface="黑体" panose="02010609060101010101" pitchFamily="49" charset="-122"/>
                      </a:rPr>
                      <m:t>⋅</m:t>
                    </m:r>
                    <m:r>
                      <a:rPr kumimoji="1" lang="en-US" altLang="zh-CN" sz="2800" b="1" i="1" smtClean="0">
                        <a:latin typeface="Cambria Math" panose="02040503050406030204" pitchFamily="18" charset="0"/>
                        <a:ea typeface="黑体" panose="02010609060101010101" pitchFamily="49" charset="-122"/>
                        <a:cs typeface="黑体" panose="02010609060101010101" pitchFamily="49" charset="-122"/>
                      </a:rPr>
                      <m:t>𝒄</m:t>
                    </m:r>
                    <m:r>
                      <a:rPr kumimoji="1" lang="en-US" altLang="zh-CN" sz="2800" b="0" i="1" smtClean="0">
                        <a:latin typeface="Cambria Math" panose="02040503050406030204" pitchFamily="18" charset="0"/>
                        <a:ea typeface="黑体" panose="02010609060101010101" pitchFamily="49" charset="-122"/>
                        <a:cs typeface="黑体" panose="02010609060101010101" pitchFamily="49" charset="-122"/>
                      </a:rPr>
                      <m:t>=</m:t>
                    </m:r>
                    <m:r>
                      <a:rPr kumimoji="1" lang="en-US" altLang="zh-CN" sz="2800" b="1" i="1" smtClean="0">
                        <a:latin typeface="Cambria Math" panose="02040503050406030204" pitchFamily="18" charset="0"/>
                        <a:ea typeface="黑体" panose="02010609060101010101" pitchFamily="49" charset="-122"/>
                        <a:cs typeface="黑体" panose="02010609060101010101" pitchFamily="49" charset="-122"/>
                      </a:rPr>
                      <m:t>𝒂</m:t>
                    </m:r>
                    <m:r>
                      <a:rPr kumimoji="1" lang="zh-CN" altLang="en-US" sz="2800">
                        <a:latin typeface="Cambria Math" panose="02040503050406030204" pitchFamily="18" charset="0"/>
                        <a:ea typeface="黑体" panose="02010609060101010101" pitchFamily="49" charset="-122"/>
                        <a:cs typeface="黑体" panose="02010609060101010101" pitchFamily="49" charset="-122"/>
                      </a:rPr>
                      <m:t>⋅</m:t>
                    </m:r>
                    <m:r>
                      <a:rPr kumimoji="1" lang="en-US" altLang="zh-CN" sz="2800" b="1" i="1" smtClean="0">
                        <a:latin typeface="Cambria Math" panose="02040503050406030204" pitchFamily="18" charset="0"/>
                        <a:ea typeface="黑体" panose="02010609060101010101" pitchFamily="49" charset="-122"/>
                        <a:cs typeface="黑体" panose="02010609060101010101" pitchFamily="49" charset="-122"/>
                      </a:rPr>
                      <m:t>𝒄</m:t>
                    </m:r>
                    <m:r>
                      <a:rPr kumimoji="1" lang="en-US" altLang="zh-CN" sz="2800" b="0" i="0" smtClean="0">
                        <a:latin typeface="Cambria Math" panose="02040503050406030204" pitchFamily="18" charset="0"/>
                        <a:ea typeface="黑体" panose="02010609060101010101" pitchFamily="49" charset="-122"/>
                        <a:cs typeface="黑体" panose="02010609060101010101" pitchFamily="49" charset="-122"/>
                      </a:rPr>
                      <m:t>+</m:t>
                    </m:r>
                    <m:r>
                      <a:rPr kumimoji="1" lang="en-US" altLang="zh-CN" sz="2800" b="1" i="1" smtClean="0">
                        <a:latin typeface="Cambria Math" panose="02040503050406030204" pitchFamily="18" charset="0"/>
                        <a:ea typeface="黑体" panose="02010609060101010101" pitchFamily="49" charset="-122"/>
                        <a:cs typeface="黑体" panose="02010609060101010101" pitchFamily="49" charset="-122"/>
                      </a:rPr>
                      <m:t>𝒃</m:t>
                    </m:r>
                    <m:r>
                      <a:rPr kumimoji="1" lang="zh-CN" altLang="en-US" sz="2800">
                        <a:latin typeface="Cambria Math" panose="02040503050406030204" pitchFamily="18" charset="0"/>
                        <a:ea typeface="黑体" panose="02010609060101010101" pitchFamily="49" charset="-122"/>
                        <a:cs typeface="黑体" panose="02010609060101010101" pitchFamily="49" charset="-122"/>
                      </a:rPr>
                      <m:t>⋅</m:t>
                    </m:r>
                    <m:r>
                      <a:rPr kumimoji="1" lang="en-US" altLang="zh-CN" sz="2800" b="1" i="1" smtClean="0">
                        <a:latin typeface="Cambria Math" panose="02040503050406030204" pitchFamily="18" charset="0"/>
                        <a:ea typeface="黑体" panose="02010609060101010101" pitchFamily="49" charset="-122"/>
                        <a:cs typeface="黑体" panose="02010609060101010101" pitchFamily="49" charset="-122"/>
                      </a:rPr>
                      <m:t>𝒄</m:t>
                    </m:r>
                    <m:r>
                      <a:rPr kumimoji="1" lang="en-US" altLang="zh-CN" sz="2800" b="0" i="0" smtClean="0">
                        <a:latin typeface="Cambria Math" panose="02040503050406030204" pitchFamily="18" charset="0"/>
                        <a:ea typeface="黑体" panose="02010609060101010101" pitchFamily="49" charset="-122"/>
                        <a:cs typeface="黑体" panose="02010609060101010101" pitchFamily="49" charset="-122"/>
                      </a:rPr>
                      <m:t>.</m:t>
                    </m:r>
                  </m:oMath>
                </a14:m>
                <a:endParaRPr kumimoji="1" lang="zh-CN" altLang="en-US" sz="2800" dirty="0">
                  <a:latin typeface="Cambria Math" panose="02040503050406030204" pitchFamily="18" charset="0"/>
                  <a:ea typeface="黑体" panose="02010609060101010101" pitchFamily="49" charset="-122"/>
                  <a:cs typeface="黑体" panose="02010609060101010101" pitchFamily="49" charset="-122"/>
                </a:endParaRPr>
              </a:p>
            </p:txBody>
          </p:sp>
        </mc:Choice>
        <mc:Fallback xmlns="">
          <p:sp>
            <p:nvSpPr>
              <p:cNvPr id="5" name="Text Box 100"/>
              <p:cNvSpPr txBox="1">
                <a:spLocks noRot="1" noChangeAspect="1" noMove="1" noResize="1" noEditPoints="1" noAdjustHandles="1" noChangeArrowheads="1" noChangeShapeType="1" noTextEdit="1"/>
              </p:cNvSpPr>
              <p:nvPr/>
            </p:nvSpPr>
            <p:spPr bwMode="auto">
              <a:xfrm>
                <a:off x="1939436" y="2407007"/>
                <a:ext cx="5834037" cy="523220"/>
              </a:xfrm>
              <a:prstGeom prst="rect">
                <a:avLst/>
              </a:prstGeom>
              <a:blipFill>
                <a:blip r:embed="rId5"/>
                <a:stretch>
                  <a:fillRect l="-2090" t="-16279" b="-3255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6" name="Text Box 101"/>
          <p:cNvSpPr txBox="1">
            <a:spLocks noChangeArrowheads="1"/>
          </p:cNvSpPr>
          <p:nvPr/>
        </p:nvSpPr>
        <p:spPr bwMode="auto">
          <a:xfrm>
            <a:off x="2427745" y="3046483"/>
            <a:ext cx="190613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zh-CN" altLang="en-US" sz="2200" b="0" i="0" u="none" strike="noStrike" kern="0" cap="none" spc="0" normalizeH="0" baseline="0" noProof="0" dirty="0">
                <a:ln>
                  <a:noFill/>
                </a:ln>
                <a:uLnTx/>
                <a:uFillTx/>
                <a:latin typeface="Times New Roman" panose="02020603050405020304" pitchFamily="18" charset="0"/>
                <a:ea typeface="黑体" panose="02010609060101010101" pitchFamily="49" charset="-122"/>
              </a:rPr>
              <a:t>只证分配律．</a:t>
            </a:r>
          </a:p>
        </p:txBody>
      </p:sp>
      <mc:AlternateContent xmlns:mc="http://schemas.openxmlformats.org/markup-compatibility/2006" xmlns:a14="http://schemas.microsoft.com/office/drawing/2010/main">
        <mc:Choice Requires="a14">
          <p:sp>
            <p:nvSpPr>
              <p:cNvPr id="7" name="Text Box 102"/>
              <p:cNvSpPr txBox="1">
                <a:spLocks noChangeArrowheads="1"/>
              </p:cNvSpPr>
              <p:nvPr/>
            </p:nvSpPr>
            <p:spPr bwMode="auto">
              <a:xfrm>
                <a:off x="3992868" y="3025272"/>
                <a:ext cx="2520950" cy="45313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p>
                <a:pPr fontAlgn="base">
                  <a:spcBef>
                    <a:spcPct val="50000"/>
                  </a:spcBef>
                  <a:spcAft>
                    <a:spcPct val="0"/>
                  </a:spcAft>
                  <a:defRPr/>
                </a:pPr>
                <a:r>
                  <a:rPr lang="zh-CN" altLang="en-US" sz="2200" dirty="0">
                    <a:latin typeface="Times New Roman" panose="02020603050405020304" pitchFamily="18" charset="0"/>
                  </a:rPr>
                  <a:t>当</a:t>
                </a:r>
                <a14:m>
                  <m:oMath xmlns:m="http://schemas.openxmlformats.org/officeDocument/2006/math">
                    <m:r>
                      <a:rPr kumimoji="1" lang="en-US" altLang="zh-CN" sz="2400" b="1" i="1">
                        <a:latin typeface="Cambria Math" panose="02040503050406030204" pitchFamily="18" charset="0"/>
                        <a:ea typeface="黑体" panose="02010609060101010101" pitchFamily="49" charset="-122"/>
                        <a:cs typeface="黑体" panose="02010609060101010101" pitchFamily="49" charset="-122"/>
                      </a:rPr>
                      <m:t>𝒄</m:t>
                    </m:r>
                    <m:r>
                      <a:rPr kumimoji="1" lang="en-US" altLang="zh-CN" sz="2400" b="0" i="1" smtClean="0">
                        <a:latin typeface="Cambria Math" panose="02040503050406030204" pitchFamily="18" charset="0"/>
                        <a:ea typeface="黑体" panose="02010609060101010101" pitchFamily="49" charset="-122"/>
                        <a:cs typeface="黑体" panose="02010609060101010101" pitchFamily="49" charset="-122"/>
                      </a:rPr>
                      <m:t>=</m:t>
                    </m:r>
                    <m:r>
                      <a:rPr kumimoji="1" lang="en-US" altLang="zh-CN" sz="2400" b="1" i="1" smtClean="0">
                        <a:latin typeface="Cambria Math" panose="02040503050406030204" pitchFamily="18" charset="0"/>
                        <a:ea typeface="黑体" panose="02010609060101010101" pitchFamily="49" charset="-122"/>
                        <a:cs typeface="黑体" panose="02010609060101010101" pitchFamily="49" charset="-122"/>
                      </a:rPr>
                      <m:t>𝟎</m:t>
                    </m:r>
                  </m:oMath>
                </a14:m>
                <a:r>
                  <a:rPr lang="zh-CN" altLang="en-US" sz="2200" dirty="0">
                    <a:latin typeface="Times New Roman" panose="02020603050405020304" pitchFamily="18" charset="0"/>
                  </a:rPr>
                  <a:t>时，</a:t>
                </a:r>
              </a:p>
            </p:txBody>
          </p:sp>
        </mc:Choice>
        <mc:Fallback xmlns="">
          <p:sp>
            <p:nvSpPr>
              <p:cNvPr id="7" name="Text Box 102"/>
              <p:cNvSpPr txBox="1">
                <a:spLocks noRot="1" noChangeAspect="1" noMove="1" noResize="1" noEditPoints="1" noAdjustHandles="1" noChangeArrowheads="1" noChangeShapeType="1" noTextEdit="1"/>
              </p:cNvSpPr>
              <p:nvPr/>
            </p:nvSpPr>
            <p:spPr bwMode="auto">
              <a:xfrm>
                <a:off x="3992868" y="3025272"/>
                <a:ext cx="2520950" cy="453137"/>
              </a:xfrm>
              <a:prstGeom prst="rect">
                <a:avLst/>
              </a:prstGeom>
              <a:blipFill>
                <a:blip r:embed="rId6"/>
                <a:stretch>
                  <a:fillRect l="-3140" t="-8000" b="-2133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25" name="Rectangle 143"/>
          <p:cNvSpPr>
            <a:spLocks noChangeArrowheads="1"/>
          </p:cNvSpPr>
          <p:nvPr/>
        </p:nvSpPr>
        <p:spPr bwMode="auto">
          <a:xfrm>
            <a:off x="2412950" y="3602686"/>
            <a:ext cx="1512887"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2200" b="0" i="0" u="none" strike="noStrike" kern="0" cap="none" spc="0" normalizeH="0" baseline="0" noProof="0" dirty="0">
                <a:ln>
                  <a:noFill/>
                </a:ln>
                <a:uLnTx/>
                <a:uFillTx/>
                <a:latin typeface="Times New Roman" panose="02020603050405020304" pitchFamily="18" charset="0"/>
                <a:ea typeface="黑体" panose="02010609060101010101" pitchFamily="49" charset="-122"/>
              </a:rPr>
              <a:t>显然成立，</a:t>
            </a:r>
          </a:p>
        </p:txBody>
      </p:sp>
      <mc:AlternateContent xmlns:mc="http://schemas.openxmlformats.org/markup-compatibility/2006" xmlns:a14="http://schemas.microsoft.com/office/drawing/2010/main">
        <mc:Choice Requires="a14">
          <p:sp>
            <p:nvSpPr>
              <p:cNvPr id="26" name="Rectangle 144"/>
              <p:cNvSpPr>
                <a:spLocks noChangeArrowheads="1"/>
              </p:cNvSpPr>
              <p:nvPr/>
            </p:nvSpPr>
            <p:spPr bwMode="auto">
              <a:xfrm>
                <a:off x="2430115" y="4134433"/>
                <a:ext cx="4083702" cy="46166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fontAlgn="base">
                  <a:spcBef>
                    <a:spcPct val="0"/>
                  </a:spcBef>
                  <a:spcAft>
                    <a:spcPct val="0"/>
                  </a:spcAft>
                  <a:defRPr/>
                </a:pPr>
                <a14:m>
                  <m:oMathPara xmlns:m="http://schemas.openxmlformats.org/officeDocument/2006/math">
                    <m:oMathParaPr>
                      <m:jc m:val="left"/>
                    </m:oMathParaPr>
                    <m:oMath xmlns:m="http://schemas.openxmlformats.org/officeDocument/2006/math">
                      <m:d>
                        <m:dPr>
                          <m:ctrlPr>
                            <a:rPr kumimoji="1" lang="en-US" altLang="zh-CN" sz="2400" i="1" dirty="0">
                              <a:latin typeface="Cambria Math" panose="02040503050406030204" pitchFamily="18" charset="0"/>
                              <a:ea typeface="黑体" panose="02010609060101010101" pitchFamily="49" charset="-122"/>
                            </a:rPr>
                          </m:ctrlPr>
                        </m:dPr>
                        <m:e>
                          <m:r>
                            <a:rPr kumimoji="1" lang="en-US" altLang="zh-CN" sz="2400" b="1" i="1" dirty="0">
                              <a:latin typeface="Cambria Math" panose="02040503050406030204" pitchFamily="18" charset="0"/>
                              <a:ea typeface="黑体" panose="02010609060101010101" pitchFamily="49" charset="-122"/>
                            </a:rPr>
                            <m:t>𝒂</m:t>
                          </m:r>
                          <m:r>
                            <a:rPr kumimoji="1" lang="en-US" altLang="zh-CN" sz="2400" dirty="0">
                              <a:latin typeface="Cambria Math" panose="02040503050406030204" pitchFamily="18" charset="0"/>
                              <a:ea typeface="黑体" panose="02010609060101010101" pitchFamily="49" charset="-122"/>
                            </a:rPr>
                            <m:t>+</m:t>
                          </m:r>
                          <m:r>
                            <a:rPr kumimoji="1" lang="en-US" altLang="zh-CN" sz="2400" b="1" i="1">
                              <a:latin typeface="Cambria Math" panose="02040503050406030204" pitchFamily="18" charset="0"/>
                              <a:ea typeface="黑体" panose="02010609060101010101" pitchFamily="49" charset="-122"/>
                              <a:cs typeface="黑体" panose="02010609060101010101" pitchFamily="49" charset="-122"/>
                            </a:rPr>
                            <m:t>𝒃</m:t>
                          </m:r>
                        </m:e>
                      </m:d>
                      <m:r>
                        <a:rPr kumimoji="1" lang="zh-CN" altLang="en-US" sz="2400">
                          <a:latin typeface="Cambria Math" panose="02040503050406030204" pitchFamily="18" charset="0"/>
                          <a:ea typeface="黑体" panose="02010609060101010101" pitchFamily="49" charset="-122"/>
                          <a:cs typeface="黑体" panose="02010609060101010101" pitchFamily="49" charset="-122"/>
                        </a:rPr>
                        <m:t>⋅</m:t>
                      </m:r>
                      <m:r>
                        <a:rPr kumimoji="1" lang="en-US" altLang="zh-CN" sz="2400" b="1" i="1">
                          <a:latin typeface="Cambria Math" panose="02040503050406030204" pitchFamily="18" charset="0"/>
                          <a:ea typeface="黑体" panose="02010609060101010101" pitchFamily="49" charset="-122"/>
                          <a:cs typeface="黑体" panose="02010609060101010101" pitchFamily="49" charset="-122"/>
                        </a:rPr>
                        <m:t>𝒄</m:t>
                      </m:r>
                      <m:r>
                        <a:rPr kumimoji="1" lang="en-US" altLang="zh-CN" sz="2200" i="1">
                          <a:latin typeface="Cambria Math" panose="02040503050406030204" pitchFamily="18" charset="0"/>
                          <a:ea typeface="黑体" panose="02010609060101010101" pitchFamily="49" charset="-122"/>
                          <a:cs typeface="黑体" panose="02010609060101010101" pitchFamily="49" charset="-122"/>
                        </a:rPr>
                        <m:t>=|</m:t>
                      </m:r>
                      <m:r>
                        <a:rPr kumimoji="1" lang="en-US" altLang="zh-CN" sz="2200" b="1" i="1" smtClean="0">
                          <a:latin typeface="Cambria Math" panose="02040503050406030204" pitchFamily="18" charset="0"/>
                          <a:ea typeface="黑体" panose="02010609060101010101" pitchFamily="49" charset="-122"/>
                          <a:cs typeface="黑体" panose="02010609060101010101" pitchFamily="49" charset="-122"/>
                        </a:rPr>
                        <m:t>𝒄</m:t>
                      </m:r>
                      <m:r>
                        <a:rPr kumimoji="1" lang="en-US" altLang="zh-CN" sz="2200" b="0" i="1" smtClean="0">
                          <a:latin typeface="Cambria Math" panose="02040503050406030204" pitchFamily="18" charset="0"/>
                          <a:ea typeface="黑体" panose="02010609060101010101" pitchFamily="49" charset="-122"/>
                          <a:cs typeface="黑体" panose="02010609060101010101" pitchFamily="49" charset="-122"/>
                        </a:rPr>
                        <m:t>|</m:t>
                      </m:r>
                      <m:sSub>
                        <m:sSubPr>
                          <m:ctrlPr>
                            <a:rPr kumimoji="1" lang="en-US" altLang="zh-CN" sz="2200" i="1" dirty="0">
                              <a:latin typeface="Cambria Math" panose="02040503050406030204" pitchFamily="18" charset="0"/>
                              <a:ea typeface="黑体" panose="02010609060101010101" pitchFamily="49" charset="-122"/>
                              <a:cs typeface="Cambria Math" panose="02040503050406030204" charset="0"/>
                            </a:rPr>
                          </m:ctrlPr>
                        </m:sSubPr>
                        <m:e>
                          <m:r>
                            <m:rPr>
                              <m:sty m:val="p"/>
                            </m:rPr>
                            <a:rPr kumimoji="1" lang="en-US" altLang="zh-CN" sz="2200" dirty="0">
                              <a:latin typeface="Cambria Math" panose="02040503050406030204" pitchFamily="18" charset="0"/>
                              <a:ea typeface="黑体" panose="02010609060101010101" pitchFamily="49" charset="-122"/>
                              <a:cs typeface="Cambria Math" panose="02040503050406030204" charset="0"/>
                            </a:rPr>
                            <m:t>Prj</m:t>
                          </m:r>
                        </m:e>
                        <m:sub>
                          <m:r>
                            <a:rPr kumimoji="1" lang="en-US" altLang="zh-CN" sz="2200" b="0" i="1" dirty="0" smtClean="0">
                              <a:latin typeface="Cambria Math" panose="02040503050406030204" pitchFamily="18" charset="0"/>
                              <a:ea typeface="黑体" panose="02010609060101010101" pitchFamily="49" charset="-122"/>
                              <a:cs typeface="Cambria Math" panose="02040503050406030204" charset="0"/>
                            </a:rPr>
                            <m:t>𝑐</m:t>
                          </m:r>
                        </m:sub>
                      </m:sSub>
                      <m:d>
                        <m:dPr>
                          <m:ctrlPr>
                            <a:rPr kumimoji="1" lang="en-US" altLang="zh-CN" sz="2400" i="1" dirty="0">
                              <a:latin typeface="Cambria Math" panose="02040503050406030204" pitchFamily="18" charset="0"/>
                              <a:ea typeface="黑体" panose="02010609060101010101" pitchFamily="49" charset="-122"/>
                            </a:rPr>
                          </m:ctrlPr>
                        </m:dPr>
                        <m:e>
                          <m:r>
                            <a:rPr kumimoji="1" lang="en-US" altLang="zh-CN" sz="2400" b="1" i="1" dirty="0">
                              <a:latin typeface="Cambria Math" panose="02040503050406030204" pitchFamily="18" charset="0"/>
                              <a:ea typeface="黑体" panose="02010609060101010101" pitchFamily="49" charset="-122"/>
                            </a:rPr>
                            <m:t>𝒂</m:t>
                          </m:r>
                          <m:r>
                            <a:rPr kumimoji="1" lang="en-US" altLang="zh-CN" sz="2400" dirty="0">
                              <a:latin typeface="Cambria Math" panose="02040503050406030204" pitchFamily="18" charset="0"/>
                              <a:ea typeface="黑体" panose="02010609060101010101" pitchFamily="49" charset="-122"/>
                            </a:rPr>
                            <m:t>+</m:t>
                          </m:r>
                          <m:r>
                            <a:rPr kumimoji="1" lang="en-US" altLang="zh-CN" sz="2400" b="1" i="1">
                              <a:latin typeface="Cambria Math" panose="02040503050406030204" pitchFamily="18" charset="0"/>
                              <a:ea typeface="黑体" panose="02010609060101010101" pitchFamily="49" charset="-122"/>
                              <a:cs typeface="黑体" panose="02010609060101010101" pitchFamily="49" charset="-122"/>
                            </a:rPr>
                            <m:t>𝒃</m:t>
                          </m:r>
                        </m:e>
                      </m:d>
                    </m:oMath>
                  </m:oMathPara>
                </a14:m>
                <a:endParaRPr kumimoji="1" lang="en-US" altLang="zh-CN" sz="2200" dirty="0">
                  <a:latin typeface="Cambria Math" panose="02040503050406030204" pitchFamily="18" charset="0"/>
                  <a:ea typeface="黑体" panose="02010609060101010101" pitchFamily="49" charset="-122"/>
                </a:endParaRPr>
              </a:p>
            </p:txBody>
          </p:sp>
        </mc:Choice>
        <mc:Fallback xmlns="">
          <p:sp>
            <p:nvSpPr>
              <p:cNvPr id="26" name="Rectangle 144"/>
              <p:cNvSpPr>
                <a:spLocks noRot="1" noChangeAspect="1" noMove="1" noResize="1" noEditPoints="1" noAdjustHandles="1" noChangeArrowheads="1" noChangeShapeType="1" noTextEdit="1"/>
              </p:cNvSpPr>
              <p:nvPr/>
            </p:nvSpPr>
            <p:spPr bwMode="auto">
              <a:xfrm>
                <a:off x="2430115" y="4134433"/>
                <a:ext cx="4083702" cy="461665"/>
              </a:xfrm>
              <a:prstGeom prst="rect">
                <a:avLst/>
              </a:prstGeom>
              <a:blipFill>
                <a:blip r:embed="rId14"/>
                <a:stretch>
                  <a:fillRect b="-1578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Rectangle 145"/>
              <p:cNvSpPr>
                <a:spLocks noChangeArrowheads="1"/>
              </p:cNvSpPr>
              <p:nvPr/>
            </p:nvSpPr>
            <p:spPr bwMode="auto">
              <a:xfrm>
                <a:off x="2165341" y="4683937"/>
                <a:ext cx="2768610" cy="4308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fontAlgn="base">
                  <a:spcBef>
                    <a:spcPct val="0"/>
                  </a:spcBef>
                  <a:spcAft>
                    <a:spcPct val="0"/>
                  </a:spcAft>
                  <a:defRPr/>
                </a:pPr>
                <a14:m>
                  <m:oMathPara xmlns:m="http://schemas.openxmlformats.org/officeDocument/2006/math">
                    <m:oMathParaPr>
                      <m:jc m:val="left"/>
                    </m:oMathParaPr>
                    <m:oMath xmlns:m="http://schemas.openxmlformats.org/officeDocument/2006/math">
                      <m:r>
                        <a:rPr kumimoji="1" lang="en-US" altLang="zh-CN" sz="2200" i="1" smtClean="0">
                          <a:latin typeface="Cambria Math" panose="02040503050406030204" pitchFamily="18" charset="0"/>
                          <a:ea typeface="黑体" panose="02010609060101010101" pitchFamily="49" charset="-122"/>
                          <a:cs typeface="黑体" panose="02010609060101010101" pitchFamily="49" charset="-122"/>
                        </a:rPr>
                        <m:t>=</m:t>
                      </m:r>
                      <m:d>
                        <m:dPr>
                          <m:begChr m:val="|"/>
                          <m:endChr m:val="|"/>
                          <m:ctrlPr>
                            <a:rPr kumimoji="1" lang="en-US" altLang="zh-CN" sz="2200" b="1" i="1" smtClean="0">
                              <a:latin typeface="Cambria Math" panose="02040503050406030204" pitchFamily="18" charset="0"/>
                              <a:ea typeface="黑体" panose="02010609060101010101" pitchFamily="49" charset="-122"/>
                              <a:cs typeface="黑体" panose="02010609060101010101" pitchFamily="49" charset="-122"/>
                            </a:rPr>
                          </m:ctrlPr>
                        </m:dPr>
                        <m:e>
                          <m:r>
                            <a:rPr kumimoji="1" lang="en-US" altLang="zh-CN" sz="2200" b="1" i="1" smtClean="0">
                              <a:latin typeface="Cambria Math" panose="02040503050406030204" pitchFamily="18" charset="0"/>
                              <a:ea typeface="黑体" panose="02010609060101010101" pitchFamily="49" charset="-122"/>
                              <a:cs typeface="黑体" panose="02010609060101010101" pitchFamily="49" charset="-122"/>
                            </a:rPr>
                            <m:t>𝒄</m:t>
                          </m:r>
                        </m:e>
                      </m:d>
                      <m:r>
                        <a:rPr kumimoji="1" lang="en-US" altLang="zh-CN" sz="2200" b="0" i="1" smtClean="0">
                          <a:latin typeface="Cambria Math" panose="02040503050406030204" pitchFamily="18" charset="0"/>
                          <a:ea typeface="黑体" panose="02010609060101010101" pitchFamily="49" charset="-122"/>
                          <a:cs typeface="黑体" panose="02010609060101010101" pitchFamily="49" charset="-122"/>
                        </a:rPr>
                        <m:t>(</m:t>
                      </m:r>
                      <m:sSub>
                        <m:sSubPr>
                          <m:ctrlPr>
                            <a:rPr kumimoji="1" lang="en-US" altLang="zh-CN" sz="2200" i="1" dirty="0">
                              <a:latin typeface="Cambria Math" panose="02040503050406030204" pitchFamily="18" charset="0"/>
                              <a:ea typeface="黑体" panose="02010609060101010101" pitchFamily="49" charset="-122"/>
                              <a:cs typeface="Cambria Math" panose="02040503050406030204" charset="0"/>
                            </a:rPr>
                          </m:ctrlPr>
                        </m:sSubPr>
                        <m:e>
                          <m:r>
                            <m:rPr>
                              <m:sty m:val="p"/>
                            </m:rPr>
                            <a:rPr kumimoji="1" lang="en-US" altLang="zh-CN" sz="2200" dirty="0">
                              <a:latin typeface="Cambria Math" panose="02040503050406030204" pitchFamily="18" charset="0"/>
                              <a:ea typeface="黑体" panose="02010609060101010101" pitchFamily="49" charset="-122"/>
                              <a:cs typeface="Cambria Math" panose="02040503050406030204" charset="0"/>
                            </a:rPr>
                            <m:t>Prj</m:t>
                          </m:r>
                        </m:e>
                        <m:sub>
                          <m:r>
                            <a:rPr kumimoji="1" lang="en-US" altLang="zh-CN" sz="2200" i="1" dirty="0">
                              <a:latin typeface="Cambria Math" panose="02040503050406030204" pitchFamily="18" charset="0"/>
                              <a:ea typeface="黑体" panose="02010609060101010101" pitchFamily="49" charset="-122"/>
                              <a:cs typeface="Cambria Math" panose="02040503050406030204" charset="0"/>
                            </a:rPr>
                            <m:t>𝑐</m:t>
                          </m:r>
                        </m:sub>
                      </m:sSub>
                      <m:r>
                        <a:rPr kumimoji="1" lang="en-US" altLang="zh-CN" sz="2200" b="1" i="1" dirty="0" smtClean="0">
                          <a:latin typeface="Cambria Math" panose="02040503050406030204" pitchFamily="18" charset="0"/>
                          <a:ea typeface="黑体" panose="02010609060101010101" pitchFamily="49" charset="-122"/>
                          <a:cs typeface="Cambria Math" panose="02040503050406030204" charset="0"/>
                        </a:rPr>
                        <m:t>𝒂</m:t>
                      </m:r>
                      <m:r>
                        <a:rPr kumimoji="1" lang="en-US" altLang="zh-CN" sz="2200" b="0" i="1" dirty="0" smtClean="0">
                          <a:latin typeface="Cambria Math" panose="02040503050406030204" pitchFamily="18" charset="0"/>
                          <a:ea typeface="黑体" panose="02010609060101010101" pitchFamily="49" charset="-122"/>
                          <a:cs typeface="Cambria Math" panose="02040503050406030204" charset="0"/>
                        </a:rPr>
                        <m:t>+</m:t>
                      </m:r>
                      <m:sSub>
                        <m:sSubPr>
                          <m:ctrlPr>
                            <a:rPr kumimoji="1" lang="en-US" altLang="zh-CN" sz="2200" i="1" dirty="0">
                              <a:latin typeface="Cambria Math" panose="02040503050406030204" pitchFamily="18" charset="0"/>
                              <a:ea typeface="黑体" panose="02010609060101010101" pitchFamily="49" charset="-122"/>
                              <a:cs typeface="Cambria Math" panose="02040503050406030204" charset="0"/>
                            </a:rPr>
                          </m:ctrlPr>
                        </m:sSubPr>
                        <m:e>
                          <m:r>
                            <m:rPr>
                              <m:sty m:val="p"/>
                            </m:rPr>
                            <a:rPr kumimoji="1" lang="en-US" altLang="zh-CN" sz="2200" dirty="0">
                              <a:latin typeface="Cambria Math" panose="02040503050406030204" pitchFamily="18" charset="0"/>
                              <a:ea typeface="黑体" panose="02010609060101010101" pitchFamily="49" charset="-122"/>
                              <a:cs typeface="Cambria Math" panose="02040503050406030204" charset="0"/>
                            </a:rPr>
                            <m:t>Prj</m:t>
                          </m:r>
                        </m:e>
                        <m:sub>
                          <m:r>
                            <a:rPr kumimoji="1" lang="en-US" altLang="zh-CN" sz="2200" i="1" dirty="0">
                              <a:latin typeface="Cambria Math" panose="02040503050406030204" pitchFamily="18" charset="0"/>
                              <a:ea typeface="黑体" panose="02010609060101010101" pitchFamily="49" charset="-122"/>
                              <a:cs typeface="Cambria Math" panose="02040503050406030204" charset="0"/>
                            </a:rPr>
                            <m:t>𝑐</m:t>
                          </m:r>
                        </m:sub>
                      </m:sSub>
                      <m:r>
                        <a:rPr kumimoji="1" lang="en-US" altLang="zh-CN" sz="2200" b="1" i="1" dirty="0" smtClean="0">
                          <a:latin typeface="Cambria Math" panose="02040503050406030204" pitchFamily="18" charset="0"/>
                          <a:ea typeface="黑体" panose="02010609060101010101" pitchFamily="49" charset="-122"/>
                          <a:cs typeface="Cambria Math" panose="02040503050406030204" charset="0"/>
                        </a:rPr>
                        <m:t>𝒃</m:t>
                      </m:r>
                      <m:r>
                        <a:rPr kumimoji="1" lang="en-US" altLang="zh-CN" sz="2200" b="0" i="1" dirty="0" smtClean="0">
                          <a:latin typeface="Cambria Math" panose="02040503050406030204" pitchFamily="18" charset="0"/>
                          <a:ea typeface="黑体" panose="02010609060101010101" pitchFamily="49" charset="-122"/>
                          <a:cs typeface="Cambria Math" panose="02040503050406030204" charset="0"/>
                        </a:rPr>
                        <m:t>)</m:t>
                      </m:r>
                    </m:oMath>
                  </m:oMathPara>
                </a14:m>
                <a:endParaRPr kumimoji="1" lang="en-US" altLang="zh-CN" sz="2200" dirty="0">
                  <a:latin typeface="Cambria Math" panose="02040503050406030204" pitchFamily="18" charset="0"/>
                  <a:ea typeface="黑体" panose="02010609060101010101" pitchFamily="49" charset="-122"/>
                </a:endParaRPr>
              </a:p>
            </p:txBody>
          </p:sp>
        </mc:Choice>
        <mc:Fallback xmlns="">
          <p:sp>
            <p:nvSpPr>
              <p:cNvPr id="27" name="Rectangle 145"/>
              <p:cNvSpPr>
                <a:spLocks noRot="1" noChangeAspect="1" noMove="1" noResize="1" noEditPoints="1" noAdjustHandles="1" noChangeArrowheads="1" noChangeShapeType="1" noTextEdit="1"/>
              </p:cNvSpPr>
              <p:nvPr/>
            </p:nvSpPr>
            <p:spPr bwMode="auto">
              <a:xfrm>
                <a:off x="2165341" y="4683937"/>
                <a:ext cx="2768610" cy="430887"/>
              </a:xfrm>
              <a:prstGeom prst="rect">
                <a:avLst/>
              </a:prstGeom>
              <a:blipFill>
                <a:blip r:embed="rId15"/>
                <a:stretch>
                  <a:fillRect b="-1831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Rectangle 146"/>
              <p:cNvSpPr>
                <a:spLocks noChangeArrowheads="1"/>
              </p:cNvSpPr>
              <p:nvPr/>
            </p:nvSpPr>
            <p:spPr bwMode="auto">
              <a:xfrm>
                <a:off x="2171690" y="5246329"/>
                <a:ext cx="2762261" cy="4308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fontAlgn="base">
                  <a:spcBef>
                    <a:spcPct val="0"/>
                  </a:spcBef>
                  <a:spcAft>
                    <a:spcPct val="0"/>
                  </a:spcAft>
                  <a:defRPr/>
                </a:pPr>
                <a14:m>
                  <m:oMathPara xmlns:m="http://schemas.openxmlformats.org/officeDocument/2006/math">
                    <m:oMathParaPr>
                      <m:jc m:val="left"/>
                    </m:oMathParaPr>
                    <m:oMath xmlns:m="http://schemas.openxmlformats.org/officeDocument/2006/math">
                      <m:r>
                        <a:rPr kumimoji="1" lang="en-US" altLang="zh-CN" sz="2200" i="1">
                          <a:latin typeface="Cambria Math" panose="02040503050406030204" pitchFamily="18" charset="0"/>
                          <a:ea typeface="黑体" panose="02010609060101010101" pitchFamily="49" charset="-122"/>
                          <a:cs typeface="黑体" panose="02010609060101010101" pitchFamily="49" charset="-122"/>
                        </a:rPr>
                        <m:t>=</m:t>
                      </m:r>
                      <m:d>
                        <m:dPr>
                          <m:begChr m:val="|"/>
                          <m:endChr m:val="|"/>
                          <m:ctrlPr>
                            <a:rPr kumimoji="1" lang="en-US" altLang="zh-CN" sz="2200" b="1" i="1">
                              <a:latin typeface="Cambria Math" panose="02040503050406030204" pitchFamily="18" charset="0"/>
                              <a:ea typeface="黑体" panose="02010609060101010101" pitchFamily="49" charset="-122"/>
                              <a:cs typeface="黑体" panose="02010609060101010101" pitchFamily="49" charset="-122"/>
                            </a:rPr>
                          </m:ctrlPr>
                        </m:dPr>
                        <m:e>
                          <m:r>
                            <a:rPr kumimoji="1" lang="en-US" altLang="zh-CN" sz="2200" b="1" i="1">
                              <a:latin typeface="Cambria Math" panose="02040503050406030204" pitchFamily="18" charset="0"/>
                              <a:ea typeface="黑体" panose="02010609060101010101" pitchFamily="49" charset="-122"/>
                              <a:cs typeface="黑体" panose="02010609060101010101" pitchFamily="49" charset="-122"/>
                            </a:rPr>
                            <m:t>𝒄</m:t>
                          </m:r>
                        </m:e>
                      </m:d>
                      <m:sSub>
                        <m:sSubPr>
                          <m:ctrlPr>
                            <a:rPr kumimoji="1" lang="en-US" altLang="zh-CN" sz="2200" i="1" dirty="0">
                              <a:latin typeface="Cambria Math" panose="02040503050406030204" pitchFamily="18" charset="0"/>
                              <a:ea typeface="黑体" panose="02010609060101010101" pitchFamily="49" charset="-122"/>
                              <a:cs typeface="Cambria Math" panose="02040503050406030204" charset="0"/>
                            </a:rPr>
                          </m:ctrlPr>
                        </m:sSubPr>
                        <m:e>
                          <m:r>
                            <m:rPr>
                              <m:sty m:val="p"/>
                            </m:rPr>
                            <a:rPr kumimoji="1" lang="en-US" altLang="zh-CN" sz="2200" dirty="0">
                              <a:latin typeface="Cambria Math" panose="02040503050406030204" pitchFamily="18" charset="0"/>
                              <a:ea typeface="黑体" panose="02010609060101010101" pitchFamily="49" charset="-122"/>
                              <a:cs typeface="Cambria Math" panose="02040503050406030204" charset="0"/>
                            </a:rPr>
                            <m:t>Prj</m:t>
                          </m:r>
                        </m:e>
                        <m:sub>
                          <m:r>
                            <a:rPr kumimoji="1" lang="en-US" altLang="zh-CN" sz="2200" i="1" dirty="0">
                              <a:latin typeface="Cambria Math" panose="02040503050406030204" pitchFamily="18" charset="0"/>
                              <a:ea typeface="黑体" panose="02010609060101010101" pitchFamily="49" charset="-122"/>
                              <a:cs typeface="Cambria Math" panose="02040503050406030204" charset="0"/>
                            </a:rPr>
                            <m:t>𝑐</m:t>
                          </m:r>
                        </m:sub>
                      </m:sSub>
                      <m:r>
                        <a:rPr kumimoji="1" lang="en-US" altLang="zh-CN" sz="2200" b="1" i="1" dirty="0">
                          <a:latin typeface="Cambria Math" panose="02040503050406030204" pitchFamily="18" charset="0"/>
                          <a:ea typeface="黑体" panose="02010609060101010101" pitchFamily="49" charset="-122"/>
                          <a:cs typeface="Cambria Math" panose="02040503050406030204" charset="0"/>
                        </a:rPr>
                        <m:t>𝒂</m:t>
                      </m:r>
                      <m:r>
                        <a:rPr kumimoji="1" lang="en-US" altLang="zh-CN" sz="2200" i="1" dirty="0">
                          <a:latin typeface="Cambria Math" panose="02040503050406030204" pitchFamily="18" charset="0"/>
                          <a:ea typeface="黑体" panose="02010609060101010101" pitchFamily="49" charset="-122"/>
                          <a:cs typeface="Cambria Math" panose="02040503050406030204" charset="0"/>
                        </a:rPr>
                        <m:t>+</m:t>
                      </m:r>
                      <m:d>
                        <m:dPr>
                          <m:begChr m:val="|"/>
                          <m:endChr m:val="|"/>
                          <m:ctrlPr>
                            <a:rPr kumimoji="1" lang="en-US" altLang="zh-CN" sz="2200" b="1" i="1">
                              <a:latin typeface="Cambria Math" panose="02040503050406030204" pitchFamily="18" charset="0"/>
                              <a:ea typeface="黑体" panose="02010609060101010101" pitchFamily="49" charset="-122"/>
                              <a:cs typeface="黑体" panose="02010609060101010101" pitchFamily="49" charset="-122"/>
                            </a:rPr>
                          </m:ctrlPr>
                        </m:dPr>
                        <m:e>
                          <m:r>
                            <a:rPr kumimoji="1" lang="en-US" altLang="zh-CN" sz="2200" b="1" i="1">
                              <a:latin typeface="Cambria Math" panose="02040503050406030204" pitchFamily="18" charset="0"/>
                              <a:ea typeface="黑体" panose="02010609060101010101" pitchFamily="49" charset="-122"/>
                              <a:cs typeface="黑体" panose="02010609060101010101" pitchFamily="49" charset="-122"/>
                            </a:rPr>
                            <m:t>𝒄</m:t>
                          </m:r>
                        </m:e>
                      </m:d>
                      <m:sSub>
                        <m:sSubPr>
                          <m:ctrlPr>
                            <a:rPr kumimoji="1" lang="en-US" altLang="zh-CN" sz="2200" i="1" dirty="0">
                              <a:latin typeface="Cambria Math" panose="02040503050406030204" pitchFamily="18" charset="0"/>
                              <a:ea typeface="黑体" panose="02010609060101010101" pitchFamily="49" charset="-122"/>
                              <a:cs typeface="Cambria Math" panose="02040503050406030204" charset="0"/>
                            </a:rPr>
                          </m:ctrlPr>
                        </m:sSubPr>
                        <m:e>
                          <m:r>
                            <m:rPr>
                              <m:sty m:val="p"/>
                            </m:rPr>
                            <a:rPr kumimoji="1" lang="en-US" altLang="zh-CN" sz="2200" dirty="0">
                              <a:latin typeface="Cambria Math" panose="02040503050406030204" pitchFamily="18" charset="0"/>
                              <a:ea typeface="黑体" panose="02010609060101010101" pitchFamily="49" charset="-122"/>
                              <a:cs typeface="Cambria Math" panose="02040503050406030204" charset="0"/>
                            </a:rPr>
                            <m:t>Prj</m:t>
                          </m:r>
                        </m:e>
                        <m:sub>
                          <m:r>
                            <a:rPr kumimoji="1" lang="en-US" altLang="zh-CN" sz="2200" i="1" dirty="0">
                              <a:latin typeface="Cambria Math" panose="02040503050406030204" pitchFamily="18" charset="0"/>
                              <a:ea typeface="黑体" panose="02010609060101010101" pitchFamily="49" charset="-122"/>
                              <a:cs typeface="Cambria Math" panose="02040503050406030204" charset="0"/>
                            </a:rPr>
                            <m:t>𝑐</m:t>
                          </m:r>
                        </m:sub>
                      </m:sSub>
                      <m:r>
                        <a:rPr kumimoji="1" lang="en-US" altLang="zh-CN" sz="2200" b="1" i="1" dirty="0">
                          <a:latin typeface="Cambria Math" panose="02040503050406030204" pitchFamily="18" charset="0"/>
                          <a:ea typeface="黑体" panose="02010609060101010101" pitchFamily="49" charset="-122"/>
                          <a:cs typeface="Cambria Math" panose="02040503050406030204" charset="0"/>
                        </a:rPr>
                        <m:t>𝒃</m:t>
                      </m:r>
                    </m:oMath>
                  </m:oMathPara>
                </a14:m>
                <a:endParaRPr kumimoji="1" lang="en-US" altLang="zh-CN" sz="2200" b="1" dirty="0">
                  <a:latin typeface="Cambria Math" panose="02040503050406030204" pitchFamily="18" charset="0"/>
                  <a:ea typeface="黑体" panose="02010609060101010101" pitchFamily="49" charset="-122"/>
                </a:endParaRPr>
              </a:p>
            </p:txBody>
          </p:sp>
        </mc:Choice>
        <mc:Fallback xmlns="">
          <p:sp>
            <p:nvSpPr>
              <p:cNvPr id="28" name="Rectangle 146"/>
              <p:cNvSpPr>
                <a:spLocks noRot="1" noChangeAspect="1" noMove="1" noResize="1" noEditPoints="1" noAdjustHandles="1" noChangeArrowheads="1" noChangeShapeType="1" noTextEdit="1"/>
              </p:cNvSpPr>
              <p:nvPr/>
            </p:nvSpPr>
            <p:spPr bwMode="auto">
              <a:xfrm>
                <a:off x="2171690" y="5246329"/>
                <a:ext cx="2762261" cy="430887"/>
              </a:xfrm>
              <a:prstGeom prst="rect">
                <a:avLst/>
              </a:prstGeom>
              <a:blipFill>
                <a:blip r:embed="rId16"/>
                <a:stretch>
                  <a:fillRect b="-1857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Rectangle 147"/>
              <p:cNvSpPr>
                <a:spLocks noChangeArrowheads="1"/>
              </p:cNvSpPr>
              <p:nvPr/>
            </p:nvSpPr>
            <p:spPr bwMode="auto">
              <a:xfrm>
                <a:off x="4780778" y="5246021"/>
                <a:ext cx="1967526" cy="4308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p>
                <a:pPr fontAlgn="base">
                  <a:spcBef>
                    <a:spcPct val="0"/>
                  </a:spcBef>
                  <a:spcAft>
                    <a:spcPct val="0"/>
                  </a:spcAft>
                  <a:defRPr/>
                </a:pPr>
                <a14:m>
                  <m:oMathPara xmlns:m="http://schemas.openxmlformats.org/officeDocument/2006/math">
                    <m:oMathParaPr>
                      <m:jc m:val="centerGroup"/>
                    </m:oMathParaPr>
                    <m:oMath xmlns:m="http://schemas.openxmlformats.org/officeDocument/2006/math">
                      <m:r>
                        <a:rPr kumimoji="1" lang="en-US" altLang="zh-CN" sz="2200" i="1">
                          <a:latin typeface="Cambria Math" panose="02040503050406030204" pitchFamily="18" charset="0"/>
                          <a:ea typeface="黑体" panose="02010609060101010101" pitchFamily="49" charset="-122"/>
                          <a:cs typeface="黑体" panose="02010609060101010101" pitchFamily="49" charset="-122"/>
                        </a:rPr>
                        <m:t>=</m:t>
                      </m:r>
                      <m:r>
                        <a:rPr kumimoji="1" lang="en-US" altLang="zh-CN" sz="2200" b="1" i="1">
                          <a:latin typeface="Cambria Math" panose="02040503050406030204" pitchFamily="18" charset="0"/>
                          <a:ea typeface="黑体" panose="02010609060101010101" pitchFamily="49" charset="-122"/>
                          <a:cs typeface="黑体" panose="02010609060101010101" pitchFamily="49" charset="-122"/>
                        </a:rPr>
                        <m:t>𝒂</m:t>
                      </m:r>
                      <m:r>
                        <a:rPr kumimoji="1" lang="zh-CN" altLang="en-US" sz="2200">
                          <a:latin typeface="Cambria Math" panose="02040503050406030204" pitchFamily="18" charset="0"/>
                          <a:ea typeface="黑体" panose="02010609060101010101" pitchFamily="49" charset="-122"/>
                          <a:cs typeface="黑体" panose="02010609060101010101" pitchFamily="49" charset="-122"/>
                        </a:rPr>
                        <m:t>⋅</m:t>
                      </m:r>
                      <m:r>
                        <a:rPr kumimoji="1" lang="en-US" altLang="zh-CN" sz="2200" b="1" i="1">
                          <a:latin typeface="Cambria Math" panose="02040503050406030204" pitchFamily="18" charset="0"/>
                          <a:ea typeface="黑体" panose="02010609060101010101" pitchFamily="49" charset="-122"/>
                          <a:cs typeface="黑体" panose="02010609060101010101" pitchFamily="49" charset="-122"/>
                        </a:rPr>
                        <m:t>𝒄</m:t>
                      </m:r>
                      <m:r>
                        <a:rPr kumimoji="1" lang="en-US" altLang="zh-CN" sz="2200">
                          <a:latin typeface="Cambria Math" panose="02040503050406030204" pitchFamily="18" charset="0"/>
                          <a:ea typeface="黑体" panose="02010609060101010101" pitchFamily="49" charset="-122"/>
                          <a:cs typeface="黑体" panose="02010609060101010101" pitchFamily="49" charset="-122"/>
                        </a:rPr>
                        <m:t>+</m:t>
                      </m:r>
                      <m:r>
                        <a:rPr kumimoji="1" lang="en-US" altLang="zh-CN" sz="2200" b="1" i="1">
                          <a:latin typeface="Cambria Math" panose="02040503050406030204" pitchFamily="18" charset="0"/>
                          <a:ea typeface="黑体" panose="02010609060101010101" pitchFamily="49" charset="-122"/>
                          <a:cs typeface="黑体" panose="02010609060101010101" pitchFamily="49" charset="-122"/>
                        </a:rPr>
                        <m:t>𝒃</m:t>
                      </m:r>
                      <m:r>
                        <a:rPr kumimoji="1" lang="zh-CN" altLang="en-US" sz="2200">
                          <a:latin typeface="Cambria Math" panose="02040503050406030204" pitchFamily="18" charset="0"/>
                          <a:ea typeface="黑体" panose="02010609060101010101" pitchFamily="49" charset="-122"/>
                          <a:cs typeface="黑体" panose="02010609060101010101" pitchFamily="49" charset="-122"/>
                        </a:rPr>
                        <m:t>⋅</m:t>
                      </m:r>
                      <m:r>
                        <a:rPr kumimoji="1" lang="en-US" altLang="zh-CN" sz="2200" b="1" i="1">
                          <a:latin typeface="Cambria Math" panose="02040503050406030204" pitchFamily="18" charset="0"/>
                          <a:ea typeface="黑体" panose="02010609060101010101" pitchFamily="49" charset="-122"/>
                          <a:cs typeface="黑体" panose="02010609060101010101" pitchFamily="49" charset="-122"/>
                        </a:rPr>
                        <m:t>𝒄</m:t>
                      </m:r>
                      <m:r>
                        <a:rPr kumimoji="1" lang="en-US" altLang="zh-CN" sz="2200">
                          <a:latin typeface="Cambria Math" panose="02040503050406030204" pitchFamily="18" charset="0"/>
                          <a:ea typeface="黑体" panose="02010609060101010101" pitchFamily="49" charset="-122"/>
                          <a:cs typeface="黑体" panose="02010609060101010101" pitchFamily="49" charset="-122"/>
                        </a:rPr>
                        <m:t>.</m:t>
                      </m:r>
                    </m:oMath>
                  </m:oMathPara>
                </a14:m>
                <a:endParaRPr kumimoji="1" lang="zh-CN" altLang="en-US" sz="2200" dirty="0">
                  <a:latin typeface="Cambria Math" panose="02040503050406030204" pitchFamily="18" charset="0"/>
                  <a:ea typeface="黑体" panose="02010609060101010101" pitchFamily="49" charset="-122"/>
                </a:endParaRPr>
              </a:p>
            </p:txBody>
          </p:sp>
        </mc:Choice>
        <mc:Fallback xmlns="">
          <p:sp>
            <p:nvSpPr>
              <p:cNvPr id="29" name="Rectangle 147"/>
              <p:cNvSpPr>
                <a:spLocks noRot="1" noChangeAspect="1" noMove="1" noResize="1" noEditPoints="1" noAdjustHandles="1" noChangeArrowheads="1" noChangeShapeType="1" noTextEdit="1"/>
              </p:cNvSpPr>
              <p:nvPr/>
            </p:nvSpPr>
            <p:spPr bwMode="auto">
              <a:xfrm>
                <a:off x="4780778" y="5246021"/>
                <a:ext cx="1967526" cy="430887"/>
              </a:xfrm>
              <a:prstGeom prst="rect">
                <a:avLst/>
              </a:prstGeom>
              <a:blipFill>
                <a:blip r:embed="rId17"/>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Rectangle 148"/>
              <p:cNvSpPr>
                <a:spLocks noChangeArrowheads="1"/>
              </p:cNvSpPr>
              <p:nvPr/>
            </p:nvSpPr>
            <p:spPr bwMode="auto">
              <a:xfrm>
                <a:off x="3743394" y="3624039"/>
                <a:ext cx="1746398" cy="4308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fontAlgn="base">
                  <a:spcBef>
                    <a:spcPct val="0"/>
                  </a:spcBef>
                  <a:spcAft>
                    <a:spcPct val="0"/>
                  </a:spcAft>
                  <a:defRPr/>
                </a:pPr>
                <a:r>
                  <a:rPr lang="zh-CN" altLang="en-US" sz="2200" dirty="0">
                    <a:latin typeface="Times New Roman" panose="02020603050405020304" pitchFamily="18" charset="0"/>
                  </a:rPr>
                  <a:t>当</a:t>
                </a:r>
                <a14:m>
                  <m:oMath xmlns:m="http://schemas.openxmlformats.org/officeDocument/2006/math">
                    <m:r>
                      <a:rPr kumimoji="1" lang="en-US" altLang="zh-CN" sz="2200" b="1" i="1">
                        <a:latin typeface="Cambria Math" panose="02040503050406030204" pitchFamily="18" charset="0"/>
                        <a:ea typeface="黑体" panose="02010609060101010101" pitchFamily="49" charset="-122"/>
                        <a:cs typeface="黑体" panose="02010609060101010101" pitchFamily="49" charset="-122"/>
                      </a:rPr>
                      <m:t>𝒄</m:t>
                    </m:r>
                    <m:r>
                      <a:rPr kumimoji="1" lang="zh-CN" altLang="en-US" sz="2200">
                        <a:latin typeface="Cambria Math" panose="02040503050406030204" pitchFamily="18" charset="0"/>
                        <a:ea typeface="黑体" panose="02010609060101010101" pitchFamily="49" charset="-122"/>
                        <a:cs typeface="黑体" panose="02010609060101010101" pitchFamily="49" charset="-122"/>
                      </a:rPr>
                      <m:t>≠</m:t>
                    </m:r>
                    <m:r>
                      <a:rPr kumimoji="1" lang="en-US" altLang="zh-CN" sz="2200" b="1" i="1">
                        <a:latin typeface="Cambria Math" panose="02040503050406030204" pitchFamily="18" charset="0"/>
                        <a:ea typeface="黑体" panose="02010609060101010101" pitchFamily="49" charset="-122"/>
                        <a:cs typeface="黑体" panose="02010609060101010101" pitchFamily="49" charset="-122"/>
                      </a:rPr>
                      <m:t>𝟎</m:t>
                    </m:r>
                  </m:oMath>
                </a14:m>
                <a:r>
                  <a:rPr lang="zh-CN" altLang="en-US" sz="2200" dirty="0">
                    <a:latin typeface="Times New Roman" panose="02020603050405020304" pitchFamily="18" charset="0"/>
                  </a:rPr>
                  <a:t>时，</a:t>
                </a:r>
              </a:p>
            </p:txBody>
          </p:sp>
        </mc:Choice>
        <mc:Fallback xmlns="">
          <p:sp>
            <p:nvSpPr>
              <p:cNvPr id="30" name="Rectangle 148"/>
              <p:cNvSpPr>
                <a:spLocks noRot="1" noChangeAspect="1" noMove="1" noResize="1" noEditPoints="1" noAdjustHandles="1" noChangeArrowheads="1" noChangeShapeType="1" noTextEdit="1"/>
              </p:cNvSpPr>
              <p:nvPr/>
            </p:nvSpPr>
            <p:spPr bwMode="auto">
              <a:xfrm>
                <a:off x="3743394" y="3624039"/>
                <a:ext cx="1746398" cy="430887"/>
              </a:xfrm>
              <a:prstGeom prst="rect">
                <a:avLst/>
              </a:prstGeom>
              <a:blipFill>
                <a:blip r:embed="rId18"/>
                <a:stretch>
                  <a:fillRect l="-4530" t="-12676" r="-1045" b="-2394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32" name="Text Box 43"/>
          <p:cNvSpPr txBox="1">
            <a:spLocks noChangeArrowheads="1"/>
          </p:cNvSpPr>
          <p:nvPr/>
        </p:nvSpPr>
        <p:spPr bwMode="auto">
          <a:xfrm>
            <a:off x="1450240" y="697487"/>
            <a:ext cx="232166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en-US" altLang="zh-CN" sz="2800" b="1" dirty="0">
                <a:solidFill>
                  <a:srgbClr val="04926A"/>
                </a:solidFill>
                <a:latin typeface="微软雅黑" panose="020B0503020204020204" pitchFamily="34" charset="-122"/>
                <a:ea typeface="微软雅黑" panose="020B0503020204020204" pitchFamily="34" charset="-122"/>
              </a:rPr>
              <a:t>3.  </a:t>
            </a:r>
            <a:r>
              <a:rPr kumimoji="1" lang="zh-CN" altLang="en-US" sz="2800" b="1" dirty="0">
                <a:solidFill>
                  <a:srgbClr val="04926A"/>
                </a:solidFill>
                <a:latin typeface="微软雅黑" panose="020B0503020204020204" pitchFamily="34" charset="-122"/>
                <a:ea typeface="微软雅黑" panose="020B0503020204020204" pitchFamily="34" charset="-122"/>
              </a:rPr>
              <a:t>运算规律</a:t>
            </a:r>
          </a:p>
        </p:txBody>
      </p:sp>
      <p:sp>
        <p:nvSpPr>
          <p:cNvPr id="40" name="文本框 39">
            <a:extLst>
              <a:ext uri="{FF2B5EF4-FFF2-40B4-BE49-F238E27FC236}">
                <a16:creationId xmlns:a16="http://schemas.microsoft.com/office/drawing/2014/main" id="{538D7707-604E-8FE1-3B88-2C12DD422DF6}"/>
              </a:ext>
            </a:extLst>
          </p:cNvPr>
          <p:cNvSpPr txBox="1"/>
          <p:nvPr/>
        </p:nvSpPr>
        <p:spPr>
          <a:xfrm>
            <a:off x="6992714" y="5246328"/>
            <a:ext cx="780759" cy="430887"/>
          </a:xfrm>
          <a:prstGeom prst="rect">
            <a:avLst/>
          </a:prstGeom>
          <a:solidFill>
            <a:srgbClr val="04926A">
              <a:alpha val="42000"/>
            </a:srgbClr>
          </a:solidFill>
        </p:spPr>
        <p:txBody>
          <a:bodyPr wrap="square" rtlCol="0" anchor="t">
            <a:spAutoFit/>
          </a:bodyPr>
          <a:lstStyle/>
          <a:p>
            <a:pPr algn="ctr"/>
            <a:r>
              <a:rPr kumimoji="1" lang="zh-CN" altLang="en-US" sz="2200" dirty="0">
                <a:latin typeface="Cambria Math" panose="02040503050406030204" charset="0"/>
                <a:ea typeface="黑体" panose="02010609060101010101" pitchFamily="49" charset="-122"/>
                <a:sym typeface="+mn-ea"/>
              </a:rPr>
              <a:t>证毕</a:t>
            </a:r>
            <a:endParaRPr kumimoji="1" lang="en-US" altLang="zh-CN" sz="2200" noProof="0" dirty="0">
              <a:ln>
                <a:noFill/>
              </a:ln>
              <a:effectLst/>
              <a:uLnTx/>
              <a:uFillTx/>
              <a:latin typeface="Cambria Math" panose="02040503050406030204" charset="0"/>
              <a:ea typeface="黑体" panose="02010609060101010101" pitchFamily="49" charset="-122"/>
              <a:sym typeface="+mn-ea"/>
            </a:endParaRPr>
          </a:p>
        </p:txBody>
      </p:sp>
    </p:spTree>
    <p:extLst>
      <p:ext uri="{BB962C8B-B14F-4D97-AF65-F5344CB8AC3E}">
        <p14:creationId xmlns:p14="http://schemas.microsoft.com/office/powerpoint/2010/main" val="3525870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left)">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wipe(left)">
                                      <p:cBhvr>
                                        <p:cTn id="42" dur="5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wipe(left)">
                                      <p:cBhvr>
                                        <p:cTn id="47" dur="500"/>
                                        <p:tgtEl>
                                          <p:spTgt spid="3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wipe(left)">
                                      <p:cBhvr>
                                        <p:cTn id="52" dur="500"/>
                                        <p:tgtEl>
                                          <p:spTgt spid="2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wipe(left)">
                                      <p:cBhvr>
                                        <p:cTn id="57" dur="500"/>
                                        <p:tgtEl>
                                          <p:spTgt spid="2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wipe(left)">
                                      <p:cBhvr>
                                        <p:cTn id="62" dur="500"/>
                                        <p:tgtEl>
                                          <p:spTgt spid="28"/>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wipe(left)">
                                      <p:cBhvr>
                                        <p:cTn id="67" dur="500"/>
                                        <p:tgtEl>
                                          <p:spTgt spid="29"/>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40"/>
                                        </p:tgtEl>
                                        <p:attrNameLst>
                                          <p:attrName>style.visibility</p:attrName>
                                        </p:attrNameLst>
                                      </p:cBhvr>
                                      <p:to>
                                        <p:strVal val="visible"/>
                                      </p:to>
                                    </p:set>
                                    <p:animEffect transition="in" filter="wipe(left)">
                                      <p:cBhvr>
                                        <p:cTn id="7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25" grpId="0"/>
      <p:bldP spid="26" grpId="0"/>
      <p:bldP spid="27" grpId="0"/>
      <p:bldP spid="28" grpId="0"/>
      <p:bldP spid="29" grpId="0"/>
      <p:bldP spid="30" grpId="0"/>
      <p:bldP spid="32" grpId="0"/>
      <p:bldP spid="4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id="{57852441-E414-27B7-17A2-A67D12794769}"/>
              </a:ext>
            </a:extLst>
          </p:cNvPr>
          <p:cNvGrpSpPr/>
          <p:nvPr/>
        </p:nvGrpSpPr>
        <p:grpSpPr>
          <a:xfrm>
            <a:off x="687324" y="535820"/>
            <a:ext cx="10817987" cy="5803091"/>
            <a:chOff x="687324" y="535820"/>
            <a:chExt cx="10817987" cy="5803091"/>
          </a:xfrm>
        </p:grpSpPr>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F6482738-2135-E223-1E77-F09A267EC7CF}"/>
                    </a:ext>
                  </a:extLst>
                </p:cNvPr>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dirty="0"/>
                </a:p>
              </p:txBody>
            </p:sp>
          </mc:Choice>
          <mc:Fallback xmlns="">
            <p:sp>
              <p:nvSpPr>
                <p:cNvPr id="17" name="矩形 16">
                  <a:extLst>
                    <a:ext uri="{FF2B5EF4-FFF2-40B4-BE49-F238E27FC236}">
                      <a16:creationId xmlns:a16="http://schemas.microsoft.com/office/drawing/2014/main" id="{F6482738-2135-E223-1E77-F09A267EC7CF}"/>
                    </a:ext>
                  </a:extLst>
                </p:cNvPr>
                <p:cNvSpPr>
                  <a:spLocks noRot="1" noChangeAspect="1" noMove="1" noResize="1" noEditPoints="1" noAdjustHandles="1" noChangeArrowheads="1" noChangeShapeType="1" noTextEdit="1"/>
                </p:cNvSpPr>
                <p:nvPr/>
              </p:nvSpPr>
              <p:spPr>
                <a:xfrm>
                  <a:off x="687959" y="536260"/>
                  <a:ext cx="10817352" cy="5799897"/>
                </a:xfrm>
                <a:prstGeom prst="rect">
                  <a:avLst/>
                </a:prstGeom>
                <a:blipFill>
                  <a:blip r:embed="rId2"/>
                  <a:stretch>
                    <a:fillRect/>
                  </a:stretch>
                </a:blipFill>
                <a:ln>
                  <a:noFill/>
                </a:ln>
                <a:effectLst>
                  <a:outerShdw blurRad="63500" sx="102000" sy="102000" algn="ctr" rotWithShape="0">
                    <a:prstClr val="black">
                      <a:alpha val="9000"/>
                    </a:prstClr>
                  </a:outerShdw>
                </a:effectLst>
              </p:spPr>
              <p:txBody>
                <a:bodyPr/>
                <a:lstStyle/>
                <a:p>
                  <a:r>
                    <a:rPr lang="zh-CN" altLang="en-US">
                      <a:noFill/>
                    </a:rPr>
                    <a:t> </a:t>
                  </a:r>
                </a:p>
              </p:txBody>
            </p:sp>
          </mc:Fallback>
        </mc:AlternateContent>
        <p:sp>
          <p:nvSpPr>
            <p:cNvPr id="18" name="半闭框 17">
              <a:extLst>
                <a:ext uri="{FF2B5EF4-FFF2-40B4-BE49-F238E27FC236}">
                  <a16:creationId xmlns:a16="http://schemas.microsoft.com/office/drawing/2014/main" id="{CB4E0BE1-598F-6B38-03E8-F48D9C941A1D}"/>
                </a:ext>
              </a:extLst>
            </p:cNvPr>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9" name="半闭框 18">
              <a:extLst>
                <a:ext uri="{FF2B5EF4-FFF2-40B4-BE49-F238E27FC236}">
                  <a16:creationId xmlns:a16="http://schemas.microsoft.com/office/drawing/2014/main" id="{F1C821A1-F74A-E263-367A-51F56069F811}"/>
                </a:ext>
              </a:extLst>
            </p:cNvPr>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 name="半闭框 19">
              <a:extLst>
                <a:ext uri="{FF2B5EF4-FFF2-40B4-BE49-F238E27FC236}">
                  <a16:creationId xmlns:a16="http://schemas.microsoft.com/office/drawing/2014/main" id="{3120726D-7BC5-5A64-BF74-103A0C36739C}"/>
                </a:ext>
              </a:extLst>
            </p:cNvPr>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21" name="半闭框 20">
              <a:extLst>
                <a:ext uri="{FF2B5EF4-FFF2-40B4-BE49-F238E27FC236}">
                  <a16:creationId xmlns:a16="http://schemas.microsoft.com/office/drawing/2014/main" id="{D8C0F958-37BA-A941-0665-2D3F28CC2A2B}"/>
                </a:ext>
              </a:extLst>
            </p:cNvPr>
            <p:cNvSpPr/>
            <p:nvPr/>
          </p:nvSpPr>
          <p:spPr>
            <a:xfrm flipH="1" flipV="1">
              <a:off x="10823530"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2196" name="Text Box 148"/>
          <p:cNvSpPr txBox="1">
            <a:spLocks noChangeArrowheads="1"/>
          </p:cNvSpPr>
          <p:nvPr/>
        </p:nvSpPr>
        <p:spPr bwMode="auto">
          <a:xfrm>
            <a:off x="1751844" y="950737"/>
            <a:ext cx="78422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dirty="0">
                <a:solidFill>
                  <a:srgbClr val="04926A"/>
                </a:solidFill>
                <a:latin typeface="微软雅黑" panose="020B0503020204020204" pitchFamily="34" charset="-122"/>
                <a:ea typeface="微软雅黑" panose="020B0503020204020204" pitchFamily="34" charset="-122"/>
              </a:rPr>
              <a:t>例</a:t>
            </a:r>
            <a:r>
              <a:rPr kumimoji="1" lang="en-US" altLang="zh-CN" sz="2800" b="1" dirty="0">
                <a:solidFill>
                  <a:srgbClr val="04926A"/>
                </a:solidFill>
                <a:latin typeface="微软雅黑" panose="020B0503020204020204" pitchFamily="34" charset="-122"/>
                <a:ea typeface="微软雅黑" panose="020B0503020204020204" pitchFamily="34" charset="-122"/>
              </a:rPr>
              <a:t>1</a:t>
            </a:r>
            <a:r>
              <a:rPr lang="en-US" altLang="zh-CN" sz="2800" dirty="0">
                <a:solidFill>
                  <a:srgbClr val="3333CC"/>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用向量的方法证明三角形的余弦定理．</a:t>
            </a:r>
          </a:p>
        </p:txBody>
      </p:sp>
      <p:sp>
        <p:nvSpPr>
          <p:cNvPr id="2197" name="Rectangle 149"/>
          <p:cNvSpPr>
            <a:spLocks noChangeArrowheads="1"/>
          </p:cNvSpPr>
          <p:nvPr/>
        </p:nvSpPr>
        <p:spPr bwMode="auto">
          <a:xfrm>
            <a:off x="1769282" y="1667821"/>
            <a:ext cx="54373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800" b="1" dirty="0">
                <a:solidFill>
                  <a:srgbClr val="04926A"/>
                </a:solidFill>
                <a:latin typeface="微软雅黑" panose="020B0503020204020204" pitchFamily="34" charset="-122"/>
                <a:ea typeface="微软雅黑" panose="020B0503020204020204" pitchFamily="34" charset="-122"/>
              </a:rPr>
              <a:t>解</a:t>
            </a:r>
          </a:p>
        </p:txBody>
      </p:sp>
      <mc:AlternateContent xmlns:mc="http://schemas.openxmlformats.org/markup-compatibility/2006" xmlns:a14="http://schemas.microsoft.com/office/drawing/2010/main">
        <mc:Choice Requires="a14">
          <p:sp>
            <p:nvSpPr>
              <p:cNvPr id="2207" name="Text Box 159"/>
              <p:cNvSpPr txBox="1">
                <a:spLocks noChangeArrowheads="1"/>
              </p:cNvSpPr>
              <p:nvPr/>
            </p:nvSpPr>
            <p:spPr bwMode="auto">
              <a:xfrm>
                <a:off x="2589474" y="1722787"/>
                <a:ext cx="3092135" cy="4308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r>
                  <a:rPr lang="zh-CN" altLang="en-US" sz="2200" dirty="0">
                    <a:latin typeface="Times New Roman" panose="02020603050405020304" pitchFamily="18" charset="0"/>
                    <a:cs typeface="Times New Roman" panose="02020603050405020304" pitchFamily="18" charset="0"/>
                  </a:rPr>
                  <a:t>对任意的</a:t>
                </a:r>
                <a14:m>
                  <m:oMath xmlns:m="http://schemas.openxmlformats.org/officeDocument/2006/math">
                    <m:r>
                      <a:rPr lang="zh-CN" altLang="en-US" sz="2200" i="1" smtClean="0">
                        <a:latin typeface="Cambria Math" panose="02040503050406030204" pitchFamily="18" charset="0"/>
                        <a:cs typeface="Times New Roman" panose="02020603050405020304" pitchFamily="18" charset="0"/>
                      </a:rPr>
                      <m:t>△</m:t>
                    </m:r>
                    <m:r>
                      <a:rPr lang="en-US" altLang="zh-CN" sz="2200" b="0" i="1" smtClean="0">
                        <a:latin typeface="Cambria Math" panose="02040503050406030204" pitchFamily="18" charset="0"/>
                        <a:cs typeface="Times New Roman" panose="02020603050405020304" pitchFamily="18" charset="0"/>
                      </a:rPr>
                      <m:t>𝐴𝐵𝐶</m:t>
                    </m:r>
                    <m:r>
                      <a:rPr lang="en-US" altLang="zh-CN" sz="2200" b="0" i="0" smtClean="0">
                        <a:latin typeface="Cambria Math" panose="02040503050406030204" pitchFamily="18" charset="0"/>
                        <a:cs typeface="Times New Roman" panose="02020603050405020304" pitchFamily="18" charset="0"/>
                      </a:rPr>
                      <m:t>, </m:t>
                    </m:r>
                  </m:oMath>
                </a14:m>
                <a:r>
                  <a:rPr lang="zh-CN" altLang="en-US" sz="2200" dirty="0">
                    <a:latin typeface="Times New Roman" panose="02020603050405020304" pitchFamily="18" charset="0"/>
                    <a:cs typeface="Times New Roman" panose="02020603050405020304" pitchFamily="18" charset="0"/>
                    <a:sym typeface="Symbol" panose="05050102010706020507" pitchFamily="18" charset="2"/>
                  </a:rPr>
                  <a:t>令</a:t>
                </a:r>
              </a:p>
            </p:txBody>
          </p:sp>
        </mc:Choice>
        <mc:Fallback xmlns="">
          <p:sp>
            <p:nvSpPr>
              <p:cNvPr id="2207" name="Text Box 159"/>
              <p:cNvSpPr txBox="1">
                <a:spLocks noRot="1" noChangeAspect="1" noMove="1" noResize="1" noEditPoints="1" noAdjustHandles="1" noChangeArrowheads="1" noChangeShapeType="1" noTextEdit="1"/>
              </p:cNvSpPr>
              <p:nvPr/>
            </p:nvSpPr>
            <p:spPr bwMode="auto">
              <a:xfrm>
                <a:off x="2589474" y="1722787"/>
                <a:ext cx="3092135" cy="430887"/>
              </a:xfrm>
              <a:prstGeom prst="rect">
                <a:avLst/>
              </a:prstGeom>
              <a:blipFill>
                <a:blip r:embed="rId4"/>
                <a:stretch>
                  <a:fillRect l="-2564" t="-14286" b="-2428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08" name="Object 160"/>
              <p:cNvSpPr txBox="1"/>
              <p:nvPr/>
            </p:nvSpPr>
            <p:spPr bwMode="auto">
              <a:xfrm>
                <a:off x="3723929" y="2224325"/>
                <a:ext cx="3787775" cy="574812"/>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groupChr>
                        <m:groupChrPr>
                          <m:chr m:val="→"/>
                          <m:pos m:val="top"/>
                          <m:vertJc m:val="bot"/>
                          <m:ctrlPr>
                            <a:rPr lang="zh-CN" altLang="en-US" sz="2200" i="1" smtClean="0">
                              <a:latin typeface="Cambria Math" panose="02040503050406030204" pitchFamily="18" charset="0"/>
                            </a:rPr>
                          </m:ctrlPr>
                        </m:groupChrPr>
                        <m:e>
                          <m:r>
                            <a:rPr lang="zh-CN" altLang="en-US" sz="2200" i="1">
                              <a:latin typeface="Cambria Math" panose="02040503050406030204" pitchFamily="18" charset="0"/>
                            </a:rPr>
                            <m:t>𝐶𝐵</m:t>
                          </m:r>
                        </m:e>
                      </m:groupChr>
                      <m:r>
                        <a:rPr lang="zh-CN" altLang="en-US" sz="2200" i="1">
                          <a:latin typeface="Cambria Math" panose="02040503050406030204" pitchFamily="18" charset="0"/>
                        </a:rPr>
                        <m:t>=</m:t>
                      </m:r>
                      <m:r>
                        <a:rPr lang="zh-CN" altLang="en-US" sz="2200" b="1" i="1">
                          <a:latin typeface="Cambria Math" panose="02040503050406030204" pitchFamily="18" charset="0"/>
                        </a:rPr>
                        <m:t>𝒂</m:t>
                      </m:r>
                      <m:r>
                        <a:rPr lang="zh-CN" altLang="en-US" sz="2200" i="1">
                          <a:latin typeface="Cambria Math" panose="02040503050406030204" pitchFamily="18" charset="0"/>
                        </a:rPr>
                        <m:t>, </m:t>
                      </m:r>
                      <m:groupChr>
                        <m:groupChrPr>
                          <m:chr m:val="→"/>
                          <m:pos m:val="top"/>
                          <m:vertJc m:val="bot"/>
                          <m:ctrlPr>
                            <a:rPr lang="zh-CN" altLang="en-US" sz="2200" i="1">
                              <a:latin typeface="Cambria Math" panose="02040503050406030204" pitchFamily="18" charset="0"/>
                            </a:rPr>
                          </m:ctrlPr>
                        </m:groupChrPr>
                        <m:e>
                          <m:r>
                            <a:rPr lang="zh-CN" altLang="en-US" sz="2200" i="1">
                              <a:latin typeface="Cambria Math" panose="02040503050406030204" pitchFamily="18" charset="0"/>
                            </a:rPr>
                            <m:t>𝐶𝐴</m:t>
                          </m:r>
                        </m:e>
                      </m:groupChr>
                      <m:r>
                        <a:rPr lang="zh-CN" altLang="en-US" sz="2200" i="1">
                          <a:latin typeface="Cambria Math" panose="02040503050406030204" pitchFamily="18" charset="0"/>
                        </a:rPr>
                        <m:t>=</m:t>
                      </m:r>
                      <m:r>
                        <a:rPr lang="zh-CN" altLang="en-US" sz="2200" b="1" i="1">
                          <a:latin typeface="Cambria Math" panose="02040503050406030204" pitchFamily="18" charset="0"/>
                        </a:rPr>
                        <m:t>𝒃</m:t>
                      </m:r>
                      <m:r>
                        <a:rPr kumimoji="1" lang="en-US" altLang="zh-CN" sz="2200" b="0" i="1" dirty="0" smtClean="0">
                          <a:latin typeface="Cambria Math" panose="02040503050406030204" pitchFamily="18" charset="0"/>
                          <a:ea typeface="黑体" panose="02010609060101010101" pitchFamily="49" charset="-122"/>
                        </a:rPr>
                        <m:t>,</m:t>
                      </m:r>
                      <m:r>
                        <a:rPr lang="zh-CN" altLang="en-US" sz="2200" i="1">
                          <a:latin typeface="Cambria Math" panose="02040503050406030204" pitchFamily="18" charset="0"/>
                        </a:rPr>
                        <m:t> </m:t>
                      </m:r>
                      <m:groupChr>
                        <m:groupChrPr>
                          <m:chr m:val="→"/>
                          <m:pos m:val="top"/>
                          <m:vertJc m:val="bot"/>
                          <m:ctrlPr>
                            <a:rPr lang="zh-CN" altLang="en-US" sz="2200" i="1">
                              <a:latin typeface="Cambria Math" panose="02040503050406030204" pitchFamily="18" charset="0"/>
                            </a:rPr>
                          </m:ctrlPr>
                        </m:groupChrPr>
                        <m:e>
                          <m:r>
                            <a:rPr lang="zh-CN" altLang="en-US" sz="2200" i="1">
                              <a:latin typeface="Cambria Math" panose="02040503050406030204" pitchFamily="18" charset="0"/>
                            </a:rPr>
                            <m:t>𝐴𝐵</m:t>
                          </m:r>
                        </m:e>
                      </m:groupChr>
                      <m:r>
                        <a:rPr lang="zh-CN" altLang="en-US" sz="2200" i="1">
                          <a:latin typeface="Cambria Math" panose="02040503050406030204" pitchFamily="18" charset="0"/>
                        </a:rPr>
                        <m:t>=</m:t>
                      </m:r>
                      <m:r>
                        <a:rPr lang="zh-CN" altLang="en-US" sz="2200" b="1" i="1">
                          <a:latin typeface="Cambria Math" panose="02040503050406030204" pitchFamily="18" charset="0"/>
                        </a:rPr>
                        <m:t>𝒄</m:t>
                      </m:r>
                      <m:r>
                        <a:rPr lang="zh-CN" altLang="en-US" sz="2200" i="1">
                          <a:latin typeface="Cambria Math" panose="02040503050406030204" pitchFamily="18" charset="0"/>
                        </a:rPr>
                        <m:t>.</m:t>
                      </m:r>
                    </m:oMath>
                  </m:oMathPara>
                </a14:m>
                <a:endParaRPr lang="zh-CN" altLang="en-US" sz="2200" i="1" dirty="0">
                  <a:latin typeface="Cambria Math" panose="02040503050406030204" pitchFamily="18" charset="0"/>
                </a:endParaRPr>
              </a:p>
            </p:txBody>
          </p:sp>
        </mc:Choice>
        <mc:Fallback xmlns="">
          <p:sp>
            <p:nvSpPr>
              <p:cNvPr id="2208" name="Object 160"/>
              <p:cNvSpPr txBox="1">
                <a:spLocks noRot="1" noChangeAspect="1" noMove="1" noResize="1" noEditPoints="1" noAdjustHandles="1" noChangeArrowheads="1" noChangeShapeType="1" noTextEdit="1"/>
              </p:cNvSpPr>
              <p:nvPr/>
            </p:nvSpPr>
            <p:spPr bwMode="auto">
              <a:xfrm>
                <a:off x="3723929" y="2224325"/>
                <a:ext cx="3787775" cy="574812"/>
              </a:xfrm>
              <a:prstGeom prst="rect">
                <a:avLst/>
              </a:prstGeom>
              <a:blipFill>
                <a:blip r:embed="rId5"/>
                <a:stretch>
                  <a:fillRect/>
                </a:stretch>
              </a:blipFill>
              <a:ln>
                <a:noFill/>
              </a:ln>
              <a:effectLst/>
            </p:spPr>
            <p:txBody>
              <a:bodyPr/>
              <a:lstStyle/>
              <a:p>
                <a:r>
                  <a:rPr lang="zh-CN" altLang="en-US">
                    <a:noFill/>
                  </a:rPr>
                  <a:t> </a:t>
                </a:r>
              </a:p>
            </p:txBody>
          </p:sp>
        </mc:Fallback>
      </mc:AlternateContent>
      <p:sp>
        <p:nvSpPr>
          <p:cNvPr id="2209" name="Text Box 161"/>
          <p:cNvSpPr txBox="1">
            <a:spLocks noChangeArrowheads="1"/>
          </p:cNvSpPr>
          <p:nvPr/>
        </p:nvSpPr>
        <p:spPr bwMode="auto">
          <a:xfrm>
            <a:off x="2594914" y="2858971"/>
            <a:ext cx="503238"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200" dirty="0">
                <a:latin typeface="Times New Roman" panose="02020603050405020304" pitchFamily="18" charset="0"/>
                <a:cs typeface="Times New Roman" panose="02020603050405020304" pitchFamily="18" charset="0"/>
              </a:rPr>
              <a:t>则</a:t>
            </a:r>
          </a:p>
        </p:txBody>
      </p:sp>
      <mc:AlternateContent xmlns:mc="http://schemas.openxmlformats.org/markup-compatibility/2006" xmlns:a14="http://schemas.microsoft.com/office/drawing/2010/main">
        <mc:Choice Requires="a14">
          <p:sp>
            <p:nvSpPr>
              <p:cNvPr id="2210" name="Text Box 162"/>
              <p:cNvSpPr txBox="1">
                <a:spLocks noChangeArrowheads="1"/>
              </p:cNvSpPr>
              <p:nvPr/>
            </p:nvSpPr>
            <p:spPr bwMode="auto">
              <a:xfrm>
                <a:off x="3726676" y="2869641"/>
                <a:ext cx="1385680" cy="40011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14:m>
                  <m:oMathPara xmlns:m="http://schemas.openxmlformats.org/officeDocument/2006/math">
                    <m:oMathParaPr>
                      <m:jc m:val="left"/>
                    </m:oMathParaPr>
                    <m:oMath xmlns:m="http://schemas.openxmlformats.org/officeDocument/2006/math">
                      <m:r>
                        <a:rPr kumimoji="1" lang="en-US" altLang="zh-CN" sz="2000" b="1" i="1" smtClean="0">
                          <a:latin typeface="Cambria Math" panose="02040503050406030204" pitchFamily="18" charset="0"/>
                          <a:ea typeface="黑体" panose="02010609060101010101" pitchFamily="49" charset="-122"/>
                          <a:cs typeface="黑体" panose="02010609060101010101" pitchFamily="49" charset="-122"/>
                        </a:rPr>
                        <m:t>𝒄</m:t>
                      </m:r>
                      <m:r>
                        <a:rPr kumimoji="1" lang="en-US" altLang="zh-CN" sz="2000" i="1" smtClean="0">
                          <a:latin typeface="Cambria Math" panose="02040503050406030204" pitchFamily="18" charset="0"/>
                          <a:ea typeface="黑体" panose="02010609060101010101" pitchFamily="49" charset="-122"/>
                          <a:cs typeface="黑体" panose="02010609060101010101" pitchFamily="49" charset="-122"/>
                        </a:rPr>
                        <m:t>=</m:t>
                      </m:r>
                      <m:r>
                        <a:rPr kumimoji="1" lang="en-US" altLang="zh-CN" sz="2000" b="1" i="1" smtClean="0">
                          <a:latin typeface="Cambria Math" panose="02040503050406030204" pitchFamily="18" charset="0"/>
                          <a:ea typeface="黑体" panose="02010609060101010101" pitchFamily="49" charset="-122"/>
                          <a:cs typeface="黑体" panose="02010609060101010101" pitchFamily="49" charset="-122"/>
                        </a:rPr>
                        <m:t>𝒂</m:t>
                      </m:r>
                      <m:r>
                        <a:rPr kumimoji="1" lang="en-US" altLang="zh-CN" sz="2000" b="0" i="1" smtClean="0">
                          <a:latin typeface="Cambria Math" panose="02040503050406030204" pitchFamily="18" charset="0"/>
                          <a:ea typeface="黑体" panose="02010609060101010101" pitchFamily="49" charset="-122"/>
                          <a:cs typeface="黑体" panose="02010609060101010101" pitchFamily="49" charset="-122"/>
                        </a:rPr>
                        <m:t>−</m:t>
                      </m:r>
                      <m:r>
                        <a:rPr kumimoji="1" lang="en-US" altLang="zh-CN" sz="2000" b="1" i="1" smtClean="0">
                          <a:latin typeface="Cambria Math" panose="02040503050406030204" pitchFamily="18" charset="0"/>
                          <a:ea typeface="黑体" panose="02010609060101010101" pitchFamily="49" charset="-122"/>
                          <a:cs typeface="黑体" panose="02010609060101010101" pitchFamily="49" charset="-122"/>
                        </a:rPr>
                        <m:t>𝒃</m:t>
                      </m:r>
                      <m:r>
                        <a:rPr kumimoji="1" lang="en-US" altLang="zh-CN" sz="2000" b="0" i="1" smtClean="0">
                          <a:latin typeface="Cambria Math" panose="02040503050406030204" pitchFamily="18" charset="0"/>
                          <a:ea typeface="黑体" panose="02010609060101010101" pitchFamily="49" charset="-122"/>
                          <a:cs typeface="黑体" panose="02010609060101010101" pitchFamily="49" charset="-122"/>
                        </a:rPr>
                        <m:t>.</m:t>
                      </m:r>
                    </m:oMath>
                  </m:oMathPara>
                </a14:m>
                <a:endParaRPr lang="zh-CN" altLang="en-US" sz="2200" i="1" dirty="0">
                  <a:latin typeface="Cambria Math" panose="02040503050406030204" pitchFamily="18" charset="0"/>
                </a:endParaRPr>
              </a:p>
            </p:txBody>
          </p:sp>
        </mc:Choice>
        <mc:Fallback xmlns="">
          <p:sp>
            <p:nvSpPr>
              <p:cNvPr id="2210" name="Text Box 162"/>
              <p:cNvSpPr txBox="1">
                <a:spLocks noRot="1" noChangeAspect="1" noMove="1" noResize="1" noEditPoints="1" noAdjustHandles="1" noChangeArrowheads="1" noChangeShapeType="1" noTextEdit="1"/>
              </p:cNvSpPr>
              <p:nvPr/>
            </p:nvSpPr>
            <p:spPr bwMode="auto">
              <a:xfrm>
                <a:off x="3726676" y="2869641"/>
                <a:ext cx="1385680" cy="400110"/>
              </a:xfrm>
              <a:prstGeom prst="rect">
                <a:avLst/>
              </a:prstGeom>
              <a:blipFill>
                <a:blip r:embed="rId6"/>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2211" name="Text Box 163"/>
          <p:cNvSpPr txBox="1">
            <a:spLocks noChangeArrowheads="1"/>
          </p:cNvSpPr>
          <p:nvPr/>
        </p:nvSpPr>
        <p:spPr bwMode="auto">
          <a:xfrm>
            <a:off x="2544860" y="3424120"/>
            <a:ext cx="117906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200" dirty="0">
                <a:latin typeface="Times New Roman" panose="02020603050405020304" pitchFamily="18" charset="0"/>
                <a:cs typeface="Times New Roman" panose="02020603050405020304" pitchFamily="18" charset="0"/>
              </a:rPr>
              <a:t>从而有</a:t>
            </a:r>
          </a:p>
        </p:txBody>
      </p:sp>
      <mc:AlternateContent xmlns:mc="http://schemas.openxmlformats.org/markup-compatibility/2006" xmlns:a14="http://schemas.microsoft.com/office/drawing/2010/main">
        <mc:Choice Requires="a14">
          <p:sp>
            <p:nvSpPr>
              <p:cNvPr id="2212" name="Text Box 164"/>
              <p:cNvSpPr txBox="1">
                <a:spLocks noChangeArrowheads="1"/>
              </p:cNvSpPr>
              <p:nvPr/>
            </p:nvSpPr>
            <p:spPr bwMode="auto">
              <a:xfrm>
                <a:off x="2522244" y="3927888"/>
                <a:ext cx="1344167" cy="4308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14:m>
                  <m:oMathPara xmlns:m="http://schemas.openxmlformats.org/officeDocument/2006/math">
                    <m:oMathParaPr>
                      <m:jc m:val="left"/>
                    </m:oMathParaPr>
                    <m:oMath xmlns:m="http://schemas.openxmlformats.org/officeDocument/2006/math">
                      <m:sSup>
                        <m:sSupPr>
                          <m:ctrlPr>
                            <a:rPr lang="en-US" altLang="zh-CN" sz="2200" i="1" smtClean="0">
                              <a:latin typeface="Cambria Math" panose="02040503050406030204" pitchFamily="18" charset="0"/>
                            </a:rPr>
                          </m:ctrlPr>
                        </m:sSupPr>
                        <m:e>
                          <m:r>
                            <a:rPr lang="en-US" altLang="zh-CN" sz="2200" b="1" i="1" smtClean="0">
                              <a:latin typeface="Cambria Math" panose="02040503050406030204" pitchFamily="18" charset="0"/>
                            </a:rPr>
                            <m:t>𝒄</m:t>
                          </m:r>
                        </m:e>
                        <m:sup>
                          <m:r>
                            <a:rPr lang="en-US" altLang="zh-CN" sz="2200" b="0" i="1" smtClean="0">
                              <a:latin typeface="Cambria Math" panose="02040503050406030204" pitchFamily="18" charset="0"/>
                            </a:rPr>
                            <m:t>2</m:t>
                          </m:r>
                        </m:sup>
                      </m:sSup>
                      <m:r>
                        <a:rPr lang="en-US" altLang="zh-CN" sz="2200" b="0" i="1" smtClean="0">
                          <a:latin typeface="Cambria Math" panose="02040503050406030204" pitchFamily="18" charset="0"/>
                        </a:rPr>
                        <m:t>=</m:t>
                      </m:r>
                      <m:r>
                        <a:rPr lang="en-US" altLang="zh-CN" sz="2200" b="1" i="1" smtClean="0">
                          <a:latin typeface="Cambria Math" panose="02040503050406030204" pitchFamily="18" charset="0"/>
                        </a:rPr>
                        <m:t>𝒄</m:t>
                      </m:r>
                      <m:r>
                        <a:rPr lang="en-US" altLang="zh-CN" sz="2200" b="0" i="1" smtClean="0">
                          <a:latin typeface="Cambria Math" panose="02040503050406030204" pitchFamily="18" charset="0"/>
                          <a:ea typeface="Cambria Math" panose="02040503050406030204" pitchFamily="18" charset="0"/>
                        </a:rPr>
                        <m:t>∙</m:t>
                      </m:r>
                      <m:r>
                        <a:rPr lang="en-US" altLang="zh-CN" sz="2200" b="1" i="1" smtClean="0">
                          <a:latin typeface="Cambria Math" panose="02040503050406030204" pitchFamily="18" charset="0"/>
                          <a:ea typeface="Cambria Math" panose="02040503050406030204" pitchFamily="18" charset="0"/>
                        </a:rPr>
                        <m:t>𝒄</m:t>
                      </m:r>
                    </m:oMath>
                  </m:oMathPara>
                </a14:m>
                <a:endParaRPr lang="en-US" altLang="zh-CN" sz="2200" b="1" i="1" dirty="0">
                  <a:latin typeface="Cambria Math" panose="02040503050406030204" pitchFamily="18" charset="0"/>
                </a:endParaRPr>
              </a:p>
            </p:txBody>
          </p:sp>
        </mc:Choice>
        <mc:Fallback xmlns="">
          <p:sp>
            <p:nvSpPr>
              <p:cNvPr id="2212" name="Text Box 164"/>
              <p:cNvSpPr txBox="1">
                <a:spLocks noRot="1" noChangeAspect="1" noMove="1" noResize="1" noEditPoints="1" noAdjustHandles="1" noChangeArrowheads="1" noChangeShapeType="1" noTextEdit="1"/>
              </p:cNvSpPr>
              <p:nvPr/>
            </p:nvSpPr>
            <p:spPr bwMode="auto">
              <a:xfrm>
                <a:off x="2522244" y="3927888"/>
                <a:ext cx="1344167" cy="430887"/>
              </a:xfrm>
              <a:prstGeom prst="rect">
                <a:avLst/>
              </a:prstGeom>
              <a:blipFill>
                <a:blip r:embed="rId7"/>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13" name="Rectangle 165"/>
              <p:cNvSpPr>
                <a:spLocks noChangeArrowheads="1"/>
              </p:cNvSpPr>
              <p:nvPr/>
            </p:nvSpPr>
            <p:spPr bwMode="auto">
              <a:xfrm>
                <a:off x="3672251" y="3927888"/>
                <a:ext cx="2491887" cy="4308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14:m>
                  <m:oMathPara xmlns:m="http://schemas.openxmlformats.org/officeDocument/2006/math">
                    <m:oMathParaPr>
                      <m:jc m:val="left"/>
                    </m:oMathParaPr>
                    <m:oMath xmlns:m="http://schemas.openxmlformats.org/officeDocument/2006/math">
                      <m:r>
                        <a:rPr lang="en-US" altLang="zh-CN" sz="2200" i="1" smtClean="0">
                          <a:latin typeface="Cambria Math" panose="02040503050406030204" pitchFamily="18" charset="0"/>
                        </a:rPr>
                        <m:t>=</m:t>
                      </m:r>
                      <m:r>
                        <a:rPr lang="en-US" altLang="zh-CN" sz="2200" b="0" i="1" smtClean="0">
                          <a:latin typeface="Cambria Math" panose="02040503050406030204" pitchFamily="18" charset="0"/>
                        </a:rPr>
                        <m:t>(</m:t>
                      </m:r>
                      <m:r>
                        <a:rPr lang="en-US" altLang="zh-CN" sz="2200" b="1" i="1" smtClean="0">
                          <a:latin typeface="Cambria Math" panose="02040503050406030204" pitchFamily="18" charset="0"/>
                        </a:rPr>
                        <m:t>𝒂</m:t>
                      </m:r>
                      <m:r>
                        <a:rPr lang="en-US" altLang="zh-CN" sz="2200" b="0" i="1" smtClean="0">
                          <a:latin typeface="Cambria Math" panose="02040503050406030204" pitchFamily="18" charset="0"/>
                        </a:rPr>
                        <m:t>−</m:t>
                      </m:r>
                      <m:r>
                        <a:rPr lang="en-US" altLang="zh-CN" sz="2200" b="1" i="1" smtClean="0">
                          <a:latin typeface="Cambria Math" panose="02040503050406030204" pitchFamily="18" charset="0"/>
                        </a:rPr>
                        <m:t>𝒃</m:t>
                      </m:r>
                      <m:r>
                        <a:rPr lang="en-US" altLang="zh-CN" sz="2200" b="0" i="1" smtClean="0">
                          <a:latin typeface="Cambria Math" panose="02040503050406030204" pitchFamily="18" charset="0"/>
                        </a:rPr>
                        <m:t>)∙(</m:t>
                      </m:r>
                      <m:r>
                        <a:rPr lang="en-US" altLang="zh-CN" sz="2200" b="1" i="1" smtClean="0">
                          <a:latin typeface="Cambria Math" panose="02040503050406030204" pitchFamily="18" charset="0"/>
                          <a:ea typeface="Cambria Math" panose="02040503050406030204" pitchFamily="18" charset="0"/>
                        </a:rPr>
                        <m:t>𝒂</m:t>
                      </m:r>
                      <m:r>
                        <a:rPr lang="en-US" altLang="zh-CN" sz="2200" b="0" i="1" smtClean="0">
                          <a:latin typeface="Cambria Math" panose="02040503050406030204" pitchFamily="18" charset="0"/>
                          <a:ea typeface="Cambria Math" panose="02040503050406030204" pitchFamily="18" charset="0"/>
                        </a:rPr>
                        <m:t>−</m:t>
                      </m:r>
                      <m:r>
                        <a:rPr lang="en-US" altLang="zh-CN" sz="2200" b="1" i="1" smtClean="0">
                          <a:latin typeface="Cambria Math" panose="02040503050406030204" pitchFamily="18" charset="0"/>
                          <a:ea typeface="Cambria Math" panose="02040503050406030204" pitchFamily="18" charset="0"/>
                        </a:rPr>
                        <m:t>𝒃</m:t>
                      </m:r>
                      <m:r>
                        <a:rPr lang="en-US" altLang="zh-CN" sz="2200" b="0" i="1" smtClean="0">
                          <a:latin typeface="Cambria Math" panose="02040503050406030204" pitchFamily="18" charset="0"/>
                          <a:ea typeface="Cambria Math" panose="02040503050406030204" pitchFamily="18" charset="0"/>
                        </a:rPr>
                        <m:t>)</m:t>
                      </m:r>
                    </m:oMath>
                  </m:oMathPara>
                </a14:m>
                <a:endParaRPr lang="en-US" altLang="zh-CN" sz="2200" dirty="0">
                  <a:latin typeface="Cambria Math" panose="02040503050406030204" pitchFamily="18" charset="0"/>
                </a:endParaRPr>
              </a:p>
            </p:txBody>
          </p:sp>
        </mc:Choice>
        <mc:Fallback xmlns="">
          <p:sp>
            <p:nvSpPr>
              <p:cNvPr id="2213" name="Rectangle 165"/>
              <p:cNvSpPr>
                <a:spLocks noRot="1" noChangeAspect="1" noMove="1" noResize="1" noEditPoints="1" noAdjustHandles="1" noChangeArrowheads="1" noChangeShapeType="1" noTextEdit="1"/>
              </p:cNvSpPr>
              <p:nvPr/>
            </p:nvSpPr>
            <p:spPr bwMode="auto">
              <a:xfrm>
                <a:off x="3672251" y="3927888"/>
                <a:ext cx="2491887" cy="430887"/>
              </a:xfrm>
              <a:prstGeom prst="rect">
                <a:avLst/>
              </a:prstGeom>
              <a:blipFill>
                <a:blip r:embed="rId8"/>
                <a:stretch>
                  <a:fillRect r="-1467" b="-1831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14" name="Rectangle 166"/>
              <p:cNvSpPr>
                <a:spLocks noChangeArrowheads="1"/>
              </p:cNvSpPr>
              <p:nvPr/>
            </p:nvSpPr>
            <p:spPr bwMode="auto">
              <a:xfrm>
                <a:off x="5974031" y="3927709"/>
                <a:ext cx="2967419" cy="4308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14:m>
                  <m:oMathPara xmlns:m="http://schemas.openxmlformats.org/officeDocument/2006/math">
                    <m:oMathParaPr>
                      <m:jc m:val="left"/>
                    </m:oMathParaPr>
                    <m:oMath xmlns:m="http://schemas.openxmlformats.org/officeDocument/2006/math">
                      <m:r>
                        <a:rPr lang="en-US" altLang="zh-CN" sz="2200" i="1" smtClean="0">
                          <a:latin typeface="Cambria Math" panose="02040503050406030204" pitchFamily="18" charset="0"/>
                        </a:rPr>
                        <m:t>=</m:t>
                      </m:r>
                      <m:r>
                        <a:rPr lang="en-US" altLang="zh-CN" sz="2200" b="1" i="1" smtClean="0">
                          <a:latin typeface="Cambria Math" panose="02040503050406030204" pitchFamily="18" charset="0"/>
                        </a:rPr>
                        <m:t>𝒂</m:t>
                      </m:r>
                      <m:r>
                        <a:rPr lang="en-US" altLang="zh-CN" sz="2200" b="0" i="1" smtClean="0">
                          <a:latin typeface="Cambria Math" panose="02040503050406030204" pitchFamily="18" charset="0"/>
                          <a:ea typeface="Cambria Math" panose="02040503050406030204" pitchFamily="18" charset="0"/>
                        </a:rPr>
                        <m:t>∙</m:t>
                      </m:r>
                      <m:r>
                        <a:rPr lang="en-US" altLang="zh-CN" sz="2200" b="1" i="1" smtClean="0">
                          <a:latin typeface="Cambria Math" panose="02040503050406030204" pitchFamily="18" charset="0"/>
                          <a:ea typeface="Cambria Math" panose="02040503050406030204" pitchFamily="18" charset="0"/>
                        </a:rPr>
                        <m:t>𝒂</m:t>
                      </m:r>
                      <m:r>
                        <a:rPr lang="en-US" altLang="zh-CN" sz="2200" b="0" i="1" smtClean="0">
                          <a:latin typeface="Cambria Math" panose="02040503050406030204" pitchFamily="18" charset="0"/>
                          <a:ea typeface="Cambria Math" panose="02040503050406030204" pitchFamily="18" charset="0"/>
                        </a:rPr>
                        <m:t>−2</m:t>
                      </m:r>
                      <m:r>
                        <a:rPr lang="en-US" altLang="zh-CN" sz="2200" b="1" i="1" smtClean="0">
                          <a:latin typeface="Cambria Math" panose="02040503050406030204" pitchFamily="18" charset="0"/>
                          <a:ea typeface="Cambria Math" panose="02040503050406030204" pitchFamily="18" charset="0"/>
                        </a:rPr>
                        <m:t>𝒂</m:t>
                      </m:r>
                      <m:r>
                        <a:rPr lang="en-US" altLang="zh-CN" sz="2200" b="0" i="1" smtClean="0">
                          <a:latin typeface="Cambria Math" panose="02040503050406030204" pitchFamily="18" charset="0"/>
                          <a:ea typeface="Cambria Math" panose="02040503050406030204" pitchFamily="18" charset="0"/>
                        </a:rPr>
                        <m:t>∙</m:t>
                      </m:r>
                      <m:r>
                        <a:rPr lang="en-US" altLang="zh-CN" sz="2200" b="1" i="1" smtClean="0">
                          <a:latin typeface="Cambria Math" panose="02040503050406030204" pitchFamily="18" charset="0"/>
                          <a:ea typeface="Cambria Math" panose="02040503050406030204" pitchFamily="18" charset="0"/>
                        </a:rPr>
                        <m:t>𝒃</m:t>
                      </m:r>
                      <m:r>
                        <a:rPr lang="en-US" altLang="zh-CN" sz="2200" b="0" i="1" smtClean="0">
                          <a:latin typeface="Cambria Math" panose="02040503050406030204" pitchFamily="18" charset="0"/>
                          <a:ea typeface="Cambria Math" panose="02040503050406030204" pitchFamily="18" charset="0"/>
                        </a:rPr>
                        <m:t>+</m:t>
                      </m:r>
                      <m:r>
                        <a:rPr lang="en-US" altLang="zh-CN" sz="2200" b="1" i="1" smtClean="0">
                          <a:latin typeface="Cambria Math" panose="02040503050406030204" pitchFamily="18" charset="0"/>
                          <a:ea typeface="Cambria Math" panose="02040503050406030204" pitchFamily="18" charset="0"/>
                        </a:rPr>
                        <m:t>𝒃</m:t>
                      </m:r>
                      <m:r>
                        <a:rPr lang="en-US" altLang="zh-CN" sz="2200" b="0" i="1" smtClean="0">
                          <a:latin typeface="Cambria Math" panose="02040503050406030204" pitchFamily="18" charset="0"/>
                          <a:ea typeface="Cambria Math" panose="02040503050406030204" pitchFamily="18" charset="0"/>
                        </a:rPr>
                        <m:t>∙</m:t>
                      </m:r>
                      <m:r>
                        <a:rPr lang="en-US" altLang="zh-CN" sz="2200" b="1" i="1" smtClean="0">
                          <a:latin typeface="Cambria Math" panose="02040503050406030204" pitchFamily="18" charset="0"/>
                          <a:ea typeface="Cambria Math" panose="02040503050406030204" pitchFamily="18" charset="0"/>
                        </a:rPr>
                        <m:t>𝒃</m:t>
                      </m:r>
                    </m:oMath>
                  </m:oMathPara>
                </a14:m>
                <a:endParaRPr lang="en-US" altLang="zh-CN" sz="2200" b="1" dirty="0">
                  <a:latin typeface="Cambria Math" panose="02040503050406030204" pitchFamily="18" charset="0"/>
                </a:endParaRPr>
              </a:p>
            </p:txBody>
          </p:sp>
        </mc:Choice>
        <mc:Fallback xmlns="">
          <p:sp>
            <p:nvSpPr>
              <p:cNvPr id="2214" name="Rectangle 166"/>
              <p:cNvSpPr>
                <a:spLocks noRot="1" noChangeAspect="1" noMove="1" noResize="1" noEditPoints="1" noAdjustHandles="1" noChangeArrowheads="1" noChangeShapeType="1" noTextEdit="1"/>
              </p:cNvSpPr>
              <p:nvPr/>
            </p:nvSpPr>
            <p:spPr bwMode="auto">
              <a:xfrm>
                <a:off x="5974031" y="3927709"/>
                <a:ext cx="2967419" cy="430887"/>
              </a:xfrm>
              <a:prstGeom prst="rect">
                <a:avLst/>
              </a:prstGeom>
              <a:blipFill>
                <a:blip r:embed="rId9"/>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15" name="Rectangle 167"/>
              <p:cNvSpPr>
                <a:spLocks noChangeArrowheads="1"/>
              </p:cNvSpPr>
              <p:nvPr/>
            </p:nvSpPr>
            <p:spPr bwMode="auto">
              <a:xfrm>
                <a:off x="2863479" y="4467887"/>
                <a:ext cx="4373343" cy="4308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14:m>
                  <m:oMathPara xmlns:m="http://schemas.openxmlformats.org/officeDocument/2006/math">
                    <m:oMathParaPr>
                      <m:jc m:val="left"/>
                    </m:oMathParaPr>
                    <m:oMath xmlns:m="http://schemas.openxmlformats.org/officeDocument/2006/math">
                      <m:r>
                        <a:rPr lang="en-US" altLang="zh-CN" sz="2200" i="1" smtClean="0">
                          <a:latin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0" i="1" smtClean="0">
                              <a:latin typeface="Cambria Math" panose="02040503050406030204" pitchFamily="18" charset="0"/>
                            </a:rPr>
                            <m:t>|</m:t>
                          </m:r>
                          <m:r>
                            <a:rPr lang="en-US" altLang="zh-CN" sz="2200" b="1" i="1" smtClean="0">
                              <a:latin typeface="Cambria Math" panose="02040503050406030204" pitchFamily="18" charset="0"/>
                            </a:rPr>
                            <m:t>𝒂</m:t>
                          </m:r>
                          <m:r>
                            <a:rPr lang="en-US" altLang="zh-CN" sz="2200" b="0" i="1" smtClean="0">
                              <a:latin typeface="Cambria Math" panose="02040503050406030204" pitchFamily="18" charset="0"/>
                            </a:rPr>
                            <m:t>|</m:t>
                          </m:r>
                        </m:e>
                        <m:sup>
                          <m:r>
                            <a:rPr lang="en-US" altLang="zh-CN" sz="2200" i="1">
                              <a:latin typeface="Cambria Math" panose="02040503050406030204" pitchFamily="18" charset="0"/>
                            </a:rPr>
                            <m:t>2</m:t>
                          </m:r>
                        </m:sup>
                      </m:sSup>
                      <m:r>
                        <a:rPr lang="en-US" altLang="zh-CN" sz="2200" b="0" i="1" smtClean="0">
                          <a:latin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m:t>
                          </m:r>
                          <m:r>
                            <a:rPr lang="en-US" altLang="zh-CN" sz="2200" b="1" i="1" smtClean="0">
                              <a:latin typeface="Cambria Math" panose="02040503050406030204" pitchFamily="18" charset="0"/>
                            </a:rPr>
                            <m:t>𝒃</m:t>
                          </m:r>
                          <m:r>
                            <a:rPr lang="en-US" altLang="zh-CN" sz="2200" i="1">
                              <a:latin typeface="Cambria Math" panose="02040503050406030204" pitchFamily="18" charset="0"/>
                            </a:rPr>
                            <m:t>|</m:t>
                          </m:r>
                        </m:e>
                        <m:sup>
                          <m:r>
                            <a:rPr lang="en-US" altLang="zh-CN" sz="2200" i="1">
                              <a:latin typeface="Cambria Math" panose="02040503050406030204" pitchFamily="18" charset="0"/>
                            </a:rPr>
                            <m:t>2</m:t>
                          </m:r>
                        </m:sup>
                      </m:sSup>
                      <m:r>
                        <a:rPr lang="en-US" altLang="zh-CN" sz="2200" b="0" i="1" smtClean="0">
                          <a:latin typeface="Cambria Math" panose="02040503050406030204" pitchFamily="18" charset="0"/>
                        </a:rPr>
                        <m:t>−2</m:t>
                      </m:r>
                      <m:d>
                        <m:dPr>
                          <m:begChr m:val="|"/>
                          <m:endChr m:val="|"/>
                          <m:ctrlPr>
                            <a:rPr lang="en-US" altLang="zh-CN" sz="2200" b="1" i="1" smtClean="0">
                              <a:latin typeface="Cambria Math" panose="02040503050406030204" pitchFamily="18" charset="0"/>
                            </a:rPr>
                          </m:ctrlPr>
                        </m:dPr>
                        <m:e>
                          <m:r>
                            <a:rPr lang="en-US" altLang="zh-CN" sz="2200" b="1" i="1" smtClean="0">
                              <a:latin typeface="Cambria Math" panose="02040503050406030204" pitchFamily="18" charset="0"/>
                            </a:rPr>
                            <m:t>𝒂</m:t>
                          </m:r>
                        </m:e>
                      </m:d>
                      <m:d>
                        <m:dPr>
                          <m:begChr m:val="|"/>
                          <m:endChr m:val="|"/>
                          <m:ctrlPr>
                            <a:rPr lang="en-US" altLang="zh-CN" sz="2200" b="1" i="1" smtClean="0">
                              <a:latin typeface="Cambria Math" panose="02040503050406030204" pitchFamily="18" charset="0"/>
                            </a:rPr>
                          </m:ctrlPr>
                        </m:dPr>
                        <m:e>
                          <m:r>
                            <a:rPr lang="en-US" altLang="zh-CN" sz="2200" b="1" i="1" smtClean="0">
                              <a:latin typeface="Cambria Math" panose="02040503050406030204" pitchFamily="18" charset="0"/>
                            </a:rPr>
                            <m:t>𝒃</m:t>
                          </m:r>
                        </m:e>
                      </m:d>
                      <m:r>
                        <a:rPr lang="en-US" altLang="zh-CN" sz="2200" b="1" i="1" smtClean="0">
                          <a:latin typeface="Cambria Math" panose="02040503050406030204" pitchFamily="18" charset="0"/>
                        </a:rPr>
                        <m:t> </m:t>
                      </m:r>
                      <m:r>
                        <m:rPr>
                          <m:sty m:val="p"/>
                        </m:rPr>
                        <a:rPr lang="en-US" altLang="zh-CN" sz="2200" b="0" i="0" smtClean="0">
                          <a:latin typeface="Cambria Math" panose="02040503050406030204" pitchFamily="18" charset="0"/>
                        </a:rPr>
                        <m:t>cos</m:t>
                      </m:r>
                      <m:r>
                        <a:rPr lang="zh-CN" altLang="en-US" sz="2200" b="0" i="1" dirty="0" smtClean="0">
                          <a:latin typeface="Cambria Math" panose="02040503050406030204" pitchFamily="18" charset="0"/>
                        </a:rPr>
                        <m:t>𝜃</m:t>
                      </m:r>
                      <m:r>
                        <a:rPr lang="en-US" altLang="zh-CN" sz="2200" b="0" i="1" smtClean="0">
                          <a:latin typeface="Cambria Math" panose="02040503050406030204" pitchFamily="18" charset="0"/>
                        </a:rPr>
                        <m:t>.</m:t>
                      </m:r>
                    </m:oMath>
                  </m:oMathPara>
                </a14:m>
                <a:endParaRPr lang="zh-CN" altLang="en-US" sz="2200" dirty="0">
                  <a:latin typeface="Cambria Math" panose="02040503050406030204" pitchFamily="18" charset="0"/>
                </a:endParaRPr>
              </a:p>
            </p:txBody>
          </p:sp>
        </mc:Choice>
        <mc:Fallback xmlns="">
          <p:sp>
            <p:nvSpPr>
              <p:cNvPr id="2215" name="Rectangle 167"/>
              <p:cNvSpPr>
                <a:spLocks noRot="1" noChangeAspect="1" noMove="1" noResize="1" noEditPoints="1" noAdjustHandles="1" noChangeArrowheads="1" noChangeShapeType="1" noTextEdit="1"/>
              </p:cNvSpPr>
              <p:nvPr/>
            </p:nvSpPr>
            <p:spPr bwMode="auto">
              <a:xfrm>
                <a:off x="2863479" y="4467887"/>
                <a:ext cx="4373343" cy="430887"/>
              </a:xfrm>
              <a:prstGeom prst="rect">
                <a:avLst/>
              </a:prstGeom>
              <a:blipFill>
                <a:blip r:embed="rId10"/>
                <a:stretch>
                  <a:fillRect b="-1831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2216" name="Text Box 168"/>
          <p:cNvSpPr txBox="1">
            <a:spLocks noChangeArrowheads="1"/>
          </p:cNvSpPr>
          <p:nvPr/>
        </p:nvSpPr>
        <p:spPr bwMode="auto">
          <a:xfrm>
            <a:off x="2544860" y="5319784"/>
            <a:ext cx="792162"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200" dirty="0">
                <a:latin typeface="Times New Roman" panose="02020603050405020304" pitchFamily="18" charset="0"/>
                <a:cs typeface="Times New Roman" panose="02020603050405020304" pitchFamily="18" charset="0"/>
              </a:rPr>
              <a:t>即</a:t>
            </a:r>
          </a:p>
        </p:txBody>
      </p:sp>
      <mc:AlternateContent xmlns:mc="http://schemas.openxmlformats.org/markup-compatibility/2006" xmlns:a14="http://schemas.microsoft.com/office/drawing/2010/main">
        <mc:Choice Requires="a14">
          <p:sp>
            <p:nvSpPr>
              <p:cNvPr id="2217" name="Rectangle 169"/>
              <p:cNvSpPr>
                <a:spLocks noChangeArrowheads="1"/>
              </p:cNvSpPr>
              <p:nvPr/>
            </p:nvSpPr>
            <p:spPr bwMode="auto">
              <a:xfrm>
                <a:off x="3134394" y="5335349"/>
                <a:ext cx="4215985" cy="430887"/>
              </a:xfrm>
              <a:prstGeom prst="rect">
                <a:avLst/>
              </a:prstGeom>
              <a:solidFill>
                <a:srgbClr val="96D1C0"/>
              </a:solidFill>
              <a:ln w="9525">
                <a:noFill/>
                <a:miter lim="800000"/>
                <a:headEnd/>
                <a:tailEnd/>
              </a:ln>
              <a:effectLst/>
            </p:spPr>
            <p:txBody>
              <a:bodyPr wrap="square">
                <a:spAutoFit/>
              </a:bodyPr>
              <a:lstStyle/>
              <a:p>
                <a:pPr/>
                <a14:m>
                  <m:oMathPara xmlns:m="http://schemas.openxmlformats.org/officeDocument/2006/math">
                    <m:oMathParaPr>
                      <m:jc m:val="left"/>
                    </m:oMathParaPr>
                    <m:oMath xmlns:m="http://schemas.openxmlformats.org/officeDocument/2006/math">
                      <m:sSup>
                        <m:sSupPr>
                          <m:ctrlPr>
                            <a:rPr lang="en-US" altLang="zh-CN" sz="2200" i="1" smtClean="0">
                              <a:latin typeface="Cambria Math" panose="02040503050406030204" pitchFamily="18" charset="0"/>
                            </a:rPr>
                          </m:ctrlPr>
                        </m:sSupPr>
                        <m:e>
                          <m:r>
                            <a:rPr lang="en-US" altLang="zh-CN" sz="2200" i="1">
                              <a:latin typeface="Cambria Math" panose="02040503050406030204" pitchFamily="18" charset="0"/>
                            </a:rPr>
                            <m:t>|</m:t>
                          </m:r>
                          <m:r>
                            <a:rPr lang="en-US" altLang="zh-CN" sz="2200" b="1" i="1" smtClean="0">
                              <a:latin typeface="Cambria Math" panose="02040503050406030204" pitchFamily="18" charset="0"/>
                            </a:rPr>
                            <m:t>𝒄</m:t>
                          </m:r>
                          <m:r>
                            <a:rPr lang="en-US" altLang="zh-CN" sz="2200" i="1">
                              <a:latin typeface="Cambria Math" panose="02040503050406030204" pitchFamily="18" charset="0"/>
                            </a:rPr>
                            <m:t>|</m:t>
                          </m:r>
                        </m:e>
                        <m:sup>
                          <m:r>
                            <a:rPr lang="en-US" altLang="zh-CN" sz="2200" i="1">
                              <a:latin typeface="Cambria Math" panose="02040503050406030204" pitchFamily="18" charset="0"/>
                            </a:rPr>
                            <m:t>2</m:t>
                          </m:r>
                        </m:sup>
                      </m:sSup>
                      <m:r>
                        <a:rPr lang="en-US" altLang="zh-CN" sz="2200" b="0" i="1" smtClean="0">
                          <a:latin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m:t>
                          </m:r>
                          <m:r>
                            <a:rPr lang="en-US" altLang="zh-CN" sz="2200" b="1" i="1">
                              <a:latin typeface="Cambria Math" panose="02040503050406030204" pitchFamily="18" charset="0"/>
                            </a:rPr>
                            <m:t>𝒂</m:t>
                          </m:r>
                          <m:r>
                            <a:rPr lang="en-US" altLang="zh-CN" sz="2200" i="1">
                              <a:latin typeface="Cambria Math" panose="02040503050406030204" pitchFamily="18" charset="0"/>
                            </a:rPr>
                            <m:t>|</m:t>
                          </m:r>
                        </m:e>
                        <m:sup>
                          <m:r>
                            <a:rPr lang="en-US" altLang="zh-CN" sz="2200" i="1">
                              <a:latin typeface="Cambria Math" panose="02040503050406030204" pitchFamily="18" charset="0"/>
                            </a:rPr>
                            <m:t>2</m:t>
                          </m:r>
                        </m:sup>
                      </m:sSup>
                      <m:r>
                        <a:rPr lang="en-US" altLang="zh-CN" sz="2200" i="1">
                          <a:latin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m:t>
                          </m:r>
                          <m:r>
                            <a:rPr lang="en-US" altLang="zh-CN" sz="2200" b="1" i="1">
                              <a:latin typeface="Cambria Math" panose="02040503050406030204" pitchFamily="18" charset="0"/>
                            </a:rPr>
                            <m:t>𝒃</m:t>
                          </m:r>
                          <m:r>
                            <a:rPr lang="en-US" altLang="zh-CN" sz="2200" i="1">
                              <a:latin typeface="Cambria Math" panose="02040503050406030204" pitchFamily="18" charset="0"/>
                            </a:rPr>
                            <m:t>|</m:t>
                          </m:r>
                        </m:e>
                        <m:sup>
                          <m:r>
                            <a:rPr lang="en-US" altLang="zh-CN" sz="2200" i="1">
                              <a:latin typeface="Cambria Math" panose="02040503050406030204" pitchFamily="18" charset="0"/>
                            </a:rPr>
                            <m:t>2</m:t>
                          </m:r>
                        </m:sup>
                      </m:sSup>
                      <m:r>
                        <a:rPr lang="en-US" altLang="zh-CN" sz="2200" i="1">
                          <a:latin typeface="Cambria Math" panose="02040503050406030204" pitchFamily="18" charset="0"/>
                        </a:rPr>
                        <m:t>−2</m:t>
                      </m:r>
                      <m:d>
                        <m:dPr>
                          <m:begChr m:val="|"/>
                          <m:endChr m:val="|"/>
                          <m:ctrlPr>
                            <a:rPr lang="en-US" altLang="zh-CN" sz="2200" b="1" i="1">
                              <a:latin typeface="Cambria Math" panose="02040503050406030204" pitchFamily="18" charset="0"/>
                            </a:rPr>
                          </m:ctrlPr>
                        </m:dPr>
                        <m:e>
                          <m:r>
                            <a:rPr lang="en-US" altLang="zh-CN" sz="2200" b="1" i="1">
                              <a:latin typeface="Cambria Math" panose="02040503050406030204" pitchFamily="18" charset="0"/>
                            </a:rPr>
                            <m:t>𝒂</m:t>
                          </m:r>
                        </m:e>
                      </m:d>
                      <m:d>
                        <m:dPr>
                          <m:begChr m:val="|"/>
                          <m:endChr m:val="|"/>
                          <m:ctrlPr>
                            <a:rPr lang="en-US" altLang="zh-CN" sz="2200" b="1" i="1">
                              <a:latin typeface="Cambria Math" panose="02040503050406030204" pitchFamily="18" charset="0"/>
                            </a:rPr>
                          </m:ctrlPr>
                        </m:dPr>
                        <m:e>
                          <m:r>
                            <a:rPr lang="en-US" altLang="zh-CN" sz="2200" b="1" i="1">
                              <a:latin typeface="Cambria Math" panose="02040503050406030204" pitchFamily="18" charset="0"/>
                            </a:rPr>
                            <m:t>𝒃</m:t>
                          </m:r>
                        </m:e>
                      </m:d>
                      <m:r>
                        <m:rPr>
                          <m:sty m:val="p"/>
                        </m:rPr>
                        <a:rPr lang="en-US" altLang="zh-CN" sz="2200">
                          <a:latin typeface="Cambria Math" panose="02040503050406030204" pitchFamily="18" charset="0"/>
                        </a:rPr>
                        <m:t>cos</m:t>
                      </m:r>
                      <m:r>
                        <a:rPr lang="zh-CN" altLang="en-US" sz="2200" i="1" dirty="0">
                          <a:latin typeface="Cambria Math" panose="02040503050406030204" pitchFamily="18" charset="0"/>
                        </a:rPr>
                        <m:t>𝜃</m:t>
                      </m:r>
                      <m:r>
                        <a:rPr lang="en-US" altLang="zh-CN" sz="2200" i="1">
                          <a:latin typeface="Cambria Math" panose="02040503050406030204" pitchFamily="18" charset="0"/>
                        </a:rPr>
                        <m:t>.</m:t>
                      </m:r>
                    </m:oMath>
                  </m:oMathPara>
                </a14:m>
                <a:endParaRPr lang="zh-CN" altLang="en-US" sz="2200" dirty="0">
                  <a:latin typeface="Cambria Math" panose="02040503050406030204" pitchFamily="18" charset="0"/>
                </a:endParaRPr>
              </a:p>
            </p:txBody>
          </p:sp>
        </mc:Choice>
        <mc:Fallback xmlns="">
          <p:sp>
            <p:nvSpPr>
              <p:cNvPr id="2217" name="Rectangle 169"/>
              <p:cNvSpPr>
                <a:spLocks noRot="1" noChangeAspect="1" noMove="1" noResize="1" noEditPoints="1" noAdjustHandles="1" noChangeArrowheads="1" noChangeShapeType="1" noTextEdit="1"/>
              </p:cNvSpPr>
              <p:nvPr/>
            </p:nvSpPr>
            <p:spPr bwMode="auto">
              <a:xfrm>
                <a:off x="3134394" y="5335349"/>
                <a:ext cx="4215985" cy="430887"/>
              </a:xfrm>
              <a:prstGeom prst="rect">
                <a:avLst/>
              </a:prstGeom>
              <a:blipFill>
                <a:blip r:embed="rId11"/>
                <a:stretch>
                  <a:fillRect l="-867" b="-18310"/>
                </a:stretch>
              </a:blipFill>
              <a:ln w="9525">
                <a:noFill/>
                <a:miter lim="800000"/>
                <a:headEnd/>
                <a:tailEnd/>
              </a:ln>
              <a:effectLst/>
            </p:spPr>
            <p:txBody>
              <a:bodyPr/>
              <a:lstStyle/>
              <a:p>
                <a:r>
                  <a:rPr lang="zh-CN" altLang="en-US">
                    <a:noFill/>
                  </a:rPr>
                  <a:t> </a:t>
                </a:r>
              </a:p>
            </p:txBody>
          </p:sp>
        </mc:Fallback>
      </mc:AlternateContent>
      <p:sp>
        <p:nvSpPr>
          <p:cNvPr id="2218" name="AutoShape 170"/>
          <p:cNvSpPr>
            <a:spLocks noChangeArrowheads="1"/>
          </p:cNvSpPr>
          <p:nvPr/>
        </p:nvSpPr>
        <p:spPr bwMode="auto">
          <a:xfrm>
            <a:off x="7545249" y="4798667"/>
            <a:ext cx="1478183" cy="430887"/>
          </a:xfrm>
          <a:prstGeom prst="wedgeRectCallout">
            <a:avLst>
              <a:gd name="adj1" fmla="val -53347"/>
              <a:gd name="adj2" fmla="val 106923"/>
            </a:avLst>
          </a:prstGeom>
          <a:solidFill>
            <a:srgbClr val="04926A">
              <a:alpha val="42000"/>
            </a:srgbClr>
          </a:solidFill>
          <a:ln w="9525">
            <a:noFill/>
            <a:miter lim="800000"/>
            <a:headEnd/>
            <a:tailEnd/>
          </a:ln>
          <a:effectLst/>
        </p:spPr>
        <p:txBody>
          <a:bodyPr/>
          <a:lstStyle/>
          <a:p>
            <a:r>
              <a:rPr kumimoji="1" lang="zh-CN" altLang="en-US" sz="2200" dirty="0">
                <a:latin typeface="微软雅黑" panose="020B0503020204020204" pitchFamily="34" charset="-122"/>
                <a:ea typeface="微软雅黑" panose="020B0503020204020204" pitchFamily="34" charset="-122"/>
              </a:rPr>
              <a:t> 余弦定理</a:t>
            </a:r>
          </a:p>
        </p:txBody>
      </p:sp>
      <p:pic>
        <p:nvPicPr>
          <p:cNvPr id="3" name="图片 2" descr="图表, 折线图&#10;&#10;描述已自动生成">
            <a:extLst>
              <a:ext uri="{FF2B5EF4-FFF2-40B4-BE49-F238E27FC236}">
                <a16:creationId xmlns:a16="http://schemas.microsoft.com/office/drawing/2014/main" id="{2798365C-A367-1420-EBDF-A37AA8424053}"/>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8076815" y="1521185"/>
            <a:ext cx="2445776" cy="2059929"/>
          </a:xfrm>
          <a:prstGeom prst="rect">
            <a:avLst/>
          </a:prstGeom>
        </p:spPr>
      </p:pic>
    </p:spTree>
    <p:extLst>
      <p:ext uri="{BB962C8B-B14F-4D97-AF65-F5344CB8AC3E}">
        <p14:creationId xmlns:p14="http://schemas.microsoft.com/office/powerpoint/2010/main" val="28121763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96"/>
                                        </p:tgtEl>
                                        <p:attrNameLst>
                                          <p:attrName>style.visibility</p:attrName>
                                        </p:attrNameLst>
                                      </p:cBhvr>
                                      <p:to>
                                        <p:strVal val="visible"/>
                                      </p:to>
                                    </p:set>
                                    <p:animEffect transition="in" filter="wipe(left)">
                                      <p:cBhvr>
                                        <p:cTn id="7" dur="500"/>
                                        <p:tgtEl>
                                          <p:spTgt spid="219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197"/>
                                        </p:tgtEl>
                                        <p:attrNameLst>
                                          <p:attrName>style.visibility</p:attrName>
                                        </p:attrNameLst>
                                      </p:cBhvr>
                                      <p:to>
                                        <p:strVal val="visible"/>
                                      </p:to>
                                    </p:set>
                                    <p:animEffect transition="in" filter="wipe(left)">
                                      <p:cBhvr>
                                        <p:cTn id="10" dur="500"/>
                                        <p:tgtEl>
                                          <p:spTgt spid="2197"/>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207"/>
                                        </p:tgtEl>
                                        <p:attrNameLst>
                                          <p:attrName>style.visibility</p:attrName>
                                        </p:attrNameLst>
                                      </p:cBhvr>
                                      <p:to>
                                        <p:strVal val="visible"/>
                                      </p:to>
                                    </p:set>
                                    <p:animEffect transition="in" filter="wipe(left)">
                                      <p:cBhvr>
                                        <p:cTn id="20" dur="500"/>
                                        <p:tgtEl>
                                          <p:spTgt spid="220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208"/>
                                        </p:tgtEl>
                                        <p:attrNameLst>
                                          <p:attrName>style.visibility</p:attrName>
                                        </p:attrNameLst>
                                      </p:cBhvr>
                                      <p:to>
                                        <p:strVal val="visible"/>
                                      </p:to>
                                    </p:set>
                                    <p:animEffect transition="in" filter="wipe(left)">
                                      <p:cBhvr>
                                        <p:cTn id="25" dur="500"/>
                                        <p:tgtEl>
                                          <p:spTgt spid="220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209"/>
                                        </p:tgtEl>
                                        <p:attrNameLst>
                                          <p:attrName>style.visibility</p:attrName>
                                        </p:attrNameLst>
                                      </p:cBhvr>
                                      <p:to>
                                        <p:strVal val="visible"/>
                                      </p:to>
                                    </p:set>
                                    <p:animEffect transition="in" filter="wipe(left)">
                                      <p:cBhvr>
                                        <p:cTn id="30" dur="500"/>
                                        <p:tgtEl>
                                          <p:spTgt spid="220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210"/>
                                        </p:tgtEl>
                                        <p:attrNameLst>
                                          <p:attrName>style.visibility</p:attrName>
                                        </p:attrNameLst>
                                      </p:cBhvr>
                                      <p:to>
                                        <p:strVal val="visible"/>
                                      </p:to>
                                    </p:set>
                                    <p:animEffect transition="in" filter="wipe(left)">
                                      <p:cBhvr>
                                        <p:cTn id="35" dur="500"/>
                                        <p:tgtEl>
                                          <p:spTgt spid="221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211"/>
                                        </p:tgtEl>
                                        <p:attrNameLst>
                                          <p:attrName>style.visibility</p:attrName>
                                        </p:attrNameLst>
                                      </p:cBhvr>
                                      <p:to>
                                        <p:strVal val="visible"/>
                                      </p:to>
                                    </p:set>
                                    <p:animEffect transition="in" filter="wipe(left)">
                                      <p:cBhvr>
                                        <p:cTn id="40" dur="500"/>
                                        <p:tgtEl>
                                          <p:spTgt spid="2211"/>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212"/>
                                        </p:tgtEl>
                                        <p:attrNameLst>
                                          <p:attrName>style.visibility</p:attrName>
                                        </p:attrNameLst>
                                      </p:cBhvr>
                                      <p:to>
                                        <p:strVal val="visible"/>
                                      </p:to>
                                    </p:set>
                                    <p:animEffect transition="in" filter="wipe(left)">
                                      <p:cBhvr>
                                        <p:cTn id="45" dur="500"/>
                                        <p:tgtEl>
                                          <p:spTgt spid="2212"/>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213"/>
                                        </p:tgtEl>
                                        <p:attrNameLst>
                                          <p:attrName>style.visibility</p:attrName>
                                        </p:attrNameLst>
                                      </p:cBhvr>
                                      <p:to>
                                        <p:strVal val="visible"/>
                                      </p:to>
                                    </p:set>
                                    <p:animEffect transition="in" filter="wipe(left)">
                                      <p:cBhvr>
                                        <p:cTn id="50" dur="500"/>
                                        <p:tgtEl>
                                          <p:spTgt spid="2213"/>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214"/>
                                        </p:tgtEl>
                                        <p:attrNameLst>
                                          <p:attrName>style.visibility</p:attrName>
                                        </p:attrNameLst>
                                      </p:cBhvr>
                                      <p:to>
                                        <p:strVal val="visible"/>
                                      </p:to>
                                    </p:set>
                                    <p:animEffect transition="in" filter="wipe(left)">
                                      <p:cBhvr>
                                        <p:cTn id="55" dur="500"/>
                                        <p:tgtEl>
                                          <p:spTgt spid="2214"/>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2215"/>
                                        </p:tgtEl>
                                        <p:attrNameLst>
                                          <p:attrName>style.visibility</p:attrName>
                                        </p:attrNameLst>
                                      </p:cBhvr>
                                      <p:to>
                                        <p:strVal val="visible"/>
                                      </p:to>
                                    </p:set>
                                    <p:animEffect transition="in" filter="wipe(left)">
                                      <p:cBhvr>
                                        <p:cTn id="60" dur="500"/>
                                        <p:tgtEl>
                                          <p:spTgt spid="2215"/>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2216"/>
                                        </p:tgtEl>
                                        <p:attrNameLst>
                                          <p:attrName>style.visibility</p:attrName>
                                        </p:attrNameLst>
                                      </p:cBhvr>
                                      <p:to>
                                        <p:strVal val="visible"/>
                                      </p:to>
                                    </p:set>
                                    <p:animEffect transition="in" filter="wipe(left)">
                                      <p:cBhvr>
                                        <p:cTn id="65" dur="500"/>
                                        <p:tgtEl>
                                          <p:spTgt spid="2216"/>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2217"/>
                                        </p:tgtEl>
                                        <p:attrNameLst>
                                          <p:attrName>style.visibility</p:attrName>
                                        </p:attrNameLst>
                                      </p:cBhvr>
                                      <p:to>
                                        <p:strVal val="visible"/>
                                      </p:to>
                                    </p:set>
                                    <p:animEffect transition="in" filter="wipe(left)">
                                      <p:cBhvr>
                                        <p:cTn id="70" dur="500"/>
                                        <p:tgtEl>
                                          <p:spTgt spid="2217"/>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2" fill="hold" grpId="0" nodeType="clickEffect">
                                  <p:stCondLst>
                                    <p:cond delay="0"/>
                                  </p:stCondLst>
                                  <p:childTnLst>
                                    <p:set>
                                      <p:cBhvr>
                                        <p:cTn id="74" dur="1" fill="hold">
                                          <p:stCondLst>
                                            <p:cond delay="0"/>
                                          </p:stCondLst>
                                        </p:cTn>
                                        <p:tgtEl>
                                          <p:spTgt spid="2218"/>
                                        </p:tgtEl>
                                        <p:attrNameLst>
                                          <p:attrName>style.visibility</p:attrName>
                                        </p:attrNameLst>
                                      </p:cBhvr>
                                      <p:to>
                                        <p:strVal val="visible"/>
                                      </p:to>
                                    </p:set>
                                    <p:animEffect transition="in" filter="wipe(right)">
                                      <p:cBhvr>
                                        <p:cTn id="75" dur="500"/>
                                        <p:tgtEl>
                                          <p:spTgt spid="2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6" grpId="0"/>
      <p:bldP spid="2197" grpId="0"/>
      <p:bldP spid="2207" grpId="0"/>
      <p:bldP spid="2208" grpId="0"/>
      <p:bldP spid="2209" grpId="0"/>
      <p:bldP spid="2210" grpId="0"/>
      <p:bldP spid="2211" grpId="0"/>
      <p:bldP spid="2212" grpId="0"/>
      <p:bldP spid="2213" grpId="0"/>
      <p:bldP spid="2214" grpId="0"/>
      <p:bldP spid="2215" grpId="0"/>
      <p:bldP spid="2216" grpId="0"/>
      <p:bldP spid="2217" grpId="0" animBg="1"/>
      <p:bldP spid="221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53306C80-4B6C-E823-E103-FE9508F2D54B}"/>
              </a:ext>
            </a:extLst>
          </p:cNvPr>
          <p:cNvGrpSpPr/>
          <p:nvPr/>
        </p:nvGrpSpPr>
        <p:grpSpPr>
          <a:xfrm>
            <a:off x="532130" y="516952"/>
            <a:ext cx="11149330" cy="5612130"/>
            <a:chOff x="838" y="907"/>
            <a:chExt cx="17558" cy="8838"/>
          </a:xfrm>
        </p:grpSpPr>
        <p:sp>
          <p:nvSpPr>
            <p:cNvPr id="9" name="PA-102232">
              <a:extLst>
                <a:ext uri="{FF2B5EF4-FFF2-40B4-BE49-F238E27FC236}">
                  <a16:creationId xmlns:a16="http://schemas.microsoft.com/office/drawing/2014/main" id="{092951C5-5585-422C-C255-D63C30D89F6F}"/>
                </a:ext>
              </a:extLst>
            </p:cNvPr>
            <p:cNvSpPr/>
            <p:nvPr>
              <p:custDataLst>
                <p:tags r:id="rId1"/>
              </p:custDataLst>
            </p:nvPr>
          </p:nvSpPr>
          <p:spPr>
            <a:xfrm>
              <a:off x="872" y="907"/>
              <a:ext cx="17524" cy="8826"/>
            </a:xfrm>
            <a:prstGeom prst="rect">
              <a:avLst/>
            </a:prstGeom>
            <a:solidFill>
              <a:schemeClr val="bg1"/>
            </a:solidFill>
            <a:ln>
              <a:noFill/>
            </a:ln>
            <a:effectLst>
              <a:outerShdw blurRad="393700" dist="889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6BB6"/>
                </a:solidFill>
                <a:cs typeface="+mn-ea"/>
                <a:sym typeface="+mn-lt"/>
              </a:endParaRPr>
            </a:p>
          </p:txBody>
        </p:sp>
        <p:grpSp>
          <p:nvGrpSpPr>
            <p:cNvPr id="10" name="组合 9">
              <a:extLst>
                <a:ext uri="{FF2B5EF4-FFF2-40B4-BE49-F238E27FC236}">
                  <a16:creationId xmlns:a16="http://schemas.microsoft.com/office/drawing/2014/main" id="{0A40C1DA-C879-99BA-31F8-3C247C0BC361}"/>
                </a:ext>
              </a:extLst>
            </p:cNvPr>
            <p:cNvGrpSpPr/>
            <p:nvPr/>
          </p:nvGrpSpPr>
          <p:grpSpPr>
            <a:xfrm>
              <a:off x="838" y="9635"/>
              <a:ext cx="17558" cy="110"/>
              <a:chOff x="838" y="9635"/>
              <a:chExt cx="17558" cy="110"/>
            </a:xfrm>
          </p:grpSpPr>
          <p:sp>
            <p:nvSpPr>
              <p:cNvPr id="11" name="Rectangle 1">
                <a:extLst>
                  <a:ext uri="{FF2B5EF4-FFF2-40B4-BE49-F238E27FC236}">
                    <a16:creationId xmlns:a16="http://schemas.microsoft.com/office/drawing/2014/main" id="{94617F4E-B1D0-83E9-C8EA-6BA908363088}"/>
                  </a:ext>
                </a:extLst>
              </p:cNvPr>
              <p:cNvSpPr/>
              <p:nvPr/>
            </p:nvSpPr>
            <p:spPr>
              <a:xfrm>
                <a:off x="5321" y="9650"/>
                <a:ext cx="4286" cy="83"/>
              </a:xfrm>
              <a:prstGeom prst="rect">
                <a:avLst/>
              </a:prstGeom>
              <a:solidFill>
                <a:schemeClr val="bg1"/>
              </a:solidFill>
              <a:ln w="3175" cap="flat" cmpd="sng" algn="ctr">
                <a:solidFill>
                  <a:srgbClr val="0492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2" name="Rectangle 1">
                <a:extLst>
                  <a:ext uri="{FF2B5EF4-FFF2-40B4-BE49-F238E27FC236}">
                    <a16:creationId xmlns:a16="http://schemas.microsoft.com/office/drawing/2014/main" id="{1F30A9E3-3BE7-34E1-D549-B57FC9A12285}"/>
                  </a:ext>
                </a:extLst>
              </p:cNvPr>
              <p:cNvSpPr/>
              <p:nvPr/>
            </p:nvSpPr>
            <p:spPr>
              <a:xfrm>
                <a:off x="838" y="9650"/>
                <a:ext cx="4483" cy="83"/>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3" name="Rectangle 1">
                <a:extLst>
                  <a:ext uri="{FF2B5EF4-FFF2-40B4-BE49-F238E27FC236}">
                    <a16:creationId xmlns:a16="http://schemas.microsoft.com/office/drawing/2014/main" id="{2D8D5023-CDE0-9DBF-12B9-781F69A28E8F}"/>
                  </a:ext>
                </a:extLst>
              </p:cNvPr>
              <p:cNvSpPr/>
              <p:nvPr/>
            </p:nvSpPr>
            <p:spPr>
              <a:xfrm>
                <a:off x="9602" y="9635"/>
                <a:ext cx="8794" cy="111"/>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p:sp>
        <p:nvSpPr>
          <p:cNvPr id="11291" name="Text Box 27"/>
          <p:cNvSpPr txBox="1">
            <a:spLocks noChangeArrowheads="1"/>
          </p:cNvSpPr>
          <p:nvPr/>
        </p:nvSpPr>
        <p:spPr bwMode="auto">
          <a:xfrm>
            <a:off x="1558485" y="1254936"/>
            <a:ext cx="44894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800" b="1" dirty="0">
                <a:solidFill>
                  <a:srgbClr val="04926A"/>
                </a:solidFill>
                <a:latin typeface="微软雅黑" panose="020B0503020204020204" pitchFamily="34" charset="-122"/>
                <a:ea typeface="微软雅黑" panose="020B0503020204020204" pitchFamily="34" charset="-122"/>
              </a:rPr>
              <a:t>4.  </a:t>
            </a:r>
            <a:r>
              <a:rPr kumimoji="1" lang="zh-CN" altLang="en-US" sz="2800" b="1" dirty="0">
                <a:solidFill>
                  <a:srgbClr val="04926A"/>
                </a:solidFill>
                <a:latin typeface="微软雅黑" panose="020B0503020204020204" pitchFamily="34" charset="-122"/>
                <a:ea typeface="微软雅黑" panose="020B0503020204020204" pitchFamily="34" charset="-122"/>
              </a:rPr>
              <a:t>数量积的坐标表示</a:t>
            </a:r>
          </a:p>
        </p:txBody>
      </p:sp>
      <p:sp>
        <p:nvSpPr>
          <p:cNvPr id="11292" name="Text Box 28"/>
          <p:cNvSpPr txBox="1">
            <a:spLocks noChangeArrowheads="1"/>
          </p:cNvSpPr>
          <p:nvPr/>
        </p:nvSpPr>
        <p:spPr bwMode="auto">
          <a:xfrm>
            <a:off x="2093060" y="1910572"/>
            <a:ext cx="6794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dirty="0">
                <a:latin typeface="Cambria Math" panose="02040503050406030204" pitchFamily="18" charset="0"/>
              </a:rPr>
              <a:t>设</a:t>
            </a:r>
          </a:p>
        </p:txBody>
      </p:sp>
      <mc:AlternateContent xmlns:mc="http://schemas.openxmlformats.org/markup-compatibility/2006" xmlns:a14="http://schemas.microsoft.com/office/drawing/2010/main">
        <mc:Choice Requires="a14">
          <p:sp>
            <p:nvSpPr>
              <p:cNvPr id="11293" name="Object 29"/>
              <p:cNvSpPr txBox="1">
                <a:spLocks noGrp="1"/>
              </p:cNvSpPr>
              <p:nvPr>
                <p:ph/>
              </p:nvPr>
            </p:nvSpPr>
            <p:spPr bwMode="auto">
              <a:xfrm>
                <a:off x="2663974" y="1940737"/>
                <a:ext cx="6778380" cy="502580"/>
              </a:xfrm>
              <a:prstGeom prst="rect">
                <a:avLst/>
              </a:prstGeom>
              <a:noFill/>
              <a:ln>
                <a:noFill/>
              </a:ln>
              <a:effectLst/>
            </p:spPr>
            <p:txBody>
              <a:bodyPr>
                <a:noAutofit/>
              </a:bodyPr>
              <a:lstStyle/>
              <a:p>
                <a:pPr>
                  <a:buNone/>
                </a:pPr>
                <a14:m>
                  <m:oMathPara xmlns:m="http://schemas.openxmlformats.org/officeDocument/2006/math">
                    <m:oMathParaPr>
                      <m:jc m:val="left"/>
                    </m:oMathParaPr>
                    <m:oMath xmlns:m="http://schemas.openxmlformats.org/officeDocument/2006/math">
                      <m:r>
                        <a:rPr lang="zh-CN" altLang="en-US" b="1" i="1">
                          <a:latin typeface="Cambria Math" panose="02040503050406030204" pitchFamily="18" charset="0"/>
                        </a:rPr>
                        <m:t>𝒂</m:t>
                      </m:r>
                      <m:r>
                        <a:rPr lang="zh-CN" altLang="en-US" b="0" i="1">
                          <a:latin typeface="Cambria Math" panose="02040503050406030204" pitchFamily="18" charset="0"/>
                        </a:rPr>
                        <m:t>=</m:t>
                      </m:r>
                      <m:sSub>
                        <m:sSubPr>
                          <m:ctrlPr>
                            <a:rPr lang="zh-CN" altLang="en-US" b="0" i="1">
                              <a:latin typeface="Cambria Math" panose="02040503050406030204" pitchFamily="18" charset="0"/>
                            </a:rPr>
                          </m:ctrlPr>
                        </m:sSubPr>
                        <m:e>
                          <m:r>
                            <a:rPr lang="zh-CN" altLang="en-US" b="0" i="1">
                              <a:latin typeface="Cambria Math" panose="02040503050406030204" pitchFamily="18" charset="0"/>
                            </a:rPr>
                            <m:t>𝑎</m:t>
                          </m:r>
                        </m:e>
                        <m:sub>
                          <m:r>
                            <a:rPr lang="zh-CN" altLang="en-US" b="0" i="1">
                              <a:latin typeface="Cambria Math" panose="02040503050406030204" pitchFamily="18" charset="0"/>
                            </a:rPr>
                            <m:t>𝑥</m:t>
                          </m:r>
                        </m:sub>
                      </m:sSub>
                      <m:r>
                        <a:rPr lang="zh-CN" altLang="en-US" b="1" i="1">
                          <a:latin typeface="Cambria Math" panose="02040503050406030204" pitchFamily="18" charset="0"/>
                        </a:rPr>
                        <m:t>𝒊</m:t>
                      </m:r>
                      <m:r>
                        <a:rPr lang="zh-CN" altLang="en-US" b="0" i="1">
                          <a:latin typeface="Cambria Math" panose="02040503050406030204" pitchFamily="18" charset="0"/>
                        </a:rPr>
                        <m:t>+</m:t>
                      </m:r>
                      <m:sSub>
                        <m:sSubPr>
                          <m:ctrlPr>
                            <a:rPr lang="zh-CN" altLang="en-US" b="0" i="1">
                              <a:latin typeface="Cambria Math" panose="02040503050406030204" pitchFamily="18" charset="0"/>
                            </a:rPr>
                          </m:ctrlPr>
                        </m:sSubPr>
                        <m:e>
                          <m:r>
                            <a:rPr lang="zh-CN" altLang="en-US" b="0" i="1">
                              <a:latin typeface="Cambria Math" panose="02040503050406030204" pitchFamily="18" charset="0"/>
                            </a:rPr>
                            <m:t>𝑎</m:t>
                          </m:r>
                        </m:e>
                        <m:sub>
                          <m:r>
                            <a:rPr lang="zh-CN" altLang="en-US" b="0" i="1">
                              <a:latin typeface="Cambria Math" panose="02040503050406030204" pitchFamily="18" charset="0"/>
                            </a:rPr>
                            <m:t>𝑦</m:t>
                          </m:r>
                        </m:sub>
                      </m:sSub>
                      <m:r>
                        <a:rPr lang="zh-CN" altLang="en-US" b="1" i="1">
                          <a:latin typeface="Cambria Math" panose="02040503050406030204" pitchFamily="18" charset="0"/>
                        </a:rPr>
                        <m:t>𝒋</m:t>
                      </m:r>
                      <m:r>
                        <a:rPr lang="zh-CN" altLang="en-US" b="0" i="1">
                          <a:latin typeface="Cambria Math" panose="02040503050406030204" pitchFamily="18" charset="0"/>
                        </a:rPr>
                        <m:t>+</m:t>
                      </m:r>
                      <m:sSub>
                        <m:sSubPr>
                          <m:ctrlPr>
                            <a:rPr lang="zh-CN" altLang="en-US" b="0" i="1">
                              <a:latin typeface="Cambria Math" panose="02040503050406030204" pitchFamily="18" charset="0"/>
                            </a:rPr>
                          </m:ctrlPr>
                        </m:sSubPr>
                        <m:e>
                          <m:r>
                            <a:rPr lang="zh-CN" altLang="en-US" b="0" i="1">
                              <a:latin typeface="Cambria Math" panose="02040503050406030204" pitchFamily="18" charset="0"/>
                            </a:rPr>
                            <m:t>𝑎</m:t>
                          </m:r>
                        </m:e>
                        <m:sub>
                          <m:r>
                            <a:rPr lang="zh-CN" altLang="en-US" b="0" i="1">
                              <a:latin typeface="Cambria Math" panose="02040503050406030204" pitchFamily="18" charset="0"/>
                            </a:rPr>
                            <m:t>𝑧</m:t>
                          </m:r>
                        </m:sub>
                      </m:sSub>
                      <m:r>
                        <a:rPr lang="zh-CN" altLang="en-US" b="1" i="1">
                          <a:latin typeface="Cambria Math" panose="02040503050406030204" pitchFamily="18" charset="0"/>
                        </a:rPr>
                        <m:t>𝒌</m:t>
                      </m:r>
                      <m:r>
                        <a:rPr lang="zh-CN" altLang="en-US" b="0" i="1">
                          <a:latin typeface="Cambria Math" panose="02040503050406030204" pitchFamily="18" charset="0"/>
                        </a:rPr>
                        <m:t>,</m:t>
                      </m:r>
                      <m:r>
                        <a:rPr lang="zh-CN" altLang="en-US" b="1" i="1">
                          <a:latin typeface="Cambria Math" panose="02040503050406030204" pitchFamily="18" charset="0"/>
                        </a:rPr>
                        <m:t>𝒃</m:t>
                      </m:r>
                      <m:r>
                        <a:rPr lang="zh-CN" altLang="en-US" b="0" i="1">
                          <a:latin typeface="Cambria Math" panose="02040503050406030204" pitchFamily="18" charset="0"/>
                        </a:rPr>
                        <m:t>=</m:t>
                      </m:r>
                      <m:sSub>
                        <m:sSubPr>
                          <m:ctrlPr>
                            <a:rPr lang="zh-CN" altLang="en-US" b="0" i="1">
                              <a:latin typeface="Cambria Math" panose="02040503050406030204" pitchFamily="18" charset="0"/>
                            </a:rPr>
                          </m:ctrlPr>
                        </m:sSubPr>
                        <m:e>
                          <m:r>
                            <a:rPr lang="zh-CN" altLang="en-US" b="0" i="1">
                              <a:latin typeface="Cambria Math" panose="02040503050406030204" pitchFamily="18" charset="0"/>
                            </a:rPr>
                            <m:t>𝑏</m:t>
                          </m:r>
                        </m:e>
                        <m:sub>
                          <m:r>
                            <a:rPr lang="zh-CN" altLang="en-US" b="0" i="1">
                              <a:latin typeface="Cambria Math" panose="02040503050406030204" pitchFamily="18" charset="0"/>
                            </a:rPr>
                            <m:t>𝑥</m:t>
                          </m:r>
                        </m:sub>
                      </m:sSub>
                      <m:r>
                        <a:rPr lang="zh-CN" altLang="en-US" b="1" i="1">
                          <a:latin typeface="Cambria Math" panose="02040503050406030204" pitchFamily="18" charset="0"/>
                        </a:rPr>
                        <m:t>𝒊</m:t>
                      </m:r>
                      <m:r>
                        <a:rPr lang="zh-CN" altLang="en-US" b="0" i="1">
                          <a:latin typeface="Cambria Math" panose="02040503050406030204" pitchFamily="18" charset="0"/>
                        </a:rPr>
                        <m:t>+</m:t>
                      </m:r>
                      <m:sSub>
                        <m:sSubPr>
                          <m:ctrlPr>
                            <a:rPr lang="zh-CN" altLang="en-US" b="0" i="1">
                              <a:latin typeface="Cambria Math" panose="02040503050406030204" pitchFamily="18" charset="0"/>
                            </a:rPr>
                          </m:ctrlPr>
                        </m:sSubPr>
                        <m:e>
                          <m:r>
                            <a:rPr lang="zh-CN" altLang="en-US" b="0" i="1">
                              <a:latin typeface="Cambria Math" panose="02040503050406030204" pitchFamily="18" charset="0"/>
                            </a:rPr>
                            <m:t>𝑏</m:t>
                          </m:r>
                        </m:e>
                        <m:sub>
                          <m:r>
                            <a:rPr lang="zh-CN" altLang="en-US" b="0" i="1">
                              <a:latin typeface="Cambria Math" panose="02040503050406030204" pitchFamily="18" charset="0"/>
                            </a:rPr>
                            <m:t>𝑦</m:t>
                          </m:r>
                        </m:sub>
                      </m:sSub>
                      <m:r>
                        <a:rPr lang="zh-CN" altLang="en-US" b="1" i="1">
                          <a:latin typeface="Cambria Math" panose="02040503050406030204" pitchFamily="18" charset="0"/>
                        </a:rPr>
                        <m:t>𝒋</m:t>
                      </m:r>
                      <m:r>
                        <a:rPr lang="zh-CN" altLang="en-US" b="0" i="1">
                          <a:latin typeface="Cambria Math" panose="02040503050406030204" pitchFamily="18" charset="0"/>
                        </a:rPr>
                        <m:t>+</m:t>
                      </m:r>
                      <m:sSub>
                        <m:sSubPr>
                          <m:ctrlPr>
                            <a:rPr lang="zh-CN" altLang="en-US" b="0" i="1">
                              <a:latin typeface="Cambria Math" panose="02040503050406030204" pitchFamily="18" charset="0"/>
                            </a:rPr>
                          </m:ctrlPr>
                        </m:sSubPr>
                        <m:e>
                          <m:r>
                            <a:rPr lang="zh-CN" altLang="en-US" b="0" i="1">
                              <a:latin typeface="Cambria Math" panose="02040503050406030204" pitchFamily="18" charset="0"/>
                            </a:rPr>
                            <m:t>𝑏</m:t>
                          </m:r>
                        </m:e>
                        <m:sub>
                          <m:r>
                            <a:rPr lang="zh-CN" altLang="en-US" b="0" i="1">
                              <a:latin typeface="Cambria Math" panose="02040503050406030204" pitchFamily="18" charset="0"/>
                            </a:rPr>
                            <m:t>𝑧</m:t>
                          </m:r>
                        </m:sub>
                      </m:sSub>
                      <m:r>
                        <a:rPr lang="zh-CN" altLang="en-US" b="1" i="1">
                          <a:latin typeface="Cambria Math" panose="02040503050406030204" pitchFamily="18" charset="0"/>
                        </a:rPr>
                        <m:t>𝒌</m:t>
                      </m:r>
                      <m:r>
                        <a:rPr lang="zh-CN" altLang="en-US" b="0" i="1">
                          <a:latin typeface="Cambria Math" panose="02040503050406030204" pitchFamily="18" charset="0"/>
                        </a:rPr>
                        <m:t>,</m:t>
                      </m:r>
                    </m:oMath>
                  </m:oMathPara>
                </a14:m>
                <a:endParaRPr lang="zh-CN" altLang="en-US" b="0" i="1" dirty="0">
                  <a:latin typeface="Cambria Math" panose="02040503050406030204" pitchFamily="18" charset="0"/>
                </a:endParaRPr>
              </a:p>
            </p:txBody>
          </p:sp>
        </mc:Choice>
        <mc:Fallback xmlns="">
          <p:sp>
            <p:nvSpPr>
              <p:cNvPr id="11293" name="Object 29"/>
              <p:cNvSpPr txBox="1">
                <a:spLocks noGrp="1" noRot="1" noChangeAspect="1" noMove="1" noResize="1" noEditPoints="1" noAdjustHandles="1" noChangeArrowheads="1" noChangeShapeType="1" noTextEdit="1"/>
              </p:cNvSpPr>
              <p:nvPr>
                <p:ph/>
              </p:nvPr>
            </p:nvSpPr>
            <p:spPr bwMode="auto">
              <a:xfrm>
                <a:off x="2663974" y="1940737"/>
                <a:ext cx="6778380" cy="502580"/>
              </a:xfrm>
              <a:prstGeom prst="rect">
                <a:avLst/>
              </a:prstGeom>
              <a:blipFill>
                <a:blip r:embed="rId3"/>
                <a:stretch>
                  <a:fillRect b="-15663"/>
                </a:stretch>
              </a:blipFill>
              <a:ln>
                <a:noFill/>
              </a:ln>
              <a:effectLst/>
            </p:spPr>
            <p:txBody>
              <a:bodyPr/>
              <a:lstStyle/>
              <a:p>
                <a:r>
                  <a:rPr lang="zh-CN" altLang="en-US">
                    <a:noFill/>
                  </a:rPr>
                  <a:t> </a:t>
                </a:r>
              </a:p>
            </p:txBody>
          </p:sp>
        </mc:Fallback>
      </mc:AlternateContent>
      <p:sp>
        <p:nvSpPr>
          <p:cNvPr id="11295" name="Text Box 31"/>
          <p:cNvSpPr txBox="1">
            <a:spLocks noChangeArrowheads="1"/>
          </p:cNvSpPr>
          <p:nvPr/>
        </p:nvSpPr>
        <p:spPr bwMode="auto">
          <a:xfrm>
            <a:off x="9108926" y="1910572"/>
            <a:ext cx="762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dirty="0"/>
              <a:t>则</a:t>
            </a:r>
          </a:p>
        </p:txBody>
      </p:sp>
      <mc:AlternateContent xmlns:mc="http://schemas.openxmlformats.org/markup-compatibility/2006" xmlns:a14="http://schemas.microsoft.com/office/drawing/2010/main">
        <mc:Choice Requires="a14">
          <p:sp>
            <p:nvSpPr>
              <p:cNvPr id="11296" name="Object 32"/>
              <p:cNvSpPr txBox="1"/>
              <p:nvPr/>
            </p:nvSpPr>
            <p:spPr bwMode="auto">
              <a:xfrm>
                <a:off x="2645755" y="2559120"/>
                <a:ext cx="7558599" cy="61912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b="1" i="1">
                          <a:latin typeface="Cambria Math" panose="02040503050406030204" pitchFamily="18" charset="0"/>
                        </a:rPr>
                        <m:t>𝒂</m:t>
                      </m:r>
                      <m:r>
                        <a:rPr lang="zh-CN" altLang="en-US" sz="2800" b="1" i="1">
                          <a:latin typeface="Cambria Math" panose="02040503050406030204" pitchFamily="18" charset="0"/>
                        </a:rPr>
                        <m:t>⋅</m:t>
                      </m:r>
                      <m:r>
                        <a:rPr lang="zh-CN" altLang="en-US" sz="2800" b="1" i="1">
                          <a:latin typeface="Cambria Math" panose="02040503050406030204" pitchFamily="18" charset="0"/>
                        </a:rPr>
                        <m:t>𝒃</m:t>
                      </m:r>
                      <m:r>
                        <a:rPr lang="zh-CN" altLang="en-US" sz="2800" b="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𝑥</m:t>
                          </m:r>
                        </m:sub>
                      </m:sSub>
                      <m:r>
                        <a:rPr lang="zh-CN" altLang="en-US" sz="2800" b="1" i="1">
                          <a:latin typeface="Cambria Math" panose="02040503050406030204" pitchFamily="18" charset="0"/>
                        </a:rPr>
                        <m:t>𝒊</m:t>
                      </m:r>
                      <m:r>
                        <a:rPr lang="zh-CN" altLang="en-US" sz="2800" b="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𝑦</m:t>
                          </m:r>
                        </m:sub>
                      </m:sSub>
                      <m:r>
                        <a:rPr lang="zh-CN" altLang="en-US" sz="2800" b="1" i="1">
                          <a:latin typeface="Cambria Math" panose="02040503050406030204" pitchFamily="18" charset="0"/>
                        </a:rPr>
                        <m:t>𝒋</m:t>
                      </m:r>
                      <m:r>
                        <a:rPr lang="zh-CN" altLang="en-US" sz="2800" b="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𝑧</m:t>
                          </m:r>
                        </m:sub>
                      </m:sSub>
                      <m:r>
                        <a:rPr lang="zh-CN" altLang="en-US" sz="2800" b="1" i="1">
                          <a:latin typeface="Cambria Math" panose="02040503050406030204" pitchFamily="18" charset="0"/>
                        </a:rPr>
                        <m:t>𝒌</m:t>
                      </m:r>
                      <m:r>
                        <a:rPr lang="zh-CN" altLang="en-US" sz="2800" b="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𝑥</m:t>
                          </m:r>
                        </m:sub>
                      </m:sSub>
                      <m:r>
                        <a:rPr lang="zh-CN" altLang="en-US" sz="2800" b="1" i="1">
                          <a:latin typeface="Cambria Math" panose="02040503050406030204" pitchFamily="18" charset="0"/>
                        </a:rPr>
                        <m:t>𝒊</m:t>
                      </m:r>
                      <m:r>
                        <a:rPr lang="zh-CN" altLang="en-US" sz="2800" b="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𝑦</m:t>
                          </m:r>
                        </m:sub>
                      </m:sSub>
                      <m:r>
                        <a:rPr lang="zh-CN" altLang="en-US" sz="2800" b="1" i="1">
                          <a:latin typeface="Cambria Math" panose="02040503050406030204" pitchFamily="18" charset="0"/>
                        </a:rPr>
                        <m:t>𝒋</m:t>
                      </m:r>
                      <m:r>
                        <a:rPr lang="zh-CN" altLang="en-US" sz="2800" b="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𝑧</m:t>
                          </m:r>
                        </m:sub>
                      </m:sSub>
                      <m:r>
                        <a:rPr lang="zh-CN" altLang="en-US" sz="2800" b="1" i="1">
                          <a:latin typeface="Cambria Math" panose="02040503050406030204" pitchFamily="18" charset="0"/>
                        </a:rPr>
                        <m:t>𝒌</m:t>
                      </m:r>
                      <m:r>
                        <a:rPr lang="zh-CN" altLang="en-US" sz="2800" b="0" i="1">
                          <a:latin typeface="Cambria Math" panose="02040503050406030204" pitchFamily="18" charset="0"/>
                        </a:rPr>
                        <m:t>)</m:t>
                      </m:r>
                    </m:oMath>
                  </m:oMathPara>
                </a14:m>
                <a:endParaRPr lang="zh-CN" altLang="en-US" sz="2800" i="1" dirty="0">
                  <a:latin typeface="Cambria Math" panose="02040503050406030204" pitchFamily="18" charset="0"/>
                </a:endParaRPr>
              </a:p>
            </p:txBody>
          </p:sp>
        </mc:Choice>
        <mc:Fallback xmlns="">
          <p:sp>
            <p:nvSpPr>
              <p:cNvPr id="11296" name="Object 32"/>
              <p:cNvSpPr txBox="1">
                <a:spLocks noRot="1" noChangeAspect="1" noMove="1" noResize="1" noEditPoints="1" noAdjustHandles="1" noChangeArrowheads="1" noChangeShapeType="1" noTextEdit="1"/>
              </p:cNvSpPr>
              <p:nvPr/>
            </p:nvSpPr>
            <p:spPr bwMode="auto">
              <a:xfrm>
                <a:off x="2645755" y="2559120"/>
                <a:ext cx="7558599" cy="619125"/>
              </a:xfrm>
              <a:prstGeom prst="rect">
                <a:avLst/>
              </a:prstGeom>
              <a:blipFill>
                <a:blip r:embed="rId4"/>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299" name="Object 35"/>
              <p:cNvSpPr txBox="1"/>
              <p:nvPr/>
            </p:nvSpPr>
            <p:spPr bwMode="auto">
              <a:xfrm>
                <a:off x="3400232" y="3105150"/>
                <a:ext cx="6841049" cy="1889125"/>
              </a:xfrm>
              <a:prstGeom prst="rect">
                <a:avLst/>
              </a:prstGeom>
              <a:noFill/>
              <a:ln>
                <a:noFill/>
              </a:ln>
              <a:effectLst/>
            </p:spPr>
            <p:txBody>
              <a:bodyPr>
                <a:noAutofit/>
              </a:bodyPr>
              <a:lstStyle/>
              <a:p>
                <a:pPr>
                  <a:lnSpc>
                    <a:spcPct val="130000"/>
                  </a:lnSpc>
                </a:pPr>
                <a14:m>
                  <m:oMathPara xmlns:m="http://schemas.openxmlformats.org/officeDocument/2006/math">
                    <m:oMathParaPr>
                      <m:jc m:val="left"/>
                    </m:oMathParaPr>
                    <m:oMath xmlns:m="http://schemas.openxmlformats.org/officeDocument/2006/math">
                      <m:r>
                        <a:rPr lang="zh-CN" altLang="en-US" sz="2800" b="0" i="1" smtClean="0">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𝑥</m:t>
                          </m:r>
                        </m:sub>
                      </m:sSub>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𝑥</m:t>
                          </m:r>
                        </m:sub>
                      </m:sSub>
                      <m:r>
                        <a:rPr lang="zh-CN" altLang="en-US" sz="2800" b="1" i="1">
                          <a:latin typeface="Cambria Math" panose="02040503050406030204" pitchFamily="18" charset="0"/>
                        </a:rPr>
                        <m:t>𝒊</m:t>
                      </m:r>
                      <m:r>
                        <a:rPr lang="zh-CN" altLang="en-US" sz="2800" b="1" i="1">
                          <a:latin typeface="Cambria Math" panose="02040503050406030204" pitchFamily="18" charset="0"/>
                        </a:rPr>
                        <m:t>⋅</m:t>
                      </m:r>
                      <m:r>
                        <a:rPr lang="zh-CN" altLang="en-US" sz="2800" b="1" i="1">
                          <a:latin typeface="Cambria Math" panose="02040503050406030204" pitchFamily="18" charset="0"/>
                        </a:rPr>
                        <m:t>𝒊</m:t>
                      </m:r>
                      <m:r>
                        <a:rPr lang="zh-CN" altLang="en-US" sz="2800" b="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𝑥</m:t>
                          </m:r>
                        </m:sub>
                      </m:sSub>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𝑦</m:t>
                          </m:r>
                        </m:sub>
                      </m:sSub>
                      <m:r>
                        <a:rPr lang="zh-CN" altLang="en-US" sz="2800" b="1" i="1">
                          <a:latin typeface="Cambria Math" panose="02040503050406030204" pitchFamily="18" charset="0"/>
                        </a:rPr>
                        <m:t>𝒊</m:t>
                      </m:r>
                      <m:r>
                        <a:rPr lang="zh-CN" altLang="en-US" sz="2800" b="1" i="1">
                          <a:latin typeface="Cambria Math" panose="02040503050406030204" pitchFamily="18" charset="0"/>
                        </a:rPr>
                        <m:t>⋅</m:t>
                      </m:r>
                      <m:r>
                        <a:rPr lang="zh-CN" altLang="en-US" sz="2800" b="1" i="1">
                          <a:latin typeface="Cambria Math" panose="02040503050406030204" pitchFamily="18" charset="0"/>
                        </a:rPr>
                        <m:t>𝒋</m:t>
                      </m:r>
                      <m:r>
                        <a:rPr lang="zh-CN" altLang="en-US" sz="2800" b="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𝑥</m:t>
                          </m:r>
                        </m:sub>
                      </m:sSub>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𝑧</m:t>
                          </m:r>
                        </m:sub>
                      </m:sSub>
                      <m:r>
                        <a:rPr lang="zh-CN" altLang="en-US" sz="2800" b="1" i="1">
                          <a:latin typeface="Cambria Math" panose="02040503050406030204" pitchFamily="18" charset="0"/>
                        </a:rPr>
                        <m:t>𝒊</m:t>
                      </m:r>
                      <m:r>
                        <a:rPr lang="zh-CN" altLang="en-US" sz="2800" b="1" i="1">
                          <a:latin typeface="Cambria Math" panose="02040503050406030204" pitchFamily="18" charset="0"/>
                        </a:rPr>
                        <m:t>⋅</m:t>
                      </m:r>
                      <m:r>
                        <a:rPr lang="zh-CN" altLang="en-US" sz="2800" b="1" i="1">
                          <a:latin typeface="Cambria Math" panose="02040503050406030204" pitchFamily="18" charset="0"/>
                        </a:rPr>
                        <m:t>𝒌</m:t>
                      </m:r>
                      <m:r>
                        <a:rPr lang="en-US" altLang="zh-CN" sz="2800" i="1">
                          <a:latin typeface="Cambria Math" panose="02040503050406030204" pitchFamily="18" charset="0"/>
                        </a:rPr>
                        <m:t>+</m:t>
                      </m:r>
                    </m:oMath>
                    <m:oMath xmlns:m="http://schemas.openxmlformats.org/officeDocument/2006/math">
                      <m:sSub>
                        <m:sSubPr>
                          <m:ctrlPr>
                            <a:rPr lang="zh-CN" altLang="en-US" sz="2800" i="1">
                              <a:latin typeface="Cambria Math" panose="02040503050406030204" pitchFamily="18" charset="0"/>
                            </a:rPr>
                          </m:ctrlPr>
                        </m:sSubPr>
                        <m:e>
                          <m:r>
                            <a:rPr lang="en-US" altLang="zh-CN" sz="2800" b="0" i="1" smtClean="0">
                              <a:latin typeface="Cambria Math" panose="02040503050406030204" pitchFamily="18" charset="0"/>
                            </a:rPr>
                            <m:t>     </m:t>
                          </m:r>
                          <m:r>
                            <a:rPr lang="zh-CN" altLang="en-US" sz="2800" b="0" i="1">
                              <a:latin typeface="Cambria Math" panose="02040503050406030204" pitchFamily="18" charset="0"/>
                            </a:rPr>
                            <m:t>𝑎</m:t>
                          </m:r>
                        </m:e>
                        <m:sub>
                          <m:r>
                            <a:rPr lang="zh-CN" altLang="en-US" sz="2800" b="0" i="1">
                              <a:latin typeface="Cambria Math" panose="02040503050406030204" pitchFamily="18" charset="0"/>
                            </a:rPr>
                            <m:t>𝑦</m:t>
                          </m:r>
                        </m:sub>
                      </m:sSub>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𝑥</m:t>
                          </m:r>
                        </m:sub>
                      </m:sSub>
                      <m:r>
                        <a:rPr lang="zh-CN" altLang="en-US" sz="2800" b="1" i="1">
                          <a:latin typeface="Cambria Math" panose="02040503050406030204" pitchFamily="18" charset="0"/>
                        </a:rPr>
                        <m:t>𝒋</m:t>
                      </m:r>
                      <m:r>
                        <a:rPr lang="zh-CN" altLang="en-US" sz="2800" b="1" i="1">
                          <a:latin typeface="Cambria Math" panose="02040503050406030204" pitchFamily="18" charset="0"/>
                        </a:rPr>
                        <m:t>⋅</m:t>
                      </m:r>
                      <m:r>
                        <a:rPr lang="zh-CN" altLang="en-US" sz="2800" b="1" i="1">
                          <a:latin typeface="Cambria Math" panose="02040503050406030204" pitchFamily="18" charset="0"/>
                        </a:rPr>
                        <m:t>𝒊</m:t>
                      </m:r>
                      <m:r>
                        <a:rPr lang="zh-CN" altLang="en-US" sz="2800" b="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𝑦</m:t>
                          </m:r>
                        </m:sub>
                      </m:sSub>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𝑦</m:t>
                          </m:r>
                        </m:sub>
                      </m:sSub>
                      <m:r>
                        <a:rPr lang="zh-CN" altLang="en-US" sz="2800" b="1" i="1">
                          <a:latin typeface="Cambria Math" panose="02040503050406030204" pitchFamily="18" charset="0"/>
                        </a:rPr>
                        <m:t>𝒋</m:t>
                      </m:r>
                      <m:r>
                        <a:rPr lang="zh-CN" altLang="en-US" sz="2800" b="1" i="1">
                          <a:latin typeface="Cambria Math" panose="02040503050406030204" pitchFamily="18" charset="0"/>
                        </a:rPr>
                        <m:t>⋅</m:t>
                      </m:r>
                      <m:r>
                        <a:rPr lang="zh-CN" altLang="en-US" sz="2800" b="1" i="1">
                          <a:latin typeface="Cambria Math" panose="02040503050406030204" pitchFamily="18" charset="0"/>
                        </a:rPr>
                        <m:t>𝒋</m:t>
                      </m:r>
                      <m:r>
                        <a:rPr lang="zh-CN" altLang="en-US" sz="2800" b="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𝑦</m:t>
                          </m:r>
                        </m:sub>
                      </m:sSub>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𝑧</m:t>
                          </m:r>
                        </m:sub>
                      </m:sSub>
                      <m:r>
                        <a:rPr lang="zh-CN" altLang="en-US" sz="2800" b="1" i="1">
                          <a:latin typeface="Cambria Math" panose="02040503050406030204" pitchFamily="18" charset="0"/>
                        </a:rPr>
                        <m:t>𝒋</m:t>
                      </m:r>
                      <m:r>
                        <a:rPr lang="zh-CN" altLang="en-US" sz="2800" b="1" i="1">
                          <a:latin typeface="Cambria Math" panose="02040503050406030204" pitchFamily="18" charset="0"/>
                        </a:rPr>
                        <m:t>⋅</m:t>
                      </m:r>
                      <m:r>
                        <a:rPr lang="zh-CN" altLang="en-US" sz="2800" b="1" i="1">
                          <a:latin typeface="Cambria Math" panose="02040503050406030204" pitchFamily="18" charset="0"/>
                        </a:rPr>
                        <m:t>𝒌</m:t>
                      </m:r>
                      <m:r>
                        <a:rPr lang="en-US" altLang="zh-CN" sz="2800" i="1">
                          <a:latin typeface="Cambria Math" panose="02040503050406030204" pitchFamily="18" charset="0"/>
                        </a:rPr>
                        <m:t>+</m:t>
                      </m:r>
                    </m:oMath>
                    <m:oMath xmlns:m="http://schemas.openxmlformats.org/officeDocument/2006/math">
                      <m:sSub>
                        <m:sSubPr>
                          <m:ctrlPr>
                            <a:rPr lang="zh-CN" altLang="en-US" sz="2800" i="1">
                              <a:latin typeface="Cambria Math" panose="02040503050406030204" pitchFamily="18" charset="0"/>
                            </a:rPr>
                          </m:ctrlPr>
                        </m:sSubPr>
                        <m:e>
                          <m:r>
                            <a:rPr lang="en-US" altLang="zh-CN" sz="2800" b="0" i="1" smtClean="0">
                              <a:latin typeface="Cambria Math" panose="02040503050406030204" pitchFamily="18" charset="0"/>
                            </a:rPr>
                            <m:t>     </m:t>
                          </m:r>
                          <m:r>
                            <a:rPr lang="zh-CN" altLang="en-US" sz="2800" b="0" i="1">
                              <a:latin typeface="Cambria Math" panose="02040503050406030204" pitchFamily="18" charset="0"/>
                            </a:rPr>
                            <m:t>𝑎</m:t>
                          </m:r>
                        </m:e>
                        <m:sub>
                          <m:r>
                            <a:rPr lang="zh-CN" altLang="en-US" sz="2800" b="0" i="1">
                              <a:latin typeface="Cambria Math" panose="02040503050406030204" pitchFamily="18" charset="0"/>
                            </a:rPr>
                            <m:t>𝑧</m:t>
                          </m:r>
                        </m:sub>
                      </m:sSub>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𝑥</m:t>
                          </m:r>
                        </m:sub>
                      </m:sSub>
                      <m:r>
                        <a:rPr lang="zh-CN" altLang="en-US" sz="2800" b="1" i="1">
                          <a:latin typeface="Cambria Math" panose="02040503050406030204" pitchFamily="18" charset="0"/>
                        </a:rPr>
                        <m:t>𝒌</m:t>
                      </m:r>
                      <m:r>
                        <a:rPr lang="zh-CN" altLang="en-US" sz="2800" b="1" i="1">
                          <a:latin typeface="Cambria Math" panose="02040503050406030204" pitchFamily="18" charset="0"/>
                        </a:rPr>
                        <m:t>⋅</m:t>
                      </m:r>
                      <m:r>
                        <a:rPr lang="zh-CN" altLang="en-US" sz="2800" b="1" i="1">
                          <a:latin typeface="Cambria Math" panose="02040503050406030204" pitchFamily="18" charset="0"/>
                        </a:rPr>
                        <m:t>𝒊</m:t>
                      </m:r>
                      <m:r>
                        <a:rPr lang="zh-CN" altLang="en-US" sz="2800" b="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𝑧</m:t>
                          </m:r>
                        </m:sub>
                      </m:sSub>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𝑦</m:t>
                          </m:r>
                        </m:sub>
                      </m:sSub>
                      <m:r>
                        <a:rPr lang="zh-CN" altLang="en-US" sz="2800" b="1" i="1">
                          <a:latin typeface="Cambria Math" panose="02040503050406030204" pitchFamily="18" charset="0"/>
                        </a:rPr>
                        <m:t>𝒌</m:t>
                      </m:r>
                      <m:r>
                        <a:rPr lang="zh-CN" altLang="en-US" sz="2800" b="1" i="1">
                          <a:latin typeface="Cambria Math" panose="02040503050406030204" pitchFamily="18" charset="0"/>
                        </a:rPr>
                        <m:t>⋅</m:t>
                      </m:r>
                      <m:r>
                        <a:rPr lang="zh-CN" altLang="en-US" sz="2800" b="1" i="1">
                          <a:latin typeface="Cambria Math" panose="02040503050406030204" pitchFamily="18" charset="0"/>
                        </a:rPr>
                        <m:t>𝒋</m:t>
                      </m:r>
                      <m:r>
                        <a:rPr lang="zh-CN" altLang="en-US" sz="2800" b="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𝑧</m:t>
                          </m:r>
                        </m:sub>
                      </m:sSub>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𝑧</m:t>
                          </m:r>
                        </m:sub>
                      </m:sSub>
                      <m:r>
                        <a:rPr lang="zh-CN" altLang="en-US" sz="2800" b="1" i="1">
                          <a:latin typeface="Cambria Math" panose="02040503050406030204" pitchFamily="18" charset="0"/>
                        </a:rPr>
                        <m:t>𝒌</m:t>
                      </m:r>
                      <m:r>
                        <a:rPr lang="zh-CN" altLang="en-US" sz="2800" b="1" i="1">
                          <a:latin typeface="Cambria Math" panose="02040503050406030204" pitchFamily="18" charset="0"/>
                        </a:rPr>
                        <m:t>⋅</m:t>
                      </m:r>
                      <m:r>
                        <a:rPr lang="zh-CN" altLang="en-US" sz="2800" b="1" i="1">
                          <a:latin typeface="Cambria Math" panose="02040503050406030204" pitchFamily="18" charset="0"/>
                        </a:rPr>
                        <m:t>𝒌</m:t>
                      </m:r>
                      <m:r>
                        <a:rPr lang="en-US" altLang="zh-CN" sz="2800" b="1" i="1" smtClean="0">
                          <a:latin typeface="Cambria Math" panose="02040503050406030204" pitchFamily="18" charset="0"/>
                        </a:rPr>
                        <m:t>.</m:t>
                      </m:r>
                    </m:oMath>
                  </m:oMathPara>
                </a14:m>
                <a:endParaRPr lang="zh-CN" altLang="en-US" sz="2800" b="1" i="1" dirty="0">
                  <a:latin typeface="Cambria Math" panose="02040503050406030204" pitchFamily="18" charset="0"/>
                </a:endParaRPr>
              </a:p>
            </p:txBody>
          </p:sp>
        </mc:Choice>
        <mc:Fallback xmlns="">
          <p:sp>
            <p:nvSpPr>
              <p:cNvPr id="11299" name="Object 35"/>
              <p:cNvSpPr txBox="1">
                <a:spLocks noRot="1" noChangeAspect="1" noMove="1" noResize="1" noEditPoints="1" noAdjustHandles="1" noChangeArrowheads="1" noChangeShapeType="1" noTextEdit="1"/>
              </p:cNvSpPr>
              <p:nvPr/>
            </p:nvSpPr>
            <p:spPr bwMode="auto">
              <a:xfrm>
                <a:off x="3400232" y="3105150"/>
                <a:ext cx="6841049" cy="1889125"/>
              </a:xfrm>
              <a:prstGeom prst="rect">
                <a:avLst/>
              </a:prstGeom>
              <a:blipFill>
                <a:blip r:embed="rId5"/>
                <a:stretch>
                  <a:fillRect/>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11084360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91"/>
                                        </p:tgtEl>
                                        <p:attrNameLst>
                                          <p:attrName>style.visibility</p:attrName>
                                        </p:attrNameLst>
                                      </p:cBhvr>
                                      <p:to>
                                        <p:strVal val="visible"/>
                                      </p:to>
                                    </p:set>
                                    <p:animEffect transition="in" filter="wipe(left)">
                                      <p:cBhvr>
                                        <p:cTn id="7" dur="500"/>
                                        <p:tgtEl>
                                          <p:spTgt spid="1129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292"/>
                                        </p:tgtEl>
                                        <p:attrNameLst>
                                          <p:attrName>style.visibility</p:attrName>
                                        </p:attrNameLst>
                                      </p:cBhvr>
                                      <p:to>
                                        <p:strVal val="visible"/>
                                      </p:to>
                                    </p:set>
                                    <p:animEffect transition="in" filter="wipe(left)">
                                      <p:cBhvr>
                                        <p:cTn id="12" dur="500"/>
                                        <p:tgtEl>
                                          <p:spTgt spid="1129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293">
                                            <p:txEl>
                                              <p:pRg st="0" end="0"/>
                                            </p:txEl>
                                          </p:spTgt>
                                        </p:tgtEl>
                                        <p:attrNameLst>
                                          <p:attrName>style.visibility</p:attrName>
                                        </p:attrNameLst>
                                      </p:cBhvr>
                                      <p:to>
                                        <p:strVal val="visible"/>
                                      </p:to>
                                    </p:set>
                                    <p:animEffect transition="in" filter="wipe(left)">
                                      <p:cBhvr>
                                        <p:cTn id="17" dur="500"/>
                                        <p:tgtEl>
                                          <p:spTgt spid="1129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295"/>
                                        </p:tgtEl>
                                        <p:attrNameLst>
                                          <p:attrName>style.visibility</p:attrName>
                                        </p:attrNameLst>
                                      </p:cBhvr>
                                      <p:to>
                                        <p:strVal val="visible"/>
                                      </p:to>
                                    </p:set>
                                    <p:animEffect transition="in" filter="wipe(left)">
                                      <p:cBhvr>
                                        <p:cTn id="22" dur="500"/>
                                        <p:tgtEl>
                                          <p:spTgt spid="1129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296"/>
                                        </p:tgtEl>
                                        <p:attrNameLst>
                                          <p:attrName>style.visibility</p:attrName>
                                        </p:attrNameLst>
                                      </p:cBhvr>
                                      <p:to>
                                        <p:strVal val="visible"/>
                                      </p:to>
                                    </p:set>
                                    <p:animEffect transition="in" filter="wipe(left)">
                                      <p:cBhvr>
                                        <p:cTn id="27" dur="500"/>
                                        <p:tgtEl>
                                          <p:spTgt spid="1129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299"/>
                                        </p:tgtEl>
                                        <p:attrNameLst>
                                          <p:attrName>style.visibility</p:attrName>
                                        </p:attrNameLst>
                                      </p:cBhvr>
                                      <p:to>
                                        <p:strVal val="visible"/>
                                      </p:to>
                                    </p:set>
                                    <p:animEffect transition="in" filter="wipe(left)">
                                      <p:cBhvr>
                                        <p:cTn id="32" dur="500"/>
                                        <p:tgtEl>
                                          <p:spTgt spid="112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91" grpId="0"/>
      <p:bldP spid="11292" grpId="0"/>
      <p:bldP spid="11293" grpId="0" build="p"/>
      <p:bldP spid="11295" grpId="0"/>
      <p:bldP spid="11296" grpId="0"/>
      <p:bldP spid="1129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E3817786-5566-BA0A-C7CB-6CEFBACF48B9}"/>
              </a:ext>
            </a:extLst>
          </p:cNvPr>
          <p:cNvGrpSpPr/>
          <p:nvPr/>
        </p:nvGrpSpPr>
        <p:grpSpPr>
          <a:xfrm>
            <a:off x="532130" y="516952"/>
            <a:ext cx="11149330" cy="5612130"/>
            <a:chOff x="838" y="907"/>
            <a:chExt cx="17558" cy="8838"/>
          </a:xfrm>
        </p:grpSpPr>
        <p:sp>
          <p:nvSpPr>
            <p:cNvPr id="9" name="PA-102232">
              <a:extLst>
                <a:ext uri="{FF2B5EF4-FFF2-40B4-BE49-F238E27FC236}">
                  <a16:creationId xmlns:a16="http://schemas.microsoft.com/office/drawing/2014/main" id="{54A054CF-F474-32D9-56A9-9CB4A1E1E3EC}"/>
                </a:ext>
              </a:extLst>
            </p:cNvPr>
            <p:cNvSpPr/>
            <p:nvPr>
              <p:custDataLst>
                <p:tags r:id="rId1"/>
              </p:custDataLst>
            </p:nvPr>
          </p:nvSpPr>
          <p:spPr>
            <a:xfrm>
              <a:off x="872" y="907"/>
              <a:ext cx="17524" cy="8826"/>
            </a:xfrm>
            <a:prstGeom prst="rect">
              <a:avLst/>
            </a:prstGeom>
            <a:solidFill>
              <a:schemeClr val="bg1"/>
            </a:solidFill>
            <a:ln>
              <a:noFill/>
            </a:ln>
            <a:effectLst>
              <a:outerShdw blurRad="393700" dist="889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6BB6"/>
                </a:solidFill>
                <a:cs typeface="+mn-ea"/>
                <a:sym typeface="+mn-lt"/>
              </a:endParaRPr>
            </a:p>
          </p:txBody>
        </p:sp>
        <p:grpSp>
          <p:nvGrpSpPr>
            <p:cNvPr id="10" name="组合 9">
              <a:extLst>
                <a:ext uri="{FF2B5EF4-FFF2-40B4-BE49-F238E27FC236}">
                  <a16:creationId xmlns:a16="http://schemas.microsoft.com/office/drawing/2014/main" id="{73A896DF-960C-0BCD-8368-FFDEFB131C57}"/>
                </a:ext>
              </a:extLst>
            </p:cNvPr>
            <p:cNvGrpSpPr/>
            <p:nvPr/>
          </p:nvGrpSpPr>
          <p:grpSpPr>
            <a:xfrm>
              <a:off x="838" y="9635"/>
              <a:ext cx="17558" cy="110"/>
              <a:chOff x="838" y="9635"/>
              <a:chExt cx="17558" cy="110"/>
            </a:xfrm>
          </p:grpSpPr>
          <p:sp>
            <p:nvSpPr>
              <p:cNvPr id="11" name="Rectangle 1">
                <a:extLst>
                  <a:ext uri="{FF2B5EF4-FFF2-40B4-BE49-F238E27FC236}">
                    <a16:creationId xmlns:a16="http://schemas.microsoft.com/office/drawing/2014/main" id="{C0D786AF-1267-09D4-C638-C7F4D60AB125}"/>
                  </a:ext>
                </a:extLst>
              </p:cNvPr>
              <p:cNvSpPr/>
              <p:nvPr/>
            </p:nvSpPr>
            <p:spPr>
              <a:xfrm>
                <a:off x="5321" y="9650"/>
                <a:ext cx="4286" cy="83"/>
              </a:xfrm>
              <a:prstGeom prst="rect">
                <a:avLst/>
              </a:prstGeom>
              <a:solidFill>
                <a:schemeClr val="bg1"/>
              </a:solidFill>
              <a:ln w="3175" cap="flat" cmpd="sng" algn="ctr">
                <a:solidFill>
                  <a:srgbClr val="0492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2" name="Rectangle 1">
                <a:extLst>
                  <a:ext uri="{FF2B5EF4-FFF2-40B4-BE49-F238E27FC236}">
                    <a16:creationId xmlns:a16="http://schemas.microsoft.com/office/drawing/2014/main" id="{7EC76745-9A7C-5770-329C-AB50D23C01A0}"/>
                  </a:ext>
                </a:extLst>
              </p:cNvPr>
              <p:cNvSpPr/>
              <p:nvPr/>
            </p:nvSpPr>
            <p:spPr>
              <a:xfrm>
                <a:off x="838" y="9650"/>
                <a:ext cx="4483" cy="83"/>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3" name="Rectangle 1">
                <a:extLst>
                  <a:ext uri="{FF2B5EF4-FFF2-40B4-BE49-F238E27FC236}">
                    <a16:creationId xmlns:a16="http://schemas.microsoft.com/office/drawing/2014/main" id="{9A0414A0-022B-63DE-B5EB-B46173B923D0}"/>
                  </a:ext>
                </a:extLst>
              </p:cNvPr>
              <p:cNvSpPr/>
              <p:nvPr/>
            </p:nvSpPr>
            <p:spPr>
              <a:xfrm>
                <a:off x="9602" y="9635"/>
                <a:ext cx="8794" cy="111"/>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p:sp>
        <p:nvSpPr>
          <p:cNvPr id="12315" name="Text Box 27"/>
          <p:cNvSpPr txBox="1">
            <a:spLocks noChangeArrowheads="1"/>
          </p:cNvSpPr>
          <p:nvPr/>
        </p:nvSpPr>
        <p:spPr bwMode="auto">
          <a:xfrm>
            <a:off x="1834661" y="1677358"/>
            <a:ext cx="1066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dirty="0"/>
              <a:t>因为</a:t>
            </a:r>
          </a:p>
        </p:txBody>
      </p:sp>
      <mc:AlternateContent xmlns:mc="http://schemas.openxmlformats.org/markup-compatibility/2006" xmlns:a14="http://schemas.microsoft.com/office/drawing/2010/main">
        <mc:Choice Requires="a14">
          <p:sp>
            <p:nvSpPr>
              <p:cNvPr id="12316" name="Object 28"/>
              <p:cNvSpPr txBox="1"/>
              <p:nvPr/>
            </p:nvSpPr>
            <p:spPr bwMode="auto">
              <a:xfrm>
                <a:off x="3250713" y="1693237"/>
                <a:ext cx="3988288" cy="52228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b="1" i="1">
                          <a:latin typeface="Cambria Math" panose="02040503050406030204" pitchFamily="18" charset="0"/>
                        </a:rPr>
                        <m:t>𝒊</m:t>
                      </m:r>
                      <m:r>
                        <a:rPr lang="zh-CN" altLang="en-US" sz="2800" b="0" i="1">
                          <a:latin typeface="Cambria Math" panose="02040503050406030204" pitchFamily="18" charset="0"/>
                        </a:rPr>
                        <m:t>⋅</m:t>
                      </m:r>
                      <m:r>
                        <a:rPr lang="zh-CN" altLang="en-US" sz="2800" b="1" i="1">
                          <a:latin typeface="Cambria Math" panose="02040503050406030204" pitchFamily="18" charset="0"/>
                        </a:rPr>
                        <m:t>𝒊</m:t>
                      </m:r>
                      <m:r>
                        <a:rPr lang="zh-CN" altLang="en-US" sz="2800" b="0" i="1">
                          <a:latin typeface="Cambria Math" panose="02040503050406030204" pitchFamily="18" charset="0"/>
                        </a:rPr>
                        <m:t>=</m:t>
                      </m:r>
                      <m:r>
                        <a:rPr lang="zh-CN" altLang="en-US" sz="2800" b="1" i="1">
                          <a:latin typeface="Cambria Math" panose="02040503050406030204" pitchFamily="18" charset="0"/>
                        </a:rPr>
                        <m:t>𝒋</m:t>
                      </m:r>
                      <m:r>
                        <a:rPr lang="zh-CN" altLang="en-US" sz="2800" b="0" i="1">
                          <a:latin typeface="Cambria Math" panose="02040503050406030204" pitchFamily="18" charset="0"/>
                        </a:rPr>
                        <m:t>⋅</m:t>
                      </m:r>
                      <m:r>
                        <a:rPr lang="zh-CN" altLang="en-US" sz="2800" b="1" i="1">
                          <a:latin typeface="Cambria Math" panose="02040503050406030204" pitchFamily="18" charset="0"/>
                        </a:rPr>
                        <m:t>𝒋</m:t>
                      </m:r>
                      <m:r>
                        <a:rPr lang="zh-CN" altLang="en-US" sz="2800" b="0" i="1">
                          <a:latin typeface="Cambria Math" panose="02040503050406030204" pitchFamily="18" charset="0"/>
                        </a:rPr>
                        <m:t>=</m:t>
                      </m:r>
                      <m:r>
                        <a:rPr lang="zh-CN" altLang="en-US" sz="2800" b="1" i="1">
                          <a:latin typeface="Cambria Math" panose="02040503050406030204" pitchFamily="18" charset="0"/>
                        </a:rPr>
                        <m:t>𝒌</m:t>
                      </m:r>
                      <m:r>
                        <a:rPr lang="zh-CN" altLang="en-US" sz="2800" b="0" i="1">
                          <a:latin typeface="Cambria Math" panose="02040503050406030204" pitchFamily="18" charset="0"/>
                        </a:rPr>
                        <m:t>⋅</m:t>
                      </m:r>
                      <m:r>
                        <a:rPr lang="zh-CN" altLang="en-US" sz="2800" b="1" i="1">
                          <a:latin typeface="Cambria Math" panose="02040503050406030204" pitchFamily="18" charset="0"/>
                        </a:rPr>
                        <m:t>𝒌</m:t>
                      </m:r>
                      <m:r>
                        <a:rPr lang="zh-CN" altLang="en-US" sz="2800" b="0" i="1">
                          <a:latin typeface="Cambria Math" panose="02040503050406030204" pitchFamily="18" charset="0"/>
                        </a:rPr>
                        <m:t>=1,</m:t>
                      </m:r>
                    </m:oMath>
                  </m:oMathPara>
                </a14:m>
                <a:endParaRPr lang="zh-CN" altLang="en-US" sz="2800" i="1" dirty="0">
                  <a:latin typeface="Cambria Math" panose="02040503050406030204" pitchFamily="18" charset="0"/>
                </a:endParaRPr>
              </a:p>
            </p:txBody>
          </p:sp>
        </mc:Choice>
        <mc:Fallback xmlns="">
          <p:sp>
            <p:nvSpPr>
              <p:cNvPr id="12316" name="Object 28"/>
              <p:cNvSpPr txBox="1">
                <a:spLocks noRot="1" noChangeAspect="1" noMove="1" noResize="1" noEditPoints="1" noAdjustHandles="1" noChangeArrowheads="1" noChangeShapeType="1" noTextEdit="1"/>
              </p:cNvSpPr>
              <p:nvPr/>
            </p:nvSpPr>
            <p:spPr bwMode="auto">
              <a:xfrm>
                <a:off x="3250713" y="1693237"/>
                <a:ext cx="3988288" cy="522288"/>
              </a:xfrm>
              <a:prstGeom prst="rect">
                <a:avLst/>
              </a:prstGeom>
              <a:blipFill>
                <a:blip r:embed="rId3"/>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321" name="Object 33"/>
              <p:cNvSpPr txBox="1">
                <a:spLocks noGrp="1"/>
              </p:cNvSpPr>
              <p:nvPr>
                <p:ph/>
              </p:nvPr>
            </p:nvSpPr>
            <p:spPr bwMode="auto">
              <a:xfrm>
                <a:off x="3250713" y="2456927"/>
                <a:ext cx="6756889" cy="487363"/>
              </a:xfrm>
              <a:prstGeom prst="rect">
                <a:avLst/>
              </a:prstGeom>
              <a:noFill/>
              <a:ln>
                <a:noFill/>
              </a:ln>
              <a:effectLst/>
            </p:spPr>
            <p:txBody>
              <a:bodyPr>
                <a:noAutofit/>
              </a:bodyPr>
              <a:lstStyle/>
              <a:p>
                <a:pPr marL="0">
                  <a:buNone/>
                </a:pPr>
                <a14:m>
                  <m:oMathPara xmlns:m="http://schemas.openxmlformats.org/officeDocument/2006/math">
                    <m:oMathParaPr>
                      <m:jc m:val="left"/>
                    </m:oMathParaPr>
                    <m:oMath xmlns:m="http://schemas.openxmlformats.org/officeDocument/2006/math">
                      <m:r>
                        <a:rPr lang="zh-CN" altLang="en-US" b="1" i="1">
                          <a:latin typeface="Cambria Math" panose="02040503050406030204" pitchFamily="18" charset="0"/>
                        </a:rPr>
                        <m:t>𝒊</m:t>
                      </m:r>
                      <m:r>
                        <a:rPr lang="zh-CN" altLang="en-US" b="0" i="1">
                          <a:latin typeface="Cambria Math" panose="02040503050406030204" pitchFamily="18" charset="0"/>
                        </a:rPr>
                        <m:t>⋅</m:t>
                      </m:r>
                      <m:r>
                        <a:rPr lang="zh-CN" altLang="en-US" b="1" i="1">
                          <a:latin typeface="Cambria Math" panose="02040503050406030204" pitchFamily="18" charset="0"/>
                        </a:rPr>
                        <m:t>𝒋</m:t>
                      </m:r>
                      <m:r>
                        <a:rPr lang="zh-CN" altLang="en-US" b="0" i="1">
                          <a:latin typeface="Cambria Math" panose="02040503050406030204" pitchFamily="18" charset="0"/>
                        </a:rPr>
                        <m:t>=</m:t>
                      </m:r>
                      <m:r>
                        <a:rPr lang="zh-CN" altLang="en-US" b="1" i="1">
                          <a:latin typeface="Cambria Math" panose="02040503050406030204" pitchFamily="18" charset="0"/>
                        </a:rPr>
                        <m:t>𝒋</m:t>
                      </m:r>
                      <m:r>
                        <a:rPr lang="zh-CN" altLang="en-US" b="0" i="1">
                          <a:latin typeface="Cambria Math" panose="02040503050406030204" pitchFamily="18" charset="0"/>
                        </a:rPr>
                        <m:t>⋅</m:t>
                      </m:r>
                      <m:r>
                        <a:rPr lang="zh-CN" altLang="en-US" b="1" i="1">
                          <a:latin typeface="Cambria Math" panose="02040503050406030204" pitchFamily="18" charset="0"/>
                        </a:rPr>
                        <m:t>𝒊</m:t>
                      </m:r>
                      <m:r>
                        <a:rPr lang="zh-CN" altLang="en-US" b="0" i="1">
                          <a:latin typeface="Cambria Math" panose="02040503050406030204" pitchFamily="18" charset="0"/>
                        </a:rPr>
                        <m:t>=</m:t>
                      </m:r>
                      <m:r>
                        <a:rPr lang="zh-CN" altLang="en-US" b="1" i="1">
                          <a:latin typeface="Cambria Math" panose="02040503050406030204" pitchFamily="18" charset="0"/>
                        </a:rPr>
                        <m:t>𝒋</m:t>
                      </m:r>
                      <m:r>
                        <a:rPr lang="zh-CN" altLang="en-US" b="0" i="1">
                          <a:latin typeface="Cambria Math" panose="02040503050406030204" pitchFamily="18" charset="0"/>
                        </a:rPr>
                        <m:t>⋅</m:t>
                      </m:r>
                      <m:r>
                        <a:rPr lang="zh-CN" altLang="en-US" b="1" i="1">
                          <a:latin typeface="Cambria Math" panose="02040503050406030204" pitchFamily="18" charset="0"/>
                        </a:rPr>
                        <m:t>𝒌</m:t>
                      </m:r>
                      <m:r>
                        <a:rPr lang="zh-CN" altLang="en-US" b="0" i="1">
                          <a:latin typeface="Cambria Math" panose="02040503050406030204" pitchFamily="18" charset="0"/>
                        </a:rPr>
                        <m:t>=</m:t>
                      </m:r>
                      <m:r>
                        <a:rPr lang="zh-CN" altLang="en-US" b="1" i="1">
                          <a:latin typeface="Cambria Math" panose="02040503050406030204" pitchFamily="18" charset="0"/>
                        </a:rPr>
                        <m:t>𝒌</m:t>
                      </m:r>
                      <m:r>
                        <a:rPr lang="zh-CN" altLang="en-US" b="0" i="1">
                          <a:latin typeface="Cambria Math" panose="02040503050406030204" pitchFamily="18" charset="0"/>
                        </a:rPr>
                        <m:t>⋅</m:t>
                      </m:r>
                      <m:r>
                        <a:rPr lang="zh-CN" altLang="en-US" b="1" i="1">
                          <a:latin typeface="Cambria Math" panose="02040503050406030204" pitchFamily="18" charset="0"/>
                        </a:rPr>
                        <m:t>𝒋</m:t>
                      </m:r>
                      <m:r>
                        <a:rPr lang="zh-CN" altLang="en-US" b="0" i="1">
                          <a:latin typeface="Cambria Math" panose="02040503050406030204" pitchFamily="18" charset="0"/>
                        </a:rPr>
                        <m:t>=</m:t>
                      </m:r>
                      <m:r>
                        <a:rPr lang="zh-CN" altLang="en-US" b="1" i="1">
                          <a:latin typeface="Cambria Math" panose="02040503050406030204" pitchFamily="18" charset="0"/>
                        </a:rPr>
                        <m:t>𝒌</m:t>
                      </m:r>
                      <m:r>
                        <a:rPr lang="zh-CN" altLang="en-US" b="0" i="1">
                          <a:latin typeface="Cambria Math" panose="02040503050406030204" pitchFamily="18" charset="0"/>
                        </a:rPr>
                        <m:t>⋅</m:t>
                      </m:r>
                      <m:r>
                        <a:rPr lang="zh-CN" altLang="en-US" b="1" i="1">
                          <a:latin typeface="Cambria Math" panose="02040503050406030204" pitchFamily="18" charset="0"/>
                        </a:rPr>
                        <m:t>𝒊</m:t>
                      </m:r>
                      <m:r>
                        <a:rPr lang="zh-CN" altLang="en-US" b="0" i="1">
                          <a:latin typeface="Cambria Math" panose="02040503050406030204" pitchFamily="18" charset="0"/>
                        </a:rPr>
                        <m:t>=</m:t>
                      </m:r>
                      <m:r>
                        <a:rPr lang="zh-CN" altLang="en-US" b="1" i="1">
                          <a:latin typeface="Cambria Math" panose="02040503050406030204" pitchFamily="18" charset="0"/>
                        </a:rPr>
                        <m:t>𝒊</m:t>
                      </m:r>
                      <m:r>
                        <a:rPr lang="zh-CN" altLang="en-US" b="0" i="1">
                          <a:latin typeface="Cambria Math" panose="02040503050406030204" pitchFamily="18" charset="0"/>
                        </a:rPr>
                        <m:t>⋅</m:t>
                      </m:r>
                      <m:r>
                        <a:rPr lang="zh-CN" altLang="en-US" b="1" i="1">
                          <a:latin typeface="Cambria Math" panose="02040503050406030204" pitchFamily="18" charset="0"/>
                        </a:rPr>
                        <m:t>𝒌</m:t>
                      </m:r>
                      <m:r>
                        <a:rPr lang="zh-CN" altLang="en-US" b="0" i="1">
                          <a:latin typeface="Cambria Math" panose="02040503050406030204" pitchFamily="18" charset="0"/>
                        </a:rPr>
                        <m:t>=0,</m:t>
                      </m:r>
                    </m:oMath>
                  </m:oMathPara>
                </a14:m>
                <a:endParaRPr lang="zh-CN" altLang="en-US" b="0" i="1" dirty="0">
                  <a:latin typeface="Cambria Math" panose="02040503050406030204" pitchFamily="18" charset="0"/>
                </a:endParaRPr>
              </a:p>
            </p:txBody>
          </p:sp>
        </mc:Choice>
        <mc:Fallback xmlns="">
          <p:sp>
            <p:nvSpPr>
              <p:cNvPr id="12321" name="Object 33"/>
              <p:cNvSpPr txBox="1">
                <a:spLocks noGrp="1" noRot="1" noChangeAspect="1" noMove="1" noResize="1" noEditPoints="1" noAdjustHandles="1" noChangeArrowheads="1" noChangeShapeType="1" noTextEdit="1"/>
              </p:cNvSpPr>
              <p:nvPr>
                <p:ph/>
              </p:nvPr>
            </p:nvSpPr>
            <p:spPr bwMode="auto">
              <a:xfrm>
                <a:off x="3250713" y="2456927"/>
                <a:ext cx="6756889" cy="487363"/>
              </a:xfrm>
              <a:prstGeom prst="rect">
                <a:avLst/>
              </a:prstGeom>
              <a:blipFill>
                <a:blip r:embed="rId4"/>
                <a:stretch>
                  <a:fillRect/>
                </a:stretch>
              </a:blipFill>
              <a:ln>
                <a:noFill/>
              </a:ln>
              <a:effectLst/>
            </p:spPr>
            <p:txBody>
              <a:bodyPr/>
              <a:lstStyle/>
              <a:p>
                <a:r>
                  <a:rPr lang="zh-CN" altLang="en-US">
                    <a:noFill/>
                  </a:rPr>
                  <a:t> </a:t>
                </a:r>
              </a:p>
            </p:txBody>
          </p:sp>
        </mc:Fallback>
      </mc:AlternateContent>
      <p:sp>
        <p:nvSpPr>
          <p:cNvPr id="12323" name="Text Box 35"/>
          <p:cNvSpPr txBox="1">
            <a:spLocks noChangeArrowheads="1"/>
          </p:cNvSpPr>
          <p:nvPr/>
        </p:nvSpPr>
        <p:spPr bwMode="auto">
          <a:xfrm>
            <a:off x="1834661" y="3200638"/>
            <a:ext cx="675688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dirty="0"/>
              <a:t>所以得到两向量的数量积的坐标计算公式</a:t>
            </a:r>
          </a:p>
        </p:txBody>
      </p:sp>
      <mc:AlternateContent xmlns:mc="http://schemas.openxmlformats.org/markup-compatibility/2006" xmlns:a14="http://schemas.microsoft.com/office/drawing/2010/main">
        <mc:Choice Requires="a14">
          <p:sp>
            <p:nvSpPr>
              <p:cNvPr id="12324" name="Object 36"/>
              <p:cNvSpPr txBox="1"/>
              <p:nvPr/>
            </p:nvSpPr>
            <p:spPr bwMode="auto">
              <a:xfrm>
                <a:off x="3282461" y="3972732"/>
                <a:ext cx="4585189" cy="619125"/>
              </a:xfrm>
              <a:prstGeom prst="rect">
                <a:avLst/>
              </a:prstGeom>
              <a:solidFill>
                <a:srgbClr val="96D1C0"/>
              </a:solidFill>
              <a:ln w="9525">
                <a:noFill/>
                <a:miter lim="800000"/>
                <a:headEnd/>
                <a:tailEnd/>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b="1" i="1">
                          <a:latin typeface="Cambria Math" panose="02040503050406030204" pitchFamily="18" charset="0"/>
                        </a:rPr>
                        <m:t>𝒂</m:t>
                      </m:r>
                      <m:r>
                        <a:rPr lang="zh-CN" altLang="en-US" sz="2800" b="0" i="1">
                          <a:latin typeface="Cambria Math" panose="02040503050406030204" pitchFamily="18" charset="0"/>
                        </a:rPr>
                        <m:t>⋅</m:t>
                      </m:r>
                      <m:r>
                        <a:rPr lang="zh-CN" altLang="en-US" sz="2800" b="1" i="1">
                          <a:latin typeface="Cambria Math" panose="02040503050406030204" pitchFamily="18" charset="0"/>
                        </a:rPr>
                        <m:t>𝒃</m:t>
                      </m:r>
                      <m:r>
                        <a:rPr lang="zh-CN" altLang="en-US" sz="2800" b="1" i="1">
                          <a:latin typeface="Cambria Math" panose="02040503050406030204" pitchFamily="18" charset="0"/>
                        </a:rPr>
                        <m:t>=</m:t>
                      </m:r>
                      <m:sSub>
                        <m:sSubPr>
                          <m:ctrlPr>
                            <a:rPr lang="zh-CN" altLang="en-US" sz="2800" b="1" i="1">
                              <a:latin typeface="Cambria Math" panose="02040503050406030204" pitchFamily="18" charset="0"/>
                            </a:rPr>
                          </m:ctrlPr>
                        </m:sSubPr>
                        <m:e>
                          <m:r>
                            <a:rPr lang="zh-CN" altLang="en-US" sz="2800" b="1" i="1">
                              <a:latin typeface="Cambria Math" panose="02040503050406030204" pitchFamily="18" charset="0"/>
                            </a:rPr>
                            <m:t>𝑎</m:t>
                          </m:r>
                        </m:e>
                        <m:sub>
                          <m:r>
                            <a:rPr lang="zh-CN" altLang="en-US" sz="2800" b="1" i="1">
                              <a:latin typeface="Cambria Math" panose="02040503050406030204" pitchFamily="18" charset="0"/>
                            </a:rPr>
                            <m:t>𝑥</m:t>
                          </m:r>
                        </m:sub>
                      </m:sSub>
                      <m:sSub>
                        <m:sSubPr>
                          <m:ctrlPr>
                            <a:rPr lang="zh-CN" altLang="en-US" sz="2800" b="1" i="1">
                              <a:latin typeface="Cambria Math" panose="02040503050406030204" pitchFamily="18" charset="0"/>
                            </a:rPr>
                          </m:ctrlPr>
                        </m:sSubPr>
                        <m:e>
                          <m:r>
                            <a:rPr lang="zh-CN" altLang="en-US" sz="2800" b="1" i="1">
                              <a:latin typeface="Cambria Math" panose="02040503050406030204" pitchFamily="18" charset="0"/>
                            </a:rPr>
                            <m:t>𝑏</m:t>
                          </m:r>
                        </m:e>
                        <m:sub>
                          <m:r>
                            <a:rPr lang="zh-CN" altLang="en-US" sz="2800" b="1" i="1">
                              <a:latin typeface="Cambria Math" panose="02040503050406030204" pitchFamily="18" charset="0"/>
                            </a:rPr>
                            <m:t>𝑥</m:t>
                          </m:r>
                        </m:sub>
                      </m:sSub>
                      <m:r>
                        <a:rPr lang="zh-CN" altLang="en-US" sz="2800" b="1" i="1">
                          <a:latin typeface="Cambria Math" panose="02040503050406030204" pitchFamily="18" charset="0"/>
                        </a:rPr>
                        <m:t>+</m:t>
                      </m:r>
                      <m:sSub>
                        <m:sSubPr>
                          <m:ctrlPr>
                            <a:rPr lang="zh-CN" altLang="en-US" sz="2800" b="1" i="1">
                              <a:latin typeface="Cambria Math" panose="02040503050406030204" pitchFamily="18" charset="0"/>
                            </a:rPr>
                          </m:ctrlPr>
                        </m:sSubPr>
                        <m:e>
                          <m:r>
                            <a:rPr lang="zh-CN" altLang="en-US" sz="2800" b="1" i="1">
                              <a:latin typeface="Cambria Math" panose="02040503050406030204" pitchFamily="18" charset="0"/>
                            </a:rPr>
                            <m:t>𝑎</m:t>
                          </m:r>
                        </m:e>
                        <m:sub>
                          <m:r>
                            <a:rPr lang="zh-CN" altLang="en-US" sz="2800" b="1" i="1">
                              <a:latin typeface="Cambria Math" panose="02040503050406030204" pitchFamily="18" charset="0"/>
                            </a:rPr>
                            <m:t>𝑦</m:t>
                          </m:r>
                        </m:sub>
                      </m:sSub>
                      <m:sSub>
                        <m:sSubPr>
                          <m:ctrlPr>
                            <a:rPr lang="zh-CN" altLang="en-US" sz="2800" b="1" i="1">
                              <a:latin typeface="Cambria Math" panose="02040503050406030204" pitchFamily="18" charset="0"/>
                            </a:rPr>
                          </m:ctrlPr>
                        </m:sSubPr>
                        <m:e>
                          <m:r>
                            <a:rPr lang="zh-CN" altLang="en-US" sz="2800" b="1" i="1">
                              <a:latin typeface="Cambria Math" panose="02040503050406030204" pitchFamily="18" charset="0"/>
                            </a:rPr>
                            <m:t>𝑏</m:t>
                          </m:r>
                        </m:e>
                        <m:sub>
                          <m:r>
                            <a:rPr lang="zh-CN" altLang="en-US" sz="2800" b="1" i="1">
                              <a:latin typeface="Cambria Math" panose="02040503050406030204" pitchFamily="18" charset="0"/>
                            </a:rPr>
                            <m:t>𝑦</m:t>
                          </m:r>
                        </m:sub>
                      </m:sSub>
                      <m:r>
                        <a:rPr lang="zh-CN" altLang="en-US" sz="2800" b="1" i="1">
                          <a:latin typeface="Cambria Math" panose="02040503050406030204" pitchFamily="18" charset="0"/>
                        </a:rPr>
                        <m:t>+</m:t>
                      </m:r>
                      <m:sSub>
                        <m:sSubPr>
                          <m:ctrlPr>
                            <a:rPr lang="zh-CN" altLang="en-US" sz="2800" b="1" i="1">
                              <a:latin typeface="Cambria Math" panose="02040503050406030204" pitchFamily="18" charset="0"/>
                            </a:rPr>
                          </m:ctrlPr>
                        </m:sSubPr>
                        <m:e>
                          <m:r>
                            <a:rPr lang="zh-CN" altLang="en-US" sz="2800" b="1" i="1">
                              <a:latin typeface="Cambria Math" panose="02040503050406030204" pitchFamily="18" charset="0"/>
                            </a:rPr>
                            <m:t>𝑎</m:t>
                          </m:r>
                        </m:e>
                        <m:sub>
                          <m:r>
                            <a:rPr lang="zh-CN" altLang="en-US" sz="2800" b="1" i="1">
                              <a:latin typeface="Cambria Math" panose="02040503050406030204" pitchFamily="18" charset="0"/>
                            </a:rPr>
                            <m:t>𝑧</m:t>
                          </m:r>
                        </m:sub>
                      </m:sSub>
                      <m:sSub>
                        <m:sSubPr>
                          <m:ctrlPr>
                            <a:rPr lang="zh-CN" altLang="en-US" sz="2800" b="1" i="1">
                              <a:latin typeface="Cambria Math" panose="02040503050406030204" pitchFamily="18" charset="0"/>
                            </a:rPr>
                          </m:ctrlPr>
                        </m:sSubPr>
                        <m:e>
                          <m:r>
                            <a:rPr lang="zh-CN" altLang="en-US" sz="2800" b="1" i="1">
                              <a:latin typeface="Cambria Math" panose="02040503050406030204" pitchFamily="18" charset="0"/>
                            </a:rPr>
                            <m:t>𝑏</m:t>
                          </m:r>
                        </m:e>
                        <m:sub>
                          <m:r>
                            <a:rPr lang="zh-CN" altLang="en-US" sz="2800" b="1" i="1">
                              <a:latin typeface="Cambria Math" panose="02040503050406030204" pitchFamily="18" charset="0"/>
                            </a:rPr>
                            <m:t>𝑧</m:t>
                          </m:r>
                        </m:sub>
                      </m:sSub>
                      <m:r>
                        <a:rPr lang="zh-CN" altLang="en-US" sz="2800" b="1" i="1">
                          <a:latin typeface="Cambria Math" panose="02040503050406030204" pitchFamily="18" charset="0"/>
                        </a:rPr>
                        <m:t>.</m:t>
                      </m:r>
                    </m:oMath>
                  </m:oMathPara>
                </a14:m>
                <a:endParaRPr lang="zh-CN" altLang="en-US" sz="2800" b="1" i="1" dirty="0">
                  <a:latin typeface="Cambria Math" panose="02040503050406030204" pitchFamily="18" charset="0"/>
                </a:endParaRPr>
              </a:p>
            </p:txBody>
          </p:sp>
        </mc:Choice>
        <mc:Fallback xmlns="">
          <p:sp>
            <p:nvSpPr>
              <p:cNvPr id="12324" name="Object 36"/>
              <p:cNvSpPr txBox="1">
                <a:spLocks noRot="1" noChangeAspect="1" noMove="1" noResize="1" noEditPoints="1" noAdjustHandles="1" noChangeArrowheads="1" noChangeShapeType="1" noTextEdit="1"/>
              </p:cNvSpPr>
              <p:nvPr/>
            </p:nvSpPr>
            <p:spPr bwMode="auto">
              <a:xfrm>
                <a:off x="3282461" y="3972732"/>
                <a:ext cx="4585189" cy="619125"/>
              </a:xfrm>
              <a:prstGeom prst="rect">
                <a:avLst/>
              </a:prstGeom>
              <a:blipFill>
                <a:blip r:embed="rId5"/>
                <a:stretch>
                  <a:fillRect/>
                </a:stretch>
              </a:blipFill>
              <a:ln w="9525">
                <a:noFill/>
                <a:miter lim="800000"/>
                <a:headEnd/>
                <a:tailEnd/>
              </a:ln>
              <a:effectLst/>
            </p:spPr>
            <p:txBody>
              <a:bodyPr/>
              <a:lstStyle/>
              <a:p>
                <a:r>
                  <a:rPr lang="zh-CN" altLang="en-US">
                    <a:noFill/>
                  </a:rPr>
                  <a:t> </a:t>
                </a:r>
              </a:p>
            </p:txBody>
          </p:sp>
        </mc:Fallback>
      </mc:AlternateContent>
    </p:spTree>
    <p:extLst>
      <p:ext uri="{BB962C8B-B14F-4D97-AF65-F5344CB8AC3E}">
        <p14:creationId xmlns:p14="http://schemas.microsoft.com/office/powerpoint/2010/main" val="38072451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315"/>
                                        </p:tgtEl>
                                        <p:attrNameLst>
                                          <p:attrName>style.visibility</p:attrName>
                                        </p:attrNameLst>
                                      </p:cBhvr>
                                      <p:to>
                                        <p:strVal val="visible"/>
                                      </p:to>
                                    </p:set>
                                    <p:animEffect transition="in" filter="wipe(left)">
                                      <p:cBhvr>
                                        <p:cTn id="7" dur="500"/>
                                        <p:tgtEl>
                                          <p:spTgt spid="123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316"/>
                                        </p:tgtEl>
                                        <p:attrNameLst>
                                          <p:attrName>style.visibility</p:attrName>
                                        </p:attrNameLst>
                                      </p:cBhvr>
                                      <p:to>
                                        <p:strVal val="visible"/>
                                      </p:to>
                                    </p:set>
                                    <p:animEffect transition="in" filter="wipe(left)">
                                      <p:cBhvr>
                                        <p:cTn id="12" dur="500"/>
                                        <p:tgtEl>
                                          <p:spTgt spid="123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321">
                                            <p:txEl>
                                              <p:pRg st="0" end="0"/>
                                            </p:txEl>
                                          </p:spTgt>
                                        </p:tgtEl>
                                        <p:attrNameLst>
                                          <p:attrName>style.visibility</p:attrName>
                                        </p:attrNameLst>
                                      </p:cBhvr>
                                      <p:to>
                                        <p:strVal val="visible"/>
                                      </p:to>
                                    </p:set>
                                    <p:animEffect transition="in" filter="wipe(left)">
                                      <p:cBhvr>
                                        <p:cTn id="17" dur="500"/>
                                        <p:tgtEl>
                                          <p:spTgt spid="1232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323"/>
                                        </p:tgtEl>
                                        <p:attrNameLst>
                                          <p:attrName>style.visibility</p:attrName>
                                        </p:attrNameLst>
                                      </p:cBhvr>
                                      <p:to>
                                        <p:strVal val="visible"/>
                                      </p:to>
                                    </p:set>
                                    <p:animEffect transition="in" filter="wipe(left)">
                                      <p:cBhvr>
                                        <p:cTn id="22" dur="500"/>
                                        <p:tgtEl>
                                          <p:spTgt spid="1232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324"/>
                                        </p:tgtEl>
                                        <p:attrNameLst>
                                          <p:attrName>style.visibility</p:attrName>
                                        </p:attrNameLst>
                                      </p:cBhvr>
                                      <p:to>
                                        <p:strVal val="visible"/>
                                      </p:to>
                                    </p:set>
                                    <p:animEffect transition="in" filter="wipe(left)">
                                      <p:cBhvr>
                                        <p:cTn id="27" dur="500"/>
                                        <p:tgtEl>
                                          <p:spTgt spid="123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15" grpId="0"/>
      <p:bldP spid="12316" grpId="0"/>
      <p:bldP spid="12321" grpId="0" build="p"/>
      <p:bldP spid="12323" grpId="0"/>
      <p:bldP spid="1232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40BDB2EF-14F1-34F2-7CC0-81F594C6C21A}"/>
              </a:ext>
            </a:extLst>
          </p:cNvPr>
          <p:cNvGrpSpPr/>
          <p:nvPr/>
        </p:nvGrpSpPr>
        <p:grpSpPr>
          <a:xfrm>
            <a:off x="532130" y="516952"/>
            <a:ext cx="11149330" cy="5612130"/>
            <a:chOff x="838" y="907"/>
            <a:chExt cx="17558" cy="8838"/>
          </a:xfrm>
        </p:grpSpPr>
        <p:sp>
          <p:nvSpPr>
            <p:cNvPr id="10" name="PA-102232">
              <a:extLst>
                <a:ext uri="{FF2B5EF4-FFF2-40B4-BE49-F238E27FC236}">
                  <a16:creationId xmlns:a16="http://schemas.microsoft.com/office/drawing/2014/main" id="{3A3870D4-553F-B46B-512E-F95ACB409460}"/>
                </a:ext>
              </a:extLst>
            </p:cNvPr>
            <p:cNvSpPr/>
            <p:nvPr>
              <p:custDataLst>
                <p:tags r:id="rId1"/>
              </p:custDataLst>
            </p:nvPr>
          </p:nvSpPr>
          <p:spPr>
            <a:xfrm>
              <a:off x="872" y="907"/>
              <a:ext cx="17524" cy="8826"/>
            </a:xfrm>
            <a:prstGeom prst="rect">
              <a:avLst/>
            </a:prstGeom>
            <a:solidFill>
              <a:schemeClr val="bg1"/>
            </a:solidFill>
            <a:ln>
              <a:noFill/>
            </a:ln>
            <a:effectLst>
              <a:outerShdw blurRad="393700" dist="889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6BB6"/>
                </a:solidFill>
                <a:cs typeface="+mn-ea"/>
                <a:sym typeface="+mn-lt"/>
              </a:endParaRPr>
            </a:p>
          </p:txBody>
        </p:sp>
        <p:grpSp>
          <p:nvGrpSpPr>
            <p:cNvPr id="11" name="组合 10">
              <a:extLst>
                <a:ext uri="{FF2B5EF4-FFF2-40B4-BE49-F238E27FC236}">
                  <a16:creationId xmlns:a16="http://schemas.microsoft.com/office/drawing/2014/main" id="{6D0E69A5-F8E2-6CDD-4A64-0A9633EA7125}"/>
                </a:ext>
              </a:extLst>
            </p:cNvPr>
            <p:cNvGrpSpPr/>
            <p:nvPr/>
          </p:nvGrpSpPr>
          <p:grpSpPr>
            <a:xfrm>
              <a:off x="838" y="9635"/>
              <a:ext cx="17558" cy="110"/>
              <a:chOff x="838" y="9635"/>
              <a:chExt cx="17558" cy="110"/>
            </a:xfrm>
          </p:grpSpPr>
          <p:sp>
            <p:nvSpPr>
              <p:cNvPr id="12" name="Rectangle 1">
                <a:extLst>
                  <a:ext uri="{FF2B5EF4-FFF2-40B4-BE49-F238E27FC236}">
                    <a16:creationId xmlns:a16="http://schemas.microsoft.com/office/drawing/2014/main" id="{F178F8E3-1947-18A7-1147-34BC6CD8981C}"/>
                  </a:ext>
                </a:extLst>
              </p:cNvPr>
              <p:cNvSpPr/>
              <p:nvPr/>
            </p:nvSpPr>
            <p:spPr>
              <a:xfrm>
                <a:off x="5321" y="9650"/>
                <a:ext cx="4286" cy="83"/>
              </a:xfrm>
              <a:prstGeom prst="rect">
                <a:avLst/>
              </a:prstGeom>
              <a:solidFill>
                <a:schemeClr val="bg1"/>
              </a:solidFill>
              <a:ln w="3175" cap="flat" cmpd="sng" algn="ctr">
                <a:solidFill>
                  <a:srgbClr val="0492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3" name="Rectangle 1">
                <a:extLst>
                  <a:ext uri="{FF2B5EF4-FFF2-40B4-BE49-F238E27FC236}">
                    <a16:creationId xmlns:a16="http://schemas.microsoft.com/office/drawing/2014/main" id="{FAE6529F-C174-8588-636E-92A9AA8B8E37}"/>
                  </a:ext>
                </a:extLst>
              </p:cNvPr>
              <p:cNvSpPr/>
              <p:nvPr/>
            </p:nvSpPr>
            <p:spPr>
              <a:xfrm>
                <a:off x="838" y="9650"/>
                <a:ext cx="4483" cy="83"/>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4" name="Rectangle 1">
                <a:extLst>
                  <a:ext uri="{FF2B5EF4-FFF2-40B4-BE49-F238E27FC236}">
                    <a16:creationId xmlns:a16="http://schemas.microsoft.com/office/drawing/2014/main" id="{97B06171-CEC3-AA7C-E505-1CC219854781}"/>
                  </a:ext>
                </a:extLst>
              </p:cNvPr>
              <p:cNvSpPr/>
              <p:nvPr/>
            </p:nvSpPr>
            <p:spPr>
              <a:xfrm>
                <a:off x="9602" y="9635"/>
                <a:ext cx="8794" cy="111"/>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p:sp>
        <p:nvSpPr>
          <p:cNvPr id="14344" name="Text Box 8"/>
          <p:cNvSpPr txBox="1">
            <a:spLocks noChangeArrowheads="1"/>
          </p:cNvSpPr>
          <p:nvPr/>
        </p:nvSpPr>
        <p:spPr bwMode="auto">
          <a:xfrm>
            <a:off x="1910715" y="734276"/>
            <a:ext cx="84518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dirty="0">
                <a:latin typeface="Times New Roman" panose="02020603050405020304" pitchFamily="18" charset="0"/>
                <a:cs typeface="Times New Roman" panose="02020603050405020304" pitchFamily="18" charset="0"/>
              </a:rPr>
              <a:t>由数量积的定义和坐标计算公式，还可得到两非零</a:t>
            </a:r>
          </a:p>
        </p:txBody>
      </p:sp>
      <p:sp>
        <p:nvSpPr>
          <p:cNvPr id="14345" name="Text Box 9"/>
          <p:cNvSpPr txBox="1">
            <a:spLocks noChangeArrowheads="1"/>
          </p:cNvSpPr>
          <p:nvPr/>
        </p:nvSpPr>
        <p:spPr bwMode="auto">
          <a:xfrm>
            <a:off x="1186133" y="1283613"/>
            <a:ext cx="38049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dirty="0">
                <a:latin typeface="Times New Roman" panose="02020603050405020304" pitchFamily="18" charset="0"/>
                <a:cs typeface="Times New Roman" panose="02020603050405020304" pitchFamily="18" charset="0"/>
              </a:rPr>
              <a:t>向量夹角的计算公式．</a:t>
            </a:r>
          </a:p>
        </p:txBody>
      </p:sp>
      <mc:AlternateContent xmlns:mc="http://schemas.openxmlformats.org/markup-compatibility/2006" xmlns:a14="http://schemas.microsoft.com/office/drawing/2010/main">
        <mc:Choice Requires="a14">
          <p:sp>
            <p:nvSpPr>
              <p:cNvPr id="14346" name="Text Box 10"/>
              <p:cNvSpPr txBox="1">
                <a:spLocks noChangeArrowheads="1"/>
              </p:cNvSpPr>
              <p:nvPr/>
            </p:nvSpPr>
            <p:spPr bwMode="auto">
              <a:xfrm>
                <a:off x="1910715" y="1807963"/>
                <a:ext cx="4038600"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dirty="0">
                    <a:latin typeface="Times New Roman" panose="02020603050405020304" pitchFamily="18" charset="0"/>
                    <a:cs typeface="Times New Roman" panose="02020603050405020304" pitchFamily="18" charset="0"/>
                  </a:rPr>
                  <a:t>设向量</a:t>
                </a:r>
                <a14:m>
                  <m:oMath xmlns:m="http://schemas.openxmlformats.org/officeDocument/2006/math">
                    <m:r>
                      <a:rPr lang="zh-CN" altLang="en-US" sz="2800" b="1" i="1">
                        <a:latin typeface="Cambria Math" panose="02040503050406030204" pitchFamily="18" charset="0"/>
                      </a:rPr>
                      <m:t>𝒂</m:t>
                    </m:r>
                    <m:r>
                      <a:rPr lang="en-US" altLang="zh-CN" sz="2800" b="0" i="1" smtClean="0">
                        <a:latin typeface="Cambria Math" panose="02040503050406030204" pitchFamily="18" charset="0"/>
                      </a:rPr>
                      <m:t>,</m:t>
                    </m:r>
                    <m:r>
                      <a:rPr lang="zh-CN" altLang="en-US" sz="2800" b="1" i="1">
                        <a:latin typeface="Cambria Math" panose="02040503050406030204" pitchFamily="18" charset="0"/>
                      </a:rPr>
                      <m:t>𝒃</m:t>
                    </m:r>
                  </m:oMath>
                </a14:m>
                <a:r>
                  <a:rPr lang="zh-CN" altLang="en-US" sz="2800" dirty="0">
                    <a:latin typeface="Times New Roman" panose="02020603050405020304" pitchFamily="18" charset="0"/>
                    <a:cs typeface="Times New Roman" panose="02020603050405020304" pitchFamily="18" charset="0"/>
                  </a:rPr>
                  <a:t>均为非零向量</a:t>
                </a:r>
              </a:p>
            </p:txBody>
          </p:sp>
        </mc:Choice>
        <mc:Fallback xmlns="">
          <p:sp>
            <p:nvSpPr>
              <p:cNvPr id="14346" name="Text Box 10"/>
              <p:cNvSpPr txBox="1">
                <a:spLocks noRot="1" noChangeAspect="1" noMove="1" noResize="1" noEditPoints="1" noAdjustHandles="1" noChangeArrowheads="1" noChangeShapeType="1" noTextEdit="1"/>
              </p:cNvSpPr>
              <p:nvPr/>
            </p:nvSpPr>
            <p:spPr bwMode="auto">
              <a:xfrm>
                <a:off x="1910715" y="1807963"/>
                <a:ext cx="4038600" cy="523220"/>
              </a:xfrm>
              <a:prstGeom prst="rect">
                <a:avLst/>
              </a:prstGeom>
              <a:blipFill>
                <a:blip r:embed="rId3"/>
                <a:stretch>
                  <a:fillRect l="-3017" t="-16471" r="-905" b="-2941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347" name="Object 11"/>
              <p:cNvSpPr txBox="1"/>
              <p:nvPr/>
            </p:nvSpPr>
            <p:spPr bwMode="auto">
              <a:xfrm>
                <a:off x="3638647" y="2234026"/>
                <a:ext cx="3390803" cy="52228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b="1" i="1">
                          <a:latin typeface="Cambria Math" panose="02040503050406030204" pitchFamily="18" charset="0"/>
                        </a:rPr>
                        <m:t>𝒂</m:t>
                      </m:r>
                      <m:r>
                        <a:rPr lang="zh-CN" altLang="en-US" sz="2800" i="1">
                          <a:latin typeface="Cambria Math" panose="02040503050406030204" pitchFamily="18" charset="0"/>
                        </a:rPr>
                        <m:t>⋅</m:t>
                      </m:r>
                      <m:r>
                        <a:rPr lang="zh-CN" altLang="en-US" sz="2800" b="1" i="1">
                          <a:latin typeface="Cambria Math" panose="02040503050406030204" pitchFamily="18" charset="0"/>
                        </a:rPr>
                        <m:t>𝒃</m:t>
                      </m:r>
                      <m:r>
                        <a:rPr lang="zh-CN" altLang="en-US" sz="2800" i="1">
                          <a:latin typeface="Cambria Math" panose="02040503050406030204" pitchFamily="18" charset="0"/>
                        </a:rPr>
                        <m:t>=|</m:t>
                      </m:r>
                      <m:r>
                        <a:rPr lang="zh-CN" altLang="en-US" sz="2800" b="1" i="1">
                          <a:latin typeface="Cambria Math" panose="02040503050406030204" pitchFamily="18" charset="0"/>
                        </a:rPr>
                        <m:t>𝒂</m:t>
                      </m:r>
                      <m:r>
                        <a:rPr lang="zh-CN" altLang="en-US" sz="2800" i="1">
                          <a:latin typeface="Cambria Math" panose="02040503050406030204" pitchFamily="18" charset="0"/>
                        </a:rPr>
                        <m:t>| |</m:t>
                      </m:r>
                      <m:r>
                        <a:rPr lang="zh-CN" altLang="en-US" sz="2800" b="1" i="1">
                          <a:latin typeface="Cambria Math" panose="02040503050406030204" pitchFamily="18" charset="0"/>
                        </a:rPr>
                        <m:t>𝒃</m:t>
                      </m:r>
                      <m:r>
                        <a:rPr lang="zh-CN" altLang="en-US" sz="2800" i="1">
                          <a:latin typeface="Cambria Math" panose="02040503050406030204" pitchFamily="18" charset="0"/>
                        </a:rPr>
                        <m:t>|</m:t>
                      </m:r>
                      <m:func>
                        <m:funcPr>
                          <m:ctrlPr>
                            <a:rPr lang="zh-CN" altLang="en-US" sz="2800" i="1">
                              <a:latin typeface="Cambria Math" panose="02040503050406030204" pitchFamily="18" charset="0"/>
                            </a:rPr>
                          </m:ctrlPr>
                        </m:funcPr>
                        <m:fName>
                          <m:r>
                            <m:rPr>
                              <m:sty m:val="p"/>
                            </m:rPr>
                            <a:rPr lang="zh-CN" altLang="en-US" sz="2800" i="0">
                              <a:latin typeface="Cambria Math" panose="02040503050406030204" pitchFamily="18" charset="0"/>
                            </a:rPr>
                            <m:t>cos</m:t>
                          </m:r>
                        </m:fName>
                        <m:e>
                          <m:r>
                            <a:rPr lang="zh-CN" altLang="en-US" sz="2800" i="1">
                              <a:latin typeface="Cambria Math" panose="02040503050406030204" pitchFamily="18" charset="0"/>
                            </a:rPr>
                            <m:t>𝜃</m:t>
                          </m:r>
                        </m:e>
                      </m:func>
                      <m:r>
                        <a:rPr lang="zh-CN" altLang="en-US" sz="2800" i="1">
                          <a:latin typeface="Cambria Math" panose="02040503050406030204" pitchFamily="18" charset="0"/>
                        </a:rPr>
                        <m:t>,</m:t>
                      </m:r>
                    </m:oMath>
                  </m:oMathPara>
                </a14:m>
                <a:endParaRPr lang="zh-CN" altLang="en-US" sz="2800" i="1" dirty="0">
                  <a:latin typeface="Cambria Math" panose="02040503050406030204" pitchFamily="18" charset="0"/>
                </a:endParaRPr>
              </a:p>
            </p:txBody>
          </p:sp>
        </mc:Choice>
        <mc:Fallback xmlns="">
          <p:sp>
            <p:nvSpPr>
              <p:cNvPr id="14347" name="Object 11"/>
              <p:cNvSpPr txBox="1">
                <a:spLocks noRot="1" noChangeAspect="1" noMove="1" noResize="1" noEditPoints="1" noAdjustHandles="1" noChangeArrowheads="1" noChangeShapeType="1" noTextEdit="1"/>
              </p:cNvSpPr>
              <p:nvPr/>
            </p:nvSpPr>
            <p:spPr bwMode="auto">
              <a:xfrm>
                <a:off x="3638647" y="2234026"/>
                <a:ext cx="3390803" cy="522288"/>
              </a:xfrm>
              <a:prstGeom prst="rect">
                <a:avLst/>
              </a:prstGeom>
              <a:blipFill>
                <a:blip r:embed="rId4"/>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348" name="Object 12"/>
              <p:cNvSpPr txBox="1"/>
              <p:nvPr/>
            </p:nvSpPr>
            <p:spPr bwMode="auto">
              <a:xfrm>
                <a:off x="4185871" y="2920767"/>
                <a:ext cx="2653079" cy="999482"/>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func>
                        <m:funcPr>
                          <m:ctrlPr>
                            <a:rPr lang="zh-CN" altLang="en-US" sz="2800" i="1">
                              <a:latin typeface="Cambria Math" panose="02040503050406030204" pitchFamily="18" charset="0"/>
                            </a:rPr>
                          </m:ctrlPr>
                        </m:funcPr>
                        <m:fName>
                          <m:r>
                            <m:rPr>
                              <m:sty m:val="p"/>
                            </m:rPr>
                            <a:rPr lang="zh-CN" altLang="en-US" sz="2800" b="0" i="0">
                              <a:latin typeface="Cambria Math" panose="02040503050406030204" pitchFamily="18" charset="0"/>
                            </a:rPr>
                            <m:t>cos</m:t>
                          </m:r>
                        </m:fName>
                        <m:e>
                          <m:r>
                            <a:rPr lang="zh-CN" altLang="en-US" sz="2800" b="0" i="1">
                              <a:latin typeface="Cambria Math" panose="02040503050406030204" pitchFamily="18" charset="0"/>
                            </a:rPr>
                            <m:t>𝜃</m:t>
                          </m:r>
                        </m:e>
                      </m:func>
                      <m:r>
                        <a:rPr lang="zh-CN" altLang="en-US" sz="2800" b="0" i="1">
                          <a:latin typeface="Cambria Math" panose="02040503050406030204" pitchFamily="18" charset="0"/>
                        </a:rPr>
                        <m:t>=</m:t>
                      </m:r>
                      <m:f>
                        <m:fPr>
                          <m:ctrlPr>
                            <a:rPr lang="zh-CN" altLang="en-US" sz="2800" i="1">
                              <a:latin typeface="Cambria Math" panose="02040503050406030204" pitchFamily="18" charset="0"/>
                            </a:rPr>
                          </m:ctrlPr>
                        </m:fPr>
                        <m:num>
                          <m:r>
                            <a:rPr lang="zh-CN" altLang="en-US" sz="2800" b="1" i="1">
                              <a:latin typeface="Cambria Math" panose="02040503050406030204" pitchFamily="18" charset="0"/>
                            </a:rPr>
                            <m:t>𝒂</m:t>
                          </m:r>
                          <m:r>
                            <a:rPr lang="zh-CN" altLang="en-US" sz="2800" b="0" i="1">
                              <a:latin typeface="Cambria Math" panose="02040503050406030204" pitchFamily="18" charset="0"/>
                            </a:rPr>
                            <m:t>⋅</m:t>
                          </m:r>
                          <m:r>
                            <a:rPr lang="zh-CN" altLang="en-US" sz="2800" b="1" i="1">
                              <a:latin typeface="Cambria Math" panose="02040503050406030204" pitchFamily="18" charset="0"/>
                            </a:rPr>
                            <m:t>𝒃</m:t>
                          </m:r>
                        </m:num>
                        <m:den>
                          <m:r>
                            <a:rPr lang="zh-CN" altLang="en-US" sz="2800" b="0" i="1">
                              <a:latin typeface="Cambria Math" panose="02040503050406030204" pitchFamily="18" charset="0"/>
                            </a:rPr>
                            <m:t>|</m:t>
                          </m:r>
                          <m:r>
                            <a:rPr lang="zh-CN" altLang="en-US" sz="2800" b="1" i="1">
                              <a:latin typeface="Cambria Math" panose="02040503050406030204" pitchFamily="18" charset="0"/>
                            </a:rPr>
                            <m:t>𝒂</m:t>
                          </m:r>
                          <m:r>
                            <a:rPr lang="zh-CN" altLang="en-US" sz="2800" b="0" i="1">
                              <a:latin typeface="Cambria Math" panose="02040503050406030204" pitchFamily="18" charset="0"/>
                            </a:rPr>
                            <m:t>| |</m:t>
                          </m:r>
                          <m:r>
                            <a:rPr lang="zh-CN" altLang="en-US" sz="2800" b="1" i="1">
                              <a:latin typeface="Cambria Math" panose="02040503050406030204" pitchFamily="18" charset="0"/>
                            </a:rPr>
                            <m:t>𝒃</m:t>
                          </m:r>
                          <m:r>
                            <a:rPr lang="zh-CN" altLang="en-US" sz="2800" b="0" i="1">
                              <a:latin typeface="Cambria Math" panose="02040503050406030204" pitchFamily="18" charset="0"/>
                            </a:rPr>
                            <m:t>|</m:t>
                          </m:r>
                        </m:den>
                      </m:f>
                      <m:r>
                        <a:rPr lang="zh-CN" altLang="en-US" sz="2800" b="0" i="1">
                          <a:latin typeface="Cambria Math" panose="02040503050406030204" pitchFamily="18" charset="0"/>
                        </a:rPr>
                        <m:t>,</m:t>
                      </m:r>
                    </m:oMath>
                  </m:oMathPara>
                </a14:m>
                <a:endParaRPr lang="zh-CN" altLang="en-US" sz="2800" i="1" dirty="0">
                  <a:latin typeface="Cambria Math" panose="02040503050406030204" pitchFamily="18" charset="0"/>
                </a:endParaRPr>
              </a:p>
            </p:txBody>
          </p:sp>
        </mc:Choice>
        <mc:Fallback xmlns="">
          <p:sp>
            <p:nvSpPr>
              <p:cNvPr id="14348" name="Object 12"/>
              <p:cNvSpPr txBox="1">
                <a:spLocks noRot="1" noChangeAspect="1" noMove="1" noResize="1" noEditPoints="1" noAdjustHandles="1" noChangeArrowheads="1" noChangeShapeType="1" noTextEdit="1"/>
              </p:cNvSpPr>
              <p:nvPr/>
            </p:nvSpPr>
            <p:spPr bwMode="auto">
              <a:xfrm>
                <a:off x="4185871" y="2920767"/>
                <a:ext cx="2653079" cy="999482"/>
              </a:xfrm>
              <a:prstGeom prst="rect">
                <a:avLst/>
              </a:prstGeom>
              <a:blipFill>
                <a:blip r:embed="rId5"/>
                <a:stretch>
                  <a:fillRect/>
                </a:stretch>
              </a:blipFill>
              <a:ln>
                <a:noFill/>
              </a:ln>
              <a:effectLst/>
            </p:spPr>
            <p:txBody>
              <a:bodyPr/>
              <a:lstStyle/>
              <a:p>
                <a:r>
                  <a:rPr lang="zh-CN" altLang="en-US">
                    <a:noFill/>
                  </a:rPr>
                  <a:t> </a:t>
                </a:r>
              </a:p>
            </p:txBody>
          </p:sp>
        </mc:Fallback>
      </mc:AlternateContent>
      <p:sp>
        <p:nvSpPr>
          <p:cNvPr id="14349" name="AutoShape 13"/>
          <p:cNvSpPr>
            <a:spLocks noChangeArrowheads="1"/>
          </p:cNvSpPr>
          <p:nvPr/>
        </p:nvSpPr>
        <p:spPr bwMode="auto">
          <a:xfrm>
            <a:off x="5202057" y="2853546"/>
            <a:ext cx="254391" cy="375910"/>
          </a:xfrm>
          <a:prstGeom prst="downArrow">
            <a:avLst>
              <a:gd name="adj1" fmla="val 50000"/>
              <a:gd name="adj2" fmla="val 40000"/>
            </a:avLst>
          </a:prstGeom>
          <a:solidFill>
            <a:srgbClr val="04926A"/>
          </a:solidFill>
          <a:ln w="9525">
            <a:noFill/>
            <a:miter lim="800000"/>
            <a:headEnd/>
            <a:tailEnd/>
          </a:ln>
          <a:effectLst/>
        </p:spPr>
        <p:txBody>
          <a:bodyPr vert="eaVert" wrap="none" anchor="ctr"/>
          <a:lstStyle/>
          <a:p>
            <a:endParaRPr lang="zh-CN" altLang="en-US" sz="280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350" name="Object 14"/>
              <p:cNvSpPr txBox="1"/>
              <p:nvPr/>
            </p:nvSpPr>
            <p:spPr bwMode="auto">
              <a:xfrm>
                <a:off x="2191734" y="4211729"/>
                <a:ext cx="6150408" cy="1556023"/>
              </a:xfrm>
              <a:prstGeom prst="rect">
                <a:avLst/>
              </a:prstGeom>
              <a:solidFill>
                <a:srgbClr val="04926A">
                  <a:alpha val="42000"/>
                </a:srgbClr>
              </a:solidFill>
              <a:ln w="9525">
                <a:noFill/>
                <a:miter lim="800000"/>
                <a:headEnd/>
                <a:tailEnd/>
              </a:ln>
              <a:effectLst/>
            </p:spPr>
            <p:txBody>
              <a:bodyPr>
                <a:normAutofit/>
              </a:bodyPr>
              <a:lstStyle/>
              <a:p>
                <a:pPr/>
                <a14:m>
                  <m:oMathPara xmlns:m="http://schemas.openxmlformats.org/officeDocument/2006/math">
                    <m:oMathParaPr>
                      <m:jc m:val="left"/>
                    </m:oMathParaPr>
                    <m:oMath xmlns:m="http://schemas.openxmlformats.org/officeDocument/2006/math">
                      <m:func>
                        <m:funcPr>
                          <m:ctrlPr>
                            <a:rPr lang="zh-CN" altLang="en-US" sz="2800" i="1">
                              <a:latin typeface="Cambria Math" panose="02040503050406030204" pitchFamily="18" charset="0"/>
                            </a:rPr>
                          </m:ctrlPr>
                        </m:funcPr>
                        <m:fName>
                          <m:r>
                            <m:rPr>
                              <m:sty m:val="p"/>
                            </m:rPr>
                            <a:rPr lang="zh-CN" altLang="en-US" sz="2800" i="1">
                              <a:latin typeface="Cambria Math" panose="02040503050406030204" pitchFamily="18" charset="0"/>
                            </a:rPr>
                            <m:t>cos</m:t>
                          </m:r>
                        </m:fName>
                        <m:e>
                          <m:r>
                            <a:rPr lang="zh-CN" altLang="en-US" sz="2800" i="1">
                              <a:latin typeface="Cambria Math" panose="02040503050406030204" pitchFamily="18" charset="0"/>
                            </a:rPr>
                            <m:t>𝜃</m:t>
                          </m:r>
                        </m:e>
                      </m:func>
                      <m:r>
                        <a:rPr lang="zh-CN" altLang="en-US" sz="2800" i="1">
                          <a:latin typeface="Cambria Math" panose="02040503050406030204" pitchFamily="18" charset="0"/>
                        </a:rPr>
                        <m:t>=</m:t>
                      </m:r>
                      <m:f>
                        <m:fPr>
                          <m:ctrlPr>
                            <a:rPr lang="zh-CN" altLang="en-US" sz="2800" i="1">
                              <a:latin typeface="Cambria Math" panose="02040503050406030204" pitchFamily="18" charset="0"/>
                            </a:rPr>
                          </m:ctrlPr>
                        </m:fPr>
                        <m:num>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𝑎</m:t>
                              </m:r>
                            </m:e>
                            <m:sub>
                              <m:r>
                                <a:rPr lang="zh-CN" altLang="en-US" sz="2800" i="1">
                                  <a:latin typeface="Cambria Math" panose="02040503050406030204" pitchFamily="18" charset="0"/>
                                </a:rPr>
                                <m:t>𝑥</m:t>
                              </m:r>
                            </m:sub>
                          </m:sSub>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𝑏</m:t>
                              </m:r>
                            </m:e>
                            <m:sub>
                              <m:r>
                                <a:rPr lang="zh-CN" altLang="en-US" sz="2800" i="1">
                                  <a:latin typeface="Cambria Math" panose="02040503050406030204" pitchFamily="18" charset="0"/>
                                </a:rPr>
                                <m:t>𝑥</m:t>
                              </m:r>
                            </m:sub>
                          </m:sSub>
                          <m:r>
                            <a:rPr lang="zh-CN" altLang="en-US" sz="280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𝑎</m:t>
                              </m:r>
                            </m:e>
                            <m:sub>
                              <m:r>
                                <a:rPr lang="zh-CN" altLang="en-US" sz="2800" i="1">
                                  <a:latin typeface="Cambria Math" panose="02040503050406030204" pitchFamily="18" charset="0"/>
                                </a:rPr>
                                <m:t>𝑦</m:t>
                              </m:r>
                            </m:sub>
                          </m:sSub>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𝑏</m:t>
                              </m:r>
                            </m:e>
                            <m:sub>
                              <m:r>
                                <a:rPr lang="zh-CN" altLang="en-US" sz="2800" i="1">
                                  <a:latin typeface="Cambria Math" panose="02040503050406030204" pitchFamily="18" charset="0"/>
                                </a:rPr>
                                <m:t>𝑦</m:t>
                              </m:r>
                            </m:sub>
                          </m:sSub>
                          <m:r>
                            <a:rPr lang="zh-CN" altLang="en-US" sz="280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𝑎</m:t>
                              </m:r>
                            </m:e>
                            <m:sub>
                              <m:r>
                                <a:rPr lang="zh-CN" altLang="en-US" sz="2800" i="1">
                                  <a:latin typeface="Cambria Math" panose="02040503050406030204" pitchFamily="18" charset="0"/>
                                </a:rPr>
                                <m:t>𝑧</m:t>
                              </m:r>
                            </m:sub>
                          </m:sSub>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𝑏</m:t>
                              </m:r>
                            </m:e>
                            <m:sub>
                              <m:r>
                                <a:rPr lang="zh-CN" altLang="en-US" sz="2800" i="1">
                                  <a:latin typeface="Cambria Math" panose="02040503050406030204" pitchFamily="18" charset="0"/>
                                </a:rPr>
                                <m:t>𝑧</m:t>
                              </m:r>
                            </m:sub>
                          </m:sSub>
                        </m:num>
                        <m:den>
                          <m:rad>
                            <m:radPr>
                              <m:degHide m:val="on"/>
                              <m:ctrlPr>
                                <a:rPr lang="zh-CN" altLang="en-US" sz="2800" i="1">
                                  <a:latin typeface="Cambria Math" panose="02040503050406030204" pitchFamily="18" charset="0"/>
                                </a:rPr>
                              </m:ctrlPr>
                            </m:radPr>
                            <m:deg/>
                            <m:e>
                              <m:sSubSup>
                                <m:sSubSupPr>
                                  <m:ctrlPr>
                                    <a:rPr lang="zh-CN" altLang="en-US" sz="2800" i="1">
                                      <a:latin typeface="Cambria Math" panose="02040503050406030204" pitchFamily="18" charset="0"/>
                                    </a:rPr>
                                  </m:ctrlPr>
                                </m:sSubSupPr>
                                <m:e>
                                  <m:r>
                                    <a:rPr lang="zh-CN" altLang="en-US" sz="2800" i="1">
                                      <a:latin typeface="Cambria Math" panose="02040503050406030204" pitchFamily="18" charset="0"/>
                                    </a:rPr>
                                    <m:t>𝑎</m:t>
                                  </m:r>
                                </m:e>
                                <m:sub>
                                  <m:r>
                                    <a:rPr lang="zh-CN" altLang="en-US" sz="2800" i="1">
                                      <a:latin typeface="Cambria Math" panose="02040503050406030204" pitchFamily="18" charset="0"/>
                                    </a:rPr>
                                    <m:t>𝑥</m:t>
                                  </m:r>
                                </m:sub>
                                <m:sup>
                                  <m:r>
                                    <a:rPr lang="zh-CN" altLang="en-US" sz="2800" i="1">
                                      <a:latin typeface="Cambria Math" panose="02040503050406030204" pitchFamily="18" charset="0"/>
                                    </a:rPr>
                                    <m:t>2</m:t>
                                  </m:r>
                                </m:sup>
                              </m:sSubSup>
                              <m:r>
                                <a:rPr lang="zh-CN" altLang="en-US" sz="2800" i="1">
                                  <a:latin typeface="Cambria Math" panose="02040503050406030204" pitchFamily="18" charset="0"/>
                                </a:rPr>
                                <m:t>+</m:t>
                              </m:r>
                              <m:sSubSup>
                                <m:sSubSupPr>
                                  <m:ctrlPr>
                                    <a:rPr lang="zh-CN" altLang="en-US" sz="2800" i="1">
                                      <a:latin typeface="Cambria Math" panose="02040503050406030204" pitchFamily="18" charset="0"/>
                                    </a:rPr>
                                  </m:ctrlPr>
                                </m:sSubSupPr>
                                <m:e>
                                  <m:r>
                                    <a:rPr lang="zh-CN" altLang="en-US" sz="2800" i="1">
                                      <a:latin typeface="Cambria Math" panose="02040503050406030204" pitchFamily="18" charset="0"/>
                                    </a:rPr>
                                    <m:t>𝑎</m:t>
                                  </m:r>
                                </m:e>
                                <m:sub>
                                  <m:r>
                                    <a:rPr lang="zh-CN" altLang="en-US" sz="2800" i="1">
                                      <a:latin typeface="Cambria Math" panose="02040503050406030204" pitchFamily="18" charset="0"/>
                                    </a:rPr>
                                    <m:t>𝑦</m:t>
                                  </m:r>
                                </m:sub>
                                <m:sup>
                                  <m:r>
                                    <a:rPr lang="zh-CN" altLang="en-US" sz="2800" i="1">
                                      <a:latin typeface="Cambria Math" panose="02040503050406030204" pitchFamily="18" charset="0"/>
                                    </a:rPr>
                                    <m:t>2</m:t>
                                  </m:r>
                                </m:sup>
                              </m:sSubSup>
                              <m:r>
                                <a:rPr lang="zh-CN" altLang="en-US" sz="2800" i="1">
                                  <a:latin typeface="Cambria Math" panose="02040503050406030204" pitchFamily="18" charset="0"/>
                                </a:rPr>
                                <m:t>+</m:t>
                              </m:r>
                              <m:sSubSup>
                                <m:sSubSupPr>
                                  <m:ctrlPr>
                                    <a:rPr lang="zh-CN" altLang="en-US" sz="2800" i="1">
                                      <a:latin typeface="Cambria Math" panose="02040503050406030204" pitchFamily="18" charset="0"/>
                                    </a:rPr>
                                  </m:ctrlPr>
                                </m:sSubSupPr>
                                <m:e>
                                  <m:r>
                                    <a:rPr lang="zh-CN" altLang="en-US" sz="2800" i="1">
                                      <a:latin typeface="Cambria Math" panose="02040503050406030204" pitchFamily="18" charset="0"/>
                                    </a:rPr>
                                    <m:t>𝑎</m:t>
                                  </m:r>
                                </m:e>
                                <m:sub>
                                  <m:r>
                                    <a:rPr lang="zh-CN" altLang="en-US" sz="2800" i="1">
                                      <a:latin typeface="Cambria Math" panose="02040503050406030204" pitchFamily="18" charset="0"/>
                                    </a:rPr>
                                    <m:t>𝑧</m:t>
                                  </m:r>
                                </m:sub>
                                <m:sup>
                                  <m:r>
                                    <a:rPr lang="zh-CN" altLang="en-US" sz="2800" i="1">
                                      <a:latin typeface="Cambria Math" panose="02040503050406030204" pitchFamily="18" charset="0"/>
                                    </a:rPr>
                                    <m:t>2</m:t>
                                  </m:r>
                                </m:sup>
                              </m:sSubSup>
                            </m:e>
                          </m:rad>
                          <m:rad>
                            <m:radPr>
                              <m:degHide m:val="on"/>
                              <m:ctrlPr>
                                <a:rPr lang="zh-CN" altLang="en-US" sz="2800" i="1">
                                  <a:latin typeface="Cambria Math" panose="02040503050406030204" pitchFamily="18" charset="0"/>
                                </a:rPr>
                              </m:ctrlPr>
                            </m:radPr>
                            <m:deg/>
                            <m:e>
                              <m:sSubSup>
                                <m:sSubSupPr>
                                  <m:ctrlPr>
                                    <a:rPr lang="zh-CN" altLang="en-US" sz="2800" i="1">
                                      <a:latin typeface="Cambria Math" panose="02040503050406030204" pitchFamily="18" charset="0"/>
                                    </a:rPr>
                                  </m:ctrlPr>
                                </m:sSubSupPr>
                                <m:e>
                                  <m:r>
                                    <a:rPr lang="zh-CN" altLang="en-US" sz="2800" i="1">
                                      <a:latin typeface="Cambria Math" panose="02040503050406030204" pitchFamily="18" charset="0"/>
                                    </a:rPr>
                                    <m:t>𝑏</m:t>
                                  </m:r>
                                </m:e>
                                <m:sub>
                                  <m:r>
                                    <a:rPr lang="zh-CN" altLang="en-US" sz="2800" i="1">
                                      <a:latin typeface="Cambria Math" panose="02040503050406030204" pitchFamily="18" charset="0"/>
                                    </a:rPr>
                                    <m:t>𝑥</m:t>
                                  </m:r>
                                </m:sub>
                                <m:sup>
                                  <m:r>
                                    <a:rPr lang="zh-CN" altLang="en-US" sz="2800" i="1">
                                      <a:latin typeface="Cambria Math" panose="02040503050406030204" pitchFamily="18" charset="0"/>
                                    </a:rPr>
                                    <m:t>2</m:t>
                                  </m:r>
                                </m:sup>
                              </m:sSubSup>
                              <m:r>
                                <a:rPr lang="zh-CN" altLang="en-US" sz="2800" i="1">
                                  <a:latin typeface="Cambria Math" panose="02040503050406030204" pitchFamily="18" charset="0"/>
                                </a:rPr>
                                <m:t>+</m:t>
                              </m:r>
                              <m:sSubSup>
                                <m:sSubSupPr>
                                  <m:ctrlPr>
                                    <a:rPr lang="zh-CN" altLang="en-US" sz="2800" i="1">
                                      <a:latin typeface="Cambria Math" panose="02040503050406030204" pitchFamily="18" charset="0"/>
                                    </a:rPr>
                                  </m:ctrlPr>
                                </m:sSubSupPr>
                                <m:e>
                                  <m:r>
                                    <a:rPr lang="zh-CN" altLang="en-US" sz="2800" i="1">
                                      <a:latin typeface="Cambria Math" panose="02040503050406030204" pitchFamily="18" charset="0"/>
                                    </a:rPr>
                                    <m:t>𝑏</m:t>
                                  </m:r>
                                </m:e>
                                <m:sub>
                                  <m:r>
                                    <a:rPr lang="zh-CN" altLang="en-US" sz="2800" i="1">
                                      <a:latin typeface="Cambria Math" panose="02040503050406030204" pitchFamily="18" charset="0"/>
                                    </a:rPr>
                                    <m:t>𝑦</m:t>
                                  </m:r>
                                </m:sub>
                                <m:sup>
                                  <m:r>
                                    <a:rPr lang="zh-CN" altLang="en-US" sz="2800" i="1">
                                      <a:latin typeface="Cambria Math" panose="02040503050406030204" pitchFamily="18" charset="0"/>
                                    </a:rPr>
                                    <m:t>2</m:t>
                                  </m:r>
                                </m:sup>
                              </m:sSubSup>
                              <m:r>
                                <a:rPr lang="zh-CN" altLang="en-US" sz="2800" i="1">
                                  <a:latin typeface="Cambria Math" panose="02040503050406030204" pitchFamily="18" charset="0"/>
                                </a:rPr>
                                <m:t>+</m:t>
                              </m:r>
                              <m:sSubSup>
                                <m:sSubSupPr>
                                  <m:ctrlPr>
                                    <a:rPr lang="zh-CN" altLang="en-US" sz="2800" i="1">
                                      <a:latin typeface="Cambria Math" panose="02040503050406030204" pitchFamily="18" charset="0"/>
                                    </a:rPr>
                                  </m:ctrlPr>
                                </m:sSubSupPr>
                                <m:e>
                                  <m:r>
                                    <a:rPr lang="zh-CN" altLang="en-US" sz="2800" i="1">
                                      <a:latin typeface="Cambria Math" panose="02040503050406030204" pitchFamily="18" charset="0"/>
                                    </a:rPr>
                                    <m:t>𝑏</m:t>
                                  </m:r>
                                </m:e>
                                <m:sub>
                                  <m:r>
                                    <a:rPr lang="zh-CN" altLang="en-US" sz="2800" i="1">
                                      <a:latin typeface="Cambria Math" panose="02040503050406030204" pitchFamily="18" charset="0"/>
                                    </a:rPr>
                                    <m:t>𝑧</m:t>
                                  </m:r>
                                </m:sub>
                                <m:sup>
                                  <m:r>
                                    <a:rPr lang="zh-CN" altLang="en-US" sz="2800" i="1">
                                      <a:latin typeface="Cambria Math" panose="02040503050406030204" pitchFamily="18" charset="0"/>
                                    </a:rPr>
                                    <m:t>2</m:t>
                                  </m:r>
                                </m:sup>
                              </m:sSubSup>
                            </m:e>
                          </m:rad>
                        </m:den>
                      </m:f>
                      <m:r>
                        <a:rPr lang="zh-CN" altLang="en-US" sz="2800" i="1">
                          <a:latin typeface="Cambria Math" panose="02040503050406030204" pitchFamily="18" charset="0"/>
                        </a:rPr>
                        <m:t>.</m:t>
                      </m:r>
                    </m:oMath>
                  </m:oMathPara>
                </a14:m>
                <a:endParaRPr lang="zh-CN" altLang="en-US" sz="2800" i="1" dirty="0">
                  <a:latin typeface="Cambria Math" panose="02040503050406030204" pitchFamily="18" charset="0"/>
                </a:endParaRPr>
              </a:p>
            </p:txBody>
          </p:sp>
        </mc:Choice>
        <mc:Fallback xmlns="">
          <p:sp>
            <p:nvSpPr>
              <p:cNvPr id="14350" name="Object 14"/>
              <p:cNvSpPr txBox="1">
                <a:spLocks noRot="1" noChangeAspect="1" noMove="1" noResize="1" noEditPoints="1" noAdjustHandles="1" noChangeArrowheads="1" noChangeShapeType="1" noTextEdit="1"/>
              </p:cNvSpPr>
              <p:nvPr/>
            </p:nvSpPr>
            <p:spPr bwMode="auto">
              <a:xfrm>
                <a:off x="2191734" y="4211729"/>
                <a:ext cx="6150408" cy="1556023"/>
              </a:xfrm>
              <a:prstGeom prst="rect">
                <a:avLst/>
              </a:prstGeom>
              <a:blipFill>
                <a:blip r:embed="rId6"/>
                <a:stretch>
                  <a:fillRect/>
                </a:stretch>
              </a:blipFill>
              <a:ln w="9525">
                <a:noFill/>
                <a:miter lim="800000"/>
                <a:headEnd/>
                <a:tailEnd/>
              </a:ln>
              <a:effectLst/>
            </p:spPr>
            <p:txBody>
              <a:bodyPr/>
              <a:lstStyle/>
              <a:p>
                <a:r>
                  <a:rPr lang="zh-CN" altLang="en-US">
                    <a:noFill/>
                  </a:rPr>
                  <a:t> </a:t>
                </a:r>
              </a:p>
            </p:txBody>
          </p:sp>
        </mc:Fallback>
      </mc:AlternateContent>
      <p:sp>
        <p:nvSpPr>
          <p:cNvPr id="9" name="AutoShape 13">
            <a:extLst>
              <a:ext uri="{FF2B5EF4-FFF2-40B4-BE49-F238E27FC236}">
                <a16:creationId xmlns:a16="http://schemas.microsoft.com/office/drawing/2014/main" id="{45D3DD99-7E0B-FE70-9F36-D9766D549153}"/>
              </a:ext>
            </a:extLst>
          </p:cNvPr>
          <p:cNvSpPr>
            <a:spLocks noChangeArrowheads="1"/>
          </p:cNvSpPr>
          <p:nvPr/>
        </p:nvSpPr>
        <p:spPr bwMode="auto">
          <a:xfrm>
            <a:off x="5202057" y="3747715"/>
            <a:ext cx="254391" cy="375910"/>
          </a:xfrm>
          <a:prstGeom prst="downArrow">
            <a:avLst>
              <a:gd name="adj1" fmla="val 50000"/>
              <a:gd name="adj2" fmla="val 40000"/>
            </a:avLst>
          </a:prstGeom>
          <a:solidFill>
            <a:srgbClr val="04926A"/>
          </a:solidFill>
          <a:ln w="9525">
            <a:noFill/>
            <a:miter lim="800000"/>
            <a:headEnd/>
            <a:tailEnd/>
          </a:ln>
          <a:effectLst/>
        </p:spPr>
        <p:txBody>
          <a:bodyPr vert="eaVert" wrap="none" anchor="ctr"/>
          <a:lstStyle/>
          <a:p>
            <a:endParaRPr lang="zh-CN" alt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56445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44"/>
                                        </p:tgtEl>
                                        <p:attrNameLst>
                                          <p:attrName>style.visibility</p:attrName>
                                        </p:attrNameLst>
                                      </p:cBhvr>
                                      <p:to>
                                        <p:strVal val="visible"/>
                                      </p:to>
                                    </p:set>
                                    <p:animEffect transition="in" filter="wipe(left)">
                                      <p:cBhvr>
                                        <p:cTn id="7" dur="500"/>
                                        <p:tgtEl>
                                          <p:spTgt spid="14344"/>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4345"/>
                                        </p:tgtEl>
                                        <p:attrNameLst>
                                          <p:attrName>style.visibility</p:attrName>
                                        </p:attrNameLst>
                                      </p:cBhvr>
                                      <p:to>
                                        <p:strVal val="visible"/>
                                      </p:to>
                                    </p:set>
                                    <p:animEffect transition="in" filter="wipe(left)">
                                      <p:cBhvr>
                                        <p:cTn id="11" dur="500"/>
                                        <p:tgtEl>
                                          <p:spTgt spid="1434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4346"/>
                                        </p:tgtEl>
                                        <p:attrNameLst>
                                          <p:attrName>style.visibility</p:attrName>
                                        </p:attrNameLst>
                                      </p:cBhvr>
                                      <p:to>
                                        <p:strVal val="visible"/>
                                      </p:to>
                                    </p:set>
                                    <p:animEffect transition="in" filter="wipe(left)">
                                      <p:cBhvr>
                                        <p:cTn id="16" dur="500"/>
                                        <p:tgtEl>
                                          <p:spTgt spid="1434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4347"/>
                                        </p:tgtEl>
                                        <p:attrNameLst>
                                          <p:attrName>style.visibility</p:attrName>
                                        </p:attrNameLst>
                                      </p:cBhvr>
                                      <p:to>
                                        <p:strVal val="visible"/>
                                      </p:to>
                                    </p:set>
                                    <p:animEffect transition="in" filter="wipe(left)">
                                      <p:cBhvr>
                                        <p:cTn id="21" dur="500"/>
                                        <p:tgtEl>
                                          <p:spTgt spid="1434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14349"/>
                                        </p:tgtEl>
                                        <p:attrNameLst>
                                          <p:attrName>style.visibility</p:attrName>
                                        </p:attrNameLst>
                                      </p:cBhvr>
                                      <p:to>
                                        <p:strVal val="visible"/>
                                      </p:to>
                                    </p:set>
                                    <p:animEffect transition="in" filter="wipe(up)">
                                      <p:cBhvr>
                                        <p:cTn id="26" dur="500"/>
                                        <p:tgtEl>
                                          <p:spTgt spid="1434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4348"/>
                                        </p:tgtEl>
                                        <p:attrNameLst>
                                          <p:attrName>style.visibility</p:attrName>
                                        </p:attrNameLst>
                                      </p:cBhvr>
                                      <p:to>
                                        <p:strVal val="visible"/>
                                      </p:to>
                                    </p:set>
                                    <p:animEffect transition="in" filter="wipe(left)">
                                      <p:cBhvr>
                                        <p:cTn id="31" dur="500"/>
                                        <p:tgtEl>
                                          <p:spTgt spid="1434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ipe(up)">
                                      <p:cBhvr>
                                        <p:cTn id="36" dur="500"/>
                                        <p:tgtEl>
                                          <p:spTgt spid="9"/>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4350"/>
                                        </p:tgtEl>
                                        <p:attrNameLst>
                                          <p:attrName>style.visibility</p:attrName>
                                        </p:attrNameLst>
                                      </p:cBhvr>
                                      <p:to>
                                        <p:strVal val="visible"/>
                                      </p:to>
                                    </p:set>
                                    <p:animEffect transition="in" filter="wipe(left)">
                                      <p:cBhvr>
                                        <p:cTn id="41" dur="500"/>
                                        <p:tgtEl>
                                          <p:spTgt spid="143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4" grpId="0"/>
      <p:bldP spid="14345" grpId="0"/>
      <p:bldP spid="14346" grpId="0"/>
      <p:bldP spid="14347" grpId="0"/>
      <p:bldP spid="14348" grpId="0"/>
      <p:bldP spid="1435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12243172-172D-708A-D570-A7F43024E97C}"/>
              </a:ext>
            </a:extLst>
          </p:cNvPr>
          <p:cNvGrpSpPr/>
          <p:nvPr/>
        </p:nvGrpSpPr>
        <p:grpSpPr>
          <a:xfrm>
            <a:off x="687324" y="535820"/>
            <a:ext cx="10817987" cy="5803091"/>
            <a:chOff x="687324" y="535820"/>
            <a:chExt cx="10817987" cy="5803091"/>
          </a:xfrm>
        </p:grpSpPr>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59565923-9DB6-1919-784F-F97DAF0A76AB}"/>
                    </a:ext>
                  </a:extLst>
                </p:cNvPr>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dirty="0"/>
                </a:p>
              </p:txBody>
            </p:sp>
          </mc:Choice>
          <mc:Fallback xmlns="">
            <p:sp>
              <p:nvSpPr>
                <p:cNvPr id="12" name="矩形 11">
                  <a:extLst>
                    <a:ext uri="{FF2B5EF4-FFF2-40B4-BE49-F238E27FC236}">
                      <a16:creationId xmlns:a16="http://schemas.microsoft.com/office/drawing/2014/main" id="{59565923-9DB6-1919-784F-F97DAF0A76AB}"/>
                    </a:ext>
                  </a:extLst>
                </p:cNvPr>
                <p:cNvSpPr>
                  <a:spLocks noRot="1" noChangeAspect="1" noMove="1" noResize="1" noEditPoints="1" noAdjustHandles="1" noChangeArrowheads="1" noChangeShapeType="1" noTextEdit="1"/>
                </p:cNvSpPr>
                <p:nvPr/>
              </p:nvSpPr>
              <p:spPr>
                <a:xfrm>
                  <a:off x="687959" y="536260"/>
                  <a:ext cx="10817352" cy="5799897"/>
                </a:xfrm>
                <a:prstGeom prst="rect">
                  <a:avLst/>
                </a:prstGeom>
                <a:blipFill>
                  <a:blip r:embed="rId2"/>
                  <a:stretch>
                    <a:fillRect/>
                  </a:stretch>
                </a:blipFill>
                <a:ln>
                  <a:noFill/>
                </a:ln>
                <a:effectLst>
                  <a:outerShdw blurRad="63500" sx="102000" sy="102000" algn="ctr" rotWithShape="0">
                    <a:prstClr val="black">
                      <a:alpha val="9000"/>
                    </a:prstClr>
                  </a:outerShdw>
                </a:effectLst>
              </p:spPr>
              <p:txBody>
                <a:bodyPr/>
                <a:lstStyle/>
                <a:p>
                  <a:r>
                    <a:rPr lang="zh-CN" altLang="en-US">
                      <a:noFill/>
                    </a:rPr>
                    <a:t> </a:t>
                  </a:r>
                </a:p>
              </p:txBody>
            </p:sp>
          </mc:Fallback>
        </mc:AlternateContent>
        <p:sp>
          <p:nvSpPr>
            <p:cNvPr id="13" name="半闭框 12">
              <a:extLst>
                <a:ext uri="{FF2B5EF4-FFF2-40B4-BE49-F238E27FC236}">
                  <a16:creationId xmlns:a16="http://schemas.microsoft.com/office/drawing/2014/main" id="{3810A53B-7DDB-4485-1C26-6E24A94A2C61}"/>
                </a:ext>
              </a:extLst>
            </p:cNvPr>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半闭框 13">
              <a:extLst>
                <a:ext uri="{FF2B5EF4-FFF2-40B4-BE49-F238E27FC236}">
                  <a16:creationId xmlns:a16="http://schemas.microsoft.com/office/drawing/2014/main" id="{A71B12DA-A16D-0535-7419-FED86A79E111}"/>
                </a:ext>
              </a:extLst>
            </p:cNvPr>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半闭框 14">
              <a:extLst>
                <a:ext uri="{FF2B5EF4-FFF2-40B4-BE49-F238E27FC236}">
                  <a16:creationId xmlns:a16="http://schemas.microsoft.com/office/drawing/2014/main" id="{4E501862-4B69-C740-4CAB-7947046EA3A0}"/>
                </a:ext>
              </a:extLst>
            </p:cNvPr>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16" name="半闭框 15">
              <a:extLst>
                <a:ext uri="{FF2B5EF4-FFF2-40B4-BE49-F238E27FC236}">
                  <a16:creationId xmlns:a16="http://schemas.microsoft.com/office/drawing/2014/main" id="{77930527-EABC-25D8-B41D-03391EEA1B87}"/>
                </a:ext>
              </a:extLst>
            </p:cNvPr>
            <p:cNvSpPr/>
            <p:nvPr/>
          </p:nvSpPr>
          <p:spPr>
            <a:xfrm flipH="1" flipV="1">
              <a:off x="10823530"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2197" name="Rectangle 149"/>
          <p:cNvSpPr>
            <a:spLocks noChangeArrowheads="1"/>
          </p:cNvSpPr>
          <p:nvPr/>
        </p:nvSpPr>
        <p:spPr bwMode="auto">
          <a:xfrm>
            <a:off x="1962153" y="2465097"/>
            <a:ext cx="54373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800" b="1" dirty="0">
                <a:solidFill>
                  <a:srgbClr val="04926A"/>
                </a:solidFill>
                <a:latin typeface="微软雅黑" panose="020B0503020204020204" pitchFamily="34" charset="-122"/>
                <a:ea typeface="微软雅黑" panose="020B0503020204020204" pitchFamily="34" charset="-122"/>
              </a:rPr>
              <a:t>解</a:t>
            </a:r>
          </a:p>
        </p:txBody>
      </p:sp>
      <p:sp>
        <p:nvSpPr>
          <p:cNvPr id="2207" name="Text Box 159"/>
          <p:cNvSpPr txBox="1">
            <a:spLocks noChangeArrowheads="1"/>
          </p:cNvSpPr>
          <p:nvPr/>
        </p:nvSpPr>
        <p:spPr bwMode="auto">
          <a:xfrm>
            <a:off x="2854070" y="2511254"/>
            <a:ext cx="719137"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200" dirty="0">
                <a:latin typeface="Times New Roman" panose="02020603050405020304" pitchFamily="18" charset="0"/>
                <a:cs typeface="Times New Roman" panose="02020603050405020304" pitchFamily="18" charset="0"/>
                <a:sym typeface="Symbol" panose="05050102010706020507" pitchFamily="18" charset="2"/>
              </a:rPr>
              <a:t>令</a:t>
            </a:r>
          </a:p>
        </p:txBody>
      </p:sp>
      <mc:AlternateContent xmlns:mc="http://schemas.openxmlformats.org/markup-compatibility/2006" xmlns:a14="http://schemas.microsoft.com/office/drawing/2010/main">
        <mc:Choice Requires="a14">
          <p:sp>
            <p:nvSpPr>
              <p:cNvPr id="2217" name="Text Box 169"/>
              <p:cNvSpPr txBox="1">
                <a:spLocks noChangeArrowheads="1"/>
              </p:cNvSpPr>
              <p:nvPr/>
            </p:nvSpPr>
            <p:spPr bwMode="auto">
              <a:xfrm>
                <a:off x="1962153" y="1150971"/>
                <a:ext cx="7446961"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800" b="1" dirty="0">
                    <a:solidFill>
                      <a:srgbClr val="04926A"/>
                    </a:solidFill>
                    <a:latin typeface="微软雅黑" panose="020B0503020204020204" pitchFamily="34" charset="-122"/>
                    <a:ea typeface="微软雅黑" panose="020B0503020204020204" pitchFamily="34" charset="-122"/>
                  </a:rPr>
                  <a:t>例</a:t>
                </a:r>
                <a:r>
                  <a:rPr kumimoji="1" lang="en-US" altLang="zh-CN" sz="2800" b="1" dirty="0">
                    <a:solidFill>
                      <a:srgbClr val="04926A"/>
                    </a:solidFill>
                    <a:latin typeface="微软雅黑" panose="020B0503020204020204" pitchFamily="34" charset="-122"/>
                    <a:ea typeface="微软雅黑" panose="020B0503020204020204" pitchFamily="34" charset="-122"/>
                  </a:rPr>
                  <a:t>2</a:t>
                </a:r>
                <a:r>
                  <a:rPr lang="en-US" altLang="zh-CN" sz="2800" dirty="0">
                    <a:solidFill>
                      <a:srgbClr val="3333CC"/>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已知三点</a:t>
                </a:r>
                <a14:m>
                  <m:oMath xmlns:m="http://schemas.openxmlformats.org/officeDocument/2006/math">
                    <m:r>
                      <a:rPr lang="zh-CN" altLang="en-US" sz="2800" i="1" smtClean="0">
                        <a:latin typeface="Cambria Math" panose="02040503050406030204" pitchFamily="18" charset="0"/>
                      </a:rPr>
                      <m:t>𝑀</m:t>
                    </m:r>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1,1,1</m:t>
                        </m:r>
                      </m:e>
                    </m:d>
                    <m:r>
                      <a:rPr lang="en-US" altLang="zh-CN" sz="2800" b="0" i="0" smtClean="0">
                        <a:latin typeface="Cambria Math" panose="02040503050406030204" pitchFamily="18" charset="0"/>
                      </a:rPr>
                      <m:t>,</m:t>
                    </m:r>
                    <m:r>
                      <a:rPr lang="en-US" altLang="zh-CN" sz="2800" b="0" i="1" smtClean="0">
                        <a:latin typeface="Cambria Math" panose="02040503050406030204" pitchFamily="18" charset="0"/>
                      </a:rPr>
                      <m:t>𝐴</m:t>
                    </m:r>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2,2,1</m:t>
                        </m:r>
                      </m:e>
                    </m:d>
                    <m:r>
                      <a:rPr lang="en-US" altLang="zh-CN" sz="2800" b="0" i="1" smtClean="0">
                        <a:latin typeface="Cambria Math" panose="02040503050406030204" pitchFamily="18" charset="0"/>
                      </a:rPr>
                      <m:t>,</m:t>
                    </m:r>
                  </m:oMath>
                </a14:m>
                <a:r>
                  <a:rPr lang="zh-CN" altLang="en-US" sz="2800" dirty="0">
                    <a:latin typeface="Times New Roman" panose="02020603050405020304" pitchFamily="18" charset="0"/>
                    <a:cs typeface="Times New Roman" panose="02020603050405020304" pitchFamily="18" charset="0"/>
                  </a:rPr>
                  <a:t>和</a:t>
                </a:r>
                <a14:m>
                  <m:oMath xmlns:m="http://schemas.openxmlformats.org/officeDocument/2006/math">
                    <m:r>
                      <a:rPr lang="en-US" altLang="zh-CN" sz="2800" b="0" i="1" smtClean="0">
                        <a:latin typeface="Cambria Math" panose="02040503050406030204" pitchFamily="18" charset="0"/>
                      </a:rPr>
                      <m:t>𝐵</m:t>
                    </m:r>
                    <m:d>
                      <m:dPr>
                        <m:ctrlPr>
                          <a:rPr lang="en-US" altLang="zh-CN" sz="2800" i="1">
                            <a:latin typeface="Cambria Math" panose="02040503050406030204" pitchFamily="18" charset="0"/>
                          </a:rPr>
                        </m:ctrlPr>
                      </m:dPr>
                      <m:e>
                        <m:r>
                          <a:rPr lang="en-US" altLang="zh-CN" sz="2800" i="1">
                            <a:latin typeface="Cambria Math" panose="02040503050406030204" pitchFamily="18" charset="0"/>
                          </a:rPr>
                          <m:t>2,</m:t>
                        </m:r>
                        <m:r>
                          <a:rPr lang="en-US" altLang="zh-CN" sz="2800" b="0" i="1" smtClean="0">
                            <a:latin typeface="Cambria Math" panose="02040503050406030204" pitchFamily="18" charset="0"/>
                          </a:rPr>
                          <m:t>1</m:t>
                        </m:r>
                        <m:r>
                          <a:rPr lang="en-US" altLang="zh-CN" sz="2800" i="1">
                            <a:latin typeface="Cambria Math" panose="02040503050406030204" pitchFamily="18" charset="0"/>
                          </a:rPr>
                          <m:t>,</m:t>
                        </m:r>
                        <m:r>
                          <a:rPr lang="en-US" altLang="zh-CN" sz="2800" b="0" i="1" smtClean="0">
                            <a:latin typeface="Cambria Math" panose="02040503050406030204" pitchFamily="18" charset="0"/>
                          </a:rPr>
                          <m:t>2</m:t>
                        </m:r>
                      </m:e>
                    </m:d>
                    <m:r>
                      <a:rPr lang="en-US" altLang="zh-CN" sz="2800" i="1">
                        <a:latin typeface="Cambria Math" panose="02040503050406030204" pitchFamily="18" charset="0"/>
                      </a:rPr>
                      <m:t>,</m:t>
                    </m:r>
                  </m:oMath>
                </a14:m>
                <a:r>
                  <a:rPr lang="zh-CN" altLang="en-US" sz="2800" dirty="0">
                    <a:latin typeface="Times New Roman" panose="02020603050405020304" pitchFamily="18" charset="0"/>
                    <a:cs typeface="Times New Roman" panose="02020603050405020304" pitchFamily="18" charset="0"/>
                  </a:rPr>
                  <a:t>求</a:t>
                </a:r>
              </a:p>
            </p:txBody>
          </p:sp>
        </mc:Choice>
        <mc:Fallback xmlns="">
          <p:sp>
            <p:nvSpPr>
              <p:cNvPr id="2217" name="Text Box 169"/>
              <p:cNvSpPr txBox="1">
                <a:spLocks noRot="1" noChangeAspect="1" noMove="1" noResize="1" noEditPoints="1" noAdjustHandles="1" noChangeArrowheads="1" noChangeShapeType="1" noTextEdit="1"/>
              </p:cNvSpPr>
              <p:nvPr/>
            </p:nvSpPr>
            <p:spPr bwMode="auto">
              <a:xfrm>
                <a:off x="1962153" y="1150971"/>
                <a:ext cx="7446961" cy="523220"/>
              </a:xfrm>
              <a:prstGeom prst="rect">
                <a:avLst/>
              </a:prstGeom>
              <a:blipFill>
                <a:blip r:embed="rId5"/>
                <a:stretch>
                  <a:fillRect l="-1720" t="-16279" r="-983" b="-3255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18" name="Text Box 170"/>
              <p:cNvSpPr txBox="1">
                <a:spLocks noChangeArrowheads="1"/>
              </p:cNvSpPr>
              <p:nvPr/>
            </p:nvSpPr>
            <p:spPr bwMode="auto">
              <a:xfrm>
                <a:off x="2893756" y="1675595"/>
                <a:ext cx="1563944"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14:m>
                  <m:oMath xmlns:m="http://schemas.openxmlformats.org/officeDocument/2006/math">
                    <m:r>
                      <a:rPr lang="zh-CN" altLang="en-US" sz="2800" i="1" smtClean="0">
                        <a:latin typeface="Cambria Math" panose="02040503050406030204" pitchFamily="18" charset="0"/>
                      </a:rPr>
                      <m:t>∠</m:t>
                    </m:r>
                    <m:r>
                      <a:rPr lang="zh-CN" altLang="en-US" sz="2800" i="1" smtClean="0">
                        <a:latin typeface="Cambria Math" panose="02040503050406030204" pitchFamily="18" charset="0"/>
                      </a:rPr>
                      <m:t>𝐴𝑀𝐵</m:t>
                    </m:r>
                  </m:oMath>
                </a14:m>
                <a:r>
                  <a:rPr lang="zh-CN" altLang="en-US" sz="2800" dirty="0">
                    <a:latin typeface="Cambria Math" panose="02040503050406030204" pitchFamily="18" charset="0"/>
                  </a:rPr>
                  <a:t>．</a:t>
                </a:r>
              </a:p>
            </p:txBody>
          </p:sp>
        </mc:Choice>
        <mc:Fallback xmlns="">
          <p:sp>
            <p:nvSpPr>
              <p:cNvPr id="2218" name="Text Box 170"/>
              <p:cNvSpPr txBox="1">
                <a:spLocks noRot="1" noChangeAspect="1" noMove="1" noResize="1" noEditPoints="1" noAdjustHandles="1" noChangeArrowheads="1" noChangeShapeType="1" noTextEdit="1"/>
              </p:cNvSpPr>
              <p:nvPr/>
            </p:nvSpPr>
            <p:spPr bwMode="auto">
              <a:xfrm>
                <a:off x="2893756" y="1675595"/>
                <a:ext cx="1563944" cy="523220"/>
              </a:xfrm>
              <a:prstGeom prst="rect">
                <a:avLst/>
              </a:prstGeom>
              <a:blipFill>
                <a:blip r:embed="rId6"/>
                <a:stretch>
                  <a:fillRect t="-16279" r="-6641" b="-2790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19" name="Object 171"/>
              <p:cNvSpPr txBox="1"/>
              <p:nvPr/>
            </p:nvSpPr>
            <p:spPr bwMode="auto">
              <a:xfrm>
                <a:off x="3285870" y="2425377"/>
                <a:ext cx="2509740" cy="54133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200" b="1" i="1">
                          <a:latin typeface="Cambria Math" panose="02040503050406030204" pitchFamily="18" charset="0"/>
                        </a:rPr>
                        <m:t>𝒂</m:t>
                      </m:r>
                      <m:r>
                        <a:rPr lang="zh-CN" altLang="en-US" sz="2200" b="0" i="1">
                          <a:latin typeface="Cambria Math" panose="02040503050406030204" pitchFamily="18" charset="0"/>
                        </a:rPr>
                        <m:t>=</m:t>
                      </m:r>
                      <m:groupChr>
                        <m:groupChrPr>
                          <m:chr m:val="→"/>
                          <m:pos m:val="top"/>
                          <m:vertJc m:val="bot"/>
                          <m:ctrlPr>
                            <a:rPr lang="zh-CN" altLang="en-US" sz="2200" i="1">
                              <a:latin typeface="Cambria Math" panose="02040503050406030204" pitchFamily="18" charset="0"/>
                            </a:rPr>
                          </m:ctrlPr>
                        </m:groupChrPr>
                        <m:e>
                          <m:r>
                            <a:rPr lang="zh-CN" altLang="en-US" sz="2200" b="0" i="1">
                              <a:latin typeface="Cambria Math" panose="02040503050406030204" pitchFamily="18" charset="0"/>
                            </a:rPr>
                            <m:t>𝑀𝐴</m:t>
                          </m:r>
                        </m:e>
                      </m:groupChr>
                      <m:r>
                        <a:rPr lang="zh-CN" altLang="en-US" sz="2200" b="0" i="1">
                          <a:latin typeface="Cambria Math" panose="02040503050406030204" pitchFamily="18" charset="0"/>
                        </a:rPr>
                        <m:t>, </m:t>
                      </m:r>
                      <m:r>
                        <a:rPr lang="zh-CN" altLang="en-US" sz="2200" b="1" i="1">
                          <a:latin typeface="Cambria Math" panose="02040503050406030204" pitchFamily="18" charset="0"/>
                        </a:rPr>
                        <m:t>𝒃</m:t>
                      </m:r>
                      <m:r>
                        <a:rPr lang="zh-CN" altLang="en-US" sz="2200" b="0" i="1">
                          <a:latin typeface="Cambria Math" panose="02040503050406030204" pitchFamily="18" charset="0"/>
                        </a:rPr>
                        <m:t>=</m:t>
                      </m:r>
                      <m:groupChr>
                        <m:groupChrPr>
                          <m:chr m:val="→"/>
                          <m:pos m:val="top"/>
                          <m:vertJc m:val="bot"/>
                          <m:ctrlPr>
                            <a:rPr lang="zh-CN" altLang="en-US" sz="2200" i="1">
                              <a:latin typeface="Cambria Math" panose="02040503050406030204" pitchFamily="18" charset="0"/>
                            </a:rPr>
                          </m:ctrlPr>
                        </m:groupChrPr>
                        <m:e>
                          <m:r>
                            <a:rPr lang="zh-CN" altLang="en-US" sz="2200" b="0" i="1">
                              <a:latin typeface="Cambria Math" panose="02040503050406030204" pitchFamily="18" charset="0"/>
                            </a:rPr>
                            <m:t>𝑀𝐵</m:t>
                          </m:r>
                        </m:e>
                      </m:groupChr>
                      <m:r>
                        <a:rPr lang="zh-CN" altLang="en-US" sz="2200" b="0" i="1">
                          <a:latin typeface="Cambria Math" panose="02040503050406030204" pitchFamily="18" charset="0"/>
                        </a:rPr>
                        <m:t>,</m:t>
                      </m:r>
                    </m:oMath>
                  </m:oMathPara>
                </a14:m>
                <a:endParaRPr lang="zh-CN" altLang="en-US" sz="2200" i="1" dirty="0">
                  <a:latin typeface="Cambria Math" panose="02040503050406030204" pitchFamily="18" charset="0"/>
                </a:endParaRPr>
              </a:p>
            </p:txBody>
          </p:sp>
        </mc:Choice>
        <mc:Fallback xmlns="">
          <p:sp>
            <p:nvSpPr>
              <p:cNvPr id="2219" name="Object 171"/>
              <p:cNvSpPr txBox="1">
                <a:spLocks noRot="1" noChangeAspect="1" noMove="1" noResize="1" noEditPoints="1" noAdjustHandles="1" noChangeArrowheads="1" noChangeShapeType="1" noTextEdit="1"/>
              </p:cNvSpPr>
              <p:nvPr/>
            </p:nvSpPr>
            <p:spPr bwMode="auto">
              <a:xfrm>
                <a:off x="3285870" y="2425377"/>
                <a:ext cx="2509740" cy="541337"/>
              </a:xfrm>
              <a:prstGeom prst="rect">
                <a:avLst/>
              </a:prstGeom>
              <a:blipFill>
                <a:blip r:embed="rId7"/>
                <a:stretch>
                  <a:fillRect/>
                </a:stretch>
              </a:blipFill>
              <a:ln>
                <a:noFill/>
              </a:ln>
              <a:effectLst/>
            </p:spPr>
            <p:txBody>
              <a:bodyPr/>
              <a:lstStyle/>
              <a:p>
                <a:r>
                  <a:rPr lang="zh-CN" altLang="en-US">
                    <a:noFill/>
                  </a:rPr>
                  <a:t> </a:t>
                </a:r>
              </a:p>
            </p:txBody>
          </p:sp>
        </mc:Fallback>
      </mc:AlternateContent>
      <p:sp>
        <p:nvSpPr>
          <p:cNvPr id="2220" name="Text Box 172"/>
          <p:cNvSpPr txBox="1">
            <a:spLocks noChangeArrowheads="1"/>
          </p:cNvSpPr>
          <p:nvPr/>
        </p:nvSpPr>
        <p:spPr bwMode="auto">
          <a:xfrm>
            <a:off x="5598416" y="2496213"/>
            <a:ext cx="50799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200" dirty="0">
                <a:latin typeface="Times New Roman" panose="02020603050405020304" pitchFamily="18" charset="0"/>
                <a:cs typeface="Times New Roman" panose="02020603050405020304" pitchFamily="18" charset="0"/>
              </a:rPr>
              <a:t>则</a:t>
            </a:r>
          </a:p>
        </p:txBody>
      </p:sp>
      <mc:AlternateContent xmlns:mc="http://schemas.openxmlformats.org/markup-compatibility/2006" xmlns:a14="http://schemas.microsoft.com/office/drawing/2010/main">
        <mc:Choice Requires="a14">
          <p:sp>
            <p:nvSpPr>
              <p:cNvPr id="2221" name="Text Box 173"/>
              <p:cNvSpPr txBox="1">
                <a:spLocks noChangeArrowheads="1"/>
              </p:cNvSpPr>
              <p:nvPr/>
            </p:nvSpPr>
            <p:spPr bwMode="auto">
              <a:xfrm>
                <a:off x="3305309" y="3089864"/>
                <a:ext cx="3324709" cy="4308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14:m>
                  <m:oMathPara xmlns:m="http://schemas.openxmlformats.org/officeDocument/2006/math">
                    <m:oMathParaPr>
                      <m:jc m:val="left"/>
                    </m:oMathParaPr>
                    <m:oMath xmlns:m="http://schemas.openxmlformats.org/officeDocument/2006/math">
                      <m:r>
                        <a:rPr lang="zh-CN" altLang="en-US" sz="2200" b="1" i="1" smtClean="0">
                          <a:latin typeface="Cambria Math" panose="02040503050406030204" pitchFamily="18" charset="0"/>
                        </a:rPr>
                        <m:t>𝒂</m:t>
                      </m:r>
                      <m:r>
                        <a:rPr lang="en-US" altLang="zh-CN" sz="2200" b="0" i="1" smtClean="0">
                          <a:latin typeface="Cambria Math" panose="02040503050406030204" pitchFamily="18" charset="0"/>
                        </a:rPr>
                        <m:t>=</m:t>
                      </m:r>
                      <m:d>
                        <m:dPr>
                          <m:ctrlPr>
                            <a:rPr lang="en-US" altLang="zh-CN" sz="2200" b="0" i="1" smtClean="0">
                              <a:latin typeface="Cambria Math" panose="02040503050406030204" pitchFamily="18" charset="0"/>
                            </a:rPr>
                          </m:ctrlPr>
                        </m:dPr>
                        <m:e>
                          <m:r>
                            <a:rPr lang="en-US" altLang="zh-CN" sz="2200" b="0" i="0" smtClean="0">
                              <a:latin typeface="Cambria Math" panose="02040503050406030204" pitchFamily="18" charset="0"/>
                            </a:rPr>
                            <m:t>1,1,0</m:t>
                          </m:r>
                        </m:e>
                      </m:d>
                      <m:r>
                        <a:rPr lang="en-US" altLang="zh-CN" sz="2200" b="0" i="0" smtClean="0">
                          <a:latin typeface="Cambria Math" panose="02040503050406030204" pitchFamily="18" charset="0"/>
                        </a:rPr>
                        <m:t>, </m:t>
                      </m:r>
                      <m:r>
                        <a:rPr lang="zh-CN" altLang="en-US" sz="2200" b="1" i="1">
                          <a:latin typeface="Cambria Math" panose="02040503050406030204" pitchFamily="18" charset="0"/>
                        </a:rPr>
                        <m:t>𝒃</m:t>
                      </m:r>
                      <m:r>
                        <a:rPr lang="en-US" altLang="zh-CN" sz="2200" b="0" i="1" smtClean="0">
                          <a:latin typeface="Cambria Math" panose="02040503050406030204" pitchFamily="18" charset="0"/>
                        </a:rPr>
                        <m:t>=</m:t>
                      </m:r>
                      <m:d>
                        <m:dPr>
                          <m:ctrlPr>
                            <a:rPr lang="en-US" altLang="zh-CN" sz="2200" b="0" i="1" smtClean="0">
                              <a:latin typeface="Cambria Math" panose="02040503050406030204" pitchFamily="18" charset="0"/>
                            </a:rPr>
                          </m:ctrlPr>
                        </m:dPr>
                        <m:e>
                          <m:r>
                            <a:rPr lang="en-US" altLang="zh-CN" sz="2200" b="0" i="1" smtClean="0">
                              <a:latin typeface="Cambria Math" panose="02040503050406030204" pitchFamily="18" charset="0"/>
                            </a:rPr>
                            <m:t>1,0,1</m:t>
                          </m:r>
                        </m:e>
                      </m:d>
                      <m:r>
                        <a:rPr lang="en-US" altLang="zh-CN" sz="2200" b="0" i="1" smtClean="0">
                          <a:latin typeface="Cambria Math" panose="02040503050406030204" pitchFamily="18" charset="0"/>
                        </a:rPr>
                        <m:t>.</m:t>
                      </m:r>
                    </m:oMath>
                  </m:oMathPara>
                </a14:m>
                <a:endParaRPr lang="zh-CN" altLang="en-US" sz="2200" dirty="0">
                  <a:latin typeface="Cambria Math" panose="02040503050406030204" pitchFamily="18" charset="0"/>
                </a:endParaRPr>
              </a:p>
            </p:txBody>
          </p:sp>
        </mc:Choice>
        <mc:Fallback xmlns="">
          <p:sp>
            <p:nvSpPr>
              <p:cNvPr id="2221" name="Text Box 173"/>
              <p:cNvSpPr txBox="1">
                <a:spLocks noRot="1" noChangeAspect="1" noMove="1" noResize="1" noEditPoints="1" noAdjustHandles="1" noChangeArrowheads="1" noChangeShapeType="1" noTextEdit="1"/>
              </p:cNvSpPr>
              <p:nvPr/>
            </p:nvSpPr>
            <p:spPr bwMode="auto">
              <a:xfrm>
                <a:off x="3305309" y="3089864"/>
                <a:ext cx="3324709" cy="430887"/>
              </a:xfrm>
              <a:prstGeom prst="rect">
                <a:avLst/>
              </a:prstGeom>
              <a:blipFill>
                <a:blip r:embed="rId8"/>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22" name="Object 174"/>
              <p:cNvSpPr txBox="1"/>
              <p:nvPr/>
            </p:nvSpPr>
            <p:spPr bwMode="auto">
              <a:xfrm>
                <a:off x="3267812" y="3668474"/>
                <a:ext cx="3467255" cy="919162"/>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func>
                        <m:funcPr>
                          <m:ctrlPr>
                            <a:rPr lang="zh-CN" altLang="en-US" sz="2200" i="1">
                              <a:latin typeface="Cambria Math" panose="02040503050406030204" pitchFamily="18" charset="0"/>
                            </a:rPr>
                          </m:ctrlPr>
                        </m:funcPr>
                        <m:fName>
                          <m:r>
                            <m:rPr>
                              <m:sty m:val="p"/>
                            </m:rPr>
                            <a:rPr lang="zh-CN" altLang="en-US" sz="2200" i="0">
                              <a:latin typeface="Cambria Math" panose="02040503050406030204" pitchFamily="18" charset="0"/>
                            </a:rPr>
                            <m:t>cos</m:t>
                          </m:r>
                        </m:fName>
                        <m:e>
                          <m:r>
                            <a:rPr lang="zh-CN" altLang="en-US" sz="2200" i="1">
                              <a:latin typeface="Cambria Math" panose="02040503050406030204" pitchFamily="18" charset="0"/>
                            </a:rPr>
                            <m:t>∠</m:t>
                          </m:r>
                        </m:e>
                      </m:func>
                      <m:r>
                        <a:rPr lang="zh-CN" altLang="en-US" sz="2200" i="1">
                          <a:latin typeface="Cambria Math" panose="02040503050406030204" pitchFamily="18" charset="0"/>
                        </a:rPr>
                        <m:t>𝐴𝑀𝐵</m:t>
                      </m:r>
                      <m:r>
                        <a:rPr lang="zh-CN" altLang="en-US" sz="2200" i="1">
                          <a:latin typeface="Cambria Math" panose="02040503050406030204" pitchFamily="18" charset="0"/>
                        </a:rPr>
                        <m:t>=</m:t>
                      </m:r>
                      <m:f>
                        <m:fPr>
                          <m:ctrlPr>
                            <a:rPr lang="zh-CN" altLang="en-US" sz="2200" i="1">
                              <a:latin typeface="Cambria Math" panose="02040503050406030204" pitchFamily="18" charset="0"/>
                            </a:rPr>
                          </m:ctrlPr>
                        </m:fPr>
                        <m:num>
                          <m:r>
                            <a:rPr lang="zh-CN" altLang="en-US" sz="2200" b="1" i="1">
                              <a:latin typeface="Cambria Math" panose="02040503050406030204" pitchFamily="18" charset="0"/>
                            </a:rPr>
                            <m:t>𝒂</m:t>
                          </m:r>
                          <m:r>
                            <a:rPr lang="zh-CN" altLang="en-US" sz="2200" i="1">
                              <a:latin typeface="Cambria Math" panose="02040503050406030204" pitchFamily="18" charset="0"/>
                            </a:rPr>
                            <m:t>⋅</m:t>
                          </m:r>
                          <m:r>
                            <a:rPr lang="zh-CN" altLang="en-US" sz="2200" b="1" i="1">
                              <a:latin typeface="Cambria Math" panose="02040503050406030204" pitchFamily="18" charset="0"/>
                            </a:rPr>
                            <m:t>𝒃</m:t>
                          </m:r>
                        </m:num>
                        <m:den>
                          <m:r>
                            <a:rPr lang="zh-CN" altLang="en-US" sz="2200" i="1">
                              <a:latin typeface="Cambria Math" panose="02040503050406030204" pitchFamily="18" charset="0"/>
                            </a:rPr>
                            <m:t>|</m:t>
                          </m:r>
                          <m:r>
                            <a:rPr lang="zh-CN" altLang="en-US" sz="2200" b="1" i="1">
                              <a:latin typeface="Cambria Math" panose="02040503050406030204" pitchFamily="18" charset="0"/>
                            </a:rPr>
                            <m:t>𝒂</m:t>
                          </m:r>
                          <m:r>
                            <a:rPr lang="zh-CN" altLang="en-US" sz="2200" i="1">
                              <a:latin typeface="Cambria Math" panose="02040503050406030204" pitchFamily="18" charset="0"/>
                            </a:rPr>
                            <m:t>| |</m:t>
                          </m:r>
                          <m:r>
                            <a:rPr lang="zh-CN" altLang="en-US" sz="2200" b="1" i="1">
                              <a:latin typeface="Cambria Math" panose="02040503050406030204" pitchFamily="18" charset="0"/>
                            </a:rPr>
                            <m:t>𝒃</m:t>
                          </m:r>
                          <m:r>
                            <a:rPr lang="zh-CN" altLang="en-US" sz="2200" i="1">
                              <a:latin typeface="Cambria Math" panose="02040503050406030204" pitchFamily="18" charset="0"/>
                            </a:rPr>
                            <m:t>|</m:t>
                          </m:r>
                        </m:den>
                      </m:f>
                      <m:r>
                        <a:rPr lang="zh-CN" altLang="en-US" sz="2200" i="1">
                          <a:latin typeface="Cambria Math" panose="02040503050406030204" pitchFamily="18" charset="0"/>
                        </a:rPr>
                        <m:t>=</m:t>
                      </m:r>
                      <m:f>
                        <m:fPr>
                          <m:ctrlPr>
                            <a:rPr lang="zh-CN" altLang="en-US" sz="2200" i="1">
                              <a:latin typeface="Cambria Math" panose="02040503050406030204" pitchFamily="18" charset="0"/>
                            </a:rPr>
                          </m:ctrlPr>
                        </m:fPr>
                        <m:num>
                          <m:r>
                            <a:rPr lang="zh-CN" altLang="en-US" sz="2200" i="1">
                              <a:latin typeface="Cambria Math" panose="02040503050406030204" pitchFamily="18" charset="0"/>
                            </a:rPr>
                            <m:t>1</m:t>
                          </m:r>
                        </m:num>
                        <m:den>
                          <m:r>
                            <a:rPr lang="zh-CN" altLang="en-US" sz="2200" i="1">
                              <a:latin typeface="Cambria Math" panose="02040503050406030204" pitchFamily="18" charset="0"/>
                            </a:rPr>
                            <m:t>2</m:t>
                          </m:r>
                        </m:den>
                      </m:f>
                      <m:r>
                        <a:rPr lang="zh-CN" altLang="en-US" sz="2200" i="1">
                          <a:latin typeface="Cambria Math" panose="02040503050406030204" pitchFamily="18" charset="0"/>
                        </a:rPr>
                        <m:t>,</m:t>
                      </m:r>
                    </m:oMath>
                  </m:oMathPara>
                </a14:m>
                <a:endParaRPr lang="zh-CN" altLang="en-US" sz="2200" i="1" dirty="0">
                  <a:latin typeface="Cambria Math" panose="02040503050406030204" pitchFamily="18" charset="0"/>
                </a:endParaRPr>
              </a:p>
            </p:txBody>
          </p:sp>
        </mc:Choice>
        <mc:Fallback xmlns="">
          <p:sp>
            <p:nvSpPr>
              <p:cNvPr id="2222" name="Object 174"/>
              <p:cNvSpPr txBox="1">
                <a:spLocks noRot="1" noChangeAspect="1" noMove="1" noResize="1" noEditPoints="1" noAdjustHandles="1" noChangeArrowheads="1" noChangeShapeType="1" noTextEdit="1"/>
              </p:cNvSpPr>
              <p:nvPr/>
            </p:nvSpPr>
            <p:spPr bwMode="auto">
              <a:xfrm>
                <a:off x="3267812" y="3668474"/>
                <a:ext cx="3467255" cy="919162"/>
              </a:xfrm>
              <a:prstGeom prst="rect">
                <a:avLst/>
              </a:prstGeom>
              <a:blipFill>
                <a:blip r:embed="rId9"/>
                <a:stretch>
                  <a:fillRect/>
                </a:stretch>
              </a:blipFill>
              <a:ln>
                <a:noFill/>
              </a:ln>
              <a:effectLst/>
            </p:spPr>
            <p:txBody>
              <a:bodyPr/>
              <a:lstStyle/>
              <a:p>
                <a:r>
                  <a:rPr lang="zh-CN" altLang="en-US">
                    <a:noFill/>
                  </a:rPr>
                  <a:t> </a:t>
                </a:r>
              </a:p>
            </p:txBody>
          </p:sp>
        </mc:Fallback>
      </mc:AlternateContent>
      <p:sp>
        <p:nvSpPr>
          <p:cNvPr id="2224" name="Text Box 176"/>
          <p:cNvSpPr txBox="1">
            <a:spLocks noChangeArrowheads="1"/>
          </p:cNvSpPr>
          <p:nvPr/>
        </p:nvSpPr>
        <p:spPr bwMode="auto">
          <a:xfrm>
            <a:off x="2854863" y="4627174"/>
            <a:ext cx="859888"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200" dirty="0">
                <a:latin typeface="Times New Roman" panose="02020603050405020304" pitchFamily="18" charset="0"/>
                <a:cs typeface="Times New Roman" panose="02020603050405020304" pitchFamily="18" charset="0"/>
              </a:rPr>
              <a:t>所以</a:t>
            </a:r>
          </a:p>
        </p:txBody>
      </p:sp>
      <mc:AlternateContent xmlns:mc="http://schemas.openxmlformats.org/markup-compatibility/2006" xmlns:a14="http://schemas.microsoft.com/office/drawing/2010/main">
        <mc:Choice Requires="a14">
          <p:sp>
            <p:nvSpPr>
              <p:cNvPr id="2226" name="Object 178"/>
              <p:cNvSpPr txBox="1"/>
              <p:nvPr/>
            </p:nvSpPr>
            <p:spPr bwMode="auto">
              <a:xfrm>
                <a:off x="4098391" y="5195571"/>
                <a:ext cx="1697219" cy="69338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200" i="1">
                          <a:latin typeface="Cambria Math" panose="02040503050406030204" pitchFamily="18" charset="0"/>
                        </a:rPr>
                        <m:t>∠</m:t>
                      </m:r>
                      <m:r>
                        <a:rPr lang="zh-CN" altLang="en-US" sz="2200" i="1">
                          <a:latin typeface="Cambria Math" panose="02040503050406030204" pitchFamily="18" charset="0"/>
                        </a:rPr>
                        <m:t>𝐴𝑀𝐵</m:t>
                      </m:r>
                      <m:r>
                        <a:rPr lang="zh-CN" altLang="en-US" sz="2200" i="1">
                          <a:latin typeface="Cambria Math" panose="02040503050406030204" pitchFamily="18" charset="0"/>
                        </a:rPr>
                        <m:t>=</m:t>
                      </m:r>
                      <m:f>
                        <m:fPr>
                          <m:ctrlPr>
                            <a:rPr lang="zh-CN" altLang="en-US" sz="2200" i="1">
                              <a:latin typeface="Cambria Math" panose="02040503050406030204" pitchFamily="18" charset="0"/>
                            </a:rPr>
                          </m:ctrlPr>
                        </m:fPr>
                        <m:num>
                          <m:r>
                            <m:rPr>
                              <m:sty m:val="p"/>
                            </m:rPr>
                            <a:rPr lang="zh-CN" altLang="en-US" sz="2200" i="1">
                              <a:latin typeface="Cambria Math" panose="02040503050406030204" pitchFamily="18" charset="0"/>
                            </a:rPr>
                            <m:t>π</m:t>
                          </m:r>
                        </m:num>
                        <m:den>
                          <m:r>
                            <a:rPr lang="zh-CN" altLang="en-US" sz="2200" i="1">
                              <a:latin typeface="Cambria Math" panose="02040503050406030204" pitchFamily="18" charset="0"/>
                            </a:rPr>
                            <m:t>3</m:t>
                          </m:r>
                        </m:den>
                      </m:f>
                      <m:r>
                        <a:rPr lang="zh-CN" altLang="en-US" sz="2200" i="1">
                          <a:latin typeface="Cambria Math" panose="02040503050406030204" pitchFamily="18" charset="0"/>
                        </a:rPr>
                        <m:t>.</m:t>
                      </m:r>
                    </m:oMath>
                  </m:oMathPara>
                </a14:m>
                <a:endParaRPr lang="zh-CN" altLang="en-US" sz="2200" i="1" dirty="0">
                  <a:latin typeface="Cambria Math" panose="02040503050406030204" pitchFamily="18" charset="0"/>
                </a:endParaRPr>
              </a:p>
            </p:txBody>
          </p:sp>
        </mc:Choice>
        <mc:Fallback xmlns="">
          <p:sp>
            <p:nvSpPr>
              <p:cNvPr id="2226" name="Object 178"/>
              <p:cNvSpPr txBox="1">
                <a:spLocks noRot="1" noChangeAspect="1" noMove="1" noResize="1" noEditPoints="1" noAdjustHandles="1" noChangeArrowheads="1" noChangeShapeType="1" noTextEdit="1"/>
              </p:cNvSpPr>
              <p:nvPr/>
            </p:nvSpPr>
            <p:spPr bwMode="auto">
              <a:xfrm>
                <a:off x="4098391" y="5195571"/>
                <a:ext cx="1697219" cy="693383"/>
              </a:xfrm>
              <a:prstGeom prst="rect">
                <a:avLst/>
              </a:prstGeom>
              <a:blipFill>
                <a:blip r:embed="rId10"/>
                <a:stretch>
                  <a:fillRect/>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15506275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17"/>
                                        </p:tgtEl>
                                        <p:attrNameLst>
                                          <p:attrName>style.visibility</p:attrName>
                                        </p:attrNameLst>
                                      </p:cBhvr>
                                      <p:to>
                                        <p:strVal val="visible"/>
                                      </p:to>
                                    </p:set>
                                    <p:animEffect transition="in" filter="wipe(left)">
                                      <p:cBhvr>
                                        <p:cTn id="7" dur="500"/>
                                        <p:tgtEl>
                                          <p:spTgt spid="221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218"/>
                                        </p:tgtEl>
                                        <p:attrNameLst>
                                          <p:attrName>style.visibility</p:attrName>
                                        </p:attrNameLst>
                                      </p:cBhvr>
                                      <p:to>
                                        <p:strVal val="visible"/>
                                      </p:to>
                                    </p:set>
                                    <p:animEffect transition="in" filter="wipe(left)">
                                      <p:cBhvr>
                                        <p:cTn id="10" dur="500"/>
                                        <p:tgtEl>
                                          <p:spTgt spid="2218"/>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197"/>
                                        </p:tgtEl>
                                        <p:attrNameLst>
                                          <p:attrName>style.visibility</p:attrName>
                                        </p:attrNameLst>
                                      </p:cBhvr>
                                      <p:to>
                                        <p:strVal val="visible"/>
                                      </p:to>
                                    </p:set>
                                    <p:animEffect transition="in" filter="wipe(left)">
                                      <p:cBhvr>
                                        <p:cTn id="13" dur="500"/>
                                        <p:tgtEl>
                                          <p:spTgt spid="219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207"/>
                                        </p:tgtEl>
                                        <p:attrNameLst>
                                          <p:attrName>style.visibility</p:attrName>
                                        </p:attrNameLst>
                                      </p:cBhvr>
                                      <p:to>
                                        <p:strVal val="visible"/>
                                      </p:to>
                                    </p:set>
                                    <p:animEffect transition="in" filter="wipe(left)">
                                      <p:cBhvr>
                                        <p:cTn id="18" dur="500"/>
                                        <p:tgtEl>
                                          <p:spTgt spid="2207"/>
                                        </p:tgtEl>
                                      </p:cBhvr>
                                    </p:animEffect>
                                  </p:childTnLst>
                                </p:cTn>
                              </p:par>
                            </p:childTnLst>
                          </p:cTn>
                        </p:par>
                        <p:par>
                          <p:cTn id="19" fill="hold" nodeType="withGroup">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2219"/>
                                        </p:tgtEl>
                                        <p:attrNameLst>
                                          <p:attrName>style.visibility</p:attrName>
                                        </p:attrNameLst>
                                      </p:cBhvr>
                                      <p:to>
                                        <p:strVal val="visible"/>
                                      </p:to>
                                    </p:set>
                                    <p:animEffect transition="in" filter="wipe(left)">
                                      <p:cBhvr>
                                        <p:cTn id="22" dur="500"/>
                                        <p:tgtEl>
                                          <p:spTgt spid="221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20"/>
                                        </p:tgtEl>
                                        <p:attrNameLst>
                                          <p:attrName>style.visibility</p:attrName>
                                        </p:attrNameLst>
                                      </p:cBhvr>
                                      <p:to>
                                        <p:strVal val="visible"/>
                                      </p:to>
                                    </p:set>
                                    <p:animEffect transition="in" filter="wipe(left)">
                                      <p:cBhvr>
                                        <p:cTn id="27" dur="500"/>
                                        <p:tgtEl>
                                          <p:spTgt spid="222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221"/>
                                        </p:tgtEl>
                                        <p:attrNameLst>
                                          <p:attrName>style.visibility</p:attrName>
                                        </p:attrNameLst>
                                      </p:cBhvr>
                                      <p:to>
                                        <p:strVal val="visible"/>
                                      </p:to>
                                    </p:set>
                                    <p:animEffect transition="in" filter="wipe(left)">
                                      <p:cBhvr>
                                        <p:cTn id="32" dur="500"/>
                                        <p:tgtEl>
                                          <p:spTgt spid="222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222"/>
                                        </p:tgtEl>
                                        <p:attrNameLst>
                                          <p:attrName>style.visibility</p:attrName>
                                        </p:attrNameLst>
                                      </p:cBhvr>
                                      <p:to>
                                        <p:strVal val="visible"/>
                                      </p:to>
                                    </p:set>
                                    <p:animEffect transition="in" filter="wipe(left)">
                                      <p:cBhvr>
                                        <p:cTn id="37" dur="500"/>
                                        <p:tgtEl>
                                          <p:spTgt spid="222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224"/>
                                        </p:tgtEl>
                                        <p:attrNameLst>
                                          <p:attrName>style.visibility</p:attrName>
                                        </p:attrNameLst>
                                      </p:cBhvr>
                                      <p:to>
                                        <p:strVal val="visible"/>
                                      </p:to>
                                    </p:set>
                                    <p:animEffect transition="in" filter="wipe(left)">
                                      <p:cBhvr>
                                        <p:cTn id="42" dur="500"/>
                                        <p:tgtEl>
                                          <p:spTgt spid="222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226"/>
                                        </p:tgtEl>
                                        <p:attrNameLst>
                                          <p:attrName>style.visibility</p:attrName>
                                        </p:attrNameLst>
                                      </p:cBhvr>
                                      <p:to>
                                        <p:strVal val="visible"/>
                                      </p:to>
                                    </p:set>
                                    <p:animEffect transition="in" filter="wipe(left)">
                                      <p:cBhvr>
                                        <p:cTn id="47" dur="500"/>
                                        <p:tgtEl>
                                          <p:spTgt spid="22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7" grpId="0"/>
      <p:bldP spid="2207" grpId="0"/>
      <p:bldP spid="2217" grpId="0"/>
      <p:bldP spid="2218" grpId="0"/>
      <p:bldP spid="2219" grpId="0"/>
      <p:bldP spid="2220" grpId="0"/>
      <p:bldP spid="2221" grpId="0"/>
      <p:bldP spid="2222" grpId="0"/>
      <p:bldP spid="2224" grpId="0"/>
      <p:bldP spid="222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 name="组合 62">
            <a:extLst>
              <a:ext uri="{FF2B5EF4-FFF2-40B4-BE49-F238E27FC236}">
                <a16:creationId xmlns:a16="http://schemas.microsoft.com/office/drawing/2014/main" id="{8D6FB7DC-6375-1D11-AC15-87697B30E789}"/>
              </a:ext>
            </a:extLst>
          </p:cNvPr>
          <p:cNvGrpSpPr/>
          <p:nvPr/>
        </p:nvGrpSpPr>
        <p:grpSpPr>
          <a:xfrm>
            <a:off x="687324" y="535820"/>
            <a:ext cx="10817987" cy="5803091"/>
            <a:chOff x="687324" y="535820"/>
            <a:chExt cx="10817987" cy="5803091"/>
          </a:xfrm>
        </p:grpSpPr>
        <mc:AlternateContent xmlns:mc="http://schemas.openxmlformats.org/markup-compatibility/2006" xmlns:a14="http://schemas.microsoft.com/office/drawing/2010/main">
          <mc:Choice Requires="a14">
            <p:sp>
              <p:nvSpPr>
                <p:cNvPr id="64" name="矩形 63">
                  <a:extLst>
                    <a:ext uri="{FF2B5EF4-FFF2-40B4-BE49-F238E27FC236}">
                      <a16:creationId xmlns:a16="http://schemas.microsoft.com/office/drawing/2014/main" id="{F986DBCF-0DFA-7F29-F115-AF34CD2D967C}"/>
                    </a:ext>
                  </a:extLst>
                </p:cNvPr>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dirty="0"/>
                </a:p>
              </p:txBody>
            </p:sp>
          </mc:Choice>
          <mc:Fallback xmlns="">
            <p:sp>
              <p:nvSpPr>
                <p:cNvPr id="64" name="矩形 63">
                  <a:extLst>
                    <a:ext uri="{FF2B5EF4-FFF2-40B4-BE49-F238E27FC236}">
                      <a16:creationId xmlns:a16="http://schemas.microsoft.com/office/drawing/2014/main" id="{F986DBCF-0DFA-7F29-F115-AF34CD2D967C}"/>
                    </a:ext>
                  </a:extLst>
                </p:cNvPr>
                <p:cNvSpPr>
                  <a:spLocks noRot="1" noChangeAspect="1" noMove="1" noResize="1" noEditPoints="1" noAdjustHandles="1" noChangeArrowheads="1" noChangeShapeType="1" noTextEdit="1"/>
                </p:cNvSpPr>
                <p:nvPr/>
              </p:nvSpPr>
              <p:spPr>
                <a:xfrm>
                  <a:off x="687959" y="536260"/>
                  <a:ext cx="10817352" cy="5799897"/>
                </a:xfrm>
                <a:prstGeom prst="rect">
                  <a:avLst/>
                </a:prstGeom>
                <a:blipFill>
                  <a:blip r:embed="rId3"/>
                  <a:stretch>
                    <a:fillRect/>
                  </a:stretch>
                </a:blipFill>
                <a:ln>
                  <a:noFill/>
                </a:ln>
                <a:effectLst>
                  <a:outerShdw blurRad="63500" sx="102000" sy="102000" algn="ctr" rotWithShape="0">
                    <a:prstClr val="black">
                      <a:alpha val="9000"/>
                    </a:prstClr>
                  </a:outerShdw>
                </a:effectLst>
              </p:spPr>
              <p:txBody>
                <a:bodyPr/>
                <a:lstStyle/>
                <a:p>
                  <a:r>
                    <a:rPr lang="zh-CN" altLang="en-US">
                      <a:noFill/>
                    </a:rPr>
                    <a:t> </a:t>
                  </a:r>
                </a:p>
              </p:txBody>
            </p:sp>
          </mc:Fallback>
        </mc:AlternateContent>
        <p:sp>
          <p:nvSpPr>
            <p:cNvPr id="65" name="半闭框 64">
              <a:extLst>
                <a:ext uri="{FF2B5EF4-FFF2-40B4-BE49-F238E27FC236}">
                  <a16:creationId xmlns:a16="http://schemas.microsoft.com/office/drawing/2014/main" id="{E875365A-E771-AAAB-8D2E-2D697F318AC8}"/>
                </a:ext>
              </a:extLst>
            </p:cNvPr>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6" name="半闭框 65">
              <a:extLst>
                <a:ext uri="{FF2B5EF4-FFF2-40B4-BE49-F238E27FC236}">
                  <a16:creationId xmlns:a16="http://schemas.microsoft.com/office/drawing/2014/main" id="{DF967325-848F-3092-5576-61EEEF6A88E7}"/>
                </a:ext>
              </a:extLst>
            </p:cNvPr>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7" name="半闭框 66">
              <a:extLst>
                <a:ext uri="{FF2B5EF4-FFF2-40B4-BE49-F238E27FC236}">
                  <a16:creationId xmlns:a16="http://schemas.microsoft.com/office/drawing/2014/main" id="{23E33C53-D56A-CD82-1FC5-F8CF54349D18}"/>
                </a:ext>
              </a:extLst>
            </p:cNvPr>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68" name="半闭框 67">
              <a:extLst>
                <a:ext uri="{FF2B5EF4-FFF2-40B4-BE49-F238E27FC236}">
                  <a16:creationId xmlns:a16="http://schemas.microsoft.com/office/drawing/2014/main" id="{E5AF0E48-72B7-0624-1084-63B198F0A3AF}"/>
                </a:ext>
              </a:extLst>
            </p:cNvPr>
            <p:cNvSpPr/>
            <p:nvPr/>
          </p:nvSpPr>
          <p:spPr>
            <a:xfrm flipH="1" flipV="1">
              <a:off x="10823530"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mc:AlternateContent xmlns:mc="http://schemas.openxmlformats.org/markup-compatibility/2006" xmlns:a14="http://schemas.microsoft.com/office/drawing/2010/main">
        <mc:Choice Requires="a14">
          <p:sp>
            <p:nvSpPr>
              <p:cNvPr id="2" name="Text Box 3"/>
              <p:cNvSpPr txBox="1">
                <a:spLocks noChangeArrowheads="1"/>
              </p:cNvSpPr>
              <p:nvPr/>
            </p:nvSpPr>
            <p:spPr bwMode="auto">
              <a:xfrm>
                <a:off x="1847427" y="2687786"/>
                <a:ext cx="1066800" cy="523220"/>
              </a:xfrm>
              <a:prstGeom prst="rect">
                <a:avLst/>
              </a:prstGeom>
              <a:noFill/>
              <a:ln>
                <a:noFill/>
              </a:ln>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Lst>
            </p:spPr>
            <p:txBody>
              <a:bodyPr wrap="square">
                <a:spAutoFit/>
              </a:bodyPr>
              <a:lstStyle/>
              <a:p>
                <a:pPr eaLnBrk="1" hangingPunct="1">
                  <a:spcBef>
                    <a:spcPct val="50000"/>
                  </a:spcBef>
                </a:pPr>
                <a:r>
                  <a:rPr lang="zh-CN" altLang="en-US" sz="2800" dirty="0">
                    <a:latin typeface="Times New Roman" panose="02020603050405020304" pitchFamily="18" charset="0"/>
                    <a:cs typeface="Times New Roman" panose="02020603050405020304" pitchFamily="18" charset="0"/>
                  </a:rPr>
                  <a:t>为</a:t>
                </a:r>
                <a14:m>
                  <m:oMath xmlns:m="http://schemas.openxmlformats.org/officeDocument/2006/math">
                    <m:r>
                      <a:rPr lang="zh-CN" altLang="en-US" sz="2800" i="1" smtClean="0">
                        <a:solidFill>
                          <a:srgbClr val="000000"/>
                        </a:solidFill>
                        <a:latin typeface="Cambria Math" panose="02040503050406030204" pitchFamily="18" charset="0"/>
                        <a:sym typeface="Symbol" panose="05050102010706020507" pitchFamily="18" charset="2"/>
                      </a:rPr>
                      <m:t>𝜌</m:t>
                    </m:r>
                  </m:oMath>
                </a14:m>
                <a:r>
                  <a:rPr lang="en-US" altLang="zh-CN" sz="2800" dirty="0">
                    <a:latin typeface="Times New Roman" panose="02020603050405020304" pitchFamily="18" charset="0"/>
                    <a:cs typeface="Times New Roman" panose="02020603050405020304" pitchFamily="18" charset="0"/>
                  </a:rPr>
                  <a:t>).</a:t>
                </a:r>
              </a:p>
            </p:txBody>
          </p:sp>
        </mc:Choice>
        <mc:Fallback xmlns="">
          <p:sp>
            <p:nvSpPr>
              <p:cNvPr id="2" name="Text Box 3"/>
              <p:cNvSpPr txBox="1">
                <a:spLocks noRot="1" noChangeAspect="1" noMove="1" noResize="1" noEditPoints="1" noAdjustHandles="1" noChangeArrowheads="1" noChangeShapeType="1" noTextEdit="1"/>
              </p:cNvSpPr>
              <p:nvPr/>
            </p:nvSpPr>
            <p:spPr bwMode="auto">
              <a:xfrm>
                <a:off x="1847427" y="2687786"/>
                <a:ext cx="1066800" cy="523220"/>
              </a:xfrm>
              <a:prstGeom prst="rect">
                <a:avLst/>
              </a:prstGeom>
              <a:blipFill>
                <a:blip r:embed="rId4"/>
                <a:stretch>
                  <a:fillRect l="-11429" t="-16279" r="-1143" b="-32558"/>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Text Box 4"/>
              <p:cNvSpPr txBox="1">
                <a:spLocks noChangeArrowheads="1"/>
              </p:cNvSpPr>
              <p:nvPr/>
            </p:nvSpPr>
            <p:spPr bwMode="auto">
              <a:xfrm>
                <a:off x="1847427" y="2089298"/>
                <a:ext cx="8610600" cy="523220"/>
              </a:xfrm>
              <a:prstGeom prst="rect">
                <a:avLst/>
              </a:prstGeom>
              <a:noFill/>
              <a:ln>
                <a:noFill/>
              </a:ln>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Lst>
            </p:spPr>
            <p:txBody>
              <a:bodyPr>
                <a:spAutoFit/>
              </a:bodyPr>
              <a:lstStyle/>
              <a:p>
                <a:pPr>
                  <a:spcBef>
                    <a:spcPct val="50000"/>
                  </a:spcBef>
                </a:pPr>
                <a:r>
                  <a:rPr lang="zh-CN" altLang="en-US" sz="2800" dirty="0">
                    <a:latin typeface="Times New Roman" panose="02020603050405020304" pitchFamily="18" charset="0"/>
                    <a:cs typeface="Times New Roman" panose="02020603050405020304" pitchFamily="18" charset="0"/>
                  </a:rPr>
                  <a:t>求单位时间内流过该平面域的流体的质量</a:t>
                </a:r>
                <a14:m>
                  <m:oMath xmlns:m="http://schemas.openxmlformats.org/officeDocument/2006/math">
                    <m:r>
                      <a:rPr lang="en-US" altLang="zh-CN" sz="2800" b="0" i="1" smtClean="0">
                        <a:latin typeface="Cambria Math" panose="02040503050406030204" pitchFamily="18" charset="0"/>
                      </a:rPr>
                      <m:t>𝑃</m:t>
                    </m:r>
                  </m:oMath>
                </a14:m>
                <a:r>
                  <a:rPr lang="en-US" altLang="zh-CN" sz="2800" dirty="0">
                    <a:latin typeface="Times New Roman" panose="02020603050405020304" pitchFamily="18" charset="0"/>
                    <a:cs typeface="Times New Roman" panose="02020603050405020304" pitchFamily="18" charset="0"/>
                  </a:rPr>
                  <a:t>(</a:t>
                </a:r>
                <a:r>
                  <a:rPr lang="zh-CN" altLang="en-US" sz="2800" dirty="0">
                    <a:latin typeface="Times New Roman" panose="02020603050405020304" pitchFamily="18" charset="0"/>
                    <a:cs typeface="Times New Roman" panose="02020603050405020304" pitchFamily="18" charset="0"/>
                  </a:rPr>
                  <a:t>流体密度</a:t>
                </a:r>
              </a:p>
            </p:txBody>
          </p:sp>
        </mc:Choice>
        <mc:Fallback xmlns="">
          <p:sp>
            <p:nvSpPr>
              <p:cNvPr id="3" name="Text Box 4"/>
              <p:cNvSpPr txBox="1">
                <a:spLocks noRot="1" noChangeAspect="1" noMove="1" noResize="1" noEditPoints="1" noAdjustHandles="1" noChangeArrowheads="1" noChangeShapeType="1" noTextEdit="1"/>
              </p:cNvSpPr>
              <p:nvPr/>
            </p:nvSpPr>
            <p:spPr bwMode="auto">
              <a:xfrm>
                <a:off x="1847427" y="2089298"/>
                <a:ext cx="8610600" cy="523220"/>
              </a:xfrm>
              <a:prstGeom prst="rect">
                <a:avLst/>
              </a:prstGeom>
              <a:blipFill>
                <a:blip r:embed="rId5"/>
                <a:stretch>
                  <a:fillRect l="-1415" t="-16279" b="-32558"/>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p:sp>
        <p:nvSpPr>
          <p:cNvPr id="11" name="Rectangle 12"/>
          <p:cNvSpPr txBox="1">
            <a:spLocks noChangeArrowheads="1"/>
          </p:cNvSpPr>
          <p:nvPr/>
        </p:nvSpPr>
        <p:spPr>
          <a:xfrm>
            <a:off x="1847427" y="985191"/>
            <a:ext cx="3194050" cy="479054"/>
          </a:xfrm>
          <a:prstGeom prst="rect">
            <a:avLst/>
          </a:prstGeom>
        </p:spPr>
        <p:txBody>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kumimoji="1" lang="zh-CN" altLang="en-US" sz="2800" dirty="0">
                <a:solidFill>
                  <a:srgbClr val="04926A"/>
                </a:solidFill>
                <a:latin typeface="微软雅黑" panose="020B0503020204020204" pitchFamily="34" charset="-122"/>
                <a:ea typeface="微软雅黑" panose="020B0503020204020204" pitchFamily="34" charset="-122"/>
                <a:cs typeface="+mn-cs"/>
              </a:rPr>
              <a:t>例</a:t>
            </a:r>
            <a:r>
              <a:rPr kumimoji="1" lang="en-US" altLang="zh-CN" sz="2800" dirty="0">
                <a:solidFill>
                  <a:srgbClr val="04926A"/>
                </a:solidFill>
                <a:latin typeface="微软雅黑" panose="020B0503020204020204" pitchFamily="34" charset="-122"/>
                <a:ea typeface="微软雅黑" panose="020B0503020204020204" pitchFamily="34" charset="-122"/>
                <a:cs typeface="+mn-cs"/>
              </a:rPr>
              <a:t>3  </a:t>
            </a:r>
            <a:r>
              <a:rPr lang="zh-CN" altLang="en-US" sz="2800" b="0" dirty="0">
                <a:latin typeface="Times New Roman" panose="02020603050405020304" pitchFamily="18" charset="0"/>
                <a:ea typeface="+mn-ea"/>
                <a:cs typeface="Times New Roman" panose="02020603050405020304" pitchFamily="18" charset="0"/>
              </a:rPr>
              <a:t>设均匀流速为</a:t>
            </a:r>
          </a:p>
        </p:txBody>
      </p:sp>
      <mc:AlternateContent xmlns:mc="http://schemas.openxmlformats.org/markup-compatibility/2006" xmlns:a14="http://schemas.microsoft.com/office/drawing/2010/main">
        <mc:Choice Requires="a14">
          <p:sp>
            <p:nvSpPr>
              <p:cNvPr id="12" name="Text Box 14"/>
              <p:cNvSpPr txBox="1">
                <a:spLocks noChangeArrowheads="1"/>
              </p:cNvSpPr>
              <p:nvPr/>
            </p:nvSpPr>
            <p:spPr bwMode="auto">
              <a:xfrm>
                <a:off x="5041477" y="928836"/>
                <a:ext cx="5303096" cy="523220"/>
              </a:xfrm>
              <a:prstGeom prst="rect">
                <a:avLst/>
              </a:prstGeom>
              <a:noFill/>
              <a:ln>
                <a:noFill/>
              </a:ln>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Lst>
            </p:spPr>
            <p:txBody>
              <a:bodyPr wrap="square">
                <a:spAutoFit/>
              </a:bodyPr>
              <a:lstStyle/>
              <a:p>
                <a:pPr>
                  <a:spcBef>
                    <a:spcPct val="50000"/>
                  </a:spcBef>
                </a:pPr>
                <a:r>
                  <a:rPr lang="zh-CN" altLang="en-US" sz="2800" dirty="0">
                    <a:latin typeface="Times New Roman" panose="02020603050405020304" pitchFamily="18" charset="0"/>
                    <a:cs typeface="Times New Roman" panose="02020603050405020304" pitchFamily="18" charset="0"/>
                  </a:rPr>
                  <a:t>的流体流过一个面积为</a:t>
                </a:r>
                <a14:m>
                  <m:oMath xmlns:m="http://schemas.openxmlformats.org/officeDocument/2006/math">
                    <m:r>
                      <a:rPr lang="zh-CN" altLang="en-US" sz="2800" i="1" smtClean="0">
                        <a:latin typeface="Cambria Math" panose="02040503050406030204" pitchFamily="18" charset="0"/>
                      </a:rPr>
                      <m:t>𝐴</m:t>
                    </m:r>
                  </m:oMath>
                </a14:m>
                <a:r>
                  <a:rPr lang="zh-CN" altLang="en-US" sz="2800" dirty="0">
                    <a:latin typeface="Times New Roman" panose="02020603050405020304" pitchFamily="18" charset="0"/>
                    <a:cs typeface="Times New Roman" panose="02020603050405020304" pitchFamily="18" charset="0"/>
                  </a:rPr>
                  <a:t>的平</a:t>
                </a:r>
              </a:p>
            </p:txBody>
          </p:sp>
        </mc:Choice>
        <mc:Fallback xmlns="">
          <p:sp>
            <p:nvSpPr>
              <p:cNvPr id="12" name="Text Box 14"/>
              <p:cNvSpPr txBox="1">
                <a:spLocks noRot="1" noChangeAspect="1" noMove="1" noResize="1" noEditPoints="1" noAdjustHandles="1" noChangeArrowheads="1" noChangeShapeType="1" noTextEdit="1"/>
              </p:cNvSpPr>
              <p:nvPr/>
            </p:nvSpPr>
            <p:spPr bwMode="auto">
              <a:xfrm>
                <a:off x="5041477" y="928836"/>
                <a:ext cx="5303096" cy="523220"/>
              </a:xfrm>
              <a:prstGeom prst="rect">
                <a:avLst/>
              </a:prstGeom>
              <a:blipFill>
                <a:blip r:embed="rId6"/>
                <a:stretch>
                  <a:fillRect l="-2299" t="-15116" b="-27907"/>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p:sp>
        <p:nvSpPr>
          <p:cNvPr id="13" name="Text Box 15"/>
          <p:cNvSpPr txBox="1">
            <a:spLocks noChangeArrowheads="1"/>
          </p:cNvSpPr>
          <p:nvPr/>
        </p:nvSpPr>
        <p:spPr bwMode="auto">
          <a:xfrm>
            <a:off x="1847426" y="1475570"/>
            <a:ext cx="1381939"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1" hangingPunct="1">
              <a:spcBef>
                <a:spcPct val="50000"/>
              </a:spcBef>
            </a:pPr>
            <a:r>
              <a:rPr lang="zh-CN" altLang="en-US" sz="2800" dirty="0">
                <a:latin typeface="Times New Roman" panose="02020603050405020304" pitchFamily="18" charset="0"/>
                <a:cs typeface="Times New Roman" panose="02020603050405020304" pitchFamily="18" charset="0"/>
              </a:rPr>
              <a:t>面域，</a:t>
            </a:r>
            <a:endParaRPr lang="en-US" altLang="zh-CN" sz="2800" dirty="0">
              <a:latin typeface="Times New Roman" panose="02020603050405020304" pitchFamily="18" charset="0"/>
              <a:cs typeface="Times New Roman" panose="02020603050405020304" pitchFamily="18" charset="0"/>
            </a:endParaRPr>
          </a:p>
        </p:txBody>
      </p:sp>
      <p:sp>
        <p:nvSpPr>
          <p:cNvPr id="14" name="Text Box 16"/>
          <p:cNvSpPr txBox="1">
            <a:spLocks noChangeArrowheads="1"/>
          </p:cNvSpPr>
          <p:nvPr/>
        </p:nvSpPr>
        <p:spPr bwMode="auto">
          <a:xfrm>
            <a:off x="3522414" y="1490811"/>
            <a:ext cx="4495800"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spcBef>
                <a:spcPct val="50000"/>
              </a:spcBef>
            </a:pPr>
            <a:r>
              <a:rPr lang="zh-CN" altLang="en-US" sz="2800" dirty="0">
                <a:latin typeface="Times New Roman" panose="02020603050405020304" pitchFamily="18" charset="0"/>
                <a:cs typeface="Times New Roman" panose="02020603050405020304" pitchFamily="18" charset="0"/>
              </a:rPr>
              <a:t>与该平面域的单位垂直向量</a:t>
            </a:r>
          </a:p>
        </p:txBody>
      </p:sp>
      <mc:AlternateContent xmlns:mc="http://schemas.openxmlformats.org/markup-compatibility/2006" xmlns:a14="http://schemas.microsoft.com/office/drawing/2010/main">
        <mc:Choice Requires="a14">
          <p:sp>
            <p:nvSpPr>
              <p:cNvPr id="15" name="Object 18"/>
              <p:cNvSpPr txBox="1"/>
              <p:nvPr/>
            </p:nvSpPr>
            <p:spPr bwMode="auto">
              <a:xfrm>
                <a:off x="9494656" y="1509905"/>
                <a:ext cx="552780" cy="52322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𝜃</m:t>
                      </m:r>
                      <m:r>
                        <a:rPr lang="zh-CN" altLang="en-US" sz="2800" i="1">
                          <a:solidFill>
                            <a:srgbClr val="000000"/>
                          </a:solidFill>
                          <a:latin typeface="Cambria Math" panose="02040503050406030204" pitchFamily="18" charset="0"/>
                        </a:rPr>
                        <m:t>,</m:t>
                      </m:r>
                    </m:oMath>
                  </m:oMathPara>
                </a14:m>
                <a:endParaRPr lang="zh-CN" altLang="en-US" sz="2800" i="1" dirty="0">
                  <a:solidFill>
                    <a:srgbClr val="000000"/>
                  </a:solidFill>
                  <a:latin typeface="Cambria Math" panose="02040503050406030204" pitchFamily="18" charset="0"/>
                </a:endParaRPr>
              </a:p>
            </p:txBody>
          </p:sp>
        </mc:Choice>
        <mc:Fallback xmlns="">
          <p:sp>
            <p:nvSpPr>
              <p:cNvPr id="15" name="Object 18"/>
              <p:cNvSpPr txBox="1">
                <a:spLocks noRot="1" noChangeAspect="1" noMove="1" noResize="1" noEditPoints="1" noAdjustHandles="1" noChangeArrowheads="1" noChangeShapeType="1" noTextEdit="1"/>
              </p:cNvSpPr>
              <p:nvPr/>
            </p:nvSpPr>
            <p:spPr bwMode="auto">
              <a:xfrm>
                <a:off x="9494656" y="1509905"/>
                <a:ext cx="552780" cy="523220"/>
              </a:xfrm>
              <a:prstGeom prst="rect">
                <a:avLst/>
              </a:prstGeom>
              <a:blipFill>
                <a:blip r:embed="rId7"/>
                <a:stretch>
                  <a:fillRect/>
                </a:stretch>
              </a:blipFill>
              <a:ln>
                <a:noFill/>
              </a:ln>
              <a:effectLst/>
            </p:spPr>
            <p:txBody>
              <a:bodyPr/>
              <a:lstStyle/>
              <a:p>
                <a:r>
                  <a:rPr lang="zh-CN" altLang="en-US">
                    <a:noFill/>
                  </a:rPr>
                  <a:t> </a:t>
                </a:r>
              </a:p>
            </p:txBody>
          </p:sp>
        </mc:Fallback>
      </mc:AlternateContent>
      <p:sp>
        <p:nvSpPr>
          <p:cNvPr id="21" name="Text Box 26"/>
          <p:cNvSpPr txBox="1">
            <a:spLocks noChangeArrowheads="1"/>
          </p:cNvSpPr>
          <p:nvPr/>
        </p:nvSpPr>
        <p:spPr bwMode="auto">
          <a:xfrm>
            <a:off x="1847427" y="3642336"/>
            <a:ext cx="755650"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spcBef>
                <a:spcPct val="50000"/>
              </a:spcBef>
            </a:pPr>
            <a:r>
              <a:rPr kumimoji="1" lang="zh-CN" altLang="en-US" sz="2800" b="1" dirty="0">
                <a:solidFill>
                  <a:srgbClr val="04926A"/>
                </a:solidFill>
                <a:latin typeface="微软雅黑" panose="020B0503020204020204" pitchFamily="34" charset="-122"/>
                <a:ea typeface="微软雅黑" panose="020B0503020204020204" pitchFamily="34" charset="-122"/>
              </a:rPr>
              <a:t>解</a:t>
            </a:r>
            <a:r>
              <a:rPr kumimoji="1" lang="en-US" altLang="zh-CN" sz="2800" b="1" dirty="0">
                <a:solidFill>
                  <a:srgbClr val="04926A"/>
                </a:solidFill>
                <a:latin typeface="微软雅黑" panose="020B0503020204020204" pitchFamily="34" charset="-122"/>
                <a:ea typeface="微软雅黑" panose="020B0503020204020204" pitchFamily="34" charset="-122"/>
              </a:rPr>
              <a:t> </a:t>
            </a:r>
          </a:p>
        </p:txBody>
      </p:sp>
      <mc:AlternateContent xmlns:mc="http://schemas.openxmlformats.org/markup-compatibility/2006" xmlns:a14="http://schemas.microsoft.com/office/drawing/2010/main">
        <mc:Choice Requires="a14">
          <p:sp>
            <p:nvSpPr>
              <p:cNvPr id="24" name="Object 33"/>
              <p:cNvSpPr txBox="1"/>
              <p:nvPr/>
            </p:nvSpPr>
            <p:spPr bwMode="auto">
              <a:xfrm>
                <a:off x="2733204" y="3703347"/>
                <a:ext cx="1076325" cy="36511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200" i="1">
                          <a:latin typeface="Cambria Math" panose="02040503050406030204" pitchFamily="18" charset="0"/>
                        </a:rPr>
                        <m:t>𝑃</m:t>
                      </m:r>
                      <m:r>
                        <a:rPr lang="zh-CN" altLang="en-US" sz="2200" i="1">
                          <a:latin typeface="Cambria Math" panose="02040503050406030204" pitchFamily="18" charset="0"/>
                        </a:rPr>
                        <m:t>=</m:t>
                      </m:r>
                    </m:oMath>
                  </m:oMathPara>
                </a14:m>
                <a:endParaRPr lang="zh-CN" altLang="en-US" sz="2200" i="1" dirty="0">
                  <a:latin typeface="Cambria Math" panose="02040503050406030204" pitchFamily="18" charset="0"/>
                </a:endParaRPr>
              </a:p>
            </p:txBody>
          </p:sp>
        </mc:Choice>
        <mc:Fallback xmlns="">
          <p:sp>
            <p:nvSpPr>
              <p:cNvPr id="24" name="Object 33"/>
              <p:cNvSpPr txBox="1">
                <a:spLocks noRot="1" noChangeAspect="1" noMove="1" noResize="1" noEditPoints="1" noAdjustHandles="1" noChangeArrowheads="1" noChangeShapeType="1" noTextEdit="1"/>
              </p:cNvSpPr>
              <p:nvPr/>
            </p:nvSpPr>
            <p:spPr bwMode="auto">
              <a:xfrm>
                <a:off x="2733204" y="3703347"/>
                <a:ext cx="1076325" cy="365118"/>
              </a:xfrm>
              <a:prstGeom prst="rect">
                <a:avLst/>
              </a:prstGeom>
              <a:blipFill>
                <a:blip r:embed="rId11"/>
                <a:stretch>
                  <a:fillRect l="-565" b="-15254"/>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Object 34"/>
              <p:cNvSpPr txBox="1"/>
              <p:nvPr/>
            </p:nvSpPr>
            <p:spPr bwMode="auto">
              <a:xfrm>
                <a:off x="3271537" y="3655359"/>
                <a:ext cx="519930" cy="36511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200" i="1">
                          <a:latin typeface="Cambria Math" panose="02040503050406030204" pitchFamily="18" charset="0"/>
                        </a:rPr>
                        <m:t>𝜌</m:t>
                      </m:r>
                    </m:oMath>
                  </m:oMathPara>
                </a14:m>
                <a:endParaRPr lang="zh-CN" altLang="en-US" sz="2200" i="1" dirty="0">
                  <a:latin typeface="Cambria Math" panose="02040503050406030204" pitchFamily="18" charset="0"/>
                </a:endParaRPr>
              </a:p>
            </p:txBody>
          </p:sp>
        </mc:Choice>
        <mc:Fallback xmlns="">
          <p:sp>
            <p:nvSpPr>
              <p:cNvPr id="25" name="Object 34"/>
              <p:cNvSpPr txBox="1">
                <a:spLocks noRot="1" noChangeAspect="1" noMove="1" noResize="1" noEditPoints="1" noAdjustHandles="1" noChangeArrowheads="1" noChangeShapeType="1" noTextEdit="1"/>
              </p:cNvSpPr>
              <p:nvPr/>
            </p:nvSpPr>
            <p:spPr bwMode="auto">
              <a:xfrm>
                <a:off x="3271537" y="3655359"/>
                <a:ext cx="519930" cy="365118"/>
              </a:xfrm>
              <a:prstGeom prst="rect">
                <a:avLst/>
              </a:prstGeom>
              <a:blipFill>
                <a:blip r:embed="rId12"/>
                <a:stretch>
                  <a:fillRect l="-2353" b="-31667"/>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Object 35"/>
              <p:cNvSpPr txBox="1"/>
              <p:nvPr/>
            </p:nvSpPr>
            <p:spPr bwMode="auto">
              <a:xfrm>
                <a:off x="3492360" y="3694775"/>
                <a:ext cx="425756" cy="43751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200" i="1">
                          <a:latin typeface="Cambria Math" panose="02040503050406030204" pitchFamily="18" charset="0"/>
                        </a:rPr>
                        <m:t>𝐴</m:t>
                      </m:r>
                    </m:oMath>
                  </m:oMathPara>
                </a14:m>
                <a:endParaRPr lang="zh-CN" altLang="en-US" sz="2200" i="1" dirty="0">
                  <a:latin typeface="Cambria Math" panose="02040503050406030204" pitchFamily="18" charset="0"/>
                </a:endParaRPr>
              </a:p>
            </p:txBody>
          </p:sp>
        </mc:Choice>
        <mc:Fallback xmlns="">
          <p:sp>
            <p:nvSpPr>
              <p:cNvPr id="26" name="Object 35"/>
              <p:cNvSpPr txBox="1">
                <a:spLocks noRot="1" noChangeAspect="1" noMove="1" noResize="1" noEditPoints="1" noAdjustHandles="1" noChangeArrowheads="1" noChangeShapeType="1" noTextEdit="1"/>
              </p:cNvSpPr>
              <p:nvPr/>
            </p:nvSpPr>
            <p:spPr bwMode="auto">
              <a:xfrm>
                <a:off x="3492360" y="3694775"/>
                <a:ext cx="425756" cy="437515"/>
              </a:xfrm>
              <a:prstGeom prst="rect">
                <a:avLst/>
              </a:prstGeom>
              <a:blipFill>
                <a:blip r:embed="rId13"/>
                <a:stretch>
                  <a:fillRect l="-1429"/>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Object 40"/>
              <p:cNvSpPr txBox="1"/>
              <p:nvPr/>
            </p:nvSpPr>
            <p:spPr bwMode="auto">
              <a:xfrm>
                <a:off x="2999444" y="4812868"/>
                <a:ext cx="850900" cy="3937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200" i="1">
                          <a:latin typeface="Cambria Math" panose="02040503050406030204" pitchFamily="18" charset="0"/>
                        </a:rPr>
                        <m:t>=</m:t>
                      </m:r>
                      <m:r>
                        <a:rPr lang="zh-CN" altLang="en-US" sz="2200" i="1">
                          <a:latin typeface="Cambria Math" panose="02040503050406030204" pitchFamily="18" charset="0"/>
                        </a:rPr>
                        <m:t>𝜌</m:t>
                      </m:r>
                      <m:r>
                        <a:rPr lang="zh-CN" altLang="en-US" sz="2200" i="1">
                          <a:latin typeface="Cambria Math" panose="02040503050406030204" pitchFamily="18" charset="0"/>
                        </a:rPr>
                        <m:t>𝐴</m:t>
                      </m:r>
                    </m:oMath>
                  </m:oMathPara>
                </a14:m>
                <a:endParaRPr lang="zh-CN" altLang="en-US" sz="2200" i="1" dirty="0">
                  <a:latin typeface="Cambria Math" panose="02040503050406030204" pitchFamily="18" charset="0"/>
                </a:endParaRPr>
              </a:p>
            </p:txBody>
          </p:sp>
        </mc:Choice>
        <mc:Fallback xmlns="">
          <p:sp>
            <p:nvSpPr>
              <p:cNvPr id="27" name="Object 40"/>
              <p:cNvSpPr txBox="1">
                <a:spLocks noRot="1" noChangeAspect="1" noMove="1" noResize="1" noEditPoints="1" noAdjustHandles="1" noChangeArrowheads="1" noChangeShapeType="1" noTextEdit="1"/>
              </p:cNvSpPr>
              <p:nvPr/>
            </p:nvSpPr>
            <p:spPr bwMode="auto">
              <a:xfrm>
                <a:off x="2999444" y="4812868"/>
                <a:ext cx="850900" cy="393700"/>
              </a:xfrm>
              <a:prstGeom prst="rect">
                <a:avLst/>
              </a:prstGeom>
              <a:blipFill>
                <a:blip r:embed="rId14"/>
                <a:stretch>
                  <a:fillRect b="-29688"/>
                </a:stretch>
              </a:blipFill>
              <a:ln>
                <a:noFill/>
              </a:ln>
              <a:effectLst/>
            </p:spPr>
            <p:txBody>
              <a:bodyPr/>
              <a:lstStyle/>
              <a:p>
                <a:r>
                  <a:rPr lang="zh-CN" altLang="en-US">
                    <a:noFill/>
                  </a:rPr>
                  <a:t> </a:t>
                </a:r>
              </a:p>
            </p:txBody>
          </p:sp>
        </mc:Fallback>
      </mc:AlternateContent>
      <p:sp>
        <p:nvSpPr>
          <p:cNvPr id="28" name="Text Box 43"/>
          <p:cNvSpPr txBox="1">
            <a:spLocks noChangeArrowheads="1"/>
          </p:cNvSpPr>
          <p:nvPr/>
        </p:nvSpPr>
        <p:spPr bwMode="auto">
          <a:xfrm>
            <a:off x="8075153" y="1490811"/>
            <a:ext cx="1690542"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1" hangingPunct="1">
              <a:spcBef>
                <a:spcPct val="50000"/>
              </a:spcBef>
            </a:pPr>
            <a:r>
              <a:rPr lang="zh-CN" altLang="en-US" sz="2800" dirty="0">
                <a:latin typeface="Times New Roman" panose="02020603050405020304" pitchFamily="18" charset="0"/>
                <a:cs typeface="Times New Roman" panose="02020603050405020304" pitchFamily="18" charset="0"/>
              </a:rPr>
              <a:t>的夹角为</a:t>
            </a:r>
          </a:p>
        </p:txBody>
      </p:sp>
      <p:sp>
        <p:nvSpPr>
          <p:cNvPr id="29" name="Text Box 45"/>
          <p:cNvSpPr txBox="1">
            <a:spLocks noChangeArrowheads="1"/>
          </p:cNvSpPr>
          <p:nvPr/>
        </p:nvSpPr>
        <p:spPr bwMode="auto">
          <a:xfrm>
            <a:off x="2914227" y="1466998"/>
            <a:ext cx="54373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dirty="0">
                <a:latin typeface="Times New Roman" panose="02020603050405020304" pitchFamily="18" charset="0"/>
                <a:cs typeface="Times New Roman" panose="02020603050405020304" pitchFamily="18" charset="0"/>
              </a:rPr>
              <a:t>且</a:t>
            </a:r>
          </a:p>
        </p:txBody>
      </p:sp>
      <mc:AlternateContent xmlns:mc="http://schemas.openxmlformats.org/markup-compatibility/2006" xmlns:a14="http://schemas.microsoft.com/office/drawing/2010/main">
        <mc:Choice Requires="a14">
          <p:sp>
            <p:nvSpPr>
              <p:cNvPr id="31" name="Object 13"/>
              <p:cNvSpPr txBox="1"/>
              <p:nvPr/>
            </p:nvSpPr>
            <p:spPr bwMode="auto">
              <a:xfrm>
                <a:off x="4828450" y="924722"/>
                <a:ext cx="372214" cy="56296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b="1" i="1">
                          <a:solidFill>
                            <a:srgbClr val="000000"/>
                          </a:solidFill>
                          <a:latin typeface="Cambria Math" panose="02040503050406030204" pitchFamily="18" charset="0"/>
                        </a:rPr>
                        <m:t>𝒗</m:t>
                      </m:r>
                    </m:oMath>
                  </m:oMathPara>
                </a14:m>
                <a:endParaRPr lang="zh-CN" altLang="en-US" sz="2800" b="1" dirty="0"/>
              </a:p>
            </p:txBody>
          </p:sp>
        </mc:Choice>
        <mc:Fallback xmlns="">
          <p:sp>
            <p:nvSpPr>
              <p:cNvPr id="31" name="Object 13"/>
              <p:cNvSpPr txBox="1">
                <a:spLocks noRot="1" noChangeAspect="1" noMove="1" noResize="1" noEditPoints="1" noAdjustHandles="1" noChangeArrowheads="1" noChangeShapeType="1" noTextEdit="1"/>
              </p:cNvSpPr>
              <p:nvPr/>
            </p:nvSpPr>
            <p:spPr bwMode="auto">
              <a:xfrm>
                <a:off x="4828450" y="924722"/>
                <a:ext cx="372214" cy="562968"/>
              </a:xfrm>
              <a:prstGeom prst="rect">
                <a:avLst/>
              </a:prstGeom>
              <a:blipFill>
                <a:blip r:embed="rId15"/>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Object 42"/>
              <p:cNvSpPr txBox="1"/>
              <p:nvPr/>
            </p:nvSpPr>
            <p:spPr bwMode="auto">
              <a:xfrm>
                <a:off x="7821837" y="1452823"/>
                <a:ext cx="392754" cy="514669"/>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b="1" i="1">
                          <a:solidFill>
                            <a:srgbClr val="000000"/>
                          </a:solidFill>
                          <a:latin typeface="Cambria Math" panose="02040503050406030204" pitchFamily="18" charset="0"/>
                        </a:rPr>
                        <m:t>𝒏</m:t>
                      </m:r>
                    </m:oMath>
                  </m:oMathPara>
                </a14:m>
                <a:endParaRPr lang="zh-CN" altLang="en-US" sz="2800" b="1" dirty="0"/>
              </a:p>
            </p:txBody>
          </p:sp>
        </mc:Choice>
        <mc:Fallback xmlns="">
          <p:sp>
            <p:nvSpPr>
              <p:cNvPr id="37" name="Object 42"/>
              <p:cNvSpPr txBox="1">
                <a:spLocks noRot="1" noChangeAspect="1" noMove="1" noResize="1" noEditPoints="1" noAdjustHandles="1" noChangeArrowheads="1" noChangeShapeType="1" noTextEdit="1"/>
              </p:cNvSpPr>
              <p:nvPr/>
            </p:nvSpPr>
            <p:spPr bwMode="auto">
              <a:xfrm>
                <a:off x="7821837" y="1452823"/>
                <a:ext cx="392754" cy="514669"/>
              </a:xfrm>
              <a:prstGeom prst="rect">
                <a:avLst/>
              </a:prstGeom>
              <a:blipFill>
                <a:blip r:embed="rId16"/>
                <a:stretch>
                  <a:fillRect/>
                </a:stretch>
              </a:blipFill>
              <a:ln>
                <a:noFill/>
              </a:ln>
              <a:effectLst/>
            </p:spPr>
            <p:txBody>
              <a:bodyPr/>
              <a:lstStyle/>
              <a:p>
                <a:r>
                  <a:rPr lang="zh-CN" altLang="en-US">
                    <a:noFill/>
                  </a:rPr>
                  <a:t> </a:t>
                </a:r>
              </a:p>
            </p:txBody>
          </p:sp>
        </mc:Fallback>
      </mc:AlternateContent>
      <p:grpSp>
        <p:nvGrpSpPr>
          <p:cNvPr id="43" name="Group 55"/>
          <p:cNvGrpSpPr>
            <a:grpSpLocks/>
          </p:cNvGrpSpPr>
          <p:nvPr/>
        </p:nvGrpSpPr>
        <p:grpSpPr bwMode="auto">
          <a:xfrm>
            <a:off x="3728737" y="3673530"/>
            <a:ext cx="1219200" cy="523876"/>
            <a:chOff x="1812" y="1849"/>
            <a:chExt cx="768" cy="330"/>
          </a:xfrm>
        </p:grpSpPr>
        <mc:AlternateContent xmlns:mc="http://schemas.openxmlformats.org/markup-compatibility/2006" xmlns:a14="http://schemas.microsoft.com/office/drawing/2010/main">
          <mc:Choice Requires="a14">
            <p:sp>
              <p:nvSpPr>
                <p:cNvPr id="44" name="Object 56"/>
                <p:cNvSpPr txBox="1"/>
                <p:nvPr/>
              </p:nvSpPr>
              <p:spPr bwMode="auto">
                <a:xfrm>
                  <a:off x="1812" y="1860"/>
                  <a:ext cx="768" cy="319"/>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d>
                          <m:dPr>
                            <m:begChr m:val="|"/>
                            <m:endChr m:val="|"/>
                            <m:ctrlPr>
                              <a:rPr lang="zh-CN" altLang="en-US" sz="2200" i="1">
                                <a:latin typeface="Cambria Math" panose="02040503050406030204" pitchFamily="18" charset="0"/>
                              </a:rPr>
                            </m:ctrlPr>
                          </m:dPr>
                          <m:e>
                            <m:r>
                              <a:rPr lang="zh-CN" altLang="en-US" sz="2200" i="1">
                                <a:latin typeface="Cambria Math" panose="02040503050406030204" pitchFamily="18" charset="0"/>
                              </a:rPr>
                              <m:t>  </m:t>
                            </m:r>
                          </m:e>
                        </m:d>
                        <m:func>
                          <m:funcPr>
                            <m:ctrlPr>
                              <a:rPr lang="zh-CN" altLang="en-US" sz="2200" i="1">
                                <a:latin typeface="Cambria Math" panose="02040503050406030204" pitchFamily="18" charset="0"/>
                              </a:rPr>
                            </m:ctrlPr>
                          </m:funcPr>
                          <m:fName>
                            <m:r>
                              <m:rPr>
                                <m:sty m:val="p"/>
                              </m:rPr>
                              <a:rPr lang="zh-CN" altLang="en-US" sz="2200" i="1">
                                <a:latin typeface="Cambria Math" panose="02040503050406030204" pitchFamily="18" charset="0"/>
                              </a:rPr>
                              <m:t>cos</m:t>
                            </m:r>
                          </m:fName>
                          <m:e>
                            <m:r>
                              <a:rPr lang="zh-CN" altLang="en-US" sz="2200" i="1">
                                <a:latin typeface="Cambria Math" panose="02040503050406030204" pitchFamily="18" charset="0"/>
                              </a:rPr>
                              <m:t>𝜃</m:t>
                            </m:r>
                          </m:e>
                        </m:func>
                      </m:oMath>
                    </m:oMathPara>
                  </a14:m>
                  <a:endParaRPr lang="zh-CN" altLang="en-US" sz="2200" i="1" dirty="0">
                    <a:latin typeface="Cambria Math" panose="02040503050406030204" pitchFamily="18" charset="0"/>
                  </a:endParaRPr>
                </a:p>
              </p:txBody>
            </p:sp>
          </mc:Choice>
          <mc:Fallback xmlns="">
            <p:sp>
              <p:nvSpPr>
                <p:cNvPr id="44" name="Object 56"/>
                <p:cNvSpPr txBox="1">
                  <a:spLocks noRot="1" noChangeAspect="1" noMove="1" noResize="1" noEditPoints="1" noAdjustHandles="1" noChangeArrowheads="1" noChangeShapeType="1" noTextEdit="1"/>
                </p:cNvSpPr>
                <p:nvPr/>
              </p:nvSpPr>
              <p:spPr bwMode="auto">
                <a:xfrm>
                  <a:off x="1812" y="1860"/>
                  <a:ext cx="768" cy="319"/>
                </a:xfrm>
                <a:prstGeom prst="rect">
                  <a:avLst/>
                </a:prstGeom>
                <a:blipFill>
                  <a:blip r:embed="rId19"/>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Object 57"/>
                <p:cNvSpPr txBox="1"/>
                <p:nvPr/>
              </p:nvSpPr>
              <p:spPr bwMode="auto">
                <a:xfrm>
                  <a:off x="1861" y="1849"/>
                  <a:ext cx="128" cy="15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200" b="1" i="1">
                            <a:solidFill>
                              <a:srgbClr val="000000"/>
                            </a:solidFill>
                            <a:latin typeface="Cambria Math" panose="02040503050406030204" pitchFamily="18" charset="0"/>
                          </a:rPr>
                          <m:t>𝒗</m:t>
                        </m:r>
                      </m:oMath>
                    </m:oMathPara>
                  </a14:m>
                  <a:endParaRPr lang="zh-CN" altLang="en-US" sz="2200" b="1" dirty="0"/>
                </a:p>
              </p:txBody>
            </p:sp>
          </mc:Choice>
          <mc:Fallback xmlns="">
            <p:sp>
              <p:nvSpPr>
                <p:cNvPr id="45" name="Object 57"/>
                <p:cNvSpPr txBox="1">
                  <a:spLocks noRot="1" noChangeAspect="1" noMove="1" noResize="1" noEditPoints="1" noAdjustHandles="1" noChangeArrowheads="1" noChangeShapeType="1" noTextEdit="1"/>
                </p:cNvSpPr>
                <p:nvPr/>
              </p:nvSpPr>
              <p:spPr bwMode="auto">
                <a:xfrm>
                  <a:off x="1861" y="1849"/>
                  <a:ext cx="128" cy="152"/>
                </a:xfrm>
                <a:prstGeom prst="rect">
                  <a:avLst/>
                </a:prstGeom>
                <a:blipFill>
                  <a:blip r:embed="rId20"/>
                  <a:stretch>
                    <a:fillRect r="-61765" b="-64103"/>
                  </a:stretch>
                </a:blipFill>
                <a:ln>
                  <a:noFill/>
                </a:ln>
                <a:effectLst/>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48" name="Object 41"/>
              <p:cNvSpPr txBox="1"/>
              <p:nvPr/>
            </p:nvSpPr>
            <p:spPr bwMode="auto">
              <a:xfrm>
                <a:off x="3703919" y="4804282"/>
                <a:ext cx="850900" cy="386139"/>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200" b="1" i="1">
                          <a:latin typeface="Cambria Math" panose="02040503050406030204" pitchFamily="18" charset="0"/>
                        </a:rPr>
                        <m:t>𝒗</m:t>
                      </m:r>
                      <m:r>
                        <a:rPr lang="zh-CN" altLang="en-US" sz="2200" i="1">
                          <a:latin typeface="Cambria Math" panose="02040503050406030204" pitchFamily="18" charset="0"/>
                        </a:rPr>
                        <m:t>⋅</m:t>
                      </m:r>
                      <m:r>
                        <a:rPr lang="zh-CN" altLang="en-US" sz="2200" b="1" i="1">
                          <a:latin typeface="Cambria Math" panose="02040503050406030204" pitchFamily="18" charset="0"/>
                        </a:rPr>
                        <m:t>𝒏</m:t>
                      </m:r>
                      <m:r>
                        <a:rPr lang="zh-CN" altLang="en-US" sz="2200" i="1">
                          <a:latin typeface="Cambria Math" panose="02040503050406030204" pitchFamily="18" charset="0"/>
                        </a:rPr>
                        <m:t>.</m:t>
                      </m:r>
                    </m:oMath>
                  </m:oMathPara>
                </a14:m>
                <a:endParaRPr lang="zh-CN" altLang="en-US" sz="2200" i="1" dirty="0">
                  <a:latin typeface="Cambria Math" panose="02040503050406030204" pitchFamily="18" charset="0"/>
                </a:endParaRPr>
              </a:p>
            </p:txBody>
          </p:sp>
        </mc:Choice>
        <mc:Fallback xmlns="">
          <p:sp>
            <p:nvSpPr>
              <p:cNvPr id="48" name="Object 41"/>
              <p:cNvSpPr txBox="1">
                <a:spLocks noRot="1" noChangeAspect="1" noMove="1" noResize="1" noEditPoints="1" noAdjustHandles="1" noChangeArrowheads="1" noChangeShapeType="1" noTextEdit="1"/>
              </p:cNvSpPr>
              <p:nvPr/>
            </p:nvSpPr>
            <p:spPr bwMode="auto">
              <a:xfrm>
                <a:off x="3703919" y="4804282"/>
                <a:ext cx="850900" cy="386139"/>
              </a:xfrm>
              <a:prstGeom prst="rect">
                <a:avLst/>
              </a:prstGeom>
              <a:blipFill>
                <a:blip r:embed="rId21"/>
                <a:stretch>
                  <a:fillRect b="-3175"/>
                </a:stretch>
              </a:blipFill>
              <a:ln>
                <a:noFill/>
              </a:ln>
              <a:effectLst/>
            </p:spPr>
            <p:txBody>
              <a:bodyPr/>
              <a:lstStyle/>
              <a:p>
                <a:r>
                  <a:rPr lang="zh-CN" altLang="en-US">
                    <a:noFill/>
                  </a:rPr>
                  <a:t> </a:t>
                </a:r>
              </a:p>
            </p:txBody>
          </p:sp>
        </mc:Fallback>
      </mc:AlternateContent>
      <p:grpSp>
        <p:nvGrpSpPr>
          <p:cNvPr id="57" name="Group 74"/>
          <p:cNvGrpSpPr>
            <a:grpSpLocks/>
          </p:cNvGrpSpPr>
          <p:nvPr/>
        </p:nvGrpSpPr>
        <p:grpSpPr bwMode="auto">
          <a:xfrm>
            <a:off x="3246186" y="4274300"/>
            <a:ext cx="2182813" cy="430213"/>
            <a:chOff x="1149" y="2268"/>
            <a:chExt cx="1375" cy="271"/>
          </a:xfrm>
        </p:grpSpPr>
        <mc:AlternateContent xmlns:mc="http://schemas.openxmlformats.org/markup-compatibility/2006" xmlns:a14="http://schemas.microsoft.com/office/drawing/2010/main">
          <mc:Choice Requires="a14">
            <p:sp>
              <p:nvSpPr>
                <p:cNvPr id="60" name="Object 70"/>
                <p:cNvSpPr txBox="1"/>
                <p:nvPr/>
              </p:nvSpPr>
              <p:spPr bwMode="auto">
                <a:xfrm>
                  <a:off x="1149" y="2271"/>
                  <a:ext cx="144" cy="15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200" b="1" i="1">
                            <a:solidFill>
                              <a:srgbClr val="000000"/>
                            </a:solidFill>
                            <a:latin typeface="Cambria Math" panose="02040503050406030204" pitchFamily="18" charset="0"/>
                          </a:rPr>
                          <m:t>𝒏</m:t>
                        </m:r>
                      </m:oMath>
                    </m:oMathPara>
                  </a14:m>
                  <a:endParaRPr lang="zh-CN" altLang="en-US" sz="2200" b="1" dirty="0"/>
                </a:p>
              </p:txBody>
            </p:sp>
          </mc:Choice>
          <mc:Fallback xmlns="">
            <p:sp>
              <p:nvSpPr>
                <p:cNvPr id="60" name="Object 70"/>
                <p:cNvSpPr txBox="1">
                  <a:spLocks noRot="1" noChangeAspect="1" noMove="1" noResize="1" noEditPoints="1" noAdjustHandles="1" noChangeArrowheads="1" noChangeShapeType="1" noTextEdit="1"/>
                </p:cNvSpPr>
                <p:nvPr/>
              </p:nvSpPr>
              <p:spPr bwMode="auto">
                <a:xfrm>
                  <a:off x="1149" y="2271"/>
                  <a:ext cx="144" cy="152"/>
                </a:xfrm>
                <a:prstGeom prst="rect">
                  <a:avLst/>
                </a:prstGeom>
                <a:blipFill>
                  <a:blip r:embed="rId22"/>
                  <a:stretch>
                    <a:fillRect r="-54054" b="-60000"/>
                  </a:stretch>
                </a:blipFill>
                <a:ln>
                  <a:noFill/>
                </a:ln>
                <a:effectLst/>
              </p:spPr>
              <p:txBody>
                <a:bodyPr/>
                <a:lstStyle/>
                <a:p>
                  <a:r>
                    <a:rPr lang="zh-CN" altLang="en-US">
                      <a:noFill/>
                    </a:rPr>
                    <a:t> </a:t>
                  </a:r>
                </a:p>
              </p:txBody>
            </p:sp>
          </mc:Fallback>
        </mc:AlternateContent>
        <p:sp>
          <p:nvSpPr>
            <p:cNvPr id="59" name="Text Box 72"/>
            <p:cNvSpPr txBox="1">
              <a:spLocks noChangeArrowheads="1"/>
            </p:cNvSpPr>
            <p:nvPr/>
          </p:nvSpPr>
          <p:spPr bwMode="auto">
            <a:xfrm>
              <a:off x="1276" y="2268"/>
              <a:ext cx="1248" cy="2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spcBef>
                  <a:spcPct val="50000"/>
                </a:spcBef>
              </a:pPr>
              <a:r>
                <a:rPr lang="zh-CN" altLang="en-US" sz="2200" dirty="0">
                  <a:latin typeface="Times New Roman" panose="02020603050405020304" pitchFamily="18" charset="0"/>
                  <a:cs typeface="Times New Roman" panose="02020603050405020304" pitchFamily="18" charset="0"/>
                </a:rPr>
                <a:t>为单位向量</a:t>
              </a:r>
            </a:p>
          </p:txBody>
        </p:sp>
      </p:grpSp>
      <p:sp>
        <p:nvSpPr>
          <p:cNvPr id="62" name="Line 73"/>
          <p:cNvSpPr>
            <a:spLocks noChangeShapeType="1"/>
          </p:cNvSpPr>
          <p:nvPr/>
        </p:nvSpPr>
        <p:spPr bwMode="auto">
          <a:xfrm>
            <a:off x="3163587" y="4102038"/>
            <a:ext cx="0"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4" name="Object 13">
                <a:extLst>
                  <a:ext uri="{FF2B5EF4-FFF2-40B4-BE49-F238E27FC236}">
                    <a16:creationId xmlns:a16="http://schemas.microsoft.com/office/drawing/2014/main" id="{EDC8D950-BCC5-3AE4-EEEA-12685F565C6F}"/>
                  </a:ext>
                </a:extLst>
              </p:cNvPr>
              <p:cNvSpPr txBox="1"/>
              <p:nvPr/>
            </p:nvSpPr>
            <p:spPr bwMode="auto">
              <a:xfrm>
                <a:off x="3293813" y="1460995"/>
                <a:ext cx="392753" cy="537796"/>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sz="2800" b="1" i="1">
                          <a:solidFill>
                            <a:srgbClr val="000000"/>
                          </a:solidFill>
                          <a:latin typeface="Cambria Math" panose="02040503050406030204" pitchFamily="18" charset="0"/>
                        </a:rPr>
                        <m:t>𝒗</m:t>
                      </m:r>
                    </m:oMath>
                  </m:oMathPara>
                </a14:m>
                <a:endParaRPr lang="zh-CN" altLang="en-US" sz="2800" b="1" dirty="0"/>
              </a:p>
            </p:txBody>
          </p:sp>
        </mc:Choice>
        <mc:Fallback xmlns="">
          <p:sp>
            <p:nvSpPr>
              <p:cNvPr id="74" name="Object 13">
                <a:extLst>
                  <a:ext uri="{FF2B5EF4-FFF2-40B4-BE49-F238E27FC236}">
                    <a16:creationId xmlns:a16="http://schemas.microsoft.com/office/drawing/2014/main" id="{EDC8D950-BCC5-3AE4-EEEA-12685F565C6F}"/>
                  </a:ext>
                </a:extLst>
              </p:cNvPr>
              <p:cNvSpPr txBox="1">
                <a:spLocks noRot="1" noChangeAspect="1" noMove="1" noResize="1" noEditPoints="1" noAdjustHandles="1" noChangeArrowheads="1" noChangeShapeType="1" noTextEdit="1"/>
              </p:cNvSpPr>
              <p:nvPr/>
            </p:nvSpPr>
            <p:spPr bwMode="auto">
              <a:xfrm>
                <a:off x="3293813" y="1460995"/>
                <a:ext cx="392753" cy="537796"/>
              </a:xfrm>
              <a:prstGeom prst="rect">
                <a:avLst/>
              </a:prstGeom>
              <a:blipFill>
                <a:blip r:embed="rId25"/>
                <a:stretch>
                  <a:fillRect/>
                </a:stretch>
              </a:blipFill>
              <a:ln>
                <a:noFill/>
              </a:ln>
              <a:effectLst/>
            </p:spPr>
            <p:txBody>
              <a:bodyPr/>
              <a:lstStyle/>
              <a:p>
                <a:r>
                  <a:rPr lang="zh-CN" altLang="en-US">
                    <a:noFill/>
                  </a:rPr>
                  <a:t> </a:t>
                </a:r>
              </a:p>
            </p:txBody>
          </p:sp>
        </mc:Fallback>
      </mc:AlternateContent>
      <p:pic>
        <p:nvPicPr>
          <p:cNvPr id="32" name="图片 31" descr="图示&#10;&#10;描述已自动生成">
            <a:extLst>
              <a:ext uri="{FF2B5EF4-FFF2-40B4-BE49-F238E27FC236}">
                <a16:creationId xmlns:a16="http://schemas.microsoft.com/office/drawing/2014/main" id="{F905D28C-3551-BFFE-4C72-7D50DFC59226}"/>
              </a:ext>
            </a:extLst>
          </p:cNvPr>
          <p:cNvPicPr>
            <a:picLocks noChangeAspect="1"/>
          </p:cNvPicPr>
          <p:nvPr/>
        </p:nvPicPr>
        <p:blipFill>
          <a:blip r:embed="rId26" cstate="print">
            <a:extLst>
              <a:ext uri="{28A0092B-C50C-407E-A947-70E740481C1C}">
                <a14:useLocalDpi xmlns:a14="http://schemas.microsoft.com/office/drawing/2010/main" val="0"/>
              </a:ext>
            </a:extLst>
          </a:blip>
          <a:stretch>
            <a:fillRect/>
          </a:stretch>
        </p:blipFill>
        <p:spPr>
          <a:xfrm>
            <a:off x="5875579" y="2790532"/>
            <a:ext cx="4409629" cy="2614645"/>
          </a:xfrm>
          <a:prstGeom prst="rect">
            <a:avLst/>
          </a:prstGeom>
        </p:spPr>
      </p:pic>
    </p:spTree>
    <p:extLst>
      <p:ext uri="{BB962C8B-B14F-4D97-AF65-F5344CB8AC3E}">
        <p14:creationId xmlns:p14="http://schemas.microsoft.com/office/powerpoint/2010/main" val="315899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wipe(left)">
                                      <p:cBhvr>
                                        <p:cTn id="10" dur="500"/>
                                        <p:tgtEl>
                                          <p:spTgt spid="31"/>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left)">
                                      <p:cBhvr>
                                        <p:cTn id="13" dur="500"/>
                                        <p:tgtEl>
                                          <p:spTgt spid="12"/>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left)">
                                      <p:cBhvr>
                                        <p:cTn id="16"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9">
                                            <p:txEl>
                                              <p:pRg st="0" end="0"/>
                                            </p:txEl>
                                          </p:spTgt>
                                        </p:tgtEl>
                                        <p:attrNameLst>
                                          <p:attrName>style.visibility</p:attrName>
                                        </p:attrNameLst>
                                      </p:cBhvr>
                                      <p:to>
                                        <p:strVal val="visible"/>
                                      </p:to>
                                    </p:set>
                                    <p:animEffect transition="in" filter="wipe(left)">
                                      <p:cBhvr>
                                        <p:cTn id="21" dur="500"/>
                                        <p:tgtEl>
                                          <p:spTgt spid="29">
                                            <p:txEl>
                                              <p:pRg st="0" end="0"/>
                                            </p:txEl>
                                          </p:spTgt>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74"/>
                                        </p:tgtEl>
                                        <p:attrNameLst>
                                          <p:attrName>style.visibility</p:attrName>
                                        </p:attrNameLst>
                                      </p:cBhvr>
                                      <p:to>
                                        <p:strVal val="visible"/>
                                      </p:to>
                                    </p:set>
                                    <p:animEffect transition="in" filter="wipe(left)">
                                      <p:cBhvr>
                                        <p:cTn id="25" dur="500"/>
                                        <p:tgtEl>
                                          <p:spTgt spid="74"/>
                                        </p:tgtEl>
                                      </p:cBhvr>
                                    </p:animEffect>
                                  </p:childTnLst>
                                </p:cTn>
                              </p:par>
                            </p:childTnLst>
                          </p:cTn>
                        </p:par>
                        <p:par>
                          <p:cTn id="26" fill="hold">
                            <p:stCondLst>
                              <p:cond delay="1000"/>
                            </p:stCondLst>
                            <p:childTnLst>
                              <p:par>
                                <p:cTn id="27" presetID="22" presetClass="entr" presetSubtype="8" fill="hold" grpId="0" nodeType="afterEffect">
                                  <p:stCondLst>
                                    <p:cond delay="0"/>
                                  </p:stCondLst>
                                  <p:childTnLst>
                                    <p:set>
                                      <p:cBhvr>
                                        <p:cTn id="28" dur="1" fill="hold">
                                          <p:stCondLst>
                                            <p:cond delay="0"/>
                                          </p:stCondLst>
                                        </p:cTn>
                                        <p:tgtEl>
                                          <p:spTgt spid="14">
                                            <p:txEl>
                                              <p:pRg st="0" end="0"/>
                                            </p:txEl>
                                          </p:spTgt>
                                        </p:tgtEl>
                                        <p:attrNameLst>
                                          <p:attrName>style.visibility</p:attrName>
                                        </p:attrNameLst>
                                      </p:cBhvr>
                                      <p:to>
                                        <p:strVal val="visible"/>
                                      </p:to>
                                    </p:set>
                                    <p:animEffect transition="in" filter="wipe(left)">
                                      <p:cBhvr>
                                        <p:cTn id="29" dur="500"/>
                                        <p:tgtEl>
                                          <p:spTgt spid="14">
                                            <p:txEl>
                                              <p:pRg st="0" end="0"/>
                                            </p:txEl>
                                          </p:spTgt>
                                        </p:tgtEl>
                                      </p:cBhvr>
                                    </p:animEffect>
                                  </p:childTnLst>
                                </p:cTn>
                              </p:par>
                            </p:childTnLst>
                          </p:cTn>
                        </p:par>
                        <p:par>
                          <p:cTn id="30" fill="hold">
                            <p:stCondLst>
                              <p:cond delay="1500"/>
                            </p:stCondLst>
                            <p:childTnLst>
                              <p:par>
                                <p:cTn id="31" presetID="22" presetClass="entr" presetSubtype="8" fill="hold" grpId="0" nodeType="afterEffect">
                                  <p:stCondLst>
                                    <p:cond delay="0"/>
                                  </p:stCondLst>
                                  <p:childTnLst>
                                    <p:set>
                                      <p:cBhvr>
                                        <p:cTn id="32" dur="1" fill="hold">
                                          <p:stCondLst>
                                            <p:cond delay="0"/>
                                          </p:stCondLst>
                                        </p:cTn>
                                        <p:tgtEl>
                                          <p:spTgt spid="37"/>
                                        </p:tgtEl>
                                        <p:attrNameLst>
                                          <p:attrName>style.visibility</p:attrName>
                                        </p:attrNameLst>
                                      </p:cBhvr>
                                      <p:to>
                                        <p:strVal val="visible"/>
                                      </p:to>
                                    </p:set>
                                    <p:animEffect transition="in" filter="wipe(left)">
                                      <p:cBhvr>
                                        <p:cTn id="33" dur="500"/>
                                        <p:tgtEl>
                                          <p:spTgt spid="37"/>
                                        </p:tgtEl>
                                      </p:cBhvr>
                                    </p:animEffect>
                                  </p:childTnLst>
                                </p:cTn>
                              </p:par>
                            </p:childTnLst>
                          </p:cTn>
                        </p:par>
                        <p:par>
                          <p:cTn id="34" fill="hold">
                            <p:stCondLst>
                              <p:cond delay="2000"/>
                            </p:stCondLst>
                            <p:childTnLst>
                              <p:par>
                                <p:cTn id="35" presetID="22" presetClass="entr" presetSubtype="8" fill="hold" grpId="0" nodeType="afterEffect">
                                  <p:stCondLst>
                                    <p:cond delay="0"/>
                                  </p:stCondLst>
                                  <p:childTnLst>
                                    <p:set>
                                      <p:cBhvr>
                                        <p:cTn id="36" dur="1" fill="hold">
                                          <p:stCondLst>
                                            <p:cond delay="0"/>
                                          </p:stCondLst>
                                        </p:cTn>
                                        <p:tgtEl>
                                          <p:spTgt spid="28">
                                            <p:txEl>
                                              <p:pRg st="0" end="0"/>
                                            </p:txEl>
                                          </p:spTgt>
                                        </p:tgtEl>
                                        <p:attrNameLst>
                                          <p:attrName>style.visibility</p:attrName>
                                        </p:attrNameLst>
                                      </p:cBhvr>
                                      <p:to>
                                        <p:strVal val="visible"/>
                                      </p:to>
                                    </p:set>
                                    <p:animEffect transition="in" filter="wipe(left)">
                                      <p:cBhvr>
                                        <p:cTn id="37" dur="500"/>
                                        <p:tgtEl>
                                          <p:spTgt spid="28">
                                            <p:txEl>
                                              <p:pRg st="0" end="0"/>
                                            </p:txEl>
                                          </p:spTgt>
                                        </p:tgtEl>
                                      </p:cBhvr>
                                    </p:animEffect>
                                  </p:childTnLst>
                                </p:cTn>
                              </p:par>
                            </p:childTnLst>
                          </p:cTn>
                        </p:par>
                        <p:par>
                          <p:cTn id="38" fill="hold">
                            <p:stCondLst>
                              <p:cond delay="2500"/>
                            </p:stCondLst>
                            <p:childTnLst>
                              <p:par>
                                <p:cTn id="39" presetID="22" presetClass="entr" presetSubtype="8" fill="hold" grpId="0" nodeType="after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wipe(left)">
                                      <p:cBhvr>
                                        <p:cTn id="41" dur="5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wipe(left)">
                                      <p:cBhvr>
                                        <p:cTn id="46" dur="500"/>
                                        <p:tgtEl>
                                          <p:spTgt spid="3"/>
                                        </p:tgtEl>
                                      </p:cBhvr>
                                    </p:animEffect>
                                  </p:childTnLst>
                                </p:cTn>
                              </p:par>
                            </p:childTnLst>
                          </p:cTn>
                        </p:par>
                        <p:par>
                          <p:cTn id="47" fill="hold">
                            <p:stCondLst>
                              <p:cond delay="500"/>
                            </p:stCondLst>
                            <p:childTnLst>
                              <p:par>
                                <p:cTn id="48" presetID="22" presetClass="entr" presetSubtype="8" fill="hold" grpId="0" nodeType="afterEffect">
                                  <p:stCondLst>
                                    <p:cond delay="0"/>
                                  </p:stCondLst>
                                  <p:childTnLst>
                                    <p:set>
                                      <p:cBhvr>
                                        <p:cTn id="49" dur="1" fill="hold">
                                          <p:stCondLst>
                                            <p:cond delay="0"/>
                                          </p:stCondLst>
                                        </p:cTn>
                                        <p:tgtEl>
                                          <p:spTgt spid="2"/>
                                        </p:tgtEl>
                                        <p:attrNameLst>
                                          <p:attrName>style.visibility</p:attrName>
                                        </p:attrNameLst>
                                      </p:cBhvr>
                                      <p:to>
                                        <p:strVal val="visible"/>
                                      </p:to>
                                    </p:set>
                                    <p:animEffect transition="in" filter="wipe(left)">
                                      <p:cBhvr>
                                        <p:cTn id="50" dur="500"/>
                                        <p:tgtEl>
                                          <p:spTgt spid="2"/>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wipe(left)">
                                      <p:cBhvr>
                                        <p:cTn id="55" dur="500"/>
                                        <p:tgtEl>
                                          <p:spTgt spid="21"/>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wipe(left)">
                                      <p:cBhvr>
                                        <p:cTn id="60" dur="500"/>
                                        <p:tgtEl>
                                          <p:spTgt spid="32"/>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wipe(left)">
                                      <p:cBhvr>
                                        <p:cTn id="65" dur="500"/>
                                        <p:tgtEl>
                                          <p:spTgt spid="24"/>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wipe(left)">
                                      <p:cBhvr>
                                        <p:cTn id="70" dur="500"/>
                                        <p:tgtEl>
                                          <p:spTgt spid="25"/>
                                        </p:tgtEl>
                                      </p:cBhvr>
                                    </p:animEffect>
                                  </p:childTnLst>
                                </p:cTn>
                              </p:par>
                            </p:childTnLst>
                          </p:cTn>
                        </p:par>
                        <p:par>
                          <p:cTn id="71" fill="hold">
                            <p:stCondLst>
                              <p:cond delay="500"/>
                            </p:stCondLst>
                            <p:childTnLst>
                              <p:par>
                                <p:cTn id="72" presetID="22" presetClass="entr" presetSubtype="8" fill="hold" grpId="0" nodeType="after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wipe(left)">
                                      <p:cBhvr>
                                        <p:cTn id="74" dur="500"/>
                                        <p:tgtEl>
                                          <p:spTgt spid="26"/>
                                        </p:tgtEl>
                                      </p:cBhvr>
                                    </p:animEffect>
                                  </p:childTnLst>
                                </p:cTn>
                              </p:par>
                            </p:childTnLst>
                          </p:cTn>
                        </p:par>
                        <p:par>
                          <p:cTn id="75" fill="hold">
                            <p:stCondLst>
                              <p:cond delay="1000"/>
                            </p:stCondLst>
                            <p:childTnLst>
                              <p:par>
                                <p:cTn id="76" presetID="22" presetClass="entr" presetSubtype="8" fill="hold" nodeType="afterEffect">
                                  <p:stCondLst>
                                    <p:cond delay="0"/>
                                  </p:stCondLst>
                                  <p:childTnLst>
                                    <p:set>
                                      <p:cBhvr>
                                        <p:cTn id="77" dur="1" fill="hold">
                                          <p:stCondLst>
                                            <p:cond delay="0"/>
                                          </p:stCondLst>
                                        </p:cTn>
                                        <p:tgtEl>
                                          <p:spTgt spid="43"/>
                                        </p:tgtEl>
                                        <p:attrNameLst>
                                          <p:attrName>style.visibility</p:attrName>
                                        </p:attrNameLst>
                                      </p:cBhvr>
                                      <p:to>
                                        <p:strVal val="visible"/>
                                      </p:to>
                                    </p:set>
                                    <p:animEffect transition="in" filter="wipe(left)">
                                      <p:cBhvr>
                                        <p:cTn id="78" dur="500"/>
                                        <p:tgtEl>
                                          <p:spTgt spid="43"/>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57"/>
                                        </p:tgtEl>
                                        <p:attrNameLst>
                                          <p:attrName>style.visibility</p:attrName>
                                        </p:attrNameLst>
                                      </p:cBhvr>
                                      <p:to>
                                        <p:strVal val="visible"/>
                                      </p:to>
                                    </p:set>
                                    <p:animEffect transition="in" filter="wipe(left)">
                                      <p:cBhvr>
                                        <p:cTn id="83" dur="500"/>
                                        <p:tgtEl>
                                          <p:spTgt spid="57"/>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1" fill="hold" nodeType="clickEffect">
                                  <p:stCondLst>
                                    <p:cond delay="0"/>
                                  </p:stCondLst>
                                  <p:childTnLst>
                                    <p:set>
                                      <p:cBhvr>
                                        <p:cTn id="87" dur="1" fill="hold">
                                          <p:stCondLst>
                                            <p:cond delay="0"/>
                                          </p:stCondLst>
                                        </p:cTn>
                                        <p:tgtEl>
                                          <p:spTgt spid="62"/>
                                        </p:tgtEl>
                                        <p:attrNameLst>
                                          <p:attrName>style.visibility</p:attrName>
                                        </p:attrNameLst>
                                      </p:cBhvr>
                                      <p:to>
                                        <p:strVal val="visible"/>
                                      </p:to>
                                    </p:set>
                                    <p:animEffect transition="in" filter="wipe(up)">
                                      <p:cBhvr>
                                        <p:cTn id="88" dur="500"/>
                                        <p:tgtEl>
                                          <p:spTgt spid="62"/>
                                        </p:tgtEl>
                                      </p:cBhvr>
                                    </p:animEffect>
                                  </p:childTnLst>
                                </p:cTn>
                              </p:par>
                            </p:childTnLst>
                          </p:cTn>
                        </p:par>
                        <p:par>
                          <p:cTn id="89" fill="hold">
                            <p:stCondLst>
                              <p:cond delay="500"/>
                            </p:stCondLst>
                            <p:childTnLst>
                              <p:par>
                                <p:cTn id="90" presetID="22" presetClass="entr" presetSubtype="8" fill="hold" grpId="0" nodeType="afterEffect">
                                  <p:stCondLst>
                                    <p:cond delay="0"/>
                                  </p:stCondLst>
                                  <p:childTnLst>
                                    <p:set>
                                      <p:cBhvr>
                                        <p:cTn id="91" dur="1" fill="hold">
                                          <p:stCondLst>
                                            <p:cond delay="0"/>
                                          </p:stCondLst>
                                        </p:cTn>
                                        <p:tgtEl>
                                          <p:spTgt spid="27"/>
                                        </p:tgtEl>
                                        <p:attrNameLst>
                                          <p:attrName>style.visibility</p:attrName>
                                        </p:attrNameLst>
                                      </p:cBhvr>
                                      <p:to>
                                        <p:strVal val="visible"/>
                                      </p:to>
                                    </p:set>
                                    <p:animEffect transition="in" filter="wipe(left)">
                                      <p:cBhvr>
                                        <p:cTn id="92" dur="500"/>
                                        <p:tgtEl>
                                          <p:spTgt spid="27"/>
                                        </p:tgtEl>
                                      </p:cBhvr>
                                    </p:animEffect>
                                  </p:childTnLst>
                                </p:cTn>
                              </p:par>
                            </p:childTnLst>
                          </p:cTn>
                        </p:par>
                        <p:par>
                          <p:cTn id="93" fill="hold">
                            <p:stCondLst>
                              <p:cond delay="1000"/>
                            </p:stCondLst>
                            <p:childTnLst>
                              <p:par>
                                <p:cTn id="94" presetID="22" presetClass="entr" presetSubtype="8" fill="hold" grpId="0" nodeType="afterEffect">
                                  <p:stCondLst>
                                    <p:cond delay="0"/>
                                  </p:stCondLst>
                                  <p:childTnLst>
                                    <p:set>
                                      <p:cBhvr>
                                        <p:cTn id="95" dur="1" fill="hold">
                                          <p:stCondLst>
                                            <p:cond delay="0"/>
                                          </p:stCondLst>
                                        </p:cTn>
                                        <p:tgtEl>
                                          <p:spTgt spid="48"/>
                                        </p:tgtEl>
                                        <p:attrNameLst>
                                          <p:attrName>style.visibility</p:attrName>
                                        </p:attrNameLst>
                                      </p:cBhvr>
                                      <p:to>
                                        <p:strVal val="visible"/>
                                      </p:to>
                                    </p:set>
                                    <p:animEffect transition="in" filter="wipe(left)">
                                      <p:cBhvr>
                                        <p:cTn id="96"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utoUpdateAnimBg="0"/>
      <p:bldP spid="11" grpId="0"/>
      <p:bldP spid="12" grpId="0"/>
      <p:bldP spid="13" grpId="0"/>
      <p:bldP spid="14" grpId="0" build="p" autoUpdateAnimBg="0" advAuto="0"/>
      <p:bldP spid="15" grpId="0"/>
      <p:bldP spid="21" grpId="0" autoUpdateAnimBg="0"/>
      <p:bldP spid="24" grpId="0"/>
      <p:bldP spid="25" grpId="0"/>
      <p:bldP spid="26" grpId="0"/>
      <p:bldP spid="27" grpId="0"/>
      <p:bldP spid="28" grpId="0" build="p" autoUpdateAnimBg="0" advAuto="0"/>
      <p:bldP spid="29" grpId="0" build="p" autoUpdateAnimBg="0"/>
      <p:bldP spid="31" grpId="0"/>
      <p:bldP spid="37" grpId="0"/>
      <p:bldP spid="48" grpId="0"/>
      <p:bldP spid="7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10" name="Rectangle 26"/>
          <p:cNvSpPr>
            <a:spLocks noChangeArrowheads="1"/>
          </p:cNvSpPr>
          <p:nvPr/>
        </p:nvSpPr>
        <p:spPr bwMode="auto">
          <a:xfrm>
            <a:off x="967886" y="590421"/>
            <a:ext cx="412763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3200" b="1" dirty="0">
                <a:solidFill>
                  <a:srgbClr val="04926A"/>
                </a:solidFill>
                <a:latin typeface="微软雅黑" panose="020B0503020204020204" pitchFamily="34" charset="-122"/>
                <a:ea typeface="微软雅黑" panose="020B0503020204020204" pitchFamily="34" charset="-122"/>
              </a:rPr>
              <a:t>二、两向量的向量积</a:t>
            </a:r>
          </a:p>
        </p:txBody>
      </p:sp>
      <mc:AlternateContent xmlns:mc="http://schemas.openxmlformats.org/markup-compatibility/2006" xmlns:a14="http://schemas.microsoft.com/office/drawing/2010/main">
        <mc:Choice Requires="a14">
          <p:sp>
            <p:nvSpPr>
              <p:cNvPr id="16411" name="Text Box 27"/>
              <p:cNvSpPr txBox="1">
                <a:spLocks noChangeArrowheads="1"/>
              </p:cNvSpPr>
              <p:nvPr/>
            </p:nvSpPr>
            <p:spPr bwMode="auto">
              <a:xfrm>
                <a:off x="2549525" y="1706730"/>
                <a:ext cx="8451850"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dirty="0">
                    <a:solidFill>
                      <a:srgbClr val="04926A"/>
                    </a:solidFill>
                    <a:latin typeface="微软雅黑" panose="020B0503020204020204" pitchFamily="34" charset="-122"/>
                    <a:ea typeface="微软雅黑" panose="020B0503020204020204" pitchFamily="34" charset="-122"/>
                  </a:rPr>
                  <a:t>引例</a:t>
                </a:r>
                <a:r>
                  <a:rPr lang="zh-CN" altLang="en-US" sz="2800" dirty="0">
                    <a:latin typeface="Times New Roman" panose="02020603050405020304" pitchFamily="18" charset="0"/>
                    <a:cs typeface="Times New Roman" panose="02020603050405020304" pitchFamily="18" charset="0"/>
                  </a:rPr>
                  <a:t>  </a:t>
                </a:r>
                <a:r>
                  <a:rPr kumimoji="1" lang="zh-CN" altLang="en-US" sz="2800" dirty="0">
                    <a:latin typeface="Times New Roman" panose="02020603050405020304" pitchFamily="18" charset="0"/>
                    <a:cs typeface="Times New Roman" panose="02020603050405020304" pitchFamily="18" charset="0"/>
                  </a:rPr>
                  <a:t>设</a:t>
                </a:r>
                <a14:m>
                  <m:oMath xmlns:m="http://schemas.openxmlformats.org/officeDocument/2006/math">
                    <m:r>
                      <a:rPr lang="en-US" altLang="zh-CN" sz="2800" b="0" i="1" smtClean="0">
                        <a:latin typeface="Cambria Math" panose="02040503050406030204" pitchFamily="18" charset="0"/>
                        <a:ea typeface="Cambria Math" panose="02040503050406030204" pitchFamily="18" charset="0"/>
                      </a:rPr>
                      <m:t>𝑂</m:t>
                    </m:r>
                  </m:oMath>
                </a14:m>
                <a:r>
                  <a:rPr kumimoji="1" lang="zh-CN" altLang="en-US" sz="2800" dirty="0">
                    <a:latin typeface="Times New Roman" panose="02020603050405020304" pitchFamily="18" charset="0"/>
                    <a:cs typeface="Times New Roman" panose="02020603050405020304" pitchFamily="18" charset="0"/>
                  </a:rPr>
                  <a:t>为一根杠杆的支点，有一个力</a:t>
                </a:r>
                <a14:m>
                  <m:oMath xmlns:m="http://schemas.openxmlformats.org/officeDocument/2006/math">
                    <m:r>
                      <a:rPr lang="en-US" altLang="zh-CN" sz="2800" b="1" i="1">
                        <a:latin typeface="Cambria Math" panose="02040503050406030204" pitchFamily="18" charset="0"/>
                        <a:ea typeface="Cambria Math" panose="02040503050406030204" pitchFamily="18" charset="0"/>
                      </a:rPr>
                      <m:t>𝑭</m:t>
                    </m:r>
                  </m:oMath>
                </a14:m>
                <a:r>
                  <a:rPr kumimoji="1" lang="zh-CN" altLang="en-US" sz="2800" dirty="0">
                    <a:latin typeface="Times New Roman" panose="02020603050405020304" pitchFamily="18" charset="0"/>
                    <a:cs typeface="Times New Roman" panose="02020603050405020304" pitchFamily="18" charset="0"/>
                  </a:rPr>
                  <a:t>作用于这 </a:t>
                </a:r>
              </a:p>
            </p:txBody>
          </p:sp>
        </mc:Choice>
        <mc:Fallback xmlns="">
          <p:sp>
            <p:nvSpPr>
              <p:cNvPr id="16411" name="Text Box 27"/>
              <p:cNvSpPr txBox="1">
                <a:spLocks noRot="1" noChangeAspect="1" noMove="1" noResize="1" noEditPoints="1" noAdjustHandles="1" noChangeArrowheads="1" noChangeShapeType="1" noTextEdit="1"/>
              </p:cNvSpPr>
              <p:nvPr/>
            </p:nvSpPr>
            <p:spPr bwMode="auto">
              <a:xfrm>
                <a:off x="2549525" y="1706730"/>
                <a:ext cx="8451850" cy="523220"/>
              </a:xfrm>
              <a:prstGeom prst="rect">
                <a:avLst/>
              </a:prstGeom>
              <a:blipFill>
                <a:blip r:embed="rId2"/>
                <a:stretch>
                  <a:fillRect l="-1442" t="-16279" b="-3255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412" name="Text Box 28"/>
              <p:cNvSpPr txBox="1">
                <a:spLocks noChangeArrowheads="1"/>
              </p:cNvSpPr>
              <p:nvPr/>
            </p:nvSpPr>
            <p:spPr bwMode="auto">
              <a:xfrm>
                <a:off x="1838325" y="2393848"/>
                <a:ext cx="6248400"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p>
                <a:pPr>
                  <a:spcBef>
                    <a:spcPct val="50000"/>
                  </a:spcBef>
                </a:pPr>
                <a:r>
                  <a:rPr lang="zh-CN" altLang="en-US" sz="2800" dirty="0">
                    <a:latin typeface="Times New Roman" panose="02020603050405020304" pitchFamily="18" charset="0"/>
                    <a:cs typeface="Times New Roman" panose="02020603050405020304" pitchFamily="18" charset="0"/>
                  </a:rPr>
                  <a:t>杠杆上的</a:t>
                </a:r>
                <a14:m>
                  <m:oMath xmlns:m="http://schemas.openxmlformats.org/officeDocument/2006/math">
                    <m:r>
                      <a:rPr lang="en-US" altLang="zh-CN" sz="2800" i="1">
                        <a:latin typeface="Cambria Math" panose="02040503050406030204" pitchFamily="18" charset="0"/>
                        <a:ea typeface="Cambria Math" panose="02040503050406030204" pitchFamily="18" charset="0"/>
                      </a:rPr>
                      <m:t>𝑃</m:t>
                    </m:r>
                  </m:oMath>
                </a14:m>
                <a:r>
                  <a:rPr lang="zh-CN" altLang="en-US" sz="2800" dirty="0">
                    <a:latin typeface="Times New Roman" panose="02020603050405020304" pitchFamily="18" charset="0"/>
                    <a:cs typeface="Times New Roman" panose="02020603050405020304" pitchFamily="18" charset="0"/>
                  </a:rPr>
                  <a:t>点处，</a:t>
                </a:r>
                <a14:m>
                  <m:oMath xmlns:m="http://schemas.openxmlformats.org/officeDocument/2006/math">
                    <m:r>
                      <a:rPr lang="en-US" altLang="zh-CN" sz="2800" b="1" i="1">
                        <a:latin typeface="Cambria Math" panose="02040503050406030204" pitchFamily="18" charset="0"/>
                        <a:ea typeface="Cambria Math" panose="02040503050406030204" pitchFamily="18" charset="0"/>
                      </a:rPr>
                      <m:t>𝑭</m:t>
                    </m:r>
                  </m:oMath>
                </a14:m>
                <a:r>
                  <a:rPr lang="zh-CN" altLang="en-US" sz="2800" dirty="0">
                    <a:latin typeface="Times New Roman" panose="02020603050405020304" pitchFamily="18" charset="0"/>
                    <a:cs typeface="Times New Roman" panose="02020603050405020304" pitchFamily="18" charset="0"/>
                  </a:rPr>
                  <a:t>与杠杆的夹角为</a:t>
                </a:r>
                <a14:m>
                  <m:oMath xmlns:m="http://schemas.openxmlformats.org/officeDocument/2006/math">
                    <m:r>
                      <a:rPr lang="zh-CN" altLang="en-US" sz="2800" i="1">
                        <a:latin typeface="Cambria Math" panose="02040503050406030204" pitchFamily="18" charset="0"/>
                        <a:ea typeface="Cambria Math" panose="02040503050406030204" pitchFamily="18" charset="0"/>
                      </a:rPr>
                      <m:t>𝜃</m:t>
                    </m:r>
                    <m:r>
                      <a:rPr lang="en-US" altLang="zh-CN" sz="2800" b="0" i="1" smtClean="0">
                        <a:latin typeface="Cambria Math" panose="02040503050406030204" pitchFamily="18" charset="0"/>
                        <a:ea typeface="Cambria Math" panose="02040503050406030204" pitchFamily="18" charset="0"/>
                      </a:rPr>
                      <m:t>.</m:t>
                    </m:r>
                  </m:oMath>
                </a14:m>
                <a:endParaRPr lang="zh-CN" altLang="en-US" sz="2800" dirty="0">
                  <a:latin typeface="Times New Roman" panose="02020603050405020304" pitchFamily="18" charset="0"/>
                  <a:cs typeface="Times New Roman" panose="02020603050405020304" pitchFamily="18" charset="0"/>
                  <a:sym typeface="Symbol" panose="05050102010706020507" pitchFamily="18" charset="2"/>
                </a:endParaRPr>
              </a:p>
            </p:txBody>
          </p:sp>
        </mc:Choice>
        <mc:Fallback xmlns="">
          <p:sp>
            <p:nvSpPr>
              <p:cNvPr id="16412" name="Text Box 28"/>
              <p:cNvSpPr txBox="1">
                <a:spLocks noRot="1" noChangeAspect="1" noMove="1" noResize="1" noEditPoints="1" noAdjustHandles="1" noChangeArrowheads="1" noChangeShapeType="1" noTextEdit="1"/>
              </p:cNvSpPr>
              <p:nvPr/>
            </p:nvSpPr>
            <p:spPr bwMode="auto">
              <a:xfrm>
                <a:off x="1838325" y="2393848"/>
                <a:ext cx="6248400" cy="523220"/>
              </a:xfrm>
              <a:prstGeom prst="rect">
                <a:avLst/>
              </a:prstGeom>
              <a:blipFill>
                <a:blip r:embed="rId3"/>
                <a:stretch>
                  <a:fillRect l="-2049" t="-16279" b="-2790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428" name="Text Box 44"/>
              <p:cNvSpPr txBox="1">
                <a:spLocks noChangeArrowheads="1"/>
              </p:cNvSpPr>
              <p:nvPr/>
            </p:nvSpPr>
            <p:spPr bwMode="auto">
              <a:xfrm>
                <a:off x="1838325" y="3051073"/>
                <a:ext cx="5943600"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p>
                <a:pPr>
                  <a:spcBef>
                    <a:spcPct val="50000"/>
                  </a:spcBef>
                </a:pPr>
                <a:r>
                  <a:rPr lang="zh-CN" altLang="en-US" sz="2800" dirty="0">
                    <a:latin typeface="Times New Roman" panose="02020603050405020304" pitchFamily="18" charset="0"/>
                    <a:cs typeface="Times New Roman" panose="02020603050405020304" pitchFamily="18" charset="0"/>
                  </a:rPr>
                  <a:t>由力学规定，力</a:t>
                </a:r>
                <a14:m>
                  <m:oMath xmlns:m="http://schemas.openxmlformats.org/officeDocument/2006/math">
                    <m:r>
                      <a:rPr lang="en-US" altLang="zh-CN" sz="2800" b="1" i="1">
                        <a:latin typeface="Cambria Math" panose="02040503050406030204" pitchFamily="18" charset="0"/>
                        <a:ea typeface="Cambria Math" panose="02040503050406030204" pitchFamily="18" charset="0"/>
                      </a:rPr>
                      <m:t>𝑭</m:t>
                    </m:r>
                  </m:oMath>
                </a14:m>
                <a:r>
                  <a:rPr lang="zh-CN" altLang="en-US" sz="2800" dirty="0">
                    <a:latin typeface="Times New Roman" panose="02020603050405020304" pitchFamily="18" charset="0"/>
                    <a:cs typeface="Times New Roman" panose="02020603050405020304" pitchFamily="18" charset="0"/>
                  </a:rPr>
                  <a:t>对支点</a:t>
                </a:r>
                <a14:m>
                  <m:oMath xmlns:m="http://schemas.openxmlformats.org/officeDocument/2006/math">
                    <m:r>
                      <a:rPr lang="en-US" altLang="zh-CN" sz="2800" i="1">
                        <a:latin typeface="Cambria Math" panose="02040503050406030204" pitchFamily="18" charset="0"/>
                        <a:ea typeface="Cambria Math" panose="02040503050406030204" pitchFamily="18" charset="0"/>
                      </a:rPr>
                      <m:t>𝑂</m:t>
                    </m:r>
                  </m:oMath>
                </a14:m>
                <a:r>
                  <a:rPr lang="zh-CN" altLang="en-US" sz="2800" dirty="0">
                    <a:latin typeface="Times New Roman" panose="02020603050405020304" pitchFamily="18" charset="0"/>
                    <a:cs typeface="Times New Roman" panose="02020603050405020304" pitchFamily="18" charset="0"/>
                  </a:rPr>
                  <a:t>的力矩是</a:t>
                </a:r>
              </a:p>
            </p:txBody>
          </p:sp>
        </mc:Choice>
        <mc:Fallback xmlns="">
          <p:sp>
            <p:nvSpPr>
              <p:cNvPr id="16428" name="Text Box 44"/>
              <p:cNvSpPr txBox="1">
                <a:spLocks noRot="1" noChangeAspect="1" noMove="1" noResize="1" noEditPoints="1" noAdjustHandles="1" noChangeArrowheads="1" noChangeShapeType="1" noTextEdit="1"/>
              </p:cNvSpPr>
              <p:nvPr/>
            </p:nvSpPr>
            <p:spPr bwMode="auto">
              <a:xfrm>
                <a:off x="1838325" y="3051073"/>
                <a:ext cx="5943600" cy="523220"/>
              </a:xfrm>
              <a:prstGeom prst="rect">
                <a:avLst/>
              </a:prstGeom>
              <a:blipFill>
                <a:blip r:embed="rId4"/>
                <a:stretch>
                  <a:fillRect l="-2154" t="-16471" b="-2941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429" name="Text Box 45"/>
              <p:cNvSpPr txBox="1">
                <a:spLocks noChangeArrowheads="1"/>
              </p:cNvSpPr>
              <p:nvPr/>
            </p:nvSpPr>
            <p:spPr bwMode="auto">
              <a:xfrm>
                <a:off x="1838325" y="3765448"/>
                <a:ext cx="4876800"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p>
                <a:pPr>
                  <a:spcBef>
                    <a:spcPct val="50000"/>
                  </a:spcBef>
                </a:pPr>
                <a:r>
                  <a:rPr lang="zh-CN" altLang="en-US" sz="2800" dirty="0">
                    <a:latin typeface="Times New Roman" panose="02020603050405020304" pitchFamily="18" charset="0"/>
                    <a:cs typeface="Times New Roman" panose="02020603050405020304" pitchFamily="18" charset="0"/>
                  </a:rPr>
                  <a:t>一向量</a:t>
                </a:r>
                <a14:m>
                  <m:oMath xmlns:m="http://schemas.openxmlformats.org/officeDocument/2006/math">
                    <m:r>
                      <a:rPr lang="en-US" altLang="zh-CN" sz="2800" b="1" i="1">
                        <a:latin typeface="Cambria Math" panose="02040503050406030204" pitchFamily="18" charset="0"/>
                        <a:ea typeface="Cambria Math" panose="02040503050406030204" pitchFamily="18" charset="0"/>
                      </a:rPr>
                      <m:t>𝑴</m:t>
                    </m:r>
                    <m:r>
                      <a:rPr lang="en-US" altLang="zh-CN" sz="2800" b="0" i="1" smtClean="0">
                        <a:latin typeface="Cambria Math" panose="02040503050406030204" pitchFamily="18" charset="0"/>
                        <a:ea typeface="Cambria Math" panose="02040503050406030204" pitchFamily="18" charset="0"/>
                      </a:rPr>
                      <m:t>, </m:t>
                    </m:r>
                  </m:oMath>
                </a14:m>
                <a:r>
                  <a:rPr lang="zh-CN" altLang="en-US" sz="2800" dirty="0">
                    <a:latin typeface="Times New Roman" panose="02020603050405020304" pitchFamily="18" charset="0"/>
                    <a:cs typeface="Times New Roman" panose="02020603050405020304" pitchFamily="18" charset="0"/>
                  </a:rPr>
                  <a:t>它的模</a:t>
                </a:r>
              </a:p>
            </p:txBody>
          </p:sp>
        </mc:Choice>
        <mc:Fallback xmlns="">
          <p:sp>
            <p:nvSpPr>
              <p:cNvPr id="16429" name="Text Box 45"/>
              <p:cNvSpPr txBox="1">
                <a:spLocks noRot="1" noChangeAspect="1" noMove="1" noResize="1" noEditPoints="1" noAdjustHandles="1" noChangeArrowheads="1" noChangeShapeType="1" noTextEdit="1"/>
              </p:cNvSpPr>
              <p:nvPr/>
            </p:nvSpPr>
            <p:spPr bwMode="auto">
              <a:xfrm>
                <a:off x="1838325" y="3765448"/>
                <a:ext cx="4876800" cy="523220"/>
              </a:xfrm>
              <a:prstGeom prst="rect">
                <a:avLst/>
              </a:prstGeom>
              <a:blipFill>
                <a:blip r:embed="rId5"/>
                <a:stretch>
                  <a:fillRect l="-2625" t="-16279" b="-2790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430" name="Object 46"/>
              <p:cNvSpPr txBox="1"/>
              <p:nvPr/>
            </p:nvSpPr>
            <p:spPr bwMode="auto">
              <a:xfrm>
                <a:off x="4480781" y="3613579"/>
                <a:ext cx="3814762" cy="62865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𝑴</m:t>
                      </m:r>
                      <m:r>
                        <a:rPr lang="zh-CN" altLang="en-US" sz="2800" i="1">
                          <a:solidFill>
                            <a:srgbClr val="000000"/>
                          </a:solidFill>
                          <a:latin typeface="Cambria Math" panose="02040503050406030204" pitchFamily="18" charset="0"/>
                        </a:rPr>
                        <m:t>|=|</m:t>
                      </m:r>
                      <m:groupChr>
                        <m:groupChrPr>
                          <m:chr m:val="→"/>
                          <m:pos m:val="top"/>
                          <m:vertJc m:val="bot"/>
                          <m:ctrlPr>
                            <a:rPr lang="zh-CN" altLang="en-US" sz="2800" i="1">
                              <a:solidFill>
                                <a:srgbClr val="000000"/>
                              </a:solidFill>
                              <a:latin typeface="Cambria Math" panose="02040503050406030204" pitchFamily="18" charset="0"/>
                            </a:rPr>
                          </m:ctrlPr>
                        </m:groupChrPr>
                        <m:e>
                          <m:r>
                            <a:rPr lang="zh-CN" altLang="en-US" sz="2800" i="1">
                              <a:solidFill>
                                <a:srgbClr val="000000"/>
                              </a:solidFill>
                              <a:latin typeface="Cambria Math" panose="02040503050406030204" pitchFamily="18" charset="0"/>
                            </a:rPr>
                            <m:t>𝑂𝑃</m:t>
                          </m:r>
                        </m:e>
                      </m:groupChr>
                      <m:r>
                        <a:rPr lang="zh-CN" altLang="en-US" sz="2800" i="1">
                          <a:solidFill>
                            <a:srgbClr val="000000"/>
                          </a:solidFill>
                          <a:latin typeface="Cambria Math" panose="02040503050406030204" pitchFamily="18" charset="0"/>
                        </a:rPr>
                        <m:t>||</m:t>
                      </m:r>
                      <m:r>
                        <a:rPr lang="zh-CN" altLang="en-US" sz="2800" b="1" i="1">
                          <a:solidFill>
                            <a:srgbClr val="000000"/>
                          </a:solidFill>
                          <a:latin typeface="Cambria Math" panose="02040503050406030204" pitchFamily="18" charset="0"/>
                        </a:rPr>
                        <m:t>𝑭</m:t>
                      </m:r>
                      <m:r>
                        <a:rPr lang="zh-CN" altLang="en-US" sz="2800" i="1">
                          <a:solidFill>
                            <a:srgbClr val="000000"/>
                          </a:solidFill>
                          <a:latin typeface="Cambria Math" panose="02040503050406030204" pitchFamily="18" charset="0"/>
                        </a:rPr>
                        <m:t>|</m:t>
                      </m:r>
                      <m:func>
                        <m:funcPr>
                          <m:ctrlPr>
                            <a:rPr lang="zh-CN" altLang="en-US" sz="2800" i="1">
                              <a:solidFill>
                                <a:srgbClr val="000000"/>
                              </a:solidFill>
                              <a:latin typeface="Cambria Math" panose="02040503050406030204" pitchFamily="18" charset="0"/>
                            </a:rPr>
                          </m:ctrlPr>
                        </m:funcPr>
                        <m:fName>
                          <m:r>
                            <m:rPr>
                              <m:sty m:val="p"/>
                            </m:rPr>
                            <a:rPr lang="zh-CN" altLang="en-US" sz="2800" i="0">
                              <a:solidFill>
                                <a:srgbClr val="000000"/>
                              </a:solidFill>
                              <a:latin typeface="Cambria Math" panose="02040503050406030204" pitchFamily="18" charset="0"/>
                            </a:rPr>
                            <m:t>sin</m:t>
                          </m:r>
                        </m:fName>
                        <m:e>
                          <m:r>
                            <a:rPr lang="zh-CN" altLang="en-US" sz="2800" i="1">
                              <a:solidFill>
                                <a:srgbClr val="000000"/>
                              </a:solidFill>
                              <a:latin typeface="Cambria Math" panose="02040503050406030204" pitchFamily="18" charset="0"/>
                            </a:rPr>
                            <m:t>𝜃</m:t>
                          </m:r>
                        </m:e>
                      </m:func>
                      <m:r>
                        <a:rPr lang="zh-CN" altLang="en-US" sz="2800" i="1">
                          <a:solidFill>
                            <a:srgbClr val="000000"/>
                          </a:solidFill>
                          <a:latin typeface="Cambria Math" panose="02040503050406030204" pitchFamily="18" charset="0"/>
                        </a:rPr>
                        <m:t>.</m:t>
                      </m:r>
                    </m:oMath>
                  </m:oMathPara>
                </a14:m>
                <a:endParaRPr lang="zh-CN" altLang="en-US" sz="2800" i="1" dirty="0">
                  <a:solidFill>
                    <a:srgbClr val="000000"/>
                  </a:solidFill>
                  <a:latin typeface="Cambria Math" panose="02040503050406030204" pitchFamily="18" charset="0"/>
                </a:endParaRPr>
              </a:p>
            </p:txBody>
          </p:sp>
        </mc:Choice>
        <mc:Fallback xmlns="">
          <p:sp>
            <p:nvSpPr>
              <p:cNvPr id="16430" name="Object 46"/>
              <p:cNvSpPr txBox="1">
                <a:spLocks noRot="1" noChangeAspect="1" noMove="1" noResize="1" noEditPoints="1" noAdjustHandles="1" noChangeArrowheads="1" noChangeShapeType="1" noTextEdit="1"/>
              </p:cNvSpPr>
              <p:nvPr/>
            </p:nvSpPr>
            <p:spPr bwMode="auto">
              <a:xfrm>
                <a:off x="4480781" y="3613579"/>
                <a:ext cx="3814762" cy="628650"/>
              </a:xfrm>
              <a:prstGeom prst="rect">
                <a:avLst/>
              </a:prstGeom>
              <a:blipFill>
                <a:blip r:embed="rId6"/>
                <a:stretch>
                  <a:fillRect/>
                </a:stretch>
              </a:blipFill>
              <a:ln>
                <a:noFill/>
              </a:ln>
              <a:effectLst/>
            </p:spPr>
            <p:txBody>
              <a:bodyPr/>
              <a:lstStyle/>
              <a:p>
                <a:r>
                  <a:rPr lang="zh-CN" altLang="en-US">
                    <a:noFill/>
                  </a:rPr>
                  <a:t> </a:t>
                </a:r>
              </a:p>
            </p:txBody>
          </p:sp>
        </mc:Fallback>
      </mc:AlternateContent>
      <p:sp>
        <p:nvSpPr>
          <p:cNvPr id="16432" name="Text Box 48"/>
          <p:cNvSpPr txBox="1">
            <a:spLocks noChangeArrowheads="1"/>
          </p:cNvSpPr>
          <p:nvPr/>
        </p:nvSpPr>
        <p:spPr bwMode="auto">
          <a:xfrm>
            <a:off x="1838325" y="4465536"/>
            <a:ext cx="3276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dirty="0">
                <a:latin typeface="Times New Roman" panose="02020603050405020304" pitchFamily="18" charset="0"/>
                <a:cs typeface="Times New Roman" panose="02020603050405020304" pitchFamily="18" charset="0"/>
              </a:rPr>
              <a:t>而它的方向垂直于</a:t>
            </a:r>
          </a:p>
        </p:txBody>
      </p:sp>
      <mc:AlternateContent xmlns:mc="http://schemas.openxmlformats.org/markup-compatibility/2006" xmlns:a14="http://schemas.microsoft.com/office/drawing/2010/main">
        <mc:Choice Requires="a14">
          <p:sp>
            <p:nvSpPr>
              <p:cNvPr id="16433" name="Object 49"/>
              <p:cNvSpPr txBox="1"/>
              <p:nvPr/>
            </p:nvSpPr>
            <p:spPr bwMode="auto">
              <a:xfrm>
                <a:off x="4783668" y="4406715"/>
                <a:ext cx="930975" cy="68673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groupChr>
                        <m:groupChrPr>
                          <m:chr m:val="→"/>
                          <m:pos m:val="top"/>
                          <m:vertJc m:val="bot"/>
                          <m:ctrlPr>
                            <a:rPr lang="zh-CN" altLang="en-US" sz="2800" i="1">
                              <a:solidFill>
                                <a:srgbClr val="000000"/>
                              </a:solidFill>
                              <a:latin typeface="Cambria Math" panose="02040503050406030204" pitchFamily="18" charset="0"/>
                            </a:rPr>
                          </m:ctrlPr>
                        </m:groupChrPr>
                        <m:e>
                          <m:r>
                            <a:rPr lang="zh-CN" altLang="en-US" sz="2800" i="1">
                              <a:solidFill>
                                <a:srgbClr val="000000"/>
                              </a:solidFill>
                              <a:latin typeface="Cambria Math" panose="02040503050406030204" pitchFamily="18" charset="0"/>
                            </a:rPr>
                            <m:t>𝑂𝑃</m:t>
                          </m:r>
                        </m:e>
                      </m:groupChr>
                    </m:oMath>
                  </m:oMathPara>
                </a14:m>
                <a:endParaRPr lang="zh-CN" altLang="en-US" sz="2800" i="1" dirty="0">
                  <a:solidFill>
                    <a:srgbClr val="000000"/>
                  </a:solidFill>
                  <a:latin typeface="Cambria Math" panose="02040503050406030204" pitchFamily="18" charset="0"/>
                </a:endParaRPr>
              </a:p>
            </p:txBody>
          </p:sp>
        </mc:Choice>
        <mc:Fallback xmlns="">
          <p:sp>
            <p:nvSpPr>
              <p:cNvPr id="16433" name="Object 49"/>
              <p:cNvSpPr txBox="1">
                <a:spLocks noRot="1" noChangeAspect="1" noMove="1" noResize="1" noEditPoints="1" noAdjustHandles="1" noChangeArrowheads="1" noChangeShapeType="1" noTextEdit="1"/>
              </p:cNvSpPr>
              <p:nvPr/>
            </p:nvSpPr>
            <p:spPr bwMode="auto">
              <a:xfrm>
                <a:off x="4783668" y="4406715"/>
                <a:ext cx="930975" cy="686730"/>
              </a:xfrm>
              <a:prstGeom prst="rect">
                <a:avLst/>
              </a:prstGeom>
              <a:blipFill>
                <a:blip r:embed="rId7"/>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435" name="Text Box 51"/>
              <p:cNvSpPr txBox="1">
                <a:spLocks noChangeArrowheads="1"/>
              </p:cNvSpPr>
              <p:nvPr/>
            </p:nvSpPr>
            <p:spPr bwMode="auto">
              <a:xfrm>
                <a:off x="5343525" y="4465536"/>
                <a:ext cx="5486400"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p>
                <a:pPr>
                  <a:spcBef>
                    <a:spcPct val="50000"/>
                  </a:spcBef>
                </a:pPr>
                <a:r>
                  <a:rPr lang="zh-CN" altLang="en-US" sz="2800" dirty="0">
                    <a:latin typeface="Times New Roman" panose="02020603050405020304" pitchFamily="18" charset="0"/>
                    <a:cs typeface="Times New Roman" panose="02020603050405020304" pitchFamily="18" charset="0"/>
                  </a:rPr>
                  <a:t>与</a:t>
                </a:r>
                <a14:m>
                  <m:oMath xmlns:m="http://schemas.openxmlformats.org/officeDocument/2006/math">
                    <m:r>
                      <a:rPr lang="en-US" altLang="zh-CN" sz="2800" b="1" i="1">
                        <a:latin typeface="Cambria Math" panose="02040503050406030204" pitchFamily="18" charset="0"/>
                        <a:ea typeface="Cambria Math" panose="02040503050406030204" pitchFamily="18" charset="0"/>
                      </a:rPr>
                      <m:t>𝑭</m:t>
                    </m:r>
                  </m:oMath>
                </a14:m>
                <a:r>
                  <a:rPr lang="zh-CN" altLang="en-US" sz="2800" dirty="0">
                    <a:latin typeface="Times New Roman" panose="02020603050405020304" pitchFamily="18" charset="0"/>
                    <a:cs typeface="Times New Roman" panose="02020603050405020304" pitchFamily="18" charset="0"/>
                  </a:rPr>
                  <a:t>所决定的平面，指向是按</a:t>
                </a:r>
                <a:endParaRPr lang="zh-CN" altLang="en-US" sz="2800" dirty="0">
                  <a:solidFill>
                    <a:srgbClr val="4A7BA8"/>
                  </a:solidFill>
                  <a:latin typeface="Times New Roman" panose="02020603050405020304" pitchFamily="18" charset="0"/>
                  <a:cs typeface="Times New Roman" panose="02020603050405020304" pitchFamily="18" charset="0"/>
                </a:endParaRPr>
              </a:p>
            </p:txBody>
          </p:sp>
        </mc:Choice>
        <mc:Fallback xmlns="">
          <p:sp>
            <p:nvSpPr>
              <p:cNvPr id="16435" name="Text Box 51"/>
              <p:cNvSpPr txBox="1">
                <a:spLocks noRot="1" noChangeAspect="1" noMove="1" noResize="1" noEditPoints="1" noAdjustHandles="1" noChangeArrowheads="1" noChangeShapeType="1" noTextEdit="1"/>
              </p:cNvSpPr>
              <p:nvPr/>
            </p:nvSpPr>
            <p:spPr bwMode="auto">
              <a:xfrm>
                <a:off x="5343525" y="4465536"/>
                <a:ext cx="5486400" cy="523220"/>
              </a:xfrm>
              <a:prstGeom prst="rect">
                <a:avLst/>
              </a:prstGeom>
              <a:blipFill>
                <a:blip r:embed="rId8"/>
                <a:stretch>
                  <a:fillRect l="-2333" t="-16471" b="-2941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6436" name="Text Box 52"/>
          <p:cNvSpPr txBox="1">
            <a:spLocks noChangeArrowheads="1"/>
          </p:cNvSpPr>
          <p:nvPr/>
        </p:nvSpPr>
        <p:spPr bwMode="auto">
          <a:xfrm>
            <a:off x="1838324" y="5137048"/>
            <a:ext cx="216714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800" dirty="0">
                <a:solidFill>
                  <a:srgbClr val="04926A"/>
                </a:solidFill>
                <a:latin typeface="黑体" panose="02010609060101010101" pitchFamily="49" charset="-122"/>
                <a:ea typeface="黑体" panose="02010609060101010101" pitchFamily="49" charset="-122"/>
              </a:rPr>
              <a:t>右手规则</a:t>
            </a:r>
            <a:r>
              <a:rPr lang="zh-CN" altLang="en-US" sz="2800" dirty="0">
                <a:latin typeface="Times New Roman" panose="02020603050405020304" pitchFamily="18" charset="0"/>
                <a:cs typeface="Times New Roman" panose="02020603050405020304" pitchFamily="18" charset="0"/>
              </a:rPr>
              <a:t>从</a:t>
            </a:r>
          </a:p>
        </p:txBody>
      </p:sp>
      <mc:AlternateContent xmlns:mc="http://schemas.openxmlformats.org/markup-compatibility/2006" xmlns:a14="http://schemas.microsoft.com/office/drawing/2010/main">
        <mc:Choice Requires="a14">
          <p:sp>
            <p:nvSpPr>
              <p:cNvPr id="16437" name="Object 53"/>
              <p:cNvSpPr txBox="1"/>
              <p:nvPr/>
            </p:nvSpPr>
            <p:spPr bwMode="auto">
              <a:xfrm>
                <a:off x="3681496" y="5093445"/>
                <a:ext cx="850498" cy="686731"/>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groupChr>
                        <m:groupChrPr>
                          <m:chr m:val="→"/>
                          <m:pos m:val="top"/>
                          <m:vertJc m:val="bot"/>
                          <m:ctrlPr>
                            <a:rPr lang="zh-CN" altLang="en-US" sz="2800" i="1">
                              <a:solidFill>
                                <a:srgbClr val="000000"/>
                              </a:solidFill>
                              <a:latin typeface="Cambria Math" panose="02040503050406030204" pitchFamily="18" charset="0"/>
                            </a:rPr>
                          </m:ctrlPr>
                        </m:groupChrPr>
                        <m:e>
                          <m:r>
                            <a:rPr lang="zh-CN" altLang="en-US" sz="2800" i="1">
                              <a:solidFill>
                                <a:srgbClr val="000000"/>
                              </a:solidFill>
                              <a:latin typeface="Cambria Math" panose="02040503050406030204" pitchFamily="18" charset="0"/>
                            </a:rPr>
                            <m:t>𝑂𝑃</m:t>
                          </m:r>
                        </m:e>
                      </m:groupChr>
                    </m:oMath>
                  </m:oMathPara>
                </a14:m>
                <a:endParaRPr lang="zh-CN" altLang="en-US" sz="2800" i="1" dirty="0">
                  <a:solidFill>
                    <a:srgbClr val="000000"/>
                  </a:solidFill>
                  <a:latin typeface="Cambria Math" panose="02040503050406030204" pitchFamily="18" charset="0"/>
                </a:endParaRPr>
              </a:p>
            </p:txBody>
          </p:sp>
        </mc:Choice>
        <mc:Fallback xmlns="">
          <p:sp>
            <p:nvSpPr>
              <p:cNvPr id="16437" name="Object 53"/>
              <p:cNvSpPr txBox="1">
                <a:spLocks noRot="1" noChangeAspect="1" noMove="1" noResize="1" noEditPoints="1" noAdjustHandles="1" noChangeArrowheads="1" noChangeShapeType="1" noTextEdit="1"/>
              </p:cNvSpPr>
              <p:nvPr/>
            </p:nvSpPr>
            <p:spPr bwMode="auto">
              <a:xfrm>
                <a:off x="3681496" y="5093445"/>
                <a:ext cx="850498" cy="686731"/>
              </a:xfrm>
              <a:prstGeom prst="rect">
                <a:avLst/>
              </a:prstGeom>
              <a:blipFill>
                <a:blip r:embed="rId9"/>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438" name="Text Box 54"/>
              <p:cNvSpPr txBox="1">
                <a:spLocks noChangeArrowheads="1"/>
              </p:cNvSpPr>
              <p:nvPr/>
            </p:nvSpPr>
            <p:spPr bwMode="auto">
              <a:xfrm>
                <a:off x="4263469" y="5137048"/>
                <a:ext cx="5638800"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p>
                <a:pPr>
                  <a:spcBef>
                    <a:spcPct val="50000"/>
                  </a:spcBef>
                </a:pPr>
                <a:r>
                  <a:rPr lang="zh-CN" altLang="en-US" sz="2800" dirty="0">
                    <a:latin typeface="Times New Roman" panose="02020603050405020304" pitchFamily="18" charset="0"/>
                    <a:cs typeface="Times New Roman" panose="02020603050405020304" pitchFamily="18" charset="0"/>
                  </a:rPr>
                  <a:t>以不超过</a:t>
                </a:r>
                <a:r>
                  <a:rPr lang="zh-CN" altLang="en-US" sz="2800" dirty="0">
                    <a:solidFill>
                      <a:srgbClr val="000000"/>
                    </a:solidFill>
                    <a:latin typeface="Cambria Math" panose="02040503050406030204" pitchFamily="18" charset="0"/>
                    <a:sym typeface="Symbol" panose="05050102010706020507" pitchFamily="18" charset="2"/>
                  </a:rPr>
                  <a:t></a:t>
                </a:r>
                <a:r>
                  <a:rPr lang="zh-CN" altLang="en-US" sz="2800" dirty="0">
                    <a:latin typeface="Times New Roman" panose="02020603050405020304" pitchFamily="18" charset="0"/>
                    <a:cs typeface="Times New Roman" panose="02020603050405020304" pitchFamily="18" charset="0"/>
                    <a:sym typeface="Symbol" panose="05050102010706020507" pitchFamily="18" charset="2"/>
                  </a:rPr>
                  <a:t>的角转向</a:t>
                </a:r>
                <a14:m>
                  <m:oMath xmlns:m="http://schemas.openxmlformats.org/officeDocument/2006/math">
                    <m:r>
                      <a:rPr lang="en-US" altLang="zh-CN" sz="2800" b="1" i="1">
                        <a:latin typeface="Cambria Math" panose="02040503050406030204" pitchFamily="18" charset="0"/>
                        <a:ea typeface="Cambria Math" panose="02040503050406030204" pitchFamily="18" charset="0"/>
                      </a:rPr>
                      <m:t>𝑭</m:t>
                    </m:r>
                  </m:oMath>
                </a14:m>
                <a:r>
                  <a:rPr lang="zh-CN" altLang="en-US" sz="2800" dirty="0">
                    <a:latin typeface="Times New Roman" panose="02020603050405020304" pitchFamily="18" charset="0"/>
                    <a:cs typeface="Times New Roman" panose="02020603050405020304" pitchFamily="18" charset="0"/>
                    <a:sym typeface="Symbol" panose="05050102010706020507" pitchFamily="18" charset="2"/>
                  </a:rPr>
                  <a:t>来确定．</a:t>
                </a:r>
              </a:p>
            </p:txBody>
          </p:sp>
        </mc:Choice>
        <mc:Fallback xmlns="">
          <p:sp>
            <p:nvSpPr>
              <p:cNvPr id="16438" name="Text Box 54"/>
              <p:cNvSpPr txBox="1">
                <a:spLocks noRot="1" noChangeAspect="1" noMove="1" noResize="1" noEditPoints="1" noAdjustHandles="1" noChangeArrowheads="1" noChangeShapeType="1" noTextEdit="1"/>
              </p:cNvSpPr>
              <p:nvPr/>
            </p:nvSpPr>
            <p:spPr bwMode="auto">
              <a:xfrm>
                <a:off x="4263469" y="5137048"/>
                <a:ext cx="5638800" cy="523220"/>
              </a:xfrm>
              <a:prstGeom prst="rect">
                <a:avLst/>
              </a:prstGeom>
              <a:blipFill>
                <a:blip r:embed="rId10"/>
                <a:stretch>
                  <a:fillRect l="-2162" t="-16279" b="-3139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pic>
        <p:nvPicPr>
          <p:cNvPr id="3" name="图片 2" descr="图表, 折线图&#10;&#10;描述已自动生成">
            <a:extLst>
              <a:ext uri="{FF2B5EF4-FFF2-40B4-BE49-F238E27FC236}">
                <a16:creationId xmlns:a16="http://schemas.microsoft.com/office/drawing/2014/main" id="{1F4BAD57-73DF-87DC-F7AE-F13EC6D0105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946570" y="2288771"/>
            <a:ext cx="3137917" cy="2117944"/>
          </a:xfrm>
          <a:prstGeom prst="rect">
            <a:avLst/>
          </a:prstGeom>
        </p:spPr>
      </p:pic>
    </p:spTree>
    <p:extLst>
      <p:ext uri="{BB962C8B-B14F-4D97-AF65-F5344CB8AC3E}">
        <p14:creationId xmlns:p14="http://schemas.microsoft.com/office/powerpoint/2010/main" val="40551065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410"/>
                                        </p:tgtEl>
                                        <p:attrNameLst>
                                          <p:attrName>style.visibility</p:attrName>
                                        </p:attrNameLst>
                                      </p:cBhvr>
                                      <p:to>
                                        <p:strVal val="visible"/>
                                      </p:to>
                                    </p:set>
                                    <p:animEffect transition="in" filter="wipe(left)">
                                      <p:cBhvr>
                                        <p:cTn id="7" dur="500"/>
                                        <p:tgtEl>
                                          <p:spTgt spid="164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411"/>
                                        </p:tgtEl>
                                        <p:attrNameLst>
                                          <p:attrName>style.visibility</p:attrName>
                                        </p:attrNameLst>
                                      </p:cBhvr>
                                      <p:to>
                                        <p:strVal val="visible"/>
                                      </p:to>
                                    </p:set>
                                    <p:animEffect transition="in" filter="wipe(left)">
                                      <p:cBhvr>
                                        <p:cTn id="12" dur="500"/>
                                        <p:tgtEl>
                                          <p:spTgt spid="16411"/>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6412"/>
                                        </p:tgtEl>
                                        <p:attrNameLst>
                                          <p:attrName>style.visibility</p:attrName>
                                        </p:attrNameLst>
                                      </p:cBhvr>
                                      <p:to>
                                        <p:strVal val="visible"/>
                                      </p:to>
                                    </p:set>
                                    <p:animEffect transition="in" filter="wipe(left)">
                                      <p:cBhvr>
                                        <p:cTn id="16" dur="500"/>
                                        <p:tgtEl>
                                          <p:spTgt spid="1641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left)">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6428"/>
                                        </p:tgtEl>
                                        <p:attrNameLst>
                                          <p:attrName>style.visibility</p:attrName>
                                        </p:attrNameLst>
                                      </p:cBhvr>
                                      <p:to>
                                        <p:strVal val="visible"/>
                                      </p:to>
                                    </p:set>
                                    <p:animEffect transition="in" filter="wipe(left)">
                                      <p:cBhvr>
                                        <p:cTn id="26" dur="500"/>
                                        <p:tgtEl>
                                          <p:spTgt spid="16428"/>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16429"/>
                                        </p:tgtEl>
                                        <p:attrNameLst>
                                          <p:attrName>style.visibility</p:attrName>
                                        </p:attrNameLst>
                                      </p:cBhvr>
                                      <p:to>
                                        <p:strVal val="visible"/>
                                      </p:to>
                                    </p:set>
                                    <p:animEffect transition="in" filter="wipe(left)">
                                      <p:cBhvr>
                                        <p:cTn id="30" dur="500"/>
                                        <p:tgtEl>
                                          <p:spTgt spid="16429"/>
                                        </p:tgtEl>
                                      </p:cBhvr>
                                    </p:animEffect>
                                  </p:childTnLst>
                                </p:cTn>
                              </p:par>
                            </p:childTnLst>
                          </p:cTn>
                        </p:par>
                        <p:par>
                          <p:cTn id="31" fill="hold">
                            <p:stCondLst>
                              <p:cond delay="1000"/>
                            </p:stCondLst>
                            <p:childTnLst>
                              <p:par>
                                <p:cTn id="32" presetID="22" presetClass="entr" presetSubtype="8" fill="hold" grpId="0" nodeType="afterEffect">
                                  <p:stCondLst>
                                    <p:cond delay="0"/>
                                  </p:stCondLst>
                                  <p:childTnLst>
                                    <p:set>
                                      <p:cBhvr>
                                        <p:cTn id="33" dur="1" fill="hold">
                                          <p:stCondLst>
                                            <p:cond delay="0"/>
                                          </p:stCondLst>
                                        </p:cTn>
                                        <p:tgtEl>
                                          <p:spTgt spid="16430"/>
                                        </p:tgtEl>
                                        <p:attrNameLst>
                                          <p:attrName>style.visibility</p:attrName>
                                        </p:attrNameLst>
                                      </p:cBhvr>
                                      <p:to>
                                        <p:strVal val="visible"/>
                                      </p:to>
                                    </p:set>
                                    <p:animEffect transition="in" filter="wipe(left)">
                                      <p:cBhvr>
                                        <p:cTn id="34" dur="500"/>
                                        <p:tgtEl>
                                          <p:spTgt spid="1643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6432"/>
                                        </p:tgtEl>
                                        <p:attrNameLst>
                                          <p:attrName>style.visibility</p:attrName>
                                        </p:attrNameLst>
                                      </p:cBhvr>
                                      <p:to>
                                        <p:strVal val="visible"/>
                                      </p:to>
                                    </p:set>
                                    <p:animEffect transition="in" filter="wipe(left)">
                                      <p:cBhvr>
                                        <p:cTn id="39" dur="500"/>
                                        <p:tgtEl>
                                          <p:spTgt spid="16432"/>
                                        </p:tgtEl>
                                      </p:cBhvr>
                                    </p:animEffect>
                                  </p:childTnLst>
                                </p:cTn>
                              </p:par>
                            </p:childTnLst>
                          </p:cTn>
                        </p:par>
                        <p:par>
                          <p:cTn id="40" fill="hold">
                            <p:stCondLst>
                              <p:cond delay="500"/>
                            </p:stCondLst>
                            <p:childTnLst>
                              <p:par>
                                <p:cTn id="41" presetID="22" presetClass="entr" presetSubtype="8" fill="hold" grpId="0" nodeType="afterEffect">
                                  <p:stCondLst>
                                    <p:cond delay="0"/>
                                  </p:stCondLst>
                                  <p:childTnLst>
                                    <p:set>
                                      <p:cBhvr>
                                        <p:cTn id="42" dur="1" fill="hold">
                                          <p:stCondLst>
                                            <p:cond delay="0"/>
                                          </p:stCondLst>
                                        </p:cTn>
                                        <p:tgtEl>
                                          <p:spTgt spid="16433"/>
                                        </p:tgtEl>
                                        <p:attrNameLst>
                                          <p:attrName>style.visibility</p:attrName>
                                        </p:attrNameLst>
                                      </p:cBhvr>
                                      <p:to>
                                        <p:strVal val="visible"/>
                                      </p:to>
                                    </p:set>
                                    <p:animEffect transition="in" filter="wipe(left)">
                                      <p:cBhvr>
                                        <p:cTn id="43" dur="500"/>
                                        <p:tgtEl>
                                          <p:spTgt spid="16433"/>
                                        </p:tgtEl>
                                      </p:cBhvr>
                                    </p:animEffect>
                                  </p:childTnLst>
                                </p:cTn>
                              </p:par>
                            </p:childTnLst>
                          </p:cTn>
                        </p:par>
                        <p:par>
                          <p:cTn id="44" fill="hold">
                            <p:stCondLst>
                              <p:cond delay="1000"/>
                            </p:stCondLst>
                            <p:childTnLst>
                              <p:par>
                                <p:cTn id="45" presetID="22" presetClass="entr" presetSubtype="8" fill="hold" grpId="0" nodeType="afterEffect">
                                  <p:stCondLst>
                                    <p:cond delay="0"/>
                                  </p:stCondLst>
                                  <p:childTnLst>
                                    <p:set>
                                      <p:cBhvr>
                                        <p:cTn id="46" dur="1" fill="hold">
                                          <p:stCondLst>
                                            <p:cond delay="0"/>
                                          </p:stCondLst>
                                        </p:cTn>
                                        <p:tgtEl>
                                          <p:spTgt spid="16435"/>
                                        </p:tgtEl>
                                        <p:attrNameLst>
                                          <p:attrName>style.visibility</p:attrName>
                                        </p:attrNameLst>
                                      </p:cBhvr>
                                      <p:to>
                                        <p:strVal val="visible"/>
                                      </p:to>
                                    </p:set>
                                    <p:animEffect transition="in" filter="wipe(left)">
                                      <p:cBhvr>
                                        <p:cTn id="47" dur="500"/>
                                        <p:tgtEl>
                                          <p:spTgt spid="16435"/>
                                        </p:tgtEl>
                                      </p:cBhvr>
                                    </p:animEffect>
                                  </p:childTnLst>
                                </p:cTn>
                              </p:par>
                            </p:childTnLst>
                          </p:cTn>
                        </p:par>
                        <p:par>
                          <p:cTn id="48" fill="hold">
                            <p:stCondLst>
                              <p:cond delay="1500"/>
                            </p:stCondLst>
                            <p:childTnLst>
                              <p:par>
                                <p:cTn id="49" presetID="22" presetClass="entr" presetSubtype="8" fill="hold" grpId="0" nodeType="afterEffect">
                                  <p:stCondLst>
                                    <p:cond delay="0"/>
                                  </p:stCondLst>
                                  <p:childTnLst>
                                    <p:set>
                                      <p:cBhvr>
                                        <p:cTn id="50" dur="1" fill="hold">
                                          <p:stCondLst>
                                            <p:cond delay="0"/>
                                          </p:stCondLst>
                                        </p:cTn>
                                        <p:tgtEl>
                                          <p:spTgt spid="16436"/>
                                        </p:tgtEl>
                                        <p:attrNameLst>
                                          <p:attrName>style.visibility</p:attrName>
                                        </p:attrNameLst>
                                      </p:cBhvr>
                                      <p:to>
                                        <p:strVal val="visible"/>
                                      </p:to>
                                    </p:set>
                                    <p:animEffect transition="in" filter="wipe(left)">
                                      <p:cBhvr>
                                        <p:cTn id="51" dur="500"/>
                                        <p:tgtEl>
                                          <p:spTgt spid="16436"/>
                                        </p:tgtEl>
                                      </p:cBhvr>
                                    </p:animEffect>
                                  </p:childTnLst>
                                </p:cTn>
                              </p:par>
                            </p:childTnLst>
                          </p:cTn>
                        </p:par>
                        <p:par>
                          <p:cTn id="52" fill="hold">
                            <p:stCondLst>
                              <p:cond delay="2000"/>
                            </p:stCondLst>
                            <p:childTnLst>
                              <p:par>
                                <p:cTn id="53" presetID="22" presetClass="entr" presetSubtype="8" fill="hold" grpId="0" nodeType="afterEffect">
                                  <p:stCondLst>
                                    <p:cond delay="0"/>
                                  </p:stCondLst>
                                  <p:childTnLst>
                                    <p:set>
                                      <p:cBhvr>
                                        <p:cTn id="54" dur="1" fill="hold">
                                          <p:stCondLst>
                                            <p:cond delay="0"/>
                                          </p:stCondLst>
                                        </p:cTn>
                                        <p:tgtEl>
                                          <p:spTgt spid="16437"/>
                                        </p:tgtEl>
                                        <p:attrNameLst>
                                          <p:attrName>style.visibility</p:attrName>
                                        </p:attrNameLst>
                                      </p:cBhvr>
                                      <p:to>
                                        <p:strVal val="visible"/>
                                      </p:to>
                                    </p:set>
                                    <p:animEffect transition="in" filter="wipe(left)">
                                      <p:cBhvr>
                                        <p:cTn id="55" dur="500"/>
                                        <p:tgtEl>
                                          <p:spTgt spid="16437"/>
                                        </p:tgtEl>
                                      </p:cBhvr>
                                    </p:animEffect>
                                  </p:childTnLst>
                                </p:cTn>
                              </p:par>
                            </p:childTnLst>
                          </p:cTn>
                        </p:par>
                        <p:par>
                          <p:cTn id="56" fill="hold">
                            <p:stCondLst>
                              <p:cond delay="2500"/>
                            </p:stCondLst>
                            <p:childTnLst>
                              <p:par>
                                <p:cTn id="57" presetID="22" presetClass="entr" presetSubtype="8" fill="hold" grpId="0" nodeType="afterEffect">
                                  <p:stCondLst>
                                    <p:cond delay="0"/>
                                  </p:stCondLst>
                                  <p:childTnLst>
                                    <p:set>
                                      <p:cBhvr>
                                        <p:cTn id="58" dur="1" fill="hold">
                                          <p:stCondLst>
                                            <p:cond delay="0"/>
                                          </p:stCondLst>
                                        </p:cTn>
                                        <p:tgtEl>
                                          <p:spTgt spid="16438"/>
                                        </p:tgtEl>
                                        <p:attrNameLst>
                                          <p:attrName>style.visibility</p:attrName>
                                        </p:attrNameLst>
                                      </p:cBhvr>
                                      <p:to>
                                        <p:strVal val="visible"/>
                                      </p:to>
                                    </p:set>
                                    <p:animEffect transition="in" filter="wipe(left)">
                                      <p:cBhvr>
                                        <p:cTn id="59" dur="500"/>
                                        <p:tgtEl>
                                          <p:spTgt spid="164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10" grpId="0"/>
      <p:bldP spid="16411" grpId="0"/>
      <p:bldP spid="16412" grpId="0"/>
      <p:bldP spid="16428" grpId="0"/>
      <p:bldP spid="16429" grpId="0"/>
      <p:bldP spid="16430" grpId="0"/>
      <p:bldP spid="16432" grpId="0"/>
      <p:bldP spid="16433" grpId="0"/>
      <p:bldP spid="16435" grpId="0"/>
      <p:bldP spid="16436" grpId="0"/>
      <p:bldP spid="16437" grpId="0"/>
      <p:bldP spid="1643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27504382-67DB-1134-A662-47E094327470}"/>
              </a:ext>
            </a:extLst>
          </p:cNvPr>
          <p:cNvSpPr/>
          <p:nvPr/>
        </p:nvSpPr>
        <p:spPr>
          <a:xfrm>
            <a:off x="1062343" y="1193808"/>
            <a:ext cx="7374167" cy="4855299"/>
          </a:xfrm>
          <a:prstGeom prst="rect">
            <a:avLst/>
          </a:prstGeom>
          <a:solidFill>
            <a:srgbClr val="039462">
              <a:alpha val="2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FFFFFF"/>
              </a:solidFill>
              <a:effectLst/>
              <a:uLnTx/>
              <a:uFillTx/>
              <a:latin typeface="Calibri" panose="020F0502020204030204"/>
              <a:ea typeface="+mn-ea"/>
              <a:cs typeface="+mn-cs"/>
            </a:endParaRPr>
          </a:p>
        </p:txBody>
      </p:sp>
      <p:sp>
        <p:nvSpPr>
          <p:cNvPr id="19520" name="Text Box 64"/>
          <p:cNvSpPr txBox="1">
            <a:spLocks noChangeArrowheads="1"/>
          </p:cNvSpPr>
          <p:nvPr/>
        </p:nvSpPr>
        <p:spPr bwMode="auto">
          <a:xfrm>
            <a:off x="943568" y="493743"/>
            <a:ext cx="2133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800" b="1" dirty="0">
                <a:solidFill>
                  <a:srgbClr val="04926A"/>
                </a:solidFill>
                <a:latin typeface="微软雅黑" panose="020B0503020204020204" charset="-122"/>
                <a:ea typeface="微软雅黑" panose="020B0503020204020204" charset="-122"/>
              </a:rPr>
              <a:t>1.  </a:t>
            </a:r>
            <a:r>
              <a:rPr kumimoji="1" lang="zh-CN" altLang="en-US" sz="2800" b="1" dirty="0">
                <a:solidFill>
                  <a:srgbClr val="04926A"/>
                </a:solidFill>
                <a:latin typeface="微软雅黑" panose="020B0503020204020204" charset="-122"/>
                <a:ea typeface="微软雅黑" panose="020B0503020204020204" charset="-122"/>
              </a:rPr>
              <a:t>定义</a:t>
            </a:r>
          </a:p>
        </p:txBody>
      </p:sp>
      <mc:AlternateContent xmlns:mc="http://schemas.openxmlformats.org/markup-compatibility/2006" xmlns:a14="http://schemas.microsoft.com/office/drawing/2010/main">
        <mc:Choice Requires="a14">
          <p:sp>
            <p:nvSpPr>
              <p:cNvPr id="19521" name="Text Box 65"/>
              <p:cNvSpPr txBox="1">
                <a:spLocks noChangeArrowheads="1"/>
              </p:cNvSpPr>
              <p:nvPr/>
            </p:nvSpPr>
            <p:spPr bwMode="auto">
              <a:xfrm>
                <a:off x="1239887" y="1401447"/>
                <a:ext cx="7215297"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b="1" dirty="0">
                    <a:solidFill>
                      <a:srgbClr val="04926A"/>
                    </a:solidFill>
                    <a:sym typeface="+mn-ea"/>
                  </a:rPr>
                  <a:t>定义</a:t>
                </a:r>
                <a:r>
                  <a:rPr lang="en-US" altLang="zh-CN" sz="2800" b="1" dirty="0">
                    <a:solidFill>
                      <a:srgbClr val="04926A"/>
                    </a:solidFill>
                    <a:sym typeface="+mn-ea"/>
                  </a:rPr>
                  <a:t>2 </a:t>
                </a:r>
                <a:r>
                  <a:rPr lang="zh-CN" altLang="en-US" sz="2800" dirty="0"/>
                  <a:t>对于任意两个向量</a:t>
                </a:r>
                <a14:m>
                  <m:oMath xmlns:m="http://schemas.openxmlformats.org/officeDocument/2006/math">
                    <m:r>
                      <a:rPr lang="zh-CN" altLang="en-US" sz="2800" b="1" i="1">
                        <a:solidFill>
                          <a:srgbClr val="000000"/>
                        </a:solidFill>
                        <a:latin typeface="Cambria Math" panose="02040503050406030204" pitchFamily="18" charset="0"/>
                      </a:rPr>
                      <m:t>𝒂</m:t>
                    </m:r>
                  </m:oMath>
                </a14:m>
                <a:r>
                  <a:rPr lang="zh-CN" altLang="en-US" sz="2800" dirty="0"/>
                  <a:t>和</a:t>
                </a:r>
                <a14:m>
                  <m:oMath xmlns:m="http://schemas.openxmlformats.org/officeDocument/2006/math">
                    <m:r>
                      <a:rPr lang="zh-CN" altLang="en-US" sz="2800" b="1" i="1">
                        <a:solidFill>
                          <a:srgbClr val="000000"/>
                        </a:solidFill>
                        <a:latin typeface="Cambria Math" panose="02040503050406030204" pitchFamily="18" charset="0"/>
                      </a:rPr>
                      <m:t>𝒃</m:t>
                    </m:r>
                    <m:r>
                      <a:rPr lang="en-US" altLang="zh-CN" sz="2800" b="0" i="1" smtClean="0">
                        <a:solidFill>
                          <a:srgbClr val="000000"/>
                        </a:solidFill>
                        <a:latin typeface="Cambria Math" panose="02040503050406030204" pitchFamily="18" charset="0"/>
                      </a:rPr>
                      <m:t>,  </m:t>
                    </m:r>
                  </m:oMath>
                </a14:m>
                <a:r>
                  <a:rPr lang="zh-CN" altLang="en-US" sz="2800" dirty="0"/>
                  <a:t>定义向量</a:t>
                </a:r>
                <a14:m>
                  <m:oMath xmlns:m="http://schemas.openxmlformats.org/officeDocument/2006/math">
                    <m:r>
                      <a:rPr lang="en-US" altLang="zh-CN" sz="2800" b="1" i="1">
                        <a:solidFill>
                          <a:srgbClr val="000000"/>
                        </a:solidFill>
                        <a:latin typeface="Cambria Math" panose="02040503050406030204" pitchFamily="18" charset="0"/>
                      </a:rPr>
                      <m:t>𝒄</m:t>
                    </m:r>
                  </m:oMath>
                </a14:m>
                <a:endParaRPr lang="zh-CN" altLang="en-US" sz="2800" dirty="0"/>
              </a:p>
            </p:txBody>
          </p:sp>
        </mc:Choice>
        <mc:Fallback xmlns="">
          <p:sp>
            <p:nvSpPr>
              <p:cNvPr id="19521" name="Text Box 65"/>
              <p:cNvSpPr txBox="1">
                <a:spLocks noRot="1" noChangeAspect="1" noMove="1" noResize="1" noEditPoints="1" noAdjustHandles="1" noChangeArrowheads="1" noChangeShapeType="1" noTextEdit="1"/>
              </p:cNvSpPr>
              <p:nvPr/>
            </p:nvSpPr>
            <p:spPr bwMode="auto">
              <a:xfrm>
                <a:off x="1239887" y="1401447"/>
                <a:ext cx="7215297" cy="523220"/>
              </a:xfrm>
              <a:prstGeom prst="rect">
                <a:avLst/>
              </a:prstGeom>
              <a:blipFill>
                <a:blip r:embed="rId6"/>
                <a:stretch>
                  <a:fillRect l="-1689" t="-15116" b="-2907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522" name="Rectangle 66"/>
              <p:cNvSpPr>
                <a:spLocks noChangeArrowheads="1"/>
              </p:cNvSpPr>
              <p:nvPr/>
            </p:nvSpPr>
            <p:spPr bwMode="auto">
              <a:xfrm>
                <a:off x="1220912" y="3082063"/>
                <a:ext cx="4428532"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14:m>
                  <m:oMath xmlns:m="http://schemas.openxmlformats.org/officeDocument/2006/math">
                    <m:r>
                      <a:rPr lang="en-US" altLang="zh-CN" sz="2800" b="1" i="1" smtClean="0">
                        <a:solidFill>
                          <a:srgbClr val="000000"/>
                        </a:solidFill>
                        <a:latin typeface="Cambria Math" panose="02040503050406030204" pitchFamily="18" charset="0"/>
                      </a:rPr>
                      <m:t>𝒄</m:t>
                    </m:r>
                  </m:oMath>
                </a14:m>
                <a:r>
                  <a:rPr lang="zh-CN" altLang="en-US" sz="2800" dirty="0"/>
                  <a:t>的模：</a:t>
                </a:r>
                <a:r>
                  <a:rPr lang="zh-CN" alt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zh-CN" altLang="en-US" sz="2800" b="1" i="1" smtClean="0">
                            <a:solidFill>
                              <a:srgbClr val="000000"/>
                            </a:solidFill>
                            <a:latin typeface="Cambria Math" panose="02040503050406030204" pitchFamily="18" charset="0"/>
                          </a:rPr>
                        </m:ctrlPr>
                      </m:dPr>
                      <m:e>
                        <m:r>
                          <a:rPr lang="en-US" altLang="zh-CN" sz="2800" b="1" i="1" smtClean="0">
                            <a:solidFill>
                              <a:srgbClr val="000000"/>
                            </a:solidFill>
                            <a:latin typeface="Cambria Math" panose="02040503050406030204" pitchFamily="18" charset="0"/>
                          </a:rPr>
                          <m:t>𝒄</m:t>
                        </m:r>
                      </m:e>
                    </m:d>
                    <m:r>
                      <a:rPr lang="zh-CN" altLang="en-US" sz="2800" i="1">
                        <a:solidFill>
                          <a:srgbClr val="000000"/>
                        </a:solidFill>
                        <a:latin typeface="Cambria Math" panose="02040503050406030204" pitchFamily="18" charset="0"/>
                      </a:rPr>
                      <m:t>=</m:t>
                    </m:r>
                    <m:d>
                      <m:dPr>
                        <m:begChr m:val="|"/>
                        <m:endChr m:val="|"/>
                        <m:ctrlPr>
                          <a:rPr lang="zh-CN" altLang="en-US" sz="2800" b="1" i="1">
                            <a:solidFill>
                              <a:srgbClr val="000000"/>
                            </a:solidFill>
                            <a:latin typeface="Cambria Math" panose="02040503050406030204" pitchFamily="18" charset="0"/>
                          </a:rPr>
                        </m:ctrlPr>
                      </m:dPr>
                      <m:e>
                        <m:r>
                          <a:rPr lang="en-US" altLang="zh-CN" sz="2800" b="1" i="1" smtClean="0">
                            <a:solidFill>
                              <a:srgbClr val="000000"/>
                            </a:solidFill>
                            <a:latin typeface="Cambria Math" panose="02040503050406030204" pitchFamily="18" charset="0"/>
                          </a:rPr>
                          <m:t>𝒂</m:t>
                        </m:r>
                      </m:e>
                    </m:d>
                    <m:d>
                      <m:dPr>
                        <m:begChr m:val="|"/>
                        <m:endChr m:val="|"/>
                        <m:ctrlPr>
                          <a:rPr lang="zh-CN" altLang="en-US" sz="2800" b="1" i="1">
                            <a:solidFill>
                              <a:srgbClr val="000000"/>
                            </a:solidFill>
                            <a:latin typeface="Cambria Math" panose="02040503050406030204" pitchFamily="18" charset="0"/>
                          </a:rPr>
                        </m:ctrlPr>
                      </m:dPr>
                      <m:e>
                        <m:r>
                          <a:rPr lang="en-US" altLang="zh-CN" sz="2800" b="1" i="1" smtClean="0">
                            <a:solidFill>
                              <a:srgbClr val="000000"/>
                            </a:solidFill>
                            <a:latin typeface="Cambria Math" panose="02040503050406030204" pitchFamily="18" charset="0"/>
                          </a:rPr>
                          <m:t>𝒃</m:t>
                        </m:r>
                      </m:e>
                    </m:d>
                    <m:func>
                      <m:funcPr>
                        <m:ctrlPr>
                          <a:rPr lang="zh-CN" altLang="en-US" sz="2800" i="1">
                            <a:solidFill>
                              <a:srgbClr val="000000"/>
                            </a:solidFill>
                            <a:latin typeface="Cambria Math" panose="02040503050406030204" pitchFamily="18" charset="0"/>
                          </a:rPr>
                        </m:ctrlPr>
                      </m:funcPr>
                      <m:fName>
                        <m:r>
                          <m:rPr>
                            <m:sty m:val="p"/>
                          </m:rPr>
                          <a:rPr lang="zh-CN" altLang="en-US" sz="2800">
                            <a:solidFill>
                              <a:srgbClr val="000000"/>
                            </a:solidFill>
                            <a:latin typeface="Cambria Math" panose="02040503050406030204" pitchFamily="18" charset="0"/>
                          </a:rPr>
                          <m:t>sin</m:t>
                        </m:r>
                      </m:fName>
                      <m:e>
                        <m:r>
                          <a:rPr lang="zh-CN" altLang="en-US" sz="2800" i="1">
                            <a:solidFill>
                              <a:srgbClr val="000000"/>
                            </a:solidFill>
                            <a:latin typeface="Cambria Math" panose="02040503050406030204" pitchFamily="18" charset="0"/>
                          </a:rPr>
                          <m:t>𝜃</m:t>
                        </m:r>
                      </m:e>
                    </m:func>
                    <m:r>
                      <a:rPr lang="en-US" altLang="zh-CN" sz="2800" b="0" i="1" smtClean="0">
                        <a:solidFill>
                          <a:srgbClr val="000000"/>
                        </a:solidFill>
                        <a:latin typeface="Cambria Math" panose="02040503050406030204" pitchFamily="18" charset="0"/>
                      </a:rPr>
                      <m:t>,</m:t>
                    </m:r>
                  </m:oMath>
                </a14:m>
                <a:endParaRPr lang="zh-CN" altLang="en-US" sz="2200" i="1" dirty="0">
                  <a:solidFill>
                    <a:srgbClr val="000000"/>
                  </a:solidFill>
                  <a:latin typeface="Cambria Math" panose="02040503050406030204" pitchFamily="18" charset="0"/>
                </a:endParaRPr>
              </a:p>
            </p:txBody>
          </p:sp>
        </mc:Choice>
        <mc:Fallback xmlns="">
          <p:sp>
            <p:nvSpPr>
              <p:cNvPr id="19522" name="Rectangle 66"/>
              <p:cNvSpPr>
                <a:spLocks noRot="1" noChangeAspect="1" noMove="1" noResize="1" noEditPoints="1" noAdjustHandles="1" noChangeArrowheads="1" noChangeShapeType="1" noTextEdit="1"/>
              </p:cNvSpPr>
              <p:nvPr/>
            </p:nvSpPr>
            <p:spPr bwMode="auto">
              <a:xfrm>
                <a:off x="1220912" y="3082063"/>
                <a:ext cx="4428532" cy="523220"/>
              </a:xfrm>
              <a:prstGeom prst="rect">
                <a:avLst/>
              </a:prstGeom>
              <a:blipFill>
                <a:blip r:embed="rId7"/>
                <a:stretch>
                  <a:fillRect t="-16471" b="-2941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523" name="Rectangle 67"/>
              <p:cNvSpPr>
                <a:spLocks noChangeArrowheads="1"/>
              </p:cNvSpPr>
              <p:nvPr/>
            </p:nvSpPr>
            <p:spPr bwMode="auto">
              <a:xfrm>
                <a:off x="1220912" y="1942732"/>
                <a:ext cx="6925543"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14:m>
                  <m:oMath xmlns:m="http://schemas.openxmlformats.org/officeDocument/2006/math">
                    <m:r>
                      <a:rPr lang="en-US" altLang="zh-CN" sz="2800" b="1" i="1">
                        <a:solidFill>
                          <a:srgbClr val="000000"/>
                        </a:solidFill>
                        <a:latin typeface="Cambria Math" panose="02040503050406030204" pitchFamily="18" charset="0"/>
                      </a:rPr>
                      <m:t>𝒄</m:t>
                    </m:r>
                  </m:oMath>
                </a14:m>
                <a:r>
                  <a:rPr lang="zh-CN" altLang="en-US" sz="2800" dirty="0"/>
                  <a:t>的方向：同时垂直于</a:t>
                </a:r>
                <a14:m>
                  <m:oMath xmlns:m="http://schemas.openxmlformats.org/officeDocument/2006/math">
                    <m:r>
                      <a:rPr lang="zh-CN" altLang="en-US" sz="2800" b="1" i="1">
                        <a:solidFill>
                          <a:srgbClr val="000000"/>
                        </a:solidFill>
                        <a:latin typeface="Cambria Math" panose="02040503050406030204" pitchFamily="18" charset="0"/>
                      </a:rPr>
                      <m:t>𝒂</m:t>
                    </m:r>
                  </m:oMath>
                </a14:m>
                <a:r>
                  <a:rPr lang="zh-CN" altLang="en-US" sz="2800" dirty="0"/>
                  <a:t>和</a:t>
                </a:r>
                <a14:m>
                  <m:oMath xmlns:m="http://schemas.openxmlformats.org/officeDocument/2006/math">
                    <m:r>
                      <a:rPr lang="zh-CN" altLang="en-US" sz="2800" b="1" i="1">
                        <a:solidFill>
                          <a:srgbClr val="000000"/>
                        </a:solidFill>
                        <a:latin typeface="Cambria Math" panose="02040503050406030204" pitchFamily="18" charset="0"/>
                      </a:rPr>
                      <m:t>𝒃</m:t>
                    </m:r>
                  </m:oMath>
                </a14:m>
                <a:r>
                  <a:rPr lang="zh-CN" altLang="en-US" sz="2800" dirty="0"/>
                  <a:t>所确定的平面</a:t>
                </a:r>
                <a:r>
                  <a:rPr lang="zh-CN" altLang="en-US" sz="2800" dirty="0">
                    <a:latin typeface="Times New Roman" panose="02020603050405020304" pitchFamily="18" charset="0"/>
                    <a:cs typeface="Times New Roman" panose="02020603050405020304" pitchFamily="18" charset="0"/>
                  </a:rPr>
                  <a:t>，</a:t>
                </a:r>
              </a:p>
            </p:txBody>
          </p:sp>
        </mc:Choice>
        <mc:Fallback xmlns="">
          <p:sp>
            <p:nvSpPr>
              <p:cNvPr id="19523" name="Rectangle 67"/>
              <p:cNvSpPr>
                <a:spLocks noRot="1" noChangeAspect="1" noMove="1" noResize="1" noEditPoints="1" noAdjustHandles="1" noChangeArrowheads="1" noChangeShapeType="1" noTextEdit="1"/>
              </p:cNvSpPr>
              <p:nvPr/>
            </p:nvSpPr>
            <p:spPr bwMode="auto">
              <a:xfrm>
                <a:off x="1220912" y="1942732"/>
                <a:ext cx="6925543" cy="523220"/>
              </a:xfrm>
              <a:prstGeom prst="rect">
                <a:avLst/>
              </a:prstGeom>
              <a:blipFill>
                <a:blip r:embed="rId8"/>
                <a:stretch>
                  <a:fillRect t="-16279" r="-616" b="-2790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9524" name="Rectangle 68"/>
          <p:cNvSpPr>
            <a:spLocks noChangeArrowheads="1"/>
          </p:cNvSpPr>
          <p:nvPr/>
        </p:nvSpPr>
        <p:spPr bwMode="auto">
          <a:xfrm>
            <a:off x="1220912" y="2525396"/>
            <a:ext cx="4876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dirty="0"/>
              <a:t>具体指向由右手法则确定，</a:t>
            </a:r>
          </a:p>
        </p:txBody>
      </p:sp>
      <mc:AlternateContent xmlns:mc="http://schemas.openxmlformats.org/markup-compatibility/2006" xmlns:a14="http://schemas.microsoft.com/office/drawing/2010/main">
        <mc:Choice Requires="a14">
          <p:sp>
            <p:nvSpPr>
              <p:cNvPr id="19531" name="Text Box 75"/>
              <p:cNvSpPr txBox="1">
                <a:spLocks noChangeArrowheads="1"/>
              </p:cNvSpPr>
              <p:nvPr/>
            </p:nvSpPr>
            <p:spPr bwMode="auto">
              <a:xfrm>
                <a:off x="1220912" y="3661643"/>
                <a:ext cx="5943600"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p>
                <a:pPr>
                  <a:spcBef>
                    <a:spcPct val="50000"/>
                  </a:spcBef>
                </a:pPr>
                <a:r>
                  <a:rPr lang="zh-CN" altLang="en-US" sz="2800" dirty="0"/>
                  <a:t>称向量</a:t>
                </a:r>
                <a14:m>
                  <m:oMath xmlns:m="http://schemas.openxmlformats.org/officeDocument/2006/math">
                    <m:r>
                      <a:rPr lang="en-US" altLang="zh-CN" sz="2800" b="1" i="1">
                        <a:solidFill>
                          <a:srgbClr val="000000"/>
                        </a:solidFill>
                        <a:latin typeface="Cambria Math" panose="02040503050406030204" pitchFamily="18" charset="0"/>
                      </a:rPr>
                      <m:t>𝒄</m:t>
                    </m:r>
                  </m:oMath>
                </a14:m>
                <a:r>
                  <a:rPr lang="zh-CN" altLang="en-US" sz="2800" dirty="0"/>
                  <a:t>为</a:t>
                </a:r>
                <a14:m>
                  <m:oMath xmlns:m="http://schemas.openxmlformats.org/officeDocument/2006/math">
                    <m:r>
                      <a:rPr lang="en-US" altLang="zh-CN" sz="2800" b="1" i="1">
                        <a:solidFill>
                          <a:srgbClr val="000000"/>
                        </a:solidFill>
                        <a:latin typeface="Cambria Math" panose="02040503050406030204" pitchFamily="18" charset="0"/>
                      </a:rPr>
                      <m:t>𝒂</m:t>
                    </m:r>
                  </m:oMath>
                </a14:m>
                <a:r>
                  <a:rPr lang="zh-CN" altLang="en-US" sz="2800" dirty="0"/>
                  <a:t>与</a:t>
                </a:r>
                <a14:m>
                  <m:oMath xmlns:m="http://schemas.openxmlformats.org/officeDocument/2006/math">
                    <m:r>
                      <a:rPr lang="zh-CN" altLang="en-US" sz="2800" b="1" i="1">
                        <a:solidFill>
                          <a:srgbClr val="000000"/>
                        </a:solidFill>
                        <a:latin typeface="Cambria Math" panose="02040503050406030204" pitchFamily="18" charset="0"/>
                      </a:rPr>
                      <m:t>𝒃</m:t>
                    </m:r>
                  </m:oMath>
                </a14:m>
                <a:r>
                  <a:rPr lang="zh-CN" altLang="en-US" sz="2800" dirty="0"/>
                  <a:t>的向量积，记为</a:t>
                </a:r>
              </a:p>
            </p:txBody>
          </p:sp>
        </mc:Choice>
        <mc:Fallback xmlns="">
          <p:sp>
            <p:nvSpPr>
              <p:cNvPr id="19531" name="Text Box 75"/>
              <p:cNvSpPr txBox="1">
                <a:spLocks noRot="1" noChangeAspect="1" noMove="1" noResize="1" noEditPoints="1" noAdjustHandles="1" noChangeArrowheads="1" noChangeShapeType="1" noTextEdit="1"/>
              </p:cNvSpPr>
              <p:nvPr/>
            </p:nvSpPr>
            <p:spPr bwMode="auto">
              <a:xfrm>
                <a:off x="1220912" y="3661643"/>
                <a:ext cx="5943600" cy="523220"/>
              </a:xfrm>
              <a:prstGeom prst="rect">
                <a:avLst/>
              </a:prstGeom>
              <a:blipFill>
                <a:blip r:embed="rId9"/>
                <a:stretch>
                  <a:fillRect l="-2051" t="-15294" b="-3058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532" name="Rectangle 76"/>
              <p:cNvSpPr>
                <a:spLocks noChangeArrowheads="1"/>
              </p:cNvSpPr>
              <p:nvPr/>
            </p:nvSpPr>
            <p:spPr bwMode="auto">
              <a:xfrm>
                <a:off x="3296305" y="4151646"/>
                <a:ext cx="1792813"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1" i="1" smtClean="0">
                          <a:solidFill>
                            <a:srgbClr val="000000"/>
                          </a:solidFill>
                          <a:latin typeface="Cambria Math" panose="02040503050406030204" pitchFamily="18" charset="0"/>
                        </a:rPr>
                        <m:t>𝒄</m:t>
                      </m:r>
                      <m:r>
                        <a:rPr lang="en-US" altLang="zh-CN" sz="2800" i="1" smtClean="0">
                          <a:solidFill>
                            <a:srgbClr val="000000"/>
                          </a:solidFill>
                          <a:latin typeface="Cambria Math" panose="02040503050406030204" pitchFamily="18" charset="0"/>
                        </a:rPr>
                        <m:t>=</m:t>
                      </m:r>
                      <m:r>
                        <a:rPr lang="en-US" altLang="zh-CN" sz="2800" b="1" i="1" smtClean="0">
                          <a:solidFill>
                            <a:srgbClr val="000000"/>
                          </a:solidFill>
                          <a:latin typeface="Cambria Math" panose="02040503050406030204" pitchFamily="18" charset="0"/>
                        </a:rPr>
                        <m:t>𝒂</m:t>
                      </m:r>
                      <m:r>
                        <a:rPr lang="zh-CN" altLang="en-US" sz="2800" i="1">
                          <a:solidFill>
                            <a:srgbClr val="000000"/>
                          </a:solidFill>
                          <a:latin typeface="Cambria Math" panose="02040503050406030204" pitchFamily="18" charset="0"/>
                        </a:rPr>
                        <m:t>×</m:t>
                      </m:r>
                      <m:r>
                        <a:rPr lang="en-US" altLang="zh-CN" sz="2800" b="1" i="1" smtClean="0">
                          <a:solidFill>
                            <a:srgbClr val="000000"/>
                          </a:solidFill>
                          <a:latin typeface="Cambria Math" panose="02040503050406030204" pitchFamily="18" charset="0"/>
                        </a:rPr>
                        <m:t>𝒃</m:t>
                      </m:r>
                      <m:r>
                        <a:rPr lang="en-US" altLang="zh-CN" sz="2800" b="0" i="1" smtClean="0">
                          <a:solidFill>
                            <a:srgbClr val="000000"/>
                          </a:solidFill>
                          <a:latin typeface="Cambria Math" panose="02040503050406030204" pitchFamily="18" charset="0"/>
                        </a:rPr>
                        <m:t>.</m:t>
                      </m:r>
                    </m:oMath>
                  </m:oMathPara>
                </a14:m>
                <a:endParaRPr lang="zh-CN" altLang="en-US" sz="2800" dirty="0">
                  <a:latin typeface="Cambria Math" panose="02040503050406030204" pitchFamily="18" charset="0"/>
                </a:endParaRPr>
              </a:p>
            </p:txBody>
          </p:sp>
        </mc:Choice>
        <mc:Fallback xmlns="">
          <p:sp>
            <p:nvSpPr>
              <p:cNvPr id="19532" name="Rectangle 76"/>
              <p:cNvSpPr>
                <a:spLocks noRot="1" noChangeAspect="1" noMove="1" noResize="1" noEditPoints="1" noAdjustHandles="1" noChangeArrowheads="1" noChangeShapeType="1" noTextEdit="1"/>
              </p:cNvSpPr>
              <p:nvPr/>
            </p:nvSpPr>
            <p:spPr bwMode="auto">
              <a:xfrm>
                <a:off x="3296305" y="4151646"/>
                <a:ext cx="1792813" cy="523220"/>
              </a:xfrm>
              <a:prstGeom prst="rect">
                <a:avLst/>
              </a:prstGeom>
              <a:blipFill>
                <a:blip r:embed="rId10"/>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9534" name="Text Box 78"/>
          <p:cNvSpPr txBox="1">
            <a:spLocks noChangeArrowheads="1"/>
          </p:cNvSpPr>
          <p:nvPr/>
        </p:nvSpPr>
        <p:spPr bwMode="auto">
          <a:xfrm>
            <a:off x="1220912" y="4785090"/>
            <a:ext cx="28194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dirty="0"/>
              <a:t>引例中的力矩</a:t>
            </a:r>
          </a:p>
        </p:txBody>
      </p:sp>
      <mc:AlternateContent xmlns:mc="http://schemas.openxmlformats.org/markup-compatibility/2006" xmlns:a14="http://schemas.microsoft.com/office/drawing/2010/main">
        <mc:Choice Requires="a14">
          <p:sp>
            <p:nvSpPr>
              <p:cNvPr id="19535" name="Object 79"/>
              <p:cNvSpPr txBox="1">
                <a:spLocks noGrp="1"/>
              </p:cNvSpPr>
              <p:nvPr>
                <p:ph/>
              </p:nvPr>
            </p:nvSpPr>
            <p:spPr bwMode="auto">
              <a:xfrm>
                <a:off x="3410650" y="4739888"/>
                <a:ext cx="2552700" cy="515937"/>
              </a:xfrm>
              <a:prstGeom prst="rect">
                <a:avLst/>
              </a:prstGeom>
              <a:noFill/>
              <a:ln>
                <a:noFill/>
              </a:ln>
              <a:effectLst/>
            </p:spPr>
            <p:txBody>
              <a:bodyPr>
                <a:noAutofit/>
              </a:bodyPr>
              <a:lstStyle/>
              <a:p>
                <a:pPr marL="0">
                  <a:buNone/>
                </a:pPr>
                <a14:m>
                  <m:oMathPara xmlns:m="http://schemas.openxmlformats.org/officeDocument/2006/math">
                    <m:oMathParaPr>
                      <m:jc m:val="left"/>
                    </m:oMathParaPr>
                    <m:oMath xmlns:m="http://schemas.openxmlformats.org/officeDocument/2006/math">
                      <m:r>
                        <a:rPr lang="zh-CN" altLang="en-US" b="1" i="1">
                          <a:latin typeface="Cambria Math" panose="02040503050406030204" pitchFamily="18" charset="0"/>
                        </a:rPr>
                        <m:t>𝑴</m:t>
                      </m:r>
                      <m:r>
                        <a:rPr lang="zh-CN" altLang="en-US">
                          <a:latin typeface="Cambria Math" panose="02040503050406030204" pitchFamily="18" charset="0"/>
                        </a:rPr>
                        <m:t>=</m:t>
                      </m:r>
                      <m:groupChr>
                        <m:groupChrPr>
                          <m:chr m:val="→"/>
                          <m:pos m:val="top"/>
                          <m:vertJc m:val="bot"/>
                          <m:ctrlPr>
                            <a:rPr lang="zh-CN" altLang="en-US" i="1">
                              <a:latin typeface="Cambria Math" panose="02040503050406030204" pitchFamily="18" charset="0"/>
                            </a:rPr>
                          </m:ctrlPr>
                        </m:groupChrPr>
                        <m:e>
                          <m:r>
                            <a:rPr lang="zh-CN" altLang="en-US">
                              <a:latin typeface="Cambria Math" panose="02040503050406030204" pitchFamily="18" charset="0"/>
                            </a:rPr>
                            <m:t>𝑂𝑃</m:t>
                          </m:r>
                        </m:e>
                      </m:groupChr>
                      <m:r>
                        <a:rPr lang="zh-CN" altLang="en-US">
                          <a:latin typeface="Cambria Math" panose="02040503050406030204" pitchFamily="18" charset="0"/>
                        </a:rPr>
                        <m:t>×</m:t>
                      </m:r>
                      <m:r>
                        <a:rPr lang="zh-CN" altLang="en-US" b="1" i="1">
                          <a:latin typeface="Cambria Math" panose="02040503050406030204" pitchFamily="18" charset="0"/>
                        </a:rPr>
                        <m:t>𝑭</m:t>
                      </m:r>
                      <m:r>
                        <a:rPr lang="zh-CN" altLang="en-US">
                          <a:latin typeface="Cambria Math" panose="02040503050406030204" pitchFamily="18" charset="0"/>
                        </a:rPr>
                        <m:t>.</m:t>
                      </m:r>
                    </m:oMath>
                  </m:oMathPara>
                </a14:m>
                <a:endParaRPr lang="zh-CN" altLang="en-US" dirty="0">
                  <a:latin typeface="Cambria Math" panose="02040503050406030204" pitchFamily="18" charset="0"/>
                </a:endParaRPr>
              </a:p>
            </p:txBody>
          </p:sp>
        </mc:Choice>
        <mc:Fallback xmlns="">
          <p:sp>
            <p:nvSpPr>
              <p:cNvPr id="19535" name="Object 79"/>
              <p:cNvSpPr txBox="1">
                <a:spLocks noGrp="1" noRot="1" noChangeAspect="1" noMove="1" noResize="1" noEditPoints="1" noAdjustHandles="1" noChangeArrowheads="1" noChangeShapeType="1" noTextEdit="1"/>
              </p:cNvSpPr>
              <p:nvPr>
                <p:ph/>
              </p:nvPr>
            </p:nvSpPr>
            <p:spPr bwMode="auto">
              <a:xfrm>
                <a:off x="3410650" y="4739888"/>
                <a:ext cx="2552700" cy="515937"/>
              </a:xfrm>
              <a:prstGeom prst="rect">
                <a:avLst/>
              </a:prstGeom>
              <a:blipFill>
                <a:blip r:embed="rId11"/>
                <a:stretch>
                  <a:fillRect/>
                </a:stretch>
              </a:blipFill>
              <a:ln>
                <a:noFill/>
              </a:ln>
              <a:effectLst/>
            </p:spPr>
            <p:txBody>
              <a:bodyPr/>
              <a:lstStyle/>
              <a:p>
                <a:r>
                  <a:rPr lang="zh-CN" altLang="en-US">
                    <a:noFill/>
                  </a:rPr>
                  <a:t> </a:t>
                </a:r>
              </a:p>
            </p:txBody>
          </p:sp>
        </mc:Fallback>
      </mc:AlternateContent>
      <p:sp>
        <p:nvSpPr>
          <p:cNvPr id="51" name="Text Box 31"/>
          <p:cNvSpPr txBox="1">
            <a:spLocks noChangeArrowheads="1"/>
          </p:cNvSpPr>
          <p:nvPr/>
        </p:nvSpPr>
        <p:spPr bwMode="auto">
          <a:xfrm>
            <a:off x="1220912" y="5358830"/>
            <a:ext cx="61722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spcBef>
                <a:spcPct val="50000"/>
              </a:spcBef>
            </a:pPr>
            <a:r>
              <a:rPr lang="zh-CN" altLang="en-US" sz="2800" dirty="0"/>
              <a:t>向量积也称为“</a:t>
            </a:r>
            <a:r>
              <a:rPr lang="zh-CN" altLang="en-US" sz="2800" dirty="0">
                <a:solidFill>
                  <a:srgbClr val="008000"/>
                </a:solidFill>
              </a:rPr>
              <a:t>叉</a:t>
            </a:r>
            <a:r>
              <a:rPr lang="zh-CN" altLang="en-US" sz="2800" dirty="0">
                <a:solidFill>
                  <a:srgbClr val="008000"/>
                </a:solidFill>
                <a:ea typeface="黑体" panose="02010609060101010101" pitchFamily="49" charset="-122"/>
              </a:rPr>
              <a:t>积</a:t>
            </a:r>
            <a:r>
              <a:rPr lang="zh-CN" altLang="en-US" sz="2800" dirty="0"/>
              <a:t>”“</a:t>
            </a:r>
            <a:r>
              <a:rPr lang="zh-CN" altLang="en-US" sz="2800" dirty="0">
                <a:solidFill>
                  <a:srgbClr val="008000"/>
                </a:solidFill>
              </a:rPr>
              <a:t>外</a:t>
            </a:r>
            <a:r>
              <a:rPr lang="zh-CN" altLang="en-US" sz="2800" dirty="0">
                <a:solidFill>
                  <a:srgbClr val="008000"/>
                </a:solidFill>
                <a:ea typeface="黑体" panose="02010609060101010101" pitchFamily="49" charset="-122"/>
              </a:rPr>
              <a:t>积</a:t>
            </a:r>
            <a:r>
              <a:rPr lang="zh-CN" altLang="en-US" sz="2800" dirty="0"/>
              <a:t>”</a:t>
            </a:r>
            <a:r>
              <a:rPr lang="en-US" altLang="zh-CN" sz="2800" dirty="0"/>
              <a:t>.</a:t>
            </a:r>
          </a:p>
        </p:txBody>
      </p:sp>
      <p:pic>
        <p:nvPicPr>
          <p:cNvPr id="5" name="图片 4" descr="图示&#10;&#10;描述已自动生成">
            <a:extLst>
              <a:ext uri="{FF2B5EF4-FFF2-40B4-BE49-F238E27FC236}">
                <a16:creationId xmlns:a16="http://schemas.microsoft.com/office/drawing/2014/main" id="{BC143972-61BE-0369-C86B-894C66C32F8C}"/>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9077215" y="1867983"/>
            <a:ext cx="2289266" cy="3122033"/>
          </a:xfrm>
          <a:prstGeom prst="rect">
            <a:avLst/>
          </a:prstGeom>
        </p:spPr>
      </p:pic>
    </p:spTree>
    <p:extLst>
      <p:ext uri="{BB962C8B-B14F-4D97-AF65-F5344CB8AC3E}">
        <p14:creationId xmlns:p14="http://schemas.microsoft.com/office/powerpoint/2010/main" val="1245615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520"/>
                                        </p:tgtEl>
                                        <p:attrNameLst>
                                          <p:attrName>style.visibility</p:attrName>
                                        </p:attrNameLst>
                                      </p:cBhvr>
                                      <p:to>
                                        <p:strVal val="visible"/>
                                      </p:to>
                                    </p:set>
                                    <p:animEffect transition="in" filter="wipe(left)">
                                      <p:cBhvr>
                                        <p:cTn id="7" dur="500"/>
                                        <p:tgtEl>
                                          <p:spTgt spid="195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521"/>
                                        </p:tgtEl>
                                        <p:attrNameLst>
                                          <p:attrName>style.visibility</p:attrName>
                                        </p:attrNameLst>
                                      </p:cBhvr>
                                      <p:to>
                                        <p:strVal val="visible"/>
                                      </p:to>
                                    </p:set>
                                    <p:animEffect transition="in" filter="wipe(left)">
                                      <p:cBhvr>
                                        <p:cTn id="12" dur="500"/>
                                        <p:tgtEl>
                                          <p:spTgt spid="19521"/>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9523"/>
                                        </p:tgtEl>
                                        <p:attrNameLst>
                                          <p:attrName>style.visibility</p:attrName>
                                        </p:attrNameLst>
                                      </p:cBhvr>
                                      <p:to>
                                        <p:strVal val="visible"/>
                                      </p:to>
                                    </p:set>
                                    <p:animEffect transition="in" filter="wipe(left)">
                                      <p:cBhvr>
                                        <p:cTn id="20" dur="500"/>
                                        <p:tgtEl>
                                          <p:spTgt spid="1952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9524"/>
                                        </p:tgtEl>
                                        <p:attrNameLst>
                                          <p:attrName>style.visibility</p:attrName>
                                        </p:attrNameLst>
                                      </p:cBhvr>
                                      <p:to>
                                        <p:strVal val="visible"/>
                                      </p:to>
                                    </p:set>
                                    <p:animEffect transition="in" filter="wipe(left)">
                                      <p:cBhvr>
                                        <p:cTn id="25" dur="500"/>
                                        <p:tgtEl>
                                          <p:spTgt spid="1952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left)">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9522"/>
                                        </p:tgtEl>
                                        <p:attrNameLst>
                                          <p:attrName>style.visibility</p:attrName>
                                        </p:attrNameLst>
                                      </p:cBhvr>
                                      <p:to>
                                        <p:strVal val="visible"/>
                                      </p:to>
                                    </p:set>
                                    <p:animEffect transition="in" filter="wipe(left)">
                                      <p:cBhvr>
                                        <p:cTn id="35" dur="500"/>
                                        <p:tgtEl>
                                          <p:spTgt spid="1952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9531"/>
                                        </p:tgtEl>
                                        <p:attrNameLst>
                                          <p:attrName>style.visibility</p:attrName>
                                        </p:attrNameLst>
                                      </p:cBhvr>
                                      <p:to>
                                        <p:strVal val="visible"/>
                                      </p:to>
                                    </p:set>
                                    <p:animEffect transition="in" filter="wipe(left)">
                                      <p:cBhvr>
                                        <p:cTn id="40" dur="500"/>
                                        <p:tgtEl>
                                          <p:spTgt spid="19531"/>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9532"/>
                                        </p:tgtEl>
                                        <p:attrNameLst>
                                          <p:attrName>style.visibility</p:attrName>
                                        </p:attrNameLst>
                                      </p:cBhvr>
                                      <p:to>
                                        <p:strVal val="visible"/>
                                      </p:to>
                                    </p:set>
                                    <p:animEffect transition="in" filter="wipe(left)">
                                      <p:cBhvr>
                                        <p:cTn id="45" dur="500"/>
                                        <p:tgtEl>
                                          <p:spTgt spid="19532"/>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9534"/>
                                        </p:tgtEl>
                                        <p:attrNameLst>
                                          <p:attrName>style.visibility</p:attrName>
                                        </p:attrNameLst>
                                      </p:cBhvr>
                                      <p:to>
                                        <p:strVal val="visible"/>
                                      </p:to>
                                    </p:set>
                                    <p:animEffect transition="in" filter="wipe(left)">
                                      <p:cBhvr>
                                        <p:cTn id="50" dur="500"/>
                                        <p:tgtEl>
                                          <p:spTgt spid="19534"/>
                                        </p:tgtEl>
                                      </p:cBhvr>
                                    </p:animEffect>
                                  </p:childTnLst>
                                </p:cTn>
                              </p:par>
                            </p:childTnLst>
                          </p:cTn>
                        </p:par>
                        <p:par>
                          <p:cTn id="51" fill="hold">
                            <p:stCondLst>
                              <p:cond delay="500"/>
                            </p:stCondLst>
                            <p:childTnLst>
                              <p:par>
                                <p:cTn id="52" presetID="22" presetClass="entr" presetSubtype="8" fill="hold" grpId="0" nodeType="afterEffect">
                                  <p:stCondLst>
                                    <p:cond delay="0"/>
                                  </p:stCondLst>
                                  <p:childTnLst>
                                    <p:set>
                                      <p:cBhvr>
                                        <p:cTn id="53" dur="1" fill="hold">
                                          <p:stCondLst>
                                            <p:cond delay="0"/>
                                          </p:stCondLst>
                                        </p:cTn>
                                        <p:tgtEl>
                                          <p:spTgt spid="19535">
                                            <p:txEl>
                                              <p:pRg st="0" end="0"/>
                                            </p:txEl>
                                          </p:spTgt>
                                        </p:tgtEl>
                                        <p:attrNameLst>
                                          <p:attrName>style.visibility</p:attrName>
                                        </p:attrNameLst>
                                      </p:cBhvr>
                                      <p:to>
                                        <p:strVal val="visible"/>
                                      </p:to>
                                    </p:set>
                                    <p:animEffect transition="in" filter="wipe(left)">
                                      <p:cBhvr>
                                        <p:cTn id="54" dur="500"/>
                                        <p:tgtEl>
                                          <p:spTgt spid="19535">
                                            <p:txEl>
                                              <p:pRg st="0" end="0"/>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51"/>
                                        </p:tgtEl>
                                        <p:attrNameLst>
                                          <p:attrName>style.visibility</p:attrName>
                                        </p:attrNameLst>
                                      </p:cBhvr>
                                      <p:to>
                                        <p:strVal val="visible"/>
                                      </p:to>
                                    </p:set>
                                    <p:animEffect transition="in" filter="wipe(left)">
                                      <p:cBhvr>
                                        <p:cTn id="59"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9520" grpId="0"/>
      <p:bldP spid="19521" grpId="0"/>
      <p:bldP spid="19522" grpId="0"/>
      <p:bldP spid="19523" grpId="0"/>
      <p:bldP spid="19524" grpId="0"/>
      <p:bldP spid="19531" grpId="0"/>
      <p:bldP spid="19532" grpId="0"/>
      <p:bldP spid="19534" grpId="0"/>
      <p:bldP spid="19535" grpId="0" build="p"/>
      <p:bldP spid="51"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0" name="Text Box 30"/>
          <p:cNvSpPr txBox="1">
            <a:spLocks noChangeArrowheads="1"/>
          </p:cNvSpPr>
          <p:nvPr/>
        </p:nvSpPr>
        <p:spPr bwMode="auto">
          <a:xfrm>
            <a:off x="2055053" y="959133"/>
            <a:ext cx="2133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800" b="1" dirty="0">
                <a:solidFill>
                  <a:srgbClr val="04926A"/>
                </a:solidFill>
                <a:latin typeface="微软雅黑" panose="020B0503020204020204" pitchFamily="34" charset="-122"/>
                <a:ea typeface="微软雅黑" panose="020B0503020204020204" pitchFamily="34" charset="-122"/>
              </a:rPr>
              <a:t>2.  </a:t>
            </a:r>
            <a:r>
              <a:rPr kumimoji="1" lang="zh-CN" altLang="en-US" sz="2800" b="1" dirty="0">
                <a:solidFill>
                  <a:srgbClr val="04926A"/>
                </a:solidFill>
                <a:latin typeface="微软雅黑" panose="020B0503020204020204" pitchFamily="34" charset="-122"/>
                <a:ea typeface="微软雅黑" panose="020B0503020204020204" pitchFamily="34" charset="-122"/>
              </a:rPr>
              <a:t>性质</a:t>
            </a:r>
          </a:p>
        </p:txBody>
      </p:sp>
      <mc:AlternateContent xmlns:mc="http://schemas.openxmlformats.org/markup-compatibility/2006" xmlns:a14="http://schemas.microsoft.com/office/drawing/2010/main">
        <mc:Choice Requires="a14">
          <p:sp>
            <p:nvSpPr>
              <p:cNvPr id="20511" name="Text Box 31"/>
              <p:cNvSpPr txBox="1">
                <a:spLocks noChangeArrowheads="1"/>
              </p:cNvSpPr>
              <p:nvPr/>
            </p:nvSpPr>
            <p:spPr bwMode="auto">
              <a:xfrm>
                <a:off x="2055053" y="1524000"/>
                <a:ext cx="4038600"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p>
                <a:pPr>
                  <a:spcBef>
                    <a:spcPct val="50000"/>
                  </a:spcBef>
                </a:pPr>
                <a:r>
                  <a:rPr lang="en-US" altLang="zh-CN" sz="2800" dirty="0">
                    <a:solidFill>
                      <a:srgbClr val="04926A"/>
                    </a:solidFill>
                    <a:latin typeface="Times New Roman" panose="02020603050405020304" pitchFamily="18" charset="0"/>
                    <a:cs typeface="Times New Roman" panose="02020603050405020304" pitchFamily="18" charset="0"/>
                  </a:rPr>
                  <a:t>(1)</a:t>
                </a:r>
                <a14:m>
                  <m:oMath xmlns:m="http://schemas.openxmlformats.org/officeDocument/2006/math">
                    <m:r>
                      <a:rPr lang="en-US" altLang="zh-CN" sz="2800" b="0" i="0" smtClean="0">
                        <a:solidFill>
                          <a:srgbClr val="04926A"/>
                        </a:solidFill>
                        <a:latin typeface="Cambria Math" panose="02040503050406030204" pitchFamily="18" charset="0"/>
                      </a:rPr>
                      <m:t> </m:t>
                    </m:r>
                    <m:r>
                      <a:rPr lang="zh-CN" altLang="en-US" sz="2800" b="1" i="1" smtClean="0">
                        <a:solidFill>
                          <a:srgbClr val="04926A"/>
                        </a:solidFill>
                        <a:latin typeface="Cambria Math" panose="02040503050406030204" pitchFamily="18" charset="0"/>
                      </a:rPr>
                      <m:t>𝒂</m:t>
                    </m:r>
                    <m:r>
                      <a:rPr lang="en-US" altLang="zh-CN" sz="2800" i="1">
                        <a:solidFill>
                          <a:srgbClr val="04926A"/>
                        </a:solidFill>
                        <a:latin typeface="Cambria Math" panose="02040503050406030204" pitchFamily="18" charset="0"/>
                        <a:ea typeface="Cambria Math" panose="02040503050406030204" pitchFamily="18" charset="0"/>
                      </a:rPr>
                      <m:t>×</m:t>
                    </m:r>
                    <m:r>
                      <a:rPr lang="zh-CN" altLang="en-US" sz="2800" b="1" i="1">
                        <a:solidFill>
                          <a:srgbClr val="04926A"/>
                        </a:solidFill>
                        <a:latin typeface="Cambria Math" panose="02040503050406030204" pitchFamily="18" charset="0"/>
                      </a:rPr>
                      <m:t>𝒂</m:t>
                    </m:r>
                    <m:r>
                      <a:rPr lang="en-US" altLang="zh-CN" sz="2800" i="1">
                        <a:solidFill>
                          <a:srgbClr val="04926A"/>
                        </a:solidFill>
                        <a:latin typeface="Cambria Math" panose="02040503050406030204" pitchFamily="18" charset="0"/>
                      </a:rPr>
                      <m:t>=</m:t>
                    </m:r>
                    <m:r>
                      <a:rPr lang="en-US" altLang="zh-CN" sz="2800" b="1" i="1" smtClean="0">
                        <a:solidFill>
                          <a:srgbClr val="04926A"/>
                        </a:solidFill>
                        <a:latin typeface="Cambria Math" panose="02040503050406030204" pitchFamily="18" charset="0"/>
                      </a:rPr>
                      <m:t>𝟎</m:t>
                    </m:r>
                    <m:r>
                      <a:rPr lang="en-US" altLang="zh-CN" sz="2800" b="0" i="1" smtClean="0">
                        <a:solidFill>
                          <a:srgbClr val="04926A"/>
                        </a:solidFill>
                        <a:latin typeface="Cambria Math" panose="02040503050406030204" pitchFamily="18" charset="0"/>
                      </a:rPr>
                      <m:t>;</m:t>
                    </m:r>
                  </m:oMath>
                </a14:m>
                <a:endParaRPr lang="zh-CN" altLang="en-US" sz="2800" dirty="0">
                  <a:solidFill>
                    <a:srgbClr val="000000"/>
                  </a:solidFill>
                  <a:latin typeface="Cambria Math" panose="02040503050406030204" pitchFamily="18" charset="0"/>
                  <a:sym typeface="Symbol" panose="05050102010706020507" pitchFamily="18" charset="2"/>
                </a:endParaRPr>
              </a:p>
            </p:txBody>
          </p:sp>
        </mc:Choice>
        <mc:Fallback xmlns="">
          <p:sp>
            <p:nvSpPr>
              <p:cNvPr id="20511" name="Text Box 31"/>
              <p:cNvSpPr txBox="1">
                <a:spLocks noRot="1" noChangeAspect="1" noMove="1" noResize="1" noEditPoints="1" noAdjustHandles="1" noChangeArrowheads="1" noChangeShapeType="1" noTextEdit="1"/>
              </p:cNvSpPr>
              <p:nvPr/>
            </p:nvSpPr>
            <p:spPr bwMode="auto">
              <a:xfrm>
                <a:off x="2055053" y="1524000"/>
                <a:ext cx="4038600" cy="523220"/>
              </a:xfrm>
              <a:prstGeom prst="rect">
                <a:avLst/>
              </a:prstGeom>
              <a:blipFill>
                <a:blip r:embed="rId2"/>
                <a:stretch>
                  <a:fillRect l="-3017" t="-11628" b="-3139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512" name="Text Box 32"/>
              <p:cNvSpPr txBox="1">
                <a:spLocks noChangeArrowheads="1"/>
              </p:cNvSpPr>
              <p:nvPr/>
            </p:nvSpPr>
            <p:spPr bwMode="auto">
              <a:xfrm>
                <a:off x="2055053" y="2147888"/>
                <a:ext cx="4038600"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p>
                <a:pPr>
                  <a:spcBef>
                    <a:spcPct val="50000"/>
                  </a:spcBef>
                </a:pPr>
                <a:r>
                  <a:rPr lang="en-US" altLang="zh-CN" sz="2800" dirty="0">
                    <a:solidFill>
                      <a:srgbClr val="04926A"/>
                    </a:solidFill>
                    <a:latin typeface="Times New Roman" panose="02020603050405020304" pitchFamily="18" charset="0"/>
                    <a:cs typeface="Times New Roman" panose="02020603050405020304" pitchFamily="18" charset="0"/>
                  </a:rPr>
                  <a:t>(2)</a:t>
                </a:r>
                <a14:m>
                  <m:oMath xmlns:m="http://schemas.openxmlformats.org/officeDocument/2006/math">
                    <m:r>
                      <a:rPr lang="en-US" altLang="zh-CN" sz="2800" b="0" i="0" smtClean="0">
                        <a:solidFill>
                          <a:srgbClr val="04926A"/>
                        </a:solidFill>
                        <a:latin typeface="Cambria Math" panose="02040503050406030204" pitchFamily="18" charset="0"/>
                      </a:rPr>
                      <m:t> </m:t>
                    </m:r>
                    <m:r>
                      <a:rPr lang="zh-CN" altLang="en-US" sz="2800" b="1" i="1" smtClean="0">
                        <a:solidFill>
                          <a:srgbClr val="04926A"/>
                        </a:solidFill>
                        <a:latin typeface="Cambria Math" panose="02040503050406030204" pitchFamily="18" charset="0"/>
                      </a:rPr>
                      <m:t>𝒂</m:t>
                    </m:r>
                  </m:oMath>
                </a14:m>
                <a:r>
                  <a:rPr lang="en-US" altLang="zh-CN" sz="2800" i="1" dirty="0" err="1">
                    <a:solidFill>
                      <a:srgbClr val="04926A"/>
                    </a:solidFill>
                    <a:latin typeface="Cambria Math" panose="02040503050406030204" pitchFamily="18" charset="0"/>
                    <a:sym typeface="Symbol" panose="05050102010706020507" pitchFamily="18" charset="2"/>
                  </a:rPr>
                  <a:t>∥</a:t>
                </a:r>
                <a14:m>
                  <m:oMath xmlns:m="http://schemas.openxmlformats.org/officeDocument/2006/math">
                    <m:r>
                      <a:rPr lang="en-US" altLang="zh-CN" sz="2800" b="0" i="1" smtClean="0">
                        <a:solidFill>
                          <a:srgbClr val="04926A"/>
                        </a:solidFill>
                        <a:latin typeface="Cambria Math" panose="02040503050406030204" pitchFamily="18" charset="0"/>
                      </a:rPr>
                      <m:t> </m:t>
                    </m:r>
                    <m:r>
                      <a:rPr lang="zh-CN" altLang="en-US" sz="2800" b="1" i="1" smtClean="0">
                        <a:solidFill>
                          <a:srgbClr val="04926A"/>
                        </a:solidFill>
                        <a:latin typeface="Cambria Math" panose="02040503050406030204" pitchFamily="18" charset="0"/>
                      </a:rPr>
                      <m:t>𝒃</m:t>
                    </m:r>
                    <m:r>
                      <a:rPr lang="en-US" altLang="zh-CN" sz="2800" i="1">
                        <a:solidFill>
                          <a:srgbClr val="04926A"/>
                        </a:solidFill>
                        <a:latin typeface="Cambria Math" panose="02040503050406030204" pitchFamily="18" charset="0"/>
                        <a:ea typeface="Cambria Math" panose="02040503050406030204" pitchFamily="18" charset="0"/>
                      </a:rPr>
                      <m:t>⇔</m:t>
                    </m:r>
                    <m:r>
                      <a:rPr lang="zh-CN" altLang="en-US" sz="2800" b="1" i="1">
                        <a:solidFill>
                          <a:srgbClr val="04926A"/>
                        </a:solidFill>
                        <a:latin typeface="Cambria Math" panose="02040503050406030204" pitchFamily="18" charset="0"/>
                      </a:rPr>
                      <m:t>𝒂</m:t>
                    </m:r>
                    <m:r>
                      <a:rPr lang="en-US" altLang="zh-CN" sz="2800" i="1">
                        <a:solidFill>
                          <a:srgbClr val="04926A"/>
                        </a:solidFill>
                        <a:latin typeface="Cambria Math" panose="02040503050406030204" pitchFamily="18" charset="0"/>
                        <a:ea typeface="Cambria Math" panose="02040503050406030204" pitchFamily="18" charset="0"/>
                      </a:rPr>
                      <m:t>×</m:t>
                    </m:r>
                    <m:r>
                      <a:rPr lang="zh-CN" altLang="en-US" sz="2800" b="1" i="1">
                        <a:solidFill>
                          <a:srgbClr val="04926A"/>
                        </a:solidFill>
                        <a:latin typeface="Cambria Math" panose="02040503050406030204" pitchFamily="18" charset="0"/>
                      </a:rPr>
                      <m:t>𝒃</m:t>
                    </m:r>
                    <m:r>
                      <a:rPr lang="en-US" altLang="zh-CN" sz="2800" i="1">
                        <a:solidFill>
                          <a:srgbClr val="04926A"/>
                        </a:solidFill>
                        <a:latin typeface="Cambria Math" panose="02040503050406030204" pitchFamily="18" charset="0"/>
                      </a:rPr>
                      <m:t>=</m:t>
                    </m:r>
                    <m:r>
                      <a:rPr lang="en-US" altLang="zh-CN" sz="2800" b="1" i="1" smtClean="0">
                        <a:solidFill>
                          <a:srgbClr val="04926A"/>
                        </a:solidFill>
                        <a:latin typeface="Cambria Math" panose="02040503050406030204" pitchFamily="18" charset="0"/>
                      </a:rPr>
                      <m:t>𝟎</m:t>
                    </m:r>
                    <m:r>
                      <a:rPr lang="en-US" altLang="zh-CN" sz="2800" b="0" i="1" smtClean="0">
                        <a:solidFill>
                          <a:srgbClr val="4A7BA8"/>
                        </a:solidFill>
                        <a:latin typeface="Cambria Math" panose="02040503050406030204" pitchFamily="18" charset="0"/>
                      </a:rPr>
                      <m:t>.</m:t>
                    </m:r>
                  </m:oMath>
                </a14:m>
                <a:endParaRPr lang="zh-CN" altLang="en-US" sz="2800" dirty="0">
                  <a:solidFill>
                    <a:srgbClr val="000000"/>
                  </a:solidFill>
                  <a:latin typeface="Cambria Math" panose="02040503050406030204" pitchFamily="18" charset="0"/>
                  <a:sym typeface="Symbol" panose="05050102010706020507" pitchFamily="18" charset="2"/>
                </a:endParaRPr>
              </a:p>
            </p:txBody>
          </p:sp>
        </mc:Choice>
        <mc:Fallback xmlns="">
          <p:sp>
            <p:nvSpPr>
              <p:cNvPr id="20512" name="Text Box 32"/>
              <p:cNvSpPr txBox="1">
                <a:spLocks noRot="1" noChangeAspect="1" noMove="1" noResize="1" noEditPoints="1" noAdjustHandles="1" noChangeArrowheads="1" noChangeShapeType="1" noTextEdit="1"/>
              </p:cNvSpPr>
              <p:nvPr/>
            </p:nvSpPr>
            <p:spPr bwMode="auto">
              <a:xfrm>
                <a:off x="2055053" y="2147888"/>
                <a:ext cx="4038600" cy="523220"/>
              </a:xfrm>
              <a:prstGeom prst="rect">
                <a:avLst/>
              </a:prstGeom>
              <a:blipFill>
                <a:blip r:embed="rId3"/>
                <a:stretch>
                  <a:fillRect l="-3017" t="-12791" b="-3139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20513" name="Text Box 33"/>
          <p:cNvSpPr txBox="1">
            <a:spLocks noChangeArrowheads="1"/>
          </p:cNvSpPr>
          <p:nvPr/>
        </p:nvSpPr>
        <p:spPr bwMode="auto">
          <a:xfrm>
            <a:off x="2055053" y="2829580"/>
            <a:ext cx="226929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en-US" altLang="zh-CN" sz="2800" b="1" dirty="0">
                <a:solidFill>
                  <a:srgbClr val="04926A"/>
                </a:solidFill>
                <a:latin typeface="微软雅黑" panose="020B0503020204020204" pitchFamily="34" charset="-122"/>
                <a:ea typeface="微软雅黑" panose="020B0503020204020204" pitchFamily="34" charset="-122"/>
              </a:rPr>
              <a:t>3.  </a:t>
            </a:r>
            <a:r>
              <a:rPr kumimoji="1" lang="zh-CN" altLang="en-US" sz="2800" b="1" dirty="0">
                <a:solidFill>
                  <a:srgbClr val="04926A"/>
                </a:solidFill>
                <a:latin typeface="微软雅黑" panose="020B0503020204020204" pitchFamily="34" charset="-122"/>
                <a:ea typeface="微软雅黑" panose="020B0503020204020204" pitchFamily="34" charset="-122"/>
              </a:rPr>
              <a:t>运算规律</a:t>
            </a:r>
          </a:p>
        </p:txBody>
      </p:sp>
      <mc:AlternateContent xmlns:mc="http://schemas.openxmlformats.org/markup-compatibility/2006" xmlns:a14="http://schemas.microsoft.com/office/drawing/2010/main">
        <mc:Choice Requires="a14">
          <p:sp>
            <p:nvSpPr>
              <p:cNvPr id="20514" name="Text Box 34"/>
              <p:cNvSpPr txBox="1">
                <a:spLocks noChangeArrowheads="1"/>
              </p:cNvSpPr>
              <p:nvPr/>
            </p:nvSpPr>
            <p:spPr bwMode="auto">
              <a:xfrm>
                <a:off x="2055053" y="3505200"/>
                <a:ext cx="4955347"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r>
                  <a:rPr lang="en-US" altLang="zh-CN" sz="2800" dirty="0">
                    <a:solidFill>
                      <a:srgbClr val="04926A"/>
                    </a:solidFill>
                    <a:latin typeface="Times New Roman" panose="02020603050405020304" pitchFamily="18" charset="0"/>
                    <a:cs typeface="Times New Roman" panose="02020603050405020304" pitchFamily="18" charset="0"/>
                  </a:rPr>
                  <a:t>(1) </a:t>
                </a:r>
                <a:r>
                  <a:rPr lang="zh-CN" altLang="en-US" sz="2800" dirty="0">
                    <a:solidFill>
                      <a:srgbClr val="04926A"/>
                    </a:solidFill>
                    <a:latin typeface="Times New Roman" panose="02020603050405020304" pitchFamily="18" charset="0"/>
                    <a:cs typeface="Times New Roman" panose="02020603050405020304" pitchFamily="18" charset="0"/>
                  </a:rPr>
                  <a:t>负交换律   </a:t>
                </a:r>
                <a14:m>
                  <m:oMath xmlns:m="http://schemas.openxmlformats.org/officeDocument/2006/math">
                    <m:r>
                      <a:rPr lang="zh-CN" altLang="en-US" sz="2800" b="1" i="1" smtClean="0">
                        <a:solidFill>
                          <a:srgbClr val="04926A"/>
                        </a:solidFill>
                        <a:latin typeface="Cambria Math" panose="02040503050406030204" pitchFamily="18" charset="0"/>
                      </a:rPr>
                      <m:t>𝒂</m:t>
                    </m:r>
                    <m:r>
                      <a:rPr lang="en-US" altLang="zh-CN" sz="2800" i="1">
                        <a:solidFill>
                          <a:srgbClr val="04926A"/>
                        </a:solidFill>
                        <a:latin typeface="Cambria Math" panose="02040503050406030204" pitchFamily="18" charset="0"/>
                        <a:ea typeface="Cambria Math" panose="02040503050406030204" pitchFamily="18" charset="0"/>
                      </a:rPr>
                      <m:t>×</m:t>
                    </m:r>
                    <m:r>
                      <a:rPr lang="zh-CN" altLang="en-US" sz="2800" b="1" i="1">
                        <a:solidFill>
                          <a:srgbClr val="04926A"/>
                        </a:solidFill>
                        <a:latin typeface="Cambria Math" panose="02040503050406030204" pitchFamily="18" charset="0"/>
                      </a:rPr>
                      <m:t>𝒃</m:t>
                    </m:r>
                    <m:r>
                      <a:rPr lang="en-US" altLang="zh-CN" sz="2800" i="1">
                        <a:solidFill>
                          <a:srgbClr val="04926A"/>
                        </a:solidFill>
                        <a:latin typeface="Cambria Math" panose="02040503050406030204" pitchFamily="18" charset="0"/>
                      </a:rPr>
                      <m:t>=</m:t>
                    </m:r>
                    <m:r>
                      <a:rPr lang="en-US" altLang="zh-CN" sz="2800" b="0" i="1" smtClean="0">
                        <a:solidFill>
                          <a:srgbClr val="04926A"/>
                        </a:solidFill>
                        <a:latin typeface="Cambria Math" panose="02040503050406030204" pitchFamily="18" charset="0"/>
                      </a:rPr>
                      <m:t>−</m:t>
                    </m:r>
                    <m:r>
                      <a:rPr lang="en-US" altLang="zh-CN" sz="2800" b="1" i="1" smtClean="0">
                        <a:solidFill>
                          <a:srgbClr val="04926A"/>
                        </a:solidFill>
                        <a:latin typeface="Cambria Math" panose="02040503050406030204" pitchFamily="18" charset="0"/>
                      </a:rPr>
                      <m:t>𝒃</m:t>
                    </m:r>
                    <m:r>
                      <a:rPr lang="en-US" altLang="zh-CN" sz="2800" i="1">
                        <a:solidFill>
                          <a:srgbClr val="04926A"/>
                        </a:solidFill>
                        <a:latin typeface="Cambria Math" panose="02040503050406030204" pitchFamily="18" charset="0"/>
                        <a:ea typeface="Cambria Math" panose="02040503050406030204" pitchFamily="18" charset="0"/>
                      </a:rPr>
                      <m:t>×</m:t>
                    </m:r>
                    <m:r>
                      <a:rPr lang="en-US" altLang="zh-CN" sz="2800" b="1" i="1" smtClean="0">
                        <a:solidFill>
                          <a:srgbClr val="04926A"/>
                        </a:solidFill>
                        <a:latin typeface="Cambria Math" panose="02040503050406030204" pitchFamily="18" charset="0"/>
                      </a:rPr>
                      <m:t>𝒂</m:t>
                    </m:r>
                    <m:r>
                      <a:rPr lang="en-US" altLang="zh-CN" sz="2800" b="0" i="1" smtClean="0">
                        <a:solidFill>
                          <a:srgbClr val="04926A"/>
                        </a:solidFill>
                        <a:latin typeface="Cambria Math" panose="02040503050406030204" pitchFamily="18" charset="0"/>
                      </a:rPr>
                      <m:t>;</m:t>
                    </m:r>
                  </m:oMath>
                </a14:m>
                <a:endParaRPr lang="zh-CN" altLang="en-US" sz="2800" dirty="0">
                  <a:solidFill>
                    <a:srgbClr val="04926A"/>
                  </a:solidFill>
                  <a:latin typeface="Cambria Math" panose="02040503050406030204" pitchFamily="18" charset="0"/>
                </a:endParaRPr>
              </a:p>
            </p:txBody>
          </p:sp>
        </mc:Choice>
        <mc:Fallback xmlns="">
          <p:sp>
            <p:nvSpPr>
              <p:cNvPr id="20514" name="Text Box 34"/>
              <p:cNvSpPr txBox="1">
                <a:spLocks noRot="1" noChangeAspect="1" noMove="1" noResize="1" noEditPoints="1" noAdjustHandles="1" noChangeArrowheads="1" noChangeShapeType="1" noTextEdit="1"/>
              </p:cNvSpPr>
              <p:nvPr/>
            </p:nvSpPr>
            <p:spPr bwMode="auto">
              <a:xfrm>
                <a:off x="2055053" y="3505200"/>
                <a:ext cx="4955347" cy="523220"/>
              </a:xfrm>
              <a:prstGeom prst="rect">
                <a:avLst/>
              </a:prstGeom>
              <a:blipFill>
                <a:blip r:embed="rId4"/>
                <a:stretch>
                  <a:fillRect l="-2460" t="-15116" b="-3255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515" name="Text Box 35"/>
              <p:cNvSpPr txBox="1">
                <a:spLocks noChangeArrowheads="1"/>
              </p:cNvSpPr>
              <p:nvPr/>
            </p:nvSpPr>
            <p:spPr bwMode="auto">
              <a:xfrm>
                <a:off x="2055053" y="4205288"/>
                <a:ext cx="8081894"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r>
                  <a:rPr lang="en-US" altLang="zh-CN" sz="2800" dirty="0">
                    <a:solidFill>
                      <a:srgbClr val="04926A"/>
                    </a:solidFill>
                    <a:latin typeface="Times New Roman" panose="02020603050405020304" pitchFamily="18" charset="0"/>
                    <a:cs typeface="Times New Roman" panose="02020603050405020304" pitchFamily="18" charset="0"/>
                  </a:rPr>
                  <a:t>(2) </a:t>
                </a:r>
                <a:r>
                  <a:rPr lang="zh-CN" altLang="en-US" sz="2800" dirty="0">
                    <a:solidFill>
                      <a:srgbClr val="04926A"/>
                    </a:solidFill>
                    <a:latin typeface="Times New Roman" panose="02020603050405020304" pitchFamily="18" charset="0"/>
                    <a:cs typeface="Times New Roman" panose="02020603050405020304" pitchFamily="18" charset="0"/>
                  </a:rPr>
                  <a:t>结合律       </a:t>
                </a:r>
                <a14:m>
                  <m:oMath xmlns:m="http://schemas.openxmlformats.org/officeDocument/2006/math">
                    <m:r>
                      <a:rPr kumimoji="1" lang="en-US" altLang="zh-CN" sz="2800" i="1" dirty="0" smtClean="0">
                        <a:solidFill>
                          <a:srgbClr val="04926A"/>
                        </a:solidFill>
                        <a:latin typeface="Cambria Math" panose="02040503050406030204" pitchFamily="18" charset="0"/>
                        <a:ea typeface="黑体" panose="02010609060101010101" pitchFamily="49" charset="-122"/>
                      </a:rPr>
                      <m:t>𝜆</m:t>
                    </m:r>
                    <m:d>
                      <m:dPr>
                        <m:ctrlPr>
                          <a:rPr kumimoji="1" lang="en-US" altLang="zh-CN" sz="2800" b="1" i="1" dirty="0" smtClean="0">
                            <a:solidFill>
                              <a:srgbClr val="04926A"/>
                            </a:solidFill>
                            <a:latin typeface="Cambria Math" panose="02040503050406030204" pitchFamily="18" charset="0"/>
                            <a:ea typeface="黑体" panose="02010609060101010101" pitchFamily="49" charset="-122"/>
                          </a:rPr>
                        </m:ctrlPr>
                      </m:dPr>
                      <m:e>
                        <m:r>
                          <a:rPr kumimoji="1" lang="en-US" altLang="zh-CN" sz="2800" b="1" i="1" dirty="0" smtClean="0">
                            <a:solidFill>
                              <a:srgbClr val="04926A"/>
                            </a:solidFill>
                            <a:latin typeface="Cambria Math" panose="02040503050406030204" pitchFamily="18" charset="0"/>
                            <a:ea typeface="黑体" panose="02010609060101010101" pitchFamily="49" charset="-122"/>
                          </a:rPr>
                          <m:t>𝒂</m:t>
                        </m:r>
                        <m:r>
                          <a:rPr lang="en-US" altLang="zh-CN" sz="2800" b="1" i="1">
                            <a:solidFill>
                              <a:srgbClr val="04926A"/>
                            </a:solidFill>
                            <a:latin typeface="Cambria Math" panose="02040503050406030204" pitchFamily="18" charset="0"/>
                            <a:ea typeface="Cambria Math" panose="02040503050406030204" pitchFamily="18" charset="0"/>
                          </a:rPr>
                          <m:t>×</m:t>
                        </m:r>
                        <m:r>
                          <a:rPr lang="zh-CN" altLang="en-US" sz="2800" b="1" i="1">
                            <a:solidFill>
                              <a:srgbClr val="04926A"/>
                            </a:solidFill>
                            <a:latin typeface="Cambria Math" panose="02040503050406030204" pitchFamily="18" charset="0"/>
                          </a:rPr>
                          <m:t>𝒃</m:t>
                        </m:r>
                      </m:e>
                    </m:d>
                    <m:r>
                      <a:rPr lang="en-US" altLang="zh-CN" sz="2800" b="0" i="1" smtClean="0">
                        <a:solidFill>
                          <a:srgbClr val="04926A"/>
                        </a:solidFill>
                        <a:latin typeface="Cambria Math" panose="02040503050406030204" pitchFamily="18" charset="0"/>
                      </a:rPr>
                      <m:t>=</m:t>
                    </m:r>
                    <m:d>
                      <m:dPr>
                        <m:ctrlPr>
                          <a:rPr kumimoji="1" lang="en-US" altLang="zh-CN" sz="2800" b="0" i="1" dirty="0" smtClean="0">
                            <a:solidFill>
                              <a:srgbClr val="04926A"/>
                            </a:solidFill>
                            <a:latin typeface="Cambria Math" panose="02040503050406030204" pitchFamily="18" charset="0"/>
                            <a:ea typeface="黑体" panose="02010609060101010101" pitchFamily="49" charset="-122"/>
                          </a:rPr>
                        </m:ctrlPr>
                      </m:dPr>
                      <m:e>
                        <m:r>
                          <a:rPr kumimoji="1" lang="en-US" altLang="zh-CN" sz="2800" i="1" dirty="0">
                            <a:solidFill>
                              <a:srgbClr val="04926A"/>
                            </a:solidFill>
                            <a:latin typeface="Cambria Math" panose="02040503050406030204" pitchFamily="18" charset="0"/>
                            <a:ea typeface="黑体" panose="02010609060101010101" pitchFamily="49" charset="-122"/>
                          </a:rPr>
                          <m:t>𝜆</m:t>
                        </m:r>
                        <m:r>
                          <a:rPr lang="zh-CN" altLang="en-US" sz="2800" b="1" i="1">
                            <a:solidFill>
                              <a:srgbClr val="04926A"/>
                            </a:solidFill>
                            <a:latin typeface="Cambria Math" panose="02040503050406030204" pitchFamily="18" charset="0"/>
                          </a:rPr>
                          <m:t>𝒂</m:t>
                        </m:r>
                      </m:e>
                    </m:d>
                    <m:r>
                      <a:rPr lang="en-US" altLang="zh-CN" sz="2800" i="1">
                        <a:solidFill>
                          <a:srgbClr val="04926A"/>
                        </a:solidFill>
                        <a:latin typeface="Cambria Math" panose="02040503050406030204" pitchFamily="18" charset="0"/>
                        <a:ea typeface="Cambria Math" panose="02040503050406030204" pitchFamily="18" charset="0"/>
                      </a:rPr>
                      <m:t>×</m:t>
                    </m:r>
                    <m:r>
                      <a:rPr lang="zh-CN" altLang="en-US" sz="2800" b="1" i="1">
                        <a:solidFill>
                          <a:srgbClr val="04926A"/>
                        </a:solidFill>
                        <a:latin typeface="Cambria Math" panose="02040503050406030204" pitchFamily="18" charset="0"/>
                      </a:rPr>
                      <m:t>𝒃</m:t>
                    </m:r>
                    <m:r>
                      <a:rPr lang="en-US" altLang="zh-CN" sz="2800" b="0" i="1" smtClean="0">
                        <a:solidFill>
                          <a:srgbClr val="04926A"/>
                        </a:solidFill>
                        <a:latin typeface="Cambria Math" panose="02040503050406030204" pitchFamily="18" charset="0"/>
                      </a:rPr>
                      <m:t>=</m:t>
                    </m:r>
                    <m:r>
                      <a:rPr lang="en-US" altLang="zh-CN" sz="2800" b="1" i="1" smtClean="0">
                        <a:solidFill>
                          <a:srgbClr val="04926A"/>
                        </a:solidFill>
                        <a:latin typeface="Cambria Math" panose="02040503050406030204" pitchFamily="18" charset="0"/>
                      </a:rPr>
                      <m:t>𝒂</m:t>
                    </m:r>
                    <m:r>
                      <a:rPr lang="en-US" altLang="zh-CN" sz="2800" i="1">
                        <a:solidFill>
                          <a:srgbClr val="04926A"/>
                        </a:solidFill>
                        <a:latin typeface="Cambria Math" panose="02040503050406030204" pitchFamily="18" charset="0"/>
                        <a:ea typeface="Cambria Math" panose="02040503050406030204" pitchFamily="18" charset="0"/>
                      </a:rPr>
                      <m:t>×</m:t>
                    </m:r>
                    <m:d>
                      <m:dPr>
                        <m:ctrlPr>
                          <a:rPr kumimoji="1" lang="en-US" altLang="zh-CN" sz="2800" b="0" i="1" dirty="0" smtClean="0">
                            <a:solidFill>
                              <a:srgbClr val="04926A"/>
                            </a:solidFill>
                            <a:latin typeface="Cambria Math" panose="02040503050406030204" pitchFamily="18" charset="0"/>
                            <a:ea typeface="Cambria Math" panose="02040503050406030204" pitchFamily="18" charset="0"/>
                          </a:rPr>
                        </m:ctrlPr>
                      </m:dPr>
                      <m:e>
                        <m:r>
                          <a:rPr kumimoji="1" lang="en-US" altLang="zh-CN" sz="2800" i="1" dirty="0">
                            <a:solidFill>
                              <a:srgbClr val="04926A"/>
                            </a:solidFill>
                            <a:latin typeface="Cambria Math" panose="02040503050406030204" pitchFamily="18" charset="0"/>
                            <a:ea typeface="黑体" panose="02010609060101010101" pitchFamily="49" charset="-122"/>
                          </a:rPr>
                          <m:t>𝜆</m:t>
                        </m:r>
                        <m:r>
                          <a:rPr lang="zh-CN" altLang="en-US" sz="2800" b="1" i="1">
                            <a:solidFill>
                              <a:srgbClr val="04926A"/>
                            </a:solidFill>
                            <a:latin typeface="Cambria Math" panose="02040503050406030204" pitchFamily="18" charset="0"/>
                          </a:rPr>
                          <m:t>𝒃</m:t>
                        </m:r>
                      </m:e>
                    </m:d>
                    <m:r>
                      <a:rPr lang="en-US" altLang="zh-CN" sz="2800" b="0" i="1" smtClean="0">
                        <a:solidFill>
                          <a:srgbClr val="04926A"/>
                        </a:solidFill>
                        <a:latin typeface="Cambria Math" panose="02040503050406030204" pitchFamily="18" charset="0"/>
                      </a:rPr>
                      <m:t>;</m:t>
                    </m:r>
                  </m:oMath>
                </a14:m>
                <a:endParaRPr lang="zh-CN" altLang="en-US" sz="2800" dirty="0">
                  <a:solidFill>
                    <a:srgbClr val="04926A"/>
                  </a:solidFill>
                  <a:latin typeface="Cambria Math" panose="02040503050406030204" pitchFamily="18" charset="0"/>
                </a:endParaRPr>
              </a:p>
            </p:txBody>
          </p:sp>
        </mc:Choice>
        <mc:Fallback xmlns="">
          <p:sp>
            <p:nvSpPr>
              <p:cNvPr id="20515" name="Text Box 35"/>
              <p:cNvSpPr txBox="1">
                <a:spLocks noRot="1" noChangeAspect="1" noMove="1" noResize="1" noEditPoints="1" noAdjustHandles="1" noChangeArrowheads="1" noChangeShapeType="1" noTextEdit="1"/>
              </p:cNvSpPr>
              <p:nvPr/>
            </p:nvSpPr>
            <p:spPr bwMode="auto">
              <a:xfrm>
                <a:off x="2055053" y="4205288"/>
                <a:ext cx="8081894" cy="523220"/>
              </a:xfrm>
              <a:prstGeom prst="rect">
                <a:avLst/>
              </a:prstGeom>
              <a:blipFill>
                <a:blip r:embed="rId5"/>
                <a:stretch>
                  <a:fillRect l="-1508" t="-16279" b="-3255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516" name="Text Box 36"/>
              <p:cNvSpPr txBox="1">
                <a:spLocks noChangeArrowheads="1"/>
              </p:cNvSpPr>
              <p:nvPr/>
            </p:nvSpPr>
            <p:spPr bwMode="auto">
              <a:xfrm>
                <a:off x="2055053" y="4891088"/>
                <a:ext cx="6822247"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r>
                  <a:rPr lang="en-US" altLang="zh-CN" sz="2800" dirty="0">
                    <a:solidFill>
                      <a:srgbClr val="04926A"/>
                    </a:solidFill>
                    <a:latin typeface="Times New Roman" panose="02020603050405020304" pitchFamily="18" charset="0"/>
                    <a:cs typeface="Times New Roman" panose="02020603050405020304" pitchFamily="18" charset="0"/>
                  </a:rPr>
                  <a:t>(3) </a:t>
                </a:r>
                <a:r>
                  <a:rPr lang="zh-CN" altLang="en-US" sz="2800" dirty="0">
                    <a:solidFill>
                      <a:srgbClr val="04926A"/>
                    </a:solidFill>
                    <a:latin typeface="Times New Roman" panose="02020603050405020304" pitchFamily="18" charset="0"/>
                    <a:cs typeface="Times New Roman" panose="02020603050405020304" pitchFamily="18" charset="0"/>
                  </a:rPr>
                  <a:t>分配律       </a:t>
                </a:r>
                <a14:m>
                  <m:oMath xmlns:m="http://schemas.openxmlformats.org/officeDocument/2006/math">
                    <m:d>
                      <m:dPr>
                        <m:ctrlPr>
                          <a:rPr kumimoji="1" lang="en-US" altLang="zh-CN" sz="2800" i="1" dirty="0" smtClean="0">
                            <a:solidFill>
                              <a:srgbClr val="04926A"/>
                            </a:solidFill>
                            <a:latin typeface="Cambria Math" panose="02040503050406030204" pitchFamily="18" charset="0"/>
                            <a:ea typeface="黑体" panose="02010609060101010101" pitchFamily="49" charset="-122"/>
                          </a:rPr>
                        </m:ctrlPr>
                      </m:dPr>
                      <m:e>
                        <m:r>
                          <a:rPr kumimoji="1" lang="en-US" altLang="zh-CN" sz="2800" b="1" i="1" dirty="0">
                            <a:solidFill>
                              <a:srgbClr val="04926A"/>
                            </a:solidFill>
                            <a:latin typeface="Cambria Math" panose="02040503050406030204" pitchFamily="18" charset="0"/>
                            <a:ea typeface="黑体" panose="02010609060101010101" pitchFamily="49" charset="-122"/>
                          </a:rPr>
                          <m:t>𝒂</m:t>
                        </m:r>
                        <m:r>
                          <a:rPr lang="en-US" altLang="zh-CN" sz="2800" b="0" i="1" smtClean="0">
                            <a:solidFill>
                              <a:srgbClr val="04926A"/>
                            </a:solidFill>
                            <a:latin typeface="Cambria Math" panose="02040503050406030204" pitchFamily="18" charset="0"/>
                            <a:ea typeface="Cambria Math" panose="02040503050406030204" pitchFamily="18" charset="0"/>
                          </a:rPr>
                          <m:t>+</m:t>
                        </m:r>
                        <m:r>
                          <a:rPr lang="zh-CN" altLang="en-US" sz="2800" b="1" i="1">
                            <a:solidFill>
                              <a:srgbClr val="04926A"/>
                            </a:solidFill>
                            <a:latin typeface="Cambria Math" panose="02040503050406030204" pitchFamily="18" charset="0"/>
                          </a:rPr>
                          <m:t>𝒃</m:t>
                        </m:r>
                      </m:e>
                    </m:d>
                    <m:r>
                      <a:rPr lang="en-US" altLang="zh-CN" sz="2800" i="1">
                        <a:solidFill>
                          <a:srgbClr val="04926A"/>
                        </a:solidFill>
                        <a:latin typeface="Cambria Math" panose="02040503050406030204" pitchFamily="18" charset="0"/>
                        <a:ea typeface="Cambria Math" panose="02040503050406030204" pitchFamily="18" charset="0"/>
                      </a:rPr>
                      <m:t>×</m:t>
                    </m:r>
                    <m:r>
                      <a:rPr lang="en-US" altLang="zh-CN" sz="2800" b="1" i="1" smtClean="0">
                        <a:solidFill>
                          <a:srgbClr val="04926A"/>
                        </a:solidFill>
                        <a:latin typeface="Cambria Math" panose="02040503050406030204" pitchFamily="18" charset="0"/>
                        <a:ea typeface="Cambria Math" panose="02040503050406030204" pitchFamily="18" charset="0"/>
                      </a:rPr>
                      <m:t>𝒄</m:t>
                    </m:r>
                    <m:r>
                      <a:rPr lang="en-US" altLang="zh-CN" sz="2800" b="0" i="1" smtClean="0">
                        <a:solidFill>
                          <a:srgbClr val="04926A"/>
                        </a:solidFill>
                        <a:latin typeface="Cambria Math" panose="02040503050406030204" pitchFamily="18" charset="0"/>
                        <a:ea typeface="Cambria Math" panose="02040503050406030204" pitchFamily="18" charset="0"/>
                      </a:rPr>
                      <m:t>=</m:t>
                    </m:r>
                    <m:r>
                      <a:rPr lang="en-US" altLang="zh-CN" sz="2800" b="1" i="1" smtClean="0">
                        <a:solidFill>
                          <a:srgbClr val="04926A"/>
                        </a:solidFill>
                        <a:latin typeface="Cambria Math" panose="02040503050406030204" pitchFamily="18" charset="0"/>
                        <a:ea typeface="Cambria Math" panose="02040503050406030204" pitchFamily="18" charset="0"/>
                      </a:rPr>
                      <m:t>𝒂</m:t>
                    </m:r>
                    <m:r>
                      <a:rPr lang="en-US" altLang="zh-CN" sz="2800" i="1">
                        <a:solidFill>
                          <a:srgbClr val="04926A"/>
                        </a:solidFill>
                        <a:latin typeface="Cambria Math" panose="02040503050406030204" pitchFamily="18" charset="0"/>
                        <a:ea typeface="Cambria Math" panose="02040503050406030204" pitchFamily="18" charset="0"/>
                      </a:rPr>
                      <m:t>×</m:t>
                    </m:r>
                    <m:r>
                      <a:rPr lang="en-US" altLang="zh-CN" sz="2800" b="1" i="1" smtClean="0">
                        <a:solidFill>
                          <a:srgbClr val="04926A"/>
                        </a:solidFill>
                        <a:latin typeface="Cambria Math" panose="02040503050406030204" pitchFamily="18" charset="0"/>
                        <a:ea typeface="Cambria Math" panose="02040503050406030204" pitchFamily="18" charset="0"/>
                      </a:rPr>
                      <m:t>𝒄</m:t>
                    </m:r>
                    <m:r>
                      <a:rPr lang="en-US" altLang="zh-CN" sz="2800" b="0" i="1" smtClean="0">
                        <a:solidFill>
                          <a:srgbClr val="04926A"/>
                        </a:solidFill>
                        <a:latin typeface="Cambria Math" panose="02040503050406030204" pitchFamily="18" charset="0"/>
                        <a:ea typeface="Cambria Math" panose="02040503050406030204" pitchFamily="18" charset="0"/>
                      </a:rPr>
                      <m:t>+</m:t>
                    </m:r>
                    <m:r>
                      <a:rPr lang="en-US" altLang="zh-CN" sz="2800" b="1" i="1" smtClean="0">
                        <a:solidFill>
                          <a:srgbClr val="04926A"/>
                        </a:solidFill>
                        <a:latin typeface="Cambria Math" panose="02040503050406030204" pitchFamily="18" charset="0"/>
                        <a:ea typeface="Cambria Math" panose="02040503050406030204" pitchFamily="18" charset="0"/>
                      </a:rPr>
                      <m:t>𝒃</m:t>
                    </m:r>
                    <m:r>
                      <a:rPr lang="en-US" altLang="zh-CN" sz="2800" i="1">
                        <a:solidFill>
                          <a:srgbClr val="04926A"/>
                        </a:solidFill>
                        <a:latin typeface="Cambria Math" panose="02040503050406030204" pitchFamily="18" charset="0"/>
                        <a:ea typeface="Cambria Math" panose="02040503050406030204" pitchFamily="18" charset="0"/>
                      </a:rPr>
                      <m:t>×</m:t>
                    </m:r>
                    <m:r>
                      <a:rPr lang="en-US" altLang="zh-CN" sz="2800" b="1" i="1" smtClean="0">
                        <a:solidFill>
                          <a:srgbClr val="04926A"/>
                        </a:solidFill>
                        <a:latin typeface="Cambria Math" panose="02040503050406030204" pitchFamily="18" charset="0"/>
                        <a:ea typeface="Cambria Math" panose="02040503050406030204" pitchFamily="18" charset="0"/>
                      </a:rPr>
                      <m:t>𝒄</m:t>
                    </m:r>
                    <m:r>
                      <a:rPr lang="en-US" altLang="zh-CN" sz="2800" b="0" i="1" smtClean="0">
                        <a:solidFill>
                          <a:srgbClr val="04926A"/>
                        </a:solidFill>
                        <a:latin typeface="Cambria Math" panose="02040503050406030204" pitchFamily="18" charset="0"/>
                        <a:ea typeface="Cambria Math" panose="02040503050406030204" pitchFamily="18" charset="0"/>
                      </a:rPr>
                      <m:t>.</m:t>
                    </m:r>
                  </m:oMath>
                </a14:m>
                <a:endParaRPr lang="zh-CN" altLang="en-US" sz="2800" dirty="0">
                  <a:solidFill>
                    <a:srgbClr val="04926A"/>
                  </a:solidFill>
                  <a:latin typeface="Cambria Math" panose="02040503050406030204" pitchFamily="18" charset="0"/>
                </a:endParaRPr>
              </a:p>
            </p:txBody>
          </p:sp>
        </mc:Choice>
        <mc:Fallback xmlns="">
          <p:sp>
            <p:nvSpPr>
              <p:cNvPr id="20516" name="Text Box 36"/>
              <p:cNvSpPr txBox="1">
                <a:spLocks noRot="1" noChangeAspect="1" noMove="1" noResize="1" noEditPoints="1" noAdjustHandles="1" noChangeArrowheads="1" noChangeShapeType="1" noTextEdit="1"/>
              </p:cNvSpPr>
              <p:nvPr/>
            </p:nvSpPr>
            <p:spPr bwMode="auto">
              <a:xfrm>
                <a:off x="2055053" y="4891088"/>
                <a:ext cx="6822247" cy="523220"/>
              </a:xfrm>
              <a:prstGeom prst="rect">
                <a:avLst/>
              </a:prstGeom>
              <a:blipFill>
                <a:blip r:embed="rId6"/>
                <a:stretch>
                  <a:fillRect l="-1787" t="-15116" b="-3255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extLst>
      <p:ext uri="{BB962C8B-B14F-4D97-AF65-F5344CB8AC3E}">
        <p14:creationId xmlns:p14="http://schemas.microsoft.com/office/powerpoint/2010/main" val="17192998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510"/>
                                        </p:tgtEl>
                                        <p:attrNameLst>
                                          <p:attrName>style.visibility</p:attrName>
                                        </p:attrNameLst>
                                      </p:cBhvr>
                                      <p:to>
                                        <p:strVal val="visible"/>
                                      </p:to>
                                    </p:set>
                                    <p:animEffect transition="in" filter="wipe(left)">
                                      <p:cBhvr>
                                        <p:cTn id="7" dur="500"/>
                                        <p:tgtEl>
                                          <p:spTgt spid="205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511"/>
                                        </p:tgtEl>
                                        <p:attrNameLst>
                                          <p:attrName>style.visibility</p:attrName>
                                        </p:attrNameLst>
                                      </p:cBhvr>
                                      <p:to>
                                        <p:strVal val="visible"/>
                                      </p:to>
                                    </p:set>
                                    <p:animEffect transition="in" filter="wipe(left)">
                                      <p:cBhvr>
                                        <p:cTn id="12" dur="500"/>
                                        <p:tgtEl>
                                          <p:spTgt spid="205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512"/>
                                        </p:tgtEl>
                                        <p:attrNameLst>
                                          <p:attrName>style.visibility</p:attrName>
                                        </p:attrNameLst>
                                      </p:cBhvr>
                                      <p:to>
                                        <p:strVal val="visible"/>
                                      </p:to>
                                    </p:set>
                                    <p:animEffect transition="in" filter="wipe(left)">
                                      <p:cBhvr>
                                        <p:cTn id="17" dur="500"/>
                                        <p:tgtEl>
                                          <p:spTgt spid="2051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513"/>
                                        </p:tgtEl>
                                        <p:attrNameLst>
                                          <p:attrName>style.visibility</p:attrName>
                                        </p:attrNameLst>
                                      </p:cBhvr>
                                      <p:to>
                                        <p:strVal val="visible"/>
                                      </p:to>
                                    </p:set>
                                    <p:animEffect transition="in" filter="wipe(left)">
                                      <p:cBhvr>
                                        <p:cTn id="22" dur="500"/>
                                        <p:tgtEl>
                                          <p:spTgt spid="2051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514"/>
                                        </p:tgtEl>
                                        <p:attrNameLst>
                                          <p:attrName>style.visibility</p:attrName>
                                        </p:attrNameLst>
                                      </p:cBhvr>
                                      <p:to>
                                        <p:strVal val="visible"/>
                                      </p:to>
                                    </p:set>
                                    <p:animEffect transition="in" filter="wipe(left)">
                                      <p:cBhvr>
                                        <p:cTn id="27" dur="500"/>
                                        <p:tgtEl>
                                          <p:spTgt spid="2051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0515"/>
                                        </p:tgtEl>
                                        <p:attrNameLst>
                                          <p:attrName>style.visibility</p:attrName>
                                        </p:attrNameLst>
                                      </p:cBhvr>
                                      <p:to>
                                        <p:strVal val="visible"/>
                                      </p:to>
                                    </p:set>
                                    <p:animEffect transition="in" filter="wipe(left)">
                                      <p:cBhvr>
                                        <p:cTn id="32" dur="500"/>
                                        <p:tgtEl>
                                          <p:spTgt spid="2051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0516"/>
                                        </p:tgtEl>
                                        <p:attrNameLst>
                                          <p:attrName>style.visibility</p:attrName>
                                        </p:attrNameLst>
                                      </p:cBhvr>
                                      <p:to>
                                        <p:strVal val="visible"/>
                                      </p:to>
                                    </p:set>
                                    <p:animEffect transition="in" filter="wipe(left)">
                                      <p:cBhvr>
                                        <p:cTn id="37" dur="500"/>
                                        <p:tgtEl>
                                          <p:spTgt spid="205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10" grpId="0"/>
      <p:bldP spid="20511" grpId="0"/>
      <p:bldP spid="20512" grpId="0"/>
      <p:bldP spid="20513" grpId="0"/>
      <p:bldP spid="20514" grpId="0"/>
      <p:bldP spid="20515" grpId="0"/>
      <p:bldP spid="2051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剪去单角的矩形 10">
            <a:extLst>
              <a:ext uri="{FF2B5EF4-FFF2-40B4-BE49-F238E27FC236}">
                <a16:creationId xmlns:a16="http://schemas.microsoft.com/office/drawing/2014/main" id="{B833DA25-5802-775F-6925-54201828F0F9}"/>
              </a:ext>
            </a:extLst>
          </p:cNvPr>
          <p:cNvSpPr/>
          <p:nvPr/>
        </p:nvSpPr>
        <p:spPr>
          <a:xfrm>
            <a:off x="1276350" y="1504951"/>
            <a:ext cx="9904095" cy="4358640"/>
          </a:xfrm>
          <a:prstGeom prst="snip1Rect">
            <a:avLst>
              <a:gd name="adj" fmla="val 5085"/>
            </a:avLst>
          </a:prstGeom>
          <a:solidFill>
            <a:srgbClr val="04926A">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36号-正文宋楷" panose="00000500000000000000" pitchFamily="2" charset="-122"/>
              <a:ea typeface="字魂36号-正文宋楷" panose="00000500000000000000" pitchFamily="2" charset="-122"/>
            </a:endParaRPr>
          </a:p>
        </p:txBody>
      </p:sp>
      <p:sp>
        <p:nvSpPr>
          <p:cNvPr id="21548" name="Text Box 44"/>
          <p:cNvSpPr txBox="1">
            <a:spLocks noChangeArrowheads="1"/>
          </p:cNvSpPr>
          <p:nvPr/>
        </p:nvSpPr>
        <p:spPr bwMode="auto">
          <a:xfrm>
            <a:off x="1202126" y="757040"/>
            <a:ext cx="58610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800" b="1" dirty="0">
                <a:solidFill>
                  <a:srgbClr val="04926A"/>
                </a:solidFill>
                <a:latin typeface="微软雅黑" panose="020B0503020204020204" pitchFamily="34" charset="-122"/>
                <a:ea typeface="微软雅黑" panose="020B0503020204020204" pitchFamily="34" charset="-122"/>
              </a:rPr>
              <a:t>4.  </a:t>
            </a:r>
            <a:r>
              <a:rPr kumimoji="1" lang="zh-CN" altLang="en-US" sz="2800" b="1" dirty="0">
                <a:solidFill>
                  <a:srgbClr val="04926A"/>
                </a:solidFill>
                <a:latin typeface="微软雅黑" panose="020B0503020204020204" pitchFamily="34" charset="-122"/>
                <a:ea typeface="微软雅黑" panose="020B0503020204020204" pitchFamily="34" charset="-122"/>
              </a:rPr>
              <a:t>向量积的坐标表示式</a:t>
            </a:r>
          </a:p>
        </p:txBody>
      </p:sp>
      <p:sp>
        <p:nvSpPr>
          <p:cNvPr id="21549" name="Text Box 45"/>
          <p:cNvSpPr txBox="1">
            <a:spLocks noChangeArrowheads="1"/>
          </p:cNvSpPr>
          <p:nvPr/>
        </p:nvSpPr>
        <p:spPr bwMode="auto">
          <a:xfrm>
            <a:off x="1564005" y="1777542"/>
            <a:ext cx="6794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dirty="0"/>
              <a:t>设</a:t>
            </a:r>
          </a:p>
        </p:txBody>
      </p:sp>
      <mc:AlternateContent xmlns:mc="http://schemas.openxmlformats.org/markup-compatibility/2006" xmlns:a14="http://schemas.microsoft.com/office/drawing/2010/main">
        <mc:Choice Requires="a14">
          <p:sp>
            <p:nvSpPr>
              <p:cNvPr id="21550" name="Object 46"/>
              <p:cNvSpPr txBox="1">
                <a:spLocks noGrp="1"/>
              </p:cNvSpPr>
              <p:nvPr>
                <p:ph/>
              </p:nvPr>
            </p:nvSpPr>
            <p:spPr bwMode="auto">
              <a:xfrm>
                <a:off x="1975168" y="1816998"/>
                <a:ext cx="6728119" cy="550356"/>
              </a:xfrm>
              <a:prstGeom prst="rect">
                <a:avLst/>
              </a:prstGeom>
              <a:noFill/>
              <a:ln>
                <a:noFill/>
              </a:ln>
              <a:effectLst/>
            </p:spPr>
            <p:txBody>
              <a:bodyPr>
                <a:noAutofit/>
              </a:bodyPr>
              <a:lstStyle/>
              <a:p>
                <a:pPr>
                  <a:buNone/>
                </a:pPr>
                <a14:m>
                  <m:oMathPara xmlns:m="http://schemas.openxmlformats.org/officeDocument/2006/math">
                    <m:oMathParaPr>
                      <m:jc m:val="left"/>
                    </m:oMathParaPr>
                    <m:oMath xmlns:m="http://schemas.openxmlformats.org/officeDocument/2006/math">
                      <m:r>
                        <a:rPr lang="zh-CN" altLang="en-US" b="1" i="1">
                          <a:latin typeface="Cambria Math" panose="02040503050406030204" pitchFamily="18" charset="0"/>
                        </a:rPr>
                        <m:t>𝒂</m:t>
                      </m:r>
                      <m:r>
                        <a:rPr lang="zh-CN" altLang="en-US" b="0" i="1">
                          <a:latin typeface="Cambria Math" panose="02040503050406030204" pitchFamily="18" charset="0"/>
                        </a:rPr>
                        <m:t>=</m:t>
                      </m:r>
                      <m:sSub>
                        <m:sSubPr>
                          <m:ctrlPr>
                            <a:rPr lang="zh-CN" altLang="en-US" b="0" i="1">
                              <a:latin typeface="Cambria Math" panose="02040503050406030204" pitchFamily="18" charset="0"/>
                            </a:rPr>
                          </m:ctrlPr>
                        </m:sSubPr>
                        <m:e>
                          <m:r>
                            <a:rPr lang="zh-CN" altLang="en-US" b="0" i="1">
                              <a:latin typeface="Cambria Math" panose="02040503050406030204" pitchFamily="18" charset="0"/>
                            </a:rPr>
                            <m:t>𝑎</m:t>
                          </m:r>
                        </m:e>
                        <m:sub>
                          <m:r>
                            <a:rPr lang="zh-CN" altLang="en-US" b="0" i="1">
                              <a:latin typeface="Cambria Math" panose="02040503050406030204" pitchFamily="18" charset="0"/>
                            </a:rPr>
                            <m:t>𝑥</m:t>
                          </m:r>
                        </m:sub>
                      </m:sSub>
                      <m:r>
                        <a:rPr lang="zh-CN" altLang="en-US" b="1" i="1">
                          <a:latin typeface="Cambria Math" panose="02040503050406030204" pitchFamily="18" charset="0"/>
                        </a:rPr>
                        <m:t>𝒊</m:t>
                      </m:r>
                      <m:r>
                        <a:rPr lang="zh-CN" altLang="en-US" b="0" i="1">
                          <a:latin typeface="Cambria Math" panose="02040503050406030204" pitchFamily="18" charset="0"/>
                        </a:rPr>
                        <m:t>+</m:t>
                      </m:r>
                      <m:sSub>
                        <m:sSubPr>
                          <m:ctrlPr>
                            <a:rPr lang="zh-CN" altLang="en-US" b="0" i="1">
                              <a:latin typeface="Cambria Math" panose="02040503050406030204" pitchFamily="18" charset="0"/>
                            </a:rPr>
                          </m:ctrlPr>
                        </m:sSubPr>
                        <m:e>
                          <m:r>
                            <a:rPr lang="zh-CN" altLang="en-US" b="0" i="1">
                              <a:latin typeface="Cambria Math" panose="02040503050406030204" pitchFamily="18" charset="0"/>
                            </a:rPr>
                            <m:t>𝑎</m:t>
                          </m:r>
                        </m:e>
                        <m:sub>
                          <m:r>
                            <a:rPr lang="zh-CN" altLang="en-US" b="0" i="1">
                              <a:latin typeface="Cambria Math" panose="02040503050406030204" pitchFamily="18" charset="0"/>
                            </a:rPr>
                            <m:t>𝑦</m:t>
                          </m:r>
                        </m:sub>
                      </m:sSub>
                      <m:r>
                        <a:rPr lang="zh-CN" altLang="en-US" b="1" i="1">
                          <a:latin typeface="Cambria Math" panose="02040503050406030204" pitchFamily="18" charset="0"/>
                        </a:rPr>
                        <m:t>𝒋</m:t>
                      </m:r>
                      <m:r>
                        <a:rPr lang="zh-CN" altLang="en-US" b="0" i="1">
                          <a:latin typeface="Cambria Math" panose="02040503050406030204" pitchFamily="18" charset="0"/>
                        </a:rPr>
                        <m:t>+</m:t>
                      </m:r>
                      <m:sSub>
                        <m:sSubPr>
                          <m:ctrlPr>
                            <a:rPr lang="zh-CN" altLang="en-US" b="0" i="1">
                              <a:latin typeface="Cambria Math" panose="02040503050406030204" pitchFamily="18" charset="0"/>
                            </a:rPr>
                          </m:ctrlPr>
                        </m:sSubPr>
                        <m:e>
                          <m:r>
                            <a:rPr lang="zh-CN" altLang="en-US" b="0" i="1">
                              <a:latin typeface="Cambria Math" panose="02040503050406030204" pitchFamily="18" charset="0"/>
                            </a:rPr>
                            <m:t>𝑎</m:t>
                          </m:r>
                        </m:e>
                        <m:sub>
                          <m:r>
                            <a:rPr lang="zh-CN" altLang="en-US" b="0" i="1">
                              <a:latin typeface="Cambria Math" panose="02040503050406030204" pitchFamily="18" charset="0"/>
                            </a:rPr>
                            <m:t>𝑧</m:t>
                          </m:r>
                        </m:sub>
                      </m:sSub>
                      <m:r>
                        <a:rPr lang="zh-CN" altLang="en-US" b="1" i="1">
                          <a:latin typeface="Cambria Math" panose="02040503050406030204" pitchFamily="18" charset="0"/>
                        </a:rPr>
                        <m:t>𝒌</m:t>
                      </m:r>
                      <m:r>
                        <a:rPr lang="zh-CN" altLang="en-US" b="0" i="1">
                          <a:latin typeface="Cambria Math" panose="02040503050406030204" pitchFamily="18" charset="0"/>
                        </a:rPr>
                        <m:t>, </m:t>
                      </m:r>
                      <m:r>
                        <a:rPr lang="zh-CN" altLang="en-US" b="1" i="1">
                          <a:latin typeface="Cambria Math" panose="02040503050406030204" pitchFamily="18" charset="0"/>
                        </a:rPr>
                        <m:t>𝒃</m:t>
                      </m:r>
                      <m:r>
                        <a:rPr lang="zh-CN" altLang="en-US" b="0" i="1">
                          <a:latin typeface="Cambria Math" panose="02040503050406030204" pitchFamily="18" charset="0"/>
                        </a:rPr>
                        <m:t>=</m:t>
                      </m:r>
                      <m:sSub>
                        <m:sSubPr>
                          <m:ctrlPr>
                            <a:rPr lang="zh-CN" altLang="en-US" b="0" i="1">
                              <a:latin typeface="Cambria Math" panose="02040503050406030204" pitchFamily="18" charset="0"/>
                            </a:rPr>
                          </m:ctrlPr>
                        </m:sSubPr>
                        <m:e>
                          <m:r>
                            <a:rPr lang="zh-CN" altLang="en-US" b="0" i="1">
                              <a:latin typeface="Cambria Math" panose="02040503050406030204" pitchFamily="18" charset="0"/>
                            </a:rPr>
                            <m:t>𝑏</m:t>
                          </m:r>
                        </m:e>
                        <m:sub>
                          <m:r>
                            <a:rPr lang="zh-CN" altLang="en-US" b="0" i="1">
                              <a:latin typeface="Cambria Math" panose="02040503050406030204" pitchFamily="18" charset="0"/>
                            </a:rPr>
                            <m:t>𝑥</m:t>
                          </m:r>
                        </m:sub>
                      </m:sSub>
                      <m:r>
                        <a:rPr lang="zh-CN" altLang="en-US" b="1" i="1">
                          <a:latin typeface="Cambria Math" panose="02040503050406030204" pitchFamily="18" charset="0"/>
                        </a:rPr>
                        <m:t>𝒊</m:t>
                      </m:r>
                      <m:r>
                        <a:rPr lang="zh-CN" altLang="en-US" b="0" i="1">
                          <a:latin typeface="Cambria Math" panose="02040503050406030204" pitchFamily="18" charset="0"/>
                        </a:rPr>
                        <m:t>+</m:t>
                      </m:r>
                      <m:sSub>
                        <m:sSubPr>
                          <m:ctrlPr>
                            <a:rPr lang="zh-CN" altLang="en-US" b="0" i="1">
                              <a:latin typeface="Cambria Math" panose="02040503050406030204" pitchFamily="18" charset="0"/>
                            </a:rPr>
                          </m:ctrlPr>
                        </m:sSubPr>
                        <m:e>
                          <m:r>
                            <a:rPr lang="zh-CN" altLang="en-US" b="0" i="1">
                              <a:latin typeface="Cambria Math" panose="02040503050406030204" pitchFamily="18" charset="0"/>
                            </a:rPr>
                            <m:t>𝑏</m:t>
                          </m:r>
                        </m:e>
                        <m:sub>
                          <m:r>
                            <a:rPr lang="zh-CN" altLang="en-US" b="0" i="1">
                              <a:latin typeface="Cambria Math" panose="02040503050406030204" pitchFamily="18" charset="0"/>
                            </a:rPr>
                            <m:t>𝑦</m:t>
                          </m:r>
                        </m:sub>
                      </m:sSub>
                      <m:r>
                        <a:rPr lang="zh-CN" altLang="en-US" b="1" i="1">
                          <a:latin typeface="Cambria Math" panose="02040503050406030204" pitchFamily="18" charset="0"/>
                        </a:rPr>
                        <m:t>𝒋</m:t>
                      </m:r>
                      <m:r>
                        <a:rPr lang="zh-CN" altLang="en-US" b="0" i="1">
                          <a:latin typeface="Cambria Math" panose="02040503050406030204" pitchFamily="18" charset="0"/>
                        </a:rPr>
                        <m:t>+</m:t>
                      </m:r>
                      <m:sSub>
                        <m:sSubPr>
                          <m:ctrlPr>
                            <a:rPr lang="zh-CN" altLang="en-US" b="0" i="1">
                              <a:latin typeface="Cambria Math" panose="02040503050406030204" pitchFamily="18" charset="0"/>
                            </a:rPr>
                          </m:ctrlPr>
                        </m:sSubPr>
                        <m:e>
                          <m:r>
                            <a:rPr lang="zh-CN" altLang="en-US" b="0" i="1">
                              <a:latin typeface="Cambria Math" panose="02040503050406030204" pitchFamily="18" charset="0"/>
                            </a:rPr>
                            <m:t>𝑏</m:t>
                          </m:r>
                        </m:e>
                        <m:sub>
                          <m:r>
                            <a:rPr lang="zh-CN" altLang="en-US" b="0" i="1">
                              <a:latin typeface="Cambria Math" panose="02040503050406030204" pitchFamily="18" charset="0"/>
                            </a:rPr>
                            <m:t>𝑧</m:t>
                          </m:r>
                        </m:sub>
                      </m:sSub>
                      <m:r>
                        <a:rPr lang="zh-CN" altLang="en-US" b="1" i="1">
                          <a:latin typeface="Cambria Math" panose="02040503050406030204" pitchFamily="18" charset="0"/>
                        </a:rPr>
                        <m:t>𝒌</m:t>
                      </m:r>
                      <m:r>
                        <a:rPr lang="zh-CN" altLang="en-US" b="0" i="1">
                          <a:latin typeface="Cambria Math" panose="02040503050406030204" pitchFamily="18" charset="0"/>
                        </a:rPr>
                        <m:t>,</m:t>
                      </m:r>
                    </m:oMath>
                  </m:oMathPara>
                </a14:m>
                <a:endParaRPr lang="zh-CN" altLang="en-US" b="0" i="1" dirty="0"/>
              </a:p>
            </p:txBody>
          </p:sp>
        </mc:Choice>
        <mc:Fallback xmlns="">
          <p:sp>
            <p:nvSpPr>
              <p:cNvPr id="21550" name="Object 46"/>
              <p:cNvSpPr txBox="1">
                <a:spLocks noGrp="1" noRot="1" noChangeAspect="1" noMove="1" noResize="1" noEditPoints="1" noAdjustHandles="1" noChangeArrowheads="1" noChangeShapeType="1" noTextEdit="1"/>
              </p:cNvSpPr>
              <p:nvPr>
                <p:ph/>
              </p:nvPr>
            </p:nvSpPr>
            <p:spPr bwMode="auto">
              <a:xfrm>
                <a:off x="1975168" y="1816998"/>
                <a:ext cx="6728119" cy="550356"/>
              </a:xfrm>
              <a:prstGeom prst="rect">
                <a:avLst/>
              </a:prstGeom>
              <a:blipFill>
                <a:blip r:embed="rId2"/>
                <a:stretch>
                  <a:fillRect b="-7778"/>
                </a:stretch>
              </a:blipFill>
              <a:ln>
                <a:noFill/>
              </a:ln>
              <a:effectLst/>
            </p:spPr>
            <p:txBody>
              <a:bodyPr/>
              <a:lstStyle/>
              <a:p>
                <a:r>
                  <a:rPr lang="zh-CN" altLang="en-US">
                    <a:noFill/>
                  </a:rPr>
                  <a:t> </a:t>
                </a:r>
              </a:p>
            </p:txBody>
          </p:sp>
        </mc:Fallback>
      </mc:AlternateContent>
      <p:sp>
        <p:nvSpPr>
          <p:cNvPr id="21551" name="Text Box 47"/>
          <p:cNvSpPr txBox="1">
            <a:spLocks noChangeArrowheads="1"/>
          </p:cNvSpPr>
          <p:nvPr/>
        </p:nvSpPr>
        <p:spPr bwMode="auto">
          <a:xfrm>
            <a:off x="8525657" y="1790451"/>
            <a:ext cx="762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dirty="0"/>
              <a:t>则</a:t>
            </a:r>
          </a:p>
        </p:txBody>
      </p:sp>
      <mc:AlternateContent xmlns:mc="http://schemas.openxmlformats.org/markup-compatibility/2006" xmlns:a14="http://schemas.microsoft.com/office/drawing/2010/main">
        <mc:Choice Requires="a14">
          <p:sp>
            <p:nvSpPr>
              <p:cNvPr id="21552" name="Object 48"/>
              <p:cNvSpPr txBox="1"/>
              <p:nvPr/>
            </p:nvSpPr>
            <p:spPr bwMode="auto">
              <a:xfrm>
                <a:off x="1937137" y="2449015"/>
                <a:ext cx="7945820" cy="61912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b="1" i="1">
                          <a:latin typeface="Cambria Math" panose="02040503050406030204" pitchFamily="18" charset="0"/>
                        </a:rPr>
                        <m:t>𝒂</m:t>
                      </m:r>
                      <m:r>
                        <a:rPr lang="zh-CN" altLang="en-US" sz="2800" b="0" i="1">
                          <a:latin typeface="Cambria Math" panose="02040503050406030204" pitchFamily="18" charset="0"/>
                        </a:rPr>
                        <m:t>×</m:t>
                      </m:r>
                      <m:r>
                        <a:rPr lang="zh-CN" altLang="en-US" sz="2800" b="1" i="1">
                          <a:latin typeface="Cambria Math" panose="02040503050406030204" pitchFamily="18" charset="0"/>
                        </a:rPr>
                        <m:t>𝒃</m:t>
                      </m:r>
                      <m:r>
                        <a:rPr lang="zh-CN" altLang="en-US" sz="2800" b="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𝑥</m:t>
                          </m:r>
                        </m:sub>
                      </m:sSub>
                      <m:r>
                        <a:rPr lang="zh-CN" altLang="en-US" sz="2800" b="1" i="1">
                          <a:latin typeface="Cambria Math" panose="02040503050406030204" pitchFamily="18" charset="0"/>
                        </a:rPr>
                        <m:t>𝒊</m:t>
                      </m:r>
                      <m:r>
                        <a:rPr lang="zh-CN" altLang="en-US" sz="2800" b="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𝑦</m:t>
                          </m:r>
                        </m:sub>
                      </m:sSub>
                      <m:r>
                        <a:rPr lang="zh-CN" altLang="en-US" sz="2800" b="1" i="1">
                          <a:latin typeface="Cambria Math" panose="02040503050406030204" pitchFamily="18" charset="0"/>
                        </a:rPr>
                        <m:t>𝒋</m:t>
                      </m:r>
                      <m:r>
                        <a:rPr lang="zh-CN" altLang="en-US" sz="2800" b="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𝑧</m:t>
                          </m:r>
                        </m:sub>
                      </m:sSub>
                      <m:r>
                        <a:rPr lang="zh-CN" altLang="en-US" sz="2800" b="1" i="1">
                          <a:latin typeface="Cambria Math" panose="02040503050406030204" pitchFamily="18" charset="0"/>
                        </a:rPr>
                        <m:t>𝒌</m:t>
                      </m:r>
                      <m:r>
                        <a:rPr lang="zh-CN" altLang="en-US" sz="2800" b="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𝑥</m:t>
                          </m:r>
                        </m:sub>
                      </m:sSub>
                      <m:r>
                        <a:rPr lang="zh-CN" altLang="en-US" sz="2800" b="1" i="1">
                          <a:latin typeface="Cambria Math" panose="02040503050406030204" pitchFamily="18" charset="0"/>
                        </a:rPr>
                        <m:t>𝒊</m:t>
                      </m:r>
                      <m:r>
                        <a:rPr lang="zh-CN" altLang="en-US" sz="2800" b="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𝑦</m:t>
                          </m:r>
                        </m:sub>
                      </m:sSub>
                      <m:r>
                        <a:rPr lang="zh-CN" altLang="en-US" sz="2800" b="1" i="1">
                          <a:latin typeface="Cambria Math" panose="02040503050406030204" pitchFamily="18" charset="0"/>
                        </a:rPr>
                        <m:t>𝒋</m:t>
                      </m:r>
                      <m:r>
                        <a:rPr lang="zh-CN" altLang="en-US" sz="2800" b="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𝑧</m:t>
                          </m:r>
                        </m:sub>
                      </m:sSub>
                      <m:r>
                        <a:rPr lang="zh-CN" altLang="en-US" sz="2800" b="1" i="1">
                          <a:latin typeface="Cambria Math" panose="02040503050406030204" pitchFamily="18" charset="0"/>
                        </a:rPr>
                        <m:t>𝒌</m:t>
                      </m:r>
                      <m:r>
                        <a:rPr lang="zh-CN" altLang="en-US" sz="2800" b="0" i="1">
                          <a:latin typeface="Cambria Math" panose="02040503050406030204" pitchFamily="18" charset="0"/>
                        </a:rPr>
                        <m:t>)</m:t>
                      </m:r>
                    </m:oMath>
                  </m:oMathPara>
                </a14:m>
                <a:endParaRPr lang="zh-CN" altLang="en-US" sz="2800" i="1" dirty="0"/>
              </a:p>
            </p:txBody>
          </p:sp>
        </mc:Choice>
        <mc:Fallback xmlns="">
          <p:sp>
            <p:nvSpPr>
              <p:cNvPr id="21552" name="Object 48"/>
              <p:cNvSpPr txBox="1">
                <a:spLocks noRot="1" noChangeAspect="1" noMove="1" noResize="1" noEditPoints="1" noAdjustHandles="1" noChangeArrowheads="1" noChangeShapeType="1" noTextEdit="1"/>
              </p:cNvSpPr>
              <p:nvPr/>
            </p:nvSpPr>
            <p:spPr bwMode="auto">
              <a:xfrm>
                <a:off x="1937137" y="2449015"/>
                <a:ext cx="7945820" cy="619125"/>
              </a:xfrm>
              <a:prstGeom prst="rect">
                <a:avLst/>
              </a:prstGeom>
              <a:blipFill>
                <a:blip r:embed="rId3"/>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553" name="Object 49"/>
              <p:cNvSpPr txBox="1"/>
              <p:nvPr/>
            </p:nvSpPr>
            <p:spPr bwMode="auto">
              <a:xfrm>
                <a:off x="1937137" y="2985753"/>
                <a:ext cx="6337811" cy="1889125"/>
              </a:xfrm>
              <a:prstGeom prst="rect">
                <a:avLst/>
              </a:prstGeom>
              <a:noFill/>
              <a:ln>
                <a:noFill/>
              </a:ln>
              <a:effectLst/>
            </p:spPr>
            <p:txBody>
              <a:bodyPr>
                <a:noAutofit/>
              </a:bodyPr>
              <a:lstStyle/>
              <a:p>
                <a:pPr>
                  <a:lnSpc>
                    <a:spcPct val="130000"/>
                  </a:lnSpc>
                </a:pPr>
                <a14:m>
                  <m:oMath xmlns:m="http://schemas.openxmlformats.org/officeDocument/2006/math">
                    <m:r>
                      <a:rPr lang="zh-CN" altLang="en-US" sz="2800" b="0" i="1" smtClean="0">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𝑥</m:t>
                        </m:r>
                      </m:sub>
                    </m:sSub>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𝑥</m:t>
                        </m:r>
                      </m:sub>
                    </m:sSub>
                    <m:r>
                      <a:rPr lang="zh-CN" altLang="en-US" sz="2800" b="1" i="1">
                        <a:latin typeface="Cambria Math" panose="02040503050406030204" pitchFamily="18" charset="0"/>
                      </a:rPr>
                      <m:t>𝒊</m:t>
                    </m:r>
                    <m:r>
                      <a:rPr lang="zh-CN" altLang="en-US" sz="2800" b="0" i="1">
                        <a:latin typeface="Cambria Math" panose="02040503050406030204" pitchFamily="18" charset="0"/>
                      </a:rPr>
                      <m:t>×</m:t>
                    </m:r>
                    <m:r>
                      <a:rPr lang="zh-CN" altLang="en-US" sz="2800" b="1" i="1">
                        <a:latin typeface="Cambria Math" panose="02040503050406030204" pitchFamily="18" charset="0"/>
                      </a:rPr>
                      <m:t>𝒊</m:t>
                    </m:r>
                    <m:r>
                      <a:rPr lang="zh-CN" altLang="en-US" sz="2800" b="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𝑥</m:t>
                        </m:r>
                      </m:sub>
                    </m:sSub>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𝑦</m:t>
                        </m:r>
                      </m:sub>
                    </m:sSub>
                    <m:r>
                      <a:rPr lang="zh-CN" altLang="en-US" sz="2800" b="1" i="1">
                        <a:latin typeface="Cambria Math" panose="02040503050406030204" pitchFamily="18" charset="0"/>
                      </a:rPr>
                      <m:t>𝒊</m:t>
                    </m:r>
                    <m:r>
                      <a:rPr lang="zh-CN" altLang="en-US" sz="2800" b="0" i="1">
                        <a:latin typeface="Cambria Math" panose="02040503050406030204" pitchFamily="18" charset="0"/>
                      </a:rPr>
                      <m:t>×</m:t>
                    </m:r>
                    <m:r>
                      <a:rPr lang="zh-CN" altLang="en-US" sz="2800" b="1" i="1">
                        <a:latin typeface="Cambria Math" panose="02040503050406030204" pitchFamily="18" charset="0"/>
                      </a:rPr>
                      <m:t>𝒋</m:t>
                    </m:r>
                    <m:r>
                      <a:rPr lang="zh-CN" altLang="en-US" sz="2800" b="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𝑥</m:t>
                        </m:r>
                      </m:sub>
                    </m:sSub>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𝑧</m:t>
                        </m:r>
                      </m:sub>
                    </m:sSub>
                    <m:r>
                      <a:rPr lang="zh-CN" altLang="en-US" sz="2800" b="1" i="1">
                        <a:latin typeface="Cambria Math" panose="02040503050406030204" pitchFamily="18" charset="0"/>
                      </a:rPr>
                      <m:t>𝒊</m:t>
                    </m:r>
                    <m:r>
                      <a:rPr lang="zh-CN" altLang="en-US" sz="2800" b="0" i="1">
                        <a:latin typeface="Cambria Math" panose="02040503050406030204" pitchFamily="18" charset="0"/>
                      </a:rPr>
                      <m:t>×</m:t>
                    </m:r>
                    <m:r>
                      <a:rPr lang="zh-CN" altLang="en-US" sz="2800" b="1" i="1">
                        <a:latin typeface="Cambria Math" panose="02040503050406030204" pitchFamily="18" charset="0"/>
                      </a:rPr>
                      <m:t>𝒌</m:t>
                    </m:r>
                  </m:oMath>
                </a14:m>
                <a:r>
                  <a:rPr lang="en-US" altLang="zh-CN" sz="2800" b="0" dirty="0">
                    <a:latin typeface="Cambria Math" panose="02040503050406030204" pitchFamily="18" charset="0"/>
                  </a:rPr>
                  <a:t>+</a:t>
                </a:r>
                <a:br>
                  <a:rPr lang="zh-CN" altLang="en-US" sz="2800" b="0" i="1" dirty="0">
                    <a:latin typeface="Cambria Math" panose="02040503050406030204" pitchFamily="18" charset="0"/>
                  </a:rPr>
                </a:br>
                <a14:m>
                  <m:oMath xmlns:m="http://schemas.openxmlformats.org/officeDocument/2006/math">
                    <m:r>
                      <a:rPr lang="zh-CN" altLang="en-US" sz="2800" i="1">
                        <a:latin typeface="Cambria Math" panose="02040503050406030204" pitchFamily="18" charset="0"/>
                      </a:rPr>
                      <m:t> </m:t>
                    </m:r>
                    <m:r>
                      <a:rPr lang="en-US" altLang="zh-CN" sz="2800" b="0" i="1" smtClean="0">
                        <a:latin typeface="Cambria Math" panose="02040503050406030204" pitchFamily="18" charset="0"/>
                      </a:rPr>
                      <m:t>    </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𝑦</m:t>
                        </m:r>
                      </m:sub>
                    </m:sSub>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𝑥</m:t>
                        </m:r>
                      </m:sub>
                    </m:sSub>
                    <m:r>
                      <a:rPr lang="zh-CN" altLang="en-US" sz="2800" b="1" i="1">
                        <a:latin typeface="Cambria Math" panose="02040503050406030204" pitchFamily="18" charset="0"/>
                      </a:rPr>
                      <m:t>𝒋</m:t>
                    </m:r>
                    <m:r>
                      <a:rPr lang="zh-CN" altLang="en-US" sz="2800" b="0" i="1">
                        <a:latin typeface="Cambria Math" panose="02040503050406030204" pitchFamily="18" charset="0"/>
                      </a:rPr>
                      <m:t>×</m:t>
                    </m:r>
                    <m:r>
                      <a:rPr lang="zh-CN" altLang="en-US" sz="2800" b="1" i="1">
                        <a:latin typeface="Cambria Math" panose="02040503050406030204" pitchFamily="18" charset="0"/>
                      </a:rPr>
                      <m:t>𝒊</m:t>
                    </m:r>
                    <m:r>
                      <a:rPr lang="zh-CN" altLang="en-US" sz="2800" b="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𝑦</m:t>
                        </m:r>
                      </m:sub>
                    </m:sSub>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𝑦</m:t>
                        </m:r>
                      </m:sub>
                    </m:sSub>
                    <m:r>
                      <a:rPr lang="zh-CN" altLang="en-US" sz="2800" b="1" i="1">
                        <a:latin typeface="Cambria Math" panose="02040503050406030204" pitchFamily="18" charset="0"/>
                      </a:rPr>
                      <m:t>𝒋</m:t>
                    </m:r>
                    <m:r>
                      <a:rPr lang="zh-CN" altLang="en-US" sz="2800" b="0" i="1">
                        <a:latin typeface="Cambria Math" panose="02040503050406030204" pitchFamily="18" charset="0"/>
                      </a:rPr>
                      <m:t>×</m:t>
                    </m:r>
                    <m:r>
                      <a:rPr lang="zh-CN" altLang="en-US" sz="2800" b="1" i="1">
                        <a:latin typeface="Cambria Math" panose="02040503050406030204" pitchFamily="18" charset="0"/>
                      </a:rPr>
                      <m:t>𝒋</m:t>
                    </m:r>
                    <m:r>
                      <a:rPr lang="zh-CN" altLang="en-US" sz="2800" b="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𝑦</m:t>
                        </m:r>
                      </m:sub>
                    </m:sSub>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𝑧</m:t>
                        </m:r>
                      </m:sub>
                    </m:sSub>
                    <m:r>
                      <a:rPr lang="zh-CN" altLang="en-US" sz="2800" b="1" i="1">
                        <a:latin typeface="Cambria Math" panose="02040503050406030204" pitchFamily="18" charset="0"/>
                      </a:rPr>
                      <m:t>𝒋</m:t>
                    </m:r>
                    <m:r>
                      <a:rPr lang="zh-CN" altLang="en-US" sz="2800" b="0" i="1">
                        <a:latin typeface="Cambria Math" panose="02040503050406030204" pitchFamily="18" charset="0"/>
                      </a:rPr>
                      <m:t>×</m:t>
                    </m:r>
                    <m:r>
                      <a:rPr lang="zh-CN" altLang="en-US" sz="2800" b="1" i="1">
                        <a:latin typeface="Cambria Math" panose="02040503050406030204" pitchFamily="18" charset="0"/>
                      </a:rPr>
                      <m:t>𝒌</m:t>
                    </m:r>
                  </m:oMath>
                </a14:m>
                <a:r>
                  <a:rPr lang="en-US" altLang="zh-CN" sz="2800" b="0" dirty="0">
                    <a:latin typeface="Cambria Math" panose="02040503050406030204" pitchFamily="18" charset="0"/>
                  </a:rPr>
                  <a:t>+</a:t>
                </a:r>
                <a:br>
                  <a:rPr lang="zh-CN" altLang="en-US" sz="2800" b="0" i="1" dirty="0">
                    <a:latin typeface="Cambria Math" panose="02040503050406030204" pitchFamily="18" charset="0"/>
                  </a:rPr>
                </a:br>
                <a14:m>
                  <m:oMathPara xmlns:m="http://schemas.openxmlformats.org/officeDocument/2006/math">
                    <m:oMathParaPr>
                      <m:jc m:val="left"/>
                    </m:oMathParaPr>
                    <m:oMath xmlns:m="http://schemas.openxmlformats.org/officeDocument/2006/math">
                      <m:r>
                        <a:rPr lang="zh-CN" altLang="en-US" sz="2800" i="1">
                          <a:latin typeface="Cambria Math" panose="02040503050406030204" pitchFamily="18" charset="0"/>
                        </a:rPr>
                        <m:t> </m:t>
                      </m:r>
                      <m:r>
                        <a:rPr lang="en-US" altLang="zh-CN" sz="2800" b="0" i="1" smtClean="0">
                          <a:latin typeface="Cambria Math" panose="02040503050406030204" pitchFamily="18" charset="0"/>
                        </a:rPr>
                        <m:t>    </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𝑧</m:t>
                          </m:r>
                        </m:sub>
                      </m:sSub>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𝑥</m:t>
                          </m:r>
                        </m:sub>
                      </m:sSub>
                      <m:r>
                        <a:rPr lang="zh-CN" altLang="en-US" sz="2800" b="1" i="1">
                          <a:latin typeface="Cambria Math" panose="02040503050406030204" pitchFamily="18" charset="0"/>
                        </a:rPr>
                        <m:t>𝒌</m:t>
                      </m:r>
                      <m:r>
                        <a:rPr lang="zh-CN" altLang="en-US" sz="2800" b="0" i="1">
                          <a:latin typeface="Cambria Math" panose="02040503050406030204" pitchFamily="18" charset="0"/>
                        </a:rPr>
                        <m:t>×</m:t>
                      </m:r>
                      <m:r>
                        <a:rPr lang="zh-CN" altLang="en-US" sz="2800" b="1" i="1">
                          <a:latin typeface="Cambria Math" panose="02040503050406030204" pitchFamily="18" charset="0"/>
                        </a:rPr>
                        <m:t>𝒊</m:t>
                      </m:r>
                      <m:r>
                        <a:rPr lang="zh-CN" altLang="en-US" sz="2800" b="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𝑧</m:t>
                          </m:r>
                        </m:sub>
                      </m:sSub>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𝑦</m:t>
                          </m:r>
                        </m:sub>
                      </m:sSub>
                      <m:r>
                        <a:rPr lang="zh-CN" altLang="en-US" sz="2800" b="1" i="1">
                          <a:latin typeface="Cambria Math" panose="02040503050406030204" pitchFamily="18" charset="0"/>
                        </a:rPr>
                        <m:t>𝒌</m:t>
                      </m:r>
                      <m:r>
                        <a:rPr lang="zh-CN" altLang="en-US" sz="2800" b="0" i="1">
                          <a:latin typeface="Cambria Math" panose="02040503050406030204" pitchFamily="18" charset="0"/>
                        </a:rPr>
                        <m:t>×</m:t>
                      </m:r>
                      <m:r>
                        <a:rPr lang="zh-CN" altLang="en-US" sz="2800" b="1" i="1">
                          <a:latin typeface="Cambria Math" panose="02040503050406030204" pitchFamily="18" charset="0"/>
                        </a:rPr>
                        <m:t>𝒋</m:t>
                      </m:r>
                      <m:r>
                        <a:rPr lang="zh-CN" altLang="en-US" sz="2800" b="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𝑧</m:t>
                          </m:r>
                        </m:sub>
                      </m:sSub>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𝑧</m:t>
                          </m:r>
                        </m:sub>
                      </m:sSub>
                      <m:r>
                        <a:rPr lang="zh-CN" altLang="en-US" sz="2800" b="1" i="1">
                          <a:latin typeface="Cambria Math" panose="02040503050406030204" pitchFamily="18" charset="0"/>
                        </a:rPr>
                        <m:t>𝒌</m:t>
                      </m:r>
                      <m:r>
                        <a:rPr lang="zh-CN" altLang="en-US" sz="2800" b="0" i="1">
                          <a:latin typeface="Cambria Math" panose="02040503050406030204" pitchFamily="18" charset="0"/>
                        </a:rPr>
                        <m:t>×</m:t>
                      </m:r>
                      <m:r>
                        <a:rPr lang="zh-CN" altLang="en-US" sz="2800" b="1" i="1">
                          <a:latin typeface="Cambria Math" panose="02040503050406030204" pitchFamily="18" charset="0"/>
                        </a:rPr>
                        <m:t>𝒌</m:t>
                      </m:r>
                    </m:oMath>
                  </m:oMathPara>
                </a14:m>
                <a:endParaRPr lang="zh-CN" altLang="en-US" sz="2800" b="1" i="1" dirty="0"/>
              </a:p>
            </p:txBody>
          </p:sp>
        </mc:Choice>
        <mc:Fallback xmlns="">
          <p:sp>
            <p:nvSpPr>
              <p:cNvPr id="21553" name="Object 49"/>
              <p:cNvSpPr txBox="1">
                <a:spLocks noRot="1" noChangeAspect="1" noMove="1" noResize="1" noEditPoints="1" noAdjustHandles="1" noChangeArrowheads="1" noChangeShapeType="1" noTextEdit="1"/>
              </p:cNvSpPr>
              <p:nvPr/>
            </p:nvSpPr>
            <p:spPr bwMode="auto">
              <a:xfrm>
                <a:off x="1937137" y="2985753"/>
                <a:ext cx="6337811" cy="1889125"/>
              </a:xfrm>
              <a:prstGeom prst="rect">
                <a:avLst/>
              </a:prstGeom>
              <a:blipFill>
                <a:blip r:embed="rId4"/>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555" name="Object 51"/>
              <p:cNvSpPr txBox="1"/>
              <p:nvPr/>
            </p:nvSpPr>
            <p:spPr bwMode="auto">
              <a:xfrm>
                <a:off x="1937137" y="4900278"/>
                <a:ext cx="3008243" cy="61436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b="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𝑦</m:t>
                          </m:r>
                        </m:sub>
                      </m:sSub>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𝑧</m:t>
                          </m:r>
                        </m:sub>
                      </m:sSub>
                      <m:r>
                        <a:rPr lang="zh-CN" altLang="en-US" sz="2800" b="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𝑧</m:t>
                          </m:r>
                        </m:sub>
                      </m:sSub>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𝑦</m:t>
                          </m:r>
                        </m:sub>
                      </m:sSub>
                      <m:r>
                        <a:rPr lang="zh-CN" altLang="en-US" sz="2800" b="0" i="1">
                          <a:latin typeface="Cambria Math" panose="02040503050406030204" pitchFamily="18" charset="0"/>
                        </a:rPr>
                        <m:t>)</m:t>
                      </m:r>
                      <m:r>
                        <a:rPr lang="zh-CN" altLang="en-US" sz="2800" b="1" i="1">
                          <a:latin typeface="Cambria Math" panose="02040503050406030204" pitchFamily="18" charset="0"/>
                        </a:rPr>
                        <m:t>𝒊</m:t>
                      </m:r>
                    </m:oMath>
                  </m:oMathPara>
                </a14:m>
                <a:endParaRPr lang="zh-CN" altLang="en-US" sz="2800" b="1" i="1" dirty="0"/>
              </a:p>
            </p:txBody>
          </p:sp>
        </mc:Choice>
        <mc:Fallback xmlns="">
          <p:sp>
            <p:nvSpPr>
              <p:cNvPr id="21555" name="Object 51"/>
              <p:cNvSpPr txBox="1">
                <a:spLocks noRot="1" noChangeAspect="1" noMove="1" noResize="1" noEditPoints="1" noAdjustHandles="1" noChangeArrowheads="1" noChangeShapeType="1" noTextEdit="1"/>
              </p:cNvSpPr>
              <p:nvPr/>
            </p:nvSpPr>
            <p:spPr bwMode="auto">
              <a:xfrm>
                <a:off x="1937137" y="4900278"/>
                <a:ext cx="3008243" cy="614363"/>
              </a:xfrm>
              <a:prstGeom prst="rect">
                <a:avLst/>
              </a:prstGeom>
              <a:blipFill>
                <a:blip r:embed="rId5"/>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558" name="Object 54"/>
              <p:cNvSpPr txBox="1"/>
              <p:nvPr/>
            </p:nvSpPr>
            <p:spPr bwMode="auto">
              <a:xfrm>
                <a:off x="4646269" y="4916153"/>
                <a:ext cx="2928012" cy="582612"/>
              </a:xfrm>
              <a:prstGeom prst="rect">
                <a:avLst/>
              </a:prstGeom>
              <a:noFill/>
              <a:ln>
                <a:noFill/>
              </a:ln>
              <a:effectLst/>
            </p:spPr>
            <p:txBody>
              <a:bodyPr>
                <a:noAutofit/>
              </a:bodyPr>
              <a:lstStyle/>
              <a:p>
                <a:pPr>
                  <a:spcBef>
                    <a:spcPct val="50000"/>
                  </a:spcBef>
                </a:pPr>
                <a14:m>
                  <m:oMathPara xmlns:m="http://schemas.openxmlformats.org/officeDocument/2006/math">
                    <m:oMathParaPr>
                      <m:jc m:val="left"/>
                    </m:oMathParaPr>
                    <m:oMath xmlns:m="http://schemas.openxmlformats.org/officeDocument/2006/math">
                      <m:r>
                        <a:rPr lang="zh-CN" altLang="en-US" sz="2800" b="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𝑧</m:t>
                          </m:r>
                        </m:sub>
                      </m:sSub>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𝑥</m:t>
                          </m:r>
                        </m:sub>
                      </m:sSub>
                      <m:r>
                        <a:rPr lang="zh-CN" altLang="en-US" sz="2800" b="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𝑥</m:t>
                          </m:r>
                        </m:sub>
                      </m:sSub>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𝑧</m:t>
                          </m:r>
                        </m:sub>
                      </m:sSub>
                      <m:r>
                        <a:rPr lang="zh-CN" altLang="en-US" sz="2800" b="0" i="1">
                          <a:latin typeface="Cambria Math" panose="02040503050406030204" pitchFamily="18" charset="0"/>
                        </a:rPr>
                        <m:t>)</m:t>
                      </m:r>
                      <m:r>
                        <a:rPr lang="zh-CN" altLang="en-US" sz="2800" b="1" i="1">
                          <a:latin typeface="Cambria Math" panose="02040503050406030204" pitchFamily="18" charset="0"/>
                        </a:rPr>
                        <m:t>𝒋</m:t>
                      </m:r>
                    </m:oMath>
                  </m:oMathPara>
                </a14:m>
                <a:endParaRPr lang="zh-CN" altLang="en-US" sz="2800" b="1" i="1" dirty="0"/>
              </a:p>
            </p:txBody>
          </p:sp>
        </mc:Choice>
        <mc:Fallback xmlns="">
          <p:sp>
            <p:nvSpPr>
              <p:cNvPr id="21558" name="Object 54"/>
              <p:cNvSpPr txBox="1">
                <a:spLocks noRot="1" noChangeAspect="1" noMove="1" noResize="1" noEditPoints="1" noAdjustHandles="1" noChangeArrowheads="1" noChangeShapeType="1" noTextEdit="1"/>
              </p:cNvSpPr>
              <p:nvPr/>
            </p:nvSpPr>
            <p:spPr bwMode="auto">
              <a:xfrm>
                <a:off x="4646269" y="4916153"/>
                <a:ext cx="2928012" cy="582612"/>
              </a:xfrm>
              <a:prstGeom prst="rect">
                <a:avLst/>
              </a:prstGeom>
              <a:blipFill>
                <a:blip r:embed="rId6"/>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561" name="Object 57"/>
              <p:cNvSpPr txBox="1"/>
              <p:nvPr/>
            </p:nvSpPr>
            <p:spPr bwMode="auto">
              <a:xfrm>
                <a:off x="7219918" y="4900278"/>
                <a:ext cx="3256530" cy="614363"/>
              </a:xfrm>
              <a:prstGeom prst="rect">
                <a:avLst/>
              </a:prstGeom>
              <a:noFill/>
              <a:ln>
                <a:noFill/>
              </a:ln>
              <a:effectLst/>
            </p:spPr>
            <p:txBody>
              <a:bodyPr>
                <a:noAutofit/>
              </a:bodyPr>
              <a:lstStyle/>
              <a:p>
                <a:pPr>
                  <a:spcBef>
                    <a:spcPct val="50000"/>
                  </a:spcBef>
                </a:pPr>
                <a14:m>
                  <m:oMathPara xmlns:m="http://schemas.openxmlformats.org/officeDocument/2006/math">
                    <m:oMathParaPr>
                      <m:jc m:val="left"/>
                    </m:oMathParaPr>
                    <m:oMath xmlns:m="http://schemas.openxmlformats.org/officeDocument/2006/math">
                      <m:r>
                        <a:rPr lang="zh-CN" altLang="en-US" sz="2800" b="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𝑥</m:t>
                          </m:r>
                        </m:sub>
                      </m:sSub>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𝑦</m:t>
                          </m:r>
                        </m:sub>
                      </m:sSub>
                      <m:r>
                        <a:rPr lang="zh-CN" altLang="en-US" sz="2800" b="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𝑦</m:t>
                          </m:r>
                        </m:sub>
                      </m:sSub>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𝑥</m:t>
                          </m:r>
                        </m:sub>
                      </m:sSub>
                      <m:r>
                        <a:rPr lang="zh-CN" altLang="en-US" sz="2800" b="0" i="1">
                          <a:latin typeface="Cambria Math" panose="02040503050406030204" pitchFamily="18" charset="0"/>
                        </a:rPr>
                        <m:t>)</m:t>
                      </m:r>
                      <m:r>
                        <a:rPr lang="zh-CN" altLang="en-US" sz="2800" b="1" i="1">
                          <a:latin typeface="Cambria Math" panose="02040503050406030204" pitchFamily="18" charset="0"/>
                        </a:rPr>
                        <m:t>𝒌</m:t>
                      </m:r>
                      <m:r>
                        <a:rPr lang="zh-CN" altLang="en-US" sz="2800" b="0" i="1">
                          <a:latin typeface="Cambria Math" panose="02040503050406030204" pitchFamily="18" charset="0"/>
                        </a:rPr>
                        <m:t>.</m:t>
                      </m:r>
                    </m:oMath>
                  </m:oMathPara>
                </a14:m>
                <a:endParaRPr lang="zh-CN" altLang="en-US" sz="2800" i="1" dirty="0"/>
              </a:p>
            </p:txBody>
          </p:sp>
        </mc:Choice>
        <mc:Fallback xmlns="">
          <p:sp>
            <p:nvSpPr>
              <p:cNvPr id="21561" name="Object 57"/>
              <p:cNvSpPr txBox="1">
                <a:spLocks noRot="1" noChangeAspect="1" noMove="1" noResize="1" noEditPoints="1" noAdjustHandles="1" noChangeArrowheads="1" noChangeShapeType="1" noTextEdit="1"/>
              </p:cNvSpPr>
              <p:nvPr/>
            </p:nvSpPr>
            <p:spPr bwMode="auto">
              <a:xfrm>
                <a:off x="7219918" y="4900278"/>
                <a:ext cx="3256530" cy="614363"/>
              </a:xfrm>
              <a:prstGeom prst="rect">
                <a:avLst/>
              </a:prstGeom>
              <a:blipFill>
                <a:blip r:embed="rId7"/>
                <a:stretch>
                  <a:fillRect/>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36954783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548"/>
                                        </p:tgtEl>
                                        <p:attrNameLst>
                                          <p:attrName>style.visibility</p:attrName>
                                        </p:attrNameLst>
                                      </p:cBhvr>
                                      <p:to>
                                        <p:strVal val="visible"/>
                                      </p:to>
                                    </p:set>
                                    <p:animEffect transition="in" filter="wipe(left)">
                                      <p:cBhvr>
                                        <p:cTn id="7" dur="500"/>
                                        <p:tgtEl>
                                          <p:spTgt spid="2154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549"/>
                                        </p:tgtEl>
                                        <p:attrNameLst>
                                          <p:attrName>style.visibility</p:attrName>
                                        </p:attrNameLst>
                                      </p:cBhvr>
                                      <p:to>
                                        <p:strVal val="visible"/>
                                      </p:to>
                                    </p:set>
                                    <p:animEffect transition="in" filter="wipe(left)">
                                      <p:cBhvr>
                                        <p:cTn id="12" dur="500"/>
                                        <p:tgtEl>
                                          <p:spTgt spid="21549"/>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1550">
                                            <p:txEl>
                                              <p:pRg st="0" end="0"/>
                                            </p:txEl>
                                          </p:spTgt>
                                        </p:tgtEl>
                                        <p:attrNameLst>
                                          <p:attrName>style.visibility</p:attrName>
                                        </p:attrNameLst>
                                      </p:cBhvr>
                                      <p:to>
                                        <p:strVal val="visible"/>
                                      </p:to>
                                    </p:set>
                                    <p:animEffect transition="in" filter="wipe(left)">
                                      <p:cBhvr>
                                        <p:cTn id="20" dur="500"/>
                                        <p:tgtEl>
                                          <p:spTgt spid="21550">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1551"/>
                                        </p:tgtEl>
                                        <p:attrNameLst>
                                          <p:attrName>style.visibility</p:attrName>
                                        </p:attrNameLst>
                                      </p:cBhvr>
                                      <p:to>
                                        <p:strVal val="visible"/>
                                      </p:to>
                                    </p:set>
                                    <p:animEffect transition="in" filter="wipe(left)">
                                      <p:cBhvr>
                                        <p:cTn id="25" dur="500"/>
                                        <p:tgtEl>
                                          <p:spTgt spid="2155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1552"/>
                                        </p:tgtEl>
                                        <p:attrNameLst>
                                          <p:attrName>style.visibility</p:attrName>
                                        </p:attrNameLst>
                                      </p:cBhvr>
                                      <p:to>
                                        <p:strVal val="visible"/>
                                      </p:to>
                                    </p:set>
                                    <p:animEffect transition="in" filter="wipe(left)">
                                      <p:cBhvr>
                                        <p:cTn id="30" dur="500"/>
                                        <p:tgtEl>
                                          <p:spTgt spid="2155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1553"/>
                                        </p:tgtEl>
                                        <p:attrNameLst>
                                          <p:attrName>style.visibility</p:attrName>
                                        </p:attrNameLst>
                                      </p:cBhvr>
                                      <p:to>
                                        <p:strVal val="visible"/>
                                      </p:to>
                                    </p:set>
                                    <p:animEffect transition="in" filter="wipe(left)">
                                      <p:cBhvr>
                                        <p:cTn id="35" dur="500"/>
                                        <p:tgtEl>
                                          <p:spTgt spid="21553"/>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1555"/>
                                        </p:tgtEl>
                                        <p:attrNameLst>
                                          <p:attrName>style.visibility</p:attrName>
                                        </p:attrNameLst>
                                      </p:cBhvr>
                                      <p:to>
                                        <p:strVal val="visible"/>
                                      </p:to>
                                    </p:set>
                                    <p:animEffect transition="in" filter="wipe(left)">
                                      <p:cBhvr>
                                        <p:cTn id="40" dur="500"/>
                                        <p:tgtEl>
                                          <p:spTgt spid="2155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1558"/>
                                        </p:tgtEl>
                                        <p:attrNameLst>
                                          <p:attrName>style.visibility</p:attrName>
                                        </p:attrNameLst>
                                      </p:cBhvr>
                                      <p:to>
                                        <p:strVal val="visible"/>
                                      </p:to>
                                    </p:set>
                                    <p:animEffect transition="in" filter="wipe(left)">
                                      <p:cBhvr>
                                        <p:cTn id="45" dur="500"/>
                                        <p:tgtEl>
                                          <p:spTgt spid="21558"/>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1561"/>
                                        </p:tgtEl>
                                        <p:attrNameLst>
                                          <p:attrName>style.visibility</p:attrName>
                                        </p:attrNameLst>
                                      </p:cBhvr>
                                      <p:to>
                                        <p:strVal val="visible"/>
                                      </p:to>
                                    </p:set>
                                    <p:animEffect transition="in" filter="wipe(left)">
                                      <p:cBhvr>
                                        <p:cTn id="50" dur="500"/>
                                        <p:tgtEl>
                                          <p:spTgt spid="215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1548" grpId="0"/>
      <p:bldP spid="21549" grpId="0"/>
      <p:bldP spid="21550" grpId="0" build="p"/>
      <p:bldP spid="21551" grpId="0"/>
      <p:bldP spid="21552" grpId="0"/>
      <p:bldP spid="21553" grpId="0"/>
      <p:bldP spid="21555" grpId="0"/>
      <p:bldP spid="21558" grpId="0"/>
      <p:bldP spid="2156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E0175F7D-A66A-B906-6A34-D980DCA18FF2}"/>
              </a:ext>
            </a:extLst>
          </p:cNvPr>
          <p:cNvGrpSpPr/>
          <p:nvPr/>
        </p:nvGrpSpPr>
        <p:grpSpPr>
          <a:xfrm>
            <a:off x="532130" y="516952"/>
            <a:ext cx="11149330" cy="5612130"/>
            <a:chOff x="838" y="907"/>
            <a:chExt cx="17558" cy="8838"/>
          </a:xfrm>
        </p:grpSpPr>
        <p:sp>
          <p:nvSpPr>
            <p:cNvPr id="4" name="PA-102232">
              <a:extLst>
                <a:ext uri="{FF2B5EF4-FFF2-40B4-BE49-F238E27FC236}">
                  <a16:creationId xmlns:a16="http://schemas.microsoft.com/office/drawing/2014/main" id="{31FAAB47-D936-C8A3-FC50-D27D25EC7CE7}"/>
                </a:ext>
              </a:extLst>
            </p:cNvPr>
            <p:cNvSpPr/>
            <p:nvPr>
              <p:custDataLst>
                <p:tags r:id="rId1"/>
              </p:custDataLst>
            </p:nvPr>
          </p:nvSpPr>
          <p:spPr>
            <a:xfrm>
              <a:off x="872" y="907"/>
              <a:ext cx="17524" cy="8826"/>
            </a:xfrm>
            <a:prstGeom prst="rect">
              <a:avLst/>
            </a:prstGeom>
            <a:solidFill>
              <a:schemeClr val="bg1"/>
            </a:solidFill>
            <a:ln>
              <a:noFill/>
            </a:ln>
            <a:effectLst>
              <a:outerShdw blurRad="393700" dist="889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6BB6"/>
                </a:solidFill>
                <a:cs typeface="+mn-ea"/>
                <a:sym typeface="+mn-lt"/>
              </a:endParaRPr>
            </a:p>
          </p:txBody>
        </p:sp>
        <p:grpSp>
          <p:nvGrpSpPr>
            <p:cNvPr id="5" name="组合 4">
              <a:extLst>
                <a:ext uri="{FF2B5EF4-FFF2-40B4-BE49-F238E27FC236}">
                  <a16:creationId xmlns:a16="http://schemas.microsoft.com/office/drawing/2014/main" id="{93BD3DB8-155E-3032-BC05-42DE1C50CB8B}"/>
                </a:ext>
              </a:extLst>
            </p:cNvPr>
            <p:cNvGrpSpPr/>
            <p:nvPr/>
          </p:nvGrpSpPr>
          <p:grpSpPr>
            <a:xfrm>
              <a:off x="838" y="9635"/>
              <a:ext cx="17558" cy="110"/>
              <a:chOff x="838" y="9635"/>
              <a:chExt cx="17558" cy="110"/>
            </a:xfrm>
          </p:grpSpPr>
          <p:sp>
            <p:nvSpPr>
              <p:cNvPr id="6" name="Rectangle 1">
                <a:extLst>
                  <a:ext uri="{FF2B5EF4-FFF2-40B4-BE49-F238E27FC236}">
                    <a16:creationId xmlns:a16="http://schemas.microsoft.com/office/drawing/2014/main" id="{580B0CF1-E97D-7DEC-6767-EF3935D1F231}"/>
                  </a:ext>
                </a:extLst>
              </p:cNvPr>
              <p:cNvSpPr/>
              <p:nvPr/>
            </p:nvSpPr>
            <p:spPr>
              <a:xfrm>
                <a:off x="5321" y="9650"/>
                <a:ext cx="4286" cy="83"/>
              </a:xfrm>
              <a:prstGeom prst="rect">
                <a:avLst/>
              </a:prstGeom>
              <a:solidFill>
                <a:schemeClr val="bg1"/>
              </a:solidFill>
              <a:ln w="3175" cap="flat" cmpd="sng" algn="ctr">
                <a:solidFill>
                  <a:srgbClr val="0492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7" name="Rectangle 1">
                <a:extLst>
                  <a:ext uri="{FF2B5EF4-FFF2-40B4-BE49-F238E27FC236}">
                    <a16:creationId xmlns:a16="http://schemas.microsoft.com/office/drawing/2014/main" id="{898BF498-940E-8CDC-C621-F67AAECA1BE1}"/>
                  </a:ext>
                </a:extLst>
              </p:cNvPr>
              <p:cNvSpPr/>
              <p:nvPr/>
            </p:nvSpPr>
            <p:spPr>
              <a:xfrm>
                <a:off x="838" y="9650"/>
                <a:ext cx="4483" cy="83"/>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8" name="Rectangle 1">
                <a:extLst>
                  <a:ext uri="{FF2B5EF4-FFF2-40B4-BE49-F238E27FC236}">
                    <a16:creationId xmlns:a16="http://schemas.microsoft.com/office/drawing/2014/main" id="{C3B940B2-BC9B-7669-0E3F-11A2A2536F3B}"/>
                  </a:ext>
                </a:extLst>
              </p:cNvPr>
              <p:cNvSpPr/>
              <p:nvPr/>
            </p:nvSpPr>
            <p:spPr>
              <a:xfrm>
                <a:off x="9602" y="9635"/>
                <a:ext cx="8794" cy="111"/>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mc:AlternateContent xmlns:mc="http://schemas.openxmlformats.org/markup-compatibility/2006" xmlns:a14="http://schemas.microsoft.com/office/drawing/2010/main">
        <mc:Choice Requires="a14">
          <p:sp>
            <p:nvSpPr>
              <p:cNvPr id="24619" name="Object 43"/>
              <p:cNvSpPr txBox="1"/>
              <p:nvPr/>
            </p:nvSpPr>
            <p:spPr bwMode="auto">
              <a:xfrm>
                <a:off x="1420493" y="1714773"/>
                <a:ext cx="9674227" cy="50165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b="1" i="1">
                          <a:latin typeface="Cambria Math" panose="02040503050406030204" pitchFamily="18" charset="0"/>
                        </a:rPr>
                        <m:t>𝒂</m:t>
                      </m:r>
                      <m:r>
                        <a:rPr lang="zh-CN" altLang="en-US" sz="2800" b="0" i="1">
                          <a:latin typeface="Cambria Math" panose="02040503050406030204" pitchFamily="18" charset="0"/>
                        </a:rPr>
                        <m:t>×</m:t>
                      </m:r>
                      <m:r>
                        <a:rPr lang="zh-CN" altLang="en-US" sz="2800" b="1" i="1">
                          <a:latin typeface="Cambria Math" panose="02040503050406030204" pitchFamily="18" charset="0"/>
                        </a:rPr>
                        <m:t>𝒃</m:t>
                      </m:r>
                      <m:r>
                        <a:rPr lang="zh-CN" altLang="en-US" sz="2800" b="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𝑦</m:t>
                          </m:r>
                        </m:sub>
                      </m:sSub>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𝑧</m:t>
                          </m:r>
                        </m:sub>
                      </m:sSub>
                      <m:r>
                        <a:rPr lang="zh-CN" altLang="en-US" sz="2800" b="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𝑧</m:t>
                          </m:r>
                        </m:sub>
                      </m:sSub>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𝑦</m:t>
                          </m:r>
                        </m:sub>
                      </m:sSub>
                      <m:r>
                        <a:rPr lang="zh-CN" altLang="en-US" sz="2800" b="0" i="1">
                          <a:latin typeface="Cambria Math" panose="02040503050406030204" pitchFamily="18" charset="0"/>
                        </a:rPr>
                        <m:t>) </m:t>
                      </m:r>
                      <m:r>
                        <a:rPr lang="zh-CN" altLang="en-US" sz="2800" b="1" i="1">
                          <a:latin typeface="Cambria Math" panose="02040503050406030204" pitchFamily="18" charset="0"/>
                        </a:rPr>
                        <m:t>𝒊</m:t>
                      </m:r>
                      <m:r>
                        <a:rPr lang="zh-CN" altLang="en-US" sz="2800" b="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𝑧</m:t>
                          </m:r>
                        </m:sub>
                      </m:sSub>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𝑥</m:t>
                          </m:r>
                        </m:sub>
                      </m:sSub>
                      <m:r>
                        <a:rPr lang="zh-CN" altLang="en-US" sz="2800" b="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𝑥</m:t>
                          </m:r>
                        </m:sub>
                      </m:sSub>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𝑧</m:t>
                          </m:r>
                        </m:sub>
                      </m:sSub>
                      <m:r>
                        <a:rPr lang="zh-CN" altLang="en-US" sz="2800" b="0" i="1">
                          <a:latin typeface="Cambria Math" panose="02040503050406030204" pitchFamily="18" charset="0"/>
                        </a:rPr>
                        <m:t>)</m:t>
                      </m:r>
                      <m:r>
                        <a:rPr lang="zh-CN" altLang="en-US" sz="2800" b="1" i="1">
                          <a:latin typeface="Cambria Math" panose="02040503050406030204" pitchFamily="18" charset="0"/>
                        </a:rPr>
                        <m:t>𝒋</m:t>
                      </m:r>
                      <m:r>
                        <a:rPr lang="zh-CN" altLang="en-US" sz="2800" b="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𝑥</m:t>
                          </m:r>
                        </m:sub>
                      </m:sSub>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𝑦</m:t>
                          </m:r>
                        </m:sub>
                      </m:sSub>
                      <m:r>
                        <a:rPr lang="zh-CN" altLang="en-US" sz="2800" b="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𝑦</m:t>
                          </m:r>
                        </m:sub>
                      </m:sSub>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𝑧</m:t>
                          </m:r>
                        </m:sub>
                      </m:sSub>
                      <m:r>
                        <a:rPr lang="zh-CN" altLang="en-US" sz="2800" b="0" i="1">
                          <a:latin typeface="Cambria Math" panose="02040503050406030204" pitchFamily="18" charset="0"/>
                        </a:rPr>
                        <m:t>)</m:t>
                      </m:r>
                      <m:r>
                        <a:rPr lang="zh-CN" altLang="en-US" sz="2800" b="1" i="1">
                          <a:latin typeface="Cambria Math" panose="02040503050406030204" pitchFamily="18" charset="0"/>
                        </a:rPr>
                        <m:t>𝒌</m:t>
                      </m:r>
                    </m:oMath>
                  </m:oMathPara>
                </a14:m>
                <a:endParaRPr lang="zh-CN" altLang="en-US" sz="2800" b="1" i="1" dirty="0">
                  <a:latin typeface="Cambria Math" panose="02040503050406030204" pitchFamily="18" charset="0"/>
                </a:endParaRPr>
              </a:p>
            </p:txBody>
          </p:sp>
        </mc:Choice>
        <mc:Fallback xmlns="">
          <p:sp>
            <p:nvSpPr>
              <p:cNvPr id="24619" name="Object 43"/>
              <p:cNvSpPr txBox="1">
                <a:spLocks noRot="1" noChangeAspect="1" noMove="1" noResize="1" noEditPoints="1" noAdjustHandles="1" noChangeArrowheads="1" noChangeShapeType="1" noTextEdit="1"/>
              </p:cNvSpPr>
              <p:nvPr/>
            </p:nvSpPr>
            <p:spPr bwMode="auto">
              <a:xfrm>
                <a:off x="1420493" y="1714773"/>
                <a:ext cx="9674227" cy="501650"/>
              </a:xfrm>
              <a:prstGeom prst="rect">
                <a:avLst/>
              </a:prstGeom>
              <a:blipFill>
                <a:blip r:embed="rId3"/>
                <a:stretch>
                  <a:fillRect b="-1205"/>
                </a:stretch>
              </a:blipFill>
              <a:ln>
                <a:noFill/>
              </a:ln>
              <a:effectLst/>
            </p:spPr>
            <p:txBody>
              <a:bodyPr/>
              <a:lstStyle/>
              <a:p>
                <a:r>
                  <a:rPr lang="zh-CN" altLang="en-US">
                    <a:noFill/>
                  </a:rPr>
                  <a:t> </a:t>
                </a:r>
              </a:p>
            </p:txBody>
          </p:sp>
        </mc:Fallback>
      </mc:AlternateContent>
      <p:sp>
        <p:nvSpPr>
          <p:cNvPr id="24622" name="Text Box 46"/>
          <p:cNvSpPr txBox="1">
            <a:spLocks noChangeArrowheads="1"/>
          </p:cNvSpPr>
          <p:nvPr/>
        </p:nvSpPr>
        <p:spPr bwMode="auto">
          <a:xfrm>
            <a:off x="1406425" y="1103912"/>
            <a:ext cx="381327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dirty="0">
                <a:latin typeface="Times New Roman" panose="02020603050405020304" pitchFamily="18" charset="0"/>
                <a:cs typeface="Times New Roman" panose="02020603050405020304" pitchFamily="18" charset="0"/>
              </a:rPr>
              <a:t>向量积的行列式计算法</a:t>
            </a:r>
          </a:p>
        </p:txBody>
      </p:sp>
      <mc:AlternateContent xmlns:mc="http://schemas.openxmlformats.org/markup-compatibility/2006" xmlns:a14="http://schemas.microsoft.com/office/drawing/2010/main">
        <mc:Choice Requires="a14">
          <p:sp>
            <p:nvSpPr>
              <p:cNvPr id="24624" name="Object 48"/>
              <p:cNvSpPr txBox="1"/>
              <p:nvPr/>
            </p:nvSpPr>
            <p:spPr bwMode="auto">
              <a:xfrm>
                <a:off x="2336260" y="2509508"/>
                <a:ext cx="2992025" cy="1519567"/>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sz="2800" b="0" i="1">
                          <a:solidFill>
                            <a:srgbClr val="000000"/>
                          </a:solidFill>
                          <a:latin typeface="Cambria Math" panose="02040503050406030204" pitchFamily="18" charset="0"/>
                        </a:rPr>
                        <m:t>=</m:t>
                      </m:r>
                      <m:d>
                        <m:dPr>
                          <m:begChr m:val="|"/>
                          <m:endChr m:val="|"/>
                          <m:ctrlPr>
                            <a:rPr lang="zh-CN" altLang="en-US" sz="2800" i="1">
                              <a:solidFill>
                                <a:srgbClr val="000000"/>
                              </a:solidFill>
                              <a:latin typeface="Cambria Math" panose="02040503050406030204" pitchFamily="18" charset="0"/>
                            </a:rPr>
                          </m:ctrlPr>
                        </m:dPr>
                        <m:e>
                          <m:m>
                            <m:mPr>
                              <m:plcHide m:val="on"/>
                              <m:mcs>
                                <m:mc>
                                  <m:mcPr>
                                    <m:count m:val="3"/>
                                    <m:mcJc m:val="center"/>
                                  </m:mcPr>
                                </m:mc>
                              </m:mcs>
                              <m:ctrlPr>
                                <a:rPr lang="zh-CN" altLang="en-US" sz="2800" i="1">
                                  <a:solidFill>
                                    <a:srgbClr val="000000"/>
                                  </a:solidFill>
                                  <a:latin typeface="Cambria Math" panose="02040503050406030204" pitchFamily="18" charset="0"/>
                                </a:rPr>
                              </m:ctrlPr>
                            </m:mPr>
                            <m:mr>
                              <m:e>
                                <m:r>
                                  <a:rPr lang="zh-CN" altLang="en-US" sz="2800" b="1" i="1">
                                    <a:solidFill>
                                      <a:srgbClr val="000000"/>
                                    </a:solidFill>
                                    <a:latin typeface="Cambria Math" panose="02040503050406030204" pitchFamily="18" charset="0"/>
                                  </a:rPr>
                                  <m:t>𝒊</m:t>
                                </m:r>
                              </m:e>
                              <m:e>
                                <m:r>
                                  <a:rPr lang="zh-CN" altLang="en-US" sz="2800" b="1" i="1">
                                    <a:solidFill>
                                      <a:srgbClr val="000000"/>
                                    </a:solidFill>
                                    <a:latin typeface="Cambria Math" panose="02040503050406030204" pitchFamily="18" charset="0"/>
                                  </a:rPr>
                                  <m:t>𝒋</m:t>
                                </m:r>
                              </m:e>
                              <m:e>
                                <m:r>
                                  <a:rPr lang="zh-CN" altLang="en-US" sz="2800" b="1" i="1">
                                    <a:solidFill>
                                      <a:srgbClr val="000000"/>
                                    </a:solidFill>
                                    <a:latin typeface="Cambria Math" panose="02040503050406030204" pitchFamily="18" charset="0"/>
                                  </a:rPr>
                                  <m:t>𝒌</m:t>
                                </m:r>
                              </m:e>
                            </m:mr>
                            <m:mr>
                              <m:e>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𝑎</m:t>
                                    </m:r>
                                  </m:e>
                                  <m:sub>
                                    <m:r>
                                      <a:rPr lang="zh-CN" altLang="en-US" sz="2800" b="0" i="1">
                                        <a:solidFill>
                                          <a:srgbClr val="000000"/>
                                        </a:solidFill>
                                        <a:latin typeface="Cambria Math" panose="02040503050406030204" pitchFamily="18" charset="0"/>
                                      </a:rPr>
                                      <m:t>𝑥</m:t>
                                    </m:r>
                                  </m:sub>
                                </m:sSub>
                              </m:e>
                              <m:e>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𝑎</m:t>
                                    </m:r>
                                  </m:e>
                                  <m:sub>
                                    <m:r>
                                      <a:rPr lang="zh-CN" altLang="en-US" sz="2800" b="0" i="1">
                                        <a:solidFill>
                                          <a:srgbClr val="000000"/>
                                        </a:solidFill>
                                        <a:latin typeface="Cambria Math" panose="02040503050406030204" pitchFamily="18" charset="0"/>
                                      </a:rPr>
                                      <m:t>𝑦</m:t>
                                    </m:r>
                                  </m:sub>
                                </m:sSub>
                              </m:e>
                              <m:e>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𝑎</m:t>
                                    </m:r>
                                  </m:e>
                                  <m:sub>
                                    <m:r>
                                      <a:rPr lang="zh-CN" altLang="en-US" sz="2800" b="0" i="1">
                                        <a:solidFill>
                                          <a:srgbClr val="000000"/>
                                        </a:solidFill>
                                        <a:latin typeface="Cambria Math" panose="02040503050406030204" pitchFamily="18" charset="0"/>
                                      </a:rPr>
                                      <m:t>𝑧</m:t>
                                    </m:r>
                                  </m:sub>
                                </m:sSub>
                              </m:e>
                            </m:mr>
                            <m:mr>
                              <m:e>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𝑏</m:t>
                                    </m:r>
                                  </m:e>
                                  <m:sub>
                                    <m:r>
                                      <a:rPr lang="zh-CN" altLang="en-US" sz="2800" b="0" i="1">
                                        <a:solidFill>
                                          <a:srgbClr val="000000"/>
                                        </a:solidFill>
                                        <a:latin typeface="Cambria Math" panose="02040503050406030204" pitchFamily="18" charset="0"/>
                                      </a:rPr>
                                      <m:t>𝑥</m:t>
                                    </m:r>
                                  </m:sub>
                                </m:sSub>
                              </m:e>
                              <m:e>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𝑏</m:t>
                                    </m:r>
                                  </m:e>
                                  <m:sub>
                                    <m:r>
                                      <a:rPr lang="zh-CN" altLang="en-US" sz="2800" b="0" i="1">
                                        <a:solidFill>
                                          <a:srgbClr val="000000"/>
                                        </a:solidFill>
                                        <a:latin typeface="Cambria Math" panose="02040503050406030204" pitchFamily="18" charset="0"/>
                                      </a:rPr>
                                      <m:t>𝑦</m:t>
                                    </m:r>
                                  </m:sub>
                                </m:sSub>
                              </m:e>
                              <m:e>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𝑏</m:t>
                                    </m:r>
                                  </m:e>
                                  <m:sub>
                                    <m:r>
                                      <a:rPr lang="zh-CN" altLang="en-US" sz="2800" b="0" i="1">
                                        <a:solidFill>
                                          <a:srgbClr val="000000"/>
                                        </a:solidFill>
                                        <a:latin typeface="Cambria Math" panose="02040503050406030204" pitchFamily="18" charset="0"/>
                                      </a:rPr>
                                      <m:t>𝑧</m:t>
                                    </m:r>
                                  </m:sub>
                                </m:sSub>
                              </m:e>
                            </m:mr>
                          </m:m>
                        </m:e>
                      </m:d>
                    </m:oMath>
                  </m:oMathPara>
                </a14:m>
                <a:endParaRPr lang="zh-CN" altLang="en-US" sz="2800" dirty="0"/>
              </a:p>
            </p:txBody>
          </p:sp>
        </mc:Choice>
        <mc:Fallback xmlns="">
          <p:sp>
            <p:nvSpPr>
              <p:cNvPr id="24624" name="Object 48"/>
              <p:cNvSpPr txBox="1">
                <a:spLocks noRot="1" noChangeAspect="1" noMove="1" noResize="1" noEditPoints="1" noAdjustHandles="1" noChangeArrowheads="1" noChangeShapeType="1" noTextEdit="1"/>
              </p:cNvSpPr>
              <p:nvPr/>
            </p:nvSpPr>
            <p:spPr bwMode="auto">
              <a:xfrm>
                <a:off x="2336260" y="2509508"/>
                <a:ext cx="2992025" cy="1519567"/>
              </a:xfrm>
              <a:prstGeom prst="rect">
                <a:avLst/>
              </a:prstGeom>
              <a:blipFill>
                <a:blip r:embed="rId4"/>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627" name="Object 51"/>
              <p:cNvSpPr txBox="1"/>
              <p:nvPr/>
            </p:nvSpPr>
            <p:spPr bwMode="auto">
              <a:xfrm>
                <a:off x="2336261" y="4247806"/>
                <a:ext cx="6217190" cy="1111042"/>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sz="2800" b="0" i="1">
                          <a:solidFill>
                            <a:srgbClr val="000000"/>
                          </a:solidFill>
                          <a:latin typeface="Cambria Math" panose="02040503050406030204" pitchFamily="18" charset="0"/>
                        </a:rPr>
                        <m:t>=</m:t>
                      </m:r>
                      <m:d>
                        <m:dPr>
                          <m:begChr m:val="|"/>
                          <m:endChr m:val="|"/>
                          <m:ctrlPr>
                            <a:rPr lang="zh-CN" altLang="en-US" sz="2800" i="1">
                              <a:solidFill>
                                <a:srgbClr val="000000"/>
                              </a:solidFill>
                              <a:latin typeface="Cambria Math" panose="02040503050406030204" pitchFamily="18" charset="0"/>
                            </a:rPr>
                          </m:ctrlPr>
                        </m:dPr>
                        <m:e>
                          <m:m>
                            <m:mPr>
                              <m:plcHide m:val="on"/>
                              <m:mcs>
                                <m:mc>
                                  <m:mcPr>
                                    <m:count m:val="2"/>
                                    <m:mcJc m:val="center"/>
                                  </m:mcPr>
                                </m:mc>
                              </m:mcs>
                              <m:ctrlPr>
                                <a:rPr lang="zh-CN" altLang="en-US" sz="2800" i="1">
                                  <a:solidFill>
                                    <a:srgbClr val="000000"/>
                                  </a:solidFill>
                                  <a:latin typeface="Cambria Math" panose="02040503050406030204" pitchFamily="18" charset="0"/>
                                </a:rPr>
                              </m:ctrlPr>
                            </m:mPr>
                            <m:mr>
                              <m:e>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𝑎</m:t>
                                    </m:r>
                                  </m:e>
                                  <m:sub>
                                    <m:r>
                                      <a:rPr lang="zh-CN" altLang="en-US" sz="2800" b="0" i="1">
                                        <a:solidFill>
                                          <a:srgbClr val="000000"/>
                                        </a:solidFill>
                                        <a:latin typeface="Cambria Math" panose="02040503050406030204" pitchFamily="18" charset="0"/>
                                      </a:rPr>
                                      <m:t>𝑦</m:t>
                                    </m:r>
                                  </m:sub>
                                </m:sSub>
                              </m:e>
                              <m:e>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𝑎</m:t>
                                    </m:r>
                                  </m:e>
                                  <m:sub>
                                    <m:r>
                                      <a:rPr lang="zh-CN" altLang="en-US" sz="2800" b="0" i="1">
                                        <a:solidFill>
                                          <a:srgbClr val="000000"/>
                                        </a:solidFill>
                                        <a:latin typeface="Cambria Math" panose="02040503050406030204" pitchFamily="18" charset="0"/>
                                      </a:rPr>
                                      <m:t>𝑧</m:t>
                                    </m:r>
                                  </m:sub>
                                </m:sSub>
                              </m:e>
                            </m:mr>
                            <m:mr>
                              <m:e>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𝑏</m:t>
                                    </m:r>
                                  </m:e>
                                  <m:sub>
                                    <m:r>
                                      <a:rPr lang="zh-CN" altLang="en-US" sz="2800" b="0" i="1">
                                        <a:solidFill>
                                          <a:srgbClr val="000000"/>
                                        </a:solidFill>
                                        <a:latin typeface="Cambria Math" panose="02040503050406030204" pitchFamily="18" charset="0"/>
                                      </a:rPr>
                                      <m:t>𝑦</m:t>
                                    </m:r>
                                  </m:sub>
                                </m:sSub>
                              </m:e>
                              <m:e>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𝑏</m:t>
                                    </m:r>
                                  </m:e>
                                  <m:sub>
                                    <m:r>
                                      <a:rPr lang="zh-CN" altLang="en-US" sz="2800" b="0" i="1">
                                        <a:solidFill>
                                          <a:srgbClr val="000000"/>
                                        </a:solidFill>
                                        <a:latin typeface="Cambria Math" panose="02040503050406030204" pitchFamily="18" charset="0"/>
                                      </a:rPr>
                                      <m:t>𝑧</m:t>
                                    </m:r>
                                  </m:sub>
                                </m:sSub>
                              </m:e>
                            </m:mr>
                          </m:m>
                        </m:e>
                      </m:d>
                      <m:r>
                        <a:rPr lang="zh-CN" altLang="en-US" sz="2800" b="1" i="1">
                          <a:solidFill>
                            <a:srgbClr val="000000"/>
                          </a:solidFill>
                          <a:latin typeface="Cambria Math" panose="02040503050406030204" pitchFamily="18" charset="0"/>
                        </a:rPr>
                        <m:t>𝒊</m:t>
                      </m:r>
                      <m:r>
                        <a:rPr lang="zh-CN" altLang="en-US" sz="2800" b="0" i="1">
                          <a:solidFill>
                            <a:srgbClr val="000000"/>
                          </a:solidFill>
                          <a:latin typeface="Cambria Math" panose="02040503050406030204" pitchFamily="18" charset="0"/>
                        </a:rPr>
                        <m:t>−</m:t>
                      </m:r>
                      <m:d>
                        <m:dPr>
                          <m:begChr m:val="|"/>
                          <m:endChr m:val="|"/>
                          <m:ctrlPr>
                            <a:rPr lang="zh-CN" altLang="en-US" sz="2800" i="1">
                              <a:solidFill>
                                <a:srgbClr val="000000"/>
                              </a:solidFill>
                              <a:latin typeface="Cambria Math" panose="02040503050406030204" pitchFamily="18" charset="0"/>
                            </a:rPr>
                          </m:ctrlPr>
                        </m:dPr>
                        <m:e>
                          <m:m>
                            <m:mPr>
                              <m:plcHide m:val="on"/>
                              <m:mcs>
                                <m:mc>
                                  <m:mcPr>
                                    <m:count m:val="2"/>
                                    <m:mcJc m:val="center"/>
                                  </m:mcPr>
                                </m:mc>
                              </m:mcs>
                              <m:ctrlPr>
                                <a:rPr lang="zh-CN" altLang="en-US" sz="2800" i="1">
                                  <a:solidFill>
                                    <a:srgbClr val="000000"/>
                                  </a:solidFill>
                                  <a:latin typeface="Cambria Math" panose="02040503050406030204" pitchFamily="18" charset="0"/>
                                </a:rPr>
                              </m:ctrlPr>
                            </m:mPr>
                            <m:mr>
                              <m:e>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𝑎</m:t>
                                    </m:r>
                                  </m:e>
                                  <m:sub>
                                    <m:r>
                                      <a:rPr lang="zh-CN" altLang="en-US" sz="2800" b="0" i="1">
                                        <a:solidFill>
                                          <a:srgbClr val="000000"/>
                                        </a:solidFill>
                                        <a:latin typeface="Cambria Math" panose="02040503050406030204" pitchFamily="18" charset="0"/>
                                      </a:rPr>
                                      <m:t>𝑥</m:t>
                                    </m:r>
                                  </m:sub>
                                </m:sSub>
                              </m:e>
                              <m:e>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𝑎</m:t>
                                    </m:r>
                                  </m:e>
                                  <m:sub>
                                    <m:r>
                                      <a:rPr lang="zh-CN" altLang="en-US" sz="2800" b="0" i="1">
                                        <a:solidFill>
                                          <a:srgbClr val="000000"/>
                                        </a:solidFill>
                                        <a:latin typeface="Cambria Math" panose="02040503050406030204" pitchFamily="18" charset="0"/>
                                      </a:rPr>
                                      <m:t>𝑧</m:t>
                                    </m:r>
                                  </m:sub>
                                </m:sSub>
                              </m:e>
                            </m:mr>
                            <m:mr>
                              <m:e>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𝑏</m:t>
                                    </m:r>
                                  </m:e>
                                  <m:sub>
                                    <m:r>
                                      <a:rPr lang="zh-CN" altLang="en-US" sz="2800" b="0" i="1">
                                        <a:solidFill>
                                          <a:srgbClr val="000000"/>
                                        </a:solidFill>
                                        <a:latin typeface="Cambria Math" panose="02040503050406030204" pitchFamily="18" charset="0"/>
                                      </a:rPr>
                                      <m:t>𝑥</m:t>
                                    </m:r>
                                  </m:sub>
                                </m:sSub>
                              </m:e>
                              <m:e>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𝑏</m:t>
                                    </m:r>
                                  </m:e>
                                  <m:sub>
                                    <m:r>
                                      <a:rPr lang="zh-CN" altLang="en-US" sz="2800" b="0" i="1">
                                        <a:solidFill>
                                          <a:srgbClr val="000000"/>
                                        </a:solidFill>
                                        <a:latin typeface="Cambria Math" panose="02040503050406030204" pitchFamily="18" charset="0"/>
                                      </a:rPr>
                                      <m:t>𝑧</m:t>
                                    </m:r>
                                  </m:sub>
                                </m:sSub>
                              </m:e>
                            </m:mr>
                          </m:m>
                        </m:e>
                      </m:d>
                      <m:r>
                        <a:rPr lang="zh-CN" altLang="en-US" sz="2800" b="1" i="1">
                          <a:solidFill>
                            <a:srgbClr val="000000"/>
                          </a:solidFill>
                          <a:latin typeface="Cambria Math" panose="02040503050406030204" pitchFamily="18" charset="0"/>
                        </a:rPr>
                        <m:t>𝒋</m:t>
                      </m:r>
                      <m:r>
                        <a:rPr lang="zh-CN" altLang="en-US" sz="2800" b="0" i="1">
                          <a:solidFill>
                            <a:srgbClr val="000000"/>
                          </a:solidFill>
                          <a:latin typeface="Cambria Math" panose="02040503050406030204" pitchFamily="18" charset="0"/>
                        </a:rPr>
                        <m:t>+</m:t>
                      </m:r>
                      <m:d>
                        <m:dPr>
                          <m:begChr m:val="|"/>
                          <m:endChr m:val="|"/>
                          <m:ctrlPr>
                            <a:rPr lang="zh-CN" altLang="en-US" sz="2800" i="1">
                              <a:solidFill>
                                <a:srgbClr val="000000"/>
                              </a:solidFill>
                              <a:latin typeface="Cambria Math" panose="02040503050406030204" pitchFamily="18" charset="0"/>
                            </a:rPr>
                          </m:ctrlPr>
                        </m:dPr>
                        <m:e>
                          <m:m>
                            <m:mPr>
                              <m:plcHide m:val="on"/>
                              <m:mcs>
                                <m:mc>
                                  <m:mcPr>
                                    <m:count m:val="2"/>
                                    <m:mcJc m:val="center"/>
                                  </m:mcPr>
                                </m:mc>
                              </m:mcs>
                              <m:ctrlPr>
                                <a:rPr lang="zh-CN" altLang="en-US" sz="2800" i="1">
                                  <a:solidFill>
                                    <a:srgbClr val="000000"/>
                                  </a:solidFill>
                                  <a:latin typeface="Cambria Math" panose="02040503050406030204" pitchFamily="18" charset="0"/>
                                </a:rPr>
                              </m:ctrlPr>
                            </m:mPr>
                            <m:mr>
                              <m:e>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𝑎</m:t>
                                    </m:r>
                                  </m:e>
                                  <m:sub>
                                    <m:r>
                                      <a:rPr lang="zh-CN" altLang="en-US" sz="2800" b="0" i="1">
                                        <a:solidFill>
                                          <a:srgbClr val="000000"/>
                                        </a:solidFill>
                                        <a:latin typeface="Cambria Math" panose="02040503050406030204" pitchFamily="18" charset="0"/>
                                      </a:rPr>
                                      <m:t>𝑥</m:t>
                                    </m:r>
                                  </m:sub>
                                </m:sSub>
                              </m:e>
                              <m:e>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𝑎</m:t>
                                    </m:r>
                                  </m:e>
                                  <m:sub>
                                    <m:r>
                                      <a:rPr lang="zh-CN" altLang="en-US" sz="2800" b="0" i="1">
                                        <a:solidFill>
                                          <a:srgbClr val="000000"/>
                                        </a:solidFill>
                                        <a:latin typeface="Cambria Math" panose="02040503050406030204" pitchFamily="18" charset="0"/>
                                      </a:rPr>
                                      <m:t>𝑦</m:t>
                                    </m:r>
                                  </m:sub>
                                </m:sSub>
                              </m:e>
                            </m:mr>
                            <m:mr>
                              <m:e>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𝑏</m:t>
                                    </m:r>
                                  </m:e>
                                  <m:sub>
                                    <m:r>
                                      <a:rPr lang="zh-CN" altLang="en-US" sz="2800" b="0" i="1">
                                        <a:solidFill>
                                          <a:srgbClr val="000000"/>
                                        </a:solidFill>
                                        <a:latin typeface="Cambria Math" panose="02040503050406030204" pitchFamily="18" charset="0"/>
                                      </a:rPr>
                                      <m:t>𝑥</m:t>
                                    </m:r>
                                  </m:sub>
                                </m:sSub>
                              </m:e>
                              <m:e>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𝑏</m:t>
                                    </m:r>
                                  </m:e>
                                  <m:sub>
                                    <m:r>
                                      <a:rPr lang="zh-CN" altLang="en-US" sz="2800" b="0" i="1">
                                        <a:solidFill>
                                          <a:srgbClr val="000000"/>
                                        </a:solidFill>
                                        <a:latin typeface="Cambria Math" panose="02040503050406030204" pitchFamily="18" charset="0"/>
                                      </a:rPr>
                                      <m:t>𝑦</m:t>
                                    </m:r>
                                  </m:sub>
                                </m:sSub>
                              </m:e>
                            </m:mr>
                          </m:m>
                        </m:e>
                      </m:d>
                      <m:r>
                        <a:rPr lang="zh-CN" altLang="en-US" sz="2800" b="1" i="1">
                          <a:solidFill>
                            <a:srgbClr val="000000"/>
                          </a:solidFill>
                          <a:latin typeface="Cambria Math" panose="02040503050406030204" pitchFamily="18" charset="0"/>
                        </a:rPr>
                        <m:t>𝒌</m:t>
                      </m:r>
                      <m:r>
                        <a:rPr lang="zh-CN" altLang="en-US" sz="2800" b="0" i="1">
                          <a:solidFill>
                            <a:srgbClr val="000000"/>
                          </a:solidFill>
                          <a:latin typeface="Cambria Math" panose="02040503050406030204" pitchFamily="18" charset="0"/>
                        </a:rPr>
                        <m:t>.</m:t>
                      </m:r>
                    </m:oMath>
                  </m:oMathPara>
                </a14:m>
                <a:endParaRPr lang="zh-CN" altLang="en-US" sz="2800" dirty="0"/>
              </a:p>
            </p:txBody>
          </p:sp>
        </mc:Choice>
        <mc:Fallback xmlns="">
          <p:sp>
            <p:nvSpPr>
              <p:cNvPr id="24627" name="Object 51"/>
              <p:cNvSpPr txBox="1">
                <a:spLocks noRot="1" noChangeAspect="1" noMove="1" noResize="1" noEditPoints="1" noAdjustHandles="1" noChangeArrowheads="1" noChangeShapeType="1" noTextEdit="1"/>
              </p:cNvSpPr>
              <p:nvPr/>
            </p:nvSpPr>
            <p:spPr bwMode="auto">
              <a:xfrm>
                <a:off x="2336261" y="4247806"/>
                <a:ext cx="6217190" cy="1111042"/>
              </a:xfrm>
              <a:prstGeom prst="rect">
                <a:avLst/>
              </a:prstGeom>
              <a:blipFill>
                <a:blip r:embed="rId5"/>
                <a:stretch>
                  <a:fillRect/>
                </a:stretch>
              </a:blipFill>
              <a:ln>
                <a:noFill/>
              </a:ln>
              <a:effectLst/>
            </p:spPr>
            <p:txBody>
              <a:bodyPr/>
              <a:lstStyle/>
              <a:p>
                <a:r>
                  <a:rPr lang="zh-CN" altLang="en-US">
                    <a:noFill/>
                  </a:rPr>
                  <a:t> </a:t>
                </a:r>
              </a:p>
            </p:txBody>
          </p:sp>
        </mc:Fallback>
      </mc:AlternateContent>
      <p:sp>
        <p:nvSpPr>
          <p:cNvPr id="24629" name="Line 53"/>
          <p:cNvSpPr>
            <a:spLocks noChangeShapeType="1"/>
          </p:cNvSpPr>
          <p:nvPr/>
        </p:nvSpPr>
        <p:spPr bwMode="auto">
          <a:xfrm flipH="1">
            <a:off x="4965457" y="3039255"/>
            <a:ext cx="4572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Times New Roman" panose="02020603050405020304" pitchFamily="18" charset="0"/>
              <a:cs typeface="Times New Roman" panose="02020603050405020304" pitchFamily="18" charset="0"/>
            </a:endParaRPr>
          </a:p>
        </p:txBody>
      </p:sp>
      <p:sp>
        <p:nvSpPr>
          <p:cNvPr id="24630" name="Line 54"/>
          <p:cNvSpPr>
            <a:spLocks noChangeShapeType="1"/>
          </p:cNvSpPr>
          <p:nvPr/>
        </p:nvSpPr>
        <p:spPr bwMode="auto">
          <a:xfrm flipH="1">
            <a:off x="4965457" y="3448391"/>
            <a:ext cx="4572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4631" name="Text Box 55"/>
              <p:cNvSpPr txBox="1">
                <a:spLocks noChangeArrowheads="1"/>
              </p:cNvSpPr>
              <p:nvPr/>
            </p:nvSpPr>
            <p:spPr bwMode="auto">
              <a:xfrm>
                <a:off x="5323011" y="2749509"/>
                <a:ext cx="2292593"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800" dirty="0">
                    <a:solidFill>
                      <a:srgbClr val="04926A"/>
                    </a:solidFill>
                    <a:latin typeface="黑体" panose="02010609060101010101" pitchFamily="49" charset="-122"/>
                    <a:ea typeface="黑体" panose="02010609060101010101" pitchFamily="49" charset="-122"/>
                  </a:rPr>
                  <a:t>向量</a:t>
                </a:r>
                <a14:m>
                  <m:oMath xmlns:m="http://schemas.openxmlformats.org/officeDocument/2006/math">
                    <m:r>
                      <a:rPr lang="zh-CN" altLang="en-US" sz="2800" b="1" i="1" smtClean="0">
                        <a:solidFill>
                          <a:srgbClr val="04926A"/>
                        </a:solidFill>
                        <a:latin typeface="Cambria Math" panose="02040503050406030204" pitchFamily="18" charset="0"/>
                      </a:rPr>
                      <m:t>𝒂</m:t>
                    </m:r>
                  </m:oMath>
                </a14:m>
                <a:r>
                  <a:rPr kumimoji="1" lang="zh-CN" altLang="en-US" sz="2800" dirty="0">
                    <a:solidFill>
                      <a:srgbClr val="04926A"/>
                    </a:solidFill>
                    <a:latin typeface="黑体" panose="02010609060101010101" pitchFamily="49" charset="-122"/>
                    <a:ea typeface="黑体" panose="02010609060101010101" pitchFamily="49" charset="-122"/>
                  </a:rPr>
                  <a:t>的坐标</a:t>
                </a:r>
              </a:p>
            </p:txBody>
          </p:sp>
        </mc:Choice>
        <mc:Fallback xmlns="">
          <p:sp>
            <p:nvSpPr>
              <p:cNvPr id="24631" name="Text Box 55"/>
              <p:cNvSpPr txBox="1">
                <a:spLocks noRot="1" noChangeAspect="1" noMove="1" noResize="1" noEditPoints="1" noAdjustHandles="1" noChangeArrowheads="1" noChangeShapeType="1" noTextEdit="1"/>
              </p:cNvSpPr>
              <p:nvPr/>
            </p:nvSpPr>
            <p:spPr bwMode="auto">
              <a:xfrm>
                <a:off x="5323011" y="2749509"/>
                <a:ext cx="2292593" cy="523220"/>
              </a:xfrm>
              <a:prstGeom prst="rect">
                <a:avLst/>
              </a:prstGeom>
              <a:blipFill>
                <a:blip r:embed="rId6"/>
                <a:stretch>
                  <a:fillRect l="-5319" t="-13953" r="-798" b="-2907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632" name="Text Box 56"/>
              <p:cNvSpPr txBox="1">
                <a:spLocks noChangeArrowheads="1"/>
              </p:cNvSpPr>
              <p:nvPr/>
            </p:nvSpPr>
            <p:spPr bwMode="auto">
              <a:xfrm>
                <a:off x="5346457" y="3191655"/>
                <a:ext cx="2292593"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800" dirty="0">
                    <a:solidFill>
                      <a:srgbClr val="04926A"/>
                    </a:solidFill>
                    <a:latin typeface="黑体" panose="02010609060101010101" pitchFamily="49" charset="-122"/>
                    <a:ea typeface="黑体" panose="02010609060101010101" pitchFamily="49" charset="-122"/>
                  </a:rPr>
                  <a:t>向量</a:t>
                </a:r>
                <a14:m>
                  <m:oMath xmlns:m="http://schemas.openxmlformats.org/officeDocument/2006/math">
                    <m:r>
                      <a:rPr lang="zh-CN" altLang="en-US" sz="2800" b="1" i="1" smtClean="0">
                        <a:solidFill>
                          <a:srgbClr val="04926A"/>
                        </a:solidFill>
                        <a:latin typeface="Cambria Math" panose="02040503050406030204" pitchFamily="18" charset="0"/>
                      </a:rPr>
                      <m:t>𝒃</m:t>
                    </m:r>
                  </m:oMath>
                </a14:m>
                <a:r>
                  <a:rPr kumimoji="1" lang="zh-CN" altLang="en-US" sz="2800" dirty="0">
                    <a:solidFill>
                      <a:srgbClr val="04926A"/>
                    </a:solidFill>
                    <a:latin typeface="黑体" panose="02010609060101010101" pitchFamily="49" charset="-122"/>
                    <a:ea typeface="黑体" panose="02010609060101010101" pitchFamily="49" charset="-122"/>
                  </a:rPr>
                  <a:t>的坐标</a:t>
                </a:r>
              </a:p>
            </p:txBody>
          </p:sp>
        </mc:Choice>
        <mc:Fallback xmlns="">
          <p:sp>
            <p:nvSpPr>
              <p:cNvPr id="24632" name="Text Box 56"/>
              <p:cNvSpPr txBox="1">
                <a:spLocks noRot="1" noChangeAspect="1" noMove="1" noResize="1" noEditPoints="1" noAdjustHandles="1" noChangeArrowheads="1" noChangeShapeType="1" noTextEdit="1"/>
              </p:cNvSpPr>
              <p:nvPr/>
            </p:nvSpPr>
            <p:spPr bwMode="auto">
              <a:xfrm>
                <a:off x="5346457" y="3191655"/>
                <a:ext cx="2292593" cy="523220"/>
              </a:xfrm>
              <a:prstGeom prst="rect">
                <a:avLst/>
              </a:prstGeom>
              <a:blipFill>
                <a:blip r:embed="rId7"/>
                <a:stretch>
                  <a:fillRect l="-5319" t="-15294" r="-532" b="-3058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extLst>
      <p:ext uri="{BB962C8B-B14F-4D97-AF65-F5344CB8AC3E}">
        <p14:creationId xmlns:p14="http://schemas.microsoft.com/office/powerpoint/2010/main" val="29688774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622"/>
                                        </p:tgtEl>
                                        <p:attrNameLst>
                                          <p:attrName>style.visibility</p:attrName>
                                        </p:attrNameLst>
                                      </p:cBhvr>
                                      <p:to>
                                        <p:strVal val="visible"/>
                                      </p:to>
                                    </p:set>
                                    <p:animEffect transition="in" filter="wipe(left)">
                                      <p:cBhvr>
                                        <p:cTn id="7" dur="500"/>
                                        <p:tgtEl>
                                          <p:spTgt spid="246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619"/>
                                        </p:tgtEl>
                                        <p:attrNameLst>
                                          <p:attrName>style.visibility</p:attrName>
                                        </p:attrNameLst>
                                      </p:cBhvr>
                                      <p:to>
                                        <p:strVal val="visible"/>
                                      </p:to>
                                    </p:set>
                                    <p:animEffect transition="in" filter="wipe(left)">
                                      <p:cBhvr>
                                        <p:cTn id="12" dur="500"/>
                                        <p:tgtEl>
                                          <p:spTgt spid="246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624"/>
                                        </p:tgtEl>
                                        <p:attrNameLst>
                                          <p:attrName>style.visibility</p:attrName>
                                        </p:attrNameLst>
                                      </p:cBhvr>
                                      <p:to>
                                        <p:strVal val="visible"/>
                                      </p:to>
                                    </p:set>
                                    <p:animEffect transition="in" filter="wipe(left)">
                                      <p:cBhvr>
                                        <p:cTn id="17" dur="500"/>
                                        <p:tgtEl>
                                          <p:spTgt spid="2462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4629"/>
                                        </p:tgtEl>
                                        <p:attrNameLst>
                                          <p:attrName>style.visibility</p:attrName>
                                        </p:attrNameLst>
                                      </p:cBhvr>
                                      <p:to>
                                        <p:strVal val="visible"/>
                                      </p:to>
                                    </p:set>
                                    <p:animEffect transition="in" filter="wipe(left)">
                                      <p:cBhvr>
                                        <p:cTn id="22" dur="500"/>
                                        <p:tgtEl>
                                          <p:spTgt spid="2462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4631"/>
                                        </p:tgtEl>
                                        <p:attrNameLst>
                                          <p:attrName>style.visibility</p:attrName>
                                        </p:attrNameLst>
                                      </p:cBhvr>
                                      <p:to>
                                        <p:strVal val="visible"/>
                                      </p:to>
                                    </p:set>
                                    <p:animEffect transition="in" filter="wipe(left)">
                                      <p:cBhvr>
                                        <p:cTn id="27" dur="500"/>
                                        <p:tgtEl>
                                          <p:spTgt spid="2463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4630"/>
                                        </p:tgtEl>
                                        <p:attrNameLst>
                                          <p:attrName>style.visibility</p:attrName>
                                        </p:attrNameLst>
                                      </p:cBhvr>
                                      <p:to>
                                        <p:strVal val="visible"/>
                                      </p:to>
                                    </p:set>
                                    <p:animEffect transition="in" filter="wipe(left)">
                                      <p:cBhvr>
                                        <p:cTn id="32" dur="500"/>
                                        <p:tgtEl>
                                          <p:spTgt spid="2463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4632"/>
                                        </p:tgtEl>
                                        <p:attrNameLst>
                                          <p:attrName>style.visibility</p:attrName>
                                        </p:attrNameLst>
                                      </p:cBhvr>
                                      <p:to>
                                        <p:strVal val="visible"/>
                                      </p:to>
                                    </p:set>
                                    <p:animEffect transition="in" filter="wipe(left)">
                                      <p:cBhvr>
                                        <p:cTn id="37" dur="500"/>
                                        <p:tgtEl>
                                          <p:spTgt spid="2463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4627"/>
                                        </p:tgtEl>
                                        <p:attrNameLst>
                                          <p:attrName>style.visibility</p:attrName>
                                        </p:attrNameLst>
                                      </p:cBhvr>
                                      <p:to>
                                        <p:strVal val="visible"/>
                                      </p:to>
                                    </p:set>
                                    <p:animEffect transition="in" filter="wipe(left)">
                                      <p:cBhvr>
                                        <p:cTn id="42" dur="500"/>
                                        <p:tgtEl>
                                          <p:spTgt spid="246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19" grpId="0"/>
      <p:bldP spid="24622" grpId="0"/>
      <p:bldP spid="24624" grpId="0"/>
      <p:bldP spid="24627" grpId="0"/>
      <p:bldP spid="24631" grpId="0"/>
      <p:bldP spid="2463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E400B1D2-65D4-0BE3-1932-9060C6DA9732}"/>
              </a:ext>
            </a:extLst>
          </p:cNvPr>
          <p:cNvGrpSpPr/>
          <p:nvPr/>
        </p:nvGrpSpPr>
        <p:grpSpPr>
          <a:xfrm>
            <a:off x="687324" y="535820"/>
            <a:ext cx="10817987" cy="5803091"/>
            <a:chOff x="687324" y="535820"/>
            <a:chExt cx="10817987" cy="5803091"/>
          </a:xfrm>
        </p:grpSpPr>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0C10FCAC-E7A0-9785-695C-7E2B97E9B0AD}"/>
                    </a:ext>
                  </a:extLst>
                </p:cNvPr>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dirty="0"/>
                </a:p>
              </p:txBody>
            </p:sp>
          </mc:Choice>
          <mc:Fallback xmlns="">
            <p:sp>
              <p:nvSpPr>
                <p:cNvPr id="4" name="矩形 3">
                  <a:extLst>
                    <a:ext uri="{FF2B5EF4-FFF2-40B4-BE49-F238E27FC236}">
                      <a16:creationId xmlns:a16="http://schemas.microsoft.com/office/drawing/2014/main" id="{0C10FCAC-E7A0-9785-695C-7E2B97E9B0AD}"/>
                    </a:ext>
                  </a:extLst>
                </p:cNvPr>
                <p:cNvSpPr>
                  <a:spLocks noRot="1" noChangeAspect="1" noMove="1" noResize="1" noEditPoints="1" noAdjustHandles="1" noChangeArrowheads="1" noChangeShapeType="1" noTextEdit="1"/>
                </p:cNvSpPr>
                <p:nvPr/>
              </p:nvSpPr>
              <p:spPr>
                <a:xfrm>
                  <a:off x="687959" y="536260"/>
                  <a:ext cx="10817352" cy="5799897"/>
                </a:xfrm>
                <a:prstGeom prst="rect">
                  <a:avLst/>
                </a:prstGeom>
                <a:blipFill>
                  <a:blip r:embed="rId2"/>
                  <a:stretch>
                    <a:fillRect/>
                  </a:stretch>
                </a:blipFill>
                <a:ln>
                  <a:noFill/>
                </a:ln>
                <a:effectLst>
                  <a:outerShdw blurRad="63500" sx="102000" sy="102000" algn="ctr" rotWithShape="0">
                    <a:prstClr val="black">
                      <a:alpha val="9000"/>
                    </a:prstClr>
                  </a:outerShdw>
                </a:effectLst>
              </p:spPr>
              <p:txBody>
                <a:bodyPr/>
                <a:lstStyle/>
                <a:p>
                  <a:r>
                    <a:rPr lang="zh-CN" altLang="en-US">
                      <a:noFill/>
                    </a:rPr>
                    <a:t> </a:t>
                  </a:r>
                </a:p>
              </p:txBody>
            </p:sp>
          </mc:Fallback>
        </mc:AlternateContent>
        <p:sp>
          <p:nvSpPr>
            <p:cNvPr id="5" name="半闭框 4">
              <a:extLst>
                <a:ext uri="{FF2B5EF4-FFF2-40B4-BE49-F238E27FC236}">
                  <a16:creationId xmlns:a16="http://schemas.microsoft.com/office/drawing/2014/main" id="{9E45F523-7313-19A5-A4E7-07B975448F6F}"/>
                </a:ext>
              </a:extLst>
            </p:cNvPr>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半闭框 5">
              <a:extLst>
                <a:ext uri="{FF2B5EF4-FFF2-40B4-BE49-F238E27FC236}">
                  <a16:creationId xmlns:a16="http://schemas.microsoft.com/office/drawing/2014/main" id="{B992ED92-DDE1-A3ED-76EE-8AA56C7B4DAC}"/>
                </a:ext>
              </a:extLst>
            </p:cNvPr>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半闭框 6">
              <a:extLst>
                <a:ext uri="{FF2B5EF4-FFF2-40B4-BE49-F238E27FC236}">
                  <a16:creationId xmlns:a16="http://schemas.microsoft.com/office/drawing/2014/main" id="{D8468D14-7523-E7C2-3E09-71D733C35EA3}"/>
                </a:ext>
              </a:extLst>
            </p:cNvPr>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8" name="半闭框 7">
              <a:extLst>
                <a:ext uri="{FF2B5EF4-FFF2-40B4-BE49-F238E27FC236}">
                  <a16:creationId xmlns:a16="http://schemas.microsoft.com/office/drawing/2014/main" id="{8664D211-6E0E-D256-7FB8-9B2A313EB097}"/>
                </a:ext>
              </a:extLst>
            </p:cNvPr>
            <p:cNvSpPr/>
            <p:nvPr/>
          </p:nvSpPr>
          <p:spPr>
            <a:xfrm flipH="1" flipV="1">
              <a:off x="10823530"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2197" name="Rectangle 149"/>
          <p:cNvSpPr>
            <a:spLocks noChangeArrowheads="1"/>
          </p:cNvSpPr>
          <p:nvPr/>
        </p:nvSpPr>
        <p:spPr bwMode="auto">
          <a:xfrm>
            <a:off x="1452176" y="2254396"/>
            <a:ext cx="54373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800" b="1" dirty="0">
                <a:solidFill>
                  <a:srgbClr val="04926A"/>
                </a:solidFill>
                <a:latin typeface="微软雅黑" panose="020B0503020204020204" pitchFamily="34" charset="-122"/>
                <a:ea typeface="微软雅黑" panose="020B0503020204020204" pitchFamily="34" charset="-122"/>
              </a:rPr>
              <a:t>解</a:t>
            </a:r>
          </a:p>
        </p:txBody>
      </p:sp>
      <mc:AlternateContent xmlns:mc="http://schemas.openxmlformats.org/markup-compatibility/2006" xmlns:a14="http://schemas.microsoft.com/office/drawing/2010/main">
        <mc:Choice Requires="a14">
          <p:sp>
            <p:nvSpPr>
              <p:cNvPr id="2239" name="Text Box 191"/>
              <p:cNvSpPr txBox="1">
                <a:spLocks noChangeArrowheads="1"/>
              </p:cNvSpPr>
              <p:nvPr/>
            </p:nvSpPr>
            <p:spPr bwMode="auto">
              <a:xfrm>
                <a:off x="1452176" y="873452"/>
                <a:ext cx="8451850"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dirty="0">
                    <a:solidFill>
                      <a:srgbClr val="04926A"/>
                    </a:solidFill>
                    <a:latin typeface="微软雅黑" panose="020B0503020204020204" pitchFamily="34" charset="-122"/>
                    <a:ea typeface="微软雅黑" panose="020B0503020204020204" pitchFamily="34" charset="-122"/>
                  </a:rPr>
                  <a:t>例</a:t>
                </a:r>
                <a:r>
                  <a:rPr kumimoji="1" lang="en-US" altLang="zh-CN" sz="2800" b="1" dirty="0">
                    <a:solidFill>
                      <a:srgbClr val="04926A"/>
                    </a:solidFill>
                    <a:latin typeface="微软雅黑" panose="020B0503020204020204" pitchFamily="34" charset="-122"/>
                    <a:ea typeface="微软雅黑" panose="020B0503020204020204" pitchFamily="34" charset="-122"/>
                  </a:rPr>
                  <a:t>4</a:t>
                </a:r>
                <a:r>
                  <a:rPr lang="en-US" altLang="zh-CN" sz="2800" dirty="0">
                    <a:solidFill>
                      <a:srgbClr val="3333CC"/>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求一个与向量</a:t>
                </a:r>
                <a14:m>
                  <m:oMath xmlns:m="http://schemas.openxmlformats.org/officeDocument/2006/math">
                    <m:r>
                      <a:rPr lang="zh-CN" altLang="en-US" sz="2800" b="1" i="1" smtClean="0">
                        <a:latin typeface="Cambria Math" panose="02040503050406030204" pitchFamily="18" charset="0"/>
                      </a:rPr>
                      <m:t>𝒂</m:t>
                    </m:r>
                    <m:r>
                      <a:rPr lang="en-US" altLang="zh-CN" sz="2800" b="0" i="1" smtClean="0">
                        <a:latin typeface="Cambria Math" panose="02040503050406030204" pitchFamily="18" charset="0"/>
                      </a:rPr>
                      <m:t>=</m:t>
                    </m:r>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1,2,1</m:t>
                        </m:r>
                      </m:e>
                    </m:d>
                    <m:r>
                      <a:rPr lang="en-US" altLang="zh-CN" sz="2800" b="0" i="1" smtClean="0">
                        <a:latin typeface="Cambria Math" panose="02040503050406030204" pitchFamily="18" charset="0"/>
                      </a:rPr>
                      <m:t>,</m:t>
                    </m:r>
                    <m:r>
                      <a:rPr lang="en-US" altLang="zh-CN" sz="2800" b="1" i="1" smtClean="0">
                        <a:latin typeface="Cambria Math" panose="02040503050406030204" pitchFamily="18" charset="0"/>
                      </a:rPr>
                      <m:t>𝒃</m:t>
                    </m:r>
                    <m:r>
                      <a:rPr lang="en-US" altLang="zh-CN" sz="2800" b="0" i="1" smtClean="0">
                        <a:latin typeface="Cambria Math" panose="02040503050406030204" pitchFamily="18" charset="0"/>
                      </a:rPr>
                      <m:t>=(2,1,1)</m:t>
                    </m:r>
                  </m:oMath>
                </a14:m>
                <a:r>
                  <a:rPr lang="zh-CN" altLang="en-US" sz="2800" dirty="0">
                    <a:latin typeface="Times New Roman" panose="02020603050405020304" pitchFamily="18" charset="0"/>
                    <a:cs typeface="Times New Roman" panose="02020603050405020304" pitchFamily="18" charset="0"/>
                  </a:rPr>
                  <a:t>都垂直</a:t>
                </a:r>
              </a:p>
            </p:txBody>
          </p:sp>
        </mc:Choice>
        <mc:Fallback xmlns="">
          <p:sp>
            <p:nvSpPr>
              <p:cNvPr id="2239" name="Text Box 191"/>
              <p:cNvSpPr txBox="1">
                <a:spLocks noRot="1" noChangeAspect="1" noMove="1" noResize="1" noEditPoints="1" noAdjustHandles="1" noChangeArrowheads="1" noChangeShapeType="1" noTextEdit="1"/>
              </p:cNvSpPr>
              <p:nvPr/>
            </p:nvSpPr>
            <p:spPr bwMode="auto">
              <a:xfrm>
                <a:off x="1452176" y="873452"/>
                <a:ext cx="8451850" cy="523220"/>
              </a:xfrm>
              <a:prstGeom prst="rect">
                <a:avLst/>
              </a:prstGeom>
              <a:blipFill>
                <a:blip r:embed="rId8"/>
                <a:stretch>
                  <a:fillRect l="-1442" t="-15116" b="-3255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2240" name="Text Box 192"/>
          <p:cNvSpPr txBox="1">
            <a:spLocks noChangeArrowheads="1"/>
          </p:cNvSpPr>
          <p:nvPr/>
        </p:nvSpPr>
        <p:spPr bwMode="auto">
          <a:xfrm>
            <a:off x="2484024" y="1394025"/>
            <a:ext cx="150052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dirty="0">
                <a:latin typeface="Times New Roman" panose="02020603050405020304" pitchFamily="18" charset="0"/>
                <a:cs typeface="Times New Roman" panose="02020603050405020304" pitchFamily="18" charset="0"/>
              </a:rPr>
              <a:t>的向量</a:t>
            </a:r>
            <a:r>
              <a:rPr lang="en-US" altLang="zh-CN" sz="2800" dirty="0">
                <a:latin typeface="Times New Roman" panose="02020603050405020304" pitchFamily="18" charset="0"/>
                <a:cs typeface="Times New Roman" panose="02020603050405020304" pitchFamily="18" charset="0"/>
              </a:rPr>
              <a:t>.</a:t>
            </a:r>
          </a:p>
        </p:txBody>
      </p:sp>
      <p:sp>
        <p:nvSpPr>
          <p:cNvPr id="2242" name="Text Box 194"/>
          <p:cNvSpPr txBox="1">
            <a:spLocks noChangeArrowheads="1"/>
          </p:cNvSpPr>
          <p:nvPr/>
        </p:nvSpPr>
        <p:spPr bwMode="auto">
          <a:xfrm>
            <a:off x="2444493" y="2318655"/>
            <a:ext cx="72072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200" dirty="0">
                <a:latin typeface="Times New Roman" panose="02020603050405020304" pitchFamily="18" charset="0"/>
                <a:cs typeface="Times New Roman" panose="02020603050405020304" pitchFamily="18" charset="0"/>
              </a:rPr>
              <a:t>令</a:t>
            </a:r>
          </a:p>
        </p:txBody>
      </p:sp>
      <mc:AlternateContent xmlns:mc="http://schemas.openxmlformats.org/markup-compatibility/2006" xmlns:a14="http://schemas.microsoft.com/office/drawing/2010/main">
        <mc:Choice Requires="a14">
          <p:sp>
            <p:nvSpPr>
              <p:cNvPr id="2243" name="Rectangle 195"/>
              <p:cNvSpPr>
                <a:spLocks noChangeArrowheads="1"/>
              </p:cNvSpPr>
              <p:nvPr/>
            </p:nvSpPr>
            <p:spPr bwMode="auto">
              <a:xfrm>
                <a:off x="2479638" y="2873986"/>
                <a:ext cx="1500522" cy="4308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14:m>
                  <m:oMathPara xmlns:m="http://schemas.openxmlformats.org/officeDocument/2006/math">
                    <m:oMathParaPr>
                      <m:jc m:val="left"/>
                    </m:oMathParaPr>
                    <m:oMath xmlns:m="http://schemas.openxmlformats.org/officeDocument/2006/math">
                      <m:r>
                        <a:rPr lang="en-US" altLang="zh-CN" sz="2200" b="1" i="1" smtClean="0">
                          <a:latin typeface="Cambria Math" panose="02040503050406030204" pitchFamily="18" charset="0"/>
                        </a:rPr>
                        <m:t>𝒄</m:t>
                      </m:r>
                      <m:r>
                        <a:rPr lang="en-US" altLang="zh-CN" sz="2200" b="0" i="0" smtClean="0">
                          <a:latin typeface="Cambria Math" panose="02040503050406030204" pitchFamily="18" charset="0"/>
                        </a:rPr>
                        <m:t>=</m:t>
                      </m:r>
                      <m:r>
                        <a:rPr lang="zh-CN" altLang="en-US" sz="2200" b="1" i="1">
                          <a:latin typeface="Cambria Math" panose="02040503050406030204" pitchFamily="18" charset="0"/>
                        </a:rPr>
                        <m:t>𝒂</m:t>
                      </m:r>
                      <m:r>
                        <a:rPr lang="zh-CN" altLang="en-US" sz="2200" i="1">
                          <a:latin typeface="Cambria Math" panose="02040503050406030204" pitchFamily="18" charset="0"/>
                        </a:rPr>
                        <m:t>×</m:t>
                      </m:r>
                      <m:r>
                        <a:rPr lang="zh-CN" altLang="en-US" sz="2200" b="1" i="1">
                          <a:latin typeface="Cambria Math" panose="02040503050406030204" pitchFamily="18" charset="0"/>
                        </a:rPr>
                        <m:t>𝒃</m:t>
                      </m:r>
                    </m:oMath>
                  </m:oMathPara>
                </a14:m>
                <a:endParaRPr lang="en-US" altLang="zh-CN" sz="2200" b="1" dirty="0">
                  <a:latin typeface="Cambria Math" panose="02040503050406030204" pitchFamily="18" charset="0"/>
                </a:endParaRPr>
              </a:p>
            </p:txBody>
          </p:sp>
        </mc:Choice>
        <mc:Fallback xmlns="">
          <p:sp>
            <p:nvSpPr>
              <p:cNvPr id="2243" name="Rectangle 195"/>
              <p:cNvSpPr>
                <a:spLocks noRot="1" noChangeAspect="1" noMove="1" noResize="1" noEditPoints="1" noAdjustHandles="1" noChangeArrowheads="1" noChangeShapeType="1" noTextEdit="1"/>
              </p:cNvSpPr>
              <p:nvPr/>
            </p:nvSpPr>
            <p:spPr bwMode="auto">
              <a:xfrm>
                <a:off x="2479638" y="2873986"/>
                <a:ext cx="1500522" cy="430887"/>
              </a:xfrm>
              <a:prstGeom prst="rect">
                <a:avLst/>
              </a:prstGeom>
              <a:blipFill>
                <a:blip r:embed="rId9"/>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44" name="Object 196"/>
              <p:cNvSpPr txBox="1"/>
              <p:nvPr/>
            </p:nvSpPr>
            <p:spPr bwMode="auto">
              <a:xfrm>
                <a:off x="3679813" y="2617503"/>
                <a:ext cx="1660625" cy="99915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200" b="0" i="1">
                          <a:solidFill>
                            <a:srgbClr val="000000"/>
                          </a:solidFill>
                          <a:latin typeface="Cambria Math" panose="02040503050406030204" pitchFamily="18" charset="0"/>
                        </a:rPr>
                        <m:t>=</m:t>
                      </m:r>
                      <m:d>
                        <m:dPr>
                          <m:begChr m:val="|"/>
                          <m:endChr m:val="|"/>
                          <m:ctrlPr>
                            <a:rPr lang="zh-CN" altLang="en-US" sz="2200" i="1">
                              <a:solidFill>
                                <a:srgbClr val="000000"/>
                              </a:solidFill>
                              <a:latin typeface="Cambria Math" panose="02040503050406030204" pitchFamily="18" charset="0"/>
                            </a:rPr>
                          </m:ctrlPr>
                        </m:dPr>
                        <m:e>
                          <m:m>
                            <m:mPr>
                              <m:plcHide m:val="on"/>
                              <m:mcs>
                                <m:mc>
                                  <m:mcPr>
                                    <m:count m:val="3"/>
                                    <m:mcJc m:val="center"/>
                                  </m:mcPr>
                                </m:mc>
                              </m:mcs>
                              <m:ctrlPr>
                                <a:rPr lang="zh-CN" altLang="en-US" sz="2200" i="1">
                                  <a:solidFill>
                                    <a:srgbClr val="000000"/>
                                  </a:solidFill>
                                  <a:latin typeface="Cambria Math" panose="02040503050406030204" pitchFamily="18" charset="0"/>
                                </a:rPr>
                              </m:ctrlPr>
                            </m:mPr>
                            <m:mr>
                              <m:e>
                                <m:r>
                                  <a:rPr lang="zh-CN" altLang="en-US" sz="2200" b="1" i="1">
                                    <a:solidFill>
                                      <a:srgbClr val="000000"/>
                                    </a:solidFill>
                                    <a:latin typeface="Cambria Math" panose="02040503050406030204" pitchFamily="18" charset="0"/>
                                  </a:rPr>
                                  <m:t>𝒊</m:t>
                                </m:r>
                              </m:e>
                              <m:e>
                                <m:r>
                                  <a:rPr lang="zh-CN" altLang="en-US" sz="2200" b="1" i="1">
                                    <a:solidFill>
                                      <a:srgbClr val="000000"/>
                                    </a:solidFill>
                                    <a:latin typeface="Cambria Math" panose="02040503050406030204" pitchFamily="18" charset="0"/>
                                  </a:rPr>
                                  <m:t>𝒋</m:t>
                                </m:r>
                              </m:e>
                              <m:e>
                                <m:r>
                                  <a:rPr lang="zh-CN" altLang="en-US" sz="2200" b="1" i="1">
                                    <a:solidFill>
                                      <a:srgbClr val="000000"/>
                                    </a:solidFill>
                                    <a:latin typeface="Cambria Math" panose="02040503050406030204" pitchFamily="18" charset="0"/>
                                  </a:rPr>
                                  <m:t>𝒌</m:t>
                                </m:r>
                              </m:e>
                            </m:mr>
                            <m:mr>
                              <m:e>
                                <m:r>
                                  <a:rPr lang="zh-CN" altLang="en-US" sz="2200" b="0" i="1">
                                    <a:solidFill>
                                      <a:srgbClr val="000000"/>
                                    </a:solidFill>
                                    <a:latin typeface="Cambria Math" panose="02040503050406030204" pitchFamily="18" charset="0"/>
                                  </a:rPr>
                                  <m:t>1</m:t>
                                </m:r>
                              </m:e>
                              <m:e>
                                <m:r>
                                  <a:rPr lang="zh-CN" altLang="en-US" sz="2200" b="0" i="1">
                                    <a:solidFill>
                                      <a:srgbClr val="000000"/>
                                    </a:solidFill>
                                    <a:latin typeface="Cambria Math" panose="02040503050406030204" pitchFamily="18" charset="0"/>
                                  </a:rPr>
                                  <m:t>2</m:t>
                                </m:r>
                              </m:e>
                              <m:e>
                                <m:r>
                                  <a:rPr lang="zh-CN" altLang="en-US" sz="2200" b="0" i="1">
                                    <a:solidFill>
                                      <a:srgbClr val="000000"/>
                                    </a:solidFill>
                                    <a:latin typeface="Cambria Math" panose="02040503050406030204" pitchFamily="18" charset="0"/>
                                  </a:rPr>
                                  <m:t>1</m:t>
                                </m:r>
                              </m:e>
                            </m:mr>
                            <m:mr>
                              <m:e>
                                <m:r>
                                  <a:rPr lang="zh-CN" altLang="en-US" sz="2200" b="0" i="1">
                                    <a:solidFill>
                                      <a:srgbClr val="000000"/>
                                    </a:solidFill>
                                    <a:latin typeface="Cambria Math" panose="02040503050406030204" pitchFamily="18" charset="0"/>
                                  </a:rPr>
                                  <m:t>2</m:t>
                                </m:r>
                              </m:e>
                              <m:e>
                                <m:r>
                                  <a:rPr lang="zh-CN" altLang="en-US" sz="2200" b="0" i="1">
                                    <a:solidFill>
                                      <a:srgbClr val="000000"/>
                                    </a:solidFill>
                                    <a:latin typeface="Cambria Math" panose="02040503050406030204" pitchFamily="18" charset="0"/>
                                  </a:rPr>
                                  <m:t>1</m:t>
                                </m:r>
                              </m:e>
                              <m:e>
                                <m:r>
                                  <a:rPr lang="zh-CN" altLang="en-US" sz="2200" b="0" i="1">
                                    <a:solidFill>
                                      <a:srgbClr val="000000"/>
                                    </a:solidFill>
                                    <a:latin typeface="Cambria Math" panose="02040503050406030204" pitchFamily="18" charset="0"/>
                                  </a:rPr>
                                  <m:t>1</m:t>
                                </m:r>
                              </m:e>
                            </m:mr>
                          </m:m>
                        </m:e>
                      </m:d>
                    </m:oMath>
                  </m:oMathPara>
                </a14:m>
                <a:endParaRPr lang="zh-CN" altLang="en-US" sz="2200" dirty="0"/>
              </a:p>
            </p:txBody>
          </p:sp>
        </mc:Choice>
        <mc:Fallback xmlns="">
          <p:sp>
            <p:nvSpPr>
              <p:cNvPr id="2244" name="Object 196"/>
              <p:cNvSpPr txBox="1">
                <a:spLocks noRot="1" noChangeAspect="1" noMove="1" noResize="1" noEditPoints="1" noAdjustHandles="1" noChangeArrowheads="1" noChangeShapeType="1" noTextEdit="1"/>
              </p:cNvSpPr>
              <p:nvPr/>
            </p:nvSpPr>
            <p:spPr bwMode="auto">
              <a:xfrm>
                <a:off x="3679813" y="2617503"/>
                <a:ext cx="1660625" cy="999158"/>
              </a:xfrm>
              <a:prstGeom prst="rect">
                <a:avLst/>
              </a:prstGeom>
              <a:blipFill>
                <a:blip r:embed="rId10"/>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46" name="Object 198"/>
              <p:cNvSpPr txBox="1"/>
              <p:nvPr/>
            </p:nvSpPr>
            <p:spPr bwMode="auto">
              <a:xfrm>
                <a:off x="2672977" y="3778715"/>
                <a:ext cx="4152132" cy="75173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200" b="0" i="1">
                          <a:latin typeface="Cambria Math" panose="02040503050406030204" pitchFamily="18" charset="0"/>
                        </a:rPr>
                        <m:t>=</m:t>
                      </m:r>
                      <m:d>
                        <m:dPr>
                          <m:begChr m:val="|"/>
                          <m:endChr m:val="|"/>
                          <m:ctrlPr>
                            <a:rPr lang="zh-CN" altLang="en-US" sz="2200" i="1">
                              <a:latin typeface="Cambria Math" panose="02040503050406030204" pitchFamily="18" charset="0"/>
                            </a:rPr>
                          </m:ctrlPr>
                        </m:dPr>
                        <m:e>
                          <m:m>
                            <m:mPr>
                              <m:plcHide m:val="on"/>
                              <m:mcs>
                                <m:mc>
                                  <m:mcPr>
                                    <m:count m:val="2"/>
                                    <m:mcJc m:val="center"/>
                                  </m:mcPr>
                                </m:mc>
                              </m:mcs>
                              <m:ctrlPr>
                                <a:rPr lang="zh-CN" altLang="en-US" sz="2200" i="1">
                                  <a:latin typeface="Cambria Math" panose="02040503050406030204" pitchFamily="18" charset="0"/>
                                </a:rPr>
                              </m:ctrlPr>
                            </m:mPr>
                            <m:mr>
                              <m:e>
                                <m:r>
                                  <a:rPr lang="zh-CN" altLang="en-US" sz="2200" b="0" i="1">
                                    <a:latin typeface="Cambria Math" panose="02040503050406030204" pitchFamily="18" charset="0"/>
                                  </a:rPr>
                                  <m:t>2</m:t>
                                </m:r>
                              </m:e>
                              <m:e>
                                <m:r>
                                  <a:rPr lang="zh-CN" altLang="en-US" sz="2200" b="0" i="1">
                                    <a:latin typeface="Cambria Math" panose="02040503050406030204" pitchFamily="18" charset="0"/>
                                  </a:rPr>
                                  <m:t>1</m:t>
                                </m:r>
                              </m:e>
                            </m:mr>
                            <m:mr>
                              <m:e>
                                <m:r>
                                  <a:rPr lang="zh-CN" altLang="en-US" sz="2200" b="0" i="1">
                                    <a:latin typeface="Cambria Math" panose="02040503050406030204" pitchFamily="18" charset="0"/>
                                  </a:rPr>
                                  <m:t>1</m:t>
                                </m:r>
                              </m:e>
                              <m:e>
                                <m:r>
                                  <a:rPr lang="zh-CN" altLang="en-US" sz="2200" b="0" i="1">
                                    <a:latin typeface="Cambria Math" panose="02040503050406030204" pitchFamily="18" charset="0"/>
                                  </a:rPr>
                                  <m:t>1</m:t>
                                </m:r>
                              </m:e>
                            </m:mr>
                          </m:m>
                        </m:e>
                      </m:d>
                      <m:r>
                        <a:rPr lang="zh-CN" altLang="en-US" sz="2200" b="1" i="1">
                          <a:latin typeface="Cambria Math" panose="02040503050406030204" pitchFamily="18" charset="0"/>
                        </a:rPr>
                        <m:t>𝒊</m:t>
                      </m:r>
                      <m:r>
                        <a:rPr lang="zh-CN" altLang="en-US" sz="2200" b="0" i="1">
                          <a:latin typeface="Cambria Math" panose="02040503050406030204" pitchFamily="18" charset="0"/>
                        </a:rPr>
                        <m:t>−</m:t>
                      </m:r>
                      <m:d>
                        <m:dPr>
                          <m:begChr m:val="|"/>
                          <m:endChr m:val="|"/>
                          <m:ctrlPr>
                            <a:rPr lang="zh-CN" altLang="en-US" sz="2200" i="1">
                              <a:latin typeface="Cambria Math" panose="02040503050406030204" pitchFamily="18" charset="0"/>
                            </a:rPr>
                          </m:ctrlPr>
                        </m:dPr>
                        <m:e>
                          <m:m>
                            <m:mPr>
                              <m:plcHide m:val="on"/>
                              <m:mcs>
                                <m:mc>
                                  <m:mcPr>
                                    <m:count m:val="2"/>
                                    <m:mcJc m:val="center"/>
                                  </m:mcPr>
                                </m:mc>
                              </m:mcs>
                              <m:ctrlPr>
                                <a:rPr lang="zh-CN" altLang="en-US" sz="2200" i="1">
                                  <a:latin typeface="Cambria Math" panose="02040503050406030204" pitchFamily="18" charset="0"/>
                                </a:rPr>
                              </m:ctrlPr>
                            </m:mPr>
                            <m:mr>
                              <m:e>
                                <m:r>
                                  <a:rPr lang="zh-CN" altLang="en-US" sz="2200" b="0" i="1">
                                    <a:latin typeface="Cambria Math" panose="02040503050406030204" pitchFamily="18" charset="0"/>
                                  </a:rPr>
                                  <m:t>1</m:t>
                                </m:r>
                              </m:e>
                              <m:e>
                                <m:r>
                                  <a:rPr lang="zh-CN" altLang="en-US" sz="2200" b="0" i="1">
                                    <a:latin typeface="Cambria Math" panose="02040503050406030204" pitchFamily="18" charset="0"/>
                                  </a:rPr>
                                  <m:t>1</m:t>
                                </m:r>
                              </m:e>
                            </m:mr>
                            <m:mr>
                              <m:e>
                                <m:r>
                                  <a:rPr lang="zh-CN" altLang="en-US" sz="2200" b="0" i="1">
                                    <a:latin typeface="Cambria Math" panose="02040503050406030204" pitchFamily="18" charset="0"/>
                                  </a:rPr>
                                  <m:t>2</m:t>
                                </m:r>
                              </m:e>
                              <m:e>
                                <m:r>
                                  <a:rPr lang="zh-CN" altLang="en-US" sz="2200" b="0" i="1">
                                    <a:latin typeface="Cambria Math" panose="02040503050406030204" pitchFamily="18" charset="0"/>
                                  </a:rPr>
                                  <m:t>1</m:t>
                                </m:r>
                              </m:e>
                            </m:mr>
                          </m:m>
                        </m:e>
                      </m:d>
                      <m:r>
                        <a:rPr lang="zh-CN" altLang="en-US" sz="2200" b="1" i="1">
                          <a:latin typeface="Cambria Math" panose="02040503050406030204" pitchFamily="18" charset="0"/>
                        </a:rPr>
                        <m:t>𝒋</m:t>
                      </m:r>
                      <m:r>
                        <a:rPr lang="zh-CN" altLang="en-US" sz="2200" b="0" i="1">
                          <a:latin typeface="Cambria Math" panose="02040503050406030204" pitchFamily="18" charset="0"/>
                        </a:rPr>
                        <m:t>+</m:t>
                      </m:r>
                      <m:d>
                        <m:dPr>
                          <m:begChr m:val="|"/>
                          <m:endChr m:val="|"/>
                          <m:ctrlPr>
                            <a:rPr lang="zh-CN" altLang="en-US" sz="2200" i="1">
                              <a:latin typeface="Cambria Math" panose="02040503050406030204" pitchFamily="18" charset="0"/>
                            </a:rPr>
                          </m:ctrlPr>
                        </m:dPr>
                        <m:e>
                          <m:m>
                            <m:mPr>
                              <m:plcHide m:val="on"/>
                              <m:mcs>
                                <m:mc>
                                  <m:mcPr>
                                    <m:count m:val="2"/>
                                    <m:mcJc m:val="center"/>
                                  </m:mcPr>
                                </m:mc>
                              </m:mcs>
                              <m:ctrlPr>
                                <a:rPr lang="zh-CN" altLang="en-US" sz="2200" i="1">
                                  <a:latin typeface="Cambria Math" panose="02040503050406030204" pitchFamily="18" charset="0"/>
                                </a:rPr>
                              </m:ctrlPr>
                            </m:mPr>
                            <m:mr>
                              <m:e>
                                <m:r>
                                  <a:rPr lang="zh-CN" altLang="en-US" sz="2200" b="0" i="1">
                                    <a:latin typeface="Cambria Math" panose="02040503050406030204" pitchFamily="18" charset="0"/>
                                  </a:rPr>
                                  <m:t>1</m:t>
                                </m:r>
                              </m:e>
                              <m:e>
                                <m:r>
                                  <a:rPr lang="zh-CN" altLang="en-US" sz="2200" b="0" i="1">
                                    <a:latin typeface="Cambria Math" panose="02040503050406030204" pitchFamily="18" charset="0"/>
                                  </a:rPr>
                                  <m:t>2</m:t>
                                </m:r>
                              </m:e>
                            </m:mr>
                            <m:mr>
                              <m:e>
                                <m:r>
                                  <a:rPr lang="zh-CN" altLang="en-US" sz="2200" b="0" i="1">
                                    <a:latin typeface="Cambria Math" panose="02040503050406030204" pitchFamily="18" charset="0"/>
                                  </a:rPr>
                                  <m:t>2</m:t>
                                </m:r>
                              </m:e>
                              <m:e>
                                <m:r>
                                  <a:rPr lang="zh-CN" altLang="en-US" sz="2200" b="0" i="1">
                                    <a:latin typeface="Cambria Math" panose="02040503050406030204" pitchFamily="18" charset="0"/>
                                  </a:rPr>
                                  <m:t>1</m:t>
                                </m:r>
                              </m:e>
                            </m:mr>
                          </m:m>
                        </m:e>
                      </m:d>
                      <m:r>
                        <a:rPr lang="zh-CN" altLang="en-US" sz="2200" b="1" i="1">
                          <a:latin typeface="Cambria Math" panose="02040503050406030204" pitchFamily="18" charset="0"/>
                        </a:rPr>
                        <m:t>𝒌</m:t>
                      </m:r>
                    </m:oMath>
                  </m:oMathPara>
                </a14:m>
                <a:endParaRPr lang="zh-CN" altLang="en-US" sz="2200" b="1" i="1" dirty="0">
                  <a:latin typeface="Cambria Math" panose="02040503050406030204" pitchFamily="18" charset="0"/>
                </a:endParaRPr>
              </a:p>
            </p:txBody>
          </p:sp>
        </mc:Choice>
        <mc:Fallback xmlns="">
          <p:sp>
            <p:nvSpPr>
              <p:cNvPr id="2246" name="Object 198"/>
              <p:cNvSpPr txBox="1">
                <a:spLocks noRot="1" noChangeAspect="1" noMove="1" noResize="1" noEditPoints="1" noAdjustHandles="1" noChangeArrowheads="1" noChangeShapeType="1" noTextEdit="1"/>
              </p:cNvSpPr>
              <p:nvPr/>
            </p:nvSpPr>
            <p:spPr bwMode="auto">
              <a:xfrm>
                <a:off x="2672977" y="3778715"/>
                <a:ext cx="4152132" cy="751732"/>
              </a:xfrm>
              <a:prstGeom prst="rect">
                <a:avLst/>
              </a:prstGeom>
              <a:blipFill>
                <a:blip r:embed="rId11"/>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48" name="Object 200"/>
              <p:cNvSpPr txBox="1"/>
              <p:nvPr/>
            </p:nvSpPr>
            <p:spPr bwMode="auto">
              <a:xfrm>
                <a:off x="2669539" y="4580758"/>
                <a:ext cx="2065632" cy="505602"/>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sz="2200" b="0" i="1">
                          <a:latin typeface="Cambria Math" panose="02040503050406030204" pitchFamily="18" charset="0"/>
                        </a:rPr>
                        <m:t>=</m:t>
                      </m:r>
                      <m:r>
                        <a:rPr lang="zh-CN" altLang="en-US" sz="2200" b="1" i="1">
                          <a:latin typeface="Cambria Math" panose="02040503050406030204" pitchFamily="18" charset="0"/>
                        </a:rPr>
                        <m:t>𝒊</m:t>
                      </m:r>
                      <m:r>
                        <a:rPr lang="zh-CN" altLang="en-US" sz="2200" b="0" i="1">
                          <a:latin typeface="Cambria Math" panose="02040503050406030204" pitchFamily="18" charset="0"/>
                        </a:rPr>
                        <m:t>+</m:t>
                      </m:r>
                      <m:r>
                        <a:rPr lang="zh-CN" altLang="en-US" sz="2200" b="1" i="1">
                          <a:latin typeface="Cambria Math" panose="02040503050406030204" pitchFamily="18" charset="0"/>
                        </a:rPr>
                        <m:t>𝒋</m:t>
                      </m:r>
                      <m:r>
                        <a:rPr lang="zh-CN" altLang="en-US" sz="2200" b="0" i="1">
                          <a:latin typeface="Cambria Math" panose="02040503050406030204" pitchFamily="18" charset="0"/>
                        </a:rPr>
                        <m:t>−3</m:t>
                      </m:r>
                      <m:r>
                        <a:rPr lang="zh-CN" altLang="en-US" sz="2200" b="1" i="1">
                          <a:latin typeface="Cambria Math" panose="02040503050406030204" pitchFamily="18" charset="0"/>
                        </a:rPr>
                        <m:t>𝒌</m:t>
                      </m:r>
                      <m:r>
                        <a:rPr lang="zh-CN" altLang="en-US" sz="2200" b="0" i="1">
                          <a:latin typeface="Cambria Math" panose="02040503050406030204" pitchFamily="18" charset="0"/>
                        </a:rPr>
                        <m:t>.</m:t>
                      </m:r>
                    </m:oMath>
                  </m:oMathPara>
                </a14:m>
                <a:endParaRPr lang="zh-CN" altLang="en-US" sz="2200" i="1" dirty="0">
                  <a:latin typeface="Cambria Math" panose="02040503050406030204" pitchFamily="18" charset="0"/>
                </a:endParaRPr>
              </a:p>
            </p:txBody>
          </p:sp>
        </mc:Choice>
        <mc:Fallback xmlns="">
          <p:sp>
            <p:nvSpPr>
              <p:cNvPr id="2248" name="Object 200"/>
              <p:cNvSpPr txBox="1">
                <a:spLocks noRot="1" noChangeAspect="1" noMove="1" noResize="1" noEditPoints="1" noAdjustHandles="1" noChangeArrowheads="1" noChangeShapeType="1" noTextEdit="1"/>
              </p:cNvSpPr>
              <p:nvPr/>
            </p:nvSpPr>
            <p:spPr bwMode="auto">
              <a:xfrm>
                <a:off x="2669539" y="4580758"/>
                <a:ext cx="2065632" cy="505602"/>
              </a:xfrm>
              <a:prstGeom prst="rect">
                <a:avLst/>
              </a:prstGeom>
              <a:blipFill>
                <a:blip r:embed="rId12"/>
                <a:stretch>
                  <a:fillRect b="-1205"/>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56" name="Text Box 208"/>
              <p:cNvSpPr txBox="1">
                <a:spLocks noChangeArrowheads="1"/>
              </p:cNvSpPr>
              <p:nvPr/>
            </p:nvSpPr>
            <p:spPr bwMode="auto">
              <a:xfrm>
                <a:off x="2444493" y="5004289"/>
                <a:ext cx="2065633"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r>
                  <a:rPr lang="zh-CN" altLang="en-US" sz="2200" dirty="0">
                    <a:latin typeface="Times New Roman" panose="02020603050405020304" pitchFamily="18" charset="0"/>
                    <a:cs typeface="Times New Roman" panose="02020603050405020304" pitchFamily="18" charset="0"/>
                  </a:rPr>
                  <a:t>则</a:t>
                </a:r>
                <a14:m>
                  <m:oMath xmlns:m="http://schemas.openxmlformats.org/officeDocument/2006/math">
                    <m:r>
                      <a:rPr lang="en-US" altLang="zh-CN" sz="2200" b="1" i="1">
                        <a:latin typeface="Cambria Math" panose="02040503050406030204" pitchFamily="18" charset="0"/>
                      </a:rPr>
                      <m:t>𝒄</m:t>
                    </m:r>
                  </m:oMath>
                </a14:m>
                <a:r>
                  <a:rPr lang="zh-CN" altLang="en-US" sz="2200" dirty="0">
                    <a:latin typeface="Times New Roman" panose="02020603050405020304" pitchFamily="18" charset="0"/>
                    <a:cs typeface="Times New Roman" panose="02020603050405020304" pitchFamily="18" charset="0"/>
                  </a:rPr>
                  <a:t>即为所求</a:t>
                </a:r>
                <a:r>
                  <a:rPr lang="en-US" altLang="zh-CN" sz="2800" dirty="0">
                    <a:latin typeface="Times New Roman" panose="02020603050405020304" pitchFamily="18" charset="0"/>
                    <a:cs typeface="Times New Roman" panose="02020603050405020304" pitchFamily="18" charset="0"/>
                  </a:rPr>
                  <a:t>.</a:t>
                </a:r>
              </a:p>
            </p:txBody>
          </p:sp>
        </mc:Choice>
        <mc:Fallback xmlns="">
          <p:sp>
            <p:nvSpPr>
              <p:cNvPr id="2256" name="Text Box 208"/>
              <p:cNvSpPr txBox="1">
                <a:spLocks noRot="1" noChangeAspect="1" noMove="1" noResize="1" noEditPoints="1" noAdjustHandles="1" noChangeArrowheads="1" noChangeShapeType="1" noTextEdit="1"/>
              </p:cNvSpPr>
              <p:nvPr/>
            </p:nvSpPr>
            <p:spPr bwMode="auto">
              <a:xfrm>
                <a:off x="2444493" y="5004289"/>
                <a:ext cx="2065633" cy="523220"/>
              </a:xfrm>
              <a:prstGeom prst="rect">
                <a:avLst/>
              </a:prstGeom>
              <a:blipFill>
                <a:blip r:embed="rId13"/>
                <a:stretch>
                  <a:fillRect l="-3835" t="-12791" b="-3139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extLst>
      <p:ext uri="{BB962C8B-B14F-4D97-AF65-F5344CB8AC3E}">
        <p14:creationId xmlns:p14="http://schemas.microsoft.com/office/powerpoint/2010/main" val="11645019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39"/>
                                        </p:tgtEl>
                                        <p:attrNameLst>
                                          <p:attrName>style.visibility</p:attrName>
                                        </p:attrNameLst>
                                      </p:cBhvr>
                                      <p:to>
                                        <p:strVal val="visible"/>
                                      </p:to>
                                    </p:set>
                                    <p:animEffect transition="in" filter="wipe(left)">
                                      <p:cBhvr>
                                        <p:cTn id="7" dur="500"/>
                                        <p:tgtEl>
                                          <p:spTgt spid="223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240"/>
                                        </p:tgtEl>
                                        <p:attrNameLst>
                                          <p:attrName>style.visibility</p:attrName>
                                        </p:attrNameLst>
                                      </p:cBhvr>
                                      <p:to>
                                        <p:strVal val="visible"/>
                                      </p:to>
                                    </p:set>
                                    <p:animEffect transition="in" filter="wipe(left)">
                                      <p:cBhvr>
                                        <p:cTn id="10" dur="500"/>
                                        <p:tgtEl>
                                          <p:spTgt spid="2240"/>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197"/>
                                        </p:tgtEl>
                                        <p:attrNameLst>
                                          <p:attrName>style.visibility</p:attrName>
                                        </p:attrNameLst>
                                      </p:cBhvr>
                                      <p:to>
                                        <p:strVal val="visible"/>
                                      </p:to>
                                    </p:set>
                                    <p:animEffect transition="in" filter="wipe(left)">
                                      <p:cBhvr>
                                        <p:cTn id="13" dur="500"/>
                                        <p:tgtEl>
                                          <p:spTgt spid="219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242"/>
                                        </p:tgtEl>
                                        <p:attrNameLst>
                                          <p:attrName>style.visibility</p:attrName>
                                        </p:attrNameLst>
                                      </p:cBhvr>
                                      <p:to>
                                        <p:strVal val="visible"/>
                                      </p:to>
                                    </p:set>
                                    <p:animEffect transition="in" filter="wipe(left)">
                                      <p:cBhvr>
                                        <p:cTn id="18" dur="500"/>
                                        <p:tgtEl>
                                          <p:spTgt spid="224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243"/>
                                        </p:tgtEl>
                                        <p:attrNameLst>
                                          <p:attrName>style.visibility</p:attrName>
                                        </p:attrNameLst>
                                      </p:cBhvr>
                                      <p:to>
                                        <p:strVal val="visible"/>
                                      </p:to>
                                    </p:set>
                                    <p:animEffect transition="in" filter="wipe(left)">
                                      <p:cBhvr>
                                        <p:cTn id="23" dur="500"/>
                                        <p:tgtEl>
                                          <p:spTgt spid="224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244"/>
                                        </p:tgtEl>
                                        <p:attrNameLst>
                                          <p:attrName>style.visibility</p:attrName>
                                        </p:attrNameLst>
                                      </p:cBhvr>
                                      <p:to>
                                        <p:strVal val="visible"/>
                                      </p:to>
                                    </p:set>
                                    <p:animEffect transition="in" filter="wipe(left)">
                                      <p:cBhvr>
                                        <p:cTn id="28" dur="500"/>
                                        <p:tgtEl>
                                          <p:spTgt spid="224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246"/>
                                        </p:tgtEl>
                                        <p:attrNameLst>
                                          <p:attrName>style.visibility</p:attrName>
                                        </p:attrNameLst>
                                      </p:cBhvr>
                                      <p:to>
                                        <p:strVal val="visible"/>
                                      </p:to>
                                    </p:set>
                                    <p:animEffect transition="in" filter="wipe(left)">
                                      <p:cBhvr>
                                        <p:cTn id="33" dur="500"/>
                                        <p:tgtEl>
                                          <p:spTgt spid="224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248"/>
                                        </p:tgtEl>
                                        <p:attrNameLst>
                                          <p:attrName>style.visibility</p:attrName>
                                        </p:attrNameLst>
                                      </p:cBhvr>
                                      <p:to>
                                        <p:strVal val="visible"/>
                                      </p:to>
                                    </p:set>
                                    <p:animEffect transition="in" filter="wipe(left)">
                                      <p:cBhvr>
                                        <p:cTn id="38" dur="500"/>
                                        <p:tgtEl>
                                          <p:spTgt spid="2248"/>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256"/>
                                        </p:tgtEl>
                                        <p:attrNameLst>
                                          <p:attrName>style.visibility</p:attrName>
                                        </p:attrNameLst>
                                      </p:cBhvr>
                                      <p:to>
                                        <p:strVal val="visible"/>
                                      </p:to>
                                    </p:set>
                                    <p:animEffect transition="in" filter="wipe(left)">
                                      <p:cBhvr>
                                        <p:cTn id="43" dur="500"/>
                                        <p:tgtEl>
                                          <p:spTgt spid="22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7" grpId="0"/>
      <p:bldP spid="2239" grpId="0"/>
      <p:bldP spid="2240" grpId="0"/>
      <p:bldP spid="2242" grpId="0"/>
      <p:bldP spid="2243" grpId="0"/>
      <p:bldP spid="2244" grpId="0"/>
      <p:bldP spid="2246" grpId="0"/>
      <p:bldP spid="2248" grpId="0"/>
      <p:bldP spid="225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D3362EA1-CC83-D411-E070-209203349298}"/>
              </a:ext>
            </a:extLst>
          </p:cNvPr>
          <p:cNvGrpSpPr/>
          <p:nvPr/>
        </p:nvGrpSpPr>
        <p:grpSpPr>
          <a:xfrm>
            <a:off x="687324" y="535820"/>
            <a:ext cx="10817987" cy="5803091"/>
            <a:chOff x="687324" y="535820"/>
            <a:chExt cx="10817987" cy="5803091"/>
          </a:xfrm>
        </p:grpSpPr>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FBD51354-7AF3-FF49-31EB-7422341B97DF}"/>
                    </a:ext>
                  </a:extLst>
                </p:cNvPr>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dirty="0"/>
                </a:p>
              </p:txBody>
            </p:sp>
          </mc:Choice>
          <mc:Fallback xmlns="">
            <p:sp>
              <p:nvSpPr>
                <p:cNvPr id="4" name="矩形 3">
                  <a:extLst>
                    <a:ext uri="{FF2B5EF4-FFF2-40B4-BE49-F238E27FC236}">
                      <a16:creationId xmlns:a16="http://schemas.microsoft.com/office/drawing/2014/main" id="{FBD51354-7AF3-FF49-31EB-7422341B97DF}"/>
                    </a:ext>
                  </a:extLst>
                </p:cNvPr>
                <p:cNvSpPr>
                  <a:spLocks noRot="1" noChangeAspect="1" noMove="1" noResize="1" noEditPoints="1" noAdjustHandles="1" noChangeArrowheads="1" noChangeShapeType="1" noTextEdit="1"/>
                </p:cNvSpPr>
                <p:nvPr/>
              </p:nvSpPr>
              <p:spPr>
                <a:xfrm>
                  <a:off x="687959" y="536260"/>
                  <a:ext cx="10817352" cy="5799897"/>
                </a:xfrm>
                <a:prstGeom prst="rect">
                  <a:avLst/>
                </a:prstGeom>
                <a:blipFill>
                  <a:blip r:embed="rId2"/>
                  <a:stretch>
                    <a:fillRect/>
                  </a:stretch>
                </a:blipFill>
                <a:ln>
                  <a:noFill/>
                </a:ln>
                <a:effectLst>
                  <a:outerShdw blurRad="63500" sx="102000" sy="102000" algn="ctr" rotWithShape="0">
                    <a:prstClr val="black">
                      <a:alpha val="9000"/>
                    </a:prstClr>
                  </a:outerShdw>
                </a:effectLst>
              </p:spPr>
              <p:txBody>
                <a:bodyPr/>
                <a:lstStyle/>
                <a:p>
                  <a:r>
                    <a:rPr lang="zh-CN" altLang="en-US">
                      <a:noFill/>
                    </a:rPr>
                    <a:t> </a:t>
                  </a:r>
                </a:p>
              </p:txBody>
            </p:sp>
          </mc:Fallback>
        </mc:AlternateContent>
        <p:sp>
          <p:nvSpPr>
            <p:cNvPr id="5" name="半闭框 4">
              <a:extLst>
                <a:ext uri="{FF2B5EF4-FFF2-40B4-BE49-F238E27FC236}">
                  <a16:creationId xmlns:a16="http://schemas.microsoft.com/office/drawing/2014/main" id="{0474E045-D4A6-0C44-13AD-5BFCD27A3991}"/>
                </a:ext>
              </a:extLst>
            </p:cNvPr>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半闭框 5">
              <a:extLst>
                <a:ext uri="{FF2B5EF4-FFF2-40B4-BE49-F238E27FC236}">
                  <a16:creationId xmlns:a16="http://schemas.microsoft.com/office/drawing/2014/main" id="{7DDECCF3-B490-22B7-11AE-D2EB0D05E250}"/>
                </a:ext>
              </a:extLst>
            </p:cNvPr>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半闭框 6">
              <a:extLst>
                <a:ext uri="{FF2B5EF4-FFF2-40B4-BE49-F238E27FC236}">
                  <a16:creationId xmlns:a16="http://schemas.microsoft.com/office/drawing/2014/main" id="{A1638BE7-152F-0BB8-42A6-29D6F7D6531B}"/>
                </a:ext>
              </a:extLst>
            </p:cNvPr>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8" name="半闭框 7">
              <a:extLst>
                <a:ext uri="{FF2B5EF4-FFF2-40B4-BE49-F238E27FC236}">
                  <a16:creationId xmlns:a16="http://schemas.microsoft.com/office/drawing/2014/main" id="{FFF1A74B-4AF0-8EAE-AB71-196DC6D7AAFE}"/>
                </a:ext>
              </a:extLst>
            </p:cNvPr>
            <p:cNvSpPr/>
            <p:nvPr/>
          </p:nvSpPr>
          <p:spPr>
            <a:xfrm flipH="1" flipV="1">
              <a:off x="10823530"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2197" name="Rectangle 149"/>
          <p:cNvSpPr>
            <a:spLocks noChangeArrowheads="1"/>
          </p:cNvSpPr>
          <p:nvPr/>
        </p:nvSpPr>
        <p:spPr bwMode="auto">
          <a:xfrm>
            <a:off x="1091059" y="2033858"/>
            <a:ext cx="54373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800" b="1" dirty="0">
                <a:solidFill>
                  <a:srgbClr val="04926A"/>
                </a:solidFill>
                <a:latin typeface="微软雅黑" panose="020B0503020204020204" pitchFamily="34" charset="-122"/>
                <a:ea typeface="微软雅黑" panose="020B0503020204020204" pitchFamily="34" charset="-122"/>
              </a:rPr>
              <a:t>解</a:t>
            </a:r>
          </a:p>
        </p:txBody>
      </p:sp>
      <mc:AlternateContent xmlns:mc="http://schemas.openxmlformats.org/markup-compatibility/2006" xmlns:a14="http://schemas.microsoft.com/office/drawing/2010/main">
        <mc:Choice Requires="a14">
          <p:sp>
            <p:nvSpPr>
              <p:cNvPr id="2237" name="Text Box 189"/>
              <p:cNvSpPr txBox="1">
                <a:spLocks noChangeArrowheads="1"/>
              </p:cNvSpPr>
              <p:nvPr/>
            </p:nvSpPr>
            <p:spPr bwMode="auto">
              <a:xfrm>
                <a:off x="1091059" y="916152"/>
                <a:ext cx="8986732"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800" b="1" dirty="0">
                    <a:solidFill>
                      <a:srgbClr val="04926A"/>
                    </a:solidFill>
                    <a:latin typeface="微软雅黑" panose="020B0503020204020204" pitchFamily="34" charset="-122"/>
                    <a:ea typeface="微软雅黑" panose="020B0503020204020204" pitchFamily="34" charset="-122"/>
                  </a:rPr>
                  <a:t>例</a:t>
                </a:r>
                <a:r>
                  <a:rPr kumimoji="1" lang="en-US" altLang="zh-CN" sz="2800" b="1" dirty="0">
                    <a:solidFill>
                      <a:srgbClr val="04926A"/>
                    </a:solidFill>
                    <a:latin typeface="微软雅黑" panose="020B0503020204020204" pitchFamily="34" charset="-122"/>
                    <a:ea typeface="微软雅黑" panose="020B0503020204020204" pitchFamily="34" charset="-122"/>
                  </a:rPr>
                  <a:t>5</a:t>
                </a:r>
                <a:r>
                  <a:rPr lang="en-US" altLang="zh-CN" sz="2800" dirty="0">
                    <a:solidFill>
                      <a:srgbClr val="3333CC"/>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在顶点为</a:t>
                </a:r>
                <a14:m>
                  <m:oMath xmlns:m="http://schemas.openxmlformats.org/officeDocument/2006/math">
                    <m:r>
                      <a:rPr lang="en-US" altLang="zh-CN" sz="2800" b="0" i="1" smtClean="0">
                        <a:latin typeface="Cambria Math" panose="02040503050406030204" pitchFamily="18" charset="0"/>
                      </a:rPr>
                      <m:t>𝐴</m:t>
                    </m:r>
                    <m:r>
                      <a:rPr lang="en-US" altLang="zh-CN" sz="2800" b="0" i="1" smtClean="0">
                        <a:latin typeface="Cambria Math" panose="02040503050406030204" pitchFamily="18" charset="0"/>
                      </a:rPr>
                      <m:t>=</m:t>
                    </m:r>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1,−1,2</m:t>
                        </m:r>
                      </m:e>
                    </m:d>
                    <m:r>
                      <a:rPr lang="en-US" altLang="zh-CN" sz="2800" b="0" i="1" smtClean="0">
                        <a:latin typeface="Cambria Math" panose="02040503050406030204" pitchFamily="18" charset="0"/>
                      </a:rPr>
                      <m:t>, </m:t>
                    </m:r>
                    <m:r>
                      <a:rPr lang="en-US" altLang="zh-CN" sz="2800" b="0" i="1" smtClean="0">
                        <a:latin typeface="Cambria Math" panose="02040503050406030204" pitchFamily="18" charset="0"/>
                      </a:rPr>
                      <m:t>𝐵</m:t>
                    </m:r>
                    <m:r>
                      <a:rPr lang="en-US" altLang="zh-CN" sz="2800" b="0" i="1" smtClean="0">
                        <a:latin typeface="Cambria Math" panose="02040503050406030204" pitchFamily="18" charset="0"/>
                      </a:rPr>
                      <m:t>(5,−6,2)</m:t>
                    </m:r>
                  </m:oMath>
                </a14:m>
                <a:r>
                  <a:rPr lang="zh-CN" altLang="en-US" sz="2800" dirty="0">
                    <a:latin typeface="Times New Roman" panose="02020603050405020304" pitchFamily="18" charset="0"/>
                    <a:cs typeface="Times New Roman" panose="02020603050405020304" pitchFamily="18" charset="0"/>
                  </a:rPr>
                  <a:t>和</a:t>
                </a:r>
                <a14:m>
                  <m:oMath xmlns:m="http://schemas.openxmlformats.org/officeDocument/2006/math">
                    <m:r>
                      <a:rPr lang="en-US" altLang="zh-CN" sz="2800" i="1" dirty="0">
                        <a:latin typeface="Cambria Math" panose="02040503050406030204" pitchFamily="18" charset="0"/>
                      </a:rPr>
                      <m:t>𝐶</m:t>
                    </m:r>
                    <m:r>
                      <a:rPr lang="en-US" altLang="zh-CN" sz="2800" i="1">
                        <a:latin typeface="Cambria Math" panose="02040503050406030204" pitchFamily="18" charset="0"/>
                      </a:rPr>
                      <m:t>(1,3,−1)</m:t>
                    </m:r>
                  </m:oMath>
                </a14:m>
                <a:r>
                  <a:rPr lang="zh-CN" altLang="en-US" sz="2800" dirty="0">
                    <a:latin typeface="Times New Roman" panose="02020603050405020304" pitchFamily="18" charset="0"/>
                    <a:cs typeface="Times New Roman" panose="02020603050405020304" pitchFamily="18" charset="0"/>
                  </a:rPr>
                  <a:t>的三</a:t>
                </a:r>
              </a:p>
            </p:txBody>
          </p:sp>
        </mc:Choice>
        <mc:Fallback xmlns="">
          <p:sp>
            <p:nvSpPr>
              <p:cNvPr id="2237" name="Text Box 189"/>
              <p:cNvSpPr txBox="1">
                <a:spLocks noRot="1" noChangeAspect="1" noMove="1" noResize="1" noEditPoints="1" noAdjustHandles="1" noChangeArrowheads="1" noChangeShapeType="1" noTextEdit="1"/>
              </p:cNvSpPr>
              <p:nvPr/>
            </p:nvSpPr>
            <p:spPr bwMode="auto">
              <a:xfrm>
                <a:off x="1091059" y="916152"/>
                <a:ext cx="8986732" cy="523220"/>
              </a:xfrm>
              <a:prstGeom prst="rect">
                <a:avLst/>
              </a:prstGeom>
              <a:blipFill>
                <a:blip r:embed="rId7"/>
                <a:stretch>
                  <a:fillRect l="-1425" t="-15116" b="-3255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38" name="Text Box 190"/>
              <p:cNvSpPr txBox="1">
                <a:spLocks noChangeArrowheads="1"/>
              </p:cNvSpPr>
              <p:nvPr/>
            </p:nvSpPr>
            <p:spPr bwMode="auto">
              <a:xfrm>
                <a:off x="1911768" y="1428709"/>
                <a:ext cx="4866876"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dirty="0">
                    <a:latin typeface="Times New Roman" panose="02020603050405020304" pitchFamily="18" charset="0"/>
                    <a:cs typeface="Times New Roman" panose="02020603050405020304" pitchFamily="18" charset="0"/>
                    <a:sym typeface="Symbol" panose="05050102010706020507" pitchFamily="18" charset="2"/>
                  </a:rPr>
                  <a:t>角形中，求</a:t>
                </a:r>
                <a14:m>
                  <m:oMath xmlns:m="http://schemas.openxmlformats.org/officeDocument/2006/math">
                    <m:r>
                      <a:rPr lang="en-US" altLang="zh-CN" sz="2800" b="0" i="1" smtClean="0">
                        <a:latin typeface="Cambria Math" panose="02040503050406030204" pitchFamily="18" charset="0"/>
                      </a:rPr>
                      <m:t>𝐴𝐶</m:t>
                    </m:r>
                  </m:oMath>
                </a14:m>
                <a:r>
                  <a:rPr lang="zh-CN" altLang="en-US" sz="2800" dirty="0">
                    <a:latin typeface="Times New Roman" panose="02020603050405020304" pitchFamily="18" charset="0"/>
                    <a:cs typeface="Times New Roman" panose="02020603050405020304" pitchFamily="18" charset="0"/>
                    <a:sym typeface="Symbol" panose="05050102010706020507" pitchFamily="18" charset="2"/>
                  </a:rPr>
                  <a:t>边上的高</a:t>
                </a:r>
                <a14:m>
                  <m:oMath xmlns:m="http://schemas.openxmlformats.org/officeDocument/2006/math">
                    <m:r>
                      <a:rPr lang="en-US" altLang="zh-CN" sz="2800" b="0" i="1" smtClean="0">
                        <a:latin typeface="Cambria Math" panose="02040503050406030204" pitchFamily="18" charset="0"/>
                      </a:rPr>
                      <m:t>𝐵𝐷</m:t>
                    </m:r>
                  </m:oMath>
                </a14:m>
                <a:r>
                  <a:rPr lang="zh-CN" altLang="en-US" sz="2800" dirty="0">
                    <a:latin typeface="Times New Roman" panose="02020603050405020304" pitchFamily="18" charset="0"/>
                    <a:cs typeface="Times New Roman" panose="02020603050405020304" pitchFamily="18" charset="0"/>
                  </a:rPr>
                  <a:t>．</a:t>
                </a:r>
              </a:p>
            </p:txBody>
          </p:sp>
        </mc:Choice>
        <mc:Fallback xmlns="">
          <p:sp>
            <p:nvSpPr>
              <p:cNvPr id="2238" name="Text Box 190"/>
              <p:cNvSpPr txBox="1">
                <a:spLocks noRot="1" noChangeAspect="1" noMove="1" noResize="1" noEditPoints="1" noAdjustHandles="1" noChangeArrowheads="1" noChangeShapeType="1" noTextEdit="1"/>
              </p:cNvSpPr>
              <p:nvPr/>
            </p:nvSpPr>
            <p:spPr bwMode="auto">
              <a:xfrm>
                <a:off x="1911768" y="1428709"/>
                <a:ext cx="4866876" cy="523220"/>
              </a:xfrm>
              <a:prstGeom prst="rect">
                <a:avLst/>
              </a:prstGeom>
              <a:blipFill>
                <a:blip r:embed="rId8"/>
                <a:stretch>
                  <a:fillRect l="-2632" t="-15116" b="-2790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2250" name="Text Box 202"/>
          <p:cNvSpPr txBox="1">
            <a:spLocks noChangeArrowheads="1"/>
          </p:cNvSpPr>
          <p:nvPr/>
        </p:nvSpPr>
        <p:spPr bwMode="auto">
          <a:xfrm>
            <a:off x="1923888" y="2095362"/>
            <a:ext cx="345080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200" dirty="0">
                <a:latin typeface="Times New Roman" panose="02020603050405020304" pitchFamily="18" charset="0"/>
                <a:cs typeface="Times New Roman" panose="02020603050405020304" pitchFamily="18" charset="0"/>
              </a:rPr>
              <a:t>根据向量积的定义，可知</a:t>
            </a:r>
          </a:p>
        </p:txBody>
      </p:sp>
      <mc:AlternateContent xmlns:mc="http://schemas.openxmlformats.org/markup-compatibility/2006" xmlns:a14="http://schemas.microsoft.com/office/drawing/2010/main">
        <mc:Choice Requires="a14">
          <p:sp>
            <p:nvSpPr>
              <p:cNvPr id="2251" name="Text Box 203"/>
              <p:cNvSpPr txBox="1">
                <a:spLocks noChangeArrowheads="1"/>
              </p:cNvSpPr>
              <p:nvPr/>
            </p:nvSpPr>
            <p:spPr bwMode="auto">
              <a:xfrm>
                <a:off x="4996573" y="2095361"/>
                <a:ext cx="2562387" cy="4308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r>
                  <a:rPr lang="zh-CN" altLang="en-US" sz="2200" dirty="0">
                    <a:latin typeface="Times New Roman" panose="02020603050405020304" pitchFamily="18" charset="0"/>
                    <a:cs typeface="Times New Roman" panose="02020603050405020304" pitchFamily="18" charset="0"/>
                  </a:rPr>
                  <a:t>三角形</a:t>
                </a:r>
                <a14:m>
                  <m:oMath xmlns:m="http://schemas.openxmlformats.org/officeDocument/2006/math">
                    <m:r>
                      <a:rPr lang="en-US" altLang="zh-CN" sz="2200" i="1">
                        <a:latin typeface="Cambria Math" panose="02040503050406030204" pitchFamily="18" charset="0"/>
                      </a:rPr>
                      <m:t>𝐴</m:t>
                    </m:r>
                    <m:r>
                      <a:rPr lang="en-US" altLang="zh-CN" sz="2200" b="0" i="1" smtClean="0">
                        <a:latin typeface="Cambria Math" panose="02040503050406030204" pitchFamily="18" charset="0"/>
                      </a:rPr>
                      <m:t>𝐵</m:t>
                    </m:r>
                    <m:r>
                      <a:rPr lang="en-US" altLang="zh-CN" sz="2200" i="1">
                        <a:latin typeface="Cambria Math" panose="02040503050406030204" pitchFamily="18" charset="0"/>
                      </a:rPr>
                      <m:t>𝐶</m:t>
                    </m:r>
                  </m:oMath>
                </a14:m>
                <a:r>
                  <a:rPr lang="en-US" altLang="zh-CN" sz="2200" i="1" dirty="0">
                    <a:latin typeface="Cambria Math" panose="02040503050406030204" pitchFamily="18" charset="0"/>
                  </a:rPr>
                  <a:t> </a:t>
                </a:r>
                <a:r>
                  <a:rPr lang="zh-CN" altLang="en-US" sz="2200" dirty="0">
                    <a:latin typeface="Times New Roman" panose="02020603050405020304" pitchFamily="18" charset="0"/>
                    <a:cs typeface="Times New Roman" panose="02020603050405020304" pitchFamily="18" charset="0"/>
                  </a:rPr>
                  <a:t>的面积</a:t>
                </a:r>
              </a:p>
            </p:txBody>
          </p:sp>
        </mc:Choice>
        <mc:Fallback xmlns="">
          <p:sp>
            <p:nvSpPr>
              <p:cNvPr id="2251" name="Text Box 203"/>
              <p:cNvSpPr txBox="1">
                <a:spLocks noRot="1" noChangeAspect="1" noMove="1" noResize="1" noEditPoints="1" noAdjustHandles="1" noChangeArrowheads="1" noChangeShapeType="1" noTextEdit="1"/>
              </p:cNvSpPr>
              <p:nvPr/>
            </p:nvSpPr>
            <p:spPr bwMode="auto">
              <a:xfrm>
                <a:off x="4996573" y="2095361"/>
                <a:ext cx="2562387" cy="430887"/>
              </a:xfrm>
              <a:prstGeom prst="rect">
                <a:avLst/>
              </a:prstGeom>
              <a:blipFill>
                <a:blip r:embed="rId9"/>
                <a:stretch>
                  <a:fillRect l="-3095" t="-14286" b="-2428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52" name="Object 204"/>
              <p:cNvSpPr txBox="1"/>
              <p:nvPr/>
            </p:nvSpPr>
            <p:spPr bwMode="auto">
              <a:xfrm>
                <a:off x="1911768" y="2693117"/>
                <a:ext cx="5896409" cy="7747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𝑆</m:t>
                          </m:r>
                        </m:e>
                        <m:sub>
                          <m:r>
                            <a:rPr lang="zh-CN" altLang="en-US" sz="2200" i="1">
                              <a:latin typeface="Cambria Math" panose="02040503050406030204" pitchFamily="18" charset="0"/>
                            </a:rPr>
                            <m:t>△</m:t>
                          </m:r>
                          <m:r>
                            <a:rPr lang="zh-CN" altLang="en-US" sz="2200" i="1">
                              <a:latin typeface="Cambria Math" panose="02040503050406030204" pitchFamily="18" charset="0"/>
                            </a:rPr>
                            <m:t>𝐴𝐵𝐶</m:t>
                          </m:r>
                        </m:sub>
                      </m:sSub>
                      <m:r>
                        <a:rPr lang="zh-CN" altLang="en-US" sz="2200" i="1">
                          <a:latin typeface="Cambria Math" panose="02040503050406030204" pitchFamily="18" charset="0"/>
                        </a:rPr>
                        <m:t>=</m:t>
                      </m:r>
                      <m:f>
                        <m:fPr>
                          <m:ctrlPr>
                            <a:rPr lang="zh-CN" altLang="en-US" sz="2200" i="1">
                              <a:latin typeface="Cambria Math" panose="02040503050406030204" pitchFamily="18" charset="0"/>
                            </a:rPr>
                          </m:ctrlPr>
                        </m:fPr>
                        <m:num>
                          <m:r>
                            <a:rPr lang="zh-CN" altLang="en-US" sz="2200" i="1">
                              <a:latin typeface="Cambria Math" panose="02040503050406030204" pitchFamily="18" charset="0"/>
                            </a:rPr>
                            <m:t>1</m:t>
                          </m:r>
                        </m:num>
                        <m:den>
                          <m:r>
                            <a:rPr lang="zh-CN" altLang="en-US" sz="2200" i="1">
                              <a:latin typeface="Cambria Math" panose="02040503050406030204" pitchFamily="18" charset="0"/>
                            </a:rPr>
                            <m:t>2</m:t>
                          </m:r>
                        </m:den>
                      </m:f>
                      <m:r>
                        <a:rPr lang="zh-CN" altLang="en-US" sz="2200" i="1">
                          <a:latin typeface="Cambria Math" panose="02040503050406030204" pitchFamily="18" charset="0"/>
                        </a:rPr>
                        <m:t>|</m:t>
                      </m:r>
                      <m:groupChr>
                        <m:groupChrPr>
                          <m:chr m:val="→"/>
                          <m:pos m:val="top"/>
                          <m:vertJc m:val="bot"/>
                          <m:ctrlPr>
                            <a:rPr lang="zh-CN" altLang="en-US" sz="2200" i="1">
                              <a:latin typeface="Cambria Math" panose="02040503050406030204" pitchFamily="18" charset="0"/>
                            </a:rPr>
                          </m:ctrlPr>
                        </m:groupChrPr>
                        <m:e>
                          <m:r>
                            <a:rPr lang="zh-CN" altLang="en-US" sz="2200" i="1">
                              <a:latin typeface="Cambria Math" panose="02040503050406030204" pitchFamily="18" charset="0"/>
                            </a:rPr>
                            <m:t>𝐴𝐵</m:t>
                          </m:r>
                        </m:e>
                      </m:groupChr>
                      <m:r>
                        <a:rPr lang="zh-CN" altLang="en-US" sz="2200" i="1">
                          <a:latin typeface="Cambria Math" panose="02040503050406030204" pitchFamily="18" charset="0"/>
                        </a:rPr>
                        <m:t>||</m:t>
                      </m:r>
                      <m:groupChr>
                        <m:groupChrPr>
                          <m:chr m:val="→"/>
                          <m:pos m:val="top"/>
                          <m:vertJc m:val="bot"/>
                          <m:ctrlPr>
                            <a:rPr lang="zh-CN" altLang="en-US" sz="2200" i="1">
                              <a:latin typeface="Cambria Math" panose="02040503050406030204" pitchFamily="18" charset="0"/>
                            </a:rPr>
                          </m:ctrlPr>
                        </m:groupChrPr>
                        <m:e>
                          <m:r>
                            <a:rPr lang="zh-CN" altLang="en-US" sz="2200" i="1">
                              <a:latin typeface="Cambria Math" panose="02040503050406030204" pitchFamily="18" charset="0"/>
                            </a:rPr>
                            <m:t>𝐴𝐶</m:t>
                          </m:r>
                        </m:e>
                      </m:groupChr>
                      <m:r>
                        <a:rPr lang="zh-CN" altLang="en-US" sz="2200" i="1">
                          <a:latin typeface="Cambria Math" panose="02040503050406030204" pitchFamily="18" charset="0"/>
                        </a:rPr>
                        <m:t>|</m:t>
                      </m:r>
                      <m:func>
                        <m:funcPr>
                          <m:ctrlPr>
                            <a:rPr lang="zh-CN" altLang="en-US" sz="2200" i="1">
                              <a:latin typeface="Cambria Math" panose="02040503050406030204" pitchFamily="18" charset="0"/>
                            </a:rPr>
                          </m:ctrlPr>
                        </m:funcPr>
                        <m:fName>
                          <m:r>
                            <m:rPr>
                              <m:sty m:val="p"/>
                            </m:rPr>
                            <a:rPr lang="zh-CN" altLang="en-US" sz="2200" i="1">
                              <a:latin typeface="Cambria Math" panose="02040503050406030204" pitchFamily="18" charset="0"/>
                            </a:rPr>
                            <m:t>sin</m:t>
                          </m:r>
                        </m:fName>
                        <m:e>
                          <m:r>
                            <a:rPr lang="zh-CN" altLang="en-US" sz="2200" i="1">
                              <a:latin typeface="Cambria Math" panose="02040503050406030204" pitchFamily="18" charset="0"/>
                            </a:rPr>
                            <m:t>∠</m:t>
                          </m:r>
                        </m:e>
                      </m:func>
                      <m:r>
                        <a:rPr lang="zh-CN" altLang="en-US" sz="2200" i="1">
                          <a:latin typeface="Cambria Math" panose="02040503050406030204" pitchFamily="18" charset="0"/>
                        </a:rPr>
                        <m:t>𝐶</m:t>
                      </m:r>
                      <m:r>
                        <a:rPr lang="zh-CN" altLang="en-US" sz="2200" i="1">
                          <a:latin typeface="Cambria Math" panose="02040503050406030204" pitchFamily="18" charset="0"/>
                        </a:rPr>
                        <m:t>=</m:t>
                      </m:r>
                      <m:f>
                        <m:fPr>
                          <m:ctrlPr>
                            <a:rPr lang="zh-CN" altLang="en-US" sz="2200" i="1">
                              <a:latin typeface="Cambria Math" panose="02040503050406030204" pitchFamily="18" charset="0"/>
                            </a:rPr>
                          </m:ctrlPr>
                        </m:fPr>
                        <m:num>
                          <m:r>
                            <a:rPr lang="zh-CN" altLang="en-US" sz="2200" i="1">
                              <a:latin typeface="Cambria Math" panose="02040503050406030204" pitchFamily="18" charset="0"/>
                            </a:rPr>
                            <m:t>1</m:t>
                          </m:r>
                        </m:num>
                        <m:den>
                          <m:r>
                            <a:rPr lang="zh-CN" altLang="en-US" sz="2200" i="1">
                              <a:latin typeface="Cambria Math" panose="02040503050406030204" pitchFamily="18" charset="0"/>
                            </a:rPr>
                            <m:t>2</m:t>
                          </m:r>
                        </m:den>
                      </m:f>
                      <m:r>
                        <a:rPr lang="zh-CN" altLang="en-US" sz="2200" i="1">
                          <a:latin typeface="Cambria Math" panose="02040503050406030204" pitchFamily="18" charset="0"/>
                        </a:rPr>
                        <m:t>|</m:t>
                      </m:r>
                      <m:groupChr>
                        <m:groupChrPr>
                          <m:chr m:val="→"/>
                          <m:pos m:val="top"/>
                          <m:vertJc m:val="bot"/>
                          <m:ctrlPr>
                            <a:rPr lang="zh-CN" altLang="en-US" sz="2200" i="1">
                              <a:latin typeface="Cambria Math" panose="02040503050406030204" pitchFamily="18" charset="0"/>
                            </a:rPr>
                          </m:ctrlPr>
                        </m:groupChrPr>
                        <m:e>
                          <m:r>
                            <a:rPr lang="zh-CN" altLang="en-US" sz="2200" i="1">
                              <a:latin typeface="Cambria Math" panose="02040503050406030204" pitchFamily="18" charset="0"/>
                            </a:rPr>
                            <m:t>𝐴𝐵</m:t>
                          </m:r>
                        </m:e>
                      </m:groupChr>
                      <m:r>
                        <a:rPr lang="zh-CN" altLang="en-US" sz="2200" i="1">
                          <a:latin typeface="Cambria Math" panose="02040503050406030204" pitchFamily="18" charset="0"/>
                        </a:rPr>
                        <m:t>×</m:t>
                      </m:r>
                      <m:groupChr>
                        <m:groupChrPr>
                          <m:chr m:val="→"/>
                          <m:pos m:val="top"/>
                          <m:vertJc m:val="bot"/>
                          <m:ctrlPr>
                            <a:rPr lang="zh-CN" altLang="en-US" sz="2200" i="1">
                              <a:latin typeface="Cambria Math" panose="02040503050406030204" pitchFamily="18" charset="0"/>
                            </a:rPr>
                          </m:ctrlPr>
                        </m:groupChrPr>
                        <m:e>
                          <m:r>
                            <a:rPr lang="zh-CN" altLang="en-US" sz="2200" i="1">
                              <a:latin typeface="Cambria Math" panose="02040503050406030204" pitchFamily="18" charset="0"/>
                            </a:rPr>
                            <m:t>𝐴𝐶</m:t>
                          </m:r>
                        </m:e>
                      </m:groupChr>
                      <m:r>
                        <a:rPr lang="zh-CN" altLang="en-US" sz="2200" i="1">
                          <a:latin typeface="Cambria Math" panose="02040503050406030204" pitchFamily="18" charset="0"/>
                        </a:rPr>
                        <m:t>| </m:t>
                      </m:r>
                    </m:oMath>
                  </m:oMathPara>
                </a14:m>
                <a:endParaRPr lang="zh-CN" altLang="en-US" sz="2200" i="1" dirty="0">
                  <a:latin typeface="Cambria Math" panose="02040503050406030204" pitchFamily="18" charset="0"/>
                </a:endParaRPr>
              </a:p>
            </p:txBody>
          </p:sp>
        </mc:Choice>
        <mc:Fallback xmlns="">
          <p:sp>
            <p:nvSpPr>
              <p:cNvPr id="2252" name="Object 204"/>
              <p:cNvSpPr txBox="1">
                <a:spLocks noRot="1" noChangeAspect="1" noMove="1" noResize="1" noEditPoints="1" noAdjustHandles="1" noChangeArrowheads="1" noChangeShapeType="1" noTextEdit="1"/>
              </p:cNvSpPr>
              <p:nvPr/>
            </p:nvSpPr>
            <p:spPr bwMode="auto">
              <a:xfrm>
                <a:off x="1911768" y="2693117"/>
                <a:ext cx="5896409" cy="774700"/>
              </a:xfrm>
              <a:prstGeom prst="rect">
                <a:avLst/>
              </a:prstGeom>
              <a:blipFill>
                <a:blip r:embed="rId10"/>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54" name="Object 206"/>
              <p:cNvSpPr txBox="1"/>
              <p:nvPr/>
            </p:nvSpPr>
            <p:spPr bwMode="auto">
              <a:xfrm>
                <a:off x="1911768" y="3548324"/>
                <a:ext cx="4732624" cy="576216"/>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groupChr>
                        <m:groupChrPr>
                          <m:chr m:val="→"/>
                          <m:pos m:val="top"/>
                          <m:vertJc m:val="bot"/>
                          <m:ctrlPr>
                            <a:rPr lang="zh-CN" altLang="en-US" sz="2200" i="1">
                              <a:latin typeface="Cambria Math" panose="02040503050406030204" pitchFamily="18" charset="0"/>
                            </a:rPr>
                          </m:ctrlPr>
                        </m:groupChrPr>
                        <m:e>
                          <m:r>
                            <a:rPr lang="zh-CN" altLang="en-US" sz="2200" i="1">
                              <a:latin typeface="Cambria Math" panose="02040503050406030204" pitchFamily="18" charset="0"/>
                            </a:rPr>
                            <m:t>𝐴𝐵</m:t>
                          </m:r>
                        </m:e>
                      </m:groupChr>
                      <m:r>
                        <a:rPr lang="zh-CN" altLang="en-US" sz="2200" i="1">
                          <a:latin typeface="Cambria Math" panose="02040503050406030204" pitchFamily="18" charset="0"/>
                        </a:rPr>
                        <m:t>=(4,</m:t>
                      </m:r>
                      <m:r>
                        <a:rPr lang="zh-CN" altLang="en-US" sz="2200" i="1" smtClean="0">
                          <a:latin typeface="Cambria Math" panose="02040503050406030204" pitchFamily="18" charset="0"/>
                        </a:rPr>
                        <m:t> </m:t>
                      </m:r>
                      <m:r>
                        <a:rPr lang="zh-CN" altLang="en-US" sz="2200" i="1">
                          <a:latin typeface="Cambria Math" panose="02040503050406030204" pitchFamily="18" charset="0"/>
                        </a:rPr>
                        <m:t>−5,0),</m:t>
                      </m:r>
                      <m:groupChr>
                        <m:groupChrPr>
                          <m:chr m:val="→"/>
                          <m:pos m:val="top"/>
                          <m:vertJc m:val="bot"/>
                          <m:ctrlPr>
                            <a:rPr lang="zh-CN" altLang="en-US" sz="2200" i="1">
                              <a:latin typeface="Cambria Math" panose="02040503050406030204" pitchFamily="18" charset="0"/>
                            </a:rPr>
                          </m:ctrlPr>
                        </m:groupChrPr>
                        <m:e>
                          <m:r>
                            <a:rPr lang="zh-CN" altLang="en-US" sz="2200" i="1">
                              <a:latin typeface="Cambria Math" panose="02040503050406030204" pitchFamily="18" charset="0"/>
                            </a:rPr>
                            <m:t>𝐴𝐶</m:t>
                          </m:r>
                        </m:e>
                      </m:groupChr>
                      <m:r>
                        <a:rPr lang="zh-CN" altLang="en-US" sz="2200" i="1">
                          <a:latin typeface="Cambria Math" panose="02040503050406030204" pitchFamily="18" charset="0"/>
                        </a:rPr>
                        <m:t>=(0,4,−3),</m:t>
                      </m:r>
                    </m:oMath>
                  </m:oMathPara>
                </a14:m>
                <a:endParaRPr lang="zh-CN" altLang="en-US" sz="2200" i="1" dirty="0">
                  <a:latin typeface="Cambria Math" panose="02040503050406030204" pitchFamily="18" charset="0"/>
                </a:endParaRPr>
              </a:p>
            </p:txBody>
          </p:sp>
        </mc:Choice>
        <mc:Fallback xmlns="">
          <p:sp>
            <p:nvSpPr>
              <p:cNvPr id="2254" name="Object 206"/>
              <p:cNvSpPr txBox="1">
                <a:spLocks noRot="1" noChangeAspect="1" noMove="1" noResize="1" noEditPoints="1" noAdjustHandles="1" noChangeArrowheads="1" noChangeShapeType="1" noTextEdit="1"/>
              </p:cNvSpPr>
              <p:nvPr/>
            </p:nvSpPr>
            <p:spPr bwMode="auto">
              <a:xfrm>
                <a:off x="1911768" y="3548324"/>
                <a:ext cx="4732624" cy="576216"/>
              </a:xfrm>
              <a:prstGeom prst="rect">
                <a:avLst/>
              </a:prstGeom>
              <a:blipFill>
                <a:blip r:embed="rId11"/>
                <a:stretch>
                  <a:fillRect/>
                </a:stretch>
              </a:blipFill>
              <a:ln>
                <a:noFill/>
              </a:ln>
              <a:effectLst/>
            </p:spPr>
            <p:txBody>
              <a:bodyPr/>
              <a:lstStyle/>
              <a:p>
                <a:r>
                  <a:rPr lang="zh-CN" altLang="en-US">
                    <a:noFill/>
                  </a:rPr>
                  <a:t> </a:t>
                </a:r>
              </a:p>
            </p:txBody>
          </p:sp>
        </mc:Fallback>
      </mc:AlternateContent>
      <p:sp>
        <p:nvSpPr>
          <p:cNvPr id="2255" name="Text Box 207"/>
          <p:cNvSpPr txBox="1">
            <a:spLocks noChangeArrowheads="1"/>
          </p:cNvSpPr>
          <p:nvPr/>
        </p:nvSpPr>
        <p:spPr bwMode="auto">
          <a:xfrm>
            <a:off x="1911768" y="4255656"/>
            <a:ext cx="809787"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200" dirty="0">
                <a:latin typeface="Times New Roman" panose="02020603050405020304" pitchFamily="18" charset="0"/>
                <a:cs typeface="Times New Roman" panose="02020603050405020304" pitchFamily="18" charset="0"/>
              </a:rPr>
              <a:t>所以</a:t>
            </a:r>
          </a:p>
        </p:txBody>
      </p:sp>
      <mc:AlternateContent xmlns:mc="http://schemas.openxmlformats.org/markup-compatibility/2006" xmlns:a14="http://schemas.microsoft.com/office/drawing/2010/main">
        <mc:Choice Requires="a14">
          <p:sp>
            <p:nvSpPr>
              <p:cNvPr id="2256" name="Object 208"/>
              <p:cNvSpPr txBox="1"/>
              <p:nvPr/>
            </p:nvSpPr>
            <p:spPr bwMode="auto">
              <a:xfrm>
                <a:off x="1923888" y="4721562"/>
                <a:ext cx="3257712" cy="1103249"/>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groupChr>
                        <m:groupChrPr>
                          <m:chr m:val="→"/>
                          <m:pos m:val="top"/>
                          <m:vertJc m:val="bot"/>
                          <m:ctrlPr>
                            <a:rPr lang="zh-CN" altLang="en-US" sz="2200" i="1">
                              <a:latin typeface="Cambria Math" panose="02040503050406030204" pitchFamily="18" charset="0"/>
                            </a:rPr>
                          </m:ctrlPr>
                        </m:groupChrPr>
                        <m:e>
                          <m:r>
                            <a:rPr lang="zh-CN" altLang="en-US" sz="2200" b="0" i="1">
                              <a:latin typeface="Cambria Math" panose="02040503050406030204" pitchFamily="18" charset="0"/>
                            </a:rPr>
                            <m:t>𝐴𝐵</m:t>
                          </m:r>
                        </m:e>
                      </m:groupChr>
                      <m:r>
                        <a:rPr lang="zh-CN" altLang="en-US" sz="2200" b="0" i="1">
                          <a:latin typeface="Cambria Math" panose="02040503050406030204" pitchFamily="18" charset="0"/>
                        </a:rPr>
                        <m:t>×</m:t>
                      </m:r>
                      <m:groupChr>
                        <m:groupChrPr>
                          <m:chr m:val="→"/>
                          <m:pos m:val="top"/>
                          <m:vertJc m:val="bot"/>
                          <m:ctrlPr>
                            <a:rPr lang="zh-CN" altLang="en-US" sz="2200" i="1">
                              <a:latin typeface="Cambria Math" panose="02040503050406030204" pitchFamily="18" charset="0"/>
                            </a:rPr>
                          </m:ctrlPr>
                        </m:groupChrPr>
                        <m:e>
                          <m:r>
                            <a:rPr lang="zh-CN" altLang="en-US" sz="2200" b="0" i="1">
                              <a:latin typeface="Cambria Math" panose="02040503050406030204" pitchFamily="18" charset="0"/>
                            </a:rPr>
                            <m:t>𝐴𝐶</m:t>
                          </m:r>
                        </m:e>
                      </m:groupChr>
                      <m:r>
                        <a:rPr lang="zh-CN" altLang="en-US" sz="2200" b="0" i="1">
                          <a:latin typeface="Cambria Math" panose="02040503050406030204" pitchFamily="18" charset="0"/>
                        </a:rPr>
                        <m:t>=</m:t>
                      </m:r>
                      <m:d>
                        <m:dPr>
                          <m:begChr m:val="|"/>
                          <m:endChr m:val="|"/>
                          <m:ctrlPr>
                            <a:rPr lang="zh-CN" altLang="en-US" sz="2200" i="1">
                              <a:latin typeface="Cambria Math" panose="02040503050406030204" pitchFamily="18" charset="0"/>
                            </a:rPr>
                          </m:ctrlPr>
                        </m:dPr>
                        <m:e>
                          <m:m>
                            <m:mPr>
                              <m:plcHide m:val="on"/>
                              <m:mcs>
                                <m:mc>
                                  <m:mcPr>
                                    <m:count m:val="3"/>
                                    <m:mcJc m:val="center"/>
                                  </m:mcPr>
                                </m:mc>
                              </m:mcs>
                              <m:ctrlPr>
                                <a:rPr lang="zh-CN" altLang="en-US" sz="2200" i="1">
                                  <a:latin typeface="Cambria Math" panose="02040503050406030204" pitchFamily="18" charset="0"/>
                                </a:rPr>
                              </m:ctrlPr>
                            </m:mPr>
                            <m:mr>
                              <m:e>
                                <m:r>
                                  <a:rPr lang="zh-CN" altLang="en-US" sz="2200" b="1" i="1">
                                    <a:latin typeface="Cambria Math" panose="02040503050406030204" pitchFamily="18" charset="0"/>
                                  </a:rPr>
                                  <m:t>𝒊</m:t>
                                </m:r>
                              </m:e>
                              <m:e>
                                <m:r>
                                  <a:rPr lang="zh-CN" altLang="en-US" sz="2200" b="1" i="1">
                                    <a:latin typeface="Cambria Math" panose="02040503050406030204" pitchFamily="18" charset="0"/>
                                  </a:rPr>
                                  <m:t>𝒋</m:t>
                                </m:r>
                              </m:e>
                              <m:e>
                                <m:r>
                                  <a:rPr lang="zh-CN" altLang="en-US" sz="2200" b="1" i="1">
                                    <a:latin typeface="Cambria Math" panose="02040503050406030204" pitchFamily="18" charset="0"/>
                                  </a:rPr>
                                  <m:t>𝒌</m:t>
                                </m:r>
                              </m:e>
                            </m:mr>
                            <m:mr>
                              <m:e>
                                <m:r>
                                  <a:rPr lang="zh-CN" altLang="en-US" sz="2200" b="0" i="1">
                                    <a:latin typeface="Cambria Math" panose="02040503050406030204" pitchFamily="18" charset="0"/>
                                  </a:rPr>
                                  <m:t>4</m:t>
                                </m:r>
                              </m:e>
                              <m:e>
                                <m:r>
                                  <a:rPr lang="zh-CN" altLang="en-US" sz="2200" b="0" i="1">
                                    <a:latin typeface="Cambria Math" panose="02040503050406030204" pitchFamily="18" charset="0"/>
                                  </a:rPr>
                                  <m:t>−5</m:t>
                                </m:r>
                              </m:e>
                              <m:e>
                                <m:r>
                                  <a:rPr lang="zh-CN" altLang="en-US" sz="2200" b="0" i="1">
                                    <a:latin typeface="Cambria Math" panose="02040503050406030204" pitchFamily="18" charset="0"/>
                                  </a:rPr>
                                  <m:t>0</m:t>
                                </m:r>
                              </m:e>
                            </m:mr>
                            <m:mr>
                              <m:e>
                                <m:r>
                                  <a:rPr lang="zh-CN" altLang="en-US" sz="2200" b="0" i="1">
                                    <a:latin typeface="Cambria Math" panose="02040503050406030204" pitchFamily="18" charset="0"/>
                                  </a:rPr>
                                  <m:t>0</m:t>
                                </m:r>
                              </m:e>
                              <m:e>
                                <m:r>
                                  <a:rPr lang="zh-CN" altLang="en-US" sz="2200" b="0" i="1">
                                    <a:latin typeface="Cambria Math" panose="02040503050406030204" pitchFamily="18" charset="0"/>
                                  </a:rPr>
                                  <m:t>4</m:t>
                                </m:r>
                              </m:e>
                              <m:e>
                                <m:r>
                                  <a:rPr lang="zh-CN" altLang="en-US" sz="2200" b="0" i="1">
                                    <a:latin typeface="Cambria Math" panose="02040503050406030204" pitchFamily="18" charset="0"/>
                                  </a:rPr>
                                  <m:t>−3</m:t>
                                </m:r>
                              </m:e>
                            </m:mr>
                          </m:m>
                        </m:e>
                      </m:d>
                    </m:oMath>
                  </m:oMathPara>
                </a14:m>
                <a:endParaRPr lang="zh-CN" altLang="en-US" sz="2200" i="1" dirty="0">
                  <a:latin typeface="Cambria Math" panose="02040503050406030204" pitchFamily="18" charset="0"/>
                </a:endParaRPr>
              </a:p>
            </p:txBody>
          </p:sp>
        </mc:Choice>
        <mc:Fallback xmlns="">
          <p:sp>
            <p:nvSpPr>
              <p:cNvPr id="2256" name="Object 208"/>
              <p:cNvSpPr txBox="1">
                <a:spLocks noRot="1" noChangeAspect="1" noMove="1" noResize="1" noEditPoints="1" noAdjustHandles="1" noChangeArrowheads="1" noChangeShapeType="1" noTextEdit="1"/>
              </p:cNvSpPr>
              <p:nvPr/>
            </p:nvSpPr>
            <p:spPr bwMode="auto">
              <a:xfrm>
                <a:off x="1923888" y="4721562"/>
                <a:ext cx="3257712" cy="1103249"/>
              </a:xfrm>
              <a:prstGeom prst="rect">
                <a:avLst/>
              </a:prstGeom>
              <a:blipFill>
                <a:blip r:embed="rId12"/>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59" name="Object 211"/>
              <p:cNvSpPr txBox="1"/>
              <p:nvPr/>
            </p:nvSpPr>
            <p:spPr bwMode="auto">
              <a:xfrm>
                <a:off x="5007955" y="4989738"/>
                <a:ext cx="2551005" cy="3683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200" b="0" i="1">
                          <a:latin typeface="Cambria Math" panose="02040503050406030204" pitchFamily="18" charset="0"/>
                        </a:rPr>
                        <m:t>=15</m:t>
                      </m:r>
                      <m:r>
                        <a:rPr lang="zh-CN" altLang="en-US" sz="2200" b="1" i="1">
                          <a:latin typeface="Cambria Math" panose="02040503050406030204" pitchFamily="18" charset="0"/>
                        </a:rPr>
                        <m:t>𝒊</m:t>
                      </m:r>
                      <m:r>
                        <a:rPr lang="zh-CN" altLang="en-US" sz="2200" b="0" i="1">
                          <a:latin typeface="Cambria Math" panose="02040503050406030204" pitchFamily="18" charset="0"/>
                        </a:rPr>
                        <m:t>+12</m:t>
                      </m:r>
                      <m:r>
                        <a:rPr lang="zh-CN" altLang="en-US" sz="2200" b="1" i="1">
                          <a:latin typeface="Cambria Math" panose="02040503050406030204" pitchFamily="18" charset="0"/>
                        </a:rPr>
                        <m:t>𝒋</m:t>
                      </m:r>
                      <m:r>
                        <a:rPr lang="zh-CN" altLang="en-US" sz="2200" b="0" i="1">
                          <a:latin typeface="Cambria Math" panose="02040503050406030204" pitchFamily="18" charset="0"/>
                        </a:rPr>
                        <m:t>+16</m:t>
                      </m:r>
                      <m:r>
                        <a:rPr lang="zh-CN" altLang="en-US" sz="2200" b="1" i="1">
                          <a:latin typeface="Cambria Math" panose="02040503050406030204" pitchFamily="18" charset="0"/>
                        </a:rPr>
                        <m:t>𝒌</m:t>
                      </m:r>
                      <m:r>
                        <a:rPr lang="zh-CN" altLang="en-US" sz="2200" b="0" i="1">
                          <a:latin typeface="Cambria Math" panose="02040503050406030204" pitchFamily="18" charset="0"/>
                        </a:rPr>
                        <m:t>.</m:t>
                      </m:r>
                    </m:oMath>
                  </m:oMathPara>
                </a14:m>
                <a:endParaRPr lang="zh-CN" altLang="en-US" sz="2200" i="1" dirty="0">
                  <a:latin typeface="Cambria Math" panose="02040503050406030204" pitchFamily="18" charset="0"/>
                </a:endParaRPr>
              </a:p>
            </p:txBody>
          </p:sp>
        </mc:Choice>
        <mc:Fallback xmlns="">
          <p:sp>
            <p:nvSpPr>
              <p:cNvPr id="2259" name="Object 211"/>
              <p:cNvSpPr txBox="1">
                <a:spLocks noRot="1" noChangeAspect="1" noMove="1" noResize="1" noEditPoints="1" noAdjustHandles="1" noChangeArrowheads="1" noChangeShapeType="1" noTextEdit="1"/>
              </p:cNvSpPr>
              <p:nvPr/>
            </p:nvSpPr>
            <p:spPr bwMode="auto">
              <a:xfrm>
                <a:off x="5007955" y="4989738"/>
                <a:ext cx="2551005" cy="368300"/>
              </a:xfrm>
              <a:prstGeom prst="rect">
                <a:avLst/>
              </a:prstGeom>
              <a:blipFill>
                <a:blip r:embed="rId13"/>
                <a:stretch>
                  <a:fillRect b="-38333"/>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39387140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37"/>
                                        </p:tgtEl>
                                        <p:attrNameLst>
                                          <p:attrName>style.visibility</p:attrName>
                                        </p:attrNameLst>
                                      </p:cBhvr>
                                      <p:to>
                                        <p:strVal val="visible"/>
                                      </p:to>
                                    </p:set>
                                    <p:animEffect transition="in" filter="wipe(left)">
                                      <p:cBhvr>
                                        <p:cTn id="7" dur="500"/>
                                        <p:tgtEl>
                                          <p:spTgt spid="223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238"/>
                                        </p:tgtEl>
                                        <p:attrNameLst>
                                          <p:attrName>style.visibility</p:attrName>
                                        </p:attrNameLst>
                                      </p:cBhvr>
                                      <p:to>
                                        <p:strVal val="visible"/>
                                      </p:to>
                                    </p:set>
                                    <p:animEffect transition="in" filter="wipe(left)">
                                      <p:cBhvr>
                                        <p:cTn id="10" dur="500"/>
                                        <p:tgtEl>
                                          <p:spTgt spid="2238"/>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197"/>
                                        </p:tgtEl>
                                        <p:attrNameLst>
                                          <p:attrName>style.visibility</p:attrName>
                                        </p:attrNameLst>
                                      </p:cBhvr>
                                      <p:to>
                                        <p:strVal val="visible"/>
                                      </p:to>
                                    </p:set>
                                    <p:animEffect transition="in" filter="wipe(left)">
                                      <p:cBhvr>
                                        <p:cTn id="13" dur="500"/>
                                        <p:tgtEl>
                                          <p:spTgt spid="219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250"/>
                                        </p:tgtEl>
                                        <p:attrNameLst>
                                          <p:attrName>style.visibility</p:attrName>
                                        </p:attrNameLst>
                                      </p:cBhvr>
                                      <p:to>
                                        <p:strVal val="visible"/>
                                      </p:to>
                                    </p:set>
                                    <p:animEffect transition="in" filter="wipe(left)">
                                      <p:cBhvr>
                                        <p:cTn id="18" dur="500"/>
                                        <p:tgtEl>
                                          <p:spTgt spid="225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251"/>
                                        </p:tgtEl>
                                        <p:attrNameLst>
                                          <p:attrName>style.visibility</p:attrName>
                                        </p:attrNameLst>
                                      </p:cBhvr>
                                      <p:to>
                                        <p:strVal val="visible"/>
                                      </p:to>
                                    </p:set>
                                    <p:animEffect transition="in" filter="wipe(left)">
                                      <p:cBhvr>
                                        <p:cTn id="23" dur="500"/>
                                        <p:tgtEl>
                                          <p:spTgt spid="225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252"/>
                                        </p:tgtEl>
                                        <p:attrNameLst>
                                          <p:attrName>style.visibility</p:attrName>
                                        </p:attrNameLst>
                                      </p:cBhvr>
                                      <p:to>
                                        <p:strVal val="visible"/>
                                      </p:to>
                                    </p:set>
                                    <p:animEffect transition="in" filter="wipe(left)">
                                      <p:cBhvr>
                                        <p:cTn id="28" dur="500"/>
                                        <p:tgtEl>
                                          <p:spTgt spid="225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254"/>
                                        </p:tgtEl>
                                        <p:attrNameLst>
                                          <p:attrName>style.visibility</p:attrName>
                                        </p:attrNameLst>
                                      </p:cBhvr>
                                      <p:to>
                                        <p:strVal val="visible"/>
                                      </p:to>
                                    </p:set>
                                    <p:animEffect transition="in" filter="wipe(left)">
                                      <p:cBhvr>
                                        <p:cTn id="33" dur="500"/>
                                        <p:tgtEl>
                                          <p:spTgt spid="2254"/>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255"/>
                                        </p:tgtEl>
                                        <p:attrNameLst>
                                          <p:attrName>style.visibility</p:attrName>
                                        </p:attrNameLst>
                                      </p:cBhvr>
                                      <p:to>
                                        <p:strVal val="visible"/>
                                      </p:to>
                                    </p:set>
                                    <p:animEffect transition="in" filter="wipe(left)">
                                      <p:cBhvr>
                                        <p:cTn id="38" dur="500"/>
                                        <p:tgtEl>
                                          <p:spTgt spid="2255"/>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256"/>
                                        </p:tgtEl>
                                        <p:attrNameLst>
                                          <p:attrName>style.visibility</p:attrName>
                                        </p:attrNameLst>
                                      </p:cBhvr>
                                      <p:to>
                                        <p:strVal val="visible"/>
                                      </p:to>
                                    </p:set>
                                    <p:animEffect transition="in" filter="wipe(left)">
                                      <p:cBhvr>
                                        <p:cTn id="43" dur="500"/>
                                        <p:tgtEl>
                                          <p:spTgt spid="225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259"/>
                                        </p:tgtEl>
                                        <p:attrNameLst>
                                          <p:attrName>style.visibility</p:attrName>
                                        </p:attrNameLst>
                                      </p:cBhvr>
                                      <p:to>
                                        <p:strVal val="visible"/>
                                      </p:to>
                                    </p:set>
                                    <p:animEffect transition="in" filter="wipe(left)">
                                      <p:cBhvr>
                                        <p:cTn id="48" dur="500"/>
                                        <p:tgtEl>
                                          <p:spTgt spid="22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7" grpId="0"/>
      <p:bldP spid="2237" grpId="0"/>
      <p:bldP spid="2238" grpId="0"/>
      <p:bldP spid="2250" grpId="0"/>
      <p:bldP spid="2251" grpId="0"/>
      <p:bldP spid="2252" grpId="0"/>
      <p:bldP spid="2254" grpId="0"/>
      <p:bldP spid="2255" grpId="0"/>
      <p:bldP spid="2256" grpId="0"/>
      <p:bldP spid="225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862DDF3B-B880-3397-F2B0-C0476C76DD99}"/>
              </a:ext>
            </a:extLst>
          </p:cNvPr>
          <p:cNvGrpSpPr/>
          <p:nvPr/>
        </p:nvGrpSpPr>
        <p:grpSpPr>
          <a:xfrm>
            <a:off x="687324" y="535820"/>
            <a:ext cx="10817987" cy="5803091"/>
            <a:chOff x="687324" y="535820"/>
            <a:chExt cx="10817987" cy="5803091"/>
          </a:xfrm>
        </p:grpSpPr>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6946E5E4-2023-CD62-33F7-F90E1A659DC1}"/>
                    </a:ext>
                  </a:extLst>
                </p:cNvPr>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dirty="0"/>
                </a:p>
              </p:txBody>
            </p:sp>
          </mc:Choice>
          <mc:Fallback xmlns="">
            <p:sp>
              <p:nvSpPr>
                <p:cNvPr id="4" name="矩形 3">
                  <a:extLst>
                    <a:ext uri="{FF2B5EF4-FFF2-40B4-BE49-F238E27FC236}">
                      <a16:creationId xmlns:a16="http://schemas.microsoft.com/office/drawing/2014/main" id="{6946E5E4-2023-CD62-33F7-F90E1A659DC1}"/>
                    </a:ext>
                  </a:extLst>
                </p:cNvPr>
                <p:cNvSpPr>
                  <a:spLocks noRot="1" noChangeAspect="1" noMove="1" noResize="1" noEditPoints="1" noAdjustHandles="1" noChangeArrowheads="1" noChangeShapeType="1" noTextEdit="1"/>
                </p:cNvSpPr>
                <p:nvPr/>
              </p:nvSpPr>
              <p:spPr>
                <a:xfrm>
                  <a:off x="687959" y="536260"/>
                  <a:ext cx="10817352" cy="5799897"/>
                </a:xfrm>
                <a:prstGeom prst="rect">
                  <a:avLst/>
                </a:prstGeom>
                <a:blipFill>
                  <a:blip r:embed="rId2"/>
                  <a:stretch>
                    <a:fillRect/>
                  </a:stretch>
                </a:blipFill>
                <a:ln>
                  <a:noFill/>
                </a:ln>
                <a:effectLst>
                  <a:outerShdw blurRad="63500" sx="102000" sy="102000" algn="ctr" rotWithShape="0">
                    <a:prstClr val="black">
                      <a:alpha val="9000"/>
                    </a:prstClr>
                  </a:outerShdw>
                </a:effectLst>
              </p:spPr>
              <p:txBody>
                <a:bodyPr/>
                <a:lstStyle/>
                <a:p>
                  <a:r>
                    <a:rPr lang="zh-CN" altLang="en-US">
                      <a:noFill/>
                    </a:rPr>
                    <a:t> </a:t>
                  </a:r>
                </a:p>
              </p:txBody>
            </p:sp>
          </mc:Fallback>
        </mc:AlternateContent>
        <p:sp>
          <p:nvSpPr>
            <p:cNvPr id="5" name="半闭框 4">
              <a:extLst>
                <a:ext uri="{FF2B5EF4-FFF2-40B4-BE49-F238E27FC236}">
                  <a16:creationId xmlns:a16="http://schemas.microsoft.com/office/drawing/2014/main" id="{397414F1-3750-1163-26DE-03B5B88B61EF}"/>
                </a:ext>
              </a:extLst>
            </p:cNvPr>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半闭框 5">
              <a:extLst>
                <a:ext uri="{FF2B5EF4-FFF2-40B4-BE49-F238E27FC236}">
                  <a16:creationId xmlns:a16="http://schemas.microsoft.com/office/drawing/2014/main" id="{D3E4D530-2F66-AC72-CC8F-AE9A2E062411}"/>
                </a:ext>
              </a:extLst>
            </p:cNvPr>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半闭框 6">
              <a:extLst>
                <a:ext uri="{FF2B5EF4-FFF2-40B4-BE49-F238E27FC236}">
                  <a16:creationId xmlns:a16="http://schemas.microsoft.com/office/drawing/2014/main" id="{B09D52A0-B64F-D5B3-96ED-CF34776C2727}"/>
                </a:ext>
              </a:extLst>
            </p:cNvPr>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8" name="半闭框 7">
              <a:extLst>
                <a:ext uri="{FF2B5EF4-FFF2-40B4-BE49-F238E27FC236}">
                  <a16:creationId xmlns:a16="http://schemas.microsoft.com/office/drawing/2014/main" id="{DDC19DF5-6F67-1A0F-B5D8-0AE21A5B4C04}"/>
                </a:ext>
              </a:extLst>
            </p:cNvPr>
            <p:cNvSpPr/>
            <p:nvPr/>
          </p:nvSpPr>
          <p:spPr>
            <a:xfrm flipH="1" flipV="1">
              <a:off x="10823530"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mc:AlternateContent xmlns:mc="http://schemas.openxmlformats.org/markup-compatibility/2006" xmlns:a14="http://schemas.microsoft.com/office/drawing/2010/main">
        <mc:Choice Requires="a14">
          <p:sp>
            <p:nvSpPr>
              <p:cNvPr id="6148" name="Object 4"/>
              <p:cNvSpPr txBox="1"/>
              <p:nvPr/>
            </p:nvSpPr>
            <p:spPr bwMode="auto">
              <a:xfrm>
                <a:off x="1703388" y="2605323"/>
                <a:ext cx="4497862" cy="754063"/>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200" i="1">
                              <a:latin typeface="Cambria Math" panose="02040503050406030204" pitchFamily="18" charset="0"/>
                            </a:rPr>
                          </m:ctrlPr>
                        </m:sSubPr>
                        <m:e>
                          <m:r>
                            <a:rPr lang="zh-CN" altLang="en-US" sz="2200" b="0" i="1">
                              <a:latin typeface="Cambria Math" panose="02040503050406030204" pitchFamily="18" charset="0"/>
                            </a:rPr>
                            <m:t>𝑆</m:t>
                          </m:r>
                        </m:e>
                        <m:sub>
                          <m:r>
                            <a:rPr lang="zh-CN" altLang="en-US" sz="2200">
                              <a:latin typeface="Cambria Math" panose="02040503050406030204" pitchFamily="18" charset="0"/>
                            </a:rPr>
                            <m:t>△</m:t>
                          </m:r>
                          <m:r>
                            <a:rPr lang="zh-CN" altLang="en-US" sz="2200" b="0" i="1">
                              <a:latin typeface="Cambria Math" panose="02040503050406030204" pitchFamily="18" charset="0"/>
                            </a:rPr>
                            <m:t>𝐴𝐵𝐶</m:t>
                          </m:r>
                        </m:sub>
                      </m:sSub>
                      <m:r>
                        <a:rPr lang="zh-CN" altLang="en-US" sz="2200" b="0" i="1">
                          <a:latin typeface="Cambria Math" panose="02040503050406030204" pitchFamily="18" charset="0"/>
                        </a:rPr>
                        <m:t>=</m:t>
                      </m:r>
                      <m:f>
                        <m:fPr>
                          <m:ctrlPr>
                            <a:rPr lang="zh-CN" altLang="en-US" sz="2200" i="1">
                              <a:latin typeface="Cambria Math" panose="02040503050406030204" pitchFamily="18" charset="0"/>
                            </a:rPr>
                          </m:ctrlPr>
                        </m:fPr>
                        <m:num>
                          <m:r>
                            <a:rPr lang="zh-CN" altLang="en-US" sz="2200" b="0" i="1">
                              <a:latin typeface="Cambria Math" panose="02040503050406030204" pitchFamily="18" charset="0"/>
                            </a:rPr>
                            <m:t>1</m:t>
                          </m:r>
                        </m:num>
                        <m:den>
                          <m:r>
                            <a:rPr lang="zh-CN" altLang="en-US" sz="2200" b="0" i="1">
                              <a:latin typeface="Cambria Math" panose="02040503050406030204" pitchFamily="18" charset="0"/>
                            </a:rPr>
                            <m:t>2</m:t>
                          </m:r>
                        </m:den>
                      </m:f>
                      <m:r>
                        <a:rPr lang="zh-CN" altLang="en-US" sz="2200" b="0" i="1">
                          <a:latin typeface="Cambria Math" panose="02040503050406030204" pitchFamily="18" charset="0"/>
                        </a:rPr>
                        <m:t>|15</m:t>
                      </m:r>
                      <m:r>
                        <a:rPr lang="zh-CN" altLang="en-US" sz="2200" b="1" i="1">
                          <a:latin typeface="Cambria Math" panose="02040503050406030204" pitchFamily="18" charset="0"/>
                        </a:rPr>
                        <m:t>𝒊</m:t>
                      </m:r>
                      <m:r>
                        <a:rPr lang="zh-CN" altLang="en-US" sz="2200" b="0" i="1">
                          <a:latin typeface="Cambria Math" panose="02040503050406030204" pitchFamily="18" charset="0"/>
                        </a:rPr>
                        <m:t>+12</m:t>
                      </m:r>
                      <m:r>
                        <a:rPr lang="zh-CN" altLang="en-US" sz="2200" b="1" i="1">
                          <a:latin typeface="Cambria Math" panose="02040503050406030204" pitchFamily="18" charset="0"/>
                        </a:rPr>
                        <m:t>𝒋</m:t>
                      </m:r>
                      <m:r>
                        <a:rPr lang="zh-CN" altLang="en-US" sz="2200" b="0" i="1">
                          <a:latin typeface="Cambria Math" panose="02040503050406030204" pitchFamily="18" charset="0"/>
                        </a:rPr>
                        <m:t>+16</m:t>
                      </m:r>
                      <m:r>
                        <a:rPr lang="zh-CN" altLang="en-US" sz="2200" b="1" i="1">
                          <a:latin typeface="Cambria Math" panose="02040503050406030204" pitchFamily="18" charset="0"/>
                        </a:rPr>
                        <m:t>𝒌</m:t>
                      </m:r>
                      <m:r>
                        <a:rPr lang="zh-CN" altLang="en-US" sz="2200" b="0" i="1">
                          <a:latin typeface="Cambria Math" panose="02040503050406030204" pitchFamily="18" charset="0"/>
                        </a:rPr>
                        <m:t>| =</m:t>
                      </m:r>
                      <m:f>
                        <m:fPr>
                          <m:ctrlPr>
                            <a:rPr lang="zh-CN" altLang="en-US" sz="2200" i="1">
                              <a:latin typeface="Cambria Math" panose="02040503050406030204" pitchFamily="18" charset="0"/>
                            </a:rPr>
                          </m:ctrlPr>
                        </m:fPr>
                        <m:num>
                          <m:r>
                            <a:rPr lang="zh-CN" altLang="en-US" sz="2200" b="0" i="1">
                              <a:latin typeface="Cambria Math" panose="02040503050406030204" pitchFamily="18" charset="0"/>
                            </a:rPr>
                            <m:t>25</m:t>
                          </m:r>
                        </m:num>
                        <m:den>
                          <m:r>
                            <a:rPr lang="zh-CN" altLang="en-US" sz="2200" b="0" i="1">
                              <a:latin typeface="Cambria Math" panose="02040503050406030204" pitchFamily="18" charset="0"/>
                            </a:rPr>
                            <m:t>2</m:t>
                          </m:r>
                        </m:den>
                      </m:f>
                      <m:r>
                        <a:rPr lang="zh-CN" altLang="en-US" sz="2200" b="0" i="1">
                          <a:latin typeface="Cambria Math" panose="02040503050406030204" pitchFamily="18" charset="0"/>
                        </a:rPr>
                        <m:t>,</m:t>
                      </m:r>
                    </m:oMath>
                  </m:oMathPara>
                </a14:m>
                <a:endParaRPr lang="zh-CN" altLang="en-US" sz="2200" i="1" dirty="0">
                  <a:latin typeface="Cambria Math" panose="02040503050406030204" pitchFamily="18" charset="0"/>
                </a:endParaRPr>
              </a:p>
            </p:txBody>
          </p:sp>
        </mc:Choice>
        <mc:Fallback xmlns="">
          <p:sp>
            <p:nvSpPr>
              <p:cNvPr id="6148" name="Object 4"/>
              <p:cNvSpPr txBox="1">
                <a:spLocks noRot="1" noChangeAspect="1" noMove="1" noResize="1" noEditPoints="1" noAdjustHandles="1" noChangeArrowheads="1" noChangeShapeType="1" noTextEdit="1"/>
              </p:cNvSpPr>
              <p:nvPr/>
            </p:nvSpPr>
            <p:spPr bwMode="auto">
              <a:xfrm>
                <a:off x="1703388" y="2605323"/>
                <a:ext cx="4497862" cy="754063"/>
              </a:xfrm>
              <a:prstGeom prst="rect">
                <a:avLst/>
              </a:prstGeom>
              <a:blipFill>
                <a:blip r:embed="rId9"/>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49" name="Object 5"/>
              <p:cNvSpPr txBox="1"/>
              <p:nvPr/>
            </p:nvSpPr>
            <p:spPr bwMode="auto">
              <a:xfrm>
                <a:off x="1703389" y="925088"/>
                <a:ext cx="3302034" cy="111494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groupChr>
                        <m:groupChrPr>
                          <m:chr m:val="→"/>
                          <m:pos m:val="top"/>
                          <m:vertJc m:val="bot"/>
                          <m:ctrlPr>
                            <a:rPr lang="zh-CN" altLang="en-US" sz="2200" i="1">
                              <a:latin typeface="Cambria Math" panose="02040503050406030204" pitchFamily="18" charset="0"/>
                            </a:rPr>
                          </m:ctrlPr>
                        </m:groupChrPr>
                        <m:e>
                          <m:r>
                            <a:rPr lang="zh-CN" altLang="en-US" sz="2200" b="0" i="1">
                              <a:latin typeface="Cambria Math" panose="02040503050406030204" pitchFamily="18" charset="0"/>
                            </a:rPr>
                            <m:t>𝐴𝐵</m:t>
                          </m:r>
                        </m:e>
                      </m:groupChr>
                      <m:r>
                        <a:rPr lang="zh-CN" altLang="en-US" sz="2200" b="0" i="1">
                          <a:latin typeface="Cambria Math" panose="02040503050406030204" pitchFamily="18" charset="0"/>
                        </a:rPr>
                        <m:t>×</m:t>
                      </m:r>
                      <m:groupChr>
                        <m:groupChrPr>
                          <m:chr m:val="→"/>
                          <m:pos m:val="top"/>
                          <m:vertJc m:val="bot"/>
                          <m:ctrlPr>
                            <a:rPr lang="zh-CN" altLang="en-US" sz="2200" i="1">
                              <a:latin typeface="Cambria Math" panose="02040503050406030204" pitchFamily="18" charset="0"/>
                            </a:rPr>
                          </m:ctrlPr>
                        </m:groupChrPr>
                        <m:e>
                          <m:r>
                            <a:rPr lang="zh-CN" altLang="en-US" sz="2200" b="0" i="1">
                              <a:latin typeface="Cambria Math" panose="02040503050406030204" pitchFamily="18" charset="0"/>
                            </a:rPr>
                            <m:t>𝐴𝐶</m:t>
                          </m:r>
                        </m:e>
                      </m:groupChr>
                      <m:r>
                        <a:rPr lang="zh-CN" altLang="en-US" sz="2200" b="0" i="1">
                          <a:latin typeface="Cambria Math" panose="02040503050406030204" pitchFamily="18" charset="0"/>
                        </a:rPr>
                        <m:t>=</m:t>
                      </m:r>
                      <m:d>
                        <m:dPr>
                          <m:begChr m:val="|"/>
                          <m:endChr m:val="|"/>
                          <m:ctrlPr>
                            <a:rPr lang="zh-CN" altLang="en-US" sz="2200" i="1">
                              <a:latin typeface="Cambria Math" panose="02040503050406030204" pitchFamily="18" charset="0"/>
                            </a:rPr>
                          </m:ctrlPr>
                        </m:dPr>
                        <m:e>
                          <m:m>
                            <m:mPr>
                              <m:plcHide m:val="on"/>
                              <m:mcs>
                                <m:mc>
                                  <m:mcPr>
                                    <m:count m:val="3"/>
                                    <m:mcJc m:val="center"/>
                                  </m:mcPr>
                                </m:mc>
                              </m:mcs>
                              <m:ctrlPr>
                                <a:rPr lang="zh-CN" altLang="en-US" sz="2200" i="1">
                                  <a:latin typeface="Cambria Math" panose="02040503050406030204" pitchFamily="18" charset="0"/>
                                </a:rPr>
                              </m:ctrlPr>
                            </m:mPr>
                            <m:mr>
                              <m:e>
                                <m:r>
                                  <a:rPr lang="zh-CN" altLang="en-US" sz="2200" b="1" i="1">
                                    <a:latin typeface="Cambria Math" panose="02040503050406030204" pitchFamily="18" charset="0"/>
                                  </a:rPr>
                                  <m:t>𝒊</m:t>
                                </m:r>
                              </m:e>
                              <m:e>
                                <m:r>
                                  <a:rPr lang="zh-CN" altLang="en-US" sz="2200" b="1" i="1">
                                    <a:latin typeface="Cambria Math" panose="02040503050406030204" pitchFamily="18" charset="0"/>
                                  </a:rPr>
                                  <m:t>𝒋</m:t>
                                </m:r>
                              </m:e>
                              <m:e>
                                <m:r>
                                  <a:rPr lang="zh-CN" altLang="en-US" sz="2200" b="1" i="1">
                                    <a:latin typeface="Cambria Math" panose="02040503050406030204" pitchFamily="18" charset="0"/>
                                  </a:rPr>
                                  <m:t>𝒌</m:t>
                                </m:r>
                              </m:e>
                            </m:mr>
                            <m:mr>
                              <m:e>
                                <m:r>
                                  <a:rPr lang="zh-CN" altLang="en-US" sz="2200" b="0" i="1">
                                    <a:latin typeface="Cambria Math" panose="02040503050406030204" pitchFamily="18" charset="0"/>
                                  </a:rPr>
                                  <m:t>4</m:t>
                                </m:r>
                              </m:e>
                              <m:e>
                                <m:r>
                                  <a:rPr lang="zh-CN" altLang="en-US" sz="2200" b="0" i="1">
                                    <a:latin typeface="Cambria Math" panose="02040503050406030204" pitchFamily="18" charset="0"/>
                                  </a:rPr>
                                  <m:t>−5</m:t>
                                </m:r>
                              </m:e>
                              <m:e>
                                <m:r>
                                  <a:rPr lang="zh-CN" altLang="en-US" sz="2200" b="0" i="1">
                                    <a:latin typeface="Cambria Math" panose="02040503050406030204" pitchFamily="18" charset="0"/>
                                  </a:rPr>
                                  <m:t>0</m:t>
                                </m:r>
                              </m:e>
                            </m:mr>
                            <m:mr>
                              <m:e>
                                <m:r>
                                  <a:rPr lang="zh-CN" altLang="en-US" sz="2200" b="0" i="1">
                                    <a:latin typeface="Cambria Math" panose="02040503050406030204" pitchFamily="18" charset="0"/>
                                  </a:rPr>
                                  <m:t>0</m:t>
                                </m:r>
                              </m:e>
                              <m:e>
                                <m:r>
                                  <a:rPr lang="zh-CN" altLang="en-US" sz="2200" b="0" i="1">
                                    <a:latin typeface="Cambria Math" panose="02040503050406030204" pitchFamily="18" charset="0"/>
                                  </a:rPr>
                                  <m:t>4</m:t>
                                </m:r>
                              </m:e>
                              <m:e>
                                <m:r>
                                  <a:rPr lang="zh-CN" altLang="en-US" sz="2200" b="0" i="1">
                                    <a:latin typeface="Cambria Math" panose="02040503050406030204" pitchFamily="18" charset="0"/>
                                  </a:rPr>
                                  <m:t>−3</m:t>
                                </m:r>
                              </m:e>
                            </m:mr>
                          </m:m>
                        </m:e>
                      </m:d>
                    </m:oMath>
                  </m:oMathPara>
                </a14:m>
                <a:endParaRPr lang="zh-CN" altLang="en-US" sz="2200" i="1" dirty="0">
                  <a:latin typeface="Cambria Math" panose="02040503050406030204" pitchFamily="18" charset="0"/>
                </a:endParaRPr>
              </a:p>
            </p:txBody>
          </p:sp>
        </mc:Choice>
        <mc:Fallback xmlns="">
          <p:sp>
            <p:nvSpPr>
              <p:cNvPr id="6149" name="Object 5"/>
              <p:cNvSpPr txBox="1">
                <a:spLocks noRot="1" noChangeAspect="1" noMove="1" noResize="1" noEditPoints="1" noAdjustHandles="1" noChangeArrowheads="1" noChangeShapeType="1" noTextEdit="1"/>
              </p:cNvSpPr>
              <p:nvPr/>
            </p:nvSpPr>
            <p:spPr bwMode="auto">
              <a:xfrm>
                <a:off x="1703389" y="925088"/>
                <a:ext cx="3302034" cy="1114940"/>
              </a:xfrm>
              <a:prstGeom prst="rect">
                <a:avLst/>
              </a:prstGeom>
              <a:blipFill>
                <a:blip r:embed="rId10"/>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50" name="Object 6"/>
              <p:cNvSpPr txBox="1"/>
              <p:nvPr/>
            </p:nvSpPr>
            <p:spPr bwMode="auto">
              <a:xfrm>
                <a:off x="4856532" y="1184095"/>
                <a:ext cx="2725368" cy="40798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200" b="0" i="1">
                          <a:latin typeface="Cambria Math" panose="02040503050406030204" pitchFamily="18" charset="0"/>
                        </a:rPr>
                        <m:t>=15</m:t>
                      </m:r>
                      <m:r>
                        <a:rPr lang="zh-CN" altLang="en-US" sz="2200" b="1" i="1">
                          <a:latin typeface="Cambria Math" panose="02040503050406030204" pitchFamily="18" charset="0"/>
                        </a:rPr>
                        <m:t>𝒊</m:t>
                      </m:r>
                      <m:r>
                        <a:rPr lang="zh-CN" altLang="en-US" sz="2200" b="0" i="1">
                          <a:latin typeface="Cambria Math" panose="02040503050406030204" pitchFamily="18" charset="0"/>
                        </a:rPr>
                        <m:t>+12</m:t>
                      </m:r>
                      <m:r>
                        <a:rPr lang="zh-CN" altLang="en-US" sz="2200" b="1" i="1">
                          <a:latin typeface="Cambria Math" panose="02040503050406030204" pitchFamily="18" charset="0"/>
                        </a:rPr>
                        <m:t>𝒋</m:t>
                      </m:r>
                      <m:r>
                        <a:rPr lang="zh-CN" altLang="en-US" sz="2200" b="0" i="1">
                          <a:latin typeface="Cambria Math" panose="02040503050406030204" pitchFamily="18" charset="0"/>
                        </a:rPr>
                        <m:t>+16</m:t>
                      </m:r>
                      <m:r>
                        <a:rPr lang="zh-CN" altLang="en-US" sz="2200" b="1" i="1">
                          <a:latin typeface="Cambria Math" panose="02040503050406030204" pitchFamily="18" charset="0"/>
                        </a:rPr>
                        <m:t>𝒌</m:t>
                      </m:r>
                      <m:r>
                        <a:rPr lang="zh-CN" altLang="en-US" sz="2200" b="0" i="1">
                          <a:latin typeface="Cambria Math" panose="02040503050406030204" pitchFamily="18" charset="0"/>
                        </a:rPr>
                        <m:t>.</m:t>
                      </m:r>
                    </m:oMath>
                  </m:oMathPara>
                </a14:m>
                <a:endParaRPr lang="zh-CN" altLang="en-US" sz="2200" i="1" dirty="0">
                  <a:latin typeface="Cambria Math" panose="02040503050406030204" pitchFamily="18" charset="0"/>
                </a:endParaRPr>
              </a:p>
            </p:txBody>
          </p:sp>
        </mc:Choice>
        <mc:Fallback xmlns="">
          <p:sp>
            <p:nvSpPr>
              <p:cNvPr id="6150" name="Object 6"/>
              <p:cNvSpPr txBox="1">
                <a:spLocks noRot="1" noChangeAspect="1" noMove="1" noResize="1" noEditPoints="1" noAdjustHandles="1" noChangeArrowheads="1" noChangeShapeType="1" noTextEdit="1"/>
              </p:cNvSpPr>
              <p:nvPr/>
            </p:nvSpPr>
            <p:spPr bwMode="auto">
              <a:xfrm>
                <a:off x="4856532" y="1184095"/>
                <a:ext cx="2725368" cy="407988"/>
              </a:xfrm>
              <a:prstGeom prst="rect">
                <a:avLst/>
              </a:prstGeom>
              <a:blipFill>
                <a:blip r:embed="rId11"/>
                <a:stretch>
                  <a:fillRect b="-25373"/>
                </a:stretch>
              </a:blipFill>
              <a:ln>
                <a:noFill/>
              </a:ln>
              <a:effectLst/>
            </p:spPr>
            <p:txBody>
              <a:bodyPr/>
              <a:lstStyle/>
              <a:p>
                <a:r>
                  <a:rPr lang="zh-CN" altLang="en-US">
                    <a:noFill/>
                  </a:rPr>
                  <a:t> </a:t>
                </a:r>
              </a:p>
            </p:txBody>
          </p:sp>
        </mc:Fallback>
      </mc:AlternateContent>
      <p:sp>
        <p:nvSpPr>
          <p:cNvPr id="6151" name="Text Box 7"/>
          <p:cNvSpPr txBox="1">
            <a:spLocks noChangeArrowheads="1"/>
          </p:cNvSpPr>
          <p:nvPr/>
        </p:nvSpPr>
        <p:spPr bwMode="auto">
          <a:xfrm>
            <a:off x="1703388" y="2144662"/>
            <a:ext cx="754061"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200" dirty="0">
                <a:latin typeface="Times New Roman" panose="02020603050405020304" pitchFamily="18" charset="0"/>
                <a:cs typeface="Times New Roman" panose="02020603050405020304" pitchFamily="18" charset="0"/>
              </a:rPr>
              <a:t>于是</a:t>
            </a:r>
          </a:p>
        </p:txBody>
      </p:sp>
      <mc:AlternateContent xmlns:mc="http://schemas.openxmlformats.org/markup-compatibility/2006" xmlns:a14="http://schemas.microsoft.com/office/drawing/2010/main">
        <mc:Choice Requires="a14">
          <p:sp>
            <p:nvSpPr>
              <p:cNvPr id="6164" name="Object 20"/>
              <p:cNvSpPr txBox="1"/>
              <p:nvPr/>
            </p:nvSpPr>
            <p:spPr bwMode="auto">
              <a:xfrm>
                <a:off x="1703388" y="3491725"/>
                <a:ext cx="4092579" cy="53657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200" i="1">
                          <a:latin typeface="Cambria Math" panose="02040503050406030204" pitchFamily="18" charset="0"/>
                        </a:rPr>
                        <m:t>|</m:t>
                      </m:r>
                      <m:groupChr>
                        <m:groupChrPr>
                          <m:chr m:val="→"/>
                          <m:pos m:val="top"/>
                          <m:vertJc m:val="bot"/>
                          <m:ctrlPr>
                            <a:rPr lang="zh-CN" altLang="en-US" sz="2200" i="1">
                              <a:latin typeface="Cambria Math" panose="02040503050406030204" pitchFamily="18" charset="0"/>
                            </a:rPr>
                          </m:ctrlPr>
                        </m:groupChrPr>
                        <m:e>
                          <m:r>
                            <a:rPr lang="zh-CN" altLang="en-US" sz="2200" i="1">
                              <a:latin typeface="Cambria Math" panose="02040503050406030204" pitchFamily="18" charset="0"/>
                            </a:rPr>
                            <m:t>𝐴𝐶</m:t>
                          </m:r>
                        </m:e>
                      </m:groupChr>
                      <m:r>
                        <a:rPr lang="zh-CN" altLang="en-US" sz="2200" i="1">
                          <a:latin typeface="Cambria Math" panose="02040503050406030204" pitchFamily="18" charset="0"/>
                        </a:rPr>
                        <m:t>|=</m:t>
                      </m:r>
                      <m:rad>
                        <m:radPr>
                          <m:degHide m:val="on"/>
                          <m:ctrlPr>
                            <a:rPr lang="zh-CN" altLang="en-US" sz="2200" i="1">
                              <a:latin typeface="Cambria Math" panose="02040503050406030204" pitchFamily="18" charset="0"/>
                            </a:rPr>
                          </m:ctrlPr>
                        </m:radPr>
                        <m:deg/>
                        <m:e>
                          <m:sSup>
                            <m:sSupPr>
                              <m:ctrlPr>
                                <a:rPr lang="zh-CN" altLang="en-US" sz="2200" i="1">
                                  <a:latin typeface="Cambria Math" panose="02040503050406030204" pitchFamily="18" charset="0"/>
                                </a:rPr>
                              </m:ctrlPr>
                            </m:sSupPr>
                            <m:e>
                              <m:r>
                                <a:rPr lang="zh-CN" altLang="en-US" sz="2200" i="1">
                                  <a:latin typeface="Cambria Math" panose="02040503050406030204" pitchFamily="18" charset="0"/>
                                </a:rPr>
                                <m:t>0</m:t>
                              </m:r>
                            </m:e>
                            <m:sup>
                              <m:r>
                                <a:rPr lang="zh-CN" altLang="en-US" sz="2200" i="1">
                                  <a:latin typeface="Cambria Math" panose="02040503050406030204" pitchFamily="18" charset="0"/>
                                </a:rPr>
                                <m:t>2</m:t>
                              </m:r>
                            </m:sup>
                          </m:sSup>
                          <m:r>
                            <a:rPr lang="zh-CN" altLang="en-US" sz="2200" i="1">
                              <a:latin typeface="Cambria Math" panose="02040503050406030204" pitchFamily="18" charset="0"/>
                            </a:rPr>
                            <m:t>+</m:t>
                          </m:r>
                          <m:sSup>
                            <m:sSupPr>
                              <m:ctrlPr>
                                <a:rPr lang="zh-CN" altLang="en-US" sz="2200" i="1">
                                  <a:latin typeface="Cambria Math" panose="02040503050406030204" pitchFamily="18" charset="0"/>
                                </a:rPr>
                              </m:ctrlPr>
                            </m:sSupPr>
                            <m:e>
                              <m:r>
                                <a:rPr lang="zh-CN" altLang="en-US" sz="2200" i="1">
                                  <a:latin typeface="Cambria Math" panose="02040503050406030204" pitchFamily="18" charset="0"/>
                                </a:rPr>
                                <m:t>4</m:t>
                              </m:r>
                            </m:e>
                            <m:sup>
                              <m:r>
                                <a:rPr lang="zh-CN" altLang="en-US" sz="2200" i="1">
                                  <a:latin typeface="Cambria Math" panose="02040503050406030204" pitchFamily="18" charset="0"/>
                                </a:rPr>
                                <m:t>2</m:t>
                              </m:r>
                            </m:sup>
                          </m:sSup>
                          <m:r>
                            <a:rPr lang="zh-CN" altLang="en-US" sz="2200" i="1">
                              <a:latin typeface="Cambria Math" panose="02040503050406030204" pitchFamily="18" charset="0"/>
                            </a:rPr>
                            <m:t>+(−3</m:t>
                          </m:r>
                          <m:sSup>
                            <m:sSupPr>
                              <m:ctrlPr>
                                <a:rPr lang="zh-CN" altLang="en-US" sz="2200" i="1">
                                  <a:latin typeface="Cambria Math" panose="02040503050406030204" pitchFamily="18" charset="0"/>
                                </a:rPr>
                              </m:ctrlPr>
                            </m:sSupPr>
                            <m:e>
                              <m:r>
                                <a:rPr lang="zh-CN" altLang="en-US" sz="2200" i="1">
                                  <a:latin typeface="Cambria Math" panose="02040503050406030204" pitchFamily="18" charset="0"/>
                                </a:rPr>
                                <m:t>)</m:t>
                              </m:r>
                            </m:e>
                            <m:sup>
                              <m:r>
                                <a:rPr lang="zh-CN" altLang="en-US" sz="2200" i="1">
                                  <a:latin typeface="Cambria Math" panose="02040503050406030204" pitchFamily="18" charset="0"/>
                                </a:rPr>
                                <m:t>2</m:t>
                              </m:r>
                            </m:sup>
                          </m:sSup>
                        </m:e>
                      </m:rad>
                      <m:r>
                        <a:rPr lang="zh-CN" altLang="en-US" sz="2200" i="1">
                          <a:latin typeface="Cambria Math" panose="02040503050406030204" pitchFamily="18" charset="0"/>
                        </a:rPr>
                        <m:t>=5,</m:t>
                      </m:r>
                    </m:oMath>
                  </m:oMathPara>
                </a14:m>
                <a:endParaRPr lang="zh-CN" altLang="en-US" sz="2200" i="1" dirty="0">
                  <a:latin typeface="Cambria Math" panose="02040503050406030204" pitchFamily="18" charset="0"/>
                </a:endParaRPr>
              </a:p>
            </p:txBody>
          </p:sp>
        </mc:Choice>
        <mc:Fallback xmlns="">
          <p:sp>
            <p:nvSpPr>
              <p:cNvPr id="6164" name="Object 20"/>
              <p:cNvSpPr txBox="1">
                <a:spLocks noRot="1" noChangeAspect="1" noMove="1" noResize="1" noEditPoints="1" noAdjustHandles="1" noChangeArrowheads="1" noChangeShapeType="1" noTextEdit="1"/>
              </p:cNvSpPr>
              <p:nvPr/>
            </p:nvSpPr>
            <p:spPr bwMode="auto">
              <a:xfrm>
                <a:off x="1703388" y="3491725"/>
                <a:ext cx="4092579" cy="536575"/>
              </a:xfrm>
              <a:prstGeom prst="rect">
                <a:avLst/>
              </a:prstGeom>
              <a:blipFill>
                <a:blip r:embed="rId12"/>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66" name="Object 22"/>
              <p:cNvSpPr txBox="1"/>
              <p:nvPr/>
            </p:nvSpPr>
            <p:spPr bwMode="auto">
              <a:xfrm>
                <a:off x="1703387" y="4180150"/>
                <a:ext cx="2468563" cy="75406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200" i="1">
                          <a:latin typeface="Cambria Math" panose="02040503050406030204" pitchFamily="18" charset="0"/>
                        </a:rPr>
                        <m:t>𝑆</m:t>
                      </m:r>
                      <m:r>
                        <a:rPr lang="zh-CN" altLang="en-US" sz="2200" i="1">
                          <a:latin typeface="Cambria Math" panose="02040503050406030204" pitchFamily="18" charset="0"/>
                        </a:rPr>
                        <m:t>=</m:t>
                      </m:r>
                      <m:f>
                        <m:fPr>
                          <m:ctrlPr>
                            <a:rPr lang="zh-CN" altLang="en-US" sz="2200" i="1">
                              <a:latin typeface="Cambria Math" panose="02040503050406030204" pitchFamily="18" charset="0"/>
                            </a:rPr>
                          </m:ctrlPr>
                        </m:fPr>
                        <m:num>
                          <m:r>
                            <a:rPr lang="zh-CN" altLang="en-US" sz="2200" i="1">
                              <a:latin typeface="Cambria Math" panose="02040503050406030204" pitchFamily="18" charset="0"/>
                            </a:rPr>
                            <m:t>1</m:t>
                          </m:r>
                        </m:num>
                        <m:den>
                          <m:r>
                            <a:rPr lang="zh-CN" altLang="en-US" sz="2200" i="1">
                              <a:latin typeface="Cambria Math" panose="02040503050406030204" pitchFamily="18" charset="0"/>
                            </a:rPr>
                            <m:t>2</m:t>
                          </m:r>
                        </m:den>
                      </m:f>
                      <m:r>
                        <a:rPr lang="zh-CN" altLang="en-US" sz="2200" i="1">
                          <a:latin typeface="Cambria Math" panose="02040503050406030204" pitchFamily="18" charset="0"/>
                        </a:rPr>
                        <m:t>|</m:t>
                      </m:r>
                      <m:groupChr>
                        <m:groupChrPr>
                          <m:chr m:val="→"/>
                          <m:pos m:val="top"/>
                          <m:vertJc m:val="bot"/>
                          <m:ctrlPr>
                            <a:rPr lang="zh-CN" altLang="en-US" sz="2200" i="1">
                              <a:latin typeface="Cambria Math" panose="02040503050406030204" pitchFamily="18" charset="0"/>
                            </a:rPr>
                          </m:ctrlPr>
                        </m:groupChrPr>
                        <m:e>
                          <m:r>
                            <a:rPr lang="zh-CN" altLang="en-US" sz="2200" i="1">
                              <a:latin typeface="Cambria Math" panose="02040503050406030204" pitchFamily="18" charset="0"/>
                            </a:rPr>
                            <m:t>𝐴𝐶</m:t>
                          </m:r>
                        </m:e>
                      </m:groupChr>
                      <m:r>
                        <a:rPr lang="zh-CN" altLang="en-US" sz="2200" i="1">
                          <a:latin typeface="Cambria Math" panose="02040503050406030204" pitchFamily="18" charset="0"/>
                        </a:rPr>
                        <m:t>|⋅|</m:t>
                      </m:r>
                      <m:r>
                        <a:rPr lang="zh-CN" altLang="en-US" sz="2200" i="1">
                          <a:latin typeface="Cambria Math" panose="02040503050406030204" pitchFamily="18" charset="0"/>
                        </a:rPr>
                        <m:t>𝐵𝐷</m:t>
                      </m:r>
                      <m:r>
                        <a:rPr lang="zh-CN" altLang="en-US" sz="2200" i="1">
                          <a:latin typeface="Cambria Math" panose="02040503050406030204" pitchFamily="18" charset="0"/>
                        </a:rPr>
                        <m:t>|,</m:t>
                      </m:r>
                    </m:oMath>
                  </m:oMathPara>
                </a14:m>
                <a:endParaRPr lang="zh-CN" altLang="en-US" sz="2200" i="1" dirty="0">
                  <a:latin typeface="Cambria Math" panose="02040503050406030204" pitchFamily="18" charset="0"/>
                </a:endParaRPr>
              </a:p>
            </p:txBody>
          </p:sp>
        </mc:Choice>
        <mc:Fallback xmlns="">
          <p:sp>
            <p:nvSpPr>
              <p:cNvPr id="6166" name="Object 22"/>
              <p:cNvSpPr txBox="1">
                <a:spLocks noRot="1" noChangeAspect="1" noMove="1" noResize="1" noEditPoints="1" noAdjustHandles="1" noChangeArrowheads="1" noChangeShapeType="1" noTextEdit="1"/>
              </p:cNvSpPr>
              <p:nvPr/>
            </p:nvSpPr>
            <p:spPr bwMode="auto">
              <a:xfrm>
                <a:off x="1703387" y="4180150"/>
                <a:ext cx="2468563" cy="754063"/>
              </a:xfrm>
              <a:prstGeom prst="rect">
                <a:avLst/>
              </a:prstGeom>
              <a:blipFill>
                <a:blip r:embed="rId13"/>
                <a:stretch>
                  <a:fillRect/>
                </a:stretch>
              </a:blipFill>
              <a:ln>
                <a:noFill/>
              </a:ln>
              <a:effectLst/>
            </p:spPr>
            <p:txBody>
              <a:bodyPr/>
              <a:lstStyle/>
              <a:p>
                <a:r>
                  <a:rPr lang="zh-CN" altLang="en-US">
                    <a:noFill/>
                  </a:rPr>
                  <a:t> </a:t>
                </a:r>
              </a:p>
            </p:txBody>
          </p:sp>
        </mc:Fallback>
      </mc:AlternateContent>
      <p:sp>
        <p:nvSpPr>
          <p:cNvPr id="6168" name="Text Box 24"/>
          <p:cNvSpPr txBox="1">
            <a:spLocks noChangeArrowheads="1"/>
          </p:cNvSpPr>
          <p:nvPr/>
        </p:nvSpPr>
        <p:spPr bwMode="auto">
          <a:xfrm>
            <a:off x="1703388" y="5184035"/>
            <a:ext cx="107950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200" dirty="0">
                <a:latin typeface="Times New Roman" panose="02020603050405020304" pitchFamily="18" charset="0"/>
                <a:cs typeface="Times New Roman" panose="02020603050405020304" pitchFamily="18" charset="0"/>
              </a:rPr>
              <a:t>则有</a:t>
            </a:r>
          </a:p>
        </p:txBody>
      </p:sp>
      <mc:AlternateContent xmlns:mc="http://schemas.openxmlformats.org/markup-compatibility/2006" xmlns:a14="http://schemas.microsoft.com/office/drawing/2010/main">
        <mc:Choice Requires="a14">
          <p:sp>
            <p:nvSpPr>
              <p:cNvPr id="6170" name="Object 26"/>
              <p:cNvSpPr txBox="1"/>
              <p:nvPr/>
            </p:nvSpPr>
            <p:spPr bwMode="auto">
              <a:xfrm>
                <a:off x="2283580" y="5022447"/>
                <a:ext cx="2265662" cy="754062"/>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f>
                        <m:fPr>
                          <m:ctrlPr>
                            <a:rPr lang="zh-CN" altLang="en-US" sz="2200" i="1">
                              <a:latin typeface="Cambria Math" panose="02040503050406030204" pitchFamily="18" charset="0"/>
                            </a:rPr>
                          </m:ctrlPr>
                        </m:fPr>
                        <m:num>
                          <m:r>
                            <a:rPr lang="zh-CN" altLang="en-US" sz="2200" i="1">
                              <a:latin typeface="Cambria Math" panose="02040503050406030204" pitchFamily="18" charset="0"/>
                            </a:rPr>
                            <m:t>1</m:t>
                          </m:r>
                        </m:num>
                        <m:den>
                          <m:r>
                            <a:rPr lang="zh-CN" altLang="en-US" sz="2200" i="1">
                              <a:latin typeface="Cambria Math" panose="02040503050406030204" pitchFamily="18" charset="0"/>
                            </a:rPr>
                            <m:t>2</m:t>
                          </m:r>
                        </m:den>
                      </m:f>
                      <m:r>
                        <a:rPr lang="zh-CN" altLang="en-US" sz="2200" i="1">
                          <a:latin typeface="Cambria Math" panose="02040503050406030204" pitchFamily="18" charset="0"/>
                        </a:rPr>
                        <m:t>⋅5⋅|</m:t>
                      </m:r>
                      <m:r>
                        <a:rPr lang="zh-CN" altLang="en-US" sz="2200" i="1">
                          <a:latin typeface="Cambria Math" panose="02040503050406030204" pitchFamily="18" charset="0"/>
                        </a:rPr>
                        <m:t>𝐵𝐷</m:t>
                      </m:r>
                      <m:r>
                        <a:rPr lang="zh-CN" altLang="en-US" sz="2200" i="1">
                          <a:latin typeface="Cambria Math" panose="02040503050406030204" pitchFamily="18" charset="0"/>
                        </a:rPr>
                        <m:t>|=</m:t>
                      </m:r>
                      <m:f>
                        <m:fPr>
                          <m:ctrlPr>
                            <a:rPr lang="zh-CN" altLang="en-US" sz="2200" i="1">
                              <a:latin typeface="Cambria Math" panose="02040503050406030204" pitchFamily="18" charset="0"/>
                            </a:rPr>
                          </m:ctrlPr>
                        </m:fPr>
                        <m:num>
                          <m:r>
                            <a:rPr lang="zh-CN" altLang="en-US" sz="2200" i="1">
                              <a:latin typeface="Cambria Math" panose="02040503050406030204" pitchFamily="18" charset="0"/>
                            </a:rPr>
                            <m:t>25</m:t>
                          </m:r>
                        </m:num>
                        <m:den>
                          <m:r>
                            <a:rPr lang="zh-CN" altLang="en-US" sz="2200" i="1">
                              <a:latin typeface="Cambria Math" panose="02040503050406030204" pitchFamily="18" charset="0"/>
                            </a:rPr>
                            <m:t>2</m:t>
                          </m:r>
                        </m:den>
                      </m:f>
                      <m:r>
                        <a:rPr lang="zh-CN" altLang="en-US" sz="2200" i="1">
                          <a:latin typeface="Cambria Math" panose="02040503050406030204" pitchFamily="18" charset="0"/>
                        </a:rPr>
                        <m:t>,</m:t>
                      </m:r>
                    </m:oMath>
                  </m:oMathPara>
                </a14:m>
                <a:endParaRPr lang="zh-CN" altLang="en-US" sz="2200" i="1" dirty="0">
                  <a:latin typeface="Cambria Math" panose="02040503050406030204" pitchFamily="18" charset="0"/>
                </a:endParaRPr>
              </a:p>
            </p:txBody>
          </p:sp>
        </mc:Choice>
        <mc:Fallback xmlns="">
          <p:sp>
            <p:nvSpPr>
              <p:cNvPr id="6170" name="Object 26"/>
              <p:cNvSpPr txBox="1">
                <a:spLocks noRot="1" noChangeAspect="1" noMove="1" noResize="1" noEditPoints="1" noAdjustHandles="1" noChangeArrowheads="1" noChangeShapeType="1" noTextEdit="1"/>
              </p:cNvSpPr>
              <p:nvPr/>
            </p:nvSpPr>
            <p:spPr bwMode="auto">
              <a:xfrm>
                <a:off x="2283580" y="5022447"/>
                <a:ext cx="2265662" cy="754062"/>
              </a:xfrm>
              <a:prstGeom prst="rect">
                <a:avLst/>
              </a:prstGeom>
              <a:blipFill>
                <a:blip r:embed="rId14"/>
                <a:stretch>
                  <a:fillRect/>
                </a:stretch>
              </a:blipFill>
              <a:ln>
                <a:noFill/>
              </a:ln>
              <a:effectLst/>
            </p:spPr>
            <p:txBody>
              <a:bodyPr/>
              <a:lstStyle/>
              <a:p>
                <a:r>
                  <a:rPr lang="zh-CN" altLang="en-US">
                    <a:noFill/>
                  </a:rPr>
                  <a:t> </a:t>
                </a:r>
              </a:p>
            </p:txBody>
          </p:sp>
        </mc:Fallback>
      </mc:AlternateContent>
      <p:sp>
        <p:nvSpPr>
          <p:cNvPr id="6171" name="Text Box 27"/>
          <p:cNvSpPr txBox="1">
            <a:spLocks noChangeArrowheads="1"/>
          </p:cNvSpPr>
          <p:nvPr/>
        </p:nvSpPr>
        <p:spPr bwMode="auto">
          <a:xfrm>
            <a:off x="4399390" y="5184035"/>
            <a:ext cx="461707"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200" dirty="0">
                <a:latin typeface="Times New Roman" panose="02020603050405020304" pitchFamily="18" charset="0"/>
                <a:cs typeface="Times New Roman" panose="02020603050405020304" pitchFamily="18" charset="0"/>
              </a:rPr>
              <a:t>故</a:t>
            </a:r>
          </a:p>
        </p:txBody>
      </p:sp>
      <mc:AlternateContent xmlns:mc="http://schemas.openxmlformats.org/markup-compatibility/2006" xmlns:a14="http://schemas.microsoft.com/office/drawing/2010/main">
        <mc:Choice Requires="a14">
          <p:sp>
            <p:nvSpPr>
              <p:cNvPr id="6172" name="Object 28"/>
              <p:cNvSpPr txBox="1"/>
              <p:nvPr/>
            </p:nvSpPr>
            <p:spPr bwMode="auto">
              <a:xfrm>
                <a:off x="4710401" y="5154261"/>
                <a:ext cx="1490849" cy="38893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200" i="1">
                          <a:latin typeface="Cambria Math" panose="02040503050406030204" pitchFamily="18" charset="0"/>
                        </a:rPr>
                        <m:t>|</m:t>
                      </m:r>
                      <m:r>
                        <a:rPr lang="zh-CN" altLang="en-US" sz="2200" i="1">
                          <a:latin typeface="Cambria Math" panose="02040503050406030204" pitchFamily="18" charset="0"/>
                        </a:rPr>
                        <m:t>𝐵𝐷</m:t>
                      </m:r>
                      <m:r>
                        <a:rPr lang="zh-CN" altLang="en-US" sz="2200" i="1">
                          <a:latin typeface="Cambria Math" panose="02040503050406030204" pitchFamily="18" charset="0"/>
                        </a:rPr>
                        <m:t>|=5.</m:t>
                      </m:r>
                    </m:oMath>
                  </m:oMathPara>
                </a14:m>
                <a:endParaRPr lang="zh-CN" altLang="en-US" sz="2200" i="1" dirty="0">
                  <a:latin typeface="Cambria Math" panose="02040503050406030204" pitchFamily="18" charset="0"/>
                </a:endParaRPr>
              </a:p>
            </p:txBody>
          </p:sp>
        </mc:Choice>
        <mc:Fallback xmlns="">
          <p:sp>
            <p:nvSpPr>
              <p:cNvPr id="6172" name="Object 28"/>
              <p:cNvSpPr txBox="1">
                <a:spLocks noRot="1" noChangeAspect="1" noMove="1" noResize="1" noEditPoints="1" noAdjustHandles="1" noChangeArrowheads="1" noChangeShapeType="1" noTextEdit="1"/>
              </p:cNvSpPr>
              <p:nvPr/>
            </p:nvSpPr>
            <p:spPr bwMode="auto">
              <a:xfrm>
                <a:off x="4710401" y="5154261"/>
                <a:ext cx="1490849" cy="388938"/>
              </a:xfrm>
              <a:prstGeom prst="rect">
                <a:avLst/>
              </a:prstGeom>
              <a:blipFill>
                <a:blip r:embed="rId15"/>
                <a:stretch>
                  <a:fillRect l="-2869" b="-33333"/>
                </a:stretch>
              </a:blipFill>
              <a:ln>
                <a:noFill/>
              </a:ln>
              <a:effectLst/>
            </p:spPr>
            <p:txBody>
              <a:bodyPr/>
              <a:lstStyle/>
              <a:p>
                <a:r>
                  <a:rPr lang="zh-CN" altLang="en-US">
                    <a:noFill/>
                  </a:rPr>
                  <a:t> </a:t>
                </a:r>
              </a:p>
            </p:txBody>
          </p:sp>
        </mc:Fallback>
      </mc:AlternateContent>
      <p:sp>
        <p:nvSpPr>
          <p:cNvPr id="2" name="Object 171">
            <a:extLst>
              <a:ext uri="{FF2B5EF4-FFF2-40B4-BE49-F238E27FC236}">
                <a16:creationId xmlns:a16="http://schemas.microsoft.com/office/drawing/2014/main" id="{3FEE7534-8FAD-7722-CD70-F8D736409643}"/>
              </a:ext>
            </a:extLst>
          </p:cNvPr>
          <p:cNvSpPr txBox="1"/>
          <p:nvPr/>
        </p:nvSpPr>
        <p:spPr bwMode="auto">
          <a:xfrm>
            <a:off x="12192000" y="1508860"/>
            <a:ext cx="2663825" cy="541337"/>
          </a:xfrm>
          <a:prstGeom prst="rect">
            <a:avLst/>
          </a:prstGeom>
          <a:noFill/>
          <a:ln>
            <a:noFill/>
          </a:ln>
          <a:effectLst/>
        </p:spPr>
        <p:txBody>
          <a:bodyPr>
            <a:noAutofit/>
          </a:bodyPr>
          <a:lstStyle/>
          <a:p>
            <a:endParaRPr lang="zh-CN" altLang="en-US" sz="2200" i="1" dirty="0">
              <a:latin typeface="Cambria Math" panose="02040503050406030204" pitchFamily="18" charset="0"/>
            </a:endParaRPr>
          </a:p>
        </p:txBody>
      </p:sp>
    </p:spTree>
    <p:extLst>
      <p:ext uri="{BB962C8B-B14F-4D97-AF65-F5344CB8AC3E}">
        <p14:creationId xmlns:p14="http://schemas.microsoft.com/office/powerpoint/2010/main" val="20537978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49"/>
                                        </p:tgtEl>
                                        <p:attrNameLst>
                                          <p:attrName>style.visibility</p:attrName>
                                        </p:attrNameLst>
                                      </p:cBhvr>
                                      <p:to>
                                        <p:strVal val="visible"/>
                                      </p:to>
                                    </p:set>
                                    <p:animEffect transition="in" filter="wipe(left)">
                                      <p:cBhvr>
                                        <p:cTn id="7" dur="500"/>
                                        <p:tgtEl>
                                          <p:spTgt spid="614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150"/>
                                        </p:tgtEl>
                                        <p:attrNameLst>
                                          <p:attrName>style.visibility</p:attrName>
                                        </p:attrNameLst>
                                      </p:cBhvr>
                                      <p:to>
                                        <p:strVal val="visible"/>
                                      </p:to>
                                    </p:set>
                                    <p:animEffect transition="in" filter="wipe(left)">
                                      <p:cBhvr>
                                        <p:cTn id="10" dur="500"/>
                                        <p:tgtEl>
                                          <p:spTgt spid="6150"/>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6151"/>
                                        </p:tgtEl>
                                        <p:attrNameLst>
                                          <p:attrName>style.visibility</p:attrName>
                                        </p:attrNameLst>
                                      </p:cBhvr>
                                      <p:to>
                                        <p:strVal val="visible"/>
                                      </p:to>
                                    </p:set>
                                    <p:animEffect transition="in" filter="wipe(left)">
                                      <p:cBhvr>
                                        <p:cTn id="15" dur="500"/>
                                        <p:tgtEl>
                                          <p:spTgt spid="6151"/>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6148"/>
                                        </p:tgtEl>
                                        <p:attrNameLst>
                                          <p:attrName>style.visibility</p:attrName>
                                        </p:attrNameLst>
                                      </p:cBhvr>
                                      <p:to>
                                        <p:strVal val="visible"/>
                                      </p:to>
                                    </p:set>
                                    <p:animEffect transition="in" filter="wipe(left)">
                                      <p:cBhvr>
                                        <p:cTn id="20" dur="500"/>
                                        <p:tgtEl>
                                          <p:spTgt spid="614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6164"/>
                                        </p:tgtEl>
                                        <p:attrNameLst>
                                          <p:attrName>style.visibility</p:attrName>
                                        </p:attrNameLst>
                                      </p:cBhvr>
                                      <p:to>
                                        <p:strVal val="visible"/>
                                      </p:to>
                                    </p:set>
                                    <p:animEffect transition="in" filter="wipe(left)">
                                      <p:cBhvr>
                                        <p:cTn id="25" dur="500"/>
                                        <p:tgtEl>
                                          <p:spTgt spid="616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6166"/>
                                        </p:tgtEl>
                                        <p:attrNameLst>
                                          <p:attrName>style.visibility</p:attrName>
                                        </p:attrNameLst>
                                      </p:cBhvr>
                                      <p:to>
                                        <p:strVal val="visible"/>
                                      </p:to>
                                    </p:set>
                                    <p:animEffect transition="in" filter="wipe(left)">
                                      <p:cBhvr>
                                        <p:cTn id="30" dur="500"/>
                                        <p:tgtEl>
                                          <p:spTgt spid="616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6168"/>
                                        </p:tgtEl>
                                        <p:attrNameLst>
                                          <p:attrName>style.visibility</p:attrName>
                                        </p:attrNameLst>
                                      </p:cBhvr>
                                      <p:to>
                                        <p:strVal val="visible"/>
                                      </p:to>
                                    </p:set>
                                    <p:animEffect transition="in" filter="wipe(left)">
                                      <p:cBhvr>
                                        <p:cTn id="35" dur="500"/>
                                        <p:tgtEl>
                                          <p:spTgt spid="616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6170"/>
                                        </p:tgtEl>
                                        <p:attrNameLst>
                                          <p:attrName>style.visibility</p:attrName>
                                        </p:attrNameLst>
                                      </p:cBhvr>
                                      <p:to>
                                        <p:strVal val="visible"/>
                                      </p:to>
                                    </p:set>
                                    <p:animEffect transition="in" filter="wipe(left)">
                                      <p:cBhvr>
                                        <p:cTn id="40" dur="500"/>
                                        <p:tgtEl>
                                          <p:spTgt spid="617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6171"/>
                                        </p:tgtEl>
                                        <p:attrNameLst>
                                          <p:attrName>style.visibility</p:attrName>
                                        </p:attrNameLst>
                                      </p:cBhvr>
                                      <p:to>
                                        <p:strVal val="visible"/>
                                      </p:to>
                                    </p:set>
                                    <p:animEffect transition="in" filter="wipe(left)">
                                      <p:cBhvr>
                                        <p:cTn id="45" dur="500"/>
                                        <p:tgtEl>
                                          <p:spTgt spid="6171"/>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6172"/>
                                        </p:tgtEl>
                                        <p:attrNameLst>
                                          <p:attrName>style.visibility</p:attrName>
                                        </p:attrNameLst>
                                      </p:cBhvr>
                                      <p:to>
                                        <p:strVal val="visible"/>
                                      </p:to>
                                    </p:set>
                                    <p:animEffect transition="in" filter="wipe(left)">
                                      <p:cBhvr>
                                        <p:cTn id="50" dur="500"/>
                                        <p:tgtEl>
                                          <p:spTgt spid="6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p:bldP spid="6149" grpId="0"/>
      <p:bldP spid="6150" grpId="0"/>
      <p:bldP spid="6151" grpId="0"/>
      <p:bldP spid="6164" grpId="0"/>
      <p:bldP spid="6166" grpId="0"/>
      <p:bldP spid="6168" grpId="0"/>
      <p:bldP spid="6170" grpId="0"/>
      <p:bldP spid="6171" grpId="0"/>
      <p:bldP spid="617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8" name="组合 87">
            <a:extLst>
              <a:ext uri="{FF2B5EF4-FFF2-40B4-BE49-F238E27FC236}">
                <a16:creationId xmlns:a16="http://schemas.microsoft.com/office/drawing/2014/main" id="{00E631F3-B639-8F58-289D-818177D63A20}"/>
              </a:ext>
            </a:extLst>
          </p:cNvPr>
          <p:cNvGrpSpPr/>
          <p:nvPr/>
        </p:nvGrpSpPr>
        <p:grpSpPr>
          <a:xfrm>
            <a:off x="687324" y="535820"/>
            <a:ext cx="10817987" cy="5803091"/>
            <a:chOff x="687324" y="535820"/>
            <a:chExt cx="10817987" cy="5803091"/>
          </a:xfrm>
        </p:grpSpPr>
        <mc:AlternateContent xmlns:mc="http://schemas.openxmlformats.org/markup-compatibility/2006" xmlns:a14="http://schemas.microsoft.com/office/drawing/2010/main">
          <mc:Choice Requires="a14">
            <p:sp>
              <p:nvSpPr>
                <p:cNvPr id="89" name="矩形 88">
                  <a:extLst>
                    <a:ext uri="{FF2B5EF4-FFF2-40B4-BE49-F238E27FC236}">
                      <a16:creationId xmlns:a16="http://schemas.microsoft.com/office/drawing/2014/main" id="{FC2C8A99-B879-4AA4-EF6C-15A3E1E9D878}"/>
                    </a:ext>
                  </a:extLst>
                </p:cNvPr>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dirty="0"/>
                </a:p>
              </p:txBody>
            </p:sp>
          </mc:Choice>
          <mc:Fallback xmlns="">
            <p:sp>
              <p:nvSpPr>
                <p:cNvPr id="89" name="矩形 88">
                  <a:extLst>
                    <a:ext uri="{FF2B5EF4-FFF2-40B4-BE49-F238E27FC236}">
                      <a16:creationId xmlns:a16="http://schemas.microsoft.com/office/drawing/2014/main" id="{FC2C8A99-B879-4AA4-EF6C-15A3E1E9D878}"/>
                    </a:ext>
                  </a:extLst>
                </p:cNvPr>
                <p:cNvSpPr>
                  <a:spLocks noRot="1" noChangeAspect="1" noMove="1" noResize="1" noEditPoints="1" noAdjustHandles="1" noChangeArrowheads="1" noChangeShapeType="1" noTextEdit="1"/>
                </p:cNvSpPr>
                <p:nvPr/>
              </p:nvSpPr>
              <p:spPr>
                <a:xfrm>
                  <a:off x="687959" y="536260"/>
                  <a:ext cx="10817352" cy="5799897"/>
                </a:xfrm>
                <a:prstGeom prst="rect">
                  <a:avLst/>
                </a:prstGeom>
                <a:blipFill>
                  <a:blip r:embed="rId3"/>
                  <a:stretch>
                    <a:fillRect/>
                  </a:stretch>
                </a:blipFill>
                <a:ln>
                  <a:noFill/>
                </a:ln>
                <a:effectLst>
                  <a:outerShdw blurRad="63500" sx="102000" sy="102000" algn="ctr" rotWithShape="0">
                    <a:prstClr val="black">
                      <a:alpha val="9000"/>
                    </a:prstClr>
                  </a:outerShdw>
                </a:effectLst>
              </p:spPr>
              <p:txBody>
                <a:bodyPr/>
                <a:lstStyle/>
                <a:p>
                  <a:r>
                    <a:rPr lang="zh-CN" altLang="en-US">
                      <a:noFill/>
                    </a:rPr>
                    <a:t> </a:t>
                  </a:r>
                </a:p>
              </p:txBody>
            </p:sp>
          </mc:Fallback>
        </mc:AlternateContent>
        <p:sp>
          <p:nvSpPr>
            <p:cNvPr id="90" name="半闭框 89">
              <a:extLst>
                <a:ext uri="{FF2B5EF4-FFF2-40B4-BE49-F238E27FC236}">
                  <a16:creationId xmlns:a16="http://schemas.microsoft.com/office/drawing/2014/main" id="{10B57B18-8FD1-9191-4891-AA880E557AE8}"/>
                </a:ext>
              </a:extLst>
            </p:cNvPr>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1" name="半闭框 90">
              <a:extLst>
                <a:ext uri="{FF2B5EF4-FFF2-40B4-BE49-F238E27FC236}">
                  <a16:creationId xmlns:a16="http://schemas.microsoft.com/office/drawing/2014/main" id="{BD5FDA94-ECBE-9BB0-8D4F-B3F0A6B50865}"/>
                </a:ext>
              </a:extLst>
            </p:cNvPr>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2" name="半闭框 91">
              <a:extLst>
                <a:ext uri="{FF2B5EF4-FFF2-40B4-BE49-F238E27FC236}">
                  <a16:creationId xmlns:a16="http://schemas.microsoft.com/office/drawing/2014/main" id="{302D5DEC-DBFC-51E0-6BB3-9776BA43534E}"/>
                </a:ext>
              </a:extLst>
            </p:cNvPr>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93" name="半闭框 92">
              <a:extLst>
                <a:ext uri="{FF2B5EF4-FFF2-40B4-BE49-F238E27FC236}">
                  <a16:creationId xmlns:a16="http://schemas.microsoft.com/office/drawing/2014/main" id="{2FD45454-F41E-A703-7D4A-EA544299B692}"/>
                </a:ext>
              </a:extLst>
            </p:cNvPr>
            <p:cNvSpPr/>
            <p:nvPr/>
          </p:nvSpPr>
          <p:spPr>
            <a:xfrm flipH="1" flipV="1">
              <a:off x="10823530"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mc:AlternateContent xmlns:mc="http://schemas.openxmlformats.org/markup-compatibility/2006" xmlns:a14="http://schemas.microsoft.com/office/drawing/2010/main">
        <mc:Choice Requires="a14">
          <p:sp>
            <p:nvSpPr>
              <p:cNvPr id="2" name="Text Box 5"/>
              <p:cNvSpPr txBox="1">
                <a:spLocks noChangeArrowheads="1"/>
              </p:cNvSpPr>
              <p:nvPr/>
            </p:nvSpPr>
            <p:spPr bwMode="auto">
              <a:xfrm>
                <a:off x="2057487" y="1476453"/>
                <a:ext cx="2638915" cy="523220"/>
              </a:xfrm>
              <a:prstGeom prst="rect">
                <a:avLst/>
              </a:prstGeom>
              <a:noFill/>
              <a:ln>
                <a:noFill/>
              </a:ln>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Lst>
            </p:spPr>
            <p:txBody>
              <a:bodyPr wrap="square">
                <a:spAutoFit/>
              </a:bodyPr>
              <a:lstStyle/>
              <a:p>
                <a:pPr>
                  <a:spcBef>
                    <a:spcPct val="50000"/>
                  </a:spcBef>
                </a:pPr>
                <a:r>
                  <a:rPr lang="zh-CN" altLang="en-US" sz="2800" dirty="0">
                    <a:latin typeface="Times New Roman" panose="02020603050405020304" pitchFamily="18" charset="0"/>
                    <a:cs typeface="Times New Roman" panose="02020603050405020304" pitchFamily="18" charset="0"/>
                  </a:rPr>
                  <a:t>一点</a:t>
                </a:r>
                <a14:m>
                  <m:oMath xmlns:m="http://schemas.openxmlformats.org/officeDocument/2006/math">
                    <m:r>
                      <a:rPr lang="zh-CN" altLang="en-US" sz="2800" i="1" smtClean="0">
                        <a:latin typeface="Cambria Math" panose="02040503050406030204" pitchFamily="18" charset="0"/>
                      </a:rPr>
                      <m:t>𝑀</m:t>
                    </m:r>
                  </m:oMath>
                </a14:m>
                <a:r>
                  <a:rPr lang="zh-CN" altLang="en-US" sz="2800" dirty="0">
                    <a:latin typeface="Times New Roman" panose="02020603050405020304" pitchFamily="18" charset="0"/>
                    <a:cs typeface="Times New Roman" panose="02020603050405020304" pitchFamily="18" charset="0"/>
                  </a:rPr>
                  <a:t>的线速度</a:t>
                </a:r>
              </a:p>
            </p:txBody>
          </p:sp>
        </mc:Choice>
        <mc:Fallback xmlns="">
          <p:sp>
            <p:nvSpPr>
              <p:cNvPr id="2" name="Text Box 5"/>
              <p:cNvSpPr txBox="1">
                <a:spLocks noRot="1" noChangeAspect="1" noMove="1" noResize="1" noEditPoints="1" noAdjustHandles="1" noChangeArrowheads="1" noChangeShapeType="1" noTextEdit="1"/>
              </p:cNvSpPr>
              <p:nvPr/>
            </p:nvSpPr>
            <p:spPr bwMode="auto">
              <a:xfrm>
                <a:off x="2057487" y="1476453"/>
                <a:ext cx="2638915" cy="523220"/>
              </a:xfrm>
              <a:prstGeom prst="rect">
                <a:avLst/>
              </a:prstGeom>
              <a:blipFill>
                <a:blip r:embed="rId4"/>
                <a:stretch>
                  <a:fillRect l="-4861" t="-15116" r="-4398" b="-27907"/>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Rectangle 2"/>
              <p:cNvSpPr txBox="1">
                <a:spLocks noChangeArrowheads="1"/>
              </p:cNvSpPr>
              <p:nvPr/>
            </p:nvSpPr>
            <p:spPr>
              <a:xfrm>
                <a:off x="1182975" y="1031119"/>
                <a:ext cx="6165850" cy="494608"/>
              </a:xfrm>
              <a:prstGeom prst="rect">
                <a:avLst/>
              </a:prstGeom>
            </p:spPr>
            <p:txBody>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kumimoji="1" lang="zh-CN" altLang="en-US" sz="2800" dirty="0">
                    <a:solidFill>
                      <a:srgbClr val="04926A"/>
                    </a:solidFill>
                    <a:latin typeface="微软雅黑" panose="020B0503020204020204" pitchFamily="34" charset="-122"/>
                    <a:ea typeface="微软雅黑" panose="020B0503020204020204" pitchFamily="34" charset="-122"/>
                    <a:cs typeface="+mn-cs"/>
                  </a:rPr>
                  <a:t>例</a:t>
                </a:r>
                <a:r>
                  <a:rPr kumimoji="1" lang="en-US" altLang="zh-CN" sz="2800" dirty="0">
                    <a:solidFill>
                      <a:srgbClr val="04926A"/>
                    </a:solidFill>
                    <a:latin typeface="微软雅黑" panose="020B0503020204020204" pitchFamily="34" charset="-122"/>
                    <a:ea typeface="微软雅黑" panose="020B0503020204020204" pitchFamily="34" charset="-122"/>
                    <a:cs typeface="+mn-cs"/>
                  </a:rPr>
                  <a:t>6 </a:t>
                </a:r>
                <a:r>
                  <a:rPr lang="en-US" altLang="zh-CN" sz="2800" dirty="0">
                    <a:latin typeface="Times New Roman" panose="02020603050405020304" pitchFamily="18" charset="0"/>
                    <a:ea typeface="+mn-ea"/>
                    <a:cs typeface="Times New Roman" panose="02020603050405020304" pitchFamily="18" charset="0"/>
                  </a:rPr>
                  <a:t>  </a:t>
                </a:r>
                <a:r>
                  <a:rPr lang="zh-CN" altLang="en-US" sz="2800" b="0" dirty="0">
                    <a:latin typeface="Times New Roman" panose="02020603050405020304" pitchFamily="18" charset="0"/>
                    <a:ea typeface="+mn-ea"/>
                    <a:cs typeface="Times New Roman" panose="02020603050405020304" pitchFamily="18" charset="0"/>
                  </a:rPr>
                  <a:t>设刚体以等角速度</a:t>
                </a:r>
                <a:r>
                  <a:rPr lang="zh-CN" altLang="en-US" sz="2800" i="1" dirty="0">
                    <a:latin typeface="Cambria Math" panose="02040503050406030204" pitchFamily="18" charset="0"/>
                    <a:ea typeface="+mn-ea"/>
                    <a:cs typeface="+mn-cs"/>
                    <a:sym typeface="Symbol" panose="05050102010706020507" pitchFamily="18" charset="2"/>
                  </a:rPr>
                  <a:t></a:t>
                </a:r>
                <a:r>
                  <a:rPr lang="zh-CN" altLang="en-US" sz="2800" i="1" dirty="0">
                    <a:latin typeface="Times New Roman" panose="02020603050405020304" pitchFamily="18" charset="0"/>
                    <a:ea typeface="+mn-ea"/>
                    <a:cs typeface="Times New Roman" panose="02020603050405020304" pitchFamily="18" charset="0"/>
                    <a:sym typeface="Symbol" panose="05050102010706020507" pitchFamily="18" charset="2"/>
                  </a:rPr>
                  <a:t> </a:t>
                </a:r>
                <a:r>
                  <a:rPr lang="zh-CN" altLang="en-US" sz="2800" b="0" dirty="0">
                    <a:latin typeface="Times New Roman" panose="02020603050405020304" pitchFamily="18" charset="0"/>
                    <a:ea typeface="+mn-ea"/>
                    <a:cs typeface="Times New Roman" panose="02020603050405020304" pitchFamily="18" charset="0"/>
                  </a:rPr>
                  <a:t>绕</a:t>
                </a:r>
                <a14:m>
                  <m:oMath xmlns:m="http://schemas.openxmlformats.org/officeDocument/2006/math">
                    <m:r>
                      <a:rPr lang="en-US" altLang="zh-CN" sz="2800" b="0" i="1" smtClean="0">
                        <a:latin typeface="Cambria Math" panose="02040503050406030204" pitchFamily="18" charset="0"/>
                      </a:rPr>
                      <m:t>𝑙</m:t>
                    </m:r>
                  </m:oMath>
                </a14:m>
                <a:r>
                  <a:rPr lang="zh-CN" altLang="en-US" sz="2800" b="0" dirty="0">
                    <a:latin typeface="Times New Roman" panose="02020603050405020304" pitchFamily="18" charset="0"/>
                    <a:ea typeface="+mn-ea"/>
                    <a:cs typeface="Times New Roman" panose="02020603050405020304" pitchFamily="18" charset="0"/>
                  </a:rPr>
                  <a:t>轴旋转，</a:t>
                </a:r>
                <a:r>
                  <a:rPr lang="en-US" altLang="zh-CN" sz="2800" b="0" dirty="0">
                    <a:latin typeface="Times New Roman" panose="02020603050405020304" pitchFamily="18" charset="0"/>
                    <a:ea typeface="+mn-ea"/>
                    <a:cs typeface="Times New Roman" panose="02020603050405020304" pitchFamily="18" charset="0"/>
                  </a:rPr>
                  <a:t> </a:t>
                </a:r>
              </a:p>
            </p:txBody>
          </p:sp>
        </mc:Choice>
        <mc:Fallback xmlns="">
          <p:sp>
            <p:nvSpPr>
              <p:cNvPr id="3" name="Rectangle 2"/>
              <p:cNvSpPr txBox="1">
                <a:spLocks noRot="1" noChangeAspect="1" noMove="1" noResize="1" noEditPoints="1" noAdjustHandles="1" noChangeArrowheads="1" noChangeShapeType="1" noTextEdit="1"/>
              </p:cNvSpPr>
              <p:nvPr/>
            </p:nvSpPr>
            <p:spPr>
              <a:xfrm>
                <a:off x="1182975" y="1031119"/>
                <a:ext cx="6165850" cy="494608"/>
              </a:xfrm>
              <a:prstGeom prst="rect">
                <a:avLst/>
              </a:prstGeom>
              <a:blipFill>
                <a:blip r:embed="rId5"/>
                <a:stretch>
                  <a:fillRect l="-1976" t="-24691" r="-1087" b="-32099"/>
                </a:stretch>
              </a:blipFill>
            </p:spPr>
            <p:txBody>
              <a:bodyPr/>
              <a:lstStyle/>
              <a:p>
                <a:r>
                  <a:rPr lang="zh-CN" altLang="en-US">
                    <a:noFill/>
                  </a:rPr>
                  <a:t> </a:t>
                </a:r>
              </a:p>
            </p:txBody>
          </p:sp>
        </mc:Fallback>
      </mc:AlternateContent>
      <p:sp>
        <p:nvSpPr>
          <p:cNvPr id="4" name="Text Box 4"/>
          <p:cNvSpPr txBox="1">
            <a:spLocks noChangeArrowheads="1"/>
          </p:cNvSpPr>
          <p:nvPr/>
        </p:nvSpPr>
        <p:spPr bwMode="auto">
          <a:xfrm>
            <a:off x="7020793" y="997316"/>
            <a:ext cx="2057400"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spcBef>
                <a:spcPct val="50000"/>
              </a:spcBef>
            </a:pPr>
            <a:r>
              <a:rPr lang="zh-CN" altLang="en-US" sz="2800" dirty="0">
                <a:latin typeface="Times New Roman" panose="02020603050405020304" pitchFamily="18" charset="0"/>
                <a:cs typeface="Times New Roman" panose="02020603050405020304" pitchFamily="18" charset="0"/>
              </a:rPr>
              <a:t>导出刚体上 </a:t>
            </a:r>
          </a:p>
        </p:txBody>
      </p:sp>
      <p:sp>
        <p:nvSpPr>
          <p:cNvPr id="5" name="Text Box 7"/>
          <p:cNvSpPr txBox="1">
            <a:spLocks noChangeArrowheads="1"/>
          </p:cNvSpPr>
          <p:nvPr/>
        </p:nvSpPr>
        <p:spPr bwMode="auto">
          <a:xfrm>
            <a:off x="4766879" y="1482803"/>
            <a:ext cx="1776796"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1" hangingPunct="1">
              <a:spcBef>
                <a:spcPct val="50000"/>
              </a:spcBef>
            </a:pPr>
            <a:r>
              <a:rPr lang="zh-CN" altLang="en-US" sz="2800" dirty="0">
                <a:latin typeface="Times New Roman" panose="02020603050405020304" pitchFamily="18" charset="0"/>
                <a:cs typeface="Times New Roman" panose="02020603050405020304" pitchFamily="18" charset="0"/>
              </a:rPr>
              <a:t>的表示式</a:t>
            </a:r>
            <a:r>
              <a:rPr lang="en-US" altLang="zh-CN" sz="2800" dirty="0">
                <a:latin typeface="Times New Roman" panose="02020603050405020304" pitchFamily="18" charset="0"/>
                <a:cs typeface="Times New Roman" panose="02020603050405020304" pitchFamily="18" charset="0"/>
              </a:rPr>
              <a:t>. </a:t>
            </a:r>
            <a:endParaRPr lang="en-US" altLang="zh-CN" sz="2800" dirty="0">
              <a:solidFill>
                <a:schemeClr val="accent2"/>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8" name="Text Box 21"/>
              <p:cNvSpPr txBox="1">
                <a:spLocks noChangeArrowheads="1"/>
              </p:cNvSpPr>
              <p:nvPr/>
            </p:nvSpPr>
            <p:spPr bwMode="auto">
              <a:xfrm>
                <a:off x="1182985" y="2085584"/>
                <a:ext cx="5767846" cy="523220"/>
              </a:xfrm>
              <a:prstGeom prst="rect">
                <a:avLst/>
              </a:prstGeom>
              <a:noFill/>
              <a:ln>
                <a:noFill/>
              </a:ln>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Lst>
            </p:spPr>
            <p:txBody>
              <a:bodyPr wrap="square">
                <a:spAutoFit/>
              </a:bodyPr>
              <a:lstStyle/>
              <a:p>
                <a:pPr>
                  <a:spcBef>
                    <a:spcPct val="50000"/>
                  </a:spcBef>
                </a:pPr>
                <a:r>
                  <a:rPr kumimoji="1" lang="zh-CN" altLang="en-US" sz="2800" b="1" dirty="0">
                    <a:solidFill>
                      <a:srgbClr val="04926A"/>
                    </a:solidFill>
                    <a:latin typeface="微软雅黑" panose="020B0503020204020204" pitchFamily="34" charset="-122"/>
                    <a:ea typeface="微软雅黑" panose="020B0503020204020204" pitchFamily="34" charset="-122"/>
                  </a:rPr>
                  <a:t>解</a:t>
                </a:r>
                <a:r>
                  <a:rPr kumimoji="1" lang="en-US" altLang="zh-CN" sz="2800" b="1" dirty="0">
                    <a:solidFill>
                      <a:srgbClr val="04926A"/>
                    </a:solidFill>
                    <a:latin typeface="微软雅黑" panose="020B0503020204020204" pitchFamily="34" charset="-122"/>
                    <a:ea typeface="微软雅黑" panose="020B0503020204020204" pitchFamily="34" charset="-122"/>
                  </a:rPr>
                  <a:t> </a:t>
                </a:r>
                <a:r>
                  <a:rPr lang="en-US" altLang="zh-CN" sz="2800" dirty="0">
                    <a:latin typeface="Times New Roman" panose="02020603050405020304" pitchFamily="18" charset="0"/>
                    <a:cs typeface="Times New Roman" panose="02020603050405020304" pitchFamily="18" charset="0"/>
                  </a:rPr>
                  <a:t>    </a:t>
                </a:r>
                <a:r>
                  <a:rPr lang="zh-CN" altLang="en-US" sz="2200" dirty="0">
                    <a:latin typeface="Times New Roman" panose="02020603050405020304" pitchFamily="18" charset="0"/>
                    <a:cs typeface="Times New Roman" panose="02020603050405020304" pitchFamily="18" charset="0"/>
                  </a:rPr>
                  <a:t>在轴 </a:t>
                </a:r>
                <a14:m>
                  <m:oMath xmlns:m="http://schemas.openxmlformats.org/officeDocument/2006/math">
                    <m:r>
                      <a:rPr lang="en-US" altLang="zh-CN" sz="2200" i="1">
                        <a:latin typeface="Cambria Math" panose="02040503050406030204" pitchFamily="18" charset="0"/>
                      </a:rPr>
                      <m:t>𝑙</m:t>
                    </m:r>
                  </m:oMath>
                </a14:m>
                <a:r>
                  <a:rPr lang="en-US" altLang="zh-CN" sz="2200" dirty="0">
                    <a:latin typeface="Times New Roman" panose="02020603050405020304" pitchFamily="18" charset="0"/>
                    <a:cs typeface="Times New Roman" panose="02020603050405020304" pitchFamily="18" charset="0"/>
                  </a:rPr>
                  <a:t> </a:t>
                </a:r>
                <a:r>
                  <a:rPr lang="zh-CN" altLang="en-US" sz="2200" dirty="0">
                    <a:latin typeface="Times New Roman" panose="02020603050405020304" pitchFamily="18" charset="0"/>
                    <a:cs typeface="Times New Roman" panose="02020603050405020304" pitchFamily="18" charset="0"/>
                  </a:rPr>
                  <a:t>上引进一个角速度向量</a:t>
                </a:r>
              </a:p>
            </p:txBody>
          </p:sp>
        </mc:Choice>
        <mc:Fallback xmlns="">
          <p:sp>
            <p:nvSpPr>
              <p:cNvPr id="18" name="Text Box 21"/>
              <p:cNvSpPr txBox="1">
                <a:spLocks noRot="1" noChangeAspect="1" noMove="1" noResize="1" noEditPoints="1" noAdjustHandles="1" noChangeArrowheads="1" noChangeShapeType="1" noTextEdit="1"/>
              </p:cNvSpPr>
              <p:nvPr/>
            </p:nvSpPr>
            <p:spPr bwMode="auto">
              <a:xfrm>
                <a:off x="1182985" y="2085584"/>
                <a:ext cx="5767846" cy="523220"/>
              </a:xfrm>
              <a:prstGeom prst="rect">
                <a:avLst/>
              </a:prstGeom>
              <a:blipFill>
                <a:blip r:embed="rId7"/>
                <a:stretch>
                  <a:fillRect l="-2114" t="-11628" b="-31395"/>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p:sp>
        <p:nvSpPr>
          <p:cNvPr id="19" name="Text Box 23"/>
          <p:cNvSpPr txBox="1">
            <a:spLocks noChangeArrowheads="1"/>
          </p:cNvSpPr>
          <p:nvPr/>
        </p:nvSpPr>
        <p:spPr bwMode="auto">
          <a:xfrm>
            <a:off x="6001184" y="2138434"/>
            <a:ext cx="685800"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spcBef>
                <a:spcPct val="50000"/>
              </a:spcBef>
            </a:pPr>
            <a:r>
              <a:rPr lang="zh-CN" altLang="en-US" sz="2200" dirty="0">
                <a:latin typeface="Times New Roman" panose="02020603050405020304" pitchFamily="18" charset="0"/>
                <a:cs typeface="Times New Roman" panose="02020603050405020304" pitchFamily="18" charset="0"/>
              </a:rPr>
              <a:t>使</a:t>
            </a:r>
          </a:p>
        </p:txBody>
      </p:sp>
      <p:sp>
        <p:nvSpPr>
          <p:cNvPr id="22" name="Text Box 31"/>
          <p:cNvSpPr txBox="1">
            <a:spLocks noChangeArrowheads="1"/>
          </p:cNvSpPr>
          <p:nvPr/>
        </p:nvSpPr>
        <p:spPr bwMode="auto">
          <a:xfrm>
            <a:off x="7439893" y="2131268"/>
            <a:ext cx="609600"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spcBef>
                <a:spcPct val="50000"/>
              </a:spcBef>
            </a:pPr>
            <a:r>
              <a:rPr lang="zh-CN" altLang="en-US" sz="2200" dirty="0">
                <a:latin typeface="Times New Roman" panose="02020603050405020304" pitchFamily="18" charset="0"/>
                <a:cs typeface="Times New Roman" panose="02020603050405020304" pitchFamily="18" charset="0"/>
              </a:rPr>
              <a:t>其</a:t>
            </a:r>
          </a:p>
        </p:txBody>
      </p:sp>
      <mc:AlternateContent xmlns:mc="http://schemas.openxmlformats.org/markup-compatibility/2006" xmlns:a14="http://schemas.microsoft.com/office/drawing/2010/main">
        <mc:Choice Requires="a14">
          <p:sp>
            <p:nvSpPr>
              <p:cNvPr id="23" name="Text Box 32"/>
              <p:cNvSpPr txBox="1">
                <a:spLocks noChangeArrowheads="1"/>
              </p:cNvSpPr>
              <p:nvPr/>
            </p:nvSpPr>
            <p:spPr bwMode="auto">
              <a:xfrm>
                <a:off x="5813861" y="2671976"/>
                <a:ext cx="2413241" cy="430887"/>
              </a:xfrm>
              <a:prstGeom prst="rect">
                <a:avLst/>
              </a:prstGeom>
              <a:noFill/>
              <a:ln>
                <a:noFill/>
              </a:ln>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Lst>
            </p:spPr>
            <p:txBody>
              <a:bodyPr wrap="square">
                <a:spAutoFit/>
              </a:bodyPr>
              <a:lstStyle/>
              <a:p>
                <a:pPr>
                  <a:spcBef>
                    <a:spcPct val="50000"/>
                  </a:spcBef>
                </a:pPr>
                <a:r>
                  <a:rPr lang="zh-CN" altLang="en-US" sz="2200" dirty="0">
                    <a:latin typeface="Times New Roman" panose="02020603050405020304" pitchFamily="18" charset="0"/>
                    <a:cs typeface="Times New Roman" panose="02020603050405020304" pitchFamily="18" charset="0"/>
                  </a:rPr>
                  <a:t>在 </a:t>
                </a:r>
                <a14:m>
                  <m:oMath xmlns:m="http://schemas.openxmlformats.org/officeDocument/2006/math">
                    <m:r>
                      <a:rPr lang="en-US" altLang="zh-CN" sz="2200" i="1">
                        <a:latin typeface="Cambria Math" panose="02040503050406030204" pitchFamily="18" charset="0"/>
                      </a:rPr>
                      <m:t>𝑙</m:t>
                    </m:r>
                  </m:oMath>
                </a14:m>
                <a:r>
                  <a:rPr lang="en-US" altLang="zh-CN" sz="2200" dirty="0">
                    <a:latin typeface="Times New Roman" panose="02020603050405020304" pitchFamily="18" charset="0"/>
                    <a:cs typeface="Times New Roman" panose="02020603050405020304" pitchFamily="18" charset="0"/>
                  </a:rPr>
                  <a:t> </a:t>
                </a:r>
                <a:r>
                  <a:rPr lang="zh-CN" altLang="en-US" sz="2200" dirty="0">
                    <a:latin typeface="Times New Roman" panose="02020603050405020304" pitchFamily="18" charset="0"/>
                    <a:cs typeface="Times New Roman" panose="02020603050405020304" pitchFamily="18" charset="0"/>
                  </a:rPr>
                  <a:t>上任取一点</a:t>
                </a:r>
                <a14:m>
                  <m:oMath xmlns:m="http://schemas.openxmlformats.org/officeDocument/2006/math">
                    <m:r>
                      <a:rPr lang="en-US" altLang="zh-CN" sz="2200" b="0" i="1" smtClean="0">
                        <a:latin typeface="Cambria Math" panose="02040503050406030204" pitchFamily="18" charset="0"/>
                        <a:cs typeface="Times New Roman" panose="02020603050405020304" pitchFamily="18" charset="0"/>
                      </a:rPr>
                      <m:t>𝑂</m:t>
                    </m:r>
                    <m:r>
                      <a:rPr lang="en-US" altLang="zh-CN" sz="2200" b="0" i="1" smtClean="0">
                        <a:latin typeface="Cambria Math" panose="02040503050406030204" pitchFamily="18" charset="0"/>
                        <a:cs typeface="Times New Roman" panose="02020603050405020304" pitchFamily="18" charset="0"/>
                      </a:rPr>
                      <m:t>,</m:t>
                    </m:r>
                  </m:oMath>
                </a14:m>
                <a:endParaRPr lang="en-US" altLang="zh-CN" sz="2200" i="1" dirty="0">
                  <a:latin typeface="Cambria Math" panose="02040503050406030204" pitchFamily="18" charset="0"/>
                </a:endParaRPr>
              </a:p>
            </p:txBody>
          </p:sp>
        </mc:Choice>
        <mc:Fallback xmlns="">
          <p:sp>
            <p:nvSpPr>
              <p:cNvPr id="23" name="Text Box 32"/>
              <p:cNvSpPr txBox="1">
                <a:spLocks noRot="1" noChangeAspect="1" noMove="1" noResize="1" noEditPoints="1" noAdjustHandles="1" noChangeArrowheads="1" noChangeShapeType="1" noTextEdit="1"/>
              </p:cNvSpPr>
              <p:nvPr/>
            </p:nvSpPr>
            <p:spPr bwMode="auto">
              <a:xfrm>
                <a:off x="5813861" y="2671976"/>
                <a:ext cx="2413241" cy="430887"/>
              </a:xfrm>
              <a:prstGeom prst="rect">
                <a:avLst/>
              </a:prstGeom>
              <a:blipFill>
                <a:blip r:embed="rId8"/>
                <a:stretch>
                  <a:fillRect l="-3283" t="-12676" b="-23944"/>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p:sp>
        <p:nvSpPr>
          <p:cNvPr id="25" name="Text Box 34"/>
          <p:cNvSpPr txBox="1">
            <a:spLocks noChangeArrowheads="1"/>
          </p:cNvSpPr>
          <p:nvPr/>
        </p:nvSpPr>
        <p:spPr bwMode="auto">
          <a:xfrm>
            <a:off x="8112859" y="2665625"/>
            <a:ext cx="533400"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spcBef>
                <a:spcPct val="50000"/>
              </a:spcBef>
            </a:pPr>
            <a:r>
              <a:rPr lang="zh-CN" altLang="en-US" sz="2200" dirty="0">
                <a:latin typeface="Times New Roman" panose="02020603050405020304" pitchFamily="18" charset="0"/>
                <a:cs typeface="Times New Roman" panose="02020603050405020304" pitchFamily="18" charset="0"/>
              </a:rPr>
              <a:t>作</a:t>
            </a:r>
          </a:p>
        </p:txBody>
      </p:sp>
      <p:sp>
        <p:nvSpPr>
          <p:cNvPr id="29" name="Text Box 40"/>
          <p:cNvSpPr txBox="1">
            <a:spLocks noChangeArrowheads="1"/>
          </p:cNvSpPr>
          <p:nvPr/>
        </p:nvSpPr>
        <p:spPr bwMode="auto">
          <a:xfrm>
            <a:off x="3738530" y="3232980"/>
            <a:ext cx="748923"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1" hangingPunct="1">
              <a:spcBef>
                <a:spcPct val="50000"/>
              </a:spcBef>
            </a:pPr>
            <a:r>
              <a:rPr lang="zh-CN" altLang="en-US" sz="2200" dirty="0">
                <a:latin typeface="Times New Roman" panose="02020603050405020304" pitchFamily="18" charset="0"/>
                <a:cs typeface="Times New Roman" panose="02020603050405020304" pitchFamily="18" charset="0"/>
              </a:rPr>
              <a:t>它与</a:t>
            </a:r>
          </a:p>
        </p:txBody>
      </p:sp>
      <p:sp>
        <p:nvSpPr>
          <p:cNvPr id="30" name="Text Box 42"/>
          <p:cNvSpPr txBox="1">
            <a:spLocks noChangeArrowheads="1"/>
          </p:cNvSpPr>
          <p:nvPr/>
        </p:nvSpPr>
        <p:spPr bwMode="auto">
          <a:xfrm>
            <a:off x="6096000" y="3249578"/>
            <a:ext cx="565156"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1" hangingPunct="1">
              <a:spcBef>
                <a:spcPct val="50000"/>
              </a:spcBef>
            </a:pPr>
            <a:r>
              <a:rPr lang="zh-CN" altLang="en-US" sz="2200" dirty="0">
                <a:latin typeface="Times New Roman" panose="02020603050405020304" pitchFamily="18" charset="0"/>
                <a:cs typeface="Times New Roman" panose="02020603050405020304" pitchFamily="18" charset="0"/>
              </a:rPr>
              <a:t>则</a:t>
            </a:r>
          </a:p>
        </p:txBody>
      </p:sp>
      <p:sp>
        <p:nvSpPr>
          <p:cNvPr id="31" name="Text Box 43"/>
          <p:cNvSpPr txBox="1">
            <a:spLocks noChangeArrowheads="1"/>
          </p:cNvSpPr>
          <p:nvPr/>
        </p:nvSpPr>
        <p:spPr bwMode="auto">
          <a:xfrm>
            <a:off x="1934046" y="3827614"/>
            <a:ext cx="2843100"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1" hangingPunct="1">
              <a:spcBef>
                <a:spcPct val="50000"/>
              </a:spcBef>
            </a:pPr>
            <a:r>
              <a:rPr lang="zh-CN" altLang="en-US" sz="2200" dirty="0">
                <a:latin typeface="Times New Roman" panose="02020603050405020304" pitchFamily="18" charset="0"/>
                <a:cs typeface="Times New Roman" panose="02020603050405020304" pitchFamily="18" charset="0"/>
              </a:rPr>
              <a:t>点 </a:t>
            </a:r>
            <a:r>
              <a:rPr lang="en-US" altLang="zh-CN" sz="2200" i="1" dirty="0">
                <a:latin typeface="Cambria Math" panose="02040503050406030204" pitchFamily="18" charset="0"/>
              </a:rPr>
              <a:t>M </a:t>
            </a:r>
            <a:r>
              <a:rPr lang="zh-CN" altLang="en-US" sz="2200" dirty="0">
                <a:latin typeface="Cambria Math" panose="02040503050406030204" pitchFamily="18" charset="0"/>
              </a:rPr>
              <a:t>离</a:t>
            </a:r>
            <a:r>
              <a:rPr lang="zh-CN" altLang="en-US" sz="2200" dirty="0">
                <a:latin typeface="Times New Roman" panose="02020603050405020304" pitchFamily="18" charset="0"/>
                <a:cs typeface="Times New Roman" panose="02020603050405020304" pitchFamily="18" charset="0"/>
              </a:rPr>
              <a:t>开转轴的距离</a:t>
            </a:r>
          </a:p>
        </p:txBody>
      </p:sp>
      <mc:AlternateContent xmlns:mc="http://schemas.openxmlformats.org/markup-compatibility/2006" xmlns:a14="http://schemas.microsoft.com/office/drawing/2010/main">
        <mc:Choice Requires="a14">
          <p:sp>
            <p:nvSpPr>
              <p:cNvPr id="32" name="Object 49"/>
              <p:cNvSpPr txBox="1"/>
              <p:nvPr/>
            </p:nvSpPr>
            <p:spPr bwMode="auto">
              <a:xfrm>
                <a:off x="3318014" y="4300094"/>
                <a:ext cx="1153374" cy="395284"/>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d>
                        <m:dPr>
                          <m:begChr m:val="|"/>
                          <m:endChr m:val="|"/>
                          <m:ctrlPr>
                            <a:rPr lang="zh-CN" altLang="en-US" sz="2200" i="1">
                              <a:latin typeface="Cambria Math" panose="02040503050406030204" pitchFamily="18" charset="0"/>
                            </a:rPr>
                          </m:ctrlPr>
                        </m:dPr>
                        <m:e>
                          <m:r>
                            <a:rPr lang="zh-CN" altLang="en-US" sz="2200" b="1" i="1">
                              <a:latin typeface="Cambria Math" panose="02040503050406030204" pitchFamily="18" charset="0"/>
                            </a:rPr>
                            <m:t>𝝎</m:t>
                          </m:r>
                        </m:e>
                      </m:d>
                      <m:r>
                        <a:rPr lang="zh-CN" altLang="en-US" sz="2200" b="0" i="1">
                          <a:latin typeface="Cambria Math" panose="02040503050406030204" pitchFamily="18" charset="0"/>
                        </a:rPr>
                        <m:t>𝑎</m:t>
                      </m:r>
                    </m:oMath>
                  </m:oMathPara>
                </a14:m>
                <a:endParaRPr lang="zh-CN" altLang="en-US" sz="2200" i="1" dirty="0">
                  <a:latin typeface="Cambria Math" panose="02040503050406030204" pitchFamily="18" charset="0"/>
                </a:endParaRPr>
              </a:p>
            </p:txBody>
          </p:sp>
        </mc:Choice>
        <mc:Fallback xmlns="">
          <p:sp>
            <p:nvSpPr>
              <p:cNvPr id="32" name="Object 49"/>
              <p:cNvSpPr txBox="1">
                <a:spLocks noRot="1" noChangeAspect="1" noMove="1" noResize="1" noEditPoints="1" noAdjustHandles="1" noChangeArrowheads="1" noChangeShapeType="1" noTextEdit="1"/>
              </p:cNvSpPr>
              <p:nvPr/>
            </p:nvSpPr>
            <p:spPr bwMode="auto">
              <a:xfrm>
                <a:off x="3318014" y="4300094"/>
                <a:ext cx="1153374" cy="395284"/>
              </a:xfrm>
              <a:prstGeom prst="rect">
                <a:avLst/>
              </a:prstGeom>
              <a:blipFill>
                <a:blip r:embed="rId11"/>
                <a:stretch>
                  <a:fillRect/>
                </a:stretch>
              </a:blipFill>
              <a:ln>
                <a:noFill/>
              </a:ln>
              <a:effectLst/>
            </p:spPr>
            <p:txBody>
              <a:bodyPr/>
              <a:lstStyle/>
              <a:p>
                <a:r>
                  <a:rPr lang="zh-CN" altLang="en-US">
                    <a:noFill/>
                  </a:rPr>
                  <a:t> </a:t>
                </a:r>
              </a:p>
            </p:txBody>
          </p:sp>
        </mc:Fallback>
      </mc:AlternateContent>
      <p:sp>
        <p:nvSpPr>
          <p:cNvPr id="33" name="Text Box 55"/>
          <p:cNvSpPr txBox="1">
            <a:spLocks noChangeArrowheads="1"/>
          </p:cNvSpPr>
          <p:nvPr/>
        </p:nvSpPr>
        <p:spPr bwMode="auto">
          <a:xfrm>
            <a:off x="2552307" y="4898486"/>
            <a:ext cx="838200"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spcBef>
                <a:spcPct val="50000"/>
              </a:spcBef>
            </a:pPr>
            <a:r>
              <a:rPr lang="zh-CN" altLang="en-US" sz="2200" dirty="0">
                <a:latin typeface="Times New Roman" panose="02020603050405020304" pitchFamily="18" charset="0"/>
                <a:cs typeface="Times New Roman" panose="02020603050405020304" pitchFamily="18" charset="0"/>
              </a:rPr>
              <a:t>且</a:t>
            </a:r>
          </a:p>
        </p:txBody>
      </p:sp>
      <p:sp>
        <p:nvSpPr>
          <p:cNvPr id="34" name="Text Box 59"/>
          <p:cNvSpPr txBox="1">
            <a:spLocks noChangeArrowheads="1"/>
          </p:cNvSpPr>
          <p:nvPr/>
        </p:nvSpPr>
        <p:spPr bwMode="auto">
          <a:xfrm>
            <a:off x="3842165" y="4893204"/>
            <a:ext cx="1910137"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1" hangingPunct="1">
              <a:spcBef>
                <a:spcPct val="50000"/>
              </a:spcBef>
            </a:pPr>
            <a:r>
              <a:rPr lang="zh-CN" altLang="en-US" sz="2200" dirty="0">
                <a:latin typeface="Times New Roman" panose="02020603050405020304" pitchFamily="18" charset="0"/>
                <a:cs typeface="Times New Roman" panose="02020603050405020304" pitchFamily="18" charset="0"/>
              </a:rPr>
              <a:t>符合右手法则</a:t>
            </a:r>
          </a:p>
        </p:txBody>
      </p:sp>
      <mc:AlternateContent xmlns:mc="http://schemas.openxmlformats.org/markup-compatibility/2006" xmlns:a14="http://schemas.microsoft.com/office/drawing/2010/main">
        <mc:Choice Requires="a14">
          <p:sp>
            <p:nvSpPr>
              <p:cNvPr id="35" name="Text Box 63"/>
              <p:cNvSpPr txBox="1">
                <a:spLocks noChangeArrowheads="1"/>
              </p:cNvSpPr>
              <p:nvPr/>
            </p:nvSpPr>
            <p:spPr bwMode="auto">
              <a:xfrm>
                <a:off x="4627055" y="3249578"/>
                <a:ext cx="1599112" cy="430887"/>
              </a:xfrm>
              <a:prstGeom prst="rect">
                <a:avLst/>
              </a:prstGeom>
              <a:noFill/>
              <a:ln>
                <a:noFill/>
              </a:ln>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Lst>
            </p:spPr>
            <p:txBody>
              <a:bodyPr wrap="square">
                <a:spAutoFit/>
              </a:bodyPr>
              <a:lstStyle/>
              <a:p>
                <a:pPr>
                  <a:spcBef>
                    <a:spcPct val="50000"/>
                  </a:spcBef>
                </a:pPr>
                <a:r>
                  <a:rPr lang="zh-CN" altLang="en-US" sz="2200" dirty="0">
                    <a:latin typeface="Times New Roman" panose="02020603050405020304" pitchFamily="18" charset="0"/>
                    <a:cs typeface="Times New Roman" panose="02020603050405020304" pitchFamily="18" charset="0"/>
                  </a:rPr>
                  <a:t>的夹角为</a:t>
                </a:r>
                <a14:m>
                  <m:oMath xmlns:m="http://schemas.openxmlformats.org/officeDocument/2006/math">
                    <m:r>
                      <a:rPr lang="zh-CN" altLang="en-US" sz="2200" i="1">
                        <a:latin typeface="Cambria Math" panose="02040503050406030204" pitchFamily="18" charset="0"/>
                        <a:ea typeface="Cambria Math" panose="02040503050406030204" pitchFamily="18" charset="0"/>
                      </a:rPr>
                      <m:t>𝜃</m:t>
                    </m:r>
                    <m:r>
                      <a:rPr lang="en-US" altLang="zh-CN" sz="2200" b="0" i="0" smtClean="0">
                        <a:latin typeface="Cambria Math" panose="02040503050406030204" pitchFamily="18" charset="0"/>
                        <a:ea typeface="Cambria Math" panose="02040503050406030204" pitchFamily="18" charset="0"/>
                      </a:rPr>
                      <m:t>,</m:t>
                    </m:r>
                  </m:oMath>
                </a14:m>
                <a:endParaRPr lang="en-US" altLang="zh-CN" sz="2200" dirty="0">
                  <a:latin typeface="Times New Roman" panose="02020603050405020304" pitchFamily="18" charset="0"/>
                  <a:cs typeface="Times New Roman" panose="02020603050405020304" pitchFamily="18" charset="0"/>
                </a:endParaRPr>
              </a:p>
            </p:txBody>
          </p:sp>
        </mc:Choice>
        <mc:Fallback xmlns="">
          <p:sp>
            <p:nvSpPr>
              <p:cNvPr id="35" name="Text Box 63"/>
              <p:cNvSpPr txBox="1">
                <a:spLocks noRot="1" noChangeAspect="1" noMove="1" noResize="1" noEditPoints="1" noAdjustHandles="1" noChangeArrowheads="1" noChangeShapeType="1" noTextEdit="1"/>
              </p:cNvSpPr>
              <p:nvPr/>
            </p:nvSpPr>
            <p:spPr bwMode="auto">
              <a:xfrm>
                <a:off x="4627055" y="3249578"/>
                <a:ext cx="1599112" cy="430887"/>
              </a:xfrm>
              <a:prstGeom prst="rect">
                <a:avLst/>
              </a:prstGeom>
              <a:blipFill>
                <a:blip r:embed="rId12"/>
                <a:stretch>
                  <a:fillRect l="-4962" t="-14085" b="-23944"/>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p:grpSp>
        <p:nvGrpSpPr>
          <p:cNvPr id="39" name="Group 102"/>
          <p:cNvGrpSpPr>
            <a:grpSpLocks/>
          </p:cNvGrpSpPr>
          <p:nvPr/>
        </p:nvGrpSpPr>
        <p:grpSpPr bwMode="auto">
          <a:xfrm>
            <a:off x="4599188" y="3778452"/>
            <a:ext cx="1851025" cy="514350"/>
            <a:chOff x="1304" y="2328"/>
            <a:chExt cx="1166" cy="324"/>
          </a:xfrm>
        </p:grpSpPr>
        <mc:AlternateContent xmlns:mc="http://schemas.openxmlformats.org/markup-compatibility/2006" xmlns:a14="http://schemas.microsoft.com/office/drawing/2010/main">
          <mc:Choice Requires="a14">
            <p:sp>
              <p:nvSpPr>
                <p:cNvPr id="40" name="Object 44"/>
                <p:cNvSpPr txBox="1"/>
                <p:nvPr/>
              </p:nvSpPr>
              <p:spPr bwMode="auto">
                <a:xfrm>
                  <a:off x="1304" y="2332"/>
                  <a:ext cx="1166" cy="32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200" i="1">
                            <a:latin typeface="Cambria Math" panose="02040503050406030204" pitchFamily="18" charset="0"/>
                          </a:rPr>
                          <m:t>𝑎</m:t>
                        </m:r>
                        <m:r>
                          <a:rPr lang="zh-CN" altLang="en-US" sz="2200" i="1">
                            <a:latin typeface="Cambria Math" panose="02040503050406030204" pitchFamily="18" charset="0"/>
                          </a:rPr>
                          <m:t>=</m:t>
                        </m:r>
                        <m:d>
                          <m:dPr>
                            <m:begChr m:val="|"/>
                            <m:endChr m:val="|"/>
                            <m:ctrlPr>
                              <a:rPr lang="zh-CN" altLang="en-US" sz="2200" i="1">
                                <a:latin typeface="Cambria Math" panose="02040503050406030204" pitchFamily="18" charset="0"/>
                              </a:rPr>
                            </m:ctrlPr>
                          </m:dPr>
                          <m:e>
                            <m:r>
                              <a:rPr lang="zh-CN" altLang="en-US" sz="2200" i="1">
                                <a:latin typeface="Cambria Math" panose="02040503050406030204" pitchFamily="18" charset="0"/>
                              </a:rPr>
                              <m:t>  </m:t>
                            </m:r>
                          </m:e>
                        </m:d>
                        <m:func>
                          <m:funcPr>
                            <m:ctrlPr>
                              <a:rPr lang="zh-CN" altLang="en-US" sz="2200" i="1">
                                <a:latin typeface="Cambria Math" panose="02040503050406030204" pitchFamily="18" charset="0"/>
                              </a:rPr>
                            </m:ctrlPr>
                          </m:funcPr>
                          <m:fName>
                            <m:r>
                              <m:rPr>
                                <m:sty m:val="p"/>
                              </m:rPr>
                              <a:rPr lang="zh-CN" altLang="en-US" sz="2200" i="1">
                                <a:latin typeface="Cambria Math" panose="02040503050406030204" pitchFamily="18" charset="0"/>
                              </a:rPr>
                              <m:t>sin</m:t>
                            </m:r>
                          </m:fName>
                          <m:e>
                            <m:r>
                              <a:rPr lang="zh-CN" altLang="en-US" sz="2200" i="1">
                                <a:latin typeface="Cambria Math" panose="02040503050406030204" pitchFamily="18" charset="0"/>
                              </a:rPr>
                              <m:t>𝜃</m:t>
                            </m:r>
                          </m:e>
                        </m:func>
                        <m:r>
                          <a:rPr lang="zh-CN" altLang="en-US" sz="2200" i="1">
                            <a:latin typeface="Cambria Math" panose="02040503050406030204" pitchFamily="18" charset="0"/>
                          </a:rPr>
                          <m:t>,</m:t>
                        </m:r>
                      </m:oMath>
                    </m:oMathPara>
                  </a14:m>
                  <a:endParaRPr lang="zh-CN" altLang="en-US" sz="2200" i="1" dirty="0">
                    <a:latin typeface="Cambria Math" panose="02040503050406030204" pitchFamily="18" charset="0"/>
                  </a:endParaRPr>
                </a:p>
              </p:txBody>
            </p:sp>
          </mc:Choice>
          <mc:Fallback xmlns="">
            <p:sp>
              <p:nvSpPr>
                <p:cNvPr id="40" name="Object 44"/>
                <p:cNvSpPr txBox="1">
                  <a:spLocks noRot="1" noChangeAspect="1" noMove="1" noResize="1" noEditPoints="1" noAdjustHandles="1" noChangeArrowheads="1" noChangeShapeType="1" noTextEdit="1"/>
                </p:cNvSpPr>
                <p:nvPr/>
              </p:nvSpPr>
              <p:spPr bwMode="auto">
                <a:xfrm>
                  <a:off x="1304" y="2332"/>
                  <a:ext cx="1166" cy="320"/>
                </a:xfrm>
                <a:prstGeom prst="rect">
                  <a:avLst/>
                </a:prstGeom>
                <a:blipFill>
                  <a:blip r:embed="rId13"/>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Object 45"/>
                <p:cNvSpPr txBox="1"/>
                <p:nvPr/>
              </p:nvSpPr>
              <p:spPr bwMode="auto">
                <a:xfrm>
                  <a:off x="1713" y="2328"/>
                  <a:ext cx="101" cy="264"/>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200" b="1" i="1">
                            <a:solidFill>
                              <a:srgbClr val="000000"/>
                            </a:solidFill>
                            <a:latin typeface="Cambria Math" panose="02040503050406030204" pitchFamily="18" charset="0"/>
                          </a:rPr>
                          <m:t>𝒓</m:t>
                        </m:r>
                      </m:oMath>
                    </m:oMathPara>
                  </a14:m>
                  <a:endParaRPr lang="zh-CN" altLang="en-US" sz="2200" b="1" dirty="0"/>
                </a:p>
              </p:txBody>
            </p:sp>
          </mc:Choice>
          <mc:Fallback xmlns="">
            <p:sp>
              <p:nvSpPr>
                <p:cNvPr id="41" name="Object 45"/>
                <p:cNvSpPr txBox="1">
                  <a:spLocks noRot="1" noChangeAspect="1" noMove="1" noResize="1" noEditPoints="1" noAdjustHandles="1" noChangeArrowheads="1" noChangeShapeType="1" noTextEdit="1"/>
                </p:cNvSpPr>
                <p:nvPr/>
              </p:nvSpPr>
              <p:spPr bwMode="auto">
                <a:xfrm>
                  <a:off x="1713" y="2328"/>
                  <a:ext cx="101" cy="264"/>
                </a:xfrm>
                <a:prstGeom prst="rect">
                  <a:avLst/>
                </a:prstGeom>
                <a:blipFill>
                  <a:blip r:embed="rId14"/>
                  <a:stretch>
                    <a:fillRect r="-92308"/>
                  </a:stretch>
                </a:blipFill>
                <a:ln>
                  <a:noFill/>
                </a:ln>
                <a:effectLst/>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44" name="Object 35"/>
              <p:cNvSpPr txBox="1"/>
              <p:nvPr/>
            </p:nvSpPr>
            <p:spPr bwMode="auto">
              <a:xfrm>
                <a:off x="2609646" y="3197455"/>
                <a:ext cx="1443428" cy="442964"/>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acc>
                        <m:accPr>
                          <m:chr m:val="⃗"/>
                          <m:ctrlPr>
                            <a:rPr lang="zh-CN" altLang="en-US" sz="2200" i="1" smtClean="0">
                              <a:latin typeface="Cambria Math" panose="02040503050406030204" pitchFamily="18" charset="0"/>
                            </a:rPr>
                          </m:ctrlPr>
                        </m:accPr>
                        <m:e>
                          <m:r>
                            <a:rPr lang="en-US" altLang="zh-CN" sz="2200" b="0" i="1" smtClean="0">
                              <a:latin typeface="Cambria Math" panose="02040503050406030204" pitchFamily="18" charset="0"/>
                            </a:rPr>
                            <m:t>𝑂𝑀</m:t>
                          </m:r>
                        </m:e>
                      </m:acc>
                      <m:r>
                        <a:rPr lang="zh-CN" altLang="en-US" sz="2200" i="1">
                          <a:latin typeface="Cambria Math" panose="02040503050406030204" pitchFamily="18" charset="0"/>
                        </a:rPr>
                        <m:t>=</m:t>
                      </m:r>
                      <m:r>
                        <a:rPr lang="zh-CN" altLang="en-US" sz="2200" b="1" i="1">
                          <a:latin typeface="Cambria Math" panose="02040503050406030204" pitchFamily="18" charset="0"/>
                        </a:rPr>
                        <m:t>𝒓</m:t>
                      </m:r>
                      <m:r>
                        <a:rPr lang="zh-CN" altLang="en-US" sz="2200" i="1">
                          <a:latin typeface="Cambria Math" panose="02040503050406030204" pitchFamily="18" charset="0"/>
                        </a:rPr>
                        <m:t>,</m:t>
                      </m:r>
                    </m:oMath>
                  </m:oMathPara>
                </a14:m>
                <a:endParaRPr lang="zh-CN" altLang="en-US" sz="2200" i="1" dirty="0">
                  <a:latin typeface="Cambria Math" panose="02040503050406030204" pitchFamily="18" charset="0"/>
                </a:endParaRPr>
              </a:p>
            </p:txBody>
          </p:sp>
        </mc:Choice>
        <mc:Fallback xmlns="">
          <p:sp>
            <p:nvSpPr>
              <p:cNvPr id="44" name="Object 35"/>
              <p:cNvSpPr txBox="1">
                <a:spLocks noRot="1" noChangeAspect="1" noMove="1" noResize="1" noEditPoints="1" noAdjustHandles="1" noChangeArrowheads="1" noChangeShapeType="1" noTextEdit="1"/>
              </p:cNvSpPr>
              <p:nvPr/>
            </p:nvSpPr>
            <p:spPr bwMode="auto">
              <a:xfrm>
                <a:off x="2609646" y="3197455"/>
                <a:ext cx="1443428" cy="442964"/>
              </a:xfrm>
              <a:prstGeom prst="rect">
                <a:avLst/>
              </a:prstGeom>
              <a:blipFill>
                <a:blip r:embed="rId15"/>
                <a:stretch>
                  <a:fillRect/>
                </a:stretch>
              </a:blipFill>
              <a:ln>
                <a:noFill/>
              </a:ln>
              <a:effectLst/>
            </p:spPr>
            <p:txBody>
              <a:bodyPr/>
              <a:lstStyle/>
              <a:p>
                <a:r>
                  <a:rPr lang="zh-CN" altLang="en-US">
                    <a:noFill/>
                  </a:rPr>
                  <a:t> </a:t>
                </a:r>
              </a:p>
            </p:txBody>
          </p:sp>
        </mc:Fallback>
      </mc:AlternateContent>
      <p:grpSp>
        <p:nvGrpSpPr>
          <p:cNvPr id="47" name="Group 83"/>
          <p:cNvGrpSpPr>
            <a:grpSpLocks/>
          </p:cNvGrpSpPr>
          <p:nvPr/>
        </p:nvGrpSpPr>
        <p:grpSpPr bwMode="auto">
          <a:xfrm>
            <a:off x="1999591" y="4254660"/>
            <a:ext cx="1393825" cy="508001"/>
            <a:chOff x="156" y="2756"/>
            <a:chExt cx="878" cy="320"/>
          </a:xfrm>
        </p:grpSpPr>
        <mc:AlternateContent xmlns:mc="http://schemas.openxmlformats.org/markup-compatibility/2006" xmlns:a14="http://schemas.microsoft.com/office/drawing/2010/main">
          <mc:Choice Requires="a14">
            <p:sp>
              <p:nvSpPr>
                <p:cNvPr id="48" name="Object 47"/>
                <p:cNvSpPr txBox="1"/>
                <p:nvPr/>
              </p:nvSpPr>
              <p:spPr bwMode="auto">
                <a:xfrm>
                  <a:off x="156" y="2756"/>
                  <a:ext cx="878" cy="32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sz="2200" i="1">
                            <a:latin typeface="Cambria Math" panose="02040503050406030204" pitchFamily="18" charset="0"/>
                          </a:rPr>
                          <m:t>∵ </m:t>
                        </m:r>
                        <m:d>
                          <m:dPr>
                            <m:begChr m:val="|"/>
                            <m:endChr m:val="|"/>
                            <m:ctrlPr>
                              <a:rPr lang="zh-CN" altLang="en-US" sz="2200" i="1">
                                <a:latin typeface="Cambria Math" panose="02040503050406030204" pitchFamily="18" charset="0"/>
                              </a:rPr>
                            </m:ctrlPr>
                          </m:dPr>
                          <m:e>
                            <m:r>
                              <a:rPr lang="zh-CN" altLang="en-US" sz="2200" i="1">
                                <a:latin typeface="Cambria Math" panose="02040503050406030204" pitchFamily="18" charset="0"/>
                              </a:rPr>
                              <m:t>  </m:t>
                            </m:r>
                          </m:e>
                        </m:d>
                        <m:r>
                          <a:rPr lang="zh-CN" altLang="en-US" sz="2200" i="1">
                            <a:latin typeface="Cambria Math" panose="02040503050406030204" pitchFamily="18" charset="0"/>
                          </a:rPr>
                          <m:t>=</m:t>
                        </m:r>
                      </m:oMath>
                    </m:oMathPara>
                  </a14:m>
                  <a:endParaRPr lang="zh-CN" altLang="en-US" sz="2200" i="1" dirty="0">
                    <a:latin typeface="Cambria Math" panose="02040503050406030204" pitchFamily="18" charset="0"/>
                  </a:endParaRPr>
                </a:p>
              </p:txBody>
            </p:sp>
          </mc:Choice>
          <mc:Fallback xmlns="">
            <p:sp>
              <p:nvSpPr>
                <p:cNvPr id="48" name="Object 47"/>
                <p:cNvSpPr txBox="1">
                  <a:spLocks noRot="1" noChangeAspect="1" noMove="1" noResize="1" noEditPoints="1" noAdjustHandles="1" noChangeArrowheads="1" noChangeShapeType="1" noTextEdit="1"/>
                </p:cNvSpPr>
                <p:nvPr/>
              </p:nvSpPr>
              <p:spPr bwMode="auto">
                <a:xfrm>
                  <a:off x="156" y="2756"/>
                  <a:ext cx="878" cy="320"/>
                </a:xfrm>
                <a:prstGeom prst="rect">
                  <a:avLst/>
                </a:prstGeom>
                <a:blipFill>
                  <a:blip r:embed="rId16"/>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Object 48"/>
                <p:cNvSpPr txBox="1"/>
                <p:nvPr/>
              </p:nvSpPr>
              <p:spPr bwMode="auto">
                <a:xfrm>
                  <a:off x="539" y="2775"/>
                  <a:ext cx="223" cy="269"/>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sz="2200" b="1" i="1">
                            <a:solidFill>
                              <a:srgbClr val="000000"/>
                            </a:solidFill>
                            <a:latin typeface="Cambria Math" panose="02040503050406030204" pitchFamily="18" charset="0"/>
                          </a:rPr>
                          <m:t>𝒗</m:t>
                        </m:r>
                      </m:oMath>
                    </m:oMathPara>
                  </a14:m>
                  <a:endParaRPr lang="zh-CN" altLang="en-US" sz="2200" b="1" dirty="0"/>
                </a:p>
              </p:txBody>
            </p:sp>
          </mc:Choice>
          <mc:Fallback xmlns="">
            <p:sp>
              <p:nvSpPr>
                <p:cNvPr id="49" name="Object 48"/>
                <p:cNvSpPr txBox="1">
                  <a:spLocks noRot="1" noChangeAspect="1" noMove="1" noResize="1" noEditPoints="1" noAdjustHandles="1" noChangeArrowheads="1" noChangeShapeType="1" noTextEdit="1"/>
                </p:cNvSpPr>
                <p:nvPr/>
              </p:nvSpPr>
              <p:spPr bwMode="auto">
                <a:xfrm>
                  <a:off x="539" y="2775"/>
                  <a:ext cx="223" cy="269"/>
                </a:xfrm>
                <a:prstGeom prst="rect">
                  <a:avLst/>
                </a:prstGeom>
                <a:blipFill>
                  <a:blip r:embed="rId17"/>
                  <a:stretch>
                    <a:fillRect/>
                  </a:stretch>
                </a:blipFill>
                <a:ln>
                  <a:noFill/>
                </a:ln>
                <a:effectLst/>
              </p:spPr>
              <p:txBody>
                <a:bodyPr/>
                <a:lstStyle/>
                <a:p>
                  <a:r>
                    <a:rPr lang="zh-CN" altLang="en-US">
                      <a:noFill/>
                    </a:rPr>
                    <a:t> </a:t>
                  </a:r>
                </a:p>
              </p:txBody>
            </p:sp>
          </mc:Fallback>
        </mc:AlternateContent>
      </p:grpSp>
      <p:grpSp>
        <p:nvGrpSpPr>
          <p:cNvPr id="54" name="Group 84"/>
          <p:cNvGrpSpPr>
            <a:grpSpLocks/>
          </p:cNvGrpSpPr>
          <p:nvPr/>
        </p:nvGrpSpPr>
        <p:grpSpPr bwMode="auto">
          <a:xfrm>
            <a:off x="4024249" y="4279599"/>
            <a:ext cx="1881187" cy="461963"/>
            <a:chOff x="1464" y="2754"/>
            <a:chExt cx="1185" cy="291"/>
          </a:xfrm>
        </p:grpSpPr>
        <mc:AlternateContent xmlns:mc="http://schemas.openxmlformats.org/markup-compatibility/2006" xmlns:a14="http://schemas.microsoft.com/office/drawing/2010/main">
          <mc:Choice Requires="a14">
            <p:sp>
              <p:nvSpPr>
                <p:cNvPr id="55" name="Object 50"/>
                <p:cNvSpPr txBox="1"/>
                <p:nvPr/>
              </p:nvSpPr>
              <p:spPr bwMode="auto">
                <a:xfrm>
                  <a:off x="1464" y="2763"/>
                  <a:ext cx="1185" cy="282"/>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sz="2200" i="1">
                            <a:latin typeface="Cambria Math" panose="02040503050406030204" pitchFamily="18" charset="0"/>
                          </a:rPr>
                          <m:t>=</m:t>
                        </m:r>
                        <m:d>
                          <m:dPr>
                            <m:begChr m:val="|"/>
                            <m:endChr m:val="|"/>
                            <m:ctrlPr>
                              <a:rPr lang="zh-CN" altLang="en-US" sz="2200" i="1">
                                <a:latin typeface="Cambria Math" panose="02040503050406030204" pitchFamily="18" charset="0"/>
                              </a:rPr>
                            </m:ctrlPr>
                          </m:dPr>
                          <m:e>
                            <m:r>
                              <a:rPr lang="zh-CN" altLang="en-US" sz="2200" i="1">
                                <a:latin typeface="Cambria Math" panose="02040503050406030204" pitchFamily="18" charset="0"/>
                              </a:rPr>
                              <m:t>  </m:t>
                            </m:r>
                          </m:e>
                        </m:d>
                        <m:d>
                          <m:dPr>
                            <m:begChr m:val="|"/>
                            <m:endChr m:val="|"/>
                            <m:ctrlPr>
                              <a:rPr lang="zh-CN" altLang="en-US" sz="2200" i="1">
                                <a:latin typeface="Cambria Math" panose="02040503050406030204" pitchFamily="18" charset="0"/>
                              </a:rPr>
                            </m:ctrlPr>
                          </m:dPr>
                          <m:e>
                            <m:r>
                              <a:rPr lang="zh-CN" altLang="en-US" sz="2200" i="1">
                                <a:latin typeface="Cambria Math" panose="02040503050406030204" pitchFamily="18" charset="0"/>
                              </a:rPr>
                              <m:t>  </m:t>
                            </m:r>
                          </m:e>
                        </m:d>
                        <m:func>
                          <m:funcPr>
                            <m:ctrlPr>
                              <a:rPr lang="zh-CN" altLang="en-US" sz="2200" i="1">
                                <a:latin typeface="Cambria Math" panose="02040503050406030204" pitchFamily="18" charset="0"/>
                              </a:rPr>
                            </m:ctrlPr>
                          </m:funcPr>
                          <m:fName>
                            <m:r>
                              <m:rPr>
                                <m:sty m:val="p"/>
                              </m:rPr>
                              <a:rPr lang="zh-CN" altLang="en-US" sz="2200" i="1">
                                <a:latin typeface="Cambria Math" panose="02040503050406030204" pitchFamily="18" charset="0"/>
                              </a:rPr>
                              <m:t>sin</m:t>
                            </m:r>
                          </m:fName>
                          <m:e>
                            <m:r>
                              <a:rPr lang="zh-CN" altLang="en-US" sz="2200" i="1">
                                <a:latin typeface="Cambria Math" panose="02040503050406030204" pitchFamily="18" charset="0"/>
                              </a:rPr>
                              <m:t>𝜃</m:t>
                            </m:r>
                          </m:e>
                        </m:func>
                      </m:oMath>
                    </m:oMathPara>
                  </a14:m>
                  <a:endParaRPr lang="zh-CN" altLang="en-US" sz="2200" i="1" dirty="0">
                    <a:latin typeface="Cambria Math" panose="02040503050406030204" pitchFamily="18" charset="0"/>
                  </a:endParaRPr>
                </a:p>
              </p:txBody>
            </p:sp>
          </mc:Choice>
          <mc:Fallback xmlns="">
            <p:sp>
              <p:nvSpPr>
                <p:cNvPr id="55" name="Object 50"/>
                <p:cNvSpPr txBox="1">
                  <a:spLocks noRot="1" noChangeAspect="1" noMove="1" noResize="1" noEditPoints="1" noAdjustHandles="1" noChangeArrowheads="1" noChangeShapeType="1" noTextEdit="1"/>
                </p:cNvSpPr>
                <p:nvPr/>
              </p:nvSpPr>
              <p:spPr bwMode="auto">
                <a:xfrm>
                  <a:off x="1464" y="2763"/>
                  <a:ext cx="1185" cy="282"/>
                </a:xfrm>
                <a:prstGeom prst="rect">
                  <a:avLst/>
                </a:prstGeom>
                <a:blipFill>
                  <a:blip r:embed="rId18"/>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Object 51"/>
                <p:cNvSpPr txBox="1"/>
                <p:nvPr/>
              </p:nvSpPr>
              <p:spPr bwMode="auto">
                <a:xfrm>
                  <a:off x="1689" y="2754"/>
                  <a:ext cx="184" cy="15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200" b="1" i="1">
                            <a:latin typeface="Cambria Math" panose="02040503050406030204" pitchFamily="18" charset="0"/>
                          </a:rPr>
                          <m:t>𝝎</m:t>
                        </m:r>
                      </m:oMath>
                    </m:oMathPara>
                  </a14:m>
                  <a:endParaRPr lang="zh-CN" altLang="en-US" sz="2200" b="1" i="1" dirty="0">
                    <a:latin typeface="Cambria Math" panose="02040503050406030204" pitchFamily="18" charset="0"/>
                  </a:endParaRPr>
                </a:p>
              </p:txBody>
            </p:sp>
          </mc:Choice>
          <mc:Fallback xmlns="">
            <p:sp>
              <p:nvSpPr>
                <p:cNvPr id="56" name="Object 51"/>
                <p:cNvSpPr txBox="1">
                  <a:spLocks noRot="1" noChangeAspect="1" noMove="1" noResize="1" noEditPoints="1" noAdjustHandles="1" noChangeArrowheads="1" noChangeShapeType="1" noTextEdit="1"/>
                </p:cNvSpPr>
                <p:nvPr/>
              </p:nvSpPr>
              <p:spPr bwMode="auto">
                <a:xfrm>
                  <a:off x="1689" y="2754"/>
                  <a:ext cx="184" cy="152"/>
                </a:xfrm>
                <a:prstGeom prst="rect">
                  <a:avLst/>
                </a:prstGeom>
                <a:blipFill>
                  <a:blip r:embed="rId19"/>
                  <a:stretch>
                    <a:fillRect r="-33333" b="-62500"/>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Object 53"/>
                <p:cNvSpPr txBox="1"/>
                <p:nvPr/>
              </p:nvSpPr>
              <p:spPr bwMode="auto">
                <a:xfrm>
                  <a:off x="1938" y="2754"/>
                  <a:ext cx="185" cy="27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200" b="1" i="1">
                            <a:solidFill>
                              <a:srgbClr val="000000"/>
                            </a:solidFill>
                            <a:latin typeface="Cambria Math" panose="02040503050406030204" pitchFamily="18" charset="0"/>
                          </a:rPr>
                          <m:t>𝒓</m:t>
                        </m:r>
                      </m:oMath>
                    </m:oMathPara>
                  </a14:m>
                  <a:endParaRPr lang="zh-CN" altLang="en-US" sz="2200" b="1" dirty="0"/>
                </a:p>
              </p:txBody>
            </p:sp>
          </mc:Choice>
          <mc:Fallback xmlns="">
            <p:sp>
              <p:nvSpPr>
                <p:cNvPr id="57" name="Object 53"/>
                <p:cNvSpPr txBox="1">
                  <a:spLocks noRot="1" noChangeAspect="1" noMove="1" noResize="1" noEditPoints="1" noAdjustHandles="1" noChangeArrowheads="1" noChangeShapeType="1" noTextEdit="1"/>
                </p:cNvSpPr>
                <p:nvPr/>
              </p:nvSpPr>
              <p:spPr bwMode="auto">
                <a:xfrm>
                  <a:off x="1938" y="2754"/>
                  <a:ext cx="185" cy="278"/>
                </a:xfrm>
                <a:prstGeom prst="rect">
                  <a:avLst/>
                </a:prstGeom>
                <a:blipFill>
                  <a:blip r:embed="rId20"/>
                  <a:stretch>
                    <a:fillRect r="-8333"/>
                  </a:stretch>
                </a:blipFill>
                <a:ln>
                  <a:noFill/>
                </a:ln>
                <a:effectLst/>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61" name="Object 26"/>
              <p:cNvSpPr txBox="1"/>
              <p:nvPr/>
            </p:nvSpPr>
            <p:spPr bwMode="auto">
              <a:xfrm>
                <a:off x="6325696" y="2116707"/>
                <a:ext cx="1311721" cy="400359"/>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d>
                        <m:dPr>
                          <m:begChr m:val="|"/>
                          <m:endChr m:val="|"/>
                          <m:ctrlPr>
                            <a:rPr lang="zh-CN" altLang="en-US" sz="2200" b="1" i="1">
                              <a:latin typeface="Cambria Math" panose="02040503050406030204" pitchFamily="18" charset="0"/>
                            </a:rPr>
                          </m:ctrlPr>
                        </m:dPr>
                        <m:e>
                          <m:r>
                            <a:rPr lang="zh-CN" altLang="en-US" sz="2200" b="1" i="1">
                              <a:latin typeface="Cambria Math" panose="02040503050406030204" pitchFamily="18" charset="0"/>
                            </a:rPr>
                            <m:t>𝝎</m:t>
                          </m:r>
                        </m:e>
                      </m:d>
                      <m:r>
                        <a:rPr lang="zh-CN" altLang="en-US" sz="2200" i="1">
                          <a:latin typeface="Cambria Math" panose="02040503050406030204" pitchFamily="18" charset="0"/>
                        </a:rPr>
                        <m:t>=</m:t>
                      </m:r>
                      <m:r>
                        <a:rPr lang="zh-CN" altLang="en-US" sz="2200" i="1">
                          <a:latin typeface="Cambria Math" panose="02040503050406030204" pitchFamily="18" charset="0"/>
                        </a:rPr>
                        <m:t>𝜔</m:t>
                      </m:r>
                      <m:r>
                        <a:rPr lang="zh-CN" altLang="en-US" sz="2200" i="1">
                          <a:latin typeface="Cambria Math" panose="02040503050406030204" pitchFamily="18" charset="0"/>
                        </a:rPr>
                        <m:t>,</m:t>
                      </m:r>
                    </m:oMath>
                  </m:oMathPara>
                </a14:m>
                <a:endParaRPr lang="zh-CN" altLang="en-US" sz="2200" i="1" dirty="0">
                  <a:latin typeface="Cambria Math" panose="02040503050406030204" pitchFamily="18" charset="0"/>
                </a:endParaRPr>
              </a:p>
            </p:txBody>
          </p:sp>
        </mc:Choice>
        <mc:Fallback xmlns="">
          <p:sp>
            <p:nvSpPr>
              <p:cNvPr id="61" name="Object 26"/>
              <p:cNvSpPr txBox="1">
                <a:spLocks noRot="1" noChangeAspect="1" noMove="1" noResize="1" noEditPoints="1" noAdjustHandles="1" noChangeArrowheads="1" noChangeShapeType="1" noTextEdit="1"/>
              </p:cNvSpPr>
              <p:nvPr/>
            </p:nvSpPr>
            <p:spPr bwMode="auto">
              <a:xfrm>
                <a:off x="6325696" y="2116707"/>
                <a:ext cx="1311721" cy="400359"/>
              </a:xfrm>
              <a:prstGeom prst="rect">
                <a:avLst/>
              </a:prstGeom>
              <a:blipFill>
                <a:blip r:embed="rId21"/>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Object 22"/>
              <p:cNvSpPr txBox="1"/>
              <p:nvPr/>
            </p:nvSpPr>
            <p:spPr bwMode="auto">
              <a:xfrm>
                <a:off x="5610431" y="2127118"/>
                <a:ext cx="390753" cy="435037"/>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sz="2200" b="1" i="1">
                          <a:latin typeface="Cambria Math" panose="02040503050406030204" pitchFamily="18" charset="0"/>
                        </a:rPr>
                        <m:t>𝝎</m:t>
                      </m:r>
                      <m:r>
                        <a:rPr lang="zh-CN" altLang="en-US" sz="2200" i="1">
                          <a:latin typeface="Cambria Math" panose="02040503050406030204" pitchFamily="18" charset="0"/>
                        </a:rPr>
                        <m:t>,</m:t>
                      </m:r>
                    </m:oMath>
                  </m:oMathPara>
                </a14:m>
                <a:endParaRPr lang="zh-CN" altLang="en-US" sz="2200" i="1" dirty="0">
                  <a:latin typeface="Cambria Math" panose="02040503050406030204" pitchFamily="18" charset="0"/>
                </a:endParaRPr>
              </a:p>
            </p:txBody>
          </p:sp>
        </mc:Choice>
        <mc:Fallback xmlns="">
          <p:sp>
            <p:nvSpPr>
              <p:cNvPr id="64" name="Object 22"/>
              <p:cNvSpPr txBox="1">
                <a:spLocks noRot="1" noChangeAspect="1" noMove="1" noResize="1" noEditPoints="1" noAdjustHandles="1" noChangeArrowheads="1" noChangeShapeType="1" noTextEdit="1"/>
              </p:cNvSpPr>
              <p:nvPr/>
            </p:nvSpPr>
            <p:spPr bwMode="auto">
              <a:xfrm>
                <a:off x="5610431" y="2127118"/>
                <a:ext cx="390753" cy="435037"/>
              </a:xfrm>
              <a:prstGeom prst="rect">
                <a:avLst/>
              </a:prstGeom>
              <a:blipFill>
                <a:blip r:embed="rId22"/>
                <a:stretch>
                  <a:fillRect r="-4688"/>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Object 56"/>
              <p:cNvSpPr txBox="1"/>
              <p:nvPr/>
            </p:nvSpPr>
            <p:spPr bwMode="auto">
              <a:xfrm>
                <a:off x="2870668" y="4867658"/>
                <a:ext cx="1633222" cy="44767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200" b="1" i="1" smtClean="0">
                          <a:latin typeface="Cambria Math" panose="02040503050406030204" pitchFamily="18" charset="0"/>
                        </a:rPr>
                        <m:t>𝝎</m:t>
                      </m:r>
                      <m:r>
                        <a:rPr lang="en-US" altLang="zh-CN" sz="2200" b="0" i="1" smtClean="0">
                          <a:latin typeface="Cambria Math" panose="02040503050406030204" pitchFamily="18" charset="0"/>
                        </a:rPr>
                        <m:t>,</m:t>
                      </m:r>
                      <m:r>
                        <a:rPr lang="zh-CN" altLang="en-US" sz="2200" i="1">
                          <a:latin typeface="Cambria Math" panose="02040503050406030204" pitchFamily="18" charset="0"/>
                        </a:rPr>
                        <m:t> </m:t>
                      </m:r>
                      <m:r>
                        <a:rPr lang="zh-CN" altLang="en-US" sz="2200" b="1" i="1">
                          <a:latin typeface="Cambria Math" panose="02040503050406030204" pitchFamily="18" charset="0"/>
                        </a:rPr>
                        <m:t>𝒓</m:t>
                      </m:r>
                      <m:r>
                        <a:rPr lang="en-US" altLang="zh-CN" sz="2200" b="0" i="1" smtClean="0">
                          <a:latin typeface="Cambria Math" panose="02040503050406030204" pitchFamily="18" charset="0"/>
                        </a:rPr>
                        <m:t>,</m:t>
                      </m:r>
                      <m:r>
                        <a:rPr lang="zh-CN" altLang="en-US" sz="2200" b="1" i="1">
                          <a:latin typeface="Cambria Math" panose="02040503050406030204" pitchFamily="18" charset="0"/>
                        </a:rPr>
                        <m:t>𝒗</m:t>
                      </m:r>
                    </m:oMath>
                  </m:oMathPara>
                </a14:m>
                <a:endParaRPr lang="zh-CN" altLang="en-US" sz="2200" b="1" i="1" dirty="0">
                  <a:latin typeface="Cambria Math" panose="02040503050406030204" pitchFamily="18" charset="0"/>
                </a:endParaRPr>
              </a:p>
            </p:txBody>
          </p:sp>
        </mc:Choice>
        <mc:Fallback xmlns="">
          <p:sp>
            <p:nvSpPr>
              <p:cNvPr id="67" name="Object 56"/>
              <p:cNvSpPr txBox="1">
                <a:spLocks noRot="1" noChangeAspect="1" noMove="1" noResize="1" noEditPoints="1" noAdjustHandles="1" noChangeArrowheads="1" noChangeShapeType="1" noTextEdit="1"/>
              </p:cNvSpPr>
              <p:nvPr/>
            </p:nvSpPr>
            <p:spPr bwMode="auto">
              <a:xfrm>
                <a:off x="2870668" y="4867658"/>
                <a:ext cx="1633222" cy="447675"/>
              </a:xfrm>
              <a:prstGeom prst="rect">
                <a:avLst/>
              </a:prstGeom>
              <a:blipFill>
                <a:blip r:embed="rId23"/>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2" name="Object 60"/>
              <p:cNvSpPr txBox="1"/>
              <p:nvPr/>
            </p:nvSpPr>
            <p:spPr bwMode="auto">
              <a:xfrm>
                <a:off x="1910022" y="5353614"/>
                <a:ext cx="2147991" cy="40317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200" i="1">
                          <a:latin typeface="Cambria Math" panose="02040503050406030204" pitchFamily="18" charset="0"/>
                        </a:rPr>
                        <m:t>∴ </m:t>
                      </m:r>
                      <m:r>
                        <a:rPr lang="zh-CN" altLang="en-US" sz="2200" b="1" i="1">
                          <a:latin typeface="Cambria Math" panose="02040503050406030204" pitchFamily="18" charset="0"/>
                        </a:rPr>
                        <m:t>𝒗</m:t>
                      </m:r>
                      <m:r>
                        <a:rPr lang="zh-CN" altLang="en-US" sz="2200" i="1">
                          <a:latin typeface="Cambria Math" panose="02040503050406030204" pitchFamily="18" charset="0"/>
                        </a:rPr>
                        <m:t>=</m:t>
                      </m:r>
                      <m:r>
                        <a:rPr lang="zh-CN" altLang="en-US" sz="2200" b="1" i="1">
                          <a:latin typeface="Cambria Math" panose="02040503050406030204" pitchFamily="18" charset="0"/>
                        </a:rPr>
                        <m:t>𝝎</m:t>
                      </m:r>
                      <m:r>
                        <a:rPr lang="zh-CN" altLang="en-US" sz="2200" i="1">
                          <a:latin typeface="Cambria Math" panose="02040503050406030204" pitchFamily="18" charset="0"/>
                        </a:rPr>
                        <m:t> × </m:t>
                      </m:r>
                      <m:r>
                        <a:rPr lang="zh-CN" altLang="en-US" sz="2200" b="1" i="1">
                          <a:latin typeface="Cambria Math" panose="02040503050406030204" pitchFamily="18" charset="0"/>
                        </a:rPr>
                        <m:t>𝒓</m:t>
                      </m:r>
                    </m:oMath>
                  </m:oMathPara>
                </a14:m>
                <a:endParaRPr lang="zh-CN" altLang="en-US" sz="2200" b="1" i="1" dirty="0">
                  <a:latin typeface="Cambria Math" panose="02040503050406030204" pitchFamily="18" charset="0"/>
                </a:endParaRPr>
              </a:p>
            </p:txBody>
          </p:sp>
        </mc:Choice>
        <mc:Fallback xmlns="">
          <p:sp>
            <p:nvSpPr>
              <p:cNvPr id="72" name="Object 60"/>
              <p:cNvSpPr txBox="1">
                <a:spLocks noRot="1" noChangeAspect="1" noMove="1" noResize="1" noEditPoints="1" noAdjustHandles="1" noChangeArrowheads="1" noChangeShapeType="1" noTextEdit="1"/>
              </p:cNvSpPr>
              <p:nvPr/>
            </p:nvSpPr>
            <p:spPr bwMode="auto">
              <a:xfrm>
                <a:off x="1910022" y="5353614"/>
                <a:ext cx="2147991" cy="403175"/>
              </a:xfrm>
              <a:prstGeom prst="rect">
                <a:avLst/>
              </a:prstGeom>
              <a:blipFill>
                <a:blip r:embed="rId24"/>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7" name="Object 6"/>
              <p:cNvSpPr txBox="1"/>
              <p:nvPr/>
            </p:nvSpPr>
            <p:spPr bwMode="auto">
              <a:xfrm>
                <a:off x="4511782" y="1476453"/>
                <a:ext cx="350603" cy="483739"/>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b="1" i="1">
                          <a:latin typeface="Cambria Math" panose="02040503050406030204" pitchFamily="18" charset="0"/>
                        </a:rPr>
                        <m:t>𝒗</m:t>
                      </m:r>
                    </m:oMath>
                  </m:oMathPara>
                </a14:m>
                <a:endParaRPr lang="zh-CN" altLang="en-US" sz="2800" b="1" i="1" dirty="0">
                  <a:latin typeface="Cambria Math" panose="02040503050406030204" pitchFamily="18" charset="0"/>
                </a:endParaRPr>
              </a:p>
            </p:txBody>
          </p:sp>
        </mc:Choice>
        <mc:Fallback xmlns="">
          <p:sp>
            <p:nvSpPr>
              <p:cNvPr id="77" name="Object 6"/>
              <p:cNvSpPr txBox="1">
                <a:spLocks noRot="1" noChangeAspect="1" noMove="1" noResize="1" noEditPoints="1" noAdjustHandles="1" noChangeArrowheads="1" noChangeShapeType="1" noTextEdit="1"/>
              </p:cNvSpPr>
              <p:nvPr/>
            </p:nvSpPr>
            <p:spPr bwMode="auto">
              <a:xfrm>
                <a:off x="4511782" y="1476453"/>
                <a:ext cx="350603" cy="483739"/>
              </a:xfrm>
              <a:prstGeom prst="rect">
                <a:avLst/>
              </a:prstGeom>
              <a:blipFill>
                <a:blip r:embed="rId25"/>
                <a:stretch>
                  <a:fillRect/>
                </a:stretch>
              </a:blipFill>
              <a:ln>
                <a:noFill/>
              </a:ln>
              <a:effectLst/>
            </p:spPr>
            <p:txBody>
              <a:bodyPr/>
              <a:lstStyle/>
              <a:p>
                <a:r>
                  <a:rPr lang="zh-CN" altLang="en-US">
                    <a:noFill/>
                  </a:rPr>
                  <a:t> </a:t>
                </a:r>
              </a:p>
            </p:txBody>
          </p:sp>
        </mc:Fallback>
      </mc:AlternateContent>
      <p:sp>
        <p:nvSpPr>
          <p:cNvPr id="82" name="Text Box 100"/>
          <p:cNvSpPr txBox="1">
            <a:spLocks noChangeArrowheads="1"/>
          </p:cNvSpPr>
          <p:nvPr/>
        </p:nvSpPr>
        <p:spPr bwMode="auto">
          <a:xfrm>
            <a:off x="1956234" y="2665626"/>
            <a:ext cx="4139766"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1" hangingPunct="1">
              <a:spcBef>
                <a:spcPct val="50000"/>
              </a:spcBef>
            </a:pPr>
            <a:r>
              <a:rPr lang="zh-CN" altLang="en-US" sz="2200" dirty="0">
                <a:latin typeface="Times New Roman" panose="02020603050405020304" pitchFamily="18" charset="0"/>
                <a:cs typeface="Times New Roman" panose="02020603050405020304" pitchFamily="18" charset="0"/>
              </a:rPr>
              <a:t>方向与旋转方向符合右手法则，</a:t>
            </a:r>
            <a:endParaRPr lang="en-US" altLang="zh-CN" sz="2200" dirty="0">
              <a:latin typeface="Times New Roman" panose="02020603050405020304" pitchFamily="18" charset="0"/>
              <a:cs typeface="Times New Roman" panose="02020603050405020304" pitchFamily="18" charset="0"/>
            </a:endParaRPr>
          </a:p>
        </p:txBody>
      </p:sp>
      <p:sp>
        <p:nvSpPr>
          <p:cNvPr id="86" name="Text Box 105"/>
          <p:cNvSpPr txBox="1">
            <a:spLocks noChangeArrowheads="1"/>
          </p:cNvSpPr>
          <p:nvPr/>
        </p:nvSpPr>
        <p:spPr bwMode="auto">
          <a:xfrm>
            <a:off x="1954598" y="3214616"/>
            <a:ext cx="748923"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200" dirty="0">
                <a:latin typeface="Times New Roman" panose="02020603050405020304" pitchFamily="18" charset="0"/>
                <a:cs typeface="Times New Roman" panose="02020603050405020304" pitchFamily="18" charset="0"/>
              </a:rPr>
              <a:t>向径</a:t>
            </a:r>
          </a:p>
        </p:txBody>
      </p:sp>
      <mc:AlternateContent xmlns:mc="http://schemas.openxmlformats.org/markup-compatibility/2006" xmlns:a14="http://schemas.microsoft.com/office/drawing/2010/main">
        <mc:Choice Requires="a14">
          <p:sp>
            <p:nvSpPr>
              <p:cNvPr id="94" name="Object 22">
                <a:extLst>
                  <a:ext uri="{FF2B5EF4-FFF2-40B4-BE49-F238E27FC236}">
                    <a16:creationId xmlns:a16="http://schemas.microsoft.com/office/drawing/2014/main" id="{EAD8DADD-DDE7-322C-93C3-24195FA0DA95}"/>
                  </a:ext>
                </a:extLst>
              </p:cNvPr>
              <p:cNvSpPr txBox="1"/>
              <p:nvPr/>
            </p:nvSpPr>
            <p:spPr bwMode="auto">
              <a:xfrm>
                <a:off x="4358122" y="3222094"/>
                <a:ext cx="328961" cy="478956"/>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sz="2200" b="1" i="1">
                          <a:latin typeface="Cambria Math" panose="02040503050406030204" pitchFamily="18" charset="0"/>
                        </a:rPr>
                        <m:t>𝝎</m:t>
                      </m:r>
                    </m:oMath>
                  </m:oMathPara>
                </a14:m>
                <a:endParaRPr lang="zh-CN" altLang="en-US" sz="2200" b="1" i="1" dirty="0">
                  <a:latin typeface="Cambria Math" panose="02040503050406030204" pitchFamily="18" charset="0"/>
                </a:endParaRPr>
              </a:p>
            </p:txBody>
          </p:sp>
        </mc:Choice>
        <mc:Fallback xmlns="">
          <p:sp>
            <p:nvSpPr>
              <p:cNvPr id="94" name="Object 22">
                <a:extLst>
                  <a:ext uri="{FF2B5EF4-FFF2-40B4-BE49-F238E27FC236}">
                    <a16:creationId xmlns:a16="http://schemas.microsoft.com/office/drawing/2014/main" id="{EAD8DADD-DDE7-322C-93C3-24195FA0DA95}"/>
                  </a:ext>
                </a:extLst>
              </p:cNvPr>
              <p:cNvSpPr txBox="1">
                <a:spLocks noRot="1" noChangeAspect="1" noMove="1" noResize="1" noEditPoints="1" noAdjustHandles="1" noChangeArrowheads="1" noChangeShapeType="1" noTextEdit="1"/>
              </p:cNvSpPr>
              <p:nvPr/>
            </p:nvSpPr>
            <p:spPr bwMode="auto">
              <a:xfrm>
                <a:off x="4358122" y="3222094"/>
                <a:ext cx="328961" cy="478956"/>
              </a:xfrm>
              <a:prstGeom prst="rect">
                <a:avLst/>
              </a:prstGeom>
              <a:blipFill>
                <a:blip r:embed="rId26"/>
                <a:stretch>
                  <a:fillRect r="-18519"/>
                </a:stretch>
              </a:blipFill>
              <a:ln>
                <a:noFill/>
              </a:ln>
              <a:effectLst/>
            </p:spPr>
            <p:txBody>
              <a:bodyPr/>
              <a:lstStyle/>
              <a:p>
                <a:r>
                  <a:rPr lang="zh-CN" altLang="en-US">
                    <a:noFill/>
                  </a:rPr>
                  <a:t> </a:t>
                </a:r>
              </a:p>
            </p:txBody>
          </p:sp>
        </mc:Fallback>
      </mc:AlternateContent>
      <p:pic>
        <p:nvPicPr>
          <p:cNvPr id="21" name="图片 20" descr="图示&#10;&#10;描述已自动生成">
            <a:extLst>
              <a:ext uri="{FF2B5EF4-FFF2-40B4-BE49-F238E27FC236}">
                <a16:creationId xmlns:a16="http://schemas.microsoft.com/office/drawing/2014/main" id="{A2AA13CE-5D17-5E39-26FC-69DFBA76A500}"/>
              </a:ext>
            </a:extLst>
          </p:cNvPr>
          <p:cNvPicPr>
            <a:picLocks noChangeAspect="1"/>
          </p:cNvPicPr>
          <p:nvPr/>
        </p:nvPicPr>
        <p:blipFill>
          <a:blip r:embed="rId27" cstate="print">
            <a:extLst>
              <a:ext uri="{28A0092B-C50C-407E-A947-70E740481C1C}">
                <a14:useLocalDpi xmlns:a14="http://schemas.microsoft.com/office/drawing/2010/main" val="0"/>
              </a:ext>
            </a:extLst>
          </a:blip>
          <a:stretch>
            <a:fillRect/>
          </a:stretch>
        </p:blipFill>
        <p:spPr>
          <a:xfrm>
            <a:off x="8754868" y="1733006"/>
            <a:ext cx="2021200" cy="3262189"/>
          </a:xfrm>
          <a:prstGeom prst="rect">
            <a:avLst/>
          </a:prstGeom>
        </p:spPr>
      </p:pic>
    </p:spTree>
    <p:extLst>
      <p:ext uri="{BB962C8B-B14F-4D97-AF65-F5344CB8AC3E}">
        <p14:creationId xmlns:p14="http://schemas.microsoft.com/office/powerpoint/2010/main" val="1048930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77"/>
                                        </p:tgtEl>
                                        <p:attrNameLst>
                                          <p:attrName>style.visibility</p:attrName>
                                        </p:attrNameLst>
                                      </p:cBhvr>
                                      <p:to>
                                        <p:strVal val="visible"/>
                                      </p:to>
                                    </p:set>
                                    <p:animEffect transition="in" filter="wipe(left)">
                                      <p:cBhvr>
                                        <p:cTn id="19" dur="500"/>
                                        <p:tgtEl>
                                          <p:spTgt spid="7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wipe(up)">
                                      <p:cBhvr>
                                        <p:cTn id="24" dur="500"/>
                                        <p:tgtEl>
                                          <p:spTgt spid="2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wipe(left)">
                                      <p:cBhvr>
                                        <p:cTn id="29" dur="500"/>
                                        <p:tgtEl>
                                          <p:spTgt spid="18"/>
                                        </p:tgtEl>
                                      </p:cBhvr>
                                    </p:animEffect>
                                  </p:childTnLst>
                                </p:cTn>
                              </p:par>
                            </p:childTnLst>
                          </p:cTn>
                        </p:par>
                        <p:par>
                          <p:cTn id="30" fill="hold">
                            <p:stCondLst>
                              <p:cond delay="500"/>
                            </p:stCondLst>
                            <p:childTnLst>
                              <p:par>
                                <p:cTn id="31" presetID="22" presetClass="entr" presetSubtype="8" fill="hold" grpId="0" nodeType="afterEffect">
                                  <p:stCondLst>
                                    <p:cond delay="0"/>
                                  </p:stCondLst>
                                  <p:childTnLst>
                                    <p:set>
                                      <p:cBhvr>
                                        <p:cTn id="32" dur="1" fill="hold">
                                          <p:stCondLst>
                                            <p:cond delay="0"/>
                                          </p:stCondLst>
                                        </p:cTn>
                                        <p:tgtEl>
                                          <p:spTgt spid="64"/>
                                        </p:tgtEl>
                                        <p:attrNameLst>
                                          <p:attrName>style.visibility</p:attrName>
                                        </p:attrNameLst>
                                      </p:cBhvr>
                                      <p:to>
                                        <p:strVal val="visible"/>
                                      </p:to>
                                    </p:set>
                                    <p:animEffect transition="in" filter="wipe(left)">
                                      <p:cBhvr>
                                        <p:cTn id="33" dur="500"/>
                                        <p:tgtEl>
                                          <p:spTgt spid="64"/>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wipe(left)">
                                      <p:cBhvr>
                                        <p:cTn id="38" dur="500"/>
                                        <p:tgtEl>
                                          <p:spTgt spid="19"/>
                                        </p:tgtEl>
                                      </p:cBhvr>
                                    </p:animEffect>
                                  </p:childTnLst>
                                </p:cTn>
                              </p:par>
                            </p:childTnLst>
                          </p:cTn>
                        </p:par>
                        <p:par>
                          <p:cTn id="39" fill="hold">
                            <p:stCondLst>
                              <p:cond delay="500"/>
                            </p:stCondLst>
                            <p:childTnLst>
                              <p:par>
                                <p:cTn id="40" presetID="22" presetClass="entr" presetSubtype="8" fill="hold" grpId="0" nodeType="afterEffect">
                                  <p:stCondLst>
                                    <p:cond delay="0"/>
                                  </p:stCondLst>
                                  <p:childTnLst>
                                    <p:set>
                                      <p:cBhvr>
                                        <p:cTn id="41" dur="1" fill="hold">
                                          <p:stCondLst>
                                            <p:cond delay="0"/>
                                          </p:stCondLst>
                                        </p:cTn>
                                        <p:tgtEl>
                                          <p:spTgt spid="61"/>
                                        </p:tgtEl>
                                        <p:attrNameLst>
                                          <p:attrName>style.visibility</p:attrName>
                                        </p:attrNameLst>
                                      </p:cBhvr>
                                      <p:to>
                                        <p:strVal val="visible"/>
                                      </p:to>
                                    </p:set>
                                    <p:animEffect transition="in" filter="wipe(left)">
                                      <p:cBhvr>
                                        <p:cTn id="42" dur="500"/>
                                        <p:tgtEl>
                                          <p:spTgt spid="6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wipe(left)">
                                      <p:cBhvr>
                                        <p:cTn id="47" dur="500"/>
                                        <p:tgtEl>
                                          <p:spTgt spid="22"/>
                                        </p:tgtEl>
                                      </p:cBhvr>
                                    </p:animEffect>
                                  </p:childTnLst>
                                </p:cTn>
                              </p:par>
                            </p:childTnLst>
                          </p:cTn>
                        </p:par>
                        <p:par>
                          <p:cTn id="48" fill="hold">
                            <p:stCondLst>
                              <p:cond delay="500"/>
                            </p:stCondLst>
                            <p:childTnLst>
                              <p:par>
                                <p:cTn id="49" presetID="22" presetClass="entr" presetSubtype="8" fill="hold" grpId="0" nodeType="afterEffect">
                                  <p:stCondLst>
                                    <p:cond delay="0"/>
                                  </p:stCondLst>
                                  <p:childTnLst>
                                    <p:set>
                                      <p:cBhvr>
                                        <p:cTn id="50" dur="1" fill="hold">
                                          <p:stCondLst>
                                            <p:cond delay="0"/>
                                          </p:stCondLst>
                                        </p:cTn>
                                        <p:tgtEl>
                                          <p:spTgt spid="82"/>
                                        </p:tgtEl>
                                        <p:attrNameLst>
                                          <p:attrName>style.visibility</p:attrName>
                                        </p:attrNameLst>
                                      </p:cBhvr>
                                      <p:to>
                                        <p:strVal val="visible"/>
                                      </p:to>
                                    </p:set>
                                    <p:animEffect transition="in" filter="wipe(left)">
                                      <p:cBhvr>
                                        <p:cTn id="51" dur="500"/>
                                        <p:tgtEl>
                                          <p:spTgt spid="82"/>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wipe(left)">
                                      <p:cBhvr>
                                        <p:cTn id="56" dur="50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wipe(left)">
                                      <p:cBhvr>
                                        <p:cTn id="61" dur="500"/>
                                        <p:tgtEl>
                                          <p:spTgt spid="25"/>
                                        </p:tgtEl>
                                      </p:cBhvr>
                                    </p:animEffect>
                                  </p:childTnLst>
                                </p:cTn>
                              </p:par>
                            </p:childTnLst>
                          </p:cTn>
                        </p:par>
                        <p:par>
                          <p:cTn id="62" fill="hold">
                            <p:stCondLst>
                              <p:cond delay="500"/>
                            </p:stCondLst>
                            <p:childTnLst>
                              <p:par>
                                <p:cTn id="63" presetID="22" presetClass="entr" presetSubtype="8" fill="hold" grpId="0" nodeType="afterEffect">
                                  <p:stCondLst>
                                    <p:cond delay="0"/>
                                  </p:stCondLst>
                                  <p:childTnLst>
                                    <p:set>
                                      <p:cBhvr>
                                        <p:cTn id="64" dur="1" fill="hold">
                                          <p:stCondLst>
                                            <p:cond delay="0"/>
                                          </p:stCondLst>
                                        </p:cTn>
                                        <p:tgtEl>
                                          <p:spTgt spid="86">
                                            <p:txEl>
                                              <p:pRg st="0" end="0"/>
                                            </p:txEl>
                                          </p:spTgt>
                                        </p:tgtEl>
                                        <p:attrNameLst>
                                          <p:attrName>style.visibility</p:attrName>
                                        </p:attrNameLst>
                                      </p:cBhvr>
                                      <p:to>
                                        <p:strVal val="visible"/>
                                      </p:to>
                                    </p:set>
                                    <p:animEffect transition="in" filter="wipe(left)">
                                      <p:cBhvr>
                                        <p:cTn id="65" dur="500"/>
                                        <p:tgtEl>
                                          <p:spTgt spid="86">
                                            <p:txEl>
                                              <p:pRg st="0" end="0"/>
                                            </p:txEl>
                                          </p:spTgt>
                                        </p:tgtEl>
                                      </p:cBhvr>
                                    </p:animEffect>
                                  </p:childTnLst>
                                </p:cTn>
                              </p:par>
                              <p:par>
                                <p:cTn id="66" presetID="22" presetClass="entr" presetSubtype="8" fill="hold" grpId="0" nodeType="withEffect">
                                  <p:stCondLst>
                                    <p:cond delay="0"/>
                                  </p:stCondLst>
                                  <p:childTnLst>
                                    <p:set>
                                      <p:cBhvr>
                                        <p:cTn id="67" dur="1" fill="hold">
                                          <p:stCondLst>
                                            <p:cond delay="0"/>
                                          </p:stCondLst>
                                        </p:cTn>
                                        <p:tgtEl>
                                          <p:spTgt spid="44"/>
                                        </p:tgtEl>
                                        <p:attrNameLst>
                                          <p:attrName>style.visibility</p:attrName>
                                        </p:attrNameLst>
                                      </p:cBhvr>
                                      <p:to>
                                        <p:strVal val="visible"/>
                                      </p:to>
                                    </p:set>
                                    <p:animEffect transition="in" filter="wipe(left)">
                                      <p:cBhvr>
                                        <p:cTn id="68" dur="500"/>
                                        <p:tgtEl>
                                          <p:spTgt spid="44"/>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wipe(left)">
                                      <p:cBhvr>
                                        <p:cTn id="73" dur="500"/>
                                        <p:tgtEl>
                                          <p:spTgt spid="29"/>
                                        </p:tgtEl>
                                      </p:cBhvr>
                                    </p:animEffect>
                                  </p:childTnLst>
                                </p:cTn>
                              </p:par>
                            </p:childTnLst>
                          </p:cTn>
                        </p:par>
                        <p:par>
                          <p:cTn id="74" fill="hold">
                            <p:stCondLst>
                              <p:cond delay="500"/>
                            </p:stCondLst>
                            <p:childTnLst>
                              <p:par>
                                <p:cTn id="75" presetID="22" presetClass="entr" presetSubtype="8" fill="hold" grpId="0" nodeType="afterEffect">
                                  <p:stCondLst>
                                    <p:cond delay="0"/>
                                  </p:stCondLst>
                                  <p:childTnLst>
                                    <p:set>
                                      <p:cBhvr>
                                        <p:cTn id="76" dur="1" fill="hold">
                                          <p:stCondLst>
                                            <p:cond delay="0"/>
                                          </p:stCondLst>
                                        </p:cTn>
                                        <p:tgtEl>
                                          <p:spTgt spid="94"/>
                                        </p:tgtEl>
                                        <p:attrNameLst>
                                          <p:attrName>style.visibility</p:attrName>
                                        </p:attrNameLst>
                                      </p:cBhvr>
                                      <p:to>
                                        <p:strVal val="visible"/>
                                      </p:to>
                                    </p:set>
                                    <p:animEffect transition="in" filter="wipe(left)">
                                      <p:cBhvr>
                                        <p:cTn id="77" dur="500"/>
                                        <p:tgtEl>
                                          <p:spTgt spid="94"/>
                                        </p:tgtEl>
                                      </p:cBhvr>
                                    </p:animEffect>
                                  </p:childTnLst>
                                </p:cTn>
                              </p:par>
                            </p:childTnLst>
                          </p:cTn>
                        </p:par>
                        <p:par>
                          <p:cTn id="78" fill="hold">
                            <p:stCondLst>
                              <p:cond delay="1000"/>
                            </p:stCondLst>
                            <p:childTnLst>
                              <p:par>
                                <p:cTn id="79" presetID="22" presetClass="entr" presetSubtype="8" fill="hold" grpId="0" nodeType="afterEffect">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wipe(left)">
                                      <p:cBhvr>
                                        <p:cTn id="81" dur="500"/>
                                        <p:tgtEl>
                                          <p:spTgt spid="35"/>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wipe(left)">
                                      <p:cBhvr>
                                        <p:cTn id="86" dur="500"/>
                                        <p:tgtEl>
                                          <p:spTgt spid="30"/>
                                        </p:tgtEl>
                                      </p:cBhvr>
                                    </p:animEffect>
                                  </p:childTnLst>
                                </p:cTn>
                              </p:par>
                            </p:childTnLst>
                          </p:cTn>
                        </p:par>
                        <p:par>
                          <p:cTn id="87" fill="hold">
                            <p:stCondLst>
                              <p:cond delay="500"/>
                            </p:stCondLst>
                            <p:childTnLst>
                              <p:par>
                                <p:cTn id="88" presetID="22" presetClass="entr" presetSubtype="8" fill="hold" grpId="0" nodeType="after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wipe(left)">
                                      <p:cBhvr>
                                        <p:cTn id="90" dur="500"/>
                                        <p:tgtEl>
                                          <p:spTgt spid="31"/>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nodeType="clickEffect">
                                  <p:stCondLst>
                                    <p:cond delay="0"/>
                                  </p:stCondLst>
                                  <p:childTnLst>
                                    <p:set>
                                      <p:cBhvr>
                                        <p:cTn id="94" dur="1" fill="hold">
                                          <p:stCondLst>
                                            <p:cond delay="0"/>
                                          </p:stCondLst>
                                        </p:cTn>
                                        <p:tgtEl>
                                          <p:spTgt spid="39"/>
                                        </p:tgtEl>
                                        <p:attrNameLst>
                                          <p:attrName>style.visibility</p:attrName>
                                        </p:attrNameLst>
                                      </p:cBhvr>
                                      <p:to>
                                        <p:strVal val="visible"/>
                                      </p:to>
                                    </p:set>
                                    <p:animEffect transition="in" filter="wipe(left)">
                                      <p:cBhvr>
                                        <p:cTn id="95" dur="500"/>
                                        <p:tgtEl>
                                          <p:spTgt spid="39"/>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nodeType="clickEffect">
                                  <p:stCondLst>
                                    <p:cond delay="0"/>
                                  </p:stCondLst>
                                  <p:childTnLst>
                                    <p:set>
                                      <p:cBhvr>
                                        <p:cTn id="99" dur="1" fill="hold">
                                          <p:stCondLst>
                                            <p:cond delay="0"/>
                                          </p:stCondLst>
                                        </p:cTn>
                                        <p:tgtEl>
                                          <p:spTgt spid="47"/>
                                        </p:tgtEl>
                                        <p:attrNameLst>
                                          <p:attrName>style.visibility</p:attrName>
                                        </p:attrNameLst>
                                      </p:cBhvr>
                                      <p:to>
                                        <p:strVal val="visible"/>
                                      </p:to>
                                    </p:set>
                                    <p:animEffect transition="in" filter="wipe(left)">
                                      <p:cBhvr>
                                        <p:cTn id="100" dur="500"/>
                                        <p:tgtEl>
                                          <p:spTgt spid="47"/>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grpId="0" nodeType="clickEffect">
                                  <p:stCondLst>
                                    <p:cond delay="0"/>
                                  </p:stCondLst>
                                  <p:childTnLst>
                                    <p:set>
                                      <p:cBhvr>
                                        <p:cTn id="104" dur="1" fill="hold">
                                          <p:stCondLst>
                                            <p:cond delay="0"/>
                                          </p:stCondLst>
                                        </p:cTn>
                                        <p:tgtEl>
                                          <p:spTgt spid="32"/>
                                        </p:tgtEl>
                                        <p:attrNameLst>
                                          <p:attrName>style.visibility</p:attrName>
                                        </p:attrNameLst>
                                      </p:cBhvr>
                                      <p:to>
                                        <p:strVal val="visible"/>
                                      </p:to>
                                    </p:set>
                                    <p:animEffect transition="in" filter="wipe(left)">
                                      <p:cBhvr>
                                        <p:cTn id="105" dur="500"/>
                                        <p:tgtEl>
                                          <p:spTgt spid="32"/>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8" fill="hold" nodeType="clickEffect">
                                  <p:stCondLst>
                                    <p:cond delay="0"/>
                                  </p:stCondLst>
                                  <p:childTnLst>
                                    <p:set>
                                      <p:cBhvr>
                                        <p:cTn id="109" dur="1" fill="hold">
                                          <p:stCondLst>
                                            <p:cond delay="0"/>
                                          </p:stCondLst>
                                        </p:cTn>
                                        <p:tgtEl>
                                          <p:spTgt spid="54"/>
                                        </p:tgtEl>
                                        <p:attrNameLst>
                                          <p:attrName>style.visibility</p:attrName>
                                        </p:attrNameLst>
                                      </p:cBhvr>
                                      <p:to>
                                        <p:strVal val="visible"/>
                                      </p:to>
                                    </p:set>
                                    <p:animEffect transition="in" filter="wipe(left)">
                                      <p:cBhvr>
                                        <p:cTn id="110" dur="500"/>
                                        <p:tgtEl>
                                          <p:spTgt spid="54"/>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8" fill="hold" grpId="0" nodeType="clickEffect">
                                  <p:stCondLst>
                                    <p:cond delay="0"/>
                                  </p:stCondLst>
                                  <p:childTnLst>
                                    <p:set>
                                      <p:cBhvr>
                                        <p:cTn id="114" dur="1" fill="hold">
                                          <p:stCondLst>
                                            <p:cond delay="0"/>
                                          </p:stCondLst>
                                        </p:cTn>
                                        <p:tgtEl>
                                          <p:spTgt spid="33"/>
                                        </p:tgtEl>
                                        <p:attrNameLst>
                                          <p:attrName>style.visibility</p:attrName>
                                        </p:attrNameLst>
                                      </p:cBhvr>
                                      <p:to>
                                        <p:strVal val="visible"/>
                                      </p:to>
                                    </p:set>
                                    <p:animEffect transition="in" filter="wipe(left)">
                                      <p:cBhvr>
                                        <p:cTn id="115" dur="500"/>
                                        <p:tgtEl>
                                          <p:spTgt spid="33"/>
                                        </p:tgtEl>
                                      </p:cBhvr>
                                    </p:animEffect>
                                  </p:childTnLst>
                                </p:cTn>
                              </p:par>
                            </p:childTnLst>
                          </p:cTn>
                        </p:par>
                        <p:par>
                          <p:cTn id="116" fill="hold">
                            <p:stCondLst>
                              <p:cond delay="500"/>
                            </p:stCondLst>
                            <p:childTnLst>
                              <p:par>
                                <p:cTn id="117" presetID="22" presetClass="entr" presetSubtype="8" fill="hold" grpId="0" nodeType="afterEffect">
                                  <p:stCondLst>
                                    <p:cond delay="0"/>
                                  </p:stCondLst>
                                  <p:childTnLst>
                                    <p:set>
                                      <p:cBhvr>
                                        <p:cTn id="118" dur="1" fill="hold">
                                          <p:stCondLst>
                                            <p:cond delay="0"/>
                                          </p:stCondLst>
                                        </p:cTn>
                                        <p:tgtEl>
                                          <p:spTgt spid="67"/>
                                        </p:tgtEl>
                                        <p:attrNameLst>
                                          <p:attrName>style.visibility</p:attrName>
                                        </p:attrNameLst>
                                      </p:cBhvr>
                                      <p:to>
                                        <p:strVal val="visible"/>
                                      </p:to>
                                    </p:set>
                                    <p:animEffect transition="in" filter="wipe(left)">
                                      <p:cBhvr>
                                        <p:cTn id="119" dur="500"/>
                                        <p:tgtEl>
                                          <p:spTgt spid="67"/>
                                        </p:tgtEl>
                                      </p:cBhvr>
                                    </p:animEffect>
                                  </p:childTnLst>
                                </p:cTn>
                              </p:par>
                            </p:childTnLst>
                          </p:cTn>
                        </p:par>
                        <p:par>
                          <p:cTn id="120" fill="hold">
                            <p:stCondLst>
                              <p:cond delay="1000"/>
                            </p:stCondLst>
                            <p:childTnLst>
                              <p:par>
                                <p:cTn id="121" presetID="22" presetClass="entr" presetSubtype="8" fill="hold" grpId="0" nodeType="afterEffect">
                                  <p:stCondLst>
                                    <p:cond delay="0"/>
                                  </p:stCondLst>
                                  <p:childTnLst>
                                    <p:set>
                                      <p:cBhvr>
                                        <p:cTn id="122" dur="1" fill="hold">
                                          <p:stCondLst>
                                            <p:cond delay="0"/>
                                          </p:stCondLst>
                                        </p:cTn>
                                        <p:tgtEl>
                                          <p:spTgt spid="34"/>
                                        </p:tgtEl>
                                        <p:attrNameLst>
                                          <p:attrName>style.visibility</p:attrName>
                                        </p:attrNameLst>
                                      </p:cBhvr>
                                      <p:to>
                                        <p:strVal val="visible"/>
                                      </p:to>
                                    </p:set>
                                    <p:animEffect transition="in" filter="wipe(left)">
                                      <p:cBhvr>
                                        <p:cTn id="123" dur="500"/>
                                        <p:tgtEl>
                                          <p:spTgt spid="34"/>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8" fill="hold" grpId="0" nodeType="clickEffect">
                                  <p:stCondLst>
                                    <p:cond delay="0"/>
                                  </p:stCondLst>
                                  <p:childTnLst>
                                    <p:set>
                                      <p:cBhvr>
                                        <p:cTn id="127" dur="1" fill="hold">
                                          <p:stCondLst>
                                            <p:cond delay="0"/>
                                          </p:stCondLst>
                                        </p:cTn>
                                        <p:tgtEl>
                                          <p:spTgt spid="72"/>
                                        </p:tgtEl>
                                        <p:attrNameLst>
                                          <p:attrName>style.visibility</p:attrName>
                                        </p:attrNameLst>
                                      </p:cBhvr>
                                      <p:to>
                                        <p:strVal val="visible"/>
                                      </p:to>
                                    </p:set>
                                    <p:animEffect transition="in" filter="wipe(left)">
                                      <p:cBhvr>
                                        <p:cTn id="128"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18" grpId="0" autoUpdateAnimBg="0"/>
      <p:bldP spid="19" grpId="0" autoUpdateAnimBg="0"/>
      <p:bldP spid="22" grpId="0" autoUpdateAnimBg="0"/>
      <p:bldP spid="23" grpId="0" autoUpdateAnimBg="0"/>
      <p:bldP spid="25" grpId="0" autoUpdateAnimBg="0"/>
      <p:bldP spid="29" grpId="0" autoUpdateAnimBg="0"/>
      <p:bldP spid="30" grpId="0" autoUpdateAnimBg="0"/>
      <p:bldP spid="31" grpId="0" autoUpdateAnimBg="0"/>
      <p:bldP spid="32" grpId="0"/>
      <p:bldP spid="33" grpId="0" autoUpdateAnimBg="0"/>
      <p:bldP spid="34" grpId="0" autoUpdateAnimBg="0"/>
      <p:bldP spid="35" grpId="0" autoUpdateAnimBg="0"/>
      <p:bldP spid="44" grpId="0"/>
      <p:bldP spid="61" grpId="0"/>
      <p:bldP spid="64" grpId="0"/>
      <p:bldP spid="67" grpId="0"/>
      <p:bldP spid="72" grpId="0"/>
      <p:bldP spid="77" grpId="0"/>
      <p:bldP spid="82" grpId="0" autoUpdateAnimBg="0"/>
      <p:bldP spid="86" grpId="0" build="p" autoUpdateAnimBg="0" advAuto="0"/>
      <p:bldP spid="9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E708D446-8DCA-4BB8-5475-75D2FDF63EFE}"/>
              </a:ext>
            </a:extLst>
          </p:cNvPr>
          <p:cNvSpPr/>
          <p:nvPr/>
        </p:nvSpPr>
        <p:spPr>
          <a:xfrm>
            <a:off x="1962591" y="2422845"/>
            <a:ext cx="8619684" cy="3004735"/>
          </a:xfrm>
          <a:prstGeom prst="rect">
            <a:avLst/>
          </a:prstGeom>
          <a:solidFill>
            <a:srgbClr val="04926A">
              <a:alpha val="2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nvGrpSpPr>
          <p:cNvPr id="2" name="组合 1">
            <a:extLst>
              <a:ext uri="{FF2B5EF4-FFF2-40B4-BE49-F238E27FC236}">
                <a16:creationId xmlns:a16="http://schemas.microsoft.com/office/drawing/2014/main" id="{21347CFB-059C-B8A6-A0F9-E1676A18EEC8}"/>
              </a:ext>
            </a:extLst>
          </p:cNvPr>
          <p:cNvGrpSpPr/>
          <p:nvPr/>
        </p:nvGrpSpPr>
        <p:grpSpPr>
          <a:xfrm>
            <a:off x="1400225" y="3428261"/>
            <a:ext cx="1341633" cy="787792"/>
            <a:chOff x="1400225" y="3428261"/>
            <a:chExt cx="1341633" cy="787792"/>
          </a:xfrm>
        </p:grpSpPr>
        <p:sp>
          <p:nvSpPr>
            <p:cNvPr id="4" name="PA-102231">
              <a:extLst>
                <a:ext uri="{FF2B5EF4-FFF2-40B4-BE49-F238E27FC236}">
                  <a16:creationId xmlns:a16="http://schemas.microsoft.com/office/drawing/2014/main" id="{A33DDA16-CC30-BFCB-D3C7-FFD00CFF1B81}"/>
                </a:ext>
              </a:extLst>
            </p:cNvPr>
            <p:cNvSpPr/>
            <p:nvPr>
              <p:custDataLst>
                <p:tags r:id="rId1"/>
              </p:custDataLst>
            </p:nvPr>
          </p:nvSpPr>
          <p:spPr>
            <a:xfrm>
              <a:off x="1400225" y="3428261"/>
              <a:ext cx="1093871" cy="787792"/>
            </a:xfrm>
            <a:prstGeom prst="rect">
              <a:avLst/>
            </a:prstGeom>
            <a:solidFill>
              <a:schemeClr val="bg1"/>
            </a:solidFill>
            <a:ln w="19050">
              <a:gradFill>
                <a:gsLst>
                  <a:gs pos="5000">
                    <a:srgbClr val="17A45E"/>
                  </a:gs>
                  <a:gs pos="56000">
                    <a:srgbClr val="039267"/>
                  </a:gs>
                  <a:gs pos="100000">
                    <a:srgbClr val="068983"/>
                  </a:gs>
                </a:gsLst>
                <a:lin ang="10800000" scaled="0"/>
              </a:gradFill>
            </a:ln>
            <a:effectLst>
              <a:outerShdw blurRad="203200" dist="63500" dir="3000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n>
                  <a:solidFill>
                    <a:schemeClr val="bg1">
                      <a:lumMod val="95000"/>
                    </a:schemeClr>
                  </a:solidFill>
                </a:ln>
                <a:cs typeface="+mn-ea"/>
                <a:sym typeface="+mn-lt"/>
              </a:endParaRPr>
            </a:p>
          </p:txBody>
        </p:sp>
        <p:sp>
          <p:nvSpPr>
            <p:cNvPr id="5" name="Rectangle 2">
              <a:extLst>
                <a:ext uri="{FF2B5EF4-FFF2-40B4-BE49-F238E27FC236}">
                  <a16:creationId xmlns:a16="http://schemas.microsoft.com/office/drawing/2014/main" id="{44549CED-99BA-5864-627C-34A8AA3B2609}"/>
                </a:ext>
              </a:extLst>
            </p:cNvPr>
            <p:cNvSpPr txBox="1">
              <a:spLocks noChangeArrowheads="1"/>
            </p:cNvSpPr>
            <p:nvPr/>
          </p:nvSpPr>
          <p:spPr>
            <a:xfrm>
              <a:off x="1400226" y="3574665"/>
              <a:ext cx="1341632" cy="526262"/>
            </a:xfrm>
            <a:noFill/>
            <a:ln>
              <a:noFill/>
            </a:ln>
          </p:spPr>
          <p:txBody>
            <a:bodyPr>
              <a:no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pPr>
                <a:lnSpc>
                  <a:spcPct val="100000"/>
                </a:lnSpc>
              </a:pPr>
              <a:r>
                <a:rPr kumimoji="1" lang="zh-CN" altLang="en-US" sz="2800" dirty="0">
                  <a:solidFill>
                    <a:srgbClr val="04926A"/>
                  </a:solidFill>
                  <a:latin typeface="微软雅黑" panose="020B0503020204020204" pitchFamily="34" charset="-122"/>
                  <a:ea typeface="微软雅黑" panose="020B0503020204020204" pitchFamily="34" charset="-122"/>
                  <a:cs typeface="+mn-cs"/>
                </a:rPr>
                <a:t>定义</a:t>
              </a:r>
              <a:r>
                <a:rPr kumimoji="1" lang="en-US" altLang="zh-CN" sz="2800" dirty="0">
                  <a:solidFill>
                    <a:srgbClr val="04926A"/>
                  </a:solidFill>
                  <a:latin typeface="微软雅黑" panose="020B0503020204020204" pitchFamily="34" charset="-122"/>
                  <a:ea typeface="微软雅黑" panose="020B0503020204020204" pitchFamily="34" charset="-122"/>
                  <a:cs typeface="+mn-cs"/>
                </a:rPr>
                <a:t>3</a:t>
              </a:r>
            </a:p>
          </p:txBody>
        </p:sp>
      </p:grpSp>
      <p:sp>
        <p:nvSpPr>
          <p:cNvPr id="28676" name="Rectangle 4"/>
          <p:cNvSpPr>
            <a:spLocks noChangeArrowheads="1"/>
          </p:cNvSpPr>
          <p:nvPr/>
        </p:nvSpPr>
        <p:spPr bwMode="auto">
          <a:xfrm>
            <a:off x="1400225" y="975629"/>
            <a:ext cx="7004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3200" b="1" dirty="0">
                <a:solidFill>
                  <a:srgbClr val="04926A"/>
                </a:solidFill>
                <a:latin typeface="微软雅黑" panose="020B0503020204020204" pitchFamily="34" charset="-122"/>
                <a:ea typeface="微软雅黑" panose="020B0503020204020204" pitchFamily="34" charset="-122"/>
              </a:rPr>
              <a:t>*</a:t>
            </a:r>
            <a:r>
              <a:rPr kumimoji="1" lang="zh-CN" altLang="en-US" sz="3200" b="1" dirty="0">
                <a:solidFill>
                  <a:srgbClr val="04926A"/>
                </a:solidFill>
                <a:latin typeface="微软雅黑" panose="020B0503020204020204" pitchFamily="34" charset="-122"/>
                <a:ea typeface="微软雅黑" panose="020B0503020204020204" pitchFamily="34" charset="-122"/>
              </a:rPr>
              <a:t>三、向量的混合积</a:t>
            </a:r>
          </a:p>
        </p:txBody>
      </p:sp>
      <p:sp>
        <p:nvSpPr>
          <p:cNvPr id="28690" name="Text Box 18"/>
          <p:cNvSpPr txBox="1">
            <a:spLocks noChangeArrowheads="1"/>
          </p:cNvSpPr>
          <p:nvPr/>
        </p:nvSpPr>
        <p:spPr bwMode="auto">
          <a:xfrm>
            <a:off x="1879212" y="1796185"/>
            <a:ext cx="2133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800" b="1" dirty="0">
                <a:solidFill>
                  <a:srgbClr val="04926A"/>
                </a:solidFill>
                <a:latin typeface="微软雅黑" panose="020B0503020204020204" pitchFamily="34" charset="-122"/>
                <a:ea typeface="微软雅黑" panose="020B0503020204020204" pitchFamily="34" charset="-122"/>
              </a:rPr>
              <a:t>1.  </a:t>
            </a:r>
            <a:r>
              <a:rPr kumimoji="1" lang="zh-CN" altLang="en-US" sz="2800" b="1" dirty="0">
                <a:solidFill>
                  <a:srgbClr val="04926A"/>
                </a:solidFill>
                <a:latin typeface="微软雅黑" panose="020B0503020204020204" pitchFamily="34" charset="-122"/>
                <a:ea typeface="微软雅黑" panose="020B0503020204020204" pitchFamily="34" charset="-122"/>
              </a:rPr>
              <a:t>定义</a:t>
            </a:r>
          </a:p>
        </p:txBody>
      </p:sp>
      <mc:AlternateContent xmlns:mc="http://schemas.openxmlformats.org/markup-compatibility/2006" xmlns:a14="http://schemas.microsoft.com/office/drawing/2010/main">
        <mc:Choice Requires="a14">
          <p:sp>
            <p:nvSpPr>
              <p:cNvPr id="28691" name="Text Box 19"/>
              <p:cNvSpPr txBox="1">
                <a:spLocks noChangeArrowheads="1"/>
              </p:cNvSpPr>
              <p:nvPr/>
            </p:nvSpPr>
            <p:spPr bwMode="auto">
              <a:xfrm>
                <a:off x="2865684" y="2671921"/>
                <a:ext cx="6060602"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r>
                  <a:rPr lang="en-US" altLang="zh-CN" sz="2800" dirty="0">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对于给定的三个向量</a:t>
                </a:r>
                <a14:m>
                  <m:oMath xmlns:m="http://schemas.openxmlformats.org/officeDocument/2006/math">
                    <m:r>
                      <a:rPr lang="zh-CN" altLang="en-US" sz="2800" b="1" i="1">
                        <a:latin typeface="Cambria Math" panose="02040503050406030204" pitchFamily="18" charset="0"/>
                      </a:rPr>
                      <m:t>𝒂</m:t>
                    </m:r>
                    <m:r>
                      <a:rPr lang="en-US" altLang="zh-CN" sz="2800" b="0" i="1" smtClean="0">
                        <a:latin typeface="Cambria Math" panose="02040503050406030204" pitchFamily="18" charset="0"/>
                      </a:rPr>
                      <m:t>,</m:t>
                    </m:r>
                    <m:r>
                      <a:rPr lang="en-US" altLang="zh-CN" sz="2800" b="1" i="1" smtClean="0">
                        <a:latin typeface="Cambria Math" panose="02040503050406030204" pitchFamily="18" charset="0"/>
                      </a:rPr>
                      <m:t>𝒃</m:t>
                    </m:r>
                    <m:r>
                      <a:rPr lang="en-US" altLang="zh-CN" sz="2800" b="0" i="1" smtClean="0">
                        <a:latin typeface="Cambria Math" panose="02040503050406030204" pitchFamily="18" charset="0"/>
                      </a:rPr>
                      <m:t>,</m:t>
                    </m:r>
                    <m:r>
                      <a:rPr lang="en-US" altLang="zh-CN" sz="2800" b="1" i="1" smtClean="0">
                        <a:latin typeface="Cambria Math" panose="02040503050406030204" pitchFamily="18" charset="0"/>
                      </a:rPr>
                      <m:t>𝒄</m:t>
                    </m:r>
                    <m:r>
                      <a:rPr lang="en-US" altLang="zh-CN" sz="2800" i="1">
                        <a:latin typeface="Cambria Math" panose="02040503050406030204" pitchFamily="18" charset="0"/>
                      </a:rPr>
                      <m:t>,</m:t>
                    </m:r>
                  </m:oMath>
                </a14:m>
                <a:r>
                  <a:rPr lang="zh-CN" altLang="en-US" sz="2800" dirty="0">
                    <a:latin typeface="Times New Roman" panose="02020603050405020304" pitchFamily="18" charset="0"/>
                    <a:cs typeface="Times New Roman" panose="02020603050405020304" pitchFamily="18" charset="0"/>
                  </a:rPr>
                  <a:t>称数量</a:t>
                </a:r>
              </a:p>
            </p:txBody>
          </p:sp>
        </mc:Choice>
        <mc:Fallback xmlns="">
          <p:sp>
            <p:nvSpPr>
              <p:cNvPr id="28691" name="Text Box 19"/>
              <p:cNvSpPr txBox="1">
                <a:spLocks noRot="1" noChangeAspect="1" noMove="1" noResize="1" noEditPoints="1" noAdjustHandles="1" noChangeArrowheads="1" noChangeShapeType="1" noTextEdit="1"/>
              </p:cNvSpPr>
              <p:nvPr/>
            </p:nvSpPr>
            <p:spPr bwMode="auto">
              <a:xfrm>
                <a:off x="2865684" y="2671921"/>
                <a:ext cx="6060602" cy="523220"/>
              </a:xfrm>
              <a:prstGeom prst="rect">
                <a:avLst/>
              </a:prstGeom>
              <a:blipFill>
                <a:blip r:embed="rId3"/>
                <a:stretch>
                  <a:fillRect l="-503" t="-15116" b="-2790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692" name="Rectangle 20"/>
              <p:cNvSpPr>
                <a:spLocks noChangeArrowheads="1"/>
              </p:cNvSpPr>
              <p:nvPr/>
            </p:nvSpPr>
            <p:spPr bwMode="auto">
              <a:xfrm>
                <a:off x="5197918" y="3313055"/>
                <a:ext cx="1905000"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m:t>
                      </m:r>
                      <m:r>
                        <a:rPr lang="zh-CN" altLang="en-US" sz="2800" b="1" i="1" smtClean="0">
                          <a:latin typeface="Cambria Math" panose="02040503050406030204" pitchFamily="18" charset="0"/>
                        </a:rPr>
                        <m:t>𝒂</m:t>
                      </m:r>
                      <m:r>
                        <a:rPr lang="en-US" altLang="zh-CN" sz="2800" i="1">
                          <a:latin typeface="Cambria Math" panose="02040503050406030204" pitchFamily="18" charset="0"/>
                          <a:ea typeface="Cambria Math" panose="02040503050406030204" pitchFamily="18" charset="0"/>
                        </a:rPr>
                        <m:t>×</m:t>
                      </m:r>
                      <m:r>
                        <a:rPr lang="zh-CN" altLang="en-US" sz="2800" b="1" i="1" smtClean="0">
                          <a:latin typeface="Cambria Math" panose="02040503050406030204" pitchFamily="18" charset="0"/>
                        </a:rPr>
                        <m:t>𝒃</m:t>
                      </m:r>
                      <m:r>
                        <a:rPr lang="en-US" altLang="zh-CN" sz="2800" b="0" i="1" smtClean="0">
                          <a:latin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m:t>
                      </m:r>
                      <m:r>
                        <a:rPr lang="en-US" altLang="zh-CN" sz="2800" b="1" i="1" smtClean="0">
                          <a:latin typeface="Cambria Math" panose="02040503050406030204" pitchFamily="18" charset="0"/>
                          <a:ea typeface="Cambria Math" panose="02040503050406030204" pitchFamily="18" charset="0"/>
                        </a:rPr>
                        <m:t>𝒄</m:t>
                      </m:r>
                    </m:oMath>
                  </m:oMathPara>
                </a14:m>
                <a:endParaRPr lang="en-US" altLang="zh-CN" sz="2800" b="1" dirty="0">
                  <a:latin typeface="Cambria Math" panose="02040503050406030204" pitchFamily="18" charset="0"/>
                </a:endParaRPr>
              </a:p>
            </p:txBody>
          </p:sp>
        </mc:Choice>
        <mc:Fallback xmlns="">
          <p:sp>
            <p:nvSpPr>
              <p:cNvPr id="28692" name="Rectangle 20"/>
              <p:cNvSpPr>
                <a:spLocks noRot="1" noChangeAspect="1" noMove="1" noResize="1" noEditPoints="1" noAdjustHandles="1" noChangeArrowheads="1" noChangeShapeType="1" noTextEdit="1"/>
              </p:cNvSpPr>
              <p:nvPr/>
            </p:nvSpPr>
            <p:spPr bwMode="auto">
              <a:xfrm>
                <a:off x="5197918" y="3313055"/>
                <a:ext cx="1905000" cy="523220"/>
              </a:xfrm>
              <a:prstGeom prst="rect">
                <a:avLst/>
              </a:prstGeom>
              <a:blipFill>
                <a:blip r:embed="rId4"/>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693" name="Rectangle 21"/>
              <p:cNvSpPr>
                <a:spLocks noChangeArrowheads="1"/>
              </p:cNvSpPr>
              <p:nvPr/>
            </p:nvSpPr>
            <p:spPr bwMode="auto">
              <a:xfrm>
                <a:off x="2936023" y="3981793"/>
                <a:ext cx="6703277"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r>
                  <a:rPr lang="zh-CN" altLang="en-US" sz="2800" dirty="0">
                    <a:latin typeface="Times New Roman" panose="02020603050405020304" pitchFamily="18" charset="0"/>
                    <a:cs typeface="Times New Roman" panose="02020603050405020304" pitchFamily="18" charset="0"/>
                  </a:rPr>
                  <a:t>为三个向量的混合积，记作</a:t>
                </a:r>
                <a14:m>
                  <m:oMath xmlns:m="http://schemas.openxmlformats.org/officeDocument/2006/math">
                    <m:d>
                      <m:dPr>
                        <m:begChr m:val="["/>
                        <m:endChr m:val="]"/>
                        <m:ctrlPr>
                          <a:rPr lang="en-US" altLang="zh-CN" sz="2800" b="0" i="1" smtClean="0">
                            <a:latin typeface="Cambria Math" panose="02040503050406030204" pitchFamily="18" charset="0"/>
                          </a:rPr>
                        </m:ctrlPr>
                      </m:dPr>
                      <m:e>
                        <m:r>
                          <a:rPr lang="zh-CN" altLang="en-US" sz="2800" b="1" i="1">
                            <a:latin typeface="Cambria Math" panose="02040503050406030204" pitchFamily="18" charset="0"/>
                          </a:rPr>
                          <m:t>𝒂</m:t>
                        </m:r>
                        <m:r>
                          <a:rPr lang="en-US" altLang="zh-CN" sz="2800" i="1">
                            <a:latin typeface="Cambria Math" panose="02040503050406030204" pitchFamily="18" charset="0"/>
                          </a:rPr>
                          <m:t>,</m:t>
                        </m:r>
                        <m:r>
                          <a:rPr lang="en-US" altLang="zh-CN" sz="2800" b="1" i="1">
                            <a:latin typeface="Cambria Math" panose="02040503050406030204" pitchFamily="18" charset="0"/>
                          </a:rPr>
                          <m:t>𝒃</m:t>
                        </m:r>
                        <m:r>
                          <a:rPr lang="en-US" altLang="zh-CN" sz="2800" i="1">
                            <a:latin typeface="Cambria Math" panose="02040503050406030204" pitchFamily="18" charset="0"/>
                          </a:rPr>
                          <m:t>,</m:t>
                        </m:r>
                        <m:r>
                          <a:rPr lang="en-US" altLang="zh-CN" sz="2800" b="1" i="1">
                            <a:latin typeface="Cambria Math" panose="02040503050406030204" pitchFamily="18" charset="0"/>
                          </a:rPr>
                          <m:t>𝒄</m:t>
                        </m:r>
                      </m:e>
                    </m:d>
                    <m:r>
                      <a:rPr lang="en-US" altLang="zh-CN" sz="2800" b="0" i="0" smtClean="0">
                        <a:latin typeface="Cambria Math" panose="02040503050406030204" pitchFamily="18" charset="0"/>
                      </a:rPr>
                      <m:t> , </m:t>
                    </m:r>
                  </m:oMath>
                </a14:m>
                <a:r>
                  <a:rPr lang="zh-CN" altLang="en-US" sz="2800" dirty="0">
                    <a:latin typeface="Times New Roman" panose="02020603050405020304" pitchFamily="18" charset="0"/>
                    <a:cs typeface="Times New Roman" panose="02020603050405020304" pitchFamily="18" charset="0"/>
                  </a:rPr>
                  <a:t>即</a:t>
                </a:r>
              </a:p>
            </p:txBody>
          </p:sp>
        </mc:Choice>
        <mc:Fallback xmlns="">
          <p:sp>
            <p:nvSpPr>
              <p:cNvPr id="28693" name="Rectangle 21"/>
              <p:cNvSpPr>
                <a:spLocks noRot="1" noChangeAspect="1" noMove="1" noResize="1" noEditPoints="1" noAdjustHandles="1" noChangeArrowheads="1" noChangeShapeType="1" noTextEdit="1"/>
              </p:cNvSpPr>
              <p:nvPr/>
            </p:nvSpPr>
            <p:spPr bwMode="auto">
              <a:xfrm>
                <a:off x="2936023" y="3981793"/>
                <a:ext cx="6703277" cy="523220"/>
              </a:xfrm>
              <a:prstGeom prst="rect">
                <a:avLst/>
              </a:prstGeom>
              <a:blipFill>
                <a:blip r:embed="rId5"/>
                <a:stretch>
                  <a:fillRect l="-1911" t="-15116" b="-2790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694" name="Rectangle 22"/>
              <p:cNvSpPr>
                <a:spLocks noChangeArrowheads="1"/>
              </p:cNvSpPr>
              <p:nvPr/>
            </p:nvSpPr>
            <p:spPr bwMode="auto">
              <a:xfrm>
                <a:off x="4433186" y="4684655"/>
                <a:ext cx="3434464"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800" b="1" i="1" smtClean="0">
                              <a:latin typeface="Cambria Math" panose="02040503050406030204" pitchFamily="18" charset="0"/>
                            </a:rPr>
                          </m:ctrlPr>
                        </m:dPr>
                        <m:e>
                          <m:r>
                            <a:rPr lang="zh-CN" altLang="en-US" sz="2800" b="1" i="1">
                              <a:latin typeface="Cambria Math" panose="02040503050406030204" pitchFamily="18" charset="0"/>
                            </a:rPr>
                            <m:t>𝒂</m:t>
                          </m:r>
                          <m:r>
                            <a:rPr lang="en-US" altLang="zh-CN" sz="2800" b="1" i="1">
                              <a:latin typeface="Cambria Math" panose="02040503050406030204" pitchFamily="18" charset="0"/>
                            </a:rPr>
                            <m:t>,</m:t>
                          </m:r>
                          <m:r>
                            <a:rPr lang="en-US" altLang="zh-CN" sz="2800" b="1" i="1">
                              <a:latin typeface="Cambria Math" panose="02040503050406030204" pitchFamily="18" charset="0"/>
                            </a:rPr>
                            <m:t>𝒃</m:t>
                          </m:r>
                          <m:r>
                            <a:rPr lang="en-US" altLang="zh-CN" sz="2800" b="1" i="1">
                              <a:latin typeface="Cambria Math" panose="02040503050406030204" pitchFamily="18" charset="0"/>
                            </a:rPr>
                            <m:t>,</m:t>
                          </m:r>
                          <m:r>
                            <a:rPr lang="en-US" altLang="zh-CN" sz="2800" b="1" i="1">
                              <a:latin typeface="Cambria Math" panose="02040503050406030204" pitchFamily="18" charset="0"/>
                            </a:rPr>
                            <m:t>𝒄</m:t>
                          </m:r>
                        </m:e>
                      </m:d>
                      <m:r>
                        <a:rPr lang="en-US" altLang="zh-CN" sz="2800" b="0" i="1" smtClean="0">
                          <a:latin typeface="Cambria Math" panose="02040503050406030204" pitchFamily="18" charset="0"/>
                        </a:rPr>
                        <m:t>=</m:t>
                      </m:r>
                      <m:d>
                        <m:dPr>
                          <m:ctrlPr>
                            <a:rPr lang="en-US" altLang="zh-CN" sz="2800" b="1" i="1">
                              <a:latin typeface="Cambria Math" panose="02040503050406030204" pitchFamily="18" charset="0"/>
                            </a:rPr>
                          </m:ctrlPr>
                        </m:dPr>
                        <m:e>
                          <m:r>
                            <a:rPr lang="zh-CN" altLang="en-US" sz="2800" b="1" i="1">
                              <a:latin typeface="Cambria Math" panose="02040503050406030204" pitchFamily="18" charset="0"/>
                            </a:rPr>
                            <m:t>𝒂</m:t>
                          </m:r>
                          <m:r>
                            <a:rPr lang="en-US" altLang="zh-CN" sz="2800" b="1" i="1">
                              <a:latin typeface="Cambria Math" panose="02040503050406030204" pitchFamily="18" charset="0"/>
                              <a:ea typeface="Cambria Math" panose="02040503050406030204" pitchFamily="18" charset="0"/>
                            </a:rPr>
                            <m:t>×</m:t>
                          </m:r>
                          <m:r>
                            <a:rPr lang="zh-CN" altLang="en-US" sz="2800" b="1" i="1">
                              <a:latin typeface="Cambria Math" panose="02040503050406030204" pitchFamily="18" charset="0"/>
                            </a:rPr>
                            <m:t>𝒃</m:t>
                          </m:r>
                        </m:e>
                      </m:d>
                      <m:r>
                        <a:rPr lang="en-US" altLang="zh-CN" sz="2800" i="1">
                          <a:latin typeface="Cambria Math" panose="02040503050406030204" pitchFamily="18" charset="0"/>
                          <a:ea typeface="Cambria Math" panose="02040503050406030204" pitchFamily="18" charset="0"/>
                        </a:rPr>
                        <m:t>∙</m:t>
                      </m:r>
                      <m:r>
                        <a:rPr lang="en-US" altLang="zh-CN" sz="2800" b="1" i="1">
                          <a:latin typeface="Cambria Math" panose="02040503050406030204" pitchFamily="18" charset="0"/>
                          <a:ea typeface="Cambria Math" panose="02040503050406030204" pitchFamily="18" charset="0"/>
                        </a:rPr>
                        <m:t>𝒄</m:t>
                      </m:r>
                      <m:r>
                        <a:rPr lang="en-US" altLang="zh-CN" sz="2800" b="0" i="0" smtClean="0">
                          <a:latin typeface="Cambria Math" panose="02040503050406030204" pitchFamily="18" charset="0"/>
                          <a:ea typeface="Cambria Math" panose="02040503050406030204" pitchFamily="18" charset="0"/>
                        </a:rPr>
                        <m:t>.</m:t>
                      </m:r>
                    </m:oMath>
                  </m:oMathPara>
                </a14:m>
                <a:endParaRPr lang="en-US" altLang="zh-CN" sz="2800" dirty="0">
                  <a:latin typeface="Cambria Math" panose="02040503050406030204" pitchFamily="18" charset="0"/>
                </a:endParaRPr>
              </a:p>
            </p:txBody>
          </p:sp>
        </mc:Choice>
        <mc:Fallback xmlns="">
          <p:sp>
            <p:nvSpPr>
              <p:cNvPr id="28694" name="Rectangle 22"/>
              <p:cNvSpPr>
                <a:spLocks noRot="1" noChangeAspect="1" noMove="1" noResize="1" noEditPoints="1" noAdjustHandles="1" noChangeArrowheads="1" noChangeShapeType="1" noTextEdit="1"/>
              </p:cNvSpPr>
              <p:nvPr/>
            </p:nvSpPr>
            <p:spPr bwMode="auto">
              <a:xfrm>
                <a:off x="4433186" y="4684655"/>
                <a:ext cx="3434464" cy="523220"/>
              </a:xfrm>
              <a:prstGeom prst="rect">
                <a:avLst/>
              </a:prstGeom>
              <a:blipFill>
                <a:blip r:embed="rId6"/>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extLst>
      <p:ext uri="{BB962C8B-B14F-4D97-AF65-F5344CB8AC3E}">
        <p14:creationId xmlns:p14="http://schemas.microsoft.com/office/powerpoint/2010/main" val="3160527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676"/>
                                        </p:tgtEl>
                                        <p:attrNameLst>
                                          <p:attrName>style.visibility</p:attrName>
                                        </p:attrNameLst>
                                      </p:cBhvr>
                                      <p:to>
                                        <p:strVal val="visible"/>
                                      </p:to>
                                    </p:set>
                                    <p:animEffect transition="in" filter="wipe(left)">
                                      <p:cBhvr>
                                        <p:cTn id="7" dur="500"/>
                                        <p:tgtEl>
                                          <p:spTgt spid="2867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690"/>
                                        </p:tgtEl>
                                        <p:attrNameLst>
                                          <p:attrName>style.visibility</p:attrName>
                                        </p:attrNameLst>
                                      </p:cBhvr>
                                      <p:to>
                                        <p:strVal val="visible"/>
                                      </p:to>
                                    </p:set>
                                    <p:animEffect transition="in" filter="wipe(left)">
                                      <p:cBhvr>
                                        <p:cTn id="12" dur="500"/>
                                        <p:tgtEl>
                                          <p:spTgt spid="2869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left)">
                                      <p:cBhvr>
                                        <p:cTn id="20" dur="500"/>
                                        <p:tgtEl>
                                          <p:spTgt spid="3"/>
                                        </p:tgtEl>
                                      </p:cBhvr>
                                    </p:animEffect>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28691"/>
                                        </p:tgtEl>
                                        <p:attrNameLst>
                                          <p:attrName>style.visibility</p:attrName>
                                        </p:attrNameLst>
                                      </p:cBhvr>
                                      <p:to>
                                        <p:strVal val="visible"/>
                                      </p:to>
                                    </p:set>
                                    <p:animEffect transition="in" filter="wipe(left)">
                                      <p:cBhvr>
                                        <p:cTn id="24" dur="500"/>
                                        <p:tgtEl>
                                          <p:spTgt spid="2869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8692"/>
                                        </p:tgtEl>
                                        <p:attrNameLst>
                                          <p:attrName>style.visibility</p:attrName>
                                        </p:attrNameLst>
                                      </p:cBhvr>
                                      <p:to>
                                        <p:strVal val="visible"/>
                                      </p:to>
                                    </p:set>
                                    <p:animEffect transition="in" filter="wipe(left)">
                                      <p:cBhvr>
                                        <p:cTn id="29" dur="500"/>
                                        <p:tgtEl>
                                          <p:spTgt spid="2869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8693"/>
                                        </p:tgtEl>
                                        <p:attrNameLst>
                                          <p:attrName>style.visibility</p:attrName>
                                        </p:attrNameLst>
                                      </p:cBhvr>
                                      <p:to>
                                        <p:strVal val="visible"/>
                                      </p:to>
                                    </p:set>
                                    <p:animEffect transition="in" filter="wipe(left)">
                                      <p:cBhvr>
                                        <p:cTn id="34" dur="500"/>
                                        <p:tgtEl>
                                          <p:spTgt spid="2869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8694"/>
                                        </p:tgtEl>
                                        <p:attrNameLst>
                                          <p:attrName>style.visibility</p:attrName>
                                        </p:attrNameLst>
                                      </p:cBhvr>
                                      <p:to>
                                        <p:strVal val="visible"/>
                                      </p:to>
                                    </p:set>
                                    <p:animEffect transition="in" filter="wipe(left)">
                                      <p:cBhvr>
                                        <p:cTn id="39" dur="500"/>
                                        <p:tgtEl>
                                          <p:spTgt spid="286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4" grpId="1" animBg="1"/>
      <p:bldP spid="28676" grpId="0"/>
      <p:bldP spid="28690" grpId="0"/>
      <p:bldP spid="28691" grpId="0"/>
      <p:bldP spid="28692" grpId="0"/>
      <p:bldP spid="28693" grpId="0"/>
      <p:bldP spid="2869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9715" name="Text Box 19"/>
              <p:cNvSpPr txBox="1">
                <a:spLocks noChangeArrowheads="1"/>
              </p:cNvSpPr>
              <p:nvPr/>
            </p:nvSpPr>
            <p:spPr bwMode="auto">
              <a:xfrm>
                <a:off x="1674049" y="1425744"/>
                <a:ext cx="9603551" cy="57830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dirty="0">
                    <a:latin typeface="Times New Roman" panose="02020603050405020304" pitchFamily="18" charset="0"/>
                    <a:cs typeface="Times New Roman" panose="02020603050405020304" pitchFamily="18" charset="0"/>
                  </a:rPr>
                  <a:t>设</a:t>
                </a:r>
                <a14:m>
                  <m:oMath xmlns:m="http://schemas.openxmlformats.org/officeDocument/2006/math">
                    <m:acc>
                      <m:accPr>
                        <m:chr m:val="⃗"/>
                        <m:ctrlPr>
                          <a:rPr lang="zh-CN" altLang="en-US" sz="2800" i="1">
                            <a:latin typeface="Cambria Math" panose="02040503050406030204" pitchFamily="18" charset="0"/>
                          </a:rPr>
                        </m:ctrlPr>
                      </m:accPr>
                      <m:e>
                        <m:r>
                          <a:rPr lang="en-US" altLang="zh-CN" sz="2800" i="1">
                            <a:latin typeface="Cambria Math" panose="02040503050406030204" pitchFamily="18" charset="0"/>
                          </a:rPr>
                          <m:t>𝑂</m:t>
                        </m:r>
                        <m:r>
                          <a:rPr lang="en-US" altLang="zh-CN" sz="2800" i="1" smtClean="0">
                            <a:latin typeface="Cambria Math" panose="02040503050406030204" pitchFamily="18" charset="0"/>
                          </a:rPr>
                          <m:t>𝐴</m:t>
                        </m:r>
                      </m:e>
                    </m:acc>
                    <m:r>
                      <a:rPr lang="zh-CN" altLang="en-US" sz="2800" i="1">
                        <a:latin typeface="Cambria Math" panose="02040503050406030204" pitchFamily="18" charset="0"/>
                      </a:rPr>
                      <m:t>=</m:t>
                    </m:r>
                    <m:r>
                      <a:rPr lang="zh-CN" altLang="en-US" sz="2800" b="1" i="1">
                        <a:latin typeface="Cambria Math" panose="02040503050406030204" pitchFamily="18" charset="0"/>
                      </a:rPr>
                      <m:t>𝒂</m:t>
                    </m:r>
                    <m:r>
                      <a:rPr lang="en-US" altLang="zh-CN" sz="2800" i="1">
                        <a:latin typeface="Cambria Math" panose="02040503050406030204" pitchFamily="18" charset="0"/>
                      </a:rPr>
                      <m:t>,</m:t>
                    </m:r>
                    <m:acc>
                      <m:accPr>
                        <m:chr m:val="⃗"/>
                        <m:ctrlPr>
                          <a:rPr lang="zh-CN" altLang="en-US" sz="2800" i="1">
                            <a:latin typeface="Cambria Math" panose="02040503050406030204" pitchFamily="18" charset="0"/>
                          </a:rPr>
                        </m:ctrlPr>
                      </m:accPr>
                      <m:e>
                        <m:r>
                          <a:rPr lang="en-US" altLang="zh-CN" sz="2800" i="1">
                            <a:latin typeface="Cambria Math" panose="02040503050406030204" pitchFamily="18" charset="0"/>
                          </a:rPr>
                          <m:t>𝑂𝐵</m:t>
                        </m:r>
                      </m:e>
                    </m:acc>
                    <m:r>
                      <a:rPr lang="zh-CN" altLang="en-US" sz="2800" i="1">
                        <a:latin typeface="Cambria Math" panose="02040503050406030204" pitchFamily="18" charset="0"/>
                      </a:rPr>
                      <m:t>=</m:t>
                    </m:r>
                    <m:r>
                      <a:rPr lang="en-US" altLang="zh-CN" sz="2800" b="1" i="1">
                        <a:latin typeface="Cambria Math" panose="02040503050406030204" pitchFamily="18" charset="0"/>
                      </a:rPr>
                      <m:t>𝒃</m:t>
                    </m:r>
                    <m:r>
                      <a:rPr lang="en-US" altLang="zh-CN" sz="2800" i="1">
                        <a:latin typeface="Cambria Math" panose="02040503050406030204" pitchFamily="18" charset="0"/>
                      </a:rPr>
                      <m:t>,</m:t>
                    </m:r>
                    <m:acc>
                      <m:accPr>
                        <m:chr m:val="⃗"/>
                        <m:ctrlPr>
                          <a:rPr lang="zh-CN" altLang="en-US" sz="2800" i="1">
                            <a:latin typeface="Cambria Math" panose="02040503050406030204" pitchFamily="18" charset="0"/>
                          </a:rPr>
                        </m:ctrlPr>
                      </m:accPr>
                      <m:e>
                        <m:r>
                          <a:rPr lang="en-US" altLang="zh-CN" sz="2800" i="1">
                            <a:latin typeface="Cambria Math" panose="02040503050406030204" pitchFamily="18" charset="0"/>
                          </a:rPr>
                          <m:t>𝑂𝐶</m:t>
                        </m:r>
                      </m:e>
                    </m:acc>
                    <m:r>
                      <a:rPr lang="zh-CN" altLang="en-US" sz="2800" i="1">
                        <a:latin typeface="Cambria Math" panose="02040503050406030204" pitchFamily="18" charset="0"/>
                      </a:rPr>
                      <m:t>=</m:t>
                    </m:r>
                    <m:r>
                      <a:rPr lang="en-US" altLang="zh-CN" sz="2800" b="1" i="1">
                        <a:latin typeface="Cambria Math" panose="02040503050406030204" pitchFamily="18" charset="0"/>
                      </a:rPr>
                      <m:t>𝒄</m:t>
                    </m:r>
                  </m:oMath>
                </a14:m>
                <a:r>
                  <a:rPr lang="zh-CN" altLang="en-US" sz="2800" dirty="0">
                    <a:latin typeface="Times New Roman" panose="02020603050405020304" pitchFamily="18" charset="0"/>
                    <a:cs typeface="Times New Roman" panose="02020603050405020304" pitchFamily="18" charset="0"/>
                  </a:rPr>
                  <a:t>为三个向量，以这三个向量为棱，</a:t>
                </a:r>
              </a:p>
            </p:txBody>
          </p:sp>
        </mc:Choice>
        <mc:Fallback xmlns="">
          <p:sp>
            <p:nvSpPr>
              <p:cNvPr id="29715" name="Text Box 19"/>
              <p:cNvSpPr txBox="1">
                <a:spLocks noRot="1" noChangeAspect="1" noMove="1" noResize="1" noEditPoints="1" noAdjustHandles="1" noChangeArrowheads="1" noChangeShapeType="1" noTextEdit="1"/>
              </p:cNvSpPr>
              <p:nvPr/>
            </p:nvSpPr>
            <p:spPr bwMode="auto">
              <a:xfrm>
                <a:off x="1674049" y="1425744"/>
                <a:ext cx="9603551" cy="578300"/>
              </a:xfrm>
              <a:prstGeom prst="rect">
                <a:avLst/>
              </a:prstGeom>
              <a:blipFill>
                <a:blip r:embed="rId3"/>
                <a:stretch>
                  <a:fillRect l="-1333" t="-6316" r="-825" b="-2421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29718" name="Text Box 22"/>
          <p:cNvSpPr txBox="1">
            <a:spLocks noChangeArrowheads="1"/>
          </p:cNvSpPr>
          <p:nvPr/>
        </p:nvSpPr>
        <p:spPr bwMode="auto">
          <a:xfrm>
            <a:off x="1187450" y="852488"/>
            <a:ext cx="43370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800" b="1" dirty="0">
                <a:solidFill>
                  <a:srgbClr val="04926A"/>
                </a:solidFill>
                <a:latin typeface="微软雅黑" panose="020B0503020204020204" pitchFamily="34" charset="-122"/>
                <a:ea typeface="微软雅黑" panose="020B0503020204020204" pitchFamily="34" charset="-122"/>
              </a:rPr>
              <a:t>2.  </a:t>
            </a:r>
            <a:r>
              <a:rPr kumimoji="1" lang="zh-CN" altLang="en-US" sz="2800" b="1" dirty="0">
                <a:solidFill>
                  <a:srgbClr val="04926A"/>
                </a:solidFill>
                <a:latin typeface="微软雅黑" panose="020B0503020204020204" pitchFamily="34" charset="-122"/>
                <a:ea typeface="微软雅黑" panose="020B0503020204020204" pitchFamily="34" charset="-122"/>
              </a:rPr>
              <a:t>混合积的几何意义</a:t>
            </a:r>
          </a:p>
        </p:txBody>
      </p:sp>
      <p:sp>
        <p:nvSpPr>
          <p:cNvPr id="29719" name="Rectangle 23"/>
          <p:cNvSpPr>
            <a:spLocks noChangeArrowheads="1"/>
          </p:cNvSpPr>
          <p:nvPr/>
        </p:nvSpPr>
        <p:spPr bwMode="auto">
          <a:xfrm>
            <a:off x="1729653" y="2080894"/>
            <a:ext cx="690389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800" dirty="0">
                <a:latin typeface="Times New Roman" panose="02020603050405020304" pitchFamily="18" charset="0"/>
                <a:cs typeface="Times New Roman" panose="02020603050405020304" pitchFamily="18" charset="0"/>
              </a:rPr>
              <a:t>可作一平行六面体，</a:t>
            </a:r>
          </a:p>
        </p:txBody>
      </p:sp>
      <p:sp>
        <p:nvSpPr>
          <p:cNvPr id="29733" name="Text Box 37"/>
          <p:cNvSpPr txBox="1">
            <a:spLocks noChangeArrowheads="1"/>
          </p:cNvSpPr>
          <p:nvPr/>
        </p:nvSpPr>
        <p:spPr bwMode="auto">
          <a:xfrm>
            <a:off x="4763589" y="2113438"/>
            <a:ext cx="68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dirty="0">
                <a:latin typeface="Times New Roman" panose="02020603050405020304" pitchFamily="18" charset="0"/>
                <a:cs typeface="Times New Roman" panose="02020603050405020304" pitchFamily="18" charset="0"/>
              </a:rPr>
              <a:t>则</a:t>
            </a:r>
          </a:p>
        </p:txBody>
      </p:sp>
      <p:sp>
        <p:nvSpPr>
          <p:cNvPr id="29734" name="Text Box 38"/>
          <p:cNvSpPr txBox="1">
            <a:spLocks noChangeArrowheads="1"/>
          </p:cNvSpPr>
          <p:nvPr/>
        </p:nvSpPr>
        <p:spPr bwMode="auto">
          <a:xfrm>
            <a:off x="1674050" y="2721144"/>
            <a:ext cx="4114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dirty="0">
                <a:latin typeface="Times New Roman" panose="02020603050405020304" pitchFamily="18" charset="0"/>
                <a:cs typeface="Times New Roman" panose="02020603050405020304" pitchFamily="18" charset="0"/>
              </a:rPr>
              <a:t>该平行六面体的体积</a:t>
            </a:r>
          </a:p>
        </p:txBody>
      </p:sp>
      <mc:AlternateContent xmlns:mc="http://schemas.openxmlformats.org/markup-compatibility/2006" xmlns:a14="http://schemas.microsoft.com/office/drawing/2010/main">
        <mc:Choice Requires="a14">
          <p:sp>
            <p:nvSpPr>
              <p:cNvPr id="29735" name="Rectangle 39"/>
              <p:cNvSpPr>
                <a:spLocks noChangeArrowheads="1"/>
              </p:cNvSpPr>
              <p:nvPr/>
            </p:nvSpPr>
            <p:spPr bwMode="auto">
              <a:xfrm>
                <a:off x="2667000" y="3379043"/>
                <a:ext cx="2272122"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14:m>
                  <m:oMathPara xmlns:m="http://schemas.openxmlformats.org/officeDocument/2006/math">
                    <m:oMathParaPr>
                      <m:jc m:val="left"/>
                    </m:oMathParaPr>
                    <m:oMath xmlns:m="http://schemas.openxmlformats.org/officeDocument/2006/math">
                      <m:r>
                        <a:rPr lang="en-US" altLang="zh-CN" sz="2800" b="0" i="1" dirty="0" smtClean="0">
                          <a:latin typeface="Cambria Math" panose="02040503050406030204" pitchFamily="18" charset="0"/>
                        </a:rPr>
                        <m:t>𝑉</m:t>
                      </m:r>
                      <m:r>
                        <a:rPr lang="en-US" altLang="zh-CN" sz="2800" b="0" i="0" dirty="0" smtClean="0">
                          <a:latin typeface="Cambria Math" panose="02040503050406030204" pitchFamily="18" charset="0"/>
                        </a:rPr>
                        <m:t>=|</m:t>
                      </m:r>
                      <m:d>
                        <m:dPr>
                          <m:begChr m:val="["/>
                          <m:endChr m:val="]"/>
                          <m:ctrlPr>
                            <a:rPr lang="en-US" altLang="zh-CN" sz="2800" b="1" i="1" dirty="0">
                              <a:latin typeface="Cambria Math" panose="02040503050406030204" pitchFamily="18" charset="0"/>
                            </a:rPr>
                          </m:ctrlPr>
                        </m:dPr>
                        <m:e>
                          <m:r>
                            <a:rPr lang="zh-CN" altLang="en-US" sz="2800" b="1" i="1">
                              <a:latin typeface="Cambria Math" panose="02040503050406030204" pitchFamily="18" charset="0"/>
                            </a:rPr>
                            <m:t>𝒂</m:t>
                          </m:r>
                          <m:r>
                            <a:rPr lang="en-US" altLang="zh-CN" sz="2800" b="1" i="0" smtClean="0">
                              <a:latin typeface="Cambria Math" panose="02040503050406030204" pitchFamily="18" charset="0"/>
                            </a:rPr>
                            <m:t> </m:t>
                          </m:r>
                          <m:r>
                            <a:rPr lang="zh-CN" altLang="en-US" sz="2800" b="1" i="1">
                              <a:latin typeface="Cambria Math" panose="02040503050406030204" pitchFamily="18" charset="0"/>
                            </a:rPr>
                            <m:t>𝒃</m:t>
                          </m:r>
                          <m:r>
                            <a:rPr lang="en-US" altLang="zh-CN" sz="2800" b="1" i="0" smtClean="0">
                              <a:latin typeface="Cambria Math" panose="02040503050406030204" pitchFamily="18" charset="0"/>
                            </a:rPr>
                            <m:t> </m:t>
                          </m:r>
                          <m:r>
                            <a:rPr lang="en-US" altLang="zh-CN" sz="2800" b="1" i="1">
                              <a:latin typeface="Cambria Math" panose="02040503050406030204" pitchFamily="18" charset="0"/>
                            </a:rPr>
                            <m:t>𝒄</m:t>
                          </m:r>
                        </m:e>
                      </m:d>
                      <m:r>
                        <a:rPr lang="en-US" altLang="zh-CN" sz="2800" b="0" i="0" smtClean="0">
                          <a:latin typeface="Cambria Math" panose="02040503050406030204" pitchFamily="18" charset="0"/>
                        </a:rPr>
                        <m:t>|.</m:t>
                      </m:r>
                    </m:oMath>
                  </m:oMathPara>
                </a14:m>
                <a:endParaRPr lang="en-US" altLang="zh-CN" sz="2800" dirty="0">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mc:Choice>
        <mc:Fallback xmlns="">
          <p:sp>
            <p:nvSpPr>
              <p:cNvPr id="29735" name="Rectangle 39"/>
              <p:cNvSpPr>
                <a:spLocks noRot="1" noChangeAspect="1" noMove="1" noResize="1" noEditPoints="1" noAdjustHandles="1" noChangeArrowheads="1" noChangeShapeType="1" noTextEdit="1"/>
              </p:cNvSpPr>
              <p:nvPr/>
            </p:nvSpPr>
            <p:spPr bwMode="auto">
              <a:xfrm>
                <a:off x="2667000" y="3379043"/>
                <a:ext cx="2272122" cy="523220"/>
              </a:xfrm>
              <a:prstGeom prst="rect">
                <a:avLst/>
              </a:prstGeom>
              <a:blipFill>
                <a:blip r:embed="rId13"/>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736" name="Text Box 40"/>
              <p:cNvSpPr txBox="1">
                <a:spLocks noChangeArrowheads="1"/>
              </p:cNvSpPr>
              <p:nvPr/>
            </p:nvSpPr>
            <p:spPr bwMode="auto">
              <a:xfrm>
                <a:off x="1674050" y="4092744"/>
                <a:ext cx="4016044"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dirty="0">
                    <a:latin typeface="Times New Roman" panose="02020603050405020304" pitchFamily="18" charset="0"/>
                    <a:cs typeface="Times New Roman" panose="02020603050405020304" pitchFamily="18" charset="0"/>
                  </a:rPr>
                  <a:t>因为底面积 </a:t>
                </a:r>
                <a14:m>
                  <m:oMath xmlns:m="http://schemas.openxmlformats.org/officeDocument/2006/math">
                    <m:r>
                      <a:rPr lang="en-US" altLang="zh-CN" sz="2800" b="0" i="1" dirty="0" smtClean="0">
                        <a:latin typeface="Cambria Math" panose="02040503050406030204" pitchFamily="18" charset="0"/>
                      </a:rPr>
                      <m:t>𝐴</m:t>
                    </m:r>
                    <m:r>
                      <a:rPr lang="en-US" altLang="zh-CN" sz="2800" i="1" dirty="0">
                        <a:latin typeface="Cambria Math" panose="02040503050406030204" pitchFamily="18" charset="0"/>
                      </a:rPr>
                      <m:t>=</m:t>
                    </m:r>
                    <m:d>
                      <m:dPr>
                        <m:begChr m:val="|"/>
                        <m:endChr m:val="|"/>
                        <m:ctrlPr>
                          <a:rPr lang="en-US" altLang="zh-CN" sz="2800" b="1" i="1" dirty="0">
                            <a:latin typeface="Cambria Math" panose="02040503050406030204" pitchFamily="18" charset="0"/>
                          </a:rPr>
                        </m:ctrlPr>
                      </m:dPr>
                      <m:e>
                        <m:r>
                          <a:rPr lang="zh-CN" altLang="en-US" sz="2800" b="1" i="1">
                            <a:latin typeface="Cambria Math" panose="02040503050406030204" pitchFamily="18" charset="0"/>
                          </a:rPr>
                          <m:t>𝒂</m:t>
                        </m:r>
                        <m:r>
                          <a:rPr lang="en-US" altLang="zh-CN" sz="2800" b="1" i="1">
                            <a:latin typeface="Cambria Math" panose="02040503050406030204" pitchFamily="18" charset="0"/>
                            <a:ea typeface="Cambria Math" panose="02040503050406030204" pitchFamily="18" charset="0"/>
                          </a:rPr>
                          <m:t>×</m:t>
                        </m:r>
                        <m:r>
                          <a:rPr lang="zh-CN" altLang="en-US" sz="2800" b="1" i="1">
                            <a:latin typeface="Cambria Math" panose="02040503050406030204" pitchFamily="18" charset="0"/>
                          </a:rPr>
                          <m:t>𝒃</m:t>
                        </m:r>
                      </m:e>
                    </m:d>
                    <m:r>
                      <a:rPr lang="en-US" altLang="zh-CN" sz="2800" b="0" i="1" smtClean="0">
                        <a:latin typeface="Cambria Math" panose="02040503050406030204" pitchFamily="18" charset="0"/>
                      </a:rPr>
                      <m:t>,</m:t>
                    </m:r>
                  </m:oMath>
                </a14:m>
                <a:endParaRPr lang="zh-CN" altLang="en-US" sz="2800" dirty="0">
                  <a:latin typeface="Cambria Math" panose="02040503050406030204" pitchFamily="18" charset="0"/>
                </a:endParaRPr>
              </a:p>
            </p:txBody>
          </p:sp>
        </mc:Choice>
        <mc:Fallback xmlns="">
          <p:sp>
            <p:nvSpPr>
              <p:cNvPr id="29736" name="Text Box 40"/>
              <p:cNvSpPr txBox="1">
                <a:spLocks noRot="1" noChangeAspect="1" noMove="1" noResize="1" noEditPoints="1" noAdjustHandles="1" noChangeArrowheads="1" noChangeShapeType="1" noTextEdit="1"/>
              </p:cNvSpPr>
              <p:nvPr/>
            </p:nvSpPr>
            <p:spPr bwMode="auto">
              <a:xfrm>
                <a:off x="1674050" y="4092744"/>
                <a:ext cx="4016044" cy="523220"/>
              </a:xfrm>
              <a:prstGeom prst="rect">
                <a:avLst/>
              </a:prstGeom>
              <a:blipFill>
                <a:blip r:embed="rId14"/>
                <a:stretch>
                  <a:fillRect l="-3191" t="-15116" b="-2790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737" name="Rectangle 41"/>
              <p:cNvSpPr>
                <a:spLocks noChangeArrowheads="1"/>
              </p:cNvSpPr>
              <p:nvPr/>
            </p:nvSpPr>
            <p:spPr bwMode="auto">
              <a:xfrm>
                <a:off x="1674050" y="4716631"/>
                <a:ext cx="2840800"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r>
                  <a:rPr lang="zh-CN" altLang="en-US" sz="2800" dirty="0">
                    <a:latin typeface="Times New Roman" panose="02020603050405020304" pitchFamily="18" charset="0"/>
                    <a:cs typeface="Times New Roman" panose="02020603050405020304" pitchFamily="18" charset="0"/>
                  </a:rPr>
                  <a:t>高 </a:t>
                </a:r>
                <a14:m>
                  <m:oMath xmlns:m="http://schemas.openxmlformats.org/officeDocument/2006/math">
                    <m:r>
                      <a:rPr lang="en-US" altLang="zh-CN" sz="2800" i="1">
                        <a:latin typeface="Cambria Math" panose="02040503050406030204" pitchFamily="18" charset="0"/>
                      </a:rPr>
                      <m:t>h</m:t>
                    </m:r>
                    <m:r>
                      <a:rPr lang="en-US" altLang="zh-CN" sz="2800" i="1">
                        <a:latin typeface="Cambria Math" panose="02040503050406030204" pitchFamily="18" charset="0"/>
                      </a:rPr>
                      <m:t>=</m:t>
                    </m:r>
                    <m:d>
                      <m:dPr>
                        <m:begChr m:val="|"/>
                        <m:endChr m:val="|"/>
                        <m:ctrlPr>
                          <a:rPr lang="en-US" altLang="zh-CN" sz="2800" b="1" i="1">
                            <a:latin typeface="Cambria Math" panose="02040503050406030204" pitchFamily="18" charset="0"/>
                          </a:rPr>
                        </m:ctrlPr>
                      </m:dPr>
                      <m:e>
                        <m:r>
                          <a:rPr lang="en-US" altLang="zh-CN" sz="2800" b="1" i="1" smtClean="0">
                            <a:latin typeface="Cambria Math" panose="02040503050406030204" pitchFamily="18" charset="0"/>
                          </a:rPr>
                          <m:t>𝒄</m:t>
                        </m:r>
                      </m:e>
                    </m:d>
                    <m:d>
                      <m:dPr>
                        <m:begChr m:val="|"/>
                        <m:endChr m:val="|"/>
                        <m:ctrlPr>
                          <a:rPr lang="en-US" altLang="zh-CN" sz="2800" b="0" i="1" smtClean="0">
                            <a:latin typeface="Cambria Math" panose="02040503050406030204" pitchFamily="18" charset="0"/>
                          </a:rPr>
                        </m:ctrlPr>
                      </m:dPr>
                      <m:e>
                        <m:r>
                          <m:rPr>
                            <m:sty m:val="p"/>
                          </m:rPr>
                          <a:rPr lang="en-US" altLang="zh-CN" sz="2800" b="0" i="0" smtClean="0">
                            <a:latin typeface="Cambria Math" panose="02040503050406030204" pitchFamily="18" charset="0"/>
                          </a:rPr>
                          <m:t>cos</m:t>
                        </m:r>
                        <m:r>
                          <a:rPr lang="en-US" altLang="zh-CN" sz="2800" b="0" i="1" smtClean="0">
                            <a:latin typeface="Cambria Math" panose="02040503050406030204" pitchFamily="18" charset="0"/>
                          </a:rPr>
                          <m:t> </m:t>
                        </m:r>
                        <m:r>
                          <a:rPr lang="zh-CN" altLang="en-US" sz="2800" i="1">
                            <a:latin typeface="Cambria Math" panose="02040503050406030204" pitchFamily="18" charset="0"/>
                            <a:ea typeface="Cambria Math" panose="02040503050406030204" pitchFamily="18" charset="0"/>
                          </a:rPr>
                          <m:t>𝜃</m:t>
                        </m:r>
                      </m:e>
                    </m:d>
                    <m:r>
                      <a:rPr lang="en-US" altLang="zh-CN" sz="2800" b="0" i="1" smtClean="0">
                        <a:latin typeface="Cambria Math" panose="02040503050406030204" pitchFamily="18" charset="0"/>
                        <a:ea typeface="Cambria Math" panose="02040503050406030204" pitchFamily="18" charset="0"/>
                      </a:rPr>
                      <m:t>,</m:t>
                    </m:r>
                  </m:oMath>
                </a14:m>
                <a:endParaRPr lang="zh-CN" altLang="en-US" sz="2800" dirty="0">
                  <a:latin typeface="Cambria Math" panose="02040503050406030204" pitchFamily="18" charset="0"/>
                </a:endParaRPr>
              </a:p>
            </p:txBody>
          </p:sp>
        </mc:Choice>
        <mc:Fallback xmlns="">
          <p:sp>
            <p:nvSpPr>
              <p:cNvPr id="29737" name="Rectangle 41"/>
              <p:cNvSpPr>
                <a:spLocks noRot="1" noChangeAspect="1" noMove="1" noResize="1" noEditPoints="1" noAdjustHandles="1" noChangeArrowheads="1" noChangeShapeType="1" noTextEdit="1"/>
              </p:cNvSpPr>
              <p:nvPr/>
            </p:nvSpPr>
            <p:spPr bwMode="auto">
              <a:xfrm>
                <a:off x="1674050" y="4716631"/>
                <a:ext cx="2840800" cy="523220"/>
              </a:xfrm>
              <a:prstGeom prst="rect">
                <a:avLst/>
              </a:prstGeom>
              <a:blipFill>
                <a:blip r:embed="rId15"/>
                <a:stretch>
                  <a:fillRect l="-4506" t="-16279" b="-2790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738" name="Rectangle 42"/>
              <p:cNvSpPr>
                <a:spLocks noChangeArrowheads="1"/>
              </p:cNvSpPr>
              <p:nvPr/>
            </p:nvSpPr>
            <p:spPr bwMode="auto">
              <a:xfrm>
                <a:off x="1674050" y="5422140"/>
                <a:ext cx="8622323"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𝑉</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𝐴h</m:t>
                      </m:r>
                      <m:r>
                        <a:rPr lang="en-US" altLang="zh-CN" sz="2800" b="0" i="1" smtClean="0">
                          <a:latin typeface="Cambria Math" panose="02040503050406030204" pitchFamily="18" charset="0"/>
                        </a:rPr>
                        <m:t>=</m:t>
                      </m:r>
                      <m:d>
                        <m:dPr>
                          <m:begChr m:val="|"/>
                          <m:endChr m:val="|"/>
                          <m:ctrlPr>
                            <a:rPr lang="en-US" altLang="zh-CN" sz="2800" b="1" i="1" dirty="0">
                              <a:latin typeface="Cambria Math" panose="02040503050406030204" pitchFamily="18" charset="0"/>
                            </a:rPr>
                          </m:ctrlPr>
                        </m:dPr>
                        <m:e>
                          <m:r>
                            <a:rPr lang="zh-CN" altLang="en-US" sz="2800" b="1" i="1">
                              <a:latin typeface="Cambria Math" panose="02040503050406030204" pitchFamily="18" charset="0"/>
                            </a:rPr>
                            <m:t>𝒂</m:t>
                          </m:r>
                          <m:r>
                            <a:rPr lang="en-US" altLang="zh-CN" sz="2800" b="1" i="1">
                              <a:latin typeface="Cambria Math" panose="02040503050406030204" pitchFamily="18" charset="0"/>
                              <a:ea typeface="Cambria Math" panose="02040503050406030204" pitchFamily="18" charset="0"/>
                            </a:rPr>
                            <m:t>×</m:t>
                          </m:r>
                          <m:r>
                            <a:rPr lang="zh-CN" altLang="en-US" sz="2800" b="1" i="1">
                              <a:latin typeface="Cambria Math" panose="02040503050406030204" pitchFamily="18" charset="0"/>
                            </a:rPr>
                            <m:t>𝒃</m:t>
                          </m:r>
                        </m:e>
                      </m:d>
                      <m:r>
                        <a:rPr lang="en-US" altLang="zh-CN" sz="2800" b="1" i="0" smtClean="0">
                          <a:latin typeface="Cambria Math" panose="02040503050406030204" pitchFamily="18" charset="0"/>
                        </a:rPr>
                        <m:t> </m:t>
                      </m:r>
                      <m:d>
                        <m:dPr>
                          <m:begChr m:val="|"/>
                          <m:endChr m:val="|"/>
                          <m:ctrlPr>
                            <a:rPr lang="en-US" altLang="zh-CN" sz="2800" b="1" i="1" smtClean="0">
                              <a:latin typeface="Cambria Math" panose="02040503050406030204" pitchFamily="18" charset="0"/>
                            </a:rPr>
                          </m:ctrlPr>
                        </m:dPr>
                        <m:e>
                          <m:r>
                            <a:rPr lang="en-US" altLang="zh-CN" sz="2800" b="1" i="1">
                              <a:latin typeface="Cambria Math" panose="02040503050406030204" pitchFamily="18" charset="0"/>
                            </a:rPr>
                            <m:t>𝒄</m:t>
                          </m:r>
                        </m:e>
                      </m:d>
                      <m:r>
                        <a:rPr lang="en-US" altLang="zh-CN" sz="2800" b="1" i="1" smtClean="0">
                          <a:latin typeface="Cambria Math" panose="02040503050406030204" pitchFamily="18" charset="0"/>
                        </a:rPr>
                        <m:t> </m:t>
                      </m:r>
                      <m:d>
                        <m:dPr>
                          <m:begChr m:val="|"/>
                          <m:endChr m:val="|"/>
                          <m:ctrlPr>
                            <a:rPr lang="en-US" altLang="zh-CN" sz="2800" i="1">
                              <a:latin typeface="Cambria Math" panose="02040503050406030204" pitchFamily="18" charset="0"/>
                            </a:rPr>
                          </m:ctrlPr>
                        </m:dPr>
                        <m:e>
                          <m:r>
                            <m:rPr>
                              <m:sty m:val="p"/>
                            </m:rPr>
                            <a:rPr lang="en-US" altLang="zh-CN" sz="2800">
                              <a:latin typeface="Cambria Math" panose="02040503050406030204" pitchFamily="18" charset="0"/>
                            </a:rPr>
                            <m:t>cos</m:t>
                          </m:r>
                          <m:r>
                            <a:rPr lang="en-US" altLang="zh-CN" sz="2800" i="1">
                              <a:latin typeface="Cambria Math" panose="02040503050406030204" pitchFamily="18" charset="0"/>
                            </a:rPr>
                            <m:t> </m:t>
                          </m:r>
                          <m:r>
                            <a:rPr lang="zh-CN" altLang="en-US" sz="2800" i="1">
                              <a:latin typeface="Cambria Math" panose="02040503050406030204" pitchFamily="18" charset="0"/>
                              <a:ea typeface="Cambria Math" panose="02040503050406030204" pitchFamily="18" charset="0"/>
                            </a:rPr>
                            <m:t>𝜃</m:t>
                          </m:r>
                        </m:e>
                      </m:d>
                      <m:r>
                        <a:rPr lang="en-US" altLang="zh-CN" sz="2800" b="0" i="1" smtClean="0">
                          <a:latin typeface="Cambria Math" panose="02040503050406030204" pitchFamily="18" charset="0"/>
                          <a:ea typeface="Cambria Math" panose="02040503050406030204" pitchFamily="18" charset="0"/>
                        </a:rPr>
                        <m:t>=</m:t>
                      </m:r>
                      <m:d>
                        <m:dPr>
                          <m:begChr m:val="|"/>
                          <m:endChr m:val="|"/>
                          <m:ctrlPr>
                            <a:rPr lang="en-US" altLang="zh-CN" sz="2800" b="1" i="1" smtClean="0">
                              <a:latin typeface="Cambria Math" panose="02040503050406030204" pitchFamily="18" charset="0"/>
                              <a:ea typeface="Cambria Math" panose="02040503050406030204" pitchFamily="18" charset="0"/>
                            </a:rPr>
                          </m:ctrlPr>
                        </m:dPr>
                        <m:e>
                          <m:d>
                            <m:dPr>
                              <m:ctrlPr>
                                <a:rPr lang="en-US" altLang="zh-CN" sz="2800" b="1" i="1" smtClean="0">
                                  <a:latin typeface="Cambria Math" panose="02040503050406030204" pitchFamily="18" charset="0"/>
                                  <a:ea typeface="Cambria Math" panose="02040503050406030204" pitchFamily="18" charset="0"/>
                                </a:rPr>
                              </m:ctrlPr>
                            </m:dPr>
                            <m:e>
                              <m:r>
                                <a:rPr lang="en-US" altLang="zh-CN" sz="2800" b="1" i="1" smtClean="0">
                                  <a:latin typeface="Cambria Math" panose="02040503050406030204" pitchFamily="18" charset="0"/>
                                  <a:ea typeface="Cambria Math" panose="02040503050406030204" pitchFamily="18" charset="0"/>
                                </a:rPr>
                                <m:t>𝒂</m:t>
                              </m:r>
                              <m:r>
                                <a:rPr lang="en-US" altLang="zh-CN" sz="2800" b="1" i="1">
                                  <a:latin typeface="Cambria Math" panose="02040503050406030204" pitchFamily="18" charset="0"/>
                                  <a:ea typeface="Cambria Math" panose="02040503050406030204" pitchFamily="18" charset="0"/>
                                </a:rPr>
                                <m:t>×</m:t>
                              </m:r>
                              <m:r>
                                <a:rPr lang="en-US" altLang="zh-CN" sz="2800" b="1" i="1" smtClean="0">
                                  <a:latin typeface="Cambria Math" panose="02040503050406030204" pitchFamily="18" charset="0"/>
                                  <a:ea typeface="Cambria Math" panose="02040503050406030204" pitchFamily="18" charset="0"/>
                                </a:rPr>
                                <m:t>𝒃</m:t>
                              </m:r>
                            </m:e>
                          </m:d>
                          <m:r>
                            <a:rPr lang="en-US" altLang="zh-CN" sz="2800" b="1" i="1">
                              <a:latin typeface="Cambria Math" panose="02040503050406030204" pitchFamily="18" charset="0"/>
                              <a:ea typeface="Cambria Math" panose="02040503050406030204" pitchFamily="18" charset="0"/>
                            </a:rPr>
                            <m:t>∙</m:t>
                          </m:r>
                          <m:r>
                            <a:rPr lang="en-US" altLang="zh-CN" sz="2800" b="1" i="1" smtClean="0">
                              <a:latin typeface="Cambria Math" panose="02040503050406030204" pitchFamily="18" charset="0"/>
                              <a:ea typeface="Cambria Math" panose="02040503050406030204" pitchFamily="18" charset="0"/>
                            </a:rPr>
                            <m:t>𝒄</m:t>
                          </m:r>
                        </m:e>
                      </m:d>
                      <m:r>
                        <a:rPr lang="en-US" altLang="zh-CN" sz="2800" b="0" i="0" smtClean="0">
                          <a:latin typeface="Cambria Math" panose="02040503050406030204" pitchFamily="18" charset="0"/>
                          <a:ea typeface="Cambria Math" panose="02040503050406030204" pitchFamily="18" charset="0"/>
                        </a:rPr>
                        <m:t>=</m:t>
                      </m:r>
                      <m:d>
                        <m:dPr>
                          <m:begChr m:val="|"/>
                          <m:endChr m:val="|"/>
                          <m:ctrlPr>
                            <a:rPr lang="en-US" altLang="zh-CN" sz="2800" b="0" i="1" smtClean="0">
                              <a:latin typeface="Cambria Math" panose="02040503050406030204" pitchFamily="18" charset="0"/>
                              <a:ea typeface="Cambria Math" panose="02040503050406030204" pitchFamily="18" charset="0"/>
                            </a:rPr>
                          </m:ctrlPr>
                        </m:dPr>
                        <m:e>
                          <m:d>
                            <m:dPr>
                              <m:begChr m:val="["/>
                              <m:endChr m:val="]"/>
                              <m:ctrlPr>
                                <a:rPr lang="en-US" altLang="zh-CN" sz="2800" b="1" i="1" smtClean="0">
                                  <a:latin typeface="Cambria Math" panose="02040503050406030204" pitchFamily="18" charset="0"/>
                                  <a:ea typeface="Cambria Math" panose="02040503050406030204" pitchFamily="18" charset="0"/>
                                </a:rPr>
                              </m:ctrlPr>
                            </m:dPr>
                            <m:e>
                              <m:r>
                                <a:rPr lang="en-US" altLang="zh-CN" sz="2800" b="1" i="1" smtClean="0">
                                  <a:latin typeface="Cambria Math" panose="02040503050406030204" pitchFamily="18" charset="0"/>
                                  <a:ea typeface="Cambria Math" panose="02040503050406030204" pitchFamily="18" charset="0"/>
                                </a:rPr>
                                <m:t>𝒂</m:t>
                              </m:r>
                              <m:r>
                                <a:rPr lang="en-US" altLang="zh-CN" sz="2800" b="1" i="1" smtClean="0">
                                  <a:latin typeface="Cambria Math" panose="02040503050406030204" pitchFamily="18" charset="0"/>
                                  <a:ea typeface="Cambria Math" panose="02040503050406030204" pitchFamily="18" charset="0"/>
                                </a:rPr>
                                <m:t> </m:t>
                              </m:r>
                              <m:r>
                                <a:rPr lang="en-US" altLang="zh-CN" sz="2800" b="1" i="1" smtClean="0">
                                  <a:latin typeface="Cambria Math" panose="02040503050406030204" pitchFamily="18" charset="0"/>
                                  <a:ea typeface="Cambria Math" panose="02040503050406030204" pitchFamily="18" charset="0"/>
                                </a:rPr>
                                <m:t>𝒃</m:t>
                              </m:r>
                              <m:r>
                                <a:rPr lang="en-US" altLang="zh-CN" sz="2800" b="1" i="1" smtClean="0">
                                  <a:latin typeface="Cambria Math" panose="02040503050406030204" pitchFamily="18" charset="0"/>
                                  <a:ea typeface="Cambria Math" panose="02040503050406030204" pitchFamily="18" charset="0"/>
                                </a:rPr>
                                <m:t> </m:t>
                              </m:r>
                              <m:r>
                                <a:rPr lang="en-US" altLang="zh-CN" sz="2800" b="1" i="1" smtClean="0">
                                  <a:latin typeface="Cambria Math" panose="02040503050406030204" pitchFamily="18" charset="0"/>
                                  <a:ea typeface="Cambria Math" panose="02040503050406030204" pitchFamily="18" charset="0"/>
                                </a:rPr>
                                <m:t>𝒄</m:t>
                              </m:r>
                            </m:e>
                          </m:d>
                        </m:e>
                      </m:d>
                      <m:r>
                        <a:rPr lang="en-US" altLang="zh-CN" sz="2800" b="0" i="0" smtClean="0">
                          <a:latin typeface="Cambria Math" panose="02040503050406030204" pitchFamily="18" charset="0"/>
                          <a:ea typeface="Cambria Math" panose="02040503050406030204" pitchFamily="18" charset="0"/>
                        </a:rPr>
                        <m:t>.</m:t>
                      </m:r>
                    </m:oMath>
                  </m:oMathPara>
                </a14:m>
                <a:endParaRPr lang="en-US" altLang="en-US" sz="2800" dirty="0">
                  <a:latin typeface="Cambria Math" panose="02040503050406030204" pitchFamily="18" charset="0"/>
                </a:endParaRPr>
              </a:p>
            </p:txBody>
          </p:sp>
        </mc:Choice>
        <mc:Fallback xmlns="">
          <p:sp>
            <p:nvSpPr>
              <p:cNvPr id="29738" name="Rectangle 42"/>
              <p:cNvSpPr>
                <a:spLocks noRot="1" noChangeAspect="1" noMove="1" noResize="1" noEditPoints="1" noAdjustHandles="1" noChangeArrowheads="1" noChangeShapeType="1" noTextEdit="1"/>
              </p:cNvSpPr>
              <p:nvPr/>
            </p:nvSpPr>
            <p:spPr bwMode="auto">
              <a:xfrm>
                <a:off x="1674050" y="5422140"/>
                <a:ext cx="8622323" cy="523220"/>
              </a:xfrm>
              <a:prstGeom prst="rect">
                <a:avLst/>
              </a:prstGeom>
              <a:blipFill>
                <a:blip r:embed="rId16"/>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pic>
        <p:nvPicPr>
          <p:cNvPr id="3" name="图片 2" descr="图示, 形状, 多边形&#10;&#10;描述已自动生成">
            <a:extLst>
              <a:ext uri="{FF2B5EF4-FFF2-40B4-BE49-F238E27FC236}">
                <a16:creationId xmlns:a16="http://schemas.microsoft.com/office/drawing/2014/main" id="{81DF9EC0-1365-DE77-B237-FCD56468C546}"/>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6377677" y="2319621"/>
            <a:ext cx="3420720" cy="2968847"/>
          </a:xfrm>
          <a:prstGeom prst="rect">
            <a:avLst/>
          </a:prstGeom>
        </p:spPr>
      </p:pic>
    </p:spTree>
    <p:extLst>
      <p:ext uri="{BB962C8B-B14F-4D97-AF65-F5344CB8AC3E}">
        <p14:creationId xmlns:p14="http://schemas.microsoft.com/office/powerpoint/2010/main" val="25357095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718"/>
                                        </p:tgtEl>
                                        <p:attrNameLst>
                                          <p:attrName>style.visibility</p:attrName>
                                        </p:attrNameLst>
                                      </p:cBhvr>
                                      <p:to>
                                        <p:strVal val="visible"/>
                                      </p:to>
                                    </p:set>
                                    <p:animEffect transition="in" filter="wipe(left)">
                                      <p:cBhvr>
                                        <p:cTn id="7" dur="500"/>
                                        <p:tgtEl>
                                          <p:spTgt spid="297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715"/>
                                        </p:tgtEl>
                                        <p:attrNameLst>
                                          <p:attrName>style.visibility</p:attrName>
                                        </p:attrNameLst>
                                      </p:cBhvr>
                                      <p:to>
                                        <p:strVal val="visible"/>
                                      </p:to>
                                    </p:set>
                                    <p:animEffect transition="in" filter="wipe(left)">
                                      <p:cBhvr>
                                        <p:cTn id="12" dur="500"/>
                                        <p:tgtEl>
                                          <p:spTgt spid="29715"/>
                                        </p:tgtEl>
                                      </p:cBhvr>
                                    </p:animEffect>
                                  </p:childTnLst>
                                </p:cTn>
                              </p:par>
                            </p:childTnLst>
                          </p:cTn>
                        </p:par>
                      </p:childTnLst>
                    </p:cTn>
                  </p:par>
                  <p:par>
                    <p:cTn id="13" fill="hold">
                      <p:stCondLst>
                        <p:cond delay="indefinite"/>
                      </p:stCondLst>
                      <p:childTnLst>
                        <p:par>
                          <p:cTn id="14" fill="hold" nodeType="after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29719"/>
                                        </p:tgtEl>
                                        <p:attrNameLst>
                                          <p:attrName>style.visibility</p:attrName>
                                        </p:attrNameLst>
                                      </p:cBhvr>
                                      <p:to>
                                        <p:strVal val="visible"/>
                                      </p:to>
                                    </p:set>
                                    <p:animEffect transition="in" filter="wipe(left)">
                                      <p:cBhvr>
                                        <p:cTn id="21" dur="500"/>
                                        <p:tgtEl>
                                          <p:spTgt spid="2971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9733"/>
                                        </p:tgtEl>
                                        <p:attrNameLst>
                                          <p:attrName>style.visibility</p:attrName>
                                        </p:attrNameLst>
                                      </p:cBhvr>
                                      <p:to>
                                        <p:strVal val="visible"/>
                                      </p:to>
                                    </p:set>
                                    <p:animEffect transition="in" filter="wipe(left)">
                                      <p:cBhvr>
                                        <p:cTn id="26" dur="500"/>
                                        <p:tgtEl>
                                          <p:spTgt spid="2973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9734"/>
                                        </p:tgtEl>
                                        <p:attrNameLst>
                                          <p:attrName>style.visibility</p:attrName>
                                        </p:attrNameLst>
                                      </p:cBhvr>
                                      <p:to>
                                        <p:strVal val="visible"/>
                                      </p:to>
                                    </p:set>
                                    <p:animEffect transition="in" filter="wipe(left)">
                                      <p:cBhvr>
                                        <p:cTn id="31" dur="500"/>
                                        <p:tgtEl>
                                          <p:spTgt spid="2973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9735"/>
                                        </p:tgtEl>
                                        <p:attrNameLst>
                                          <p:attrName>style.visibility</p:attrName>
                                        </p:attrNameLst>
                                      </p:cBhvr>
                                      <p:to>
                                        <p:strVal val="visible"/>
                                      </p:to>
                                    </p:set>
                                    <p:animEffect transition="in" filter="wipe(left)">
                                      <p:cBhvr>
                                        <p:cTn id="36" dur="500"/>
                                        <p:tgtEl>
                                          <p:spTgt spid="2973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9736"/>
                                        </p:tgtEl>
                                        <p:attrNameLst>
                                          <p:attrName>style.visibility</p:attrName>
                                        </p:attrNameLst>
                                      </p:cBhvr>
                                      <p:to>
                                        <p:strVal val="visible"/>
                                      </p:to>
                                    </p:set>
                                    <p:animEffect transition="in" filter="wipe(left)">
                                      <p:cBhvr>
                                        <p:cTn id="41" dur="500"/>
                                        <p:tgtEl>
                                          <p:spTgt spid="29736"/>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9737"/>
                                        </p:tgtEl>
                                        <p:attrNameLst>
                                          <p:attrName>style.visibility</p:attrName>
                                        </p:attrNameLst>
                                      </p:cBhvr>
                                      <p:to>
                                        <p:strVal val="visible"/>
                                      </p:to>
                                    </p:set>
                                    <p:animEffect transition="in" filter="wipe(left)">
                                      <p:cBhvr>
                                        <p:cTn id="46" dur="500"/>
                                        <p:tgtEl>
                                          <p:spTgt spid="29737"/>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9738"/>
                                        </p:tgtEl>
                                        <p:attrNameLst>
                                          <p:attrName>style.visibility</p:attrName>
                                        </p:attrNameLst>
                                      </p:cBhvr>
                                      <p:to>
                                        <p:strVal val="visible"/>
                                      </p:to>
                                    </p:set>
                                    <p:animEffect transition="in" filter="wipe(left)">
                                      <p:cBhvr>
                                        <p:cTn id="51" dur="500"/>
                                        <p:tgtEl>
                                          <p:spTgt spid="297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15" grpId="0"/>
      <p:bldP spid="29718" grpId="0"/>
      <p:bldP spid="29719" grpId="0"/>
      <p:bldP spid="29733" grpId="0"/>
      <p:bldP spid="29734" grpId="0"/>
      <p:bldP spid="29735" grpId="0"/>
      <p:bldP spid="29736" grpId="0"/>
      <p:bldP spid="29737" grpId="0"/>
      <p:bldP spid="2973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1791" name="Object 47"/>
              <p:cNvSpPr txBox="1">
                <a:spLocks noGrp="1"/>
              </p:cNvSpPr>
              <p:nvPr>
                <p:ph/>
              </p:nvPr>
            </p:nvSpPr>
            <p:spPr bwMode="auto">
              <a:xfrm>
                <a:off x="1994280" y="1149717"/>
                <a:ext cx="7540245" cy="476250"/>
              </a:xfrm>
              <a:prstGeom prst="rect">
                <a:avLst/>
              </a:prstGeom>
              <a:noFill/>
              <a:ln>
                <a:noFill/>
              </a:ln>
              <a:effectLst/>
            </p:spPr>
            <p:txBody>
              <a:bodyPr>
                <a:noAutofit/>
              </a:bodyPr>
              <a:lstStyle/>
              <a:p>
                <a:pPr marL="0">
                  <a:buNone/>
                </a:pPr>
                <a14:m>
                  <m:oMathPara xmlns:m="http://schemas.openxmlformats.org/officeDocument/2006/math">
                    <m:oMathParaPr>
                      <m:jc m:val="left"/>
                    </m:oMathParaPr>
                    <m:oMath xmlns:m="http://schemas.openxmlformats.org/officeDocument/2006/math">
                      <m:r>
                        <a:rPr lang="zh-CN" altLang="en-US" b="1" i="1">
                          <a:latin typeface="Cambria Math" panose="02040503050406030204" pitchFamily="18" charset="0"/>
                        </a:rPr>
                        <m:t>𝒂</m:t>
                      </m:r>
                      <m:r>
                        <a:rPr lang="zh-CN" altLang="en-US" b="0" i="1">
                          <a:latin typeface="Cambria Math" panose="02040503050406030204" pitchFamily="18" charset="0"/>
                        </a:rPr>
                        <m:t>=(</m:t>
                      </m:r>
                      <m:sSub>
                        <m:sSubPr>
                          <m:ctrlPr>
                            <a:rPr lang="zh-CN" altLang="en-US" b="0" i="1">
                              <a:latin typeface="Cambria Math" panose="02040503050406030204" pitchFamily="18" charset="0"/>
                            </a:rPr>
                          </m:ctrlPr>
                        </m:sSubPr>
                        <m:e>
                          <m:r>
                            <a:rPr lang="zh-CN" altLang="en-US" b="0" i="1">
                              <a:latin typeface="Cambria Math" panose="02040503050406030204" pitchFamily="18" charset="0"/>
                            </a:rPr>
                            <m:t>𝑎</m:t>
                          </m:r>
                        </m:e>
                        <m:sub>
                          <m:r>
                            <a:rPr lang="zh-CN" altLang="en-US" b="0" i="1">
                              <a:latin typeface="Cambria Math" panose="02040503050406030204" pitchFamily="18" charset="0"/>
                            </a:rPr>
                            <m:t>𝑥</m:t>
                          </m:r>
                        </m:sub>
                      </m:sSub>
                      <m:r>
                        <a:rPr lang="zh-CN" altLang="en-US" b="0" i="1">
                          <a:latin typeface="Cambria Math" panose="02040503050406030204" pitchFamily="18" charset="0"/>
                        </a:rPr>
                        <m:t>,</m:t>
                      </m:r>
                      <m:sSub>
                        <m:sSubPr>
                          <m:ctrlPr>
                            <a:rPr lang="zh-CN" altLang="en-US" b="0" i="1">
                              <a:latin typeface="Cambria Math" panose="02040503050406030204" pitchFamily="18" charset="0"/>
                            </a:rPr>
                          </m:ctrlPr>
                        </m:sSubPr>
                        <m:e>
                          <m:r>
                            <a:rPr lang="zh-CN" altLang="en-US" b="0" i="1">
                              <a:latin typeface="Cambria Math" panose="02040503050406030204" pitchFamily="18" charset="0"/>
                            </a:rPr>
                            <m:t>𝑎</m:t>
                          </m:r>
                        </m:e>
                        <m:sub>
                          <m:r>
                            <a:rPr lang="zh-CN" altLang="en-US" b="0" i="1">
                              <a:latin typeface="Cambria Math" panose="02040503050406030204" pitchFamily="18" charset="0"/>
                            </a:rPr>
                            <m:t>𝑦</m:t>
                          </m:r>
                        </m:sub>
                      </m:sSub>
                      <m:r>
                        <a:rPr lang="zh-CN" altLang="en-US" b="0" i="1">
                          <a:latin typeface="Cambria Math" panose="02040503050406030204" pitchFamily="18" charset="0"/>
                        </a:rPr>
                        <m:t>,</m:t>
                      </m:r>
                      <m:sSub>
                        <m:sSubPr>
                          <m:ctrlPr>
                            <a:rPr lang="zh-CN" altLang="en-US" b="0" i="1">
                              <a:latin typeface="Cambria Math" panose="02040503050406030204" pitchFamily="18" charset="0"/>
                            </a:rPr>
                          </m:ctrlPr>
                        </m:sSubPr>
                        <m:e>
                          <m:r>
                            <a:rPr lang="zh-CN" altLang="en-US" b="0" i="1">
                              <a:latin typeface="Cambria Math" panose="02040503050406030204" pitchFamily="18" charset="0"/>
                            </a:rPr>
                            <m:t>𝑎</m:t>
                          </m:r>
                        </m:e>
                        <m:sub>
                          <m:r>
                            <a:rPr lang="zh-CN" altLang="en-US" b="0" i="1">
                              <a:latin typeface="Cambria Math" panose="02040503050406030204" pitchFamily="18" charset="0"/>
                            </a:rPr>
                            <m:t>𝑧</m:t>
                          </m:r>
                        </m:sub>
                      </m:sSub>
                      <m:r>
                        <a:rPr lang="zh-CN" altLang="en-US" b="0" i="1">
                          <a:latin typeface="Cambria Math" panose="02040503050406030204" pitchFamily="18" charset="0"/>
                        </a:rPr>
                        <m:t>),</m:t>
                      </m:r>
                      <m:r>
                        <a:rPr lang="zh-CN" altLang="en-US" b="0" i="1" smtClean="0">
                          <a:latin typeface="Cambria Math" panose="02040503050406030204" pitchFamily="18" charset="0"/>
                        </a:rPr>
                        <m:t> </m:t>
                      </m:r>
                      <m:r>
                        <a:rPr lang="zh-CN" altLang="en-US" b="1" i="1">
                          <a:latin typeface="Cambria Math" panose="02040503050406030204" pitchFamily="18" charset="0"/>
                        </a:rPr>
                        <m:t>𝒃</m:t>
                      </m:r>
                      <m:r>
                        <a:rPr lang="zh-CN" altLang="en-US" b="0" i="1">
                          <a:latin typeface="Cambria Math" panose="02040503050406030204" pitchFamily="18" charset="0"/>
                        </a:rPr>
                        <m:t>=(</m:t>
                      </m:r>
                      <m:sSub>
                        <m:sSubPr>
                          <m:ctrlPr>
                            <a:rPr lang="zh-CN" altLang="en-US" b="0" i="1">
                              <a:latin typeface="Cambria Math" panose="02040503050406030204" pitchFamily="18" charset="0"/>
                            </a:rPr>
                          </m:ctrlPr>
                        </m:sSubPr>
                        <m:e>
                          <m:r>
                            <a:rPr lang="zh-CN" altLang="en-US" b="0" i="1">
                              <a:latin typeface="Cambria Math" panose="02040503050406030204" pitchFamily="18" charset="0"/>
                            </a:rPr>
                            <m:t>𝑏</m:t>
                          </m:r>
                        </m:e>
                        <m:sub>
                          <m:r>
                            <a:rPr lang="zh-CN" altLang="en-US" b="0" i="1">
                              <a:latin typeface="Cambria Math" panose="02040503050406030204" pitchFamily="18" charset="0"/>
                            </a:rPr>
                            <m:t>𝑥</m:t>
                          </m:r>
                        </m:sub>
                      </m:sSub>
                      <m:r>
                        <a:rPr lang="zh-CN" altLang="en-US" b="0" i="1">
                          <a:latin typeface="Cambria Math" panose="02040503050406030204" pitchFamily="18" charset="0"/>
                        </a:rPr>
                        <m:t>,</m:t>
                      </m:r>
                      <m:sSub>
                        <m:sSubPr>
                          <m:ctrlPr>
                            <a:rPr lang="zh-CN" altLang="en-US" b="0" i="1">
                              <a:latin typeface="Cambria Math" panose="02040503050406030204" pitchFamily="18" charset="0"/>
                            </a:rPr>
                          </m:ctrlPr>
                        </m:sSubPr>
                        <m:e>
                          <m:r>
                            <a:rPr lang="zh-CN" altLang="en-US" b="0" i="1">
                              <a:latin typeface="Cambria Math" panose="02040503050406030204" pitchFamily="18" charset="0"/>
                            </a:rPr>
                            <m:t>𝑏</m:t>
                          </m:r>
                        </m:e>
                        <m:sub>
                          <m:r>
                            <a:rPr lang="zh-CN" altLang="en-US" b="0" i="1">
                              <a:latin typeface="Cambria Math" panose="02040503050406030204" pitchFamily="18" charset="0"/>
                            </a:rPr>
                            <m:t>𝑦</m:t>
                          </m:r>
                        </m:sub>
                      </m:sSub>
                      <m:r>
                        <a:rPr lang="zh-CN" altLang="en-US" b="0" i="1">
                          <a:latin typeface="Cambria Math" panose="02040503050406030204" pitchFamily="18" charset="0"/>
                        </a:rPr>
                        <m:t>,</m:t>
                      </m:r>
                      <m:sSub>
                        <m:sSubPr>
                          <m:ctrlPr>
                            <a:rPr lang="zh-CN" altLang="en-US" b="0" i="1">
                              <a:latin typeface="Cambria Math" panose="02040503050406030204" pitchFamily="18" charset="0"/>
                            </a:rPr>
                          </m:ctrlPr>
                        </m:sSubPr>
                        <m:e>
                          <m:r>
                            <a:rPr lang="zh-CN" altLang="en-US" b="0" i="1">
                              <a:latin typeface="Cambria Math" panose="02040503050406030204" pitchFamily="18" charset="0"/>
                            </a:rPr>
                            <m:t>𝑏</m:t>
                          </m:r>
                        </m:e>
                        <m:sub>
                          <m:r>
                            <a:rPr lang="zh-CN" altLang="en-US" b="0" i="1">
                              <a:latin typeface="Cambria Math" panose="02040503050406030204" pitchFamily="18" charset="0"/>
                            </a:rPr>
                            <m:t>𝑧</m:t>
                          </m:r>
                        </m:sub>
                      </m:sSub>
                      <m:r>
                        <a:rPr lang="zh-CN" altLang="en-US" b="0" i="1">
                          <a:latin typeface="Cambria Math" panose="02040503050406030204" pitchFamily="18" charset="0"/>
                        </a:rPr>
                        <m:t>),</m:t>
                      </m:r>
                      <m:r>
                        <a:rPr lang="zh-CN" altLang="en-US" b="1" i="1">
                          <a:latin typeface="Cambria Math" panose="02040503050406030204" pitchFamily="18" charset="0"/>
                        </a:rPr>
                        <m:t>𝒄</m:t>
                      </m:r>
                      <m:r>
                        <a:rPr lang="zh-CN" altLang="en-US" b="0" i="1">
                          <a:latin typeface="Cambria Math" panose="02040503050406030204" pitchFamily="18" charset="0"/>
                        </a:rPr>
                        <m:t>=(</m:t>
                      </m:r>
                      <m:sSub>
                        <m:sSubPr>
                          <m:ctrlPr>
                            <a:rPr lang="zh-CN" altLang="en-US" b="0" i="1">
                              <a:latin typeface="Cambria Math" panose="02040503050406030204" pitchFamily="18" charset="0"/>
                            </a:rPr>
                          </m:ctrlPr>
                        </m:sSubPr>
                        <m:e>
                          <m:r>
                            <a:rPr lang="zh-CN" altLang="en-US" b="0" i="1">
                              <a:latin typeface="Cambria Math" panose="02040503050406030204" pitchFamily="18" charset="0"/>
                            </a:rPr>
                            <m:t>𝑐</m:t>
                          </m:r>
                        </m:e>
                        <m:sub>
                          <m:r>
                            <a:rPr lang="zh-CN" altLang="en-US" b="0" i="1">
                              <a:latin typeface="Cambria Math" panose="02040503050406030204" pitchFamily="18" charset="0"/>
                            </a:rPr>
                            <m:t>𝑥</m:t>
                          </m:r>
                        </m:sub>
                      </m:sSub>
                      <m:r>
                        <a:rPr lang="zh-CN" altLang="en-US" b="0" i="1">
                          <a:latin typeface="Cambria Math" panose="02040503050406030204" pitchFamily="18" charset="0"/>
                        </a:rPr>
                        <m:t>,</m:t>
                      </m:r>
                      <m:sSub>
                        <m:sSubPr>
                          <m:ctrlPr>
                            <a:rPr lang="zh-CN" altLang="en-US" b="0" i="1">
                              <a:latin typeface="Cambria Math" panose="02040503050406030204" pitchFamily="18" charset="0"/>
                            </a:rPr>
                          </m:ctrlPr>
                        </m:sSubPr>
                        <m:e>
                          <m:r>
                            <a:rPr lang="zh-CN" altLang="en-US" b="0" i="1">
                              <a:latin typeface="Cambria Math" panose="02040503050406030204" pitchFamily="18" charset="0"/>
                            </a:rPr>
                            <m:t>𝑐</m:t>
                          </m:r>
                        </m:e>
                        <m:sub>
                          <m:r>
                            <a:rPr lang="zh-CN" altLang="en-US" b="0" i="1">
                              <a:latin typeface="Cambria Math" panose="02040503050406030204" pitchFamily="18" charset="0"/>
                            </a:rPr>
                            <m:t>𝑦</m:t>
                          </m:r>
                        </m:sub>
                      </m:sSub>
                      <m:r>
                        <a:rPr lang="zh-CN" altLang="en-US" b="0" i="1">
                          <a:latin typeface="Cambria Math" panose="02040503050406030204" pitchFamily="18" charset="0"/>
                        </a:rPr>
                        <m:t>,</m:t>
                      </m:r>
                      <m:sSub>
                        <m:sSubPr>
                          <m:ctrlPr>
                            <a:rPr lang="zh-CN" altLang="en-US" b="0" i="1">
                              <a:latin typeface="Cambria Math" panose="02040503050406030204" pitchFamily="18" charset="0"/>
                            </a:rPr>
                          </m:ctrlPr>
                        </m:sSubPr>
                        <m:e>
                          <m:r>
                            <a:rPr lang="zh-CN" altLang="en-US" b="0" i="1">
                              <a:latin typeface="Cambria Math" panose="02040503050406030204" pitchFamily="18" charset="0"/>
                            </a:rPr>
                            <m:t>𝑐</m:t>
                          </m:r>
                        </m:e>
                        <m:sub>
                          <m:r>
                            <a:rPr lang="zh-CN" altLang="en-US" b="0" i="1">
                              <a:latin typeface="Cambria Math" panose="02040503050406030204" pitchFamily="18" charset="0"/>
                            </a:rPr>
                            <m:t>𝑧</m:t>
                          </m:r>
                        </m:sub>
                      </m:sSub>
                      <m:r>
                        <a:rPr lang="zh-CN" altLang="en-US" b="0" i="1">
                          <a:latin typeface="Cambria Math" panose="02040503050406030204" pitchFamily="18" charset="0"/>
                        </a:rPr>
                        <m:t>),</m:t>
                      </m:r>
                    </m:oMath>
                  </m:oMathPara>
                </a14:m>
                <a:endParaRPr lang="zh-CN" altLang="en-US" b="0" i="1" dirty="0">
                  <a:latin typeface="Cambria Math" panose="02040503050406030204" pitchFamily="18" charset="0"/>
                </a:endParaRPr>
              </a:p>
            </p:txBody>
          </p:sp>
        </mc:Choice>
        <mc:Fallback xmlns="">
          <p:sp>
            <p:nvSpPr>
              <p:cNvPr id="31791" name="Object 47"/>
              <p:cNvSpPr txBox="1">
                <a:spLocks noGrp="1" noRot="1" noChangeAspect="1" noMove="1" noResize="1" noEditPoints="1" noAdjustHandles="1" noChangeArrowheads="1" noChangeShapeType="1" noTextEdit="1"/>
              </p:cNvSpPr>
              <p:nvPr>
                <p:ph/>
              </p:nvPr>
            </p:nvSpPr>
            <p:spPr bwMode="auto">
              <a:xfrm>
                <a:off x="1994280" y="1149717"/>
                <a:ext cx="7540245" cy="476250"/>
              </a:xfrm>
              <a:prstGeom prst="rect">
                <a:avLst/>
              </a:prstGeom>
              <a:blipFill>
                <a:blip r:embed="rId2"/>
                <a:stretch>
                  <a:fillRect b="-25641"/>
                </a:stretch>
              </a:blipFill>
              <a:ln>
                <a:noFill/>
              </a:ln>
              <a:effectLst/>
            </p:spPr>
            <p:txBody>
              <a:bodyPr/>
              <a:lstStyle/>
              <a:p>
                <a:r>
                  <a:rPr lang="zh-CN" altLang="en-US">
                    <a:noFill/>
                  </a:rPr>
                  <a:t> </a:t>
                </a:r>
              </a:p>
            </p:txBody>
          </p:sp>
        </mc:Fallback>
      </mc:AlternateContent>
      <p:sp>
        <p:nvSpPr>
          <p:cNvPr id="31793" name="Text Box 49"/>
          <p:cNvSpPr txBox="1">
            <a:spLocks noChangeArrowheads="1"/>
          </p:cNvSpPr>
          <p:nvPr/>
        </p:nvSpPr>
        <p:spPr bwMode="auto">
          <a:xfrm>
            <a:off x="1034461" y="468694"/>
            <a:ext cx="366136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en-US" altLang="zh-CN" sz="2800" b="1" dirty="0">
                <a:solidFill>
                  <a:srgbClr val="04926A"/>
                </a:solidFill>
                <a:latin typeface="微软雅黑" panose="020B0503020204020204" pitchFamily="34" charset="-122"/>
                <a:ea typeface="微软雅黑" panose="020B0503020204020204" pitchFamily="34" charset="-122"/>
              </a:rPr>
              <a:t>3.  </a:t>
            </a:r>
            <a:r>
              <a:rPr kumimoji="1" lang="zh-CN" altLang="en-US" sz="2800" b="1" dirty="0">
                <a:solidFill>
                  <a:srgbClr val="04926A"/>
                </a:solidFill>
                <a:latin typeface="微软雅黑" panose="020B0503020204020204" pitchFamily="34" charset="-122"/>
                <a:ea typeface="微软雅黑" panose="020B0503020204020204" pitchFamily="34" charset="-122"/>
              </a:rPr>
              <a:t>混合积的坐标表示</a:t>
            </a:r>
          </a:p>
        </p:txBody>
      </p:sp>
      <p:sp>
        <p:nvSpPr>
          <p:cNvPr id="31794" name="Text Box 50"/>
          <p:cNvSpPr txBox="1">
            <a:spLocks noChangeArrowheads="1"/>
          </p:cNvSpPr>
          <p:nvPr/>
        </p:nvSpPr>
        <p:spPr bwMode="auto">
          <a:xfrm>
            <a:off x="1517536" y="1102747"/>
            <a:ext cx="68135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dirty="0"/>
              <a:t>设</a:t>
            </a:r>
          </a:p>
        </p:txBody>
      </p:sp>
      <p:sp>
        <p:nvSpPr>
          <p:cNvPr id="31795" name="Text Box 51"/>
          <p:cNvSpPr txBox="1">
            <a:spLocks noChangeArrowheads="1"/>
          </p:cNvSpPr>
          <p:nvPr/>
        </p:nvSpPr>
        <p:spPr bwMode="auto">
          <a:xfrm>
            <a:off x="9359520" y="1102747"/>
            <a:ext cx="68135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dirty="0"/>
              <a:t>则</a:t>
            </a:r>
          </a:p>
        </p:txBody>
      </p:sp>
      <mc:AlternateContent xmlns:mc="http://schemas.openxmlformats.org/markup-compatibility/2006" xmlns:a14="http://schemas.microsoft.com/office/drawing/2010/main">
        <mc:Choice Requires="a14">
          <p:sp>
            <p:nvSpPr>
              <p:cNvPr id="31796" name="Object 52"/>
              <p:cNvSpPr txBox="1"/>
              <p:nvPr/>
            </p:nvSpPr>
            <p:spPr bwMode="auto">
              <a:xfrm>
                <a:off x="1586335" y="1839263"/>
                <a:ext cx="3662109" cy="145891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b="1" i="1">
                          <a:latin typeface="Cambria Math" panose="02040503050406030204" pitchFamily="18" charset="0"/>
                        </a:rPr>
                        <m:t>𝒂</m:t>
                      </m:r>
                      <m:r>
                        <a:rPr lang="zh-CN" altLang="en-US" sz="2800" b="0" i="1">
                          <a:latin typeface="Cambria Math" panose="02040503050406030204" pitchFamily="18" charset="0"/>
                        </a:rPr>
                        <m:t>×</m:t>
                      </m:r>
                      <m:r>
                        <a:rPr lang="zh-CN" altLang="en-US" sz="2800" b="1" i="1">
                          <a:latin typeface="Cambria Math" panose="02040503050406030204" pitchFamily="18" charset="0"/>
                        </a:rPr>
                        <m:t>𝒃</m:t>
                      </m:r>
                      <m:r>
                        <a:rPr lang="zh-CN" altLang="en-US" sz="2800" b="0" i="1">
                          <a:latin typeface="Cambria Math" panose="02040503050406030204" pitchFamily="18" charset="0"/>
                        </a:rPr>
                        <m:t>=</m:t>
                      </m:r>
                      <m:d>
                        <m:dPr>
                          <m:begChr m:val="|"/>
                          <m:endChr m:val="|"/>
                          <m:ctrlPr>
                            <a:rPr lang="zh-CN" altLang="en-US" sz="2800" i="1">
                              <a:latin typeface="Cambria Math" panose="02040503050406030204" pitchFamily="18" charset="0"/>
                            </a:rPr>
                          </m:ctrlPr>
                        </m:dPr>
                        <m:e>
                          <m:m>
                            <m:mPr>
                              <m:plcHide m:val="on"/>
                              <m:mcs>
                                <m:mc>
                                  <m:mcPr>
                                    <m:count m:val="3"/>
                                    <m:mcJc m:val="center"/>
                                  </m:mcPr>
                                </m:mc>
                              </m:mcs>
                              <m:ctrlPr>
                                <a:rPr lang="zh-CN" altLang="en-US" sz="2800" i="1">
                                  <a:latin typeface="Cambria Math" panose="02040503050406030204" pitchFamily="18" charset="0"/>
                                </a:rPr>
                              </m:ctrlPr>
                            </m:mPr>
                            <m:mr>
                              <m:e>
                                <m:r>
                                  <a:rPr lang="zh-CN" altLang="en-US" sz="2800" b="1" i="1">
                                    <a:latin typeface="Cambria Math" panose="02040503050406030204" pitchFamily="18" charset="0"/>
                                  </a:rPr>
                                  <m:t>𝒊</m:t>
                                </m:r>
                              </m:e>
                              <m:e>
                                <m:r>
                                  <a:rPr lang="zh-CN" altLang="en-US" sz="2800" b="1" i="1">
                                    <a:latin typeface="Cambria Math" panose="02040503050406030204" pitchFamily="18" charset="0"/>
                                  </a:rPr>
                                  <m:t>𝒋</m:t>
                                </m:r>
                              </m:e>
                              <m:e>
                                <m:r>
                                  <a:rPr lang="zh-CN" altLang="en-US" sz="2800" b="1" i="1">
                                    <a:latin typeface="Cambria Math" panose="02040503050406030204" pitchFamily="18" charset="0"/>
                                  </a:rPr>
                                  <m:t>𝒌</m:t>
                                </m:r>
                              </m:e>
                            </m:mr>
                            <m:mr>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𝑥</m:t>
                                    </m:r>
                                  </m:sub>
                                </m:sSub>
                              </m:e>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𝑦</m:t>
                                    </m:r>
                                  </m:sub>
                                </m:sSub>
                              </m:e>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𝑧</m:t>
                                    </m:r>
                                  </m:sub>
                                </m:sSub>
                              </m:e>
                            </m:mr>
                            <m:mr>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𝑥</m:t>
                                    </m:r>
                                  </m:sub>
                                </m:sSub>
                              </m:e>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𝑦</m:t>
                                    </m:r>
                                  </m:sub>
                                </m:sSub>
                              </m:e>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𝑧</m:t>
                                    </m:r>
                                  </m:sub>
                                </m:sSub>
                              </m:e>
                            </m:mr>
                          </m:m>
                        </m:e>
                      </m:d>
                    </m:oMath>
                  </m:oMathPara>
                </a14:m>
                <a:endParaRPr lang="zh-CN" altLang="en-US" sz="2800" i="1" dirty="0">
                  <a:latin typeface="Cambria Math" panose="02040503050406030204" pitchFamily="18" charset="0"/>
                </a:endParaRPr>
              </a:p>
            </p:txBody>
          </p:sp>
        </mc:Choice>
        <mc:Fallback xmlns="">
          <p:sp>
            <p:nvSpPr>
              <p:cNvPr id="31796" name="Object 52"/>
              <p:cNvSpPr txBox="1">
                <a:spLocks noRot="1" noChangeAspect="1" noMove="1" noResize="1" noEditPoints="1" noAdjustHandles="1" noChangeArrowheads="1" noChangeShapeType="1" noTextEdit="1"/>
              </p:cNvSpPr>
              <p:nvPr/>
            </p:nvSpPr>
            <p:spPr bwMode="auto">
              <a:xfrm>
                <a:off x="1586335" y="1839263"/>
                <a:ext cx="3662109" cy="1458913"/>
              </a:xfrm>
              <a:prstGeom prst="rect">
                <a:avLst/>
              </a:prstGeom>
              <a:blipFill>
                <a:blip r:embed="rId3"/>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797" name="Object 53"/>
              <p:cNvSpPr txBox="1"/>
              <p:nvPr/>
            </p:nvSpPr>
            <p:spPr bwMode="auto">
              <a:xfrm>
                <a:off x="4993036" y="2081889"/>
                <a:ext cx="6122640" cy="95567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b="0" i="1">
                          <a:latin typeface="Cambria Math" panose="02040503050406030204" pitchFamily="18" charset="0"/>
                        </a:rPr>
                        <m:t>=</m:t>
                      </m:r>
                      <m:d>
                        <m:dPr>
                          <m:begChr m:val="|"/>
                          <m:endChr m:val="|"/>
                          <m:ctrlPr>
                            <a:rPr lang="zh-CN" altLang="en-US" sz="2800" i="1">
                              <a:latin typeface="Cambria Math" panose="02040503050406030204" pitchFamily="18" charset="0"/>
                            </a:rPr>
                          </m:ctrlPr>
                        </m:dPr>
                        <m:e>
                          <m:m>
                            <m:mPr>
                              <m:plcHide m:val="on"/>
                              <m:mcs>
                                <m:mc>
                                  <m:mcPr>
                                    <m:count m:val="2"/>
                                    <m:mcJc m:val="center"/>
                                  </m:mcPr>
                                </m:mc>
                              </m:mcs>
                              <m:ctrlPr>
                                <a:rPr lang="zh-CN" altLang="en-US" sz="2800" i="1">
                                  <a:latin typeface="Cambria Math" panose="02040503050406030204" pitchFamily="18" charset="0"/>
                                </a:rPr>
                              </m:ctrlPr>
                            </m:mPr>
                            <m:mr>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𝑦</m:t>
                                    </m:r>
                                  </m:sub>
                                </m:sSub>
                              </m:e>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𝑧</m:t>
                                    </m:r>
                                  </m:sub>
                                </m:sSub>
                              </m:e>
                            </m:mr>
                            <m:mr>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𝑦</m:t>
                                    </m:r>
                                  </m:sub>
                                </m:sSub>
                              </m:e>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𝑧</m:t>
                                    </m:r>
                                  </m:sub>
                                </m:sSub>
                              </m:e>
                            </m:mr>
                          </m:m>
                        </m:e>
                      </m:d>
                      <m:r>
                        <a:rPr lang="zh-CN" altLang="en-US" sz="2800" b="1" i="1">
                          <a:latin typeface="Cambria Math" panose="02040503050406030204" pitchFamily="18" charset="0"/>
                        </a:rPr>
                        <m:t>𝒊</m:t>
                      </m:r>
                      <m:r>
                        <a:rPr lang="zh-CN" altLang="en-US" sz="2800" b="0" i="1">
                          <a:latin typeface="Cambria Math" panose="02040503050406030204" pitchFamily="18" charset="0"/>
                        </a:rPr>
                        <m:t>−</m:t>
                      </m:r>
                      <m:d>
                        <m:dPr>
                          <m:begChr m:val="|"/>
                          <m:endChr m:val="|"/>
                          <m:ctrlPr>
                            <a:rPr lang="zh-CN" altLang="en-US" sz="2800" i="1">
                              <a:latin typeface="Cambria Math" panose="02040503050406030204" pitchFamily="18" charset="0"/>
                            </a:rPr>
                          </m:ctrlPr>
                        </m:dPr>
                        <m:e>
                          <m:m>
                            <m:mPr>
                              <m:plcHide m:val="on"/>
                              <m:mcs>
                                <m:mc>
                                  <m:mcPr>
                                    <m:count m:val="2"/>
                                    <m:mcJc m:val="center"/>
                                  </m:mcPr>
                                </m:mc>
                              </m:mcs>
                              <m:ctrlPr>
                                <a:rPr lang="zh-CN" altLang="en-US" sz="2800" i="1">
                                  <a:latin typeface="Cambria Math" panose="02040503050406030204" pitchFamily="18" charset="0"/>
                                </a:rPr>
                              </m:ctrlPr>
                            </m:mPr>
                            <m:mr>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𝑥</m:t>
                                    </m:r>
                                  </m:sub>
                                </m:sSub>
                              </m:e>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𝑧</m:t>
                                    </m:r>
                                  </m:sub>
                                </m:sSub>
                              </m:e>
                            </m:mr>
                            <m:mr>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𝑥</m:t>
                                    </m:r>
                                  </m:sub>
                                </m:sSub>
                              </m:e>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𝑧</m:t>
                                    </m:r>
                                  </m:sub>
                                </m:sSub>
                              </m:e>
                            </m:mr>
                          </m:m>
                        </m:e>
                      </m:d>
                      <m:r>
                        <a:rPr lang="zh-CN" altLang="en-US" sz="2800" b="1" i="1">
                          <a:latin typeface="Cambria Math" panose="02040503050406030204" pitchFamily="18" charset="0"/>
                        </a:rPr>
                        <m:t>𝒋</m:t>
                      </m:r>
                      <m:r>
                        <a:rPr lang="zh-CN" altLang="en-US" sz="2800" b="0" i="1">
                          <a:latin typeface="Cambria Math" panose="02040503050406030204" pitchFamily="18" charset="0"/>
                        </a:rPr>
                        <m:t>+</m:t>
                      </m:r>
                      <m:d>
                        <m:dPr>
                          <m:begChr m:val="|"/>
                          <m:endChr m:val="|"/>
                          <m:ctrlPr>
                            <a:rPr lang="zh-CN" altLang="en-US" sz="2800" i="1">
                              <a:latin typeface="Cambria Math" panose="02040503050406030204" pitchFamily="18" charset="0"/>
                            </a:rPr>
                          </m:ctrlPr>
                        </m:dPr>
                        <m:e>
                          <m:m>
                            <m:mPr>
                              <m:plcHide m:val="on"/>
                              <m:mcs>
                                <m:mc>
                                  <m:mcPr>
                                    <m:count m:val="2"/>
                                    <m:mcJc m:val="center"/>
                                  </m:mcPr>
                                </m:mc>
                              </m:mcs>
                              <m:ctrlPr>
                                <a:rPr lang="zh-CN" altLang="en-US" sz="2800" i="1">
                                  <a:latin typeface="Cambria Math" panose="02040503050406030204" pitchFamily="18" charset="0"/>
                                </a:rPr>
                              </m:ctrlPr>
                            </m:mPr>
                            <m:mr>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𝑥</m:t>
                                    </m:r>
                                  </m:sub>
                                </m:sSub>
                              </m:e>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𝑦</m:t>
                                    </m:r>
                                  </m:sub>
                                </m:sSub>
                              </m:e>
                            </m:mr>
                            <m:mr>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𝑥</m:t>
                                    </m:r>
                                  </m:sub>
                                </m:sSub>
                              </m:e>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𝑦</m:t>
                                    </m:r>
                                  </m:sub>
                                </m:sSub>
                              </m:e>
                            </m:mr>
                          </m:m>
                        </m:e>
                      </m:d>
                      <m:r>
                        <a:rPr lang="zh-CN" altLang="en-US" sz="2800" b="1" i="1">
                          <a:latin typeface="Cambria Math" panose="02040503050406030204" pitchFamily="18" charset="0"/>
                        </a:rPr>
                        <m:t>𝒌</m:t>
                      </m:r>
                      <m:r>
                        <a:rPr lang="zh-CN" altLang="en-US" sz="2800" b="0" i="1">
                          <a:latin typeface="Cambria Math" panose="02040503050406030204" pitchFamily="18" charset="0"/>
                        </a:rPr>
                        <m:t>.</m:t>
                      </m:r>
                    </m:oMath>
                  </m:oMathPara>
                </a14:m>
                <a:endParaRPr lang="zh-CN" altLang="en-US" sz="2800" i="1" dirty="0">
                  <a:latin typeface="Cambria Math" panose="02040503050406030204" pitchFamily="18" charset="0"/>
                </a:endParaRPr>
              </a:p>
            </p:txBody>
          </p:sp>
        </mc:Choice>
        <mc:Fallback xmlns="">
          <p:sp>
            <p:nvSpPr>
              <p:cNvPr id="31797" name="Object 53"/>
              <p:cNvSpPr txBox="1">
                <a:spLocks noRot="1" noChangeAspect="1" noMove="1" noResize="1" noEditPoints="1" noAdjustHandles="1" noChangeArrowheads="1" noChangeShapeType="1" noTextEdit="1"/>
              </p:cNvSpPr>
              <p:nvPr/>
            </p:nvSpPr>
            <p:spPr bwMode="auto">
              <a:xfrm>
                <a:off x="4993036" y="2081889"/>
                <a:ext cx="6122640" cy="955675"/>
              </a:xfrm>
              <a:prstGeom prst="rect">
                <a:avLst/>
              </a:prstGeom>
              <a:blipFill>
                <a:blip r:embed="rId4"/>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798" name="Object 54"/>
              <p:cNvSpPr txBox="1"/>
              <p:nvPr/>
            </p:nvSpPr>
            <p:spPr bwMode="auto">
              <a:xfrm>
                <a:off x="2682821" y="3694020"/>
                <a:ext cx="2222553" cy="612779"/>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sz="2800" b="0" i="1">
                          <a:latin typeface="Cambria Math" panose="02040503050406030204" pitchFamily="18" charset="0"/>
                        </a:rPr>
                        <m:t>=(</m:t>
                      </m:r>
                      <m:r>
                        <a:rPr lang="zh-CN" altLang="en-US" sz="2800" b="1" i="1">
                          <a:latin typeface="Cambria Math" panose="02040503050406030204" pitchFamily="18" charset="0"/>
                        </a:rPr>
                        <m:t>𝒂</m:t>
                      </m:r>
                      <m:r>
                        <a:rPr lang="zh-CN" altLang="en-US" sz="2800" b="0" i="1">
                          <a:latin typeface="Cambria Math" panose="02040503050406030204" pitchFamily="18" charset="0"/>
                        </a:rPr>
                        <m:t>×</m:t>
                      </m:r>
                      <m:r>
                        <a:rPr lang="zh-CN" altLang="en-US" sz="2800" b="1" i="1">
                          <a:latin typeface="Cambria Math" panose="02040503050406030204" pitchFamily="18" charset="0"/>
                        </a:rPr>
                        <m:t>𝒃</m:t>
                      </m:r>
                      <m:r>
                        <a:rPr lang="zh-CN" altLang="en-US" sz="2800" b="0" i="1">
                          <a:latin typeface="Cambria Math" panose="02040503050406030204" pitchFamily="18" charset="0"/>
                        </a:rPr>
                        <m:t>)⋅</m:t>
                      </m:r>
                      <m:r>
                        <a:rPr lang="zh-CN" altLang="en-US" sz="2800" b="1" i="1">
                          <a:latin typeface="Cambria Math" panose="02040503050406030204" pitchFamily="18" charset="0"/>
                        </a:rPr>
                        <m:t>𝒄</m:t>
                      </m:r>
                    </m:oMath>
                  </m:oMathPara>
                </a14:m>
                <a:endParaRPr lang="zh-CN" altLang="en-US" sz="2800" b="1" i="1" dirty="0">
                  <a:latin typeface="Cambria Math" panose="02040503050406030204" pitchFamily="18" charset="0"/>
                </a:endParaRPr>
              </a:p>
            </p:txBody>
          </p:sp>
        </mc:Choice>
        <mc:Fallback xmlns="">
          <p:sp>
            <p:nvSpPr>
              <p:cNvPr id="31798" name="Object 54"/>
              <p:cNvSpPr txBox="1">
                <a:spLocks noRot="1" noChangeAspect="1" noMove="1" noResize="1" noEditPoints="1" noAdjustHandles="1" noChangeArrowheads="1" noChangeShapeType="1" noTextEdit="1"/>
              </p:cNvSpPr>
              <p:nvPr/>
            </p:nvSpPr>
            <p:spPr bwMode="auto">
              <a:xfrm>
                <a:off x="2682821" y="3694020"/>
                <a:ext cx="2222553" cy="612779"/>
              </a:xfrm>
              <a:prstGeom prst="rect">
                <a:avLst/>
              </a:prstGeom>
              <a:blipFill>
                <a:blip r:embed="rId5"/>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799" name="Object 55"/>
              <p:cNvSpPr txBox="1"/>
              <p:nvPr/>
            </p:nvSpPr>
            <p:spPr bwMode="auto">
              <a:xfrm>
                <a:off x="4592550" y="3513882"/>
                <a:ext cx="6655140" cy="95567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b="0" i="1">
                          <a:latin typeface="Cambria Math" panose="02040503050406030204" pitchFamily="18" charset="0"/>
                        </a:rPr>
                        <m:t>=</m:t>
                      </m:r>
                      <m:d>
                        <m:dPr>
                          <m:begChr m:val="|"/>
                          <m:endChr m:val="|"/>
                          <m:ctrlPr>
                            <a:rPr lang="zh-CN" altLang="en-US" sz="2800" i="1">
                              <a:latin typeface="Cambria Math" panose="02040503050406030204" pitchFamily="18" charset="0"/>
                            </a:rPr>
                          </m:ctrlPr>
                        </m:dPr>
                        <m:e>
                          <m:m>
                            <m:mPr>
                              <m:plcHide m:val="on"/>
                              <m:mcs>
                                <m:mc>
                                  <m:mcPr>
                                    <m:count m:val="2"/>
                                    <m:mcJc m:val="center"/>
                                  </m:mcPr>
                                </m:mc>
                              </m:mcs>
                              <m:ctrlPr>
                                <a:rPr lang="zh-CN" altLang="en-US" sz="2800" i="1">
                                  <a:latin typeface="Cambria Math" panose="02040503050406030204" pitchFamily="18" charset="0"/>
                                </a:rPr>
                              </m:ctrlPr>
                            </m:mPr>
                            <m:mr>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𝑦</m:t>
                                    </m:r>
                                  </m:sub>
                                </m:sSub>
                              </m:e>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𝑧</m:t>
                                    </m:r>
                                  </m:sub>
                                </m:sSub>
                              </m:e>
                            </m:mr>
                            <m:mr>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𝑦</m:t>
                                    </m:r>
                                  </m:sub>
                                </m:sSub>
                              </m:e>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𝑧</m:t>
                                    </m:r>
                                  </m:sub>
                                </m:sSub>
                              </m:e>
                            </m:mr>
                          </m:m>
                        </m:e>
                      </m:d>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𝑐</m:t>
                          </m:r>
                        </m:e>
                        <m:sub>
                          <m:r>
                            <a:rPr lang="zh-CN" altLang="en-US" sz="2800" b="0" i="1">
                              <a:latin typeface="Cambria Math" panose="02040503050406030204" pitchFamily="18" charset="0"/>
                            </a:rPr>
                            <m:t>𝑥</m:t>
                          </m:r>
                        </m:sub>
                      </m:sSub>
                      <m:r>
                        <a:rPr lang="zh-CN" altLang="en-US" sz="2800" b="0" i="1">
                          <a:latin typeface="Cambria Math" panose="02040503050406030204" pitchFamily="18" charset="0"/>
                        </a:rPr>
                        <m:t>−</m:t>
                      </m:r>
                      <m:d>
                        <m:dPr>
                          <m:begChr m:val="|"/>
                          <m:endChr m:val="|"/>
                          <m:ctrlPr>
                            <a:rPr lang="zh-CN" altLang="en-US" sz="2800" i="1">
                              <a:latin typeface="Cambria Math" panose="02040503050406030204" pitchFamily="18" charset="0"/>
                            </a:rPr>
                          </m:ctrlPr>
                        </m:dPr>
                        <m:e>
                          <m:m>
                            <m:mPr>
                              <m:plcHide m:val="on"/>
                              <m:mcs>
                                <m:mc>
                                  <m:mcPr>
                                    <m:count m:val="2"/>
                                    <m:mcJc m:val="center"/>
                                  </m:mcPr>
                                </m:mc>
                              </m:mcs>
                              <m:ctrlPr>
                                <a:rPr lang="zh-CN" altLang="en-US" sz="2800" i="1">
                                  <a:latin typeface="Cambria Math" panose="02040503050406030204" pitchFamily="18" charset="0"/>
                                </a:rPr>
                              </m:ctrlPr>
                            </m:mPr>
                            <m:mr>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𝑥</m:t>
                                    </m:r>
                                  </m:sub>
                                </m:sSub>
                              </m:e>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𝑧</m:t>
                                    </m:r>
                                  </m:sub>
                                </m:sSub>
                              </m:e>
                            </m:mr>
                            <m:mr>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𝑥</m:t>
                                    </m:r>
                                  </m:sub>
                                </m:sSub>
                              </m:e>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𝑧</m:t>
                                    </m:r>
                                  </m:sub>
                                </m:sSub>
                              </m:e>
                            </m:mr>
                          </m:m>
                        </m:e>
                      </m:d>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𝑐</m:t>
                          </m:r>
                        </m:e>
                        <m:sub>
                          <m:r>
                            <a:rPr lang="zh-CN" altLang="en-US" sz="2800" b="0" i="1">
                              <a:latin typeface="Cambria Math" panose="02040503050406030204" pitchFamily="18" charset="0"/>
                            </a:rPr>
                            <m:t>𝑦</m:t>
                          </m:r>
                        </m:sub>
                      </m:sSub>
                      <m:r>
                        <a:rPr lang="zh-CN" altLang="en-US" sz="2800" b="0" i="1">
                          <a:latin typeface="Cambria Math" panose="02040503050406030204" pitchFamily="18" charset="0"/>
                        </a:rPr>
                        <m:t>+</m:t>
                      </m:r>
                      <m:d>
                        <m:dPr>
                          <m:begChr m:val="|"/>
                          <m:endChr m:val="|"/>
                          <m:ctrlPr>
                            <a:rPr lang="zh-CN" altLang="en-US" sz="2800" i="1">
                              <a:latin typeface="Cambria Math" panose="02040503050406030204" pitchFamily="18" charset="0"/>
                            </a:rPr>
                          </m:ctrlPr>
                        </m:dPr>
                        <m:e>
                          <m:m>
                            <m:mPr>
                              <m:plcHide m:val="on"/>
                              <m:mcs>
                                <m:mc>
                                  <m:mcPr>
                                    <m:count m:val="2"/>
                                    <m:mcJc m:val="center"/>
                                  </m:mcPr>
                                </m:mc>
                              </m:mcs>
                              <m:ctrlPr>
                                <a:rPr lang="zh-CN" altLang="en-US" sz="2800" i="1">
                                  <a:latin typeface="Cambria Math" panose="02040503050406030204" pitchFamily="18" charset="0"/>
                                </a:rPr>
                              </m:ctrlPr>
                            </m:mPr>
                            <m:mr>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𝑥</m:t>
                                    </m:r>
                                  </m:sub>
                                </m:sSub>
                              </m:e>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𝑦</m:t>
                                    </m:r>
                                  </m:sub>
                                </m:sSub>
                              </m:e>
                            </m:mr>
                            <m:mr>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𝑥</m:t>
                                    </m:r>
                                  </m:sub>
                                </m:sSub>
                              </m:e>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𝑦</m:t>
                                    </m:r>
                                  </m:sub>
                                </m:sSub>
                              </m:e>
                            </m:mr>
                          </m:m>
                        </m:e>
                      </m:d>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𝑐</m:t>
                          </m:r>
                        </m:e>
                        <m:sub>
                          <m:r>
                            <a:rPr lang="zh-CN" altLang="en-US" sz="2800" b="0" i="1">
                              <a:latin typeface="Cambria Math" panose="02040503050406030204" pitchFamily="18" charset="0"/>
                            </a:rPr>
                            <m:t>𝑧</m:t>
                          </m:r>
                        </m:sub>
                      </m:sSub>
                    </m:oMath>
                  </m:oMathPara>
                </a14:m>
                <a:endParaRPr lang="zh-CN" altLang="en-US" sz="2800" i="1" dirty="0">
                  <a:latin typeface="Cambria Math" panose="02040503050406030204" pitchFamily="18" charset="0"/>
                </a:endParaRPr>
              </a:p>
            </p:txBody>
          </p:sp>
        </mc:Choice>
        <mc:Fallback xmlns="">
          <p:sp>
            <p:nvSpPr>
              <p:cNvPr id="31799" name="Object 55"/>
              <p:cNvSpPr txBox="1">
                <a:spLocks noRot="1" noChangeAspect="1" noMove="1" noResize="1" noEditPoints="1" noAdjustHandles="1" noChangeArrowheads="1" noChangeShapeType="1" noTextEdit="1"/>
              </p:cNvSpPr>
              <p:nvPr/>
            </p:nvSpPr>
            <p:spPr bwMode="auto">
              <a:xfrm>
                <a:off x="4592550" y="3513882"/>
                <a:ext cx="6655140" cy="955675"/>
              </a:xfrm>
              <a:prstGeom prst="rect">
                <a:avLst/>
              </a:prstGeom>
              <a:blipFill>
                <a:blip r:embed="rId6"/>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800" name="Object 56"/>
              <p:cNvSpPr txBox="1"/>
              <p:nvPr/>
            </p:nvSpPr>
            <p:spPr bwMode="auto">
              <a:xfrm>
                <a:off x="2679276" y="4720629"/>
                <a:ext cx="2565623" cy="153922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sz="2800" b="0" i="1">
                          <a:latin typeface="Cambria Math" panose="02040503050406030204" pitchFamily="18" charset="0"/>
                        </a:rPr>
                        <m:t>=</m:t>
                      </m:r>
                      <m:d>
                        <m:dPr>
                          <m:begChr m:val="|"/>
                          <m:endChr m:val="|"/>
                          <m:ctrlPr>
                            <a:rPr lang="zh-CN" altLang="en-US" sz="2800" i="1">
                              <a:latin typeface="Cambria Math" panose="02040503050406030204" pitchFamily="18" charset="0"/>
                            </a:rPr>
                          </m:ctrlPr>
                        </m:dPr>
                        <m:e>
                          <m:m>
                            <m:mPr>
                              <m:plcHide m:val="on"/>
                              <m:mcs>
                                <m:mc>
                                  <m:mcPr>
                                    <m:count m:val="3"/>
                                    <m:mcJc m:val="center"/>
                                  </m:mcPr>
                                </m:mc>
                              </m:mcs>
                              <m:ctrlPr>
                                <a:rPr lang="zh-CN" altLang="en-US" sz="2800" i="1">
                                  <a:latin typeface="Cambria Math" panose="02040503050406030204" pitchFamily="18" charset="0"/>
                                </a:rPr>
                              </m:ctrlPr>
                            </m:mPr>
                            <m:mr>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𝑐</m:t>
                                    </m:r>
                                  </m:e>
                                  <m:sub>
                                    <m:r>
                                      <a:rPr lang="zh-CN" altLang="en-US" sz="2800" b="0" i="1">
                                        <a:latin typeface="Cambria Math" panose="02040503050406030204" pitchFamily="18" charset="0"/>
                                      </a:rPr>
                                      <m:t>𝑥</m:t>
                                    </m:r>
                                  </m:sub>
                                </m:sSub>
                              </m:e>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𝑐</m:t>
                                    </m:r>
                                  </m:e>
                                  <m:sub>
                                    <m:r>
                                      <a:rPr lang="zh-CN" altLang="en-US" sz="2800" b="0" i="1">
                                        <a:latin typeface="Cambria Math" panose="02040503050406030204" pitchFamily="18" charset="0"/>
                                      </a:rPr>
                                      <m:t>𝑦</m:t>
                                    </m:r>
                                  </m:sub>
                                </m:sSub>
                              </m:e>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𝑐</m:t>
                                    </m:r>
                                  </m:e>
                                  <m:sub>
                                    <m:r>
                                      <a:rPr lang="zh-CN" altLang="en-US" sz="2800" b="0" i="1">
                                        <a:latin typeface="Cambria Math" panose="02040503050406030204" pitchFamily="18" charset="0"/>
                                      </a:rPr>
                                      <m:t>𝑧</m:t>
                                    </m:r>
                                  </m:sub>
                                </m:sSub>
                              </m:e>
                            </m:mr>
                            <m:mr>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𝑥</m:t>
                                    </m:r>
                                  </m:sub>
                                </m:sSub>
                              </m:e>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𝑦</m:t>
                                    </m:r>
                                  </m:sub>
                                </m:sSub>
                              </m:e>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𝑧</m:t>
                                    </m:r>
                                  </m:sub>
                                </m:sSub>
                              </m:e>
                            </m:mr>
                            <m:mr>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𝑥</m:t>
                                    </m:r>
                                  </m:sub>
                                </m:sSub>
                              </m:e>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𝑦</m:t>
                                    </m:r>
                                  </m:sub>
                                </m:sSub>
                              </m:e>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𝑧</m:t>
                                    </m:r>
                                  </m:sub>
                                </m:sSub>
                              </m:e>
                            </m:mr>
                          </m:m>
                        </m:e>
                      </m:d>
                    </m:oMath>
                  </m:oMathPara>
                </a14:m>
                <a:endParaRPr lang="zh-CN" altLang="en-US" sz="2800" i="1" dirty="0">
                  <a:latin typeface="Cambria Math" panose="02040503050406030204" pitchFamily="18" charset="0"/>
                </a:endParaRPr>
              </a:p>
            </p:txBody>
          </p:sp>
        </mc:Choice>
        <mc:Fallback xmlns="">
          <p:sp>
            <p:nvSpPr>
              <p:cNvPr id="31800" name="Object 56"/>
              <p:cNvSpPr txBox="1">
                <a:spLocks noRot="1" noChangeAspect="1" noMove="1" noResize="1" noEditPoints="1" noAdjustHandles="1" noChangeArrowheads="1" noChangeShapeType="1" noTextEdit="1"/>
              </p:cNvSpPr>
              <p:nvPr/>
            </p:nvSpPr>
            <p:spPr bwMode="auto">
              <a:xfrm>
                <a:off x="2679276" y="4720629"/>
                <a:ext cx="2565623" cy="1539220"/>
              </a:xfrm>
              <a:prstGeom prst="rect">
                <a:avLst/>
              </a:prstGeom>
              <a:blipFill>
                <a:blip r:embed="rId7"/>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801" name="Object 57"/>
              <p:cNvSpPr txBox="1"/>
              <p:nvPr/>
            </p:nvSpPr>
            <p:spPr bwMode="auto">
              <a:xfrm>
                <a:off x="1568937" y="3694020"/>
                <a:ext cx="930275" cy="40322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b="0" i="1" smtClean="0">
                          <a:latin typeface="Cambria Math" panose="02040503050406030204" pitchFamily="18" charset="0"/>
                        </a:rPr>
                        <m:t>[</m:t>
                      </m:r>
                      <m:r>
                        <a:rPr lang="zh-CN" altLang="en-US" sz="2800" b="1" i="1" smtClean="0">
                          <a:latin typeface="Cambria Math" panose="02040503050406030204" pitchFamily="18" charset="0"/>
                        </a:rPr>
                        <m:t>𝒂</m:t>
                      </m:r>
                      <m:r>
                        <a:rPr lang="en-US" altLang="zh-CN" sz="2800" b="0" i="1" smtClean="0">
                          <a:latin typeface="Cambria Math" panose="02040503050406030204" pitchFamily="18" charset="0"/>
                        </a:rPr>
                        <m:t> </m:t>
                      </m:r>
                      <m:r>
                        <a:rPr lang="zh-CN" altLang="en-US" sz="2800" b="1" i="1">
                          <a:latin typeface="Cambria Math" panose="02040503050406030204" pitchFamily="18" charset="0"/>
                        </a:rPr>
                        <m:t>𝒃</m:t>
                      </m:r>
                      <m:r>
                        <a:rPr lang="en-US" altLang="zh-CN" sz="2800" b="0" i="1" smtClean="0">
                          <a:latin typeface="Cambria Math" panose="02040503050406030204" pitchFamily="18" charset="0"/>
                        </a:rPr>
                        <m:t> </m:t>
                      </m:r>
                      <m:r>
                        <a:rPr lang="zh-CN" altLang="en-US" sz="2800" b="1" i="1">
                          <a:latin typeface="Cambria Math" panose="02040503050406030204" pitchFamily="18" charset="0"/>
                        </a:rPr>
                        <m:t>𝒄</m:t>
                      </m:r>
                      <m:r>
                        <a:rPr lang="zh-CN" altLang="en-US" sz="2800" b="0" i="1">
                          <a:latin typeface="Cambria Math" panose="02040503050406030204" pitchFamily="18" charset="0"/>
                        </a:rPr>
                        <m:t>]</m:t>
                      </m:r>
                    </m:oMath>
                  </m:oMathPara>
                </a14:m>
                <a:endParaRPr lang="zh-CN" altLang="en-US" sz="2800" i="1" dirty="0">
                  <a:latin typeface="Cambria Math" panose="02040503050406030204" pitchFamily="18" charset="0"/>
                </a:endParaRPr>
              </a:p>
            </p:txBody>
          </p:sp>
        </mc:Choice>
        <mc:Fallback xmlns="">
          <p:sp>
            <p:nvSpPr>
              <p:cNvPr id="31801" name="Object 57"/>
              <p:cNvSpPr txBox="1">
                <a:spLocks noRot="1" noChangeAspect="1" noMove="1" noResize="1" noEditPoints="1" noAdjustHandles="1" noChangeArrowheads="1" noChangeShapeType="1" noTextEdit="1"/>
              </p:cNvSpPr>
              <p:nvPr/>
            </p:nvSpPr>
            <p:spPr bwMode="auto">
              <a:xfrm>
                <a:off x="1568937" y="3694020"/>
                <a:ext cx="930275" cy="403225"/>
              </a:xfrm>
              <a:prstGeom prst="rect">
                <a:avLst/>
              </a:prstGeom>
              <a:blipFill>
                <a:blip r:embed="rId8"/>
                <a:stretch>
                  <a:fillRect r="-15686" b="-18182"/>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802" name="Object 58"/>
              <p:cNvSpPr txBox="1"/>
              <p:nvPr/>
            </p:nvSpPr>
            <p:spPr bwMode="auto">
              <a:xfrm>
                <a:off x="5160726" y="4702643"/>
                <a:ext cx="2830749" cy="153922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b="0" i="1">
                          <a:latin typeface="Cambria Math" panose="02040503050406030204" pitchFamily="18" charset="0"/>
                        </a:rPr>
                        <m:t>=</m:t>
                      </m:r>
                      <m:d>
                        <m:dPr>
                          <m:begChr m:val="|"/>
                          <m:endChr m:val="|"/>
                          <m:ctrlPr>
                            <a:rPr lang="zh-CN" altLang="en-US" sz="2800" i="1">
                              <a:latin typeface="Cambria Math" panose="02040503050406030204" pitchFamily="18" charset="0"/>
                            </a:rPr>
                          </m:ctrlPr>
                        </m:dPr>
                        <m:e>
                          <m:m>
                            <m:mPr>
                              <m:plcHide m:val="on"/>
                              <m:mcs>
                                <m:mc>
                                  <m:mcPr>
                                    <m:count m:val="3"/>
                                    <m:mcJc m:val="center"/>
                                  </m:mcPr>
                                </m:mc>
                              </m:mcs>
                              <m:ctrlPr>
                                <a:rPr lang="zh-CN" altLang="en-US" sz="2800" i="1">
                                  <a:latin typeface="Cambria Math" panose="02040503050406030204" pitchFamily="18" charset="0"/>
                                </a:rPr>
                              </m:ctrlPr>
                            </m:mPr>
                            <m:mr>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𝑥</m:t>
                                    </m:r>
                                  </m:sub>
                                </m:sSub>
                              </m:e>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𝑦</m:t>
                                    </m:r>
                                  </m:sub>
                                </m:sSub>
                              </m:e>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𝑎</m:t>
                                    </m:r>
                                  </m:e>
                                  <m:sub>
                                    <m:r>
                                      <a:rPr lang="zh-CN" altLang="en-US" sz="2800" b="0" i="1">
                                        <a:latin typeface="Cambria Math" panose="02040503050406030204" pitchFamily="18" charset="0"/>
                                      </a:rPr>
                                      <m:t>𝑧</m:t>
                                    </m:r>
                                  </m:sub>
                                </m:sSub>
                              </m:e>
                            </m:mr>
                            <m:mr>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𝑥</m:t>
                                    </m:r>
                                  </m:sub>
                                </m:sSub>
                              </m:e>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𝑦</m:t>
                                    </m:r>
                                  </m:sub>
                                </m:sSub>
                              </m:e>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𝑏</m:t>
                                    </m:r>
                                  </m:e>
                                  <m:sub>
                                    <m:r>
                                      <a:rPr lang="zh-CN" altLang="en-US" sz="2800" b="0" i="1">
                                        <a:latin typeface="Cambria Math" panose="02040503050406030204" pitchFamily="18" charset="0"/>
                                      </a:rPr>
                                      <m:t>𝑧</m:t>
                                    </m:r>
                                  </m:sub>
                                </m:sSub>
                              </m:e>
                            </m:mr>
                            <m:mr>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𝑐</m:t>
                                    </m:r>
                                  </m:e>
                                  <m:sub>
                                    <m:r>
                                      <a:rPr lang="zh-CN" altLang="en-US" sz="2800" b="0" i="1">
                                        <a:latin typeface="Cambria Math" panose="02040503050406030204" pitchFamily="18" charset="0"/>
                                      </a:rPr>
                                      <m:t>𝑥</m:t>
                                    </m:r>
                                  </m:sub>
                                </m:sSub>
                              </m:e>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𝑐</m:t>
                                    </m:r>
                                  </m:e>
                                  <m:sub>
                                    <m:r>
                                      <a:rPr lang="zh-CN" altLang="en-US" sz="2800" b="0" i="1">
                                        <a:latin typeface="Cambria Math" panose="02040503050406030204" pitchFamily="18" charset="0"/>
                                      </a:rPr>
                                      <m:t>𝑦</m:t>
                                    </m:r>
                                  </m:sub>
                                </m:sSub>
                              </m:e>
                              <m:e>
                                <m:sSub>
                                  <m:sSubPr>
                                    <m:ctrlPr>
                                      <a:rPr lang="zh-CN" altLang="en-US" sz="2800" i="1">
                                        <a:latin typeface="Cambria Math" panose="02040503050406030204" pitchFamily="18" charset="0"/>
                                      </a:rPr>
                                    </m:ctrlPr>
                                  </m:sSubPr>
                                  <m:e>
                                    <m:r>
                                      <a:rPr lang="zh-CN" altLang="en-US" sz="2800" b="0" i="1">
                                        <a:latin typeface="Cambria Math" panose="02040503050406030204" pitchFamily="18" charset="0"/>
                                      </a:rPr>
                                      <m:t>𝑐</m:t>
                                    </m:r>
                                  </m:e>
                                  <m:sub>
                                    <m:r>
                                      <a:rPr lang="zh-CN" altLang="en-US" sz="2800" b="0" i="1">
                                        <a:latin typeface="Cambria Math" panose="02040503050406030204" pitchFamily="18" charset="0"/>
                                      </a:rPr>
                                      <m:t>𝑧</m:t>
                                    </m:r>
                                  </m:sub>
                                </m:sSub>
                              </m:e>
                            </m:mr>
                          </m:m>
                        </m:e>
                      </m:d>
                      <m:r>
                        <a:rPr lang="zh-CN" altLang="en-US" sz="2800" b="0" i="1">
                          <a:latin typeface="Cambria Math" panose="02040503050406030204" pitchFamily="18" charset="0"/>
                        </a:rPr>
                        <m:t>.</m:t>
                      </m:r>
                    </m:oMath>
                  </m:oMathPara>
                </a14:m>
                <a:endParaRPr lang="zh-CN" altLang="en-US" sz="2800" i="1" dirty="0">
                  <a:latin typeface="Cambria Math" panose="02040503050406030204" pitchFamily="18" charset="0"/>
                </a:endParaRPr>
              </a:p>
            </p:txBody>
          </p:sp>
        </mc:Choice>
        <mc:Fallback xmlns="">
          <p:sp>
            <p:nvSpPr>
              <p:cNvPr id="31802" name="Object 58"/>
              <p:cNvSpPr txBox="1">
                <a:spLocks noRot="1" noChangeAspect="1" noMove="1" noResize="1" noEditPoints="1" noAdjustHandles="1" noChangeArrowheads="1" noChangeShapeType="1" noTextEdit="1"/>
              </p:cNvSpPr>
              <p:nvPr/>
            </p:nvSpPr>
            <p:spPr bwMode="auto">
              <a:xfrm>
                <a:off x="5160726" y="4702643"/>
                <a:ext cx="2830749" cy="1539220"/>
              </a:xfrm>
              <a:prstGeom prst="rect">
                <a:avLst/>
              </a:prstGeom>
              <a:blipFill>
                <a:blip r:embed="rId9"/>
                <a:stretch>
                  <a:fillRect/>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24779332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793"/>
                                        </p:tgtEl>
                                        <p:attrNameLst>
                                          <p:attrName>style.visibility</p:attrName>
                                        </p:attrNameLst>
                                      </p:cBhvr>
                                      <p:to>
                                        <p:strVal val="visible"/>
                                      </p:to>
                                    </p:set>
                                    <p:animEffect transition="in" filter="wipe(left)">
                                      <p:cBhvr>
                                        <p:cTn id="7" dur="500"/>
                                        <p:tgtEl>
                                          <p:spTgt spid="3179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1794"/>
                                        </p:tgtEl>
                                        <p:attrNameLst>
                                          <p:attrName>style.visibility</p:attrName>
                                        </p:attrNameLst>
                                      </p:cBhvr>
                                      <p:to>
                                        <p:strVal val="visible"/>
                                      </p:to>
                                    </p:set>
                                    <p:animEffect transition="in" filter="wipe(left)">
                                      <p:cBhvr>
                                        <p:cTn id="12" dur="500"/>
                                        <p:tgtEl>
                                          <p:spTgt spid="3179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1791">
                                            <p:txEl>
                                              <p:pRg st="0" end="0"/>
                                            </p:txEl>
                                          </p:spTgt>
                                        </p:tgtEl>
                                        <p:attrNameLst>
                                          <p:attrName>style.visibility</p:attrName>
                                        </p:attrNameLst>
                                      </p:cBhvr>
                                      <p:to>
                                        <p:strVal val="visible"/>
                                      </p:to>
                                    </p:set>
                                    <p:animEffect transition="in" filter="wipe(left)">
                                      <p:cBhvr>
                                        <p:cTn id="17" dur="500"/>
                                        <p:tgtEl>
                                          <p:spTgt spid="3179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1795"/>
                                        </p:tgtEl>
                                        <p:attrNameLst>
                                          <p:attrName>style.visibility</p:attrName>
                                        </p:attrNameLst>
                                      </p:cBhvr>
                                      <p:to>
                                        <p:strVal val="visible"/>
                                      </p:to>
                                    </p:set>
                                    <p:animEffect transition="in" filter="wipe(left)">
                                      <p:cBhvr>
                                        <p:cTn id="22" dur="500"/>
                                        <p:tgtEl>
                                          <p:spTgt spid="3179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1796"/>
                                        </p:tgtEl>
                                        <p:attrNameLst>
                                          <p:attrName>style.visibility</p:attrName>
                                        </p:attrNameLst>
                                      </p:cBhvr>
                                      <p:to>
                                        <p:strVal val="visible"/>
                                      </p:to>
                                    </p:set>
                                    <p:animEffect transition="in" filter="wipe(left)">
                                      <p:cBhvr>
                                        <p:cTn id="27" dur="500"/>
                                        <p:tgtEl>
                                          <p:spTgt spid="3179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1797"/>
                                        </p:tgtEl>
                                        <p:attrNameLst>
                                          <p:attrName>style.visibility</p:attrName>
                                        </p:attrNameLst>
                                      </p:cBhvr>
                                      <p:to>
                                        <p:strVal val="visible"/>
                                      </p:to>
                                    </p:set>
                                    <p:animEffect transition="in" filter="wipe(left)">
                                      <p:cBhvr>
                                        <p:cTn id="32" dur="500"/>
                                        <p:tgtEl>
                                          <p:spTgt spid="3179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1801"/>
                                        </p:tgtEl>
                                        <p:attrNameLst>
                                          <p:attrName>style.visibility</p:attrName>
                                        </p:attrNameLst>
                                      </p:cBhvr>
                                      <p:to>
                                        <p:strVal val="visible"/>
                                      </p:to>
                                    </p:set>
                                    <p:animEffect transition="in" filter="wipe(left)">
                                      <p:cBhvr>
                                        <p:cTn id="37" dur="500"/>
                                        <p:tgtEl>
                                          <p:spTgt spid="3180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1798"/>
                                        </p:tgtEl>
                                        <p:attrNameLst>
                                          <p:attrName>style.visibility</p:attrName>
                                        </p:attrNameLst>
                                      </p:cBhvr>
                                      <p:to>
                                        <p:strVal val="visible"/>
                                      </p:to>
                                    </p:set>
                                    <p:animEffect transition="in" filter="wipe(left)">
                                      <p:cBhvr>
                                        <p:cTn id="42" dur="500"/>
                                        <p:tgtEl>
                                          <p:spTgt spid="3179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1799"/>
                                        </p:tgtEl>
                                        <p:attrNameLst>
                                          <p:attrName>style.visibility</p:attrName>
                                        </p:attrNameLst>
                                      </p:cBhvr>
                                      <p:to>
                                        <p:strVal val="visible"/>
                                      </p:to>
                                    </p:set>
                                    <p:animEffect transition="in" filter="wipe(left)">
                                      <p:cBhvr>
                                        <p:cTn id="47" dur="500"/>
                                        <p:tgtEl>
                                          <p:spTgt spid="3179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1800"/>
                                        </p:tgtEl>
                                        <p:attrNameLst>
                                          <p:attrName>style.visibility</p:attrName>
                                        </p:attrNameLst>
                                      </p:cBhvr>
                                      <p:to>
                                        <p:strVal val="visible"/>
                                      </p:to>
                                    </p:set>
                                    <p:animEffect transition="in" filter="wipe(left)">
                                      <p:cBhvr>
                                        <p:cTn id="52" dur="500"/>
                                        <p:tgtEl>
                                          <p:spTgt spid="3180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31802"/>
                                        </p:tgtEl>
                                        <p:attrNameLst>
                                          <p:attrName>style.visibility</p:attrName>
                                        </p:attrNameLst>
                                      </p:cBhvr>
                                      <p:to>
                                        <p:strVal val="visible"/>
                                      </p:to>
                                    </p:set>
                                    <p:animEffect transition="in" filter="wipe(left)">
                                      <p:cBhvr>
                                        <p:cTn id="57" dur="500"/>
                                        <p:tgtEl>
                                          <p:spTgt spid="318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91" grpId="0" build="p"/>
      <p:bldP spid="31793" grpId="0"/>
      <p:bldP spid="31794" grpId="0"/>
      <p:bldP spid="31795" grpId="0"/>
      <p:bldP spid="31796" grpId="0"/>
      <p:bldP spid="31797" grpId="0"/>
      <p:bldP spid="31798" grpId="0"/>
      <p:bldP spid="31799" grpId="0"/>
      <p:bldP spid="31800" grpId="0"/>
      <p:bldP spid="31801" grpId="0"/>
      <p:bldP spid="3180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8" name="Text Box 20"/>
          <p:cNvSpPr txBox="1">
            <a:spLocks noChangeArrowheads="1"/>
          </p:cNvSpPr>
          <p:nvPr/>
        </p:nvSpPr>
        <p:spPr bwMode="auto">
          <a:xfrm>
            <a:off x="1844880" y="765640"/>
            <a:ext cx="17462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800" b="1" dirty="0">
                <a:solidFill>
                  <a:srgbClr val="04926A"/>
                </a:solidFill>
                <a:latin typeface="微软雅黑" panose="020B0503020204020204" pitchFamily="34" charset="-122"/>
                <a:ea typeface="微软雅黑" panose="020B0503020204020204" pitchFamily="34" charset="-122"/>
              </a:rPr>
              <a:t>3.  </a:t>
            </a:r>
            <a:r>
              <a:rPr kumimoji="1" lang="zh-CN" altLang="en-US" sz="2800" b="1" dirty="0">
                <a:solidFill>
                  <a:srgbClr val="04926A"/>
                </a:solidFill>
                <a:latin typeface="微软雅黑" panose="020B0503020204020204" pitchFamily="34" charset="-122"/>
                <a:ea typeface="微软雅黑" panose="020B0503020204020204" pitchFamily="34" charset="-122"/>
              </a:rPr>
              <a:t>性质</a:t>
            </a:r>
          </a:p>
        </p:txBody>
      </p:sp>
      <mc:AlternateContent xmlns:mc="http://schemas.openxmlformats.org/markup-compatibility/2006" xmlns:a14="http://schemas.microsoft.com/office/drawing/2010/main">
        <mc:Choice Requires="a14">
          <p:sp>
            <p:nvSpPr>
              <p:cNvPr id="32789" name="Text Box 21"/>
              <p:cNvSpPr txBox="1">
                <a:spLocks noChangeArrowheads="1"/>
              </p:cNvSpPr>
              <p:nvPr/>
            </p:nvSpPr>
            <p:spPr bwMode="auto">
              <a:xfrm>
                <a:off x="2384476" y="1362075"/>
                <a:ext cx="7391400"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p>
                <a:pPr>
                  <a:spcBef>
                    <a:spcPct val="50000"/>
                  </a:spcBef>
                </a:pPr>
                <a:r>
                  <a:rPr lang="en-US" altLang="zh-CN" sz="2800" dirty="0"/>
                  <a:t>(1) </a:t>
                </a:r>
                <a:r>
                  <a:rPr lang="zh-CN" altLang="en-US" sz="2800" dirty="0"/>
                  <a:t>三个非零向量</a:t>
                </a:r>
                <a14:m>
                  <m:oMath xmlns:m="http://schemas.openxmlformats.org/officeDocument/2006/math">
                    <m:r>
                      <a:rPr lang="zh-CN" altLang="en-US" sz="2800" b="1" i="1">
                        <a:latin typeface="Cambria Math" panose="02040503050406030204" pitchFamily="18" charset="0"/>
                      </a:rPr>
                      <m:t>𝒂</m:t>
                    </m:r>
                    <m:r>
                      <a:rPr lang="en-US" altLang="zh-CN" sz="2800" i="1">
                        <a:latin typeface="Cambria Math" panose="02040503050406030204" pitchFamily="18" charset="0"/>
                      </a:rPr>
                      <m:t>,</m:t>
                    </m:r>
                    <m:r>
                      <a:rPr lang="en-US" altLang="zh-CN" sz="2800" b="1" i="1">
                        <a:latin typeface="Cambria Math" panose="02040503050406030204" pitchFamily="18" charset="0"/>
                      </a:rPr>
                      <m:t>𝒃</m:t>
                    </m:r>
                    <m:r>
                      <a:rPr lang="en-US" altLang="zh-CN" sz="2800" i="1">
                        <a:latin typeface="Cambria Math" panose="02040503050406030204" pitchFamily="18" charset="0"/>
                      </a:rPr>
                      <m:t>,</m:t>
                    </m:r>
                    <m:r>
                      <a:rPr lang="en-US" altLang="zh-CN" sz="2800" b="1" i="1">
                        <a:latin typeface="Cambria Math" panose="02040503050406030204" pitchFamily="18" charset="0"/>
                      </a:rPr>
                      <m:t>𝒄</m:t>
                    </m:r>
                  </m:oMath>
                </a14:m>
                <a:r>
                  <a:rPr lang="zh-CN" altLang="en-US" sz="2800" dirty="0"/>
                  <a:t>共面的充要条件是</a:t>
                </a:r>
              </a:p>
            </p:txBody>
          </p:sp>
        </mc:Choice>
        <mc:Fallback xmlns="">
          <p:sp>
            <p:nvSpPr>
              <p:cNvPr id="32789" name="Text Box 21"/>
              <p:cNvSpPr txBox="1">
                <a:spLocks noRot="1" noChangeAspect="1" noMove="1" noResize="1" noEditPoints="1" noAdjustHandles="1" noChangeArrowheads="1" noChangeShapeType="1" noTextEdit="1"/>
              </p:cNvSpPr>
              <p:nvPr/>
            </p:nvSpPr>
            <p:spPr bwMode="auto">
              <a:xfrm>
                <a:off x="2384476" y="1362075"/>
                <a:ext cx="7391400" cy="523220"/>
              </a:xfrm>
              <a:prstGeom prst="rect">
                <a:avLst/>
              </a:prstGeom>
              <a:blipFill>
                <a:blip r:embed="rId2"/>
                <a:stretch>
                  <a:fillRect l="-1649" t="-13953" b="-2907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790" name="Rectangle 22"/>
              <p:cNvSpPr>
                <a:spLocks noChangeArrowheads="1"/>
              </p:cNvSpPr>
              <p:nvPr/>
            </p:nvSpPr>
            <p:spPr bwMode="auto">
              <a:xfrm>
                <a:off x="4759758" y="2047875"/>
                <a:ext cx="2519363"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800" b="1" i="1" dirty="0" smtClean="0">
                              <a:latin typeface="Cambria Math" panose="02040503050406030204" pitchFamily="18" charset="0"/>
                            </a:rPr>
                          </m:ctrlPr>
                        </m:dPr>
                        <m:e>
                          <m:r>
                            <a:rPr lang="zh-CN" altLang="en-US" sz="2800" b="1" i="1">
                              <a:latin typeface="Cambria Math" panose="02040503050406030204" pitchFamily="18" charset="0"/>
                            </a:rPr>
                            <m:t>𝒂</m:t>
                          </m:r>
                          <m:r>
                            <a:rPr lang="en-US" altLang="zh-CN" sz="2800" b="1">
                              <a:latin typeface="Cambria Math" panose="02040503050406030204" pitchFamily="18" charset="0"/>
                            </a:rPr>
                            <m:t> </m:t>
                          </m:r>
                          <m:r>
                            <a:rPr lang="zh-CN" altLang="en-US" sz="2800" b="1" i="1">
                              <a:latin typeface="Cambria Math" panose="02040503050406030204" pitchFamily="18" charset="0"/>
                            </a:rPr>
                            <m:t>𝒃</m:t>
                          </m:r>
                          <m:r>
                            <a:rPr lang="en-US" altLang="zh-CN" sz="2800" b="1">
                              <a:latin typeface="Cambria Math" panose="02040503050406030204" pitchFamily="18" charset="0"/>
                            </a:rPr>
                            <m:t> </m:t>
                          </m:r>
                          <m:r>
                            <a:rPr lang="en-US" altLang="zh-CN" sz="2800" b="1" i="1">
                              <a:latin typeface="Cambria Math" panose="02040503050406030204" pitchFamily="18" charset="0"/>
                            </a:rPr>
                            <m:t>𝒄</m:t>
                          </m:r>
                        </m:e>
                      </m:d>
                      <m:r>
                        <a:rPr lang="en-US" altLang="zh-CN" sz="2800" b="0" i="1" smtClean="0">
                          <a:latin typeface="Cambria Math" panose="02040503050406030204" pitchFamily="18" charset="0"/>
                        </a:rPr>
                        <m:t>=0;</m:t>
                      </m:r>
                      <m:r>
                        <a:rPr lang="en-US" altLang="zh-CN" sz="2800" i="1">
                          <a:latin typeface="Cambria Math" panose="02040503050406030204" pitchFamily="18" charset="0"/>
                        </a:rPr>
                        <m:t> </m:t>
                      </m:r>
                    </m:oMath>
                  </m:oMathPara>
                </a14:m>
                <a:endParaRPr lang="zh-CN" altLang="en-US" sz="2800" dirty="0">
                  <a:latin typeface="Cambria Math" panose="02040503050406030204" pitchFamily="18" charset="0"/>
                </a:endParaRPr>
              </a:p>
            </p:txBody>
          </p:sp>
        </mc:Choice>
        <mc:Fallback xmlns="">
          <p:sp>
            <p:nvSpPr>
              <p:cNvPr id="32790" name="Rectangle 22"/>
              <p:cNvSpPr>
                <a:spLocks noRot="1" noChangeAspect="1" noMove="1" noResize="1" noEditPoints="1" noAdjustHandles="1" noChangeArrowheads="1" noChangeShapeType="1" noTextEdit="1"/>
              </p:cNvSpPr>
              <p:nvPr/>
            </p:nvSpPr>
            <p:spPr bwMode="auto">
              <a:xfrm>
                <a:off x="4759758" y="2047875"/>
                <a:ext cx="2519363" cy="523220"/>
              </a:xfrm>
              <a:prstGeom prst="rect">
                <a:avLst/>
              </a:prstGeom>
              <a:blipFill>
                <a:blip r:embed="rId3"/>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32791" name="Text Box 23"/>
          <p:cNvSpPr txBox="1">
            <a:spLocks noChangeArrowheads="1"/>
          </p:cNvSpPr>
          <p:nvPr/>
        </p:nvSpPr>
        <p:spPr bwMode="auto">
          <a:xfrm>
            <a:off x="2384476" y="2747963"/>
            <a:ext cx="73914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dirty="0"/>
              <a:t>(2) </a:t>
            </a:r>
            <a:r>
              <a:rPr lang="zh-CN" altLang="en-US" sz="2800" dirty="0"/>
              <a:t>轮换对称性：</a:t>
            </a:r>
          </a:p>
        </p:txBody>
      </p:sp>
      <mc:AlternateContent xmlns:mc="http://schemas.openxmlformats.org/markup-compatibility/2006" xmlns:a14="http://schemas.microsoft.com/office/drawing/2010/main">
        <mc:Choice Requires="a14">
          <p:sp>
            <p:nvSpPr>
              <p:cNvPr id="32792" name="Rectangle 24"/>
              <p:cNvSpPr>
                <a:spLocks noChangeArrowheads="1"/>
              </p:cNvSpPr>
              <p:nvPr/>
            </p:nvSpPr>
            <p:spPr bwMode="auto">
              <a:xfrm>
                <a:off x="3466739" y="3433763"/>
                <a:ext cx="5105400"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p>
                <a:pPr/>
                <a14:m>
                  <m:oMathPara xmlns:m="http://schemas.openxmlformats.org/officeDocument/2006/math">
                    <m:oMathParaPr>
                      <m:jc m:val="left"/>
                    </m:oMathParaPr>
                    <m:oMath xmlns:m="http://schemas.openxmlformats.org/officeDocument/2006/math">
                      <m:d>
                        <m:dPr>
                          <m:begChr m:val="["/>
                          <m:endChr m:val="]"/>
                          <m:ctrlPr>
                            <a:rPr lang="en-US" altLang="zh-CN" sz="2800" b="1" i="1" dirty="0" smtClean="0">
                              <a:latin typeface="Cambria Math" panose="02040503050406030204" pitchFamily="18" charset="0"/>
                            </a:rPr>
                          </m:ctrlPr>
                        </m:dPr>
                        <m:e>
                          <m:r>
                            <a:rPr lang="zh-CN" altLang="en-US" sz="2800" b="1" i="1">
                              <a:latin typeface="Cambria Math" panose="02040503050406030204" pitchFamily="18" charset="0"/>
                            </a:rPr>
                            <m:t>𝒂</m:t>
                          </m:r>
                          <m:r>
                            <a:rPr lang="en-US" altLang="zh-CN" sz="2800" b="1">
                              <a:latin typeface="Cambria Math" panose="02040503050406030204" pitchFamily="18" charset="0"/>
                            </a:rPr>
                            <m:t> </m:t>
                          </m:r>
                          <m:r>
                            <a:rPr lang="zh-CN" altLang="en-US" sz="2800" b="1" i="1">
                              <a:latin typeface="Cambria Math" panose="02040503050406030204" pitchFamily="18" charset="0"/>
                            </a:rPr>
                            <m:t>𝒃</m:t>
                          </m:r>
                          <m:r>
                            <a:rPr lang="en-US" altLang="zh-CN" sz="2800" b="1">
                              <a:latin typeface="Cambria Math" panose="02040503050406030204" pitchFamily="18" charset="0"/>
                            </a:rPr>
                            <m:t> </m:t>
                          </m:r>
                          <m:r>
                            <a:rPr lang="en-US" altLang="zh-CN" sz="2800" b="1" i="1">
                              <a:latin typeface="Cambria Math" panose="02040503050406030204" pitchFamily="18" charset="0"/>
                            </a:rPr>
                            <m:t>𝒄</m:t>
                          </m:r>
                        </m:e>
                      </m:d>
                      <m:r>
                        <a:rPr lang="en-US" altLang="zh-CN" sz="2800" i="1">
                          <a:latin typeface="Cambria Math" panose="02040503050406030204" pitchFamily="18" charset="0"/>
                        </a:rPr>
                        <m:t>=</m:t>
                      </m:r>
                      <m:d>
                        <m:dPr>
                          <m:begChr m:val="["/>
                          <m:endChr m:val="]"/>
                          <m:ctrlPr>
                            <a:rPr lang="en-US" altLang="zh-CN" sz="2800" b="1" i="1" dirty="0">
                              <a:latin typeface="Cambria Math" panose="02040503050406030204" pitchFamily="18" charset="0"/>
                            </a:rPr>
                          </m:ctrlPr>
                        </m:dPr>
                        <m:e>
                          <m:r>
                            <a:rPr lang="zh-CN" altLang="en-US" sz="2800" b="1" i="1">
                              <a:latin typeface="Cambria Math" panose="02040503050406030204" pitchFamily="18" charset="0"/>
                            </a:rPr>
                            <m:t>𝒃</m:t>
                          </m:r>
                          <m:r>
                            <a:rPr lang="en-US" altLang="zh-CN" sz="2800" b="1">
                              <a:latin typeface="Cambria Math" panose="02040503050406030204" pitchFamily="18" charset="0"/>
                            </a:rPr>
                            <m:t> </m:t>
                          </m:r>
                          <m:r>
                            <a:rPr lang="en-US" altLang="zh-CN" sz="2800" b="1" i="1">
                              <a:latin typeface="Cambria Math" panose="02040503050406030204" pitchFamily="18" charset="0"/>
                            </a:rPr>
                            <m:t>𝒄</m:t>
                          </m:r>
                          <m:r>
                            <a:rPr lang="en-US" altLang="zh-CN" sz="2800" b="1" i="1" smtClean="0">
                              <a:latin typeface="Cambria Math" panose="02040503050406030204" pitchFamily="18" charset="0"/>
                            </a:rPr>
                            <m:t> </m:t>
                          </m:r>
                          <m:r>
                            <a:rPr lang="zh-CN" altLang="en-US" sz="2800" b="1" i="1">
                              <a:latin typeface="Cambria Math" panose="02040503050406030204" pitchFamily="18" charset="0"/>
                            </a:rPr>
                            <m:t>𝒂</m:t>
                          </m:r>
                        </m:e>
                      </m:d>
                      <m:r>
                        <a:rPr lang="en-US" altLang="zh-CN" sz="2800" b="1" i="1" smtClean="0">
                          <a:latin typeface="Cambria Math" panose="02040503050406030204" pitchFamily="18" charset="0"/>
                        </a:rPr>
                        <m:t>=</m:t>
                      </m:r>
                      <m:d>
                        <m:dPr>
                          <m:begChr m:val="["/>
                          <m:endChr m:val="]"/>
                          <m:ctrlPr>
                            <a:rPr lang="en-US" altLang="zh-CN" sz="2800" b="1" i="1" smtClean="0">
                              <a:latin typeface="Cambria Math" panose="02040503050406030204" pitchFamily="18" charset="0"/>
                            </a:rPr>
                          </m:ctrlPr>
                        </m:dPr>
                        <m:e>
                          <m:r>
                            <a:rPr lang="en-US" altLang="zh-CN" sz="2800" b="1" i="1" smtClean="0">
                              <a:latin typeface="Cambria Math" panose="02040503050406030204" pitchFamily="18" charset="0"/>
                            </a:rPr>
                            <m:t>𝒄</m:t>
                          </m:r>
                          <m:r>
                            <a:rPr lang="en-US" altLang="zh-CN" sz="2800" b="1" i="1" smtClean="0">
                              <a:latin typeface="Cambria Math" panose="02040503050406030204" pitchFamily="18" charset="0"/>
                            </a:rPr>
                            <m:t> </m:t>
                          </m:r>
                          <m:r>
                            <a:rPr lang="en-US" altLang="zh-CN" sz="2800" b="1" i="1" smtClean="0">
                              <a:latin typeface="Cambria Math" panose="02040503050406030204" pitchFamily="18" charset="0"/>
                            </a:rPr>
                            <m:t>𝒂</m:t>
                          </m:r>
                          <m:r>
                            <a:rPr lang="en-US" altLang="zh-CN" sz="2800" b="1" i="1" smtClean="0">
                              <a:latin typeface="Cambria Math" panose="02040503050406030204" pitchFamily="18" charset="0"/>
                            </a:rPr>
                            <m:t> </m:t>
                          </m:r>
                          <m:r>
                            <a:rPr lang="en-US" altLang="zh-CN" sz="2800" b="1" i="1" smtClean="0">
                              <a:latin typeface="Cambria Math" panose="02040503050406030204" pitchFamily="18" charset="0"/>
                            </a:rPr>
                            <m:t>𝒃</m:t>
                          </m:r>
                        </m:e>
                      </m:d>
                      <m:r>
                        <a:rPr lang="en-US" altLang="zh-CN" sz="2800" b="0" i="0" smtClean="0">
                          <a:latin typeface="Cambria Math" panose="02040503050406030204" pitchFamily="18" charset="0"/>
                        </a:rPr>
                        <m:t>.</m:t>
                      </m:r>
                    </m:oMath>
                  </m:oMathPara>
                </a14:m>
                <a:endParaRPr lang="en-US" altLang="zh-CN" sz="2800" dirty="0">
                  <a:latin typeface="Cambria Math" panose="02040503050406030204" pitchFamily="18" charset="0"/>
                </a:endParaRPr>
              </a:p>
            </p:txBody>
          </p:sp>
        </mc:Choice>
        <mc:Fallback xmlns="">
          <p:sp>
            <p:nvSpPr>
              <p:cNvPr id="32792" name="Rectangle 24"/>
              <p:cNvSpPr>
                <a:spLocks noRot="1" noChangeAspect="1" noMove="1" noResize="1" noEditPoints="1" noAdjustHandles="1" noChangeArrowheads="1" noChangeShapeType="1" noTextEdit="1"/>
              </p:cNvSpPr>
              <p:nvPr/>
            </p:nvSpPr>
            <p:spPr bwMode="auto">
              <a:xfrm>
                <a:off x="3466739" y="3433763"/>
                <a:ext cx="5105400" cy="523220"/>
              </a:xfrm>
              <a:prstGeom prst="rect">
                <a:avLst/>
              </a:prstGeom>
              <a:blipFill>
                <a:blip r:embed="rId4"/>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pSp>
        <p:nvGrpSpPr>
          <p:cNvPr id="32811" name="Group 43"/>
          <p:cNvGrpSpPr>
            <a:grpSpLocks/>
          </p:cNvGrpSpPr>
          <p:nvPr/>
        </p:nvGrpSpPr>
        <p:grpSpPr bwMode="auto">
          <a:xfrm>
            <a:off x="4759758" y="3927948"/>
            <a:ext cx="1712913" cy="1793875"/>
            <a:chOff x="2174" y="2710"/>
            <a:chExt cx="1079" cy="1130"/>
          </a:xfrm>
        </p:grpSpPr>
        <p:sp>
          <p:nvSpPr>
            <p:cNvPr id="32804" name="Arc 36"/>
            <p:cNvSpPr>
              <a:spLocks/>
            </p:cNvSpPr>
            <p:nvPr/>
          </p:nvSpPr>
          <p:spPr bwMode="auto">
            <a:xfrm>
              <a:off x="2341" y="3351"/>
              <a:ext cx="724" cy="489"/>
            </a:xfrm>
            <a:custGeom>
              <a:avLst/>
              <a:gdLst>
                <a:gd name="G0" fmla="+- 17312 0 0"/>
                <a:gd name="G1" fmla="+- 0 0 0"/>
                <a:gd name="G2" fmla="+- 21600 0 0"/>
                <a:gd name="T0" fmla="*/ 31951 w 31951"/>
                <a:gd name="T1" fmla="*/ 15882 h 21600"/>
                <a:gd name="T2" fmla="*/ 0 w 31951"/>
                <a:gd name="T3" fmla="*/ 12917 h 21600"/>
                <a:gd name="T4" fmla="*/ 17312 w 31951"/>
                <a:gd name="T5" fmla="*/ 0 h 21600"/>
              </a:gdLst>
              <a:ahLst/>
              <a:cxnLst>
                <a:cxn ang="0">
                  <a:pos x="T0" y="T1"/>
                </a:cxn>
                <a:cxn ang="0">
                  <a:pos x="T2" y="T3"/>
                </a:cxn>
                <a:cxn ang="0">
                  <a:pos x="T4" y="T5"/>
                </a:cxn>
              </a:cxnLst>
              <a:rect l="0" t="0" r="r" b="b"/>
              <a:pathLst>
                <a:path w="31951" h="21600" fill="none" extrusionOk="0">
                  <a:moveTo>
                    <a:pt x="31951" y="15882"/>
                  </a:moveTo>
                  <a:cubicBezTo>
                    <a:pt x="27962" y="19558"/>
                    <a:pt x="22736" y="21599"/>
                    <a:pt x="17312" y="21599"/>
                  </a:cubicBezTo>
                  <a:cubicBezTo>
                    <a:pt x="10494" y="21599"/>
                    <a:pt x="4076" y="18381"/>
                    <a:pt x="-1" y="12917"/>
                  </a:cubicBezTo>
                </a:path>
                <a:path w="31951" h="21600" stroke="0" extrusionOk="0">
                  <a:moveTo>
                    <a:pt x="31951" y="15882"/>
                  </a:moveTo>
                  <a:cubicBezTo>
                    <a:pt x="27962" y="19558"/>
                    <a:pt x="22736" y="21599"/>
                    <a:pt x="17312" y="21599"/>
                  </a:cubicBezTo>
                  <a:cubicBezTo>
                    <a:pt x="10494" y="21599"/>
                    <a:pt x="4076" y="18381"/>
                    <a:pt x="-1" y="12917"/>
                  </a:cubicBezTo>
                  <a:lnTo>
                    <a:pt x="17312" y="0"/>
                  </a:lnTo>
                  <a:close/>
                </a:path>
              </a:pathLst>
            </a:custGeom>
            <a:noFill/>
            <a:ln w="28575">
              <a:solidFill>
                <a:srgbClr val="04926A"/>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latin typeface="Times New Roman" panose="02020603050405020304" pitchFamily="18" charset="0"/>
                <a:cs typeface="Times New Roman" panose="02020603050405020304" pitchFamily="18" charset="0"/>
              </a:endParaRPr>
            </a:p>
          </p:txBody>
        </p:sp>
        <p:sp>
          <p:nvSpPr>
            <p:cNvPr id="32805" name="Arc 37"/>
            <p:cNvSpPr>
              <a:spLocks/>
            </p:cNvSpPr>
            <p:nvPr/>
          </p:nvSpPr>
          <p:spPr bwMode="auto">
            <a:xfrm rot="-6925475">
              <a:off x="2596" y="3034"/>
              <a:ext cx="724" cy="489"/>
            </a:xfrm>
            <a:custGeom>
              <a:avLst/>
              <a:gdLst>
                <a:gd name="G0" fmla="+- 17312 0 0"/>
                <a:gd name="G1" fmla="+- 0 0 0"/>
                <a:gd name="G2" fmla="+- 21600 0 0"/>
                <a:gd name="T0" fmla="*/ 31951 w 31951"/>
                <a:gd name="T1" fmla="*/ 15882 h 21600"/>
                <a:gd name="T2" fmla="*/ 0 w 31951"/>
                <a:gd name="T3" fmla="*/ 12917 h 21600"/>
                <a:gd name="T4" fmla="*/ 17312 w 31951"/>
                <a:gd name="T5" fmla="*/ 0 h 21600"/>
              </a:gdLst>
              <a:ahLst/>
              <a:cxnLst>
                <a:cxn ang="0">
                  <a:pos x="T0" y="T1"/>
                </a:cxn>
                <a:cxn ang="0">
                  <a:pos x="T2" y="T3"/>
                </a:cxn>
                <a:cxn ang="0">
                  <a:pos x="T4" y="T5"/>
                </a:cxn>
              </a:cxnLst>
              <a:rect l="0" t="0" r="r" b="b"/>
              <a:pathLst>
                <a:path w="31951" h="21600" fill="none" extrusionOk="0">
                  <a:moveTo>
                    <a:pt x="31951" y="15882"/>
                  </a:moveTo>
                  <a:cubicBezTo>
                    <a:pt x="27962" y="19558"/>
                    <a:pt x="22736" y="21599"/>
                    <a:pt x="17312" y="21599"/>
                  </a:cubicBezTo>
                  <a:cubicBezTo>
                    <a:pt x="10494" y="21599"/>
                    <a:pt x="4076" y="18381"/>
                    <a:pt x="-1" y="12917"/>
                  </a:cubicBezTo>
                </a:path>
                <a:path w="31951" h="21600" stroke="0" extrusionOk="0">
                  <a:moveTo>
                    <a:pt x="31951" y="15882"/>
                  </a:moveTo>
                  <a:cubicBezTo>
                    <a:pt x="27962" y="19558"/>
                    <a:pt x="22736" y="21599"/>
                    <a:pt x="17312" y="21599"/>
                  </a:cubicBezTo>
                  <a:cubicBezTo>
                    <a:pt x="10494" y="21599"/>
                    <a:pt x="4076" y="18381"/>
                    <a:pt x="-1" y="12917"/>
                  </a:cubicBezTo>
                  <a:lnTo>
                    <a:pt x="17312" y="0"/>
                  </a:lnTo>
                  <a:close/>
                </a:path>
              </a:pathLst>
            </a:custGeom>
            <a:noFill/>
            <a:ln w="28575">
              <a:solidFill>
                <a:srgbClr val="04926A"/>
              </a:solidFill>
              <a:round/>
              <a:headEnd type="triangle" w="med" len="me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latin typeface="Times New Roman" panose="02020603050405020304" pitchFamily="18" charset="0"/>
                <a:cs typeface="Times New Roman" panose="02020603050405020304" pitchFamily="18" charset="0"/>
              </a:endParaRPr>
            </a:p>
          </p:txBody>
        </p:sp>
        <p:sp>
          <p:nvSpPr>
            <p:cNvPr id="32806" name="Arc 38"/>
            <p:cNvSpPr>
              <a:spLocks/>
            </p:cNvSpPr>
            <p:nvPr/>
          </p:nvSpPr>
          <p:spPr bwMode="auto">
            <a:xfrm rot="7453265">
              <a:off x="2171" y="2982"/>
              <a:ext cx="768" cy="480"/>
            </a:xfrm>
            <a:custGeom>
              <a:avLst/>
              <a:gdLst>
                <a:gd name="G0" fmla="+- 17312 0 0"/>
                <a:gd name="G1" fmla="+- 0 0 0"/>
                <a:gd name="G2" fmla="+- 21600 0 0"/>
                <a:gd name="T0" fmla="*/ 31951 w 31951"/>
                <a:gd name="T1" fmla="*/ 15882 h 21600"/>
                <a:gd name="T2" fmla="*/ 0 w 31951"/>
                <a:gd name="T3" fmla="*/ 12917 h 21600"/>
                <a:gd name="T4" fmla="*/ 17312 w 31951"/>
                <a:gd name="T5" fmla="*/ 0 h 21600"/>
              </a:gdLst>
              <a:ahLst/>
              <a:cxnLst>
                <a:cxn ang="0">
                  <a:pos x="T0" y="T1"/>
                </a:cxn>
                <a:cxn ang="0">
                  <a:pos x="T2" y="T3"/>
                </a:cxn>
                <a:cxn ang="0">
                  <a:pos x="T4" y="T5"/>
                </a:cxn>
              </a:cxnLst>
              <a:rect l="0" t="0" r="r" b="b"/>
              <a:pathLst>
                <a:path w="31951" h="21600" fill="none" extrusionOk="0">
                  <a:moveTo>
                    <a:pt x="31951" y="15882"/>
                  </a:moveTo>
                  <a:cubicBezTo>
                    <a:pt x="27962" y="19558"/>
                    <a:pt x="22736" y="21599"/>
                    <a:pt x="17312" y="21599"/>
                  </a:cubicBezTo>
                  <a:cubicBezTo>
                    <a:pt x="10494" y="21599"/>
                    <a:pt x="4076" y="18381"/>
                    <a:pt x="-1" y="12917"/>
                  </a:cubicBezTo>
                </a:path>
                <a:path w="31951" h="21600" stroke="0" extrusionOk="0">
                  <a:moveTo>
                    <a:pt x="31951" y="15882"/>
                  </a:moveTo>
                  <a:cubicBezTo>
                    <a:pt x="27962" y="19558"/>
                    <a:pt x="22736" y="21599"/>
                    <a:pt x="17312" y="21599"/>
                  </a:cubicBezTo>
                  <a:cubicBezTo>
                    <a:pt x="10494" y="21599"/>
                    <a:pt x="4076" y="18381"/>
                    <a:pt x="-1" y="12917"/>
                  </a:cubicBezTo>
                  <a:lnTo>
                    <a:pt x="17312" y="0"/>
                  </a:lnTo>
                  <a:close/>
                </a:path>
              </a:pathLst>
            </a:custGeom>
            <a:noFill/>
            <a:ln w="28575">
              <a:solidFill>
                <a:srgbClr val="04926A"/>
              </a:solidFill>
              <a:round/>
              <a:headEnd type="triangle" w="med" len="me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2808" name="Rectangle 40"/>
                <p:cNvSpPr>
                  <a:spLocks noChangeArrowheads="1"/>
                </p:cNvSpPr>
                <p:nvPr/>
              </p:nvSpPr>
              <p:spPr bwMode="auto">
                <a:xfrm>
                  <a:off x="2677" y="2710"/>
                  <a:ext cx="305" cy="33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800" b="1" i="1" smtClean="0">
                            <a:latin typeface="Cambria Math" panose="02040503050406030204" pitchFamily="18" charset="0"/>
                          </a:rPr>
                          <m:t>𝒂</m:t>
                        </m:r>
                      </m:oMath>
                    </m:oMathPara>
                  </a14:m>
                  <a:endParaRPr lang="en-US" altLang="zh-CN" sz="2800" b="1" dirty="0">
                    <a:latin typeface="Cambria Math" panose="02040503050406030204" pitchFamily="18" charset="0"/>
                  </a:endParaRPr>
                </a:p>
              </p:txBody>
            </p:sp>
          </mc:Choice>
          <mc:Fallback xmlns="">
            <p:sp>
              <p:nvSpPr>
                <p:cNvPr id="32808" name="Rectangle 40"/>
                <p:cNvSpPr>
                  <a:spLocks noRot="1" noChangeAspect="1" noMove="1" noResize="1" noEditPoints="1" noAdjustHandles="1" noChangeArrowheads="1" noChangeShapeType="1" noTextEdit="1"/>
                </p:cNvSpPr>
                <p:nvPr/>
              </p:nvSpPr>
              <p:spPr bwMode="auto">
                <a:xfrm>
                  <a:off x="2677" y="2710"/>
                  <a:ext cx="305" cy="330"/>
                </a:xfrm>
                <a:prstGeom prst="rect">
                  <a:avLst/>
                </a:prstGeom>
                <a:blipFill>
                  <a:blip r:embed="rId5"/>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809" name="Rectangle 41"/>
                <p:cNvSpPr>
                  <a:spLocks noChangeArrowheads="1"/>
                </p:cNvSpPr>
                <p:nvPr/>
              </p:nvSpPr>
              <p:spPr bwMode="auto">
                <a:xfrm>
                  <a:off x="2174" y="3381"/>
                  <a:ext cx="302" cy="33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800" b="1" i="1" smtClean="0">
                            <a:latin typeface="Cambria Math" panose="02040503050406030204" pitchFamily="18" charset="0"/>
                          </a:rPr>
                          <m:t>𝒃</m:t>
                        </m:r>
                      </m:oMath>
                    </m:oMathPara>
                  </a14:m>
                  <a:endParaRPr lang="en-US" altLang="zh-CN" sz="2800" b="1" dirty="0">
                    <a:latin typeface="Cambria Math" panose="02040503050406030204" pitchFamily="18" charset="0"/>
                  </a:endParaRPr>
                </a:p>
              </p:txBody>
            </p:sp>
          </mc:Choice>
          <mc:Fallback xmlns="">
            <p:sp>
              <p:nvSpPr>
                <p:cNvPr id="32809" name="Rectangle 41"/>
                <p:cNvSpPr>
                  <a:spLocks noRot="1" noChangeAspect="1" noMove="1" noResize="1" noEditPoints="1" noAdjustHandles="1" noChangeArrowheads="1" noChangeShapeType="1" noTextEdit="1"/>
                </p:cNvSpPr>
                <p:nvPr/>
              </p:nvSpPr>
              <p:spPr bwMode="auto">
                <a:xfrm>
                  <a:off x="2174" y="3381"/>
                  <a:ext cx="302" cy="330"/>
                </a:xfrm>
                <a:prstGeom prst="rect">
                  <a:avLst/>
                </a:prstGeom>
                <a:blipFill>
                  <a:blip r:embed="rId6"/>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810" name="Rectangle 42"/>
                <p:cNvSpPr>
                  <a:spLocks noChangeArrowheads="1"/>
                </p:cNvSpPr>
                <p:nvPr/>
              </p:nvSpPr>
              <p:spPr bwMode="auto">
                <a:xfrm>
                  <a:off x="2976" y="3468"/>
                  <a:ext cx="277" cy="33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800" b="1" i="1" smtClean="0">
                            <a:latin typeface="Cambria Math" panose="02040503050406030204" pitchFamily="18" charset="0"/>
                          </a:rPr>
                          <m:t>𝒄</m:t>
                        </m:r>
                      </m:oMath>
                    </m:oMathPara>
                  </a14:m>
                  <a:endParaRPr lang="en-US" altLang="zh-CN" sz="2800" b="1" dirty="0">
                    <a:latin typeface="Cambria Math" panose="02040503050406030204" pitchFamily="18" charset="0"/>
                  </a:endParaRPr>
                </a:p>
              </p:txBody>
            </p:sp>
          </mc:Choice>
          <mc:Fallback xmlns="">
            <p:sp>
              <p:nvSpPr>
                <p:cNvPr id="32810" name="Rectangle 42"/>
                <p:cNvSpPr>
                  <a:spLocks noRot="1" noChangeAspect="1" noMove="1" noResize="1" noEditPoints="1" noAdjustHandles="1" noChangeArrowheads="1" noChangeShapeType="1" noTextEdit="1"/>
                </p:cNvSpPr>
                <p:nvPr/>
              </p:nvSpPr>
              <p:spPr bwMode="auto">
                <a:xfrm>
                  <a:off x="2976" y="3468"/>
                  <a:ext cx="277" cy="330"/>
                </a:xfrm>
                <a:prstGeom prst="rect">
                  <a:avLst/>
                </a:prstGeom>
                <a:blipFill>
                  <a:blip r:embed="rId7"/>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pSp>
    </p:spTree>
    <p:extLst>
      <p:ext uri="{BB962C8B-B14F-4D97-AF65-F5344CB8AC3E}">
        <p14:creationId xmlns:p14="http://schemas.microsoft.com/office/powerpoint/2010/main" val="33392692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788"/>
                                        </p:tgtEl>
                                        <p:attrNameLst>
                                          <p:attrName>style.visibility</p:attrName>
                                        </p:attrNameLst>
                                      </p:cBhvr>
                                      <p:to>
                                        <p:strVal val="visible"/>
                                      </p:to>
                                    </p:set>
                                    <p:animEffect transition="in" filter="wipe(left)">
                                      <p:cBhvr>
                                        <p:cTn id="7" dur="500"/>
                                        <p:tgtEl>
                                          <p:spTgt spid="327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2789"/>
                                        </p:tgtEl>
                                        <p:attrNameLst>
                                          <p:attrName>style.visibility</p:attrName>
                                        </p:attrNameLst>
                                      </p:cBhvr>
                                      <p:to>
                                        <p:strVal val="visible"/>
                                      </p:to>
                                    </p:set>
                                    <p:animEffect transition="in" filter="wipe(left)">
                                      <p:cBhvr>
                                        <p:cTn id="12" dur="500"/>
                                        <p:tgtEl>
                                          <p:spTgt spid="3278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2790"/>
                                        </p:tgtEl>
                                        <p:attrNameLst>
                                          <p:attrName>style.visibility</p:attrName>
                                        </p:attrNameLst>
                                      </p:cBhvr>
                                      <p:to>
                                        <p:strVal val="visible"/>
                                      </p:to>
                                    </p:set>
                                    <p:animEffect transition="in" filter="wipe(left)">
                                      <p:cBhvr>
                                        <p:cTn id="17" dur="500"/>
                                        <p:tgtEl>
                                          <p:spTgt spid="3279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2791"/>
                                        </p:tgtEl>
                                        <p:attrNameLst>
                                          <p:attrName>style.visibility</p:attrName>
                                        </p:attrNameLst>
                                      </p:cBhvr>
                                      <p:to>
                                        <p:strVal val="visible"/>
                                      </p:to>
                                    </p:set>
                                    <p:animEffect transition="in" filter="wipe(left)">
                                      <p:cBhvr>
                                        <p:cTn id="22" dur="500"/>
                                        <p:tgtEl>
                                          <p:spTgt spid="3279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2792"/>
                                        </p:tgtEl>
                                        <p:attrNameLst>
                                          <p:attrName>style.visibility</p:attrName>
                                        </p:attrNameLst>
                                      </p:cBhvr>
                                      <p:to>
                                        <p:strVal val="visible"/>
                                      </p:to>
                                    </p:set>
                                    <p:animEffect transition="in" filter="wipe(left)">
                                      <p:cBhvr>
                                        <p:cTn id="27" dur="500"/>
                                        <p:tgtEl>
                                          <p:spTgt spid="3279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32811"/>
                                        </p:tgtEl>
                                        <p:attrNameLst>
                                          <p:attrName>style.visibility</p:attrName>
                                        </p:attrNameLst>
                                      </p:cBhvr>
                                      <p:to>
                                        <p:strVal val="visible"/>
                                      </p:to>
                                    </p:set>
                                    <p:animEffect transition="in" filter="wipe(left)">
                                      <p:cBhvr>
                                        <p:cTn id="32" dur="500"/>
                                        <p:tgtEl>
                                          <p:spTgt spid="328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88" grpId="0"/>
      <p:bldP spid="32789" grpId="0"/>
      <p:bldP spid="32790" grpId="0"/>
      <p:bldP spid="32791" grpId="0"/>
      <p:bldP spid="3279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FEB98CDD-6613-8A63-46E8-0A063173851D}"/>
              </a:ext>
            </a:extLst>
          </p:cNvPr>
          <p:cNvGrpSpPr/>
          <p:nvPr/>
        </p:nvGrpSpPr>
        <p:grpSpPr>
          <a:xfrm>
            <a:off x="687324" y="535820"/>
            <a:ext cx="10817987" cy="5803091"/>
            <a:chOff x="687324" y="535820"/>
            <a:chExt cx="10817987" cy="5803091"/>
          </a:xfrm>
        </p:grpSpPr>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1AECD22C-A2D9-217B-4A1A-1454BE1565ED}"/>
                    </a:ext>
                  </a:extLst>
                </p:cNvPr>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dirty="0"/>
                </a:p>
              </p:txBody>
            </p:sp>
          </mc:Choice>
          <mc:Fallback xmlns="">
            <p:sp>
              <p:nvSpPr>
                <p:cNvPr id="4" name="矩形 3">
                  <a:extLst>
                    <a:ext uri="{FF2B5EF4-FFF2-40B4-BE49-F238E27FC236}">
                      <a16:creationId xmlns:a16="http://schemas.microsoft.com/office/drawing/2014/main" id="{1AECD22C-A2D9-217B-4A1A-1454BE1565ED}"/>
                    </a:ext>
                  </a:extLst>
                </p:cNvPr>
                <p:cNvSpPr>
                  <a:spLocks noRot="1" noChangeAspect="1" noMove="1" noResize="1" noEditPoints="1" noAdjustHandles="1" noChangeArrowheads="1" noChangeShapeType="1" noTextEdit="1"/>
                </p:cNvSpPr>
                <p:nvPr/>
              </p:nvSpPr>
              <p:spPr>
                <a:xfrm>
                  <a:off x="687959" y="536260"/>
                  <a:ext cx="10817352" cy="5799897"/>
                </a:xfrm>
                <a:prstGeom prst="rect">
                  <a:avLst/>
                </a:prstGeom>
                <a:blipFill>
                  <a:blip r:embed="rId3"/>
                  <a:stretch>
                    <a:fillRect/>
                  </a:stretch>
                </a:blipFill>
                <a:ln>
                  <a:noFill/>
                </a:ln>
                <a:effectLst>
                  <a:outerShdw blurRad="63500" sx="102000" sy="102000" algn="ctr" rotWithShape="0">
                    <a:prstClr val="black">
                      <a:alpha val="9000"/>
                    </a:prstClr>
                  </a:outerShdw>
                </a:effectLst>
              </p:spPr>
              <p:txBody>
                <a:bodyPr/>
                <a:lstStyle/>
                <a:p>
                  <a:r>
                    <a:rPr lang="zh-CN" altLang="en-US">
                      <a:noFill/>
                    </a:rPr>
                    <a:t> </a:t>
                  </a:r>
                </a:p>
              </p:txBody>
            </p:sp>
          </mc:Fallback>
        </mc:AlternateContent>
        <p:sp>
          <p:nvSpPr>
            <p:cNvPr id="5" name="半闭框 4">
              <a:extLst>
                <a:ext uri="{FF2B5EF4-FFF2-40B4-BE49-F238E27FC236}">
                  <a16:creationId xmlns:a16="http://schemas.microsoft.com/office/drawing/2014/main" id="{A330FA01-D6F9-5AB2-1849-31E60E15E86C}"/>
                </a:ext>
              </a:extLst>
            </p:cNvPr>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半闭框 5">
              <a:extLst>
                <a:ext uri="{FF2B5EF4-FFF2-40B4-BE49-F238E27FC236}">
                  <a16:creationId xmlns:a16="http://schemas.microsoft.com/office/drawing/2014/main" id="{2E682181-680F-FF25-FD8C-DF006331549C}"/>
                </a:ext>
              </a:extLst>
            </p:cNvPr>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半闭框 6">
              <a:extLst>
                <a:ext uri="{FF2B5EF4-FFF2-40B4-BE49-F238E27FC236}">
                  <a16:creationId xmlns:a16="http://schemas.microsoft.com/office/drawing/2014/main" id="{ECC34E4C-3046-2455-158A-4C2311CE0E9D}"/>
                </a:ext>
              </a:extLst>
            </p:cNvPr>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8" name="半闭框 7">
              <a:extLst>
                <a:ext uri="{FF2B5EF4-FFF2-40B4-BE49-F238E27FC236}">
                  <a16:creationId xmlns:a16="http://schemas.microsoft.com/office/drawing/2014/main" id="{C1F024F2-FFB9-7BF1-06C1-0514FA105FBA}"/>
                </a:ext>
              </a:extLst>
            </p:cNvPr>
            <p:cNvSpPr/>
            <p:nvPr/>
          </p:nvSpPr>
          <p:spPr>
            <a:xfrm flipH="1" flipV="1">
              <a:off x="10823530"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2262" name="Rectangle 214"/>
          <p:cNvSpPr>
            <a:spLocks noChangeArrowheads="1"/>
          </p:cNvSpPr>
          <p:nvPr/>
        </p:nvSpPr>
        <p:spPr bwMode="auto">
          <a:xfrm>
            <a:off x="1174544" y="686911"/>
            <a:ext cx="5680075" cy="53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kumimoji="1" lang="zh-CN" altLang="en-US" sz="2800" b="1" dirty="0">
                <a:solidFill>
                  <a:srgbClr val="04926A"/>
                </a:solidFill>
                <a:latin typeface="微软雅黑" panose="020B0503020204020204" pitchFamily="34" charset="-122"/>
                <a:ea typeface="微软雅黑" panose="020B0503020204020204" pitchFamily="34" charset="-122"/>
              </a:rPr>
              <a:t>例</a:t>
            </a:r>
            <a:r>
              <a:rPr kumimoji="1" lang="en-US" altLang="zh-CN" sz="2800" b="1" dirty="0">
                <a:solidFill>
                  <a:srgbClr val="04926A"/>
                </a:solidFill>
                <a:latin typeface="微软雅黑" panose="020B0503020204020204" pitchFamily="34" charset="-122"/>
                <a:ea typeface="微软雅黑" panose="020B0503020204020204" pitchFamily="34" charset="-122"/>
              </a:rPr>
              <a:t>7</a:t>
            </a:r>
            <a:r>
              <a:rPr lang="en-US" altLang="zh-CN" sz="2800" dirty="0">
                <a:latin typeface="Times New Roman" panose="02020603050405020304" pitchFamily="18" charset="0"/>
                <a:cs typeface="Times New Roman" panose="02020603050405020304" pitchFamily="18" charset="0"/>
              </a:rPr>
              <a:t> </a:t>
            </a:r>
            <a:r>
              <a:rPr kumimoji="1" lang="zh-CN" altLang="en-US" sz="2800" dirty="0">
                <a:solidFill>
                  <a:schemeClr val="tx1"/>
                </a:solidFill>
                <a:latin typeface="Times New Roman" panose="02020603050405020304" pitchFamily="18" charset="0"/>
                <a:ea typeface="+mn-ea"/>
                <a:cs typeface="Times New Roman" panose="02020603050405020304" pitchFamily="18" charset="0"/>
              </a:rPr>
              <a:t>已知不在同一平面上的四点</a:t>
            </a:r>
          </a:p>
        </p:txBody>
      </p:sp>
      <mc:AlternateContent xmlns:mc="http://schemas.openxmlformats.org/markup-compatibility/2006" xmlns:a14="http://schemas.microsoft.com/office/drawing/2010/main">
        <mc:Choice Requires="a14">
          <p:sp>
            <p:nvSpPr>
              <p:cNvPr id="2263" name="Object 215"/>
              <p:cNvSpPr txBox="1"/>
              <p:nvPr/>
            </p:nvSpPr>
            <p:spPr bwMode="auto">
              <a:xfrm>
                <a:off x="1867917" y="1197687"/>
                <a:ext cx="8179340" cy="70042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sz="2800" i="1">
                          <a:latin typeface="Cambria Math" panose="02040503050406030204" pitchFamily="18" charset="0"/>
                        </a:rPr>
                        <m:t>𝐴</m:t>
                      </m:r>
                      <m:r>
                        <a:rPr lang="zh-CN" altLang="en-US" sz="280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𝑥</m:t>
                          </m:r>
                        </m:e>
                        <m:sub>
                          <m:r>
                            <a:rPr lang="zh-CN" altLang="en-US" sz="2800" i="1">
                              <a:latin typeface="Cambria Math" panose="02040503050406030204" pitchFamily="18" charset="0"/>
                            </a:rPr>
                            <m:t>1</m:t>
                          </m:r>
                        </m:sub>
                      </m:sSub>
                      <m:r>
                        <a:rPr lang="zh-CN" altLang="en-US" sz="280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𝑦</m:t>
                          </m:r>
                        </m:e>
                        <m:sub>
                          <m:r>
                            <a:rPr lang="zh-CN" altLang="en-US" sz="2800" i="1">
                              <a:latin typeface="Cambria Math" panose="02040503050406030204" pitchFamily="18" charset="0"/>
                            </a:rPr>
                            <m:t>1</m:t>
                          </m:r>
                        </m:sub>
                      </m:sSub>
                      <m:r>
                        <a:rPr lang="zh-CN" altLang="en-US" sz="280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𝑧</m:t>
                          </m:r>
                        </m:e>
                        <m:sub>
                          <m:r>
                            <a:rPr lang="zh-CN" altLang="en-US" sz="2800" i="1">
                              <a:latin typeface="Cambria Math" panose="02040503050406030204" pitchFamily="18" charset="0"/>
                            </a:rPr>
                            <m:t>1</m:t>
                          </m:r>
                        </m:sub>
                      </m:sSub>
                      <m:r>
                        <a:rPr lang="zh-CN" altLang="en-US" sz="2800" i="1">
                          <a:latin typeface="Cambria Math" panose="02040503050406030204" pitchFamily="18" charset="0"/>
                        </a:rPr>
                        <m:t>),</m:t>
                      </m:r>
                      <m:r>
                        <a:rPr lang="zh-CN" altLang="en-US" sz="2800" i="1">
                          <a:latin typeface="Cambria Math" panose="02040503050406030204" pitchFamily="18" charset="0"/>
                        </a:rPr>
                        <m:t>𝐵</m:t>
                      </m:r>
                      <m:r>
                        <a:rPr lang="zh-CN" altLang="en-US" sz="280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𝑥</m:t>
                          </m:r>
                        </m:e>
                        <m:sub>
                          <m:r>
                            <a:rPr lang="zh-CN" altLang="en-US" sz="2800" i="1">
                              <a:latin typeface="Cambria Math" panose="02040503050406030204" pitchFamily="18" charset="0"/>
                            </a:rPr>
                            <m:t>2</m:t>
                          </m:r>
                        </m:sub>
                      </m:sSub>
                      <m:r>
                        <a:rPr lang="zh-CN" altLang="en-US" sz="280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𝑦</m:t>
                          </m:r>
                        </m:e>
                        <m:sub>
                          <m:r>
                            <a:rPr lang="zh-CN" altLang="en-US" sz="2800" i="1">
                              <a:latin typeface="Cambria Math" panose="02040503050406030204" pitchFamily="18" charset="0"/>
                            </a:rPr>
                            <m:t>2</m:t>
                          </m:r>
                        </m:sub>
                      </m:sSub>
                      <m:r>
                        <a:rPr lang="zh-CN" altLang="en-US" sz="280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𝑧</m:t>
                          </m:r>
                        </m:e>
                        <m:sub>
                          <m:r>
                            <a:rPr lang="zh-CN" altLang="en-US" sz="2800" i="1">
                              <a:latin typeface="Cambria Math" panose="02040503050406030204" pitchFamily="18" charset="0"/>
                            </a:rPr>
                            <m:t>2</m:t>
                          </m:r>
                        </m:sub>
                      </m:sSub>
                      <m:r>
                        <a:rPr lang="zh-CN" altLang="en-US" sz="2800" i="1">
                          <a:latin typeface="Cambria Math" panose="02040503050406030204" pitchFamily="18" charset="0"/>
                        </a:rPr>
                        <m:t>),</m:t>
                      </m:r>
                      <m:r>
                        <a:rPr lang="zh-CN" altLang="en-US" sz="2800" i="1">
                          <a:latin typeface="Cambria Math" panose="02040503050406030204" pitchFamily="18" charset="0"/>
                        </a:rPr>
                        <m:t>𝐶</m:t>
                      </m:r>
                      <m:r>
                        <a:rPr lang="zh-CN" altLang="en-US" sz="280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𝑥</m:t>
                          </m:r>
                        </m:e>
                        <m:sub>
                          <m:r>
                            <a:rPr lang="zh-CN" altLang="en-US" sz="2800" i="1">
                              <a:latin typeface="Cambria Math" panose="02040503050406030204" pitchFamily="18" charset="0"/>
                            </a:rPr>
                            <m:t>3</m:t>
                          </m:r>
                        </m:sub>
                      </m:sSub>
                      <m:r>
                        <a:rPr lang="zh-CN" altLang="en-US" sz="280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𝑦</m:t>
                          </m:r>
                        </m:e>
                        <m:sub>
                          <m:r>
                            <a:rPr lang="zh-CN" altLang="en-US" sz="2800" i="1">
                              <a:latin typeface="Cambria Math" panose="02040503050406030204" pitchFamily="18" charset="0"/>
                            </a:rPr>
                            <m:t>3</m:t>
                          </m:r>
                        </m:sub>
                      </m:sSub>
                      <m:r>
                        <a:rPr lang="zh-CN" altLang="en-US" sz="280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𝑧</m:t>
                          </m:r>
                        </m:e>
                        <m:sub>
                          <m:r>
                            <a:rPr lang="zh-CN" altLang="en-US" sz="2800" i="1">
                              <a:latin typeface="Cambria Math" panose="02040503050406030204" pitchFamily="18" charset="0"/>
                            </a:rPr>
                            <m:t>3</m:t>
                          </m:r>
                        </m:sub>
                      </m:sSub>
                      <m:r>
                        <a:rPr lang="zh-CN" altLang="en-US" sz="2800" i="1">
                          <a:latin typeface="Cambria Math" panose="02040503050406030204" pitchFamily="18" charset="0"/>
                        </a:rPr>
                        <m:t>),</m:t>
                      </m:r>
                      <m:r>
                        <a:rPr lang="zh-CN" altLang="en-US" sz="2800" i="1">
                          <a:latin typeface="Cambria Math" panose="02040503050406030204" pitchFamily="18" charset="0"/>
                        </a:rPr>
                        <m:t>𝐷</m:t>
                      </m:r>
                      <m:r>
                        <a:rPr lang="zh-CN" altLang="en-US" sz="280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𝑥</m:t>
                          </m:r>
                        </m:e>
                        <m:sub>
                          <m:r>
                            <a:rPr lang="zh-CN" altLang="en-US" sz="2800" i="1">
                              <a:latin typeface="Cambria Math" panose="02040503050406030204" pitchFamily="18" charset="0"/>
                            </a:rPr>
                            <m:t>4</m:t>
                          </m:r>
                        </m:sub>
                      </m:sSub>
                      <m:r>
                        <a:rPr lang="zh-CN" altLang="en-US" sz="280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𝑦</m:t>
                          </m:r>
                        </m:e>
                        <m:sub>
                          <m:r>
                            <a:rPr lang="zh-CN" altLang="en-US" sz="2800" i="1">
                              <a:latin typeface="Cambria Math" panose="02040503050406030204" pitchFamily="18" charset="0"/>
                            </a:rPr>
                            <m:t>4</m:t>
                          </m:r>
                        </m:sub>
                      </m:sSub>
                      <m:r>
                        <a:rPr lang="zh-CN" altLang="en-US" sz="2800" i="1">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𝑧</m:t>
                          </m:r>
                        </m:e>
                        <m:sub>
                          <m:r>
                            <a:rPr lang="zh-CN" altLang="en-US" sz="2800" i="1">
                              <a:latin typeface="Cambria Math" panose="02040503050406030204" pitchFamily="18" charset="0"/>
                            </a:rPr>
                            <m:t>4</m:t>
                          </m:r>
                        </m:sub>
                      </m:sSub>
                      <m:r>
                        <a:rPr lang="zh-CN" altLang="en-US" sz="2800" i="1">
                          <a:latin typeface="Cambria Math" panose="02040503050406030204" pitchFamily="18" charset="0"/>
                        </a:rPr>
                        <m:t>),</m:t>
                      </m:r>
                    </m:oMath>
                  </m:oMathPara>
                </a14:m>
                <a:endParaRPr lang="zh-CN" altLang="en-US" sz="2800" i="1" dirty="0">
                  <a:latin typeface="Cambria Math" panose="02040503050406030204" pitchFamily="18" charset="0"/>
                </a:endParaRPr>
              </a:p>
            </p:txBody>
          </p:sp>
        </mc:Choice>
        <mc:Fallback xmlns="">
          <p:sp>
            <p:nvSpPr>
              <p:cNvPr id="2263" name="Object 215"/>
              <p:cNvSpPr txBox="1">
                <a:spLocks noRot="1" noChangeAspect="1" noMove="1" noResize="1" noEditPoints="1" noAdjustHandles="1" noChangeArrowheads="1" noChangeShapeType="1" noTextEdit="1"/>
              </p:cNvSpPr>
              <p:nvPr/>
            </p:nvSpPr>
            <p:spPr bwMode="auto">
              <a:xfrm>
                <a:off x="1867917" y="1197687"/>
                <a:ext cx="8179340" cy="700425"/>
              </a:xfrm>
              <a:prstGeom prst="rect">
                <a:avLst/>
              </a:prstGeom>
              <a:blipFill>
                <a:blip r:embed="rId4"/>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64" name="Text Box 216"/>
              <p:cNvSpPr txBox="1">
                <a:spLocks noChangeArrowheads="1"/>
              </p:cNvSpPr>
              <p:nvPr/>
            </p:nvSpPr>
            <p:spPr bwMode="auto">
              <a:xfrm>
                <a:off x="1819816" y="1762307"/>
                <a:ext cx="3825568" cy="523220"/>
              </a:xfrm>
              <a:prstGeom prst="rect">
                <a:avLst/>
              </a:prstGeom>
              <a:noFill/>
              <a:ln>
                <a:noFill/>
              </a:ln>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Lst>
            </p:spPr>
            <p:txBody>
              <a:bodyPr wrap="square">
                <a:spAutoFit/>
              </a:bodyPr>
              <a:lstStyle/>
              <a:p>
                <a:pPr>
                  <a:spcBef>
                    <a:spcPct val="50000"/>
                  </a:spcBef>
                </a:pPr>
                <a:r>
                  <a:rPr kumimoji="1" lang="zh-CN" altLang="en-US" sz="2800" dirty="0">
                    <a:latin typeface="Times New Roman" panose="02020603050405020304" pitchFamily="18" charset="0"/>
                    <a:cs typeface="Times New Roman" panose="02020603050405020304" pitchFamily="18" charset="0"/>
                  </a:rPr>
                  <a:t>求四面体</a:t>
                </a:r>
                <a14:m>
                  <m:oMath xmlns:m="http://schemas.openxmlformats.org/officeDocument/2006/math">
                    <m:r>
                      <a:rPr lang="en-US" altLang="zh-CN" sz="2800" b="0" i="1" smtClean="0">
                        <a:latin typeface="Cambria Math" panose="02040503050406030204" pitchFamily="18" charset="0"/>
                        <a:ea typeface="Cambria Math" panose="02040503050406030204" pitchFamily="18" charset="0"/>
                      </a:rPr>
                      <m:t>𝐴𝐵𝐶𝐷</m:t>
                    </m:r>
                  </m:oMath>
                </a14:m>
                <a:r>
                  <a:rPr kumimoji="1" lang="zh-CN" altLang="en-US" sz="2800" dirty="0">
                    <a:latin typeface="Times New Roman" panose="02020603050405020304" pitchFamily="18" charset="0"/>
                    <a:cs typeface="Times New Roman" panose="02020603050405020304" pitchFamily="18" charset="0"/>
                  </a:rPr>
                  <a:t>的体积</a:t>
                </a:r>
                <a:r>
                  <a:rPr kumimoji="1" lang="en-US" altLang="zh-CN" sz="2800" dirty="0">
                    <a:latin typeface="Times New Roman" panose="02020603050405020304" pitchFamily="18" charset="0"/>
                    <a:cs typeface="Times New Roman" panose="02020603050405020304" pitchFamily="18" charset="0"/>
                  </a:rPr>
                  <a:t>.</a:t>
                </a:r>
                <a:r>
                  <a:rPr kumimoji="1" lang="en-US" altLang="zh-CN" sz="2800" dirty="0">
                    <a:latin typeface="Times New Roman" panose="02020603050405020304" pitchFamily="18" charset="0"/>
                    <a:ea typeface="楷体_GB2312" pitchFamily="49" charset="-122"/>
                    <a:cs typeface="Times New Roman" panose="02020603050405020304" pitchFamily="18" charset="0"/>
                  </a:rPr>
                  <a:t> </a:t>
                </a:r>
              </a:p>
            </p:txBody>
          </p:sp>
        </mc:Choice>
        <mc:Fallback xmlns="">
          <p:sp>
            <p:nvSpPr>
              <p:cNvPr id="2264" name="Text Box 216"/>
              <p:cNvSpPr txBox="1">
                <a:spLocks noRot="1" noChangeAspect="1" noMove="1" noResize="1" noEditPoints="1" noAdjustHandles="1" noChangeArrowheads="1" noChangeShapeType="1" noTextEdit="1"/>
              </p:cNvSpPr>
              <p:nvPr/>
            </p:nvSpPr>
            <p:spPr bwMode="auto">
              <a:xfrm>
                <a:off x="1819816" y="1762307"/>
                <a:ext cx="3825568" cy="523220"/>
              </a:xfrm>
              <a:prstGeom prst="rect">
                <a:avLst/>
              </a:prstGeom>
              <a:blipFill>
                <a:blip r:embed="rId5"/>
                <a:stretch>
                  <a:fillRect l="-3349" t="-15116" b="-32558"/>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p:sp>
        <p:nvSpPr>
          <p:cNvPr id="2265" name="Rectangle 217"/>
          <p:cNvSpPr>
            <a:spLocks noChangeArrowheads="1"/>
          </p:cNvSpPr>
          <p:nvPr/>
        </p:nvSpPr>
        <p:spPr bwMode="auto">
          <a:xfrm>
            <a:off x="1174544" y="2596353"/>
            <a:ext cx="54373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800" b="1" dirty="0">
                <a:solidFill>
                  <a:srgbClr val="04926A"/>
                </a:solidFill>
                <a:latin typeface="微软雅黑" panose="020B0503020204020204" pitchFamily="34" charset="-122"/>
                <a:ea typeface="微软雅黑" panose="020B0503020204020204" pitchFamily="34" charset="-122"/>
              </a:rPr>
              <a:t>解</a:t>
            </a:r>
          </a:p>
        </p:txBody>
      </p:sp>
      <p:sp>
        <p:nvSpPr>
          <p:cNvPr id="2273" name="Text Box 225"/>
          <p:cNvSpPr txBox="1">
            <a:spLocks noChangeArrowheads="1"/>
          </p:cNvSpPr>
          <p:nvPr/>
        </p:nvSpPr>
        <p:spPr bwMode="auto">
          <a:xfrm>
            <a:off x="1849016" y="2687329"/>
            <a:ext cx="4442453"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200" dirty="0">
                <a:latin typeface="Times New Roman" panose="02020603050405020304" pitchFamily="18" charset="0"/>
                <a:cs typeface="Times New Roman" panose="02020603050405020304" pitchFamily="18" charset="0"/>
              </a:rPr>
              <a:t>四面体的体积等于以向量</a:t>
            </a:r>
          </a:p>
        </p:txBody>
      </p:sp>
      <p:sp>
        <p:nvSpPr>
          <p:cNvPr id="2274" name="Text Box 226"/>
          <p:cNvSpPr txBox="1">
            <a:spLocks noChangeArrowheads="1"/>
          </p:cNvSpPr>
          <p:nvPr/>
        </p:nvSpPr>
        <p:spPr bwMode="auto">
          <a:xfrm>
            <a:off x="1800767" y="3428837"/>
            <a:ext cx="1439863"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CN" altLang="en-US" sz="2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275" name="Object 227"/>
              <p:cNvSpPr txBox="1"/>
              <p:nvPr/>
            </p:nvSpPr>
            <p:spPr bwMode="auto">
              <a:xfrm>
                <a:off x="4968367" y="2596980"/>
                <a:ext cx="1748542" cy="574886"/>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groupChr>
                        <m:groupChrPr>
                          <m:chr m:val="→"/>
                          <m:pos m:val="top"/>
                          <m:vertJc m:val="bot"/>
                          <m:ctrlPr>
                            <a:rPr lang="zh-CN" altLang="en-US" sz="2200" i="1">
                              <a:latin typeface="Cambria Math" panose="02040503050406030204" pitchFamily="18" charset="0"/>
                            </a:rPr>
                          </m:ctrlPr>
                        </m:groupChrPr>
                        <m:e>
                          <m:r>
                            <a:rPr lang="zh-CN" altLang="en-US" sz="2200" i="1">
                              <a:latin typeface="Cambria Math" panose="02040503050406030204" pitchFamily="18" charset="0"/>
                            </a:rPr>
                            <m:t>𝐴𝐵</m:t>
                          </m:r>
                        </m:e>
                      </m:groupChr>
                      <m:r>
                        <a:rPr lang="zh-CN" altLang="en-US" sz="2200" i="1">
                          <a:latin typeface="Cambria Math" panose="02040503050406030204" pitchFamily="18" charset="0"/>
                        </a:rPr>
                        <m:t>,</m:t>
                      </m:r>
                      <m:groupChr>
                        <m:groupChrPr>
                          <m:chr m:val="→"/>
                          <m:pos m:val="top"/>
                          <m:vertJc m:val="bot"/>
                          <m:ctrlPr>
                            <a:rPr lang="zh-CN" altLang="en-US" sz="2200" i="1">
                              <a:latin typeface="Cambria Math" panose="02040503050406030204" pitchFamily="18" charset="0"/>
                            </a:rPr>
                          </m:ctrlPr>
                        </m:groupChrPr>
                        <m:e>
                          <m:r>
                            <a:rPr lang="zh-CN" altLang="en-US" sz="2200" i="1">
                              <a:latin typeface="Cambria Math" panose="02040503050406030204" pitchFamily="18" charset="0"/>
                            </a:rPr>
                            <m:t>𝐴𝐶</m:t>
                          </m:r>
                          <m:r>
                            <a:rPr lang="zh-CN" altLang="en-US" sz="2200" i="1">
                              <a:latin typeface="Cambria Math" panose="02040503050406030204" pitchFamily="18" charset="0"/>
                            </a:rPr>
                            <m:t> </m:t>
                          </m:r>
                        </m:e>
                      </m:groupChr>
                      <m:r>
                        <a:rPr lang="zh-CN" altLang="en-US" sz="2200" i="1">
                          <a:latin typeface="Cambria Math" panose="02040503050406030204" pitchFamily="18" charset="0"/>
                        </a:rPr>
                        <m:t>,</m:t>
                      </m:r>
                      <m:groupChr>
                        <m:groupChrPr>
                          <m:chr m:val="→"/>
                          <m:pos m:val="top"/>
                          <m:vertJc m:val="bot"/>
                          <m:ctrlPr>
                            <a:rPr lang="zh-CN" altLang="en-US" sz="2200" i="1">
                              <a:latin typeface="Cambria Math" panose="02040503050406030204" pitchFamily="18" charset="0"/>
                            </a:rPr>
                          </m:ctrlPr>
                        </m:groupChrPr>
                        <m:e>
                          <m:r>
                            <a:rPr lang="zh-CN" altLang="en-US" sz="2200" i="1">
                              <a:latin typeface="Cambria Math" panose="02040503050406030204" pitchFamily="18" charset="0"/>
                            </a:rPr>
                            <m:t>𝐴𝐷</m:t>
                          </m:r>
                        </m:e>
                      </m:groupChr>
                    </m:oMath>
                  </m:oMathPara>
                </a14:m>
                <a:endParaRPr lang="zh-CN" altLang="en-US" sz="2200" i="1" dirty="0">
                  <a:latin typeface="Cambria Math" panose="02040503050406030204" pitchFamily="18" charset="0"/>
                </a:endParaRPr>
              </a:p>
            </p:txBody>
          </p:sp>
        </mc:Choice>
        <mc:Fallback xmlns="">
          <p:sp>
            <p:nvSpPr>
              <p:cNvPr id="2275" name="Object 227"/>
              <p:cNvSpPr txBox="1">
                <a:spLocks noRot="1" noChangeAspect="1" noMove="1" noResize="1" noEditPoints="1" noAdjustHandles="1" noChangeArrowheads="1" noChangeShapeType="1" noTextEdit="1"/>
              </p:cNvSpPr>
              <p:nvPr/>
            </p:nvSpPr>
            <p:spPr bwMode="auto">
              <a:xfrm>
                <a:off x="4968367" y="2596980"/>
                <a:ext cx="1748542" cy="574886"/>
              </a:xfrm>
              <a:prstGeom prst="rect">
                <a:avLst/>
              </a:prstGeom>
              <a:blipFill>
                <a:blip r:embed="rId6"/>
                <a:stretch>
                  <a:fillRect/>
                </a:stretch>
              </a:blipFill>
              <a:ln>
                <a:noFill/>
              </a:ln>
              <a:effectLst/>
            </p:spPr>
            <p:txBody>
              <a:bodyPr/>
              <a:lstStyle/>
              <a:p>
                <a:r>
                  <a:rPr lang="zh-CN" altLang="en-US">
                    <a:noFill/>
                  </a:rPr>
                  <a:t> </a:t>
                </a:r>
              </a:p>
            </p:txBody>
          </p:sp>
        </mc:Fallback>
      </mc:AlternateContent>
      <p:sp>
        <p:nvSpPr>
          <p:cNvPr id="2277" name="Text Box 229"/>
          <p:cNvSpPr txBox="1">
            <a:spLocks noChangeArrowheads="1"/>
          </p:cNvSpPr>
          <p:nvPr/>
        </p:nvSpPr>
        <p:spPr bwMode="auto">
          <a:xfrm>
            <a:off x="6636766" y="2670149"/>
            <a:ext cx="1365936"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200" dirty="0">
                <a:latin typeface="Times New Roman" panose="02020603050405020304" pitchFamily="18" charset="0"/>
                <a:cs typeface="Times New Roman" panose="02020603050405020304" pitchFamily="18" charset="0"/>
              </a:rPr>
              <a:t>为棱的平</a:t>
            </a:r>
          </a:p>
        </p:txBody>
      </p:sp>
      <p:sp>
        <p:nvSpPr>
          <p:cNvPr id="2278" name="Text Box 230"/>
          <p:cNvSpPr txBox="1">
            <a:spLocks noChangeArrowheads="1"/>
          </p:cNvSpPr>
          <p:nvPr/>
        </p:nvSpPr>
        <p:spPr bwMode="auto">
          <a:xfrm>
            <a:off x="7784964" y="2681864"/>
            <a:ext cx="218202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200" dirty="0">
                <a:latin typeface="Times New Roman" panose="02020603050405020304" pitchFamily="18" charset="0"/>
                <a:cs typeface="Times New Roman" panose="02020603050405020304" pitchFamily="18" charset="0"/>
              </a:rPr>
              <a:t>行六面体体积的</a:t>
            </a:r>
          </a:p>
        </p:txBody>
      </p:sp>
      <mc:AlternateContent xmlns:mc="http://schemas.openxmlformats.org/markup-compatibility/2006" xmlns:a14="http://schemas.microsoft.com/office/drawing/2010/main">
        <mc:Choice Requires="a14">
          <p:sp>
            <p:nvSpPr>
              <p:cNvPr id="2279" name="Object 231"/>
              <p:cNvSpPr txBox="1"/>
              <p:nvPr/>
            </p:nvSpPr>
            <p:spPr bwMode="auto">
              <a:xfrm>
                <a:off x="1946475" y="3279719"/>
                <a:ext cx="359403" cy="796757"/>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f>
                        <m:fPr>
                          <m:ctrlPr>
                            <a:rPr lang="zh-CN" altLang="en-US" sz="2200" i="1">
                              <a:latin typeface="Cambria Math" panose="02040503050406030204" pitchFamily="18" charset="0"/>
                            </a:rPr>
                          </m:ctrlPr>
                        </m:fPr>
                        <m:num>
                          <m:r>
                            <a:rPr lang="zh-CN" altLang="en-US" sz="2200" i="1">
                              <a:latin typeface="Cambria Math" panose="02040503050406030204" pitchFamily="18" charset="0"/>
                            </a:rPr>
                            <m:t>1</m:t>
                          </m:r>
                        </m:num>
                        <m:den>
                          <m:r>
                            <a:rPr lang="zh-CN" altLang="en-US" sz="2200" i="1">
                              <a:latin typeface="Cambria Math" panose="02040503050406030204" pitchFamily="18" charset="0"/>
                            </a:rPr>
                            <m:t>6</m:t>
                          </m:r>
                        </m:den>
                      </m:f>
                      <m:r>
                        <a:rPr lang="zh-CN" altLang="en-US" sz="2200" i="1">
                          <a:latin typeface="Cambria Math" panose="02040503050406030204" pitchFamily="18" charset="0"/>
                        </a:rPr>
                        <m:t>.</m:t>
                      </m:r>
                    </m:oMath>
                  </m:oMathPara>
                </a14:m>
                <a:endParaRPr lang="zh-CN" altLang="en-US" sz="2200" i="1" dirty="0">
                  <a:latin typeface="Cambria Math" panose="02040503050406030204" pitchFamily="18" charset="0"/>
                </a:endParaRPr>
              </a:p>
            </p:txBody>
          </p:sp>
        </mc:Choice>
        <mc:Fallback xmlns="">
          <p:sp>
            <p:nvSpPr>
              <p:cNvPr id="2279" name="Object 231"/>
              <p:cNvSpPr txBox="1">
                <a:spLocks noRot="1" noChangeAspect="1" noMove="1" noResize="1" noEditPoints="1" noAdjustHandles="1" noChangeArrowheads="1" noChangeShapeType="1" noTextEdit="1"/>
              </p:cNvSpPr>
              <p:nvPr/>
            </p:nvSpPr>
            <p:spPr bwMode="auto">
              <a:xfrm>
                <a:off x="1946475" y="3279719"/>
                <a:ext cx="359403" cy="796757"/>
              </a:xfrm>
              <a:prstGeom prst="rect">
                <a:avLst/>
              </a:prstGeom>
              <a:blipFill>
                <a:blip r:embed="rId7"/>
                <a:stretch>
                  <a:fillRect/>
                </a:stretch>
              </a:blipFill>
              <a:ln>
                <a:noFill/>
              </a:ln>
              <a:effectLst/>
            </p:spPr>
            <p:txBody>
              <a:bodyPr/>
              <a:lstStyle/>
              <a:p>
                <a:r>
                  <a:rPr lang="zh-CN" altLang="en-US">
                    <a:noFill/>
                  </a:rPr>
                  <a:t> </a:t>
                </a:r>
              </a:p>
            </p:txBody>
          </p:sp>
        </mc:Fallback>
      </mc:AlternateContent>
      <p:sp>
        <p:nvSpPr>
          <p:cNvPr id="2281" name="Text Box 233"/>
          <p:cNvSpPr txBox="1">
            <a:spLocks noChangeArrowheads="1"/>
          </p:cNvSpPr>
          <p:nvPr/>
        </p:nvSpPr>
        <p:spPr bwMode="auto">
          <a:xfrm>
            <a:off x="2305878" y="3462653"/>
            <a:ext cx="812832"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200" dirty="0">
                <a:latin typeface="Times New Roman" panose="02020603050405020304" pitchFamily="18" charset="0"/>
                <a:cs typeface="Times New Roman" panose="02020603050405020304" pitchFamily="18" charset="0"/>
              </a:rPr>
              <a:t>所以</a:t>
            </a:r>
          </a:p>
        </p:txBody>
      </p:sp>
      <mc:AlternateContent xmlns:mc="http://schemas.openxmlformats.org/markup-compatibility/2006" xmlns:a14="http://schemas.microsoft.com/office/drawing/2010/main">
        <mc:Choice Requires="a14">
          <p:sp>
            <p:nvSpPr>
              <p:cNvPr id="2282" name="Object 234"/>
              <p:cNvSpPr txBox="1"/>
              <p:nvPr/>
            </p:nvSpPr>
            <p:spPr bwMode="auto">
              <a:xfrm>
                <a:off x="1946475" y="4089584"/>
                <a:ext cx="3449572" cy="84296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200" i="1">
                          <a:latin typeface="Cambria Math" panose="02040503050406030204" pitchFamily="18" charset="0"/>
                        </a:rPr>
                        <m:t>𝑉</m:t>
                      </m:r>
                      <m:r>
                        <a:rPr lang="zh-CN" altLang="en-US" sz="2200" i="1">
                          <a:latin typeface="Cambria Math" panose="02040503050406030204" pitchFamily="18" charset="0"/>
                        </a:rPr>
                        <m:t>=</m:t>
                      </m:r>
                      <m:f>
                        <m:fPr>
                          <m:ctrlPr>
                            <a:rPr lang="zh-CN" altLang="en-US" sz="2200" i="1">
                              <a:latin typeface="Cambria Math" panose="02040503050406030204" pitchFamily="18" charset="0"/>
                            </a:rPr>
                          </m:ctrlPr>
                        </m:fPr>
                        <m:num>
                          <m:r>
                            <a:rPr lang="zh-CN" altLang="en-US" sz="2200" i="1">
                              <a:latin typeface="Cambria Math" panose="02040503050406030204" pitchFamily="18" charset="0"/>
                            </a:rPr>
                            <m:t>1</m:t>
                          </m:r>
                        </m:num>
                        <m:den>
                          <m:r>
                            <a:rPr lang="zh-CN" altLang="en-US" sz="2200" i="1">
                              <a:latin typeface="Cambria Math" panose="02040503050406030204" pitchFamily="18" charset="0"/>
                            </a:rPr>
                            <m:t>6</m:t>
                          </m:r>
                        </m:den>
                      </m:f>
                      <m:r>
                        <a:rPr lang="zh-CN" altLang="en-US" sz="2200" i="1">
                          <a:latin typeface="Cambria Math" panose="02040503050406030204" pitchFamily="18" charset="0"/>
                        </a:rPr>
                        <m:t>|[</m:t>
                      </m:r>
                      <m:groupChr>
                        <m:groupChrPr>
                          <m:chr m:val="→"/>
                          <m:pos m:val="top"/>
                          <m:vertJc m:val="bot"/>
                          <m:ctrlPr>
                            <a:rPr lang="zh-CN" altLang="en-US" sz="2200" i="1">
                              <a:latin typeface="Cambria Math" panose="02040503050406030204" pitchFamily="18" charset="0"/>
                            </a:rPr>
                          </m:ctrlPr>
                        </m:groupChrPr>
                        <m:e>
                          <m:r>
                            <a:rPr lang="zh-CN" altLang="en-US" sz="2200" i="1">
                              <a:latin typeface="Cambria Math" panose="02040503050406030204" pitchFamily="18" charset="0"/>
                            </a:rPr>
                            <m:t>𝐴𝐵</m:t>
                          </m:r>
                        </m:e>
                      </m:groupChr>
                      <m:r>
                        <a:rPr lang="zh-CN" altLang="en-US" sz="2200" i="1">
                          <a:latin typeface="Cambria Math" panose="02040503050406030204" pitchFamily="18" charset="0"/>
                        </a:rPr>
                        <m:t>  </m:t>
                      </m:r>
                      <m:groupChr>
                        <m:groupChrPr>
                          <m:chr m:val="→"/>
                          <m:pos m:val="top"/>
                          <m:vertJc m:val="bot"/>
                          <m:ctrlPr>
                            <a:rPr lang="zh-CN" altLang="en-US" sz="2200" i="1">
                              <a:latin typeface="Cambria Math" panose="02040503050406030204" pitchFamily="18" charset="0"/>
                            </a:rPr>
                          </m:ctrlPr>
                        </m:groupChrPr>
                        <m:e>
                          <m:r>
                            <a:rPr lang="zh-CN" altLang="en-US" sz="2200" i="1">
                              <a:latin typeface="Cambria Math" panose="02040503050406030204" pitchFamily="18" charset="0"/>
                            </a:rPr>
                            <m:t>𝐴𝐶</m:t>
                          </m:r>
                          <m:r>
                            <a:rPr lang="zh-CN" altLang="en-US" sz="2200" i="1">
                              <a:latin typeface="Cambria Math" panose="02040503050406030204" pitchFamily="18" charset="0"/>
                            </a:rPr>
                            <m:t> </m:t>
                          </m:r>
                        </m:e>
                      </m:groupChr>
                      <m:r>
                        <a:rPr lang="zh-CN" altLang="en-US" sz="2200" i="1">
                          <a:latin typeface="Cambria Math" panose="02040503050406030204" pitchFamily="18" charset="0"/>
                        </a:rPr>
                        <m:t> </m:t>
                      </m:r>
                      <m:groupChr>
                        <m:groupChrPr>
                          <m:chr m:val="→"/>
                          <m:pos m:val="top"/>
                          <m:vertJc m:val="bot"/>
                          <m:ctrlPr>
                            <a:rPr lang="zh-CN" altLang="en-US" sz="2200" i="1">
                              <a:latin typeface="Cambria Math" panose="02040503050406030204" pitchFamily="18" charset="0"/>
                            </a:rPr>
                          </m:ctrlPr>
                        </m:groupChrPr>
                        <m:e>
                          <m:r>
                            <a:rPr lang="zh-CN" altLang="en-US" sz="2200" i="1">
                              <a:latin typeface="Cambria Math" panose="02040503050406030204" pitchFamily="18" charset="0"/>
                            </a:rPr>
                            <m:t>𝐴𝐷</m:t>
                          </m:r>
                        </m:e>
                      </m:groupChr>
                      <m:r>
                        <a:rPr lang="zh-CN" altLang="en-US" sz="2200" i="1">
                          <a:latin typeface="Cambria Math" panose="02040503050406030204" pitchFamily="18" charset="0"/>
                        </a:rPr>
                        <m:t>]|</m:t>
                      </m:r>
                    </m:oMath>
                  </m:oMathPara>
                </a14:m>
                <a:endParaRPr lang="zh-CN" altLang="en-US" sz="2200" i="1" dirty="0">
                  <a:latin typeface="Cambria Math" panose="02040503050406030204" pitchFamily="18" charset="0"/>
                </a:endParaRPr>
              </a:p>
            </p:txBody>
          </p:sp>
        </mc:Choice>
        <mc:Fallback xmlns="">
          <p:sp>
            <p:nvSpPr>
              <p:cNvPr id="2282" name="Object 234"/>
              <p:cNvSpPr txBox="1">
                <a:spLocks noRot="1" noChangeAspect="1" noMove="1" noResize="1" noEditPoints="1" noAdjustHandles="1" noChangeArrowheads="1" noChangeShapeType="1" noTextEdit="1"/>
              </p:cNvSpPr>
              <p:nvPr/>
            </p:nvSpPr>
            <p:spPr bwMode="auto">
              <a:xfrm>
                <a:off x="1946475" y="4089584"/>
                <a:ext cx="3449572" cy="842962"/>
              </a:xfrm>
              <a:prstGeom prst="rect">
                <a:avLst/>
              </a:prstGeom>
              <a:blipFill>
                <a:blip r:embed="rId8"/>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84" name="Object 236"/>
              <p:cNvSpPr txBox="1"/>
              <p:nvPr/>
            </p:nvSpPr>
            <p:spPr bwMode="auto">
              <a:xfrm>
                <a:off x="4745728" y="3955618"/>
                <a:ext cx="4714738" cy="1053087"/>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sz="2200" i="1">
                          <a:latin typeface="Cambria Math" panose="02040503050406030204" pitchFamily="18" charset="0"/>
                        </a:rPr>
                        <m:t>=</m:t>
                      </m:r>
                      <m:f>
                        <m:fPr>
                          <m:ctrlPr>
                            <a:rPr lang="zh-CN" altLang="en-US" sz="2200" i="1">
                              <a:latin typeface="Cambria Math" panose="02040503050406030204" pitchFamily="18" charset="0"/>
                            </a:rPr>
                          </m:ctrlPr>
                        </m:fPr>
                        <m:num>
                          <m:r>
                            <a:rPr lang="zh-CN" altLang="en-US" sz="2200" i="1">
                              <a:latin typeface="Cambria Math" panose="02040503050406030204" pitchFamily="18" charset="0"/>
                            </a:rPr>
                            <m:t>1</m:t>
                          </m:r>
                        </m:num>
                        <m:den>
                          <m:r>
                            <a:rPr lang="zh-CN" altLang="en-US" sz="2200" i="1">
                              <a:latin typeface="Cambria Math" panose="02040503050406030204" pitchFamily="18" charset="0"/>
                            </a:rPr>
                            <m:t>6</m:t>
                          </m:r>
                        </m:den>
                      </m:f>
                      <m:r>
                        <a:rPr lang="zh-CN" altLang="en-US" sz="2200" i="1">
                          <a:latin typeface="Cambria Math" panose="02040503050406030204" pitchFamily="18" charset="0"/>
                        </a:rPr>
                        <m:t> </m:t>
                      </m:r>
                      <m:d>
                        <m:dPr>
                          <m:begChr m:val="|"/>
                          <m:endChr m:val="|"/>
                          <m:ctrlPr>
                            <a:rPr lang="zh-CN" altLang="en-US" sz="2200" i="1">
                              <a:latin typeface="Cambria Math" panose="02040503050406030204" pitchFamily="18" charset="0"/>
                            </a:rPr>
                          </m:ctrlPr>
                        </m:dPr>
                        <m:e>
                          <m:r>
                            <a:rPr lang="zh-CN" altLang="en-US" sz="2200" i="1" smtClean="0">
                              <a:latin typeface="Cambria Math" panose="02040503050406030204" pitchFamily="18" charset="0"/>
                            </a:rPr>
                            <m:t> </m:t>
                          </m:r>
                          <m:d>
                            <m:dPr>
                              <m:begChr m:val="|"/>
                              <m:endChr m:val="|"/>
                              <m:ctrlPr>
                                <a:rPr lang="zh-CN" altLang="en-US" sz="2200" i="1">
                                  <a:latin typeface="Cambria Math" panose="02040503050406030204" pitchFamily="18" charset="0"/>
                                </a:rPr>
                              </m:ctrlPr>
                            </m:dPr>
                            <m:e>
                              <m:m>
                                <m:mPr>
                                  <m:plcHide m:val="on"/>
                                  <m:mcs>
                                    <m:mc>
                                      <m:mcPr>
                                        <m:count m:val="3"/>
                                        <m:mcJc m:val="center"/>
                                      </m:mcPr>
                                    </m:mc>
                                  </m:mcs>
                                  <m:ctrlPr>
                                    <a:rPr lang="zh-CN" altLang="en-US" sz="2200" i="1">
                                      <a:latin typeface="Cambria Math" panose="02040503050406030204" pitchFamily="18" charset="0"/>
                                    </a:rPr>
                                  </m:ctrlPr>
                                </m:mPr>
                                <m:mr>
                                  <m:e>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𝑥</m:t>
                                        </m:r>
                                      </m:e>
                                      <m:sub>
                                        <m:r>
                                          <a:rPr lang="zh-CN" altLang="en-US" sz="2200" i="1">
                                            <a:latin typeface="Cambria Math" panose="02040503050406030204" pitchFamily="18" charset="0"/>
                                          </a:rPr>
                                          <m:t>2</m:t>
                                        </m:r>
                                      </m:sub>
                                    </m:sSub>
                                    <m:r>
                                      <a:rPr lang="zh-CN" altLang="en-US" sz="2200" i="1">
                                        <a:latin typeface="Cambria Math" panose="02040503050406030204" pitchFamily="18" charset="0"/>
                                      </a:rPr>
                                      <m:t>−</m:t>
                                    </m:r>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𝑥</m:t>
                                        </m:r>
                                      </m:e>
                                      <m:sub>
                                        <m:r>
                                          <a:rPr lang="zh-CN" altLang="en-US" sz="2200" i="1">
                                            <a:latin typeface="Cambria Math" panose="02040503050406030204" pitchFamily="18" charset="0"/>
                                          </a:rPr>
                                          <m:t>1</m:t>
                                        </m:r>
                                      </m:sub>
                                    </m:sSub>
                                  </m:e>
                                  <m:e>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𝑦</m:t>
                                        </m:r>
                                      </m:e>
                                      <m:sub>
                                        <m:r>
                                          <a:rPr lang="zh-CN" altLang="en-US" sz="2200" i="1">
                                            <a:latin typeface="Cambria Math" panose="02040503050406030204" pitchFamily="18" charset="0"/>
                                          </a:rPr>
                                          <m:t>2</m:t>
                                        </m:r>
                                      </m:sub>
                                    </m:sSub>
                                    <m:r>
                                      <a:rPr lang="zh-CN" altLang="en-US" sz="2200" i="1">
                                        <a:latin typeface="Cambria Math" panose="02040503050406030204" pitchFamily="18" charset="0"/>
                                      </a:rPr>
                                      <m:t>−</m:t>
                                    </m:r>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𝑦</m:t>
                                        </m:r>
                                      </m:e>
                                      <m:sub>
                                        <m:r>
                                          <a:rPr lang="zh-CN" altLang="en-US" sz="2200" i="1">
                                            <a:latin typeface="Cambria Math" panose="02040503050406030204" pitchFamily="18" charset="0"/>
                                          </a:rPr>
                                          <m:t>1</m:t>
                                        </m:r>
                                      </m:sub>
                                    </m:sSub>
                                  </m:e>
                                  <m:e>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𝑧</m:t>
                                        </m:r>
                                      </m:e>
                                      <m:sub>
                                        <m:r>
                                          <a:rPr lang="zh-CN" altLang="en-US" sz="2200" i="1">
                                            <a:latin typeface="Cambria Math" panose="02040503050406030204" pitchFamily="18" charset="0"/>
                                          </a:rPr>
                                          <m:t>2</m:t>
                                        </m:r>
                                      </m:sub>
                                    </m:sSub>
                                    <m:r>
                                      <a:rPr lang="zh-CN" altLang="en-US" sz="2200" i="1">
                                        <a:latin typeface="Cambria Math" panose="02040503050406030204" pitchFamily="18" charset="0"/>
                                      </a:rPr>
                                      <m:t>−</m:t>
                                    </m:r>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𝑧</m:t>
                                        </m:r>
                                      </m:e>
                                      <m:sub>
                                        <m:r>
                                          <a:rPr lang="zh-CN" altLang="en-US" sz="2200" i="1">
                                            <a:latin typeface="Cambria Math" panose="02040503050406030204" pitchFamily="18" charset="0"/>
                                          </a:rPr>
                                          <m:t>1</m:t>
                                        </m:r>
                                      </m:sub>
                                    </m:sSub>
                                  </m:e>
                                </m:mr>
                                <m:mr>
                                  <m:e>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𝑥</m:t>
                                        </m:r>
                                      </m:e>
                                      <m:sub>
                                        <m:r>
                                          <a:rPr lang="zh-CN" altLang="en-US" sz="2200" i="1">
                                            <a:latin typeface="Cambria Math" panose="02040503050406030204" pitchFamily="18" charset="0"/>
                                          </a:rPr>
                                          <m:t>3</m:t>
                                        </m:r>
                                      </m:sub>
                                    </m:sSub>
                                    <m:r>
                                      <a:rPr lang="zh-CN" altLang="en-US" sz="2200" i="1">
                                        <a:latin typeface="Cambria Math" panose="02040503050406030204" pitchFamily="18" charset="0"/>
                                      </a:rPr>
                                      <m:t>−</m:t>
                                    </m:r>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𝑥</m:t>
                                        </m:r>
                                      </m:e>
                                      <m:sub>
                                        <m:r>
                                          <a:rPr lang="zh-CN" altLang="en-US" sz="2200" i="1">
                                            <a:latin typeface="Cambria Math" panose="02040503050406030204" pitchFamily="18" charset="0"/>
                                          </a:rPr>
                                          <m:t>1</m:t>
                                        </m:r>
                                      </m:sub>
                                    </m:sSub>
                                  </m:e>
                                  <m:e>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𝑦</m:t>
                                        </m:r>
                                      </m:e>
                                      <m:sub>
                                        <m:r>
                                          <a:rPr lang="zh-CN" altLang="en-US" sz="2200" i="1">
                                            <a:latin typeface="Cambria Math" panose="02040503050406030204" pitchFamily="18" charset="0"/>
                                          </a:rPr>
                                          <m:t>3</m:t>
                                        </m:r>
                                      </m:sub>
                                    </m:sSub>
                                    <m:r>
                                      <a:rPr lang="zh-CN" altLang="en-US" sz="2200" i="1">
                                        <a:latin typeface="Cambria Math" panose="02040503050406030204" pitchFamily="18" charset="0"/>
                                      </a:rPr>
                                      <m:t>−</m:t>
                                    </m:r>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𝑦</m:t>
                                        </m:r>
                                      </m:e>
                                      <m:sub>
                                        <m:r>
                                          <a:rPr lang="zh-CN" altLang="en-US" sz="2200" i="1">
                                            <a:latin typeface="Cambria Math" panose="02040503050406030204" pitchFamily="18" charset="0"/>
                                          </a:rPr>
                                          <m:t>1</m:t>
                                        </m:r>
                                      </m:sub>
                                    </m:sSub>
                                  </m:e>
                                  <m:e>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𝑧</m:t>
                                        </m:r>
                                      </m:e>
                                      <m:sub>
                                        <m:r>
                                          <a:rPr lang="zh-CN" altLang="en-US" sz="2200" i="1">
                                            <a:latin typeface="Cambria Math" panose="02040503050406030204" pitchFamily="18" charset="0"/>
                                          </a:rPr>
                                          <m:t>3</m:t>
                                        </m:r>
                                      </m:sub>
                                    </m:sSub>
                                    <m:r>
                                      <a:rPr lang="zh-CN" altLang="en-US" sz="2200" i="1">
                                        <a:latin typeface="Cambria Math" panose="02040503050406030204" pitchFamily="18" charset="0"/>
                                      </a:rPr>
                                      <m:t>−</m:t>
                                    </m:r>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𝑧</m:t>
                                        </m:r>
                                      </m:e>
                                      <m:sub>
                                        <m:r>
                                          <a:rPr lang="zh-CN" altLang="en-US" sz="2200" i="1">
                                            <a:latin typeface="Cambria Math" panose="02040503050406030204" pitchFamily="18" charset="0"/>
                                          </a:rPr>
                                          <m:t>1</m:t>
                                        </m:r>
                                      </m:sub>
                                    </m:sSub>
                                  </m:e>
                                </m:mr>
                                <m:mr>
                                  <m:e>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𝑥</m:t>
                                        </m:r>
                                      </m:e>
                                      <m:sub>
                                        <m:r>
                                          <a:rPr lang="zh-CN" altLang="en-US" sz="2200" i="1">
                                            <a:latin typeface="Cambria Math" panose="02040503050406030204" pitchFamily="18" charset="0"/>
                                          </a:rPr>
                                          <m:t>4</m:t>
                                        </m:r>
                                      </m:sub>
                                    </m:sSub>
                                    <m:r>
                                      <a:rPr lang="zh-CN" altLang="en-US" sz="2200" i="1">
                                        <a:latin typeface="Cambria Math" panose="02040503050406030204" pitchFamily="18" charset="0"/>
                                      </a:rPr>
                                      <m:t>−</m:t>
                                    </m:r>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𝑥</m:t>
                                        </m:r>
                                      </m:e>
                                      <m:sub>
                                        <m:r>
                                          <a:rPr lang="zh-CN" altLang="en-US" sz="2200" i="1">
                                            <a:latin typeface="Cambria Math" panose="02040503050406030204" pitchFamily="18" charset="0"/>
                                          </a:rPr>
                                          <m:t>1</m:t>
                                        </m:r>
                                      </m:sub>
                                    </m:sSub>
                                  </m:e>
                                  <m:e>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𝑦</m:t>
                                        </m:r>
                                      </m:e>
                                      <m:sub>
                                        <m:r>
                                          <a:rPr lang="zh-CN" altLang="en-US" sz="2200" i="1">
                                            <a:latin typeface="Cambria Math" panose="02040503050406030204" pitchFamily="18" charset="0"/>
                                          </a:rPr>
                                          <m:t>4</m:t>
                                        </m:r>
                                      </m:sub>
                                    </m:sSub>
                                    <m:r>
                                      <a:rPr lang="zh-CN" altLang="en-US" sz="2200" i="1">
                                        <a:latin typeface="Cambria Math" panose="02040503050406030204" pitchFamily="18" charset="0"/>
                                      </a:rPr>
                                      <m:t>−</m:t>
                                    </m:r>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𝑦</m:t>
                                        </m:r>
                                      </m:e>
                                      <m:sub>
                                        <m:r>
                                          <a:rPr lang="zh-CN" altLang="en-US" sz="2200" i="1">
                                            <a:latin typeface="Cambria Math" panose="02040503050406030204" pitchFamily="18" charset="0"/>
                                          </a:rPr>
                                          <m:t>1</m:t>
                                        </m:r>
                                      </m:sub>
                                    </m:sSub>
                                  </m:e>
                                  <m:e>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𝑧</m:t>
                                        </m:r>
                                      </m:e>
                                      <m:sub>
                                        <m:r>
                                          <a:rPr lang="zh-CN" altLang="en-US" sz="2200" i="1">
                                            <a:latin typeface="Cambria Math" panose="02040503050406030204" pitchFamily="18" charset="0"/>
                                          </a:rPr>
                                          <m:t>4</m:t>
                                        </m:r>
                                      </m:sub>
                                    </m:sSub>
                                    <m:r>
                                      <a:rPr lang="zh-CN" altLang="en-US" sz="2200" i="1">
                                        <a:latin typeface="Cambria Math" panose="02040503050406030204" pitchFamily="18" charset="0"/>
                                      </a:rPr>
                                      <m:t>−</m:t>
                                    </m:r>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𝑥</m:t>
                                        </m:r>
                                      </m:e>
                                      <m:sub>
                                        <m:r>
                                          <a:rPr lang="zh-CN" altLang="en-US" sz="2200" i="1">
                                            <a:latin typeface="Cambria Math" panose="02040503050406030204" pitchFamily="18" charset="0"/>
                                          </a:rPr>
                                          <m:t>1</m:t>
                                        </m:r>
                                      </m:sub>
                                    </m:sSub>
                                  </m:e>
                                </m:mr>
                              </m:m>
                            </m:e>
                          </m:d>
                          <m:r>
                            <a:rPr lang="zh-CN" altLang="en-US" sz="2200" i="1">
                              <a:latin typeface="Cambria Math" panose="02040503050406030204" pitchFamily="18" charset="0"/>
                            </a:rPr>
                            <m:t> </m:t>
                          </m:r>
                        </m:e>
                      </m:d>
                      <m:r>
                        <a:rPr lang="zh-CN" altLang="en-US" sz="2200" i="1">
                          <a:latin typeface="Cambria Math" panose="02040503050406030204" pitchFamily="18" charset="0"/>
                        </a:rPr>
                        <m:t>.</m:t>
                      </m:r>
                    </m:oMath>
                  </m:oMathPara>
                </a14:m>
                <a:endParaRPr lang="zh-CN" altLang="en-US" sz="2200" i="1" dirty="0">
                  <a:latin typeface="Cambria Math" panose="02040503050406030204" pitchFamily="18" charset="0"/>
                </a:endParaRPr>
              </a:p>
            </p:txBody>
          </p:sp>
        </mc:Choice>
        <mc:Fallback xmlns="">
          <p:sp>
            <p:nvSpPr>
              <p:cNvPr id="2284" name="Object 236"/>
              <p:cNvSpPr txBox="1">
                <a:spLocks noRot="1" noChangeAspect="1" noMove="1" noResize="1" noEditPoints="1" noAdjustHandles="1" noChangeArrowheads="1" noChangeShapeType="1" noTextEdit="1"/>
              </p:cNvSpPr>
              <p:nvPr/>
            </p:nvSpPr>
            <p:spPr bwMode="auto">
              <a:xfrm>
                <a:off x="4745728" y="3955618"/>
                <a:ext cx="4714738" cy="1053087"/>
              </a:xfrm>
              <a:prstGeom prst="rect">
                <a:avLst/>
              </a:prstGeom>
              <a:blipFill>
                <a:blip r:embed="rId9"/>
                <a:stretch>
                  <a:fillRect/>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2753680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64"/>
                                        </p:tgtEl>
                                        <p:attrNameLst>
                                          <p:attrName>style.visibility</p:attrName>
                                        </p:attrNameLst>
                                      </p:cBhvr>
                                      <p:to>
                                        <p:strVal val="visible"/>
                                      </p:to>
                                    </p:set>
                                    <p:animEffect transition="in" filter="wipe(left)">
                                      <p:cBhvr>
                                        <p:cTn id="7" dur="500"/>
                                        <p:tgtEl>
                                          <p:spTgt spid="226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263"/>
                                        </p:tgtEl>
                                        <p:attrNameLst>
                                          <p:attrName>style.visibility</p:attrName>
                                        </p:attrNameLst>
                                      </p:cBhvr>
                                      <p:to>
                                        <p:strVal val="visible"/>
                                      </p:to>
                                    </p:set>
                                    <p:animEffect transition="in" filter="wipe(left)">
                                      <p:cBhvr>
                                        <p:cTn id="10" dur="500"/>
                                        <p:tgtEl>
                                          <p:spTgt spid="2263"/>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262"/>
                                        </p:tgtEl>
                                        <p:attrNameLst>
                                          <p:attrName>style.visibility</p:attrName>
                                        </p:attrNameLst>
                                      </p:cBhvr>
                                      <p:to>
                                        <p:strVal val="visible"/>
                                      </p:to>
                                    </p:set>
                                    <p:animEffect transition="in" filter="wipe(left)">
                                      <p:cBhvr>
                                        <p:cTn id="13" dur="500"/>
                                        <p:tgtEl>
                                          <p:spTgt spid="2262"/>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265"/>
                                        </p:tgtEl>
                                        <p:attrNameLst>
                                          <p:attrName>style.visibility</p:attrName>
                                        </p:attrNameLst>
                                      </p:cBhvr>
                                      <p:to>
                                        <p:strVal val="visible"/>
                                      </p:to>
                                    </p:set>
                                    <p:animEffect transition="in" filter="wipe(left)">
                                      <p:cBhvr>
                                        <p:cTn id="16" dur="500"/>
                                        <p:tgtEl>
                                          <p:spTgt spid="226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273"/>
                                        </p:tgtEl>
                                        <p:attrNameLst>
                                          <p:attrName>style.visibility</p:attrName>
                                        </p:attrNameLst>
                                      </p:cBhvr>
                                      <p:to>
                                        <p:strVal val="visible"/>
                                      </p:to>
                                    </p:set>
                                    <p:animEffect transition="in" filter="wipe(left)">
                                      <p:cBhvr>
                                        <p:cTn id="21" dur="500"/>
                                        <p:tgtEl>
                                          <p:spTgt spid="2273"/>
                                        </p:tgtEl>
                                      </p:cBhvr>
                                    </p:animEffect>
                                  </p:childTnLst>
                                </p:cTn>
                              </p:par>
                            </p:childTnLst>
                          </p:cTn>
                        </p:par>
                        <p:par>
                          <p:cTn id="22" fill="hold" nodeType="afterGroup">
                            <p:stCondLst>
                              <p:cond delay="500"/>
                            </p:stCondLst>
                            <p:childTnLst>
                              <p:par>
                                <p:cTn id="23" presetID="22" presetClass="entr" presetSubtype="8" fill="hold" grpId="0" nodeType="afterEffect" nodePh="1">
                                  <p:stCondLst>
                                    <p:cond delay="0"/>
                                  </p:stCondLst>
                                  <p:endCondLst>
                                    <p:cond evt="begin" delay="0">
                                      <p:tn val="23"/>
                                    </p:cond>
                                  </p:endCondLst>
                                  <p:childTnLst>
                                    <p:set>
                                      <p:cBhvr>
                                        <p:cTn id="24" dur="1" fill="hold">
                                          <p:stCondLst>
                                            <p:cond delay="0"/>
                                          </p:stCondLst>
                                        </p:cTn>
                                        <p:tgtEl>
                                          <p:spTgt spid="2274"/>
                                        </p:tgtEl>
                                        <p:attrNameLst>
                                          <p:attrName>style.visibility</p:attrName>
                                        </p:attrNameLst>
                                      </p:cBhvr>
                                      <p:to>
                                        <p:strVal val="visible"/>
                                      </p:to>
                                    </p:set>
                                    <p:animEffect transition="in" filter="wipe(left)">
                                      <p:cBhvr>
                                        <p:cTn id="25" dur="500"/>
                                        <p:tgtEl>
                                          <p:spTgt spid="2274"/>
                                        </p:tgtEl>
                                      </p:cBhvr>
                                    </p:animEffect>
                                  </p:childTnLst>
                                </p:cTn>
                              </p:par>
                            </p:childTnLst>
                          </p:cTn>
                        </p:par>
                        <p:par>
                          <p:cTn id="26" fill="hold" nodeType="afterGroup">
                            <p:stCondLst>
                              <p:cond delay="1000"/>
                            </p:stCondLst>
                            <p:childTnLst>
                              <p:par>
                                <p:cTn id="27" presetID="22" presetClass="entr" presetSubtype="8" fill="hold" grpId="0" nodeType="afterEffect">
                                  <p:stCondLst>
                                    <p:cond delay="0"/>
                                  </p:stCondLst>
                                  <p:childTnLst>
                                    <p:set>
                                      <p:cBhvr>
                                        <p:cTn id="28" dur="1" fill="hold">
                                          <p:stCondLst>
                                            <p:cond delay="0"/>
                                          </p:stCondLst>
                                        </p:cTn>
                                        <p:tgtEl>
                                          <p:spTgt spid="2275"/>
                                        </p:tgtEl>
                                        <p:attrNameLst>
                                          <p:attrName>style.visibility</p:attrName>
                                        </p:attrNameLst>
                                      </p:cBhvr>
                                      <p:to>
                                        <p:strVal val="visible"/>
                                      </p:to>
                                    </p:set>
                                    <p:animEffect transition="in" filter="wipe(left)">
                                      <p:cBhvr>
                                        <p:cTn id="29" dur="500"/>
                                        <p:tgtEl>
                                          <p:spTgt spid="2275"/>
                                        </p:tgtEl>
                                      </p:cBhvr>
                                    </p:animEffect>
                                  </p:childTnLst>
                                </p:cTn>
                              </p:par>
                            </p:childTnLst>
                          </p:cTn>
                        </p:par>
                        <p:par>
                          <p:cTn id="30" fill="hold">
                            <p:stCondLst>
                              <p:cond delay="1500"/>
                            </p:stCondLst>
                            <p:childTnLst>
                              <p:par>
                                <p:cTn id="31" presetID="22" presetClass="entr" presetSubtype="8" fill="hold" grpId="0" nodeType="afterEffect">
                                  <p:stCondLst>
                                    <p:cond delay="0"/>
                                  </p:stCondLst>
                                  <p:childTnLst>
                                    <p:set>
                                      <p:cBhvr>
                                        <p:cTn id="32" dur="1" fill="hold">
                                          <p:stCondLst>
                                            <p:cond delay="0"/>
                                          </p:stCondLst>
                                        </p:cTn>
                                        <p:tgtEl>
                                          <p:spTgt spid="2277"/>
                                        </p:tgtEl>
                                        <p:attrNameLst>
                                          <p:attrName>style.visibility</p:attrName>
                                        </p:attrNameLst>
                                      </p:cBhvr>
                                      <p:to>
                                        <p:strVal val="visible"/>
                                      </p:to>
                                    </p:set>
                                    <p:animEffect transition="in" filter="wipe(left)">
                                      <p:cBhvr>
                                        <p:cTn id="33" dur="500"/>
                                        <p:tgtEl>
                                          <p:spTgt spid="2277"/>
                                        </p:tgtEl>
                                      </p:cBhvr>
                                    </p:animEffect>
                                  </p:childTnLst>
                                </p:cTn>
                              </p:par>
                            </p:childTnLst>
                          </p:cTn>
                        </p:par>
                        <p:par>
                          <p:cTn id="34" fill="hold">
                            <p:stCondLst>
                              <p:cond delay="2000"/>
                            </p:stCondLst>
                            <p:childTnLst>
                              <p:par>
                                <p:cTn id="35" presetID="22" presetClass="entr" presetSubtype="8" fill="hold" grpId="0" nodeType="afterEffect">
                                  <p:stCondLst>
                                    <p:cond delay="0"/>
                                  </p:stCondLst>
                                  <p:childTnLst>
                                    <p:set>
                                      <p:cBhvr>
                                        <p:cTn id="36" dur="1" fill="hold">
                                          <p:stCondLst>
                                            <p:cond delay="0"/>
                                          </p:stCondLst>
                                        </p:cTn>
                                        <p:tgtEl>
                                          <p:spTgt spid="2278"/>
                                        </p:tgtEl>
                                        <p:attrNameLst>
                                          <p:attrName>style.visibility</p:attrName>
                                        </p:attrNameLst>
                                      </p:cBhvr>
                                      <p:to>
                                        <p:strVal val="visible"/>
                                      </p:to>
                                    </p:set>
                                    <p:animEffect transition="in" filter="wipe(left)">
                                      <p:cBhvr>
                                        <p:cTn id="37" dur="500"/>
                                        <p:tgtEl>
                                          <p:spTgt spid="2278"/>
                                        </p:tgtEl>
                                      </p:cBhvr>
                                    </p:animEffect>
                                  </p:childTnLst>
                                </p:cTn>
                              </p:par>
                            </p:childTnLst>
                          </p:cTn>
                        </p:par>
                        <p:par>
                          <p:cTn id="38" fill="hold">
                            <p:stCondLst>
                              <p:cond delay="2500"/>
                            </p:stCondLst>
                            <p:childTnLst>
                              <p:par>
                                <p:cTn id="39" presetID="22" presetClass="entr" presetSubtype="8" fill="hold" grpId="0" nodeType="afterEffect">
                                  <p:stCondLst>
                                    <p:cond delay="0"/>
                                  </p:stCondLst>
                                  <p:childTnLst>
                                    <p:set>
                                      <p:cBhvr>
                                        <p:cTn id="40" dur="1" fill="hold">
                                          <p:stCondLst>
                                            <p:cond delay="0"/>
                                          </p:stCondLst>
                                        </p:cTn>
                                        <p:tgtEl>
                                          <p:spTgt spid="2279"/>
                                        </p:tgtEl>
                                        <p:attrNameLst>
                                          <p:attrName>style.visibility</p:attrName>
                                        </p:attrNameLst>
                                      </p:cBhvr>
                                      <p:to>
                                        <p:strVal val="visible"/>
                                      </p:to>
                                    </p:set>
                                    <p:animEffect transition="in" filter="wipe(left)">
                                      <p:cBhvr>
                                        <p:cTn id="41" dur="500"/>
                                        <p:tgtEl>
                                          <p:spTgt spid="2279"/>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281"/>
                                        </p:tgtEl>
                                        <p:attrNameLst>
                                          <p:attrName>style.visibility</p:attrName>
                                        </p:attrNameLst>
                                      </p:cBhvr>
                                      <p:to>
                                        <p:strVal val="visible"/>
                                      </p:to>
                                    </p:set>
                                    <p:animEffect transition="in" filter="wipe(left)">
                                      <p:cBhvr>
                                        <p:cTn id="46" dur="500"/>
                                        <p:tgtEl>
                                          <p:spTgt spid="2281"/>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282"/>
                                        </p:tgtEl>
                                        <p:attrNameLst>
                                          <p:attrName>style.visibility</p:attrName>
                                        </p:attrNameLst>
                                      </p:cBhvr>
                                      <p:to>
                                        <p:strVal val="visible"/>
                                      </p:to>
                                    </p:set>
                                    <p:animEffect transition="in" filter="wipe(left)">
                                      <p:cBhvr>
                                        <p:cTn id="51" dur="500"/>
                                        <p:tgtEl>
                                          <p:spTgt spid="2282"/>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284"/>
                                        </p:tgtEl>
                                        <p:attrNameLst>
                                          <p:attrName>style.visibility</p:attrName>
                                        </p:attrNameLst>
                                      </p:cBhvr>
                                      <p:to>
                                        <p:strVal val="visible"/>
                                      </p:to>
                                    </p:set>
                                    <p:animEffect transition="in" filter="wipe(left)">
                                      <p:cBhvr>
                                        <p:cTn id="56" dur="500"/>
                                        <p:tgtEl>
                                          <p:spTgt spid="22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2" grpId="0"/>
      <p:bldP spid="2263" grpId="0"/>
      <p:bldP spid="2264" grpId="0"/>
      <p:bldP spid="2265" grpId="0"/>
      <p:bldP spid="2273" grpId="0"/>
      <p:bldP spid="2274" grpId="0"/>
      <p:bldP spid="2275" grpId="0"/>
      <p:bldP spid="2277" grpId="0"/>
      <p:bldP spid="2278" grpId="0"/>
      <p:bldP spid="2279" grpId="0"/>
      <p:bldP spid="2281" grpId="0"/>
      <p:bldP spid="2282" grpId="0"/>
      <p:bldP spid="228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A91C3B9C-E691-30E6-4F20-EAC47AD10C32}"/>
              </a:ext>
            </a:extLst>
          </p:cNvPr>
          <p:cNvGrpSpPr/>
          <p:nvPr/>
        </p:nvGrpSpPr>
        <p:grpSpPr>
          <a:xfrm>
            <a:off x="687324" y="535820"/>
            <a:ext cx="10817987" cy="5803091"/>
            <a:chOff x="687324" y="535820"/>
            <a:chExt cx="10817987" cy="5803091"/>
          </a:xfrm>
        </p:grpSpPr>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DDFF1D46-ECF4-3A94-3AEE-58907725B6B8}"/>
                    </a:ext>
                  </a:extLst>
                </p:cNvPr>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dirty="0"/>
                </a:p>
              </p:txBody>
            </p:sp>
          </mc:Choice>
          <mc:Fallback xmlns="">
            <p:sp>
              <p:nvSpPr>
                <p:cNvPr id="4" name="矩形 3">
                  <a:extLst>
                    <a:ext uri="{FF2B5EF4-FFF2-40B4-BE49-F238E27FC236}">
                      <a16:creationId xmlns:a16="http://schemas.microsoft.com/office/drawing/2014/main" id="{DDFF1D46-ECF4-3A94-3AEE-58907725B6B8}"/>
                    </a:ext>
                  </a:extLst>
                </p:cNvPr>
                <p:cNvSpPr>
                  <a:spLocks noRot="1" noChangeAspect="1" noMove="1" noResize="1" noEditPoints="1" noAdjustHandles="1" noChangeArrowheads="1" noChangeShapeType="1" noTextEdit="1"/>
                </p:cNvSpPr>
                <p:nvPr/>
              </p:nvSpPr>
              <p:spPr>
                <a:xfrm>
                  <a:off x="687959" y="536260"/>
                  <a:ext cx="10817352" cy="5799897"/>
                </a:xfrm>
                <a:prstGeom prst="rect">
                  <a:avLst/>
                </a:prstGeom>
                <a:blipFill>
                  <a:blip r:embed="rId2"/>
                  <a:stretch>
                    <a:fillRect/>
                  </a:stretch>
                </a:blipFill>
                <a:ln>
                  <a:noFill/>
                </a:ln>
                <a:effectLst>
                  <a:outerShdw blurRad="63500" sx="102000" sy="102000" algn="ctr" rotWithShape="0">
                    <a:prstClr val="black">
                      <a:alpha val="9000"/>
                    </a:prstClr>
                  </a:outerShdw>
                </a:effectLst>
              </p:spPr>
              <p:txBody>
                <a:bodyPr/>
                <a:lstStyle/>
                <a:p>
                  <a:r>
                    <a:rPr lang="zh-CN" altLang="en-US">
                      <a:noFill/>
                    </a:rPr>
                    <a:t> </a:t>
                  </a:r>
                </a:p>
              </p:txBody>
            </p:sp>
          </mc:Fallback>
        </mc:AlternateContent>
        <p:sp>
          <p:nvSpPr>
            <p:cNvPr id="5" name="半闭框 4">
              <a:extLst>
                <a:ext uri="{FF2B5EF4-FFF2-40B4-BE49-F238E27FC236}">
                  <a16:creationId xmlns:a16="http://schemas.microsoft.com/office/drawing/2014/main" id="{C152CDB1-653A-D51C-41CB-58445DC69553}"/>
                </a:ext>
              </a:extLst>
            </p:cNvPr>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半闭框 5">
              <a:extLst>
                <a:ext uri="{FF2B5EF4-FFF2-40B4-BE49-F238E27FC236}">
                  <a16:creationId xmlns:a16="http://schemas.microsoft.com/office/drawing/2014/main" id="{3AA1109C-8A64-A71C-A56D-A906037FE723}"/>
                </a:ext>
              </a:extLst>
            </p:cNvPr>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半闭框 6">
              <a:extLst>
                <a:ext uri="{FF2B5EF4-FFF2-40B4-BE49-F238E27FC236}">
                  <a16:creationId xmlns:a16="http://schemas.microsoft.com/office/drawing/2014/main" id="{D1AF5E51-5025-6EE6-5F6F-F1F1CBA60621}"/>
                </a:ext>
              </a:extLst>
            </p:cNvPr>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8" name="半闭框 7">
              <a:extLst>
                <a:ext uri="{FF2B5EF4-FFF2-40B4-BE49-F238E27FC236}">
                  <a16:creationId xmlns:a16="http://schemas.microsoft.com/office/drawing/2014/main" id="{B0F9980E-C508-DDBC-B848-4D69D3D876AC}"/>
                </a:ext>
              </a:extLst>
            </p:cNvPr>
            <p:cNvSpPr/>
            <p:nvPr/>
          </p:nvSpPr>
          <p:spPr>
            <a:xfrm flipH="1" flipV="1">
              <a:off x="10823530"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mc:AlternateContent xmlns:mc="http://schemas.openxmlformats.org/markup-compatibility/2006" xmlns:a14="http://schemas.microsoft.com/office/drawing/2010/main">
        <mc:Choice Requires="a14">
          <p:sp>
            <p:nvSpPr>
              <p:cNvPr id="2293" name="Text Box 245"/>
              <p:cNvSpPr txBox="1">
                <a:spLocks noChangeArrowheads="1"/>
              </p:cNvSpPr>
              <p:nvPr/>
            </p:nvSpPr>
            <p:spPr bwMode="auto">
              <a:xfrm>
                <a:off x="2231966" y="1472577"/>
                <a:ext cx="7797800" cy="523220"/>
              </a:xfrm>
              <a:prstGeom prst="rect">
                <a:avLst/>
              </a:prstGeom>
              <a:noFill/>
              <a:ln>
                <a:noFill/>
              </a:ln>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Lst>
            </p:spPr>
            <p:txBody>
              <a:bodyPr>
                <a:spAutoFit/>
              </a:bodyPr>
              <a:lstStyle/>
              <a:p>
                <a:pPr>
                  <a:spcBef>
                    <a:spcPct val="50000"/>
                  </a:spcBef>
                </a:pPr>
                <a:r>
                  <a:rPr kumimoji="1" lang="zh-CN" altLang="en-US" sz="2800" dirty="0">
                    <a:latin typeface="Times New Roman" panose="02020603050405020304" pitchFamily="18" charset="0"/>
                    <a:cs typeface="Times New Roman" panose="02020603050405020304" pitchFamily="18" charset="0"/>
                  </a:rPr>
                  <a:t>四点共面，求点</a:t>
                </a:r>
                <a14:m>
                  <m:oMath xmlns:m="http://schemas.openxmlformats.org/officeDocument/2006/math">
                    <m:r>
                      <a:rPr lang="en-US" altLang="zh-CN" sz="2800" i="1">
                        <a:latin typeface="Cambria Math" panose="02040503050406030204" pitchFamily="18" charset="0"/>
                        <a:ea typeface="Cambria Math" panose="02040503050406030204" pitchFamily="18" charset="0"/>
                      </a:rPr>
                      <m:t>𝑀</m:t>
                    </m:r>
                  </m:oMath>
                </a14:m>
                <a:r>
                  <a:rPr kumimoji="1" lang="zh-CN" altLang="en-US" sz="2800" dirty="0">
                    <a:latin typeface="Times New Roman" panose="02020603050405020304" pitchFamily="18" charset="0"/>
                    <a:cs typeface="Times New Roman" panose="02020603050405020304" pitchFamily="18" charset="0"/>
                  </a:rPr>
                  <a:t>的坐标</a:t>
                </a:r>
                <a14:m>
                  <m:oMath xmlns:m="http://schemas.openxmlformats.org/officeDocument/2006/math">
                    <m:r>
                      <a:rPr lang="en-US" altLang="zh-CN" sz="2800" b="0" i="1" smtClean="0">
                        <a:latin typeface="Cambria Math" panose="02040503050406030204" pitchFamily="18" charset="0"/>
                      </a:rPr>
                      <m:t>𝑥</m:t>
                    </m:r>
                    <m:r>
                      <a:rPr lang="en-US" altLang="zh-CN" sz="2800" b="0" i="1" smtClean="0">
                        <a:latin typeface="Cambria Math" panose="02040503050406030204" pitchFamily="18" charset="0"/>
                      </a:rPr>
                      <m:t>,</m:t>
                    </m:r>
                    <m:r>
                      <a:rPr lang="en-US" altLang="zh-CN" sz="2800" i="1">
                        <a:latin typeface="Cambria Math" panose="02040503050406030204" pitchFamily="18" charset="0"/>
                      </a:rPr>
                      <m:t>𝑦</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𝑧</m:t>
                    </m:r>
                  </m:oMath>
                </a14:m>
                <a:r>
                  <a:rPr kumimoji="1" lang="zh-CN" altLang="en-US" sz="2800" dirty="0">
                    <a:latin typeface="Times New Roman" panose="02020603050405020304" pitchFamily="18" charset="0"/>
                    <a:cs typeface="Times New Roman" panose="02020603050405020304" pitchFamily="18" charset="0"/>
                  </a:rPr>
                  <a:t>所满足的方程．</a:t>
                </a:r>
                <a:r>
                  <a:rPr kumimoji="1" lang="zh-CN" altLang="en-US" sz="2800" dirty="0">
                    <a:latin typeface="Times New Roman" panose="02020603050405020304" pitchFamily="18" charset="0"/>
                    <a:ea typeface="楷体_GB2312" pitchFamily="49" charset="-122"/>
                    <a:cs typeface="Times New Roman" panose="02020603050405020304" pitchFamily="18" charset="0"/>
                  </a:rPr>
                  <a:t> </a:t>
                </a:r>
              </a:p>
            </p:txBody>
          </p:sp>
        </mc:Choice>
        <mc:Fallback xmlns="">
          <p:sp>
            <p:nvSpPr>
              <p:cNvPr id="2293" name="Text Box 245"/>
              <p:cNvSpPr txBox="1">
                <a:spLocks noRot="1" noChangeAspect="1" noMove="1" noResize="1" noEditPoints="1" noAdjustHandles="1" noChangeArrowheads="1" noChangeShapeType="1" noTextEdit="1"/>
              </p:cNvSpPr>
              <p:nvPr/>
            </p:nvSpPr>
            <p:spPr bwMode="auto">
              <a:xfrm>
                <a:off x="2231966" y="1472577"/>
                <a:ext cx="7797800" cy="523220"/>
              </a:xfrm>
              <a:prstGeom prst="rect">
                <a:avLst/>
              </a:prstGeom>
              <a:blipFill>
                <a:blip r:embed="rId4"/>
                <a:stretch>
                  <a:fillRect l="-1564" t="-16471" b="-29412"/>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p:sp>
        <p:nvSpPr>
          <p:cNvPr id="2294" name="Rectangle 246"/>
          <p:cNvSpPr>
            <a:spLocks noChangeArrowheads="1"/>
          </p:cNvSpPr>
          <p:nvPr/>
        </p:nvSpPr>
        <p:spPr bwMode="auto">
          <a:xfrm>
            <a:off x="1435354" y="867265"/>
            <a:ext cx="1860296" cy="53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kumimoji="1" lang="zh-CN" altLang="en-US" sz="2800" b="1" dirty="0">
                <a:solidFill>
                  <a:srgbClr val="04926A"/>
                </a:solidFill>
                <a:latin typeface="微软雅黑" panose="020B0503020204020204" pitchFamily="34" charset="-122"/>
                <a:ea typeface="微软雅黑" panose="020B0503020204020204" pitchFamily="34" charset="-122"/>
              </a:rPr>
              <a:t>例</a:t>
            </a:r>
            <a:r>
              <a:rPr kumimoji="1" lang="en-US" altLang="zh-CN" sz="2800" b="1" dirty="0">
                <a:solidFill>
                  <a:srgbClr val="04926A"/>
                </a:solidFill>
                <a:latin typeface="微软雅黑" panose="020B0503020204020204" pitchFamily="34" charset="-122"/>
                <a:ea typeface="微软雅黑" panose="020B0503020204020204" pitchFamily="34" charset="-122"/>
              </a:rPr>
              <a:t>8</a:t>
            </a:r>
            <a:r>
              <a:rPr lang="en-US" altLang="zh-CN" sz="2800" dirty="0">
                <a:latin typeface="Times New Roman" panose="02020603050405020304" pitchFamily="18" charset="0"/>
                <a:cs typeface="Times New Roman" panose="02020603050405020304" pitchFamily="18" charset="0"/>
              </a:rPr>
              <a:t>  </a:t>
            </a:r>
            <a:r>
              <a:rPr lang="zh-CN" altLang="en-US" sz="28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已知</a:t>
            </a:r>
          </a:p>
        </p:txBody>
      </p:sp>
      <mc:AlternateContent xmlns:mc="http://schemas.openxmlformats.org/markup-compatibility/2006" xmlns:a14="http://schemas.microsoft.com/office/drawing/2010/main">
        <mc:Choice Requires="a14">
          <p:sp>
            <p:nvSpPr>
              <p:cNvPr id="2295" name="Object 247"/>
              <p:cNvSpPr txBox="1"/>
              <p:nvPr/>
            </p:nvSpPr>
            <p:spPr bwMode="auto">
              <a:xfrm>
                <a:off x="2951426" y="847707"/>
                <a:ext cx="5608637" cy="43497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a:latin typeface="Cambria Math" panose="02040503050406030204" pitchFamily="18" charset="0"/>
                        </a:rPr>
                        <m:t>𝐴</m:t>
                      </m:r>
                      <m:r>
                        <a:rPr lang="zh-CN" altLang="en-US" sz="2800" i="1">
                          <a:latin typeface="Cambria Math" panose="02040503050406030204" pitchFamily="18" charset="0"/>
                        </a:rPr>
                        <m:t>(1,2,0),</m:t>
                      </m:r>
                      <m:r>
                        <a:rPr lang="zh-CN" altLang="en-US" sz="2800" i="1">
                          <a:latin typeface="Cambria Math" panose="02040503050406030204" pitchFamily="18" charset="0"/>
                        </a:rPr>
                        <m:t>𝐵</m:t>
                      </m:r>
                      <m:r>
                        <a:rPr lang="zh-CN" altLang="en-US" sz="2800" i="1">
                          <a:latin typeface="Cambria Math" panose="02040503050406030204" pitchFamily="18" charset="0"/>
                        </a:rPr>
                        <m:t>(2,3,1),</m:t>
                      </m:r>
                      <m:r>
                        <a:rPr lang="zh-CN" altLang="en-US" sz="2800" i="1">
                          <a:latin typeface="Cambria Math" panose="02040503050406030204" pitchFamily="18" charset="0"/>
                        </a:rPr>
                        <m:t>𝐶</m:t>
                      </m:r>
                      <m:r>
                        <a:rPr lang="zh-CN" altLang="en-US" sz="2800" i="1">
                          <a:latin typeface="Cambria Math" panose="02040503050406030204" pitchFamily="18" charset="0"/>
                        </a:rPr>
                        <m:t>(4,2,2),</m:t>
                      </m:r>
                      <m:r>
                        <a:rPr lang="zh-CN" altLang="en-US" sz="2800" i="1">
                          <a:latin typeface="Cambria Math" panose="02040503050406030204" pitchFamily="18" charset="0"/>
                        </a:rPr>
                        <m:t>𝑀</m:t>
                      </m:r>
                      <m:r>
                        <a:rPr lang="zh-CN" altLang="en-US" sz="2800" i="1">
                          <a:latin typeface="Cambria Math" panose="02040503050406030204" pitchFamily="18" charset="0"/>
                        </a:rPr>
                        <m:t>(</m:t>
                      </m:r>
                      <m:r>
                        <a:rPr lang="zh-CN" altLang="en-US" sz="2800" i="1">
                          <a:latin typeface="Cambria Math" panose="02040503050406030204" pitchFamily="18" charset="0"/>
                        </a:rPr>
                        <m:t>𝑥</m:t>
                      </m:r>
                      <m:r>
                        <a:rPr lang="zh-CN" altLang="en-US" sz="2800" i="1">
                          <a:latin typeface="Cambria Math" panose="02040503050406030204" pitchFamily="18" charset="0"/>
                        </a:rPr>
                        <m:t>,</m:t>
                      </m:r>
                      <m:r>
                        <a:rPr lang="zh-CN" altLang="en-US" sz="2800" i="1">
                          <a:latin typeface="Cambria Math" panose="02040503050406030204" pitchFamily="18" charset="0"/>
                        </a:rPr>
                        <m:t>𝑦</m:t>
                      </m:r>
                      <m:r>
                        <a:rPr lang="zh-CN" altLang="en-US" sz="2800" i="1">
                          <a:latin typeface="Cambria Math" panose="02040503050406030204" pitchFamily="18" charset="0"/>
                        </a:rPr>
                        <m:t>,</m:t>
                      </m:r>
                      <m:r>
                        <a:rPr lang="zh-CN" altLang="en-US" sz="2800" i="1">
                          <a:latin typeface="Cambria Math" panose="02040503050406030204" pitchFamily="18" charset="0"/>
                        </a:rPr>
                        <m:t>𝑧</m:t>
                      </m:r>
                      <m:r>
                        <a:rPr lang="zh-CN" altLang="en-US" sz="2800" i="1">
                          <a:latin typeface="Cambria Math" panose="02040503050406030204" pitchFamily="18" charset="0"/>
                        </a:rPr>
                        <m:t>)</m:t>
                      </m:r>
                    </m:oMath>
                  </m:oMathPara>
                </a14:m>
                <a:endParaRPr lang="zh-CN" altLang="en-US" sz="2800" i="1" dirty="0">
                  <a:latin typeface="Cambria Math" panose="02040503050406030204" pitchFamily="18" charset="0"/>
                </a:endParaRPr>
              </a:p>
            </p:txBody>
          </p:sp>
        </mc:Choice>
        <mc:Fallback xmlns="">
          <p:sp>
            <p:nvSpPr>
              <p:cNvPr id="2295" name="Object 247"/>
              <p:cNvSpPr txBox="1">
                <a:spLocks noRot="1" noChangeAspect="1" noMove="1" noResize="1" noEditPoints="1" noAdjustHandles="1" noChangeArrowheads="1" noChangeShapeType="1" noTextEdit="1"/>
              </p:cNvSpPr>
              <p:nvPr/>
            </p:nvSpPr>
            <p:spPr bwMode="auto">
              <a:xfrm>
                <a:off x="2951426" y="847707"/>
                <a:ext cx="5608637" cy="434975"/>
              </a:xfrm>
              <a:prstGeom prst="rect">
                <a:avLst/>
              </a:prstGeom>
              <a:blipFill>
                <a:blip r:embed="rId5"/>
                <a:stretch>
                  <a:fillRect r="-1848" b="-9859"/>
                </a:stretch>
              </a:blipFill>
              <a:ln>
                <a:noFill/>
              </a:ln>
              <a:effectLst/>
            </p:spPr>
            <p:txBody>
              <a:bodyPr/>
              <a:lstStyle/>
              <a:p>
                <a:r>
                  <a:rPr lang="zh-CN" altLang="en-US">
                    <a:noFill/>
                  </a:rPr>
                  <a:t> </a:t>
                </a:r>
              </a:p>
            </p:txBody>
          </p:sp>
        </mc:Fallback>
      </mc:AlternateContent>
      <p:sp>
        <p:nvSpPr>
          <p:cNvPr id="2296" name="Rectangle 248"/>
          <p:cNvSpPr>
            <a:spLocks noChangeArrowheads="1"/>
          </p:cNvSpPr>
          <p:nvPr/>
        </p:nvSpPr>
        <p:spPr bwMode="auto">
          <a:xfrm>
            <a:off x="1435354" y="2178540"/>
            <a:ext cx="54373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800" b="1" dirty="0">
                <a:solidFill>
                  <a:srgbClr val="04926A"/>
                </a:solidFill>
                <a:latin typeface="微软雅黑" panose="020B0503020204020204" pitchFamily="34" charset="-122"/>
                <a:ea typeface="微软雅黑" panose="020B0503020204020204" pitchFamily="34" charset="-122"/>
              </a:rPr>
              <a:t>解</a:t>
            </a:r>
          </a:p>
        </p:txBody>
      </p:sp>
      <mc:AlternateContent xmlns:mc="http://schemas.openxmlformats.org/markup-compatibility/2006" xmlns:a14="http://schemas.microsoft.com/office/drawing/2010/main">
        <mc:Choice Requires="a14">
          <p:sp>
            <p:nvSpPr>
              <p:cNvPr id="2297" name="Text Box 249"/>
              <p:cNvSpPr txBox="1">
                <a:spLocks noChangeArrowheads="1"/>
              </p:cNvSpPr>
              <p:nvPr/>
            </p:nvSpPr>
            <p:spPr bwMode="auto">
              <a:xfrm>
                <a:off x="2266953" y="2218916"/>
                <a:ext cx="3671887" cy="45313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p>
                <a:pPr>
                  <a:spcBef>
                    <a:spcPct val="50000"/>
                  </a:spcBef>
                </a:pPr>
                <a14:m>
                  <m:oMath xmlns:m="http://schemas.openxmlformats.org/officeDocument/2006/math">
                    <m:r>
                      <a:rPr lang="en-US" altLang="zh-CN" sz="2400" i="1" smtClean="0">
                        <a:latin typeface="Cambria Math" panose="02040503050406030204" pitchFamily="18" charset="0"/>
                        <a:ea typeface="Cambria Math" panose="02040503050406030204" pitchFamily="18" charset="0"/>
                      </a:rPr>
                      <m:t>𝐴</m:t>
                    </m:r>
                    <m:r>
                      <a:rPr lang="en-US" altLang="zh-CN" sz="2400" b="0" i="1" smtClean="0">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 </m:t>
                    </m:r>
                    <m:r>
                      <a:rPr lang="en-US" altLang="zh-CN" sz="2400" i="1">
                        <a:latin typeface="Cambria Math" panose="02040503050406030204" pitchFamily="18" charset="0"/>
                        <a:ea typeface="Cambria Math" panose="02040503050406030204" pitchFamily="18" charset="0"/>
                      </a:rPr>
                      <m:t>𝐵</m:t>
                    </m:r>
                    <m:r>
                      <a:rPr lang="en-US" altLang="zh-CN" sz="2400" b="0" i="1" smtClean="0">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 </m:t>
                    </m:r>
                    <m:r>
                      <a:rPr lang="en-US" altLang="zh-CN" sz="2400" i="1">
                        <a:latin typeface="Cambria Math" panose="02040503050406030204" pitchFamily="18" charset="0"/>
                        <a:ea typeface="Cambria Math" panose="02040503050406030204" pitchFamily="18" charset="0"/>
                      </a:rPr>
                      <m:t>𝐶</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𝑀</m:t>
                    </m:r>
                  </m:oMath>
                </a14:m>
                <a:r>
                  <a:rPr kumimoji="1" lang="zh-CN" altLang="en-US" sz="2200" dirty="0">
                    <a:latin typeface="Times New Roman" panose="02020603050405020304" pitchFamily="18" charset="0"/>
                    <a:cs typeface="Times New Roman" panose="02020603050405020304" pitchFamily="18" charset="0"/>
                  </a:rPr>
                  <a:t>四点共面，</a:t>
                </a:r>
              </a:p>
            </p:txBody>
          </p:sp>
        </mc:Choice>
        <mc:Fallback xmlns="">
          <p:sp>
            <p:nvSpPr>
              <p:cNvPr id="2297" name="Text Box 249"/>
              <p:cNvSpPr txBox="1">
                <a:spLocks noRot="1" noChangeAspect="1" noMove="1" noResize="1" noEditPoints="1" noAdjustHandles="1" noChangeArrowheads="1" noChangeShapeType="1" noTextEdit="1"/>
              </p:cNvSpPr>
              <p:nvPr/>
            </p:nvSpPr>
            <p:spPr bwMode="auto">
              <a:xfrm>
                <a:off x="2266953" y="2218916"/>
                <a:ext cx="3671887" cy="453137"/>
              </a:xfrm>
              <a:prstGeom prst="rect">
                <a:avLst/>
              </a:prstGeom>
              <a:blipFill>
                <a:blip r:embed="rId6"/>
                <a:stretch>
                  <a:fillRect l="-498" t="-9459" b="-2162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2298" name="AutoShape 250"/>
          <p:cNvSpPr>
            <a:spLocks noChangeArrowheads="1"/>
          </p:cNvSpPr>
          <p:nvPr/>
        </p:nvSpPr>
        <p:spPr bwMode="auto">
          <a:xfrm>
            <a:off x="1586708" y="2960689"/>
            <a:ext cx="634999" cy="252245"/>
          </a:xfrm>
          <a:prstGeom prst="leftRightArrow">
            <a:avLst>
              <a:gd name="adj1" fmla="val 50000"/>
              <a:gd name="adj2" fmla="val 54835"/>
            </a:avLst>
          </a:prstGeom>
          <a:solidFill>
            <a:srgbClr val="04926A"/>
          </a:solidFill>
          <a:ln w="9525">
            <a:noFill/>
            <a:miter lim="800000"/>
            <a:headEnd/>
            <a:tailEnd/>
          </a:ln>
          <a:effectLst/>
        </p:spPr>
        <p:txBody>
          <a:bodyPr wrap="none" anchor="ctr"/>
          <a:lstStyle/>
          <a:p>
            <a:endParaRPr lang="zh-CN" altLang="en-US" sz="280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299" name="Object 251"/>
              <p:cNvSpPr txBox="1"/>
              <p:nvPr/>
            </p:nvSpPr>
            <p:spPr bwMode="auto">
              <a:xfrm>
                <a:off x="2266953" y="2781300"/>
                <a:ext cx="1676397" cy="522288"/>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groupChr>
                        <m:groupChrPr>
                          <m:chr m:val="→"/>
                          <m:pos m:val="top"/>
                          <m:vertJc m:val="bot"/>
                          <m:ctrlPr>
                            <a:rPr lang="zh-CN" altLang="en-US" sz="2200" i="1">
                              <a:latin typeface="Cambria Math" panose="02040503050406030204" pitchFamily="18" charset="0"/>
                            </a:rPr>
                          </m:ctrlPr>
                        </m:groupChrPr>
                        <m:e>
                          <m:r>
                            <a:rPr lang="zh-CN" altLang="en-US" sz="2200" i="1">
                              <a:latin typeface="Cambria Math" panose="02040503050406030204" pitchFamily="18" charset="0"/>
                            </a:rPr>
                            <m:t>𝐴𝑀</m:t>
                          </m:r>
                        </m:e>
                      </m:groupChr>
                      <m:r>
                        <a:rPr lang="zh-CN" altLang="en-US" sz="2200" i="1">
                          <a:latin typeface="Cambria Math" panose="02040503050406030204" pitchFamily="18" charset="0"/>
                        </a:rPr>
                        <m:t>,</m:t>
                      </m:r>
                      <m:groupChr>
                        <m:groupChrPr>
                          <m:chr m:val="→"/>
                          <m:pos m:val="top"/>
                          <m:vertJc m:val="bot"/>
                          <m:ctrlPr>
                            <a:rPr lang="zh-CN" altLang="en-US" sz="2200" i="1">
                              <a:latin typeface="Cambria Math" panose="02040503050406030204" pitchFamily="18" charset="0"/>
                            </a:rPr>
                          </m:ctrlPr>
                        </m:groupChrPr>
                        <m:e>
                          <m:r>
                            <a:rPr lang="zh-CN" altLang="en-US" sz="2200" i="1">
                              <a:latin typeface="Cambria Math" panose="02040503050406030204" pitchFamily="18" charset="0"/>
                            </a:rPr>
                            <m:t>𝐴𝐵</m:t>
                          </m:r>
                        </m:e>
                      </m:groupChr>
                      <m:r>
                        <a:rPr lang="zh-CN" altLang="en-US" sz="2200" i="1">
                          <a:latin typeface="Cambria Math" panose="02040503050406030204" pitchFamily="18" charset="0"/>
                        </a:rPr>
                        <m:t>,</m:t>
                      </m:r>
                      <m:groupChr>
                        <m:groupChrPr>
                          <m:chr m:val="→"/>
                          <m:pos m:val="top"/>
                          <m:vertJc m:val="bot"/>
                          <m:ctrlPr>
                            <a:rPr lang="zh-CN" altLang="en-US" sz="2200" i="1">
                              <a:latin typeface="Cambria Math" panose="02040503050406030204" pitchFamily="18" charset="0"/>
                            </a:rPr>
                          </m:ctrlPr>
                        </m:groupChrPr>
                        <m:e>
                          <m:r>
                            <a:rPr lang="zh-CN" altLang="en-US" sz="2200" i="1">
                              <a:latin typeface="Cambria Math" panose="02040503050406030204" pitchFamily="18" charset="0"/>
                            </a:rPr>
                            <m:t>𝐴𝐶</m:t>
                          </m:r>
                        </m:e>
                      </m:groupChr>
                    </m:oMath>
                  </m:oMathPara>
                </a14:m>
                <a:endParaRPr lang="zh-CN" altLang="en-US" sz="2200" i="1" dirty="0">
                  <a:latin typeface="Cambria Math" panose="02040503050406030204" pitchFamily="18" charset="0"/>
                </a:endParaRPr>
              </a:p>
            </p:txBody>
          </p:sp>
        </mc:Choice>
        <mc:Fallback xmlns="">
          <p:sp>
            <p:nvSpPr>
              <p:cNvPr id="2299" name="Object 251"/>
              <p:cNvSpPr txBox="1">
                <a:spLocks noRot="1" noChangeAspect="1" noMove="1" noResize="1" noEditPoints="1" noAdjustHandles="1" noChangeArrowheads="1" noChangeShapeType="1" noTextEdit="1"/>
              </p:cNvSpPr>
              <p:nvPr/>
            </p:nvSpPr>
            <p:spPr bwMode="auto">
              <a:xfrm>
                <a:off x="2266953" y="2781300"/>
                <a:ext cx="1676397" cy="522288"/>
              </a:xfrm>
              <a:prstGeom prst="rect">
                <a:avLst/>
              </a:prstGeom>
              <a:blipFill>
                <a:blip r:embed="rId7"/>
                <a:stretch>
                  <a:fillRect/>
                </a:stretch>
              </a:blipFill>
              <a:ln>
                <a:noFill/>
              </a:ln>
              <a:effectLst/>
            </p:spPr>
            <p:txBody>
              <a:bodyPr/>
              <a:lstStyle/>
              <a:p>
                <a:r>
                  <a:rPr lang="zh-CN" altLang="en-US">
                    <a:noFill/>
                  </a:rPr>
                  <a:t> </a:t>
                </a:r>
              </a:p>
            </p:txBody>
          </p:sp>
        </mc:Fallback>
      </mc:AlternateContent>
      <p:sp>
        <p:nvSpPr>
          <p:cNvPr id="2300" name="Text Box 252"/>
          <p:cNvSpPr txBox="1">
            <a:spLocks noChangeArrowheads="1"/>
          </p:cNvSpPr>
          <p:nvPr/>
        </p:nvSpPr>
        <p:spPr bwMode="auto">
          <a:xfrm>
            <a:off x="3777459" y="2809824"/>
            <a:ext cx="981857"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200" dirty="0">
                <a:latin typeface="Times New Roman" panose="02020603050405020304" pitchFamily="18" charset="0"/>
                <a:cs typeface="Times New Roman" panose="02020603050405020304" pitchFamily="18" charset="0"/>
              </a:rPr>
              <a:t>共面，</a:t>
            </a:r>
          </a:p>
        </p:txBody>
      </p:sp>
      <p:sp>
        <p:nvSpPr>
          <p:cNvPr id="2301" name="AutoShape 253"/>
          <p:cNvSpPr>
            <a:spLocks noChangeArrowheads="1"/>
          </p:cNvSpPr>
          <p:nvPr/>
        </p:nvSpPr>
        <p:spPr bwMode="auto">
          <a:xfrm>
            <a:off x="1586708" y="3621176"/>
            <a:ext cx="635000" cy="245335"/>
          </a:xfrm>
          <a:prstGeom prst="leftRightArrow">
            <a:avLst>
              <a:gd name="adj1" fmla="val 50000"/>
              <a:gd name="adj2" fmla="val 54835"/>
            </a:avLst>
          </a:prstGeom>
          <a:solidFill>
            <a:srgbClr val="04926A"/>
          </a:solidFill>
          <a:ln w="9525">
            <a:noFill/>
            <a:miter lim="800000"/>
            <a:headEnd/>
            <a:tailEnd/>
          </a:ln>
          <a:effectLst/>
        </p:spPr>
        <p:txBody>
          <a:bodyPr wrap="none" anchor="ctr"/>
          <a:lstStyle/>
          <a:p>
            <a:endParaRPr lang="zh-CN" altLang="en-US" sz="280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302" name="Object 254"/>
              <p:cNvSpPr txBox="1"/>
              <p:nvPr/>
            </p:nvSpPr>
            <p:spPr bwMode="auto">
              <a:xfrm>
                <a:off x="2266953" y="3411539"/>
                <a:ext cx="2901157" cy="52228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200" i="1">
                          <a:latin typeface="Cambria Math" panose="02040503050406030204" pitchFamily="18" charset="0"/>
                        </a:rPr>
                        <m:t>[</m:t>
                      </m:r>
                      <m:groupChr>
                        <m:groupChrPr>
                          <m:chr m:val="→"/>
                          <m:pos m:val="top"/>
                          <m:vertJc m:val="bot"/>
                          <m:ctrlPr>
                            <a:rPr lang="zh-CN" altLang="en-US" sz="2200" i="1">
                              <a:latin typeface="Cambria Math" panose="02040503050406030204" pitchFamily="18" charset="0"/>
                            </a:rPr>
                          </m:ctrlPr>
                        </m:groupChrPr>
                        <m:e>
                          <m:r>
                            <a:rPr lang="zh-CN" altLang="en-US" sz="2200" i="1">
                              <a:latin typeface="Cambria Math" panose="02040503050406030204" pitchFamily="18" charset="0"/>
                            </a:rPr>
                            <m:t>𝐴𝑀</m:t>
                          </m:r>
                        </m:e>
                      </m:groupChr>
                      <m:r>
                        <a:rPr lang="zh-CN" altLang="en-US" sz="2200" i="1">
                          <a:latin typeface="Cambria Math" panose="02040503050406030204" pitchFamily="18" charset="0"/>
                        </a:rPr>
                        <m:t>  </m:t>
                      </m:r>
                      <m:groupChr>
                        <m:groupChrPr>
                          <m:chr m:val="→"/>
                          <m:pos m:val="top"/>
                          <m:vertJc m:val="bot"/>
                          <m:ctrlPr>
                            <a:rPr lang="zh-CN" altLang="en-US" sz="2200" i="1">
                              <a:latin typeface="Cambria Math" panose="02040503050406030204" pitchFamily="18" charset="0"/>
                            </a:rPr>
                          </m:ctrlPr>
                        </m:groupChrPr>
                        <m:e>
                          <m:r>
                            <a:rPr lang="zh-CN" altLang="en-US" sz="2200" i="1">
                              <a:latin typeface="Cambria Math" panose="02040503050406030204" pitchFamily="18" charset="0"/>
                            </a:rPr>
                            <m:t>𝐴𝐵</m:t>
                          </m:r>
                        </m:e>
                      </m:groupChr>
                      <m:r>
                        <a:rPr lang="zh-CN" altLang="en-US" sz="2200" i="1">
                          <a:latin typeface="Cambria Math" panose="02040503050406030204" pitchFamily="18" charset="0"/>
                        </a:rPr>
                        <m:t>  </m:t>
                      </m:r>
                      <m:groupChr>
                        <m:groupChrPr>
                          <m:chr m:val="→"/>
                          <m:pos m:val="top"/>
                          <m:vertJc m:val="bot"/>
                          <m:ctrlPr>
                            <a:rPr lang="zh-CN" altLang="en-US" sz="2200" i="1">
                              <a:latin typeface="Cambria Math" panose="02040503050406030204" pitchFamily="18" charset="0"/>
                            </a:rPr>
                          </m:ctrlPr>
                        </m:groupChrPr>
                        <m:e>
                          <m:r>
                            <a:rPr lang="zh-CN" altLang="en-US" sz="2200" i="1">
                              <a:latin typeface="Cambria Math" panose="02040503050406030204" pitchFamily="18" charset="0"/>
                            </a:rPr>
                            <m:t>𝐴𝐶</m:t>
                          </m:r>
                        </m:e>
                      </m:groupChr>
                      <m:r>
                        <a:rPr lang="zh-CN" altLang="en-US" sz="2200" i="1">
                          <a:latin typeface="Cambria Math" panose="02040503050406030204" pitchFamily="18" charset="0"/>
                        </a:rPr>
                        <m:t>]=0.</m:t>
                      </m:r>
                    </m:oMath>
                  </m:oMathPara>
                </a14:m>
                <a:endParaRPr lang="zh-CN" altLang="en-US" sz="2200" i="1" dirty="0">
                  <a:latin typeface="Cambria Math" panose="02040503050406030204" pitchFamily="18" charset="0"/>
                </a:endParaRPr>
              </a:p>
            </p:txBody>
          </p:sp>
        </mc:Choice>
        <mc:Fallback xmlns="">
          <p:sp>
            <p:nvSpPr>
              <p:cNvPr id="2302" name="Object 254"/>
              <p:cNvSpPr txBox="1">
                <a:spLocks noRot="1" noChangeAspect="1" noMove="1" noResize="1" noEditPoints="1" noAdjustHandles="1" noChangeArrowheads="1" noChangeShapeType="1" noTextEdit="1"/>
              </p:cNvSpPr>
              <p:nvPr/>
            </p:nvSpPr>
            <p:spPr bwMode="auto">
              <a:xfrm>
                <a:off x="2266953" y="3411539"/>
                <a:ext cx="2901157" cy="522287"/>
              </a:xfrm>
              <a:prstGeom prst="rect">
                <a:avLst/>
              </a:prstGeom>
              <a:blipFill>
                <a:blip r:embed="rId8"/>
                <a:stretch>
                  <a:fillRect/>
                </a:stretch>
              </a:blipFill>
              <a:ln>
                <a:noFill/>
              </a:ln>
              <a:effectLst/>
            </p:spPr>
            <p:txBody>
              <a:bodyPr/>
              <a:lstStyle/>
              <a:p>
                <a:r>
                  <a:rPr lang="zh-CN" altLang="en-US">
                    <a:noFill/>
                  </a:rPr>
                  <a:t> </a:t>
                </a:r>
              </a:p>
            </p:txBody>
          </p:sp>
        </mc:Fallback>
      </mc:AlternateContent>
      <p:sp>
        <p:nvSpPr>
          <p:cNvPr id="2303" name="Text Box 255"/>
          <p:cNvSpPr txBox="1">
            <a:spLocks noChangeArrowheads="1"/>
          </p:cNvSpPr>
          <p:nvPr/>
        </p:nvSpPr>
        <p:spPr bwMode="auto">
          <a:xfrm>
            <a:off x="1591750" y="4450033"/>
            <a:ext cx="64770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200" dirty="0">
                <a:latin typeface="Times New Roman" panose="02020603050405020304" pitchFamily="18" charset="0"/>
                <a:cs typeface="Times New Roman" panose="02020603050405020304" pitchFamily="18" charset="0"/>
              </a:rPr>
              <a:t>即</a:t>
            </a:r>
          </a:p>
        </p:txBody>
      </p:sp>
      <mc:AlternateContent xmlns:mc="http://schemas.openxmlformats.org/markup-compatibility/2006" xmlns:a14="http://schemas.microsoft.com/office/drawing/2010/main">
        <mc:Choice Requires="a14">
          <p:sp>
            <p:nvSpPr>
              <p:cNvPr id="2306" name="Object 258"/>
              <p:cNvSpPr txBox="1"/>
              <p:nvPr/>
            </p:nvSpPr>
            <p:spPr bwMode="auto">
              <a:xfrm>
                <a:off x="2266953" y="4144405"/>
                <a:ext cx="3548059" cy="1064184"/>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d>
                        <m:dPr>
                          <m:begChr m:val="|"/>
                          <m:endChr m:val="|"/>
                          <m:ctrlPr>
                            <a:rPr lang="zh-CN" altLang="en-US" sz="2200" i="1">
                              <a:latin typeface="Cambria Math" panose="02040503050406030204" pitchFamily="18" charset="0"/>
                            </a:rPr>
                          </m:ctrlPr>
                        </m:dPr>
                        <m:e>
                          <m:m>
                            <m:mPr>
                              <m:plcHide m:val="on"/>
                              <m:mcs>
                                <m:mc>
                                  <m:mcPr>
                                    <m:count m:val="3"/>
                                    <m:mcJc m:val="center"/>
                                  </m:mcPr>
                                </m:mc>
                              </m:mcs>
                              <m:ctrlPr>
                                <a:rPr lang="zh-CN" altLang="en-US" sz="2200" i="1">
                                  <a:latin typeface="Cambria Math" panose="02040503050406030204" pitchFamily="18" charset="0"/>
                                </a:rPr>
                              </m:ctrlPr>
                            </m:mPr>
                            <m:mr>
                              <m:e>
                                <m:r>
                                  <a:rPr lang="zh-CN" altLang="en-US" sz="2200" i="1">
                                    <a:latin typeface="Cambria Math" panose="02040503050406030204" pitchFamily="18" charset="0"/>
                                  </a:rPr>
                                  <m:t>𝑥</m:t>
                                </m:r>
                                <m:r>
                                  <a:rPr lang="zh-CN" altLang="en-US" sz="2200" i="1">
                                    <a:latin typeface="Cambria Math" panose="02040503050406030204" pitchFamily="18" charset="0"/>
                                  </a:rPr>
                                  <m:t>−1</m:t>
                                </m:r>
                              </m:e>
                              <m:e>
                                <m:r>
                                  <a:rPr lang="zh-CN" altLang="en-US" sz="2200" i="1">
                                    <a:latin typeface="Cambria Math" panose="02040503050406030204" pitchFamily="18" charset="0"/>
                                  </a:rPr>
                                  <m:t>𝑦</m:t>
                                </m:r>
                                <m:r>
                                  <a:rPr lang="zh-CN" altLang="en-US" sz="2200" i="1">
                                    <a:latin typeface="Cambria Math" panose="02040503050406030204" pitchFamily="18" charset="0"/>
                                  </a:rPr>
                                  <m:t>−2</m:t>
                                </m:r>
                              </m:e>
                              <m:e>
                                <m:r>
                                  <a:rPr lang="zh-CN" altLang="en-US" sz="2200" i="1">
                                    <a:latin typeface="Cambria Math" panose="02040503050406030204" pitchFamily="18" charset="0"/>
                                  </a:rPr>
                                  <m:t>𝑧</m:t>
                                </m:r>
                                <m:r>
                                  <a:rPr lang="zh-CN" altLang="en-US" sz="2200" i="1">
                                    <a:latin typeface="Cambria Math" panose="02040503050406030204" pitchFamily="18" charset="0"/>
                                  </a:rPr>
                                  <m:t>−0</m:t>
                                </m:r>
                              </m:e>
                            </m:mr>
                            <m:mr>
                              <m:e>
                                <m:r>
                                  <a:rPr lang="zh-CN" altLang="en-US" sz="2200" i="1">
                                    <a:latin typeface="Cambria Math" panose="02040503050406030204" pitchFamily="18" charset="0"/>
                                  </a:rPr>
                                  <m:t>1</m:t>
                                </m:r>
                              </m:e>
                              <m:e>
                                <m:r>
                                  <a:rPr lang="zh-CN" altLang="en-US" sz="2200" i="1">
                                    <a:latin typeface="Cambria Math" panose="02040503050406030204" pitchFamily="18" charset="0"/>
                                  </a:rPr>
                                  <m:t>1</m:t>
                                </m:r>
                              </m:e>
                              <m:e>
                                <m:r>
                                  <a:rPr lang="zh-CN" altLang="en-US" sz="2200" i="1">
                                    <a:latin typeface="Cambria Math" panose="02040503050406030204" pitchFamily="18" charset="0"/>
                                  </a:rPr>
                                  <m:t>1</m:t>
                                </m:r>
                              </m:e>
                            </m:mr>
                            <m:mr>
                              <m:e>
                                <m:r>
                                  <a:rPr lang="zh-CN" altLang="en-US" sz="2200" i="1">
                                    <a:latin typeface="Cambria Math" panose="02040503050406030204" pitchFamily="18" charset="0"/>
                                  </a:rPr>
                                  <m:t>3</m:t>
                                </m:r>
                              </m:e>
                              <m:e>
                                <m:r>
                                  <a:rPr lang="zh-CN" altLang="en-US" sz="2200" i="1">
                                    <a:latin typeface="Cambria Math" panose="02040503050406030204" pitchFamily="18" charset="0"/>
                                  </a:rPr>
                                  <m:t>0</m:t>
                                </m:r>
                              </m:e>
                              <m:e>
                                <m:r>
                                  <a:rPr lang="zh-CN" altLang="en-US" sz="2200" i="1">
                                    <a:latin typeface="Cambria Math" panose="02040503050406030204" pitchFamily="18" charset="0"/>
                                  </a:rPr>
                                  <m:t>2</m:t>
                                </m:r>
                              </m:e>
                            </m:mr>
                          </m:m>
                        </m:e>
                      </m:d>
                      <m:r>
                        <a:rPr lang="zh-CN" altLang="en-US" sz="2200" i="1">
                          <a:latin typeface="Cambria Math" panose="02040503050406030204" pitchFamily="18" charset="0"/>
                        </a:rPr>
                        <m:t>=0.</m:t>
                      </m:r>
                    </m:oMath>
                  </m:oMathPara>
                </a14:m>
                <a:endParaRPr lang="zh-CN" altLang="en-US" sz="2200" i="1" dirty="0">
                  <a:latin typeface="Cambria Math" panose="02040503050406030204" pitchFamily="18" charset="0"/>
                </a:endParaRPr>
              </a:p>
            </p:txBody>
          </p:sp>
        </mc:Choice>
        <mc:Fallback xmlns="">
          <p:sp>
            <p:nvSpPr>
              <p:cNvPr id="2306" name="Object 258"/>
              <p:cNvSpPr txBox="1">
                <a:spLocks noRot="1" noChangeAspect="1" noMove="1" noResize="1" noEditPoints="1" noAdjustHandles="1" noChangeArrowheads="1" noChangeShapeType="1" noTextEdit="1"/>
              </p:cNvSpPr>
              <p:nvPr/>
            </p:nvSpPr>
            <p:spPr bwMode="auto">
              <a:xfrm>
                <a:off x="2266953" y="4144405"/>
                <a:ext cx="3548059" cy="1064184"/>
              </a:xfrm>
              <a:prstGeom prst="rect">
                <a:avLst/>
              </a:prstGeom>
              <a:blipFill>
                <a:blip r:embed="rId9"/>
                <a:stretch>
                  <a:fillRect/>
                </a:stretch>
              </a:blipFill>
              <a:ln>
                <a:noFill/>
              </a:ln>
              <a:effectLst/>
            </p:spPr>
            <p:txBody>
              <a:bodyPr/>
              <a:lstStyle/>
              <a:p>
                <a:r>
                  <a:rPr lang="zh-CN" altLang="en-US">
                    <a:noFill/>
                  </a:rPr>
                  <a:t> </a:t>
                </a:r>
              </a:p>
            </p:txBody>
          </p:sp>
        </mc:Fallback>
      </mc:AlternateContent>
      <p:sp>
        <p:nvSpPr>
          <p:cNvPr id="2308" name="Text Box 260"/>
          <p:cNvSpPr txBox="1">
            <a:spLocks noChangeArrowheads="1"/>
          </p:cNvSpPr>
          <p:nvPr/>
        </p:nvSpPr>
        <p:spPr bwMode="auto">
          <a:xfrm>
            <a:off x="1591750" y="5391320"/>
            <a:ext cx="4608513"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zh-CN" altLang="en-US" sz="2200" dirty="0">
                <a:latin typeface="Times New Roman" panose="02020603050405020304" pitchFamily="18" charset="0"/>
                <a:cs typeface="Times New Roman" panose="02020603050405020304" pitchFamily="18" charset="0"/>
              </a:rPr>
              <a:t>展开行列式即得所求方程为</a:t>
            </a:r>
          </a:p>
        </p:txBody>
      </p:sp>
      <mc:AlternateContent xmlns:mc="http://schemas.openxmlformats.org/markup-compatibility/2006" xmlns:a14="http://schemas.microsoft.com/office/drawing/2010/main">
        <mc:Choice Requires="a14">
          <p:sp>
            <p:nvSpPr>
              <p:cNvPr id="2309" name="Object 261"/>
              <p:cNvSpPr txBox="1"/>
              <p:nvPr/>
            </p:nvSpPr>
            <p:spPr bwMode="auto">
              <a:xfrm>
                <a:off x="4946959" y="5391320"/>
                <a:ext cx="2952750" cy="503237"/>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sz="2200" i="1">
                          <a:latin typeface="Cambria Math" panose="02040503050406030204" pitchFamily="18" charset="0"/>
                        </a:rPr>
                        <m:t>2</m:t>
                      </m:r>
                      <m:r>
                        <a:rPr lang="zh-CN" altLang="en-US" sz="2200" i="1">
                          <a:latin typeface="Cambria Math" panose="02040503050406030204" pitchFamily="18" charset="0"/>
                        </a:rPr>
                        <m:t>𝑥</m:t>
                      </m:r>
                      <m:r>
                        <a:rPr lang="zh-CN" altLang="en-US" sz="2200" i="1">
                          <a:latin typeface="Cambria Math" panose="02040503050406030204" pitchFamily="18" charset="0"/>
                        </a:rPr>
                        <m:t>+</m:t>
                      </m:r>
                      <m:r>
                        <a:rPr lang="zh-CN" altLang="en-US" sz="2200" i="1">
                          <a:latin typeface="Cambria Math" panose="02040503050406030204" pitchFamily="18" charset="0"/>
                        </a:rPr>
                        <m:t>𝑦</m:t>
                      </m:r>
                      <m:r>
                        <a:rPr lang="zh-CN" altLang="en-US" sz="2200" i="1">
                          <a:latin typeface="Cambria Math" panose="02040503050406030204" pitchFamily="18" charset="0"/>
                        </a:rPr>
                        <m:t>−3</m:t>
                      </m:r>
                      <m:r>
                        <a:rPr lang="zh-CN" altLang="en-US" sz="2200" i="1">
                          <a:latin typeface="Cambria Math" panose="02040503050406030204" pitchFamily="18" charset="0"/>
                        </a:rPr>
                        <m:t>𝑧</m:t>
                      </m:r>
                      <m:r>
                        <a:rPr lang="zh-CN" altLang="en-US" sz="2200" i="1">
                          <a:latin typeface="Cambria Math" panose="02040503050406030204" pitchFamily="18" charset="0"/>
                        </a:rPr>
                        <m:t>−4=0.</m:t>
                      </m:r>
                    </m:oMath>
                  </m:oMathPara>
                </a14:m>
                <a:endParaRPr lang="zh-CN" altLang="en-US" sz="2200" i="1" dirty="0">
                  <a:latin typeface="Cambria Math" panose="02040503050406030204" pitchFamily="18" charset="0"/>
                </a:endParaRPr>
              </a:p>
            </p:txBody>
          </p:sp>
        </mc:Choice>
        <mc:Fallback xmlns="">
          <p:sp>
            <p:nvSpPr>
              <p:cNvPr id="2309" name="Object 261"/>
              <p:cNvSpPr txBox="1">
                <a:spLocks noRot="1" noChangeAspect="1" noMove="1" noResize="1" noEditPoints="1" noAdjustHandles="1" noChangeArrowheads="1" noChangeShapeType="1" noTextEdit="1"/>
              </p:cNvSpPr>
              <p:nvPr/>
            </p:nvSpPr>
            <p:spPr bwMode="auto">
              <a:xfrm>
                <a:off x="4946959" y="5391320"/>
                <a:ext cx="2952750" cy="503237"/>
              </a:xfrm>
              <a:prstGeom prst="rect">
                <a:avLst/>
              </a:prstGeom>
              <a:blipFill>
                <a:blip r:embed="rId10"/>
                <a:stretch>
                  <a:fillRect l="-207"/>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21360644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94"/>
                                        </p:tgtEl>
                                        <p:attrNameLst>
                                          <p:attrName>style.visibility</p:attrName>
                                        </p:attrNameLst>
                                      </p:cBhvr>
                                      <p:to>
                                        <p:strVal val="visible"/>
                                      </p:to>
                                    </p:set>
                                    <p:animEffect transition="in" filter="wipe(left)">
                                      <p:cBhvr>
                                        <p:cTn id="7" dur="500"/>
                                        <p:tgtEl>
                                          <p:spTgt spid="2294"/>
                                        </p:tgtEl>
                                      </p:cBhvr>
                                    </p:animEffect>
                                  </p:childTnLst>
                                </p:cTn>
                              </p:par>
                              <p:par>
                                <p:cTn id="8" presetID="22" presetClass="entr" presetSubtype="8" fill="hold" grpId="0" nodeType="withEffect">
                                  <p:stCondLst>
                                    <p:cond delay="250"/>
                                  </p:stCondLst>
                                  <p:childTnLst>
                                    <p:set>
                                      <p:cBhvr>
                                        <p:cTn id="9" dur="1" fill="hold">
                                          <p:stCondLst>
                                            <p:cond delay="0"/>
                                          </p:stCondLst>
                                        </p:cTn>
                                        <p:tgtEl>
                                          <p:spTgt spid="2295"/>
                                        </p:tgtEl>
                                        <p:attrNameLst>
                                          <p:attrName>style.visibility</p:attrName>
                                        </p:attrNameLst>
                                      </p:cBhvr>
                                      <p:to>
                                        <p:strVal val="visible"/>
                                      </p:to>
                                    </p:set>
                                    <p:animEffect transition="in" filter="wipe(left)">
                                      <p:cBhvr>
                                        <p:cTn id="10" dur="500"/>
                                        <p:tgtEl>
                                          <p:spTgt spid="2295"/>
                                        </p:tgtEl>
                                      </p:cBhvr>
                                    </p:animEffect>
                                  </p:childTnLst>
                                </p:cTn>
                              </p:par>
                              <p:par>
                                <p:cTn id="11" presetID="22" presetClass="entr" presetSubtype="8" fill="hold" grpId="0" nodeType="withEffect">
                                  <p:stCondLst>
                                    <p:cond delay="500"/>
                                  </p:stCondLst>
                                  <p:childTnLst>
                                    <p:set>
                                      <p:cBhvr>
                                        <p:cTn id="12" dur="1" fill="hold">
                                          <p:stCondLst>
                                            <p:cond delay="0"/>
                                          </p:stCondLst>
                                        </p:cTn>
                                        <p:tgtEl>
                                          <p:spTgt spid="2293"/>
                                        </p:tgtEl>
                                        <p:attrNameLst>
                                          <p:attrName>style.visibility</p:attrName>
                                        </p:attrNameLst>
                                      </p:cBhvr>
                                      <p:to>
                                        <p:strVal val="visible"/>
                                      </p:to>
                                    </p:set>
                                    <p:animEffect transition="in" filter="wipe(left)">
                                      <p:cBhvr>
                                        <p:cTn id="13" dur="500"/>
                                        <p:tgtEl>
                                          <p:spTgt spid="229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296"/>
                                        </p:tgtEl>
                                        <p:attrNameLst>
                                          <p:attrName>style.visibility</p:attrName>
                                        </p:attrNameLst>
                                      </p:cBhvr>
                                      <p:to>
                                        <p:strVal val="visible"/>
                                      </p:to>
                                    </p:set>
                                    <p:animEffect transition="in" filter="wipe(left)">
                                      <p:cBhvr>
                                        <p:cTn id="18" dur="500"/>
                                        <p:tgtEl>
                                          <p:spTgt spid="229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297"/>
                                        </p:tgtEl>
                                        <p:attrNameLst>
                                          <p:attrName>style.visibility</p:attrName>
                                        </p:attrNameLst>
                                      </p:cBhvr>
                                      <p:to>
                                        <p:strVal val="visible"/>
                                      </p:to>
                                    </p:set>
                                    <p:animEffect transition="in" filter="wipe(left)">
                                      <p:cBhvr>
                                        <p:cTn id="23" dur="500"/>
                                        <p:tgtEl>
                                          <p:spTgt spid="2297"/>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2298"/>
                                        </p:tgtEl>
                                        <p:attrNameLst>
                                          <p:attrName>style.visibility</p:attrName>
                                        </p:attrNameLst>
                                      </p:cBhvr>
                                      <p:to>
                                        <p:strVal val="visible"/>
                                      </p:to>
                                    </p:set>
                                    <p:animEffect transition="in" filter="wipe(left)">
                                      <p:cBhvr>
                                        <p:cTn id="28" dur="500"/>
                                        <p:tgtEl>
                                          <p:spTgt spid="229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299"/>
                                        </p:tgtEl>
                                        <p:attrNameLst>
                                          <p:attrName>style.visibility</p:attrName>
                                        </p:attrNameLst>
                                      </p:cBhvr>
                                      <p:to>
                                        <p:strVal val="visible"/>
                                      </p:to>
                                    </p:set>
                                    <p:animEffect transition="in" filter="wipe(left)">
                                      <p:cBhvr>
                                        <p:cTn id="33" dur="500"/>
                                        <p:tgtEl>
                                          <p:spTgt spid="229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300"/>
                                        </p:tgtEl>
                                        <p:attrNameLst>
                                          <p:attrName>style.visibility</p:attrName>
                                        </p:attrNameLst>
                                      </p:cBhvr>
                                      <p:to>
                                        <p:strVal val="visible"/>
                                      </p:to>
                                    </p:set>
                                    <p:animEffect transition="in" filter="wipe(left)">
                                      <p:cBhvr>
                                        <p:cTn id="38" dur="500"/>
                                        <p:tgtEl>
                                          <p:spTgt spid="2300"/>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2301"/>
                                        </p:tgtEl>
                                        <p:attrNameLst>
                                          <p:attrName>style.visibility</p:attrName>
                                        </p:attrNameLst>
                                      </p:cBhvr>
                                      <p:to>
                                        <p:strVal val="visible"/>
                                      </p:to>
                                    </p:set>
                                    <p:animEffect transition="in" filter="wipe(left)">
                                      <p:cBhvr>
                                        <p:cTn id="43" dur="500"/>
                                        <p:tgtEl>
                                          <p:spTgt spid="2301"/>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302"/>
                                        </p:tgtEl>
                                        <p:attrNameLst>
                                          <p:attrName>style.visibility</p:attrName>
                                        </p:attrNameLst>
                                      </p:cBhvr>
                                      <p:to>
                                        <p:strVal val="visible"/>
                                      </p:to>
                                    </p:set>
                                    <p:animEffect transition="in" filter="wipe(left)">
                                      <p:cBhvr>
                                        <p:cTn id="48" dur="500"/>
                                        <p:tgtEl>
                                          <p:spTgt spid="2302"/>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303"/>
                                        </p:tgtEl>
                                        <p:attrNameLst>
                                          <p:attrName>style.visibility</p:attrName>
                                        </p:attrNameLst>
                                      </p:cBhvr>
                                      <p:to>
                                        <p:strVal val="visible"/>
                                      </p:to>
                                    </p:set>
                                    <p:animEffect transition="in" filter="wipe(left)">
                                      <p:cBhvr>
                                        <p:cTn id="53" dur="500"/>
                                        <p:tgtEl>
                                          <p:spTgt spid="2303"/>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2306"/>
                                        </p:tgtEl>
                                        <p:attrNameLst>
                                          <p:attrName>style.visibility</p:attrName>
                                        </p:attrNameLst>
                                      </p:cBhvr>
                                      <p:to>
                                        <p:strVal val="visible"/>
                                      </p:to>
                                    </p:set>
                                    <p:animEffect transition="in" filter="wipe(left)">
                                      <p:cBhvr>
                                        <p:cTn id="58" dur="500"/>
                                        <p:tgtEl>
                                          <p:spTgt spid="2306"/>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2308"/>
                                        </p:tgtEl>
                                        <p:attrNameLst>
                                          <p:attrName>style.visibility</p:attrName>
                                        </p:attrNameLst>
                                      </p:cBhvr>
                                      <p:to>
                                        <p:strVal val="visible"/>
                                      </p:to>
                                    </p:set>
                                    <p:animEffect transition="in" filter="wipe(left)">
                                      <p:cBhvr>
                                        <p:cTn id="63" dur="500"/>
                                        <p:tgtEl>
                                          <p:spTgt spid="2308"/>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2309"/>
                                        </p:tgtEl>
                                        <p:attrNameLst>
                                          <p:attrName>style.visibility</p:attrName>
                                        </p:attrNameLst>
                                      </p:cBhvr>
                                      <p:to>
                                        <p:strVal val="visible"/>
                                      </p:to>
                                    </p:set>
                                    <p:animEffect transition="in" filter="wipe(left)">
                                      <p:cBhvr>
                                        <p:cTn id="68" dur="500"/>
                                        <p:tgtEl>
                                          <p:spTgt spid="2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3" grpId="0"/>
      <p:bldP spid="2294" grpId="0"/>
      <p:bldP spid="2295" grpId="0"/>
      <p:bldP spid="2296" grpId="0"/>
      <p:bldP spid="2297" grpId="0"/>
      <p:bldP spid="2299" grpId="0"/>
      <p:bldP spid="2300" grpId="0"/>
      <p:bldP spid="2302" grpId="0"/>
      <p:bldP spid="2303" grpId="0"/>
      <p:bldP spid="2306" grpId="0"/>
      <p:bldP spid="2308" grpId="0" autoUpdateAnimBg="0"/>
      <p:bldP spid="230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14406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A" val="v5.2.9"/>
</p:tagLst>
</file>

<file path=ppt/tags/tag2.xml><?xml version="1.0" encoding="utf-8"?>
<p:tagLst xmlns:a="http://schemas.openxmlformats.org/drawingml/2006/main" xmlns:r="http://schemas.openxmlformats.org/officeDocument/2006/relationships" xmlns:p="http://schemas.openxmlformats.org/presentationml/2006/main">
  <p:tag name="PA" val="v5.2.9"/>
</p:tagLst>
</file>

<file path=ppt/tags/tag3.xml><?xml version="1.0" encoding="utf-8"?>
<p:tagLst xmlns:a="http://schemas.openxmlformats.org/drawingml/2006/main" xmlns:r="http://schemas.openxmlformats.org/officeDocument/2006/relationships" xmlns:p="http://schemas.openxmlformats.org/presentationml/2006/main">
  <p:tag name="PA" val="v5.2.9"/>
</p:tagLst>
</file>

<file path=ppt/tags/tag4.xml><?xml version="1.0" encoding="utf-8"?>
<p:tagLst xmlns:a="http://schemas.openxmlformats.org/drawingml/2006/main" xmlns:r="http://schemas.openxmlformats.org/officeDocument/2006/relationships" xmlns:p="http://schemas.openxmlformats.org/presentationml/2006/main">
  <p:tag name="PA" val="v5.2.9"/>
</p:tagLst>
</file>

<file path=ppt/tags/tag5.xml><?xml version="1.0" encoding="utf-8"?>
<p:tagLst xmlns:a="http://schemas.openxmlformats.org/drawingml/2006/main" xmlns:r="http://schemas.openxmlformats.org/officeDocument/2006/relationships" xmlns:p="http://schemas.openxmlformats.org/presentationml/2006/main">
  <p:tag name="PA" val="v5.2.9"/>
</p:tagLst>
</file>

<file path=ppt/tags/tag6.xml><?xml version="1.0" encoding="utf-8"?>
<p:tagLst xmlns:a="http://schemas.openxmlformats.org/drawingml/2006/main" xmlns:r="http://schemas.openxmlformats.org/officeDocument/2006/relationships" xmlns:p="http://schemas.openxmlformats.org/presentationml/2006/main">
  <p:tag name="PA" val="v5.2.9"/>
</p:tagLst>
</file>

<file path=ppt/tags/tag7.xml><?xml version="1.0" encoding="utf-8"?>
<p:tagLst xmlns:a="http://schemas.openxmlformats.org/drawingml/2006/main" xmlns:r="http://schemas.openxmlformats.org/officeDocument/2006/relationships" xmlns:p="http://schemas.openxmlformats.org/presentationml/2006/main">
  <p:tag name="PA" val="v5.2.9"/>
</p:tagLst>
</file>

<file path=ppt/tags/tag8.xml><?xml version="1.0" encoding="utf-8"?>
<p:tagLst xmlns:a="http://schemas.openxmlformats.org/drawingml/2006/main" xmlns:r="http://schemas.openxmlformats.org/officeDocument/2006/relationships" xmlns:p="http://schemas.openxmlformats.org/presentationml/2006/main">
  <p:tag name="PA" val="v5.2.9"/>
</p:tagLst>
</file>

<file path=ppt/tags/tag9.xml><?xml version="1.0" encoding="utf-8"?>
<p:tagLst xmlns:a="http://schemas.openxmlformats.org/drawingml/2006/main" xmlns:r="http://schemas.openxmlformats.org/officeDocument/2006/relationships" xmlns:p="http://schemas.openxmlformats.org/presentationml/2006/main">
  <p:tag name="PA" val="v5.2.9"/>
</p:tagLst>
</file>

<file path=ppt/tags/tag10.xml><?xml version="1.0" encoding="utf-8"?>
<p:tagLst xmlns:a="http://schemas.openxmlformats.org/drawingml/2006/main" xmlns:r="http://schemas.openxmlformats.org/officeDocument/2006/relationships" xmlns:p="http://schemas.openxmlformats.org/presentationml/2006/main">
  <p:tag name="PA" val="v5.2.9"/>
</p:tagLst>
</file>

<file path=ppt/tags/tag11.xml><?xml version="1.0" encoding="utf-8"?>
<p:tagLst xmlns:a="http://schemas.openxmlformats.org/drawingml/2006/main" xmlns:r="http://schemas.openxmlformats.org/officeDocument/2006/relationships" xmlns:p="http://schemas.openxmlformats.org/presentationml/2006/main">
  <p:tag name="PA" val="v5.2.9"/>
</p:tagLst>
</file>

<file path=ppt/tags/tag12.xml><?xml version="1.0" encoding="utf-8"?>
<p:tagLst xmlns:a="http://schemas.openxmlformats.org/drawingml/2006/main" xmlns:r="http://schemas.openxmlformats.org/officeDocument/2006/relationships" xmlns:p="http://schemas.openxmlformats.org/presentationml/2006/main">
  <p:tag name="PA" val="v5.2.9"/>
</p:tagLst>
</file>

<file path=ppt/theme/theme1.xml><?xml version="1.0" encoding="utf-8"?>
<a:theme xmlns:a="http://schemas.openxmlformats.org/drawingml/2006/main" name="Office 主题​​">
  <a:themeElements>
    <a:clrScheme name="蓝色暖调">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自定义 3">
      <a:majorFont>
        <a:latin typeface="微软雅黑"/>
        <a:ea typeface="微软雅黑"/>
        <a:cs typeface=""/>
      </a:majorFont>
      <a:minorFont>
        <a:latin typeface="黑体"/>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bwMode="auto">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a:spPr>
      <a:bodyPr>
        <a:spAutoFit/>
      </a:bodyPr>
      <a:lstStyle>
        <a:defPPr eaLnBrk="1" hangingPunct="1">
          <a:spcBef>
            <a:spcPct val="50000"/>
          </a:spcBef>
          <a:defRPr sz="2800" b="1" dirty="0">
            <a:latin typeface="+mn-ea"/>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Cambria Math"/>
        <a:font script="Hebr" typeface="Cambria Math"/>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Cambria Math"/>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100000">
              <a:srgbClr val="007434">
                <a:alpha val="31000"/>
              </a:srgbClr>
            </a:gs>
            <a:gs pos="4000">
              <a:schemeClr val="bg1">
                <a:alpha val="0"/>
              </a:schemeClr>
            </a:gs>
          </a:gsLst>
          <a:lin ang="15600000" scaled="0"/>
          <a:tileRect/>
        </a:gradFill>
        <a:ln>
          <a:noFill/>
        </a:ln>
      </a:spPr>
      <a:bodyPr rtlCol="0" anchor="ctr"/>
      <a:lstStyle>
        <a:defPPr algn="ctr">
          <a:defRPr>
            <a:latin typeface="字魂36号-正文宋楷" panose="00000500000000000000" pitchFamily="2" charset="-122"/>
            <a:ea typeface="字魂36号-正文宋楷" panose="00000500000000000000" pitchFamily="2" charset="-122"/>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3889</TotalTime>
  <Words>2264</Words>
  <Application>Microsoft Office PowerPoint</Application>
  <PresentationFormat>宽屏</PresentationFormat>
  <Paragraphs>324</Paragraphs>
  <Slides>31</Slides>
  <Notes>6</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31</vt:i4>
      </vt:variant>
    </vt:vector>
  </HeadingPairs>
  <TitlesOfParts>
    <vt:vector size="44" baseType="lpstr">
      <vt:lpstr>等线</vt:lpstr>
      <vt:lpstr>黑体</vt:lpstr>
      <vt:lpstr>华文中宋</vt:lpstr>
      <vt:lpstr>宋体</vt:lpstr>
      <vt:lpstr>微软雅黑</vt:lpstr>
      <vt:lpstr>字魂36号-正文宋楷</vt:lpstr>
      <vt:lpstr>Arial</vt:lpstr>
      <vt:lpstr>Calibri</vt:lpstr>
      <vt:lpstr>Calibri Light</vt:lpstr>
      <vt:lpstr>Cambria Math</vt:lpstr>
      <vt:lpstr>Times New Roman</vt:lpstr>
      <vt:lpstr>Office 主题​​</vt:lpstr>
      <vt:lpstr>Office 主题</vt:lpstr>
      <vt:lpstr>PowerPoint 演示文稿</vt:lpstr>
      <vt:lpstr>PowerPoint 演示文稿</vt:lpstr>
      <vt:lpstr>PowerPoint 演示文稿</vt:lpstr>
      <vt:lpstr>PowerPoint 演示文稿</vt:lpstr>
      <vt:lpstr>一、两向量的数量积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cui; 崔丽鸿</dc:creator>
  <cp:lastModifiedBy>yang fan</cp:lastModifiedBy>
  <cp:revision>257</cp:revision>
  <dcterms:created xsi:type="dcterms:W3CDTF">2021-12-25T10:05:44Z</dcterms:created>
  <dcterms:modified xsi:type="dcterms:W3CDTF">2023-07-05T08:58:15Z</dcterms:modified>
</cp:coreProperties>
</file>