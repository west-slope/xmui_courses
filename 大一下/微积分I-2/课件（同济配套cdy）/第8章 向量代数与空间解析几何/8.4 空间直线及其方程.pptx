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27"/>
  </p:notesMasterIdLst>
  <p:sldIdLst>
    <p:sldId id="257" r:id="rId3"/>
    <p:sldId id="813" r:id="rId4"/>
    <p:sldId id="774" r:id="rId5"/>
    <p:sldId id="817" r:id="rId6"/>
    <p:sldId id="317" r:id="rId7"/>
    <p:sldId id="340" r:id="rId8"/>
    <p:sldId id="318" r:id="rId9"/>
    <p:sldId id="319" r:id="rId10"/>
    <p:sldId id="320" r:id="rId11"/>
    <p:sldId id="321" r:id="rId12"/>
    <p:sldId id="341" r:id="rId13"/>
    <p:sldId id="324" r:id="rId14"/>
    <p:sldId id="343" r:id="rId15"/>
    <p:sldId id="328" r:id="rId16"/>
    <p:sldId id="329" r:id="rId17"/>
    <p:sldId id="344" r:id="rId18"/>
    <p:sldId id="345" r:id="rId19"/>
    <p:sldId id="349" r:id="rId20"/>
    <p:sldId id="347" r:id="rId21"/>
    <p:sldId id="348" r:id="rId22"/>
    <p:sldId id="352" r:id="rId23"/>
    <p:sldId id="350" r:id="rId24"/>
    <p:sldId id="351" r:id="rId25"/>
    <p:sldId id="36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4B7BA8"/>
    <a:srgbClr val="04926A"/>
    <a:srgbClr val="B7B7B7"/>
    <a:srgbClr val="A9D18E"/>
    <a:srgbClr val="00B0F0"/>
    <a:srgbClr val="4A7BA8"/>
    <a:srgbClr val="BBBBBB"/>
    <a:srgbClr val="CDEAE0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7" autoAdjust="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53EB-B212-4DCE-9C92-A182A5E5CFB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E2093-304E-41AE-8FAB-4CFF5DD7C6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3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E2093-304E-41AE-8FAB-4CFF5DD7C64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07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E2093-304E-41AE-8FAB-4CFF5DD7C64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3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7888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1832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532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导数概念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2511359" y="6615405"/>
            <a:ext cx="9680641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633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导数与积分</a:t>
            </a:r>
          </a:p>
        </p:txBody>
      </p:sp>
    </p:spTree>
    <p:extLst>
      <p:ext uri="{BB962C8B-B14F-4D97-AF65-F5344CB8AC3E}">
        <p14:creationId xmlns:p14="http://schemas.microsoft.com/office/powerpoint/2010/main" val="2886173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  <p:extLst>
      <p:ext uri="{BB962C8B-B14F-4D97-AF65-F5344CB8AC3E}">
        <p14:creationId xmlns:p14="http://schemas.microsoft.com/office/powerpoint/2010/main" val="1450425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025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7423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502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949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763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6488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7079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188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721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4566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5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7DD4CCB-BAAE-B5AA-1CFD-AAB0DCFB70FD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2C8A731-564D-2713-8CFE-AB91A66A9AD8}"/>
              </a:ext>
            </a:extLst>
          </p:cNvPr>
          <p:cNvSpPr/>
          <p:nvPr userDrawn="1"/>
        </p:nvSpPr>
        <p:spPr>
          <a:xfrm rot="2659048">
            <a:off x="9129813" y="197305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2E3F0C-1B57-F341-C615-560FAF9F31A0}"/>
              </a:ext>
            </a:extLst>
          </p:cNvPr>
          <p:cNvSpPr/>
          <p:nvPr userDrawn="1"/>
        </p:nvSpPr>
        <p:spPr>
          <a:xfrm>
            <a:off x="384064" y="6435405"/>
            <a:ext cx="2212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空间直线及其方程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09A1AE-93DF-59AE-3B71-3E282078BA13}"/>
              </a:ext>
            </a:extLst>
          </p:cNvPr>
          <p:cNvSpPr/>
          <p:nvPr userDrawn="1"/>
        </p:nvSpPr>
        <p:spPr>
          <a:xfrm>
            <a:off x="9278969" y="137524"/>
            <a:ext cx="2803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向量代数与空间解析几何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DF87047-B5C9-D25A-A034-A19D0C235631}"/>
              </a:ext>
            </a:extLst>
          </p:cNvPr>
          <p:cNvCxnSpPr/>
          <p:nvPr userDrawn="1"/>
        </p:nvCxnSpPr>
        <p:spPr>
          <a:xfrm>
            <a:off x="0" y="258209"/>
            <a:ext cx="9000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5D5CFC3-C731-6CA7-2678-F5A8D6863ABC}"/>
              </a:ext>
            </a:extLst>
          </p:cNvPr>
          <p:cNvCxnSpPr/>
          <p:nvPr userDrawn="1"/>
        </p:nvCxnSpPr>
        <p:spPr>
          <a:xfrm>
            <a:off x="2683933" y="6584428"/>
            <a:ext cx="950806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74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1.png"/><Relationship Id="rId12" Type="http://schemas.openxmlformats.org/officeDocument/2006/relationships/image" Target="../media/image32.png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31.png"/><Relationship Id="rId15" Type="http://schemas.openxmlformats.org/officeDocument/2006/relationships/image" Target="../media/image22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0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5.png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7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570.png"/><Relationship Id="rId11" Type="http://schemas.openxmlformats.org/officeDocument/2006/relationships/image" Target="../media/image67.png"/><Relationship Id="rId5" Type="http://schemas.openxmlformats.org/officeDocument/2006/relationships/image" Target="../media/image64.png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openxmlformats.org/officeDocument/2006/relationships/image" Target="../media/image61.png"/><Relationship Id="rId1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69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6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3.png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6" Type="http://schemas.openxmlformats.org/officeDocument/2006/relationships/image" Target="../media/image82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89.png"/><Relationship Id="rId4" Type="http://schemas.openxmlformats.org/officeDocument/2006/relationships/image" Target="../media/image86.png"/><Relationship Id="rId9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.png"/><Relationship Id="rId3" Type="http://schemas.openxmlformats.org/officeDocument/2006/relationships/image" Target="../media/image101.png"/><Relationship Id="rId12" Type="http://schemas.openxmlformats.org/officeDocument/2006/relationships/image" Target="../media/image10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91.png"/><Relationship Id="rId7" Type="http://schemas.openxmlformats.org/officeDocument/2006/relationships/image" Target="../media/image10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92.png"/><Relationship Id="rId9" Type="http://schemas.openxmlformats.org/officeDocument/2006/relationships/image" Target="../media/image1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06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Relationship Id="rId9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53210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399662" y="3843270"/>
            <a:ext cx="8892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99663" y="4450080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平面解析几何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一元函数微积分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450080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空间解析几何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399" y="8109"/>
              <a:ext cx="3916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多元函数微积分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450080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空间形式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47" y="7978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数量关系</a:t>
              </a:r>
            </a:p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基本方法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第八章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向量代数与空间解析几何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472305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第八章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544187"/>
            <a:ext cx="4206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向量及其线性运算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226710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数量积 向量积 混合积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2909233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平面及其方程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3591756"/>
            <a:ext cx="4914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274279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曲面及其方程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D88A371-A813-7284-EA0D-B8C63B93E271}"/>
              </a:ext>
            </a:extLst>
          </p:cNvPr>
          <p:cNvSpPr/>
          <p:nvPr/>
        </p:nvSpPr>
        <p:spPr>
          <a:xfrm>
            <a:off x="5737415" y="4956800"/>
            <a:ext cx="3994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第六节   空间曲线及其方程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6号-正文宋楷" panose="00000500000000000000" pitchFamily="2" charset="-122"/>
                <a:ea typeface="字魂36号-正文宋楷" panose="00000500000000000000" pitchFamily="2" charset="-122"/>
                <a:cs typeface="+mn-cs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783745"/>
            <a:ext cx="11536045" cy="58214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563897" y="142455"/>
            <a:ext cx="506420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</a:p>
        </p:txBody>
      </p:sp>
      <p:sp>
        <p:nvSpPr>
          <p:cNvPr id="4" name="矩形: 圆角 40">
            <a:extLst>
              <a:ext uri="{FF2B5EF4-FFF2-40B4-BE49-F238E27FC236}">
                <a16:creationId xmlns:a16="http://schemas.microsoft.com/office/drawing/2014/main" id="{0AFCECA3-3830-4C31-F876-EF09B7116080}"/>
              </a:ext>
            </a:extLst>
          </p:cNvPr>
          <p:cNvSpPr/>
          <p:nvPr/>
        </p:nvSpPr>
        <p:spPr>
          <a:xfrm flipV="1">
            <a:off x="2726982" y="1027775"/>
            <a:ext cx="6738036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F17138-8605-1774-D008-6AE81E15D8D9}"/>
              </a:ext>
            </a:extLst>
          </p:cNvPr>
          <p:cNvSpPr/>
          <p:nvPr/>
        </p:nvSpPr>
        <p:spPr>
          <a:xfrm>
            <a:off x="3053224" y="1217006"/>
            <a:ext cx="41488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一、空间直线的一般方程</a:t>
            </a:r>
          </a:p>
        </p:txBody>
      </p:sp>
      <p:sp>
        <p:nvSpPr>
          <p:cNvPr id="12" name="矩形: 圆角 40">
            <a:extLst>
              <a:ext uri="{FF2B5EF4-FFF2-40B4-BE49-F238E27FC236}">
                <a16:creationId xmlns:a16="http://schemas.microsoft.com/office/drawing/2014/main" id="{1912BAEB-AC37-E423-F6CB-E1B0732FDB96}"/>
              </a:ext>
            </a:extLst>
          </p:cNvPr>
          <p:cNvSpPr/>
          <p:nvPr/>
        </p:nvSpPr>
        <p:spPr>
          <a:xfrm flipV="1">
            <a:off x="2726982" y="3248409"/>
            <a:ext cx="6738036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98919C-5025-83DC-C0D5-365276AA3669}"/>
              </a:ext>
            </a:extLst>
          </p:cNvPr>
          <p:cNvSpPr/>
          <p:nvPr/>
        </p:nvSpPr>
        <p:spPr>
          <a:xfrm>
            <a:off x="2967160" y="343764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两直线的夹角</a:t>
            </a:r>
            <a:endParaRPr lang="zh-CN" altLang="en-US" sz="2800" dirty="0"/>
          </a:p>
        </p:txBody>
      </p:sp>
      <p:sp>
        <p:nvSpPr>
          <p:cNvPr id="19" name="矩形: 圆角 40">
            <a:extLst>
              <a:ext uri="{FF2B5EF4-FFF2-40B4-BE49-F238E27FC236}">
                <a16:creationId xmlns:a16="http://schemas.microsoft.com/office/drawing/2014/main" id="{AE8C3AA9-728D-BF2F-A501-C0E6963F3142}"/>
              </a:ext>
            </a:extLst>
          </p:cNvPr>
          <p:cNvSpPr/>
          <p:nvPr/>
        </p:nvSpPr>
        <p:spPr>
          <a:xfrm flipV="1">
            <a:off x="2726982" y="5469042"/>
            <a:ext cx="6738034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6DA217-6140-06B0-F311-BF182D89768E}"/>
              </a:ext>
            </a:extLst>
          </p:cNvPr>
          <p:cNvSpPr/>
          <p:nvPr/>
        </p:nvSpPr>
        <p:spPr>
          <a:xfrm>
            <a:off x="2967160" y="5658273"/>
            <a:ext cx="17283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 例</a:t>
            </a:r>
            <a:endParaRPr lang="zh-CN" altLang="en-US" sz="2800" dirty="0"/>
          </a:p>
        </p:txBody>
      </p:sp>
      <p:sp>
        <p:nvSpPr>
          <p:cNvPr id="22" name="矩形: 圆角 40">
            <a:extLst>
              <a:ext uri="{FF2B5EF4-FFF2-40B4-BE49-F238E27FC236}">
                <a16:creationId xmlns:a16="http://schemas.microsoft.com/office/drawing/2014/main" id="{2AFCDF72-0B32-3B23-3BEA-A6D0061312B5}"/>
              </a:ext>
            </a:extLst>
          </p:cNvPr>
          <p:cNvSpPr/>
          <p:nvPr/>
        </p:nvSpPr>
        <p:spPr>
          <a:xfrm flipV="1">
            <a:off x="2726981" y="2138091"/>
            <a:ext cx="6738037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FFA758-C763-F6DD-43E6-7491515A6524}"/>
              </a:ext>
            </a:extLst>
          </p:cNvPr>
          <p:cNvSpPr/>
          <p:nvPr/>
        </p:nvSpPr>
        <p:spPr>
          <a:xfrm>
            <a:off x="2967160" y="2327323"/>
            <a:ext cx="6288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二、空间直线的对称式方程与参数方程</a:t>
            </a:r>
          </a:p>
        </p:txBody>
      </p:sp>
      <p:sp>
        <p:nvSpPr>
          <p:cNvPr id="25" name="矩形: 圆角 40">
            <a:extLst>
              <a:ext uri="{FF2B5EF4-FFF2-40B4-BE49-F238E27FC236}">
                <a16:creationId xmlns:a16="http://schemas.microsoft.com/office/drawing/2014/main" id="{44CBD125-8AD6-B216-239D-7580D93E4279}"/>
              </a:ext>
            </a:extLst>
          </p:cNvPr>
          <p:cNvSpPr/>
          <p:nvPr/>
        </p:nvSpPr>
        <p:spPr>
          <a:xfrm flipV="1">
            <a:off x="2726981" y="4358726"/>
            <a:ext cx="6738035" cy="901065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 Light" panose="020B0502040204020203" charset="-122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042539-EA59-0168-576C-46B998111EF3}"/>
              </a:ext>
            </a:extLst>
          </p:cNvPr>
          <p:cNvSpPr/>
          <p:nvPr/>
        </p:nvSpPr>
        <p:spPr>
          <a:xfrm>
            <a:off x="2967160" y="4547957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直线与平面的夹角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0742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4D52C744-7168-19B4-5822-FCA7AA5DB843}"/>
              </a:ext>
            </a:extLst>
          </p:cNvPr>
          <p:cNvSpPr/>
          <p:nvPr/>
        </p:nvSpPr>
        <p:spPr>
          <a:xfrm>
            <a:off x="1962302" y="1365553"/>
            <a:ext cx="8753323" cy="1231432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720198" y="1636819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空间直线可看成两平面的交线</a:t>
            </a:r>
            <a:r>
              <a:rPr lang="zh-CN" altLang="en-US" sz="2800" b="1" dirty="0">
                <a:ea typeface="黑体" panose="02010609060101010101" pitchFamily="49" charset="-122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5" name="Object 23"/>
              <p:cNvSpPr txBox="1"/>
              <p:nvPr/>
            </p:nvSpPr>
            <p:spPr bwMode="auto">
              <a:xfrm>
                <a:off x="2720198" y="2795597"/>
                <a:ext cx="5329409" cy="631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1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2795597"/>
                <a:ext cx="5329409" cy="6318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6" name="Object 24"/>
              <p:cNvSpPr txBox="1"/>
              <p:nvPr/>
            </p:nvSpPr>
            <p:spPr bwMode="auto">
              <a:xfrm>
                <a:off x="2720198" y="3392340"/>
                <a:ext cx="5329410" cy="7489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1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3392340"/>
                <a:ext cx="5329410" cy="7489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7" name="Object 25"/>
              <p:cNvSpPr txBox="1"/>
              <p:nvPr/>
            </p:nvSpPr>
            <p:spPr bwMode="auto">
              <a:xfrm>
                <a:off x="2720198" y="4087402"/>
                <a:ext cx="4507422" cy="11337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1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198" y="4087402"/>
                <a:ext cx="4507422" cy="11337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20" name="Rectangle 28"/>
          <p:cNvSpPr>
            <a:spLocks noChangeArrowheads="1"/>
          </p:cNvSpPr>
          <p:nvPr/>
        </p:nvSpPr>
        <p:spPr bwMode="auto">
          <a:xfrm>
            <a:off x="2720198" y="5404707"/>
            <a:ext cx="3709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空间直线的一般方程</a:t>
            </a:r>
          </a:p>
        </p:txBody>
      </p:sp>
      <p:sp>
        <p:nvSpPr>
          <p:cNvPr id="8225" name="Rectangle 33"/>
          <p:cNvSpPr>
            <a:spLocks noGrp="1" noChangeArrowheads="1"/>
          </p:cNvSpPr>
          <p:nvPr>
            <p:ph type="title"/>
          </p:nvPr>
        </p:nvSpPr>
        <p:spPr>
          <a:xfrm>
            <a:off x="1011121" y="618628"/>
            <a:ext cx="4789604" cy="592980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一、空间直线的一般方程</a:t>
            </a:r>
          </a:p>
        </p:txBody>
      </p:sp>
      <p:sp>
        <p:nvSpPr>
          <p:cNvPr id="6" name="PA-102231">
            <a:extLst>
              <a:ext uri="{FF2B5EF4-FFF2-40B4-BE49-F238E27FC236}">
                <a16:creationId xmlns:a16="http://schemas.microsoft.com/office/drawing/2014/main" id="{3D31BE6E-DFF5-D1AE-3B73-340317B49A0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75371" y="1599861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631122" y="1716227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定义</a:t>
            </a:r>
          </a:p>
        </p:txBody>
      </p:sp>
      <p:pic>
        <p:nvPicPr>
          <p:cNvPr id="3" name="图片 2" descr="图示, 形状&#10;&#10;描述已自动生成">
            <a:extLst>
              <a:ext uri="{FF2B5EF4-FFF2-40B4-BE49-F238E27FC236}">
                <a16:creationId xmlns:a16="http://schemas.microsoft.com/office/drawing/2014/main" id="{A1F5FCD7-DE04-02A9-3EE5-C25275A365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039" y="2868251"/>
            <a:ext cx="3722773" cy="27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598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196" grpId="0" autoUpdateAnimBg="0"/>
      <p:bldP spid="8215" grpId="0"/>
      <p:bldP spid="8216" grpId="0"/>
      <p:bldP spid="8217" grpId="0"/>
      <p:bldP spid="8220" grpId="0" autoUpdateAnimBg="0"/>
      <p:bldP spid="8225" grpId="0"/>
      <p:bldP spid="6" grpId="0" bldLvl="0" animBg="1"/>
      <p:bldP spid="6" grpId="1" animBg="1"/>
      <p:bldP spid="819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3"/>
              <p:cNvSpPr txBox="1">
                <a:spLocks noChangeArrowheads="1"/>
              </p:cNvSpPr>
              <p:nvPr/>
            </p:nvSpPr>
            <p:spPr bwMode="auto">
              <a:xfrm>
                <a:off x="1995849" y="1077670"/>
                <a:ext cx="50292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以下四个平面都过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轴，</a:t>
                </a:r>
              </a:p>
            </p:txBody>
          </p:sp>
        </mc:Choice>
        <mc:Fallback xmlns="">
          <p:sp>
            <p:nvSpPr>
              <p:cNvPr id="4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5849" y="1077670"/>
                <a:ext cx="5029200" cy="519112"/>
              </a:xfrm>
              <a:prstGeom prst="rect">
                <a:avLst/>
              </a:prstGeom>
              <a:blipFill>
                <a:blip r:embed="rId2"/>
                <a:stretch>
                  <a:fillRect l="-2424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4"/>
              <p:cNvSpPr txBox="1">
                <a:spLocks noChangeArrowheads="1"/>
              </p:cNvSpPr>
              <p:nvPr/>
            </p:nvSpPr>
            <p:spPr bwMode="auto">
              <a:xfrm>
                <a:off x="2102528" y="1685681"/>
                <a:ext cx="180272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1685681"/>
                <a:ext cx="180272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5"/>
              <p:cNvSpPr txBox="1">
                <a:spLocks noChangeArrowheads="1"/>
              </p:cNvSpPr>
              <p:nvPr/>
            </p:nvSpPr>
            <p:spPr bwMode="auto">
              <a:xfrm>
                <a:off x="2102528" y="2233369"/>
                <a:ext cx="262538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=0, 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6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2233369"/>
                <a:ext cx="262538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56"/>
              <p:cNvSpPr txBox="1">
                <a:spLocks noChangeArrowheads="1"/>
              </p:cNvSpPr>
              <p:nvPr/>
            </p:nvSpPr>
            <p:spPr bwMode="auto">
              <a:xfrm>
                <a:off x="2102528" y="2840689"/>
                <a:ext cx="1802722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2840689"/>
                <a:ext cx="1802722" cy="519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57"/>
              <p:cNvSpPr txBox="1">
                <a:spLocks noChangeArrowheads="1"/>
              </p:cNvSpPr>
              <p:nvPr/>
            </p:nvSpPr>
            <p:spPr bwMode="auto">
              <a:xfrm>
                <a:off x="2102528" y="3438682"/>
                <a:ext cx="2743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𝛱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8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8" y="3438682"/>
                <a:ext cx="2743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62"/>
          <p:cNvSpPr txBox="1">
            <a:spLocks noChangeArrowheads="1"/>
          </p:cNvSpPr>
          <p:nvPr/>
        </p:nvSpPr>
        <p:spPr bwMode="auto">
          <a:xfrm>
            <a:off x="2022814" y="42952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63"/>
              <p:cNvSpPr txBox="1"/>
              <p:nvPr/>
            </p:nvSpPr>
            <p:spPr bwMode="auto">
              <a:xfrm>
                <a:off x="2786930" y="4057062"/>
                <a:ext cx="1561746" cy="11179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=0 ,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=0 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bject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6930" y="4057062"/>
                <a:ext cx="1561746" cy="11179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65"/>
              <p:cNvSpPr txBox="1"/>
              <p:nvPr/>
            </p:nvSpPr>
            <p:spPr bwMode="auto">
              <a:xfrm>
                <a:off x="4441245" y="3996325"/>
                <a:ext cx="2301100" cy="1013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1245" y="3996325"/>
                <a:ext cx="2301100" cy="10138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68"/>
          <p:cNvSpPr txBox="1">
            <a:spLocks noChangeArrowheads="1"/>
          </p:cNvSpPr>
          <p:nvPr/>
        </p:nvSpPr>
        <p:spPr bwMode="auto">
          <a:xfrm>
            <a:off x="4038246" y="4303463"/>
            <a:ext cx="53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69"/>
              <p:cNvSpPr txBox="1">
                <a:spLocks noChangeArrowheads="1"/>
              </p:cNvSpPr>
              <p:nvPr/>
            </p:nvSpPr>
            <p:spPr bwMode="auto">
              <a:xfrm>
                <a:off x="2022814" y="5331925"/>
                <a:ext cx="3396911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轴的一般方程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 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2814" y="5331925"/>
                <a:ext cx="3396911" cy="519113"/>
              </a:xfrm>
              <a:prstGeom prst="rect">
                <a:avLst/>
              </a:prstGeom>
              <a:blipFill>
                <a:blip r:embed="rId9"/>
                <a:stretch>
                  <a:fillRect l="-3770" t="-16471" r="-180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74"/>
          <p:cNvSpPr>
            <a:spLocks noChangeArrowheads="1"/>
          </p:cNvSpPr>
          <p:nvPr/>
        </p:nvSpPr>
        <p:spPr bwMode="auto">
          <a:xfrm>
            <a:off x="5591795" y="108155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其方程分别为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4D87741-BCF5-49BF-45FE-E92EE2E19C4A}"/>
              </a:ext>
            </a:extLst>
          </p:cNvPr>
          <p:cNvGrpSpPr/>
          <p:nvPr/>
        </p:nvGrpSpPr>
        <p:grpSpPr>
          <a:xfrm>
            <a:off x="981075" y="569986"/>
            <a:ext cx="4895850" cy="448945"/>
            <a:chOff x="1553" y="3803"/>
            <a:chExt cx="7710" cy="707"/>
          </a:xfrm>
        </p:grpSpPr>
        <p:sp>
          <p:nvSpPr>
            <p:cNvPr id="25" name="圆角矩形 57">
              <a:extLst>
                <a:ext uri="{FF2B5EF4-FFF2-40B4-BE49-F238E27FC236}">
                  <a16:creationId xmlns:a16="http://schemas.microsoft.com/office/drawing/2014/main" id="{60903455-FF6C-E7B6-6B35-41D8FF015BB7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BF5DBFFB-4D8E-F11D-E508-8185299B7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7633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显然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lang="zh-CN" altLang="en-US" b="0" dirty="0">
                  <a:solidFill>
                    <a:schemeClr val="tx1"/>
                  </a:solidFill>
                  <a:latin typeface="+mn-lt"/>
                  <a:ea typeface="+mn-ea"/>
                </a:rPr>
                <a:t>直线的一般方程不唯一</a:t>
              </a:r>
              <a:r>
                <a:rPr lang="en-US" altLang="zh-CN" b="0" dirty="0">
                  <a:solidFill>
                    <a:schemeClr val="tx1"/>
                  </a:solidFill>
                  <a:latin typeface="+mn-lt"/>
                  <a:ea typeface="+mn-ea"/>
                </a:rPr>
                <a:t>.</a:t>
              </a:r>
              <a:endParaRPr lang="zh-CN" altLang="en-US" b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43A9D1D-AE80-7247-FDE2-C7F264829909}"/>
              </a:ext>
            </a:extLst>
          </p:cNvPr>
          <p:cNvGrpSpPr/>
          <p:nvPr/>
        </p:nvGrpSpPr>
        <p:grpSpPr>
          <a:xfrm>
            <a:off x="981075" y="1135725"/>
            <a:ext cx="962025" cy="448945"/>
            <a:chOff x="1553" y="3803"/>
            <a:chExt cx="1515" cy="707"/>
          </a:xfrm>
        </p:grpSpPr>
        <p:sp>
          <p:nvSpPr>
            <p:cNvPr id="28" name="圆角矩形 57">
              <a:extLst>
                <a:ext uri="{FF2B5EF4-FFF2-40B4-BE49-F238E27FC236}">
                  <a16:creationId xmlns:a16="http://schemas.microsoft.com/office/drawing/2014/main" id="{E0354FBD-CA5B-F85B-0C31-A08490D28D76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6BAA2DF4-3A83-754C-2E05-B34572086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833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D174114-E88D-D8B0-FC60-4CD76201E6AA}"/>
              </a:ext>
            </a:extLst>
          </p:cNvPr>
          <p:cNvSpPr/>
          <p:nvPr/>
        </p:nvSpPr>
        <p:spPr>
          <a:xfrm>
            <a:off x="2184959" y="2238743"/>
            <a:ext cx="4645680" cy="1538488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2101038" y="1485825"/>
            <a:ext cx="3032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方向向量的定义：</a:t>
            </a:r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2251634" y="2290624"/>
            <a:ext cx="4495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如果一非零向量平行于一条已知直线，那么这个向量称为这条直线的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方向向量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8" name="Object 22"/>
              <p:cNvSpPr txBox="1"/>
              <p:nvPr/>
            </p:nvSpPr>
            <p:spPr bwMode="auto">
              <a:xfrm>
                <a:off x="2155053" y="3883073"/>
                <a:ext cx="2338851" cy="516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3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5053" y="3883073"/>
                <a:ext cx="2338851" cy="5161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1" name="Object 25"/>
              <p:cNvSpPr txBox="1"/>
              <p:nvPr/>
            </p:nvSpPr>
            <p:spPr bwMode="auto">
              <a:xfrm>
                <a:off x="2168227" y="4593269"/>
                <a:ext cx="1461478" cy="516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227" y="4593269"/>
                <a:ext cx="1461478" cy="5161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2" name="Object 26"/>
              <p:cNvSpPr txBox="1"/>
              <p:nvPr/>
            </p:nvSpPr>
            <p:spPr bwMode="auto">
              <a:xfrm>
                <a:off x="4381420" y="3895203"/>
                <a:ext cx="1612900" cy="507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420" y="3895203"/>
                <a:ext cx="1612900" cy="507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7" name="Object 31"/>
              <p:cNvSpPr txBox="1"/>
              <p:nvPr/>
            </p:nvSpPr>
            <p:spPr bwMode="auto">
              <a:xfrm>
                <a:off x="2155054" y="5283854"/>
                <a:ext cx="2400764" cy="516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5054" y="5283854"/>
                <a:ext cx="2400764" cy="5161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3" name="Object 37"/>
              <p:cNvSpPr txBox="1"/>
              <p:nvPr/>
            </p:nvSpPr>
            <p:spPr bwMode="auto">
              <a:xfrm>
                <a:off x="4493904" y="5253187"/>
                <a:ext cx="4889792" cy="6233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53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904" y="5253187"/>
                <a:ext cx="4889792" cy="62335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6" name="Rectangle 40"/>
          <p:cNvSpPr>
            <a:spLocks noGrp="1" noChangeArrowheads="1"/>
          </p:cNvSpPr>
          <p:nvPr>
            <p:ph type="title"/>
          </p:nvPr>
        </p:nvSpPr>
        <p:spPr>
          <a:xfrm>
            <a:off x="1249922" y="836705"/>
            <a:ext cx="7193189" cy="596283"/>
          </a:xfrm>
        </p:spPr>
        <p:txBody>
          <a:bodyPr/>
          <a:lstStyle/>
          <a:p>
            <a:pPr algn="l"/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二、空间直线的对称式方程与参数方程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629704" y="4570075"/>
                <a:ext cx="1421810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704" y="4570075"/>
                <a:ext cx="1421810" cy="508000"/>
              </a:xfrm>
              <a:prstGeom prst="rect">
                <a:avLst/>
              </a:prstGeom>
              <a:blipFill>
                <a:blip r:embed="rId15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01C7C1D7-DC6D-457D-9DD4-FC6A44B3CBD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025" y="1946139"/>
            <a:ext cx="3477551" cy="279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325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9230" grpId="0" autoUpdateAnimBg="0"/>
      <p:bldP spid="9231" grpId="0" autoUpdateAnimBg="0"/>
      <p:bldP spid="9238" grpId="0"/>
      <p:bldP spid="9241" grpId="0"/>
      <p:bldP spid="9242" grpId="0"/>
      <p:bldP spid="9247" grpId="0"/>
      <p:bldP spid="9253" grpId="0"/>
      <p:bldP spid="925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A40736A-1CA4-BB5D-E206-E50BB56EBBF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CC0D77C7-5252-C0B7-A44B-D5FB17A00F0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B746697-4206-0C78-D714-A849C7629DE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94F0671-EFC3-EDCD-56A6-7204BCDCC0CA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81B13A28-21EF-B0A7-D786-462B33186B9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8316F264-435F-2ED9-9A15-A04C34323A6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45" name="Object 5"/>
              <p:cNvSpPr txBox="1"/>
              <p:nvPr/>
            </p:nvSpPr>
            <p:spPr bwMode="auto">
              <a:xfrm>
                <a:off x="2538413" y="1097656"/>
                <a:ext cx="4110962" cy="8928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8413" y="1097656"/>
                <a:ext cx="4110962" cy="8928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6528899" y="1234228"/>
            <a:ext cx="3124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直线的对称式方程</a:t>
            </a:r>
          </a:p>
        </p:txBody>
      </p:sp>
      <p:grpSp>
        <p:nvGrpSpPr>
          <p:cNvPr id="10251" name="Group 11"/>
          <p:cNvGrpSpPr>
            <a:grpSpLocks/>
          </p:cNvGrpSpPr>
          <p:nvPr/>
        </p:nvGrpSpPr>
        <p:grpSpPr bwMode="auto">
          <a:xfrm>
            <a:off x="1830913" y="2198270"/>
            <a:ext cx="5350668" cy="915551"/>
            <a:chOff x="1033" y="1920"/>
            <a:chExt cx="2889" cy="4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49" name="Object 9"/>
                <p:cNvSpPr txBox="1"/>
                <p:nvPr/>
              </p:nvSpPr>
              <p:spPr bwMode="auto">
                <a:xfrm>
                  <a:off x="1392" y="1920"/>
                  <a:ext cx="2530" cy="4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24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2" y="1920"/>
                  <a:ext cx="2530" cy="4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1033" y="196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令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52" name="Object 12"/>
              <p:cNvSpPr txBox="1"/>
              <p:nvPr/>
            </p:nvSpPr>
            <p:spPr bwMode="auto">
              <a:xfrm>
                <a:off x="2449680" y="3424298"/>
                <a:ext cx="2385483" cy="16535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𝑚𝑡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9680" y="3424298"/>
                <a:ext cx="2385483" cy="16535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60" name="Group 20"/>
          <p:cNvGrpSpPr>
            <a:grpSpLocks/>
          </p:cNvGrpSpPr>
          <p:nvPr/>
        </p:nvGrpSpPr>
        <p:grpSpPr bwMode="auto">
          <a:xfrm>
            <a:off x="3298243" y="3092448"/>
            <a:ext cx="5856288" cy="990600"/>
            <a:chOff x="1536" y="1920"/>
            <a:chExt cx="3689" cy="624"/>
          </a:xfrm>
        </p:grpSpPr>
        <p:sp>
          <p:nvSpPr>
            <p:cNvPr id="10255" name="Text Box 15"/>
            <p:cNvSpPr txBox="1">
              <a:spLocks noChangeArrowheads="1"/>
            </p:cNvSpPr>
            <p:nvPr/>
          </p:nvSpPr>
          <p:spPr bwMode="auto">
            <a:xfrm>
              <a:off x="2921" y="2217"/>
              <a:ext cx="23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直线的一组</a:t>
              </a:r>
              <a:r>
                <a: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方向数</a:t>
              </a:r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 flipH="1" flipV="1">
              <a:off x="1536" y="1920"/>
              <a:ext cx="2688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H="1" flipV="1">
              <a:off x="2400" y="1920"/>
              <a:ext cx="1824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 flipV="1">
              <a:off x="3216" y="1920"/>
              <a:ext cx="1008" cy="336"/>
            </a:xfrm>
            <a:prstGeom prst="line">
              <a:avLst/>
            </a:prstGeom>
            <a:noFill/>
            <a:ln w="19050">
              <a:solidFill>
                <a:srgbClr val="4B7B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61" name="Text Box 21"/>
              <p:cNvSpPr txBox="1">
                <a:spLocks noChangeArrowheads="1"/>
              </p:cNvSpPr>
              <p:nvPr/>
            </p:nvSpPr>
            <p:spPr bwMode="auto">
              <a:xfrm>
                <a:off x="5496931" y="4075071"/>
                <a:ext cx="3460638" cy="1057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zh-CN" altLang="en-US" sz="2800" dirty="0"/>
                  <a:t>向量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sz="2800" dirty="0"/>
                  <a:t>的方向余弦称为直线的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方向余弦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26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6931" y="4075071"/>
                <a:ext cx="3460638" cy="1057790"/>
              </a:xfrm>
              <a:prstGeom prst="rect">
                <a:avLst/>
              </a:prstGeom>
              <a:blipFill>
                <a:blip r:embed="rId6"/>
                <a:stretch>
                  <a:fillRect l="-3704" t="-4023" b="-149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2449680" y="5015573"/>
            <a:ext cx="279702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直线的参数方程</a:t>
            </a:r>
          </a:p>
        </p:txBody>
      </p:sp>
    </p:spTree>
    <p:extLst>
      <p:ext uri="{BB962C8B-B14F-4D97-AF65-F5344CB8AC3E}">
        <p14:creationId xmlns:p14="http://schemas.microsoft.com/office/powerpoint/2010/main" val="283767914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8" grpId="0" autoUpdateAnimBg="0"/>
      <p:bldP spid="10252" grpId="0"/>
      <p:bldP spid="10261" grpId="0" autoUpdateAnimBg="0"/>
      <p:bldP spid="1026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A9BF23F-D40D-939D-0016-AF15A06F5CFF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4DEB0A9-F03B-86A8-9518-DFAB2E2A7BE8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4DEB0A9-F03B-86A8-9518-DFAB2E2A7B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1CCB429-90F9-1CCC-893E-053C1D90171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C6D5B1B-ED9B-EF67-0FBC-20FDB0EE2C4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8184BA62-6E64-1BCF-39A7-EE78F1E2706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7B25D384-2E35-BA1C-03AC-B499CBF3CC86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114550" y="1004749"/>
            <a:ext cx="67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2800" b="1" dirty="0"/>
              <a:t>  </a:t>
            </a:r>
            <a:r>
              <a:rPr lang="zh-CN" altLang="en-US" sz="2800" dirty="0"/>
              <a:t>用对称式方程及参数方程表示直线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3"/>
              <p:cNvSpPr txBox="1"/>
              <p:nvPr/>
            </p:nvSpPr>
            <p:spPr bwMode="auto">
              <a:xfrm>
                <a:off x="3079934" y="1536699"/>
                <a:ext cx="3675973" cy="11660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+1=0,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6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9934" y="1536699"/>
                <a:ext cx="3675973" cy="1166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114550" y="2876457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grpSp>
        <p:nvGrpSpPr>
          <p:cNvPr id="11271" name="Group 7"/>
          <p:cNvGrpSpPr>
            <a:grpSpLocks/>
          </p:cNvGrpSpPr>
          <p:nvPr/>
        </p:nvGrpSpPr>
        <p:grpSpPr bwMode="auto">
          <a:xfrm>
            <a:off x="3053363" y="2897821"/>
            <a:ext cx="3821113" cy="461963"/>
            <a:chOff x="1104" y="1776"/>
            <a:chExt cx="2407" cy="291"/>
          </a:xfrm>
        </p:grpSpPr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1104" y="1796"/>
              <a:ext cx="211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在直线上任取一点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0" name="Object 6"/>
                <p:cNvSpPr txBox="1"/>
                <p:nvPr/>
              </p:nvSpPr>
              <p:spPr bwMode="auto">
                <a:xfrm>
                  <a:off x="2511" y="1776"/>
                  <a:ext cx="1000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).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7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11" y="1776"/>
                  <a:ext cx="1000" cy="272"/>
                </a:xfrm>
                <a:prstGeom prst="rect">
                  <a:avLst/>
                </a:prstGeom>
                <a:blipFill>
                  <a:blip r:embed="rId5"/>
                  <a:stretch>
                    <a:fillRect l="-2299" b="-18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74" name="Group 10"/>
          <p:cNvGrpSpPr>
            <a:grpSpLocks/>
          </p:cNvGrpSpPr>
          <p:nvPr/>
        </p:nvGrpSpPr>
        <p:grpSpPr bwMode="auto">
          <a:xfrm>
            <a:off x="3053364" y="3785236"/>
            <a:ext cx="1611313" cy="461963"/>
            <a:chOff x="1180" y="2191"/>
            <a:chExt cx="1015" cy="291"/>
          </a:xfrm>
        </p:grpSpPr>
        <p:sp>
          <p:nvSpPr>
            <p:cNvPr id="11272" name="Text Box 8"/>
            <p:cNvSpPr txBox="1">
              <a:spLocks noChangeArrowheads="1"/>
            </p:cNvSpPr>
            <p:nvPr/>
          </p:nvSpPr>
          <p:spPr bwMode="auto">
            <a:xfrm>
              <a:off x="1180" y="2208"/>
              <a:ext cx="33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取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3" name="Object 9"/>
                <p:cNvSpPr txBox="1"/>
                <p:nvPr/>
              </p:nvSpPr>
              <p:spPr bwMode="auto">
                <a:xfrm>
                  <a:off x="1379" y="2191"/>
                  <a:ext cx="816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7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79" y="2191"/>
                  <a:ext cx="816" cy="29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75" name="Object 11"/>
              <p:cNvSpPr txBox="1"/>
              <p:nvPr/>
            </p:nvSpPr>
            <p:spPr bwMode="auto">
              <a:xfrm>
                <a:off x="4216461" y="3586587"/>
                <a:ext cx="2995595" cy="9138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+2=0,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−6=0.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27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6461" y="3586587"/>
                <a:ext cx="2995595" cy="9138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78" name="Group 14"/>
          <p:cNvGrpSpPr>
            <a:grpSpLocks/>
          </p:cNvGrpSpPr>
          <p:nvPr/>
        </p:nvGrpSpPr>
        <p:grpSpPr bwMode="auto">
          <a:xfrm>
            <a:off x="3053363" y="4652839"/>
            <a:ext cx="3886200" cy="615951"/>
            <a:chOff x="1200" y="3075"/>
            <a:chExt cx="2448" cy="388"/>
          </a:xfrm>
        </p:grpSpPr>
        <p:sp>
          <p:nvSpPr>
            <p:cNvPr id="11276" name="Text Box 12"/>
            <p:cNvSpPr txBox="1">
              <a:spLocks noChangeArrowheads="1"/>
            </p:cNvSpPr>
            <p:nvPr/>
          </p:nvSpPr>
          <p:spPr bwMode="auto">
            <a:xfrm>
              <a:off x="1200" y="3120"/>
              <a:ext cx="5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解得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7" name="Object 13"/>
                <p:cNvSpPr txBox="1"/>
                <p:nvPr/>
              </p:nvSpPr>
              <p:spPr bwMode="auto">
                <a:xfrm>
                  <a:off x="1574" y="3075"/>
                  <a:ext cx="2074" cy="3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</m:t>
                        </m:r>
                        <m:r>
                          <a:rPr lang="zh-CN" altLang="en-US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 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=−2,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7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74" y="3075"/>
                  <a:ext cx="2074" cy="38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82" name="Group 18"/>
          <p:cNvGrpSpPr>
            <a:grpSpLocks/>
          </p:cNvGrpSpPr>
          <p:nvPr/>
        </p:nvGrpSpPr>
        <p:grpSpPr bwMode="auto">
          <a:xfrm>
            <a:off x="3053363" y="5407777"/>
            <a:ext cx="2452688" cy="452438"/>
            <a:chOff x="3552" y="3010"/>
            <a:chExt cx="1545" cy="285"/>
          </a:xfrm>
        </p:grpSpPr>
        <p:sp>
          <p:nvSpPr>
            <p:cNvPr id="11279" name="Text Box 15"/>
            <p:cNvSpPr txBox="1">
              <a:spLocks noChangeArrowheads="1"/>
            </p:cNvSpPr>
            <p:nvPr/>
          </p:nvSpPr>
          <p:spPr bwMode="auto">
            <a:xfrm>
              <a:off x="3552" y="3024"/>
              <a:ext cx="81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点坐标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0" name="Object 16"/>
                <p:cNvSpPr txBox="1"/>
                <p:nvPr/>
              </p:nvSpPr>
              <p:spPr bwMode="auto">
                <a:xfrm>
                  <a:off x="4100" y="3010"/>
                  <a:ext cx="997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(1,0,−2).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28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0" y="3010"/>
                  <a:ext cx="997" cy="271"/>
                </a:xfrm>
                <a:prstGeom prst="rect">
                  <a:avLst/>
                </a:prstGeom>
                <a:blipFill>
                  <a:blip r:embed="rId9"/>
                  <a:stretch>
                    <a:fillRect l="-2703" b="-183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02807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/>
      <p:bldP spid="11268" grpId="0" autoUpdateAnimBg="0"/>
      <p:bldP spid="11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45AE6CE-A0AE-01CF-8DB5-D6B2C1355B54}"/>
              </a:ext>
            </a:extLst>
          </p:cNvPr>
          <p:cNvGrpSpPr/>
          <p:nvPr/>
        </p:nvGrpSpPr>
        <p:grpSpPr>
          <a:xfrm>
            <a:off x="687324" y="873171"/>
            <a:ext cx="10817987" cy="5148697"/>
            <a:chOff x="687324" y="535820"/>
            <a:chExt cx="10817987" cy="5148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2F03F59-FBEB-A601-DD44-03A4C467199E}"/>
                    </a:ext>
                  </a:extLst>
                </p:cNvPr>
                <p:cNvSpPr/>
                <p:nvPr/>
              </p:nvSpPr>
              <p:spPr>
                <a:xfrm>
                  <a:off x="687959" y="536261"/>
                  <a:ext cx="10817352" cy="51482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2F03F59-FBEB-A601-DD44-03A4C46719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1"/>
                  <a:ext cx="10817352" cy="51482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7226C94E-482B-C277-7DE6-9C79483A1A7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7EEAFDD8-19F4-ED93-447B-960E2BD0507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A27A875-0AE8-C226-E43A-45C0581ACBEB}"/>
                </a:ext>
              </a:extLst>
            </p:cNvPr>
            <p:cNvSpPr/>
            <p:nvPr/>
          </p:nvSpPr>
          <p:spPr>
            <a:xfrm flipV="1">
              <a:off x="687324" y="5011000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863A7F3-A1A2-5A37-D34C-870A4D90652B}"/>
                </a:ext>
              </a:extLst>
            </p:cNvPr>
            <p:cNvSpPr/>
            <p:nvPr/>
          </p:nvSpPr>
          <p:spPr>
            <a:xfrm flipH="1" flipV="1">
              <a:off x="10823530" y="499113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971904" y="1510835"/>
            <a:ext cx="624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因所求直线与两平面的法向量都垂直，</a:t>
            </a:r>
          </a:p>
        </p:txBody>
      </p:sp>
      <p:grpSp>
        <p:nvGrpSpPr>
          <p:cNvPr id="12298" name="Group 10"/>
          <p:cNvGrpSpPr>
            <a:grpSpLocks/>
          </p:cNvGrpSpPr>
          <p:nvPr/>
        </p:nvGrpSpPr>
        <p:grpSpPr bwMode="auto">
          <a:xfrm>
            <a:off x="2971904" y="2305306"/>
            <a:ext cx="2133495" cy="512167"/>
            <a:chOff x="788" y="1128"/>
            <a:chExt cx="765" cy="171"/>
          </a:xfrm>
        </p:grpSpPr>
        <p:sp>
          <p:nvSpPr>
            <p:cNvPr id="12291" name="Text Box 3"/>
            <p:cNvSpPr txBox="1">
              <a:spLocks noChangeArrowheads="1"/>
            </p:cNvSpPr>
            <p:nvPr/>
          </p:nvSpPr>
          <p:spPr bwMode="auto">
            <a:xfrm>
              <a:off x="788" y="1132"/>
              <a:ext cx="38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取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92" name="Object 4"/>
                <p:cNvSpPr txBox="1"/>
                <p:nvPr/>
              </p:nvSpPr>
              <p:spPr bwMode="auto">
                <a:xfrm>
                  <a:off x="903" y="1128"/>
                  <a:ext cx="650" cy="1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292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3" y="1128"/>
                  <a:ext cx="650" cy="1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5"/>
              <p:cNvSpPr txBox="1"/>
              <p:nvPr/>
            </p:nvSpPr>
            <p:spPr bwMode="auto">
              <a:xfrm>
                <a:off x="4724503" y="2302550"/>
                <a:ext cx="2061170" cy="5121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={4,−1,−3},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2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503" y="2302550"/>
                <a:ext cx="2061170" cy="5121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971904" y="3339635"/>
            <a:ext cx="2133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对称式方程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5" name="Object 7"/>
              <p:cNvSpPr txBox="1"/>
              <p:nvPr/>
            </p:nvSpPr>
            <p:spPr bwMode="auto">
              <a:xfrm>
                <a:off x="4472199" y="3180883"/>
                <a:ext cx="3247809" cy="787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2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2199" y="3180883"/>
                <a:ext cx="3247809" cy="7874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971904" y="4647948"/>
            <a:ext cx="15002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参数方程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7" name="Object 9"/>
              <p:cNvSpPr txBox="1"/>
              <p:nvPr/>
            </p:nvSpPr>
            <p:spPr bwMode="auto">
              <a:xfrm>
                <a:off x="4156333" y="4261678"/>
                <a:ext cx="2408685" cy="12868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=1+4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=−2−3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29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6333" y="4261678"/>
                <a:ext cx="2408685" cy="12868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8796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3" grpId="0"/>
      <p:bldP spid="12294" grpId="0" autoUpdateAnimBg="0"/>
      <p:bldP spid="12295" grpId="0"/>
      <p:bldP spid="12296" grpId="0" autoUpdateAnimBg="0"/>
      <p:bldP spid="122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18FF374-0F13-0D8A-0A0F-47CEA4B01C90}"/>
              </a:ext>
            </a:extLst>
          </p:cNvPr>
          <p:cNvSpPr/>
          <p:nvPr/>
        </p:nvSpPr>
        <p:spPr>
          <a:xfrm>
            <a:off x="1214807" y="1356654"/>
            <a:ext cx="9762385" cy="1231432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1">
            <a:extLst>
              <a:ext uri="{FF2B5EF4-FFF2-40B4-BE49-F238E27FC236}">
                <a16:creationId xmlns:a16="http://schemas.microsoft.com/office/drawing/2014/main" id="{4689F7E2-AE21-AE89-AC6C-23E3B8B2345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2896" y="1599861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028B174-E15F-6AAF-9A2D-0A89262B6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647" y="1716227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64" name="Text Box 84"/>
              <p:cNvSpPr txBox="1">
                <a:spLocks noChangeArrowheads="1"/>
              </p:cNvSpPr>
              <p:nvPr/>
            </p:nvSpPr>
            <p:spPr bwMode="auto">
              <a:xfrm>
                <a:off x="1785989" y="3868726"/>
                <a:ext cx="334092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则两直线夹角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𝜑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满足</a:t>
                </a:r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64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5989" y="3868726"/>
                <a:ext cx="3340928" cy="523220"/>
              </a:xfrm>
              <a:prstGeom prst="rect">
                <a:avLst/>
              </a:prstGeom>
              <a:blipFill>
                <a:blip r:embed="rId3"/>
                <a:stretch>
                  <a:fillRect l="-3832" t="-16471" r="-1825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65" name="Text Box 85"/>
              <p:cNvSpPr txBox="1">
                <a:spLocks noChangeArrowheads="1"/>
              </p:cNvSpPr>
              <p:nvPr/>
            </p:nvSpPr>
            <p:spPr bwMode="auto">
              <a:xfrm>
                <a:off x="1772184" y="2651118"/>
                <a:ext cx="5257800" cy="5598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设直线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的方向向量分别为 </a:t>
                </a:r>
              </a:p>
            </p:txBody>
          </p:sp>
        </mc:Choice>
        <mc:Fallback xmlns="">
          <p:sp>
            <p:nvSpPr>
              <p:cNvPr id="20565" name="Text 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2184" y="2651118"/>
                <a:ext cx="5257800" cy="559897"/>
              </a:xfrm>
              <a:prstGeom prst="rect">
                <a:avLst/>
              </a:prstGeom>
              <a:blipFill>
                <a:blip r:embed="rId4"/>
                <a:stretch>
                  <a:fillRect l="-2436" t="-8696" b="-260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67" name="Text Box 87"/>
          <p:cNvSpPr txBox="1">
            <a:spLocks noChangeArrowheads="1"/>
          </p:cNvSpPr>
          <p:nvPr/>
        </p:nvSpPr>
        <p:spPr bwMode="auto">
          <a:xfrm>
            <a:off x="1869247" y="1706638"/>
            <a:ext cx="830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两直线的夹角指其方向向量间的</a:t>
            </a: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夹角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通常取</a:t>
            </a: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锐角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66" name="Object 86"/>
              <p:cNvSpPr txBox="1"/>
              <p:nvPr/>
            </p:nvSpPr>
            <p:spPr bwMode="auto">
              <a:xfrm>
                <a:off x="4265303" y="4783977"/>
                <a:ext cx="5603455" cy="7509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  <m:r>
                            <m:rPr>
                              <m:nor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m:rPr>
                              <m:nor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                                      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66" name="Object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5303" y="4783977"/>
                <a:ext cx="5603455" cy="750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68" name="Object 88"/>
              <p:cNvSpPr txBox="1"/>
              <p:nvPr/>
            </p:nvSpPr>
            <p:spPr bwMode="auto">
              <a:xfrm>
                <a:off x="5014441" y="4406138"/>
                <a:ext cx="3614433" cy="591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68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4441" y="4406138"/>
                <a:ext cx="3614433" cy="5916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69" name="Object 89"/>
              <p:cNvSpPr txBox="1"/>
              <p:nvPr/>
            </p:nvSpPr>
            <p:spPr bwMode="auto">
              <a:xfrm>
                <a:off x="4564416" y="5147661"/>
                <a:ext cx="2961295" cy="10378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69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4416" y="5147661"/>
                <a:ext cx="2961295" cy="10378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70" name="Object 90"/>
              <p:cNvSpPr txBox="1"/>
              <p:nvPr/>
            </p:nvSpPr>
            <p:spPr bwMode="auto">
              <a:xfrm>
                <a:off x="6987277" y="5147661"/>
                <a:ext cx="2732061" cy="10769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70" name="Object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7277" y="5147661"/>
                <a:ext cx="2732061" cy="1076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72" name="Object 92"/>
              <p:cNvSpPr txBox="1"/>
              <p:nvPr/>
            </p:nvSpPr>
            <p:spPr bwMode="auto">
              <a:xfrm>
                <a:off x="1775634" y="3222946"/>
                <a:ext cx="5737362" cy="591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), 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72" name="Object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634" y="3222946"/>
                <a:ext cx="5737362" cy="5916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76" name="Object 96"/>
              <p:cNvSpPr txBox="1"/>
              <p:nvPr/>
            </p:nvSpPr>
            <p:spPr bwMode="auto">
              <a:xfrm>
                <a:off x="1705729" y="4541822"/>
                <a:ext cx="3340927" cy="1181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76" name="Object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5729" y="4541822"/>
                <a:ext cx="3340927" cy="11814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9"/>
          <p:cNvSpPr>
            <a:spLocks noGrp="1" noChangeArrowheads="1"/>
          </p:cNvSpPr>
          <p:nvPr>
            <p:ph type="title"/>
          </p:nvPr>
        </p:nvSpPr>
        <p:spPr>
          <a:xfrm>
            <a:off x="1166446" y="672119"/>
            <a:ext cx="3521795" cy="598094"/>
          </a:xfrm>
        </p:spPr>
        <p:txBody>
          <a:bodyPr>
            <a:normAutofit/>
          </a:bodyPr>
          <a:lstStyle/>
          <a:p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三、两直线的夹角</a:t>
            </a:r>
          </a:p>
        </p:txBody>
      </p:sp>
    </p:spTree>
    <p:extLst>
      <p:ext uri="{BB962C8B-B14F-4D97-AF65-F5344CB8AC3E}">
        <p14:creationId xmlns:p14="http://schemas.microsoft.com/office/powerpoint/2010/main" val="246690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bldLvl="0" animBg="1"/>
      <p:bldP spid="4" grpId="1" animBg="1"/>
      <p:bldP spid="5" grpId="0" autoUpdateAnimBg="0"/>
      <p:bldP spid="20564" grpId="0"/>
      <p:bldP spid="20565" grpId="0"/>
      <p:bldP spid="20567" grpId="0"/>
      <p:bldP spid="20566" grpId="0"/>
      <p:bldP spid="20568" grpId="0"/>
      <p:bldP spid="20569" grpId="0"/>
      <p:bldP spid="20570" grpId="0"/>
      <p:bldP spid="20572" grpId="0"/>
      <p:bldP spid="20576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04E4FA8-112A-CCDC-3F8E-9D4996331D3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>
              <a:extLst>
                <a:ext uri="{FF2B5EF4-FFF2-40B4-BE49-F238E27FC236}">
                  <a16:creationId xmlns:a16="http://schemas.microsoft.com/office/drawing/2014/main" id="{20DCBECD-08DA-BF2F-0B8A-EF55FA57A9C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BA3E0AE-EB7C-3602-8471-DE46BB19A5A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CE7A290A-9EF7-E770-8D59-9ECED13B30B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EE2685FA-B139-5E79-14C1-349A4C96742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EDC82AAF-B1EB-C95E-15D0-66E58E3DE32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67" name="Object 7"/>
              <p:cNvSpPr txBox="1"/>
              <p:nvPr/>
            </p:nvSpPr>
            <p:spPr bwMode="auto">
              <a:xfrm>
                <a:off x="4493377" y="1525941"/>
                <a:ext cx="4698248" cy="6334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6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377" y="1525941"/>
                <a:ext cx="4698248" cy="6334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Object 11"/>
              <p:cNvSpPr txBox="1"/>
              <p:nvPr/>
            </p:nvSpPr>
            <p:spPr bwMode="auto">
              <a:xfrm>
                <a:off x="4483853" y="2225445"/>
                <a:ext cx="3021848" cy="10358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3853" y="2225445"/>
                <a:ext cx="3021848" cy="10358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373" name="Group 13"/>
          <p:cNvGrpSpPr>
            <a:grpSpLocks/>
          </p:cNvGrpSpPr>
          <p:nvPr/>
        </p:nvGrpSpPr>
        <p:grpSpPr bwMode="auto">
          <a:xfrm>
            <a:off x="3001163" y="3538628"/>
            <a:ext cx="1475033" cy="593606"/>
            <a:chOff x="768" y="1776"/>
            <a:chExt cx="816" cy="327"/>
          </a:xfrm>
        </p:grpSpPr>
        <p:sp>
          <p:nvSpPr>
            <p:cNvPr id="15374" name="Text Box 14"/>
            <p:cNvSpPr txBox="1">
              <a:spLocks noChangeArrowheads="1"/>
            </p:cNvSpPr>
            <p:nvPr/>
          </p:nvSpPr>
          <p:spPr bwMode="auto">
            <a:xfrm>
              <a:off x="768" y="1776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5" name="Object 15"/>
                <p:cNvSpPr txBox="1"/>
                <p:nvPr/>
              </p:nvSpPr>
              <p:spPr bwMode="auto">
                <a:xfrm>
                  <a:off x="1232" y="1779"/>
                  <a:ext cx="35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37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2" y="1779"/>
                  <a:ext cx="352" cy="28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77" name="Group 17"/>
          <p:cNvGrpSpPr>
            <a:grpSpLocks/>
          </p:cNvGrpSpPr>
          <p:nvPr/>
        </p:nvGrpSpPr>
        <p:grpSpPr bwMode="auto">
          <a:xfrm>
            <a:off x="3046701" y="4284036"/>
            <a:ext cx="1428750" cy="635000"/>
            <a:chOff x="556" y="2374"/>
            <a:chExt cx="900" cy="400"/>
          </a:xfrm>
        </p:grpSpPr>
        <p:sp>
          <p:nvSpPr>
            <p:cNvPr id="15378" name="Text Box 18"/>
            <p:cNvSpPr txBox="1">
              <a:spLocks noChangeArrowheads="1"/>
            </p:cNvSpPr>
            <p:nvPr/>
          </p:nvSpPr>
          <p:spPr bwMode="auto">
            <a:xfrm>
              <a:off x="556" y="2374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直线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9" name="Object 19"/>
                <p:cNvSpPr txBox="1"/>
                <p:nvPr/>
              </p:nvSpPr>
              <p:spPr bwMode="auto">
                <a:xfrm>
                  <a:off x="1048" y="2388"/>
                  <a:ext cx="408" cy="3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37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8" y="2388"/>
                  <a:ext cx="408" cy="38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81" name="Object 21"/>
              <p:cNvSpPr txBox="1"/>
              <p:nvPr/>
            </p:nvSpPr>
            <p:spPr bwMode="auto">
              <a:xfrm>
                <a:off x="4342102" y="3566646"/>
                <a:ext cx="2612412" cy="598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={1,−4, 0},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2102" y="3566646"/>
                <a:ext cx="2612412" cy="5982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2" name="Object 22"/>
              <p:cNvSpPr txBox="1"/>
              <p:nvPr/>
            </p:nvSpPr>
            <p:spPr bwMode="auto">
              <a:xfrm>
                <a:off x="4331277" y="4260759"/>
                <a:ext cx="2145723" cy="598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={0,0,1},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1277" y="4260759"/>
                <a:ext cx="2145723" cy="5982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3" name="Object 23"/>
              <p:cNvSpPr txBox="1"/>
              <p:nvPr/>
            </p:nvSpPr>
            <p:spPr bwMode="auto">
              <a:xfrm>
                <a:off x="3090379" y="5065102"/>
                <a:ext cx="2157740" cy="5982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379" y="5065102"/>
                <a:ext cx="2157740" cy="5982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4" name="Object 24"/>
              <p:cNvSpPr txBox="1"/>
              <p:nvPr/>
            </p:nvSpPr>
            <p:spPr bwMode="auto">
              <a:xfrm>
                <a:off x="5305269" y="5043374"/>
                <a:ext cx="1857532" cy="6136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5269" y="5043374"/>
                <a:ext cx="1857532" cy="6136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6" name="Object 26"/>
              <p:cNvSpPr txBox="1"/>
              <p:nvPr/>
            </p:nvSpPr>
            <p:spPr bwMode="auto">
              <a:xfrm>
                <a:off x="6936600" y="5100519"/>
                <a:ext cx="2064526" cy="6136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6600" y="5100519"/>
                <a:ext cx="2064526" cy="6136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965219" y="817906"/>
            <a:ext cx="4191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两直线的位置关系：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665654" y="1520518"/>
                <a:ext cx="2057447" cy="6158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54" y="1520518"/>
                <a:ext cx="2057447" cy="6158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665654" y="2320298"/>
                <a:ext cx="2057447" cy="6158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 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54" y="2320298"/>
                <a:ext cx="2057447" cy="6158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3DF34E75-CA9F-DF34-351B-AF2B9D4C1912}"/>
              </a:ext>
            </a:extLst>
          </p:cNvPr>
          <p:cNvGrpSpPr/>
          <p:nvPr/>
        </p:nvGrpSpPr>
        <p:grpSpPr>
          <a:xfrm>
            <a:off x="2050150" y="3581005"/>
            <a:ext cx="962025" cy="448945"/>
            <a:chOff x="1553" y="3803"/>
            <a:chExt cx="1515" cy="707"/>
          </a:xfrm>
        </p:grpSpPr>
        <p:sp>
          <p:nvSpPr>
            <p:cNvPr id="17" name="圆角矩形 57">
              <a:extLst>
                <a:ext uri="{FF2B5EF4-FFF2-40B4-BE49-F238E27FC236}">
                  <a16:creationId xmlns:a16="http://schemas.microsoft.com/office/drawing/2014/main" id="{BF2A6671-F0AE-9A4D-0A1E-0AD3DD9528DF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>
              <a:extLst>
                <a:ext uri="{FF2B5EF4-FFF2-40B4-BE49-F238E27FC236}">
                  <a16:creationId xmlns:a16="http://schemas.microsoft.com/office/drawing/2014/main" id="{F16BB87F-F7E0-021E-105F-30C3A8167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例如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86312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  <p:bldP spid="15371" grpId="0"/>
      <p:bldP spid="15381" grpId="0"/>
      <p:bldP spid="15382" grpId="0"/>
      <p:bldP spid="15383" grpId="0"/>
      <p:bldP spid="15384" grpId="0"/>
      <p:bldP spid="15386" grpId="0"/>
      <p:bldP spid="21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F1AFF36-0B2F-453A-E846-73690A961375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12DAFD8F-7F07-D543-8D5E-289838821E5B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12DAFD8F-7F07-D543-8D5E-289838821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D3176BF9-7253-EBE9-DE48-D6A7118112C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B5457F5F-1D27-63D9-AA71-A94BB97CC2D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DE3B2612-7A66-AF26-8314-C65EBF61D3B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8B0A35B5-9FFC-5814-F120-E71C788687A7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643472" y="4388927"/>
                <a:ext cx="6328953" cy="6314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</m:t>
                          </m:r>
                          <m:r>
                            <m:rPr>
                              <m:nor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472" y="4388927"/>
                <a:ext cx="6328953" cy="6314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64" name="Rectangle 216"/>
          <p:cNvSpPr>
            <a:spLocks noChangeArrowheads="1"/>
          </p:cNvSpPr>
          <p:nvPr/>
        </p:nvSpPr>
        <p:spPr bwMode="auto">
          <a:xfrm>
            <a:off x="981533" y="2345038"/>
            <a:ext cx="54534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274" name="Rectangle 226"/>
          <p:cNvSpPr>
            <a:spLocks noChangeArrowheads="1"/>
          </p:cNvSpPr>
          <p:nvPr/>
        </p:nvSpPr>
        <p:spPr bwMode="auto">
          <a:xfrm>
            <a:off x="981533" y="1167071"/>
            <a:ext cx="10897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7" name="Text Box 229"/>
              <p:cNvSpPr txBox="1">
                <a:spLocks noChangeArrowheads="1"/>
              </p:cNvSpPr>
              <p:nvPr/>
            </p:nvSpPr>
            <p:spPr bwMode="auto">
              <a:xfrm>
                <a:off x="1643473" y="2353091"/>
                <a:ext cx="3602037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的方向向量为</a:t>
                </a:r>
              </a:p>
            </p:txBody>
          </p:sp>
        </mc:Choice>
        <mc:Fallback xmlns="">
          <p:sp>
            <p:nvSpPr>
              <p:cNvPr id="2277" name="Text Box 2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473" y="2353091"/>
                <a:ext cx="3602037" cy="430887"/>
              </a:xfrm>
              <a:prstGeom prst="rect">
                <a:avLst/>
              </a:prstGeom>
              <a:blipFill>
                <a:blip r:embed="rId4"/>
                <a:stretch>
                  <a:fillRect l="-2203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8" name="Text Box 230"/>
              <p:cNvSpPr txBox="1">
                <a:spLocks noChangeArrowheads="1"/>
              </p:cNvSpPr>
              <p:nvPr/>
            </p:nvSpPr>
            <p:spPr bwMode="auto">
              <a:xfrm>
                <a:off x="1643473" y="3287272"/>
                <a:ext cx="3099977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直线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的方向向量为</a:t>
                </a:r>
              </a:p>
            </p:txBody>
          </p:sp>
        </mc:Choice>
        <mc:Fallback xmlns="">
          <p:sp>
            <p:nvSpPr>
              <p:cNvPr id="2278" name="Text Box 2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3473" y="3287272"/>
                <a:ext cx="3099977" cy="430887"/>
              </a:xfrm>
              <a:prstGeom prst="rect">
                <a:avLst/>
              </a:prstGeom>
              <a:blipFill>
                <a:blip r:embed="rId5"/>
                <a:stretch>
                  <a:fillRect l="-2559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1" name="Text Box 233"/>
          <p:cNvSpPr txBox="1">
            <a:spLocks noChangeArrowheads="1"/>
          </p:cNvSpPr>
          <p:nvPr/>
        </p:nvSpPr>
        <p:spPr bwMode="auto">
          <a:xfrm>
            <a:off x="1643473" y="5513569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651826" y="889276"/>
                <a:ext cx="9740477" cy="114447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求直线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+2=0,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=0 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的夹角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826" y="889276"/>
                <a:ext cx="9740477" cy="11444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3098854" y="4145311"/>
                <a:ext cx="4393987" cy="5739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1×2+(−4)×(−2)+1×(−1)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54" y="4145311"/>
                <a:ext cx="4393987" cy="573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675294" y="4679281"/>
                <a:ext cx="2495073" cy="6314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+(−4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294" y="4679281"/>
                <a:ext cx="2495073" cy="6314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4998175" y="4686617"/>
                <a:ext cx="2879541" cy="6241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75" y="4686617"/>
                <a:ext cx="2879541" cy="6241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7737861" y="4159105"/>
                <a:ext cx="985700" cy="83321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2 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861" y="4159105"/>
                <a:ext cx="985700" cy="8332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234500" y="5374387"/>
                <a:ext cx="1175310" cy="69338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4 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500" y="5374387"/>
                <a:ext cx="1175310" cy="6933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4178940" y="2345038"/>
                <a:ext cx="2259005" cy="5050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=(1, −4, 1),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40" y="2345038"/>
                <a:ext cx="2259005" cy="505048"/>
              </a:xfrm>
              <a:prstGeom prst="rect">
                <a:avLst/>
              </a:prstGeom>
              <a:blipFill>
                <a:blip r:embed="rId12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4157412" y="2984420"/>
                <a:ext cx="2259005" cy="104504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412" y="2984420"/>
                <a:ext cx="2259005" cy="10450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6187351" y="3261292"/>
                <a:ext cx="2180471" cy="4619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=(2, −2, −1).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351" y="3261292"/>
                <a:ext cx="2180471" cy="461935"/>
              </a:xfrm>
              <a:prstGeom prst="rect">
                <a:avLst/>
              </a:prstGeom>
              <a:blipFill>
                <a:blip r:embed="rId1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2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64" grpId="0"/>
      <p:bldP spid="2274" grpId="0"/>
      <p:bldP spid="2277" grpId="0"/>
      <p:bldP spid="2278" grpId="0"/>
      <p:bldP spid="2281" grpId="0"/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41D721D-02DD-1DA4-A867-063AA15C7813}"/>
              </a:ext>
            </a:extLst>
          </p:cNvPr>
          <p:cNvSpPr/>
          <p:nvPr/>
        </p:nvSpPr>
        <p:spPr>
          <a:xfrm>
            <a:off x="1209827" y="1217499"/>
            <a:ext cx="9762385" cy="1168400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0" name="Text Box 4"/>
              <p:cNvSpPr txBox="1">
                <a:spLocks noChangeArrowheads="1"/>
              </p:cNvSpPr>
              <p:nvPr/>
            </p:nvSpPr>
            <p:spPr bwMode="auto">
              <a:xfrm>
                <a:off x="1925638" y="1275729"/>
                <a:ext cx="8723313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直线和它在平面上的投影直线的夹角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𝜑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称为直线与平面的夹角．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9460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5638" y="1275729"/>
                <a:ext cx="8723313" cy="954107"/>
              </a:xfrm>
              <a:prstGeom prst="rect">
                <a:avLst/>
              </a:prstGeom>
              <a:blipFill>
                <a:blip r:embed="rId3"/>
                <a:stretch>
                  <a:fillRect l="-1468" t="-7643" r="-140" b="-165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4" name="Object 18"/>
              <p:cNvSpPr txBox="1"/>
              <p:nvPr/>
            </p:nvSpPr>
            <p:spPr bwMode="auto">
              <a:xfrm>
                <a:off x="1903250" y="3513184"/>
                <a:ext cx="4955152" cy="9849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7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3250" y="3513184"/>
                <a:ext cx="4955152" cy="9849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5" name="Object 19"/>
              <p:cNvSpPr txBox="1"/>
              <p:nvPr/>
            </p:nvSpPr>
            <p:spPr bwMode="auto">
              <a:xfrm>
                <a:off x="1813496" y="4472102"/>
                <a:ext cx="5905910" cy="873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7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3496" y="4472102"/>
                <a:ext cx="5905910" cy="8731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6" name="Object 20"/>
              <p:cNvSpPr txBox="1"/>
              <p:nvPr/>
            </p:nvSpPr>
            <p:spPr bwMode="auto">
              <a:xfrm>
                <a:off x="6639171" y="3565487"/>
                <a:ext cx="2426612" cy="568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7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9171" y="3565487"/>
                <a:ext cx="2426612" cy="568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7" name="Object 21"/>
              <p:cNvSpPr txBox="1"/>
              <p:nvPr/>
            </p:nvSpPr>
            <p:spPr bwMode="auto">
              <a:xfrm>
                <a:off x="6322117" y="4493750"/>
                <a:ext cx="2864260" cy="730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7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2117" y="4493750"/>
                <a:ext cx="2864260" cy="7302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1" name="Object 25"/>
              <p:cNvSpPr txBox="1"/>
              <p:nvPr/>
            </p:nvSpPr>
            <p:spPr bwMode="auto">
              <a:xfrm>
                <a:off x="4889299" y="5314624"/>
                <a:ext cx="2559251" cy="951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8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299" y="5314624"/>
                <a:ext cx="2559251" cy="9516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0" name="Object 24"/>
              <p:cNvSpPr txBox="1"/>
              <p:nvPr/>
            </p:nvSpPr>
            <p:spPr bwMode="auto">
              <a:xfrm>
                <a:off x="2568959" y="5345262"/>
                <a:ext cx="2460241" cy="9516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8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8959" y="5345262"/>
                <a:ext cx="2460241" cy="9516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7" name="Rectangle 31"/>
          <p:cNvSpPr>
            <a:spLocks noGrp="1" noChangeArrowheads="1"/>
          </p:cNvSpPr>
          <p:nvPr>
            <p:ph type="title"/>
          </p:nvPr>
        </p:nvSpPr>
        <p:spPr>
          <a:xfrm>
            <a:off x="1125246" y="504131"/>
            <a:ext cx="4380204" cy="608169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defRPr/>
            </a:pPr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四、直线与平面的夹角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3" name="Object 7"/>
              <p:cNvSpPr txBox="1"/>
              <p:nvPr/>
            </p:nvSpPr>
            <p:spPr bwMode="auto">
              <a:xfrm>
                <a:off x="1925639" y="2475368"/>
                <a:ext cx="1865312" cy="902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46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5639" y="2475368"/>
                <a:ext cx="1865312" cy="90279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A-102231">
            <a:extLst>
              <a:ext uri="{FF2B5EF4-FFF2-40B4-BE49-F238E27FC236}">
                <a16:creationId xmlns:a16="http://schemas.microsoft.com/office/drawing/2014/main" id="{CE76A5E4-B962-04A2-0F46-CD146636A5A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2896" y="1466555"/>
            <a:ext cx="990600" cy="702083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C911B99E-882B-12B9-CD3F-A856A4109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647" y="158292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定义</a:t>
            </a:r>
          </a:p>
        </p:txBody>
      </p:sp>
      <p:pic>
        <p:nvPicPr>
          <p:cNvPr id="3" name="图片 2" descr="图示, 形状, 多边形&#10;&#10;描述已自动生成">
            <a:extLst>
              <a:ext uri="{FF2B5EF4-FFF2-40B4-BE49-F238E27FC236}">
                <a16:creationId xmlns:a16="http://schemas.microsoft.com/office/drawing/2014/main" id="{8C030F91-BB1C-FC74-09A2-E27616D6BE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407" y="3349257"/>
            <a:ext cx="3080806" cy="171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845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9474" grpId="0"/>
      <p:bldP spid="19475" grpId="0"/>
      <p:bldP spid="19476" grpId="0"/>
      <p:bldP spid="19477" grpId="0"/>
      <p:bldP spid="19481" grpId="0"/>
      <p:bldP spid="19480" grpId="0"/>
      <p:bldP spid="19487" grpId="0"/>
      <p:bldP spid="19463" grpId="0"/>
      <p:bldP spid="5" grpId="0" bldLvl="0" animBg="1"/>
      <p:bldP spid="5" grpId="1" animBg="1"/>
      <p:bldP spid="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1AF5EC5-A960-F8A5-A5D4-E86C13D99B5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>
              <a:extLst>
                <a:ext uri="{FF2B5EF4-FFF2-40B4-BE49-F238E27FC236}">
                  <a16:creationId xmlns:a16="http://schemas.microsoft.com/office/drawing/2014/main" id="{52BB24E8-7547-3C52-C5DD-C5CC48B33EF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E867CAD-4C06-A582-F5C6-B72C80B0744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CA55279F-44B2-5890-F218-69FD18479835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F959FA2F-55EE-E5B7-FE9E-CDC327A955F2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0FC810DE-E8EE-FC11-E644-F37F1624500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485" name="Object 5"/>
              <p:cNvSpPr txBox="1"/>
              <p:nvPr/>
            </p:nvSpPr>
            <p:spPr bwMode="auto">
              <a:xfrm>
                <a:off x="1976869" y="1770437"/>
                <a:ext cx="6576581" cy="12440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𝐶𝑝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48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6869" y="1770437"/>
                <a:ext cx="6576581" cy="1244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829333" y="2944568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直线与平面的夹角公式</a:t>
            </a: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1976869" y="3486211"/>
            <a:ext cx="413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直线与平面的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90" name="Object 10"/>
              <p:cNvSpPr txBox="1"/>
              <p:nvPr/>
            </p:nvSpPr>
            <p:spPr bwMode="auto">
              <a:xfrm>
                <a:off x="1976869" y="4250757"/>
                <a:ext cx="3779857" cy="5482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049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6869" y="4250757"/>
                <a:ext cx="3779857" cy="5482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1" name="Object 11"/>
              <p:cNvSpPr txBox="1"/>
              <p:nvPr/>
            </p:nvSpPr>
            <p:spPr bwMode="auto">
              <a:xfrm>
                <a:off x="3766724" y="4076497"/>
                <a:ext cx="2700751" cy="1000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49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6724" y="4076497"/>
                <a:ext cx="2700751" cy="10003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5" name="Object 15"/>
              <p:cNvSpPr txBox="1"/>
              <p:nvPr/>
            </p:nvSpPr>
            <p:spPr bwMode="auto">
              <a:xfrm>
                <a:off x="3704172" y="5054480"/>
                <a:ext cx="3779857" cy="5988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𝐶𝑝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49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4172" y="5054480"/>
                <a:ext cx="3779857" cy="5988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2"/>
              <p:cNvSpPr txBox="1"/>
              <p:nvPr/>
            </p:nvSpPr>
            <p:spPr bwMode="auto">
              <a:xfrm>
                <a:off x="1857027" y="766681"/>
                <a:ext cx="3208298" cy="8845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48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7027" y="766681"/>
                <a:ext cx="3208298" cy="8845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Object 3"/>
              <p:cNvSpPr txBox="1"/>
              <p:nvPr/>
            </p:nvSpPr>
            <p:spPr bwMode="auto">
              <a:xfrm>
                <a:off x="4958101" y="765896"/>
                <a:ext cx="2764053" cy="8982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</a:rPr>
                                    <m:t>𝜑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4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8101" y="765896"/>
                <a:ext cx="2764053" cy="8982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976869" y="4963733"/>
                <a:ext cx="1817968" cy="58480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m:rPr>
                          <m:nor/>
                        </m:rPr>
                        <a:rPr lang="en-US" altLang="zh-CN" sz="2800" b="0" i="1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69" y="4963733"/>
                <a:ext cx="1817968" cy="5848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5954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8" grpId="0" autoUpdateAnimBg="0"/>
      <p:bldP spid="20489" grpId="0" autoUpdateAnimBg="0"/>
      <p:bldP spid="20490" grpId="0"/>
      <p:bldP spid="20491" grpId="0"/>
      <p:bldP spid="20495" grpId="0"/>
      <p:bldP spid="20482" grpId="0"/>
      <p:bldP spid="20483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901C851-49E8-16D6-0504-577EBA287D86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89D625B-6311-D6A4-C6E8-F666F4A80BF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89D625B-6311-D6A4-C6E8-F666F4A80B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D69B779C-9287-09E3-DB00-9C3B3C38574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D081E27C-6D8D-8041-B231-521089C0D10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25676198-4E14-653E-1A31-BF9F4F1A390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1D9D1EF2-8CB9-351D-8D6F-A716A88BADC8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64" name="Rectangle 216"/>
          <p:cNvSpPr>
            <a:spLocks noChangeArrowheads="1"/>
          </p:cNvSpPr>
          <p:nvPr/>
        </p:nvSpPr>
        <p:spPr bwMode="auto">
          <a:xfrm>
            <a:off x="878291" y="197383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274" name="Rectangle 226"/>
          <p:cNvSpPr>
            <a:spLocks noChangeArrowheads="1"/>
          </p:cNvSpPr>
          <p:nvPr/>
        </p:nvSpPr>
        <p:spPr bwMode="auto">
          <a:xfrm>
            <a:off x="878291" y="1234658"/>
            <a:ext cx="108975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541798" y="1251034"/>
                <a:ext cx="9962244" cy="61722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求过点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(1,−2,4) 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且与平面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−4=0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垂直的直线方程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798" y="1251034"/>
                <a:ext cx="9962244" cy="617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48"/>
          <p:cNvSpPr txBox="1">
            <a:spLocks noChangeArrowheads="1"/>
          </p:cNvSpPr>
          <p:nvPr/>
        </p:nvSpPr>
        <p:spPr bwMode="auto">
          <a:xfrm>
            <a:off x="1550545" y="2046357"/>
            <a:ext cx="40120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因为所求直线垂直于已知平面，</a:t>
            </a:r>
          </a:p>
        </p:txBody>
      </p:sp>
      <p:sp>
        <p:nvSpPr>
          <p:cNvPr id="20" name="Text Box 254"/>
          <p:cNvSpPr txBox="1">
            <a:spLocks noChangeArrowheads="1"/>
          </p:cNvSpPr>
          <p:nvPr/>
        </p:nvSpPr>
        <p:spPr bwMode="auto">
          <a:xfrm>
            <a:off x="5421187" y="2055882"/>
            <a:ext cx="21653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所以可以取已知</a:t>
            </a:r>
          </a:p>
        </p:txBody>
      </p:sp>
      <p:sp>
        <p:nvSpPr>
          <p:cNvPr id="23" name="Text Box 257"/>
          <p:cNvSpPr txBox="1">
            <a:spLocks noChangeArrowheads="1"/>
          </p:cNvSpPr>
          <p:nvPr/>
        </p:nvSpPr>
        <p:spPr bwMode="auto">
          <a:xfrm>
            <a:off x="1550545" y="3348516"/>
            <a:ext cx="33548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故可得所求直线的方程为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1550545" y="4246386"/>
                <a:ext cx="3098800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545" y="4246386"/>
                <a:ext cx="3098800" cy="8509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1550545" y="2698165"/>
                <a:ext cx="6182592" cy="5080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平面的法向量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2,−3,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作为所求直线的方向向量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545" y="2698165"/>
                <a:ext cx="6182592" cy="508000"/>
              </a:xfrm>
              <a:prstGeom prst="rect">
                <a:avLst/>
              </a:prstGeom>
              <a:blipFill>
                <a:blip r:embed="rId13"/>
                <a:stretch>
                  <a:fillRect l="-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06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4" grpId="0"/>
      <p:bldP spid="2274" grpId="0"/>
      <p:bldP spid="2" grpId="0"/>
      <p:bldP spid="17" grpId="0" autoUpdateAnimBg="0"/>
      <p:bldP spid="20" grpId="0"/>
      <p:bldP spid="23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7CA2CA8-319C-0E5D-4B9B-3C424A7EF8D7}"/>
              </a:ext>
            </a:extLst>
          </p:cNvPr>
          <p:cNvGrpSpPr/>
          <p:nvPr/>
        </p:nvGrpSpPr>
        <p:grpSpPr>
          <a:xfrm>
            <a:off x="687324" y="1287282"/>
            <a:ext cx="10817987" cy="4870654"/>
            <a:chOff x="687324" y="1468257"/>
            <a:chExt cx="10817987" cy="48706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3D9B9811-7433-5BBA-22FB-7377E9C881D5}"/>
                    </a:ext>
                  </a:extLst>
                </p:cNvPr>
                <p:cNvSpPr/>
                <p:nvPr/>
              </p:nvSpPr>
              <p:spPr>
                <a:xfrm>
                  <a:off x="687959" y="1468257"/>
                  <a:ext cx="10817352" cy="48679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3D9B9811-7433-5BBA-22FB-7377E9C881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1468257"/>
                  <a:ext cx="10817352" cy="48679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2B59E2D-987C-4885-D160-249208382901}"/>
                </a:ext>
              </a:extLst>
            </p:cNvPr>
            <p:cNvSpPr/>
            <p:nvPr/>
          </p:nvSpPr>
          <p:spPr>
            <a:xfrm>
              <a:off x="687324" y="1468257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ED58185-C353-19E9-274A-8F854A406091}"/>
                </a:ext>
              </a:extLst>
            </p:cNvPr>
            <p:cNvSpPr/>
            <p:nvPr/>
          </p:nvSpPr>
          <p:spPr>
            <a:xfrm flipH="1">
              <a:off x="10823530" y="1468257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FE2E1E2-1763-BE39-16D3-E7F8B705302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9FA2D0E4-F99C-06AD-E7B4-74E9E3B5CAD7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9487" name="Rectangle 31"/>
          <p:cNvSpPr>
            <a:spLocks noGrp="1" noChangeArrowheads="1"/>
          </p:cNvSpPr>
          <p:nvPr>
            <p:ph type="title"/>
          </p:nvPr>
        </p:nvSpPr>
        <p:spPr>
          <a:xfrm>
            <a:off x="1009044" y="548762"/>
            <a:ext cx="7772400" cy="1143000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sz="3200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五、杂例</a:t>
            </a: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009044" y="3039043"/>
            <a:ext cx="56258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2036157" y="3080759"/>
            <a:ext cx="441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设所求直线的方向向量为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"/>
              <p:cNvSpPr txBox="1"/>
              <p:nvPr/>
            </p:nvSpPr>
            <p:spPr bwMode="auto">
              <a:xfrm>
                <a:off x="5145738" y="3078772"/>
                <a:ext cx="2064687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5738" y="3078772"/>
                <a:ext cx="2064687" cy="519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2036157" y="3636285"/>
            <a:ext cx="2209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根据题意知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7"/>
              <p:cNvSpPr txBox="1"/>
              <p:nvPr/>
            </p:nvSpPr>
            <p:spPr bwMode="auto">
              <a:xfrm>
                <a:off x="3495935" y="3628594"/>
                <a:ext cx="1076065" cy="4509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2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5935" y="3628594"/>
                <a:ext cx="1076065" cy="4509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8"/>
              <p:cNvSpPr txBox="1"/>
              <p:nvPr/>
            </p:nvSpPr>
            <p:spPr bwMode="auto">
              <a:xfrm>
                <a:off x="4421198" y="3628047"/>
                <a:ext cx="1172958" cy="430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1198" y="3628047"/>
                <a:ext cx="1172958" cy="430888"/>
              </a:xfrm>
              <a:prstGeom prst="rect">
                <a:avLst/>
              </a:prstGeom>
              <a:blipFill>
                <a:blip r:embed="rId5"/>
                <a:stretch>
                  <a:fillRect b="-28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10"/>
              <p:cNvSpPr txBox="1">
                <a:spLocks noChangeArrowheads="1"/>
              </p:cNvSpPr>
              <p:nvPr/>
            </p:nvSpPr>
            <p:spPr bwMode="auto">
              <a:xfrm>
                <a:off x="2036157" y="4239732"/>
                <a:ext cx="201792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157" y="4239732"/>
                <a:ext cx="2017928" cy="430887"/>
              </a:xfrm>
              <a:prstGeom prst="rect">
                <a:avLst/>
              </a:prstGeom>
              <a:blipFill>
                <a:blip r:embed="rId6"/>
                <a:stretch>
                  <a:fillRect l="-3927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2"/>
              <p:cNvSpPr txBox="1"/>
              <p:nvPr/>
            </p:nvSpPr>
            <p:spPr bwMode="auto">
              <a:xfrm>
                <a:off x="3823404" y="4250166"/>
                <a:ext cx="2133600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−4,−3,−1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3404" y="4250166"/>
                <a:ext cx="2133600" cy="404812"/>
              </a:xfrm>
              <a:prstGeom prst="rect">
                <a:avLst/>
              </a:prstGeom>
              <a:blipFill>
                <a:blip r:embed="rId7"/>
                <a:stretch>
                  <a:fillRect b="-29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13"/>
              <p:cNvSpPr txBox="1"/>
              <p:nvPr/>
            </p:nvSpPr>
            <p:spPr bwMode="auto">
              <a:xfrm>
                <a:off x="4080980" y="4861439"/>
                <a:ext cx="3061089" cy="8740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0980" y="4861439"/>
                <a:ext cx="3061089" cy="8740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2036157" y="5032256"/>
            <a:ext cx="21707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200" dirty="0"/>
              <a:t>所求直线的方程</a:t>
            </a:r>
          </a:p>
        </p:txBody>
      </p:sp>
      <p:sp>
        <p:nvSpPr>
          <p:cNvPr id="2" name="文本框 1"/>
          <p:cNvSpPr txBox="1"/>
          <p:nvPr/>
        </p:nvSpPr>
        <p:spPr bwMode="auto">
          <a:xfrm>
            <a:off x="1009044" y="1811322"/>
            <a:ext cx="8675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endParaRPr kumimoji="1" lang="zh-CN" altLang="en-US" sz="2800" b="1" dirty="0">
              <a:solidFill>
                <a:srgbClr val="0492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036157" y="1803224"/>
                <a:ext cx="9261116" cy="102605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求过点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(−3,2,5)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且与两平面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交线平行的直线方程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157" y="1803224"/>
                <a:ext cx="9261116" cy="1026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6424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7" grpId="0"/>
      <p:bldP spid="28" grpId="0" autoUpdateAnimBg="0"/>
      <p:bldP spid="29" grpId="0" autoUpdateAnimBg="0"/>
      <p:bldP spid="30" grpId="0"/>
      <p:bldP spid="31" grpId="0" autoUpdateAnimBg="0"/>
      <p:bldP spid="32" grpId="0"/>
      <p:bldP spid="33" grpId="0"/>
      <p:bldP spid="35" grpId="0"/>
      <p:bldP spid="37" grpId="0"/>
      <p:bldP spid="38" grpId="0"/>
      <p:bldP spid="39" grpId="0" autoUpdateAnimBg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591985D-91BC-6E84-7645-B8F7D9CDCF7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83E6541-A46C-DD47-2023-B152D7970BB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83E6541-A46C-DD47-2023-B152D7970B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D6C5198-F178-B066-EA75-E66F12035E52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69172B7-F1A7-EDFB-7C85-8EC624A7623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7334F86-F8E8-6BC2-A593-E61A5C090DE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00905E4C-C260-5502-B324-5E08CFBF8F27}"/>
                </a:ext>
              </a:extLst>
            </p:cNvPr>
            <p:cNvSpPr/>
            <p:nvPr/>
          </p:nvSpPr>
          <p:spPr>
            <a:xfrm flipH="1" flipV="1">
              <a:off x="10823530" y="5634762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01" name="Rectangle 253"/>
          <p:cNvSpPr>
            <a:spLocks noChangeArrowheads="1"/>
          </p:cNvSpPr>
          <p:nvPr/>
        </p:nvSpPr>
        <p:spPr bwMode="auto">
          <a:xfrm>
            <a:off x="1463986" y="2547994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318" name="Text Box 270"/>
          <p:cNvSpPr txBox="1">
            <a:spLocks noChangeArrowheads="1"/>
          </p:cNvSpPr>
          <p:nvPr/>
        </p:nvSpPr>
        <p:spPr bwMode="auto">
          <a:xfrm>
            <a:off x="2139310" y="1940905"/>
            <a:ext cx="14519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的交点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19" name="Rectangle 271"/>
          <p:cNvSpPr>
            <a:spLocks noChangeArrowheads="1"/>
          </p:cNvSpPr>
          <p:nvPr/>
        </p:nvSpPr>
        <p:spPr bwMode="auto">
          <a:xfrm>
            <a:off x="1463986" y="1190153"/>
            <a:ext cx="2127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1" name="Object 273"/>
              <p:cNvSpPr txBox="1"/>
              <p:nvPr/>
            </p:nvSpPr>
            <p:spPr bwMode="auto">
              <a:xfrm>
                <a:off x="3270449" y="1049221"/>
                <a:ext cx="3701851" cy="1026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21" name="Object 2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0449" y="1049221"/>
                <a:ext cx="3701851" cy="1026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2" name="Text Box 274"/>
              <p:cNvSpPr txBox="1">
                <a:spLocks noChangeArrowheads="1"/>
              </p:cNvSpPr>
              <p:nvPr/>
            </p:nvSpPr>
            <p:spPr bwMode="auto">
              <a:xfrm>
                <a:off x="6728892" y="1234021"/>
                <a:ext cx="430105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与平面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22" name="Text Box 2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8892" y="1234021"/>
                <a:ext cx="4301058" cy="523220"/>
              </a:xfrm>
              <a:prstGeom prst="rect">
                <a:avLst/>
              </a:prstGeom>
              <a:blipFill>
                <a:blip r:embed="rId4"/>
                <a:stretch>
                  <a:fillRect l="-2979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3" name="Text Box 275"/>
          <p:cNvSpPr txBox="1">
            <a:spLocks noChangeArrowheads="1"/>
          </p:cNvSpPr>
          <p:nvPr/>
        </p:nvSpPr>
        <p:spPr bwMode="auto">
          <a:xfrm>
            <a:off x="2139390" y="2606141"/>
            <a:ext cx="31946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所给直线的参数方程为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4" name="Text Box 276"/>
              <p:cNvSpPr txBox="1">
                <a:spLocks noChangeArrowheads="1"/>
              </p:cNvSpPr>
              <p:nvPr/>
            </p:nvSpPr>
            <p:spPr bwMode="auto">
              <a:xfrm>
                <a:off x="2068747" y="3175012"/>
                <a:ext cx="402725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=2+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=3+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=4+2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24" name="Text Box 2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8747" y="3175012"/>
                <a:ext cx="4027253" cy="430887"/>
              </a:xfrm>
              <a:prstGeom prst="rect">
                <a:avLst/>
              </a:prstGeom>
              <a:blipFill>
                <a:blip r:embed="rId5"/>
                <a:stretch>
                  <a:fillRect b="-112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7" name="Text Box 279"/>
          <p:cNvSpPr txBox="1">
            <a:spLocks noChangeArrowheads="1"/>
          </p:cNvSpPr>
          <p:nvPr/>
        </p:nvSpPr>
        <p:spPr bwMode="auto">
          <a:xfrm>
            <a:off x="2068748" y="3756360"/>
            <a:ext cx="28556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代入平面方程中，得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9" name="Text Box 281"/>
              <p:cNvSpPr txBox="1">
                <a:spLocks noChangeArrowheads="1"/>
              </p:cNvSpPr>
              <p:nvPr/>
            </p:nvSpPr>
            <p:spPr bwMode="auto">
              <a:xfrm>
                <a:off x="2068747" y="4337708"/>
                <a:ext cx="490355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4+2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−6=0.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29" name="Text Box 2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8747" y="4337708"/>
                <a:ext cx="4903553" cy="430887"/>
              </a:xfrm>
              <a:prstGeom prst="rect">
                <a:avLst/>
              </a:prstGeom>
              <a:blipFill>
                <a:blip r:embed="rId6"/>
                <a:stretch>
                  <a:fillRect l="-1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1" name="Text Box 283"/>
              <p:cNvSpPr txBox="1">
                <a:spLocks noChangeArrowheads="1"/>
              </p:cNvSpPr>
              <p:nvPr/>
            </p:nvSpPr>
            <p:spPr bwMode="auto">
              <a:xfrm>
                <a:off x="3866443" y="4933763"/>
                <a:ext cx="321227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于是交点坐标为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1,2,2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31" name="Text Box 2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6443" y="4933763"/>
                <a:ext cx="3212276" cy="430887"/>
              </a:xfrm>
              <a:prstGeom prst="rect">
                <a:avLst/>
              </a:prstGeom>
              <a:blipFill>
                <a:blip r:embed="rId7"/>
                <a:stretch>
                  <a:fillRect l="-2467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068747" y="4918365"/>
                <a:ext cx="1950803" cy="4308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解之得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747" y="4918365"/>
                <a:ext cx="1950803" cy="430888"/>
              </a:xfrm>
              <a:prstGeom prst="rect">
                <a:avLst/>
              </a:prstGeom>
              <a:blipFill>
                <a:blip r:embed="rId8"/>
                <a:stretch>
                  <a:fillRect l="-2188"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0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1" grpId="0"/>
      <p:bldP spid="2318" grpId="0"/>
      <p:bldP spid="2319" grpId="0"/>
      <p:bldP spid="2321" grpId="0"/>
      <p:bldP spid="2322" grpId="0"/>
      <p:bldP spid="2323" grpId="0"/>
      <p:bldP spid="2324" grpId="0"/>
      <p:bldP spid="2327" grpId="0"/>
      <p:bldP spid="2329" grpId="0"/>
      <p:bldP spid="2331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B5D9065-91F2-CBF6-C2F7-9E0BD0CA1C6A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70EEC44-947E-C054-5DC9-E898A41D4AFA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70EEC44-947E-C054-5DC9-E898A41D4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256BB23-A78C-08FD-369D-ED22C668BB2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100F4CA-CDC1-56B7-9BF0-BBCFA712796B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D32FDD4-EF9C-2665-C50A-BF993BA2092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2C240BC0-8E50-A5B8-868F-9BF982859EC5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88255" y="2921508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Text Box 4"/>
              <p:cNvSpPr txBox="1">
                <a:spLocks noChangeArrowheads="1"/>
              </p:cNvSpPr>
              <p:nvPr/>
            </p:nvSpPr>
            <p:spPr bwMode="auto">
              <a:xfrm>
                <a:off x="2578947" y="2944053"/>
                <a:ext cx="526965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先作一过点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且与已知直线垂直的平面</a:t>
                </a:r>
                <a14:m>
                  <m:oMath xmlns:m="http://schemas.openxmlformats.org/officeDocument/2006/math"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𝛱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174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947" y="2944053"/>
                <a:ext cx="5269653" cy="430887"/>
              </a:xfrm>
              <a:prstGeom prst="rect">
                <a:avLst/>
              </a:prstGeom>
              <a:blipFill>
                <a:blip r:embed="rId3"/>
                <a:stretch>
                  <a:fillRect l="-1503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7"/>
              <p:cNvSpPr txBox="1"/>
              <p:nvPr/>
            </p:nvSpPr>
            <p:spPr bwMode="auto">
              <a:xfrm>
                <a:off x="2623020" y="3570739"/>
                <a:ext cx="4415956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−2)+2(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−1)−(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−3)=0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020" y="3570739"/>
                <a:ext cx="4415956" cy="519113"/>
              </a:xfrm>
              <a:prstGeom prst="rect">
                <a:avLst/>
              </a:prstGeom>
              <a:blipFill>
                <a:blip r:embed="rId4"/>
                <a:stretch>
                  <a:fillRect l="-1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6" name="Rectangle 8"/>
              <p:cNvSpPr>
                <a:spLocks noChangeArrowheads="1"/>
              </p:cNvSpPr>
              <p:nvPr/>
            </p:nvSpPr>
            <p:spPr bwMode="auto">
              <a:xfrm>
                <a:off x="2623019" y="4219970"/>
                <a:ext cx="422545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/>
                  <a:t>再求已知直线与该平面的交点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741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019" y="4219970"/>
                <a:ext cx="4225456" cy="430887"/>
              </a:xfrm>
              <a:prstGeom prst="rect">
                <a:avLst/>
              </a:prstGeom>
              <a:blipFill>
                <a:blip r:embed="rId5"/>
                <a:stretch>
                  <a:fillRect l="-1876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19" name="Group 11"/>
          <p:cNvGrpSpPr>
            <a:grpSpLocks/>
          </p:cNvGrpSpPr>
          <p:nvPr/>
        </p:nvGrpSpPr>
        <p:grpSpPr bwMode="auto">
          <a:xfrm>
            <a:off x="2623019" y="5015374"/>
            <a:ext cx="3673475" cy="817563"/>
            <a:chOff x="864" y="2797"/>
            <a:chExt cx="2314" cy="515"/>
          </a:xfrm>
        </p:grpSpPr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864" y="2880"/>
              <a:ext cx="38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/>
                <a:t>令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8" name="Object 10"/>
                <p:cNvSpPr txBox="1"/>
                <p:nvPr/>
              </p:nvSpPr>
              <p:spPr bwMode="auto">
                <a:xfrm>
                  <a:off x="1139" y="2797"/>
                  <a:ext cx="2039" cy="5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zh-CN" altLang="en-US" sz="2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741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9" y="2797"/>
                  <a:ext cx="2039" cy="5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20" name="Object 12"/>
              <p:cNvSpPr txBox="1"/>
              <p:nvPr/>
            </p:nvSpPr>
            <p:spPr bwMode="auto">
              <a:xfrm>
                <a:off x="6011383" y="4820809"/>
                <a:ext cx="2199168" cy="12020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1383" y="4820809"/>
                <a:ext cx="2199168" cy="12020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E60423-52EC-E4CA-4D2E-21870DBDBA65}"/>
                  </a:ext>
                </a:extLst>
              </p:cNvPr>
              <p:cNvSpPr txBox="1"/>
              <p:nvPr/>
            </p:nvSpPr>
            <p:spPr bwMode="auto">
              <a:xfrm>
                <a:off x="1688256" y="964625"/>
                <a:ext cx="516022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例</a:t>
                </a:r>
                <a:r>
                  <a:rPr kumimoji="1" lang="en-US" altLang="zh-CN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6   </a:t>
                </a:r>
                <a:r>
                  <a:rPr lang="zh-CN" altLang="en-US" sz="2800" dirty="0">
                    <a:latin typeface="Times New Roman" panose="02020603050405020304" pitchFamily="18" charset="0"/>
                  </a:rPr>
                  <a:t>求过点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(2,1,3)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</a:rPr>
                  <a:t>且与直线</a:t>
                </a:r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4E60423-52EC-E4CA-4D2E-21870DBDB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8256" y="964625"/>
                <a:ext cx="5160220" cy="523220"/>
              </a:xfrm>
              <a:prstGeom prst="rect">
                <a:avLst/>
              </a:prstGeom>
              <a:blipFill>
                <a:blip r:embed="rId8"/>
                <a:stretch>
                  <a:fillRect l="-2482" t="-15116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37314D-EF84-2837-32AD-12408FAFACC8}"/>
                  </a:ext>
                </a:extLst>
              </p:cNvPr>
              <p:cNvSpPr txBox="1"/>
              <p:nvPr/>
            </p:nvSpPr>
            <p:spPr bwMode="auto">
              <a:xfrm>
                <a:off x="2578947" y="1646802"/>
                <a:ext cx="3317872" cy="9017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Cambria Math" panose="02040503050406030204" pitchFamily="18" charset="0"/>
                          <a:sym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37314D-EF84-2837-32AD-12408FAFA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8947" y="1646802"/>
                <a:ext cx="3317872" cy="901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17085430-018A-40F6-0F2A-E4B3375D6C12}"/>
              </a:ext>
            </a:extLst>
          </p:cNvPr>
          <p:cNvSpPr txBox="1"/>
          <p:nvPr/>
        </p:nvSpPr>
        <p:spPr bwMode="auto">
          <a:xfrm>
            <a:off x="5774328" y="1819331"/>
            <a:ext cx="36363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垂直相交的直线方程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zh-CN" altLang="en-US" sz="2800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227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2" grpId="0"/>
      <p:bldP spid="17415" grpId="0"/>
      <p:bldP spid="17416" grpId="0" autoUpdateAnimBg="0"/>
      <p:bldP spid="17420" grpId="0"/>
      <p:bldP spid="2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2799300-6643-C78D-4115-F4CE3992A9DA}"/>
              </a:ext>
            </a:extLst>
          </p:cNvPr>
          <p:cNvGrpSpPr/>
          <p:nvPr/>
        </p:nvGrpSpPr>
        <p:grpSpPr>
          <a:xfrm>
            <a:off x="687324" y="1377572"/>
            <a:ext cx="10817987" cy="4102855"/>
            <a:chOff x="687324" y="535820"/>
            <a:chExt cx="10817987" cy="41028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3F130D4-0E16-42F9-8BE6-B1BD622A499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41024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3F130D4-0E16-42F9-8BE6-B1BD622A4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41024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CBF21355-AA3A-5637-63EF-1052BD9F980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83DB3140-9B7C-A084-DA40-58F5ED3D209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067673C-9F9F-9600-7351-2EA81441377A}"/>
                </a:ext>
              </a:extLst>
            </p:cNvPr>
            <p:cNvSpPr/>
            <p:nvPr/>
          </p:nvSpPr>
          <p:spPr>
            <a:xfrm flipV="1">
              <a:off x="687324" y="3965158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7FFDBF38-2F57-42B8-93C3-CF1430A33BCE}"/>
                </a:ext>
              </a:extLst>
            </p:cNvPr>
            <p:cNvSpPr/>
            <p:nvPr/>
          </p:nvSpPr>
          <p:spPr>
            <a:xfrm flipH="1" flipV="1">
              <a:off x="10823530" y="3945292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38" name="Text Box 6"/>
              <p:cNvSpPr txBox="1">
                <a:spLocks noChangeArrowheads="1"/>
              </p:cNvSpPr>
              <p:nvPr/>
            </p:nvSpPr>
            <p:spPr bwMode="auto">
              <a:xfrm>
                <a:off x="2215839" y="2683043"/>
                <a:ext cx="6327270" cy="472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取所求直线的方向向量为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</m:ctrlPr>
                      </m:acc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  <m:t>𝑀𝑁</m:t>
                        </m:r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3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5839" y="2683043"/>
                <a:ext cx="6327270" cy="472052"/>
              </a:xfrm>
              <a:prstGeom prst="rect">
                <a:avLst/>
              </a:prstGeom>
              <a:blipFill>
                <a:blip r:embed="rId3"/>
                <a:stretch>
                  <a:fillRect l="-1252" t="-3846" b="-217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2139639" y="4353403"/>
            <a:ext cx="21942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所求直线方程为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48" name="Object 16"/>
              <p:cNvSpPr txBox="1"/>
              <p:nvPr/>
            </p:nvSpPr>
            <p:spPr bwMode="auto">
              <a:xfrm>
                <a:off x="4162290" y="4221468"/>
                <a:ext cx="3038205" cy="7380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2290" y="4221468"/>
                <a:ext cx="3038205" cy="7380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BA0D55-6E86-F013-AFB1-93AD44A35B8D}"/>
                  </a:ext>
                </a:extLst>
              </p:cNvPr>
              <p:cNvSpPr txBox="1"/>
              <p:nvPr/>
            </p:nvSpPr>
            <p:spPr>
              <a:xfrm>
                <a:off x="2212353" y="1753145"/>
                <a:ext cx="2902572" cy="72712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200" dirty="0"/>
                        <m:t>代入平面方程得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BA0D55-6E86-F013-AFB1-93AD44A35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353" y="1753145"/>
                <a:ext cx="2902572" cy="7271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6D5DE9E-4E5B-2440-ED60-A0EE276A0A6A}"/>
                  </a:ext>
                </a:extLst>
              </p:cNvPr>
              <p:cNvSpPr txBox="1"/>
              <p:nvPr/>
            </p:nvSpPr>
            <p:spPr>
              <a:xfrm>
                <a:off x="4960459" y="1753145"/>
                <a:ext cx="5402741" cy="85305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200" dirty="0"/>
                        <m:t>交点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6D5DE9E-4E5B-2440-ED60-A0EE276A0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459" y="1753145"/>
                <a:ext cx="5402741" cy="853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874DCC9-85FB-3F0A-68BB-50EE731BC73F}"/>
                  </a:ext>
                </a:extLst>
              </p:cNvPr>
              <p:cNvSpPr txBox="1"/>
              <p:nvPr/>
            </p:nvSpPr>
            <p:spPr bwMode="auto">
              <a:xfrm>
                <a:off x="2216005" y="3468768"/>
                <a:ext cx="661987" cy="472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  <m:t>𝑀𝑁</m:t>
                          </m:r>
                        </m:e>
                      </m:acc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874DCC9-85FB-3F0A-68BB-50EE731BC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6005" y="3468768"/>
                <a:ext cx="661987" cy="4720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7110C19-F781-60A5-1F30-D2E883655852}"/>
                  </a:ext>
                </a:extLst>
              </p:cNvPr>
              <p:cNvSpPr txBox="1"/>
              <p:nvPr/>
            </p:nvSpPr>
            <p:spPr bwMode="auto">
              <a:xfrm>
                <a:off x="2718149" y="3314302"/>
                <a:ext cx="3333829" cy="738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7110C19-F781-60A5-1F30-D2E883655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8149" y="3314302"/>
                <a:ext cx="3333829" cy="7380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7F5491-C4FE-E18A-A1D0-B371EDDB67F7}"/>
                  </a:ext>
                </a:extLst>
              </p:cNvPr>
              <p:cNvSpPr txBox="1"/>
              <p:nvPr/>
            </p:nvSpPr>
            <p:spPr bwMode="auto">
              <a:xfrm>
                <a:off x="5813774" y="3306889"/>
                <a:ext cx="2424712" cy="738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7F5491-C4FE-E18A-A1D0-B371EDDB6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3774" y="3306889"/>
                <a:ext cx="2424712" cy="7380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32896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18447" grpId="0"/>
      <p:bldP spid="18448" grpId="0"/>
      <p:bldP spid="2" grpId="0"/>
      <p:bldP spid="9" grpId="0"/>
      <p:bldP spid="11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4B4EEAF-7F5F-CBAD-8C2D-CE0425817D4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23FEAE04-4036-25F0-3643-78E9EA337FB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D005049-5B4A-4FEB-DDB9-EEB95A438B1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42D7D3B6-3DDF-1E3E-5038-484085AB5BF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26D6F30D-C42A-767C-7FB8-2649C00F054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0BA506DC-DD52-4944-E363-541CEB80CF8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xfrm>
            <a:off x="1346200" y="974958"/>
            <a:ext cx="4857750" cy="535397"/>
          </a:xfrm>
        </p:spPr>
        <p:txBody>
          <a:bodyPr>
            <a:normAutofit/>
          </a:bodyPr>
          <a:lstStyle/>
          <a:p>
            <a:pPr algn="l"/>
            <a:r>
              <a:rPr lang="zh-CN" altLang="en-US" b="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有时用平面束方程解题较方便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346200" y="1603130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过直线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3" name="Object 5"/>
              <p:cNvSpPr txBox="1"/>
              <p:nvPr/>
            </p:nvSpPr>
            <p:spPr bwMode="auto">
              <a:xfrm>
                <a:off x="2409789" y="2096461"/>
                <a:ext cx="4857750" cy="10758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49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9789" y="2096461"/>
                <a:ext cx="4857750" cy="10758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346200" y="3231890"/>
            <a:ext cx="16935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的平面束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5" name="Object 7"/>
              <p:cNvSpPr txBox="1"/>
              <p:nvPr/>
            </p:nvSpPr>
            <p:spPr bwMode="auto">
              <a:xfrm>
                <a:off x="3206750" y="3720799"/>
                <a:ext cx="4265932" cy="5704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4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6750" y="3720799"/>
                <a:ext cx="4265932" cy="570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99" name="Object 11"/>
              <p:cNvSpPr txBox="1"/>
              <p:nvPr/>
            </p:nvSpPr>
            <p:spPr bwMode="auto">
              <a:xfrm>
                <a:off x="4789917" y="4286589"/>
                <a:ext cx="5365529" cy="643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49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9917" y="4286589"/>
                <a:ext cx="5365529" cy="643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490" name="Freeform 2"/>
          <p:cNvSpPr>
            <a:spLocks/>
          </p:cNvSpPr>
          <p:nvPr/>
        </p:nvSpPr>
        <p:spPr bwMode="auto">
          <a:xfrm>
            <a:off x="8774343" y="2380597"/>
            <a:ext cx="657782" cy="1583517"/>
          </a:xfrm>
          <a:custGeom>
            <a:avLst/>
            <a:gdLst>
              <a:gd name="T0" fmla="*/ 0 w 528"/>
              <a:gd name="T1" fmla="*/ 624 h 1248"/>
              <a:gd name="T2" fmla="*/ 0 w 528"/>
              <a:gd name="T3" fmla="*/ 1248 h 1248"/>
              <a:gd name="T4" fmla="*/ 528 w 528"/>
              <a:gd name="T5" fmla="*/ 624 h 1248"/>
              <a:gd name="T6" fmla="*/ 528 w 528"/>
              <a:gd name="T7" fmla="*/ 0 h 1248"/>
              <a:gd name="T8" fmla="*/ 0 w 528"/>
              <a:gd name="T9" fmla="*/ 624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8" h="1248">
                <a:moveTo>
                  <a:pt x="0" y="624"/>
                </a:moveTo>
                <a:lnTo>
                  <a:pt x="0" y="1248"/>
                </a:lnTo>
                <a:lnTo>
                  <a:pt x="528" y="624"/>
                </a:lnTo>
                <a:lnTo>
                  <a:pt x="528" y="0"/>
                </a:lnTo>
                <a:lnTo>
                  <a:pt x="0" y="624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0" name="Freeform 12"/>
          <p:cNvSpPr>
            <a:spLocks/>
          </p:cNvSpPr>
          <p:nvPr/>
        </p:nvSpPr>
        <p:spPr bwMode="auto">
          <a:xfrm>
            <a:off x="8774343" y="3172354"/>
            <a:ext cx="860176" cy="805814"/>
          </a:xfrm>
          <a:custGeom>
            <a:avLst/>
            <a:gdLst>
              <a:gd name="T0" fmla="*/ 0 w 576"/>
              <a:gd name="T1" fmla="*/ 0 h 528"/>
              <a:gd name="T2" fmla="*/ 144 w 576"/>
              <a:gd name="T3" fmla="*/ 528 h 528"/>
              <a:gd name="T4" fmla="*/ 576 w 576"/>
              <a:gd name="T5" fmla="*/ 0 h 528"/>
              <a:gd name="T6" fmla="*/ 0 w 576"/>
              <a:gd name="T7" fmla="*/ 0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528">
                <a:moveTo>
                  <a:pt x="0" y="0"/>
                </a:moveTo>
                <a:lnTo>
                  <a:pt x="144" y="528"/>
                </a:lnTo>
                <a:lnTo>
                  <a:pt x="57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18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501" name="Group 13"/>
          <p:cNvGrpSpPr>
            <a:grpSpLocks/>
          </p:cNvGrpSpPr>
          <p:nvPr/>
        </p:nvGrpSpPr>
        <p:grpSpPr bwMode="auto">
          <a:xfrm>
            <a:off x="7877366" y="1651303"/>
            <a:ext cx="2631128" cy="2069192"/>
            <a:chOff x="2064" y="2208"/>
            <a:chExt cx="2112" cy="1632"/>
          </a:xfrm>
        </p:grpSpPr>
        <p:sp>
          <p:nvSpPr>
            <p:cNvPr id="63502" name="AutoShape 14"/>
            <p:cNvSpPr>
              <a:spLocks noChangeArrowheads="1"/>
            </p:cNvSpPr>
            <p:nvPr/>
          </p:nvSpPr>
          <p:spPr bwMode="auto">
            <a:xfrm>
              <a:off x="2064" y="2784"/>
              <a:ext cx="2112" cy="624"/>
            </a:xfrm>
            <a:prstGeom prst="parallelogram">
              <a:avLst>
                <a:gd name="adj" fmla="val 8461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03" name="Freeform 15"/>
            <p:cNvSpPr>
              <a:spLocks/>
            </p:cNvSpPr>
            <p:nvPr/>
          </p:nvSpPr>
          <p:spPr bwMode="auto">
            <a:xfrm>
              <a:off x="2784" y="2208"/>
              <a:ext cx="1344" cy="1200"/>
            </a:xfrm>
            <a:custGeom>
              <a:avLst/>
              <a:gdLst>
                <a:gd name="T0" fmla="*/ 0 w 1344"/>
                <a:gd name="T1" fmla="*/ 1200 h 1200"/>
                <a:gd name="T2" fmla="*/ 816 w 1344"/>
                <a:gd name="T3" fmla="*/ 624 h 1200"/>
                <a:gd name="T4" fmla="*/ 1344 w 1344"/>
                <a:gd name="T5" fmla="*/ 0 h 1200"/>
                <a:gd name="T6" fmla="*/ 528 w 1344"/>
                <a:gd name="T7" fmla="*/ 576 h 1200"/>
                <a:gd name="T8" fmla="*/ 0 w 1344"/>
                <a:gd name="T9" fmla="*/ 1200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4" h="1200">
                  <a:moveTo>
                    <a:pt x="0" y="1200"/>
                  </a:moveTo>
                  <a:lnTo>
                    <a:pt x="816" y="624"/>
                  </a:lnTo>
                  <a:lnTo>
                    <a:pt x="1344" y="0"/>
                  </a:lnTo>
                  <a:lnTo>
                    <a:pt x="528" y="576"/>
                  </a:lnTo>
                  <a:lnTo>
                    <a:pt x="0" y="1200"/>
                  </a:lnTo>
                  <a:close/>
                </a:path>
              </a:pathLst>
            </a:custGeom>
            <a:solidFill>
              <a:srgbClr val="B7B7B7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04" name="Freeform 16"/>
            <p:cNvSpPr>
              <a:spLocks/>
            </p:cNvSpPr>
            <p:nvPr/>
          </p:nvSpPr>
          <p:spPr bwMode="auto">
            <a:xfrm>
              <a:off x="2160" y="3408"/>
              <a:ext cx="624" cy="432"/>
            </a:xfrm>
            <a:custGeom>
              <a:avLst/>
              <a:gdLst>
                <a:gd name="T0" fmla="*/ 336 w 624"/>
                <a:gd name="T1" fmla="*/ 0 h 432"/>
                <a:gd name="T2" fmla="*/ 0 w 624"/>
                <a:gd name="T3" fmla="*/ 432 h 432"/>
                <a:gd name="T4" fmla="*/ 624 w 624"/>
                <a:gd name="T5" fmla="*/ 0 h 432"/>
                <a:gd name="T6" fmla="*/ 336 w 624"/>
                <a:gd name="T7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4" h="432">
                  <a:moveTo>
                    <a:pt x="336" y="0"/>
                  </a:moveTo>
                  <a:lnTo>
                    <a:pt x="0" y="432"/>
                  </a:lnTo>
                  <a:lnTo>
                    <a:pt x="624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B7B7B7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3505" name="Freeform 17"/>
          <p:cNvSpPr>
            <a:spLocks/>
          </p:cNvSpPr>
          <p:nvPr/>
        </p:nvSpPr>
        <p:spPr bwMode="auto">
          <a:xfrm>
            <a:off x="8535149" y="1407686"/>
            <a:ext cx="896975" cy="1764669"/>
          </a:xfrm>
          <a:custGeom>
            <a:avLst/>
            <a:gdLst>
              <a:gd name="T0" fmla="*/ 528 w 720"/>
              <a:gd name="T1" fmla="*/ 0 h 1392"/>
              <a:gd name="T2" fmla="*/ 0 w 720"/>
              <a:gd name="T3" fmla="*/ 624 h 1392"/>
              <a:gd name="T4" fmla="*/ 192 w 720"/>
              <a:gd name="T5" fmla="*/ 1392 h 1392"/>
              <a:gd name="T6" fmla="*/ 720 w 720"/>
              <a:gd name="T7" fmla="*/ 768 h 1392"/>
              <a:gd name="T8" fmla="*/ 528 w 720"/>
              <a:gd name="T9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0" h="1392">
                <a:moveTo>
                  <a:pt x="528" y="0"/>
                </a:moveTo>
                <a:lnTo>
                  <a:pt x="0" y="624"/>
                </a:lnTo>
                <a:lnTo>
                  <a:pt x="192" y="1392"/>
                </a:lnTo>
                <a:lnTo>
                  <a:pt x="720" y="768"/>
                </a:lnTo>
                <a:lnTo>
                  <a:pt x="528" y="0"/>
                </a:lnTo>
                <a:close/>
              </a:path>
            </a:pathLst>
          </a:custGeom>
          <a:solidFill>
            <a:srgbClr val="A9D18E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6" name="Freeform 18"/>
          <p:cNvSpPr>
            <a:spLocks/>
          </p:cNvSpPr>
          <p:nvPr/>
        </p:nvSpPr>
        <p:spPr bwMode="auto">
          <a:xfrm>
            <a:off x="8774343" y="1407686"/>
            <a:ext cx="657782" cy="1764669"/>
          </a:xfrm>
          <a:custGeom>
            <a:avLst/>
            <a:gdLst>
              <a:gd name="T0" fmla="*/ 528 w 528"/>
              <a:gd name="T1" fmla="*/ 0 h 1392"/>
              <a:gd name="T2" fmla="*/ 0 w 528"/>
              <a:gd name="T3" fmla="*/ 624 h 1392"/>
              <a:gd name="T4" fmla="*/ 0 w 528"/>
              <a:gd name="T5" fmla="*/ 1392 h 1392"/>
              <a:gd name="T6" fmla="*/ 528 w 528"/>
              <a:gd name="T7" fmla="*/ 768 h 1392"/>
              <a:gd name="T8" fmla="*/ 528 w 528"/>
              <a:gd name="T9" fmla="*/ 0 h 1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8" h="1392">
                <a:moveTo>
                  <a:pt x="528" y="0"/>
                </a:moveTo>
                <a:lnTo>
                  <a:pt x="0" y="624"/>
                </a:lnTo>
                <a:lnTo>
                  <a:pt x="0" y="1392"/>
                </a:lnTo>
                <a:lnTo>
                  <a:pt x="528" y="768"/>
                </a:lnTo>
                <a:lnTo>
                  <a:pt x="528" y="0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7" name="Line 19"/>
          <p:cNvSpPr>
            <a:spLocks noChangeShapeType="1"/>
          </p:cNvSpPr>
          <p:nvPr/>
        </p:nvSpPr>
        <p:spPr bwMode="auto">
          <a:xfrm flipH="1">
            <a:off x="8774343" y="2380596"/>
            <a:ext cx="657782" cy="791758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2768600" y="3214663"/>
            <a:ext cx="106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16" name="Object 28"/>
              <p:cNvSpPr txBox="1"/>
              <p:nvPr/>
            </p:nvSpPr>
            <p:spPr bwMode="auto">
              <a:xfrm>
                <a:off x="1346200" y="4876613"/>
                <a:ext cx="2616200" cy="6431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不全为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1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6200" y="4876613"/>
                <a:ext cx="2616200" cy="643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24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492" grpId="0" autoUpdateAnimBg="0"/>
      <p:bldP spid="63493" grpId="0"/>
      <p:bldP spid="63494" grpId="0" autoUpdateAnimBg="0"/>
      <p:bldP spid="63495" grpId="0"/>
      <p:bldP spid="63499" grpId="0"/>
      <p:bldP spid="63490" grpId="0" animBg="1"/>
      <p:bldP spid="63500" grpId="0" animBg="1"/>
      <p:bldP spid="63505" grpId="0" animBg="1"/>
      <p:bldP spid="63506" grpId="0" animBg="1"/>
      <p:bldP spid="63507" grpId="0" animBg="1"/>
      <p:bldP spid="63509" grpId="0" autoUpdateAnimBg="0"/>
      <p:bldP spid="635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B3E89C-D82F-1EB1-E104-0CC76DE75110}"/>
              </a:ext>
            </a:extLst>
          </p:cNvPr>
          <p:cNvGrpSpPr/>
          <p:nvPr/>
        </p:nvGrpSpPr>
        <p:grpSpPr>
          <a:xfrm>
            <a:off x="702792" y="527454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00FE7A2-E130-2FD3-F548-A72D8A5C50DB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00FE7A2-E130-2FD3-F548-A72D8A5C50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DC0C97BF-45CB-56E5-0B72-D64C251B039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6DC38F9-3D61-2D19-6E32-2B06031A74CD}"/>
                </a:ext>
              </a:extLst>
            </p:cNvPr>
            <p:cNvSpPr/>
            <p:nvPr/>
          </p:nvSpPr>
          <p:spPr>
            <a:xfrm flipH="1">
              <a:off x="10824165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9489483-B575-748F-1887-0C538ED7141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13BABD57-AFE3-6CB5-790E-BA909B55A208}"/>
                </a:ext>
              </a:extLst>
            </p:cNvPr>
            <p:cNvSpPr/>
            <p:nvPr/>
          </p:nvSpPr>
          <p:spPr>
            <a:xfrm flipH="1" flipV="1">
              <a:off x="10824165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01" name="Rectangle 253"/>
          <p:cNvSpPr>
            <a:spLocks noChangeArrowheads="1"/>
          </p:cNvSpPr>
          <p:nvPr/>
        </p:nvSpPr>
        <p:spPr bwMode="auto">
          <a:xfrm>
            <a:off x="1351944" y="3584048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解</a:t>
            </a:r>
          </a:p>
        </p:txBody>
      </p:sp>
      <p:sp>
        <p:nvSpPr>
          <p:cNvPr id="2356" name="Text Box 308"/>
          <p:cNvSpPr txBox="1">
            <a:spLocks noChangeArrowheads="1"/>
          </p:cNvSpPr>
          <p:nvPr/>
        </p:nvSpPr>
        <p:spPr bwMode="auto">
          <a:xfrm>
            <a:off x="2089435" y="2420344"/>
            <a:ext cx="29492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投影直线的方程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357" name="Rectangle 309"/>
          <p:cNvSpPr>
            <a:spLocks noChangeArrowheads="1"/>
          </p:cNvSpPr>
          <p:nvPr/>
        </p:nvSpPr>
        <p:spPr bwMode="auto">
          <a:xfrm>
            <a:off x="1351944" y="1417009"/>
            <a:ext cx="21272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kumimoji="1" lang="en-US" altLang="zh-CN" sz="2800" b="1" dirty="0">
                <a:solidFill>
                  <a:srgbClr val="04926A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8" name="Object 310"/>
              <p:cNvSpPr txBox="1"/>
              <p:nvPr/>
            </p:nvSpPr>
            <p:spPr bwMode="auto">
              <a:xfrm>
                <a:off x="3258987" y="1201675"/>
                <a:ext cx="3326248" cy="1110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−1=0 ,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+1=0  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58" name="Object 3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987" y="1201675"/>
                <a:ext cx="3326248" cy="11103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9" name="Text Box 311"/>
              <p:cNvSpPr txBox="1">
                <a:spLocks noChangeArrowheads="1"/>
              </p:cNvSpPr>
              <p:nvPr/>
            </p:nvSpPr>
            <p:spPr bwMode="auto">
              <a:xfrm>
                <a:off x="6424915" y="1431295"/>
                <a:ext cx="407032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在平面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</a:t>
                </a:r>
              </a:p>
            </p:txBody>
          </p:sp>
        </mc:Choice>
        <mc:Fallback xmlns="">
          <p:sp>
            <p:nvSpPr>
              <p:cNvPr id="2359" name="Text Box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4915" y="1431295"/>
                <a:ext cx="4070320" cy="523220"/>
              </a:xfrm>
              <a:prstGeom prst="rect">
                <a:avLst/>
              </a:prstGeom>
              <a:blipFill>
                <a:blip r:embed="rId4"/>
                <a:stretch>
                  <a:fillRect l="-3144" t="-16279" r="-2395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5" name="Rectangle 327"/>
          <p:cNvSpPr>
            <a:spLocks noChangeArrowheads="1"/>
          </p:cNvSpPr>
          <p:nvPr/>
        </p:nvSpPr>
        <p:spPr bwMode="auto">
          <a:xfrm>
            <a:off x="2089435" y="3551113"/>
            <a:ext cx="1358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6" name="Object 328"/>
              <p:cNvSpPr txBox="1"/>
              <p:nvPr/>
            </p:nvSpPr>
            <p:spPr bwMode="auto">
              <a:xfrm>
                <a:off x="2969424" y="3479213"/>
                <a:ext cx="2735821" cy="8641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−1=0,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+1=0  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76" name="Object 3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9424" y="3479213"/>
                <a:ext cx="2735821" cy="864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7" name="Text Box 329"/>
          <p:cNvSpPr txBox="1">
            <a:spLocks noChangeArrowheads="1"/>
          </p:cNvSpPr>
          <p:nvPr/>
        </p:nvSpPr>
        <p:spPr bwMode="auto">
          <a:xfrm>
            <a:off x="5431395" y="3650210"/>
            <a:ext cx="253984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的平面束的方程为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9" name="Text Box 331"/>
              <p:cNvSpPr txBox="1">
                <a:spLocks noChangeArrowheads="1"/>
              </p:cNvSpPr>
              <p:nvPr/>
            </p:nvSpPr>
            <p:spPr bwMode="auto">
              <a:xfrm>
                <a:off x="2969425" y="4514709"/>
                <a:ext cx="506967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379" name="Text Box 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9425" y="4514709"/>
                <a:ext cx="5069675" cy="430887"/>
              </a:xfrm>
              <a:prstGeom prst="rect">
                <a:avLst/>
              </a:prstGeom>
              <a:blipFill>
                <a:blip r:embed="rId6"/>
                <a:stretch>
                  <a:fillRect b="-1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69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1" grpId="0"/>
      <p:bldP spid="2356" grpId="0"/>
      <p:bldP spid="2357" grpId="0"/>
      <p:bldP spid="2358" grpId="0"/>
      <p:bldP spid="2359" grpId="0"/>
      <p:bldP spid="2375" grpId="0"/>
      <p:bldP spid="2376" grpId="0"/>
      <p:bldP spid="2377" grpId="0"/>
      <p:bldP spid="237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0962AEC-E722-AA7D-80F7-2C2606B2BF57}"/>
              </a:ext>
            </a:extLst>
          </p:cNvPr>
          <p:cNvGrpSpPr/>
          <p:nvPr/>
        </p:nvGrpSpPr>
        <p:grpSpPr>
          <a:xfrm>
            <a:off x="702792" y="527454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CE6FE77-2166-F346-00D3-FE5C7C0507A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1CE6FE77-2166-F346-00D3-FE5C7C0507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1932EB22-041F-E89B-E9C9-5EED9F0BD78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B7F7772-CD07-0F12-304F-351D311BE450}"/>
                </a:ext>
              </a:extLst>
            </p:cNvPr>
            <p:cNvSpPr/>
            <p:nvPr/>
          </p:nvSpPr>
          <p:spPr>
            <a:xfrm flipH="1">
              <a:off x="10824165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ADE47860-0AA5-AF76-8DFD-10528C6F026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E9F1AEB-9B58-A9A5-ED75-0D541EDA7DEB}"/>
                </a:ext>
              </a:extLst>
            </p:cNvPr>
            <p:cNvSpPr/>
            <p:nvPr/>
          </p:nvSpPr>
          <p:spPr>
            <a:xfrm flipH="1" flipV="1">
              <a:off x="10824165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2148798" y="1169741"/>
            <a:ext cx="79216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2" name="Text Box 24"/>
              <p:cNvSpPr txBox="1">
                <a:spLocks noChangeArrowheads="1"/>
              </p:cNvSpPr>
              <p:nvPr/>
            </p:nvSpPr>
            <p:spPr bwMode="auto">
              <a:xfrm>
                <a:off x="2507215" y="1522001"/>
                <a:ext cx="623673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0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1−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−1+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zh-CN" altLang="en-US" sz="220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−1+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92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7215" y="1522001"/>
                <a:ext cx="6236735" cy="430887"/>
              </a:xfrm>
              <a:prstGeom prst="rect">
                <a:avLst/>
              </a:prstGeom>
              <a:blipFill>
                <a:blip r:embed="rId3"/>
                <a:stretch>
                  <a:fillRect b="-1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93" name="Text Box 25"/>
              <p:cNvSpPr txBox="1">
                <a:spLocks noChangeArrowheads="1"/>
              </p:cNvSpPr>
              <p:nvPr/>
            </p:nvSpPr>
            <p:spPr bwMode="auto">
              <a:xfrm>
                <a:off x="2148798" y="2120900"/>
                <a:ext cx="248268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为待定常数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19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8798" y="2120900"/>
                <a:ext cx="2482685" cy="430887"/>
              </a:xfrm>
              <a:prstGeom prst="rect">
                <a:avLst/>
              </a:prstGeom>
              <a:blipFill>
                <a:blip r:embed="rId4"/>
                <a:stretch>
                  <a:fillRect l="-3186" t="-14085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94" name="Text Box 26"/>
              <p:cNvSpPr txBox="1">
                <a:spLocks noChangeArrowheads="1"/>
              </p:cNvSpPr>
              <p:nvPr/>
            </p:nvSpPr>
            <p:spPr bwMode="auto">
              <a:xfrm>
                <a:off x="4461890" y="2104895"/>
                <a:ext cx="471068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这平面与已知平面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垂直</a:t>
                </a:r>
              </a:p>
            </p:txBody>
          </p:sp>
        </mc:Choice>
        <mc:Fallback xmlns="">
          <p:sp>
            <p:nvSpPr>
              <p:cNvPr id="71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1890" y="2104895"/>
                <a:ext cx="4710686" cy="430887"/>
              </a:xfrm>
              <a:prstGeom prst="rect">
                <a:avLst/>
              </a:prstGeom>
              <a:blipFill>
                <a:blip r:embed="rId5"/>
                <a:stretch>
                  <a:fillRect l="-1682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2148798" y="2746375"/>
            <a:ext cx="19446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的条件是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6" name="Text Box 28"/>
              <p:cNvSpPr txBox="1">
                <a:spLocks noChangeArrowheads="1"/>
              </p:cNvSpPr>
              <p:nvPr/>
            </p:nvSpPr>
            <p:spPr bwMode="auto">
              <a:xfrm>
                <a:off x="3360667" y="2725441"/>
                <a:ext cx="545948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∙1+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𝜆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9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0667" y="2725441"/>
                <a:ext cx="545948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2148798" y="3416300"/>
            <a:ext cx="1524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解之得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8" name="Rectangle 30"/>
              <p:cNvSpPr>
                <a:spLocks noChangeArrowheads="1"/>
              </p:cNvSpPr>
              <p:nvPr/>
            </p:nvSpPr>
            <p:spPr bwMode="auto">
              <a:xfrm>
                <a:off x="3090304" y="3416300"/>
                <a:ext cx="120547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=−1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  <a:sym typeface="Symbol" panose="05050102010706020507" pitchFamily="18" charset="2"/>
                  </a:rPr>
                  <a:t>.</a:t>
                </a:r>
              </a:p>
            </p:txBody>
          </p:sp>
        </mc:Choice>
        <mc:Fallback xmlns="">
          <p:sp>
            <p:nvSpPr>
              <p:cNvPr id="7198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0304" y="3416300"/>
                <a:ext cx="1205472" cy="430887"/>
              </a:xfrm>
              <a:prstGeom prst="rect">
                <a:avLst/>
              </a:prstGeom>
              <a:blipFill>
                <a:blip r:embed="rId7"/>
                <a:stretch>
                  <a:fillRect l="-1010" t="-8451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2148798" y="4103688"/>
            <a:ext cx="30042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由此可得，投影平面为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00" name="Rectangle 32"/>
              <p:cNvSpPr>
                <a:spLocks noChangeArrowheads="1"/>
              </p:cNvSpPr>
              <p:nvPr/>
            </p:nvSpPr>
            <p:spPr bwMode="auto">
              <a:xfrm>
                <a:off x="5010266" y="4070891"/>
                <a:ext cx="200966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−1=0.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200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0266" y="4070891"/>
                <a:ext cx="2009661" cy="430887"/>
              </a:xfrm>
              <a:prstGeom prst="rect">
                <a:avLst/>
              </a:prstGeom>
              <a:blipFill>
                <a:blip r:embed="rId8"/>
                <a:stretch>
                  <a:fillRect l="-606" b="-12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2148798" y="4908550"/>
            <a:ext cx="40322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所以投影直线的方程为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02" name="Object 34"/>
              <p:cNvSpPr txBox="1">
                <a:spLocks noGrp="1"/>
              </p:cNvSpPr>
              <p:nvPr>
                <p:ph/>
              </p:nvPr>
            </p:nvSpPr>
            <p:spPr bwMode="auto">
              <a:xfrm>
                <a:off x="4976559" y="4750195"/>
                <a:ext cx="2485178" cy="876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−1=0,  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zh-CN" sz="22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zh-CN" altLang="en-US" sz="2200">
                                    <a:latin typeface="Cambria Math" panose="02040503050406030204" pitchFamily="18" charset="0"/>
                                  </a:rPr>
                                  <m:t>   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02" name="Object 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 bwMode="auto">
              <a:xfrm>
                <a:off x="4976559" y="4750195"/>
                <a:ext cx="2485178" cy="8762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9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1" grpId="0"/>
      <p:bldP spid="7192" grpId="0"/>
      <p:bldP spid="7193" grpId="0"/>
      <p:bldP spid="7194" grpId="0"/>
      <p:bldP spid="7195" grpId="0"/>
      <p:bldP spid="7196" grpId="0"/>
      <p:bldP spid="7197" grpId="0"/>
      <p:bldP spid="7198" grpId="0"/>
      <p:bldP spid="7199" grpId="0"/>
      <p:bldP spid="7200" grpId="0"/>
      <p:bldP spid="7201" grpId="0"/>
      <p:bldP spid="720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8725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mbria Math"/>
        <a:font script="Hebr" typeface="Cambria Math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mbria Math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2919</TotalTime>
  <Words>1375</Words>
  <Application>Microsoft Office PowerPoint</Application>
  <PresentationFormat>宽屏</PresentationFormat>
  <Paragraphs>234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Cambria Math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一、空间直线的一般方程</vt:lpstr>
      <vt:lpstr>PowerPoint 演示文稿</vt:lpstr>
      <vt:lpstr>二、空间直线的对称式方程与参数方程</vt:lpstr>
      <vt:lpstr>PowerPoint 演示文稿</vt:lpstr>
      <vt:lpstr>PowerPoint 演示文稿</vt:lpstr>
      <vt:lpstr>PowerPoint 演示文稿</vt:lpstr>
      <vt:lpstr>三、两直线的夹角</vt:lpstr>
      <vt:lpstr>PowerPoint 演示文稿</vt:lpstr>
      <vt:lpstr>PowerPoint 演示文稿</vt:lpstr>
      <vt:lpstr>四、直线与平面的夹角</vt:lpstr>
      <vt:lpstr>PowerPoint 演示文稿</vt:lpstr>
      <vt:lpstr>PowerPoint 演示文稿</vt:lpstr>
      <vt:lpstr>五、杂例</vt:lpstr>
      <vt:lpstr>PowerPoint 演示文稿</vt:lpstr>
      <vt:lpstr>PowerPoint 演示文稿</vt:lpstr>
      <vt:lpstr>PowerPoint 演示文稿</vt:lpstr>
      <vt:lpstr>有时用平面束方程解题较方便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yang fan</cp:lastModifiedBy>
  <cp:revision>195</cp:revision>
  <dcterms:created xsi:type="dcterms:W3CDTF">2021-12-25T10:05:44Z</dcterms:created>
  <dcterms:modified xsi:type="dcterms:W3CDTF">2023-07-05T08:58:38Z</dcterms:modified>
</cp:coreProperties>
</file>