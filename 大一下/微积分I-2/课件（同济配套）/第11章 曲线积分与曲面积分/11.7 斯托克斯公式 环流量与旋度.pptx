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handoutMasterIdLst>
    <p:handoutMasterId r:id="rId37"/>
  </p:handoutMasterIdLst>
  <p:sldIdLst>
    <p:sldId id="257" r:id="rId2"/>
    <p:sldId id="678" r:id="rId3"/>
    <p:sldId id="664" r:id="rId4"/>
    <p:sldId id="845" r:id="rId5"/>
    <p:sldId id="848" r:id="rId6"/>
    <p:sldId id="849" r:id="rId7"/>
    <p:sldId id="850" r:id="rId8"/>
    <p:sldId id="851" r:id="rId9"/>
    <p:sldId id="852" r:id="rId10"/>
    <p:sldId id="853" r:id="rId11"/>
    <p:sldId id="854" r:id="rId12"/>
    <p:sldId id="855" r:id="rId13"/>
    <p:sldId id="856" r:id="rId14"/>
    <p:sldId id="857" r:id="rId15"/>
    <p:sldId id="858" r:id="rId16"/>
    <p:sldId id="859" r:id="rId17"/>
    <p:sldId id="860" r:id="rId18"/>
    <p:sldId id="861" r:id="rId19"/>
    <p:sldId id="862" r:id="rId20"/>
    <p:sldId id="863" r:id="rId21"/>
    <p:sldId id="864" r:id="rId22"/>
    <p:sldId id="865" r:id="rId23"/>
    <p:sldId id="866" r:id="rId24"/>
    <p:sldId id="867" r:id="rId25"/>
    <p:sldId id="868" r:id="rId26"/>
    <p:sldId id="869" r:id="rId27"/>
    <p:sldId id="870" r:id="rId28"/>
    <p:sldId id="871" r:id="rId29"/>
    <p:sldId id="872" r:id="rId30"/>
    <p:sldId id="873" r:id="rId31"/>
    <p:sldId id="874" r:id="rId32"/>
    <p:sldId id="875" r:id="rId33"/>
    <p:sldId id="876" r:id="rId34"/>
    <p:sldId id="364" r:id="rId35"/>
  </p:sldIdLst>
  <p:sldSz cx="12192000" cy="6858000"/>
  <p:notesSz cx="9945688" cy="6858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3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9D79"/>
    <a:srgbClr val="21FE2B"/>
    <a:srgbClr val="335AE6"/>
    <a:srgbClr val="04926A"/>
    <a:srgbClr val="4A7BA8"/>
    <a:srgbClr val="C5E0B4"/>
    <a:srgbClr val="3333CC"/>
    <a:srgbClr val="A9D18E"/>
    <a:srgbClr val="00926A"/>
    <a:srgbClr val="019B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82" autoAdjust="0"/>
    <p:restoredTop sz="97078" autoAdjust="0"/>
  </p:normalViewPr>
  <p:slideViewPr>
    <p:cSldViewPr snapToGrid="0" showGuides="1">
      <p:cViewPr varScale="1">
        <p:scale>
          <a:sx n="77" d="100"/>
          <a:sy n="77" d="100"/>
        </p:scale>
        <p:origin x="228" y="68"/>
      </p:cViewPr>
      <p:guideLst>
        <p:guide pos="3840"/>
        <p:guide orient="horz" pos="2132"/>
      </p:guideLst>
    </p:cSldViewPr>
  </p:slideViewPr>
  <p:notesTextViewPr>
    <p:cViewPr>
      <p:scale>
        <a:sx n="1" d="1"/>
        <a:sy n="1" d="1"/>
      </p:scale>
      <p:origin x="0" y="0"/>
    </p:cViewPr>
  </p:notesTextViewPr>
  <p:notesViewPr>
    <p:cSldViewPr snapToGrid="0">
      <p:cViewPr varScale="1">
        <p:scale>
          <a:sx n="86" d="100"/>
          <a:sy n="86" d="100"/>
        </p:scale>
        <p:origin x="3864" y="108"/>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CE6CCEB-7414-EB8C-F454-2C7CEB114A83}"/>
              </a:ext>
            </a:extLst>
          </p:cNvPr>
          <p:cNvSpPr>
            <a:spLocks noGrp="1"/>
          </p:cNvSpPr>
          <p:nvPr>
            <p:ph type="hdr" sz="quarter"/>
          </p:nvPr>
        </p:nvSpPr>
        <p:spPr>
          <a:xfrm>
            <a:off x="0" y="1"/>
            <a:ext cx="4309798"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C90F7528-E102-E7DC-F15D-E7FC467D4B4A}"/>
              </a:ext>
            </a:extLst>
          </p:cNvPr>
          <p:cNvSpPr>
            <a:spLocks noGrp="1"/>
          </p:cNvSpPr>
          <p:nvPr>
            <p:ph type="dt" sz="quarter" idx="1"/>
          </p:nvPr>
        </p:nvSpPr>
        <p:spPr>
          <a:xfrm>
            <a:off x="5633588" y="1"/>
            <a:ext cx="4309798" cy="344091"/>
          </a:xfrm>
          <a:prstGeom prst="rect">
            <a:avLst/>
          </a:prstGeom>
        </p:spPr>
        <p:txBody>
          <a:bodyPr vert="horz" lIns="91440" tIns="45720" rIns="91440" bIns="45720" rtlCol="0"/>
          <a:lstStyle>
            <a:lvl1pPr algn="r">
              <a:defRPr sz="1200"/>
            </a:lvl1pPr>
          </a:lstStyle>
          <a:p>
            <a:fld id="{55C9316E-0229-4088-B440-750FAFB3F269}" type="datetimeFigureOut">
              <a:rPr lang="zh-CN" altLang="en-US" smtClean="0"/>
              <a:t>2023/7/6</a:t>
            </a:fld>
            <a:endParaRPr lang="zh-CN" altLang="en-US"/>
          </a:p>
        </p:txBody>
      </p:sp>
      <p:sp>
        <p:nvSpPr>
          <p:cNvPr id="4" name="页脚占位符 3">
            <a:extLst>
              <a:ext uri="{FF2B5EF4-FFF2-40B4-BE49-F238E27FC236}">
                <a16:creationId xmlns:a16="http://schemas.microsoft.com/office/drawing/2014/main" id="{ADB119C6-5E85-6389-7249-A0C2FEA85854}"/>
              </a:ext>
            </a:extLst>
          </p:cNvPr>
          <p:cNvSpPr>
            <a:spLocks noGrp="1"/>
          </p:cNvSpPr>
          <p:nvPr>
            <p:ph type="ftr" sz="quarter" idx="2"/>
          </p:nvPr>
        </p:nvSpPr>
        <p:spPr>
          <a:xfrm>
            <a:off x="0" y="6513910"/>
            <a:ext cx="4309798"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60EFF23B-C713-943C-CB1B-A7442D5B18F2}"/>
              </a:ext>
            </a:extLst>
          </p:cNvPr>
          <p:cNvSpPr>
            <a:spLocks noGrp="1"/>
          </p:cNvSpPr>
          <p:nvPr>
            <p:ph type="sldNum" sz="quarter" idx="3"/>
          </p:nvPr>
        </p:nvSpPr>
        <p:spPr>
          <a:xfrm>
            <a:off x="5633588" y="6513910"/>
            <a:ext cx="4309798" cy="344090"/>
          </a:xfrm>
          <a:prstGeom prst="rect">
            <a:avLst/>
          </a:prstGeom>
        </p:spPr>
        <p:txBody>
          <a:bodyPr vert="horz" lIns="91440" tIns="45720" rIns="91440" bIns="45720" rtlCol="0" anchor="b"/>
          <a:lstStyle>
            <a:lvl1pPr algn="r">
              <a:defRPr sz="1200"/>
            </a:lvl1pPr>
          </a:lstStyle>
          <a:p>
            <a:fld id="{EAABD6EC-37CC-4D41-AD30-E03811552CB4}" type="slidenum">
              <a:rPr lang="zh-CN" altLang="en-US" smtClean="0"/>
              <a:t>‹#›</a:t>
            </a:fld>
            <a:endParaRPr lang="zh-CN" altLang="en-US"/>
          </a:p>
        </p:txBody>
      </p:sp>
    </p:spTree>
    <p:extLst>
      <p:ext uri="{BB962C8B-B14F-4D97-AF65-F5344CB8AC3E}">
        <p14:creationId xmlns:p14="http://schemas.microsoft.com/office/powerpoint/2010/main" val="23526416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9798"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33588" y="1"/>
            <a:ext cx="4309798"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2023/7/6</a:t>
            </a:fld>
            <a:endParaRPr lang="zh-CN" altLang="en-US"/>
          </a:p>
        </p:txBody>
      </p:sp>
      <p:sp>
        <p:nvSpPr>
          <p:cNvPr id="4" name="幻灯片图像占位符 3"/>
          <p:cNvSpPr>
            <a:spLocks noGrp="1" noRot="1" noChangeAspect="1"/>
          </p:cNvSpPr>
          <p:nvPr>
            <p:ph type="sldImg" idx="2"/>
          </p:nvPr>
        </p:nvSpPr>
        <p:spPr>
          <a:xfrm>
            <a:off x="2914650" y="857250"/>
            <a:ext cx="4116388"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4569" y="3300412"/>
            <a:ext cx="7956550" cy="270033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4309798"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33588" y="6513910"/>
            <a:ext cx="4309798"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042A16C-75CB-C3C5-6003-759095D16F03}"/>
              </a:ext>
            </a:extLst>
          </p:cNvPr>
          <p:cNvGrpSpPr/>
          <p:nvPr userDrawn="1"/>
        </p:nvGrpSpPr>
        <p:grpSpPr>
          <a:xfrm>
            <a:off x="0" y="112357"/>
            <a:ext cx="12192000" cy="6629438"/>
            <a:chOff x="0" y="112357"/>
            <a:chExt cx="12192000" cy="6629438"/>
          </a:xfrm>
        </p:grpSpPr>
        <p:sp>
          <p:nvSpPr>
            <p:cNvPr id="4" name="Rectangle 1">
              <a:extLst>
                <a:ext uri="{FF2B5EF4-FFF2-40B4-BE49-F238E27FC236}">
                  <a16:creationId xmlns:a16="http://schemas.microsoft.com/office/drawing/2014/main" id="{0840C3DD-CA3C-D577-6406-E76C2177F75F}"/>
                </a:ext>
              </a:extLst>
            </p:cNvPr>
            <p:cNvSpPr/>
            <p:nvPr userDrawn="1"/>
          </p:nvSpPr>
          <p:spPr>
            <a:xfrm>
              <a:off x="297498" y="65477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Rectangle 1">
              <a:extLst>
                <a:ext uri="{FF2B5EF4-FFF2-40B4-BE49-F238E27FC236}">
                  <a16:creationId xmlns:a16="http://schemas.microsoft.com/office/drawing/2014/main" id="{DE8479DF-772D-FB1B-1E1B-65CE471B503C}"/>
                </a:ext>
              </a:extLst>
            </p:cNvPr>
            <p:cNvSpPr/>
            <p:nvPr userDrawn="1"/>
          </p:nvSpPr>
          <p:spPr>
            <a:xfrm rot="2659048">
              <a:off x="9060538" y="196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矩形 6">
              <a:extLst>
                <a:ext uri="{FF2B5EF4-FFF2-40B4-BE49-F238E27FC236}">
                  <a16:creationId xmlns:a16="http://schemas.microsoft.com/office/drawing/2014/main" id="{0B2C596E-B9E5-A53F-D12B-4103165A18DE}"/>
                </a:ext>
              </a:extLst>
            </p:cNvPr>
            <p:cNvSpPr/>
            <p:nvPr/>
          </p:nvSpPr>
          <p:spPr>
            <a:xfrm>
              <a:off x="476885" y="6435090"/>
              <a:ext cx="3784600" cy="306705"/>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斯托克斯公式井环流量与旋度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8" name="矩形 7">
              <a:extLst>
                <a:ext uri="{FF2B5EF4-FFF2-40B4-BE49-F238E27FC236}">
                  <a16:creationId xmlns:a16="http://schemas.microsoft.com/office/drawing/2014/main" id="{C89A045E-06B6-CB35-40CF-B024697C46E3}"/>
                </a:ext>
              </a:extLst>
            </p:cNvPr>
            <p:cNvSpPr/>
            <p:nvPr/>
          </p:nvSpPr>
          <p:spPr>
            <a:xfrm>
              <a:off x="9315710" y="112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曲线积分于曲面积分</a:t>
              </a:r>
            </a:p>
          </p:txBody>
        </p:sp>
        <p:cxnSp>
          <p:nvCxnSpPr>
            <p:cNvPr id="10" name="直接连接符 9">
              <a:extLst>
                <a:ext uri="{FF2B5EF4-FFF2-40B4-BE49-F238E27FC236}">
                  <a16:creationId xmlns:a16="http://schemas.microsoft.com/office/drawing/2014/main" id="{4ECA3C12-988E-EF53-F3C6-90C7F4EF91AA}"/>
                </a:ext>
              </a:extLst>
            </p:cNvPr>
            <p:cNvCxnSpPr>
              <a:cxnSpLocks/>
            </p:cNvCxnSpPr>
            <p:nvPr userDrawn="1"/>
          </p:nvCxnSpPr>
          <p:spPr>
            <a:xfrm>
              <a:off x="0" y="266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33C7A2A1-23BC-63C7-CFE5-FB69F3C87C71}"/>
                </a:ext>
              </a:extLst>
            </p:cNvPr>
            <p:cNvCxnSpPr>
              <a:cxnSpLocks/>
            </p:cNvCxnSpPr>
            <p:nvPr userDrawn="1"/>
          </p:nvCxnSpPr>
          <p:spPr>
            <a:xfrm>
              <a:off x="3665220" y="6588442"/>
              <a:ext cx="85267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025E6505-4EC1-7E56-156E-18CD1BB67636}"/>
              </a:ext>
            </a:extLst>
          </p:cNvPr>
          <p:cNvGrpSpPr/>
          <p:nvPr userDrawn="1"/>
        </p:nvGrpSpPr>
        <p:grpSpPr>
          <a:xfrm>
            <a:off x="0" y="112357"/>
            <a:ext cx="12192000" cy="6629438"/>
            <a:chOff x="0" y="112357"/>
            <a:chExt cx="12192000" cy="6629438"/>
          </a:xfrm>
        </p:grpSpPr>
        <p:sp>
          <p:nvSpPr>
            <p:cNvPr id="3" name="Rectangle 1">
              <a:extLst>
                <a:ext uri="{FF2B5EF4-FFF2-40B4-BE49-F238E27FC236}">
                  <a16:creationId xmlns:a16="http://schemas.microsoft.com/office/drawing/2014/main" id="{39CDECD6-19BB-64FC-1742-4B4B3FEF4386}"/>
                </a:ext>
              </a:extLst>
            </p:cNvPr>
            <p:cNvSpPr/>
            <p:nvPr userDrawn="1"/>
          </p:nvSpPr>
          <p:spPr>
            <a:xfrm>
              <a:off x="297498" y="65477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 name="Rectangle 1">
              <a:extLst>
                <a:ext uri="{FF2B5EF4-FFF2-40B4-BE49-F238E27FC236}">
                  <a16:creationId xmlns:a16="http://schemas.microsoft.com/office/drawing/2014/main" id="{360DCCC6-D35A-3DA4-05EE-1A51676DA9EE}"/>
                </a:ext>
              </a:extLst>
            </p:cNvPr>
            <p:cNvSpPr/>
            <p:nvPr userDrawn="1"/>
          </p:nvSpPr>
          <p:spPr>
            <a:xfrm rot="2659048">
              <a:off x="9060538" y="196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矩形 4">
              <a:extLst>
                <a:ext uri="{FF2B5EF4-FFF2-40B4-BE49-F238E27FC236}">
                  <a16:creationId xmlns:a16="http://schemas.microsoft.com/office/drawing/2014/main" id="{AC4AD0B9-4960-EAFD-7822-F81B6773E880}"/>
                </a:ext>
              </a:extLst>
            </p:cNvPr>
            <p:cNvSpPr/>
            <p:nvPr/>
          </p:nvSpPr>
          <p:spPr>
            <a:xfrm>
              <a:off x="476885" y="6435090"/>
              <a:ext cx="3784600" cy="306705"/>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  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6" name="矩形 5">
              <a:extLst>
                <a:ext uri="{FF2B5EF4-FFF2-40B4-BE49-F238E27FC236}">
                  <a16:creationId xmlns:a16="http://schemas.microsoft.com/office/drawing/2014/main" id="{184E15E4-5616-80FC-3670-6B533DC93A4C}"/>
                </a:ext>
              </a:extLst>
            </p:cNvPr>
            <p:cNvSpPr/>
            <p:nvPr/>
          </p:nvSpPr>
          <p:spPr>
            <a:xfrm>
              <a:off x="9315710" y="112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曲线积分与曲面积分</a:t>
              </a:r>
            </a:p>
          </p:txBody>
        </p:sp>
        <p:cxnSp>
          <p:nvCxnSpPr>
            <p:cNvPr id="7" name="直接连接符 6">
              <a:extLst>
                <a:ext uri="{FF2B5EF4-FFF2-40B4-BE49-F238E27FC236}">
                  <a16:creationId xmlns:a16="http://schemas.microsoft.com/office/drawing/2014/main" id="{26DFC318-2A3D-96D7-8ED6-9B1E71F2B495}"/>
                </a:ext>
              </a:extLst>
            </p:cNvPr>
            <p:cNvCxnSpPr>
              <a:cxnSpLocks/>
            </p:cNvCxnSpPr>
            <p:nvPr userDrawn="1"/>
          </p:nvCxnSpPr>
          <p:spPr>
            <a:xfrm>
              <a:off x="0" y="266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490648A-4849-D02E-029F-48F1D4A20A95}"/>
                </a:ext>
              </a:extLst>
            </p:cNvPr>
            <p:cNvCxnSpPr>
              <a:cxnSpLocks/>
            </p:cNvCxnSpPr>
            <p:nvPr userDrawn="1"/>
          </p:nvCxnSpPr>
          <p:spPr>
            <a:xfrm>
              <a:off x="3665220" y="6588442"/>
              <a:ext cx="85267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1C31EB79-6900-DEE7-C7E2-04914524FBBB}"/>
              </a:ext>
            </a:extLst>
          </p:cNvPr>
          <p:cNvGrpSpPr/>
          <p:nvPr userDrawn="1"/>
        </p:nvGrpSpPr>
        <p:grpSpPr>
          <a:xfrm>
            <a:off x="0" y="112357"/>
            <a:ext cx="12192000" cy="6629438"/>
            <a:chOff x="0" y="112357"/>
            <a:chExt cx="12192000" cy="6629438"/>
          </a:xfrm>
        </p:grpSpPr>
        <p:sp>
          <p:nvSpPr>
            <p:cNvPr id="10" name="Rectangle 1">
              <a:extLst>
                <a:ext uri="{FF2B5EF4-FFF2-40B4-BE49-F238E27FC236}">
                  <a16:creationId xmlns:a16="http://schemas.microsoft.com/office/drawing/2014/main" id="{9B108842-C7EA-A372-B699-64A96AC837F4}"/>
                </a:ext>
              </a:extLst>
            </p:cNvPr>
            <p:cNvSpPr/>
            <p:nvPr userDrawn="1"/>
          </p:nvSpPr>
          <p:spPr>
            <a:xfrm>
              <a:off x="297498" y="65477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1" name="Rectangle 1">
              <a:extLst>
                <a:ext uri="{FF2B5EF4-FFF2-40B4-BE49-F238E27FC236}">
                  <a16:creationId xmlns:a16="http://schemas.microsoft.com/office/drawing/2014/main" id="{4FA5D5E6-E8EA-E432-2581-537D01420227}"/>
                </a:ext>
              </a:extLst>
            </p:cNvPr>
            <p:cNvSpPr/>
            <p:nvPr userDrawn="1"/>
          </p:nvSpPr>
          <p:spPr>
            <a:xfrm rot="2659048">
              <a:off x="9060538" y="196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矩形 11">
              <a:extLst>
                <a:ext uri="{FF2B5EF4-FFF2-40B4-BE49-F238E27FC236}">
                  <a16:creationId xmlns:a16="http://schemas.microsoft.com/office/drawing/2014/main" id="{A0D12827-7D4A-D023-1182-94021DCF94DE}"/>
                </a:ext>
              </a:extLst>
            </p:cNvPr>
            <p:cNvSpPr/>
            <p:nvPr/>
          </p:nvSpPr>
          <p:spPr>
            <a:xfrm>
              <a:off x="476885" y="6435090"/>
              <a:ext cx="3784600" cy="306705"/>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斯托克斯公式井环流量与旋度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13" name="矩形 12">
              <a:extLst>
                <a:ext uri="{FF2B5EF4-FFF2-40B4-BE49-F238E27FC236}">
                  <a16:creationId xmlns:a16="http://schemas.microsoft.com/office/drawing/2014/main" id="{77CDD282-A264-7CAF-D058-CCE1FA80C911}"/>
                </a:ext>
              </a:extLst>
            </p:cNvPr>
            <p:cNvSpPr/>
            <p:nvPr/>
          </p:nvSpPr>
          <p:spPr>
            <a:xfrm>
              <a:off x="9315710" y="112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曲线积分于曲面积分</a:t>
              </a:r>
            </a:p>
          </p:txBody>
        </p:sp>
        <p:cxnSp>
          <p:nvCxnSpPr>
            <p:cNvPr id="14" name="直接连接符 13">
              <a:extLst>
                <a:ext uri="{FF2B5EF4-FFF2-40B4-BE49-F238E27FC236}">
                  <a16:creationId xmlns:a16="http://schemas.microsoft.com/office/drawing/2014/main" id="{8B0D4731-739F-150F-499D-86AB375D623D}"/>
                </a:ext>
              </a:extLst>
            </p:cNvPr>
            <p:cNvCxnSpPr>
              <a:cxnSpLocks/>
            </p:cNvCxnSpPr>
            <p:nvPr userDrawn="1"/>
          </p:nvCxnSpPr>
          <p:spPr>
            <a:xfrm>
              <a:off x="0" y="266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20CFCAA-CE4A-6BCE-747E-4C82E1B6D865}"/>
                </a:ext>
              </a:extLst>
            </p:cNvPr>
            <p:cNvCxnSpPr>
              <a:cxnSpLocks/>
            </p:cNvCxnSpPr>
            <p:nvPr userDrawn="1"/>
          </p:nvCxnSpPr>
          <p:spPr>
            <a:xfrm>
              <a:off x="3665220" y="6588442"/>
              <a:ext cx="85267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图文框 6"/>
          <p:cNvSpPr/>
          <p:nvPr userDrawn="1"/>
        </p:nvSpPr>
        <p:spPr>
          <a:xfrm>
            <a:off x="0" y="-1"/>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5303" r="7303" b="29466"/>
          <a:stretch>
            <a:fillRect/>
          </a:stretch>
        </p:blipFill>
        <p:spPr>
          <a:xfrm flipH="1">
            <a:off x="0" y="-1905"/>
            <a:ext cx="6996430" cy="6859905"/>
          </a:xfrm>
          <a:prstGeom prst="rect">
            <a:avLst/>
          </a:prstGeom>
        </p:spPr>
      </p:pic>
      <p:sp>
        <p:nvSpPr>
          <p:cNvPr id="9" name="Rectangle 1"/>
          <p:cNvSpPr/>
          <p:nvPr userDrawn="1"/>
        </p:nvSpPr>
        <p:spPr>
          <a:xfrm>
            <a:off x="0" y="-1270"/>
            <a:ext cx="12192000" cy="685863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0" name="矩形: 剪去对角 21"/>
          <p:cNvSpPr/>
          <p:nvPr userDrawn="1"/>
        </p:nvSpPr>
        <p:spPr>
          <a:xfrm>
            <a:off x="2496186" y="1627425"/>
            <a:ext cx="7199628" cy="3231673"/>
          </a:xfrm>
          <a:prstGeom prst="snip2DiagRect">
            <a:avLst>
              <a:gd name="adj1" fmla="val 0"/>
              <a:gd name="adj2" fmla="val 6393"/>
            </a:avLst>
          </a:prstGeom>
          <a:gradFill flip="none" rotWithShape="1">
            <a:gsLst>
              <a:gs pos="0">
                <a:schemeClr val="bg1"/>
              </a:gs>
              <a:gs pos="29000">
                <a:schemeClr val="bg1">
                  <a:alpha val="50000"/>
                </a:schemeClr>
              </a:gs>
              <a:gs pos="66000">
                <a:schemeClr val="bg1"/>
              </a:gs>
              <a:gs pos="100000">
                <a:schemeClr val="bg1">
                  <a:lumMod val="95000"/>
                </a:schemeClr>
              </a:gs>
            </a:gsLst>
            <a:lin ang="8100000" scaled="1"/>
            <a:tileRect/>
          </a:gradFill>
          <a:ln>
            <a:gradFill flip="none" rotWithShape="1">
              <a:gsLst>
                <a:gs pos="53000">
                  <a:srgbClr val="AA69D6"/>
                </a:gs>
                <a:gs pos="2419">
                  <a:srgbClr val="AC5FD4"/>
                </a:gs>
                <a:gs pos="26000">
                  <a:srgbClr val="AC5FD4"/>
                </a:gs>
                <a:gs pos="100000">
                  <a:srgbClr val="7030A0"/>
                </a:gs>
              </a:gsLst>
              <a:path path="circle">
                <a:fillToRect l="50000" t="50000" r="50000" b="50000"/>
              </a:path>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矩形 10"/>
          <p:cNvSpPr/>
          <p:nvPr userDrawn="1"/>
        </p:nvSpPr>
        <p:spPr>
          <a:xfrm>
            <a:off x="2914015" y="2211408"/>
            <a:ext cx="6363970" cy="2123658"/>
          </a:xfrm>
          <a:prstGeom prst="rect">
            <a:avLst/>
          </a:prstGeom>
        </p:spPr>
        <p:txBody>
          <a:bodyPr wrap="square">
            <a:spAutoFit/>
          </a:bodyPr>
          <a:lstStyle/>
          <a:p>
            <a:pPr lvl="0" indent="575945" algn="just">
              <a:lnSpc>
                <a:spcPct val="150000"/>
              </a:lnSpc>
            </a:pP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本</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PPT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为高等教育出版社出版的</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高等数学</a:t>
            </a:r>
            <a:r>
              <a:rPr lang="en-US" altLang="zh-CN"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a:t>
            </a:r>
            <a:r>
              <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rPr>
              <a:t>（第八版）教材配套课件，仅供受赠老师本人用于“高等数学”课堂教学。未经许可，任何人不能进行任何其他方式的传播。</a:t>
            </a:r>
            <a:endParaRPr lang="zh-CN" altLang="en-US" sz="2200" kern="100" dirty="0">
              <a:solidFill>
                <a:prstClr val="black"/>
              </a:solidFill>
              <a:latin typeface="华文中宋" panose="02010600040101010101" pitchFamily="2" charset="-122"/>
              <a:ea typeface="华文中宋" panose="02010600040101010101" pitchFamily="2" charset="-122"/>
              <a:cs typeface="方正大标宋简体" panose="02010601030101010101" charset="-122"/>
              <a:sym typeface="+mn-ea"/>
            </a:endParaRPr>
          </a:p>
        </p:txBody>
      </p:sp>
      <p:grpSp>
        <p:nvGrpSpPr>
          <p:cNvPr id="12" name="组合 11"/>
          <p:cNvGrpSpPr/>
          <p:nvPr userDrawn="1"/>
        </p:nvGrpSpPr>
        <p:grpSpPr>
          <a:xfrm>
            <a:off x="4981488" y="5711355"/>
            <a:ext cx="2229025" cy="475907"/>
            <a:chOff x="3928951" y="7786292"/>
            <a:chExt cx="2663761" cy="568726"/>
          </a:xfrm>
        </p:grpSpPr>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1954" y="7786292"/>
              <a:ext cx="2050758" cy="472171"/>
            </a:xfrm>
            <a:prstGeom prst="rect">
              <a:avLst/>
            </a:prstGeom>
          </p:spPr>
        </p:pic>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28951" y="7804037"/>
              <a:ext cx="551568" cy="550981"/>
            </a:xfrm>
            <a:prstGeom prst="rect">
              <a:avLst/>
            </a:prstGeom>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F0A3A395-563A-E70E-643C-2AD45D769D3F}"/>
              </a:ext>
            </a:extLst>
          </p:cNvPr>
          <p:cNvGrpSpPr/>
          <p:nvPr userDrawn="1"/>
        </p:nvGrpSpPr>
        <p:grpSpPr>
          <a:xfrm>
            <a:off x="0" y="112357"/>
            <a:ext cx="12192000" cy="6629438"/>
            <a:chOff x="0" y="112357"/>
            <a:chExt cx="12192000" cy="6629438"/>
          </a:xfrm>
        </p:grpSpPr>
        <p:sp>
          <p:nvSpPr>
            <p:cNvPr id="7" name="Rectangle 1">
              <a:extLst>
                <a:ext uri="{FF2B5EF4-FFF2-40B4-BE49-F238E27FC236}">
                  <a16:creationId xmlns:a16="http://schemas.microsoft.com/office/drawing/2014/main" id="{0C460E29-290E-7A80-AC21-6425D6385BAD}"/>
                </a:ext>
              </a:extLst>
            </p:cNvPr>
            <p:cNvSpPr/>
            <p:nvPr userDrawn="1"/>
          </p:nvSpPr>
          <p:spPr>
            <a:xfrm>
              <a:off x="297498" y="65477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8" name="Rectangle 1">
              <a:extLst>
                <a:ext uri="{FF2B5EF4-FFF2-40B4-BE49-F238E27FC236}">
                  <a16:creationId xmlns:a16="http://schemas.microsoft.com/office/drawing/2014/main" id="{2F66C9D2-3EE4-DEB1-8142-9B4A3CEA8A06}"/>
                </a:ext>
              </a:extLst>
            </p:cNvPr>
            <p:cNvSpPr/>
            <p:nvPr userDrawn="1"/>
          </p:nvSpPr>
          <p:spPr>
            <a:xfrm rot="2659048">
              <a:off x="9060538" y="196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矩形 8">
              <a:extLst>
                <a:ext uri="{FF2B5EF4-FFF2-40B4-BE49-F238E27FC236}">
                  <a16:creationId xmlns:a16="http://schemas.microsoft.com/office/drawing/2014/main" id="{9C08ED2F-488F-C014-DF12-24D76CBF6F35}"/>
                </a:ext>
              </a:extLst>
            </p:cNvPr>
            <p:cNvSpPr/>
            <p:nvPr/>
          </p:nvSpPr>
          <p:spPr>
            <a:xfrm>
              <a:off x="476885" y="6435090"/>
              <a:ext cx="3784600" cy="306705"/>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斯托克斯公式井环流量与旋度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10" name="矩形 9">
              <a:extLst>
                <a:ext uri="{FF2B5EF4-FFF2-40B4-BE49-F238E27FC236}">
                  <a16:creationId xmlns:a16="http://schemas.microsoft.com/office/drawing/2014/main" id="{1DBF9813-A653-3B2E-CC2A-EB0234BEAE54}"/>
                </a:ext>
              </a:extLst>
            </p:cNvPr>
            <p:cNvSpPr/>
            <p:nvPr/>
          </p:nvSpPr>
          <p:spPr>
            <a:xfrm>
              <a:off x="9315710" y="112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曲线积分于曲面积分</a:t>
              </a:r>
            </a:p>
          </p:txBody>
        </p:sp>
        <p:cxnSp>
          <p:nvCxnSpPr>
            <p:cNvPr id="11" name="直接连接符 10">
              <a:extLst>
                <a:ext uri="{FF2B5EF4-FFF2-40B4-BE49-F238E27FC236}">
                  <a16:creationId xmlns:a16="http://schemas.microsoft.com/office/drawing/2014/main" id="{9A4FF949-261D-1FF9-9C62-60E75A2B149A}"/>
                </a:ext>
              </a:extLst>
            </p:cNvPr>
            <p:cNvCxnSpPr>
              <a:cxnSpLocks/>
            </p:cNvCxnSpPr>
            <p:nvPr userDrawn="1"/>
          </p:nvCxnSpPr>
          <p:spPr>
            <a:xfrm>
              <a:off x="0" y="266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050C7A63-D769-D074-C8EE-A3C676C44AD9}"/>
                </a:ext>
              </a:extLst>
            </p:cNvPr>
            <p:cNvCxnSpPr>
              <a:cxnSpLocks/>
            </p:cNvCxnSpPr>
            <p:nvPr userDrawn="1"/>
          </p:nvCxnSpPr>
          <p:spPr>
            <a:xfrm>
              <a:off x="3665220" y="6588442"/>
              <a:ext cx="85267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F280A49-1B29-7F16-99DB-BFAA0E3BFB98}"/>
              </a:ext>
            </a:extLst>
          </p:cNvPr>
          <p:cNvGrpSpPr/>
          <p:nvPr userDrawn="1"/>
        </p:nvGrpSpPr>
        <p:grpSpPr>
          <a:xfrm>
            <a:off x="0" y="112357"/>
            <a:ext cx="12192000" cy="6629438"/>
            <a:chOff x="0" y="112357"/>
            <a:chExt cx="12192000" cy="6629438"/>
          </a:xfrm>
        </p:grpSpPr>
        <p:sp>
          <p:nvSpPr>
            <p:cNvPr id="3" name="Rectangle 1">
              <a:extLst>
                <a:ext uri="{FF2B5EF4-FFF2-40B4-BE49-F238E27FC236}">
                  <a16:creationId xmlns:a16="http://schemas.microsoft.com/office/drawing/2014/main" id="{B56FF23F-B99D-E6EC-DA20-EC859F2166D3}"/>
                </a:ext>
              </a:extLst>
            </p:cNvPr>
            <p:cNvSpPr/>
            <p:nvPr userDrawn="1"/>
          </p:nvSpPr>
          <p:spPr>
            <a:xfrm>
              <a:off x="297498" y="65477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 name="Rectangle 1">
              <a:extLst>
                <a:ext uri="{FF2B5EF4-FFF2-40B4-BE49-F238E27FC236}">
                  <a16:creationId xmlns:a16="http://schemas.microsoft.com/office/drawing/2014/main" id="{EC802329-81C3-4322-1808-084429BB0F1D}"/>
                </a:ext>
              </a:extLst>
            </p:cNvPr>
            <p:cNvSpPr/>
            <p:nvPr userDrawn="1"/>
          </p:nvSpPr>
          <p:spPr>
            <a:xfrm rot="2659048">
              <a:off x="9060538" y="196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矩形 4">
              <a:extLst>
                <a:ext uri="{FF2B5EF4-FFF2-40B4-BE49-F238E27FC236}">
                  <a16:creationId xmlns:a16="http://schemas.microsoft.com/office/drawing/2014/main" id="{F33597BB-9E6F-74BF-D34F-E4D1D546FC55}"/>
                </a:ext>
              </a:extLst>
            </p:cNvPr>
            <p:cNvSpPr/>
            <p:nvPr/>
          </p:nvSpPr>
          <p:spPr>
            <a:xfrm>
              <a:off x="476885" y="6435090"/>
              <a:ext cx="3784600" cy="306705"/>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  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6" name="矩形 5">
              <a:extLst>
                <a:ext uri="{FF2B5EF4-FFF2-40B4-BE49-F238E27FC236}">
                  <a16:creationId xmlns:a16="http://schemas.microsoft.com/office/drawing/2014/main" id="{32008020-64AF-CFD7-7A65-AC53E3A01A73}"/>
                </a:ext>
              </a:extLst>
            </p:cNvPr>
            <p:cNvSpPr/>
            <p:nvPr/>
          </p:nvSpPr>
          <p:spPr>
            <a:xfrm>
              <a:off x="9315710" y="112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曲线积分与曲面积分</a:t>
              </a:r>
            </a:p>
          </p:txBody>
        </p:sp>
        <p:cxnSp>
          <p:nvCxnSpPr>
            <p:cNvPr id="7" name="直接连接符 6">
              <a:extLst>
                <a:ext uri="{FF2B5EF4-FFF2-40B4-BE49-F238E27FC236}">
                  <a16:creationId xmlns:a16="http://schemas.microsoft.com/office/drawing/2014/main" id="{C3CBE785-F33E-E106-F936-2EA9BF16E705}"/>
                </a:ext>
              </a:extLst>
            </p:cNvPr>
            <p:cNvCxnSpPr>
              <a:cxnSpLocks/>
            </p:cNvCxnSpPr>
            <p:nvPr userDrawn="1"/>
          </p:nvCxnSpPr>
          <p:spPr>
            <a:xfrm>
              <a:off x="0" y="266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72F1CDD0-238D-F4DF-4BD9-16686CD617DC}"/>
                </a:ext>
              </a:extLst>
            </p:cNvPr>
            <p:cNvCxnSpPr>
              <a:cxnSpLocks/>
            </p:cNvCxnSpPr>
            <p:nvPr userDrawn="1"/>
          </p:nvCxnSpPr>
          <p:spPr>
            <a:xfrm>
              <a:off x="3665220" y="6588442"/>
              <a:ext cx="85267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453706-F419-4023-A58A-D6EE144B71A3}" type="datetimeFigureOut">
              <a:rPr lang="zh-CN" altLang="en-US" smtClean="0"/>
              <a:t>2023/7/6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D7C98F-223D-4AB2-8916-8559149228E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6.jpe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image" Target="../media/image56.png"/><Relationship Id="rId16" Type="http://schemas.openxmlformats.org/officeDocument/2006/relationships/image" Target="../media/image70.png"/><Relationship Id="rId1" Type="http://schemas.openxmlformats.org/officeDocument/2006/relationships/slideLayout" Target="../slideLayouts/slideLayout2.xml"/><Relationship Id="rId11" Type="http://schemas.openxmlformats.org/officeDocument/2006/relationships/image" Target="../media/image65.png"/><Relationship Id="rId10" Type="http://schemas.openxmlformats.org/officeDocument/2006/relationships/image" Target="../media/image64.png"/><Relationship Id="rId14" Type="http://schemas.openxmlformats.org/officeDocument/2006/relationships/image" Target="../media/image68.png"/></Relationships>
</file>

<file path=ppt/slides/_rels/slide17.xml.rels><?xml version="1.0" encoding="UTF-8" standalone="yes"?>
<Relationships xmlns="http://schemas.openxmlformats.org/package/2006/relationships"><Relationship Id="rId18" Type="http://schemas.openxmlformats.org/officeDocument/2006/relationships/image" Target="../media/image85.png"/><Relationship Id="rId3" Type="http://schemas.openxmlformats.org/officeDocument/2006/relationships/image" Target="../media/image73.png"/><Relationship Id="rId17" Type="http://schemas.openxmlformats.org/officeDocument/2006/relationships/image" Target="../media/image84.png"/><Relationship Id="rId2" Type="http://schemas.openxmlformats.org/officeDocument/2006/relationships/image" Target="../media/image72.png"/><Relationship Id="rId20"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75.png"/><Relationship Id="rId19" Type="http://schemas.openxmlformats.org/officeDocument/2006/relationships/image" Target="../media/image86.png"/><Relationship Id="rId4" Type="http://schemas.openxmlformats.org/officeDocument/2006/relationships/image" Target="../media/image74.png"/></Relationships>
</file>

<file path=ppt/slides/_rels/slide18.xml.rels><?xml version="1.0" encoding="UTF-8" standalone="yes"?>
<Relationships xmlns="http://schemas.openxmlformats.org/package/2006/relationships"><Relationship Id="rId13" Type="http://schemas.openxmlformats.org/officeDocument/2006/relationships/image" Target="../media/image95.png"/><Relationship Id="rId18" Type="http://schemas.openxmlformats.org/officeDocument/2006/relationships/image" Target="../media/image51.png"/><Relationship Id="rId12" Type="http://schemas.openxmlformats.org/officeDocument/2006/relationships/image" Target="../media/image94.png"/><Relationship Id="rId17" Type="http://schemas.openxmlformats.org/officeDocument/2006/relationships/image" Target="../media/image99.png"/><Relationship Id="rId2" Type="http://schemas.openxmlformats.org/officeDocument/2006/relationships/image" Target="../media/image87.png"/><Relationship Id="rId16" Type="http://schemas.openxmlformats.org/officeDocument/2006/relationships/image" Target="../media/image98.png"/><Relationship Id="rId1" Type="http://schemas.openxmlformats.org/officeDocument/2006/relationships/slideLayout" Target="../slideLayouts/slideLayout2.xml"/><Relationship Id="rId11" Type="http://schemas.openxmlformats.org/officeDocument/2006/relationships/image" Target="../media/image93.png"/><Relationship Id="rId15" Type="http://schemas.openxmlformats.org/officeDocument/2006/relationships/image" Target="../media/image97.png"/><Relationship Id="rId10" Type="http://schemas.openxmlformats.org/officeDocument/2006/relationships/image" Target="../media/image92.png"/><Relationship Id="rId14" Type="http://schemas.openxmlformats.org/officeDocument/2006/relationships/image" Target="../media/image96.png"/></Relationships>
</file>

<file path=ppt/slides/_rels/slide19.xml.rels><?xml version="1.0" encoding="UTF-8" standalone="yes"?>
<Relationships xmlns="http://schemas.openxmlformats.org/package/2006/relationships"><Relationship Id="rId8" Type="http://schemas.openxmlformats.org/officeDocument/2006/relationships/image" Target="../media/image105.png"/><Relationship Id="rId7" Type="http://schemas.openxmlformats.org/officeDocument/2006/relationships/image" Target="../media/image104.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1.png"/><Relationship Id="rId4" Type="http://schemas.openxmlformats.org/officeDocument/2006/relationships/image" Target="../media/image102.png"/><Relationship Id="rId9" Type="http://schemas.openxmlformats.org/officeDocument/2006/relationships/image" Target="../media/image106.png"/></Relationships>
</file>

<file path=ppt/slides/_rels/slide20.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10.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21.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png"/><Relationship Id="rId12" Type="http://schemas.openxmlformats.org/officeDocument/2006/relationships/image" Target="../media/image124.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11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s>
</file>

<file path=ppt/slides/_rels/slide22.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5.png"/><Relationship Id="rId7" Type="http://schemas.openxmlformats.org/officeDocument/2006/relationships/image" Target="../media/image129.png"/><Relationship Id="rId12" Type="http://schemas.openxmlformats.org/officeDocument/2006/relationships/image" Target="../media/image134.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127.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s>
</file>

<file path=ppt/slides/_rels/slide23.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6.png"/><Relationship Id="rId21" Type="http://schemas.openxmlformats.org/officeDocument/2006/relationships/image" Target="../media/image52.jpeg"/><Relationship Id="rId7" Type="http://schemas.openxmlformats.org/officeDocument/2006/relationships/image" Target="../media/image140.png"/><Relationship Id="rId2" Type="http://schemas.openxmlformats.org/officeDocument/2006/relationships/image" Target="../media/image135.png"/><Relationship Id="rId20"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 Id="rId9" Type="http://schemas.openxmlformats.org/officeDocument/2006/relationships/image" Target="../media/image142.png"/></Relationships>
</file>

<file path=ppt/slides/_rels/slide24.xml.rels><?xml version="1.0" encoding="UTF-8" standalone="yes"?>
<Relationships xmlns="http://schemas.openxmlformats.org/package/2006/relationships"><Relationship Id="rId8" Type="http://schemas.openxmlformats.org/officeDocument/2006/relationships/image" Target="../media/image158.png"/><Relationship Id="rId13" Type="http://schemas.openxmlformats.org/officeDocument/2006/relationships/image" Target="../media/image163.png"/><Relationship Id="rId18" Type="http://schemas.openxmlformats.org/officeDocument/2006/relationships/image" Target="../media/image168.png"/><Relationship Id="rId3" Type="http://schemas.openxmlformats.org/officeDocument/2006/relationships/image" Target="../media/image153.png"/><Relationship Id="rId7" Type="http://schemas.openxmlformats.org/officeDocument/2006/relationships/image" Target="../media/image157.png"/><Relationship Id="rId12" Type="http://schemas.openxmlformats.org/officeDocument/2006/relationships/image" Target="../media/image162.png"/><Relationship Id="rId17" Type="http://schemas.openxmlformats.org/officeDocument/2006/relationships/image" Target="../media/image167.png"/><Relationship Id="rId2" Type="http://schemas.openxmlformats.org/officeDocument/2006/relationships/image" Target="../media/image152.png"/><Relationship Id="rId16" Type="http://schemas.openxmlformats.org/officeDocument/2006/relationships/image" Target="../media/image166.png"/><Relationship Id="rId1" Type="http://schemas.openxmlformats.org/officeDocument/2006/relationships/slideLayout" Target="../slideLayouts/slideLayout2.xml"/><Relationship Id="rId6" Type="http://schemas.openxmlformats.org/officeDocument/2006/relationships/image" Target="../media/image156.png"/><Relationship Id="rId11" Type="http://schemas.openxmlformats.org/officeDocument/2006/relationships/image" Target="../media/image161.png"/><Relationship Id="rId5" Type="http://schemas.openxmlformats.org/officeDocument/2006/relationships/image" Target="../media/image155.png"/><Relationship Id="rId15" Type="http://schemas.openxmlformats.org/officeDocument/2006/relationships/image" Target="../media/image165.png"/><Relationship Id="rId10" Type="http://schemas.openxmlformats.org/officeDocument/2006/relationships/image" Target="../media/image160.png"/><Relationship Id="rId19" Type="http://schemas.openxmlformats.org/officeDocument/2006/relationships/image" Target="../media/image169.png"/><Relationship Id="rId4" Type="http://schemas.openxmlformats.org/officeDocument/2006/relationships/image" Target="../media/image154.png"/><Relationship Id="rId9" Type="http://schemas.openxmlformats.org/officeDocument/2006/relationships/image" Target="../media/image159.png"/><Relationship Id="rId14" Type="http://schemas.openxmlformats.org/officeDocument/2006/relationships/image" Target="../media/image164.png"/></Relationships>
</file>

<file path=ppt/slides/_rels/slide25.xml.rels><?xml version="1.0" encoding="UTF-8" standalone="yes"?>
<Relationships xmlns="http://schemas.openxmlformats.org/package/2006/relationships"><Relationship Id="rId8" Type="http://schemas.openxmlformats.org/officeDocument/2006/relationships/image" Target="../media/image176.png"/><Relationship Id="rId3" Type="http://schemas.openxmlformats.org/officeDocument/2006/relationships/image" Target="../media/image171.png"/><Relationship Id="rId7" Type="http://schemas.openxmlformats.org/officeDocument/2006/relationships/image" Target="../media/image175.png"/><Relationship Id="rId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174.png"/><Relationship Id="rId5" Type="http://schemas.openxmlformats.org/officeDocument/2006/relationships/image" Target="../media/image173.png"/><Relationship Id="rId4" Type="http://schemas.openxmlformats.org/officeDocument/2006/relationships/image" Target="../media/image172.png"/></Relationships>
</file>

<file path=ppt/slides/_rels/slide26.xml.rels><?xml version="1.0" encoding="UTF-8" standalone="yes"?>
<Relationships xmlns="http://schemas.openxmlformats.org/package/2006/relationships"><Relationship Id="rId8" Type="http://schemas.openxmlformats.org/officeDocument/2006/relationships/image" Target="../media/image183.png"/><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image" Target="../media/image177.png"/><Relationship Id="rId1" Type="http://schemas.openxmlformats.org/officeDocument/2006/relationships/slideLayout" Target="../slideLayouts/slideLayout2.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 Id="rId9" Type="http://schemas.openxmlformats.org/officeDocument/2006/relationships/image" Target="../media/image184.png"/></Relationships>
</file>

<file path=ppt/slides/_rels/slide27.xml.rels><?xml version="1.0" encoding="UTF-8" standalone="yes"?>
<Relationships xmlns="http://schemas.openxmlformats.org/package/2006/relationships"><Relationship Id="rId3" Type="http://schemas.openxmlformats.org/officeDocument/2006/relationships/image" Target="../media/image186.png"/><Relationship Id="rId7" Type="http://schemas.openxmlformats.org/officeDocument/2006/relationships/image" Target="../media/image190.png"/><Relationship Id="rId2" Type="http://schemas.openxmlformats.org/officeDocument/2006/relationships/image" Target="../media/image185.png"/><Relationship Id="rId1" Type="http://schemas.openxmlformats.org/officeDocument/2006/relationships/slideLayout" Target="../slideLayouts/slideLayout2.xml"/><Relationship Id="rId6" Type="http://schemas.openxmlformats.org/officeDocument/2006/relationships/image" Target="../media/image189.png"/><Relationship Id="rId5" Type="http://schemas.openxmlformats.org/officeDocument/2006/relationships/image" Target="../media/image188.png"/><Relationship Id="rId4" Type="http://schemas.openxmlformats.org/officeDocument/2006/relationships/image" Target="../media/image187.png"/></Relationships>
</file>

<file path=ppt/slides/_rels/slide28.xml.rels><?xml version="1.0" encoding="UTF-8" standalone="yes"?>
<Relationships xmlns="http://schemas.openxmlformats.org/package/2006/relationships"><Relationship Id="rId3" Type="http://schemas.openxmlformats.org/officeDocument/2006/relationships/image" Target="../media/image192.png"/><Relationship Id="rId7" Type="http://schemas.openxmlformats.org/officeDocument/2006/relationships/image" Target="../media/image1940.png"/><Relationship Id="rId1" Type="http://schemas.openxmlformats.org/officeDocument/2006/relationships/slideLayout" Target="../slideLayouts/slideLayout2.xml"/><Relationship Id="rId6" Type="http://schemas.openxmlformats.org/officeDocument/2006/relationships/image" Target="../media/image194.png"/><Relationship Id="rId5" Type="http://schemas.openxmlformats.org/officeDocument/2006/relationships/image" Target="../media/image193.png"/><Relationship Id="rId4" Type="http://schemas.openxmlformats.org/officeDocument/2006/relationships/image" Target="../media/image191.png"/></Relationships>
</file>

<file path=ppt/slides/_rels/slide29.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97.png"/></Relationships>
</file>

<file path=ppt/slides/_rels/slide30.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6.png"/><Relationship Id="rId1" Type="http://schemas.openxmlformats.org/officeDocument/2006/relationships/slideLayout" Target="../slideLayouts/slideLayout2.xml"/><Relationship Id="rId4" Type="http://schemas.openxmlformats.org/officeDocument/2006/relationships/image" Target="../media/image199.png"/></Relationships>
</file>

<file path=ppt/slides/_rels/slide31.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204.png"/><Relationship Id="rId5" Type="http://schemas.openxmlformats.org/officeDocument/2006/relationships/image" Target="../media/image202.png"/><Relationship Id="rId4" Type="http://schemas.openxmlformats.org/officeDocument/2006/relationships/image" Target="../media/image203.png"/></Relationships>
</file>

<file path=ppt/slides/_rels/slide32.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image" Target="../media/image214.png"/><Relationship Id="rId18" Type="http://schemas.openxmlformats.org/officeDocument/2006/relationships/image" Target="../media/image217.png"/><Relationship Id="rId3" Type="http://schemas.openxmlformats.org/officeDocument/2006/relationships/slideLayout" Target="../slideLayouts/slideLayout2.xml"/><Relationship Id="rId7" Type="http://schemas.openxmlformats.org/officeDocument/2006/relationships/image" Target="../media/image207.png"/><Relationship Id="rId12" Type="http://schemas.openxmlformats.org/officeDocument/2006/relationships/image" Target="../media/image213.png"/><Relationship Id="rId17" Type="http://schemas.openxmlformats.org/officeDocument/2006/relationships/image" Target="../media/image220.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206.png"/><Relationship Id="rId11" Type="http://schemas.openxmlformats.org/officeDocument/2006/relationships/image" Target="../media/image212.png"/><Relationship Id="rId5" Type="http://schemas.openxmlformats.org/officeDocument/2006/relationships/image" Target="../media/image208.png"/><Relationship Id="rId15" Type="http://schemas.openxmlformats.org/officeDocument/2006/relationships/image" Target="../media/image216.png"/><Relationship Id="rId10" Type="http://schemas.openxmlformats.org/officeDocument/2006/relationships/image" Target="../media/image211.png"/><Relationship Id="rId19" Type="http://schemas.openxmlformats.org/officeDocument/2006/relationships/image" Target="../media/image218.png"/><Relationship Id="rId9" Type="http://schemas.openxmlformats.org/officeDocument/2006/relationships/image" Target="../media/image210.png"/><Relationship Id="rId14" Type="http://schemas.openxmlformats.org/officeDocument/2006/relationships/image" Target="../media/image2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 y="-1"/>
            <a:ext cx="12192000" cy="6871855"/>
          </a:xfrm>
          <a:prstGeom prst="rect">
            <a:avLst/>
          </a:prstGeom>
        </p:spPr>
      </p:pic>
      <p:sp>
        <p:nvSpPr>
          <p:cNvPr id="9" name="图文框 8"/>
          <p:cNvSpPr/>
          <p:nvPr/>
        </p:nvSpPr>
        <p:spPr>
          <a:xfrm>
            <a:off x="0" y="-1"/>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6" name="Rectangle 1"/>
          <p:cNvSpPr/>
          <p:nvPr/>
        </p:nvSpPr>
        <p:spPr>
          <a:xfrm>
            <a:off x="0" y="1312540"/>
            <a:ext cx="11144250" cy="356426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 name="TextBox 12"/>
          <p:cNvSpPr txBox="1"/>
          <p:nvPr/>
        </p:nvSpPr>
        <p:spPr>
          <a:xfrm>
            <a:off x="5524507" y="2152682"/>
            <a:ext cx="5109091" cy="1569660"/>
          </a:xfrm>
          <a:prstGeom prst="rect">
            <a:avLst/>
          </a:prstGeom>
          <a:noFill/>
        </p:spPr>
        <p:txBody>
          <a:bodyPr wrap="none" rtlCol="0">
            <a:spAutoFit/>
          </a:bodyPr>
          <a:lstStyle/>
          <a:p>
            <a:pPr defTabSz="1218565"/>
            <a:r>
              <a:rPr lang="zh-CN" altLang="en-US" sz="9600" b="1">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rPr>
              <a:t>高等数学</a:t>
            </a:r>
            <a:endParaRPr lang="en-US" altLang="zh-CN" sz="96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endParaRPr>
          </a:p>
        </p:txBody>
      </p:sp>
      <p:sp>
        <p:nvSpPr>
          <p:cNvPr id="4" name="TextBox 12"/>
          <p:cNvSpPr txBox="1"/>
          <p:nvPr/>
        </p:nvSpPr>
        <p:spPr>
          <a:xfrm>
            <a:off x="9118170" y="3703526"/>
            <a:ext cx="1415772" cy="584775"/>
          </a:xfrm>
          <a:prstGeom prst="rect">
            <a:avLst/>
          </a:prstGeom>
          <a:noFill/>
        </p:spPr>
        <p:txBody>
          <a:bodyPr wrap="none" rtlCol="0">
            <a:spAutoFit/>
          </a:bodyPr>
          <a:lstStyle/>
          <a:p>
            <a:pPr defTabSz="1218565"/>
            <a:r>
              <a:rPr lang="zh-CN" altLang="en-US" sz="32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rPr>
              <a:t>第八版</a:t>
            </a:r>
            <a:endParaRPr lang="en-US" altLang="zh-CN" sz="3200" b="1" dirty="0">
              <a:solidFill>
                <a:schemeClr val="bg1"/>
              </a:solidFill>
              <a:effectLst>
                <a:innerShdw blurRad="63500" dist="50800" dir="18900000">
                  <a:prstClr val="black">
                    <a:alpha val="50000"/>
                  </a:prstClr>
                </a:innerShdw>
              </a:effectLst>
              <a:latin typeface="微软雅黑" panose="020B0503020204020204" pitchFamily="34" charset="-122"/>
              <a:ea typeface="微软雅黑" panose="020B0503020204020204" pitchFamily="34" charset="-122"/>
            </a:endParaRPr>
          </a:p>
        </p:txBody>
      </p:sp>
      <p:sp>
        <p:nvSpPr>
          <p:cNvPr id="5" name="文本框 4"/>
          <p:cNvSpPr txBox="1"/>
          <p:nvPr/>
        </p:nvSpPr>
        <p:spPr>
          <a:xfrm>
            <a:off x="6783949" y="5176128"/>
            <a:ext cx="3672673" cy="430887"/>
          </a:xfrm>
          <a:prstGeom prst="rect">
            <a:avLst/>
          </a:prstGeom>
          <a:noFill/>
        </p:spPr>
        <p:txBody>
          <a:bodyPr wrap="square" rtlCol="0">
            <a:spAutoFit/>
          </a:bodyPr>
          <a:lstStyle/>
          <a:p>
            <a:pPr algn="r"/>
            <a:r>
              <a:rPr lang="zh-CN" altLang="en-US" sz="2200" b="1" dirty="0">
                <a:solidFill>
                  <a:srgbClr val="04926A"/>
                </a:solidFill>
                <a:latin typeface="微软雅黑" panose="020B0503020204020204" pitchFamily="34" charset="-122"/>
                <a:ea typeface="微软雅黑" panose="020B0503020204020204" pitchFamily="34" charset="-122"/>
              </a:rPr>
              <a:t>同济大学数学科学学院   编</a:t>
            </a:r>
          </a:p>
        </p:txBody>
      </p:sp>
    </p:spTree>
    <p:extLst>
      <p:ext uri="{BB962C8B-B14F-4D97-AF65-F5344CB8AC3E}">
        <p14:creationId xmlns:p14="http://schemas.microsoft.com/office/powerpoint/2010/main" val="386342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horizont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flipH="1">
            <a:off x="0" y="-2440"/>
            <a:ext cx="12192000" cy="6872990"/>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7" name="矩形 6">
            <a:extLst>
              <a:ext uri="{FF2B5EF4-FFF2-40B4-BE49-F238E27FC236}">
                <a16:creationId xmlns:a16="http://schemas.microsoft.com/office/drawing/2014/main" id="{8433C2CE-C905-2846-8650-C5C8DB13E5AC}"/>
              </a:ext>
            </a:extLst>
          </p:cNvPr>
          <p:cNvSpPr/>
          <p:nvPr/>
        </p:nvSpPr>
        <p:spPr>
          <a:xfrm>
            <a:off x="789305" y="1908802"/>
            <a:ext cx="11083290" cy="4961748"/>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2C62284D-899E-011F-23D8-3168522C1D2D}"/>
              </a:ext>
            </a:extLst>
          </p:cNvPr>
          <p:cNvSpPr/>
          <p:nvPr/>
        </p:nvSpPr>
        <p:spPr>
          <a:xfrm>
            <a:off x="629285" y="2052905"/>
            <a:ext cx="10923270" cy="4817645"/>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D777B1F-3CD3-3E05-03B7-290842DFE79B}"/>
              </a:ext>
            </a:extLst>
          </p:cNvPr>
          <p:cNvSpPr/>
          <p:nvPr/>
        </p:nvSpPr>
        <p:spPr>
          <a:xfrm>
            <a:off x="487045" y="2207501"/>
            <a:ext cx="10746105" cy="4663049"/>
          </a:xfrm>
          <a:prstGeom prst="rect">
            <a:avLst/>
          </a:prstGeom>
          <a:solidFill>
            <a:schemeClr val="bg1"/>
          </a:solidFill>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41"/>
          <p:cNvSpPr/>
          <p:nvPr/>
        </p:nvSpPr>
        <p:spPr>
          <a:xfrm flipH="1">
            <a:off x="5037531" y="2665459"/>
            <a:ext cx="1784904" cy="429397"/>
          </a:xfrm>
          <a:custGeom>
            <a:avLst/>
            <a:gdLst/>
            <a:ahLst/>
            <a:cxnLst/>
            <a:rect l="l" t="t" r="r" b="b"/>
            <a:pathLst>
              <a:path w="1784904" h="429397">
                <a:moveTo>
                  <a:pt x="326672" y="316347"/>
                </a:moveTo>
                <a:cubicBezTo>
                  <a:pt x="322782" y="316737"/>
                  <a:pt x="318710" y="321188"/>
                  <a:pt x="314454" y="329699"/>
                </a:cubicBezTo>
                <a:cubicBezTo>
                  <a:pt x="309673" y="355056"/>
                  <a:pt x="310417" y="375966"/>
                  <a:pt x="316687" y="392430"/>
                </a:cubicBezTo>
                <a:cubicBezTo>
                  <a:pt x="326956" y="411666"/>
                  <a:pt x="343187" y="421926"/>
                  <a:pt x="365381" y="423210"/>
                </a:cubicBezTo>
                <a:cubicBezTo>
                  <a:pt x="383985" y="421777"/>
                  <a:pt x="393287" y="411824"/>
                  <a:pt x="393287" y="393351"/>
                </a:cubicBezTo>
                <a:cubicBezTo>
                  <a:pt x="393287" y="384012"/>
                  <a:pt x="384450" y="374934"/>
                  <a:pt x="366777" y="366116"/>
                </a:cubicBezTo>
                <a:cubicBezTo>
                  <a:pt x="348062" y="355102"/>
                  <a:pt x="337634" y="344787"/>
                  <a:pt x="335495" y="335169"/>
                </a:cubicBezTo>
                <a:cubicBezTo>
                  <a:pt x="334286" y="325439"/>
                  <a:pt x="332621" y="319486"/>
                  <a:pt x="330500" y="317309"/>
                </a:cubicBezTo>
                <a:cubicBezTo>
                  <a:pt x="329244" y="316537"/>
                  <a:pt x="327968" y="316216"/>
                  <a:pt x="326672" y="316347"/>
                </a:cubicBezTo>
                <a:close/>
                <a:moveTo>
                  <a:pt x="90072" y="314517"/>
                </a:moveTo>
                <a:cubicBezTo>
                  <a:pt x="88181" y="314481"/>
                  <a:pt x="85529" y="315049"/>
                  <a:pt x="82115" y="316221"/>
                </a:cubicBezTo>
                <a:cubicBezTo>
                  <a:pt x="78822" y="316221"/>
                  <a:pt x="74432" y="316919"/>
                  <a:pt x="68944" y="318314"/>
                </a:cubicBezTo>
                <a:cubicBezTo>
                  <a:pt x="41001" y="328025"/>
                  <a:pt x="20240" y="340294"/>
                  <a:pt x="6659" y="355121"/>
                </a:cubicBezTo>
                <a:cubicBezTo>
                  <a:pt x="-7721" y="387658"/>
                  <a:pt x="1190" y="408606"/>
                  <a:pt x="33393" y="417964"/>
                </a:cubicBezTo>
                <a:cubicBezTo>
                  <a:pt x="52480" y="417964"/>
                  <a:pt x="62712" y="406969"/>
                  <a:pt x="64088" y="384980"/>
                </a:cubicBezTo>
                <a:cubicBezTo>
                  <a:pt x="65205" y="364051"/>
                  <a:pt x="72683" y="346107"/>
                  <a:pt x="86524" y="331150"/>
                </a:cubicBezTo>
                <a:cubicBezTo>
                  <a:pt x="94561" y="320170"/>
                  <a:pt x="95743" y="314625"/>
                  <a:pt x="90072" y="314517"/>
                </a:cubicBezTo>
                <a:close/>
                <a:moveTo>
                  <a:pt x="187597" y="314463"/>
                </a:moveTo>
                <a:cubicBezTo>
                  <a:pt x="184025" y="314463"/>
                  <a:pt x="177449" y="315663"/>
                  <a:pt x="167868" y="318063"/>
                </a:cubicBezTo>
                <a:cubicBezTo>
                  <a:pt x="140149" y="326881"/>
                  <a:pt x="121899" y="339420"/>
                  <a:pt x="113118" y="355679"/>
                </a:cubicBezTo>
                <a:cubicBezTo>
                  <a:pt x="103630" y="385742"/>
                  <a:pt x="112662" y="404169"/>
                  <a:pt x="140214" y="410959"/>
                </a:cubicBezTo>
                <a:cubicBezTo>
                  <a:pt x="159506" y="410959"/>
                  <a:pt x="169152" y="398086"/>
                  <a:pt x="169152" y="372338"/>
                </a:cubicBezTo>
                <a:cubicBezTo>
                  <a:pt x="169152" y="352712"/>
                  <a:pt x="173217" y="338322"/>
                  <a:pt x="181346" y="329169"/>
                </a:cubicBezTo>
                <a:cubicBezTo>
                  <a:pt x="188397" y="323941"/>
                  <a:pt x="190481" y="319039"/>
                  <a:pt x="187597" y="314463"/>
                </a:cubicBezTo>
                <a:close/>
                <a:moveTo>
                  <a:pt x="277968" y="311505"/>
                </a:moveTo>
                <a:cubicBezTo>
                  <a:pt x="274629" y="311868"/>
                  <a:pt x="269620" y="313003"/>
                  <a:pt x="262941" y="314909"/>
                </a:cubicBezTo>
                <a:cubicBezTo>
                  <a:pt x="234701" y="328434"/>
                  <a:pt x="216898" y="342564"/>
                  <a:pt x="209531" y="357298"/>
                </a:cubicBezTo>
                <a:cubicBezTo>
                  <a:pt x="198815" y="387528"/>
                  <a:pt x="209121" y="406002"/>
                  <a:pt x="240450" y="412717"/>
                </a:cubicBezTo>
                <a:cubicBezTo>
                  <a:pt x="260616" y="411285"/>
                  <a:pt x="269536" y="397118"/>
                  <a:pt x="267211" y="370218"/>
                </a:cubicBezTo>
                <a:cubicBezTo>
                  <a:pt x="264867" y="350610"/>
                  <a:pt x="266634" y="337485"/>
                  <a:pt x="272513" y="330843"/>
                </a:cubicBezTo>
                <a:cubicBezTo>
                  <a:pt x="280643" y="318770"/>
                  <a:pt x="284131" y="312733"/>
                  <a:pt x="282977" y="312733"/>
                </a:cubicBezTo>
                <a:cubicBezTo>
                  <a:pt x="282977" y="311551"/>
                  <a:pt x="281308" y="311142"/>
                  <a:pt x="277968" y="311505"/>
                </a:cubicBezTo>
                <a:close/>
                <a:moveTo>
                  <a:pt x="637411" y="288371"/>
                </a:moveTo>
                <a:lnTo>
                  <a:pt x="637411" y="330229"/>
                </a:lnTo>
                <a:lnTo>
                  <a:pt x="576578" y="330229"/>
                </a:lnTo>
                <a:lnTo>
                  <a:pt x="560588" y="304138"/>
                </a:lnTo>
                <a:cubicBezTo>
                  <a:pt x="576922" y="307635"/>
                  <a:pt x="584503" y="302380"/>
                  <a:pt x="583331" y="288371"/>
                </a:cubicBezTo>
                <a:close/>
                <a:moveTo>
                  <a:pt x="1182178" y="241100"/>
                </a:moveTo>
                <a:lnTo>
                  <a:pt x="1182178" y="272438"/>
                </a:lnTo>
                <a:lnTo>
                  <a:pt x="1049293" y="272438"/>
                </a:lnTo>
                <a:lnTo>
                  <a:pt x="1049293" y="241100"/>
                </a:lnTo>
                <a:close/>
                <a:moveTo>
                  <a:pt x="637411" y="225333"/>
                </a:moveTo>
                <a:lnTo>
                  <a:pt x="637411" y="270707"/>
                </a:lnTo>
                <a:lnTo>
                  <a:pt x="583331" y="270707"/>
                </a:lnTo>
                <a:lnTo>
                  <a:pt x="583331" y="225333"/>
                </a:lnTo>
                <a:close/>
                <a:moveTo>
                  <a:pt x="752995" y="225333"/>
                </a:moveTo>
                <a:lnTo>
                  <a:pt x="752995" y="268949"/>
                </a:lnTo>
                <a:lnTo>
                  <a:pt x="697157" y="268949"/>
                </a:lnTo>
                <a:lnTo>
                  <a:pt x="697157" y="225333"/>
                </a:lnTo>
                <a:close/>
                <a:moveTo>
                  <a:pt x="1170514" y="197317"/>
                </a:moveTo>
                <a:cubicBezTo>
                  <a:pt x="1180616" y="196163"/>
                  <a:pt x="1184504" y="199679"/>
                  <a:pt x="1182178" y="207865"/>
                </a:cubicBezTo>
                <a:lnTo>
                  <a:pt x="1182178" y="225166"/>
                </a:lnTo>
                <a:lnTo>
                  <a:pt x="1049293" y="225166"/>
                </a:lnTo>
                <a:lnTo>
                  <a:pt x="1049293" y="197317"/>
                </a:lnTo>
                <a:close/>
                <a:moveTo>
                  <a:pt x="1604553" y="188582"/>
                </a:moveTo>
                <a:cubicBezTo>
                  <a:pt x="1622710" y="230459"/>
                  <a:pt x="1648327" y="264252"/>
                  <a:pt x="1681404" y="289962"/>
                </a:cubicBezTo>
                <a:lnTo>
                  <a:pt x="1604553" y="289962"/>
                </a:lnTo>
                <a:close/>
                <a:moveTo>
                  <a:pt x="250830" y="181578"/>
                </a:moveTo>
                <a:cubicBezTo>
                  <a:pt x="259276" y="182415"/>
                  <a:pt x="263499" y="185299"/>
                  <a:pt x="263499" y="190229"/>
                </a:cubicBezTo>
                <a:lnTo>
                  <a:pt x="263499" y="261945"/>
                </a:lnTo>
                <a:lnTo>
                  <a:pt x="132373" y="261945"/>
                </a:lnTo>
                <a:lnTo>
                  <a:pt x="132373" y="181578"/>
                </a:lnTo>
                <a:close/>
                <a:moveTo>
                  <a:pt x="737759" y="165812"/>
                </a:moveTo>
                <a:cubicBezTo>
                  <a:pt x="750242" y="164639"/>
                  <a:pt x="755321" y="168156"/>
                  <a:pt x="752995" y="176360"/>
                </a:cubicBezTo>
                <a:lnTo>
                  <a:pt x="752995" y="209400"/>
                </a:lnTo>
                <a:lnTo>
                  <a:pt x="697157" y="209400"/>
                </a:lnTo>
                <a:lnTo>
                  <a:pt x="697157" y="165812"/>
                </a:lnTo>
                <a:close/>
                <a:moveTo>
                  <a:pt x="1229548" y="165184"/>
                </a:moveTo>
                <a:cubicBezTo>
                  <a:pt x="1224915" y="165677"/>
                  <a:pt x="1219311" y="167783"/>
                  <a:pt x="1212735" y="171504"/>
                </a:cubicBezTo>
                <a:cubicBezTo>
                  <a:pt x="1199340" y="177085"/>
                  <a:pt x="1189118" y="180378"/>
                  <a:pt x="1182067" y="181383"/>
                </a:cubicBezTo>
                <a:lnTo>
                  <a:pt x="1049991" y="181383"/>
                </a:lnTo>
                <a:cubicBezTo>
                  <a:pt x="1052707" y="181364"/>
                  <a:pt x="1054214" y="180611"/>
                  <a:pt x="1054512" y="179122"/>
                </a:cubicBezTo>
                <a:cubicBezTo>
                  <a:pt x="1050121" y="171793"/>
                  <a:pt x="1044559" y="167300"/>
                  <a:pt x="1037824" y="165644"/>
                </a:cubicBezTo>
                <a:cubicBezTo>
                  <a:pt x="1010607" y="166909"/>
                  <a:pt x="988683" y="177913"/>
                  <a:pt x="972052" y="198656"/>
                </a:cubicBezTo>
                <a:cubicBezTo>
                  <a:pt x="973745" y="204423"/>
                  <a:pt x="977075" y="209790"/>
                  <a:pt x="982042" y="214757"/>
                </a:cubicBezTo>
                <a:cubicBezTo>
                  <a:pt x="983549" y="217008"/>
                  <a:pt x="984302" y="218171"/>
                  <a:pt x="984302" y="218246"/>
                </a:cubicBezTo>
                <a:lnTo>
                  <a:pt x="984302" y="283962"/>
                </a:lnTo>
                <a:cubicBezTo>
                  <a:pt x="983130" y="303068"/>
                  <a:pt x="995790" y="313300"/>
                  <a:pt x="1022281" y="314658"/>
                </a:cubicBezTo>
                <a:cubicBezTo>
                  <a:pt x="1043787" y="318156"/>
                  <a:pt x="1052791" y="312119"/>
                  <a:pt x="1049293" y="296548"/>
                </a:cubicBezTo>
                <a:lnTo>
                  <a:pt x="1049293" y="290130"/>
                </a:lnTo>
                <a:lnTo>
                  <a:pt x="1080715" y="290130"/>
                </a:lnTo>
                <a:cubicBezTo>
                  <a:pt x="1086482" y="290130"/>
                  <a:pt x="1088193" y="293599"/>
                  <a:pt x="1085849" y="300538"/>
                </a:cubicBezTo>
                <a:lnTo>
                  <a:pt x="1085849" y="326741"/>
                </a:lnTo>
                <a:lnTo>
                  <a:pt x="998422" y="326741"/>
                </a:lnTo>
                <a:cubicBezTo>
                  <a:pt x="999538" y="326741"/>
                  <a:pt x="998320" y="324072"/>
                  <a:pt x="994766" y="318732"/>
                </a:cubicBezTo>
                <a:cubicBezTo>
                  <a:pt x="986916" y="303050"/>
                  <a:pt x="979102" y="295208"/>
                  <a:pt x="971326" y="295208"/>
                </a:cubicBezTo>
                <a:cubicBezTo>
                  <a:pt x="960517" y="297924"/>
                  <a:pt x="945263" y="307282"/>
                  <a:pt x="925561" y="323281"/>
                </a:cubicBezTo>
                <a:cubicBezTo>
                  <a:pt x="921524" y="329197"/>
                  <a:pt x="920092" y="333699"/>
                  <a:pt x="921264" y="336787"/>
                </a:cubicBezTo>
                <a:cubicBezTo>
                  <a:pt x="921264" y="343038"/>
                  <a:pt x="925719" y="345577"/>
                  <a:pt x="934631" y="344405"/>
                </a:cubicBezTo>
                <a:lnTo>
                  <a:pt x="1085849" y="344405"/>
                </a:lnTo>
                <a:lnTo>
                  <a:pt x="1085849" y="407192"/>
                </a:lnTo>
                <a:cubicBezTo>
                  <a:pt x="1083524" y="420029"/>
                  <a:pt x="1096639" y="427098"/>
                  <a:pt x="1125196" y="428400"/>
                </a:cubicBezTo>
                <a:cubicBezTo>
                  <a:pt x="1144636" y="431953"/>
                  <a:pt x="1153194" y="426010"/>
                  <a:pt x="1150869" y="410569"/>
                </a:cubicBezTo>
                <a:lnTo>
                  <a:pt x="1150869" y="344405"/>
                </a:lnTo>
                <a:lnTo>
                  <a:pt x="1299604" y="344405"/>
                </a:lnTo>
                <a:cubicBezTo>
                  <a:pt x="1307678" y="344405"/>
                  <a:pt x="1312794" y="342266"/>
                  <a:pt x="1314952" y="337987"/>
                </a:cubicBezTo>
                <a:cubicBezTo>
                  <a:pt x="1316459" y="332518"/>
                  <a:pt x="1312691" y="328769"/>
                  <a:pt x="1303650" y="326741"/>
                </a:cubicBezTo>
                <a:lnTo>
                  <a:pt x="1150869" y="326741"/>
                </a:lnTo>
                <a:lnTo>
                  <a:pt x="1150869" y="290130"/>
                </a:lnTo>
                <a:lnTo>
                  <a:pt x="1182178" y="290130"/>
                </a:lnTo>
                <a:lnTo>
                  <a:pt x="1182178" y="293785"/>
                </a:lnTo>
                <a:cubicBezTo>
                  <a:pt x="1183927" y="302622"/>
                  <a:pt x="1196559" y="308993"/>
                  <a:pt x="1220074" y="312900"/>
                </a:cubicBezTo>
                <a:cubicBezTo>
                  <a:pt x="1239310" y="316398"/>
                  <a:pt x="1248342" y="310435"/>
                  <a:pt x="1247170" y="295013"/>
                </a:cubicBezTo>
                <a:lnTo>
                  <a:pt x="1247170" y="194219"/>
                </a:lnTo>
                <a:cubicBezTo>
                  <a:pt x="1248342" y="179969"/>
                  <a:pt x="1246128" y="171411"/>
                  <a:pt x="1240528" y="168546"/>
                </a:cubicBezTo>
                <a:cubicBezTo>
                  <a:pt x="1237840" y="165812"/>
                  <a:pt x="1234180" y="164691"/>
                  <a:pt x="1229548" y="165184"/>
                </a:cubicBezTo>
                <a:close/>
                <a:moveTo>
                  <a:pt x="637411" y="164053"/>
                </a:moveTo>
                <a:lnTo>
                  <a:pt x="637411" y="209400"/>
                </a:lnTo>
                <a:lnTo>
                  <a:pt x="583331" y="209400"/>
                </a:lnTo>
                <a:lnTo>
                  <a:pt x="583331" y="164053"/>
                </a:lnTo>
                <a:close/>
                <a:moveTo>
                  <a:pt x="1539561" y="122028"/>
                </a:moveTo>
                <a:lnTo>
                  <a:pt x="1539561" y="289962"/>
                </a:lnTo>
                <a:lnTo>
                  <a:pt x="1537915" y="289962"/>
                </a:lnTo>
                <a:cubicBezTo>
                  <a:pt x="1537747" y="289962"/>
                  <a:pt x="1534696" y="286009"/>
                  <a:pt x="1528762" y="278102"/>
                </a:cubicBezTo>
                <a:cubicBezTo>
                  <a:pt x="1523795" y="269433"/>
                  <a:pt x="1519228" y="264047"/>
                  <a:pt x="1515060" y="261945"/>
                </a:cubicBezTo>
                <a:cubicBezTo>
                  <a:pt x="1508140" y="261945"/>
                  <a:pt x="1500615" y="264847"/>
                  <a:pt x="1492485" y="270652"/>
                </a:cubicBezTo>
                <a:cubicBezTo>
                  <a:pt x="1518102" y="240514"/>
                  <a:pt x="1533729" y="190973"/>
                  <a:pt x="1539366" y="122028"/>
                </a:cubicBezTo>
                <a:close/>
                <a:moveTo>
                  <a:pt x="1178662" y="78245"/>
                </a:moveTo>
                <a:cubicBezTo>
                  <a:pt x="1159798" y="81184"/>
                  <a:pt x="1145306" y="88970"/>
                  <a:pt x="1135186" y="101601"/>
                </a:cubicBezTo>
                <a:cubicBezTo>
                  <a:pt x="1129158" y="116019"/>
                  <a:pt x="1132563" y="128605"/>
                  <a:pt x="1145399" y="139357"/>
                </a:cubicBezTo>
                <a:lnTo>
                  <a:pt x="1103737" y="139357"/>
                </a:lnTo>
                <a:cubicBezTo>
                  <a:pt x="1089617" y="112252"/>
                  <a:pt x="1082556" y="91881"/>
                  <a:pt x="1082556" y="78245"/>
                </a:cubicBezTo>
                <a:close/>
                <a:moveTo>
                  <a:pt x="215553" y="11133"/>
                </a:moveTo>
                <a:cubicBezTo>
                  <a:pt x="212440" y="10891"/>
                  <a:pt x="208712" y="11077"/>
                  <a:pt x="204368" y="11691"/>
                </a:cubicBezTo>
                <a:cubicBezTo>
                  <a:pt x="201168" y="12751"/>
                  <a:pt x="199085" y="13281"/>
                  <a:pt x="198117" y="13281"/>
                </a:cubicBezTo>
                <a:cubicBezTo>
                  <a:pt x="168166" y="14714"/>
                  <a:pt x="154520" y="20155"/>
                  <a:pt x="157180" y="29606"/>
                </a:cubicBezTo>
                <a:cubicBezTo>
                  <a:pt x="158706" y="32620"/>
                  <a:pt x="160817" y="35494"/>
                  <a:pt x="163515" y="38229"/>
                </a:cubicBezTo>
                <a:cubicBezTo>
                  <a:pt x="167124" y="41838"/>
                  <a:pt x="168928" y="45224"/>
                  <a:pt x="168928" y="48386"/>
                </a:cubicBezTo>
                <a:lnTo>
                  <a:pt x="168928" y="81593"/>
                </a:lnTo>
                <a:lnTo>
                  <a:pt x="93752" y="81593"/>
                </a:lnTo>
                <a:cubicBezTo>
                  <a:pt x="93752" y="81593"/>
                  <a:pt x="91454" y="77984"/>
                  <a:pt x="86859" y="70766"/>
                </a:cubicBezTo>
                <a:cubicBezTo>
                  <a:pt x="77167" y="53446"/>
                  <a:pt x="67967" y="46135"/>
                  <a:pt x="59261" y="48833"/>
                </a:cubicBezTo>
                <a:cubicBezTo>
                  <a:pt x="48508" y="57223"/>
                  <a:pt x="35765" y="67548"/>
                  <a:pt x="21031" y="79807"/>
                </a:cubicBezTo>
                <a:cubicBezTo>
                  <a:pt x="16901" y="83919"/>
                  <a:pt x="14835" y="86868"/>
                  <a:pt x="14835" y="88653"/>
                </a:cubicBezTo>
                <a:cubicBezTo>
                  <a:pt x="14835" y="94569"/>
                  <a:pt x="17793" y="97527"/>
                  <a:pt x="23709" y="97527"/>
                </a:cubicBezTo>
                <a:lnTo>
                  <a:pt x="168928" y="97527"/>
                </a:lnTo>
                <a:lnTo>
                  <a:pt x="168928" y="163886"/>
                </a:lnTo>
                <a:lnTo>
                  <a:pt x="131312" y="163886"/>
                </a:lnTo>
                <a:cubicBezTo>
                  <a:pt x="133061" y="163867"/>
                  <a:pt x="133414" y="161942"/>
                  <a:pt x="132373" y="158110"/>
                </a:cubicBezTo>
                <a:cubicBezTo>
                  <a:pt x="126866" y="148492"/>
                  <a:pt x="120345" y="142232"/>
                  <a:pt x="112811" y="139329"/>
                </a:cubicBezTo>
                <a:cubicBezTo>
                  <a:pt x="89296" y="148185"/>
                  <a:pt x="70646" y="162770"/>
                  <a:pt x="56861" y="183085"/>
                </a:cubicBezTo>
                <a:cubicBezTo>
                  <a:pt x="58572" y="188778"/>
                  <a:pt x="63028" y="194507"/>
                  <a:pt x="70227" y="200275"/>
                </a:cubicBezTo>
                <a:cubicBezTo>
                  <a:pt x="71827" y="201335"/>
                  <a:pt x="72627" y="201484"/>
                  <a:pt x="72627" y="200721"/>
                </a:cubicBezTo>
                <a:lnTo>
                  <a:pt x="72627" y="282037"/>
                </a:lnTo>
                <a:cubicBezTo>
                  <a:pt x="76981" y="296604"/>
                  <a:pt x="88915" y="304538"/>
                  <a:pt x="108430" y="305840"/>
                </a:cubicBezTo>
                <a:cubicBezTo>
                  <a:pt x="127889" y="308203"/>
                  <a:pt x="135870" y="303385"/>
                  <a:pt x="132373" y="291385"/>
                </a:cubicBezTo>
                <a:lnTo>
                  <a:pt x="132373" y="277879"/>
                </a:lnTo>
                <a:lnTo>
                  <a:pt x="137535" y="277879"/>
                </a:lnTo>
                <a:lnTo>
                  <a:pt x="263499" y="277879"/>
                </a:lnTo>
                <a:lnTo>
                  <a:pt x="263499" y="291274"/>
                </a:lnTo>
                <a:cubicBezTo>
                  <a:pt x="269545" y="303347"/>
                  <a:pt x="282224" y="309384"/>
                  <a:pt x="301534" y="309384"/>
                </a:cubicBezTo>
                <a:cubicBezTo>
                  <a:pt x="314836" y="310556"/>
                  <a:pt x="320901" y="305077"/>
                  <a:pt x="319729" y="292948"/>
                </a:cubicBezTo>
                <a:lnTo>
                  <a:pt x="319729" y="153449"/>
                </a:lnTo>
                <a:cubicBezTo>
                  <a:pt x="319729" y="144036"/>
                  <a:pt x="307162" y="145357"/>
                  <a:pt x="282029" y="157412"/>
                </a:cubicBezTo>
                <a:cubicBezTo>
                  <a:pt x="270141" y="161728"/>
                  <a:pt x="262830" y="163886"/>
                  <a:pt x="260095" y="163886"/>
                </a:cubicBezTo>
                <a:lnTo>
                  <a:pt x="226943" y="163886"/>
                </a:lnTo>
                <a:lnTo>
                  <a:pt x="226943" y="148203"/>
                </a:lnTo>
                <a:lnTo>
                  <a:pt x="226943" y="24862"/>
                </a:lnTo>
                <a:cubicBezTo>
                  <a:pt x="228688" y="16435"/>
                  <a:pt x="224891" y="11858"/>
                  <a:pt x="215553" y="11133"/>
                </a:cubicBezTo>
                <a:close/>
                <a:moveTo>
                  <a:pt x="1149983" y="6033"/>
                </a:moveTo>
                <a:cubicBezTo>
                  <a:pt x="1146011" y="5638"/>
                  <a:pt x="1140930" y="5738"/>
                  <a:pt x="1134739" y="6333"/>
                </a:cubicBezTo>
                <a:cubicBezTo>
                  <a:pt x="1109643" y="7579"/>
                  <a:pt x="1093002" y="12305"/>
                  <a:pt x="1084817" y="20509"/>
                </a:cubicBezTo>
                <a:cubicBezTo>
                  <a:pt x="1072669" y="40061"/>
                  <a:pt x="1073013" y="53418"/>
                  <a:pt x="1085849" y="60581"/>
                </a:cubicBezTo>
                <a:lnTo>
                  <a:pt x="1022923" y="60581"/>
                </a:lnTo>
                <a:cubicBezTo>
                  <a:pt x="1024169" y="60581"/>
                  <a:pt x="1023035" y="57706"/>
                  <a:pt x="1019518" y="51958"/>
                </a:cubicBezTo>
                <a:cubicBezTo>
                  <a:pt x="1010589" y="34917"/>
                  <a:pt x="1002682" y="25532"/>
                  <a:pt x="995799" y="23802"/>
                </a:cubicBezTo>
                <a:cubicBezTo>
                  <a:pt x="985400" y="23802"/>
                  <a:pt x="968433" y="34340"/>
                  <a:pt x="944900" y="55418"/>
                </a:cubicBezTo>
                <a:cubicBezTo>
                  <a:pt x="939654" y="63027"/>
                  <a:pt x="938723" y="68971"/>
                  <a:pt x="942109" y="73250"/>
                </a:cubicBezTo>
                <a:cubicBezTo>
                  <a:pt x="945681" y="76580"/>
                  <a:pt x="953002" y="77668"/>
                  <a:pt x="964071" y="76515"/>
                </a:cubicBezTo>
                <a:lnTo>
                  <a:pt x="1035089" y="76515"/>
                </a:lnTo>
                <a:cubicBezTo>
                  <a:pt x="1002403" y="89295"/>
                  <a:pt x="997111" y="99695"/>
                  <a:pt x="1019211" y="107713"/>
                </a:cubicBezTo>
                <a:cubicBezTo>
                  <a:pt x="1024309" y="110261"/>
                  <a:pt x="1027406" y="111536"/>
                  <a:pt x="1028504" y="111536"/>
                </a:cubicBezTo>
                <a:cubicBezTo>
                  <a:pt x="1044466" y="121098"/>
                  <a:pt x="1057163" y="130372"/>
                  <a:pt x="1066595" y="139357"/>
                </a:cubicBezTo>
                <a:lnTo>
                  <a:pt x="991557" y="139357"/>
                </a:lnTo>
                <a:cubicBezTo>
                  <a:pt x="979074" y="117796"/>
                  <a:pt x="967652" y="105545"/>
                  <a:pt x="957290" y="102606"/>
                </a:cubicBezTo>
                <a:cubicBezTo>
                  <a:pt x="950369" y="102606"/>
                  <a:pt x="937189" y="111099"/>
                  <a:pt x="917748" y="128084"/>
                </a:cubicBezTo>
                <a:cubicBezTo>
                  <a:pt x="915255" y="130539"/>
                  <a:pt x="912716" y="132409"/>
                  <a:pt x="910130" y="133693"/>
                </a:cubicBezTo>
                <a:cubicBezTo>
                  <a:pt x="904716" y="142901"/>
                  <a:pt x="902586" y="148454"/>
                  <a:pt x="903739" y="150352"/>
                </a:cubicBezTo>
                <a:cubicBezTo>
                  <a:pt x="903739" y="154817"/>
                  <a:pt x="909879" y="156463"/>
                  <a:pt x="922157" y="155291"/>
                </a:cubicBezTo>
                <a:lnTo>
                  <a:pt x="1313612" y="155291"/>
                </a:lnTo>
                <a:cubicBezTo>
                  <a:pt x="1321686" y="155291"/>
                  <a:pt x="1326532" y="153691"/>
                  <a:pt x="1328151" y="150492"/>
                </a:cubicBezTo>
                <a:cubicBezTo>
                  <a:pt x="1331369" y="146027"/>
                  <a:pt x="1328458" y="142315"/>
                  <a:pt x="1319417" y="139357"/>
                </a:cubicBezTo>
                <a:lnTo>
                  <a:pt x="1191136" y="139357"/>
                </a:lnTo>
                <a:cubicBezTo>
                  <a:pt x="1198131" y="137367"/>
                  <a:pt x="1200466" y="129795"/>
                  <a:pt x="1198140" y="116642"/>
                </a:cubicBezTo>
                <a:cubicBezTo>
                  <a:pt x="1195796" y="100197"/>
                  <a:pt x="1198364" y="87398"/>
                  <a:pt x="1205842" y="78245"/>
                </a:cubicBezTo>
                <a:lnTo>
                  <a:pt x="1278591" y="78245"/>
                </a:lnTo>
                <a:cubicBezTo>
                  <a:pt x="1285977" y="78245"/>
                  <a:pt x="1291344" y="76580"/>
                  <a:pt x="1294693" y="73250"/>
                </a:cubicBezTo>
                <a:cubicBezTo>
                  <a:pt x="1298023" y="67129"/>
                  <a:pt x="1295176" y="62906"/>
                  <a:pt x="1286153" y="60581"/>
                </a:cubicBezTo>
                <a:lnTo>
                  <a:pt x="1136042" y="60581"/>
                </a:lnTo>
                <a:lnTo>
                  <a:pt x="1137551" y="59046"/>
                </a:lnTo>
                <a:cubicBezTo>
                  <a:pt x="1138718" y="56944"/>
                  <a:pt x="1139651" y="53251"/>
                  <a:pt x="1140348" y="47968"/>
                </a:cubicBezTo>
                <a:cubicBezTo>
                  <a:pt x="1142376" y="37494"/>
                  <a:pt x="1147520" y="29159"/>
                  <a:pt x="1155780" y="22964"/>
                </a:cubicBezTo>
                <a:cubicBezTo>
                  <a:pt x="1163831" y="12863"/>
                  <a:pt x="1161898" y="7219"/>
                  <a:pt x="1149983" y="6033"/>
                </a:cubicBezTo>
                <a:close/>
                <a:moveTo>
                  <a:pt x="582640" y="3654"/>
                </a:moveTo>
                <a:cubicBezTo>
                  <a:pt x="574534" y="4640"/>
                  <a:pt x="566448" y="8258"/>
                  <a:pt x="558384" y="14509"/>
                </a:cubicBezTo>
                <a:cubicBezTo>
                  <a:pt x="513010" y="48833"/>
                  <a:pt x="509922" y="64822"/>
                  <a:pt x="549119" y="62478"/>
                </a:cubicBezTo>
                <a:cubicBezTo>
                  <a:pt x="554719" y="61306"/>
                  <a:pt x="557686" y="60730"/>
                  <a:pt x="558021" y="60748"/>
                </a:cubicBezTo>
                <a:cubicBezTo>
                  <a:pt x="568420" y="63055"/>
                  <a:pt x="582550" y="64804"/>
                  <a:pt x="600409" y="65994"/>
                </a:cubicBezTo>
                <a:cubicBezTo>
                  <a:pt x="619013" y="67166"/>
                  <a:pt x="631347" y="67752"/>
                  <a:pt x="637411" y="67752"/>
                </a:cubicBezTo>
                <a:lnTo>
                  <a:pt x="637411" y="99090"/>
                </a:lnTo>
                <a:lnTo>
                  <a:pt x="530702" y="99090"/>
                </a:lnTo>
                <a:cubicBezTo>
                  <a:pt x="530683" y="99090"/>
                  <a:pt x="526907" y="93193"/>
                  <a:pt x="519372" y="81398"/>
                </a:cubicBezTo>
                <a:cubicBezTo>
                  <a:pt x="511094" y="69548"/>
                  <a:pt x="504917" y="62609"/>
                  <a:pt x="500843" y="60581"/>
                </a:cubicBezTo>
                <a:cubicBezTo>
                  <a:pt x="493439" y="60581"/>
                  <a:pt x="477942" y="71110"/>
                  <a:pt x="454353" y="92170"/>
                </a:cubicBezTo>
                <a:cubicBezTo>
                  <a:pt x="445646" y="107406"/>
                  <a:pt x="446586" y="115024"/>
                  <a:pt x="457171" y="115024"/>
                </a:cubicBezTo>
                <a:lnTo>
                  <a:pt x="637411" y="115024"/>
                </a:lnTo>
                <a:lnTo>
                  <a:pt x="637411" y="148120"/>
                </a:lnTo>
                <a:lnTo>
                  <a:pt x="588493" y="148120"/>
                </a:lnTo>
                <a:cubicBezTo>
                  <a:pt x="589182" y="148120"/>
                  <a:pt x="586661" y="145255"/>
                  <a:pt x="580931" y="139525"/>
                </a:cubicBezTo>
                <a:cubicBezTo>
                  <a:pt x="572969" y="128921"/>
                  <a:pt x="565667" y="123619"/>
                  <a:pt x="559025" y="123619"/>
                </a:cubicBezTo>
                <a:cubicBezTo>
                  <a:pt x="531232" y="136232"/>
                  <a:pt x="513587" y="152203"/>
                  <a:pt x="506089" y="171532"/>
                </a:cubicBezTo>
                <a:cubicBezTo>
                  <a:pt x="508303" y="176425"/>
                  <a:pt x="511615" y="179606"/>
                  <a:pt x="516023" y="181076"/>
                </a:cubicBezTo>
                <a:cubicBezTo>
                  <a:pt x="517568" y="182099"/>
                  <a:pt x="518340" y="182229"/>
                  <a:pt x="518340" y="181466"/>
                </a:cubicBezTo>
                <a:lnTo>
                  <a:pt x="518340" y="279526"/>
                </a:lnTo>
                <a:cubicBezTo>
                  <a:pt x="518340" y="290427"/>
                  <a:pt x="524758" y="297050"/>
                  <a:pt x="537594" y="299394"/>
                </a:cubicBezTo>
                <a:cubicBezTo>
                  <a:pt x="520925" y="306891"/>
                  <a:pt x="507140" y="316695"/>
                  <a:pt x="496239" y="328806"/>
                </a:cubicBezTo>
                <a:cubicBezTo>
                  <a:pt x="492295" y="338052"/>
                  <a:pt x="494146" y="343838"/>
                  <a:pt x="501792" y="346163"/>
                </a:cubicBezTo>
                <a:lnTo>
                  <a:pt x="637411" y="346163"/>
                </a:lnTo>
                <a:lnTo>
                  <a:pt x="637411" y="389779"/>
                </a:lnTo>
                <a:lnTo>
                  <a:pt x="547501" y="389779"/>
                </a:lnTo>
                <a:cubicBezTo>
                  <a:pt x="546589" y="388849"/>
                  <a:pt x="543929" y="383975"/>
                  <a:pt x="539520" y="375157"/>
                </a:cubicBezTo>
                <a:cubicBezTo>
                  <a:pt x="530106" y="360386"/>
                  <a:pt x="522497" y="353000"/>
                  <a:pt x="516693" y="353000"/>
                </a:cubicBezTo>
                <a:cubicBezTo>
                  <a:pt x="510554" y="353000"/>
                  <a:pt x="497727" y="360302"/>
                  <a:pt x="478212" y="374906"/>
                </a:cubicBezTo>
                <a:cubicBezTo>
                  <a:pt x="476835" y="376189"/>
                  <a:pt x="475459" y="377520"/>
                  <a:pt x="474082" y="378896"/>
                </a:cubicBezTo>
                <a:cubicBezTo>
                  <a:pt x="466585" y="383882"/>
                  <a:pt x="462073" y="388672"/>
                  <a:pt x="460548" y="393267"/>
                </a:cubicBezTo>
                <a:cubicBezTo>
                  <a:pt x="460548" y="399648"/>
                  <a:pt x="464371" y="403797"/>
                  <a:pt x="472017" y="405713"/>
                </a:cubicBezTo>
                <a:lnTo>
                  <a:pt x="845138" y="405713"/>
                </a:lnTo>
                <a:cubicBezTo>
                  <a:pt x="850999" y="404243"/>
                  <a:pt x="855956" y="401481"/>
                  <a:pt x="860012" y="397425"/>
                </a:cubicBezTo>
                <a:cubicBezTo>
                  <a:pt x="860012" y="392328"/>
                  <a:pt x="855891" y="389779"/>
                  <a:pt x="847650" y="389779"/>
                </a:cubicBezTo>
                <a:lnTo>
                  <a:pt x="697157" y="389779"/>
                </a:lnTo>
                <a:lnTo>
                  <a:pt x="697157" y="347921"/>
                </a:lnTo>
                <a:lnTo>
                  <a:pt x="819633" y="347921"/>
                </a:lnTo>
                <a:cubicBezTo>
                  <a:pt x="825865" y="347921"/>
                  <a:pt x="830842" y="346061"/>
                  <a:pt x="834562" y="342340"/>
                </a:cubicBezTo>
                <a:cubicBezTo>
                  <a:pt x="836348" y="336480"/>
                  <a:pt x="833418" y="332443"/>
                  <a:pt x="825772" y="330229"/>
                </a:cubicBezTo>
                <a:lnTo>
                  <a:pt x="697157" y="330229"/>
                </a:lnTo>
                <a:lnTo>
                  <a:pt x="697157" y="284883"/>
                </a:lnTo>
                <a:lnTo>
                  <a:pt x="751237" y="284883"/>
                </a:lnTo>
                <a:cubicBezTo>
                  <a:pt x="751237" y="299748"/>
                  <a:pt x="758409" y="307887"/>
                  <a:pt x="772752" y="309300"/>
                </a:cubicBezTo>
                <a:cubicBezTo>
                  <a:pt x="799411" y="316370"/>
                  <a:pt x="811568" y="310947"/>
                  <a:pt x="809224" y="293032"/>
                </a:cubicBezTo>
                <a:lnTo>
                  <a:pt x="809224" y="147115"/>
                </a:lnTo>
                <a:cubicBezTo>
                  <a:pt x="810396" y="139525"/>
                  <a:pt x="808024" y="134679"/>
                  <a:pt x="802109" y="132576"/>
                </a:cubicBezTo>
                <a:cubicBezTo>
                  <a:pt x="797067" y="130083"/>
                  <a:pt x="789942" y="131572"/>
                  <a:pt x="780733" y="137041"/>
                </a:cubicBezTo>
                <a:cubicBezTo>
                  <a:pt x="779580" y="138195"/>
                  <a:pt x="778231" y="139153"/>
                  <a:pt x="776687" y="139915"/>
                </a:cubicBezTo>
                <a:cubicBezTo>
                  <a:pt x="766008" y="145366"/>
                  <a:pt x="758325" y="148101"/>
                  <a:pt x="753637" y="148120"/>
                </a:cubicBezTo>
                <a:lnTo>
                  <a:pt x="697157" y="148120"/>
                </a:lnTo>
                <a:lnTo>
                  <a:pt x="697157" y="115024"/>
                </a:lnTo>
                <a:lnTo>
                  <a:pt x="863416" y="115024"/>
                </a:lnTo>
                <a:cubicBezTo>
                  <a:pt x="871490" y="115024"/>
                  <a:pt x="876337" y="113424"/>
                  <a:pt x="877955" y="110224"/>
                </a:cubicBezTo>
                <a:cubicBezTo>
                  <a:pt x="881173" y="105759"/>
                  <a:pt x="878262" y="102048"/>
                  <a:pt x="869221" y="99090"/>
                </a:cubicBezTo>
                <a:lnTo>
                  <a:pt x="697157" y="99090"/>
                </a:lnTo>
                <a:lnTo>
                  <a:pt x="697157" y="71241"/>
                </a:lnTo>
                <a:cubicBezTo>
                  <a:pt x="729490" y="73585"/>
                  <a:pt x="760976" y="74757"/>
                  <a:pt x="791616" y="74757"/>
                </a:cubicBezTo>
                <a:cubicBezTo>
                  <a:pt x="817363" y="74757"/>
                  <a:pt x="823595" y="70766"/>
                  <a:pt x="810313" y="62785"/>
                </a:cubicBezTo>
                <a:cubicBezTo>
                  <a:pt x="740921" y="49856"/>
                  <a:pt x="676339" y="32852"/>
                  <a:pt x="616566" y="11774"/>
                </a:cubicBezTo>
                <a:cubicBezTo>
                  <a:pt x="613031" y="10602"/>
                  <a:pt x="609850" y="9542"/>
                  <a:pt x="607023" y="8593"/>
                </a:cubicBezTo>
                <a:cubicBezTo>
                  <a:pt x="598874" y="4314"/>
                  <a:pt x="590747" y="2668"/>
                  <a:pt x="582640" y="3654"/>
                </a:cubicBezTo>
                <a:close/>
                <a:moveTo>
                  <a:pt x="1593345" y="363"/>
                </a:moveTo>
                <a:cubicBezTo>
                  <a:pt x="1590269" y="-308"/>
                  <a:pt x="1586582" y="-48"/>
                  <a:pt x="1582284" y="1143"/>
                </a:cubicBezTo>
                <a:cubicBezTo>
                  <a:pt x="1543291" y="5124"/>
                  <a:pt x="1525544" y="10974"/>
                  <a:pt x="1529041" y="18695"/>
                </a:cubicBezTo>
                <a:cubicBezTo>
                  <a:pt x="1529041" y="21318"/>
                  <a:pt x="1530846" y="24425"/>
                  <a:pt x="1534455" y="28015"/>
                </a:cubicBezTo>
                <a:cubicBezTo>
                  <a:pt x="1537859" y="32276"/>
                  <a:pt x="1539561" y="36145"/>
                  <a:pt x="1539561" y="39624"/>
                </a:cubicBezTo>
                <a:lnTo>
                  <a:pt x="1539561" y="106094"/>
                </a:lnTo>
                <a:lnTo>
                  <a:pt x="1462627" y="106094"/>
                </a:lnTo>
                <a:cubicBezTo>
                  <a:pt x="1463761" y="106094"/>
                  <a:pt x="1460627" y="100271"/>
                  <a:pt x="1453222" y="88626"/>
                </a:cubicBezTo>
                <a:cubicBezTo>
                  <a:pt x="1446023" y="76645"/>
                  <a:pt x="1440674" y="69789"/>
                  <a:pt x="1437177" y="68059"/>
                </a:cubicBezTo>
                <a:cubicBezTo>
                  <a:pt x="1426071" y="64208"/>
                  <a:pt x="1406918" y="75603"/>
                  <a:pt x="1379720" y="102243"/>
                </a:cubicBezTo>
                <a:cubicBezTo>
                  <a:pt x="1374213" y="109145"/>
                  <a:pt x="1371460" y="113368"/>
                  <a:pt x="1371460" y="114912"/>
                </a:cubicBezTo>
                <a:cubicBezTo>
                  <a:pt x="1371460" y="120828"/>
                  <a:pt x="1376399" y="123200"/>
                  <a:pt x="1386278" y="122028"/>
                </a:cubicBezTo>
                <a:lnTo>
                  <a:pt x="1520307" y="122028"/>
                </a:lnTo>
                <a:cubicBezTo>
                  <a:pt x="1506540" y="196386"/>
                  <a:pt x="1458134" y="248913"/>
                  <a:pt x="1375088" y="279609"/>
                </a:cubicBezTo>
                <a:cubicBezTo>
                  <a:pt x="1362158" y="287255"/>
                  <a:pt x="1362540" y="294678"/>
                  <a:pt x="1376232" y="301878"/>
                </a:cubicBezTo>
                <a:cubicBezTo>
                  <a:pt x="1380418" y="303980"/>
                  <a:pt x="1383050" y="305570"/>
                  <a:pt x="1384129" y="306649"/>
                </a:cubicBezTo>
                <a:cubicBezTo>
                  <a:pt x="1390733" y="311040"/>
                  <a:pt x="1397905" y="319337"/>
                  <a:pt x="1405644" y="331541"/>
                </a:cubicBezTo>
                <a:cubicBezTo>
                  <a:pt x="1411355" y="340117"/>
                  <a:pt x="1415253" y="344405"/>
                  <a:pt x="1417336" y="344405"/>
                </a:cubicBezTo>
                <a:cubicBezTo>
                  <a:pt x="1424833" y="347921"/>
                  <a:pt x="1442479" y="335671"/>
                  <a:pt x="1470273" y="307654"/>
                </a:cubicBezTo>
                <a:lnTo>
                  <a:pt x="1539561" y="307654"/>
                </a:lnTo>
                <a:lnTo>
                  <a:pt x="1539561" y="398430"/>
                </a:lnTo>
                <a:cubicBezTo>
                  <a:pt x="1536064" y="413443"/>
                  <a:pt x="1550798" y="422261"/>
                  <a:pt x="1583763" y="424884"/>
                </a:cubicBezTo>
                <a:cubicBezTo>
                  <a:pt x="1598795" y="426112"/>
                  <a:pt x="1605725" y="418410"/>
                  <a:pt x="1604553" y="401779"/>
                </a:cubicBezTo>
                <a:lnTo>
                  <a:pt x="1604553" y="307654"/>
                </a:lnTo>
                <a:lnTo>
                  <a:pt x="1693487" y="307654"/>
                </a:lnTo>
                <a:cubicBezTo>
                  <a:pt x="1703309" y="316398"/>
                  <a:pt x="1723885" y="328881"/>
                  <a:pt x="1755213" y="345103"/>
                </a:cubicBezTo>
                <a:cubicBezTo>
                  <a:pt x="1770803" y="353977"/>
                  <a:pt x="1780700" y="356832"/>
                  <a:pt x="1784904" y="353670"/>
                </a:cubicBezTo>
                <a:cubicBezTo>
                  <a:pt x="1784904" y="349019"/>
                  <a:pt x="1777147" y="340610"/>
                  <a:pt x="1761631" y="328443"/>
                </a:cubicBezTo>
                <a:cubicBezTo>
                  <a:pt x="1699961" y="279721"/>
                  <a:pt x="1659275" y="210916"/>
                  <a:pt x="1639574" y="122028"/>
                </a:cubicBezTo>
                <a:lnTo>
                  <a:pt x="1744526" y="122028"/>
                </a:lnTo>
                <a:cubicBezTo>
                  <a:pt x="1753381" y="122028"/>
                  <a:pt x="1760059" y="121275"/>
                  <a:pt x="1764562" y="119768"/>
                </a:cubicBezTo>
                <a:cubicBezTo>
                  <a:pt x="1769957" y="113126"/>
                  <a:pt x="1767594" y="108569"/>
                  <a:pt x="1757474" y="106094"/>
                </a:cubicBezTo>
                <a:lnTo>
                  <a:pt x="1604553" y="106094"/>
                </a:lnTo>
                <a:lnTo>
                  <a:pt x="1604553" y="31531"/>
                </a:lnTo>
                <a:cubicBezTo>
                  <a:pt x="1606311" y="12765"/>
                  <a:pt x="1602575" y="2376"/>
                  <a:pt x="1593345" y="363"/>
                </a:cubicBezTo>
                <a:close/>
              </a:path>
            </a:pathLst>
          </a:cu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cxnSp>
        <p:nvCxnSpPr>
          <p:cNvPr id="47" name="直接连接符 46"/>
          <p:cNvCxnSpPr>
            <a:cxnSpLocks/>
          </p:cNvCxnSpPr>
          <p:nvPr/>
        </p:nvCxnSpPr>
        <p:spPr>
          <a:xfrm>
            <a:off x="1735983" y="3348297"/>
            <a:ext cx="8388000" cy="0"/>
          </a:xfrm>
          <a:prstGeom prst="line">
            <a:avLst/>
          </a:prstGeom>
          <a:ln w="12700">
            <a:solidFill>
              <a:srgbClr val="04926A"/>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50" name="矩形 49"/>
          <p:cNvSpPr/>
          <p:nvPr/>
        </p:nvSpPr>
        <p:spPr>
          <a:xfrm>
            <a:off x="2460957" y="3847459"/>
            <a:ext cx="2880000" cy="461665"/>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algn="ctr"/>
            <a:r>
              <a:rPr lang="zh-CN" altLang="en-US" sz="2400" b="1" dirty="0">
                <a:solidFill>
                  <a:schemeClr val="bg1"/>
                </a:solidFill>
              </a:rPr>
              <a:t>一元函数积分学</a:t>
            </a:r>
          </a:p>
        </p:txBody>
      </p:sp>
      <p:grpSp>
        <p:nvGrpSpPr>
          <p:cNvPr id="90" name="组合 89">
            <a:extLst>
              <a:ext uri="{FF2B5EF4-FFF2-40B4-BE49-F238E27FC236}">
                <a16:creationId xmlns:a16="http://schemas.microsoft.com/office/drawing/2014/main" id="{B8D3E00D-8E36-4B80-EC28-2CF14DFA7C95}"/>
              </a:ext>
            </a:extLst>
          </p:cNvPr>
          <p:cNvGrpSpPr/>
          <p:nvPr/>
        </p:nvGrpSpPr>
        <p:grpSpPr>
          <a:xfrm>
            <a:off x="1504486" y="4799643"/>
            <a:ext cx="5360532" cy="619125"/>
            <a:chOff x="1504486" y="4815728"/>
            <a:chExt cx="5360532" cy="619125"/>
          </a:xfrm>
        </p:grpSpPr>
        <p:sp>
          <p:nvSpPr>
            <p:cNvPr id="51" name="矩形: 圆角 40"/>
            <p:cNvSpPr/>
            <p:nvPr/>
          </p:nvSpPr>
          <p:spPr>
            <a:xfrm rot="16200000" flipV="1">
              <a:off x="3853897" y="2466317"/>
              <a:ext cx="619125" cy="5317948"/>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sz="2400" kern="0" dirty="0">
                <a:solidFill>
                  <a:srgbClr val="FFFFFF"/>
                </a:solidFill>
                <a:latin typeface="Calibri" panose="020F0502020204030204"/>
                <a:ea typeface="微软雅黑 Light" panose="020B0502040204020203" charset="-122"/>
              </a:endParaRPr>
            </a:p>
          </p:txBody>
        </p:sp>
        <p:sp>
          <p:nvSpPr>
            <p:cNvPr id="52" name="矩形 51"/>
            <p:cNvSpPr/>
            <p:nvPr/>
          </p:nvSpPr>
          <p:spPr>
            <a:xfrm>
              <a:off x="1547072" y="4909851"/>
              <a:ext cx="5317946" cy="461665"/>
            </a:xfrm>
            <a:prstGeom prst="rect">
              <a:avLst/>
            </a:prstGeom>
          </p:spPr>
          <p:txBody>
            <a:bodyPr wrap="square">
              <a:spAutoFit/>
            </a:bodyPr>
            <a:lstStyle/>
            <a:p>
              <a:pPr lvl="0" algn="l"/>
              <a:r>
                <a:rPr lang="zh-CN" altLang="en-US" sz="2400" b="1" dirty="0">
                  <a:solidFill>
                    <a:srgbClr val="04926A"/>
                  </a:solidFill>
                </a:rPr>
                <a:t>积分学     </a:t>
              </a:r>
              <a:r>
                <a:rPr lang="zh-CN" altLang="en-US" sz="2400" dirty="0"/>
                <a:t>定积分   二重积分   三重积分</a:t>
              </a:r>
            </a:p>
          </p:txBody>
        </p:sp>
      </p:grpSp>
      <p:sp>
        <p:nvSpPr>
          <p:cNvPr id="26" name="矩形 25"/>
          <p:cNvSpPr/>
          <p:nvPr/>
        </p:nvSpPr>
        <p:spPr>
          <a:xfrm>
            <a:off x="2048958" y="577870"/>
            <a:ext cx="8219250" cy="769441"/>
          </a:xfrm>
          <a:prstGeom prst="rect">
            <a:avLst/>
          </a:prstGeom>
        </p:spPr>
        <p:txBody>
          <a:bodyPr wrap="square">
            <a:spAutoFit/>
          </a:bodyPr>
          <a:lstStyle/>
          <a:p>
            <a:r>
              <a:rPr lang="zh-CN" altLang="en-US" sz="4400" b="1" dirty="0">
                <a:solidFill>
                  <a:schemeClr val="bg1"/>
                </a:solidFill>
                <a:latin typeface="微软雅黑" panose="020B0503020204020204" pitchFamily="34" charset="-122"/>
                <a:ea typeface="微软雅黑" panose="020B0503020204020204" pitchFamily="34" charset="-122"/>
                <a:sym typeface="+mn-lt"/>
              </a:rPr>
              <a:t>第十一章   </a:t>
            </a:r>
            <a:r>
              <a:rPr lang="zh-CN" altLang="en-US" sz="4400" b="1" dirty="0">
                <a:solidFill>
                  <a:schemeClr val="bg1"/>
                </a:solidFill>
                <a:latin typeface="微软雅黑" panose="020B0503020204020204" pitchFamily="34" charset="-122"/>
                <a:ea typeface="微软雅黑" panose="020B0503020204020204" pitchFamily="34" charset="-122"/>
              </a:rPr>
              <a:t>曲线积分与曲面积分</a:t>
            </a:r>
          </a:p>
        </p:txBody>
      </p:sp>
      <p:sp>
        <p:nvSpPr>
          <p:cNvPr id="5" name="右箭头 4"/>
          <p:cNvSpPr/>
          <p:nvPr/>
        </p:nvSpPr>
        <p:spPr>
          <a:xfrm>
            <a:off x="5486657" y="3953196"/>
            <a:ext cx="936000" cy="250190"/>
          </a:xfrm>
          <a:prstGeom prst="rightArrow">
            <a:avLst/>
          </a:prstGeom>
          <a:gradFill flip="none" rotWithShape="1">
            <a:gsLst>
              <a:gs pos="100000">
                <a:srgbClr val="007434">
                  <a:alpha val="100000"/>
                </a:srgbClr>
              </a:gs>
              <a:gs pos="4000">
                <a:schemeClr val="bg1"/>
              </a:gs>
            </a:gsLst>
            <a:lin ang="3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36号-正文宋楷" panose="00000500000000000000" pitchFamily="2" charset="-122"/>
              <a:ea typeface="字魂36号-正文宋楷" panose="00000500000000000000" pitchFamily="2" charset="-122"/>
            </a:endParaRPr>
          </a:p>
        </p:txBody>
      </p:sp>
      <p:sp>
        <p:nvSpPr>
          <p:cNvPr id="10" name="矩形 9">
            <a:extLst>
              <a:ext uri="{FF2B5EF4-FFF2-40B4-BE49-F238E27FC236}">
                <a16:creationId xmlns:a16="http://schemas.microsoft.com/office/drawing/2014/main" id="{9F862540-B67A-1674-AB4B-27AC8296A336}"/>
              </a:ext>
            </a:extLst>
          </p:cNvPr>
          <p:cNvSpPr/>
          <p:nvPr/>
        </p:nvSpPr>
        <p:spPr>
          <a:xfrm>
            <a:off x="6568357" y="3847459"/>
            <a:ext cx="2880000" cy="461665"/>
          </a:xfrm>
          <a:prstGeom prst="rect">
            <a:avLst/>
          </a:prstGeom>
          <a:gradFill>
            <a:gsLst>
              <a:gs pos="0">
                <a:srgbClr val="009E47">
                  <a:alpha val="88000"/>
                </a:srgbClr>
              </a:gs>
              <a:gs pos="55000">
                <a:srgbClr val="039463"/>
              </a:gs>
              <a:gs pos="100000">
                <a:srgbClr val="068885"/>
              </a:gs>
            </a:gsLst>
            <a:path path="circle">
              <a:fillToRect t="100000" r="100000"/>
            </a:path>
            <a:tileRect l="-100000" b="-100000"/>
          </a:gradFill>
          <a:effectLst>
            <a:outerShdw blurRad="50800" dist="38100" algn="l" rotWithShape="0">
              <a:prstClr val="black">
                <a:alpha val="40000"/>
              </a:prstClr>
            </a:outerShdw>
          </a:effectLst>
        </p:spPr>
        <p:txBody>
          <a:bodyPr wrap="square">
            <a:spAutoFit/>
          </a:bodyPr>
          <a:lstStyle/>
          <a:p>
            <a:pPr lvl="0" algn="ctr"/>
            <a:r>
              <a:rPr lang="zh-CN" altLang="en-US" sz="2400" b="1" dirty="0">
                <a:solidFill>
                  <a:schemeClr val="bg1"/>
                </a:solidFill>
              </a:rPr>
              <a:t>多元函数积分学</a:t>
            </a:r>
          </a:p>
        </p:txBody>
      </p:sp>
      <p:grpSp>
        <p:nvGrpSpPr>
          <p:cNvPr id="55" name="组合 54">
            <a:extLst>
              <a:ext uri="{FF2B5EF4-FFF2-40B4-BE49-F238E27FC236}">
                <a16:creationId xmlns:a16="http://schemas.microsoft.com/office/drawing/2014/main" id="{8509881E-5C80-DE2B-4028-6515618CFFDA}"/>
              </a:ext>
            </a:extLst>
          </p:cNvPr>
          <p:cNvGrpSpPr/>
          <p:nvPr/>
        </p:nvGrpSpPr>
        <p:grpSpPr>
          <a:xfrm>
            <a:off x="7025038" y="4793304"/>
            <a:ext cx="1458356" cy="619125"/>
            <a:chOff x="723439" y="4629148"/>
            <a:chExt cx="1458356" cy="619125"/>
          </a:xfrm>
        </p:grpSpPr>
        <p:sp>
          <p:nvSpPr>
            <p:cNvPr id="56" name="矩形: 圆角 40">
              <a:extLst>
                <a:ext uri="{FF2B5EF4-FFF2-40B4-BE49-F238E27FC236}">
                  <a16:creationId xmlns:a16="http://schemas.microsoft.com/office/drawing/2014/main" id="{A4632266-497A-F13F-FA28-1F43175740E3}"/>
                </a:ext>
              </a:extLst>
            </p:cNvPr>
            <p:cNvSpPr/>
            <p:nvPr/>
          </p:nvSpPr>
          <p:spPr>
            <a:xfrm rot="16200000" flipV="1">
              <a:off x="1143054" y="4209533"/>
              <a:ext cx="619125" cy="1458355"/>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sz="2400" kern="0" dirty="0">
                <a:solidFill>
                  <a:srgbClr val="FFFFFF"/>
                </a:solidFill>
                <a:latin typeface="Calibri" panose="020F0502020204030204"/>
                <a:ea typeface="微软雅黑 Light" panose="020B0502040204020203" charset="-122"/>
              </a:endParaRPr>
            </a:p>
          </p:txBody>
        </p:sp>
        <p:sp>
          <p:nvSpPr>
            <p:cNvPr id="57" name="矩形 56">
              <a:extLst>
                <a:ext uri="{FF2B5EF4-FFF2-40B4-BE49-F238E27FC236}">
                  <a16:creationId xmlns:a16="http://schemas.microsoft.com/office/drawing/2014/main" id="{A2CAA016-0291-0BA7-2ED0-1E3167715254}"/>
                </a:ext>
              </a:extLst>
            </p:cNvPr>
            <p:cNvSpPr/>
            <p:nvPr/>
          </p:nvSpPr>
          <p:spPr>
            <a:xfrm>
              <a:off x="766023" y="4723268"/>
              <a:ext cx="1415772" cy="461665"/>
            </a:xfrm>
            <a:prstGeom prst="rect">
              <a:avLst/>
            </a:prstGeom>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zh-CN" altLang="en-US" sz="2400" b="1" dirty="0">
                  <a:solidFill>
                    <a:srgbClr val="04926A"/>
                  </a:solidFill>
                </a:rPr>
                <a:t>曲线积分</a:t>
              </a:r>
            </a:p>
          </p:txBody>
        </p:sp>
      </p:grpSp>
      <p:grpSp>
        <p:nvGrpSpPr>
          <p:cNvPr id="91" name="组合 90">
            <a:extLst>
              <a:ext uri="{FF2B5EF4-FFF2-40B4-BE49-F238E27FC236}">
                <a16:creationId xmlns:a16="http://schemas.microsoft.com/office/drawing/2014/main" id="{5EA19912-24F0-3ADE-D382-3D319606B1F9}"/>
              </a:ext>
            </a:extLst>
          </p:cNvPr>
          <p:cNvGrpSpPr/>
          <p:nvPr/>
        </p:nvGrpSpPr>
        <p:grpSpPr>
          <a:xfrm>
            <a:off x="1504488" y="5601241"/>
            <a:ext cx="5317945" cy="619125"/>
            <a:chOff x="1504488" y="5617326"/>
            <a:chExt cx="5317945" cy="619125"/>
          </a:xfrm>
        </p:grpSpPr>
        <p:sp>
          <p:nvSpPr>
            <p:cNvPr id="62" name="矩形: 圆角 40">
              <a:extLst>
                <a:ext uri="{FF2B5EF4-FFF2-40B4-BE49-F238E27FC236}">
                  <a16:creationId xmlns:a16="http://schemas.microsoft.com/office/drawing/2014/main" id="{79E044E3-4942-D10E-E2EC-72B14B2442C3}"/>
                </a:ext>
              </a:extLst>
            </p:cNvPr>
            <p:cNvSpPr/>
            <p:nvPr/>
          </p:nvSpPr>
          <p:spPr>
            <a:xfrm rot="16200000" flipV="1">
              <a:off x="3853898" y="3267916"/>
              <a:ext cx="619125" cy="5317945"/>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sz="2400" kern="0" dirty="0">
                <a:solidFill>
                  <a:srgbClr val="FFFFFF"/>
                </a:solidFill>
                <a:latin typeface="Calibri" panose="020F0502020204030204"/>
                <a:ea typeface="微软雅黑 Light" panose="020B0502040204020203" charset="-122"/>
              </a:endParaRPr>
            </a:p>
          </p:txBody>
        </p:sp>
        <p:sp>
          <p:nvSpPr>
            <p:cNvPr id="79" name="矩形 78">
              <a:extLst>
                <a:ext uri="{FF2B5EF4-FFF2-40B4-BE49-F238E27FC236}">
                  <a16:creationId xmlns:a16="http://schemas.microsoft.com/office/drawing/2014/main" id="{9CFF85A1-1A5E-5FE0-8EC5-47256075509B}"/>
                </a:ext>
              </a:extLst>
            </p:cNvPr>
            <p:cNvSpPr/>
            <p:nvPr/>
          </p:nvSpPr>
          <p:spPr>
            <a:xfrm>
              <a:off x="1547071" y="5711445"/>
              <a:ext cx="5187103" cy="461665"/>
            </a:xfrm>
            <a:prstGeom prst="rect">
              <a:avLst/>
            </a:prstGeom>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zh-CN" altLang="en-US" sz="2400" b="1" dirty="0">
                  <a:solidFill>
                    <a:srgbClr val="04926A"/>
                  </a:solidFill>
                </a:rPr>
                <a:t>积分域</a:t>
              </a:r>
              <a:r>
                <a:rPr kumimoji="1" lang="zh-CN" altLang="en-US" sz="24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mn-cs"/>
                </a:rPr>
                <a:t> </a:t>
              </a:r>
              <a:r>
                <a:rPr kumimoji="1"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   </a:t>
              </a:r>
              <a:r>
                <a:rPr lang="zh-CN" altLang="en-US" sz="2400" dirty="0"/>
                <a:t>区间域     平面域        空间域 </a:t>
              </a:r>
            </a:p>
          </p:txBody>
        </p:sp>
      </p:grpSp>
      <p:grpSp>
        <p:nvGrpSpPr>
          <p:cNvPr id="81" name="组合 80">
            <a:extLst>
              <a:ext uri="{FF2B5EF4-FFF2-40B4-BE49-F238E27FC236}">
                <a16:creationId xmlns:a16="http://schemas.microsoft.com/office/drawing/2014/main" id="{6CFB9525-D1CE-B133-DBD7-82947A2D0DB3}"/>
              </a:ext>
            </a:extLst>
          </p:cNvPr>
          <p:cNvGrpSpPr/>
          <p:nvPr/>
        </p:nvGrpSpPr>
        <p:grpSpPr>
          <a:xfrm>
            <a:off x="7025038" y="5601241"/>
            <a:ext cx="1458355" cy="619125"/>
            <a:chOff x="723439" y="4629148"/>
            <a:chExt cx="1458355" cy="619125"/>
          </a:xfrm>
        </p:grpSpPr>
        <p:sp>
          <p:nvSpPr>
            <p:cNvPr id="82" name="矩形: 圆角 40">
              <a:extLst>
                <a:ext uri="{FF2B5EF4-FFF2-40B4-BE49-F238E27FC236}">
                  <a16:creationId xmlns:a16="http://schemas.microsoft.com/office/drawing/2014/main" id="{FF16FE5E-4F76-2F84-7C18-54B6FAB5F06D}"/>
                </a:ext>
              </a:extLst>
            </p:cNvPr>
            <p:cNvSpPr/>
            <p:nvPr/>
          </p:nvSpPr>
          <p:spPr>
            <a:xfrm rot="16200000" flipV="1">
              <a:off x="1143054" y="4209533"/>
              <a:ext cx="619125" cy="1458355"/>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sz="2400" kern="0" dirty="0">
                <a:solidFill>
                  <a:srgbClr val="FFFFFF"/>
                </a:solidFill>
                <a:latin typeface="Calibri" panose="020F0502020204030204"/>
                <a:ea typeface="微软雅黑 Light" panose="020B0502040204020203" charset="-122"/>
              </a:endParaRPr>
            </a:p>
          </p:txBody>
        </p:sp>
        <p:sp>
          <p:nvSpPr>
            <p:cNvPr id="83" name="矩形 82">
              <a:extLst>
                <a:ext uri="{FF2B5EF4-FFF2-40B4-BE49-F238E27FC236}">
                  <a16:creationId xmlns:a16="http://schemas.microsoft.com/office/drawing/2014/main" id="{9B9AADE5-C1BE-2C1C-14F9-56C6C577B99A}"/>
                </a:ext>
              </a:extLst>
            </p:cNvPr>
            <p:cNvSpPr/>
            <p:nvPr/>
          </p:nvSpPr>
          <p:spPr>
            <a:xfrm>
              <a:off x="899373" y="4723268"/>
              <a:ext cx="1107996" cy="461665"/>
            </a:xfrm>
            <a:prstGeom prst="rect">
              <a:avLst/>
            </a:prstGeom>
          </p:spPr>
          <p:txBody>
            <a:bodyPr wrap="none">
              <a:spAutoFit/>
            </a:bodyPr>
            <a:lstStyle/>
            <a:p>
              <a:pPr marR="0" lvl="0" indent="0" fontAlgn="base">
                <a:lnSpc>
                  <a:spcPct val="100000"/>
                </a:lnSpc>
                <a:spcBef>
                  <a:spcPct val="0"/>
                </a:spcBef>
                <a:spcAft>
                  <a:spcPct val="0"/>
                </a:spcAft>
                <a:buClrTx/>
                <a:buSzTx/>
                <a:buFontTx/>
                <a:buNone/>
                <a:tabLst/>
                <a:defRPr/>
              </a:pPr>
              <a:r>
                <a:rPr lang="zh-CN" altLang="en-US" sz="2400" b="1" dirty="0">
                  <a:solidFill>
                    <a:srgbClr val="04926A"/>
                  </a:solidFill>
                </a:rPr>
                <a:t>曲线域</a:t>
              </a:r>
            </a:p>
          </p:txBody>
        </p:sp>
      </p:grpSp>
      <p:grpSp>
        <p:nvGrpSpPr>
          <p:cNvPr id="84" name="组合 83">
            <a:extLst>
              <a:ext uri="{FF2B5EF4-FFF2-40B4-BE49-F238E27FC236}">
                <a16:creationId xmlns:a16="http://schemas.microsoft.com/office/drawing/2014/main" id="{1DCFC114-15E5-3F3A-6CF4-6FEAAFBDDA62}"/>
              </a:ext>
            </a:extLst>
          </p:cNvPr>
          <p:cNvGrpSpPr/>
          <p:nvPr/>
        </p:nvGrpSpPr>
        <p:grpSpPr>
          <a:xfrm>
            <a:off x="8685997" y="4793304"/>
            <a:ext cx="1458356" cy="619125"/>
            <a:chOff x="723439" y="4629148"/>
            <a:chExt cx="1458356" cy="619125"/>
          </a:xfrm>
        </p:grpSpPr>
        <p:sp>
          <p:nvSpPr>
            <p:cNvPr id="85" name="矩形: 圆角 40">
              <a:extLst>
                <a:ext uri="{FF2B5EF4-FFF2-40B4-BE49-F238E27FC236}">
                  <a16:creationId xmlns:a16="http://schemas.microsoft.com/office/drawing/2014/main" id="{CC672131-6499-9C49-6284-93314912DA7D}"/>
                </a:ext>
              </a:extLst>
            </p:cNvPr>
            <p:cNvSpPr/>
            <p:nvPr/>
          </p:nvSpPr>
          <p:spPr>
            <a:xfrm rot="16200000" flipV="1">
              <a:off x="1143054" y="4209533"/>
              <a:ext cx="619125" cy="1458355"/>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sz="2400" kern="0" dirty="0">
                <a:solidFill>
                  <a:srgbClr val="FFFFFF"/>
                </a:solidFill>
                <a:latin typeface="Calibri" panose="020F0502020204030204"/>
                <a:ea typeface="微软雅黑 Light" panose="020B0502040204020203" charset="-122"/>
              </a:endParaRPr>
            </a:p>
          </p:txBody>
        </p:sp>
        <p:sp>
          <p:nvSpPr>
            <p:cNvPr id="86" name="矩形 85">
              <a:extLst>
                <a:ext uri="{FF2B5EF4-FFF2-40B4-BE49-F238E27FC236}">
                  <a16:creationId xmlns:a16="http://schemas.microsoft.com/office/drawing/2014/main" id="{25BF8A06-AC78-D40F-63C9-28E245C32157}"/>
                </a:ext>
              </a:extLst>
            </p:cNvPr>
            <p:cNvSpPr/>
            <p:nvPr/>
          </p:nvSpPr>
          <p:spPr>
            <a:xfrm>
              <a:off x="766023" y="4723268"/>
              <a:ext cx="1415772" cy="46166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sz="2400" b="1" dirty="0">
                  <a:solidFill>
                    <a:srgbClr val="04926A"/>
                  </a:solidFill>
                </a:rPr>
                <a:t>曲面积分</a:t>
              </a:r>
            </a:p>
          </p:txBody>
        </p:sp>
      </p:grpSp>
      <p:grpSp>
        <p:nvGrpSpPr>
          <p:cNvPr id="87" name="组合 86">
            <a:extLst>
              <a:ext uri="{FF2B5EF4-FFF2-40B4-BE49-F238E27FC236}">
                <a16:creationId xmlns:a16="http://schemas.microsoft.com/office/drawing/2014/main" id="{695CDE97-620D-4A37-E5CA-6F1DFDAC8EDD}"/>
              </a:ext>
            </a:extLst>
          </p:cNvPr>
          <p:cNvGrpSpPr/>
          <p:nvPr/>
        </p:nvGrpSpPr>
        <p:grpSpPr>
          <a:xfrm>
            <a:off x="8685997" y="5601241"/>
            <a:ext cx="1458355" cy="619125"/>
            <a:chOff x="723439" y="4629148"/>
            <a:chExt cx="1458355" cy="619125"/>
          </a:xfrm>
        </p:grpSpPr>
        <p:sp>
          <p:nvSpPr>
            <p:cNvPr id="88" name="矩形: 圆角 40">
              <a:extLst>
                <a:ext uri="{FF2B5EF4-FFF2-40B4-BE49-F238E27FC236}">
                  <a16:creationId xmlns:a16="http://schemas.microsoft.com/office/drawing/2014/main" id="{85A2365A-A649-C86F-637C-6F6FF956B343}"/>
                </a:ext>
              </a:extLst>
            </p:cNvPr>
            <p:cNvSpPr/>
            <p:nvPr/>
          </p:nvSpPr>
          <p:spPr>
            <a:xfrm rot="16200000" flipV="1">
              <a:off x="1143054" y="4209533"/>
              <a:ext cx="619125" cy="1458355"/>
            </a:xfrm>
            <a:prstGeom prst="roundRect">
              <a:avLst>
                <a:gd name="adj" fmla="val 6487"/>
              </a:avLst>
            </a:prstGeom>
            <a:solidFill>
              <a:srgbClr val="FFFFFF"/>
            </a:solidFill>
            <a:ln w="6350" cap="flat" cmpd="sng" algn="ctr">
              <a:gradFill flip="none" rotWithShape="1">
                <a:gsLst>
                  <a:gs pos="0">
                    <a:srgbClr val="058C79"/>
                  </a:gs>
                  <a:gs pos="100000">
                    <a:schemeClr val="bg1"/>
                  </a:gs>
                </a:gsLst>
                <a:lin ang="0" scaled="1"/>
                <a:tileRect/>
              </a:gradFill>
              <a:prstDash val="solid"/>
              <a:miter lim="800000"/>
            </a:ln>
            <a:effectLst>
              <a:outerShdw blurRad="50800" dist="38100" dir="2700000" algn="tl" rotWithShape="0">
                <a:prstClr val="black">
                  <a:alpha val="40000"/>
                </a:prstClr>
              </a:outerShdw>
            </a:effectLst>
          </p:spPr>
          <p:txBody>
            <a:bodyPr lIns="68580" tIns="34290" rIns="68580" bIns="34290" rtlCol="0" anchor="ctr"/>
            <a:lstStyle/>
            <a:p>
              <a:pPr algn="ctr" defTabSz="342900">
                <a:defRPr/>
              </a:pPr>
              <a:endParaRPr lang="zh-CN" altLang="en-US" sz="2400" kern="0" dirty="0">
                <a:solidFill>
                  <a:srgbClr val="FFFFFF"/>
                </a:solidFill>
                <a:latin typeface="Calibri" panose="020F0502020204030204"/>
                <a:ea typeface="微软雅黑 Light" panose="020B0502040204020203" charset="-122"/>
              </a:endParaRPr>
            </a:p>
          </p:txBody>
        </p:sp>
        <p:sp>
          <p:nvSpPr>
            <p:cNvPr id="89" name="矩形 88">
              <a:extLst>
                <a:ext uri="{FF2B5EF4-FFF2-40B4-BE49-F238E27FC236}">
                  <a16:creationId xmlns:a16="http://schemas.microsoft.com/office/drawing/2014/main" id="{DAFED61F-E486-792F-5702-F6EE5B1F2BF7}"/>
                </a:ext>
              </a:extLst>
            </p:cNvPr>
            <p:cNvSpPr/>
            <p:nvPr/>
          </p:nvSpPr>
          <p:spPr>
            <a:xfrm>
              <a:off x="899373" y="4723268"/>
              <a:ext cx="1107996" cy="461665"/>
            </a:xfrm>
            <a:prstGeom prst="rect">
              <a:avLst/>
            </a:prstGeom>
          </p:spPr>
          <p:txBody>
            <a:bodyPr wrap="none">
              <a:spAutoFit/>
            </a:bodyPr>
            <a:lstStyle/>
            <a:p>
              <a:pPr fontAlgn="base">
                <a:spcBef>
                  <a:spcPct val="0"/>
                </a:spcBef>
                <a:spcAft>
                  <a:spcPct val="0"/>
                </a:spcAft>
                <a:defRPr/>
              </a:pPr>
              <a:r>
                <a:rPr lang="zh-CN" altLang="en-US" sz="2400" b="1" dirty="0">
                  <a:solidFill>
                    <a:srgbClr val="04926A"/>
                  </a:solidFill>
                </a:rPr>
                <a:t>曲面域</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图文框 19"/>
          <p:cNvSpPr/>
          <p:nvPr/>
        </p:nvSpPr>
        <p:spPr>
          <a:xfrm>
            <a:off x="0" y="11150"/>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字魂36号-正文宋楷" panose="00000500000000000000" pitchFamily="2" charset="-122"/>
              <a:ea typeface="字魂36号-正文宋楷" panose="00000500000000000000" pitchFamily="2" charset="-122"/>
              <a:cs typeface="+mn-cs"/>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l="35303" r="7303" b="29466"/>
          <a:stretch>
            <a:fillRect/>
          </a:stretch>
        </p:blipFill>
        <p:spPr>
          <a:xfrm flipH="1">
            <a:off x="0" y="8611"/>
            <a:ext cx="6996430" cy="6860540"/>
          </a:xfrm>
          <a:prstGeom prst="rect">
            <a:avLst/>
          </a:prstGeom>
        </p:spPr>
      </p:pic>
      <p:sp>
        <p:nvSpPr>
          <p:cNvPr id="11" name="Rectangle 1"/>
          <p:cNvSpPr/>
          <p:nvPr/>
        </p:nvSpPr>
        <p:spPr>
          <a:xfrm>
            <a:off x="-6985" y="-47904"/>
            <a:ext cx="12289790" cy="691705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 name="PA-102232"/>
          <p:cNvSpPr/>
          <p:nvPr>
            <p:custDataLst>
              <p:tags r:id="rId1"/>
            </p:custDataLst>
          </p:nvPr>
        </p:nvSpPr>
        <p:spPr>
          <a:xfrm>
            <a:off x="378053" y="250074"/>
            <a:ext cx="11536045" cy="6397625"/>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006BB6"/>
              </a:solidFill>
              <a:effectLst/>
              <a:uLnTx/>
              <a:uFillTx/>
              <a:latin typeface="Calibri"/>
              <a:ea typeface="宋体" panose="02010600030101010101" pitchFamily="2" charset="-122"/>
              <a:cs typeface="+mn-ea"/>
              <a:sym typeface="+mn-lt"/>
            </a:endParaRPr>
          </a:p>
        </p:txBody>
      </p:sp>
      <p:sp>
        <p:nvSpPr>
          <p:cNvPr id="10" name="PA-文本框 8"/>
          <p:cNvSpPr txBox="1"/>
          <p:nvPr>
            <p:custDataLst>
              <p:tags r:id="rId2"/>
            </p:custDataLst>
          </p:nvPr>
        </p:nvSpPr>
        <p:spPr>
          <a:xfrm>
            <a:off x="876000" y="638872"/>
            <a:ext cx="306930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GB" altLang="zh-CN" sz="7200" b="1" i="0" u="none" strike="noStrike" kern="1200" cap="none" spc="0" normalizeH="0" baseline="0" noProof="0" dirty="0">
                <a:ln>
                  <a:noFill/>
                </a:ln>
                <a:solidFill>
                  <a:srgbClr val="1D9D79"/>
                </a:solidFill>
                <a:effectLst/>
                <a:uLnTx/>
                <a:uFillTx/>
                <a:latin typeface="Calisto MT" panose="02040603050505030304" pitchFamily="18" charset="0"/>
                <a:ea typeface="宋体" panose="02010600030101010101" pitchFamily="2" charset="-122"/>
                <a:cs typeface="+mn-ea"/>
                <a:sym typeface="+mn-lt"/>
              </a:rPr>
              <a:t>C</a:t>
            </a:r>
            <a:r>
              <a:rPr kumimoji="1" lang="en-GB" altLang="zh-CN" sz="3200" b="1" i="0" u="none" strike="noStrike" kern="1200" cap="none" spc="0" normalizeH="0" baseline="0" noProof="0" dirty="0">
                <a:ln>
                  <a:noFill/>
                </a:ln>
                <a:solidFill>
                  <a:srgbClr val="1D9D79"/>
                </a:solidFill>
                <a:effectLst/>
                <a:uLnTx/>
                <a:uFillTx/>
                <a:latin typeface="Calisto MT" panose="02040603050505030304" pitchFamily="18" charset="0"/>
                <a:ea typeface="宋体" panose="02010600030101010101" pitchFamily="2" charset="-122"/>
                <a:cs typeface="+mn-ea"/>
                <a:sym typeface="+mn-lt"/>
              </a:rPr>
              <a:t>ONTENTS</a:t>
            </a:r>
          </a:p>
        </p:txBody>
      </p:sp>
      <p:sp>
        <p:nvSpPr>
          <p:cNvPr id="2" name="矩形 1"/>
          <p:cNvSpPr/>
          <p:nvPr/>
        </p:nvSpPr>
        <p:spPr>
          <a:xfrm>
            <a:off x="1769401" y="516286"/>
            <a:ext cx="1515158" cy="707886"/>
          </a:xfrm>
          <a:prstGeom prst="rect">
            <a:avLst/>
          </a:prstGeom>
        </p:spPr>
        <p:txBody>
          <a:bodyPr wrap="non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srgbClr val="1D9D79"/>
                </a:solidFill>
                <a:effectLst/>
                <a:uLnTx/>
                <a:uFillTx/>
                <a:latin typeface="微软雅黑" panose="020B0503020204020204" pitchFamily="34" charset="-122"/>
                <a:ea typeface="微软雅黑" panose="020B0503020204020204" pitchFamily="34" charset="-122"/>
                <a:cs typeface="+mn-cs"/>
                <a:sym typeface="+mn-lt"/>
              </a:rPr>
              <a:t>目  录</a:t>
            </a:r>
            <a:endParaRPr kumimoji="1" lang="zh-CN" altLang="en-US" sz="4000" b="1" i="0" u="none" strike="noStrike" kern="1200" cap="none" spc="0" normalizeH="0" baseline="0" noProof="0" dirty="0">
              <a:ln>
                <a:noFill/>
              </a:ln>
              <a:solidFill>
                <a:srgbClr val="1D9D79"/>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p:txBody>
      </p:sp>
      <p:cxnSp>
        <p:nvCxnSpPr>
          <p:cNvPr id="6" name="直接连接符 5"/>
          <p:cNvCxnSpPr/>
          <p:nvPr/>
        </p:nvCxnSpPr>
        <p:spPr>
          <a:xfrm rot="5400000" flipH="1">
            <a:off x="6082748" y="-3309344"/>
            <a:ext cx="26504" cy="10440000"/>
          </a:xfrm>
          <a:prstGeom prst="line">
            <a:avLst/>
          </a:prstGeom>
          <a:ln>
            <a:solidFill>
              <a:srgbClr val="007434"/>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F3975876-371D-E943-BDE0-7053794AE009}"/>
              </a:ext>
            </a:extLst>
          </p:cNvPr>
          <p:cNvSpPr/>
          <p:nvPr/>
        </p:nvSpPr>
        <p:spPr>
          <a:xfrm>
            <a:off x="945202" y="2621849"/>
            <a:ext cx="3844322"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第一节   对弧长的曲线积分</a:t>
            </a:r>
          </a:p>
        </p:txBody>
      </p:sp>
      <p:sp>
        <p:nvSpPr>
          <p:cNvPr id="22" name="矩形 21">
            <a:extLst>
              <a:ext uri="{FF2B5EF4-FFF2-40B4-BE49-F238E27FC236}">
                <a16:creationId xmlns:a16="http://schemas.microsoft.com/office/drawing/2014/main" id="{C1657142-156F-BC40-A369-9AC5D1511533}"/>
              </a:ext>
            </a:extLst>
          </p:cNvPr>
          <p:cNvSpPr/>
          <p:nvPr/>
        </p:nvSpPr>
        <p:spPr>
          <a:xfrm>
            <a:off x="945202" y="3469103"/>
            <a:ext cx="3935693"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第三节   格林公式及其应用 </a:t>
            </a:r>
          </a:p>
        </p:txBody>
      </p:sp>
      <p:sp>
        <p:nvSpPr>
          <p:cNvPr id="23" name="矩形 22">
            <a:extLst>
              <a:ext uri="{FF2B5EF4-FFF2-40B4-BE49-F238E27FC236}">
                <a16:creationId xmlns:a16="http://schemas.microsoft.com/office/drawing/2014/main" id="{36321BC7-FF39-1E4C-A373-3F26FDA536D1}"/>
              </a:ext>
            </a:extLst>
          </p:cNvPr>
          <p:cNvSpPr/>
          <p:nvPr/>
        </p:nvSpPr>
        <p:spPr>
          <a:xfrm>
            <a:off x="6661652" y="2670489"/>
            <a:ext cx="3844322"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第二节   对坐标的曲线积分</a:t>
            </a:r>
          </a:p>
        </p:txBody>
      </p:sp>
      <p:sp>
        <p:nvSpPr>
          <p:cNvPr id="25" name="矩形 24">
            <a:extLst>
              <a:ext uri="{FF2B5EF4-FFF2-40B4-BE49-F238E27FC236}">
                <a16:creationId xmlns:a16="http://schemas.microsoft.com/office/drawing/2014/main" id="{D4C3F917-6EB5-AF43-9C27-AC487099C634}"/>
              </a:ext>
            </a:extLst>
          </p:cNvPr>
          <p:cNvSpPr/>
          <p:nvPr/>
        </p:nvSpPr>
        <p:spPr>
          <a:xfrm>
            <a:off x="6661652" y="3470393"/>
            <a:ext cx="5334635" cy="460375"/>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第四节   </a:t>
            </a:r>
            <a:r>
              <a:rPr kumimoji="1" lang="zh-CN" altLang="en-US" sz="2400" dirty="0">
                <a:solidFill>
                  <a:prstClr val="black"/>
                </a:solidFill>
                <a:latin typeface="微软雅黑" panose="020B0503020204020204" pitchFamily="34" charset="-122"/>
                <a:ea typeface="微软雅黑" panose="020B0503020204020204" pitchFamily="34" charset="-122"/>
              </a:rPr>
              <a:t>对面积的曲面积分</a:t>
            </a:r>
            <a:endParaRPr lang="zh-CN" altLang="en-US" sz="2400" dirty="0">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02BE5E46-5684-754B-A1A9-127A41F07D2F}"/>
              </a:ext>
            </a:extLst>
          </p:cNvPr>
          <p:cNvSpPr/>
          <p:nvPr/>
        </p:nvSpPr>
        <p:spPr>
          <a:xfrm>
            <a:off x="945202" y="4315067"/>
            <a:ext cx="5203825" cy="460375"/>
          </a:xfrm>
          <a:prstGeom prst="rect">
            <a:avLst/>
          </a:prstGeom>
        </p:spPr>
        <p:txBody>
          <a:bodyPr wrap="square">
            <a:spAutoFit/>
          </a:bodyPr>
          <a:lstStyle/>
          <a:p>
            <a:pPr algn="l"/>
            <a:r>
              <a:rPr lang="zh-CN" altLang="en-US" sz="2400" dirty="0">
                <a:latin typeface="微软雅黑" panose="020B0503020204020204" pitchFamily="34" charset="-122"/>
                <a:ea typeface="微软雅黑" panose="020B0503020204020204" pitchFamily="34" charset="-122"/>
              </a:rPr>
              <a:t>第五节   </a:t>
            </a:r>
            <a:r>
              <a:rPr kumimoji="1" lang="zh-CN" altLang="en-US" sz="2400" dirty="0">
                <a:solidFill>
                  <a:prstClr val="black"/>
                </a:solidFill>
                <a:latin typeface="微软雅黑" panose="020B0503020204020204" pitchFamily="34" charset="-122"/>
                <a:ea typeface="微软雅黑" panose="020B0503020204020204" pitchFamily="34" charset="-122"/>
              </a:rPr>
              <a:t>对坐标的曲面积分</a:t>
            </a:r>
            <a:endParaRPr lang="zh-CN" altLang="en-US" sz="2400" dirty="0">
              <a:latin typeface="微软雅黑" panose="020B0503020204020204" pitchFamily="34" charset="-122"/>
              <a:ea typeface="微软雅黑" panose="020B0503020204020204" pitchFamily="34" charset="-122"/>
            </a:endParaRPr>
          </a:p>
        </p:txBody>
      </p:sp>
      <p:sp>
        <p:nvSpPr>
          <p:cNvPr id="33" name="矩形 32">
            <a:extLst>
              <a:ext uri="{FF2B5EF4-FFF2-40B4-BE49-F238E27FC236}">
                <a16:creationId xmlns:a16="http://schemas.microsoft.com/office/drawing/2014/main" id="{C1DB2DEE-225F-E442-8E1E-33456E4415A2}"/>
              </a:ext>
            </a:extLst>
          </p:cNvPr>
          <p:cNvSpPr/>
          <p:nvPr/>
        </p:nvSpPr>
        <p:spPr>
          <a:xfrm>
            <a:off x="945202" y="5162322"/>
            <a:ext cx="5630696" cy="461665"/>
          </a:xfrm>
          <a:prstGeom prst="rect">
            <a:avLst/>
          </a:prstGeom>
        </p:spPr>
        <p:txBody>
          <a:bodyPr wrap="square">
            <a:spAutoFit/>
          </a:bodyPr>
          <a:lstStyle/>
          <a:p>
            <a:r>
              <a:rPr lang="zh-CN" altLang="en-US" sz="2400" b="1" dirty="0">
                <a:solidFill>
                  <a:srgbClr val="007434"/>
                </a:solidFill>
                <a:latin typeface="微软雅黑" panose="020B0503020204020204" pitchFamily="34" charset="-122"/>
                <a:ea typeface="微软雅黑" panose="020B0503020204020204" pitchFamily="34" charset="-122"/>
              </a:rPr>
              <a:t>第七节   斯托克斯公式 环流量与旋度 </a:t>
            </a:r>
          </a:p>
        </p:txBody>
      </p:sp>
      <p:sp>
        <p:nvSpPr>
          <p:cNvPr id="34" name="矩形 33">
            <a:extLst>
              <a:ext uri="{FF2B5EF4-FFF2-40B4-BE49-F238E27FC236}">
                <a16:creationId xmlns:a16="http://schemas.microsoft.com/office/drawing/2014/main" id="{F624D60B-0ECD-E147-8CE1-4C5B182862BE}"/>
              </a:ext>
            </a:extLst>
          </p:cNvPr>
          <p:cNvSpPr/>
          <p:nvPr/>
        </p:nvSpPr>
        <p:spPr>
          <a:xfrm>
            <a:off x="6661652" y="4315067"/>
            <a:ext cx="424346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第六节   高斯公式 通量与散度</a:t>
            </a:r>
          </a:p>
        </p:txBody>
      </p:sp>
      <p:sp>
        <p:nvSpPr>
          <p:cNvPr id="17" name="矩形 16">
            <a:extLst>
              <a:ext uri="{FF2B5EF4-FFF2-40B4-BE49-F238E27FC236}">
                <a16:creationId xmlns:a16="http://schemas.microsoft.com/office/drawing/2014/main" id="{6A3D535D-D0BF-8C4F-A107-98B2A9AB607C}"/>
              </a:ext>
            </a:extLst>
          </p:cNvPr>
          <p:cNvSpPr/>
          <p:nvPr/>
        </p:nvSpPr>
        <p:spPr>
          <a:xfrm>
            <a:off x="4875153" y="691154"/>
            <a:ext cx="2441694" cy="769441"/>
          </a:xfrm>
          <a:prstGeom prst="rect">
            <a:avLst/>
          </a:prstGeom>
        </p:spPr>
        <p:txBody>
          <a:bodyPr wrap="non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1D9D79"/>
                </a:solidFill>
                <a:effectLst/>
                <a:uLnTx/>
                <a:uFillTx/>
                <a:latin typeface="微软雅黑" panose="020B0503020204020204" pitchFamily="34" charset="-122"/>
                <a:ea typeface="微软雅黑" panose="020B0503020204020204" pitchFamily="34" charset="-122"/>
                <a:cs typeface="+mn-cs"/>
                <a:sym typeface="+mn-lt"/>
              </a:rPr>
              <a:t>第十一章</a:t>
            </a:r>
            <a:endParaRPr kumimoji="1" lang="zh-CN" altLang="en-US" sz="4400" b="1" i="0" u="none" strike="noStrike" kern="1200" cap="none" spc="0" normalizeH="0" baseline="0" noProof="0" dirty="0">
              <a:ln>
                <a:noFill/>
              </a:ln>
              <a:solidFill>
                <a:srgbClr val="1D9D79"/>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399537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F2A10CEB-5CA9-4551-5EE7-D195BAB94096}"/>
              </a:ext>
            </a:extLst>
          </p:cNvPr>
          <p:cNvGrpSpPr/>
          <p:nvPr/>
        </p:nvGrpSpPr>
        <p:grpSpPr>
          <a:xfrm>
            <a:off x="-6985" y="-47904"/>
            <a:ext cx="12289790" cy="6917055"/>
            <a:chOff x="-6985" y="-47904"/>
            <a:chExt cx="12289790" cy="6917055"/>
          </a:xfrm>
        </p:grpSpPr>
        <p:sp>
          <p:nvSpPr>
            <p:cNvPr id="7" name="图文框 6">
              <a:extLst>
                <a:ext uri="{FF2B5EF4-FFF2-40B4-BE49-F238E27FC236}">
                  <a16:creationId xmlns:a16="http://schemas.microsoft.com/office/drawing/2014/main" id="{3CA61783-234C-EFE9-EC35-35C4F7127CF9}"/>
                </a:ext>
              </a:extLst>
            </p:cNvPr>
            <p:cNvSpPr/>
            <p:nvPr/>
          </p:nvSpPr>
          <p:spPr>
            <a:xfrm>
              <a:off x="0" y="11150"/>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pic>
          <p:nvPicPr>
            <p:cNvPr id="13" name="图片 12">
              <a:extLst>
                <a:ext uri="{FF2B5EF4-FFF2-40B4-BE49-F238E27FC236}">
                  <a16:creationId xmlns:a16="http://schemas.microsoft.com/office/drawing/2014/main" id="{9949B233-E9E5-C6C4-356E-99FC6DEEA75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5303" r="7303" b="29466"/>
            <a:stretch>
              <a:fillRect/>
            </a:stretch>
          </p:blipFill>
          <p:spPr>
            <a:xfrm flipH="1">
              <a:off x="0" y="8611"/>
              <a:ext cx="6996430" cy="6860540"/>
            </a:xfrm>
            <a:prstGeom prst="rect">
              <a:avLst/>
            </a:prstGeom>
          </p:spPr>
        </p:pic>
        <p:sp>
          <p:nvSpPr>
            <p:cNvPr id="14" name="Rectangle 1">
              <a:extLst>
                <a:ext uri="{FF2B5EF4-FFF2-40B4-BE49-F238E27FC236}">
                  <a16:creationId xmlns:a16="http://schemas.microsoft.com/office/drawing/2014/main" id="{85486088-4289-7ED4-3CCB-07E732450E04}"/>
                </a:ext>
              </a:extLst>
            </p:cNvPr>
            <p:cNvSpPr/>
            <p:nvPr/>
          </p:nvSpPr>
          <p:spPr>
            <a:xfrm>
              <a:off x="-6985" y="-47904"/>
              <a:ext cx="12289790" cy="6917055"/>
            </a:xfrm>
            <a:prstGeom prst="rect">
              <a:avLst/>
            </a:prstGeom>
            <a:gradFill flip="none" rotWithShape="1">
              <a:gsLst>
                <a:gs pos="0">
                  <a:srgbClr val="009E47">
                    <a:alpha val="42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16" name="PA-102232">
            <a:extLst>
              <a:ext uri="{FF2B5EF4-FFF2-40B4-BE49-F238E27FC236}">
                <a16:creationId xmlns:a16="http://schemas.microsoft.com/office/drawing/2014/main" id="{FA395C5F-797D-7C0F-0C0A-391EC34DE262}"/>
              </a:ext>
            </a:extLst>
          </p:cNvPr>
          <p:cNvSpPr/>
          <p:nvPr>
            <p:custDataLst>
              <p:tags r:id="rId1"/>
            </p:custDataLst>
          </p:nvPr>
        </p:nvSpPr>
        <p:spPr>
          <a:xfrm>
            <a:off x="369888" y="1731523"/>
            <a:ext cx="11536045" cy="4289898"/>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sp>
        <p:nvSpPr>
          <p:cNvPr id="6" name="Text Box 62"/>
          <p:cNvSpPr txBox="1">
            <a:spLocks noChangeArrowheads="1"/>
          </p:cNvSpPr>
          <p:nvPr/>
        </p:nvSpPr>
        <p:spPr bwMode="auto">
          <a:xfrm>
            <a:off x="2621331" y="686345"/>
            <a:ext cx="6949338" cy="584775"/>
          </a:xfrm>
          <a:prstGeom prst="rect">
            <a:avLst/>
          </a:prstGeom>
          <a:noFill/>
          <a:ln>
            <a:noFill/>
          </a:ln>
          <a:effectLst/>
        </p:spPr>
        <p:txBody>
          <a:bodyPr wrap="none">
            <a:spAutoFit/>
          </a:bodyPr>
          <a:lstStyle/>
          <a:p>
            <a:pPr lvl="0" eaLnBrk="0" fontAlgn="base" hangingPunct="0">
              <a:spcBef>
                <a:spcPct val="0"/>
              </a:spcBef>
              <a:spcAft>
                <a:spcPct val="0"/>
              </a:spcAft>
              <a:defRPr/>
            </a:pPr>
            <a:r>
              <a:rPr lang="zh-CN" altLang="en-US" sz="3200" b="1" dirty="0">
                <a:solidFill>
                  <a:schemeClr val="bg1"/>
                </a:solidFill>
                <a:latin typeface="微软雅黑" panose="020B0503020204020204" pitchFamily="34" charset="-122"/>
                <a:ea typeface="微软雅黑" panose="020B0503020204020204" pitchFamily="34" charset="-122"/>
              </a:rPr>
              <a:t>第七节  斯托克斯公式  环流量与旋度 </a:t>
            </a:r>
          </a:p>
        </p:txBody>
      </p:sp>
      <p:grpSp>
        <p:nvGrpSpPr>
          <p:cNvPr id="2" name="组合 1">
            <a:extLst>
              <a:ext uri="{FF2B5EF4-FFF2-40B4-BE49-F238E27FC236}">
                <a16:creationId xmlns:a16="http://schemas.microsoft.com/office/drawing/2014/main" id="{19F1AA33-AEC3-5A47-A0B6-4A6F04E23A8E}"/>
              </a:ext>
            </a:extLst>
          </p:cNvPr>
          <p:cNvGrpSpPr/>
          <p:nvPr/>
        </p:nvGrpSpPr>
        <p:grpSpPr>
          <a:xfrm>
            <a:off x="2725994" y="2223699"/>
            <a:ext cx="6740012" cy="901065"/>
            <a:chOff x="3376753" y="2223699"/>
            <a:chExt cx="6740012" cy="901065"/>
          </a:xfrm>
        </p:grpSpPr>
        <p:sp>
          <p:nvSpPr>
            <p:cNvPr id="4" name="矩形: 圆角 40">
              <a:extLst>
                <a:ext uri="{FF2B5EF4-FFF2-40B4-BE49-F238E27FC236}">
                  <a16:creationId xmlns:a16="http://schemas.microsoft.com/office/drawing/2014/main" id="{0AFCECA3-3830-4C31-F876-EF09B7116080}"/>
                </a:ext>
              </a:extLst>
            </p:cNvPr>
            <p:cNvSpPr/>
            <p:nvPr/>
          </p:nvSpPr>
          <p:spPr>
            <a:xfrm flipV="1">
              <a:off x="3376753" y="2223699"/>
              <a:ext cx="6740012"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5" name="矩形 4">
              <a:extLst>
                <a:ext uri="{FF2B5EF4-FFF2-40B4-BE49-F238E27FC236}">
                  <a16:creationId xmlns:a16="http://schemas.microsoft.com/office/drawing/2014/main" id="{DFF17138-8605-1774-D008-6AE81E15D8D9}"/>
                </a:ext>
              </a:extLst>
            </p:cNvPr>
            <p:cNvSpPr/>
            <p:nvPr/>
          </p:nvSpPr>
          <p:spPr>
            <a:xfrm>
              <a:off x="3616931" y="2412933"/>
              <a:ext cx="3057247"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一、斯托克斯公式</a:t>
              </a:r>
            </a:p>
          </p:txBody>
        </p:sp>
      </p:grpSp>
      <p:grpSp>
        <p:nvGrpSpPr>
          <p:cNvPr id="3" name="组合 2">
            <a:extLst>
              <a:ext uri="{FF2B5EF4-FFF2-40B4-BE49-F238E27FC236}">
                <a16:creationId xmlns:a16="http://schemas.microsoft.com/office/drawing/2014/main" id="{A8FD4276-5453-5A4C-96F9-CD56134402E8}"/>
              </a:ext>
            </a:extLst>
          </p:cNvPr>
          <p:cNvGrpSpPr/>
          <p:nvPr/>
        </p:nvGrpSpPr>
        <p:grpSpPr>
          <a:xfrm>
            <a:off x="2725994" y="3448291"/>
            <a:ext cx="6740013" cy="901065"/>
            <a:chOff x="3376752" y="3448291"/>
            <a:chExt cx="6740013" cy="901065"/>
          </a:xfrm>
        </p:grpSpPr>
        <p:sp>
          <p:nvSpPr>
            <p:cNvPr id="22" name="矩形: 圆角 40">
              <a:extLst>
                <a:ext uri="{FF2B5EF4-FFF2-40B4-BE49-F238E27FC236}">
                  <a16:creationId xmlns:a16="http://schemas.microsoft.com/office/drawing/2014/main" id="{2AFCDF72-0B32-3B23-3BEA-A6D0061312B5}"/>
                </a:ext>
              </a:extLst>
            </p:cNvPr>
            <p:cNvSpPr/>
            <p:nvPr/>
          </p:nvSpPr>
          <p:spPr>
            <a:xfrm flipV="1">
              <a:off x="3376752" y="3448291"/>
              <a:ext cx="6740013"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23" name="矩形 22">
              <a:extLst>
                <a:ext uri="{FF2B5EF4-FFF2-40B4-BE49-F238E27FC236}">
                  <a16:creationId xmlns:a16="http://schemas.microsoft.com/office/drawing/2014/main" id="{39FFA758-C763-F6DD-43E6-7491515A6524}"/>
                </a:ext>
              </a:extLst>
            </p:cNvPr>
            <p:cNvSpPr/>
            <p:nvPr/>
          </p:nvSpPr>
          <p:spPr>
            <a:xfrm>
              <a:off x="3616931" y="3637526"/>
              <a:ext cx="5929828"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二、空间曲线积分与路径无关的条件</a:t>
              </a:r>
            </a:p>
          </p:txBody>
        </p:sp>
      </p:grpSp>
      <p:grpSp>
        <p:nvGrpSpPr>
          <p:cNvPr id="8" name="组合 7">
            <a:extLst>
              <a:ext uri="{FF2B5EF4-FFF2-40B4-BE49-F238E27FC236}">
                <a16:creationId xmlns:a16="http://schemas.microsoft.com/office/drawing/2014/main" id="{4FD01BBD-BE31-CE4F-94B6-009AA23B7370}"/>
              </a:ext>
            </a:extLst>
          </p:cNvPr>
          <p:cNvGrpSpPr/>
          <p:nvPr/>
        </p:nvGrpSpPr>
        <p:grpSpPr>
          <a:xfrm>
            <a:off x="2725994" y="4664250"/>
            <a:ext cx="6740012" cy="901065"/>
            <a:chOff x="3376753" y="4664250"/>
            <a:chExt cx="6740012" cy="901065"/>
          </a:xfrm>
        </p:grpSpPr>
        <p:sp>
          <p:nvSpPr>
            <p:cNvPr id="17" name="矩形: 圆角 40">
              <a:extLst>
                <a:ext uri="{FF2B5EF4-FFF2-40B4-BE49-F238E27FC236}">
                  <a16:creationId xmlns:a16="http://schemas.microsoft.com/office/drawing/2014/main" id="{F0C1625A-8AFB-064E-8114-6A8BDB4CCB0A}"/>
                </a:ext>
              </a:extLst>
            </p:cNvPr>
            <p:cNvSpPr/>
            <p:nvPr/>
          </p:nvSpPr>
          <p:spPr>
            <a:xfrm flipV="1">
              <a:off x="3376753" y="4664250"/>
              <a:ext cx="6740012" cy="901065"/>
            </a:xfrm>
            <a:prstGeom prst="roundRect">
              <a:avLst>
                <a:gd name="adj" fmla="val 6487"/>
              </a:avLst>
            </a:prstGeom>
            <a:solidFill>
              <a:srgbClr val="FFFFFF"/>
            </a:solidFill>
            <a:ln w="19050" cap="flat" cmpd="sng" algn="ctr">
              <a:gradFill flip="none" rotWithShape="1">
                <a:gsLst>
                  <a:gs pos="0">
                    <a:srgbClr val="058C79"/>
                  </a:gs>
                  <a:gs pos="100000">
                    <a:schemeClr val="bg1"/>
                  </a:gs>
                </a:gsLst>
                <a:lin ang="0" scaled="1"/>
                <a:tileRect/>
              </a:gradFill>
              <a:prstDash val="solid"/>
              <a:miter lim="800000"/>
            </a:ln>
            <a:effectLst>
              <a:outerShdw blurRad="63500" dist="38100" dir="2280000" algn="tl" rotWithShape="0">
                <a:prstClr val="black">
                  <a:alpha val="45000"/>
                </a:prstClr>
              </a:outerShdw>
            </a:effectLst>
          </p:spPr>
          <p:txBody>
            <a:bodyPr lIns="68580" tIns="34290" rIns="68580" bIns="34290" rtlCol="0" anchor="ctr"/>
            <a:lstStyle/>
            <a:p>
              <a:pPr algn="ctr" defTabSz="342900">
                <a:defRPr/>
              </a:pPr>
              <a:endParaRPr lang="zh-CN" altLang="en-US" kern="0" dirty="0">
                <a:solidFill>
                  <a:srgbClr val="FFFFFF"/>
                </a:solidFill>
                <a:latin typeface="Calibri" panose="020F0502020204030204"/>
                <a:ea typeface="微软雅黑 Light" panose="020B0502040204020203" charset="-122"/>
              </a:endParaRPr>
            </a:p>
          </p:txBody>
        </p:sp>
        <p:sp>
          <p:nvSpPr>
            <p:cNvPr id="18" name="矩形 17">
              <a:extLst>
                <a:ext uri="{FF2B5EF4-FFF2-40B4-BE49-F238E27FC236}">
                  <a16:creationId xmlns:a16="http://schemas.microsoft.com/office/drawing/2014/main" id="{081D9E1D-1020-F744-A3FA-7B32C6575660}"/>
                </a:ext>
              </a:extLst>
            </p:cNvPr>
            <p:cNvSpPr/>
            <p:nvPr/>
          </p:nvSpPr>
          <p:spPr>
            <a:xfrm>
              <a:off x="3616931" y="4853484"/>
              <a:ext cx="3057247"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三、环流量与旋度</a:t>
              </a:r>
            </a:p>
          </p:txBody>
        </p:sp>
      </p:grpSp>
    </p:spTree>
    <p:extLst>
      <p:ext uri="{BB962C8B-B14F-4D97-AF65-F5344CB8AC3E}">
        <p14:creationId xmlns:p14="http://schemas.microsoft.com/office/powerpoint/2010/main" val="1612748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62B3664A-2CAE-BBB6-B438-1ECF8FE87AE9}"/>
              </a:ext>
            </a:extLst>
          </p:cNvPr>
          <p:cNvGrpSpPr/>
          <p:nvPr/>
        </p:nvGrpSpPr>
        <p:grpSpPr>
          <a:xfrm>
            <a:off x="0" y="-1"/>
            <a:ext cx="12202794" cy="6858001"/>
            <a:chOff x="0" y="-1"/>
            <a:chExt cx="12202794" cy="6858001"/>
          </a:xfrm>
        </p:grpSpPr>
        <p:sp>
          <p:nvSpPr>
            <p:cNvPr id="12" name="图文框 11">
              <a:extLst>
                <a:ext uri="{FF2B5EF4-FFF2-40B4-BE49-F238E27FC236}">
                  <a16:creationId xmlns:a16="http://schemas.microsoft.com/office/drawing/2014/main" id="{5DB8F70D-1C73-D1AD-5F22-A93154299902}"/>
                </a:ext>
              </a:extLst>
            </p:cNvPr>
            <p:cNvSpPr/>
            <p:nvPr/>
          </p:nvSpPr>
          <p:spPr>
            <a:xfrm rot="5400000">
              <a:off x="2705095" y="-2639699"/>
              <a:ext cx="6858001" cy="12137397"/>
            </a:xfrm>
            <a:prstGeom prst="frame">
              <a:avLst>
                <a:gd name="adj1" fmla="val 50000"/>
              </a:avLst>
            </a:prstGeom>
            <a:gradFill flip="none" rotWithShape="1">
              <a:gsLst>
                <a:gs pos="100000">
                  <a:srgbClr val="007434">
                    <a:alpha val="10000"/>
                  </a:srgbClr>
                </a:gs>
                <a:gs pos="4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13" name="矩形 12">
              <a:extLst>
                <a:ext uri="{FF2B5EF4-FFF2-40B4-BE49-F238E27FC236}">
                  <a16:creationId xmlns:a16="http://schemas.microsoft.com/office/drawing/2014/main" id="{5CEF962F-F91E-A34A-01E0-D4D6260A9C26}"/>
                </a:ext>
              </a:extLst>
            </p:cNvPr>
            <p:cNvSpPr/>
            <p:nvPr/>
          </p:nvSpPr>
          <p:spPr>
            <a:xfrm rot="16200000" flipH="1">
              <a:off x="-3338945" y="3338945"/>
              <a:ext cx="6858000" cy="180109"/>
            </a:xfrm>
            <a:prstGeom prst="rect">
              <a:avLst/>
            </a:prstGeom>
            <a:gradFill flip="none" rotWithShape="1">
              <a:gsLst>
                <a:gs pos="100000">
                  <a:srgbClr val="2C8894">
                    <a:alpha val="55000"/>
                  </a:srgbClr>
                </a:gs>
                <a:gs pos="55000">
                  <a:srgbClr val="389479">
                    <a:alpha val="87000"/>
                  </a:srgbClr>
                </a:gs>
                <a:gs pos="0">
                  <a:srgbClr val="3F9B67"/>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下箭头标注 8">
            <a:extLst>
              <a:ext uri="{FF2B5EF4-FFF2-40B4-BE49-F238E27FC236}">
                <a16:creationId xmlns:a16="http://schemas.microsoft.com/office/drawing/2014/main" id="{80B16D06-3091-F18D-C16A-C9FBEF297FE3}"/>
              </a:ext>
            </a:extLst>
          </p:cNvPr>
          <p:cNvSpPr/>
          <p:nvPr/>
        </p:nvSpPr>
        <p:spPr>
          <a:xfrm>
            <a:off x="5617584" y="1744712"/>
            <a:ext cx="4536417" cy="2453201"/>
          </a:xfrm>
          <a:prstGeom prst="downArrowCallout">
            <a:avLst>
              <a:gd name="adj1" fmla="val 22463"/>
              <a:gd name="adj2" fmla="val 32526"/>
              <a:gd name="adj3" fmla="val 25000"/>
              <a:gd name="adj4" fmla="val 64977"/>
            </a:avLst>
          </a:prstGeom>
          <a:solidFill>
            <a:srgbClr val="04926A">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2">
            <a:extLst>
              <a:ext uri="{FF2B5EF4-FFF2-40B4-BE49-F238E27FC236}">
                <a16:creationId xmlns:a16="http://schemas.microsoft.com/office/drawing/2014/main" id="{A21356A0-9D7D-3ABC-5988-194000273B31}"/>
              </a:ext>
            </a:extLst>
          </p:cNvPr>
          <p:cNvSpPr txBox="1">
            <a:spLocks noChangeArrowheads="1"/>
          </p:cNvSpPr>
          <p:nvPr/>
        </p:nvSpPr>
        <p:spPr>
          <a:xfrm>
            <a:off x="1873315" y="910752"/>
            <a:ext cx="5707743" cy="61772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dirty="0">
                <a:solidFill>
                  <a:srgbClr val="04926A"/>
                </a:solidFill>
                <a:latin typeface="微软雅黑" panose="020B0503020204020204" pitchFamily="34" charset="-122"/>
                <a:ea typeface="微软雅黑" panose="020B0503020204020204" pitchFamily="34" charset="-122"/>
                <a:cs typeface="+mn-cs"/>
              </a:rPr>
              <a:t>一、斯托克斯公式</a:t>
            </a:r>
          </a:p>
        </p:txBody>
      </p:sp>
      <p:grpSp>
        <p:nvGrpSpPr>
          <p:cNvPr id="4" name="Group 216">
            <a:extLst>
              <a:ext uri="{FF2B5EF4-FFF2-40B4-BE49-F238E27FC236}">
                <a16:creationId xmlns:a16="http://schemas.microsoft.com/office/drawing/2014/main" id="{B2E30EF2-A1B2-AA7C-EE90-F0B32158768F}"/>
              </a:ext>
            </a:extLst>
          </p:cNvPr>
          <p:cNvGrpSpPr>
            <a:grpSpLocks/>
          </p:cNvGrpSpPr>
          <p:nvPr/>
        </p:nvGrpSpPr>
        <p:grpSpPr bwMode="auto">
          <a:xfrm>
            <a:off x="2666915" y="3017779"/>
            <a:ext cx="2290763" cy="1414370"/>
            <a:chOff x="2205" y="2393"/>
            <a:chExt cx="1443" cy="432"/>
          </a:xfrm>
        </p:grpSpPr>
        <p:sp>
          <p:nvSpPr>
            <p:cNvPr id="5" name="AutoShape 212">
              <a:extLst>
                <a:ext uri="{FF2B5EF4-FFF2-40B4-BE49-F238E27FC236}">
                  <a16:creationId xmlns:a16="http://schemas.microsoft.com/office/drawing/2014/main" id="{67C9B80C-76E7-1CD0-B9AC-171DE2BC7E35}"/>
                </a:ext>
              </a:extLst>
            </p:cNvPr>
            <p:cNvSpPr>
              <a:spLocks noChangeArrowheads="1"/>
            </p:cNvSpPr>
            <p:nvPr/>
          </p:nvSpPr>
          <p:spPr bwMode="auto">
            <a:xfrm>
              <a:off x="2754" y="2393"/>
              <a:ext cx="288" cy="432"/>
            </a:xfrm>
            <a:prstGeom prst="downArrow">
              <a:avLst>
                <a:gd name="adj1" fmla="val 50000"/>
                <a:gd name="adj2" fmla="val 37500"/>
              </a:avLst>
            </a:prstGeom>
            <a:solidFill>
              <a:srgbClr val="04926A"/>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2800">
                <a:solidFill>
                  <a:srgbClr val="FF00FF"/>
                </a:solidFill>
              </a:endParaRPr>
            </a:p>
          </p:txBody>
        </p:sp>
        <p:sp>
          <p:nvSpPr>
            <p:cNvPr id="6" name="Text Box 214">
              <a:extLst>
                <a:ext uri="{FF2B5EF4-FFF2-40B4-BE49-F238E27FC236}">
                  <a16:creationId xmlns:a16="http://schemas.microsoft.com/office/drawing/2014/main" id="{EC1CCD05-0FFA-78E7-DB9E-BE94471E83A5}"/>
                </a:ext>
              </a:extLst>
            </p:cNvPr>
            <p:cNvSpPr txBox="1">
              <a:spLocks noChangeArrowheads="1"/>
            </p:cNvSpPr>
            <p:nvPr/>
          </p:nvSpPr>
          <p:spPr bwMode="auto">
            <a:xfrm>
              <a:off x="2205" y="2508"/>
              <a:ext cx="1443"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rgbClr val="04926A"/>
                  </a:solidFill>
                  <a:latin typeface="Times New Roman" panose="02020603050405020304" pitchFamily="18" charset="0"/>
                  <a:ea typeface="黑体" panose="02010609060101010101" pitchFamily="49" charset="-122"/>
                </a:rPr>
                <a:t>推广</a:t>
              </a:r>
            </a:p>
          </p:txBody>
        </p:sp>
      </p:grpSp>
      <p:sp>
        <p:nvSpPr>
          <p:cNvPr id="7" name="Text Box 218">
            <a:extLst>
              <a:ext uri="{FF2B5EF4-FFF2-40B4-BE49-F238E27FC236}">
                <a16:creationId xmlns:a16="http://schemas.microsoft.com/office/drawing/2014/main" id="{4F35D44C-DA7E-7F16-7793-12DF924FD102}"/>
              </a:ext>
            </a:extLst>
          </p:cNvPr>
          <p:cNvSpPr txBox="1">
            <a:spLocks noChangeArrowheads="1"/>
          </p:cNvSpPr>
          <p:nvPr/>
        </p:nvSpPr>
        <p:spPr bwMode="auto">
          <a:xfrm>
            <a:off x="2664991" y="4577555"/>
            <a:ext cx="27419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rgbClr val="04926A"/>
                </a:solidFill>
                <a:latin typeface="Times New Roman" panose="02020603050405020304" pitchFamily="18" charset="0"/>
                <a:ea typeface="黑体" panose="02010609060101010101" pitchFamily="49" charset="-122"/>
              </a:rPr>
              <a:t>斯托克斯公式</a:t>
            </a:r>
          </a:p>
        </p:txBody>
      </p:sp>
      <p:sp>
        <p:nvSpPr>
          <p:cNvPr id="8" name="Text Box 218">
            <a:extLst>
              <a:ext uri="{FF2B5EF4-FFF2-40B4-BE49-F238E27FC236}">
                <a16:creationId xmlns:a16="http://schemas.microsoft.com/office/drawing/2014/main" id="{5F161CDE-3EED-E3C5-5943-78FD8EA05F70}"/>
              </a:ext>
            </a:extLst>
          </p:cNvPr>
          <p:cNvSpPr txBox="1">
            <a:spLocks noChangeArrowheads="1"/>
          </p:cNvSpPr>
          <p:nvPr/>
        </p:nvSpPr>
        <p:spPr bwMode="auto">
          <a:xfrm>
            <a:off x="2666365" y="2337407"/>
            <a:ext cx="27419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rgbClr val="04926A"/>
                </a:solidFill>
                <a:latin typeface="Times New Roman" panose="02020603050405020304" pitchFamily="18" charset="0"/>
                <a:ea typeface="黑体" panose="02010609060101010101" pitchFamily="49" charset="-122"/>
              </a:rPr>
              <a:t>格林公式</a:t>
            </a:r>
          </a:p>
        </p:txBody>
      </p:sp>
      <mc:AlternateContent xmlns:mc="http://schemas.openxmlformats.org/markup-compatibility/2006" xmlns:a14="http://schemas.microsoft.com/office/drawing/2010/main">
        <mc:Choice Requires="a14">
          <p:sp>
            <p:nvSpPr>
              <p:cNvPr id="9" name="Text Box 221">
                <a:extLst>
                  <a:ext uri="{FF2B5EF4-FFF2-40B4-BE49-F238E27FC236}">
                    <a16:creationId xmlns:a16="http://schemas.microsoft.com/office/drawing/2014/main" id="{EA9DD618-7D73-FDE5-E631-F3915897550C}"/>
                  </a:ext>
                </a:extLst>
              </p:cNvPr>
              <p:cNvSpPr txBox="1">
                <a:spLocks noChangeArrowheads="1"/>
              </p:cNvSpPr>
              <p:nvPr/>
            </p:nvSpPr>
            <p:spPr bwMode="auto">
              <a:xfrm>
                <a:off x="5667140" y="1855273"/>
                <a:ext cx="4474032" cy="138499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高斯公式表达了平面闭区域</a:t>
                </a:r>
                <a14:m>
                  <m:oMath xmlns:m="http://schemas.openxmlformats.org/officeDocument/2006/math">
                    <m:r>
                      <a:rPr kumimoji="1" lang="en-US" altLang="zh-CN" sz="2800" i="1">
                        <a:solidFill>
                          <a:prstClr val="black"/>
                        </a:solidFill>
                        <a:latin typeface="Cambria Math" panose="02040503050406030204" pitchFamily="18" charset="0"/>
                        <a:ea typeface="黑体" panose="02010609060101010101" pitchFamily="49" charset="-122"/>
                      </a:rPr>
                      <m:t>𝐷</m:t>
                    </m:r>
                  </m:oMath>
                </a14:m>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 上的二重积分与其边界曲线上的曲线积分间的关系</a:t>
                </a:r>
                <a:r>
                  <a:rPr kumimoji="1" lang="en-US" altLang="zh-CN" sz="2800" dirty="0">
                    <a:solidFill>
                      <a:schemeClr val="tx1">
                        <a:lumMod val="95000"/>
                        <a:lumOff val="5000"/>
                      </a:schemeClr>
                    </a:solidFill>
                    <a:latin typeface="Times New Roman" panose="02020603050405020304" pitchFamily="18" charset="0"/>
                    <a:ea typeface="黑体" panose="02010609060101010101" pitchFamily="49" charset="-122"/>
                  </a:rPr>
                  <a:t>.</a:t>
                </a:r>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9" name="Text Box 221">
                <a:extLst>
                  <a:ext uri="{FF2B5EF4-FFF2-40B4-BE49-F238E27FC236}">
                    <a16:creationId xmlns:a16="http://schemas.microsoft.com/office/drawing/2014/main" id="{EA9DD618-7D73-FDE5-E631-F3915897550C}"/>
                  </a:ext>
                </a:extLst>
              </p:cNvPr>
              <p:cNvSpPr txBox="1">
                <a:spLocks noRot="1" noChangeAspect="1" noMove="1" noResize="1" noEditPoints="1" noAdjustHandles="1" noChangeArrowheads="1" noChangeShapeType="1" noTextEdit="1"/>
              </p:cNvSpPr>
              <p:nvPr/>
            </p:nvSpPr>
            <p:spPr bwMode="auto">
              <a:xfrm>
                <a:off x="5667140" y="1855273"/>
                <a:ext cx="4474032" cy="1384995"/>
              </a:xfrm>
              <a:prstGeom prst="rect">
                <a:avLst/>
              </a:prstGeom>
              <a:blipFill>
                <a:blip r:embed="rId2"/>
                <a:stretch>
                  <a:fillRect l="-2861" t="-4386" r="-2180" b="-1140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 Box 223">
                <a:extLst>
                  <a:ext uri="{FF2B5EF4-FFF2-40B4-BE49-F238E27FC236}">
                    <a16:creationId xmlns:a16="http://schemas.microsoft.com/office/drawing/2014/main" id="{7107EFED-860C-B658-F377-D9942AA4E1A7}"/>
                  </a:ext>
                </a:extLst>
              </p:cNvPr>
              <p:cNvSpPr txBox="1">
                <a:spLocks noChangeArrowheads="1"/>
              </p:cNvSpPr>
              <p:nvPr/>
            </p:nvSpPr>
            <p:spPr bwMode="auto">
              <a:xfrm>
                <a:off x="5616211" y="4246024"/>
                <a:ext cx="4537790" cy="1384995"/>
              </a:xfrm>
              <a:prstGeom prst="rect">
                <a:avLst/>
              </a:prstGeom>
              <a:solidFill>
                <a:srgbClr val="04926A">
                  <a:alpha val="42000"/>
                </a:srgbClr>
              </a:solidFill>
              <a:ln w="9525">
                <a:noFill/>
                <a:miter lim="800000"/>
                <a:headEnd/>
                <a:tailEnd/>
              </a:ln>
              <a:effectLst/>
            </p:spPr>
            <p:txBody>
              <a:bodyPr wrap="square">
                <a:spAutoFit/>
              </a:bodyPr>
              <a:lstStyle/>
              <a:p>
                <a:pPr>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斯托克斯公式则把曲面</a:t>
                </a:r>
                <a14:m>
                  <m:oMath xmlns:m="http://schemas.openxmlformats.org/officeDocument/2006/math">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cs typeface="Cambria Math" panose="02040503050406030204" charset="0"/>
                      </a:rPr>
                      <m:t> </m:t>
                    </m:r>
                    <m:r>
                      <a:rPr kumimoji="1" lang="zh-CN" altLang="en-US" sz="2800" i="1">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𝛴</m:t>
                    </m:r>
                  </m:oMath>
                </a14:m>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sym typeface="Symbol" panose="05050102010706020507" pitchFamily="18" charset="2"/>
                  </a:rPr>
                  <a:t> 上的</a:t>
                </a: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曲面积分与沿着</a:t>
                </a:r>
                <a14:m>
                  <m:oMath xmlns:m="http://schemas.openxmlformats.org/officeDocument/2006/math">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cs typeface="Cambria Math" panose="02040503050406030204" charset="0"/>
                      </a:rPr>
                      <m:t> </m:t>
                    </m:r>
                    <m:r>
                      <a:rPr kumimoji="1" lang="zh-CN" altLang="en-US" sz="2800" i="1">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𝛴</m:t>
                    </m:r>
                  </m:oMath>
                </a14:m>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 的边界曲线的曲线积分联系起来</a:t>
                </a:r>
                <a:r>
                  <a:rPr kumimoji="1" lang="en-US" altLang="zh-CN" sz="2800" dirty="0">
                    <a:solidFill>
                      <a:schemeClr val="tx1">
                        <a:lumMod val="95000"/>
                        <a:lumOff val="5000"/>
                      </a:schemeClr>
                    </a:solidFill>
                    <a:latin typeface="Times New Roman" panose="02020603050405020304" pitchFamily="18" charset="0"/>
                    <a:ea typeface="黑体" panose="02010609060101010101" pitchFamily="49" charset="-122"/>
                  </a:rPr>
                  <a:t>.</a:t>
                </a:r>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sym typeface="Symbol" panose="05050102010706020507" pitchFamily="18" charset="2"/>
                </a:endParaRPr>
              </a:p>
            </p:txBody>
          </p:sp>
        </mc:Choice>
        <mc:Fallback xmlns="">
          <p:sp>
            <p:nvSpPr>
              <p:cNvPr id="10" name="Text Box 223">
                <a:extLst>
                  <a:ext uri="{FF2B5EF4-FFF2-40B4-BE49-F238E27FC236}">
                    <a16:creationId xmlns:a16="http://schemas.microsoft.com/office/drawing/2014/main" id="{7107EFED-860C-B658-F377-D9942AA4E1A7}"/>
                  </a:ext>
                </a:extLst>
              </p:cNvPr>
              <p:cNvSpPr txBox="1">
                <a:spLocks noRot="1" noChangeAspect="1" noMove="1" noResize="1" noEditPoints="1" noAdjustHandles="1" noChangeArrowheads="1" noChangeShapeType="1" noTextEdit="1"/>
              </p:cNvSpPr>
              <p:nvPr/>
            </p:nvSpPr>
            <p:spPr bwMode="auto">
              <a:xfrm>
                <a:off x="5616211" y="4246024"/>
                <a:ext cx="4537790" cy="1384995"/>
              </a:xfrm>
              <a:prstGeom prst="rect">
                <a:avLst/>
              </a:prstGeom>
              <a:blipFill>
                <a:blip r:embed="rId3"/>
                <a:stretch>
                  <a:fillRect l="-2685" t="-6167" r="-1611" b="-11894"/>
                </a:stretch>
              </a:blipFill>
              <a:ln w="9525">
                <a:noFill/>
                <a:miter lim="800000"/>
                <a:headEnd/>
                <a:tailEnd/>
              </a:ln>
              <a:effectLst/>
            </p:spPr>
            <p:txBody>
              <a:bodyPr/>
              <a:lstStyle/>
              <a:p>
                <a:r>
                  <a:rPr lang="zh-CN" altLang="en-US">
                    <a:noFill/>
                  </a:rPr>
                  <a:t> </a:t>
                </a:r>
              </a:p>
            </p:txBody>
          </p:sp>
        </mc:Fallback>
      </mc:AlternateContent>
    </p:spTree>
    <p:extLst>
      <p:ext uri="{BB962C8B-B14F-4D97-AF65-F5344CB8AC3E}">
        <p14:creationId xmlns:p14="http://schemas.microsoft.com/office/powerpoint/2010/main" val="130025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7" grpId="0"/>
      <p:bldP spid="8" grpId="0"/>
      <p:bldP spid="9" grpId="0"/>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F9CBA84-E4CE-05C9-55D7-FA2420A2542A}"/>
              </a:ext>
            </a:extLst>
          </p:cNvPr>
          <p:cNvGrpSpPr/>
          <p:nvPr/>
        </p:nvGrpSpPr>
        <p:grpSpPr>
          <a:xfrm>
            <a:off x="0" y="-181"/>
            <a:ext cx="12192000" cy="6863080"/>
            <a:chOff x="0" y="-181"/>
            <a:chExt cx="12192000" cy="6863080"/>
          </a:xfrm>
        </p:grpSpPr>
        <p:grpSp>
          <p:nvGrpSpPr>
            <p:cNvPr id="14" name="组合 13">
              <a:extLst>
                <a:ext uri="{FF2B5EF4-FFF2-40B4-BE49-F238E27FC236}">
                  <a16:creationId xmlns:a16="http://schemas.microsoft.com/office/drawing/2014/main" id="{D71F7FB4-F3BD-A4DD-89C9-CBDFE998DBB9}"/>
                </a:ext>
              </a:extLst>
            </p:cNvPr>
            <p:cNvGrpSpPr/>
            <p:nvPr/>
          </p:nvGrpSpPr>
          <p:grpSpPr>
            <a:xfrm>
              <a:off x="0" y="-181"/>
              <a:ext cx="12192000" cy="6863080"/>
              <a:chOff x="0" y="-8"/>
              <a:chExt cx="19200" cy="10808"/>
            </a:xfrm>
          </p:grpSpPr>
          <p:sp>
            <p:nvSpPr>
              <p:cNvPr id="22" name="Rectangle 1">
                <a:extLst>
                  <a:ext uri="{FF2B5EF4-FFF2-40B4-BE49-F238E27FC236}">
                    <a16:creationId xmlns:a16="http://schemas.microsoft.com/office/drawing/2014/main" id="{EEF63B35-75B5-5D16-B0BF-4209D7463BFC}"/>
                  </a:ext>
                </a:extLst>
              </p:cNvPr>
              <p:cNvSpPr/>
              <p:nvPr/>
            </p:nvSpPr>
            <p:spPr>
              <a:xfrm>
                <a:off x="0" y="-8"/>
                <a:ext cx="19200" cy="10808"/>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6" name="圆角矩形 16">
                <a:extLst>
                  <a:ext uri="{FF2B5EF4-FFF2-40B4-BE49-F238E27FC236}">
                    <a16:creationId xmlns:a16="http://schemas.microsoft.com/office/drawing/2014/main" id="{338E4A79-7B96-90C1-D035-3C1B55B05076}"/>
                  </a:ext>
                </a:extLst>
              </p:cNvPr>
              <p:cNvSpPr/>
              <p:nvPr/>
            </p:nvSpPr>
            <p:spPr>
              <a:xfrm>
                <a:off x="354" y="310"/>
                <a:ext cx="18493" cy="10167"/>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5" name="组合 14">
              <a:extLst>
                <a:ext uri="{FF2B5EF4-FFF2-40B4-BE49-F238E27FC236}">
                  <a16:creationId xmlns:a16="http://schemas.microsoft.com/office/drawing/2014/main" id="{BCB5DB06-F5A2-1E6D-2FA5-3E60CCDECDB8}"/>
                </a:ext>
              </a:extLst>
            </p:cNvPr>
            <p:cNvGrpSpPr/>
            <p:nvPr/>
          </p:nvGrpSpPr>
          <p:grpSpPr>
            <a:xfrm>
              <a:off x="0" y="239357"/>
              <a:ext cx="11993046" cy="6427310"/>
              <a:chOff x="0" y="239357"/>
              <a:chExt cx="11993046" cy="6427310"/>
            </a:xfrm>
          </p:grpSpPr>
          <p:sp>
            <p:nvSpPr>
              <p:cNvPr id="16" name="Rectangle 1">
                <a:extLst>
                  <a:ext uri="{FF2B5EF4-FFF2-40B4-BE49-F238E27FC236}">
                    <a16:creationId xmlns:a16="http://schemas.microsoft.com/office/drawing/2014/main" id="{943B0213-2AD4-3BAB-7EC3-8F117B2C23E9}"/>
                  </a:ext>
                </a:extLst>
              </p:cNvPr>
              <p:cNvSpPr/>
              <p:nvPr userDrawn="1"/>
            </p:nvSpPr>
            <p:spPr>
              <a:xfrm>
                <a:off x="297498" y="64715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7" name="矩形 16">
                <a:extLst>
                  <a:ext uri="{FF2B5EF4-FFF2-40B4-BE49-F238E27FC236}">
                    <a16:creationId xmlns:a16="http://schemas.microsoft.com/office/drawing/2014/main" id="{9F1283EC-9691-9475-A5AC-F7625274131D}"/>
                  </a:ext>
                </a:extLst>
              </p:cNvPr>
              <p:cNvSpPr/>
              <p:nvPr/>
            </p:nvSpPr>
            <p:spPr>
              <a:xfrm>
                <a:off x="476885" y="6358890"/>
                <a:ext cx="3784600" cy="307777"/>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  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18" name="Rectangle 1">
                <a:extLst>
                  <a:ext uri="{FF2B5EF4-FFF2-40B4-BE49-F238E27FC236}">
                    <a16:creationId xmlns:a16="http://schemas.microsoft.com/office/drawing/2014/main" id="{E57A05A1-EE36-A115-F4B4-BD60C91FE489}"/>
                  </a:ext>
                </a:extLst>
              </p:cNvPr>
              <p:cNvSpPr/>
              <p:nvPr userDrawn="1"/>
            </p:nvSpPr>
            <p:spPr>
              <a:xfrm rot="2659048">
                <a:off x="9060538" y="323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9" name="矩形 18">
                <a:extLst>
                  <a:ext uri="{FF2B5EF4-FFF2-40B4-BE49-F238E27FC236}">
                    <a16:creationId xmlns:a16="http://schemas.microsoft.com/office/drawing/2014/main" id="{B29052DC-08D3-4BDB-AF1F-3B029F2761E1}"/>
                  </a:ext>
                </a:extLst>
              </p:cNvPr>
              <p:cNvSpPr/>
              <p:nvPr/>
            </p:nvSpPr>
            <p:spPr>
              <a:xfrm>
                <a:off x="9315710" y="239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曲线积分与曲面积分</a:t>
                </a:r>
              </a:p>
            </p:txBody>
          </p:sp>
          <p:cxnSp>
            <p:nvCxnSpPr>
              <p:cNvPr id="20" name="直接连接符 19">
                <a:extLst>
                  <a:ext uri="{FF2B5EF4-FFF2-40B4-BE49-F238E27FC236}">
                    <a16:creationId xmlns:a16="http://schemas.microsoft.com/office/drawing/2014/main" id="{3758C089-18FF-5C17-B53A-E3978F33AB96}"/>
                  </a:ext>
                </a:extLst>
              </p:cNvPr>
              <p:cNvCxnSpPr>
                <a:cxnSpLocks/>
              </p:cNvCxnSpPr>
              <p:nvPr userDrawn="1"/>
            </p:nvCxnSpPr>
            <p:spPr>
              <a:xfrm>
                <a:off x="0" y="393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319CDA0-174A-D881-9105-EB5287ABABE6}"/>
                  </a:ext>
                </a:extLst>
              </p:cNvPr>
              <p:cNvCxnSpPr>
                <a:cxnSpLocks/>
              </p:cNvCxnSpPr>
              <p:nvPr userDrawn="1"/>
            </p:nvCxnSpPr>
            <p:spPr>
              <a:xfrm>
                <a:off x="3675872" y="6512242"/>
                <a:ext cx="827228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8CC1B8D3-2703-7A3C-A774-85762D116D64}"/>
                  </a:ext>
                </a:extLst>
              </p:cNvPr>
              <p:cNvSpPr txBox="1"/>
              <p:nvPr/>
            </p:nvSpPr>
            <p:spPr>
              <a:xfrm>
                <a:off x="2760497" y="1289897"/>
                <a:ext cx="7551737" cy="431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d>
                        <m:dPr>
                          <m:ctrlP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1</m:t>
                          </m:r>
                        </m:e>
                      </m:d>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设光滑曲面</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i="1">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𝛴</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cs typeface="Cambria Math" panose="02040503050406030204" charset="0"/>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的边界</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𝛤</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是分段光滑曲线</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3" name="对象 2">
                <a:extLst>
                  <a:ext uri="{FF2B5EF4-FFF2-40B4-BE49-F238E27FC236}">
                    <a16:creationId xmlns:a16="http://schemas.microsoft.com/office/drawing/2014/main" id="{8CC1B8D3-2703-7A3C-A774-85762D116D64}"/>
                  </a:ext>
                </a:extLst>
              </p:cNvPr>
              <p:cNvSpPr txBox="1">
                <a:spLocks noRot="1" noChangeAspect="1" noMove="1" noResize="1" noEditPoints="1" noAdjustHandles="1" noChangeArrowheads="1" noChangeShapeType="1" noTextEdit="1"/>
              </p:cNvSpPr>
              <p:nvPr/>
            </p:nvSpPr>
            <p:spPr>
              <a:xfrm>
                <a:off x="2760497" y="1289897"/>
                <a:ext cx="7551737" cy="431800"/>
              </a:xfrm>
              <a:prstGeom prst="rect">
                <a:avLst/>
              </a:prstGeom>
              <a:blipFill>
                <a:blip r:embed="rId2"/>
                <a:stretch>
                  <a:fillRect b="-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7317C296-AB04-A671-5819-1FC87D07B057}"/>
                  </a:ext>
                </a:extLst>
              </p:cNvPr>
              <p:cNvSpPr txBox="1"/>
              <p:nvPr/>
            </p:nvSpPr>
            <p:spPr>
              <a:xfrm>
                <a:off x="2760497" y="1801903"/>
                <a:ext cx="8488587" cy="1119538"/>
              </a:xfrm>
              <a:prstGeom prst="rect">
                <a:avLst/>
              </a:prstGeom>
            </p:spPr>
            <p:txBody>
              <a:bodyPr>
                <a:noAutofit/>
              </a:bodyPr>
              <a:lstStyle/>
              <a:p>
                <a:pPr>
                  <a:lnSpc>
                    <a:spcPct val="130000"/>
                  </a:lnSpc>
                </a:pPr>
                <a14:m>
                  <m:oMathPara xmlns:m="http://schemas.openxmlformats.org/officeDocument/2006/math">
                    <m:oMathParaPr>
                      <m:jc m:val="left"/>
                    </m:oMathParaPr>
                    <m:oMath xmlns:m="http://schemas.openxmlformats.org/officeDocument/2006/math">
                      <m:d>
                        <m:dPr>
                          <m:ctrlP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ctrlPr>
                        </m:dPr>
                        <m:e>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2</m:t>
                          </m:r>
                        </m:e>
                      </m:d>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函数</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e>
                      </m:d>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e>
                      </m:d>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e>
                      </m:d>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在包含</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𝛴</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在内的</m:t>
                      </m:r>
                    </m:oMath>
                    <m:oMath xmlns:m="http://schemas.openxmlformats.org/officeDocument/2006/math">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一个空间域内具有一阶连续偏导数</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7317C296-AB04-A671-5819-1FC87D07B057}"/>
                  </a:ext>
                </a:extLst>
              </p:cNvPr>
              <p:cNvSpPr txBox="1">
                <a:spLocks noRot="1" noChangeAspect="1" noMove="1" noResize="1" noEditPoints="1" noAdjustHandles="1" noChangeArrowheads="1" noChangeShapeType="1" noTextEdit="1"/>
              </p:cNvSpPr>
              <p:nvPr/>
            </p:nvSpPr>
            <p:spPr>
              <a:xfrm>
                <a:off x="2760497" y="1801903"/>
                <a:ext cx="8488587" cy="111953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EEFF80FA-755F-D513-4781-8E5004C2E248}"/>
                  </a:ext>
                </a:extLst>
              </p:cNvPr>
              <p:cNvSpPr txBox="1"/>
              <p:nvPr/>
            </p:nvSpPr>
            <p:spPr>
              <a:xfrm>
                <a:off x="1982677" y="3675720"/>
                <a:ext cx="9218723" cy="1247747"/>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𝛴</m:t>
                          </m:r>
                        </m:sub>
                        <m:sup/>
                        <m:e>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den>
                              </m:f>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den>
                              </m:f>
                            </m:e>
                          </m:d>
                        </m:e>
                      </m:nary>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den>
                          </m:f>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den>
                          </m:f>
                        </m:e>
                      </m:d>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dzd</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d>
                        <m:d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den>
                          </m:f>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den>
                          </m:f>
                        </m:e>
                      </m:d>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𝑦</m:t>
                      </m:r>
                    </m:oMath>
                  </m:oMathPara>
                </a14:m>
                <a:endParaRPr kumimoji="1" lang="zh-CN" altLang="en-US" sz="2800" i="1"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5" name="对象 4">
                <a:extLst>
                  <a:ext uri="{FF2B5EF4-FFF2-40B4-BE49-F238E27FC236}">
                    <a16:creationId xmlns:a16="http://schemas.microsoft.com/office/drawing/2014/main" id="{EEFF80FA-755F-D513-4781-8E5004C2E248}"/>
                  </a:ext>
                </a:extLst>
              </p:cNvPr>
              <p:cNvSpPr txBox="1">
                <a:spLocks noRot="1" noChangeAspect="1" noMove="1" noResize="1" noEditPoints="1" noAdjustHandles="1" noChangeArrowheads="1" noChangeShapeType="1" noTextEdit="1"/>
              </p:cNvSpPr>
              <p:nvPr/>
            </p:nvSpPr>
            <p:spPr>
              <a:xfrm>
                <a:off x="1982677" y="3675720"/>
                <a:ext cx="9218723" cy="1247747"/>
              </a:xfrm>
              <a:prstGeom prst="rect">
                <a:avLst/>
              </a:prstGeom>
              <a:blipFill>
                <a:blip r:embed="rId4"/>
                <a:stretch>
                  <a:fillRect/>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5958CCE6-6DCA-A2F3-EB5E-B81C1764D39C}"/>
              </a:ext>
            </a:extLst>
          </p:cNvPr>
          <p:cNvSpPr txBox="1"/>
          <p:nvPr/>
        </p:nvSpPr>
        <p:spPr bwMode="auto">
          <a:xfrm>
            <a:off x="2374695" y="1209690"/>
            <a:ext cx="543739" cy="592213"/>
          </a:xfrm>
          <a:prstGeom prst="rect">
            <a:avLst/>
          </a:prstGeom>
        </p:spPr>
        <p:txBody>
          <a:bodyPr wrap="none" rtlCol="0">
            <a:spAutoFit/>
          </a:bodyPr>
          <a:lstStyle/>
          <a:p>
            <a:pPr eaLnBrk="1" hangingPunct="1">
              <a:lnSpc>
                <a:spcPct val="130000"/>
              </a:lnSpc>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设</a:t>
            </a:r>
          </a:p>
        </p:txBody>
      </p:sp>
      <mc:AlternateContent xmlns:mc="http://schemas.openxmlformats.org/markup-compatibility/2006" xmlns:a14="http://schemas.microsoft.com/office/drawing/2010/main">
        <mc:Choice Requires="a14">
          <p:sp>
            <p:nvSpPr>
              <p:cNvPr id="7" name="对象 6">
                <a:extLst>
                  <a:ext uri="{FF2B5EF4-FFF2-40B4-BE49-F238E27FC236}">
                    <a16:creationId xmlns:a16="http://schemas.microsoft.com/office/drawing/2014/main" id="{1CA57501-2189-461F-D1A1-3B9972FF96DD}"/>
                  </a:ext>
                </a:extLst>
              </p:cNvPr>
              <p:cNvSpPr txBox="1"/>
              <p:nvPr/>
            </p:nvSpPr>
            <p:spPr>
              <a:xfrm>
                <a:off x="2770022" y="3019617"/>
                <a:ext cx="6431187" cy="52322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d>
                        <m:dPr>
                          <m:ctrlP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ctrlPr>
                        </m:dPr>
                        <m:e>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3</m:t>
                          </m:r>
                        </m:e>
                      </m:d>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𝛤</m:t>
                      </m:r>
                      <m:r>
                        <a:rPr kumimoji="1" lang="en-US" altLang="zh-CN" sz="280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的正向与</m:t>
                      </m:r>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𝛴</m:t>
                      </m:r>
                      <m:r>
                        <a:rPr kumimoji="1" lang="en-US" altLang="zh-CN" sz="280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的侧符合右手法则</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7" name="对象 6">
                <a:extLst>
                  <a:ext uri="{FF2B5EF4-FFF2-40B4-BE49-F238E27FC236}">
                    <a16:creationId xmlns:a16="http://schemas.microsoft.com/office/drawing/2014/main" id="{1CA57501-2189-461F-D1A1-3B9972FF96DD}"/>
                  </a:ext>
                </a:extLst>
              </p:cNvPr>
              <p:cNvSpPr txBox="1">
                <a:spLocks noRot="1" noChangeAspect="1" noMove="1" noResize="1" noEditPoints="1" noAdjustHandles="1" noChangeArrowheads="1" noChangeShapeType="1" noTextEdit="1"/>
              </p:cNvSpPr>
              <p:nvPr/>
            </p:nvSpPr>
            <p:spPr>
              <a:xfrm>
                <a:off x="2770022" y="3019617"/>
                <a:ext cx="6431187" cy="523220"/>
              </a:xfrm>
              <a:prstGeom prst="rect">
                <a:avLst/>
              </a:prstGeom>
              <a:blipFill>
                <a:blip r:embed="rId5"/>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DCB8F3CA-FE4A-1087-32FB-75BF04244FC6}"/>
              </a:ext>
            </a:extLst>
          </p:cNvPr>
          <p:cNvSpPr txBox="1"/>
          <p:nvPr/>
        </p:nvSpPr>
        <p:spPr bwMode="auto">
          <a:xfrm>
            <a:off x="5589558" y="5221291"/>
            <a:ext cx="545342" cy="523220"/>
          </a:xfrm>
          <a:prstGeom prst="rect">
            <a:avLst/>
          </a:prstGeom>
        </p:spPr>
        <p:txBody>
          <a:bodyPr wrap="none" rtlCol="0">
            <a:spAutoFit/>
          </a:bodyPr>
          <a:lstStyle/>
          <a:p>
            <a:pPr eaLnBrk="1" hangingPunct="1">
              <a:spcBef>
                <a:spcPct val="50000"/>
              </a:spcBef>
            </a:pPr>
            <a:r>
              <a:rPr kumimoji="1" lang="zh-CN" altLang="en-US" sz="2800" dirty="0">
                <a:solidFill>
                  <a:srgbClr val="04926A"/>
                </a:solidFill>
                <a:latin typeface="Cambria Math" panose="02040503050406030204" pitchFamily="18" charset="0"/>
                <a:ea typeface="黑体" panose="02010609060101010101" pitchFamily="49" charset="-122"/>
              </a:rPr>
              <a:t>①</a:t>
            </a:r>
          </a:p>
        </p:txBody>
      </p:sp>
      <p:sp>
        <p:nvSpPr>
          <p:cNvPr id="11" name="文本框 10">
            <a:extLst>
              <a:ext uri="{FF2B5EF4-FFF2-40B4-BE49-F238E27FC236}">
                <a16:creationId xmlns:a16="http://schemas.microsoft.com/office/drawing/2014/main" id="{A43A4D52-CE27-C88F-86F5-7CF274825AD1}"/>
              </a:ext>
            </a:extLst>
          </p:cNvPr>
          <p:cNvSpPr txBox="1"/>
          <p:nvPr/>
        </p:nvSpPr>
        <p:spPr bwMode="auto">
          <a:xfrm>
            <a:off x="1076661" y="4048304"/>
            <a:ext cx="906017" cy="523220"/>
          </a:xfrm>
          <a:prstGeom prst="rect">
            <a:avLst/>
          </a:prstGeom>
        </p:spPr>
        <p:txBody>
          <a:bodyPr wrap="none" rtlCol="0">
            <a:spAutoFit/>
          </a:bodyPr>
          <a:lstStyle/>
          <a:p>
            <a:pPr eaLnBrk="1" hangingPunct="1">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则有</a:t>
            </a:r>
          </a:p>
        </p:txBody>
      </p:sp>
      <mc:AlternateContent xmlns:mc="http://schemas.openxmlformats.org/markup-compatibility/2006" xmlns:a14="http://schemas.microsoft.com/office/drawing/2010/main">
        <mc:Choice Requires="a14">
          <p:sp>
            <p:nvSpPr>
              <p:cNvPr id="12" name="对象 11">
                <a:extLst>
                  <a:ext uri="{FF2B5EF4-FFF2-40B4-BE49-F238E27FC236}">
                    <a16:creationId xmlns:a16="http://schemas.microsoft.com/office/drawing/2014/main" id="{D204CA1E-9342-54BE-E4C4-FEC4545349E4}"/>
                  </a:ext>
                </a:extLst>
              </p:cNvPr>
              <p:cNvSpPr txBox="1"/>
              <p:nvPr/>
            </p:nvSpPr>
            <p:spPr>
              <a:xfrm>
                <a:off x="1982676" y="5023367"/>
                <a:ext cx="3571199" cy="1076472"/>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𝛤</m:t>
                          </m:r>
                        </m:sub>
                        <m:sup/>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en-US" altLang="zh-CN" sz="2800" i="1">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e>
                      </m:nary>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12" name="对象 11">
                <a:extLst>
                  <a:ext uri="{FF2B5EF4-FFF2-40B4-BE49-F238E27FC236}">
                    <a16:creationId xmlns:a16="http://schemas.microsoft.com/office/drawing/2014/main" id="{D204CA1E-9342-54BE-E4C4-FEC4545349E4}"/>
                  </a:ext>
                </a:extLst>
              </p:cNvPr>
              <p:cNvSpPr txBox="1">
                <a:spLocks noRot="1" noChangeAspect="1" noMove="1" noResize="1" noEditPoints="1" noAdjustHandles="1" noChangeArrowheads="1" noChangeShapeType="1" noTextEdit="1"/>
              </p:cNvSpPr>
              <p:nvPr/>
            </p:nvSpPr>
            <p:spPr>
              <a:xfrm>
                <a:off x="1982676" y="5023367"/>
                <a:ext cx="3571199" cy="107647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对象 6">
                <a:extLst>
                  <a:ext uri="{FF2B5EF4-FFF2-40B4-BE49-F238E27FC236}">
                    <a16:creationId xmlns:a16="http://schemas.microsoft.com/office/drawing/2014/main" id="{9552187B-064A-3719-299C-50BE00C03A32}"/>
                  </a:ext>
                </a:extLst>
              </p:cNvPr>
              <p:cNvSpPr txBox="1"/>
              <p:nvPr/>
            </p:nvSpPr>
            <p:spPr>
              <a:xfrm>
                <a:off x="6961022" y="5860483"/>
                <a:ext cx="4240378" cy="523220"/>
              </a:xfrm>
              <a:prstGeom prst="rect">
                <a:avLst/>
              </a:prstGeom>
            </p:spPr>
            <p:txBody>
              <a:bodyPr>
                <a:noAutofit/>
              </a:bodyPr>
              <a:lstStyle/>
              <a:p>
                <a14:m>
                  <m:oMath xmlns:m="http://schemas.openxmlformats.org/officeDocument/2006/math">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公式</m:t>
                    </m:r>
                  </m:oMath>
                </a14:m>
                <a:r>
                  <a:rPr kumimoji="1" lang="zh-CN" altLang="en-US" sz="2800" dirty="0">
                    <a:solidFill>
                      <a:srgbClr val="04926A"/>
                    </a:solidFill>
                    <a:latin typeface="Cambria Math" panose="02040503050406030204" pitchFamily="18" charset="0"/>
                    <a:ea typeface="黑体" panose="02010609060101010101" pitchFamily="49" charset="-122"/>
                  </a:rPr>
                  <a:t>①</a:t>
                </a: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叫做斯托克斯公式</a:t>
                </a:r>
                <a14:m>
                  <m:oMath xmlns:m="http://schemas.openxmlformats.org/officeDocument/2006/math">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oMath>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23" name="对象 6">
                <a:extLst>
                  <a:ext uri="{FF2B5EF4-FFF2-40B4-BE49-F238E27FC236}">
                    <a16:creationId xmlns:a16="http://schemas.microsoft.com/office/drawing/2014/main" id="{9552187B-064A-3719-299C-50BE00C03A32}"/>
                  </a:ext>
                </a:extLst>
              </p:cNvPr>
              <p:cNvSpPr txBox="1">
                <a:spLocks noRot="1" noChangeAspect="1" noMove="1" noResize="1" noEditPoints="1" noAdjustHandles="1" noChangeArrowheads="1" noChangeShapeType="1" noTextEdit="1"/>
              </p:cNvSpPr>
              <p:nvPr/>
            </p:nvSpPr>
            <p:spPr>
              <a:xfrm>
                <a:off x="6961022" y="5860483"/>
                <a:ext cx="4240378" cy="523220"/>
              </a:xfrm>
              <a:prstGeom prst="rect">
                <a:avLst/>
              </a:prstGeom>
              <a:blipFill>
                <a:blip r:embed="rId7"/>
                <a:stretch>
                  <a:fillRect t="-15116" b="-27907"/>
                </a:stretch>
              </a:blipFill>
            </p:spPr>
            <p:txBody>
              <a:bodyPr/>
              <a:lstStyle/>
              <a:p>
                <a:r>
                  <a:rPr lang="zh-CN" altLang="en-US">
                    <a:noFill/>
                  </a:rPr>
                  <a:t> </a:t>
                </a:r>
              </a:p>
            </p:txBody>
          </p:sp>
        </mc:Fallback>
      </mc:AlternateContent>
      <p:sp>
        <p:nvSpPr>
          <p:cNvPr id="24" name="Text Box 4">
            <a:extLst>
              <a:ext uri="{FF2B5EF4-FFF2-40B4-BE49-F238E27FC236}">
                <a16:creationId xmlns:a16="http://schemas.microsoft.com/office/drawing/2014/main" id="{BA91D74B-42CF-910C-2CDA-E7004EFCEED3}"/>
              </a:ext>
            </a:extLst>
          </p:cNvPr>
          <p:cNvSpPr txBox="1">
            <a:spLocks noChangeArrowheads="1"/>
          </p:cNvSpPr>
          <p:nvPr/>
        </p:nvSpPr>
        <p:spPr bwMode="auto">
          <a:xfrm>
            <a:off x="719166" y="586570"/>
            <a:ext cx="2799962" cy="523220"/>
          </a:xfrm>
          <a:prstGeom prst="rect">
            <a:avLst/>
          </a:prstGeom>
          <a:noFill/>
          <a:ln w="28575">
            <a:noFill/>
            <a:prstDash val="dash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1. </a:t>
            </a:r>
            <a:r>
              <a:rPr kumimoji="1" lang="zh-CN" altLang="en-US" sz="2800" b="1" dirty="0">
                <a:solidFill>
                  <a:srgbClr val="04926A"/>
                </a:solidFill>
                <a:latin typeface="微软雅黑" panose="020B0503020204020204" pitchFamily="34" charset="-122"/>
                <a:ea typeface="微软雅黑" panose="020B0503020204020204" pitchFamily="34" charset="-122"/>
              </a:rPr>
              <a:t>斯托克斯公式</a:t>
            </a:r>
          </a:p>
        </p:txBody>
      </p:sp>
      <p:grpSp>
        <p:nvGrpSpPr>
          <p:cNvPr id="8" name="组合 7">
            <a:extLst>
              <a:ext uri="{FF2B5EF4-FFF2-40B4-BE49-F238E27FC236}">
                <a16:creationId xmlns:a16="http://schemas.microsoft.com/office/drawing/2014/main" id="{9F5A7A4E-15D3-9424-2410-046024B0D9FA}"/>
              </a:ext>
            </a:extLst>
          </p:cNvPr>
          <p:cNvGrpSpPr/>
          <p:nvPr/>
        </p:nvGrpSpPr>
        <p:grpSpPr>
          <a:xfrm>
            <a:off x="1204747" y="1354648"/>
            <a:ext cx="1214755" cy="449580"/>
            <a:chOff x="1553" y="3802"/>
            <a:chExt cx="1913" cy="708"/>
          </a:xfrm>
        </p:grpSpPr>
        <p:sp>
          <p:nvSpPr>
            <p:cNvPr id="10" name="圆角矩形 3">
              <a:extLst>
                <a:ext uri="{FF2B5EF4-FFF2-40B4-BE49-F238E27FC236}">
                  <a16:creationId xmlns:a16="http://schemas.microsoft.com/office/drawing/2014/main" id="{A565D59D-7F1B-C5C7-A4A6-E85C09DB403D}"/>
                </a:ext>
              </a:extLst>
            </p:cNvPr>
            <p:cNvSpPr/>
            <p:nvPr/>
          </p:nvSpPr>
          <p:spPr>
            <a:xfrm>
              <a:off x="1553" y="3803"/>
              <a:ext cx="1842"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3" name="Text Box 28">
              <a:extLst>
                <a:ext uri="{FF2B5EF4-FFF2-40B4-BE49-F238E27FC236}">
                  <a16:creationId xmlns:a16="http://schemas.microsoft.com/office/drawing/2014/main" id="{DCC0B7E9-848D-0B8E-7436-45E35B9901A9}"/>
                </a:ext>
              </a:extLst>
            </p:cNvPr>
            <p:cNvSpPr txBox="1">
              <a:spLocks noChangeArrowheads="1"/>
            </p:cNvSpPr>
            <p:nvPr/>
          </p:nvSpPr>
          <p:spPr bwMode="auto">
            <a:xfrm>
              <a:off x="1680" y="3802"/>
              <a:ext cx="1786"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定理</a:t>
              </a:r>
              <a:r>
                <a:rPr kumimoji="1" lang="en-US" altLang="zh-CN"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1 </a:t>
              </a:r>
            </a:p>
          </p:txBody>
        </p:sp>
      </p:grpSp>
    </p:spTree>
    <p:extLst>
      <p:ext uri="{BB962C8B-B14F-4D97-AF65-F5344CB8AC3E}">
        <p14:creationId xmlns:p14="http://schemas.microsoft.com/office/powerpoint/2010/main" val="172855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left)">
                                      <p:cBhvr>
                                        <p:cTn id="5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9" grpId="0"/>
      <p:bldP spid="11" grpId="0"/>
      <p:bldP spid="12" grpId="0"/>
      <p:bldP spid="23" grpId="0"/>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EBC5F0FE-2B5C-5E58-8AFC-8D22E04A31A2}"/>
              </a:ext>
            </a:extLst>
          </p:cNvPr>
          <p:cNvGrpSpPr/>
          <p:nvPr/>
        </p:nvGrpSpPr>
        <p:grpSpPr>
          <a:xfrm>
            <a:off x="510540" y="494665"/>
            <a:ext cx="11149330" cy="5612765"/>
            <a:chOff x="838" y="906"/>
            <a:chExt cx="17558" cy="8839"/>
          </a:xfrm>
        </p:grpSpPr>
        <p:sp>
          <p:nvSpPr>
            <p:cNvPr id="35" name="PA-102232">
              <a:extLst>
                <a:ext uri="{FF2B5EF4-FFF2-40B4-BE49-F238E27FC236}">
                  <a16:creationId xmlns:a16="http://schemas.microsoft.com/office/drawing/2014/main" id="{E672F38F-33C8-0E51-95D8-6C934F58948A}"/>
                </a:ext>
              </a:extLst>
            </p:cNvPr>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36" name="组合 35">
              <a:extLst>
                <a:ext uri="{FF2B5EF4-FFF2-40B4-BE49-F238E27FC236}">
                  <a16:creationId xmlns:a16="http://schemas.microsoft.com/office/drawing/2014/main" id="{15B5A9D0-B27B-05B6-F5A5-3C990A001290}"/>
                </a:ext>
              </a:extLst>
            </p:cNvPr>
            <p:cNvGrpSpPr/>
            <p:nvPr/>
          </p:nvGrpSpPr>
          <p:grpSpPr>
            <a:xfrm>
              <a:off x="838" y="9635"/>
              <a:ext cx="17558" cy="110"/>
              <a:chOff x="838" y="9635"/>
              <a:chExt cx="17558" cy="110"/>
            </a:xfrm>
          </p:grpSpPr>
          <p:sp>
            <p:nvSpPr>
              <p:cNvPr id="37" name="Rectangle 1">
                <a:extLst>
                  <a:ext uri="{FF2B5EF4-FFF2-40B4-BE49-F238E27FC236}">
                    <a16:creationId xmlns:a16="http://schemas.microsoft.com/office/drawing/2014/main" id="{A1197AA1-E0D0-77FE-092E-7627391B302E}"/>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8" name="Rectangle 1">
                <a:extLst>
                  <a:ext uri="{FF2B5EF4-FFF2-40B4-BE49-F238E27FC236}">
                    <a16:creationId xmlns:a16="http://schemas.microsoft.com/office/drawing/2014/main" id="{7A633E34-6BE6-5498-FC86-D6E6F1F6EAF3}"/>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9" name="Rectangle 1">
                <a:extLst>
                  <a:ext uri="{FF2B5EF4-FFF2-40B4-BE49-F238E27FC236}">
                    <a16:creationId xmlns:a16="http://schemas.microsoft.com/office/drawing/2014/main" id="{303F55CA-6A2A-9DBC-4457-94CD72B15596}"/>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grpSp>
        <p:nvGrpSpPr>
          <p:cNvPr id="2" name="Group 49">
            <a:extLst>
              <a:ext uri="{FF2B5EF4-FFF2-40B4-BE49-F238E27FC236}">
                <a16:creationId xmlns:a16="http://schemas.microsoft.com/office/drawing/2014/main" id="{0B3223D2-EAF9-727C-DCDF-DE0A6355C449}"/>
              </a:ext>
            </a:extLst>
          </p:cNvPr>
          <p:cNvGrpSpPr>
            <a:grpSpLocks/>
          </p:cNvGrpSpPr>
          <p:nvPr/>
        </p:nvGrpSpPr>
        <p:grpSpPr bwMode="auto">
          <a:xfrm>
            <a:off x="2890931" y="1434458"/>
            <a:ext cx="2438400" cy="1895475"/>
            <a:chOff x="720" y="400"/>
            <a:chExt cx="1536" cy="1194"/>
          </a:xfrm>
        </p:grpSpPr>
        <p:sp>
          <p:nvSpPr>
            <p:cNvPr id="3" name="Oval 4">
              <a:extLst>
                <a:ext uri="{FF2B5EF4-FFF2-40B4-BE49-F238E27FC236}">
                  <a16:creationId xmlns:a16="http://schemas.microsoft.com/office/drawing/2014/main" id="{F9531EB6-4A5F-1F38-7428-F9F7AF36CA33}"/>
                </a:ext>
              </a:extLst>
            </p:cNvPr>
            <p:cNvSpPr>
              <a:spLocks noChangeArrowheads="1"/>
            </p:cNvSpPr>
            <p:nvPr/>
          </p:nvSpPr>
          <p:spPr bwMode="auto">
            <a:xfrm rot="-1247397">
              <a:off x="720" y="884"/>
              <a:ext cx="1536" cy="624"/>
            </a:xfrm>
            <a:prstGeom prst="ellipse">
              <a:avLst/>
            </a:prstGeom>
            <a:noFill/>
            <a:ln w="38100">
              <a:solidFill>
                <a:srgbClr val="4A7BA8"/>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200">
                <a:latin typeface="+mn-ea"/>
              </a:endParaRPr>
            </a:p>
          </p:txBody>
        </p:sp>
        <p:sp>
          <p:nvSpPr>
            <p:cNvPr id="4" name="Line 7">
              <a:extLst>
                <a:ext uri="{FF2B5EF4-FFF2-40B4-BE49-F238E27FC236}">
                  <a16:creationId xmlns:a16="http://schemas.microsoft.com/office/drawing/2014/main" id="{A0DEDCFC-EC2E-0C09-20BF-329F3D1FF115}"/>
                </a:ext>
              </a:extLst>
            </p:cNvPr>
            <p:cNvSpPr>
              <a:spLocks noChangeShapeType="1"/>
            </p:cNvSpPr>
            <p:nvPr/>
          </p:nvSpPr>
          <p:spPr bwMode="auto">
            <a:xfrm flipV="1">
              <a:off x="1567" y="1446"/>
              <a:ext cx="106" cy="62"/>
            </a:xfrm>
            <a:prstGeom prst="line">
              <a:avLst/>
            </a:prstGeom>
            <a:noFill/>
            <a:ln w="38100">
              <a:solidFill>
                <a:srgbClr val="4A7BA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200">
                <a:latin typeface="+mn-ea"/>
              </a:endParaRPr>
            </a:p>
          </p:txBody>
        </p:sp>
        <p:sp>
          <p:nvSpPr>
            <p:cNvPr id="5" name="Line 8">
              <a:extLst>
                <a:ext uri="{FF2B5EF4-FFF2-40B4-BE49-F238E27FC236}">
                  <a16:creationId xmlns:a16="http://schemas.microsoft.com/office/drawing/2014/main" id="{EBEE0918-5C27-A47C-ACEB-7FEFF46F35F5}"/>
                </a:ext>
              </a:extLst>
            </p:cNvPr>
            <p:cNvSpPr>
              <a:spLocks noChangeShapeType="1"/>
            </p:cNvSpPr>
            <p:nvPr/>
          </p:nvSpPr>
          <p:spPr bwMode="auto">
            <a:xfrm flipH="1">
              <a:off x="1303" y="884"/>
              <a:ext cx="106" cy="63"/>
            </a:xfrm>
            <a:prstGeom prst="line">
              <a:avLst/>
            </a:prstGeom>
            <a:noFill/>
            <a:ln w="38100">
              <a:solidFill>
                <a:srgbClr val="4A7BA8"/>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200">
                <a:latin typeface="+mn-ea"/>
              </a:endParaRPr>
            </a:p>
          </p:txBody>
        </p:sp>
        <p:sp>
          <p:nvSpPr>
            <p:cNvPr id="6" name="Line 9">
              <a:extLst>
                <a:ext uri="{FF2B5EF4-FFF2-40B4-BE49-F238E27FC236}">
                  <a16:creationId xmlns:a16="http://schemas.microsoft.com/office/drawing/2014/main" id="{DB738FB8-8543-E221-E098-EF76713BD3FB}"/>
                </a:ext>
              </a:extLst>
            </p:cNvPr>
            <p:cNvSpPr>
              <a:spLocks noChangeShapeType="1"/>
            </p:cNvSpPr>
            <p:nvPr/>
          </p:nvSpPr>
          <p:spPr bwMode="auto">
            <a:xfrm flipV="1">
              <a:off x="1392" y="576"/>
              <a:ext cx="0" cy="499"/>
            </a:xfrm>
            <a:prstGeom prst="line">
              <a:avLst/>
            </a:prstGeom>
            <a:noFill/>
            <a:ln w="38100">
              <a:solidFill>
                <a:srgbClr val="04926A"/>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200" dirty="0">
                <a:latin typeface="+mn-ea"/>
              </a:endParaRPr>
            </a:p>
          </p:txBody>
        </p:sp>
        <mc:AlternateContent xmlns:mc="http://schemas.openxmlformats.org/markup-compatibility/2006" xmlns:a14="http://schemas.microsoft.com/office/drawing/2010/main">
          <mc:Choice Requires="a14">
            <p:sp>
              <p:nvSpPr>
                <p:cNvPr id="7" name="Object 11">
                  <a:extLst>
                    <a:ext uri="{FF2B5EF4-FFF2-40B4-BE49-F238E27FC236}">
                      <a16:creationId xmlns:a16="http://schemas.microsoft.com/office/drawing/2014/main" id="{80A9D680-6B4B-6C78-D418-163D341F44DC}"/>
                    </a:ext>
                  </a:extLst>
                </p:cNvPr>
                <p:cNvSpPr txBox="1"/>
                <p:nvPr/>
              </p:nvSpPr>
              <p:spPr bwMode="auto">
                <a:xfrm>
                  <a:off x="1193" y="400"/>
                  <a:ext cx="159" cy="19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b="1" i="1">
                            <a:solidFill>
                              <a:schemeClr val="tx1">
                                <a:lumMod val="95000"/>
                                <a:lumOff val="5000"/>
                              </a:schemeClr>
                            </a:solidFill>
                            <a:latin typeface="Cambria Math" panose="02040503050406030204" pitchFamily="18" charset="0"/>
                            <a:ea typeface="黑体" panose="02010609060101010101" pitchFamily="49" charset="-122"/>
                          </a:rPr>
                          <m:t>𝒏</m:t>
                        </m:r>
                      </m:oMath>
                    </m:oMathPara>
                  </a14:m>
                  <a:endParaRPr kumimoji="1" lang="zh-CN" altLang="en-US" sz="2200" b="1"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7" name="Object 11">
                  <a:extLst>
                    <a:ext uri="{FF2B5EF4-FFF2-40B4-BE49-F238E27FC236}">
                      <a16:creationId xmlns:a16="http://schemas.microsoft.com/office/drawing/2014/main" id="{80A9D680-6B4B-6C78-D418-163D341F44DC}"/>
                    </a:ext>
                  </a:extLst>
                </p:cNvPr>
                <p:cNvSpPr txBox="1">
                  <a:spLocks noRot="1" noChangeAspect="1" noMove="1" noResize="1" noEditPoints="1" noAdjustHandles="1" noChangeArrowheads="1" noChangeShapeType="1" noTextEdit="1"/>
                </p:cNvSpPr>
                <p:nvPr/>
              </p:nvSpPr>
              <p:spPr bwMode="auto">
                <a:xfrm>
                  <a:off x="1193" y="400"/>
                  <a:ext cx="159" cy="199"/>
                </a:xfrm>
                <a:prstGeom prst="rect">
                  <a:avLst/>
                </a:prstGeom>
                <a:blipFill>
                  <a:blip r:embed="rId3"/>
                  <a:stretch>
                    <a:fillRect r="-35714" b="-2307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13">
                  <a:extLst>
                    <a:ext uri="{FF2B5EF4-FFF2-40B4-BE49-F238E27FC236}">
                      <a16:creationId xmlns:a16="http://schemas.microsoft.com/office/drawing/2014/main" id="{71D468FF-E1CE-0847-046A-C8826F33FA5F}"/>
                    </a:ext>
                  </a:extLst>
                </p:cNvPr>
                <p:cNvSpPr txBox="1"/>
                <p:nvPr/>
              </p:nvSpPr>
              <p:spPr bwMode="auto">
                <a:xfrm>
                  <a:off x="1673" y="1422"/>
                  <a:ext cx="154" cy="17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𝛤</m:t>
                        </m:r>
                      </m:oMath>
                    </m:oMathPara>
                  </a14:m>
                  <a:endParaRPr kumimoji="1" lang="zh-CN" altLang="en-US" sz="2200" i="1"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8" name="Object 13">
                  <a:extLst>
                    <a:ext uri="{FF2B5EF4-FFF2-40B4-BE49-F238E27FC236}">
                      <a16:creationId xmlns:a16="http://schemas.microsoft.com/office/drawing/2014/main" id="{71D468FF-E1CE-0847-046A-C8826F33FA5F}"/>
                    </a:ext>
                  </a:extLst>
                </p:cNvPr>
                <p:cNvSpPr txBox="1">
                  <a:spLocks noRot="1" noChangeAspect="1" noMove="1" noResize="1" noEditPoints="1" noAdjustHandles="1" noChangeArrowheads="1" noChangeShapeType="1" noTextEdit="1"/>
                </p:cNvSpPr>
                <p:nvPr/>
              </p:nvSpPr>
              <p:spPr bwMode="auto">
                <a:xfrm>
                  <a:off x="1673" y="1422"/>
                  <a:ext cx="154" cy="172"/>
                </a:xfrm>
                <a:prstGeom prst="rect">
                  <a:avLst/>
                </a:prstGeom>
                <a:blipFill>
                  <a:blip r:embed="rId4"/>
                  <a:stretch>
                    <a:fillRect l="-2439" r="-43902" b="-51111"/>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14">
                  <a:extLst>
                    <a:ext uri="{FF2B5EF4-FFF2-40B4-BE49-F238E27FC236}">
                      <a16:creationId xmlns:a16="http://schemas.microsoft.com/office/drawing/2014/main" id="{29D7497F-180D-1BE6-F16E-AA3C3CB3F2F8}"/>
                    </a:ext>
                  </a:extLst>
                </p:cNvPr>
                <p:cNvSpPr txBox="1"/>
                <p:nvPr/>
              </p:nvSpPr>
              <p:spPr bwMode="auto">
                <a:xfrm>
                  <a:off x="1680" y="899"/>
                  <a:ext cx="208" cy="17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9" name="Object 14">
                  <a:extLst>
                    <a:ext uri="{FF2B5EF4-FFF2-40B4-BE49-F238E27FC236}">
                      <a16:creationId xmlns:a16="http://schemas.microsoft.com/office/drawing/2014/main" id="{29D7497F-180D-1BE6-F16E-AA3C3CB3F2F8}"/>
                    </a:ext>
                  </a:extLst>
                </p:cNvPr>
                <p:cNvSpPr txBox="1">
                  <a:spLocks noRot="1" noChangeAspect="1" noMove="1" noResize="1" noEditPoints="1" noAdjustHandles="1" noChangeArrowheads="1" noChangeShapeType="1" noTextEdit="1"/>
                </p:cNvSpPr>
                <p:nvPr/>
              </p:nvSpPr>
              <p:spPr bwMode="auto">
                <a:xfrm>
                  <a:off x="1680" y="899"/>
                  <a:ext cx="208" cy="172"/>
                </a:xfrm>
                <a:prstGeom prst="rect">
                  <a:avLst/>
                </a:prstGeom>
                <a:blipFill>
                  <a:blip r:embed="rId5"/>
                  <a:stretch>
                    <a:fillRect b="-13333"/>
                  </a:stretch>
                </a:blipFill>
                <a:ln>
                  <a:noFill/>
                </a:ln>
                <a:effectLst/>
              </p:spPr>
              <p:txBody>
                <a:bodyPr/>
                <a:lstStyle/>
                <a:p>
                  <a:r>
                    <a:rPr lang="zh-CN" altLang="en-US">
                      <a:noFill/>
                    </a:rPr>
                    <a:t> </a:t>
                  </a:r>
                </a:p>
              </p:txBody>
            </p:sp>
          </mc:Fallback>
        </mc:AlternateContent>
      </p:grpSp>
      <p:sp>
        <p:nvSpPr>
          <p:cNvPr id="13" name="Object 18">
            <a:extLst>
              <a:ext uri="{FF2B5EF4-FFF2-40B4-BE49-F238E27FC236}">
                <a16:creationId xmlns:a16="http://schemas.microsoft.com/office/drawing/2014/main" id="{822E773C-A87D-8FA5-BC1E-3F9460B928B1}"/>
              </a:ext>
            </a:extLst>
          </p:cNvPr>
          <p:cNvSpPr txBox="1"/>
          <p:nvPr/>
        </p:nvSpPr>
        <p:spPr bwMode="auto">
          <a:xfrm>
            <a:off x="10742127" y="1476674"/>
            <a:ext cx="483118" cy="502715"/>
          </a:xfrm>
          <a:prstGeom prst="rect">
            <a:avLst/>
          </a:prstGeom>
          <a:noFill/>
          <a:ln>
            <a:noFill/>
          </a:ln>
          <a:effectLst/>
        </p:spPr>
        <p:txBody>
          <a:bodyPr>
            <a:noAutofit/>
          </a:bodyPr>
          <a:lstStyle/>
          <a:p>
            <a:endParaRPr kumimoji="1" lang="zh-CN" altLang="en-US" sz="3200" dirty="0">
              <a:solidFill>
                <a:schemeClr val="tx1">
                  <a:lumMod val="95000"/>
                  <a:lumOff val="5000"/>
                </a:schemeClr>
              </a:solidFill>
              <a:latin typeface="Times New Roman" panose="02020603050405020304" pitchFamily="18" charset="0"/>
              <a:ea typeface="黑体" panose="02010609060101010101" pitchFamily="49" charset="-122"/>
            </a:endParaRPr>
          </a:p>
        </p:txBody>
      </p:sp>
      <p:sp>
        <p:nvSpPr>
          <p:cNvPr id="14" name="Text Box 20">
            <a:extLst>
              <a:ext uri="{FF2B5EF4-FFF2-40B4-BE49-F238E27FC236}">
                <a16:creationId xmlns:a16="http://schemas.microsoft.com/office/drawing/2014/main" id="{708549CA-B648-1F10-6B23-E78DCB2059EB}"/>
              </a:ext>
            </a:extLst>
          </p:cNvPr>
          <p:cNvSpPr txBox="1">
            <a:spLocks noChangeArrowheads="1"/>
          </p:cNvSpPr>
          <p:nvPr/>
        </p:nvSpPr>
        <p:spPr bwMode="auto">
          <a:xfrm>
            <a:off x="4745131" y="1330063"/>
            <a:ext cx="16764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右手法则</a:t>
            </a:r>
          </a:p>
        </p:txBody>
      </p:sp>
      <p:sp>
        <p:nvSpPr>
          <p:cNvPr id="15" name="AutoShape 53">
            <a:extLst>
              <a:ext uri="{FF2B5EF4-FFF2-40B4-BE49-F238E27FC236}">
                <a16:creationId xmlns:a16="http://schemas.microsoft.com/office/drawing/2014/main" id="{E22CA53D-AD48-0297-E6E2-6B55EC8BA273}"/>
              </a:ext>
            </a:extLst>
          </p:cNvPr>
          <p:cNvSpPr>
            <a:spLocks noChangeArrowheads="1"/>
          </p:cNvSpPr>
          <p:nvPr/>
        </p:nvSpPr>
        <p:spPr bwMode="auto">
          <a:xfrm>
            <a:off x="6962289" y="4738911"/>
            <a:ext cx="609600" cy="152400"/>
          </a:xfrm>
          <a:prstGeom prst="rightArrow">
            <a:avLst>
              <a:gd name="adj1" fmla="val 50000"/>
              <a:gd name="adj2" fmla="val 100000"/>
            </a:avLst>
          </a:prstGeom>
          <a:solidFill>
            <a:srgbClr val="4A7BA8">
              <a:alpha val="42000"/>
            </a:srgbClr>
          </a:solidFill>
          <a:ln w="9525">
            <a:noFill/>
            <a:miter lim="800000"/>
            <a:headEnd/>
            <a:tailEnd/>
          </a:ln>
          <a:effectLst/>
        </p:spPr>
        <p:txBody>
          <a:bodyPr wrap="none" anchor="ctr"/>
          <a:lstStyle/>
          <a:p>
            <a:endParaRPr lang="zh-CN" altLang="en-US" sz="2800" b="1">
              <a:latin typeface="+mn-ea"/>
            </a:endParaRPr>
          </a:p>
        </p:txBody>
      </p:sp>
      <p:sp>
        <p:nvSpPr>
          <p:cNvPr id="16" name="AutoShape 52">
            <a:extLst>
              <a:ext uri="{FF2B5EF4-FFF2-40B4-BE49-F238E27FC236}">
                <a16:creationId xmlns:a16="http://schemas.microsoft.com/office/drawing/2014/main" id="{F2161DE2-C195-0BDF-B6B4-1B53CFBD0DE4}"/>
              </a:ext>
            </a:extLst>
          </p:cNvPr>
          <p:cNvSpPr>
            <a:spLocks noChangeArrowheads="1"/>
          </p:cNvSpPr>
          <p:nvPr/>
        </p:nvSpPr>
        <p:spPr bwMode="auto">
          <a:xfrm>
            <a:off x="4676289" y="4738911"/>
            <a:ext cx="609600" cy="152400"/>
          </a:xfrm>
          <a:prstGeom prst="rightArrow">
            <a:avLst>
              <a:gd name="adj1" fmla="val 50000"/>
              <a:gd name="adj2" fmla="val 100000"/>
            </a:avLst>
          </a:prstGeom>
          <a:solidFill>
            <a:srgbClr val="00B0F0">
              <a:alpha val="42000"/>
            </a:srgbClr>
          </a:solidFill>
          <a:ln w="9525">
            <a:noFill/>
            <a:miter lim="800000"/>
            <a:headEnd/>
            <a:tailEnd/>
          </a:ln>
          <a:effectLst/>
        </p:spPr>
        <p:txBody>
          <a:bodyPr wrap="none" anchor="ctr"/>
          <a:lstStyle/>
          <a:p>
            <a:endParaRPr lang="zh-CN" altLang="en-US" sz="2800" b="1">
              <a:latin typeface="+mn-ea"/>
            </a:endParaRPr>
          </a:p>
        </p:txBody>
      </p:sp>
      <p:sp>
        <p:nvSpPr>
          <p:cNvPr id="17" name="Text Box 48">
            <a:extLst>
              <a:ext uri="{FF2B5EF4-FFF2-40B4-BE49-F238E27FC236}">
                <a16:creationId xmlns:a16="http://schemas.microsoft.com/office/drawing/2014/main" id="{40DC793E-05DB-6F0B-F6AD-958F6994258A}"/>
              </a:ext>
            </a:extLst>
          </p:cNvPr>
          <p:cNvSpPr txBox="1">
            <a:spLocks noChangeArrowheads="1"/>
          </p:cNvSpPr>
          <p:nvPr/>
        </p:nvSpPr>
        <p:spPr bwMode="auto">
          <a:xfrm>
            <a:off x="2184922" y="3924404"/>
            <a:ext cx="2134759" cy="52322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证明思路</a:t>
            </a:r>
          </a:p>
        </p:txBody>
      </p:sp>
      <p:sp>
        <p:nvSpPr>
          <p:cNvPr id="18" name="Text Box 49">
            <a:extLst>
              <a:ext uri="{FF2B5EF4-FFF2-40B4-BE49-F238E27FC236}">
                <a16:creationId xmlns:a16="http://schemas.microsoft.com/office/drawing/2014/main" id="{3D2F2147-3B5D-0E5A-623B-D891DC145711}"/>
              </a:ext>
            </a:extLst>
          </p:cNvPr>
          <p:cNvSpPr txBox="1">
            <a:spLocks noChangeArrowheads="1"/>
          </p:cNvSpPr>
          <p:nvPr/>
        </p:nvSpPr>
        <p:spPr bwMode="auto">
          <a:xfrm>
            <a:off x="2999889" y="4586511"/>
            <a:ext cx="1676400" cy="523220"/>
          </a:xfrm>
          <a:prstGeom prst="rect">
            <a:avLst/>
          </a:prstGeom>
          <a:solidFill>
            <a:srgbClr val="00B0F0">
              <a:alpha val="42000"/>
            </a:srgbClr>
          </a:solidFill>
          <a:ln w="9525">
            <a:noFill/>
            <a:miter lim="800000"/>
            <a:headEnd/>
            <a:tailEnd/>
          </a:ln>
          <a:effectLst/>
        </p:spPr>
        <p:txBody>
          <a:bodyPr>
            <a:spAutoFit/>
          </a:bodyPr>
          <a:lstStyle/>
          <a:p>
            <a:pPr algn="ctr" eaLnBrk="1" hangingPunct="1">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曲面积分</a:t>
            </a:r>
          </a:p>
        </p:txBody>
      </p:sp>
      <p:sp>
        <p:nvSpPr>
          <p:cNvPr id="19" name="Text Box 50">
            <a:extLst>
              <a:ext uri="{FF2B5EF4-FFF2-40B4-BE49-F238E27FC236}">
                <a16:creationId xmlns:a16="http://schemas.microsoft.com/office/drawing/2014/main" id="{F086FD3D-81CE-8AC6-91BF-C22CD7D31660}"/>
              </a:ext>
            </a:extLst>
          </p:cNvPr>
          <p:cNvSpPr txBox="1">
            <a:spLocks noChangeArrowheads="1"/>
          </p:cNvSpPr>
          <p:nvPr/>
        </p:nvSpPr>
        <p:spPr bwMode="auto">
          <a:xfrm>
            <a:off x="5285889" y="4586511"/>
            <a:ext cx="1676400" cy="523220"/>
          </a:xfrm>
          <a:prstGeom prst="rect">
            <a:avLst/>
          </a:prstGeom>
          <a:solidFill>
            <a:srgbClr val="4A7BA8">
              <a:alpha val="42000"/>
            </a:srgbClr>
          </a:solidFill>
          <a:ln w="9525">
            <a:noFill/>
            <a:miter lim="800000"/>
            <a:headEnd/>
            <a:tailEnd/>
          </a:ln>
          <a:effectLst/>
        </p:spPr>
        <p:txBody>
          <a:bodyPr>
            <a:spAutoFit/>
          </a:bodyPr>
          <a:lstStyle/>
          <a:p>
            <a:pPr algn="ctr" eaLnBrk="1" hangingPunct="1">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二重积分</a:t>
            </a:r>
          </a:p>
        </p:txBody>
      </p:sp>
      <p:sp>
        <p:nvSpPr>
          <p:cNvPr id="20" name="Text Box 51">
            <a:extLst>
              <a:ext uri="{FF2B5EF4-FFF2-40B4-BE49-F238E27FC236}">
                <a16:creationId xmlns:a16="http://schemas.microsoft.com/office/drawing/2014/main" id="{18C66BE1-01BD-D62A-BAFB-0C74A197BB94}"/>
              </a:ext>
            </a:extLst>
          </p:cNvPr>
          <p:cNvSpPr txBox="1">
            <a:spLocks noChangeArrowheads="1"/>
          </p:cNvSpPr>
          <p:nvPr/>
        </p:nvSpPr>
        <p:spPr bwMode="auto">
          <a:xfrm>
            <a:off x="7571889" y="4586511"/>
            <a:ext cx="1676400" cy="523220"/>
          </a:xfrm>
          <a:prstGeom prst="rect">
            <a:avLst/>
          </a:prstGeom>
          <a:solidFill>
            <a:srgbClr val="04926A">
              <a:alpha val="42000"/>
            </a:srgbClr>
          </a:solidFill>
          <a:ln w="9525">
            <a:noFill/>
            <a:miter lim="800000"/>
            <a:headEnd/>
            <a:tailEnd/>
          </a:ln>
          <a:effectLst/>
        </p:spPr>
        <p:txBody>
          <a:bodyPr>
            <a:spAutoFit/>
          </a:bodyPr>
          <a:lstStyle/>
          <a:p>
            <a:pPr algn="ctr" eaLnBrk="1" hangingPunct="1">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曲线积分</a:t>
            </a:r>
          </a:p>
        </p:txBody>
      </p:sp>
      <p:sp>
        <p:nvSpPr>
          <p:cNvPr id="21" name="AutoShape 58">
            <a:extLst>
              <a:ext uri="{FF2B5EF4-FFF2-40B4-BE49-F238E27FC236}">
                <a16:creationId xmlns:a16="http://schemas.microsoft.com/office/drawing/2014/main" id="{6E10C473-D1B6-1F77-57DA-DC5FF362A0FC}"/>
              </a:ext>
            </a:extLst>
          </p:cNvPr>
          <p:cNvSpPr>
            <a:spLocks noChangeArrowheads="1"/>
          </p:cNvSpPr>
          <p:nvPr/>
        </p:nvSpPr>
        <p:spPr bwMode="auto">
          <a:xfrm>
            <a:off x="4741583" y="5004170"/>
            <a:ext cx="457200" cy="429542"/>
          </a:xfrm>
          <a:prstGeom prst="star16">
            <a:avLst>
              <a:gd name="adj" fmla="val 37500"/>
            </a:avLst>
          </a:prstGeom>
          <a:solidFill>
            <a:srgbClr val="04926A"/>
          </a:solidFill>
          <a:ln w="0">
            <a:noFill/>
            <a:miter lim="800000"/>
            <a:headEnd/>
            <a:tailEnd/>
          </a:ln>
          <a:effectLst/>
        </p:spPr>
        <p:txBody>
          <a:bodyPr wrap="none" anchor="ctr"/>
          <a:lstStyle/>
          <a:p>
            <a:pPr algn="ctr" eaLnBrk="1" hangingPunct="1"/>
            <a:r>
              <a:rPr kumimoji="1" lang="en-US" altLang="zh-CN" sz="2200" dirty="0">
                <a:solidFill>
                  <a:schemeClr val="bg1"/>
                </a:solidFill>
                <a:latin typeface="Times New Roman" panose="02020603050405020304" pitchFamily="18" charset="0"/>
                <a:ea typeface="黑体" panose="02010609060101010101" pitchFamily="49" charset="-122"/>
              </a:rPr>
              <a:t>1</a:t>
            </a:r>
          </a:p>
        </p:txBody>
      </p:sp>
      <p:sp>
        <p:nvSpPr>
          <p:cNvPr id="22" name="AutoShape 59">
            <a:extLst>
              <a:ext uri="{FF2B5EF4-FFF2-40B4-BE49-F238E27FC236}">
                <a16:creationId xmlns:a16="http://schemas.microsoft.com/office/drawing/2014/main" id="{675576A0-043B-6410-2FAB-94D862C4FBB6}"/>
              </a:ext>
            </a:extLst>
          </p:cNvPr>
          <p:cNvSpPr>
            <a:spLocks noChangeArrowheads="1"/>
          </p:cNvSpPr>
          <p:nvPr/>
        </p:nvSpPr>
        <p:spPr bwMode="auto">
          <a:xfrm>
            <a:off x="7027583" y="5004170"/>
            <a:ext cx="457200" cy="429542"/>
          </a:xfrm>
          <a:prstGeom prst="star16">
            <a:avLst>
              <a:gd name="adj" fmla="val 37500"/>
            </a:avLst>
          </a:prstGeom>
          <a:solidFill>
            <a:srgbClr val="04926A"/>
          </a:solidFill>
          <a:ln w="0">
            <a:noFill/>
            <a:miter lim="800000"/>
            <a:headEnd/>
            <a:tailEnd/>
          </a:ln>
          <a:effectLst/>
        </p:spPr>
        <p:txBody>
          <a:bodyPr wrap="none" anchor="ctr"/>
          <a:lstStyle/>
          <a:p>
            <a:pPr algn="ctr" eaLnBrk="1" hangingPunct="1"/>
            <a:r>
              <a:rPr kumimoji="1" lang="en-US" altLang="zh-CN" sz="2200" dirty="0">
                <a:solidFill>
                  <a:schemeClr val="bg1"/>
                </a:solidFill>
                <a:latin typeface="Times New Roman" panose="02020603050405020304" pitchFamily="18" charset="0"/>
                <a:ea typeface="黑体" panose="02010609060101010101" pitchFamily="49" charset="-122"/>
              </a:rPr>
              <a:t>2</a:t>
            </a:r>
          </a:p>
        </p:txBody>
      </p:sp>
      <mc:AlternateContent xmlns:mc="http://schemas.openxmlformats.org/markup-compatibility/2006" xmlns:a14="http://schemas.microsoft.com/office/drawing/2010/main">
        <mc:Choice Requires="a14">
          <p:sp>
            <p:nvSpPr>
              <p:cNvPr id="33" name="AutoShape 7">
                <a:extLst>
                  <a:ext uri="{FF2B5EF4-FFF2-40B4-BE49-F238E27FC236}">
                    <a16:creationId xmlns:a16="http://schemas.microsoft.com/office/drawing/2014/main" id="{ECCAA67E-FD4D-E1B8-5981-0D574FA24CF4}"/>
                  </a:ext>
                </a:extLst>
              </p:cNvPr>
              <p:cNvSpPr>
                <a:spLocks noChangeArrowheads="1"/>
              </p:cNvSpPr>
              <p:nvPr/>
            </p:nvSpPr>
            <p:spPr bwMode="auto">
              <a:xfrm>
                <a:off x="6337449" y="2139275"/>
                <a:ext cx="2990055" cy="989045"/>
              </a:xfrm>
              <a:prstGeom prst="wedgeRectCallout">
                <a:avLst>
                  <a:gd name="adj1" fmla="val -81736"/>
                  <a:gd name="adj2" fmla="val -37144"/>
                </a:avLst>
              </a:prstGeom>
              <a:solidFill>
                <a:srgbClr val="04926A">
                  <a:alpha val="42000"/>
                </a:srgbClr>
              </a:solidFill>
              <a:ln w="12700">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14:m>
                  <m:oMath xmlns:m="http://schemas.openxmlformats.org/officeDocument/2006/math">
                    <m:r>
                      <a:rPr lang="zh-CN" altLang="en-US" sz="2800" i="1" smtClean="0">
                        <a:solidFill>
                          <a:srgbClr val="000000"/>
                        </a:solidFill>
                        <a:latin typeface="Cambria Math" panose="02040503050406030204" pitchFamily="18" charset="0"/>
                      </a:rPr>
                      <m:t>𝛤</m:t>
                    </m:r>
                  </m:oMath>
                </a14:m>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 是有向曲面</a:t>
                </a:r>
                <a14:m>
                  <m:oMath xmlns:m="http://schemas.openxmlformats.org/officeDocument/2006/math">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t>𝛴</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 </m:t>
                    </m:r>
                  </m:oMath>
                </a14:m>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的</a:t>
                </a:r>
              </a:p>
              <a:p>
                <a:pPr eaLnBrk="1" hangingPunct="1"/>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正向边界曲线</a:t>
                </a:r>
                <a:endParaRPr lang="zh-CN" altLang="en-US" sz="2800" b="1" dirty="0">
                  <a:ea typeface="宋体" panose="02010600030101010101" pitchFamily="2" charset="-122"/>
                </a:endParaRPr>
              </a:p>
            </p:txBody>
          </p:sp>
        </mc:Choice>
        <mc:Fallback xmlns="">
          <p:sp>
            <p:nvSpPr>
              <p:cNvPr id="33" name="AutoShape 7">
                <a:extLst>
                  <a:ext uri="{FF2B5EF4-FFF2-40B4-BE49-F238E27FC236}">
                    <a16:creationId xmlns:a16="http://schemas.microsoft.com/office/drawing/2014/main" id="{ECCAA67E-FD4D-E1B8-5981-0D574FA24CF4}"/>
                  </a:ext>
                </a:extLst>
              </p:cNvPr>
              <p:cNvSpPr>
                <a:spLocks noRot="1" noChangeAspect="1" noMove="1" noResize="1" noEditPoints="1" noAdjustHandles="1" noChangeArrowheads="1" noChangeShapeType="1" noTextEdit="1"/>
              </p:cNvSpPr>
              <p:nvPr/>
            </p:nvSpPr>
            <p:spPr bwMode="auto">
              <a:xfrm>
                <a:off x="6337449" y="2139275"/>
                <a:ext cx="2990055" cy="989045"/>
              </a:xfrm>
              <a:prstGeom prst="wedgeRectCallout">
                <a:avLst>
                  <a:gd name="adj1" fmla="val -81736"/>
                  <a:gd name="adj2" fmla="val -37144"/>
                </a:avLst>
              </a:prstGeom>
              <a:blipFill>
                <a:blip r:embed="rId6"/>
                <a:stretch>
                  <a:fillRect t="-6173" r="-3560" b="-12963"/>
                </a:stretch>
              </a:blipFill>
              <a:ln w="12700">
                <a:noFill/>
                <a:miter lim="800000"/>
              </a:ln>
            </p:spPr>
            <p:txBody>
              <a:bodyPr/>
              <a:lstStyle/>
              <a:p>
                <a:r>
                  <a:rPr lang="zh-CN" altLang="en-US">
                    <a:noFill/>
                  </a:rPr>
                  <a:t> </a:t>
                </a:r>
              </a:p>
            </p:txBody>
          </p:sp>
        </mc:Fallback>
      </mc:AlternateContent>
    </p:spTree>
    <p:extLst>
      <p:ext uri="{BB962C8B-B14F-4D97-AF65-F5344CB8AC3E}">
        <p14:creationId xmlns:p14="http://schemas.microsoft.com/office/powerpoint/2010/main" val="265361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left)">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left)">
                                      <p:cBhvr>
                                        <p:cTn id="26" dur="500"/>
                                        <p:tgtEl>
                                          <p:spTgt spid="18"/>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grpId="1" nodeType="click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p:tgtEl>
                                          <p:spTgt spid="14"/>
                                        </p:tgtEl>
                                        <p:attrNameLst>
                                          <p:attrName>ppt_x</p:attrName>
                                        </p:attrNameLst>
                                      </p:cBhvr>
                                      <p:tavLst>
                                        <p:tav tm="0">
                                          <p:val>
                                            <p:strVal val="#ppt_x-#ppt_w*1.125000"/>
                                          </p:val>
                                        </p:tav>
                                        <p:tav tm="100000">
                                          <p:val>
                                            <p:strVal val="#ppt_x"/>
                                          </p:val>
                                        </p:tav>
                                      </p:tavLst>
                                    </p:anim>
                                    <p:animEffect transition="in" filter="wipe(right)">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animBg="1"/>
      <p:bldP spid="16" grpId="0" animBg="1"/>
      <p:bldP spid="17" grpId="0"/>
      <p:bldP spid="18" grpId="0" animBg="1"/>
      <p:bldP spid="19" grpId="0" animBg="1"/>
      <p:bldP spid="20" grpId="0" animBg="1"/>
      <p:bldP spid="21" grpId="0" animBg="1"/>
      <p:bldP spid="22" grpId="0" animBg="1"/>
      <p:bldP spid="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1A05E31A-55F3-9C6C-4058-26B6E36D3A1E}"/>
              </a:ext>
            </a:extLst>
          </p:cNvPr>
          <p:cNvSpPr/>
          <p:nvPr/>
        </p:nvSpPr>
        <p:spPr>
          <a:xfrm>
            <a:off x="687388" y="660400"/>
            <a:ext cx="10817225" cy="55372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半闭框 19">
            <a:extLst>
              <a:ext uri="{FF2B5EF4-FFF2-40B4-BE49-F238E27FC236}">
                <a16:creationId xmlns:a16="http://schemas.microsoft.com/office/drawing/2014/main" id="{AF2FC12C-CAC3-45C2-B807-FFFB40C42235}"/>
              </a:ext>
            </a:extLst>
          </p:cNvPr>
          <p:cNvSpPr/>
          <p:nvPr/>
        </p:nvSpPr>
        <p:spPr>
          <a:xfrm>
            <a:off x="687324" y="6604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半闭框 20">
            <a:extLst>
              <a:ext uri="{FF2B5EF4-FFF2-40B4-BE49-F238E27FC236}">
                <a16:creationId xmlns:a16="http://schemas.microsoft.com/office/drawing/2014/main" id="{C602F54A-54BF-F589-5375-E15CDAD0C251}"/>
              </a:ext>
            </a:extLst>
          </p:cNvPr>
          <p:cNvSpPr/>
          <p:nvPr/>
        </p:nvSpPr>
        <p:spPr>
          <a:xfrm flipH="1">
            <a:off x="10823530" y="6604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半闭框 21">
            <a:extLst>
              <a:ext uri="{FF2B5EF4-FFF2-40B4-BE49-F238E27FC236}">
                <a16:creationId xmlns:a16="http://schemas.microsoft.com/office/drawing/2014/main" id="{183A9707-58AF-8E3C-1FB8-23AA1DB40BAE}"/>
              </a:ext>
            </a:extLst>
          </p:cNvPr>
          <p:cNvSpPr/>
          <p:nvPr/>
        </p:nvSpPr>
        <p:spPr>
          <a:xfrm flipV="1">
            <a:off x="687324" y="55240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半闭框 22">
            <a:extLst>
              <a:ext uri="{FF2B5EF4-FFF2-40B4-BE49-F238E27FC236}">
                <a16:creationId xmlns:a16="http://schemas.microsoft.com/office/drawing/2014/main" id="{ACB66D17-171D-17A5-F7CC-5F71434A7F24}"/>
              </a:ext>
            </a:extLst>
          </p:cNvPr>
          <p:cNvSpPr/>
          <p:nvPr/>
        </p:nvSpPr>
        <p:spPr>
          <a:xfrm flipH="1" flipV="1">
            <a:off x="10823530" y="55042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 name="右箭头 12">
            <a:extLst>
              <a:ext uri="{FF2B5EF4-FFF2-40B4-BE49-F238E27FC236}">
                <a16:creationId xmlns:a16="http://schemas.microsoft.com/office/drawing/2014/main" id="{34FEED65-D62B-992D-502D-43248B793FB3}"/>
              </a:ext>
            </a:extLst>
          </p:cNvPr>
          <p:cNvSpPr/>
          <p:nvPr/>
        </p:nvSpPr>
        <p:spPr>
          <a:xfrm>
            <a:off x="2940350" y="2250111"/>
            <a:ext cx="6630841" cy="935018"/>
          </a:xfrm>
          <a:prstGeom prst="rightArrow">
            <a:avLst/>
          </a:prstGeom>
          <a:solidFill>
            <a:srgbClr val="04926A">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4">
            <a:extLst>
              <a:ext uri="{FF2B5EF4-FFF2-40B4-BE49-F238E27FC236}">
                <a16:creationId xmlns:a16="http://schemas.microsoft.com/office/drawing/2014/main" id="{41BEE86D-011D-864B-4FCA-66F99C5497F9}"/>
              </a:ext>
            </a:extLst>
          </p:cNvPr>
          <p:cNvSpPr txBox="1">
            <a:spLocks noChangeArrowheads="1"/>
          </p:cNvSpPr>
          <p:nvPr/>
        </p:nvSpPr>
        <p:spPr bwMode="auto">
          <a:xfrm>
            <a:off x="1743895" y="1478744"/>
            <a:ext cx="900696"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eaLnBrk="1" hangingPunct="1">
              <a:spcBef>
                <a:spcPct val="50000"/>
              </a:spcBef>
            </a:pPr>
            <a:r>
              <a:rPr kumimoji="1" lang="zh-CN" altLang="en-US" sz="2800" b="1" dirty="0">
                <a:solidFill>
                  <a:srgbClr val="04926A"/>
                </a:solidFill>
                <a:latin typeface="微软雅黑" panose="020B0503020204020204" pitchFamily="34" charset="-122"/>
                <a:ea typeface="微软雅黑" panose="020B0503020204020204" pitchFamily="34" charset="-122"/>
              </a:rPr>
              <a:t>证明</a:t>
            </a:r>
          </a:p>
        </p:txBody>
      </p:sp>
      <p:sp>
        <p:nvSpPr>
          <p:cNvPr id="4" name="Text Box 14">
            <a:extLst>
              <a:ext uri="{FF2B5EF4-FFF2-40B4-BE49-F238E27FC236}">
                <a16:creationId xmlns:a16="http://schemas.microsoft.com/office/drawing/2014/main" id="{D436A106-E156-A55F-8762-93097A97AA1A}"/>
              </a:ext>
            </a:extLst>
          </p:cNvPr>
          <p:cNvSpPr txBox="1">
            <a:spLocks noChangeArrowheads="1"/>
          </p:cNvSpPr>
          <p:nvPr/>
        </p:nvSpPr>
        <p:spPr bwMode="auto">
          <a:xfrm>
            <a:off x="2840825" y="1519246"/>
            <a:ext cx="748628"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R="0" lvl="0" indent="0" fontAlgn="base">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rPr>
              <a:t>先证</a:t>
            </a:r>
            <a:endParaRPr kumimoji="1" lang="en-US" altLang="zh-CN"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47AAB5A0-3AD4-B5D6-8468-0219F4F71492}"/>
                  </a:ext>
                </a:extLst>
              </p:cNvPr>
              <p:cNvSpPr txBox="1"/>
              <p:nvPr/>
            </p:nvSpPr>
            <p:spPr>
              <a:xfrm>
                <a:off x="2999424" y="2511964"/>
                <a:ext cx="5911830" cy="4064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pitchFamily="18" charset="0"/>
                          <a:ea typeface="黑体" panose="02010609060101010101" pitchFamily="49" charset="-122"/>
                        </a:rPr>
                        <m:t>情形</m:t>
                      </m:r>
                      <m:r>
                        <a:rPr kumimoji="1" lang="zh-CN" altLang="en-US" sz="2200" smtClean="0">
                          <a:solidFill>
                            <a:schemeClr val="tx1">
                              <a:lumMod val="95000"/>
                              <a:lumOff val="5000"/>
                            </a:schemeClr>
                          </a:solidFill>
                          <a:latin typeface="Cambria Math" panose="02040503050406030204" pitchFamily="18" charset="0"/>
                          <a:ea typeface="黑体" panose="02010609060101010101" pitchFamily="49" charset="-122"/>
                        </a:rPr>
                        <m:t>1</m:t>
                      </m:r>
                      <m:r>
                        <m:rPr>
                          <m:nor/>
                        </m:rPr>
                        <a:rPr kumimoji="1" lang="zh-CN" altLang="en-US" sz="2400" dirty="0">
                          <a:solidFill>
                            <a:schemeClr val="tx1">
                              <a:lumMod val="95000"/>
                              <a:lumOff val="5000"/>
                            </a:schemeClr>
                          </a:solidFill>
                          <a:latin typeface="Cambria Math" panose="02040503050406030204" charset="0"/>
                          <a:ea typeface="黑体" panose="02010609060101010101" pitchFamily="49" charset="-122"/>
                        </a:rPr>
                        <m:t>:</m:t>
                      </m:r>
                      <m:r>
                        <a:rPr kumimoji="1" lang="en-US" altLang="zh-CN" sz="2400" b="0" i="0" dirty="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设</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与平行</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轴的直线相交不多于一点</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5" name="对象 4">
                <a:extLst>
                  <a:ext uri="{FF2B5EF4-FFF2-40B4-BE49-F238E27FC236}">
                    <a16:creationId xmlns:a16="http://schemas.microsoft.com/office/drawing/2014/main" id="{47AAB5A0-3AD4-B5D6-8468-0219F4F71492}"/>
                  </a:ext>
                </a:extLst>
              </p:cNvPr>
              <p:cNvSpPr txBox="1">
                <a:spLocks noRot="1" noChangeAspect="1" noMove="1" noResize="1" noEditPoints="1" noAdjustHandles="1" noChangeArrowheads="1" noChangeShapeType="1" noTextEdit="1"/>
              </p:cNvSpPr>
              <p:nvPr/>
            </p:nvSpPr>
            <p:spPr>
              <a:xfrm>
                <a:off x="2999424" y="2511964"/>
                <a:ext cx="5911830" cy="406400"/>
              </a:xfrm>
              <a:prstGeom prst="rect">
                <a:avLst/>
              </a:prstGeom>
              <a:blipFill>
                <a:blip r:embed="rId2"/>
                <a:stretch>
                  <a:fillRect l="-722" b="-194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425D8507-7952-4F5F-A7AB-318FF89960C1}"/>
                  </a:ext>
                </a:extLst>
              </p:cNvPr>
              <p:cNvSpPr txBox="1"/>
              <p:nvPr/>
            </p:nvSpPr>
            <p:spPr>
              <a:xfrm>
                <a:off x="3475171" y="1296733"/>
                <a:ext cx="4067493" cy="939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e>
                      </m:nary>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𝛤</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e>
                      </m:nary>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6" name="对象 5">
                <a:extLst>
                  <a:ext uri="{FF2B5EF4-FFF2-40B4-BE49-F238E27FC236}">
                    <a16:creationId xmlns:a16="http://schemas.microsoft.com/office/drawing/2014/main" id="{425D8507-7952-4F5F-A7AB-318FF89960C1}"/>
                  </a:ext>
                </a:extLst>
              </p:cNvPr>
              <p:cNvSpPr txBox="1">
                <a:spLocks noRot="1" noChangeAspect="1" noMove="1" noResize="1" noEditPoints="1" noAdjustHandles="1" noChangeArrowheads="1" noChangeShapeType="1" noTextEdit="1"/>
              </p:cNvSpPr>
              <p:nvPr/>
            </p:nvSpPr>
            <p:spPr>
              <a:xfrm>
                <a:off x="3475171" y="1296733"/>
                <a:ext cx="4067493" cy="939800"/>
              </a:xfrm>
              <a:prstGeom prst="rect">
                <a:avLst/>
              </a:prstGeom>
              <a:blipFill>
                <a:blip r:embed="rId3"/>
                <a:stretch>
                  <a:fillRect/>
                </a:stretch>
              </a:blipFill>
            </p:spPr>
            <p:txBody>
              <a:bodyPr/>
              <a:lstStyle/>
              <a:p>
                <a:r>
                  <a:rPr lang="zh-CN" altLang="en-US">
                    <a:noFill/>
                  </a:rPr>
                  <a:t> </a:t>
                </a:r>
              </a:p>
            </p:txBody>
          </p:sp>
        </mc:Fallback>
      </mc:AlternateContent>
      <p:sp>
        <p:nvSpPr>
          <p:cNvPr id="7" name="Text Box 437">
            <a:extLst>
              <a:ext uri="{FF2B5EF4-FFF2-40B4-BE49-F238E27FC236}">
                <a16:creationId xmlns:a16="http://schemas.microsoft.com/office/drawing/2014/main" id="{B12605AE-4765-6296-CDA9-5722B5A966A0}"/>
              </a:ext>
            </a:extLst>
          </p:cNvPr>
          <p:cNvSpPr txBox="1">
            <a:spLocks noChangeArrowheads="1"/>
          </p:cNvSpPr>
          <p:nvPr/>
        </p:nvSpPr>
        <p:spPr bwMode="auto">
          <a:xfrm>
            <a:off x="2840825" y="3187489"/>
            <a:ext cx="162076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r>
              <a:rPr kumimoji="1" lang="zh-CN" altLang="en-US" sz="2200" b="0" dirty="0">
                <a:solidFill>
                  <a:schemeClr val="tx1">
                    <a:lumMod val="95000"/>
                    <a:lumOff val="5000"/>
                  </a:schemeClr>
                </a:solidFill>
              </a:rPr>
              <a:t>设其方程为</a:t>
            </a:r>
          </a:p>
        </p:txBody>
      </p:sp>
      <mc:AlternateContent xmlns:mc="http://schemas.openxmlformats.org/markup-compatibility/2006" xmlns:a14="http://schemas.microsoft.com/office/drawing/2010/main">
        <mc:Choice Requires="a14">
          <p:sp>
            <p:nvSpPr>
              <p:cNvPr id="8" name="Text Box 439">
                <a:extLst>
                  <a:ext uri="{FF2B5EF4-FFF2-40B4-BE49-F238E27FC236}">
                    <a16:creationId xmlns:a16="http://schemas.microsoft.com/office/drawing/2014/main" id="{5AD396C0-CB21-893E-7E8B-3DB1DC545E5B}"/>
                  </a:ext>
                </a:extLst>
              </p:cNvPr>
              <p:cNvSpPr txBox="1">
                <a:spLocks noChangeArrowheads="1"/>
              </p:cNvSpPr>
              <p:nvPr/>
            </p:nvSpPr>
            <p:spPr bwMode="auto">
              <a:xfrm>
                <a:off x="6166217" y="3740718"/>
                <a:ext cx="2022312"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r>
                  <a:rPr kumimoji="1" lang="zh-CN" altLang="en-US" sz="2200" b="0" dirty="0">
                    <a:solidFill>
                      <a:schemeClr val="tx1">
                        <a:lumMod val="95000"/>
                        <a:lumOff val="5000"/>
                      </a:schemeClr>
                    </a:solidFill>
                    <a:sym typeface="Symbol" panose="05050102010706020507" pitchFamily="18" charset="2"/>
                  </a:rPr>
                  <a:t>取上侧 </a:t>
                </a:r>
                <a14:m>
                  <m:oMath xmlns:m="http://schemas.openxmlformats.org/officeDocument/2006/math">
                    <m:d>
                      <m:dPr>
                        <m:ctrlPr>
                          <a:rPr kumimoji="1" lang="zh-CN" altLang="en-US" sz="2200" b="0" i="1" dirty="0">
                            <a:solidFill>
                              <a:schemeClr val="tx1">
                                <a:lumMod val="95000"/>
                                <a:lumOff val="5000"/>
                              </a:schemeClr>
                            </a:solidFill>
                            <a:latin typeface="Cambria Math" panose="02040503050406030204" pitchFamily="18" charset="0"/>
                            <a:sym typeface="Symbol" panose="05050102010706020507" pitchFamily="18" charset="2"/>
                          </a:rPr>
                        </m:ctrlPr>
                      </m:dPr>
                      <m:e>
                        <m:r>
                          <m:rPr>
                            <m:nor/>
                          </m:rPr>
                          <a:rPr kumimoji="1" lang="zh-CN" altLang="en-US" sz="2200" b="0" dirty="0">
                            <a:solidFill>
                              <a:schemeClr val="tx1">
                                <a:lumMod val="95000"/>
                                <a:lumOff val="5000"/>
                              </a:schemeClr>
                            </a:solidFill>
                            <a:sym typeface="Symbol" panose="05050102010706020507" pitchFamily="18" charset="2"/>
                          </a:rPr>
                          <m:t>如图</m:t>
                        </m:r>
                      </m:e>
                    </m:d>
                    <m:r>
                      <a:rPr kumimoji="1" lang="zh-CN" altLang="en-US" sz="2200">
                        <a:solidFill>
                          <a:schemeClr val="tx1">
                            <a:lumMod val="95000"/>
                            <a:lumOff val="5000"/>
                          </a:schemeClr>
                        </a:solidFill>
                        <a:latin typeface="Cambria Math" panose="02040503050406030204" pitchFamily="18" charset="0"/>
                      </a:rPr>
                      <m:t>.</m:t>
                    </m:r>
                  </m:oMath>
                </a14:m>
                <a:endParaRPr kumimoji="1" lang="en-US" altLang="zh-CN" sz="2200" b="0" dirty="0">
                  <a:solidFill>
                    <a:schemeClr val="tx1">
                      <a:lumMod val="95000"/>
                      <a:lumOff val="5000"/>
                    </a:schemeClr>
                  </a:solidFill>
                </a:endParaRPr>
              </a:p>
            </p:txBody>
          </p:sp>
        </mc:Choice>
        <mc:Fallback xmlns="">
          <p:sp>
            <p:nvSpPr>
              <p:cNvPr id="8" name="Text Box 439">
                <a:extLst>
                  <a:ext uri="{FF2B5EF4-FFF2-40B4-BE49-F238E27FC236}">
                    <a16:creationId xmlns:a16="http://schemas.microsoft.com/office/drawing/2014/main" id="{5AD396C0-CB21-893E-7E8B-3DB1DC545E5B}"/>
                  </a:ext>
                </a:extLst>
              </p:cNvPr>
              <p:cNvSpPr txBox="1">
                <a:spLocks noRot="1" noChangeAspect="1" noMove="1" noResize="1" noEditPoints="1" noAdjustHandles="1" noChangeArrowheads="1" noChangeShapeType="1" noTextEdit="1"/>
              </p:cNvSpPr>
              <p:nvPr/>
            </p:nvSpPr>
            <p:spPr bwMode="auto">
              <a:xfrm>
                <a:off x="6166217" y="3740718"/>
                <a:ext cx="2022312" cy="430887"/>
              </a:xfrm>
              <a:prstGeom prst="rect">
                <a:avLst/>
              </a:prstGeom>
              <a:blipFill>
                <a:blip r:embed="rId4"/>
                <a:stretch>
                  <a:fillRect l="-3927" t="-14286"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象 8">
                <a:extLst>
                  <a:ext uri="{FF2B5EF4-FFF2-40B4-BE49-F238E27FC236}">
                    <a16:creationId xmlns:a16="http://schemas.microsoft.com/office/drawing/2014/main" id="{249F4E77-2ABB-583B-4302-298CE68C1061}"/>
                  </a:ext>
                </a:extLst>
              </p:cNvPr>
              <p:cNvSpPr txBox="1"/>
              <p:nvPr/>
            </p:nvSpPr>
            <p:spPr>
              <a:xfrm>
                <a:off x="2840825" y="3737722"/>
                <a:ext cx="3461221" cy="482600"/>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𝐷</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𝑥𝑦</m:t>
                          </m:r>
                        </m:sub>
                      </m:s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200" i="1"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9" name="对象 8">
                <a:extLst>
                  <a:ext uri="{FF2B5EF4-FFF2-40B4-BE49-F238E27FC236}">
                    <a16:creationId xmlns:a16="http://schemas.microsoft.com/office/drawing/2014/main" id="{249F4E77-2ABB-583B-4302-298CE68C1061}"/>
                  </a:ext>
                </a:extLst>
              </p:cNvPr>
              <p:cNvSpPr txBox="1">
                <a:spLocks noRot="1" noChangeAspect="1" noMove="1" noResize="1" noEditPoints="1" noAdjustHandles="1" noChangeArrowheads="1" noChangeShapeType="1" noTextEdit="1"/>
              </p:cNvSpPr>
              <p:nvPr/>
            </p:nvSpPr>
            <p:spPr>
              <a:xfrm>
                <a:off x="2840825" y="3737722"/>
                <a:ext cx="3461221" cy="48260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 Box 458">
                <a:extLst>
                  <a:ext uri="{FF2B5EF4-FFF2-40B4-BE49-F238E27FC236}">
                    <a16:creationId xmlns:a16="http://schemas.microsoft.com/office/drawing/2014/main" id="{2286B026-E14E-7C02-C7F9-DCC53B28D25A}"/>
                  </a:ext>
                </a:extLst>
              </p:cNvPr>
              <p:cNvSpPr txBox="1">
                <a:spLocks noChangeArrowheads="1"/>
              </p:cNvSpPr>
              <p:nvPr/>
            </p:nvSpPr>
            <p:spPr bwMode="auto">
              <a:xfrm>
                <a:off x="2840825" y="4308840"/>
                <a:ext cx="4756416" cy="45313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14:m>
                  <m:oMath xmlns:m="http://schemas.openxmlformats.org/officeDocument/2006/math">
                    <m:r>
                      <a:rPr kumimoji="1" lang="zh-CN" altLang="en-US" sz="2200" b="0" i="1" smtClean="0">
                        <a:solidFill>
                          <a:schemeClr val="tx1">
                            <a:lumMod val="95000"/>
                            <a:lumOff val="5000"/>
                          </a:schemeClr>
                        </a:solidFill>
                        <a:latin typeface="Cambria Math" panose="02040503050406030204" pitchFamily="18" charset="0"/>
                      </a:rPr>
                      <m:t>𝛴</m:t>
                    </m:r>
                  </m:oMath>
                </a14:m>
                <a:r>
                  <a:rPr kumimoji="1" lang="zh-CN" altLang="en-US" sz="2200" b="0" dirty="0">
                    <a:solidFill>
                      <a:schemeClr val="tx1">
                        <a:lumMod val="95000"/>
                        <a:lumOff val="5000"/>
                      </a:schemeClr>
                    </a:solidFill>
                    <a:sym typeface="Symbol" panose="05050102010706020507" pitchFamily="18" charset="2"/>
                  </a:rPr>
                  <a:t> 的正向边界曲线 </a:t>
                </a:r>
                <a14:m>
                  <m:oMath xmlns:m="http://schemas.openxmlformats.org/officeDocument/2006/math">
                    <m:r>
                      <a:rPr kumimoji="1" lang="zh-CN" altLang="en-US" sz="2200" b="0" i="1">
                        <a:solidFill>
                          <a:schemeClr val="tx1">
                            <a:lumMod val="95000"/>
                            <a:lumOff val="5000"/>
                          </a:schemeClr>
                        </a:solidFill>
                        <a:latin typeface="Cambria Math" panose="02040503050406030204" pitchFamily="18" charset="0"/>
                      </a:rPr>
                      <m:t>𝛤</m:t>
                    </m:r>
                  </m:oMath>
                </a14:m>
                <a:r>
                  <a:rPr kumimoji="1" lang="zh-CN" altLang="en-US" sz="2200" b="0" dirty="0">
                    <a:solidFill>
                      <a:schemeClr val="tx1">
                        <a:lumMod val="95000"/>
                        <a:lumOff val="5000"/>
                      </a:schemeClr>
                    </a:solidFill>
                    <a:sym typeface="Symbol" panose="05050102010706020507" pitchFamily="18" charset="2"/>
                  </a:rPr>
                  <a:t> 在</a:t>
                </a:r>
                <a14:m>
                  <m:oMath xmlns:m="http://schemas.openxmlformats.org/officeDocument/2006/math">
                    <m:r>
                      <a:rPr kumimoji="1" lang="zh-CN" altLang="en-US" sz="2400">
                        <a:solidFill>
                          <a:prstClr val="black"/>
                        </a:solidFill>
                        <a:latin typeface="Cambria Math" panose="02040503050406030204" pitchFamily="18" charset="0"/>
                      </a:rPr>
                      <m:t>𝑥</m:t>
                    </m:r>
                    <m:r>
                      <a:rPr kumimoji="1" lang="en-US" altLang="zh-CN" sz="2400" b="0" i="1">
                        <a:solidFill>
                          <a:prstClr val="black"/>
                        </a:solidFill>
                        <a:latin typeface="Cambria Math" panose="02040503050406030204" pitchFamily="18" charset="0"/>
                      </a:rPr>
                      <m:t>𝑂</m:t>
                    </m:r>
                    <m:r>
                      <a:rPr kumimoji="1" lang="zh-CN" altLang="en-US" sz="2400">
                        <a:solidFill>
                          <a:prstClr val="black"/>
                        </a:solidFill>
                        <a:latin typeface="Cambria Math" panose="02040503050406030204" pitchFamily="18" charset="0"/>
                      </a:rPr>
                      <m:t>𝑦</m:t>
                    </m:r>
                  </m:oMath>
                </a14:m>
                <a:r>
                  <a:rPr kumimoji="1" lang="zh-CN" altLang="en-US" sz="2200" b="0" dirty="0">
                    <a:solidFill>
                      <a:schemeClr val="tx1">
                        <a:lumMod val="95000"/>
                        <a:lumOff val="5000"/>
                      </a:schemeClr>
                    </a:solidFill>
                    <a:sym typeface="Symbol" panose="05050102010706020507" pitchFamily="18" charset="2"/>
                  </a:rPr>
                  <a:t>面上的投</a:t>
                </a:r>
                <a:endParaRPr kumimoji="1" lang="zh-CN" altLang="zh-CN" sz="2200" b="0" dirty="0">
                  <a:solidFill>
                    <a:schemeClr val="tx1">
                      <a:lumMod val="95000"/>
                      <a:lumOff val="5000"/>
                    </a:schemeClr>
                  </a:solidFill>
                  <a:sym typeface="Symbol" panose="05050102010706020507" pitchFamily="18" charset="2"/>
                </a:endParaRPr>
              </a:p>
            </p:txBody>
          </p:sp>
        </mc:Choice>
        <mc:Fallback xmlns="">
          <p:sp>
            <p:nvSpPr>
              <p:cNvPr id="11" name="Text Box 458">
                <a:extLst>
                  <a:ext uri="{FF2B5EF4-FFF2-40B4-BE49-F238E27FC236}">
                    <a16:creationId xmlns:a16="http://schemas.microsoft.com/office/drawing/2014/main" id="{2286B026-E14E-7C02-C7F9-DCC53B28D25A}"/>
                  </a:ext>
                </a:extLst>
              </p:cNvPr>
              <p:cNvSpPr txBox="1">
                <a:spLocks noRot="1" noChangeAspect="1" noMove="1" noResize="1" noEditPoints="1" noAdjustHandles="1" noChangeArrowheads="1" noChangeShapeType="1" noTextEdit="1"/>
              </p:cNvSpPr>
              <p:nvPr/>
            </p:nvSpPr>
            <p:spPr bwMode="auto">
              <a:xfrm>
                <a:off x="2840825" y="4308840"/>
                <a:ext cx="4756416" cy="453137"/>
              </a:xfrm>
              <a:prstGeom prst="rect">
                <a:avLst/>
              </a:prstGeom>
              <a:blipFill>
                <a:blip r:embed="rId7"/>
                <a:stretch>
                  <a:fillRect l="-128" t="-9459" b="-216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Text Box 459">
                <a:extLst>
                  <a:ext uri="{FF2B5EF4-FFF2-40B4-BE49-F238E27FC236}">
                    <a16:creationId xmlns:a16="http://schemas.microsoft.com/office/drawing/2014/main" id="{9CC49B19-BD70-5937-86B6-D8116F8AE02F}"/>
                  </a:ext>
                </a:extLst>
              </p:cNvPr>
              <p:cNvSpPr txBox="1">
                <a:spLocks noChangeArrowheads="1"/>
              </p:cNvSpPr>
              <p:nvPr/>
            </p:nvSpPr>
            <p:spPr bwMode="auto">
              <a:xfrm>
                <a:off x="2840825" y="4828245"/>
                <a:ext cx="2978950"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rPr>
                  <a:t>影为平面有向曲线 </a:t>
                </a:r>
                <a:r>
                  <a:rPr kumimoji="1" lang="en-US" altLang="zh-CN" sz="2200" b="0" i="1" dirty="0">
                    <a:solidFill>
                      <a:schemeClr val="tx1">
                        <a:lumMod val="95000"/>
                        <a:lumOff val="5000"/>
                      </a:schemeClr>
                    </a:solidFill>
                  </a:rPr>
                  <a:t>C</a:t>
                </a:r>
                <a:r>
                  <a:rPr kumimoji="1" lang="zh-CN" altLang="en-US" sz="2200" dirty="0">
                    <a:solidFill>
                      <a:schemeClr val="tx1">
                        <a:lumMod val="95000"/>
                        <a:lumOff val="5000"/>
                      </a:schemeClr>
                    </a:solidFill>
                  </a:rPr>
                  <a:t> </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oMath>
                </a14:m>
                <a:endParaRPr kumimoji="1" lang="en-US" altLang="zh-CN" sz="2200" b="0" dirty="0">
                  <a:solidFill>
                    <a:schemeClr val="tx1">
                      <a:lumMod val="95000"/>
                      <a:lumOff val="5000"/>
                    </a:schemeClr>
                  </a:solidFill>
                </a:endParaRPr>
              </a:p>
            </p:txBody>
          </p:sp>
        </mc:Choice>
        <mc:Fallback xmlns="">
          <p:sp>
            <p:nvSpPr>
              <p:cNvPr id="12" name="Text Box 459">
                <a:extLst>
                  <a:ext uri="{FF2B5EF4-FFF2-40B4-BE49-F238E27FC236}">
                    <a16:creationId xmlns:a16="http://schemas.microsoft.com/office/drawing/2014/main" id="{9CC49B19-BD70-5937-86B6-D8116F8AE02F}"/>
                  </a:ext>
                </a:extLst>
              </p:cNvPr>
              <p:cNvSpPr txBox="1">
                <a:spLocks noRot="1" noChangeAspect="1" noMove="1" noResize="1" noEditPoints="1" noAdjustHandles="1" noChangeArrowheads="1" noChangeShapeType="1" noTextEdit="1"/>
              </p:cNvSpPr>
              <p:nvPr/>
            </p:nvSpPr>
            <p:spPr bwMode="auto">
              <a:xfrm>
                <a:off x="2840825" y="4828245"/>
                <a:ext cx="2978950" cy="430887"/>
              </a:xfrm>
              <a:prstGeom prst="rect">
                <a:avLst/>
              </a:prstGeom>
              <a:blipFill>
                <a:blip r:embed="rId8"/>
                <a:stretch>
                  <a:fillRect l="-2658" t="-14085" b="-2957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14" name="图片 13" descr="图示, 示意图&#10;&#10;描述已自动生成">
            <a:extLst>
              <a:ext uri="{FF2B5EF4-FFF2-40B4-BE49-F238E27FC236}">
                <a16:creationId xmlns:a16="http://schemas.microsoft.com/office/drawing/2014/main" id="{3D7E8D0F-27EB-C2C3-710B-882D64EDDE9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455482" y="3330940"/>
            <a:ext cx="1918801" cy="2315879"/>
          </a:xfrm>
          <a:prstGeom prst="rect">
            <a:avLst/>
          </a:prstGeom>
        </p:spPr>
      </p:pic>
    </p:spTree>
    <p:extLst>
      <p:ext uri="{BB962C8B-B14F-4D97-AF65-F5344CB8AC3E}">
        <p14:creationId xmlns:p14="http://schemas.microsoft.com/office/powerpoint/2010/main" val="2203627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500"/>
                                        <p:tgtEl>
                                          <p:spTgt spid="11"/>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p:bldP spid="7" grpId="0"/>
      <p:bldP spid="8" grpId="0"/>
      <p:bldP spid="9"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图文框 19">
            <a:extLst>
              <a:ext uri="{FF2B5EF4-FFF2-40B4-BE49-F238E27FC236}">
                <a16:creationId xmlns:a16="http://schemas.microsoft.com/office/drawing/2014/main" id="{E8FAB503-877A-E054-C779-E8165CD3EF65}"/>
              </a:ext>
            </a:extLst>
          </p:cNvPr>
          <p:cNvSpPr/>
          <p:nvPr/>
        </p:nvSpPr>
        <p:spPr>
          <a:xfrm>
            <a:off x="2198" y="2202"/>
            <a:ext cx="12192001" cy="6858001"/>
          </a:xfrm>
          <a:prstGeom prst="frame">
            <a:avLst>
              <a:gd name="adj1" fmla="val 50000"/>
            </a:avLst>
          </a:prstGeom>
          <a:gradFill flip="none" rotWithShape="1">
            <a:gsLst>
              <a:gs pos="74000">
                <a:srgbClr val="007434">
                  <a:alpha val="31000"/>
                </a:srgbClr>
              </a:gs>
              <a:gs pos="4000">
                <a:schemeClr val="bg1">
                  <a:alpha val="0"/>
                </a:schemeClr>
              </a:gs>
              <a:gs pos="100000">
                <a:schemeClr val="bg1">
                  <a:alpha val="64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字魂36号-正文宋楷" panose="00000500000000000000" pitchFamily="2" charset="-122"/>
              <a:ea typeface="字魂36号-正文宋楷" panose="00000500000000000000" pitchFamily="2" charset="-122"/>
            </a:endParaRPr>
          </a:p>
        </p:txBody>
      </p:sp>
      <p:sp>
        <p:nvSpPr>
          <p:cNvPr id="21" name="矩形 20">
            <a:extLst>
              <a:ext uri="{FF2B5EF4-FFF2-40B4-BE49-F238E27FC236}">
                <a16:creationId xmlns:a16="http://schemas.microsoft.com/office/drawing/2014/main" id="{38C1DF88-A2BA-89FF-8C76-D65EF16427A2}"/>
              </a:ext>
            </a:extLst>
          </p:cNvPr>
          <p:cNvSpPr/>
          <p:nvPr/>
        </p:nvSpPr>
        <p:spPr>
          <a:xfrm>
            <a:off x="374261" y="809625"/>
            <a:ext cx="11455789" cy="5495925"/>
          </a:xfrm>
          <a:prstGeom prst="rect">
            <a:avLst/>
          </a:prstGeom>
          <a:solidFill>
            <a:schemeClr val="bg1"/>
          </a:solidFill>
          <a:ln>
            <a:solidFill>
              <a:srgbClr val="04926A"/>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弦形 15">
            <a:extLst>
              <a:ext uri="{FF2B5EF4-FFF2-40B4-BE49-F238E27FC236}">
                <a16:creationId xmlns:a16="http://schemas.microsoft.com/office/drawing/2014/main" id="{ACA0746C-AD1A-9B4D-5D76-F2E2313AB4FB}"/>
              </a:ext>
            </a:extLst>
          </p:cNvPr>
          <p:cNvSpPr/>
          <p:nvPr/>
        </p:nvSpPr>
        <p:spPr>
          <a:xfrm rot="15659429" flipH="1">
            <a:off x="5125682" y="579181"/>
            <a:ext cx="1937343" cy="11317160"/>
          </a:xfrm>
          <a:custGeom>
            <a:avLst/>
            <a:gdLst>
              <a:gd name="connsiteX0" fmla="*/ 5663461 w 6570110"/>
              <a:gd name="connsiteY0" fmla="*/ 5826412 h 6896013"/>
              <a:gd name="connsiteX1" fmla="*/ 1582552 w 6570110"/>
              <a:gd name="connsiteY1" fmla="*/ 6396827 h 6896013"/>
              <a:gd name="connsiteX2" fmla="*/ 102082 w 6570110"/>
              <a:gd name="connsiteY2" fmla="*/ 2595130 h 6896013"/>
              <a:gd name="connsiteX3" fmla="*/ 3285055 w 6570110"/>
              <a:gd name="connsiteY3" fmla="*/ -2 h 6896013"/>
              <a:gd name="connsiteX4" fmla="*/ 5663461 w 6570110"/>
              <a:gd name="connsiteY4" fmla="*/ 5826412 h 6896013"/>
              <a:gd name="connsiteX0-1" fmla="*/ 5663714 w 5663714"/>
              <a:gd name="connsiteY0-2" fmla="*/ 4696317 h 5766012"/>
              <a:gd name="connsiteX1-3" fmla="*/ 1582805 w 5663714"/>
              <a:gd name="connsiteY1-4" fmla="*/ 5266732 h 5766012"/>
              <a:gd name="connsiteX2-5" fmla="*/ 102335 w 5663714"/>
              <a:gd name="connsiteY2-6" fmla="*/ 1465035 h 5766012"/>
              <a:gd name="connsiteX3-7" fmla="*/ 1099768 w 5663714"/>
              <a:gd name="connsiteY3-8" fmla="*/ 353 h 5766012"/>
              <a:gd name="connsiteX4-9" fmla="*/ 5663714 w 5663714"/>
              <a:gd name="connsiteY4-10" fmla="*/ 4696317 h 5766012"/>
              <a:gd name="connsiteX0-11" fmla="*/ 3446611 w 3446611"/>
              <a:gd name="connsiteY0-12" fmla="*/ 5713487 h 6276785"/>
              <a:gd name="connsiteX1-13" fmla="*/ 1542826 w 3446611"/>
              <a:gd name="connsiteY1-14" fmla="*/ 5266732 h 6276785"/>
              <a:gd name="connsiteX2-15" fmla="*/ 62356 w 3446611"/>
              <a:gd name="connsiteY2-16" fmla="*/ 1465035 h 6276785"/>
              <a:gd name="connsiteX3-17" fmla="*/ 1059789 w 3446611"/>
              <a:gd name="connsiteY3-18" fmla="*/ 353 h 6276785"/>
              <a:gd name="connsiteX4-19" fmla="*/ 3446611 w 3446611"/>
              <a:gd name="connsiteY4-20" fmla="*/ 5713487 h 6276785"/>
              <a:gd name="connsiteX0-21" fmla="*/ 4374911 w 4374911"/>
              <a:gd name="connsiteY0-22" fmla="*/ 5713134 h 6223551"/>
              <a:gd name="connsiteX1-23" fmla="*/ 2471126 w 4374911"/>
              <a:gd name="connsiteY1-24" fmla="*/ 5266379 h 6223551"/>
              <a:gd name="connsiteX2-25" fmla="*/ 41290 w 4374911"/>
              <a:gd name="connsiteY2-26" fmla="*/ 2897699 h 6223551"/>
              <a:gd name="connsiteX3-27" fmla="*/ 1988089 w 4374911"/>
              <a:gd name="connsiteY3-28" fmla="*/ 0 h 6223551"/>
              <a:gd name="connsiteX4-29" fmla="*/ 4374911 w 4374911"/>
              <a:gd name="connsiteY4-30" fmla="*/ 5713134 h 6223551"/>
              <a:gd name="connsiteX0-31" fmla="*/ 6184479 w 6184480"/>
              <a:gd name="connsiteY0-32" fmla="*/ 10159312 h 10340427"/>
              <a:gd name="connsiteX1-33" fmla="*/ 2476956 w 6184480"/>
              <a:gd name="connsiteY1-34" fmla="*/ 5266379 h 10340427"/>
              <a:gd name="connsiteX2-35" fmla="*/ 47120 w 6184480"/>
              <a:gd name="connsiteY2-36" fmla="*/ 2897699 h 10340427"/>
              <a:gd name="connsiteX3-37" fmla="*/ 1993919 w 6184480"/>
              <a:gd name="connsiteY3-38" fmla="*/ 0 h 10340427"/>
              <a:gd name="connsiteX4-39" fmla="*/ 6184479 w 6184480"/>
              <a:gd name="connsiteY4-40" fmla="*/ 10159312 h 10340427"/>
              <a:gd name="connsiteX0-41" fmla="*/ 5441704 w 5441705"/>
              <a:gd name="connsiteY0-42" fmla="*/ 10159312 h 10342076"/>
              <a:gd name="connsiteX1-43" fmla="*/ 1734181 w 5441705"/>
              <a:gd name="connsiteY1-44" fmla="*/ 5266379 h 10342076"/>
              <a:gd name="connsiteX2-45" fmla="*/ 67972 w 5441705"/>
              <a:gd name="connsiteY2-46" fmla="*/ 2573906 h 10342076"/>
              <a:gd name="connsiteX3-47" fmla="*/ 1251144 w 5441705"/>
              <a:gd name="connsiteY3-48" fmla="*/ 0 h 10342076"/>
              <a:gd name="connsiteX4-49" fmla="*/ 5441704 w 5441705"/>
              <a:gd name="connsiteY4-50" fmla="*/ 10159312 h 10342076"/>
              <a:gd name="connsiteX0-51" fmla="*/ 5420585 w 5420586"/>
              <a:gd name="connsiteY0-52" fmla="*/ 10159312 h 10342908"/>
              <a:gd name="connsiteX1-53" fmla="*/ 2365285 w 5420586"/>
              <a:gd name="connsiteY1-54" fmla="*/ 5292208 h 10342908"/>
              <a:gd name="connsiteX2-55" fmla="*/ 46853 w 5420586"/>
              <a:gd name="connsiteY2-56" fmla="*/ 2573906 h 10342908"/>
              <a:gd name="connsiteX3-57" fmla="*/ 1230025 w 5420586"/>
              <a:gd name="connsiteY3-58" fmla="*/ 0 h 10342908"/>
              <a:gd name="connsiteX4-59" fmla="*/ 5420585 w 5420586"/>
              <a:gd name="connsiteY4-60" fmla="*/ 10159312 h 10342908"/>
              <a:gd name="connsiteX0-61" fmla="*/ 4912837 w 4912838"/>
              <a:gd name="connsiteY0-62" fmla="*/ 10159312 h 10343545"/>
              <a:gd name="connsiteX1-63" fmla="*/ 1857537 w 4912838"/>
              <a:gd name="connsiteY1-64" fmla="*/ 5292208 h 10343545"/>
              <a:gd name="connsiteX2-65" fmla="*/ 215235 w 4912838"/>
              <a:gd name="connsiteY2-66" fmla="*/ 2451340 h 10343545"/>
              <a:gd name="connsiteX3-67" fmla="*/ 722277 w 4912838"/>
              <a:gd name="connsiteY3-68" fmla="*/ 0 h 10343545"/>
              <a:gd name="connsiteX4-69" fmla="*/ 4912837 w 4912838"/>
              <a:gd name="connsiteY4-70" fmla="*/ 10159312 h 10343545"/>
              <a:gd name="connsiteX0-71" fmla="*/ 4912837 w 4912838"/>
              <a:gd name="connsiteY0-72" fmla="*/ 10159312 h 10343546"/>
              <a:gd name="connsiteX1-73" fmla="*/ 1857537 w 4912838"/>
              <a:gd name="connsiteY1-74" fmla="*/ 5292208 h 10343546"/>
              <a:gd name="connsiteX2-75" fmla="*/ 215235 w 4912838"/>
              <a:gd name="connsiteY2-76" fmla="*/ 2451340 h 10343546"/>
              <a:gd name="connsiteX3-77" fmla="*/ 722277 w 4912838"/>
              <a:gd name="connsiteY3-78" fmla="*/ 0 h 10343546"/>
              <a:gd name="connsiteX4-79" fmla="*/ 4912837 w 4912838"/>
              <a:gd name="connsiteY4-80" fmla="*/ 10159312 h 10343546"/>
              <a:gd name="connsiteX0-81" fmla="*/ 4912837 w 4912838"/>
              <a:gd name="connsiteY0-82" fmla="*/ 10159312 h 10342702"/>
              <a:gd name="connsiteX1-83" fmla="*/ 2017796 w 4912838"/>
              <a:gd name="connsiteY1-84" fmla="*/ 5266178 h 10342702"/>
              <a:gd name="connsiteX2-85" fmla="*/ 215235 w 4912838"/>
              <a:gd name="connsiteY2-86" fmla="*/ 2451340 h 10342702"/>
              <a:gd name="connsiteX3-87" fmla="*/ 722277 w 4912838"/>
              <a:gd name="connsiteY3-88" fmla="*/ 0 h 10342702"/>
              <a:gd name="connsiteX4-89" fmla="*/ 4912837 w 4912838"/>
              <a:gd name="connsiteY4-90" fmla="*/ 10159312 h 10342702"/>
              <a:gd name="connsiteX0-91" fmla="*/ 6696211 w 6696212"/>
              <a:gd name="connsiteY0-92" fmla="*/ 14247518 h 14361779"/>
              <a:gd name="connsiteX1-93" fmla="*/ 2017796 w 6696212"/>
              <a:gd name="connsiteY1-94" fmla="*/ 5266178 h 14361779"/>
              <a:gd name="connsiteX2-95" fmla="*/ 215235 w 6696212"/>
              <a:gd name="connsiteY2-96" fmla="*/ 2451340 h 14361779"/>
              <a:gd name="connsiteX3-97" fmla="*/ 722277 w 6696212"/>
              <a:gd name="connsiteY3-98" fmla="*/ 0 h 14361779"/>
              <a:gd name="connsiteX4-99" fmla="*/ 6696211 w 6696212"/>
              <a:gd name="connsiteY4-100" fmla="*/ 14247518 h 14361779"/>
              <a:gd name="connsiteX0-101" fmla="*/ 6696211 w 6696212"/>
              <a:gd name="connsiteY0-102" fmla="*/ 14247518 h 14247518"/>
              <a:gd name="connsiteX1-103" fmla="*/ 2017796 w 6696212"/>
              <a:gd name="connsiteY1-104" fmla="*/ 5266178 h 14247518"/>
              <a:gd name="connsiteX2-105" fmla="*/ 215235 w 6696212"/>
              <a:gd name="connsiteY2-106" fmla="*/ 2451340 h 14247518"/>
              <a:gd name="connsiteX3-107" fmla="*/ 722277 w 6696212"/>
              <a:gd name="connsiteY3-108" fmla="*/ 0 h 14247518"/>
              <a:gd name="connsiteX4-109" fmla="*/ 6696211 w 6696212"/>
              <a:gd name="connsiteY4-110" fmla="*/ 14247518 h 14247518"/>
              <a:gd name="connsiteX0-111" fmla="*/ 7570201 w 7570202"/>
              <a:gd name="connsiteY0-112" fmla="*/ 14239742 h 14239742"/>
              <a:gd name="connsiteX1-113" fmla="*/ 2891786 w 7570202"/>
              <a:gd name="connsiteY1-114" fmla="*/ 5258402 h 14239742"/>
              <a:gd name="connsiteX2-115" fmla="*/ 1089225 w 7570202"/>
              <a:gd name="connsiteY2-116" fmla="*/ 2443564 h 14239742"/>
              <a:gd name="connsiteX3-117" fmla="*/ 488445 w 7570202"/>
              <a:gd name="connsiteY3-118" fmla="*/ 0 h 14239742"/>
              <a:gd name="connsiteX4-119" fmla="*/ 7570201 w 7570202"/>
              <a:gd name="connsiteY4-120" fmla="*/ 14239742 h 14239742"/>
              <a:gd name="connsiteX0-121" fmla="*/ 7634493 w 7634494"/>
              <a:gd name="connsiteY0-122" fmla="*/ 14239742 h 14239742"/>
              <a:gd name="connsiteX1-123" fmla="*/ 2956078 w 7634494"/>
              <a:gd name="connsiteY1-124" fmla="*/ 5258402 h 14239742"/>
              <a:gd name="connsiteX2-125" fmla="*/ 753781 w 7634494"/>
              <a:gd name="connsiteY2-126" fmla="*/ 2349752 h 14239742"/>
              <a:gd name="connsiteX3-127" fmla="*/ 552737 w 7634494"/>
              <a:gd name="connsiteY3-128" fmla="*/ 0 h 14239742"/>
              <a:gd name="connsiteX4-129" fmla="*/ 7634493 w 7634494"/>
              <a:gd name="connsiteY4-130" fmla="*/ 14239742 h 14239742"/>
              <a:gd name="connsiteX0-131" fmla="*/ 7634493 w 7634494"/>
              <a:gd name="connsiteY0-132" fmla="*/ 14239742 h 14239742"/>
              <a:gd name="connsiteX1-133" fmla="*/ 2585204 w 7634494"/>
              <a:gd name="connsiteY1-134" fmla="*/ 5326384 h 14239742"/>
              <a:gd name="connsiteX2-135" fmla="*/ 753781 w 7634494"/>
              <a:gd name="connsiteY2-136" fmla="*/ 2349752 h 14239742"/>
              <a:gd name="connsiteX3-137" fmla="*/ 552737 w 7634494"/>
              <a:gd name="connsiteY3-138" fmla="*/ 0 h 14239742"/>
              <a:gd name="connsiteX4-139" fmla="*/ 7634493 w 7634494"/>
              <a:gd name="connsiteY4-140" fmla="*/ 14239742 h 14239742"/>
              <a:gd name="connsiteX0-141" fmla="*/ 7682941 w 7682942"/>
              <a:gd name="connsiteY0-142" fmla="*/ 14239742 h 14239742"/>
              <a:gd name="connsiteX1-143" fmla="*/ 2633652 w 7682942"/>
              <a:gd name="connsiteY1-144" fmla="*/ 5326384 h 14239742"/>
              <a:gd name="connsiteX2-145" fmla="*/ 558177 w 7682942"/>
              <a:gd name="connsiteY2-146" fmla="*/ 2264291 h 14239742"/>
              <a:gd name="connsiteX3-147" fmla="*/ 601185 w 7682942"/>
              <a:gd name="connsiteY3-148" fmla="*/ 0 h 14239742"/>
              <a:gd name="connsiteX4-149" fmla="*/ 7682941 w 7682942"/>
              <a:gd name="connsiteY4-150" fmla="*/ 14239742 h 14239742"/>
              <a:gd name="connsiteX0-151" fmla="*/ 7682941 w 7682942"/>
              <a:gd name="connsiteY0-152" fmla="*/ 14239742 h 14239742"/>
              <a:gd name="connsiteX1-153" fmla="*/ 3826355 w 7682942"/>
              <a:gd name="connsiteY1-154" fmla="*/ 7737312 h 14239742"/>
              <a:gd name="connsiteX2-155" fmla="*/ 558177 w 7682942"/>
              <a:gd name="connsiteY2-156" fmla="*/ 2264291 h 14239742"/>
              <a:gd name="connsiteX3-157" fmla="*/ 601185 w 7682942"/>
              <a:gd name="connsiteY3-158" fmla="*/ 0 h 14239742"/>
              <a:gd name="connsiteX4-159" fmla="*/ 7682941 w 7682942"/>
              <a:gd name="connsiteY4-160" fmla="*/ 14239742 h 14239742"/>
              <a:gd name="connsiteX0-161" fmla="*/ 7682941 w 7682942"/>
              <a:gd name="connsiteY0-162" fmla="*/ 14239742 h 14239742"/>
              <a:gd name="connsiteX1-163" fmla="*/ 3826355 w 7682942"/>
              <a:gd name="connsiteY1-164" fmla="*/ 7737312 h 14239742"/>
              <a:gd name="connsiteX2-165" fmla="*/ 558177 w 7682942"/>
              <a:gd name="connsiteY2-166" fmla="*/ 2264291 h 14239742"/>
              <a:gd name="connsiteX3-167" fmla="*/ 601185 w 7682942"/>
              <a:gd name="connsiteY3-168" fmla="*/ 0 h 14239742"/>
              <a:gd name="connsiteX4-169" fmla="*/ 7682941 w 7682942"/>
              <a:gd name="connsiteY4-170" fmla="*/ 14239742 h 14239742"/>
              <a:gd name="connsiteX0-171" fmla="*/ 7696979 w 7696980"/>
              <a:gd name="connsiteY0-172" fmla="*/ 14239742 h 14239742"/>
              <a:gd name="connsiteX1-173" fmla="*/ 3840393 w 7696980"/>
              <a:gd name="connsiteY1-174" fmla="*/ 7737312 h 14239742"/>
              <a:gd name="connsiteX2-175" fmla="*/ 508818 w 7696980"/>
              <a:gd name="connsiteY2-176" fmla="*/ 1828490 h 14239742"/>
              <a:gd name="connsiteX3-177" fmla="*/ 615223 w 7696980"/>
              <a:gd name="connsiteY3-178" fmla="*/ 0 h 14239742"/>
              <a:gd name="connsiteX4-179" fmla="*/ 7696979 w 7696980"/>
              <a:gd name="connsiteY4-180" fmla="*/ 14239742 h 14239742"/>
              <a:gd name="connsiteX0-181" fmla="*/ 7616346 w 7616347"/>
              <a:gd name="connsiteY0-182" fmla="*/ 14239742 h 14239742"/>
              <a:gd name="connsiteX1-183" fmla="*/ 3759760 w 7616347"/>
              <a:gd name="connsiteY1-184" fmla="*/ 7737312 h 14239742"/>
              <a:gd name="connsiteX2-185" fmla="*/ 838627 w 7616347"/>
              <a:gd name="connsiteY2-186" fmla="*/ 2555598 h 14239742"/>
              <a:gd name="connsiteX3-187" fmla="*/ 534590 w 7616347"/>
              <a:gd name="connsiteY3-188" fmla="*/ 0 h 14239742"/>
              <a:gd name="connsiteX4-189" fmla="*/ 7616346 w 7616347"/>
              <a:gd name="connsiteY4-190" fmla="*/ 14239742 h 14239742"/>
              <a:gd name="connsiteX0-191" fmla="*/ 7673855 w 7673856"/>
              <a:gd name="connsiteY0-192" fmla="*/ 14239742 h 14239742"/>
              <a:gd name="connsiteX1-193" fmla="*/ 3817269 w 7673856"/>
              <a:gd name="connsiteY1-194" fmla="*/ 7737312 h 14239742"/>
              <a:gd name="connsiteX2-195" fmla="*/ 896136 w 7673856"/>
              <a:gd name="connsiteY2-196" fmla="*/ 2555598 h 14239742"/>
              <a:gd name="connsiteX3-197" fmla="*/ 592099 w 7673856"/>
              <a:gd name="connsiteY3-198" fmla="*/ 0 h 14239742"/>
              <a:gd name="connsiteX4-199" fmla="*/ 7673855 w 7673856"/>
              <a:gd name="connsiteY4-200" fmla="*/ 14239742 h 14239742"/>
              <a:gd name="connsiteX0-201" fmla="*/ 7577590 w 7577591"/>
              <a:gd name="connsiteY0-202" fmla="*/ 14197188 h 14197188"/>
              <a:gd name="connsiteX1-203" fmla="*/ 3721004 w 7577591"/>
              <a:gd name="connsiteY1-204" fmla="*/ 7694758 h 14197188"/>
              <a:gd name="connsiteX2-205" fmla="*/ 799871 w 7577591"/>
              <a:gd name="connsiteY2-206" fmla="*/ 2513044 h 14197188"/>
              <a:gd name="connsiteX3-207" fmla="*/ 618351 w 7577591"/>
              <a:gd name="connsiteY3-208" fmla="*/ 0 h 14197188"/>
              <a:gd name="connsiteX4-209" fmla="*/ 7577590 w 7577591"/>
              <a:gd name="connsiteY4-210" fmla="*/ 14197188 h 14197188"/>
              <a:gd name="connsiteX0-211" fmla="*/ 7602036 w 7602037"/>
              <a:gd name="connsiteY0-212" fmla="*/ 14260633 h 14260633"/>
              <a:gd name="connsiteX1-213" fmla="*/ 3745450 w 7602037"/>
              <a:gd name="connsiteY1-214" fmla="*/ 7758203 h 14260633"/>
              <a:gd name="connsiteX2-215" fmla="*/ 824317 w 7602037"/>
              <a:gd name="connsiteY2-216" fmla="*/ 2576489 h 14260633"/>
              <a:gd name="connsiteX3-217" fmla="*/ 611406 w 7602037"/>
              <a:gd name="connsiteY3-218" fmla="*/ 0 h 14260633"/>
              <a:gd name="connsiteX4-219" fmla="*/ 7602036 w 7602037"/>
              <a:gd name="connsiteY4-220" fmla="*/ 14260633 h 14260633"/>
              <a:gd name="connsiteX0-221" fmla="*/ 7492157 w 7492156"/>
              <a:gd name="connsiteY0-222" fmla="*/ 14269265 h 14269265"/>
              <a:gd name="connsiteX1-223" fmla="*/ 3745450 w 7492156"/>
              <a:gd name="connsiteY1-224" fmla="*/ 7758203 h 14269265"/>
              <a:gd name="connsiteX2-225" fmla="*/ 824317 w 7492156"/>
              <a:gd name="connsiteY2-226" fmla="*/ 2576489 h 14269265"/>
              <a:gd name="connsiteX3-227" fmla="*/ 611406 w 7492156"/>
              <a:gd name="connsiteY3-228" fmla="*/ 0 h 14269265"/>
              <a:gd name="connsiteX4-229" fmla="*/ 7492157 w 7492156"/>
              <a:gd name="connsiteY4-230" fmla="*/ 14269265 h 14269265"/>
              <a:gd name="connsiteX0-231" fmla="*/ 7521468 w 7521467"/>
              <a:gd name="connsiteY0-232" fmla="*/ 14270825 h 14270825"/>
              <a:gd name="connsiteX1-233" fmla="*/ 3745450 w 7521467"/>
              <a:gd name="connsiteY1-234" fmla="*/ 7758203 h 14270825"/>
              <a:gd name="connsiteX2-235" fmla="*/ 824317 w 7521467"/>
              <a:gd name="connsiteY2-236" fmla="*/ 2576489 h 14270825"/>
              <a:gd name="connsiteX3-237" fmla="*/ 611406 w 7521467"/>
              <a:gd name="connsiteY3-238" fmla="*/ 0 h 14270825"/>
              <a:gd name="connsiteX4-239" fmla="*/ 7521468 w 7521467"/>
              <a:gd name="connsiteY4-240" fmla="*/ 14270825 h 14270825"/>
              <a:gd name="connsiteX0-241" fmla="*/ 7521468 w 7521467"/>
              <a:gd name="connsiteY0-242" fmla="*/ 14270825 h 14270825"/>
              <a:gd name="connsiteX1-243" fmla="*/ 3745450 w 7521467"/>
              <a:gd name="connsiteY1-244" fmla="*/ 7758203 h 14270825"/>
              <a:gd name="connsiteX2-245" fmla="*/ 824317 w 7521467"/>
              <a:gd name="connsiteY2-246" fmla="*/ 2576489 h 14270825"/>
              <a:gd name="connsiteX3-247" fmla="*/ 611406 w 7521467"/>
              <a:gd name="connsiteY3-248" fmla="*/ 0 h 14270825"/>
              <a:gd name="connsiteX4-249" fmla="*/ 7521468 w 7521467"/>
              <a:gd name="connsiteY4-250" fmla="*/ 14270825 h 14270825"/>
              <a:gd name="connsiteX0-251" fmla="*/ 7658008 w 7658007"/>
              <a:gd name="connsiteY0-252" fmla="*/ 14310865 h 14310865"/>
              <a:gd name="connsiteX1-253" fmla="*/ 3881990 w 7658007"/>
              <a:gd name="connsiteY1-254" fmla="*/ 7798243 h 14310865"/>
              <a:gd name="connsiteX2-255" fmla="*/ 960857 w 7658007"/>
              <a:gd name="connsiteY2-256" fmla="*/ 2616529 h 14310865"/>
              <a:gd name="connsiteX3-257" fmla="*/ 575941 w 7658007"/>
              <a:gd name="connsiteY3-258" fmla="*/ 0 h 14310865"/>
              <a:gd name="connsiteX4-259" fmla="*/ 7658008 w 7658007"/>
              <a:gd name="connsiteY4-260" fmla="*/ 14310865 h 14310865"/>
              <a:gd name="connsiteX0-261" fmla="*/ 7658008 w 7658007"/>
              <a:gd name="connsiteY0-262" fmla="*/ 14310865 h 14310865"/>
              <a:gd name="connsiteX1-263" fmla="*/ 3881990 w 7658007"/>
              <a:gd name="connsiteY1-264" fmla="*/ 7798243 h 14310865"/>
              <a:gd name="connsiteX2-265" fmla="*/ 960857 w 7658007"/>
              <a:gd name="connsiteY2-266" fmla="*/ 2616529 h 14310865"/>
              <a:gd name="connsiteX3-267" fmla="*/ 575941 w 7658007"/>
              <a:gd name="connsiteY3-268" fmla="*/ 0 h 14310865"/>
              <a:gd name="connsiteX4-269" fmla="*/ 7658008 w 7658007"/>
              <a:gd name="connsiteY4-270" fmla="*/ 14310865 h 14310865"/>
              <a:gd name="connsiteX0-271" fmla="*/ 7643698 w 7643697"/>
              <a:gd name="connsiteY0-272" fmla="*/ 14310865 h 14310865"/>
              <a:gd name="connsiteX1-273" fmla="*/ 3867680 w 7643697"/>
              <a:gd name="connsiteY1-274" fmla="*/ 7798243 h 14310865"/>
              <a:gd name="connsiteX2-275" fmla="*/ 946547 w 7643697"/>
              <a:gd name="connsiteY2-276" fmla="*/ 2616529 h 14310865"/>
              <a:gd name="connsiteX3-277" fmla="*/ 561631 w 7643697"/>
              <a:gd name="connsiteY3-278" fmla="*/ 0 h 14310865"/>
              <a:gd name="connsiteX4-279" fmla="*/ 7643698 w 7643697"/>
              <a:gd name="connsiteY4-280" fmla="*/ 14310865 h 14310865"/>
              <a:gd name="connsiteX0-281" fmla="*/ 7643698 w 7643697"/>
              <a:gd name="connsiteY0-282" fmla="*/ 14310865 h 14310865"/>
              <a:gd name="connsiteX1-283" fmla="*/ 3867680 w 7643697"/>
              <a:gd name="connsiteY1-284" fmla="*/ 7798243 h 14310865"/>
              <a:gd name="connsiteX2-285" fmla="*/ 946547 w 7643697"/>
              <a:gd name="connsiteY2-286" fmla="*/ 2616529 h 14310865"/>
              <a:gd name="connsiteX3-287" fmla="*/ 561631 w 7643697"/>
              <a:gd name="connsiteY3-288" fmla="*/ 0 h 14310865"/>
              <a:gd name="connsiteX4-289" fmla="*/ 7643698 w 7643697"/>
              <a:gd name="connsiteY4-290" fmla="*/ 14310865 h 1431086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43697" h="14310865">
                <a:moveTo>
                  <a:pt x="7643698" y="14310865"/>
                </a:moveTo>
                <a:cubicBezTo>
                  <a:pt x="5612459" y="13565975"/>
                  <a:pt x="4983872" y="9747299"/>
                  <a:pt x="3867680" y="7798243"/>
                </a:cubicBezTo>
                <a:cubicBezTo>
                  <a:pt x="2751488" y="5849187"/>
                  <a:pt x="700659" y="4048243"/>
                  <a:pt x="946547" y="2616529"/>
                </a:cubicBezTo>
                <a:cubicBezTo>
                  <a:pt x="971479" y="1107306"/>
                  <a:pt x="-906876" y="47113"/>
                  <a:pt x="561631" y="0"/>
                </a:cubicBezTo>
                <a:cubicBezTo>
                  <a:pt x="1512177" y="1934124"/>
                  <a:pt x="6748829" y="12373914"/>
                  <a:pt x="7643698" y="14310865"/>
                </a:cubicBezTo>
                <a:close/>
              </a:path>
            </a:pathLst>
          </a:custGeom>
          <a:gradFill>
            <a:gsLst>
              <a:gs pos="0">
                <a:srgbClr val="009E47">
                  <a:alpha val="88000"/>
                </a:srgbClr>
              </a:gs>
              <a:gs pos="55000">
                <a:srgbClr val="039463"/>
              </a:gs>
              <a:gs pos="100000">
                <a:srgbClr val="068885"/>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弦形 15">
            <a:extLst>
              <a:ext uri="{FF2B5EF4-FFF2-40B4-BE49-F238E27FC236}">
                <a16:creationId xmlns:a16="http://schemas.microsoft.com/office/drawing/2014/main" id="{7268D078-1543-C0B9-064A-7C2DF4096DB6}"/>
              </a:ext>
            </a:extLst>
          </p:cNvPr>
          <p:cNvSpPr/>
          <p:nvPr/>
        </p:nvSpPr>
        <p:spPr>
          <a:xfrm rot="15659429" flipH="1">
            <a:off x="5125235" y="571563"/>
            <a:ext cx="1974412" cy="11270860"/>
          </a:xfrm>
          <a:custGeom>
            <a:avLst/>
            <a:gdLst>
              <a:gd name="connsiteX0" fmla="*/ 5663461 w 6570110"/>
              <a:gd name="connsiteY0" fmla="*/ 5826412 h 6896013"/>
              <a:gd name="connsiteX1" fmla="*/ 1582552 w 6570110"/>
              <a:gd name="connsiteY1" fmla="*/ 6396827 h 6896013"/>
              <a:gd name="connsiteX2" fmla="*/ 102082 w 6570110"/>
              <a:gd name="connsiteY2" fmla="*/ 2595130 h 6896013"/>
              <a:gd name="connsiteX3" fmla="*/ 3285055 w 6570110"/>
              <a:gd name="connsiteY3" fmla="*/ -2 h 6896013"/>
              <a:gd name="connsiteX4" fmla="*/ 5663461 w 6570110"/>
              <a:gd name="connsiteY4" fmla="*/ 5826412 h 6896013"/>
              <a:gd name="connsiteX0-1" fmla="*/ 5663714 w 5663714"/>
              <a:gd name="connsiteY0-2" fmla="*/ 4696317 h 5766012"/>
              <a:gd name="connsiteX1-3" fmla="*/ 1582805 w 5663714"/>
              <a:gd name="connsiteY1-4" fmla="*/ 5266732 h 5766012"/>
              <a:gd name="connsiteX2-5" fmla="*/ 102335 w 5663714"/>
              <a:gd name="connsiteY2-6" fmla="*/ 1465035 h 5766012"/>
              <a:gd name="connsiteX3-7" fmla="*/ 1099768 w 5663714"/>
              <a:gd name="connsiteY3-8" fmla="*/ 353 h 5766012"/>
              <a:gd name="connsiteX4-9" fmla="*/ 5663714 w 5663714"/>
              <a:gd name="connsiteY4-10" fmla="*/ 4696317 h 5766012"/>
              <a:gd name="connsiteX0-11" fmla="*/ 3446611 w 3446611"/>
              <a:gd name="connsiteY0-12" fmla="*/ 5713487 h 6276785"/>
              <a:gd name="connsiteX1-13" fmla="*/ 1542826 w 3446611"/>
              <a:gd name="connsiteY1-14" fmla="*/ 5266732 h 6276785"/>
              <a:gd name="connsiteX2-15" fmla="*/ 62356 w 3446611"/>
              <a:gd name="connsiteY2-16" fmla="*/ 1465035 h 6276785"/>
              <a:gd name="connsiteX3-17" fmla="*/ 1059789 w 3446611"/>
              <a:gd name="connsiteY3-18" fmla="*/ 353 h 6276785"/>
              <a:gd name="connsiteX4-19" fmla="*/ 3446611 w 3446611"/>
              <a:gd name="connsiteY4-20" fmla="*/ 5713487 h 6276785"/>
              <a:gd name="connsiteX0-21" fmla="*/ 4374911 w 4374911"/>
              <a:gd name="connsiteY0-22" fmla="*/ 5713134 h 6223551"/>
              <a:gd name="connsiteX1-23" fmla="*/ 2471126 w 4374911"/>
              <a:gd name="connsiteY1-24" fmla="*/ 5266379 h 6223551"/>
              <a:gd name="connsiteX2-25" fmla="*/ 41290 w 4374911"/>
              <a:gd name="connsiteY2-26" fmla="*/ 2897699 h 6223551"/>
              <a:gd name="connsiteX3-27" fmla="*/ 1988089 w 4374911"/>
              <a:gd name="connsiteY3-28" fmla="*/ 0 h 6223551"/>
              <a:gd name="connsiteX4-29" fmla="*/ 4374911 w 4374911"/>
              <a:gd name="connsiteY4-30" fmla="*/ 5713134 h 6223551"/>
              <a:gd name="connsiteX0-31" fmla="*/ 6184479 w 6184480"/>
              <a:gd name="connsiteY0-32" fmla="*/ 10159312 h 10340427"/>
              <a:gd name="connsiteX1-33" fmla="*/ 2476956 w 6184480"/>
              <a:gd name="connsiteY1-34" fmla="*/ 5266379 h 10340427"/>
              <a:gd name="connsiteX2-35" fmla="*/ 47120 w 6184480"/>
              <a:gd name="connsiteY2-36" fmla="*/ 2897699 h 10340427"/>
              <a:gd name="connsiteX3-37" fmla="*/ 1993919 w 6184480"/>
              <a:gd name="connsiteY3-38" fmla="*/ 0 h 10340427"/>
              <a:gd name="connsiteX4-39" fmla="*/ 6184479 w 6184480"/>
              <a:gd name="connsiteY4-40" fmla="*/ 10159312 h 10340427"/>
              <a:gd name="connsiteX0-41" fmla="*/ 5441704 w 5441705"/>
              <a:gd name="connsiteY0-42" fmla="*/ 10159312 h 10342076"/>
              <a:gd name="connsiteX1-43" fmla="*/ 1734181 w 5441705"/>
              <a:gd name="connsiteY1-44" fmla="*/ 5266379 h 10342076"/>
              <a:gd name="connsiteX2-45" fmla="*/ 67972 w 5441705"/>
              <a:gd name="connsiteY2-46" fmla="*/ 2573906 h 10342076"/>
              <a:gd name="connsiteX3-47" fmla="*/ 1251144 w 5441705"/>
              <a:gd name="connsiteY3-48" fmla="*/ 0 h 10342076"/>
              <a:gd name="connsiteX4-49" fmla="*/ 5441704 w 5441705"/>
              <a:gd name="connsiteY4-50" fmla="*/ 10159312 h 10342076"/>
              <a:gd name="connsiteX0-51" fmla="*/ 5420585 w 5420586"/>
              <a:gd name="connsiteY0-52" fmla="*/ 10159312 h 10342908"/>
              <a:gd name="connsiteX1-53" fmla="*/ 2365285 w 5420586"/>
              <a:gd name="connsiteY1-54" fmla="*/ 5292208 h 10342908"/>
              <a:gd name="connsiteX2-55" fmla="*/ 46853 w 5420586"/>
              <a:gd name="connsiteY2-56" fmla="*/ 2573906 h 10342908"/>
              <a:gd name="connsiteX3-57" fmla="*/ 1230025 w 5420586"/>
              <a:gd name="connsiteY3-58" fmla="*/ 0 h 10342908"/>
              <a:gd name="connsiteX4-59" fmla="*/ 5420585 w 5420586"/>
              <a:gd name="connsiteY4-60" fmla="*/ 10159312 h 10342908"/>
              <a:gd name="connsiteX0-61" fmla="*/ 4912837 w 4912838"/>
              <a:gd name="connsiteY0-62" fmla="*/ 10159312 h 10343545"/>
              <a:gd name="connsiteX1-63" fmla="*/ 1857537 w 4912838"/>
              <a:gd name="connsiteY1-64" fmla="*/ 5292208 h 10343545"/>
              <a:gd name="connsiteX2-65" fmla="*/ 215235 w 4912838"/>
              <a:gd name="connsiteY2-66" fmla="*/ 2451340 h 10343545"/>
              <a:gd name="connsiteX3-67" fmla="*/ 722277 w 4912838"/>
              <a:gd name="connsiteY3-68" fmla="*/ 0 h 10343545"/>
              <a:gd name="connsiteX4-69" fmla="*/ 4912837 w 4912838"/>
              <a:gd name="connsiteY4-70" fmla="*/ 10159312 h 10343545"/>
              <a:gd name="connsiteX0-71" fmla="*/ 4912837 w 4912838"/>
              <a:gd name="connsiteY0-72" fmla="*/ 10159312 h 10343546"/>
              <a:gd name="connsiteX1-73" fmla="*/ 1857537 w 4912838"/>
              <a:gd name="connsiteY1-74" fmla="*/ 5292208 h 10343546"/>
              <a:gd name="connsiteX2-75" fmla="*/ 215235 w 4912838"/>
              <a:gd name="connsiteY2-76" fmla="*/ 2451340 h 10343546"/>
              <a:gd name="connsiteX3-77" fmla="*/ 722277 w 4912838"/>
              <a:gd name="connsiteY3-78" fmla="*/ 0 h 10343546"/>
              <a:gd name="connsiteX4-79" fmla="*/ 4912837 w 4912838"/>
              <a:gd name="connsiteY4-80" fmla="*/ 10159312 h 10343546"/>
              <a:gd name="connsiteX0-81" fmla="*/ 4912837 w 4912838"/>
              <a:gd name="connsiteY0-82" fmla="*/ 10159312 h 10342702"/>
              <a:gd name="connsiteX1-83" fmla="*/ 2017796 w 4912838"/>
              <a:gd name="connsiteY1-84" fmla="*/ 5266178 h 10342702"/>
              <a:gd name="connsiteX2-85" fmla="*/ 215235 w 4912838"/>
              <a:gd name="connsiteY2-86" fmla="*/ 2451340 h 10342702"/>
              <a:gd name="connsiteX3-87" fmla="*/ 722277 w 4912838"/>
              <a:gd name="connsiteY3-88" fmla="*/ 0 h 10342702"/>
              <a:gd name="connsiteX4-89" fmla="*/ 4912837 w 4912838"/>
              <a:gd name="connsiteY4-90" fmla="*/ 10159312 h 10342702"/>
              <a:gd name="connsiteX0-91" fmla="*/ 6696211 w 6696212"/>
              <a:gd name="connsiteY0-92" fmla="*/ 14247518 h 14361779"/>
              <a:gd name="connsiteX1-93" fmla="*/ 2017796 w 6696212"/>
              <a:gd name="connsiteY1-94" fmla="*/ 5266178 h 14361779"/>
              <a:gd name="connsiteX2-95" fmla="*/ 215235 w 6696212"/>
              <a:gd name="connsiteY2-96" fmla="*/ 2451340 h 14361779"/>
              <a:gd name="connsiteX3-97" fmla="*/ 722277 w 6696212"/>
              <a:gd name="connsiteY3-98" fmla="*/ 0 h 14361779"/>
              <a:gd name="connsiteX4-99" fmla="*/ 6696211 w 6696212"/>
              <a:gd name="connsiteY4-100" fmla="*/ 14247518 h 14361779"/>
              <a:gd name="connsiteX0-101" fmla="*/ 6696211 w 6696212"/>
              <a:gd name="connsiteY0-102" fmla="*/ 14247518 h 14247518"/>
              <a:gd name="connsiteX1-103" fmla="*/ 2017796 w 6696212"/>
              <a:gd name="connsiteY1-104" fmla="*/ 5266178 h 14247518"/>
              <a:gd name="connsiteX2-105" fmla="*/ 215235 w 6696212"/>
              <a:gd name="connsiteY2-106" fmla="*/ 2451340 h 14247518"/>
              <a:gd name="connsiteX3-107" fmla="*/ 722277 w 6696212"/>
              <a:gd name="connsiteY3-108" fmla="*/ 0 h 14247518"/>
              <a:gd name="connsiteX4-109" fmla="*/ 6696211 w 6696212"/>
              <a:gd name="connsiteY4-110" fmla="*/ 14247518 h 14247518"/>
              <a:gd name="connsiteX0-111" fmla="*/ 7570201 w 7570202"/>
              <a:gd name="connsiteY0-112" fmla="*/ 14239742 h 14239742"/>
              <a:gd name="connsiteX1-113" fmla="*/ 2891786 w 7570202"/>
              <a:gd name="connsiteY1-114" fmla="*/ 5258402 h 14239742"/>
              <a:gd name="connsiteX2-115" fmla="*/ 1089225 w 7570202"/>
              <a:gd name="connsiteY2-116" fmla="*/ 2443564 h 14239742"/>
              <a:gd name="connsiteX3-117" fmla="*/ 488445 w 7570202"/>
              <a:gd name="connsiteY3-118" fmla="*/ 0 h 14239742"/>
              <a:gd name="connsiteX4-119" fmla="*/ 7570201 w 7570202"/>
              <a:gd name="connsiteY4-120" fmla="*/ 14239742 h 14239742"/>
              <a:gd name="connsiteX0-121" fmla="*/ 7634493 w 7634494"/>
              <a:gd name="connsiteY0-122" fmla="*/ 14239742 h 14239742"/>
              <a:gd name="connsiteX1-123" fmla="*/ 2956078 w 7634494"/>
              <a:gd name="connsiteY1-124" fmla="*/ 5258402 h 14239742"/>
              <a:gd name="connsiteX2-125" fmla="*/ 753781 w 7634494"/>
              <a:gd name="connsiteY2-126" fmla="*/ 2349752 h 14239742"/>
              <a:gd name="connsiteX3-127" fmla="*/ 552737 w 7634494"/>
              <a:gd name="connsiteY3-128" fmla="*/ 0 h 14239742"/>
              <a:gd name="connsiteX4-129" fmla="*/ 7634493 w 7634494"/>
              <a:gd name="connsiteY4-130" fmla="*/ 14239742 h 14239742"/>
              <a:gd name="connsiteX0-131" fmla="*/ 7634493 w 7634494"/>
              <a:gd name="connsiteY0-132" fmla="*/ 14239742 h 14239742"/>
              <a:gd name="connsiteX1-133" fmla="*/ 2585204 w 7634494"/>
              <a:gd name="connsiteY1-134" fmla="*/ 5326384 h 14239742"/>
              <a:gd name="connsiteX2-135" fmla="*/ 753781 w 7634494"/>
              <a:gd name="connsiteY2-136" fmla="*/ 2349752 h 14239742"/>
              <a:gd name="connsiteX3-137" fmla="*/ 552737 w 7634494"/>
              <a:gd name="connsiteY3-138" fmla="*/ 0 h 14239742"/>
              <a:gd name="connsiteX4-139" fmla="*/ 7634493 w 7634494"/>
              <a:gd name="connsiteY4-140" fmla="*/ 14239742 h 14239742"/>
              <a:gd name="connsiteX0-141" fmla="*/ 7682941 w 7682942"/>
              <a:gd name="connsiteY0-142" fmla="*/ 14239742 h 14239742"/>
              <a:gd name="connsiteX1-143" fmla="*/ 2633652 w 7682942"/>
              <a:gd name="connsiteY1-144" fmla="*/ 5326384 h 14239742"/>
              <a:gd name="connsiteX2-145" fmla="*/ 558177 w 7682942"/>
              <a:gd name="connsiteY2-146" fmla="*/ 2264291 h 14239742"/>
              <a:gd name="connsiteX3-147" fmla="*/ 601185 w 7682942"/>
              <a:gd name="connsiteY3-148" fmla="*/ 0 h 14239742"/>
              <a:gd name="connsiteX4-149" fmla="*/ 7682941 w 7682942"/>
              <a:gd name="connsiteY4-150" fmla="*/ 14239742 h 14239742"/>
              <a:gd name="connsiteX0-151" fmla="*/ 7682941 w 7682942"/>
              <a:gd name="connsiteY0-152" fmla="*/ 14239742 h 14239742"/>
              <a:gd name="connsiteX1-153" fmla="*/ 3826355 w 7682942"/>
              <a:gd name="connsiteY1-154" fmla="*/ 7737312 h 14239742"/>
              <a:gd name="connsiteX2-155" fmla="*/ 558177 w 7682942"/>
              <a:gd name="connsiteY2-156" fmla="*/ 2264291 h 14239742"/>
              <a:gd name="connsiteX3-157" fmla="*/ 601185 w 7682942"/>
              <a:gd name="connsiteY3-158" fmla="*/ 0 h 14239742"/>
              <a:gd name="connsiteX4-159" fmla="*/ 7682941 w 7682942"/>
              <a:gd name="connsiteY4-160" fmla="*/ 14239742 h 14239742"/>
              <a:gd name="connsiteX0-161" fmla="*/ 7682941 w 7682942"/>
              <a:gd name="connsiteY0-162" fmla="*/ 14239742 h 14239742"/>
              <a:gd name="connsiteX1-163" fmla="*/ 3826355 w 7682942"/>
              <a:gd name="connsiteY1-164" fmla="*/ 7737312 h 14239742"/>
              <a:gd name="connsiteX2-165" fmla="*/ 558177 w 7682942"/>
              <a:gd name="connsiteY2-166" fmla="*/ 2264291 h 14239742"/>
              <a:gd name="connsiteX3-167" fmla="*/ 601185 w 7682942"/>
              <a:gd name="connsiteY3-168" fmla="*/ 0 h 14239742"/>
              <a:gd name="connsiteX4-169" fmla="*/ 7682941 w 7682942"/>
              <a:gd name="connsiteY4-170" fmla="*/ 14239742 h 14239742"/>
              <a:gd name="connsiteX0-171" fmla="*/ 7696979 w 7696980"/>
              <a:gd name="connsiteY0-172" fmla="*/ 14239742 h 14239742"/>
              <a:gd name="connsiteX1-173" fmla="*/ 3840393 w 7696980"/>
              <a:gd name="connsiteY1-174" fmla="*/ 7737312 h 14239742"/>
              <a:gd name="connsiteX2-175" fmla="*/ 508818 w 7696980"/>
              <a:gd name="connsiteY2-176" fmla="*/ 1828490 h 14239742"/>
              <a:gd name="connsiteX3-177" fmla="*/ 615223 w 7696980"/>
              <a:gd name="connsiteY3-178" fmla="*/ 0 h 14239742"/>
              <a:gd name="connsiteX4-179" fmla="*/ 7696979 w 7696980"/>
              <a:gd name="connsiteY4-180" fmla="*/ 14239742 h 14239742"/>
              <a:gd name="connsiteX0-181" fmla="*/ 7616346 w 7616347"/>
              <a:gd name="connsiteY0-182" fmla="*/ 14239742 h 14239742"/>
              <a:gd name="connsiteX1-183" fmla="*/ 3759760 w 7616347"/>
              <a:gd name="connsiteY1-184" fmla="*/ 7737312 h 14239742"/>
              <a:gd name="connsiteX2-185" fmla="*/ 838627 w 7616347"/>
              <a:gd name="connsiteY2-186" fmla="*/ 2555598 h 14239742"/>
              <a:gd name="connsiteX3-187" fmla="*/ 534590 w 7616347"/>
              <a:gd name="connsiteY3-188" fmla="*/ 0 h 14239742"/>
              <a:gd name="connsiteX4-189" fmla="*/ 7616346 w 7616347"/>
              <a:gd name="connsiteY4-190" fmla="*/ 14239742 h 14239742"/>
              <a:gd name="connsiteX0-191" fmla="*/ 7673855 w 7673856"/>
              <a:gd name="connsiteY0-192" fmla="*/ 14239742 h 14239742"/>
              <a:gd name="connsiteX1-193" fmla="*/ 3817269 w 7673856"/>
              <a:gd name="connsiteY1-194" fmla="*/ 7737312 h 14239742"/>
              <a:gd name="connsiteX2-195" fmla="*/ 896136 w 7673856"/>
              <a:gd name="connsiteY2-196" fmla="*/ 2555598 h 14239742"/>
              <a:gd name="connsiteX3-197" fmla="*/ 592099 w 7673856"/>
              <a:gd name="connsiteY3-198" fmla="*/ 0 h 14239742"/>
              <a:gd name="connsiteX4-199" fmla="*/ 7673855 w 7673856"/>
              <a:gd name="connsiteY4-200" fmla="*/ 14239742 h 14239742"/>
              <a:gd name="connsiteX0-201" fmla="*/ 7577590 w 7577591"/>
              <a:gd name="connsiteY0-202" fmla="*/ 14197188 h 14197188"/>
              <a:gd name="connsiteX1-203" fmla="*/ 3721004 w 7577591"/>
              <a:gd name="connsiteY1-204" fmla="*/ 7694758 h 14197188"/>
              <a:gd name="connsiteX2-205" fmla="*/ 799871 w 7577591"/>
              <a:gd name="connsiteY2-206" fmla="*/ 2513044 h 14197188"/>
              <a:gd name="connsiteX3-207" fmla="*/ 618351 w 7577591"/>
              <a:gd name="connsiteY3-208" fmla="*/ 0 h 14197188"/>
              <a:gd name="connsiteX4-209" fmla="*/ 7577590 w 7577591"/>
              <a:gd name="connsiteY4-210" fmla="*/ 14197188 h 14197188"/>
              <a:gd name="connsiteX0-211" fmla="*/ 7602036 w 7602037"/>
              <a:gd name="connsiteY0-212" fmla="*/ 14260633 h 14260633"/>
              <a:gd name="connsiteX1-213" fmla="*/ 3745450 w 7602037"/>
              <a:gd name="connsiteY1-214" fmla="*/ 7758203 h 14260633"/>
              <a:gd name="connsiteX2-215" fmla="*/ 824317 w 7602037"/>
              <a:gd name="connsiteY2-216" fmla="*/ 2576489 h 14260633"/>
              <a:gd name="connsiteX3-217" fmla="*/ 611406 w 7602037"/>
              <a:gd name="connsiteY3-218" fmla="*/ 0 h 14260633"/>
              <a:gd name="connsiteX4-219" fmla="*/ 7602036 w 7602037"/>
              <a:gd name="connsiteY4-220" fmla="*/ 14260633 h 14260633"/>
              <a:gd name="connsiteX0-221" fmla="*/ 7849482 w 7849480"/>
              <a:gd name="connsiteY0-222" fmla="*/ 14248058 h 14248059"/>
              <a:gd name="connsiteX1-223" fmla="*/ 3745450 w 7849480"/>
              <a:gd name="connsiteY1-224" fmla="*/ 7758203 h 14248059"/>
              <a:gd name="connsiteX2-225" fmla="*/ 824317 w 7849480"/>
              <a:gd name="connsiteY2-226" fmla="*/ 2576489 h 14248059"/>
              <a:gd name="connsiteX3-227" fmla="*/ 611406 w 7849480"/>
              <a:gd name="connsiteY3-228" fmla="*/ 0 h 14248059"/>
              <a:gd name="connsiteX4-229" fmla="*/ 7849482 w 7849480"/>
              <a:gd name="connsiteY4-230" fmla="*/ 14248058 h 14248059"/>
              <a:gd name="connsiteX0-231" fmla="*/ 7672923 w 7672925"/>
              <a:gd name="connsiteY0-232" fmla="*/ 14292354 h 14292354"/>
              <a:gd name="connsiteX1-233" fmla="*/ 3568891 w 7672925"/>
              <a:gd name="connsiteY1-234" fmla="*/ 7802499 h 14292354"/>
              <a:gd name="connsiteX2-235" fmla="*/ 647758 w 7672925"/>
              <a:gd name="connsiteY2-236" fmla="*/ 2620785 h 14292354"/>
              <a:gd name="connsiteX3-237" fmla="*/ 666599 w 7672925"/>
              <a:gd name="connsiteY3-238" fmla="*/ -1 h 14292354"/>
              <a:gd name="connsiteX4-239" fmla="*/ 7672923 w 7672925"/>
              <a:gd name="connsiteY4-240" fmla="*/ 14292354 h 14292354"/>
              <a:gd name="connsiteX0-241" fmla="*/ 7383947 w 7383945"/>
              <a:gd name="connsiteY0-242" fmla="*/ 14274078 h 14274078"/>
              <a:gd name="connsiteX1-243" fmla="*/ 3279915 w 7383945"/>
              <a:gd name="connsiteY1-244" fmla="*/ 7784223 h 14274078"/>
              <a:gd name="connsiteX2-245" fmla="*/ 358782 w 7383945"/>
              <a:gd name="connsiteY2-246" fmla="*/ 2602509 h 14274078"/>
              <a:gd name="connsiteX3-247" fmla="*/ 795392 w 7383945"/>
              <a:gd name="connsiteY3-248" fmla="*/ 0 h 14274078"/>
              <a:gd name="connsiteX4-249" fmla="*/ 7383947 w 7383945"/>
              <a:gd name="connsiteY4-250" fmla="*/ 14274078 h 14274078"/>
              <a:gd name="connsiteX0-251" fmla="*/ 7391788 w 7391788"/>
              <a:gd name="connsiteY0-252" fmla="*/ 14252318 h 14252318"/>
              <a:gd name="connsiteX1-253" fmla="*/ 3279915 w 7391788"/>
              <a:gd name="connsiteY1-254" fmla="*/ 7784223 h 14252318"/>
              <a:gd name="connsiteX2-255" fmla="*/ 358782 w 7391788"/>
              <a:gd name="connsiteY2-256" fmla="*/ 2602509 h 14252318"/>
              <a:gd name="connsiteX3-257" fmla="*/ 795392 w 7391788"/>
              <a:gd name="connsiteY3-258" fmla="*/ 0 h 14252318"/>
              <a:gd name="connsiteX4-259" fmla="*/ 7391788 w 7391788"/>
              <a:gd name="connsiteY4-260" fmla="*/ 14252318 h 1425231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391788" h="14252318">
                <a:moveTo>
                  <a:pt x="7391788" y="14252318"/>
                </a:moveTo>
                <a:cubicBezTo>
                  <a:pt x="5360549" y="13507428"/>
                  <a:pt x="4452083" y="9725858"/>
                  <a:pt x="3279915" y="7784223"/>
                </a:cubicBezTo>
                <a:cubicBezTo>
                  <a:pt x="2107747" y="5842588"/>
                  <a:pt x="112894" y="4034223"/>
                  <a:pt x="358782" y="2602509"/>
                </a:cubicBezTo>
                <a:cubicBezTo>
                  <a:pt x="383714" y="1093286"/>
                  <a:pt x="-705930" y="0"/>
                  <a:pt x="795392" y="0"/>
                </a:cubicBezTo>
                <a:cubicBezTo>
                  <a:pt x="1588194" y="1942138"/>
                  <a:pt x="6598986" y="12310180"/>
                  <a:pt x="7391788" y="14252318"/>
                </a:cubicBezTo>
                <a:close/>
              </a:path>
            </a:pathLst>
          </a:custGeom>
          <a:solidFill>
            <a:srgbClr val="04926A">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弦形 15">
            <a:extLst>
              <a:ext uri="{FF2B5EF4-FFF2-40B4-BE49-F238E27FC236}">
                <a16:creationId xmlns:a16="http://schemas.microsoft.com/office/drawing/2014/main" id="{0F6DE748-6CE4-1A2E-7BA1-0A26667531AC}"/>
              </a:ext>
            </a:extLst>
          </p:cNvPr>
          <p:cNvSpPr/>
          <p:nvPr/>
        </p:nvSpPr>
        <p:spPr>
          <a:xfrm rot="5940571">
            <a:off x="5142867" y="556609"/>
            <a:ext cx="1974412" cy="11270860"/>
          </a:xfrm>
          <a:custGeom>
            <a:avLst/>
            <a:gdLst>
              <a:gd name="connsiteX0" fmla="*/ 5663461 w 6570110"/>
              <a:gd name="connsiteY0" fmla="*/ 5826412 h 6896013"/>
              <a:gd name="connsiteX1" fmla="*/ 1582552 w 6570110"/>
              <a:gd name="connsiteY1" fmla="*/ 6396827 h 6896013"/>
              <a:gd name="connsiteX2" fmla="*/ 102082 w 6570110"/>
              <a:gd name="connsiteY2" fmla="*/ 2595130 h 6896013"/>
              <a:gd name="connsiteX3" fmla="*/ 3285055 w 6570110"/>
              <a:gd name="connsiteY3" fmla="*/ -2 h 6896013"/>
              <a:gd name="connsiteX4" fmla="*/ 5663461 w 6570110"/>
              <a:gd name="connsiteY4" fmla="*/ 5826412 h 6896013"/>
              <a:gd name="connsiteX0-1" fmla="*/ 5663714 w 5663714"/>
              <a:gd name="connsiteY0-2" fmla="*/ 4696317 h 5766012"/>
              <a:gd name="connsiteX1-3" fmla="*/ 1582805 w 5663714"/>
              <a:gd name="connsiteY1-4" fmla="*/ 5266732 h 5766012"/>
              <a:gd name="connsiteX2-5" fmla="*/ 102335 w 5663714"/>
              <a:gd name="connsiteY2-6" fmla="*/ 1465035 h 5766012"/>
              <a:gd name="connsiteX3-7" fmla="*/ 1099768 w 5663714"/>
              <a:gd name="connsiteY3-8" fmla="*/ 353 h 5766012"/>
              <a:gd name="connsiteX4-9" fmla="*/ 5663714 w 5663714"/>
              <a:gd name="connsiteY4-10" fmla="*/ 4696317 h 5766012"/>
              <a:gd name="connsiteX0-11" fmla="*/ 3446611 w 3446611"/>
              <a:gd name="connsiteY0-12" fmla="*/ 5713487 h 6276785"/>
              <a:gd name="connsiteX1-13" fmla="*/ 1542826 w 3446611"/>
              <a:gd name="connsiteY1-14" fmla="*/ 5266732 h 6276785"/>
              <a:gd name="connsiteX2-15" fmla="*/ 62356 w 3446611"/>
              <a:gd name="connsiteY2-16" fmla="*/ 1465035 h 6276785"/>
              <a:gd name="connsiteX3-17" fmla="*/ 1059789 w 3446611"/>
              <a:gd name="connsiteY3-18" fmla="*/ 353 h 6276785"/>
              <a:gd name="connsiteX4-19" fmla="*/ 3446611 w 3446611"/>
              <a:gd name="connsiteY4-20" fmla="*/ 5713487 h 6276785"/>
              <a:gd name="connsiteX0-21" fmla="*/ 4374911 w 4374911"/>
              <a:gd name="connsiteY0-22" fmla="*/ 5713134 h 6223551"/>
              <a:gd name="connsiteX1-23" fmla="*/ 2471126 w 4374911"/>
              <a:gd name="connsiteY1-24" fmla="*/ 5266379 h 6223551"/>
              <a:gd name="connsiteX2-25" fmla="*/ 41290 w 4374911"/>
              <a:gd name="connsiteY2-26" fmla="*/ 2897699 h 6223551"/>
              <a:gd name="connsiteX3-27" fmla="*/ 1988089 w 4374911"/>
              <a:gd name="connsiteY3-28" fmla="*/ 0 h 6223551"/>
              <a:gd name="connsiteX4-29" fmla="*/ 4374911 w 4374911"/>
              <a:gd name="connsiteY4-30" fmla="*/ 5713134 h 6223551"/>
              <a:gd name="connsiteX0-31" fmla="*/ 6184479 w 6184480"/>
              <a:gd name="connsiteY0-32" fmla="*/ 10159312 h 10340427"/>
              <a:gd name="connsiteX1-33" fmla="*/ 2476956 w 6184480"/>
              <a:gd name="connsiteY1-34" fmla="*/ 5266379 h 10340427"/>
              <a:gd name="connsiteX2-35" fmla="*/ 47120 w 6184480"/>
              <a:gd name="connsiteY2-36" fmla="*/ 2897699 h 10340427"/>
              <a:gd name="connsiteX3-37" fmla="*/ 1993919 w 6184480"/>
              <a:gd name="connsiteY3-38" fmla="*/ 0 h 10340427"/>
              <a:gd name="connsiteX4-39" fmla="*/ 6184479 w 6184480"/>
              <a:gd name="connsiteY4-40" fmla="*/ 10159312 h 10340427"/>
              <a:gd name="connsiteX0-41" fmla="*/ 5441704 w 5441705"/>
              <a:gd name="connsiteY0-42" fmla="*/ 10159312 h 10342076"/>
              <a:gd name="connsiteX1-43" fmla="*/ 1734181 w 5441705"/>
              <a:gd name="connsiteY1-44" fmla="*/ 5266379 h 10342076"/>
              <a:gd name="connsiteX2-45" fmla="*/ 67972 w 5441705"/>
              <a:gd name="connsiteY2-46" fmla="*/ 2573906 h 10342076"/>
              <a:gd name="connsiteX3-47" fmla="*/ 1251144 w 5441705"/>
              <a:gd name="connsiteY3-48" fmla="*/ 0 h 10342076"/>
              <a:gd name="connsiteX4-49" fmla="*/ 5441704 w 5441705"/>
              <a:gd name="connsiteY4-50" fmla="*/ 10159312 h 10342076"/>
              <a:gd name="connsiteX0-51" fmla="*/ 5420585 w 5420586"/>
              <a:gd name="connsiteY0-52" fmla="*/ 10159312 h 10342908"/>
              <a:gd name="connsiteX1-53" fmla="*/ 2365285 w 5420586"/>
              <a:gd name="connsiteY1-54" fmla="*/ 5292208 h 10342908"/>
              <a:gd name="connsiteX2-55" fmla="*/ 46853 w 5420586"/>
              <a:gd name="connsiteY2-56" fmla="*/ 2573906 h 10342908"/>
              <a:gd name="connsiteX3-57" fmla="*/ 1230025 w 5420586"/>
              <a:gd name="connsiteY3-58" fmla="*/ 0 h 10342908"/>
              <a:gd name="connsiteX4-59" fmla="*/ 5420585 w 5420586"/>
              <a:gd name="connsiteY4-60" fmla="*/ 10159312 h 10342908"/>
              <a:gd name="connsiteX0-61" fmla="*/ 4912837 w 4912838"/>
              <a:gd name="connsiteY0-62" fmla="*/ 10159312 h 10343545"/>
              <a:gd name="connsiteX1-63" fmla="*/ 1857537 w 4912838"/>
              <a:gd name="connsiteY1-64" fmla="*/ 5292208 h 10343545"/>
              <a:gd name="connsiteX2-65" fmla="*/ 215235 w 4912838"/>
              <a:gd name="connsiteY2-66" fmla="*/ 2451340 h 10343545"/>
              <a:gd name="connsiteX3-67" fmla="*/ 722277 w 4912838"/>
              <a:gd name="connsiteY3-68" fmla="*/ 0 h 10343545"/>
              <a:gd name="connsiteX4-69" fmla="*/ 4912837 w 4912838"/>
              <a:gd name="connsiteY4-70" fmla="*/ 10159312 h 10343545"/>
              <a:gd name="connsiteX0-71" fmla="*/ 4912837 w 4912838"/>
              <a:gd name="connsiteY0-72" fmla="*/ 10159312 h 10343546"/>
              <a:gd name="connsiteX1-73" fmla="*/ 1857537 w 4912838"/>
              <a:gd name="connsiteY1-74" fmla="*/ 5292208 h 10343546"/>
              <a:gd name="connsiteX2-75" fmla="*/ 215235 w 4912838"/>
              <a:gd name="connsiteY2-76" fmla="*/ 2451340 h 10343546"/>
              <a:gd name="connsiteX3-77" fmla="*/ 722277 w 4912838"/>
              <a:gd name="connsiteY3-78" fmla="*/ 0 h 10343546"/>
              <a:gd name="connsiteX4-79" fmla="*/ 4912837 w 4912838"/>
              <a:gd name="connsiteY4-80" fmla="*/ 10159312 h 10343546"/>
              <a:gd name="connsiteX0-81" fmla="*/ 4912837 w 4912838"/>
              <a:gd name="connsiteY0-82" fmla="*/ 10159312 h 10342702"/>
              <a:gd name="connsiteX1-83" fmla="*/ 2017796 w 4912838"/>
              <a:gd name="connsiteY1-84" fmla="*/ 5266178 h 10342702"/>
              <a:gd name="connsiteX2-85" fmla="*/ 215235 w 4912838"/>
              <a:gd name="connsiteY2-86" fmla="*/ 2451340 h 10342702"/>
              <a:gd name="connsiteX3-87" fmla="*/ 722277 w 4912838"/>
              <a:gd name="connsiteY3-88" fmla="*/ 0 h 10342702"/>
              <a:gd name="connsiteX4-89" fmla="*/ 4912837 w 4912838"/>
              <a:gd name="connsiteY4-90" fmla="*/ 10159312 h 10342702"/>
              <a:gd name="connsiteX0-91" fmla="*/ 6696211 w 6696212"/>
              <a:gd name="connsiteY0-92" fmla="*/ 14247518 h 14361779"/>
              <a:gd name="connsiteX1-93" fmla="*/ 2017796 w 6696212"/>
              <a:gd name="connsiteY1-94" fmla="*/ 5266178 h 14361779"/>
              <a:gd name="connsiteX2-95" fmla="*/ 215235 w 6696212"/>
              <a:gd name="connsiteY2-96" fmla="*/ 2451340 h 14361779"/>
              <a:gd name="connsiteX3-97" fmla="*/ 722277 w 6696212"/>
              <a:gd name="connsiteY3-98" fmla="*/ 0 h 14361779"/>
              <a:gd name="connsiteX4-99" fmla="*/ 6696211 w 6696212"/>
              <a:gd name="connsiteY4-100" fmla="*/ 14247518 h 14361779"/>
              <a:gd name="connsiteX0-101" fmla="*/ 6696211 w 6696212"/>
              <a:gd name="connsiteY0-102" fmla="*/ 14247518 h 14247518"/>
              <a:gd name="connsiteX1-103" fmla="*/ 2017796 w 6696212"/>
              <a:gd name="connsiteY1-104" fmla="*/ 5266178 h 14247518"/>
              <a:gd name="connsiteX2-105" fmla="*/ 215235 w 6696212"/>
              <a:gd name="connsiteY2-106" fmla="*/ 2451340 h 14247518"/>
              <a:gd name="connsiteX3-107" fmla="*/ 722277 w 6696212"/>
              <a:gd name="connsiteY3-108" fmla="*/ 0 h 14247518"/>
              <a:gd name="connsiteX4-109" fmla="*/ 6696211 w 6696212"/>
              <a:gd name="connsiteY4-110" fmla="*/ 14247518 h 14247518"/>
              <a:gd name="connsiteX0-111" fmla="*/ 7570201 w 7570202"/>
              <a:gd name="connsiteY0-112" fmla="*/ 14239742 h 14239742"/>
              <a:gd name="connsiteX1-113" fmla="*/ 2891786 w 7570202"/>
              <a:gd name="connsiteY1-114" fmla="*/ 5258402 h 14239742"/>
              <a:gd name="connsiteX2-115" fmla="*/ 1089225 w 7570202"/>
              <a:gd name="connsiteY2-116" fmla="*/ 2443564 h 14239742"/>
              <a:gd name="connsiteX3-117" fmla="*/ 488445 w 7570202"/>
              <a:gd name="connsiteY3-118" fmla="*/ 0 h 14239742"/>
              <a:gd name="connsiteX4-119" fmla="*/ 7570201 w 7570202"/>
              <a:gd name="connsiteY4-120" fmla="*/ 14239742 h 14239742"/>
              <a:gd name="connsiteX0-121" fmla="*/ 7634493 w 7634494"/>
              <a:gd name="connsiteY0-122" fmla="*/ 14239742 h 14239742"/>
              <a:gd name="connsiteX1-123" fmla="*/ 2956078 w 7634494"/>
              <a:gd name="connsiteY1-124" fmla="*/ 5258402 h 14239742"/>
              <a:gd name="connsiteX2-125" fmla="*/ 753781 w 7634494"/>
              <a:gd name="connsiteY2-126" fmla="*/ 2349752 h 14239742"/>
              <a:gd name="connsiteX3-127" fmla="*/ 552737 w 7634494"/>
              <a:gd name="connsiteY3-128" fmla="*/ 0 h 14239742"/>
              <a:gd name="connsiteX4-129" fmla="*/ 7634493 w 7634494"/>
              <a:gd name="connsiteY4-130" fmla="*/ 14239742 h 14239742"/>
              <a:gd name="connsiteX0-131" fmla="*/ 7634493 w 7634494"/>
              <a:gd name="connsiteY0-132" fmla="*/ 14239742 h 14239742"/>
              <a:gd name="connsiteX1-133" fmla="*/ 2585204 w 7634494"/>
              <a:gd name="connsiteY1-134" fmla="*/ 5326384 h 14239742"/>
              <a:gd name="connsiteX2-135" fmla="*/ 753781 w 7634494"/>
              <a:gd name="connsiteY2-136" fmla="*/ 2349752 h 14239742"/>
              <a:gd name="connsiteX3-137" fmla="*/ 552737 w 7634494"/>
              <a:gd name="connsiteY3-138" fmla="*/ 0 h 14239742"/>
              <a:gd name="connsiteX4-139" fmla="*/ 7634493 w 7634494"/>
              <a:gd name="connsiteY4-140" fmla="*/ 14239742 h 14239742"/>
              <a:gd name="connsiteX0-141" fmla="*/ 7682941 w 7682942"/>
              <a:gd name="connsiteY0-142" fmla="*/ 14239742 h 14239742"/>
              <a:gd name="connsiteX1-143" fmla="*/ 2633652 w 7682942"/>
              <a:gd name="connsiteY1-144" fmla="*/ 5326384 h 14239742"/>
              <a:gd name="connsiteX2-145" fmla="*/ 558177 w 7682942"/>
              <a:gd name="connsiteY2-146" fmla="*/ 2264291 h 14239742"/>
              <a:gd name="connsiteX3-147" fmla="*/ 601185 w 7682942"/>
              <a:gd name="connsiteY3-148" fmla="*/ 0 h 14239742"/>
              <a:gd name="connsiteX4-149" fmla="*/ 7682941 w 7682942"/>
              <a:gd name="connsiteY4-150" fmla="*/ 14239742 h 14239742"/>
              <a:gd name="connsiteX0-151" fmla="*/ 7682941 w 7682942"/>
              <a:gd name="connsiteY0-152" fmla="*/ 14239742 h 14239742"/>
              <a:gd name="connsiteX1-153" fmla="*/ 3826355 w 7682942"/>
              <a:gd name="connsiteY1-154" fmla="*/ 7737312 h 14239742"/>
              <a:gd name="connsiteX2-155" fmla="*/ 558177 w 7682942"/>
              <a:gd name="connsiteY2-156" fmla="*/ 2264291 h 14239742"/>
              <a:gd name="connsiteX3-157" fmla="*/ 601185 w 7682942"/>
              <a:gd name="connsiteY3-158" fmla="*/ 0 h 14239742"/>
              <a:gd name="connsiteX4-159" fmla="*/ 7682941 w 7682942"/>
              <a:gd name="connsiteY4-160" fmla="*/ 14239742 h 14239742"/>
              <a:gd name="connsiteX0-161" fmla="*/ 7682941 w 7682942"/>
              <a:gd name="connsiteY0-162" fmla="*/ 14239742 h 14239742"/>
              <a:gd name="connsiteX1-163" fmla="*/ 3826355 w 7682942"/>
              <a:gd name="connsiteY1-164" fmla="*/ 7737312 h 14239742"/>
              <a:gd name="connsiteX2-165" fmla="*/ 558177 w 7682942"/>
              <a:gd name="connsiteY2-166" fmla="*/ 2264291 h 14239742"/>
              <a:gd name="connsiteX3-167" fmla="*/ 601185 w 7682942"/>
              <a:gd name="connsiteY3-168" fmla="*/ 0 h 14239742"/>
              <a:gd name="connsiteX4-169" fmla="*/ 7682941 w 7682942"/>
              <a:gd name="connsiteY4-170" fmla="*/ 14239742 h 14239742"/>
              <a:gd name="connsiteX0-171" fmla="*/ 7696979 w 7696980"/>
              <a:gd name="connsiteY0-172" fmla="*/ 14239742 h 14239742"/>
              <a:gd name="connsiteX1-173" fmla="*/ 3840393 w 7696980"/>
              <a:gd name="connsiteY1-174" fmla="*/ 7737312 h 14239742"/>
              <a:gd name="connsiteX2-175" fmla="*/ 508818 w 7696980"/>
              <a:gd name="connsiteY2-176" fmla="*/ 1828490 h 14239742"/>
              <a:gd name="connsiteX3-177" fmla="*/ 615223 w 7696980"/>
              <a:gd name="connsiteY3-178" fmla="*/ 0 h 14239742"/>
              <a:gd name="connsiteX4-179" fmla="*/ 7696979 w 7696980"/>
              <a:gd name="connsiteY4-180" fmla="*/ 14239742 h 14239742"/>
              <a:gd name="connsiteX0-181" fmla="*/ 7616346 w 7616347"/>
              <a:gd name="connsiteY0-182" fmla="*/ 14239742 h 14239742"/>
              <a:gd name="connsiteX1-183" fmla="*/ 3759760 w 7616347"/>
              <a:gd name="connsiteY1-184" fmla="*/ 7737312 h 14239742"/>
              <a:gd name="connsiteX2-185" fmla="*/ 838627 w 7616347"/>
              <a:gd name="connsiteY2-186" fmla="*/ 2555598 h 14239742"/>
              <a:gd name="connsiteX3-187" fmla="*/ 534590 w 7616347"/>
              <a:gd name="connsiteY3-188" fmla="*/ 0 h 14239742"/>
              <a:gd name="connsiteX4-189" fmla="*/ 7616346 w 7616347"/>
              <a:gd name="connsiteY4-190" fmla="*/ 14239742 h 14239742"/>
              <a:gd name="connsiteX0-191" fmla="*/ 7673855 w 7673856"/>
              <a:gd name="connsiteY0-192" fmla="*/ 14239742 h 14239742"/>
              <a:gd name="connsiteX1-193" fmla="*/ 3817269 w 7673856"/>
              <a:gd name="connsiteY1-194" fmla="*/ 7737312 h 14239742"/>
              <a:gd name="connsiteX2-195" fmla="*/ 896136 w 7673856"/>
              <a:gd name="connsiteY2-196" fmla="*/ 2555598 h 14239742"/>
              <a:gd name="connsiteX3-197" fmla="*/ 592099 w 7673856"/>
              <a:gd name="connsiteY3-198" fmla="*/ 0 h 14239742"/>
              <a:gd name="connsiteX4-199" fmla="*/ 7673855 w 7673856"/>
              <a:gd name="connsiteY4-200" fmla="*/ 14239742 h 14239742"/>
              <a:gd name="connsiteX0-201" fmla="*/ 7577590 w 7577591"/>
              <a:gd name="connsiteY0-202" fmla="*/ 14197188 h 14197188"/>
              <a:gd name="connsiteX1-203" fmla="*/ 3721004 w 7577591"/>
              <a:gd name="connsiteY1-204" fmla="*/ 7694758 h 14197188"/>
              <a:gd name="connsiteX2-205" fmla="*/ 799871 w 7577591"/>
              <a:gd name="connsiteY2-206" fmla="*/ 2513044 h 14197188"/>
              <a:gd name="connsiteX3-207" fmla="*/ 618351 w 7577591"/>
              <a:gd name="connsiteY3-208" fmla="*/ 0 h 14197188"/>
              <a:gd name="connsiteX4-209" fmla="*/ 7577590 w 7577591"/>
              <a:gd name="connsiteY4-210" fmla="*/ 14197188 h 14197188"/>
              <a:gd name="connsiteX0-211" fmla="*/ 7602036 w 7602037"/>
              <a:gd name="connsiteY0-212" fmla="*/ 14260633 h 14260633"/>
              <a:gd name="connsiteX1-213" fmla="*/ 3745450 w 7602037"/>
              <a:gd name="connsiteY1-214" fmla="*/ 7758203 h 14260633"/>
              <a:gd name="connsiteX2-215" fmla="*/ 824317 w 7602037"/>
              <a:gd name="connsiteY2-216" fmla="*/ 2576489 h 14260633"/>
              <a:gd name="connsiteX3-217" fmla="*/ 611406 w 7602037"/>
              <a:gd name="connsiteY3-218" fmla="*/ 0 h 14260633"/>
              <a:gd name="connsiteX4-219" fmla="*/ 7602036 w 7602037"/>
              <a:gd name="connsiteY4-220" fmla="*/ 14260633 h 14260633"/>
              <a:gd name="connsiteX0-221" fmla="*/ 7849482 w 7849480"/>
              <a:gd name="connsiteY0-222" fmla="*/ 14248058 h 14248059"/>
              <a:gd name="connsiteX1-223" fmla="*/ 3745450 w 7849480"/>
              <a:gd name="connsiteY1-224" fmla="*/ 7758203 h 14248059"/>
              <a:gd name="connsiteX2-225" fmla="*/ 824317 w 7849480"/>
              <a:gd name="connsiteY2-226" fmla="*/ 2576489 h 14248059"/>
              <a:gd name="connsiteX3-227" fmla="*/ 611406 w 7849480"/>
              <a:gd name="connsiteY3-228" fmla="*/ 0 h 14248059"/>
              <a:gd name="connsiteX4-229" fmla="*/ 7849482 w 7849480"/>
              <a:gd name="connsiteY4-230" fmla="*/ 14248058 h 14248059"/>
              <a:gd name="connsiteX0-231" fmla="*/ 7672923 w 7672925"/>
              <a:gd name="connsiteY0-232" fmla="*/ 14292354 h 14292354"/>
              <a:gd name="connsiteX1-233" fmla="*/ 3568891 w 7672925"/>
              <a:gd name="connsiteY1-234" fmla="*/ 7802499 h 14292354"/>
              <a:gd name="connsiteX2-235" fmla="*/ 647758 w 7672925"/>
              <a:gd name="connsiteY2-236" fmla="*/ 2620785 h 14292354"/>
              <a:gd name="connsiteX3-237" fmla="*/ 666599 w 7672925"/>
              <a:gd name="connsiteY3-238" fmla="*/ -1 h 14292354"/>
              <a:gd name="connsiteX4-239" fmla="*/ 7672923 w 7672925"/>
              <a:gd name="connsiteY4-240" fmla="*/ 14292354 h 14292354"/>
              <a:gd name="connsiteX0-241" fmla="*/ 7383947 w 7383945"/>
              <a:gd name="connsiteY0-242" fmla="*/ 14274078 h 14274078"/>
              <a:gd name="connsiteX1-243" fmla="*/ 3279915 w 7383945"/>
              <a:gd name="connsiteY1-244" fmla="*/ 7784223 h 14274078"/>
              <a:gd name="connsiteX2-245" fmla="*/ 358782 w 7383945"/>
              <a:gd name="connsiteY2-246" fmla="*/ 2602509 h 14274078"/>
              <a:gd name="connsiteX3-247" fmla="*/ 795392 w 7383945"/>
              <a:gd name="connsiteY3-248" fmla="*/ 0 h 14274078"/>
              <a:gd name="connsiteX4-249" fmla="*/ 7383947 w 7383945"/>
              <a:gd name="connsiteY4-250" fmla="*/ 14274078 h 14274078"/>
              <a:gd name="connsiteX0-251" fmla="*/ 7391788 w 7391788"/>
              <a:gd name="connsiteY0-252" fmla="*/ 14252318 h 14252318"/>
              <a:gd name="connsiteX1-253" fmla="*/ 3279915 w 7391788"/>
              <a:gd name="connsiteY1-254" fmla="*/ 7784223 h 14252318"/>
              <a:gd name="connsiteX2-255" fmla="*/ 358782 w 7391788"/>
              <a:gd name="connsiteY2-256" fmla="*/ 2602509 h 14252318"/>
              <a:gd name="connsiteX3-257" fmla="*/ 795392 w 7391788"/>
              <a:gd name="connsiteY3-258" fmla="*/ 0 h 14252318"/>
              <a:gd name="connsiteX4-259" fmla="*/ 7391788 w 7391788"/>
              <a:gd name="connsiteY4-260" fmla="*/ 14252318 h 1425231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391788" h="14252318">
                <a:moveTo>
                  <a:pt x="7391788" y="14252318"/>
                </a:moveTo>
                <a:cubicBezTo>
                  <a:pt x="5360549" y="13507428"/>
                  <a:pt x="4452083" y="9725858"/>
                  <a:pt x="3279915" y="7784223"/>
                </a:cubicBezTo>
                <a:cubicBezTo>
                  <a:pt x="2107747" y="5842588"/>
                  <a:pt x="112894" y="4034223"/>
                  <a:pt x="358782" y="2602509"/>
                </a:cubicBezTo>
                <a:cubicBezTo>
                  <a:pt x="383714" y="1093286"/>
                  <a:pt x="-705930" y="0"/>
                  <a:pt x="795392" y="0"/>
                </a:cubicBezTo>
                <a:cubicBezTo>
                  <a:pt x="1588194" y="1942138"/>
                  <a:pt x="6598986" y="12310180"/>
                  <a:pt x="7391788" y="14252318"/>
                </a:cubicBezTo>
                <a:close/>
              </a:path>
            </a:pathLst>
          </a:custGeom>
          <a:solidFill>
            <a:srgbClr val="04926A">
              <a:alpha val="1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a:extLst>
              <a:ext uri="{FF2B5EF4-FFF2-40B4-BE49-F238E27FC236}">
                <a16:creationId xmlns:a16="http://schemas.microsoft.com/office/drawing/2014/main" id="{64A949A8-7FD2-4F17-484E-85207254B2AC}"/>
              </a:ext>
            </a:extLst>
          </p:cNvPr>
          <p:cNvCxnSpPr/>
          <p:nvPr/>
        </p:nvCxnSpPr>
        <p:spPr>
          <a:xfrm>
            <a:off x="6102033" y="812165"/>
            <a:ext cx="0" cy="5472000"/>
          </a:xfrm>
          <a:prstGeom prst="line">
            <a:avLst/>
          </a:prstGeom>
          <a:ln>
            <a:solidFill>
              <a:srgbClr val="04926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 Box 105">
                <a:extLst>
                  <a:ext uri="{FF2B5EF4-FFF2-40B4-BE49-F238E27FC236}">
                    <a16:creationId xmlns:a16="http://schemas.microsoft.com/office/drawing/2014/main" id="{8BFEBB36-A165-9330-C4A8-A85AE40B4338}"/>
                  </a:ext>
                </a:extLst>
              </p:cNvPr>
              <p:cNvSpPr txBox="1">
                <a:spLocks noChangeArrowheads="1"/>
              </p:cNvSpPr>
              <p:nvPr/>
            </p:nvSpPr>
            <p:spPr bwMode="auto">
              <a:xfrm>
                <a:off x="6818699" y="1246483"/>
                <a:ext cx="3903551"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schemeClr val="tx1">
                        <a:lumMod val="95000"/>
                        <a:lumOff val="5000"/>
                      </a:schemeClr>
                    </a:solidFill>
                  </a:rPr>
                  <a:t>由两类曲面积之间的联系</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oMath>
                </a14:m>
                <a:r>
                  <a:rPr kumimoji="1" lang="zh-CN" altLang="en-US" sz="2200" b="0" dirty="0">
                    <a:solidFill>
                      <a:schemeClr val="tx1">
                        <a:lumMod val="95000"/>
                        <a:lumOff val="5000"/>
                      </a:schemeClr>
                    </a:solidFill>
                  </a:rPr>
                  <a:t> 得</a:t>
                </a:r>
              </a:p>
            </p:txBody>
          </p:sp>
        </mc:Choice>
        <mc:Fallback xmlns="">
          <p:sp>
            <p:nvSpPr>
              <p:cNvPr id="2" name="Text Box 105">
                <a:extLst>
                  <a:ext uri="{FF2B5EF4-FFF2-40B4-BE49-F238E27FC236}">
                    <a16:creationId xmlns:a16="http://schemas.microsoft.com/office/drawing/2014/main" id="{8BFEBB36-A165-9330-C4A8-A85AE40B4338}"/>
                  </a:ext>
                </a:extLst>
              </p:cNvPr>
              <p:cNvSpPr txBox="1">
                <a:spLocks noRot="1" noChangeAspect="1" noMove="1" noResize="1" noEditPoints="1" noAdjustHandles="1" noChangeArrowheads="1" noChangeShapeType="1" noTextEdit="1"/>
              </p:cNvSpPr>
              <p:nvPr/>
            </p:nvSpPr>
            <p:spPr bwMode="auto">
              <a:xfrm>
                <a:off x="6818699" y="1246483"/>
                <a:ext cx="3903551" cy="430887"/>
              </a:xfrm>
              <a:prstGeom prst="rect">
                <a:avLst/>
              </a:prstGeom>
              <a:blipFill>
                <a:blip r:embed="rId2"/>
                <a:stretch>
                  <a:fillRect l="-2031" t="-12676" b="-239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0093A3AA-92E9-2E0F-85E9-8D855120C1EA}"/>
                  </a:ext>
                </a:extLst>
              </p:cNvPr>
              <p:cNvSpPr txBox="1"/>
              <p:nvPr/>
            </p:nvSpPr>
            <p:spPr>
              <a:xfrm>
                <a:off x="1376301" y="1256546"/>
                <a:ext cx="3721100" cy="3539396"/>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pitchFamily="18" charset="0"/>
                          <a:ea typeface="黑体" panose="02010609060101010101" pitchFamily="49" charset="-122"/>
                        </a:rPr>
                        <m:t>∵</m:t>
                      </m:r>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eqArr>
                            <m:eqArr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eqArr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&amp;</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𝛼</m:t>
                                  </m:r>
                                </m:e>
                              </m:func>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sub>
                                  </m:sSub>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1+</m:t>
                                      </m:r>
                                      <m:sSubSup>
                                        <m:sSub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Sup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sub>
                                        <m:sup>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2</m:t>
                                          </m:r>
                                        </m:sup>
                                      </m:sSubSup>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sSubSup>
                                        <m:sSub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Sup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sub>
                                        <m:sup>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2</m:t>
                                          </m:r>
                                        </m:sup>
                                      </m:sSubSup>
                                    </m:e>
                                  </m:rad>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 ,</m:t>
                              </m:r>
                            </m:e>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&amp;</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𝛽</m:t>
                                  </m:r>
                                </m:e>
                              </m:func>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sub>
                                  </m:sSub>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1+</m:t>
                                      </m:r>
                                      <m:sSubSup>
                                        <m:sSub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Sup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sub>
                                        <m:sup>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2</m:t>
                                          </m:r>
                                        </m:sup>
                                      </m:sSubSup>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sSubSup>
                                        <m:sSub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Sup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sub>
                                        <m:sup>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2</m:t>
                                          </m:r>
                                        </m:sup>
                                      </m:sSubSup>
                                    </m:e>
                                  </m:rad>
                                </m:den>
                              </m:f>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m:t>
                              </m:r>
                            </m:e>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&amp;</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𝛾</m:t>
                                  </m:r>
                                </m:e>
                              </m:func>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1</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1+</m:t>
                                      </m:r>
                                      <m:sSubSup>
                                        <m:sSub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Sup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sub>
                                        <m:sup>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2</m:t>
                                          </m:r>
                                        </m:sup>
                                      </m:sSubSup>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sSubSup>
                                        <m:sSub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Sup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sub>
                                        <m:sup>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2</m:t>
                                          </m:r>
                                        </m:sup>
                                      </m:sSubSup>
                                    </m:e>
                                  </m:rad>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 ,</m:t>
                              </m:r>
                            </m:e>
                          </m:eqArr>
                        </m:e>
                      </m:d>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3" name="对象 2">
                <a:extLst>
                  <a:ext uri="{FF2B5EF4-FFF2-40B4-BE49-F238E27FC236}">
                    <a16:creationId xmlns:a16="http://schemas.microsoft.com/office/drawing/2014/main" id="{0093A3AA-92E9-2E0F-85E9-8D855120C1EA}"/>
                  </a:ext>
                </a:extLst>
              </p:cNvPr>
              <p:cNvSpPr txBox="1">
                <a:spLocks noRot="1" noChangeAspect="1" noMove="1" noResize="1" noEditPoints="1" noAdjustHandles="1" noChangeArrowheads="1" noChangeShapeType="1" noTextEdit="1"/>
              </p:cNvSpPr>
              <p:nvPr/>
            </p:nvSpPr>
            <p:spPr>
              <a:xfrm>
                <a:off x="1376301" y="1256546"/>
                <a:ext cx="3721100" cy="353939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7B0BFDCB-83A1-00E3-54CC-CB445D63E381}"/>
                  </a:ext>
                </a:extLst>
              </p:cNvPr>
              <p:cNvSpPr txBox="1"/>
              <p:nvPr/>
            </p:nvSpPr>
            <p:spPr>
              <a:xfrm>
                <a:off x="1373708" y="5035189"/>
                <a:ext cx="3331295" cy="4826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cos</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𝛽</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 −</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sub>
                      </m:sSub>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𝛾</m:t>
                          </m:r>
                        </m:e>
                      </m:func>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即</m:t>
                      </m:r>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7B0BFDCB-83A1-00E3-54CC-CB445D63E381}"/>
                  </a:ext>
                </a:extLst>
              </p:cNvPr>
              <p:cNvSpPr txBox="1">
                <a:spLocks noRot="1" noChangeAspect="1" noMove="1" noResize="1" noEditPoints="1" noAdjustHandles="1" noChangeArrowheads="1" noChangeShapeType="1" noTextEdit="1"/>
              </p:cNvSpPr>
              <p:nvPr/>
            </p:nvSpPr>
            <p:spPr>
              <a:xfrm>
                <a:off x="1373708" y="5035189"/>
                <a:ext cx="3331295" cy="482600"/>
              </a:xfrm>
              <a:prstGeom prst="rect">
                <a:avLst/>
              </a:prstGeom>
              <a:blipFill>
                <a:blip r:embed="rId4"/>
                <a:stretch>
                  <a:fillRect b="-50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AC774A01-3730-218E-7AA9-A4D31F494F19}"/>
                  </a:ext>
                </a:extLst>
              </p:cNvPr>
              <p:cNvSpPr txBox="1"/>
              <p:nvPr/>
            </p:nvSpPr>
            <p:spPr>
              <a:xfrm>
                <a:off x="6818698" y="1601512"/>
                <a:ext cx="4275614" cy="2302831"/>
              </a:xfrm>
              <a:prstGeom prst="rect">
                <a:avLst/>
              </a:prstGeom>
            </p:spPr>
            <p:txBody>
              <a:bodyPr>
                <a:normAutofit/>
              </a:bodyPr>
              <a:lstStyle/>
              <a:p>
                <a:pPr>
                  <a:lnSpc>
                    <a:spcPct val="120000"/>
                  </a:lnSpc>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e>
                      </m:nary>
                    </m:oMath>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𝛽</m:t>
                                  </m:r>
                                </m:e>
                              </m:func>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𝛾</m:t>
                                  </m:r>
                                </m:e>
                              </m:func>
                            </m:e>
                          </m:d>
                        </m:e>
                      </m:nary>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𝑆</m:t>
                      </m:r>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5" name="对象 4">
                <a:extLst>
                  <a:ext uri="{FF2B5EF4-FFF2-40B4-BE49-F238E27FC236}">
                    <a16:creationId xmlns:a16="http://schemas.microsoft.com/office/drawing/2014/main" id="{AC774A01-3730-218E-7AA9-A4D31F494F19}"/>
                  </a:ext>
                </a:extLst>
              </p:cNvPr>
              <p:cNvSpPr txBox="1">
                <a:spLocks noRot="1" noChangeAspect="1" noMove="1" noResize="1" noEditPoints="1" noAdjustHandles="1" noChangeArrowheads="1" noChangeShapeType="1" noTextEdit="1"/>
              </p:cNvSpPr>
              <p:nvPr/>
            </p:nvSpPr>
            <p:spPr>
              <a:xfrm>
                <a:off x="6818698" y="1601512"/>
                <a:ext cx="4275614" cy="230283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FDC06BD4-91B8-52D7-3D42-621CA9108B9C}"/>
                  </a:ext>
                </a:extLst>
              </p:cNvPr>
              <p:cNvSpPr txBox="1"/>
              <p:nvPr/>
            </p:nvSpPr>
            <p:spPr>
              <a:xfrm>
                <a:off x="6818699" y="3868970"/>
                <a:ext cx="3721100" cy="10033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sub>
                              </m:sSub>
                            </m:e>
                          </m:d>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e>
                      </m:nary>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6" name="对象 5">
                <a:extLst>
                  <a:ext uri="{FF2B5EF4-FFF2-40B4-BE49-F238E27FC236}">
                    <a16:creationId xmlns:a16="http://schemas.microsoft.com/office/drawing/2014/main" id="{FDC06BD4-91B8-52D7-3D42-621CA9108B9C}"/>
                  </a:ext>
                </a:extLst>
              </p:cNvPr>
              <p:cNvSpPr txBox="1">
                <a:spLocks noRot="1" noChangeAspect="1" noMove="1" noResize="1" noEditPoints="1" noAdjustHandles="1" noChangeArrowheads="1" noChangeShapeType="1" noTextEdit="1"/>
              </p:cNvSpPr>
              <p:nvPr/>
            </p:nvSpPr>
            <p:spPr>
              <a:xfrm>
                <a:off x="6818699" y="3868970"/>
                <a:ext cx="3721100" cy="10033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对象 6">
                <a:extLst>
                  <a:ext uri="{FF2B5EF4-FFF2-40B4-BE49-F238E27FC236}">
                    <a16:creationId xmlns:a16="http://schemas.microsoft.com/office/drawing/2014/main" id="{363F5786-F379-5AA1-A351-F529140FB879}"/>
                  </a:ext>
                </a:extLst>
              </p:cNvPr>
              <p:cNvSpPr txBox="1"/>
              <p:nvPr/>
            </p:nvSpPr>
            <p:spPr>
              <a:xfrm>
                <a:off x="6818699" y="5011856"/>
                <a:ext cx="4381350" cy="9144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𝑓</m:t>
                          </m:r>
                        </m:e>
                        <m:sub>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𝑦</m:t>
                          </m:r>
                        </m:sub>
                      </m:sSub>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7" name="对象 6">
                <a:extLst>
                  <a:ext uri="{FF2B5EF4-FFF2-40B4-BE49-F238E27FC236}">
                    <a16:creationId xmlns:a16="http://schemas.microsoft.com/office/drawing/2014/main" id="{363F5786-F379-5AA1-A351-F529140FB879}"/>
                  </a:ext>
                </a:extLst>
              </p:cNvPr>
              <p:cNvSpPr txBox="1">
                <a:spLocks noRot="1" noChangeAspect="1" noMove="1" noResize="1" noEditPoints="1" noAdjustHandles="1" noChangeArrowheads="1" noChangeShapeType="1" noTextEdit="1"/>
              </p:cNvSpPr>
              <p:nvPr/>
            </p:nvSpPr>
            <p:spPr>
              <a:xfrm>
                <a:off x="6818699" y="5011856"/>
                <a:ext cx="4381350" cy="914400"/>
              </a:xfrm>
              <a:prstGeom prst="rect">
                <a:avLst/>
              </a:prstGeom>
              <a:blipFill>
                <a:blip r:embed="rId7"/>
                <a:stretch>
                  <a:fillRect/>
                </a:stretch>
              </a:blipFill>
            </p:spPr>
            <p:txBody>
              <a:bodyPr/>
              <a:lstStyle/>
              <a:p>
                <a:r>
                  <a:rPr lang="zh-CN" altLang="en-US">
                    <a:noFill/>
                  </a:rPr>
                  <a:t> </a:t>
                </a:r>
              </a:p>
            </p:txBody>
          </p:sp>
        </mc:Fallback>
      </mc:AlternateContent>
      <p:sp>
        <p:nvSpPr>
          <p:cNvPr id="9" name="Line 13">
            <a:extLst>
              <a:ext uri="{FF2B5EF4-FFF2-40B4-BE49-F238E27FC236}">
                <a16:creationId xmlns:a16="http://schemas.microsoft.com/office/drawing/2014/main" id="{4602672E-4FD3-7768-8464-F382E8CF1FDE}"/>
              </a:ext>
            </a:extLst>
          </p:cNvPr>
          <p:cNvSpPr>
            <a:spLocks noChangeShapeType="1"/>
          </p:cNvSpPr>
          <p:nvPr/>
        </p:nvSpPr>
        <p:spPr bwMode="auto">
          <a:xfrm>
            <a:off x="7831309" y="4777020"/>
            <a:ext cx="1585175" cy="0"/>
          </a:xfrm>
          <a:prstGeom prst="line">
            <a:avLst/>
          </a:prstGeom>
          <a:noFill/>
          <a:ln w="25400">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6966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up)">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45A25322-CD12-9A87-F262-67E9476B70D0}"/>
              </a:ext>
            </a:extLst>
          </p:cNvPr>
          <p:cNvSpPr/>
          <p:nvPr/>
        </p:nvSpPr>
        <p:spPr>
          <a:xfrm>
            <a:off x="687388" y="660400"/>
            <a:ext cx="10817225" cy="55372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半闭框 25">
            <a:extLst>
              <a:ext uri="{FF2B5EF4-FFF2-40B4-BE49-F238E27FC236}">
                <a16:creationId xmlns:a16="http://schemas.microsoft.com/office/drawing/2014/main" id="{2C0ED7AA-DC8B-E448-E756-A07DCEA69284}"/>
              </a:ext>
            </a:extLst>
          </p:cNvPr>
          <p:cNvSpPr/>
          <p:nvPr/>
        </p:nvSpPr>
        <p:spPr>
          <a:xfrm>
            <a:off x="687324" y="6604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半闭框 26">
            <a:extLst>
              <a:ext uri="{FF2B5EF4-FFF2-40B4-BE49-F238E27FC236}">
                <a16:creationId xmlns:a16="http://schemas.microsoft.com/office/drawing/2014/main" id="{901A02CD-FF5B-4A72-A7E6-E25ECB3FA04A}"/>
              </a:ext>
            </a:extLst>
          </p:cNvPr>
          <p:cNvSpPr/>
          <p:nvPr/>
        </p:nvSpPr>
        <p:spPr>
          <a:xfrm flipH="1">
            <a:off x="10823530" y="6604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半闭框 27">
            <a:extLst>
              <a:ext uri="{FF2B5EF4-FFF2-40B4-BE49-F238E27FC236}">
                <a16:creationId xmlns:a16="http://schemas.microsoft.com/office/drawing/2014/main" id="{7820064A-3D60-D46E-A625-DFB5312986F4}"/>
              </a:ext>
            </a:extLst>
          </p:cNvPr>
          <p:cNvSpPr/>
          <p:nvPr/>
        </p:nvSpPr>
        <p:spPr>
          <a:xfrm flipV="1">
            <a:off x="687324" y="55240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半闭框 28">
            <a:extLst>
              <a:ext uri="{FF2B5EF4-FFF2-40B4-BE49-F238E27FC236}">
                <a16:creationId xmlns:a16="http://schemas.microsoft.com/office/drawing/2014/main" id="{B883F29D-8D48-8D4A-BF31-6E62215E2D35}"/>
              </a:ext>
            </a:extLst>
          </p:cNvPr>
          <p:cNvSpPr/>
          <p:nvPr/>
        </p:nvSpPr>
        <p:spPr>
          <a:xfrm flipH="1" flipV="1">
            <a:off x="10823530" y="55042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mc:AlternateContent xmlns:mc="http://schemas.openxmlformats.org/markup-compatibility/2006" xmlns:a14="http://schemas.microsoft.com/office/drawing/2010/main">
        <mc:Choice Requires="a14">
          <p:sp>
            <p:nvSpPr>
              <p:cNvPr id="2" name="对象 1">
                <a:extLst>
                  <a:ext uri="{FF2B5EF4-FFF2-40B4-BE49-F238E27FC236}">
                    <a16:creationId xmlns:a16="http://schemas.microsoft.com/office/drawing/2014/main" id="{3353628B-30CE-C171-AEEC-53AED7A6029F}"/>
                  </a:ext>
                </a:extLst>
              </p:cNvPr>
              <p:cNvSpPr txBox="1"/>
              <p:nvPr/>
            </p:nvSpPr>
            <p:spPr>
              <a:xfrm>
                <a:off x="2602305" y="941897"/>
                <a:ext cx="6960795" cy="10287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e>
                      </m:nary>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𝐷</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𝑥𝑦</m:t>
                              </m:r>
                            </m:sub>
                          </m:sSub>
                        </m:sub>
                        <m:sup/>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e>
                      </m:nary>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2" name="对象 1">
                <a:extLst>
                  <a:ext uri="{FF2B5EF4-FFF2-40B4-BE49-F238E27FC236}">
                    <a16:creationId xmlns:a16="http://schemas.microsoft.com/office/drawing/2014/main" id="{3353628B-30CE-C171-AEEC-53AED7A6029F}"/>
                  </a:ext>
                </a:extLst>
              </p:cNvPr>
              <p:cNvSpPr txBox="1">
                <a:spLocks noRot="1" noChangeAspect="1" noMove="1" noResize="1" noEditPoints="1" noAdjustHandles="1" noChangeArrowheads="1" noChangeShapeType="1" noTextEdit="1"/>
              </p:cNvSpPr>
              <p:nvPr/>
            </p:nvSpPr>
            <p:spPr>
              <a:xfrm>
                <a:off x="2602305" y="941897"/>
                <a:ext cx="6960795" cy="102870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3C60E205-9DD5-03E6-3ED6-B28CD95B0B7C}"/>
                  </a:ext>
                </a:extLst>
              </p:cNvPr>
              <p:cNvSpPr txBox="1"/>
              <p:nvPr/>
            </p:nvSpPr>
            <p:spPr>
              <a:xfrm>
                <a:off x="2602305" y="2048893"/>
                <a:ext cx="3352800" cy="740142"/>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𝐶</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𝑓</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e>
                      </m:nary>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3" name="对象 2">
                <a:extLst>
                  <a:ext uri="{FF2B5EF4-FFF2-40B4-BE49-F238E27FC236}">
                    <a16:creationId xmlns:a16="http://schemas.microsoft.com/office/drawing/2014/main" id="{3C60E205-9DD5-03E6-3ED6-B28CD95B0B7C}"/>
                  </a:ext>
                </a:extLst>
              </p:cNvPr>
              <p:cNvSpPr txBox="1">
                <a:spLocks noRot="1" noChangeAspect="1" noMove="1" noResize="1" noEditPoints="1" noAdjustHandles="1" noChangeArrowheads="1" noChangeShapeType="1" noTextEdit="1"/>
              </p:cNvSpPr>
              <p:nvPr/>
            </p:nvSpPr>
            <p:spPr>
              <a:xfrm>
                <a:off x="2602305" y="2048893"/>
                <a:ext cx="3352800" cy="74014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0D27826B-3CC8-D90E-A401-09190476EE96}"/>
                  </a:ext>
                </a:extLst>
              </p:cNvPr>
              <p:cNvSpPr txBox="1"/>
              <p:nvPr/>
            </p:nvSpPr>
            <p:spPr>
              <a:xfrm>
                <a:off x="5273215" y="2048893"/>
                <a:ext cx="2227452" cy="740142"/>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𝛤</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e>
                      </m:nary>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0D27826B-3CC8-D90E-A401-09190476EE96}"/>
                  </a:ext>
                </a:extLst>
              </p:cNvPr>
              <p:cNvSpPr txBox="1">
                <a:spLocks noRot="1" noChangeAspect="1" noMove="1" noResize="1" noEditPoints="1" noAdjustHandles="1" noChangeArrowheads="1" noChangeShapeType="1" noTextEdit="1"/>
              </p:cNvSpPr>
              <p:nvPr/>
            </p:nvSpPr>
            <p:spPr>
              <a:xfrm>
                <a:off x="5273215" y="2048893"/>
                <a:ext cx="2227452" cy="740142"/>
              </a:xfrm>
              <a:prstGeom prst="rect">
                <a:avLst/>
              </a:prstGeom>
              <a:blipFill>
                <a:blip r:embed="rId4"/>
                <a:stretch>
                  <a:fillRect/>
                </a:stretch>
              </a:blipFill>
            </p:spPr>
            <p:txBody>
              <a:bodyPr/>
              <a:lstStyle/>
              <a:p>
                <a:r>
                  <a:rPr lang="zh-CN" altLang="en-US">
                    <a:noFill/>
                  </a:rPr>
                  <a:t> </a:t>
                </a:r>
              </a:p>
            </p:txBody>
          </p:sp>
        </mc:Fallback>
      </mc:AlternateContent>
      <p:sp>
        <p:nvSpPr>
          <p:cNvPr id="5" name="Text Box 51">
            <a:extLst>
              <a:ext uri="{FF2B5EF4-FFF2-40B4-BE49-F238E27FC236}">
                <a16:creationId xmlns:a16="http://schemas.microsoft.com/office/drawing/2014/main" id="{AAD34EE7-F05D-DC43-8FDF-E94F2E87C18C}"/>
              </a:ext>
            </a:extLst>
          </p:cNvPr>
          <p:cNvSpPr txBox="1">
            <a:spLocks noChangeArrowheads="1"/>
          </p:cNvSpPr>
          <p:nvPr/>
        </p:nvSpPr>
        <p:spPr bwMode="auto">
          <a:xfrm>
            <a:off x="2611640" y="3196451"/>
            <a:ext cx="223202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kumimoji="1" lang="zh-CN" altLang="en-US" sz="2200" b="0" dirty="0">
                <a:solidFill>
                  <a:schemeClr val="tx1">
                    <a:lumMod val="95000"/>
                    <a:lumOff val="5000"/>
                  </a:schemeClr>
                </a:solidFill>
              </a:rPr>
              <a:t>这就证明了</a:t>
            </a:r>
          </a:p>
        </p:txBody>
      </p:sp>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216074C4-D48F-E0AB-B946-E6D65095707A}"/>
                  </a:ext>
                </a:extLst>
              </p:cNvPr>
              <p:cNvSpPr txBox="1"/>
              <p:nvPr/>
            </p:nvSpPr>
            <p:spPr>
              <a:xfrm>
                <a:off x="4535070" y="2959100"/>
                <a:ext cx="4137025" cy="939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𝛤</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e>
                          </m:nary>
                        </m:e>
                      </m:nary>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6" name="对象 5">
                <a:extLst>
                  <a:ext uri="{FF2B5EF4-FFF2-40B4-BE49-F238E27FC236}">
                    <a16:creationId xmlns:a16="http://schemas.microsoft.com/office/drawing/2014/main" id="{216074C4-D48F-E0AB-B946-E6D65095707A}"/>
                  </a:ext>
                </a:extLst>
              </p:cNvPr>
              <p:cNvSpPr txBox="1">
                <a:spLocks noRot="1" noChangeAspect="1" noMove="1" noResize="1" noEditPoints="1" noAdjustHandles="1" noChangeArrowheads="1" noChangeShapeType="1" noTextEdit="1"/>
              </p:cNvSpPr>
              <p:nvPr/>
            </p:nvSpPr>
            <p:spPr>
              <a:xfrm>
                <a:off x="4535070" y="2959100"/>
                <a:ext cx="4137025" cy="939800"/>
              </a:xfrm>
              <a:prstGeom prst="rect">
                <a:avLst/>
              </a:prstGeom>
              <a:blipFill>
                <a:blip r:embed="rId5"/>
                <a:stretch>
                  <a:fillRect/>
                </a:stretch>
              </a:blipFill>
            </p:spPr>
            <p:txBody>
              <a:bodyPr/>
              <a:lstStyle/>
              <a:p>
                <a:r>
                  <a:rPr lang="zh-CN" altLang="en-US">
                    <a:noFill/>
                  </a:rPr>
                  <a:t> </a:t>
                </a:r>
              </a:p>
            </p:txBody>
          </p:sp>
        </mc:Fallback>
      </mc:AlternateContent>
      <p:sp>
        <p:nvSpPr>
          <p:cNvPr id="7" name="Text Box 7">
            <a:extLst>
              <a:ext uri="{FF2B5EF4-FFF2-40B4-BE49-F238E27FC236}">
                <a16:creationId xmlns:a16="http://schemas.microsoft.com/office/drawing/2014/main" id="{C1578E32-3285-F636-5BC2-33875A0A02C7}"/>
              </a:ext>
            </a:extLst>
          </p:cNvPr>
          <p:cNvSpPr txBox="1">
            <a:spLocks noChangeArrowheads="1"/>
          </p:cNvSpPr>
          <p:nvPr/>
        </p:nvSpPr>
        <p:spPr bwMode="auto">
          <a:xfrm>
            <a:off x="2611640" y="4193035"/>
            <a:ext cx="15240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spcBef>
                <a:spcPct val="50000"/>
              </a:spcBef>
            </a:pPr>
            <a:r>
              <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rPr>
              <a:t>同理</a:t>
            </a:r>
          </a:p>
        </p:txBody>
      </p:sp>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80454A20-15BD-72E4-ED14-46986AF5E230}"/>
                  </a:ext>
                </a:extLst>
              </p:cNvPr>
              <p:cNvSpPr txBox="1"/>
              <p:nvPr/>
            </p:nvSpPr>
            <p:spPr>
              <a:xfrm>
                <a:off x="4535070" y="3963000"/>
                <a:ext cx="4137025" cy="939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e>
                      </m:nary>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𝛤</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e>
                      </m:nary>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8" name="对象 7">
                <a:extLst>
                  <a:ext uri="{FF2B5EF4-FFF2-40B4-BE49-F238E27FC236}">
                    <a16:creationId xmlns:a16="http://schemas.microsoft.com/office/drawing/2014/main" id="{80454A20-15BD-72E4-ED14-46986AF5E230}"/>
                  </a:ext>
                </a:extLst>
              </p:cNvPr>
              <p:cNvSpPr txBox="1">
                <a:spLocks noRot="1" noChangeAspect="1" noMove="1" noResize="1" noEditPoints="1" noAdjustHandles="1" noChangeArrowheads="1" noChangeShapeType="1" noTextEdit="1"/>
              </p:cNvSpPr>
              <p:nvPr/>
            </p:nvSpPr>
            <p:spPr>
              <a:xfrm>
                <a:off x="4535070" y="3963000"/>
                <a:ext cx="4137025" cy="9398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象 8">
                <a:extLst>
                  <a:ext uri="{FF2B5EF4-FFF2-40B4-BE49-F238E27FC236}">
                    <a16:creationId xmlns:a16="http://schemas.microsoft.com/office/drawing/2014/main" id="{47B48C99-0AE6-83C3-C00A-66AF1379E6E6}"/>
                  </a:ext>
                </a:extLst>
              </p:cNvPr>
              <p:cNvSpPr txBox="1"/>
              <p:nvPr/>
            </p:nvSpPr>
            <p:spPr>
              <a:xfrm>
                <a:off x="4535070" y="4966900"/>
                <a:ext cx="4106545" cy="939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den>
                          </m:f>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e>
                      </m:nary>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𝛤</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e>
                      </m:nary>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9" name="对象 8">
                <a:extLst>
                  <a:ext uri="{FF2B5EF4-FFF2-40B4-BE49-F238E27FC236}">
                    <a16:creationId xmlns:a16="http://schemas.microsoft.com/office/drawing/2014/main" id="{47B48C99-0AE6-83C3-C00A-66AF1379E6E6}"/>
                  </a:ext>
                </a:extLst>
              </p:cNvPr>
              <p:cNvSpPr txBox="1">
                <a:spLocks noRot="1" noChangeAspect="1" noMove="1" noResize="1" noEditPoints="1" noAdjustHandles="1" noChangeArrowheads="1" noChangeShapeType="1" noTextEdit="1"/>
              </p:cNvSpPr>
              <p:nvPr/>
            </p:nvSpPr>
            <p:spPr>
              <a:xfrm>
                <a:off x="4535070" y="4966900"/>
                <a:ext cx="4106545" cy="939800"/>
              </a:xfrm>
              <a:prstGeom prst="rect">
                <a:avLst/>
              </a:prstGeom>
              <a:blipFill>
                <a:blip r:embed="rId7"/>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6595D98A-9B92-17BF-C0B7-56329EA066B2}"/>
              </a:ext>
            </a:extLst>
          </p:cNvPr>
          <p:cNvSpPr txBox="1"/>
          <p:nvPr/>
        </p:nvSpPr>
        <p:spPr bwMode="auto">
          <a:xfrm>
            <a:off x="9096306" y="3178190"/>
            <a:ext cx="466794"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kumimoji="1" lang="zh-CN" altLang="en-US" sz="2200" dirty="0">
                <a:solidFill>
                  <a:srgbClr val="04926A"/>
                </a:solidFill>
                <a:latin typeface="Times New Roman" panose="02020603050405020304" pitchFamily="18" charset="0"/>
                <a:ea typeface="黑体" panose="02010609060101010101" pitchFamily="49" charset="-122"/>
              </a:rPr>
              <a:t>①</a:t>
            </a:r>
          </a:p>
        </p:txBody>
      </p:sp>
      <p:sp>
        <p:nvSpPr>
          <p:cNvPr id="11" name="文本框 10">
            <a:extLst>
              <a:ext uri="{FF2B5EF4-FFF2-40B4-BE49-F238E27FC236}">
                <a16:creationId xmlns:a16="http://schemas.microsoft.com/office/drawing/2014/main" id="{31E03743-3BD6-6451-19A8-E2E60898BA83}"/>
              </a:ext>
            </a:extLst>
          </p:cNvPr>
          <p:cNvSpPr txBox="1"/>
          <p:nvPr/>
        </p:nvSpPr>
        <p:spPr bwMode="auto">
          <a:xfrm>
            <a:off x="9096306" y="4193035"/>
            <a:ext cx="466794"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kumimoji="1" lang="zh-CN" altLang="en-US" sz="2200" dirty="0">
                <a:solidFill>
                  <a:srgbClr val="04926A"/>
                </a:solidFill>
                <a:latin typeface="Times New Roman" panose="02020603050405020304" pitchFamily="18" charset="0"/>
                <a:ea typeface="黑体" panose="02010609060101010101" pitchFamily="49" charset="-122"/>
              </a:rPr>
              <a:t>②</a:t>
            </a:r>
          </a:p>
        </p:txBody>
      </p:sp>
      <p:sp>
        <p:nvSpPr>
          <p:cNvPr id="12" name="文本框 11">
            <a:extLst>
              <a:ext uri="{FF2B5EF4-FFF2-40B4-BE49-F238E27FC236}">
                <a16:creationId xmlns:a16="http://schemas.microsoft.com/office/drawing/2014/main" id="{330D6EDC-F828-7B6E-E823-3E3B75AC6F87}"/>
              </a:ext>
            </a:extLst>
          </p:cNvPr>
          <p:cNvSpPr txBox="1"/>
          <p:nvPr/>
        </p:nvSpPr>
        <p:spPr bwMode="auto">
          <a:xfrm>
            <a:off x="9096306" y="5207880"/>
            <a:ext cx="466794"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kumimoji="1" lang="zh-CN" altLang="en-US" sz="2200" dirty="0">
                <a:solidFill>
                  <a:srgbClr val="04926A"/>
                </a:solidFill>
                <a:latin typeface="Times New Roman" panose="02020603050405020304" pitchFamily="18" charset="0"/>
                <a:ea typeface="黑体" panose="02010609060101010101" pitchFamily="49" charset="-122"/>
              </a:rPr>
              <a:t>③</a:t>
            </a:r>
          </a:p>
        </p:txBody>
      </p:sp>
    </p:spTree>
    <p:extLst>
      <p:ext uri="{BB962C8B-B14F-4D97-AF65-F5344CB8AC3E}">
        <p14:creationId xmlns:p14="http://schemas.microsoft.com/office/powerpoint/2010/main" val="233484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left)">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childTnLst>
                          </p:cTn>
                        </p:par>
                        <p:par>
                          <p:cTn id="42" fill="hold">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left)">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left)">
                                      <p:cBhvr>
                                        <p:cTn id="50" dur="500"/>
                                        <p:tgtEl>
                                          <p:spTgt spid="9"/>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wipe(left)">
                                      <p:cBhvr>
                                        <p:cTn id="5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92FC303A-AD90-8EBA-2EEE-2BF75F33562F}"/>
              </a:ext>
            </a:extLst>
          </p:cNvPr>
          <p:cNvSpPr/>
          <p:nvPr/>
        </p:nvSpPr>
        <p:spPr>
          <a:xfrm>
            <a:off x="687388" y="660400"/>
            <a:ext cx="10817225" cy="55372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半闭框 11">
            <a:extLst>
              <a:ext uri="{FF2B5EF4-FFF2-40B4-BE49-F238E27FC236}">
                <a16:creationId xmlns:a16="http://schemas.microsoft.com/office/drawing/2014/main" id="{67234373-361F-F8B5-0EAA-709E752E2CB9}"/>
              </a:ext>
            </a:extLst>
          </p:cNvPr>
          <p:cNvSpPr/>
          <p:nvPr/>
        </p:nvSpPr>
        <p:spPr>
          <a:xfrm>
            <a:off x="687324" y="6604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半闭框 12">
            <a:extLst>
              <a:ext uri="{FF2B5EF4-FFF2-40B4-BE49-F238E27FC236}">
                <a16:creationId xmlns:a16="http://schemas.microsoft.com/office/drawing/2014/main" id="{F70772CF-19F7-A04F-5BE4-A8ECE8E22EDD}"/>
              </a:ext>
            </a:extLst>
          </p:cNvPr>
          <p:cNvSpPr/>
          <p:nvPr/>
        </p:nvSpPr>
        <p:spPr>
          <a:xfrm flipH="1">
            <a:off x="10823530" y="6604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半闭框 13">
            <a:extLst>
              <a:ext uri="{FF2B5EF4-FFF2-40B4-BE49-F238E27FC236}">
                <a16:creationId xmlns:a16="http://schemas.microsoft.com/office/drawing/2014/main" id="{E143E13A-B17D-C511-ECC5-84A473F9B1E8}"/>
              </a:ext>
            </a:extLst>
          </p:cNvPr>
          <p:cNvSpPr/>
          <p:nvPr/>
        </p:nvSpPr>
        <p:spPr>
          <a:xfrm flipV="1">
            <a:off x="687324" y="55240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半闭框 14">
            <a:extLst>
              <a:ext uri="{FF2B5EF4-FFF2-40B4-BE49-F238E27FC236}">
                <a16:creationId xmlns:a16="http://schemas.microsoft.com/office/drawing/2014/main" id="{0DB2CCFA-FE17-8748-7F62-5A79BFE24B18}"/>
              </a:ext>
            </a:extLst>
          </p:cNvPr>
          <p:cNvSpPr/>
          <p:nvPr/>
        </p:nvSpPr>
        <p:spPr>
          <a:xfrm flipH="1" flipV="1">
            <a:off x="10823530" y="55042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64AAE2E0-9F75-084E-BE92-444ADD2295FE}"/>
                  </a:ext>
                </a:extLst>
              </p:cNvPr>
              <p:cNvSpPr txBox="1"/>
              <p:nvPr/>
            </p:nvSpPr>
            <p:spPr>
              <a:xfrm>
                <a:off x="1632198" y="1706236"/>
                <a:ext cx="9200857" cy="2646464"/>
              </a:xfrm>
              <a:prstGeom prst="rect">
                <a:avLst/>
              </a:prstGeom>
            </p:spPr>
            <p:txBody>
              <a:bodyPr>
                <a:noAutofit/>
              </a:bodyPr>
              <a:lstStyle/>
              <a:p>
                <a:pPr>
                  <a:lnSpc>
                    <a:spcPct val="130000"/>
                  </a:lnSpc>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200" i="1">
                              <a:solidFill>
                                <a:prstClr val="black"/>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d>
                            <m:dPr>
                              <m:ctrlPr>
                                <a:rPr kumimoji="1" lang="zh-CN" altLang="en-US" sz="2200" i="1">
                                  <a:solidFill>
                                    <a:prstClr val="black"/>
                                  </a:solidFill>
                                  <a:latin typeface="Cambria Math" panose="02040503050406030204" pitchFamily="18" charset="0"/>
                                  <a:ea typeface="黑体" panose="02010609060101010101" pitchFamily="49" charset="-122"/>
                                </a:rPr>
                              </m:ctrlPr>
                            </m:dPr>
                            <m:e>
                              <m:f>
                                <m:fPr>
                                  <m:ctrlPr>
                                    <a:rPr kumimoji="1" lang="zh-CN" altLang="en-US" sz="2200" i="1">
                                      <a:solidFill>
                                        <a:prstClr val="black"/>
                                      </a:solidFill>
                                      <a:latin typeface="Cambria Math" panose="02040503050406030204" pitchFamily="18" charset="0"/>
                                      <a:ea typeface="黑体" panose="02010609060101010101" pitchFamily="49" charset="-122"/>
                                    </a:rPr>
                                  </m:ctrlPr>
                                </m:fPr>
                                <m:num>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𝑅</m:t>
                                  </m:r>
                                </m:num>
                                <m:den>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𝑦</m:t>
                                  </m:r>
                                </m:den>
                              </m:f>
                              <m:r>
                                <a:rPr kumimoji="1" lang="zh-CN" altLang="en-US" sz="2200">
                                  <a:solidFill>
                                    <a:prstClr val="black"/>
                                  </a:solidFill>
                                  <a:latin typeface="Cambria Math" panose="02040503050406030204" pitchFamily="18" charset="0"/>
                                  <a:ea typeface="黑体" panose="02010609060101010101" pitchFamily="49" charset="-122"/>
                                </a:rPr>
                                <m:t>−</m:t>
                              </m:r>
                              <m:f>
                                <m:fPr>
                                  <m:ctrlPr>
                                    <a:rPr kumimoji="1" lang="zh-CN" altLang="en-US" sz="2200" i="1">
                                      <a:solidFill>
                                        <a:prstClr val="black"/>
                                      </a:solidFill>
                                      <a:latin typeface="Cambria Math" panose="02040503050406030204" pitchFamily="18" charset="0"/>
                                      <a:ea typeface="黑体" panose="02010609060101010101" pitchFamily="49" charset="-122"/>
                                    </a:rPr>
                                  </m:ctrlPr>
                                </m:fPr>
                                <m:num>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𝑄</m:t>
                                  </m:r>
                                </m:num>
                                <m:den>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𝑧</m:t>
                                  </m:r>
                                </m:den>
                              </m:f>
                            </m:e>
                          </m:d>
                        </m:e>
                      </m:nary>
                      <m:r>
                        <a:rPr kumimoji="1" lang="zh-CN" altLang="en-US" sz="2200">
                          <a:solidFill>
                            <a:prstClr val="black"/>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prstClr val="black"/>
                          </a:solidFill>
                          <a:latin typeface="Cambria Math" panose="02040503050406030204" pitchFamily="18" charset="0"/>
                          <a:ea typeface="黑体" panose="02010609060101010101" pitchFamily="49" charset="-122"/>
                        </a:rPr>
                        <m:t>+</m:t>
                      </m:r>
                      <m:d>
                        <m:dPr>
                          <m:ctrlPr>
                            <a:rPr kumimoji="1" lang="zh-CN" altLang="en-US" sz="2200" i="1">
                              <a:solidFill>
                                <a:prstClr val="black"/>
                              </a:solidFill>
                              <a:latin typeface="Cambria Math" panose="02040503050406030204" pitchFamily="18" charset="0"/>
                              <a:ea typeface="黑体" panose="02010609060101010101" pitchFamily="49" charset="-122"/>
                            </a:rPr>
                          </m:ctrlPr>
                        </m:dPr>
                        <m:e>
                          <m:f>
                            <m:fPr>
                              <m:ctrlPr>
                                <a:rPr kumimoji="1" lang="zh-CN" altLang="en-US" sz="2200" i="1">
                                  <a:solidFill>
                                    <a:prstClr val="black"/>
                                  </a:solidFill>
                                  <a:latin typeface="Cambria Math" panose="02040503050406030204" pitchFamily="18" charset="0"/>
                                  <a:ea typeface="黑体" panose="02010609060101010101" pitchFamily="49" charset="-122"/>
                                </a:rPr>
                              </m:ctrlPr>
                            </m:fPr>
                            <m:num>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𝑃</m:t>
                              </m:r>
                            </m:num>
                            <m:den>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𝑧</m:t>
                              </m:r>
                            </m:den>
                          </m:f>
                          <m:r>
                            <a:rPr kumimoji="1" lang="zh-CN" altLang="en-US" sz="2200">
                              <a:solidFill>
                                <a:prstClr val="black"/>
                              </a:solidFill>
                              <a:latin typeface="Cambria Math" panose="02040503050406030204" pitchFamily="18" charset="0"/>
                              <a:ea typeface="黑体" panose="02010609060101010101" pitchFamily="49" charset="-122"/>
                            </a:rPr>
                            <m:t>−</m:t>
                          </m:r>
                          <m:f>
                            <m:fPr>
                              <m:ctrlPr>
                                <a:rPr kumimoji="1" lang="zh-CN" altLang="en-US" sz="2200" i="1">
                                  <a:solidFill>
                                    <a:prstClr val="black"/>
                                  </a:solidFill>
                                  <a:latin typeface="Cambria Math" panose="02040503050406030204" pitchFamily="18" charset="0"/>
                                  <a:ea typeface="黑体" panose="02010609060101010101" pitchFamily="49" charset="-122"/>
                                </a:rPr>
                              </m:ctrlPr>
                            </m:fPr>
                            <m:num>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𝑅</m:t>
                              </m:r>
                            </m:num>
                            <m:den>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𝑥</m:t>
                              </m:r>
                            </m:den>
                          </m:f>
                        </m:e>
                      </m:d>
                      <m:r>
                        <a:rPr kumimoji="1" lang="zh-CN" altLang="en-US" sz="2200">
                          <a:solidFill>
                            <a:prstClr val="black"/>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prstClr val="black"/>
                          </a:solidFill>
                          <a:latin typeface="Cambria Math" panose="02040503050406030204" pitchFamily="18" charset="0"/>
                          <a:ea typeface="黑体" panose="02010609060101010101" pitchFamily="49" charset="-122"/>
                        </a:rPr>
                        <m:t>+</m:t>
                      </m:r>
                      <m:d>
                        <m:dPr>
                          <m:ctrlPr>
                            <a:rPr kumimoji="1" lang="zh-CN" altLang="en-US" sz="2200" i="1">
                              <a:solidFill>
                                <a:prstClr val="black"/>
                              </a:solidFill>
                              <a:latin typeface="Cambria Math" panose="02040503050406030204" pitchFamily="18" charset="0"/>
                              <a:ea typeface="黑体" panose="02010609060101010101" pitchFamily="49" charset="-122"/>
                            </a:rPr>
                          </m:ctrlPr>
                        </m:dPr>
                        <m:e>
                          <m:f>
                            <m:fPr>
                              <m:ctrlPr>
                                <a:rPr kumimoji="1" lang="zh-CN" altLang="en-US" sz="2200" i="1">
                                  <a:solidFill>
                                    <a:prstClr val="black"/>
                                  </a:solidFill>
                                  <a:latin typeface="Cambria Math" panose="02040503050406030204" pitchFamily="18" charset="0"/>
                                  <a:ea typeface="黑体" panose="02010609060101010101" pitchFamily="49" charset="-122"/>
                                </a:rPr>
                              </m:ctrlPr>
                            </m:fPr>
                            <m:num>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𝑄</m:t>
                              </m:r>
                            </m:num>
                            <m:den>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𝑥</m:t>
                              </m:r>
                            </m:den>
                          </m:f>
                          <m:r>
                            <a:rPr kumimoji="1" lang="zh-CN" altLang="en-US" sz="2200">
                              <a:solidFill>
                                <a:prstClr val="black"/>
                              </a:solidFill>
                              <a:latin typeface="Cambria Math" panose="02040503050406030204" pitchFamily="18" charset="0"/>
                              <a:ea typeface="黑体" panose="02010609060101010101" pitchFamily="49" charset="-122"/>
                            </a:rPr>
                            <m:t>−</m:t>
                          </m:r>
                          <m:f>
                            <m:fPr>
                              <m:ctrlPr>
                                <a:rPr kumimoji="1" lang="zh-CN" altLang="en-US" sz="2200" i="1">
                                  <a:solidFill>
                                    <a:prstClr val="black"/>
                                  </a:solidFill>
                                  <a:latin typeface="Cambria Math" panose="02040503050406030204" pitchFamily="18" charset="0"/>
                                  <a:ea typeface="黑体" panose="02010609060101010101" pitchFamily="49" charset="-122"/>
                                </a:rPr>
                              </m:ctrlPr>
                            </m:fPr>
                            <m:num>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𝑃</m:t>
                              </m:r>
                            </m:num>
                            <m:den>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𝑦</m:t>
                              </m:r>
                            </m:den>
                          </m:f>
                        </m:e>
                      </m:d>
                      <m:r>
                        <a:rPr kumimoji="1" lang="zh-CN" altLang="en-US" sz="2200">
                          <a:solidFill>
                            <a:prstClr val="black"/>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oMath>
                    <m:oMath xmlns:m="http://schemas.openxmlformats.org/officeDocument/2006/math">
                      <m:r>
                        <a:rPr kumimoji="1" lang="zh-CN" altLang="en-US" sz="2200">
                          <a:solidFill>
                            <a:prstClr val="black"/>
                          </a:solidFill>
                          <a:latin typeface="Cambria Math" panose="02040503050406030204" pitchFamily="18" charset="0"/>
                          <a:ea typeface="黑体" panose="02010609060101010101" pitchFamily="49" charset="-122"/>
                        </a:rPr>
                        <m:t>=</m:t>
                      </m:r>
                      <m:nary>
                        <m:naryPr>
                          <m:chr m:val="∮"/>
                          <m:supHide m:val="on"/>
                          <m:ctrlPr>
                            <a:rPr kumimoji="1" lang="zh-CN" altLang="en-US" sz="2200" i="1">
                              <a:solidFill>
                                <a:prstClr val="black"/>
                              </a:solidFill>
                              <a:latin typeface="Cambria Math" panose="02040503050406030204" pitchFamily="18" charset="0"/>
                              <a:ea typeface="黑体" panose="02010609060101010101" pitchFamily="49" charset="-122"/>
                            </a:rPr>
                          </m:ctrlPr>
                        </m:naryPr>
                        <m:sub>
                          <m:r>
                            <a:rPr kumimoji="1" lang="zh-CN" altLang="en-US" sz="2200" i="1">
                              <a:solidFill>
                                <a:prstClr val="black"/>
                              </a:solidFill>
                              <a:latin typeface="Cambria Math" panose="02040503050406030204" pitchFamily="18" charset="0"/>
                              <a:ea typeface="黑体" panose="02010609060101010101" pitchFamily="49" charset="-122"/>
                            </a:rPr>
                            <m:t>𝛤</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prstClr val="black"/>
                              </a:solidFill>
                              <a:latin typeface="Cambria Math" panose="02040503050406030204" pitchFamily="18" charset="0"/>
                              <a:ea typeface="黑体" panose="02010609060101010101" pitchFamily="49" charset="-122"/>
                            </a:rPr>
                            <m:t>.</m:t>
                          </m:r>
                        </m:e>
                      </m:nary>
                    </m:oMath>
                  </m:oMathPara>
                </a14:m>
                <a:endParaRPr kumimoji="1" lang="zh-CN" altLang="en-US" sz="2200" dirty="0">
                  <a:solidFill>
                    <a:prstClr val="black"/>
                  </a:solidFill>
                  <a:latin typeface="Times New Roman" panose="02020603050405020304" pitchFamily="18"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64AAE2E0-9F75-084E-BE92-444ADD2295FE}"/>
                  </a:ext>
                </a:extLst>
              </p:cNvPr>
              <p:cNvSpPr txBox="1">
                <a:spLocks noRot="1" noChangeAspect="1" noMove="1" noResize="1" noEditPoints="1" noAdjustHandles="1" noChangeArrowheads="1" noChangeShapeType="1" noTextEdit="1"/>
              </p:cNvSpPr>
              <p:nvPr/>
            </p:nvSpPr>
            <p:spPr>
              <a:xfrm>
                <a:off x="1632198" y="1706236"/>
                <a:ext cx="9200857" cy="2646464"/>
              </a:xfrm>
              <a:prstGeom prst="rect">
                <a:avLst/>
              </a:prstGeom>
              <a:blipFill>
                <a:blip r:embed="rId2"/>
                <a:stretch>
                  <a:fillRect/>
                </a:stretch>
              </a:blipFill>
            </p:spPr>
            <p:txBody>
              <a:bodyPr/>
              <a:lstStyle/>
              <a:p>
                <a:r>
                  <a:rPr lang="zh-CN" altLang="en-US">
                    <a:noFill/>
                  </a:rPr>
                  <a:t> </a:t>
                </a:r>
              </a:p>
            </p:txBody>
          </p:sp>
        </mc:Fallback>
      </mc:AlternateContent>
      <p:sp>
        <p:nvSpPr>
          <p:cNvPr id="2" name="Text Box 14">
            <a:extLst>
              <a:ext uri="{FF2B5EF4-FFF2-40B4-BE49-F238E27FC236}">
                <a16:creationId xmlns:a16="http://schemas.microsoft.com/office/drawing/2014/main" id="{2087F2B5-19AA-E050-C266-7AFC23B32C65}"/>
              </a:ext>
            </a:extLst>
          </p:cNvPr>
          <p:cNvSpPr txBox="1">
            <a:spLocks noChangeArrowheads="1"/>
          </p:cNvSpPr>
          <p:nvPr/>
        </p:nvSpPr>
        <p:spPr bwMode="auto">
          <a:xfrm>
            <a:off x="5904630" y="3296402"/>
            <a:ext cx="311585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kumimoji="1" lang="en-US" altLang="zh-CN" sz="2200" b="1" dirty="0">
                <a:solidFill>
                  <a:srgbClr val="1D9D79"/>
                </a:solidFill>
                <a:latin typeface="Times New Roman" panose="02020603050405020304" pitchFamily="18" charset="0"/>
                <a:ea typeface="黑体" panose="02010609060101010101" pitchFamily="49" charset="-122"/>
              </a:rPr>
              <a:t>————</a:t>
            </a:r>
            <a:r>
              <a:rPr kumimoji="1" lang="zh-CN" altLang="en-US" sz="2200" dirty="0">
                <a:solidFill>
                  <a:srgbClr val="1D9D79"/>
                </a:solidFill>
                <a:latin typeface="Times New Roman" panose="02020603050405020304" pitchFamily="18" charset="0"/>
                <a:ea typeface="黑体" panose="02010609060101010101" pitchFamily="49" charset="-122"/>
              </a:rPr>
              <a:t>斯托克斯公式</a:t>
            </a:r>
          </a:p>
        </p:txBody>
      </p:sp>
      <mc:AlternateContent xmlns:mc="http://schemas.openxmlformats.org/markup-compatibility/2006" xmlns:a14="http://schemas.microsoft.com/office/drawing/2010/main">
        <mc:Choice Requires="a14">
          <p:sp>
            <p:nvSpPr>
              <p:cNvPr id="3" name="Text Box 15">
                <a:extLst>
                  <a:ext uri="{FF2B5EF4-FFF2-40B4-BE49-F238E27FC236}">
                    <a16:creationId xmlns:a16="http://schemas.microsoft.com/office/drawing/2014/main" id="{4B083ECC-6489-C991-8836-06D83580DEDC}"/>
                  </a:ext>
                </a:extLst>
              </p:cNvPr>
              <p:cNvSpPr txBox="1">
                <a:spLocks noChangeArrowheads="1"/>
              </p:cNvSpPr>
              <p:nvPr/>
            </p:nvSpPr>
            <p:spPr bwMode="auto">
              <a:xfrm>
                <a:off x="1632198" y="1319602"/>
                <a:ext cx="2838058" cy="430887"/>
              </a:xfrm>
              <a:prstGeom prst="rect">
                <a:avLst/>
              </a:prstGeom>
              <a:noFill/>
              <a:ln>
                <a:noFill/>
              </a:ln>
              <a:effectLst/>
              <a:extLst>
                <a:ext uri="{909E8E84-426E-40DD-AFC4-6F175D3DCCD1}">
                  <a14:hiddenFill>
                    <a:solidFill>
                      <a:schemeClr val="accent1"/>
                    </a:solidFill>
                  </a14:hiddenFill>
                </a:ext>
                <a:ext uri="{91240B29-F687-4F45-9708-019B960494DF}">
                  <a14:hiddenLine w="2857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prstClr val="black"/>
                    </a:solidFill>
                    <a:latin typeface="Times New Roman" panose="02020603050405020304" pitchFamily="18" charset="0"/>
                    <a:ea typeface="黑体" panose="02010609060101010101" pitchFamily="49" charset="-122"/>
                  </a:rPr>
                  <a:t>合并以上三式得</a:t>
                </a:r>
                <a14:m>
                  <m:oMath xmlns:m="http://schemas.openxmlformats.org/officeDocument/2006/math">
                    <m:r>
                      <m:rPr>
                        <m:nor/>
                      </m:rPr>
                      <a:rPr kumimoji="1" lang="zh-CN" altLang="en-US" sz="2200" dirty="0">
                        <a:solidFill>
                          <a:schemeClr val="tx1">
                            <a:lumMod val="95000"/>
                            <a:lumOff val="5000"/>
                          </a:schemeClr>
                        </a:solidFill>
                        <a:latin typeface="Cambria Math" panose="02040503050406030204" charset="0"/>
                        <a:ea typeface="黑体" panose="02010609060101010101" pitchFamily="49" charset="-122"/>
                      </a:rPr>
                      <m:t>:</m:t>
                    </m:r>
                  </m:oMath>
                </a14:m>
                <a:endParaRPr kumimoji="1" lang="zh-CN" altLang="en-US" sz="2200" dirty="0">
                  <a:solidFill>
                    <a:prstClr val="black"/>
                  </a:solidFill>
                  <a:latin typeface="Times New Roman" panose="02020603050405020304" pitchFamily="18" charset="0"/>
                  <a:ea typeface="黑体" panose="02010609060101010101" pitchFamily="49" charset="-122"/>
                </a:endParaRPr>
              </a:p>
            </p:txBody>
          </p:sp>
        </mc:Choice>
        <mc:Fallback xmlns="">
          <p:sp>
            <p:nvSpPr>
              <p:cNvPr id="3" name="Text Box 15">
                <a:extLst>
                  <a:ext uri="{FF2B5EF4-FFF2-40B4-BE49-F238E27FC236}">
                    <a16:creationId xmlns:a16="http://schemas.microsoft.com/office/drawing/2014/main" id="{4B083ECC-6489-C991-8836-06D83580DEDC}"/>
                  </a:ext>
                </a:extLst>
              </p:cNvPr>
              <p:cNvSpPr txBox="1">
                <a:spLocks noRot="1" noChangeAspect="1" noMove="1" noResize="1" noEditPoints="1" noAdjustHandles="1" noChangeArrowheads="1" noChangeShapeType="1" noTextEdit="1"/>
              </p:cNvSpPr>
              <p:nvPr/>
            </p:nvSpPr>
            <p:spPr bwMode="auto">
              <a:xfrm>
                <a:off x="1632198" y="1319602"/>
                <a:ext cx="2838058" cy="430887"/>
              </a:xfrm>
              <a:prstGeom prst="rect">
                <a:avLst/>
              </a:prstGeom>
              <a:blipFill>
                <a:blip r:embed="rId3"/>
                <a:stretch>
                  <a:fillRect l="-2796" t="-12676" b="-239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 Box 21">
                <a:extLst>
                  <a:ext uri="{FF2B5EF4-FFF2-40B4-BE49-F238E27FC236}">
                    <a16:creationId xmlns:a16="http://schemas.microsoft.com/office/drawing/2014/main" id="{40EF7E62-B3A3-DFDB-808A-0DA3656A582E}"/>
                  </a:ext>
                </a:extLst>
              </p:cNvPr>
              <p:cNvSpPr txBox="1">
                <a:spLocks noChangeArrowheads="1"/>
              </p:cNvSpPr>
              <p:nvPr/>
            </p:nvSpPr>
            <p:spPr bwMode="auto">
              <a:xfrm>
                <a:off x="1508063" y="4614791"/>
                <a:ext cx="5625645"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prstClr val="black"/>
                    </a:solidFill>
                  </a:rPr>
                  <a:t>如果 </a:t>
                </a:r>
                <a14:m>
                  <m:oMath xmlns:m="http://schemas.openxmlformats.org/officeDocument/2006/math">
                    <m:r>
                      <a:rPr kumimoji="1" lang="zh-CN" altLang="en-US" sz="2200" i="1">
                        <a:solidFill>
                          <a:schemeClr val="tx1">
                            <a:lumMod val="95000"/>
                            <a:lumOff val="5000"/>
                          </a:schemeClr>
                        </a:solidFill>
                        <a:latin typeface="Cambria Math" panose="02040503050406030204" pitchFamily="18" charset="0"/>
                      </a:rPr>
                      <m:t>𝛴</m:t>
                    </m:r>
                  </m:oMath>
                </a14:m>
                <a:r>
                  <a:rPr kumimoji="1" lang="zh-CN" altLang="en-US" sz="2200" b="0" dirty="0">
                    <a:solidFill>
                      <a:prstClr val="black"/>
                    </a:solidFill>
                    <a:sym typeface="Symbol" panose="05050102010706020507" pitchFamily="18" charset="2"/>
                  </a:rPr>
                  <a:t> 取下侧</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r>
                      <a:rPr kumimoji="1" lang="en-US" altLang="zh-CN" sz="2200" b="1" i="1" smtClean="0">
                        <a:solidFill>
                          <a:schemeClr val="tx1">
                            <a:lumMod val="95000"/>
                            <a:lumOff val="5000"/>
                          </a:schemeClr>
                        </a:solidFill>
                        <a:latin typeface="Cambria Math" panose="02040503050406030204" pitchFamily="18" charset="0"/>
                      </a:rPr>
                      <m:t>  </m:t>
                    </m:r>
                    <m:r>
                      <a:rPr kumimoji="1" lang="zh-CN" altLang="en-US" sz="2200" i="1">
                        <a:solidFill>
                          <a:prstClr val="black"/>
                        </a:solidFill>
                        <a:latin typeface="Cambria Math" panose="02040503050406030204" pitchFamily="18" charset="0"/>
                      </a:rPr>
                      <m:t>𝛤</m:t>
                    </m:r>
                  </m:oMath>
                </a14:m>
                <a:r>
                  <a:rPr kumimoji="1" lang="zh-CN" altLang="en-US" sz="2200" b="0" dirty="0">
                    <a:solidFill>
                      <a:prstClr val="black"/>
                    </a:solidFill>
                    <a:sym typeface="Symbol" panose="05050102010706020507" pitchFamily="18" charset="2"/>
                  </a:rPr>
                  <a:t> 也相应的改成相反的方向</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oMath>
                </a14:m>
                <a:endParaRPr kumimoji="1" lang="en-US" altLang="zh-CN" sz="2200" b="0" dirty="0">
                  <a:solidFill>
                    <a:prstClr val="black"/>
                  </a:solidFill>
                  <a:sym typeface="Symbol" panose="05050102010706020507" pitchFamily="18" charset="2"/>
                </a:endParaRPr>
              </a:p>
            </p:txBody>
          </p:sp>
        </mc:Choice>
        <mc:Fallback xmlns="">
          <p:sp>
            <p:nvSpPr>
              <p:cNvPr id="5" name="Text Box 21">
                <a:extLst>
                  <a:ext uri="{FF2B5EF4-FFF2-40B4-BE49-F238E27FC236}">
                    <a16:creationId xmlns:a16="http://schemas.microsoft.com/office/drawing/2014/main" id="{40EF7E62-B3A3-DFDB-808A-0DA3656A582E}"/>
                  </a:ext>
                </a:extLst>
              </p:cNvPr>
              <p:cNvSpPr txBox="1">
                <a:spLocks noRot="1" noChangeAspect="1" noMove="1" noResize="1" noEditPoints="1" noAdjustHandles="1" noChangeArrowheads="1" noChangeShapeType="1" noTextEdit="1"/>
              </p:cNvSpPr>
              <p:nvPr/>
            </p:nvSpPr>
            <p:spPr bwMode="auto">
              <a:xfrm>
                <a:off x="1508063" y="4614791"/>
                <a:ext cx="5625645" cy="430887"/>
              </a:xfrm>
              <a:prstGeom prst="rect">
                <a:avLst/>
              </a:prstGeom>
              <a:blipFill>
                <a:blip r:embed="rId4"/>
                <a:stretch>
                  <a:fillRect l="-1408" t="-14085" b="-239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Line 23">
            <a:extLst>
              <a:ext uri="{FF2B5EF4-FFF2-40B4-BE49-F238E27FC236}">
                <a16:creationId xmlns:a16="http://schemas.microsoft.com/office/drawing/2014/main" id="{32DEDD85-8735-6E6A-1E94-720700E72DBF}"/>
              </a:ext>
            </a:extLst>
          </p:cNvPr>
          <p:cNvSpPr>
            <a:spLocks noChangeShapeType="1"/>
          </p:cNvSpPr>
          <p:nvPr/>
        </p:nvSpPr>
        <p:spPr bwMode="auto">
          <a:xfrm>
            <a:off x="1608365" y="4325714"/>
            <a:ext cx="8950260" cy="0"/>
          </a:xfrm>
          <a:prstGeom prst="line">
            <a:avLst/>
          </a:prstGeom>
          <a:noFill/>
          <a:ln w="19050">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7" name="Text Box 24">
                <a:extLst>
                  <a:ext uri="{FF2B5EF4-FFF2-40B4-BE49-F238E27FC236}">
                    <a16:creationId xmlns:a16="http://schemas.microsoft.com/office/drawing/2014/main" id="{E4D6A72D-8F96-65E8-5227-64C0A01FE5DD}"/>
                  </a:ext>
                </a:extLst>
              </p:cNvPr>
              <p:cNvSpPr txBox="1">
                <a:spLocks noChangeArrowheads="1"/>
              </p:cNvSpPr>
              <p:nvPr/>
            </p:nvSpPr>
            <p:spPr bwMode="auto">
              <a:xfrm>
                <a:off x="6895646" y="4603678"/>
                <a:ext cx="885825"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kumimoji="1" lang="zh-CN" altLang="en-US" sz="2200" b="0" dirty="0">
                    <a:solidFill>
                      <a:prstClr val="black"/>
                    </a:solidFill>
                  </a:rPr>
                  <a:t>此时</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oMath>
                </a14:m>
                <a:endParaRPr kumimoji="1" lang="zh-CN" altLang="en-US" sz="2200" b="0" dirty="0">
                  <a:solidFill>
                    <a:prstClr val="black"/>
                  </a:solidFill>
                </a:endParaRPr>
              </a:p>
            </p:txBody>
          </p:sp>
        </mc:Choice>
        <mc:Fallback xmlns="">
          <p:sp>
            <p:nvSpPr>
              <p:cNvPr id="7" name="Text Box 24">
                <a:extLst>
                  <a:ext uri="{FF2B5EF4-FFF2-40B4-BE49-F238E27FC236}">
                    <a16:creationId xmlns:a16="http://schemas.microsoft.com/office/drawing/2014/main" id="{E4D6A72D-8F96-65E8-5227-64C0A01FE5DD}"/>
                  </a:ext>
                </a:extLst>
              </p:cNvPr>
              <p:cNvSpPr txBox="1">
                <a:spLocks noRot="1" noChangeAspect="1" noMove="1" noResize="1" noEditPoints="1" noAdjustHandles="1" noChangeArrowheads="1" noChangeShapeType="1" noTextEdit="1"/>
              </p:cNvSpPr>
              <p:nvPr/>
            </p:nvSpPr>
            <p:spPr bwMode="auto">
              <a:xfrm>
                <a:off x="6895646" y="4603678"/>
                <a:ext cx="885825" cy="430887"/>
              </a:xfrm>
              <a:prstGeom prst="rect">
                <a:avLst/>
              </a:prstGeom>
              <a:blipFill>
                <a:blip r:embed="rId5"/>
                <a:stretch>
                  <a:fillRect l="-8966" t="-14085" b="-239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 Box 25">
                <a:extLst>
                  <a:ext uri="{FF2B5EF4-FFF2-40B4-BE49-F238E27FC236}">
                    <a16:creationId xmlns:a16="http://schemas.microsoft.com/office/drawing/2014/main" id="{0606201E-6039-F1D4-93B5-9150292B33E8}"/>
                  </a:ext>
                </a:extLst>
              </p:cNvPr>
              <p:cNvSpPr txBox="1">
                <a:spLocks noChangeArrowheads="1"/>
              </p:cNvSpPr>
              <p:nvPr/>
            </p:nvSpPr>
            <p:spPr bwMode="auto">
              <a:xfrm>
                <a:off x="1508063" y="5283128"/>
                <a:ext cx="5140387"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pPr>
                  <a:spcBef>
                    <a:spcPct val="50000"/>
                  </a:spcBef>
                </a:pPr>
                <a:r>
                  <a:rPr lang="zh-CN" altLang="en-US" sz="2200" b="0" dirty="0"/>
                  <a:t>上式两端同时改变符号</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oMath>
                </a14:m>
                <a:r>
                  <a:rPr lang="zh-CN" altLang="en-US" sz="2200" b="0" dirty="0"/>
                  <a:t>等式仍然成立</a:t>
                </a:r>
                <a14:m>
                  <m:oMath xmlns:m="http://schemas.openxmlformats.org/officeDocument/2006/math">
                    <m:r>
                      <a:rPr kumimoji="1" lang="zh-CN" altLang="en-US" sz="2200">
                        <a:solidFill>
                          <a:prstClr val="black"/>
                        </a:solidFill>
                        <a:latin typeface="Cambria Math" panose="02040503050406030204" pitchFamily="18" charset="0"/>
                      </a:rPr>
                      <m:t>.</m:t>
                    </m:r>
                  </m:oMath>
                </a14:m>
                <a:endParaRPr lang="en-US" altLang="zh-CN" sz="2200" b="0" dirty="0"/>
              </a:p>
            </p:txBody>
          </p:sp>
        </mc:Choice>
        <mc:Fallback xmlns="">
          <p:sp>
            <p:nvSpPr>
              <p:cNvPr id="8" name="Text Box 25">
                <a:extLst>
                  <a:ext uri="{FF2B5EF4-FFF2-40B4-BE49-F238E27FC236}">
                    <a16:creationId xmlns:a16="http://schemas.microsoft.com/office/drawing/2014/main" id="{0606201E-6039-F1D4-93B5-9150292B33E8}"/>
                  </a:ext>
                </a:extLst>
              </p:cNvPr>
              <p:cNvSpPr txBox="1">
                <a:spLocks noRot="1" noChangeAspect="1" noMove="1" noResize="1" noEditPoints="1" noAdjustHandles="1" noChangeArrowheads="1" noChangeShapeType="1" noTextEdit="1"/>
              </p:cNvSpPr>
              <p:nvPr/>
            </p:nvSpPr>
            <p:spPr bwMode="auto">
              <a:xfrm>
                <a:off x="1508063" y="5283128"/>
                <a:ext cx="5140387" cy="430887"/>
              </a:xfrm>
              <a:prstGeom prst="rect">
                <a:avLst/>
              </a:prstGeom>
              <a:blipFill>
                <a:blip r:embed="rId6"/>
                <a:stretch>
                  <a:fillRect l="-1540" t="-14286"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17003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3" grpId="0"/>
      <p:bldP spid="5" grpId="0"/>
      <p:bldP spid="6" grpId="0" animBg="1"/>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3755CE7A-19B3-31FB-5B83-5F459E5EB00A}"/>
              </a:ext>
            </a:extLst>
          </p:cNvPr>
          <p:cNvSpPr/>
          <p:nvPr/>
        </p:nvSpPr>
        <p:spPr>
          <a:xfrm>
            <a:off x="687388" y="660400"/>
            <a:ext cx="10817225" cy="55372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半闭框 22">
            <a:extLst>
              <a:ext uri="{FF2B5EF4-FFF2-40B4-BE49-F238E27FC236}">
                <a16:creationId xmlns:a16="http://schemas.microsoft.com/office/drawing/2014/main" id="{34E02B6F-D678-D658-6FDD-C8DACAA5C97C}"/>
              </a:ext>
            </a:extLst>
          </p:cNvPr>
          <p:cNvSpPr/>
          <p:nvPr/>
        </p:nvSpPr>
        <p:spPr>
          <a:xfrm>
            <a:off x="687324" y="6604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半闭框 23">
            <a:extLst>
              <a:ext uri="{FF2B5EF4-FFF2-40B4-BE49-F238E27FC236}">
                <a16:creationId xmlns:a16="http://schemas.microsoft.com/office/drawing/2014/main" id="{6BC44500-29A2-1A11-8D23-DEC3250F66B6}"/>
              </a:ext>
            </a:extLst>
          </p:cNvPr>
          <p:cNvSpPr/>
          <p:nvPr/>
        </p:nvSpPr>
        <p:spPr>
          <a:xfrm flipH="1">
            <a:off x="10823530" y="6604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半闭框 24">
            <a:extLst>
              <a:ext uri="{FF2B5EF4-FFF2-40B4-BE49-F238E27FC236}">
                <a16:creationId xmlns:a16="http://schemas.microsoft.com/office/drawing/2014/main" id="{9E3CC1A9-DEC5-9D35-83B2-0F0EC22E72B7}"/>
              </a:ext>
            </a:extLst>
          </p:cNvPr>
          <p:cNvSpPr/>
          <p:nvPr/>
        </p:nvSpPr>
        <p:spPr>
          <a:xfrm flipV="1">
            <a:off x="687324" y="55240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半闭框 25">
            <a:extLst>
              <a:ext uri="{FF2B5EF4-FFF2-40B4-BE49-F238E27FC236}">
                <a16:creationId xmlns:a16="http://schemas.microsoft.com/office/drawing/2014/main" id="{2E7529A4-687A-AAD1-D5A1-F965AB8B9FE6}"/>
              </a:ext>
            </a:extLst>
          </p:cNvPr>
          <p:cNvSpPr/>
          <p:nvPr/>
        </p:nvSpPr>
        <p:spPr>
          <a:xfrm flipH="1" flipV="1">
            <a:off x="10823530" y="55042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mc:AlternateContent xmlns:mc="http://schemas.openxmlformats.org/markup-compatibility/2006" xmlns:a14="http://schemas.microsoft.com/office/drawing/2010/main">
        <mc:Choice Requires="a14">
          <p:sp>
            <p:nvSpPr>
              <p:cNvPr id="2" name="Text Box 6">
                <a:extLst>
                  <a:ext uri="{FF2B5EF4-FFF2-40B4-BE49-F238E27FC236}">
                    <a16:creationId xmlns:a16="http://schemas.microsoft.com/office/drawing/2014/main" id="{3A29FCEB-DB7E-39F6-BBC3-44A8BC252EE8}"/>
                  </a:ext>
                </a:extLst>
              </p:cNvPr>
              <p:cNvSpPr txBox="1">
                <a:spLocks noChangeArrowheads="1"/>
              </p:cNvSpPr>
              <p:nvPr/>
            </p:nvSpPr>
            <p:spPr bwMode="auto">
              <a:xfrm>
                <a:off x="2486598" y="2614541"/>
                <a:ext cx="7287087"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r>
                  <a:rPr kumimoji="1" lang="zh-CN" altLang="en-US" sz="2200" b="0" dirty="0">
                    <a:solidFill>
                      <a:schemeClr val="tx1">
                        <a:lumMod val="95000"/>
                        <a:lumOff val="5000"/>
                      </a:schemeClr>
                    </a:solidFill>
                  </a:rPr>
                  <a:t>此时可通过作辅助线把</a:t>
                </a:r>
                <a14:m>
                  <m:oMath xmlns:m="http://schemas.openxmlformats.org/officeDocument/2006/math">
                    <m:r>
                      <a:rPr kumimoji="1" lang="en-US" altLang="zh-CN" sz="2200" b="0" i="0" smtClean="0">
                        <a:solidFill>
                          <a:schemeClr val="tx1">
                            <a:lumMod val="95000"/>
                            <a:lumOff val="5000"/>
                          </a:schemeClr>
                        </a:solidFill>
                        <a:latin typeface="Cambria Math" panose="02040503050406030204" pitchFamily="18" charset="0"/>
                      </a:rPr>
                      <m:t> </m:t>
                    </m:r>
                    <m:r>
                      <a:rPr kumimoji="1" lang="zh-CN" altLang="en-US" sz="2200" i="1">
                        <a:solidFill>
                          <a:schemeClr val="tx1">
                            <a:lumMod val="95000"/>
                            <a:lumOff val="5000"/>
                          </a:schemeClr>
                        </a:solidFill>
                        <a:latin typeface="Cambria Math" panose="02040503050406030204" pitchFamily="18" charset="0"/>
                      </a:rPr>
                      <m:t>𝛴</m:t>
                    </m:r>
                  </m:oMath>
                </a14:m>
                <a:r>
                  <a:rPr kumimoji="1" lang="zh-CN" altLang="en-US" sz="2200" b="0" dirty="0">
                    <a:solidFill>
                      <a:schemeClr val="tx1">
                        <a:lumMod val="95000"/>
                        <a:lumOff val="5000"/>
                      </a:schemeClr>
                    </a:solidFill>
                  </a:rPr>
                  <a:t> 分成与</a:t>
                </a:r>
                <a14:m>
                  <m:oMath xmlns:m="http://schemas.openxmlformats.org/officeDocument/2006/math">
                    <m:r>
                      <a:rPr kumimoji="1" lang="en-US" altLang="zh-CN" sz="2200" b="0" i="0" smtClean="0">
                        <a:solidFill>
                          <a:schemeClr val="tx1">
                            <a:lumMod val="95000"/>
                            <a:lumOff val="5000"/>
                          </a:schemeClr>
                        </a:solidFill>
                        <a:latin typeface="Cambria Math" panose="02040503050406030204" pitchFamily="18" charset="0"/>
                      </a:rPr>
                      <m:t> </m:t>
                    </m:r>
                    <m:r>
                      <a:rPr kumimoji="1" lang="zh-CN" altLang="en-US" sz="2200">
                        <a:solidFill>
                          <a:schemeClr val="tx1">
                            <a:lumMod val="95000"/>
                            <a:lumOff val="5000"/>
                          </a:schemeClr>
                        </a:solidFill>
                        <a:latin typeface="Cambria Math" panose="02040503050406030204" pitchFamily="18" charset="0"/>
                      </a:rPr>
                      <m:t>𝑧</m:t>
                    </m:r>
                  </m:oMath>
                </a14:m>
                <a:r>
                  <a:rPr kumimoji="1" lang="zh-CN" altLang="en-US" sz="2200" b="0" dirty="0">
                    <a:solidFill>
                      <a:schemeClr val="tx1">
                        <a:lumMod val="95000"/>
                        <a:lumOff val="5000"/>
                      </a:schemeClr>
                    </a:solidFill>
                  </a:rPr>
                  <a:t> 轴只交于一点的几部分</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oMath>
                </a14:m>
                <a:endParaRPr kumimoji="1" lang="en-US" altLang="zh-CN" sz="2200" b="0" dirty="0">
                  <a:solidFill>
                    <a:schemeClr val="tx1">
                      <a:lumMod val="95000"/>
                      <a:lumOff val="5000"/>
                    </a:schemeClr>
                  </a:solidFill>
                </a:endParaRPr>
              </a:p>
            </p:txBody>
          </p:sp>
        </mc:Choice>
        <mc:Fallback xmlns="">
          <p:sp>
            <p:nvSpPr>
              <p:cNvPr id="2" name="Text Box 6">
                <a:extLst>
                  <a:ext uri="{FF2B5EF4-FFF2-40B4-BE49-F238E27FC236}">
                    <a16:creationId xmlns:a16="http://schemas.microsoft.com/office/drawing/2014/main" id="{3A29FCEB-DB7E-39F6-BBC3-44A8BC252EE8}"/>
                  </a:ext>
                </a:extLst>
              </p:cNvPr>
              <p:cNvSpPr txBox="1">
                <a:spLocks noRot="1" noChangeAspect="1" noMove="1" noResize="1" noEditPoints="1" noAdjustHandles="1" noChangeArrowheads="1" noChangeShapeType="1" noTextEdit="1"/>
              </p:cNvSpPr>
              <p:nvPr/>
            </p:nvSpPr>
            <p:spPr bwMode="auto">
              <a:xfrm>
                <a:off x="2486598" y="2614541"/>
                <a:ext cx="7287087" cy="430887"/>
              </a:xfrm>
              <a:prstGeom prst="rect">
                <a:avLst/>
              </a:prstGeom>
              <a:blipFill>
                <a:blip r:embed="rId2"/>
                <a:stretch>
                  <a:fillRect l="-1088" t="-14085" b="-225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 Box 7">
                <a:extLst>
                  <a:ext uri="{FF2B5EF4-FFF2-40B4-BE49-F238E27FC236}">
                    <a16:creationId xmlns:a16="http://schemas.microsoft.com/office/drawing/2014/main" id="{5D7C880A-48DA-F6AE-3B13-E1273D119F80}"/>
                  </a:ext>
                </a:extLst>
              </p:cNvPr>
              <p:cNvSpPr txBox="1">
                <a:spLocks noChangeArrowheads="1"/>
              </p:cNvSpPr>
              <p:nvPr/>
            </p:nvSpPr>
            <p:spPr bwMode="auto">
              <a:xfrm>
                <a:off x="2486598" y="3376079"/>
                <a:ext cx="5667446"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r>
                  <a:rPr kumimoji="1" lang="zh-CN" altLang="en-US" sz="2200" b="0" dirty="0">
                    <a:solidFill>
                      <a:schemeClr val="tx1">
                        <a:lumMod val="95000"/>
                        <a:lumOff val="5000"/>
                      </a:schemeClr>
                    </a:solidFill>
                  </a:rPr>
                  <a:t>在每一部分上应用斯托克斯公式</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oMath>
                </a14:m>
                <a:r>
                  <a:rPr kumimoji="1" lang="zh-CN" altLang="en-US" sz="2200" b="0" dirty="0">
                    <a:solidFill>
                      <a:schemeClr val="tx1">
                        <a:lumMod val="95000"/>
                        <a:lumOff val="5000"/>
                      </a:schemeClr>
                    </a:solidFill>
                  </a:rPr>
                  <a:t> 然后相加</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oMath>
                </a14:m>
                <a:endParaRPr kumimoji="1" lang="en-US" altLang="zh-CN" sz="2200" b="0" dirty="0">
                  <a:solidFill>
                    <a:schemeClr val="tx1">
                      <a:lumMod val="95000"/>
                      <a:lumOff val="5000"/>
                    </a:schemeClr>
                  </a:solidFill>
                </a:endParaRPr>
              </a:p>
            </p:txBody>
          </p:sp>
        </mc:Choice>
        <mc:Fallback xmlns="">
          <p:sp>
            <p:nvSpPr>
              <p:cNvPr id="3" name="Text Box 7">
                <a:extLst>
                  <a:ext uri="{FF2B5EF4-FFF2-40B4-BE49-F238E27FC236}">
                    <a16:creationId xmlns:a16="http://schemas.microsoft.com/office/drawing/2014/main" id="{5D7C880A-48DA-F6AE-3B13-E1273D119F80}"/>
                  </a:ext>
                </a:extLst>
              </p:cNvPr>
              <p:cNvSpPr txBox="1">
                <a:spLocks noRot="1" noChangeAspect="1" noMove="1" noResize="1" noEditPoints="1" noAdjustHandles="1" noChangeArrowheads="1" noChangeShapeType="1" noTextEdit="1"/>
              </p:cNvSpPr>
              <p:nvPr/>
            </p:nvSpPr>
            <p:spPr bwMode="auto">
              <a:xfrm>
                <a:off x="2486598" y="3376079"/>
                <a:ext cx="5667446" cy="430887"/>
              </a:xfrm>
              <a:prstGeom prst="rect">
                <a:avLst/>
              </a:prstGeom>
              <a:blipFill>
                <a:blip r:embed="rId3"/>
                <a:stretch>
                  <a:fillRect l="-1398" t="-14085" b="-225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4" name="Text Box 8">
            <a:extLst>
              <a:ext uri="{FF2B5EF4-FFF2-40B4-BE49-F238E27FC236}">
                <a16:creationId xmlns:a16="http://schemas.microsoft.com/office/drawing/2014/main" id="{82B30694-006D-2163-58B4-0EC53C01D264}"/>
              </a:ext>
            </a:extLst>
          </p:cNvPr>
          <p:cNvSpPr txBox="1">
            <a:spLocks noChangeArrowheads="1"/>
          </p:cNvSpPr>
          <p:nvPr/>
        </p:nvSpPr>
        <p:spPr bwMode="auto">
          <a:xfrm>
            <a:off x="7850486" y="3376079"/>
            <a:ext cx="160332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r>
              <a:rPr kumimoji="1" lang="zh-CN" altLang="en-US" sz="2200" b="0" dirty="0">
                <a:solidFill>
                  <a:schemeClr val="tx1">
                    <a:lumMod val="95000"/>
                    <a:lumOff val="5000"/>
                  </a:schemeClr>
                </a:solidFill>
              </a:rPr>
              <a:t>由于沿辅助</a:t>
            </a:r>
          </a:p>
        </p:txBody>
      </p:sp>
      <mc:AlternateContent xmlns:mc="http://schemas.openxmlformats.org/markup-compatibility/2006" xmlns:a14="http://schemas.microsoft.com/office/drawing/2010/main">
        <mc:Choice Requires="a14">
          <p:sp>
            <p:nvSpPr>
              <p:cNvPr id="5" name="Text Box 9">
                <a:extLst>
                  <a:ext uri="{FF2B5EF4-FFF2-40B4-BE49-F238E27FC236}">
                    <a16:creationId xmlns:a16="http://schemas.microsoft.com/office/drawing/2014/main" id="{E305DA86-6EC7-E4CD-DBF6-89CAFD3D5E83}"/>
                  </a:ext>
                </a:extLst>
              </p:cNvPr>
              <p:cNvSpPr txBox="1">
                <a:spLocks noChangeArrowheads="1"/>
              </p:cNvSpPr>
              <p:nvPr/>
            </p:nvSpPr>
            <p:spPr bwMode="auto">
              <a:xfrm>
                <a:off x="2486598" y="4137617"/>
                <a:ext cx="5667446"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r>
                  <a:rPr kumimoji="1" lang="zh-CN" altLang="en-US" sz="2200" b="0" dirty="0">
                    <a:solidFill>
                      <a:schemeClr val="tx1">
                        <a:lumMod val="95000"/>
                        <a:lumOff val="5000"/>
                      </a:schemeClr>
                    </a:solidFill>
                  </a:rPr>
                  <a:t>曲线方向相反的两个曲线积分相加刚好抵消</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rPr>
                      <m:t>,</m:t>
                    </m:r>
                  </m:oMath>
                </a14:m>
                <a:endParaRPr kumimoji="1" lang="en-US" altLang="zh-CN" sz="2200" b="0" dirty="0">
                  <a:solidFill>
                    <a:schemeClr val="tx1">
                      <a:lumMod val="95000"/>
                      <a:lumOff val="5000"/>
                    </a:schemeClr>
                  </a:solidFill>
                </a:endParaRPr>
              </a:p>
            </p:txBody>
          </p:sp>
        </mc:Choice>
        <mc:Fallback xmlns="">
          <p:sp>
            <p:nvSpPr>
              <p:cNvPr id="5" name="Text Box 9">
                <a:extLst>
                  <a:ext uri="{FF2B5EF4-FFF2-40B4-BE49-F238E27FC236}">
                    <a16:creationId xmlns:a16="http://schemas.microsoft.com/office/drawing/2014/main" id="{E305DA86-6EC7-E4CD-DBF6-89CAFD3D5E83}"/>
                  </a:ext>
                </a:extLst>
              </p:cNvPr>
              <p:cNvSpPr txBox="1">
                <a:spLocks noRot="1" noChangeAspect="1" noMove="1" noResize="1" noEditPoints="1" noAdjustHandles="1" noChangeArrowheads="1" noChangeShapeType="1" noTextEdit="1"/>
              </p:cNvSpPr>
              <p:nvPr/>
            </p:nvSpPr>
            <p:spPr bwMode="auto">
              <a:xfrm>
                <a:off x="2486598" y="4137617"/>
                <a:ext cx="5667446" cy="430887"/>
              </a:xfrm>
              <a:prstGeom prst="rect">
                <a:avLst/>
              </a:prstGeom>
              <a:blipFill>
                <a:blip r:embed="rId4"/>
                <a:stretch>
                  <a:fillRect l="-1398" t="-14286"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Text Box 10">
            <a:extLst>
              <a:ext uri="{FF2B5EF4-FFF2-40B4-BE49-F238E27FC236}">
                <a16:creationId xmlns:a16="http://schemas.microsoft.com/office/drawing/2014/main" id="{F79F1800-3975-C205-664B-EA064BC666E6}"/>
              </a:ext>
            </a:extLst>
          </p:cNvPr>
          <p:cNvSpPr txBox="1">
            <a:spLocks noChangeArrowheads="1"/>
          </p:cNvSpPr>
          <p:nvPr/>
        </p:nvSpPr>
        <p:spPr bwMode="auto">
          <a:xfrm>
            <a:off x="7992352" y="4137617"/>
            <a:ext cx="131959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r>
              <a:rPr kumimoji="1" lang="zh-CN" altLang="en-US" sz="2200" b="0" dirty="0">
                <a:solidFill>
                  <a:schemeClr val="tx1">
                    <a:lumMod val="95000"/>
                    <a:lumOff val="5000"/>
                  </a:schemeClr>
                </a:solidFill>
              </a:rPr>
              <a:t>所以对这</a:t>
            </a:r>
          </a:p>
        </p:txBody>
      </p:sp>
      <p:sp>
        <p:nvSpPr>
          <p:cNvPr id="7" name="Text Box 11">
            <a:extLst>
              <a:ext uri="{FF2B5EF4-FFF2-40B4-BE49-F238E27FC236}">
                <a16:creationId xmlns:a16="http://schemas.microsoft.com/office/drawing/2014/main" id="{0169C553-333D-AAEF-3D8F-CB309A224FAD}"/>
              </a:ext>
            </a:extLst>
          </p:cNvPr>
          <p:cNvSpPr txBox="1">
            <a:spLocks noChangeArrowheads="1"/>
          </p:cNvSpPr>
          <p:nvPr/>
        </p:nvSpPr>
        <p:spPr bwMode="auto">
          <a:xfrm>
            <a:off x="2486598" y="4899156"/>
            <a:ext cx="373050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r>
              <a:rPr kumimoji="1" lang="zh-CN" altLang="en-US" sz="2200" b="0" dirty="0">
                <a:solidFill>
                  <a:schemeClr val="tx1">
                    <a:lumMod val="95000"/>
                    <a:lumOff val="5000"/>
                  </a:schemeClr>
                </a:solidFill>
              </a:rPr>
              <a:t>类曲面斯托克斯公式仍成立</a:t>
            </a:r>
            <a:r>
              <a:rPr kumimoji="1" lang="en-US" altLang="zh-CN" sz="2200" b="0" dirty="0">
                <a:solidFill>
                  <a:schemeClr val="tx1">
                    <a:lumMod val="95000"/>
                    <a:lumOff val="5000"/>
                  </a:schemeClr>
                </a:solidFill>
              </a:rPr>
              <a:t>. </a:t>
            </a:r>
          </a:p>
        </p:txBody>
      </p:sp>
      <p:grpSp>
        <p:nvGrpSpPr>
          <p:cNvPr id="8" name="组合 7">
            <a:extLst>
              <a:ext uri="{FF2B5EF4-FFF2-40B4-BE49-F238E27FC236}">
                <a16:creationId xmlns:a16="http://schemas.microsoft.com/office/drawing/2014/main" id="{AC892A1C-5484-6072-9D5A-66B798A4CB59}"/>
              </a:ext>
            </a:extLst>
          </p:cNvPr>
          <p:cNvGrpSpPr/>
          <p:nvPr/>
        </p:nvGrpSpPr>
        <p:grpSpPr>
          <a:xfrm>
            <a:off x="2607896" y="1440997"/>
            <a:ext cx="6630841" cy="935018"/>
            <a:chOff x="2607896" y="1440997"/>
            <a:chExt cx="6630841" cy="935018"/>
          </a:xfrm>
        </p:grpSpPr>
        <p:sp>
          <p:nvSpPr>
            <p:cNvPr id="15" name="右箭头 12">
              <a:extLst>
                <a:ext uri="{FF2B5EF4-FFF2-40B4-BE49-F238E27FC236}">
                  <a16:creationId xmlns:a16="http://schemas.microsoft.com/office/drawing/2014/main" id="{E7CFFEDA-CB45-1F8F-ED19-EB50B98EB0FE}"/>
                </a:ext>
              </a:extLst>
            </p:cNvPr>
            <p:cNvSpPr/>
            <p:nvPr/>
          </p:nvSpPr>
          <p:spPr>
            <a:xfrm>
              <a:off x="2607896" y="1440997"/>
              <a:ext cx="6630841" cy="935018"/>
            </a:xfrm>
            <a:prstGeom prst="rightArrow">
              <a:avLst/>
            </a:prstGeom>
            <a:solidFill>
              <a:srgbClr val="04926A">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 name="对象 4">
                  <a:extLst>
                    <a:ext uri="{FF2B5EF4-FFF2-40B4-BE49-F238E27FC236}">
                      <a16:creationId xmlns:a16="http://schemas.microsoft.com/office/drawing/2014/main" id="{B31284F3-9A19-A308-BB55-ECC7500E0220}"/>
                    </a:ext>
                  </a:extLst>
                </p:cNvPr>
                <p:cNvSpPr txBox="1"/>
                <p:nvPr/>
              </p:nvSpPr>
              <p:spPr>
                <a:xfrm>
                  <a:off x="2619344" y="1702850"/>
                  <a:ext cx="6247936" cy="4064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pitchFamily="18" charset="0"/>
                            <a:ea typeface="黑体" panose="02010609060101010101" pitchFamily="49" charset="-122"/>
                          </a:rPr>
                          <m:t>情形</m:t>
                        </m:r>
                        <m:r>
                          <a:rPr kumimoji="1" lang="zh-CN" altLang="en-US" sz="2200" smtClean="0">
                            <a:solidFill>
                              <a:schemeClr val="tx1">
                                <a:lumMod val="95000"/>
                                <a:lumOff val="5000"/>
                              </a:schemeClr>
                            </a:solidFill>
                            <a:latin typeface="Cambria Math" panose="02040503050406030204" pitchFamily="18" charset="0"/>
                            <a:ea typeface="黑体" panose="02010609060101010101" pitchFamily="49" charset="-122"/>
                          </a:rPr>
                          <m:t>2. </m:t>
                        </m:r>
                        <m:r>
                          <a:rPr kumimoji="1" lang="zh-CN" altLang="en-US" sz="2200" smtClean="0">
                            <a:solidFill>
                              <a:schemeClr val="tx1">
                                <a:lumMod val="95000"/>
                                <a:lumOff val="5000"/>
                              </a:schemeClr>
                            </a:solidFill>
                            <a:latin typeface="Cambria Math" panose="02040503050406030204" pitchFamily="18" charset="0"/>
                            <a:ea typeface="黑体" panose="02010609060101010101" pitchFamily="49" charset="-122"/>
                          </a:rPr>
                          <m:t>曲面</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t>𝛴</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smtClean="0">
                            <a:solidFill>
                              <a:schemeClr val="tx1">
                                <a:lumMod val="95000"/>
                                <a:lumOff val="5000"/>
                              </a:schemeClr>
                            </a:solidFill>
                            <a:latin typeface="Cambria Math" panose="02040503050406030204" pitchFamily="18" charset="0"/>
                            <a:ea typeface="黑体" panose="02010609060101010101" pitchFamily="49" charset="-122"/>
                          </a:rPr>
                          <m:t>与平行</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smtClean="0">
                            <a:solidFill>
                              <a:schemeClr val="tx1">
                                <a:lumMod val="95000"/>
                                <a:lumOff val="5000"/>
                              </a:schemeClr>
                            </a:solidFill>
                            <a:latin typeface="Cambria Math" panose="02040503050406030204" pitchFamily="18" charset="0"/>
                            <a:ea typeface="黑体" panose="02010609060101010101" pitchFamily="49" charset="-122"/>
                          </a:rPr>
                          <m:t>𝑧</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轴的直线交点多于一个</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16" name="对象 4">
                  <a:extLst>
                    <a:ext uri="{FF2B5EF4-FFF2-40B4-BE49-F238E27FC236}">
                      <a16:creationId xmlns:a16="http://schemas.microsoft.com/office/drawing/2014/main" id="{B31284F3-9A19-A308-BB55-ECC7500E0220}"/>
                    </a:ext>
                  </a:extLst>
                </p:cNvPr>
                <p:cNvSpPr txBox="1">
                  <a:spLocks noRot="1" noChangeAspect="1" noMove="1" noResize="1" noEditPoints="1" noAdjustHandles="1" noChangeArrowheads="1" noChangeShapeType="1" noTextEdit="1"/>
                </p:cNvSpPr>
                <p:nvPr/>
              </p:nvSpPr>
              <p:spPr>
                <a:xfrm>
                  <a:off x="2619344" y="1702850"/>
                  <a:ext cx="6247936" cy="406400"/>
                </a:xfrm>
                <a:prstGeom prst="rect">
                  <a:avLst/>
                </a:prstGeom>
                <a:blipFill>
                  <a:blip r:embed="rId5"/>
                  <a:stretch>
                    <a:fillRect l="-683" b="-19403"/>
                  </a:stretch>
                </a:blipFill>
              </p:spPr>
              <p:txBody>
                <a:bodyPr/>
                <a:lstStyle/>
                <a:p>
                  <a:r>
                    <a:rPr lang="zh-CN" altLang="en-US">
                      <a:noFill/>
                    </a:rPr>
                    <a:t> </a:t>
                  </a:r>
                </a:p>
              </p:txBody>
            </p:sp>
          </mc:Fallback>
        </mc:AlternateContent>
      </p:grpSp>
      <p:grpSp>
        <p:nvGrpSpPr>
          <p:cNvPr id="19" name="组合 18">
            <a:extLst>
              <a:ext uri="{FF2B5EF4-FFF2-40B4-BE49-F238E27FC236}">
                <a16:creationId xmlns:a16="http://schemas.microsoft.com/office/drawing/2014/main" id="{584CDB1B-E501-C018-6AEB-EF9ED41115B2}"/>
              </a:ext>
            </a:extLst>
          </p:cNvPr>
          <p:cNvGrpSpPr/>
          <p:nvPr/>
        </p:nvGrpSpPr>
        <p:grpSpPr>
          <a:xfrm>
            <a:off x="8914905" y="4944422"/>
            <a:ext cx="716209" cy="347205"/>
            <a:chOff x="1553" y="3803"/>
            <a:chExt cx="1165" cy="558"/>
          </a:xfrm>
        </p:grpSpPr>
        <p:sp>
          <p:nvSpPr>
            <p:cNvPr id="20" name="圆角矩形 21">
              <a:extLst>
                <a:ext uri="{FF2B5EF4-FFF2-40B4-BE49-F238E27FC236}">
                  <a16:creationId xmlns:a16="http://schemas.microsoft.com/office/drawing/2014/main" id="{436780BC-5C31-473C-6C16-EB80F22F60BF}"/>
                </a:ext>
              </a:extLst>
            </p:cNvPr>
            <p:cNvSpPr/>
            <p:nvPr/>
          </p:nvSpPr>
          <p:spPr>
            <a:xfrm>
              <a:off x="1553" y="3803"/>
              <a:ext cx="1131" cy="547"/>
            </a:xfrm>
            <a:prstGeom prst="roundRect">
              <a:avLst>
                <a:gd name="adj" fmla="val 0"/>
              </a:avLst>
            </a:prstGeom>
            <a:solidFill>
              <a:srgbClr val="04926A">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微软雅黑" panose="020B0503020204020204" charset="-122"/>
                <a:ea typeface="微软雅黑" panose="020B0503020204020204" charset="-122"/>
              </a:endParaRPr>
            </a:p>
          </p:txBody>
        </p:sp>
        <p:sp>
          <p:nvSpPr>
            <p:cNvPr id="21" name="Text Box 28">
              <a:extLst>
                <a:ext uri="{FF2B5EF4-FFF2-40B4-BE49-F238E27FC236}">
                  <a16:creationId xmlns:a16="http://schemas.microsoft.com/office/drawing/2014/main" id="{1FEB8CAC-3460-BE2E-610D-791536BA7E6D}"/>
                </a:ext>
              </a:extLst>
            </p:cNvPr>
            <p:cNvSpPr txBox="1">
              <a:spLocks noChangeArrowheads="1"/>
            </p:cNvSpPr>
            <p:nvPr/>
          </p:nvSpPr>
          <p:spPr bwMode="auto">
            <a:xfrm>
              <a:off x="1650" y="3817"/>
              <a:ext cx="1068"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lang="zh-CN" altLang="en-US" sz="2200" b="0" dirty="0">
                  <a:solidFill>
                    <a:schemeClr val="tx1">
                      <a:lumMod val="95000"/>
                      <a:lumOff val="5000"/>
                    </a:schemeClr>
                  </a:solidFill>
                  <a:ea typeface="黑体" panose="02010609060101010101" pitchFamily="49" charset="-122"/>
                </a:rPr>
                <a:t>证毕</a:t>
              </a:r>
            </a:p>
          </p:txBody>
        </p:sp>
      </p:grpSp>
    </p:spTree>
    <p:extLst>
      <p:ext uri="{BB962C8B-B14F-4D97-AF65-F5344CB8AC3E}">
        <p14:creationId xmlns:p14="http://schemas.microsoft.com/office/powerpoint/2010/main" val="172944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a:extLst>
              <a:ext uri="{FF2B5EF4-FFF2-40B4-BE49-F238E27FC236}">
                <a16:creationId xmlns:a16="http://schemas.microsoft.com/office/drawing/2014/main" id="{3EF4C8E6-35EE-C2FB-2439-00D1D7DE9709}"/>
              </a:ext>
            </a:extLst>
          </p:cNvPr>
          <p:cNvSpPr txBox="1">
            <a:spLocks noChangeArrowheads="1"/>
          </p:cNvSpPr>
          <p:nvPr/>
        </p:nvSpPr>
        <p:spPr bwMode="auto">
          <a:xfrm>
            <a:off x="1341461" y="4280994"/>
            <a:ext cx="10668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spcBef>
                <a:spcPct val="50000"/>
              </a:spcBef>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其中</a:t>
            </a:r>
          </a:p>
        </p:txBody>
      </p:sp>
      <mc:AlternateContent xmlns:mc="http://schemas.openxmlformats.org/markup-compatibility/2006" xmlns:a14="http://schemas.microsoft.com/office/drawing/2010/main">
        <mc:Choice Requires="a14">
          <p:sp>
            <p:nvSpPr>
              <p:cNvPr id="3" name="Object 6">
                <a:extLst>
                  <a:ext uri="{FF2B5EF4-FFF2-40B4-BE49-F238E27FC236}">
                    <a16:creationId xmlns:a16="http://schemas.microsoft.com/office/drawing/2014/main" id="{2A5357F2-4031-66DA-CA27-896FF1C5088D}"/>
                  </a:ext>
                </a:extLst>
              </p:cNvPr>
              <p:cNvSpPr txBox="1"/>
              <p:nvPr/>
            </p:nvSpPr>
            <p:spPr bwMode="auto">
              <a:xfrm>
                <a:off x="1341461" y="4878628"/>
                <a:ext cx="8539195" cy="52322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t>𝛴</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的单位法向量为</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b="1" i="1">
                          <a:solidFill>
                            <a:schemeClr val="tx1">
                              <a:lumMod val="95000"/>
                              <a:lumOff val="5000"/>
                            </a:schemeClr>
                          </a:solidFill>
                          <a:latin typeface="Cambria Math" panose="02040503050406030204" pitchFamily="18" charset="0"/>
                          <a:ea typeface="黑体" panose="02010609060101010101" pitchFamily="49" charset="-122"/>
                        </a:rPr>
                        <m:t>𝒏</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𝛼</m:t>
                          </m:r>
                        </m:e>
                      </m:func>
                      <m:r>
                        <a:rPr kumimoji="1" lang="zh-CN" altLang="en-US" sz="2800" b="1" i="1">
                          <a:solidFill>
                            <a:schemeClr val="tx1">
                              <a:lumMod val="95000"/>
                              <a:lumOff val="5000"/>
                            </a:schemeClr>
                          </a:solidFill>
                          <a:latin typeface="Cambria Math" panose="02040503050406030204" pitchFamily="18" charset="0"/>
                          <a:ea typeface="黑体" panose="02010609060101010101" pitchFamily="49" charset="-122"/>
                        </a:rPr>
                        <m:t>𝒊</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𝛽</m:t>
                          </m:r>
                        </m:e>
                      </m:func>
                      <m:r>
                        <a:rPr kumimoji="1" lang="zh-CN" altLang="en-US" sz="2800" b="1" i="1">
                          <a:solidFill>
                            <a:schemeClr val="tx1">
                              <a:lumMod val="95000"/>
                              <a:lumOff val="5000"/>
                            </a:schemeClr>
                          </a:solidFill>
                          <a:latin typeface="Cambria Math" panose="02040503050406030204" pitchFamily="18" charset="0"/>
                          <a:ea typeface="黑体" panose="02010609060101010101" pitchFamily="49" charset="-122"/>
                        </a:rPr>
                        <m:t>𝒋</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𝛾</m:t>
                          </m:r>
                        </m:e>
                      </m:func>
                      <m:r>
                        <a:rPr kumimoji="1" lang="zh-CN" altLang="en-US" sz="2800" b="1" i="1">
                          <a:solidFill>
                            <a:schemeClr val="tx1">
                              <a:lumMod val="95000"/>
                              <a:lumOff val="5000"/>
                            </a:schemeClr>
                          </a:solidFill>
                          <a:latin typeface="Cambria Math" panose="02040503050406030204" pitchFamily="18" charset="0"/>
                          <a:ea typeface="黑体" panose="02010609060101010101" pitchFamily="49" charset="-122"/>
                        </a:rPr>
                        <m:t>𝒌</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3" name="Object 6">
                <a:extLst>
                  <a:ext uri="{FF2B5EF4-FFF2-40B4-BE49-F238E27FC236}">
                    <a16:creationId xmlns:a16="http://schemas.microsoft.com/office/drawing/2014/main" id="{2A5357F2-4031-66DA-CA27-896FF1C5088D}"/>
                  </a:ext>
                </a:extLst>
              </p:cNvPr>
              <p:cNvSpPr txBox="1">
                <a:spLocks noRot="1" noChangeAspect="1" noMove="1" noResize="1" noEditPoints="1" noAdjustHandles="1" noChangeArrowheads="1" noChangeShapeType="1" noTextEdit="1"/>
              </p:cNvSpPr>
              <p:nvPr/>
            </p:nvSpPr>
            <p:spPr bwMode="auto">
              <a:xfrm>
                <a:off x="1341461" y="4878628"/>
                <a:ext cx="8539195" cy="523220"/>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Object 7">
                <a:extLst>
                  <a:ext uri="{FF2B5EF4-FFF2-40B4-BE49-F238E27FC236}">
                    <a16:creationId xmlns:a16="http://schemas.microsoft.com/office/drawing/2014/main" id="{DA5915FE-073E-C992-85C0-B075ACA5D37D}"/>
                  </a:ext>
                </a:extLst>
              </p:cNvPr>
              <p:cNvSpPr txBox="1"/>
              <p:nvPr/>
            </p:nvSpPr>
            <p:spPr bwMode="auto">
              <a:xfrm>
                <a:off x="1341461" y="5476264"/>
                <a:ext cx="8526089" cy="52322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t>𝛤</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的单位切向量为</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b="1" i="1">
                          <a:solidFill>
                            <a:schemeClr val="tx1">
                              <a:lumMod val="95000"/>
                              <a:lumOff val="5000"/>
                            </a:schemeClr>
                          </a:solidFill>
                          <a:latin typeface="Cambria Math" panose="02040503050406030204" pitchFamily="18" charset="0"/>
                          <a:ea typeface="黑体" panose="02010609060101010101" pitchFamily="49" charset="-122"/>
                        </a:rPr>
                        <m:t>𝝉</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𝛼</m:t>
                          </m:r>
                        </m:e>
                      </m:func>
                      <m:r>
                        <a:rPr kumimoji="1" lang="zh-CN" altLang="en-US" sz="2800" b="1" i="1">
                          <a:solidFill>
                            <a:schemeClr val="tx1">
                              <a:lumMod val="95000"/>
                              <a:lumOff val="5000"/>
                            </a:schemeClr>
                          </a:solidFill>
                          <a:latin typeface="Cambria Math" panose="02040503050406030204" pitchFamily="18" charset="0"/>
                          <a:ea typeface="黑体" panose="02010609060101010101" pitchFamily="49" charset="-122"/>
                        </a:rPr>
                        <m:t>𝒊</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𝛽</m:t>
                          </m:r>
                        </m:e>
                      </m:func>
                      <m:r>
                        <a:rPr kumimoji="1" lang="zh-CN" altLang="en-US" sz="2800" b="1" i="1">
                          <a:solidFill>
                            <a:schemeClr val="tx1">
                              <a:lumMod val="95000"/>
                              <a:lumOff val="5000"/>
                            </a:schemeClr>
                          </a:solidFill>
                          <a:latin typeface="Cambria Math" panose="02040503050406030204" pitchFamily="18" charset="0"/>
                          <a:ea typeface="黑体" panose="02010609060101010101" pitchFamily="49" charset="-122"/>
                        </a:rPr>
                        <m:t>𝒋</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𝛾</m:t>
                          </m:r>
                        </m:e>
                      </m:func>
                      <m:r>
                        <a:rPr kumimoji="1" lang="zh-CN" altLang="en-US" sz="2800" b="1" i="1">
                          <a:solidFill>
                            <a:schemeClr val="tx1">
                              <a:lumMod val="95000"/>
                              <a:lumOff val="5000"/>
                            </a:schemeClr>
                          </a:solidFill>
                          <a:latin typeface="Cambria Math" panose="02040503050406030204" pitchFamily="18" charset="0"/>
                          <a:ea typeface="黑体" panose="02010609060101010101" pitchFamily="49" charset="-122"/>
                        </a:rPr>
                        <m:t>𝒌</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4" name="Object 7">
                <a:extLst>
                  <a:ext uri="{FF2B5EF4-FFF2-40B4-BE49-F238E27FC236}">
                    <a16:creationId xmlns:a16="http://schemas.microsoft.com/office/drawing/2014/main" id="{DA5915FE-073E-C992-85C0-B075ACA5D37D}"/>
                  </a:ext>
                </a:extLst>
              </p:cNvPr>
              <p:cNvSpPr txBox="1">
                <a:spLocks noRot="1" noChangeAspect="1" noMove="1" noResize="1" noEditPoints="1" noAdjustHandles="1" noChangeArrowheads="1" noChangeShapeType="1" noTextEdit="1"/>
              </p:cNvSpPr>
              <p:nvPr/>
            </p:nvSpPr>
            <p:spPr bwMode="auto">
              <a:xfrm>
                <a:off x="1341461" y="5476264"/>
                <a:ext cx="8526089" cy="523220"/>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9">
                <a:extLst>
                  <a:ext uri="{FF2B5EF4-FFF2-40B4-BE49-F238E27FC236}">
                    <a16:creationId xmlns:a16="http://schemas.microsoft.com/office/drawing/2014/main" id="{67E3AD8D-A7D3-219F-4BC5-480B95992F25}"/>
                  </a:ext>
                </a:extLst>
              </p:cNvPr>
              <p:cNvSpPr txBox="1"/>
              <p:nvPr/>
            </p:nvSpPr>
            <p:spPr bwMode="auto">
              <a:xfrm>
                <a:off x="1341461" y="3206515"/>
                <a:ext cx="5659414" cy="100006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𝛤</m:t>
                          </m:r>
                        </m:sub>
                        <m:sup/>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𝛼</m:t>
                              </m:r>
                            </m:e>
                          </m:func>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𝛽</m:t>
                              </m:r>
                            </m:e>
                          </m:func>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𝛾</m:t>
                              </m:r>
                            </m:e>
                          </m:func>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𝑠</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e>
                      </m:nary>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6" name="Object 9">
                <a:extLst>
                  <a:ext uri="{FF2B5EF4-FFF2-40B4-BE49-F238E27FC236}">
                    <a16:creationId xmlns:a16="http://schemas.microsoft.com/office/drawing/2014/main" id="{67E3AD8D-A7D3-219F-4BC5-480B95992F25}"/>
                  </a:ext>
                </a:extLst>
              </p:cNvPr>
              <p:cNvSpPr txBox="1">
                <a:spLocks noRot="1" noChangeAspect="1" noMove="1" noResize="1" noEditPoints="1" noAdjustHandles="1" noChangeArrowheads="1" noChangeShapeType="1" noTextEdit="1"/>
              </p:cNvSpPr>
              <p:nvPr/>
            </p:nvSpPr>
            <p:spPr bwMode="auto">
              <a:xfrm>
                <a:off x="1341461" y="3206515"/>
                <a:ext cx="5659414" cy="1000065"/>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8" name="Text Box 10">
            <a:extLst>
              <a:ext uri="{FF2B5EF4-FFF2-40B4-BE49-F238E27FC236}">
                <a16:creationId xmlns:a16="http://schemas.microsoft.com/office/drawing/2014/main" id="{0180FC10-8443-96FF-8851-21301615BF41}"/>
              </a:ext>
            </a:extLst>
          </p:cNvPr>
          <p:cNvSpPr txBox="1">
            <a:spLocks noChangeArrowheads="1"/>
          </p:cNvSpPr>
          <p:nvPr/>
        </p:nvSpPr>
        <p:spPr bwMode="auto">
          <a:xfrm>
            <a:off x="1341461" y="1404414"/>
            <a:ext cx="83631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eaLnBrk="0" fontAlgn="base" hangingPunct="0">
              <a:spcBef>
                <a:spcPct val="0"/>
              </a:spcBef>
              <a:spcAft>
                <a:spcPct val="0"/>
              </a:spcAft>
              <a:defRPr/>
            </a:pP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利用两类曲面积分之间的联系</a:t>
            </a:r>
            <a:r>
              <a:rPr kumimoji="1" lang="en-US" altLang="zh-CN" sz="2800" dirty="0">
                <a:solidFill>
                  <a:schemeClr val="tx1">
                    <a:lumMod val="95000"/>
                    <a:lumOff val="5000"/>
                  </a:schemeClr>
                </a:solidFill>
                <a:latin typeface="Times New Roman" panose="02020603050405020304" pitchFamily="18" charset="0"/>
                <a:ea typeface="黑体" panose="02010609060101010101" pitchFamily="49" charset="-122"/>
              </a:rPr>
              <a:t>, </a:t>
            </a:r>
            <a: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a:t>斯托克斯公式可写为</a:t>
            </a:r>
            <a:r>
              <a:rPr kumimoji="1" lang="en-US" altLang="zh-CN" sz="2800" dirty="0">
                <a:solidFill>
                  <a:schemeClr val="tx1">
                    <a:lumMod val="95000"/>
                    <a:lumOff val="5000"/>
                  </a:schemeClr>
                </a:solidFill>
                <a:latin typeface="Times New Roman" panose="02020603050405020304" pitchFamily="18" charset="0"/>
                <a:ea typeface="黑体" panose="02010609060101010101" pitchFamily="49" charset="-122"/>
              </a:rPr>
              <a:t>:</a:t>
            </a:r>
          </a:p>
        </p:txBody>
      </p:sp>
      <p:grpSp>
        <p:nvGrpSpPr>
          <p:cNvPr id="17" name="组合 16">
            <a:extLst>
              <a:ext uri="{FF2B5EF4-FFF2-40B4-BE49-F238E27FC236}">
                <a16:creationId xmlns:a16="http://schemas.microsoft.com/office/drawing/2014/main" id="{6ABC9F9C-D481-F390-88F7-17169318B58C}"/>
              </a:ext>
            </a:extLst>
          </p:cNvPr>
          <p:cNvGrpSpPr/>
          <p:nvPr/>
        </p:nvGrpSpPr>
        <p:grpSpPr>
          <a:xfrm>
            <a:off x="1427934" y="664820"/>
            <a:ext cx="612775" cy="612775"/>
            <a:chOff x="1601" y="872"/>
            <a:chExt cx="965" cy="965"/>
          </a:xfrm>
        </p:grpSpPr>
        <p:sp>
          <p:nvSpPr>
            <p:cNvPr id="18" name="椭圆 17">
              <a:extLst>
                <a:ext uri="{FF2B5EF4-FFF2-40B4-BE49-F238E27FC236}">
                  <a16:creationId xmlns:a16="http://schemas.microsoft.com/office/drawing/2014/main" id="{37250052-1D76-5BFE-4D7A-9B373F2A1B19}"/>
                </a:ext>
              </a:extLst>
            </p:cNvPr>
            <p:cNvSpPr/>
            <p:nvPr/>
          </p:nvSpPr>
          <p:spPr>
            <a:xfrm>
              <a:off x="1663" y="934"/>
              <a:ext cx="841" cy="841"/>
            </a:xfrm>
            <a:prstGeom prst="ellipse">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9" name="文本框 18">
              <a:extLst>
                <a:ext uri="{FF2B5EF4-FFF2-40B4-BE49-F238E27FC236}">
                  <a16:creationId xmlns:a16="http://schemas.microsoft.com/office/drawing/2014/main" id="{E0FB711C-BDCD-4DE0-06B5-74B0B5F63748}"/>
                </a:ext>
              </a:extLst>
            </p:cNvPr>
            <p:cNvSpPr txBox="1"/>
            <p:nvPr/>
          </p:nvSpPr>
          <p:spPr bwMode="auto">
            <a:xfrm>
              <a:off x="1625" y="921"/>
              <a:ext cx="848" cy="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注</a:t>
              </a:r>
            </a:p>
          </p:txBody>
        </p:sp>
        <p:sp>
          <p:nvSpPr>
            <p:cNvPr id="20" name="椭圆 19">
              <a:extLst>
                <a:ext uri="{FF2B5EF4-FFF2-40B4-BE49-F238E27FC236}">
                  <a16:creationId xmlns:a16="http://schemas.microsoft.com/office/drawing/2014/main" id="{ED46D68D-F820-6D34-BEA9-97637C5E9E09}"/>
                </a:ext>
              </a:extLst>
            </p:cNvPr>
            <p:cNvSpPr/>
            <p:nvPr/>
          </p:nvSpPr>
          <p:spPr>
            <a:xfrm>
              <a:off x="1601" y="872"/>
              <a:ext cx="965" cy="965"/>
            </a:xfrm>
            <a:prstGeom prst="ellipse">
              <a:avLst/>
            </a:prstGeom>
            <a:noFill/>
            <a:ln>
              <a:solidFill>
                <a:srgbClr val="0492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A08A5243-9F2A-171A-6A36-636C477773B5}"/>
                  </a:ext>
                </a:extLst>
              </p:cNvPr>
              <p:cNvSpPr txBox="1"/>
              <p:nvPr/>
            </p:nvSpPr>
            <p:spPr>
              <a:xfrm>
                <a:off x="1341461" y="2060104"/>
                <a:ext cx="9941376" cy="11300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limLoc m:val="undOvr"/>
                          <m:supHide m:val="on"/>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𝛴</m:t>
                          </m:r>
                        </m:sub>
                        <m:sup/>
                        <m:e>
                          <m:d>
                            <m:dPr>
                              <m:begChr m:val="["/>
                              <m:endChr m:val="]"/>
                              <m:ctrlPr>
                                <a:rPr kumimoji="1" lang="en-US" altLang="zh-CN" sz="2800" i="1">
                                  <a:solidFill>
                                    <a:schemeClr val="tx1">
                                      <a:lumMod val="95000"/>
                                      <a:lumOff val="5000"/>
                                    </a:schemeClr>
                                  </a:solidFill>
                                  <a:latin typeface="Cambria Math" panose="02040503050406030204" pitchFamily="18" charset="0"/>
                                  <a:ea typeface="黑体" panose="02010609060101010101" pitchFamily="49" charset="-122"/>
                                </a:rPr>
                              </m:ctrlPr>
                            </m:dPr>
                            <m:e>
                              <m:d>
                                <m:dPr>
                                  <m:ctrlPr>
                                    <a:rPr kumimoji="1" lang="en-US" altLang="zh-CN" sz="28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den>
                                  </m:f>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den>
                                  </m:f>
                                </m:e>
                              </m:d>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𝛼</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d>
                                    <m:dPr>
                                      <m:ctrlPr>
                                        <a:rPr kumimoji="1" lang="en-US" altLang="zh-CN" sz="28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den>
                                      </m:f>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den>
                                      </m:f>
                                    </m:e>
                                  </m:d>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𝛽</m:t>
                                      </m:r>
                                    </m:e>
                                  </m:func>
                                </m:e>
                              </m:func>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d>
                                <m:dPr>
                                  <m:ctrlPr>
                                    <a:rPr kumimoji="1" lang="en-US" altLang="zh-CN" sz="28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den>
                                  </m:f>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den>
                                  </m:f>
                                </m:e>
                              </m:d>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𝛾</m:t>
                                  </m:r>
                                </m:e>
                              </m:func>
                            </m:e>
                          </m:d>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𝑆</m:t>
                          </m:r>
                          <m:r>
                            <m:rPr>
                              <m:nor/>
                            </m:rPr>
                            <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rPr>
                            <m:t> </m:t>
                          </m:r>
                        </m:e>
                      </m:nary>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21" name="文本框 20">
                <a:extLst>
                  <a:ext uri="{FF2B5EF4-FFF2-40B4-BE49-F238E27FC236}">
                    <a16:creationId xmlns:a16="http://schemas.microsoft.com/office/drawing/2014/main" id="{A08A5243-9F2A-171A-6A36-636C477773B5}"/>
                  </a:ext>
                </a:extLst>
              </p:cNvPr>
              <p:cNvSpPr txBox="1">
                <a:spLocks noRot="1" noChangeAspect="1" noMove="1" noResize="1" noEditPoints="1" noAdjustHandles="1" noChangeArrowheads="1" noChangeShapeType="1" noTextEdit="1"/>
              </p:cNvSpPr>
              <p:nvPr/>
            </p:nvSpPr>
            <p:spPr>
              <a:xfrm>
                <a:off x="1341461" y="2060104"/>
                <a:ext cx="9941376" cy="1130053"/>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55397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8"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CABCD0F-782E-55CC-3EC2-EF2D90300875}"/>
              </a:ext>
            </a:extLst>
          </p:cNvPr>
          <p:cNvGrpSpPr/>
          <p:nvPr/>
        </p:nvGrpSpPr>
        <p:grpSpPr>
          <a:xfrm>
            <a:off x="0" y="-181"/>
            <a:ext cx="12192000" cy="6863080"/>
            <a:chOff x="0" y="-181"/>
            <a:chExt cx="12192000" cy="6863080"/>
          </a:xfrm>
        </p:grpSpPr>
        <p:grpSp>
          <p:nvGrpSpPr>
            <p:cNvPr id="5" name="组合 4">
              <a:extLst>
                <a:ext uri="{FF2B5EF4-FFF2-40B4-BE49-F238E27FC236}">
                  <a16:creationId xmlns:a16="http://schemas.microsoft.com/office/drawing/2014/main" id="{B02ACE76-AEBB-238B-1009-83171EBDC6A3}"/>
                </a:ext>
              </a:extLst>
            </p:cNvPr>
            <p:cNvGrpSpPr/>
            <p:nvPr/>
          </p:nvGrpSpPr>
          <p:grpSpPr>
            <a:xfrm>
              <a:off x="0" y="-181"/>
              <a:ext cx="12192000" cy="6863080"/>
              <a:chOff x="0" y="-8"/>
              <a:chExt cx="19200" cy="10808"/>
            </a:xfrm>
          </p:grpSpPr>
          <p:sp>
            <p:nvSpPr>
              <p:cNvPr id="15" name="Rectangle 1">
                <a:extLst>
                  <a:ext uri="{FF2B5EF4-FFF2-40B4-BE49-F238E27FC236}">
                    <a16:creationId xmlns:a16="http://schemas.microsoft.com/office/drawing/2014/main" id="{5419B0CC-B0C3-70AB-5639-AAFB555CD1D7}"/>
                  </a:ext>
                </a:extLst>
              </p:cNvPr>
              <p:cNvSpPr/>
              <p:nvPr/>
            </p:nvSpPr>
            <p:spPr>
              <a:xfrm>
                <a:off x="0" y="-8"/>
                <a:ext cx="19200" cy="10808"/>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6" name="圆角矩形 16">
                <a:extLst>
                  <a:ext uri="{FF2B5EF4-FFF2-40B4-BE49-F238E27FC236}">
                    <a16:creationId xmlns:a16="http://schemas.microsoft.com/office/drawing/2014/main" id="{39DB9D6E-DE8F-467D-8C75-9BB3A2DC1D90}"/>
                  </a:ext>
                </a:extLst>
              </p:cNvPr>
              <p:cNvSpPr/>
              <p:nvPr/>
            </p:nvSpPr>
            <p:spPr>
              <a:xfrm>
                <a:off x="354" y="310"/>
                <a:ext cx="18493" cy="10167"/>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7" name="组合 6">
              <a:extLst>
                <a:ext uri="{FF2B5EF4-FFF2-40B4-BE49-F238E27FC236}">
                  <a16:creationId xmlns:a16="http://schemas.microsoft.com/office/drawing/2014/main" id="{190B3816-88D8-D22E-EDF3-650D0D271F39}"/>
                </a:ext>
              </a:extLst>
            </p:cNvPr>
            <p:cNvGrpSpPr/>
            <p:nvPr/>
          </p:nvGrpSpPr>
          <p:grpSpPr>
            <a:xfrm>
              <a:off x="0" y="239357"/>
              <a:ext cx="11993046" cy="6427310"/>
              <a:chOff x="0" y="239357"/>
              <a:chExt cx="11993046" cy="6427310"/>
            </a:xfrm>
          </p:grpSpPr>
          <p:sp>
            <p:nvSpPr>
              <p:cNvPr id="8" name="Rectangle 1">
                <a:extLst>
                  <a:ext uri="{FF2B5EF4-FFF2-40B4-BE49-F238E27FC236}">
                    <a16:creationId xmlns:a16="http://schemas.microsoft.com/office/drawing/2014/main" id="{7D6237ED-0754-8003-6D3F-A554C7440D3D}"/>
                  </a:ext>
                </a:extLst>
              </p:cNvPr>
              <p:cNvSpPr/>
              <p:nvPr userDrawn="1"/>
            </p:nvSpPr>
            <p:spPr>
              <a:xfrm>
                <a:off x="297498" y="64715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9" name="矩形 8">
                <a:extLst>
                  <a:ext uri="{FF2B5EF4-FFF2-40B4-BE49-F238E27FC236}">
                    <a16:creationId xmlns:a16="http://schemas.microsoft.com/office/drawing/2014/main" id="{7D64985A-2591-8A8C-2986-7D784A4FAB65}"/>
                  </a:ext>
                </a:extLst>
              </p:cNvPr>
              <p:cNvSpPr/>
              <p:nvPr/>
            </p:nvSpPr>
            <p:spPr>
              <a:xfrm>
                <a:off x="476885" y="6358890"/>
                <a:ext cx="3784600" cy="307777"/>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  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10" name="Rectangle 1">
                <a:extLst>
                  <a:ext uri="{FF2B5EF4-FFF2-40B4-BE49-F238E27FC236}">
                    <a16:creationId xmlns:a16="http://schemas.microsoft.com/office/drawing/2014/main" id="{9F61F3DA-CB70-84ED-AE44-EB162FE39650}"/>
                  </a:ext>
                </a:extLst>
              </p:cNvPr>
              <p:cNvSpPr/>
              <p:nvPr userDrawn="1"/>
            </p:nvSpPr>
            <p:spPr>
              <a:xfrm rot="2659048">
                <a:off x="9060538" y="323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1" name="矩形 10">
                <a:extLst>
                  <a:ext uri="{FF2B5EF4-FFF2-40B4-BE49-F238E27FC236}">
                    <a16:creationId xmlns:a16="http://schemas.microsoft.com/office/drawing/2014/main" id="{93F76F81-C19F-B071-B321-9E0929A283CA}"/>
                  </a:ext>
                </a:extLst>
              </p:cNvPr>
              <p:cNvSpPr/>
              <p:nvPr/>
            </p:nvSpPr>
            <p:spPr>
              <a:xfrm>
                <a:off x="9315710" y="239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曲线积分与曲面积分</a:t>
                </a:r>
              </a:p>
            </p:txBody>
          </p:sp>
          <p:cxnSp>
            <p:nvCxnSpPr>
              <p:cNvPr id="12" name="直接连接符 11">
                <a:extLst>
                  <a:ext uri="{FF2B5EF4-FFF2-40B4-BE49-F238E27FC236}">
                    <a16:creationId xmlns:a16="http://schemas.microsoft.com/office/drawing/2014/main" id="{D22DCFBA-3A00-0C89-7A73-F6C9242F9B7E}"/>
                  </a:ext>
                </a:extLst>
              </p:cNvPr>
              <p:cNvCxnSpPr>
                <a:cxnSpLocks/>
              </p:cNvCxnSpPr>
              <p:nvPr userDrawn="1"/>
            </p:nvCxnSpPr>
            <p:spPr>
              <a:xfrm>
                <a:off x="0" y="393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344CDA4-9918-44FC-E437-6FE23C6031D7}"/>
                  </a:ext>
                </a:extLst>
              </p:cNvPr>
              <p:cNvCxnSpPr>
                <a:cxnSpLocks/>
              </p:cNvCxnSpPr>
              <p:nvPr userDrawn="1"/>
            </p:nvCxnSpPr>
            <p:spPr>
              <a:xfrm>
                <a:off x="3675872" y="6512242"/>
                <a:ext cx="827228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3" name="Object 17">
                <a:extLst>
                  <a:ext uri="{FF2B5EF4-FFF2-40B4-BE49-F238E27FC236}">
                    <a16:creationId xmlns:a16="http://schemas.microsoft.com/office/drawing/2014/main" id="{A328870D-DC4F-6284-6EAF-D5C7EDACC52F}"/>
                  </a:ext>
                </a:extLst>
              </p:cNvPr>
              <p:cNvSpPr txBox="1"/>
              <p:nvPr/>
            </p:nvSpPr>
            <p:spPr bwMode="auto">
              <a:xfrm>
                <a:off x="1211263" y="3499827"/>
                <a:ext cx="4271962" cy="100965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𝛤</m:t>
                          </m:r>
                        </m:sub>
                        <m:sup/>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e>
                      </m:nary>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3" name="Object 17">
                <a:extLst>
                  <a:ext uri="{FF2B5EF4-FFF2-40B4-BE49-F238E27FC236}">
                    <a16:creationId xmlns:a16="http://schemas.microsoft.com/office/drawing/2014/main" id="{A328870D-DC4F-6284-6EAF-D5C7EDACC52F}"/>
                  </a:ext>
                </a:extLst>
              </p:cNvPr>
              <p:cNvSpPr txBox="1">
                <a:spLocks noRot="1" noChangeAspect="1" noMove="1" noResize="1" noEditPoints="1" noAdjustHandles="1" noChangeArrowheads="1" noChangeShapeType="1" noTextEdit="1"/>
              </p:cNvSpPr>
              <p:nvPr/>
            </p:nvSpPr>
            <p:spPr bwMode="auto">
              <a:xfrm>
                <a:off x="1211263" y="3499827"/>
                <a:ext cx="4271962" cy="1009650"/>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B5903820-1863-A95D-049F-BEF965BC70D5}"/>
                  </a:ext>
                </a:extLst>
              </p:cNvPr>
              <p:cNvSpPr txBox="1"/>
              <p:nvPr/>
            </p:nvSpPr>
            <p:spPr>
              <a:xfrm>
                <a:off x="1220787" y="1621857"/>
                <a:ext cx="9394565" cy="186844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𝛴</m:t>
                          </m:r>
                        </m:sub>
                        <m:sup/>
                        <m:e>
                          <m:d>
                            <m:dPr>
                              <m:begChr m:val="|"/>
                              <m:endChr m:val="|"/>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3"/>
                                        <m:mcJc m:val="center"/>
                                      </m:mcPr>
                                    </m:mc>
                                  </m:mcs>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mPr>
                                <m:mr>
                                  <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e>
                                  <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e>
                                  <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e>
                                </m:mr>
                                <m:mr>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den>
                                    </m:f>
                                  </m:e>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den>
                                    </m:f>
                                  </m:e>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den>
                                    </m:f>
                                  </m:e>
                                </m:mr>
                                <m:mr>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e>
                                </m:mr>
                              </m:m>
                            </m:e>
                          </m:d>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𝑆</m:t>
                          </m:r>
                        </m:e>
                      </m:nary>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ary>
                        <m:naryPr>
                          <m:chr m:val="∬"/>
                          <m:limLoc m:val="undOvr"/>
                          <m:supHide m:val="on"/>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𝛴</m:t>
                          </m:r>
                        </m:sub>
                        <m:sup/>
                        <m:e>
                          <m:d>
                            <m:dPr>
                              <m:begChr m:val="|"/>
                              <m:endChr m:val="|"/>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3"/>
                                        <m:mcJc m:val="center"/>
                                      </m:mcPr>
                                    </m:mc>
                                  </m:mcs>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mPr>
                                <m:mr>
                                  <m:e>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𝛼</m:t>
                                        </m:r>
                                      </m:e>
                                    </m:func>
                                  </m:e>
                                  <m:e>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𝛽</m:t>
                                        </m:r>
                                      </m:e>
                                    </m:func>
                                  </m:e>
                                  <m:e>
                                    <m:func>
                                      <m:func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cos</m:t>
                                        </m:r>
                                      </m:fNa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𝛾</m:t>
                                        </m:r>
                                      </m:e>
                                    </m:func>
                                  </m:e>
                                </m:mr>
                                <m:mr>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den>
                                    </m:f>
                                  </m:e>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den>
                                    </m:f>
                                  </m:e>
                                  <m:e>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den>
                                    </m:f>
                                  </m:e>
                                </m:mr>
                                <m:mr>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𝑃</m:t>
                                    </m:r>
                                  </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𝑄</m:t>
                                    </m:r>
                                  </m:e>
                                  <m:e>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𝑅</m:t>
                                    </m:r>
                                  </m:e>
                                </m:mr>
                              </m:m>
                            </m:e>
                          </m:d>
                        </m:e>
                      </m:nary>
                      <m:r>
                        <m:rPr>
                          <m:sty m:val="p"/>
                        </m:rP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𝑆</m:t>
                      </m:r>
                    </m:oMath>
                  </m:oMathPara>
                </a14:m>
                <a:endParaRPr kumimoji="1" lang="zh-CN" altLang="en-US" sz="28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B5903820-1863-A95D-049F-BEF965BC70D5}"/>
                  </a:ext>
                </a:extLst>
              </p:cNvPr>
              <p:cNvSpPr txBox="1">
                <a:spLocks noRot="1" noChangeAspect="1" noMove="1" noResize="1" noEditPoints="1" noAdjustHandles="1" noChangeArrowheads="1" noChangeShapeType="1" noTextEdit="1"/>
              </p:cNvSpPr>
              <p:nvPr/>
            </p:nvSpPr>
            <p:spPr>
              <a:xfrm>
                <a:off x="1220787" y="1621857"/>
                <a:ext cx="9394565" cy="1868445"/>
              </a:xfrm>
              <a:prstGeom prst="rect">
                <a:avLst/>
              </a:prstGeom>
              <a:blipFill>
                <a:blip r:embed="rId3"/>
                <a:stretch>
                  <a:fillRect/>
                </a:stretch>
              </a:blipFill>
            </p:spPr>
            <p:txBody>
              <a:bodyPr/>
              <a:lstStyle/>
              <a:p>
                <a:r>
                  <a:rPr lang="zh-CN" altLang="en-US">
                    <a:noFill/>
                  </a:rPr>
                  <a:t> </a:t>
                </a:r>
              </a:p>
            </p:txBody>
          </p:sp>
        </mc:Fallback>
      </mc:AlternateContent>
      <p:sp>
        <p:nvSpPr>
          <p:cNvPr id="6" name="Text Box 4">
            <a:extLst>
              <a:ext uri="{FF2B5EF4-FFF2-40B4-BE49-F238E27FC236}">
                <a16:creationId xmlns:a16="http://schemas.microsoft.com/office/drawing/2014/main" id="{7DB2FBCA-26EF-5CE2-F24A-00A6B66B2EC2}"/>
              </a:ext>
            </a:extLst>
          </p:cNvPr>
          <p:cNvSpPr txBox="1">
            <a:spLocks noChangeArrowheads="1"/>
          </p:cNvSpPr>
          <p:nvPr/>
        </p:nvSpPr>
        <p:spPr bwMode="auto">
          <a:xfrm>
            <a:off x="889793" y="900388"/>
            <a:ext cx="4882357" cy="523220"/>
          </a:xfrm>
          <a:prstGeom prst="rect">
            <a:avLst/>
          </a:prstGeom>
          <a:noFill/>
          <a:ln w="28575">
            <a:noFill/>
            <a:prstDash val="dash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2. </a:t>
            </a:r>
            <a:r>
              <a:rPr kumimoji="1" lang="zh-CN" altLang="en-US" sz="2800" b="1" dirty="0">
                <a:solidFill>
                  <a:srgbClr val="04926A"/>
                </a:solidFill>
                <a:latin typeface="微软雅黑" panose="020B0503020204020204" pitchFamily="34" charset="-122"/>
                <a:ea typeface="微软雅黑" panose="020B0503020204020204" pitchFamily="34" charset="-122"/>
              </a:rPr>
              <a:t>斯托克斯公式的行列式形式</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198BEDB-DBA3-17AB-5BFD-229BCA0915F2}"/>
                  </a:ext>
                </a:extLst>
              </p:cNvPr>
              <p:cNvSpPr txBox="1"/>
              <p:nvPr/>
            </p:nvSpPr>
            <p:spPr>
              <a:xfrm>
                <a:off x="1318419" y="4623439"/>
                <a:ext cx="10025061" cy="1157881"/>
              </a:xfrm>
              <a:prstGeom prst="rect">
                <a:avLst/>
              </a:prstGeom>
              <a:solidFill>
                <a:srgbClr val="04926A">
                  <a:alpha val="42000"/>
                </a:srgbClr>
              </a:solidFill>
            </p:spPr>
            <p:txBody>
              <a:bodyPr wrap="square" rtlCol="0" anchor="t">
                <a:spAutoFit/>
              </a:bodyPr>
              <a:lstStyle/>
              <a:p>
                <a:pPr>
                  <a:lnSpc>
                    <a:spcPct val="120000"/>
                  </a:lnSpc>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e>
                          </m:d>
                        </m:e>
                      </m:nary>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den>
                          </m:f>
                        </m:e>
                      </m:d>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e>
                      </m:d>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prstClr val="black"/>
                              </a:solidFill>
                              <a:latin typeface="Cambria Math" panose="02040503050406030204" pitchFamily="18" charset="0"/>
                              <a:ea typeface="黑体" panose="02010609060101010101" pitchFamily="49" charset="-122"/>
                            </a:rPr>
                            <m:t>𝛤</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e>
                      </m:nary>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13" name="文本框 12">
                <a:extLst>
                  <a:ext uri="{FF2B5EF4-FFF2-40B4-BE49-F238E27FC236}">
                    <a16:creationId xmlns:a16="http://schemas.microsoft.com/office/drawing/2014/main" id="{B198BEDB-DBA3-17AB-5BFD-229BCA0915F2}"/>
                  </a:ext>
                </a:extLst>
              </p:cNvPr>
              <p:cNvSpPr txBox="1">
                <a:spLocks noRot="1" noChangeAspect="1" noMove="1" noResize="1" noEditPoints="1" noAdjustHandles="1" noChangeArrowheads="1" noChangeShapeType="1" noTextEdit="1"/>
              </p:cNvSpPr>
              <p:nvPr/>
            </p:nvSpPr>
            <p:spPr>
              <a:xfrm>
                <a:off x="1318419" y="4623439"/>
                <a:ext cx="10025061" cy="1157881"/>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008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Box 2">
                <a:extLst>
                  <a:ext uri="{FF2B5EF4-FFF2-40B4-BE49-F238E27FC236}">
                    <a16:creationId xmlns:a16="http://schemas.microsoft.com/office/drawing/2014/main" id="{28D0268B-FD4F-6AC4-A122-424154B1C58D}"/>
                  </a:ext>
                </a:extLst>
              </p:cNvPr>
              <p:cNvSpPr txBox="1">
                <a:spLocks noChangeArrowheads="1"/>
              </p:cNvSpPr>
              <p:nvPr/>
            </p:nvSpPr>
            <p:spPr bwMode="auto">
              <a:xfrm>
                <a:off x="979716" y="959340"/>
                <a:ext cx="4352925" cy="523220"/>
              </a:xfrm>
              <a:prstGeom prst="rect">
                <a:avLst/>
              </a:prstGeom>
              <a:noFill/>
              <a:ln>
                <a:noFill/>
              </a:ln>
              <a:extLst>
                <a:ext uri="{909E8E84-426E-40DD-AFC4-6F175D3DCCD1}">
                  <a14:hiddenFill>
                    <a:solidFill>
                      <a:srgbClr val="0000FF"/>
                    </a:solidFill>
                  </a14:hiddenFill>
                </a:ext>
                <a:ext uri="{91240B29-F687-4F45-9708-019B960494DF}">
                  <a14:hiddenLine w="9525">
                    <a:solidFill>
                      <a:srgbClr val="00FFFF"/>
                    </a:solidFill>
                    <a:miter lim="800000"/>
                    <a:headEnd/>
                    <a:tailEnd/>
                  </a14:hiddenLine>
                </a:ext>
              </a:extLst>
            </p:spPr>
            <p:txBody>
              <a:bodyPr wrap="square">
                <a:spAutoFit/>
              </a:bodyPr>
              <a:lstStyle/>
              <a:p>
                <a:pPr>
                  <a:spcBef>
                    <a:spcPct val="50000"/>
                  </a:spcBef>
                </a:pPr>
                <a14:m>
                  <m:oMath xmlns:m="http://schemas.openxmlformats.org/officeDocument/2006/math">
                    <m:d>
                      <m:dPr>
                        <m:ctrlPr>
                          <a:rPr kumimoji="1" lang="en-US" altLang="zh-CN" sz="2800" i="1" smtClean="0">
                            <a:solidFill>
                              <a:srgbClr val="04926A"/>
                            </a:solidFill>
                            <a:latin typeface="Cambria Math" panose="02040503050406030204" pitchFamily="18" charset="0"/>
                            <a:ea typeface="黑体" panose="02010609060101010101" pitchFamily="49" charset="-122"/>
                          </a:rPr>
                        </m:ctrlPr>
                      </m:dPr>
                      <m:e>
                        <m:r>
                          <a:rPr kumimoji="1" lang="en-US" altLang="zh-CN" sz="2800" b="0" i="0" smtClean="0">
                            <a:solidFill>
                              <a:srgbClr val="04926A"/>
                            </a:solidFill>
                            <a:latin typeface="Cambria Math" panose="02040503050406030204" pitchFamily="18" charset="0"/>
                            <a:ea typeface="黑体" panose="02010609060101010101" pitchFamily="49" charset="-122"/>
                          </a:rPr>
                          <m:t>3</m:t>
                        </m:r>
                      </m:e>
                    </m:d>
                  </m:oMath>
                </a14:m>
                <a:r>
                  <a:rPr kumimoji="1" lang="zh-CN" altLang="en-US" sz="2800" dirty="0">
                    <a:solidFill>
                      <a:srgbClr val="04926A"/>
                    </a:solidFill>
                    <a:latin typeface="Cambria Math" panose="02040503050406030204" pitchFamily="18" charset="0"/>
                    <a:ea typeface="黑体" panose="02010609060101010101" pitchFamily="49" charset="-122"/>
                  </a:rPr>
                  <a:t> 斯托克斯公式的实质</a:t>
                </a:r>
                <a:r>
                  <a:rPr kumimoji="1" lang="en-US" altLang="zh-CN" sz="2800" dirty="0">
                    <a:solidFill>
                      <a:srgbClr val="04926A"/>
                    </a:solidFill>
                    <a:latin typeface="Cambria Math" panose="02040503050406030204" pitchFamily="18" charset="0"/>
                    <a:ea typeface="黑体" panose="02010609060101010101" pitchFamily="49" charset="-122"/>
                  </a:rPr>
                  <a:t>:</a:t>
                </a:r>
              </a:p>
            </p:txBody>
          </p:sp>
        </mc:Choice>
        <mc:Fallback xmlns="">
          <p:sp>
            <p:nvSpPr>
              <p:cNvPr id="2" name="Text Box 2">
                <a:extLst>
                  <a:ext uri="{FF2B5EF4-FFF2-40B4-BE49-F238E27FC236}">
                    <a16:creationId xmlns:a16="http://schemas.microsoft.com/office/drawing/2014/main" id="{28D0268B-FD4F-6AC4-A122-424154B1C58D}"/>
                  </a:ext>
                </a:extLst>
              </p:cNvPr>
              <p:cNvSpPr txBox="1">
                <a:spLocks noRot="1" noChangeAspect="1" noMove="1" noResize="1" noEditPoints="1" noAdjustHandles="1" noChangeArrowheads="1" noChangeShapeType="1" noTextEdit="1"/>
              </p:cNvSpPr>
              <p:nvPr/>
            </p:nvSpPr>
            <p:spPr bwMode="auto">
              <a:xfrm>
                <a:off x="979716" y="959340"/>
                <a:ext cx="4352925" cy="523220"/>
              </a:xfrm>
              <a:prstGeom prst="rect">
                <a:avLst/>
              </a:prstGeom>
              <a:blipFill>
                <a:blip r:embed="rId2"/>
                <a:stretch>
                  <a:fillRect t="-15116" b="-31395"/>
                </a:stretch>
              </a:blipFill>
              <a:ln>
                <a:noFill/>
              </a:ln>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FFFF"/>
                    </a:solidFill>
                    <a:miter lim="800000"/>
                    <a:headEnd/>
                    <a:tailEnd/>
                  </a14:hiddenLine>
                </a:ext>
              </a:extLst>
            </p:spPr>
            <p:txBody>
              <a:bodyPr/>
              <a:lstStyle/>
              <a:p>
                <a:r>
                  <a:rPr lang="zh-CN" altLang="en-US">
                    <a:noFill/>
                  </a:rPr>
                  <a:t> </a:t>
                </a:r>
              </a:p>
            </p:txBody>
          </p:sp>
        </mc:Fallback>
      </mc:AlternateContent>
      <p:sp>
        <p:nvSpPr>
          <p:cNvPr id="3" name="Text Box 3">
            <a:extLst>
              <a:ext uri="{FF2B5EF4-FFF2-40B4-BE49-F238E27FC236}">
                <a16:creationId xmlns:a16="http://schemas.microsoft.com/office/drawing/2014/main" id="{30A9E30C-DF20-CE3D-52E9-272D05237FC2}"/>
              </a:ext>
            </a:extLst>
          </p:cNvPr>
          <p:cNvSpPr txBox="1">
            <a:spLocks noChangeArrowheads="1"/>
          </p:cNvSpPr>
          <p:nvPr/>
        </p:nvSpPr>
        <p:spPr bwMode="auto">
          <a:xfrm>
            <a:off x="992206" y="1499377"/>
            <a:ext cx="7696200" cy="13031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eaLnBrk="1" hangingPunct="1">
              <a:lnSpc>
                <a:spcPct val="150000"/>
              </a:lnSpc>
              <a:spcBef>
                <a:spcPct val="50000"/>
              </a:spcBef>
            </a:pP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表达了有向曲面上的曲面积分与其边界曲线上的曲线积分之间的关系</a:t>
            </a:r>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0" dirty="0">
              <a:latin typeface="Times New Roman" panose="02020603050405020304" pitchFamily="18" charset="0"/>
              <a:cs typeface="Times New Roman" panose="02020603050405020304" pitchFamily="18" charset="0"/>
            </a:endParaRPr>
          </a:p>
        </p:txBody>
      </p:sp>
      <p:grpSp>
        <p:nvGrpSpPr>
          <p:cNvPr id="17" name="组合 16">
            <a:extLst>
              <a:ext uri="{FF2B5EF4-FFF2-40B4-BE49-F238E27FC236}">
                <a16:creationId xmlns:a16="http://schemas.microsoft.com/office/drawing/2014/main" id="{7063A662-4EC2-84C1-2547-29C6D6AB015E}"/>
              </a:ext>
            </a:extLst>
          </p:cNvPr>
          <p:cNvGrpSpPr/>
          <p:nvPr/>
        </p:nvGrpSpPr>
        <p:grpSpPr>
          <a:xfrm>
            <a:off x="1108869" y="3610451"/>
            <a:ext cx="7467600" cy="872656"/>
            <a:chOff x="1108869" y="3610451"/>
            <a:chExt cx="7467600" cy="872656"/>
          </a:xfrm>
        </p:grpSpPr>
        <p:sp>
          <p:nvSpPr>
            <p:cNvPr id="5" name="Text Box 4">
              <a:extLst>
                <a:ext uri="{FF2B5EF4-FFF2-40B4-BE49-F238E27FC236}">
                  <a16:creationId xmlns:a16="http://schemas.microsoft.com/office/drawing/2014/main" id="{6869AECA-466C-D0AF-93A7-4FBA897E5D22}"/>
                </a:ext>
              </a:extLst>
            </p:cNvPr>
            <p:cNvSpPr txBox="1">
              <a:spLocks noChangeArrowheads="1"/>
            </p:cNvSpPr>
            <p:nvPr/>
          </p:nvSpPr>
          <p:spPr bwMode="auto">
            <a:xfrm>
              <a:off x="1108869" y="3959232"/>
              <a:ext cx="3048000" cy="523875"/>
            </a:xfrm>
            <a:prstGeom prst="rect">
              <a:avLst/>
            </a:prstGeom>
            <a:solidFill>
              <a:srgbClr val="04926A">
                <a:alpha val="42000"/>
              </a:srgbClr>
            </a:solidFill>
            <a:ln w="9525">
              <a:noFill/>
              <a:miter lim="800000"/>
              <a:headEnd/>
              <a:tailEnd/>
            </a:ln>
            <a:effectLst/>
          </p:spPr>
          <p:txBody>
            <a:bodyPr>
              <a:spAutoFit/>
            </a:bodyPr>
            <a:lstStyle/>
            <a:p>
              <a:pPr algn="ctr" eaLnBrk="1" hangingPunct="1">
                <a:spcBef>
                  <a:spcPct val="50000"/>
                </a:spcBef>
              </a:pPr>
              <a:r>
                <a:rPr kumimoji="1" lang="zh-CN" altLang="en-US" sz="2800" dirty="0">
                  <a:solidFill>
                    <a:schemeClr val="tx1">
                      <a:lumMod val="95000"/>
                      <a:lumOff val="5000"/>
                    </a:schemeClr>
                  </a:solidFill>
                  <a:latin typeface="Cambria Math" panose="02040503050406030204" pitchFamily="18" charset="0"/>
                  <a:ea typeface="黑体" panose="02010609060101010101" pitchFamily="49" charset="-122"/>
                </a:rPr>
                <a:t>斯托克斯公式</a:t>
              </a:r>
            </a:p>
          </p:txBody>
        </p:sp>
        <p:sp>
          <p:nvSpPr>
            <p:cNvPr id="6" name="AutoShape 5">
              <a:extLst>
                <a:ext uri="{FF2B5EF4-FFF2-40B4-BE49-F238E27FC236}">
                  <a16:creationId xmlns:a16="http://schemas.microsoft.com/office/drawing/2014/main" id="{3669A263-EFD5-088D-1D68-722A7BAE9E67}"/>
                </a:ext>
              </a:extLst>
            </p:cNvPr>
            <p:cNvSpPr>
              <a:spLocks noChangeArrowheads="1"/>
            </p:cNvSpPr>
            <p:nvPr/>
          </p:nvSpPr>
          <p:spPr bwMode="auto">
            <a:xfrm>
              <a:off x="4156869" y="4052849"/>
              <a:ext cx="2209800" cy="333375"/>
            </a:xfrm>
            <a:prstGeom prst="rightArrow">
              <a:avLst>
                <a:gd name="adj1" fmla="val 37259"/>
                <a:gd name="adj2" fmla="val 165714"/>
              </a:avLst>
            </a:prstGeom>
            <a:solidFill>
              <a:srgbClr val="04926A">
                <a:alpha val="42000"/>
              </a:srgbClr>
            </a:solidFill>
            <a:ln w="9525">
              <a:noFill/>
              <a:miter lim="800000"/>
              <a:headEnd/>
              <a:tailEnd/>
            </a:ln>
            <a:effec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7" name="Text Box 6">
              <a:extLst>
                <a:ext uri="{FF2B5EF4-FFF2-40B4-BE49-F238E27FC236}">
                  <a16:creationId xmlns:a16="http://schemas.microsoft.com/office/drawing/2014/main" id="{082B8950-D1D7-8281-B766-007130E1DD47}"/>
                </a:ext>
              </a:extLst>
            </p:cNvPr>
            <p:cNvSpPr txBox="1">
              <a:spLocks noChangeArrowheads="1"/>
            </p:cNvSpPr>
            <p:nvPr/>
          </p:nvSpPr>
          <p:spPr bwMode="auto">
            <a:xfrm>
              <a:off x="6366669" y="3959232"/>
              <a:ext cx="2209800" cy="523875"/>
            </a:xfrm>
            <a:prstGeom prst="rect">
              <a:avLst/>
            </a:prstGeom>
            <a:solidFill>
              <a:srgbClr val="04926A">
                <a:alpha val="42000"/>
              </a:srgbClr>
            </a:solidFill>
            <a:ln w="9525">
              <a:noFill/>
              <a:miter lim="800000"/>
              <a:headEnd/>
              <a:tailEnd/>
            </a:ln>
            <a:effectLst/>
          </p:spPr>
          <p:txBody>
            <a:bodyPr>
              <a:spAutoFit/>
            </a:bodyPr>
            <a:lstStyle/>
            <a:p>
              <a:pPr algn="ctr" eaLnBrk="1" hangingPunct="1">
                <a:spcBef>
                  <a:spcPct val="50000"/>
                </a:spcBef>
              </a:pPr>
              <a:r>
                <a:rPr kumimoji="1" lang="zh-CN" altLang="en-US" sz="2800" dirty="0">
                  <a:solidFill>
                    <a:schemeClr val="tx1">
                      <a:lumMod val="95000"/>
                      <a:lumOff val="5000"/>
                    </a:schemeClr>
                  </a:solidFill>
                  <a:latin typeface="Cambria Math" panose="02040503050406030204" pitchFamily="18" charset="0"/>
                  <a:ea typeface="黑体" panose="02010609060101010101" pitchFamily="49" charset="-122"/>
                </a:rPr>
                <a:t>格林公式</a:t>
              </a:r>
            </a:p>
          </p:txBody>
        </p:sp>
        <p:sp>
          <p:nvSpPr>
            <p:cNvPr id="8" name="Text Box 7">
              <a:extLst>
                <a:ext uri="{FF2B5EF4-FFF2-40B4-BE49-F238E27FC236}">
                  <a16:creationId xmlns:a16="http://schemas.microsoft.com/office/drawing/2014/main" id="{4F508075-762C-31F8-EF2B-A8B329435292}"/>
                </a:ext>
              </a:extLst>
            </p:cNvPr>
            <p:cNvSpPr txBox="1">
              <a:spLocks noChangeArrowheads="1"/>
            </p:cNvSpPr>
            <p:nvPr/>
          </p:nvSpPr>
          <p:spPr bwMode="auto">
            <a:xfrm>
              <a:off x="4174332" y="3610451"/>
              <a:ext cx="1608847"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spcBef>
                  <a:spcPct val="50000"/>
                </a:spcBef>
              </a:pPr>
              <a:r>
                <a:rPr kumimoji="1" lang="zh-CN" altLang="en-US" sz="2800" dirty="0">
                  <a:solidFill>
                    <a:schemeClr val="tx1">
                      <a:lumMod val="95000"/>
                      <a:lumOff val="5000"/>
                    </a:schemeClr>
                  </a:solidFill>
                  <a:latin typeface="Cambria Math" panose="02040503050406030204" pitchFamily="18" charset="0"/>
                  <a:ea typeface="黑体" panose="02010609060101010101" pitchFamily="49" charset="-122"/>
                </a:rPr>
                <a:t>特殊情形</a:t>
              </a:r>
            </a:p>
          </p:txBody>
        </p:sp>
      </p:grpSp>
      <mc:AlternateContent xmlns:mc="http://schemas.openxmlformats.org/markup-compatibility/2006" xmlns:a14="http://schemas.microsoft.com/office/drawing/2010/main">
        <mc:Choice Requires="a14">
          <p:sp>
            <p:nvSpPr>
              <p:cNvPr id="9" name="对象 8">
                <a:extLst>
                  <a:ext uri="{FF2B5EF4-FFF2-40B4-BE49-F238E27FC236}">
                    <a16:creationId xmlns:a16="http://schemas.microsoft.com/office/drawing/2014/main" id="{A8CC7230-BBEC-CC6E-9AD7-F6CF4DEE6831}"/>
                  </a:ext>
                </a:extLst>
              </p:cNvPr>
              <p:cNvSpPr txBox="1"/>
              <p:nvPr/>
            </p:nvSpPr>
            <p:spPr>
              <a:xfrm>
                <a:off x="982875" y="2968552"/>
                <a:ext cx="4833126" cy="431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rPr>
                        <m:t>当</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b="0" i="1">
                          <a:solidFill>
                            <a:schemeClr val="tx1">
                              <a:lumMod val="95000"/>
                              <a:lumOff val="5000"/>
                            </a:schemeClr>
                          </a:solidFill>
                          <a:latin typeface="Cambria Math" panose="02040503050406030204" pitchFamily="18" charset="0"/>
                          <a:ea typeface="黑体" panose="02010609060101010101" pitchFamily="49" charset="-122"/>
                        </a:rPr>
                        <m:t>𝛴</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是</m:t>
                      </m:r>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𝑥𝑂𝑦</m:t>
                      </m:r>
                      <m: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t>面的平面闭区域时</m:t>
                      </m:r>
                    </m:oMath>
                  </m:oMathPara>
                </a14:m>
                <a:endParaRPr kumimoji="1" lang="zh-CN" altLang="en-US" sz="2800" i="1" dirty="0">
                  <a:solidFill>
                    <a:schemeClr val="tx1">
                      <a:lumMod val="95000"/>
                      <a:lumOff val="5000"/>
                    </a:schemeClr>
                  </a:solidFill>
                  <a:latin typeface="Cambria Math" panose="02040503050406030204" pitchFamily="18" charset="0"/>
                  <a:ea typeface="黑体" panose="02010609060101010101" pitchFamily="49" charset="-122"/>
                </a:endParaRPr>
              </a:p>
            </p:txBody>
          </p:sp>
        </mc:Choice>
        <mc:Fallback xmlns="">
          <p:sp>
            <p:nvSpPr>
              <p:cNvPr id="9" name="对象 8">
                <a:extLst>
                  <a:ext uri="{FF2B5EF4-FFF2-40B4-BE49-F238E27FC236}">
                    <a16:creationId xmlns:a16="http://schemas.microsoft.com/office/drawing/2014/main" id="{A8CC7230-BBEC-CC6E-9AD7-F6CF4DEE6831}"/>
                  </a:ext>
                </a:extLst>
              </p:cNvPr>
              <p:cNvSpPr txBox="1">
                <a:spLocks noRot="1" noChangeAspect="1" noMove="1" noResize="1" noEditPoints="1" noAdjustHandles="1" noChangeArrowheads="1" noChangeShapeType="1" noTextEdit="1"/>
              </p:cNvSpPr>
              <p:nvPr/>
            </p:nvSpPr>
            <p:spPr>
              <a:xfrm>
                <a:off x="982875" y="2968552"/>
                <a:ext cx="4833126" cy="431800"/>
              </a:xfrm>
              <a:prstGeom prst="rect">
                <a:avLst/>
              </a:prstGeom>
              <a:blipFill>
                <a:blip r:embed="rId3"/>
                <a:stretch>
                  <a:fillRect b="-84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7FAB3A2-4845-1D64-849A-91F5E1B3F911}"/>
                  </a:ext>
                </a:extLst>
              </p:cNvPr>
              <p:cNvSpPr txBox="1"/>
              <p:nvPr/>
            </p:nvSpPr>
            <p:spPr>
              <a:xfrm>
                <a:off x="1108869" y="4776433"/>
                <a:ext cx="10025061" cy="1157881"/>
              </a:xfrm>
              <a:prstGeom prst="rect">
                <a:avLst/>
              </a:prstGeom>
              <a:solidFill>
                <a:srgbClr val="04926A">
                  <a:alpha val="42000"/>
                </a:srgbClr>
              </a:solidFill>
            </p:spPr>
            <p:txBody>
              <a:bodyPr wrap="square" rtlCol="0" anchor="t">
                <a:spAutoFit/>
              </a:bodyPr>
              <a:lstStyle/>
              <a:p>
                <a:pPr>
                  <a:lnSpc>
                    <a:spcPct val="120000"/>
                  </a:lnSpc>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e>
                          </m:d>
                        </m:e>
                      </m:nary>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den>
                          </m:f>
                        </m:e>
                      </m:d>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den>
                          </m:f>
                        </m:e>
                      </m:d>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prstClr val="black"/>
                              </a:solidFill>
                              <a:latin typeface="Cambria Math" panose="02040503050406030204" pitchFamily="18" charset="0"/>
                              <a:ea typeface="黑体" panose="02010609060101010101" pitchFamily="49" charset="-122"/>
                            </a:rPr>
                            <m:t>𝛤</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𝑃</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𝑄</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𝑅</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e>
                      </m:nary>
                    </m:oMath>
                  </m:oMathPara>
                </a14:m>
                <a:endParaRPr kumimoji="1" lang="zh-CN" altLang="en-US" sz="2200" dirty="0">
                  <a:solidFill>
                    <a:schemeClr val="tx1">
                      <a:lumMod val="95000"/>
                      <a:lumOff val="5000"/>
                    </a:schemeClr>
                  </a:solidFill>
                  <a:latin typeface="Times New Roman" panose="02020603050405020304" pitchFamily="18" charset="0"/>
                  <a:ea typeface="黑体" panose="02010609060101010101" pitchFamily="49" charset="-122"/>
                </a:endParaRPr>
              </a:p>
            </p:txBody>
          </p:sp>
        </mc:Choice>
        <mc:Fallback xmlns="">
          <p:sp>
            <p:nvSpPr>
              <p:cNvPr id="16" name="文本框 15">
                <a:extLst>
                  <a:ext uri="{FF2B5EF4-FFF2-40B4-BE49-F238E27FC236}">
                    <a16:creationId xmlns:a16="http://schemas.microsoft.com/office/drawing/2014/main" id="{37FAB3A2-4845-1D64-849A-91F5E1B3F911}"/>
                  </a:ext>
                </a:extLst>
              </p:cNvPr>
              <p:cNvSpPr txBox="1">
                <a:spLocks noRot="1" noChangeAspect="1" noMove="1" noResize="1" noEditPoints="1" noAdjustHandles="1" noChangeArrowheads="1" noChangeShapeType="1" noTextEdit="1"/>
              </p:cNvSpPr>
              <p:nvPr/>
            </p:nvSpPr>
            <p:spPr>
              <a:xfrm>
                <a:off x="1108869" y="4776433"/>
                <a:ext cx="10025061" cy="1157881"/>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8785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a:extLst>
              <a:ext uri="{FF2B5EF4-FFF2-40B4-BE49-F238E27FC236}">
                <a16:creationId xmlns:a16="http://schemas.microsoft.com/office/drawing/2014/main" id="{87A56452-07DE-FBF7-9557-0BFBAE63B784}"/>
              </a:ext>
            </a:extLst>
          </p:cNvPr>
          <p:cNvSpPr/>
          <p:nvPr/>
        </p:nvSpPr>
        <p:spPr>
          <a:xfrm>
            <a:off x="687388" y="495300"/>
            <a:ext cx="10817225" cy="58674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半闭框 71">
            <a:extLst>
              <a:ext uri="{FF2B5EF4-FFF2-40B4-BE49-F238E27FC236}">
                <a16:creationId xmlns:a16="http://schemas.microsoft.com/office/drawing/2014/main" id="{62B571CA-20EA-4C53-A216-222323D2C9E6}"/>
              </a:ext>
            </a:extLst>
          </p:cNvPr>
          <p:cNvSpPr/>
          <p:nvPr/>
        </p:nvSpPr>
        <p:spPr>
          <a:xfrm>
            <a:off x="687324" y="4953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3" name="半闭框 72">
            <a:extLst>
              <a:ext uri="{FF2B5EF4-FFF2-40B4-BE49-F238E27FC236}">
                <a16:creationId xmlns:a16="http://schemas.microsoft.com/office/drawing/2014/main" id="{1DA0D1E9-748C-31B8-F59E-AD88863758E0}"/>
              </a:ext>
            </a:extLst>
          </p:cNvPr>
          <p:cNvSpPr/>
          <p:nvPr/>
        </p:nvSpPr>
        <p:spPr>
          <a:xfrm flipH="1">
            <a:off x="10823530" y="4953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4" name="半闭框 73">
            <a:extLst>
              <a:ext uri="{FF2B5EF4-FFF2-40B4-BE49-F238E27FC236}">
                <a16:creationId xmlns:a16="http://schemas.microsoft.com/office/drawing/2014/main" id="{F92A0E4B-E046-A419-A8C6-1F80AD853FF9}"/>
              </a:ext>
            </a:extLst>
          </p:cNvPr>
          <p:cNvSpPr/>
          <p:nvPr/>
        </p:nvSpPr>
        <p:spPr>
          <a:xfrm flipV="1">
            <a:off x="687324" y="56891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5" name="半闭框 74">
            <a:extLst>
              <a:ext uri="{FF2B5EF4-FFF2-40B4-BE49-F238E27FC236}">
                <a16:creationId xmlns:a16="http://schemas.microsoft.com/office/drawing/2014/main" id="{41279F77-D078-93AD-2BDF-5C5AD85956E1}"/>
              </a:ext>
            </a:extLst>
          </p:cNvPr>
          <p:cNvSpPr/>
          <p:nvPr/>
        </p:nvSpPr>
        <p:spPr>
          <a:xfrm flipH="1" flipV="1">
            <a:off x="10823530" y="56693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mc:AlternateContent xmlns:mc="http://schemas.openxmlformats.org/markup-compatibility/2006" xmlns:a14="http://schemas.microsoft.com/office/drawing/2010/main">
        <mc:Choice Requires="a14">
          <p:sp>
            <p:nvSpPr>
              <p:cNvPr id="2" name="Object 1026">
                <a:extLst>
                  <a:ext uri="{FF2B5EF4-FFF2-40B4-BE49-F238E27FC236}">
                    <a16:creationId xmlns:a16="http://schemas.microsoft.com/office/drawing/2014/main" id="{AFDA33B8-2486-A445-0947-F887D25D5E96}"/>
                  </a:ext>
                </a:extLst>
              </p:cNvPr>
              <p:cNvSpPr txBox="1"/>
              <p:nvPr/>
            </p:nvSpPr>
            <p:spPr bwMode="auto">
              <a:xfrm>
                <a:off x="2012950" y="3580679"/>
                <a:ext cx="3510038" cy="1442966"/>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𝛴</m:t>
                          </m:r>
                        </m:sub>
                        <m:sup/>
                        <m:e>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3"/>
                                        <m:mcJc m:val="center"/>
                                      </m:mcPr>
                                    </m:mc>
                                  </m:mcs>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mPr>
                                <m:mr>
                                  <m:e>
                                    <m:r>
                                      <m:rPr>
                                        <m:sty m:val="p"/>
                                      </m:rPr>
                                      <a:rPr kumimoji="1" lang="zh-CN" altLang="en-US" sz="2200" b="0" i="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200" b="0" i="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𝑧</m:t>
                                    </m:r>
                                  </m:e>
                                  <m:e>
                                    <m:r>
                                      <m:rPr>
                                        <m:sty m:val="p"/>
                                      </m:rPr>
                                      <a:rPr kumimoji="1" lang="zh-CN" altLang="en-US" sz="2200" b="0" i="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b="0" i="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𝑥</m:t>
                                    </m:r>
                                  </m:e>
                                  <m:e>
                                    <m:r>
                                      <m:rPr>
                                        <m:sty m:val="p"/>
                                      </m:rPr>
                                      <a:rPr kumimoji="1" lang="zh-CN" altLang="en-US" sz="2200" b="0" i="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b="0" i="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𝑦</m:t>
                                    </m:r>
                                  </m:e>
                                </m:mr>
                                <m:m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𝑥</m:t>
                                        </m:r>
                                      </m:den>
                                    </m:f>
                                  </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𝑦</m:t>
                                        </m:r>
                                      </m:den>
                                    </m:f>
                                  </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m:t>
                                        </m:r>
                                      </m:num>
                                      <m:den>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b="0" i="1">
                                            <a:solidFill>
                                              <a:schemeClr val="tx1">
                                                <a:lumMod val="95000"/>
                                                <a:lumOff val="5000"/>
                                              </a:schemeClr>
                                            </a:solidFill>
                                            <a:latin typeface="Cambria Math" panose="02040503050406030204" pitchFamily="18" charset="0"/>
                                            <a:ea typeface="黑体" panose="02010609060101010101" pitchFamily="49" charset="-122"/>
                                          </a:rPr>
                                          <m:t>𝑧</m:t>
                                        </m:r>
                                      </m:den>
                                    </m:f>
                                  </m:e>
                                </m:mr>
                                <m:mr>
                                  <m:e>
                                    <m:r>
                                      <a:rPr kumimoji="1" lang="zh-CN" altLang="en-US" sz="2200" b="0" i="1">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𝑧</m:t>
                                    </m:r>
                                  </m:e>
                                  <m:e>
                                    <m:r>
                                      <a:rPr kumimoji="1" lang="zh-CN" altLang="en-US" sz="2200" b="0" i="1">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𝑥</m:t>
                                    </m:r>
                                  </m:e>
                                  <m:e>
                                    <m:r>
                                      <a:rPr kumimoji="1" lang="zh-CN" altLang="en-US" sz="2200" b="0" i="1">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𝑦</m:t>
                                    </m:r>
                                  </m:e>
                                </m:mr>
                              </m:m>
                            </m:e>
                          </m:d>
                        </m:e>
                      </m:nary>
                    </m:oMath>
                  </m:oMathPara>
                </a14:m>
                <a:endParaRPr lang="zh-CN" altLang="en-US" sz="2200" dirty="0"/>
              </a:p>
            </p:txBody>
          </p:sp>
        </mc:Choice>
        <mc:Fallback xmlns="">
          <p:sp>
            <p:nvSpPr>
              <p:cNvPr id="2" name="Object 1026">
                <a:extLst>
                  <a:ext uri="{FF2B5EF4-FFF2-40B4-BE49-F238E27FC236}">
                    <a16:creationId xmlns:a16="http://schemas.microsoft.com/office/drawing/2014/main" id="{AFDA33B8-2486-A445-0947-F887D25D5E96}"/>
                  </a:ext>
                </a:extLst>
              </p:cNvPr>
              <p:cNvSpPr txBox="1">
                <a:spLocks noRot="1" noChangeAspect="1" noMove="1" noResize="1" noEditPoints="1" noAdjustHandles="1" noChangeArrowheads="1" noChangeShapeType="1" noTextEdit="1"/>
              </p:cNvSpPr>
              <p:nvPr/>
            </p:nvSpPr>
            <p:spPr bwMode="auto">
              <a:xfrm>
                <a:off x="2012950" y="3580679"/>
                <a:ext cx="3510038" cy="1442966"/>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22" name="Rectangle 1049">
            <a:extLst>
              <a:ext uri="{FF2B5EF4-FFF2-40B4-BE49-F238E27FC236}">
                <a16:creationId xmlns:a16="http://schemas.microsoft.com/office/drawing/2014/main" id="{32553F4C-E24E-6DE3-ECD7-56DC0E1815BF}"/>
              </a:ext>
            </a:extLst>
          </p:cNvPr>
          <p:cNvSpPr txBox="1">
            <a:spLocks noChangeArrowheads="1"/>
          </p:cNvSpPr>
          <p:nvPr/>
        </p:nvSpPr>
        <p:spPr>
          <a:xfrm>
            <a:off x="1238999" y="884102"/>
            <a:ext cx="6374069" cy="609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04926A"/>
                </a:solidFill>
                <a:latin typeface="微软雅黑" panose="020B0503020204020204" pitchFamily="34" charset="-122"/>
                <a:ea typeface="微软雅黑" panose="020B0503020204020204" pitchFamily="34" charset="-122"/>
              </a:rPr>
              <a:t>例</a:t>
            </a:r>
            <a:r>
              <a:rPr lang="en-US" altLang="zh-CN" sz="2800" b="1" dirty="0">
                <a:solidFill>
                  <a:srgbClr val="04926A"/>
                </a:solidFill>
                <a:latin typeface="微软雅黑" panose="020B0503020204020204" pitchFamily="34" charset="-122"/>
                <a:ea typeface="微软雅黑" panose="020B0503020204020204" pitchFamily="34" charset="-122"/>
              </a:rPr>
              <a:t>1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利用斯托克斯公式计算曲线积分</a:t>
            </a:r>
          </a:p>
        </p:txBody>
      </p:sp>
      <mc:AlternateContent xmlns:mc="http://schemas.openxmlformats.org/markup-compatibility/2006" xmlns:a14="http://schemas.microsoft.com/office/drawing/2010/main">
        <mc:Choice Requires="a14">
          <p:sp>
            <p:nvSpPr>
              <p:cNvPr id="23" name="Object 1050">
                <a:extLst>
                  <a:ext uri="{FF2B5EF4-FFF2-40B4-BE49-F238E27FC236}">
                    <a16:creationId xmlns:a16="http://schemas.microsoft.com/office/drawing/2014/main" id="{6B3B3C76-146C-0515-112C-3FF1D705DB16}"/>
                  </a:ext>
                </a:extLst>
              </p:cNvPr>
              <p:cNvSpPr txBox="1"/>
              <p:nvPr/>
            </p:nvSpPr>
            <p:spPr bwMode="auto">
              <a:xfrm>
                <a:off x="7099440" y="594982"/>
                <a:ext cx="3060700" cy="106700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supHide m:val="on"/>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cs typeface="Cambria Math" panose="02040503050406030204" charset="0"/>
                            </a:rPr>
                          </m:ctrlPr>
                        </m:naryPr>
                        <m:sub>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𝛤</m:t>
                          </m:r>
                        </m:sub>
                        <m:sup/>
                        <m:e>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𝑧</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𝑥</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𝑦</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𝑧</m:t>
                          </m:r>
                        </m:e>
                      </m:nary>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endParaRPr>
              </a:p>
            </p:txBody>
          </p:sp>
        </mc:Choice>
        <mc:Fallback xmlns="">
          <p:sp>
            <p:nvSpPr>
              <p:cNvPr id="23" name="Object 1050">
                <a:extLst>
                  <a:ext uri="{FF2B5EF4-FFF2-40B4-BE49-F238E27FC236}">
                    <a16:creationId xmlns:a16="http://schemas.microsoft.com/office/drawing/2014/main" id="{6B3B3C76-146C-0515-112C-3FF1D705DB16}"/>
                  </a:ext>
                </a:extLst>
              </p:cNvPr>
              <p:cNvSpPr txBox="1">
                <a:spLocks noRot="1" noChangeAspect="1" noMove="1" noResize="1" noEditPoints="1" noAdjustHandles="1" noChangeArrowheads="1" noChangeShapeType="1" noTextEdit="1"/>
              </p:cNvSpPr>
              <p:nvPr/>
            </p:nvSpPr>
            <p:spPr bwMode="auto">
              <a:xfrm>
                <a:off x="7099440" y="594982"/>
                <a:ext cx="3060700" cy="1067003"/>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Text Box 1051">
                <a:extLst>
                  <a:ext uri="{FF2B5EF4-FFF2-40B4-BE49-F238E27FC236}">
                    <a16:creationId xmlns:a16="http://schemas.microsoft.com/office/drawing/2014/main" id="{6191AA07-7EA7-306E-9435-2777A17D9B2F}"/>
                  </a:ext>
                </a:extLst>
              </p:cNvPr>
              <p:cNvSpPr txBox="1">
                <a:spLocks noChangeArrowheads="1"/>
              </p:cNvSpPr>
              <p:nvPr/>
            </p:nvSpPr>
            <p:spPr bwMode="auto">
              <a:xfrm>
                <a:off x="2012950" y="1470929"/>
                <a:ext cx="9112997"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lvl="0" fontAlgn="base">
                  <a:spcBef>
                    <a:spcPct val="50000"/>
                  </a:spcBef>
                  <a:spcAft>
                    <a:spcPct val="0"/>
                  </a:spcAft>
                  <a:defRPr/>
                </a:pPr>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其中 </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𝛤</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 为平面</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𝑥</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𝑦</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𝑧</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 1 </a:t>
                </a:r>
                <a:r>
                  <a:rPr kumimoji="1" lang="zh-CN" altLang="zh-CN"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被三</a:t>
                </a:r>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个</a:t>
                </a:r>
                <a:r>
                  <a:rPr kumimoji="1" lang="zh-CN" altLang="zh-CN"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坐标面所截三角形的整个</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endParaRPr>
              </a:p>
            </p:txBody>
          </p:sp>
        </mc:Choice>
        <mc:Fallback xmlns="">
          <p:sp>
            <p:nvSpPr>
              <p:cNvPr id="24" name="Text Box 1051">
                <a:extLst>
                  <a:ext uri="{FF2B5EF4-FFF2-40B4-BE49-F238E27FC236}">
                    <a16:creationId xmlns:a16="http://schemas.microsoft.com/office/drawing/2014/main" id="{6191AA07-7EA7-306E-9435-2777A17D9B2F}"/>
                  </a:ext>
                </a:extLst>
              </p:cNvPr>
              <p:cNvSpPr txBox="1">
                <a:spLocks noRot="1" noChangeAspect="1" noMove="1" noResize="1" noEditPoints="1" noAdjustHandles="1" noChangeArrowheads="1" noChangeShapeType="1" noTextEdit="1"/>
              </p:cNvSpPr>
              <p:nvPr/>
            </p:nvSpPr>
            <p:spPr bwMode="auto">
              <a:xfrm>
                <a:off x="2012950" y="1470929"/>
                <a:ext cx="9112997" cy="523220"/>
              </a:xfrm>
              <a:prstGeom prst="rect">
                <a:avLst/>
              </a:prstGeom>
              <a:blipFill>
                <a:blip r:embed="rId11"/>
                <a:stretch>
                  <a:fillRect l="-1338" t="-15116" r="-401" b="-31395"/>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Text Box 1052">
                <a:extLst>
                  <a:ext uri="{FF2B5EF4-FFF2-40B4-BE49-F238E27FC236}">
                    <a16:creationId xmlns:a16="http://schemas.microsoft.com/office/drawing/2014/main" id="{4EC4E731-3D55-041E-7090-AA359165A312}"/>
                  </a:ext>
                </a:extLst>
              </p:cNvPr>
              <p:cNvSpPr txBox="1">
                <a:spLocks noChangeArrowheads="1"/>
              </p:cNvSpPr>
              <p:nvPr/>
            </p:nvSpPr>
            <p:spPr bwMode="auto">
              <a:xfrm>
                <a:off x="2005830" y="2521851"/>
                <a:ext cx="3104675" cy="430887"/>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lvl="0" fontAlgn="base">
                  <a:spcBef>
                    <a:spcPct val="50000"/>
                  </a:spcBef>
                  <a:spcAft>
                    <a:spcPct val="0"/>
                  </a:spcAft>
                  <a:defRPr/>
                </a:pPr>
                <a:r>
                  <a:rPr kumimoji="1" lang="zh-CN" altLang="en-US" sz="2200" dirty="0">
                    <a:solidFill>
                      <a:schemeClr val="tx1">
                        <a:lumMod val="95000"/>
                        <a:lumOff val="5000"/>
                      </a:schemeClr>
                    </a:solidFill>
                    <a:latin typeface="Cambria Math" panose="02040503050406030204" pitchFamily="18" charset="0"/>
                    <a:ea typeface="黑体" panose="02010609060101010101" pitchFamily="49" charset="-122"/>
                  </a:rPr>
                  <a:t>记三角形域为 </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𝛴</m:t>
                    </m:r>
                  </m:oMath>
                </a14:m>
                <a:r>
                  <a:rPr kumimoji="1" lang="en-US" altLang="zh-CN" sz="2200" dirty="0">
                    <a:solidFill>
                      <a:schemeClr val="tx1">
                        <a:lumMod val="95000"/>
                        <a:lumOff val="5000"/>
                      </a:schemeClr>
                    </a:solidFill>
                    <a:latin typeface="Cambria Math" panose="02040503050406030204" pitchFamily="18" charset="0"/>
                    <a:ea typeface="黑体" panose="02010609060101010101" pitchFamily="49" charset="-122"/>
                    <a:sym typeface="Symbol" panose="05050102010706020507" pitchFamily="18" charset="2"/>
                  </a:rPr>
                  <a:t>, </a:t>
                </a:r>
                <a:r>
                  <a:rPr kumimoji="1" lang="zh-CN" altLang="en-US" sz="2200" dirty="0">
                    <a:solidFill>
                      <a:schemeClr val="tx1">
                        <a:lumMod val="95000"/>
                        <a:lumOff val="5000"/>
                      </a:schemeClr>
                    </a:solidFill>
                    <a:latin typeface="Cambria Math" panose="02040503050406030204" pitchFamily="18" charset="0"/>
                    <a:ea typeface="黑体" panose="02010609060101010101" pitchFamily="49" charset="-122"/>
                    <a:sym typeface="Symbol" panose="05050102010706020507" pitchFamily="18" charset="2"/>
                  </a:rPr>
                  <a:t>取上侧</a:t>
                </a:r>
                <a:r>
                  <a:rPr kumimoji="1" lang="en-US" altLang="zh-CN" sz="2200" dirty="0">
                    <a:solidFill>
                      <a:schemeClr val="tx1">
                        <a:lumMod val="95000"/>
                        <a:lumOff val="5000"/>
                      </a:schemeClr>
                    </a:solidFill>
                    <a:latin typeface="Cambria Math" panose="02040503050406030204" pitchFamily="18" charset="0"/>
                    <a:ea typeface="黑体" panose="02010609060101010101" pitchFamily="49" charset="-122"/>
                    <a:sym typeface="Symbol" panose="05050102010706020507" pitchFamily="18" charset="2"/>
                  </a:rPr>
                  <a:t>,</a:t>
                </a:r>
                <a:endParaRPr kumimoji="1" lang="en-US" altLang="zh-CN" sz="2200" dirty="0">
                  <a:solidFill>
                    <a:schemeClr val="tx1">
                      <a:lumMod val="95000"/>
                      <a:lumOff val="5000"/>
                    </a:schemeClr>
                  </a:solidFill>
                  <a:latin typeface="Cambria Math" panose="02040503050406030204" pitchFamily="18" charset="0"/>
                  <a:ea typeface="黑体" panose="02010609060101010101" pitchFamily="49" charset="-122"/>
                </a:endParaRPr>
              </a:p>
            </p:txBody>
          </p:sp>
        </mc:Choice>
        <mc:Fallback xmlns="">
          <p:sp>
            <p:nvSpPr>
              <p:cNvPr id="25" name="Text Box 1052">
                <a:extLst>
                  <a:ext uri="{FF2B5EF4-FFF2-40B4-BE49-F238E27FC236}">
                    <a16:creationId xmlns:a16="http://schemas.microsoft.com/office/drawing/2014/main" id="{4EC4E731-3D55-041E-7090-AA359165A312}"/>
                  </a:ext>
                </a:extLst>
              </p:cNvPr>
              <p:cNvSpPr txBox="1">
                <a:spLocks noRot="1" noChangeAspect="1" noMove="1" noResize="1" noEditPoints="1" noAdjustHandles="1" noChangeArrowheads="1" noChangeShapeType="1" noTextEdit="1"/>
              </p:cNvSpPr>
              <p:nvPr/>
            </p:nvSpPr>
            <p:spPr bwMode="auto">
              <a:xfrm>
                <a:off x="2005830" y="2521851"/>
                <a:ext cx="3104675" cy="430887"/>
              </a:xfrm>
              <a:prstGeom prst="rect">
                <a:avLst/>
              </a:prstGeom>
              <a:blipFill>
                <a:blip r:embed="rId12"/>
                <a:stretch>
                  <a:fillRect l="-2554" t="-14286" r="-4322" b="-28571"/>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sp>
        <p:nvSpPr>
          <p:cNvPr id="27" name="Text Box 1054">
            <a:extLst>
              <a:ext uri="{FF2B5EF4-FFF2-40B4-BE49-F238E27FC236}">
                <a16:creationId xmlns:a16="http://schemas.microsoft.com/office/drawing/2014/main" id="{8B693782-D059-0B67-CA97-A2C416010351}"/>
              </a:ext>
            </a:extLst>
          </p:cNvPr>
          <p:cNvSpPr txBox="1">
            <a:spLocks noChangeArrowheads="1"/>
          </p:cNvSpPr>
          <p:nvPr/>
        </p:nvSpPr>
        <p:spPr bwMode="auto">
          <a:xfrm>
            <a:off x="5035694" y="2521850"/>
            <a:ext cx="609600"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pitchFamily="18" charset="0"/>
                <a:ea typeface="黑体" panose="02010609060101010101" pitchFamily="49" charset="-122"/>
                <a:sym typeface="Symbol" panose="05050102010706020507" pitchFamily="18" charset="2"/>
              </a:rPr>
              <a:t>则</a:t>
            </a:r>
            <a:endParaRPr kumimoji="1" lang="zh-CN" altLang="en-US" sz="2200" dirty="0">
              <a:solidFill>
                <a:schemeClr val="tx1">
                  <a:lumMod val="95000"/>
                  <a:lumOff val="5000"/>
                </a:schemeClr>
              </a:solidFill>
              <a:latin typeface="Cambria Math" panose="02040503050406030204" pitchFamily="18" charset="0"/>
              <a:ea typeface="黑体" panose="02010609060101010101" pitchFamily="49" charset="-122"/>
            </a:endParaRPr>
          </a:p>
        </p:txBody>
      </p:sp>
      <p:sp>
        <p:nvSpPr>
          <p:cNvPr id="28" name="Text Box 1055">
            <a:extLst>
              <a:ext uri="{FF2B5EF4-FFF2-40B4-BE49-F238E27FC236}">
                <a16:creationId xmlns:a16="http://schemas.microsoft.com/office/drawing/2014/main" id="{6306C556-CFB7-43C5-83E2-0E00E4F773AF}"/>
              </a:ext>
            </a:extLst>
          </p:cNvPr>
          <p:cNvSpPr txBox="1">
            <a:spLocks noChangeArrowheads="1"/>
          </p:cNvSpPr>
          <p:nvPr/>
        </p:nvSpPr>
        <p:spPr bwMode="auto">
          <a:xfrm>
            <a:off x="2012950" y="2005027"/>
            <a:ext cx="333375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zh-CN"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边界, 方向如图所示. </a:t>
            </a:r>
            <a:endPar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endParaRPr>
          </a:p>
        </p:txBody>
      </p:sp>
      <mc:AlternateContent xmlns:mc="http://schemas.openxmlformats.org/markup-compatibility/2006" xmlns:a14="http://schemas.microsoft.com/office/drawing/2010/main">
        <mc:Choice Requires="a14">
          <p:sp>
            <p:nvSpPr>
              <p:cNvPr id="29" name="Object 1058">
                <a:extLst>
                  <a:ext uri="{FF2B5EF4-FFF2-40B4-BE49-F238E27FC236}">
                    <a16:creationId xmlns:a16="http://schemas.microsoft.com/office/drawing/2014/main" id="{A9F3237E-1E03-3AF0-501C-CEDA624CE458}"/>
                  </a:ext>
                </a:extLst>
              </p:cNvPr>
              <p:cNvSpPr txBox="1"/>
              <p:nvPr/>
            </p:nvSpPr>
            <p:spPr bwMode="auto">
              <a:xfrm>
                <a:off x="2012950" y="2901937"/>
                <a:ext cx="2530749" cy="77400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Cambria Math" panose="02040503050406030204" charset="0"/>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𝛤</m:t>
                          </m:r>
                        </m:sub>
                        <m:sup/>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endParaRPr>
              </a:p>
            </p:txBody>
          </p:sp>
        </mc:Choice>
        <mc:Fallback xmlns="">
          <p:sp>
            <p:nvSpPr>
              <p:cNvPr id="29" name="Object 1058">
                <a:extLst>
                  <a:ext uri="{FF2B5EF4-FFF2-40B4-BE49-F238E27FC236}">
                    <a16:creationId xmlns:a16="http://schemas.microsoft.com/office/drawing/2014/main" id="{A9F3237E-1E03-3AF0-501C-CEDA624CE458}"/>
                  </a:ext>
                </a:extLst>
              </p:cNvPr>
              <p:cNvSpPr txBox="1">
                <a:spLocks noRot="1" noChangeAspect="1" noMove="1" noResize="1" noEditPoints="1" noAdjustHandles="1" noChangeArrowheads="1" noChangeShapeType="1" noTextEdit="1"/>
              </p:cNvSpPr>
              <p:nvPr/>
            </p:nvSpPr>
            <p:spPr bwMode="auto">
              <a:xfrm>
                <a:off x="2012950" y="2901937"/>
                <a:ext cx="2530749" cy="774003"/>
              </a:xfrm>
              <a:prstGeom prst="rect">
                <a:avLst/>
              </a:prstGeom>
              <a:blipFill>
                <a:blip r:embed="rId13"/>
                <a:stretch>
                  <a:fillRect/>
                </a:stretch>
              </a:blipFill>
              <a:ln>
                <a:noFill/>
              </a:ln>
              <a:effectLst/>
            </p:spPr>
            <p:txBody>
              <a:bodyPr/>
              <a:lstStyle/>
              <a:p>
                <a:r>
                  <a:rPr lang="zh-CN" altLang="en-US">
                    <a:noFill/>
                  </a:rPr>
                  <a:t> </a:t>
                </a:r>
              </a:p>
            </p:txBody>
          </p:sp>
        </mc:Fallback>
      </mc:AlternateContent>
      <p:sp>
        <p:nvSpPr>
          <p:cNvPr id="31" name="Text Box 1060">
            <a:extLst>
              <a:ext uri="{FF2B5EF4-FFF2-40B4-BE49-F238E27FC236}">
                <a16:creationId xmlns:a16="http://schemas.microsoft.com/office/drawing/2014/main" id="{D9D69431-2B5E-E02A-0264-BD444C9FDBA4}"/>
              </a:ext>
            </a:extLst>
          </p:cNvPr>
          <p:cNvSpPr txBox="1">
            <a:spLocks noChangeArrowheads="1"/>
          </p:cNvSpPr>
          <p:nvPr/>
        </p:nvSpPr>
        <p:spPr bwMode="auto">
          <a:xfrm>
            <a:off x="4710255" y="5852307"/>
            <a:ext cx="1613623" cy="430887"/>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a:t>利用对称性</a:t>
            </a:r>
          </a:p>
        </p:txBody>
      </p:sp>
      <mc:AlternateContent xmlns:mc="http://schemas.openxmlformats.org/markup-compatibility/2006" xmlns:a14="http://schemas.microsoft.com/office/drawing/2010/main">
        <mc:Choice Requires="a14">
          <p:sp>
            <p:nvSpPr>
              <p:cNvPr id="33" name="Object 1062">
                <a:extLst>
                  <a:ext uri="{FF2B5EF4-FFF2-40B4-BE49-F238E27FC236}">
                    <a16:creationId xmlns:a16="http://schemas.microsoft.com/office/drawing/2014/main" id="{9A94F609-119B-5629-669B-70A1E69F0949}"/>
                  </a:ext>
                </a:extLst>
              </p:cNvPr>
              <p:cNvSpPr txBox="1"/>
              <p:nvPr/>
            </p:nvSpPr>
            <p:spPr bwMode="auto">
              <a:xfrm>
                <a:off x="6907919" y="4901563"/>
                <a:ext cx="584200" cy="7366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3</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2</m:t>
                          </m:r>
                        </m:den>
                      </m:f>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pitchFamily="18" charset="0"/>
                  <a:ea typeface="黑体" panose="02010609060101010101" pitchFamily="49" charset="-122"/>
                </a:endParaRPr>
              </a:p>
            </p:txBody>
          </p:sp>
        </mc:Choice>
        <mc:Fallback xmlns="">
          <p:sp>
            <p:nvSpPr>
              <p:cNvPr id="33" name="Object 1062">
                <a:extLst>
                  <a:ext uri="{FF2B5EF4-FFF2-40B4-BE49-F238E27FC236}">
                    <a16:creationId xmlns:a16="http://schemas.microsoft.com/office/drawing/2014/main" id="{9A94F609-119B-5629-669B-70A1E69F0949}"/>
                  </a:ext>
                </a:extLst>
              </p:cNvPr>
              <p:cNvSpPr txBox="1">
                <a:spLocks noRot="1" noChangeAspect="1" noMove="1" noResize="1" noEditPoints="1" noAdjustHandles="1" noChangeArrowheads="1" noChangeShapeType="1" noTextEdit="1"/>
              </p:cNvSpPr>
              <p:nvPr/>
            </p:nvSpPr>
            <p:spPr bwMode="auto">
              <a:xfrm>
                <a:off x="6907919" y="4901563"/>
                <a:ext cx="584200" cy="736600"/>
              </a:xfrm>
              <a:prstGeom prst="rect">
                <a:avLst/>
              </a:prstGeom>
              <a:blipFill>
                <a:blip r:embed="rId14"/>
                <a:stretch>
                  <a:fillRect r="-7292"/>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Object 1059">
                <a:extLst>
                  <a:ext uri="{FF2B5EF4-FFF2-40B4-BE49-F238E27FC236}">
                    <a16:creationId xmlns:a16="http://schemas.microsoft.com/office/drawing/2014/main" id="{5EE47413-EBB7-648C-55F9-1C0DCE867F36}"/>
                  </a:ext>
                </a:extLst>
              </p:cNvPr>
              <p:cNvSpPr txBox="1"/>
              <p:nvPr/>
            </p:nvSpPr>
            <p:spPr bwMode="auto">
              <a:xfrm>
                <a:off x="2012950" y="4858331"/>
                <a:ext cx="3238502" cy="91777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sub>
                        <m:sup/>
                        <m:e>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𝑦</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𝑧</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𝑦</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endParaRPr>
              </a:p>
            </p:txBody>
          </p:sp>
        </mc:Choice>
        <mc:Fallback xmlns="">
          <p:sp>
            <p:nvSpPr>
              <p:cNvPr id="68" name="Object 1059">
                <a:extLst>
                  <a:ext uri="{FF2B5EF4-FFF2-40B4-BE49-F238E27FC236}">
                    <a16:creationId xmlns:a16="http://schemas.microsoft.com/office/drawing/2014/main" id="{5EE47413-EBB7-648C-55F9-1C0DCE867F36}"/>
                  </a:ext>
                </a:extLst>
              </p:cNvPr>
              <p:cNvSpPr txBox="1">
                <a:spLocks noRot="1" noChangeAspect="1" noMove="1" noResize="1" noEditPoints="1" noAdjustHandles="1" noChangeArrowheads="1" noChangeShapeType="1" noTextEdit="1"/>
              </p:cNvSpPr>
              <p:nvPr/>
            </p:nvSpPr>
            <p:spPr bwMode="auto">
              <a:xfrm>
                <a:off x="2012950" y="4858331"/>
                <a:ext cx="3238502" cy="917776"/>
              </a:xfrm>
              <a:prstGeom prst="rect">
                <a:avLst/>
              </a:prstGeom>
              <a:blipFill>
                <a:blip r:embed="rId16"/>
                <a:stretch>
                  <a:fillRect r="-56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Object 1059">
                <a:extLst>
                  <a:ext uri="{FF2B5EF4-FFF2-40B4-BE49-F238E27FC236}">
                    <a16:creationId xmlns:a16="http://schemas.microsoft.com/office/drawing/2014/main" id="{6D9467BF-4476-486A-9B2A-013EEA2A9641}"/>
                  </a:ext>
                </a:extLst>
              </p:cNvPr>
              <p:cNvSpPr txBox="1"/>
              <p:nvPr/>
            </p:nvSpPr>
            <p:spPr bwMode="auto">
              <a:xfrm>
                <a:off x="5251452" y="4858331"/>
                <a:ext cx="1709438" cy="105310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en-US" altLang="zh-CN" sz="2200">
                          <a:solidFill>
                            <a:schemeClr val="tx1">
                              <a:lumMod val="95000"/>
                              <a:lumOff val="5000"/>
                            </a:schemeClr>
                          </a:solidFill>
                          <a:latin typeface="Cambria Math" panose="02040503050406030204" pitchFamily="18" charset="0"/>
                          <a:ea typeface="黑体" panose="02010609060101010101" pitchFamily="49" charset="-122"/>
                        </a:rPr>
                        <m:t>=3</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𝐷</m:t>
                              </m:r>
                            </m:e>
                            <m:sub>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𝑥𝑦</m:t>
                              </m:r>
                            </m:sub>
                          </m:sSub>
                        </m:sub>
                        <m:sup/>
                        <m:e>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e>
                      </m:nary>
                    </m:oMath>
                  </m:oMathPara>
                </a14:m>
                <a:endParaRPr kumimoji="1" lang="zh-CN" altLang="en-US" sz="2200" dirty="0">
                  <a:solidFill>
                    <a:schemeClr val="tx1">
                      <a:lumMod val="95000"/>
                      <a:lumOff val="5000"/>
                    </a:schemeClr>
                  </a:solidFill>
                  <a:latin typeface="Cambria Math" panose="02040503050406030204" pitchFamily="18" charset="0"/>
                  <a:ea typeface="黑体" panose="02010609060101010101" pitchFamily="49" charset="-122"/>
                </a:endParaRPr>
              </a:p>
            </p:txBody>
          </p:sp>
        </mc:Choice>
        <mc:Fallback xmlns="">
          <p:sp>
            <p:nvSpPr>
              <p:cNvPr id="69" name="Object 1059">
                <a:extLst>
                  <a:ext uri="{FF2B5EF4-FFF2-40B4-BE49-F238E27FC236}">
                    <a16:creationId xmlns:a16="http://schemas.microsoft.com/office/drawing/2014/main" id="{6D9467BF-4476-486A-9B2A-013EEA2A9641}"/>
                  </a:ext>
                </a:extLst>
              </p:cNvPr>
              <p:cNvSpPr txBox="1">
                <a:spLocks noRot="1" noChangeAspect="1" noMove="1" noResize="1" noEditPoints="1" noAdjustHandles="1" noChangeArrowheads="1" noChangeShapeType="1" noTextEdit="1"/>
              </p:cNvSpPr>
              <p:nvPr/>
            </p:nvSpPr>
            <p:spPr bwMode="auto">
              <a:xfrm>
                <a:off x="5251452" y="4858331"/>
                <a:ext cx="1709438" cy="1053106"/>
              </a:xfrm>
              <a:prstGeom prst="rect">
                <a:avLst/>
              </a:prstGeom>
              <a:blipFill>
                <a:blip r:embed="rId17"/>
                <a:stretch>
                  <a:fillRect/>
                </a:stretch>
              </a:blipFill>
              <a:ln>
                <a:noFill/>
              </a:ln>
              <a:effectLst/>
            </p:spPr>
            <p:txBody>
              <a:bodyPr/>
              <a:lstStyle/>
              <a:p>
                <a:r>
                  <a:rPr lang="zh-CN" altLang="en-US">
                    <a:noFill/>
                  </a:rPr>
                  <a:t> </a:t>
                </a:r>
              </a:p>
            </p:txBody>
          </p:sp>
        </mc:Fallback>
      </mc:AlternateContent>
      <p:sp>
        <p:nvSpPr>
          <p:cNvPr id="70" name="Text Box 1054">
            <a:extLst>
              <a:ext uri="{FF2B5EF4-FFF2-40B4-BE49-F238E27FC236}">
                <a16:creationId xmlns:a16="http://schemas.microsoft.com/office/drawing/2014/main" id="{71E9C78B-EE41-9774-3F12-912120115222}"/>
              </a:ext>
            </a:extLst>
          </p:cNvPr>
          <p:cNvSpPr txBox="1">
            <a:spLocks noChangeArrowheads="1"/>
          </p:cNvSpPr>
          <p:nvPr/>
        </p:nvSpPr>
        <p:spPr bwMode="auto">
          <a:xfrm>
            <a:off x="1238999" y="2475714"/>
            <a:ext cx="804155"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lvl="0" fontAlgn="base">
              <a:spcBef>
                <a:spcPct val="50000"/>
              </a:spcBef>
              <a:spcAft>
                <a:spcPct val="0"/>
              </a:spcAft>
              <a:defRPr/>
            </a:pPr>
            <a:r>
              <a:rPr lang="zh-CN" altLang="en-US" sz="2800" b="1" dirty="0">
                <a:solidFill>
                  <a:srgbClr val="04926A"/>
                </a:solidFill>
                <a:latin typeface="微软雅黑" panose="020B0503020204020204" pitchFamily="34" charset="-122"/>
                <a:ea typeface="微软雅黑" panose="020B0503020204020204" pitchFamily="34" charset="-122"/>
              </a:rPr>
              <a:t>解</a:t>
            </a:r>
            <a:r>
              <a:rPr lang="en-US" altLang="zh-CN" sz="2800" b="1" dirty="0">
                <a:solidFill>
                  <a:srgbClr val="04926A"/>
                </a:solidFill>
                <a:latin typeface="微软雅黑" panose="020B0503020204020204" pitchFamily="34" charset="-122"/>
                <a:ea typeface="微软雅黑" panose="020B0503020204020204" pitchFamily="34" charset="-122"/>
              </a:rPr>
              <a:t> </a:t>
            </a:r>
            <a:endPar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endParaRPr>
          </a:p>
        </p:txBody>
      </p:sp>
      <p:pic>
        <p:nvPicPr>
          <p:cNvPr id="32" name="图片 31" descr="图表&#10;&#10;描述已自动生成">
            <a:extLst>
              <a:ext uri="{FF2B5EF4-FFF2-40B4-BE49-F238E27FC236}">
                <a16:creationId xmlns:a16="http://schemas.microsoft.com/office/drawing/2014/main" id="{436EAE18-6734-053D-4880-8BA58204DC52}"/>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7782201" y="2457962"/>
            <a:ext cx="2750585" cy="2929109"/>
          </a:xfrm>
          <a:prstGeom prst="rect">
            <a:avLst/>
          </a:prstGeom>
        </p:spPr>
      </p:pic>
    </p:spTree>
    <p:extLst>
      <p:ext uri="{BB962C8B-B14F-4D97-AF65-F5344CB8AC3E}">
        <p14:creationId xmlns:p14="http://schemas.microsoft.com/office/powerpoint/2010/main" val="191336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4">
                                            <p:txEl>
                                              <p:pRg st="0" end="0"/>
                                            </p:txEl>
                                          </p:spTgt>
                                        </p:tgtEl>
                                        <p:attrNameLst>
                                          <p:attrName>style.visibility</p:attrName>
                                        </p:attrNameLst>
                                      </p:cBhvr>
                                      <p:to>
                                        <p:strVal val="visible"/>
                                      </p:to>
                                    </p:set>
                                    <p:animEffect transition="in" filter="wipe(left)">
                                      <p:cBhvr>
                                        <p:cTn id="16" dur="500"/>
                                        <p:tgtEl>
                                          <p:spTgt spid="24">
                                            <p:txEl>
                                              <p:pRg st="0" end="0"/>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8">
                                            <p:txEl>
                                              <p:pRg st="0" end="0"/>
                                            </p:txEl>
                                          </p:spTgt>
                                        </p:tgtEl>
                                        <p:attrNameLst>
                                          <p:attrName>style.visibility</p:attrName>
                                        </p:attrNameLst>
                                      </p:cBhvr>
                                      <p:to>
                                        <p:strVal val="visible"/>
                                      </p:to>
                                    </p:set>
                                    <p:animEffect transition="in" filter="wipe(left)">
                                      <p:cBhvr>
                                        <p:cTn id="20" dur="500"/>
                                        <p:tgtEl>
                                          <p:spTgt spid="28">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left)">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0"/>
                                        </p:tgtEl>
                                        <p:attrNameLst>
                                          <p:attrName>style.visibility</p:attrName>
                                        </p:attrNameLst>
                                      </p:cBhvr>
                                      <p:to>
                                        <p:strVal val="visible"/>
                                      </p:to>
                                    </p:set>
                                    <p:animEffect transition="in" filter="wipe(left)">
                                      <p:cBhvr>
                                        <p:cTn id="30" dur="500"/>
                                        <p:tgtEl>
                                          <p:spTgt spid="70"/>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wipe(left)">
                                      <p:cBhvr>
                                        <p:cTn id="34" dur="5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left)">
                                      <p:cBhvr>
                                        <p:cTn id="39" dur="500"/>
                                        <p:tgtEl>
                                          <p:spTgt spid="27"/>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wipe(left)">
                                      <p:cBhvr>
                                        <p:cTn id="43" dur="500"/>
                                        <p:tgtEl>
                                          <p:spTgt spid="2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8"/>
                                        </p:tgtEl>
                                        <p:attrNameLst>
                                          <p:attrName>style.visibility</p:attrName>
                                        </p:attrNameLst>
                                      </p:cBhvr>
                                      <p:to>
                                        <p:strVal val="visible"/>
                                      </p:to>
                                    </p:set>
                                    <p:animEffect transition="in" filter="wipe(left)">
                                      <p:cBhvr>
                                        <p:cTn id="53" dur="500"/>
                                        <p:tgtEl>
                                          <p:spTgt spid="6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wipe(left)">
                                      <p:cBhvr>
                                        <p:cTn id="58" dur="500"/>
                                        <p:tgtEl>
                                          <p:spTgt spid="3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69"/>
                                        </p:tgtEl>
                                        <p:attrNameLst>
                                          <p:attrName>style.visibility</p:attrName>
                                        </p:attrNameLst>
                                      </p:cBhvr>
                                      <p:to>
                                        <p:strVal val="visible"/>
                                      </p:to>
                                    </p:set>
                                    <p:animEffect transition="in" filter="wipe(left)">
                                      <p:cBhvr>
                                        <p:cTn id="63" dur="500"/>
                                        <p:tgtEl>
                                          <p:spTgt spid="6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wipe(left)">
                                      <p:cBhvr>
                                        <p:cTn id="6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2" grpId="0"/>
      <p:bldP spid="23" grpId="0"/>
      <p:bldP spid="24" grpId="0" build="p" autoUpdateAnimBg="0"/>
      <p:bldP spid="25" grpId="0" autoUpdateAnimBg="0"/>
      <p:bldP spid="27" grpId="0" autoUpdateAnimBg="0"/>
      <p:bldP spid="28" grpId="0" build="p" autoUpdateAnimBg="0" advAuto="0"/>
      <p:bldP spid="29" grpId="0"/>
      <p:bldP spid="31" grpId="0" autoUpdateAnimBg="0"/>
      <p:bldP spid="33" grpId="0"/>
      <p:bldP spid="68" grpId="0"/>
      <p:bldP spid="69" grpId="0"/>
      <p:bldP spid="7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4353B0B5-49C9-618F-1F5F-8956F9ED2B4E}"/>
              </a:ext>
            </a:extLst>
          </p:cNvPr>
          <p:cNvSpPr/>
          <p:nvPr/>
        </p:nvSpPr>
        <p:spPr>
          <a:xfrm>
            <a:off x="687388" y="660400"/>
            <a:ext cx="10817225" cy="55372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半闭框 56">
            <a:extLst>
              <a:ext uri="{FF2B5EF4-FFF2-40B4-BE49-F238E27FC236}">
                <a16:creationId xmlns:a16="http://schemas.microsoft.com/office/drawing/2014/main" id="{4CF767B3-DB7E-0D59-F19C-B39B0B809AB6}"/>
              </a:ext>
            </a:extLst>
          </p:cNvPr>
          <p:cNvSpPr/>
          <p:nvPr/>
        </p:nvSpPr>
        <p:spPr>
          <a:xfrm>
            <a:off x="687324" y="6604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半闭框 57">
            <a:extLst>
              <a:ext uri="{FF2B5EF4-FFF2-40B4-BE49-F238E27FC236}">
                <a16:creationId xmlns:a16="http://schemas.microsoft.com/office/drawing/2014/main" id="{C5CAFA04-3D47-EAC5-29C7-D52C556D3BD0}"/>
              </a:ext>
            </a:extLst>
          </p:cNvPr>
          <p:cNvSpPr/>
          <p:nvPr/>
        </p:nvSpPr>
        <p:spPr>
          <a:xfrm flipH="1">
            <a:off x="10823530" y="6604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9" name="半闭框 58">
            <a:extLst>
              <a:ext uri="{FF2B5EF4-FFF2-40B4-BE49-F238E27FC236}">
                <a16:creationId xmlns:a16="http://schemas.microsoft.com/office/drawing/2014/main" id="{09BA9442-C361-2143-07C9-3DA16656BC48}"/>
              </a:ext>
            </a:extLst>
          </p:cNvPr>
          <p:cNvSpPr/>
          <p:nvPr/>
        </p:nvSpPr>
        <p:spPr>
          <a:xfrm flipV="1">
            <a:off x="687324" y="55240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半闭框 59">
            <a:extLst>
              <a:ext uri="{FF2B5EF4-FFF2-40B4-BE49-F238E27FC236}">
                <a16:creationId xmlns:a16="http://schemas.microsoft.com/office/drawing/2014/main" id="{4306C658-6108-0AA6-19B3-19D580E1364A}"/>
              </a:ext>
            </a:extLst>
          </p:cNvPr>
          <p:cNvSpPr/>
          <p:nvPr/>
        </p:nvSpPr>
        <p:spPr>
          <a:xfrm flipH="1" flipV="1">
            <a:off x="10823530" y="55042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 name="Rectangle 466">
            <a:extLst>
              <a:ext uri="{FF2B5EF4-FFF2-40B4-BE49-F238E27FC236}">
                <a16:creationId xmlns:a16="http://schemas.microsoft.com/office/drawing/2014/main" id="{423B3B37-DE69-D2DE-6378-299C2B71AE76}"/>
              </a:ext>
            </a:extLst>
          </p:cNvPr>
          <p:cNvSpPr>
            <a:spLocks noChangeArrowheads="1"/>
          </p:cNvSpPr>
          <p:nvPr/>
        </p:nvSpPr>
        <p:spPr bwMode="auto">
          <a:xfrm>
            <a:off x="1005679" y="871153"/>
            <a:ext cx="71628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800" b="1" dirty="0">
                <a:solidFill>
                  <a:srgbClr val="04926A"/>
                </a:solidFill>
                <a:latin typeface="微软雅黑" panose="020B0503020204020204" pitchFamily="34" charset="-122"/>
                <a:ea typeface="微软雅黑" panose="020B0503020204020204" pitchFamily="34" charset="-122"/>
                <a:cs typeface="+mj-cs"/>
              </a:rPr>
              <a:t>例</a:t>
            </a:r>
            <a:r>
              <a:rPr lang="en-US" altLang="zh-CN" sz="2800" b="1" dirty="0">
                <a:solidFill>
                  <a:srgbClr val="04926A"/>
                </a:solidFill>
                <a:latin typeface="微软雅黑" panose="020B0503020204020204" pitchFamily="34" charset="-122"/>
                <a:ea typeface="微软雅黑" panose="020B0503020204020204" pitchFamily="34" charset="-122"/>
                <a:cs typeface="+mj-cs"/>
              </a:rPr>
              <a:t>2   </a:t>
            </a:r>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rPr>
              <a:t>利用斯托克斯公式公式计算曲线积分</a:t>
            </a:r>
          </a:p>
        </p:txBody>
      </p:sp>
      <mc:AlternateContent xmlns:mc="http://schemas.openxmlformats.org/markup-compatibility/2006" xmlns:a14="http://schemas.microsoft.com/office/drawing/2010/main">
        <mc:Choice Requires="a14">
          <p:sp>
            <p:nvSpPr>
              <p:cNvPr id="3" name="Text Box 469">
                <a:extLst>
                  <a:ext uri="{FF2B5EF4-FFF2-40B4-BE49-F238E27FC236}">
                    <a16:creationId xmlns:a16="http://schemas.microsoft.com/office/drawing/2014/main" id="{14EA0B00-8072-5511-A696-613FF21E80A4}"/>
                  </a:ext>
                </a:extLst>
              </p:cNvPr>
              <p:cNvSpPr txBox="1">
                <a:spLocks noChangeArrowheads="1"/>
              </p:cNvSpPr>
              <p:nvPr/>
            </p:nvSpPr>
            <p:spPr bwMode="auto">
              <a:xfrm>
                <a:off x="1922870" y="3740118"/>
                <a:ext cx="6508398" cy="1150443"/>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a:spAutoFit/>
              </a:bodyPr>
              <a:lstStyle/>
              <a:p>
                <a:pPr>
                  <a:lnSpc>
                    <a:spcPct val="130000"/>
                  </a:lnSpc>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sym typeface="Symbol" panose="05050102010706020507" pitchFamily="18" charset="2"/>
                  </a:rPr>
                  <a:t>的表面所得的截痕</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sym typeface="Symbol" panose="05050102010706020507" pitchFamily="18" charset="2"/>
                  </a:rPr>
                  <a:t>若从</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sym typeface="Symbol" panose="05050102010706020507" pitchFamily="18" charset="2"/>
                  </a:rPr>
                  <a:t>轴正向看去取逆时针方向</a:t>
                </a:r>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mj-cs"/>
                    <a:sym typeface="Symbol" panose="05050102010706020507" pitchFamily="18" charset="2"/>
                  </a:rPr>
                  <a:t>.</a:t>
                </a:r>
              </a:p>
            </p:txBody>
          </p:sp>
        </mc:Choice>
        <mc:Fallback xmlns="">
          <p:sp>
            <p:nvSpPr>
              <p:cNvPr id="3" name="Text Box 469">
                <a:extLst>
                  <a:ext uri="{FF2B5EF4-FFF2-40B4-BE49-F238E27FC236}">
                    <a16:creationId xmlns:a16="http://schemas.microsoft.com/office/drawing/2014/main" id="{14EA0B00-8072-5511-A696-613FF21E80A4}"/>
                  </a:ext>
                </a:extLst>
              </p:cNvPr>
              <p:cNvSpPr txBox="1">
                <a:spLocks noRot="1" noChangeAspect="1" noMove="1" noResize="1" noEditPoints="1" noAdjustHandles="1" noChangeArrowheads="1" noChangeShapeType="1" noTextEdit="1"/>
              </p:cNvSpPr>
              <p:nvPr/>
            </p:nvSpPr>
            <p:spPr bwMode="auto">
              <a:xfrm>
                <a:off x="1922870" y="3740118"/>
                <a:ext cx="6508398" cy="1150443"/>
              </a:xfrm>
              <a:prstGeom prst="rect">
                <a:avLst/>
              </a:prstGeom>
              <a:blipFill>
                <a:blip r:embed="rId2"/>
                <a:stretch>
                  <a:fillRect l="-1873" t="-1596" r="-1498" b="-1436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C1C956BE-6041-CD29-4897-E82696E1BBF1}"/>
                  </a:ext>
                </a:extLst>
              </p:cNvPr>
              <p:cNvSpPr txBox="1"/>
              <p:nvPr/>
            </p:nvSpPr>
            <p:spPr>
              <a:xfrm>
                <a:off x="1922869" y="1359399"/>
                <a:ext cx="7652445" cy="937271"/>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𝐼</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nary>
                        <m:naryPr>
                          <m:chr m:val="∮"/>
                          <m:supHide m:val="on"/>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cs typeface="Cambria Math" panose="02040503050406030204" charset="0"/>
                            </a:rPr>
                          </m:ctrlPr>
                        </m:naryPr>
                        <m:sub>
                          <m:r>
                            <a:rPr kumimoji="1" lang="zh-CN" altLang="en-US" sz="2800" i="1">
                              <a:solidFill>
                                <a:schemeClr val="tx1">
                                  <a:lumMod val="95000"/>
                                  <a:lumOff val="5000"/>
                                </a:schemeClr>
                              </a:solidFill>
                              <a:latin typeface="Cambria Math" panose="02040503050406030204" charset="0"/>
                              <a:ea typeface="黑体" panose="02010609060101010101" pitchFamily="49" charset="-122"/>
                              <a:cs typeface="Cambria Math" panose="02040503050406030204" charset="0"/>
                            </a:rPr>
                            <m:t>𝛤</m:t>
                          </m:r>
                        </m:sub>
                        <m:sup/>
                        <m:e>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8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e>
                      </m:nary>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4" name="对象 3">
                <a:extLst>
                  <a:ext uri="{FF2B5EF4-FFF2-40B4-BE49-F238E27FC236}">
                    <a16:creationId xmlns:a16="http://schemas.microsoft.com/office/drawing/2014/main" id="{C1C956BE-6041-CD29-4897-E82696E1BBF1}"/>
                  </a:ext>
                </a:extLst>
              </p:cNvPr>
              <p:cNvSpPr txBox="1">
                <a:spLocks noRot="1" noChangeAspect="1" noMove="1" noResize="1" noEditPoints="1" noAdjustHandles="1" noChangeArrowheads="1" noChangeShapeType="1" noTextEdit="1"/>
              </p:cNvSpPr>
              <p:nvPr/>
            </p:nvSpPr>
            <p:spPr>
              <a:xfrm>
                <a:off x="1922869" y="1359399"/>
                <a:ext cx="7652445" cy="93727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F8F7FF9E-37D0-BCC4-B444-C2E7CAFD4517}"/>
                  </a:ext>
                </a:extLst>
              </p:cNvPr>
              <p:cNvSpPr txBox="1"/>
              <p:nvPr/>
            </p:nvSpPr>
            <p:spPr>
              <a:xfrm>
                <a:off x="1922868" y="2290999"/>
                <a:ext cx="7157145" cy="93571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schemeClr val="tx1">
                              <a:lumMod val="95000"/>
                              <a:lumOff val="5000"/>
                            </a:schemeClr>
                          </a:solidFill>
                          <a:latin typeface="Cambria Math" panose="02040503050406030204" charset="0"/>
                          <a:ea typeface="黑体" panose="02010609060101010101" pitchFamily="49" charset="-122"/>
                          <a:cs typeface="+mj-cs"/>
                        </a:rPr>
                        <m:t>其中</m:t>
                      </m:r>
                      <m:r>
                        <a:rPr kumimoji="1" lang="en-US" altLang="zh-CN" sz="2800" b="0" i="1" smtClean="0">
                          <a:solidFill>
                            <a:schemeClr val="tx1">
                              <a:lumMod val="95000"/>
                              <a:lumOff val="5000"/>
                            </a:schemeClr>
                          </a:solidFill>
                          <a:latin typeface="Cambria Math" panose="02040503050406030204" pitchFamily="18" charset="0"/>
                          <a:ea typeface="黑体" panose="02010609060101010101" pitchFamily="49" charset="-122"/>
                          <a:cs typeface="+mj-cs"/>
                        </a:rPr>
                        <m:t> </m:t>
                      </m:r>
                      <m:r>
                        <a:rPr kumimoji="1" lang="zh-CN" altLang="en-US" sz="2800" i="1">
                          <a:solidFill>
                            <a:schemeClr val="tx1">
                              <a:lumMod val="95000"/>
                              <a:lumOff val="5000"/>
                            </a:schemeClr>
                          </a:solidFill>
                          <a:latin typeface="Cambria Math" panose="02040503050406030204" charset="0"/>
                          <a:ea typeface="黑体" panose="02010609060101010101" pitchFamily="49" charset="-122"/>
                        </a:rPr>
                        <m:t>𝛤</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是用平面</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800" smtClean="0">
                              <a:solidFill>
                                <a:schemeClr val="tx1">
                                  <a:lumMod val="95000"/>
                                  <a:lumOff val="5000"/>
                                </a:schemeClr>
                              </a:solidFill>
                              <a:latin typeface="Cambria Math" panose="02040503050406030204" pitchFamily="18" charset="0"/>
                              <a:ea typeface="黑体" panose="02010609060101010101" pitchFamily="49" charset="-122"/>
                            </a:rPr>
                            <m:t>3</m:t>
                          </m:r>
                        </m:num>
                        <m:den>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2</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截立方体</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5" name="对象 4">
                <a:extLst>
                  <a:ext uri="{FF2B5EF4-FFF2-40B4-BE49-F238E27FC236}">
                    <a16:creationId xmlns:a16="http://schemas.microsoft.com/office/drawing/2014/main" id="{F8F7FF9E-37D0-BCC4-B444-C2E7CAFD4517}"/>
                  </a:ext>
                </a:extLst>
              </p:cNvPr>
              <p:cNvSpPr txBox="1">
                <a:spLocks noRot="1" noChangeAspect="1" noMove="1" noResize="1" noEditPoints="1" noAdjustHandles="1" noChangeArrowheads="1" noChangeShapeType="1" noTextEdit="1"/>
              </p:cNvSpPr>
              <p:nvPr/>
            </p:nvSpPr>
            <p:spPr>
              <a:xfrm>
                <a:off x="1922868" y="2290999"/>
                <a:ext cx="7157145" cy="93571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3148AE59-2538-C965-5A93-7662013E4198}"/>
                  </a:ext>
                </a:extLst>
              </p:cNvPr>
              <p:cNvSpPr txBox="1"/>
              <p:nvPr/>
            </p:nvSpPr>
            <p:spPr>
              <a:xfrm>
                <a:off x="1922869" y="3230948"/>
                <a:ext cx="5766651" cy="5461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cs typeface="+mj-cs"/>
                            </a:rPr>
                          </m:ctrlPr>
                        </m:dPr>
                        <m:e>
                          <m:d>
                            <m:dPr>
                              <m:begChr m:val=""/>
                              <m:endChr m:val="|"/>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cs typeface="+mj-cs"/>
                                </a:rPr>
                              </m:ctrlPr>
                            </m:dPr>
                            <m:e>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𝑧</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e>
                          </m:d>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0</m:t>
                          </m:r>
                          <m:r>
                            <m:rPr>
                              <m:nor/>
                            </m:rPr>
                            <a:rPr lang="en-US" altLang="zh-CN" sz="2800" dirty="0">
                              <a:latin typeface="宋体" panose="02010600030101010101" pitchFamily="2"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𝑥</m:t>
                          </m:r>
                          <m:r>
                            <m:rPr>
                              <m:nor/>
                            </m:rPr>
                            <a:rPr lang="en-US" altLang="zh-CN" sz="2800" dirty="0">
                              <a:latin typeface="宋体" panose="02010600030101010101" pitchFamily="2"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1,0</m:t>
                          </m:r>
                          <m:r>
                            <m:rPr>
                              <m:nor/>
                            </m:rPr>
                            <a:rPr lang="en-US" altLang="zh-CN" sz="2800" dirty="0">
                              <a:latin typeface="宋体" panose="02010600030101010101" pitchFamily="2"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𝑦</m:t>
                          </m:r>
                          <m:r>
                            <m:rPr>
                              <m:nor/>
                            </m:rPr>
                            <a:rPr lang="en-US" altLang="zh-CN" sz="2800" dirty="0">
                              <a:latin typeface="宋体" panose="02010600030101010101" pitchFamily="2"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1,0</m:t>
                          </m:r>
                          <m:r>
                            <m:rPr>
                              <m:nor/>
                            </m:rPr>
                            <a:rPr lang="en-US" altLang="zh-CN" sz="2800" dirty="0">
                              <a:latin typeface="宋体" panose="02010600030101010101" pitchFamily="2"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𝑧</m:t>
                          </m:r>
                          <m:r>
                            <m:rPr>
                              <m:nor/>
                            </m:rPr>
                            <a:rPr lang="en-US" altLang="zh-CN" sz="2800" dirty="0">
                              <a:latin typeface="宋体" panose="02010600030101010101" pitchFamily="2"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1</m:t>
                          </m:r>
                        </m:e>
                      </m:d>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6" name="对象 5">
                <a:extLst>
                  <a:ext uri="{FF2B5EF4-FFF2-40B4-BE49-F238E27FC236}">
                    <a16:creationId xmlns:a16="http://schemas.microsoft.com/office/drawing/2014/main" id="{3148AE59-2538-C965-5A93-7662013E4198}"/>
                  </a:ext>
                </a:extLst>
              </p:cNvPr>
              <p:cNvSpPr txBox="1">
                <a:spLocks noRot="1" noChangeAspect="1" noMove="1" noResize="1" noEditPoints="1" noAdjustHandles="1" noChangeArrowheads="1" noChangeShapeType="1" noTextEdit="1"/>
              </p:cNvSpPr>
              <p:nvPr/>
            </p:nvSpPr>
            <p:spPr>
              <a:xfrm>
                <a:off x="1922869" y="3230948"/>
                <a:ext cx="5766651" cy="546100"/>
              </a:xfrm>
              <a:prstGeom prst="rect">
                <a:avLst/>
              </a:prstGeom>
              <a:blipFill>
                <a:blip r:embed="rId5"/>
                <a:stretch>
                  <a:fillRect/>
                </a:stretch>
              </a:blipFill>
            </p:spPr>
            <p:txBody>
              <a:bodyPr/>
              <a:lstStyle/>
              <a:p>
                <a:r>
                  <a:rPr lang="zh-CN" altLang="en-US">
                    <a:noFill/>
                  </a:rPr>
                  <a:t> </a:t>
                </a:r>
              </a:p>
            </p:txBody>
          </p:sp>
        </mc:Fallback>
      </mc:AlternateContent>
      <p:sp>
        <p:nvSpPr>
          <p:cNvPr id="25" name="Text Box 372">
            <a:extLst>
              <a:ext uri="{FF2B5EF4-FFF2-40B4-BE49-F238E27FC236}">
                <a16:creationId xmlns:a16="http://schemas.microsoft.com/office/drawing/2014/main" id="{A06A5F19-5C4F-7392-DBE7-74B130E0B258}"/>
              </a:ext>
            </a:extLst>
          </p:cNvPr>
          <p:cNvSpPr txBox="1">
            <a:spLocks noChangeArrowheads="1"/>
          </p:cNvSpPr>
          <p:nvPr/>
        </p:nvSpPr>
        <p:spPr bwMode="auto">
          <a:xfrm>
            <a:off x="1005679" y="4967375"/>
            <a:ext cx="7223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rgbClr val="04926A"/>
                </a:solidFill>
                <a:latin typeface="微软雅黑" panose="020B0503020204020204" pitchFamily="34" charset="-122"/>
                <a:ea typeface="微软雅黑" panose="020B0503020204020204" pitchFamily="34" charset="-122"/>
                <a:cs typeface="+mj-cs"/>
              </a:rPr>
              <a:t>解</a:t>
            </a:r>
          </a:p>
        </p:txBody>
      </p:sp>
      <mc:AlternateContent xmlns:mc="http://schemas.openxmlformats.org/markup-compatibility/2006" xmlns:a14="http://schemas.microsoft.com/office/drawing/2010/main">
        <mc:Choice Requires="a14">
          <p:sp>
            <p:nvSpPr>
              <p:cNvPr id="26" name="Text Box 492">
                <a:extLst>
                  <a:ext uri="{FF2B5EF4-FFF2-40B4-BE49-F238E27FC236}">
                    <a16:creationId xmlns:a16="http://schemas.microsoft.com/office/drawing/2014/main" id="{BC45BD74-1E4B-F680-9D4F-340F6C1378BE}"/>
                  </a:ext>
                </a:extLst>
              </p:cNvPr>
              <p:cNvSpPr txBox="1">
                <a:spLocks noChangeArrowheads="1"/>
              </p:cNvSpPr>
              <p:nvPr/>
            </p:nvSpPr>
            <p:spPr bwMode="auto">
              <a:xfrm>
                <a:off x="1922868" y="4947637"/>
                <a:ext cx="3251110" cy="57111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取 </a:t>
                </a:r>
                <a14:m>
                  <m:oMath xmlns:m="http://schemas.openxmlformats.org/officeDocument/2006/math">
                    <m: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t>𝛴</m:t>
                    </m:r>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为平面</a:t>
                </a: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3</m:t>
                        </m:r>
                      </m:num>
                      <m:den>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2</m:t>
                        </m:r>
                      </m:den>
                    </m:f>
                  </m:oMath>
                </a14:m>
                <a:endPar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sym typeface="Symbol" panose="05050102010706020507" pitchFamily="18" charset="2"/>
                </a:endParaRPr>
              </a:p>
            </p:txBody>
          </p:sp>
        </mc:Choice>
        <mc:Fallback xmlns="">
          <p:sp>
            <p:nvSpPr>
              <p:cNvPr id="26" name="Text Box 492">
                <a:extLst>
                  <a:ext uri="{FF2B5EF4-FFF2-40B4-BE49-F238E27FC236}">
                    <a16:creationId xmlns:a16="http://schemas.microsoft.com/office/drawing/2014/main" id="{BC45BD74-1E4B-F680-9D4F-340F6C1378BE}"/>
                  </a:ext>
                </a:extLst>
              </p:cNvPr>
              <p:cNvSpPr txBox="1">
                <a:spLocks noRot="1" noChangeAspect="1" noMove="1" noResize="1" noEditPoints="1" noAdjustHandles="1" noChangeArrowheads="1" noChangeShapeType="1" noTextEdit="1"/>
              </p:cNvSpPr>
              <p:nvPr/>
            </p:nvSpPr>
            <p:spPr bwMode="auto">
              <a:xfrm>
                <a:off x="1922868" y="4947637"/>
                <a:ext cx="3251110" cy="571118"/>
              </a:xfrm>
              <a:prstGeom prst="rect">
                <a:avLst/>
              </a:prstGeom>
              <a:blipFill>
                <a:blip r:embed="rId17"/>
                <a:stretch>
                  <a:fillRect l="-2434" b="-430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Text Box 493">
                <a:extLst>
                  <a:ext uri="{FF2B5EF4-FFF2-40B4-BE49-F238E27FC236}">
                    <a16:creationId xmlns:a16="http://schemas.microsoft.com/office/drawing/2014/main" id="{84606740-D429-5069-F2A4-ADA3F7223126}"/>
                  </a:ext>
                </a:extLst>
              </p:cNvPr>
              <p:cNvSpPr txBox="1">
                <a:spLocks noChangeArrowheads="1"/>
              </p:cNvSpPr>
              <p:nvPr/>
            </p:nvSpPr>
            <p:spPr bwMode="auto">
              <a:xfrm>
                <a:off x="5065109" y="5002687"/>
                <a:ext cx="3455987"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的上侧被</a:t>
                </a:r>
                <a14:m>
                  <m:oMath xmlns:m="http://schemas.openxmlformats.org/officeDocument/2006/math">
                    <m:r>
                      <a:rPr kumimoji="1" lang="en-US" altLang="zh-CN" sz="2200">
                        <a:solidFill>
                          <a:schemeClr val="tx1">
                            <a:lumMod val="95000"/>
                            <a:lumOff val="5000"/>
                          </a:schemeClr>
                        </a:solidFill>
                        <a:latin typeface="Cambria Math" panose="02040503050406030204" charset="0"/>
                        <a:ea typeface="黑体" panose="02010609060101010101" pitchFamily="49" charset="-122"/>
                        <a:cs typeface="+mj-cs"/>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𝛤</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 所围成的部分</a:t>
                </a: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oMath>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27" name="Text Box 493">
                <a:extLst>
                  <a:ext uri="{FF2B5EF4-FFF2-40B4-BE49-F238E27FC236}">
                    <a16:creationId xmlns:a16="http://schemas.microsoft.com/office/drawing/2014/main" id="{84606740-D429-5069-F2A4-ADA3F7223126}"/>
                  </a:ext>
                </a:extLst>
              </p:cNvPr>
              <p:cNvSpPr txBox="1">
                <a:spLocks noRot="1" noChangeAspect="1" noMove="1" noResize="1" noEditPoints="1" noAdjustHandles="1" noChangeArrowheads="1" noChangeShapeType="1" noTextEdit="1"/>
              </p:cNvSpPr>
              <p:nvPr/>
            </p:nvSpPr>
            <p:spPr bwMode="auto">
              <a:xfrm>
                <a:off x="5065109" y="5002687"/>
                <a:ext cx="3455987" cy="430887"/>
              </a:xfrm>
              <a:prstGeom prst="rect">
                <a:avLst/>
              </a:prstGeom>
              <a:blipFill>
                <a:blip r:embed="rId18"/>
                <a:stretch>
                  <a:fillRect l="-2293" t="-14286"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8" name="Text Box 494">
            <a:extLst>
              <a:ext uri="{FF2B5EF4-FFF2-40B4-BE49-F238E27FC236}">
                <a16:creationId xmlns:a16="http://schemas.microsoft.com/office/drawing/2014/main" id="{50D2495D-3ADB-D8D9-3346-FAC9660753E3}"/>
              </a:ext>
            </a:extLst>
          </p:cNvPr>
          <p:cNvSpPr txBox="1">
            <a:spLocks noChangeArrowheads="1"/>
          </p:cNvSpPr>
          <p:nvPr/>
        </p:nvSpPr>
        <p:spPr bwMode="auto">
          <a:xfrm>
            <a:off x="1922869" y="5492827"/>
            <a:ext cx="54456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则</a:t>
            </a:r>
          </a:p>
        </p:txBody>
      </p:sp>
      <mc:AlternateContent xmlns:mc="http://schemas.openxmlformats.org/markup-compatibility/2006" xmlns:a14="http://schemas.microsoft.com/office/drawing/2010/main">
        <mc:Choice Requires="a14">
          <p:sp>
            <p:nvSpPr>
              <p:cNvPr id="29" name="Rectangle 495">
                <a:extLst>
                  <a:ext uri="{FF2B5EF4-FFF2-40B4-BE49-F238E27FC236}">
                    <a16:creationId xmlns:a16="http://schemas.microsoft.com/office/drawing/2014/main" id="{88564B53-5C16-C630-51DD-0890F45D96A6}"/>
                  </a:ext>
                </a:extLst>
              </p:cNvPr>
              <p:cNvSpPr>
                <a:spLocks noChangeArrowheads="1"/>
              </p:cNvSpPr>
              <p:nvPr/>
            </p:nvSpPr>
            <p:spPr bwMode="auto">
              <a:xfrm>
                <a:off x="2241804" y="5497066"/>
                <a:ext cx="2392961"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𝛴</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 的单位法向量为</a:t>
                </a:r>
              </a:p>
            </p:txBody>
          </p:sp>
        </mc:Choice>
        <mc:Fallback xmlns="">
          <p:sp>
            <p:nvSpPr>
              <p:cNvPr id="29" name="Rectangle 495">
                <a:extLst>
                  <a:ext uri="{FF2B5EF4-FFF2-40B4-BE49-F238E27FC236}">
                    <a16:creationId xmlns:a16="http://schemas.microsoft.com/office/drawing/2014/main" id="{88564B53-5C16-C630-51DD-0890F45D96A6}"/>
                  </a:ext>
                </a:extLst>
              </p:cNvPr>
              <p:cNvSpPr>
                <a:spLocks noRot="1" noChangeAspect="1" noMove="1" noResize="1" noEditPoints="1" noAdjustHandles="1" noChangeArrowheads="1" noChangeShapeType="1" noTextEdit="1"/>
              </p:cNvSpPr>
              <p:nvPr/>
            </p:nvSpPr>
            <p:spPr bwMode="auto">
              <a:xfrm>
                <a:off x="2241804" y="5497066"/>
                <a:ext cx="2392961" cy="430887"/>
              </a:xfrm>
              <a:prstGeom prst="rect">
                <a:avLst/>
              </a:prstGeom>
              <a:blipFill>
                <a:blip r:embed="rId19"/>
                <a:stretch>
                  <a:fillRect l="-255" t="-14286" r="-3061"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31" name="图片 30" descr="图示&#10;&#10;描述已自动生成">
            <a:extLst>
              <a:ext uri="{FF2B5EF4-FFF2-40B4-BE49-F238E27FC236}">
                <a16:creationId xmlns:a16="http://schemas.microsoft.com/office/drawing/2014/main" id="{E053EC3B-6F54-A54E-13E7-6EF73EFE2EFD}"/>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8521096" y="2290999"/>
            <a:ext cx="2836288" cy="2750787"/>
          </a:xfrm>
          <a:prstGeom prst="rect">
            <a:avLst/>
          </a:prstGeom>
        </p:spPr>
      </p:pic>
    </p:spTree>
    <p:extLst>
      <p:ext uri="{BB962C8B-B14F-4D97-AF65-F5344CB8AC3E}">
        <p14:creationId xmlns:p14="http://schemas.microsoft.com/office/powerpoint/2010/main" val="1302578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left)">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left)">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left)">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left)">
                                      <p:cBhvr>
                                        <p:cTn id="5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25" grpId="0"/>
      <p:bldP spid="26" grpId="0"/>
      <p:bldP spid="27" grpId="0"/>
      <p:bldP spid="28" grpId="0"/>
      <p:bldP spid="2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B3CD4101-4286-97FB-2299-92B7FCC70931}"/>
              </a:ext>
            </a:extLst>
          </p:cNvPr>
          <p:cNvSpPr/>
          <p:nvPr/>
        </p:nvSpPr>
        <p:spPr>
          <a:xfrm>
            <a:off x="687388" y="660400"/>
            <a:ext cx="10817225" cy="55372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半闭框 41">
            <a:extLst>
              <a:ext uri="{FF2B5EF4-FFF2-40B4-BE49-F238E27FC236}">
                <a16:creationId xmlns:a16="http://schemas.microsoft.com/office/drawing/2014/main" id="{A02FBC9A-9A11-77F3-2E3A-38939DFA301C}"/>
              </a:ext>
            </a:extLst>
          </p:cNvPr>
          <p:cNvSpPr/>
          <p:nvPr/>
        </p:nvSpPr>
        <p:spPr>
          <a:xfrm>
            <a:off x="687324" y="6604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半闭框 42">
            <a:extLst>
              <a:ext uri="{FF2B5EF4-FFF2-40B4-BE49-F238E27FC236}">
                <a16:creationId xmlns:a16="http://schemas.microsoft.com/office/drawing/2014/main" id="{8F20D1F7-EDBA-B020-48F0-33042971D485}"/>
              </a:ext>
            </a:extLst>
          </p:cNvPr>
          <p:cNvSpPr/>
          <p:nvPr/>
        </p:nvSpPr>
        <p:spPr>
          <a:xfrm flipH="1">
            <a:off x="10823530" y="6604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半闭框 43">
            <a:extLst>
              <a:ext uri="{FF2B5EF4-FFF2-40B4-BE49-F238E27FC236}">
                <a16:creationId xmlns:a16="http://schemas.microsoft.com/office/drawing/2014/main" id="{9C8B1A6C-7605-F5ED-84AA-E178B11F1CC8}"/>
              </a:ext>
            </a:extLst>
          </p:cNvPr>
          <p:cNvSpPr/>
          <p:nvPr/>
        </p:nvSpPr>
        <p:spPr>
          <a:xfrm flipV="1">
            <a:off x="687324" y="55240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5" name="半闭框 44">
            <a:extLst>
              <a:ext uri="{FF2B5EF4-FFF2-40B4-BE49-F238E27FC236}">
                <a16:creationId xmlns:a16="http://schemas.microsoft.com/office/drawing/2014/main" id="{E68FAF08-8740-9526-FA07-79D17ACDF78F}"/>
              </a:ext>
            </a:extLst>
          </p:cNvPr>
          <p:cNvSpPr/>
          <p:nvPr/>
        </p:nvSpPr>
        <p:spPr>
          <a:xfrm flipH="1" flipV="1">
            <a:off x="10823530" y="55042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 name="Text Box 82">
            <a:extLst>
              <a:ext uri="{FF2B5EF4-FFF2-40B4-BE49-F238E27FC236}">
                <a16:creationId xmlns:a16="http://schemas.microsoft.com/office/drawing/2014/main" id="{931E6357-263E-1FC5-7A23-E42E15EF3D47}"/>
              </a:ext>
            </a:extLst>
          </p:cNvPr>
          <p:cNvSpPr txBox="1">
            <a:spLocks noChangeArrowheads="1"/>
          </p:cNvSpPr>
          <p:nvPr/>
        </p:nvSpPr>
        <p:spPr bwMode="auto">
          <a:xfrm>
            <a:off x="3905023" y="1172195"/>
            <a:ext cx="685800"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1" hangingPunct="1">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即</a:t>
            </a:r>
          </a:p>
        </p:txBody>
      </p:sp>
      <mc:AlternateContent xmlns:mc="http://schemas.openxmlformats.org/markup-compatibility/2006" xmlns:a14="http://schemas.microsoft.com/office/drawing/2010/main">
        <mc:Choice Requires="a14">
          <p:sp>
            <p:nvSpPr>
              <p:cNvPr id="3" name="Object 90">
                <a:extLst>
                  <a:ext uri="{FF2B5EF4-FFF2-40B4-BE49-F238E27FC236}">
                    <a16:creationId xmlns:a16="http://schemas.microsoft.com/office/drawing/2014/main" id="{6822B58D-1F91-FA7E-E933-1A474579B437}"/>
                  </a:ext>
                </a:extLst>
              </p:cNvPr>
              <p:cNvSpPr txBox="1"/>
              <p:nvPr/>
            </p:nvSpPr>
            <p:spPr bwMode="auto">
              <a:xfrm>
                <a:off x="6124981" y="5155261"/>
                <a:ext cx="1061798" cy="8382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9</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3" name="Object 90">
                <a:extLst>
                  <a:ext uri="{FF2B5EF4-FFF2-40B4-BE49-F238E27FC236}">
                    <a16:creationId xmlns:a16="http://schemas.microsoft.com/office/drawing/2014/main" id="{6822B58D-1F91-FA7E-E933-1A474579B437}"/>
                  </a:ext>
                </a:extLst>
              </p:cNvPr>
              <p:cNvSpPr txBox="1">
                <a:spLocks noRot="1" noChangeAspect="1" noMove="1" noResize="1" noEditPoints="1" noAdjustHandles="1" noChangeArrowheads="1" noChangeShapeType="1" noTextEdit="1"/>
              </p:cNvSpPr>
              <p:nvPr/>
            </p:nvSpPr>
            <p:spPr bwMode="auto">
              <a:xfrm>
                <a:off x="6124981" y="5155261"/>
                <a:ext cx="1061798" cy="838200"/>
              </a:xfrm>
              <a:prstGeom prst="rect">
                <a:avLst/>
              </a:prstGeom>
              <a:blipFill>
                <a:blip r:embed="rId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象 8">
                <a:extLst>
                  <a:ext uri="{FF2B5EF4-FFF2-40B4-BE49-F238E27FC236}">
                    <a16:creationId xmlns:a16="http://schemas.microsoft.com/office/drawing/2014/main" id="{DCFDA5EA-7F0B-1AA9-1D4E-9D4A56E37615}"/>
                  </a:ext>
                </a:extLst>
              </p:cNvPr>
              <p:cNvSpPr txBox="1"/>
              <p:nvPr/>
            </p:nvSpPr>
            <p:spPr>
              <a:xfrm>
                <a:off x="1538649" y="932155"/>
                <a:ext cx="2882900" cy="898095"/>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𝒏</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d>
                        <m:d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den>
                          </m:f>
                        </m:e>
                      </m:d>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9" name="对象 8">
                <a:extLst>
                  <a:ext uri="{FF2B5EF4-FFF2-40B4-BE49-F238E27FC236}">
                    <a16:creationId xmlns:a16="http://schemas.microsoft.com/office/drawing/2014/main" id="{DCFDA5EA-7F0B-1AA9-1D4E-9D4A56E37615}"/>
                  </a:ext>
                </a:extLst>
              </p:cNvPr>
              <p:cNvSpPr txBox="1">
                <a:spLocks noRot="1" noChangeAspect="1" noMove="1" noResize="1" noEditPoints="1" noAdjustHandles="1" noChangeArrowheads="1" noChangeShapeType="1" noTextEdit="1"/>
              </p:cNvSpPr>
              <p:nvPr/>
            </p:nvSpPr>
            <p:spPr>
              <a:xfrm>
                <a:off x="1538649" y="932155"/>
                <a:ext cx="2882900" cy="89809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A1E1392C-FCBC-8971-6194-60B78383D0DA}"/>
                  </a:ext>
                </a:extLst>
              </p:cNvPr>
              <p:cNvSpPr txBox="1"/>
              <p:nvPr/>
            </p:nvSpPr>
            <p:spPr>
              <a:xfrm>
                <a:off x="4418667" y="981577"/>
                <a:ext cx="3949700" cy="9017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𝛼</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𝛽</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𝛾</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对象 9">
                <a:extLst>
                  <a:ext uri="{FF2B5EF4-FFF2-40B4-BE49-F238E27FC236}">
                    <a16:creationId xmlns:a16="http://schemas.microsoft.com/office/drawing/2014/main" id="{A1E1392C-FCBC-8971-6194-60B78383D0DA}"/>
                  </a:ext>
                </a:extLst>
              </p:cNvPr>
              <p:cNvSpPr txBox="1">
                <a:spLocks noRot="1" noChangeAspect="1" noMove="1" noResize="1" noEditPoints="1" noAdjustHandles="1" noChangeArrowheads="1" noChangeShapeType="1" noTextEdit="1"/>
              </p:cNvSpPr>
              <p:nvPr/>
            </p:nvSpPr>
            <p:spPr>
              <a:xfrm>
                <a:off x="4418667" y="981577"/>
                <a:ext cx="3949700" cy="90170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 Box 42">
                <a:extLst>
                  <a:ext uri="{FF2B5EF4-FFF2-40B4-BE49-F238E27FC236}">
                    <a16:creationId xmlns:a16="http://schemas.microsoft.com/office/drawing/2014/main" id="{F46B3AE9-0E78-AD54-DDFD-304622A3A758}"/>
                  </a:ext>
                </a:extLst>
              </p:cNvPr>
              <p:cNvSpPr txBox="1">
                <a:spLocks noChangeArrowheads="1"/>
              </p:cNvSpPr>
              <p:nvPr/>
            </p:nvSpPr>
            <p:spPr bwMode="auto">
              <a:xfrm>
                <a:off x="1538649" y="1984800"/>
                <a:ext cx="2935287"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则由斯托克斯公式</a:t>
                </a: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得</a:t>
                </a:r>
              </a:p>
            </p:txBody>
          </p:sp>
        </mc:Choice>
        <mc:Fallback xmlns="">
          <p:sp>
            <p:nvSpPr>
              <p:cNvPr id="11" name="Text Box 42">
                <a:extLst>
                  <a:ext uri="{FF2B5EF4-FFF2-40B4-BE49-F238E27FC236}">
                    <a16:creationId xmlns:a16="http://schemas.microsoft.com/office/drawing/2014/main" id="{F46B3AE9-0E78-AD54-DDFD-304622A3A758}"/>
                  </a:ext>
                </a:extLst>
              </p:cNvPr>
              <p:cNvSpPr txBox="1">
                <a:spLocks noRot="1" noChangeAspect="1" noMove="1" noResize="1" noEditPoints="1" noAdjustHandles="1" noChangeArrowheads="1" noChangeShapeType="1" noTextEdit="1"/>
              </p:cNvSpPr>
              <p:nvPr/>
            </p:nvSpPr>
            <p:spPr bwMode="auto">
              <a:xfrm>
                <a:off x="1538649" y="1984800"/>
                <a:ext cx="2935287" cy="430887"/>
              </a:xfrm>
              <a:prstGeom prst="rect">
                <a:avLst/>
              </a:prstGeom>
              <a:blipFill>
                <a:blip r:embed="rId12"/>
                <a:stretch>
                  <a:fillRect l="-2697" t="-14286"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对象 11">
                <a:extLst>
                  <a:ext uri="{FF2B5EF4-FFF2-40B4-BE49-F238E27FC236}">
                    <a16:creationId xmlns:a16="http://schemas.microsoft.com/office/drawing/2014/main" id="{B4FAA562-87B2-FC5D-FECB-2D3F50249CF3}"/>
                  </a:ext>
                </a:extLst>
              </p:cNvPr>
              <p:cNvSpPr txBox="1"/>
              <p:nvPr/>
            </p:nvSpPr>
            <p:spPr>
              <a:xfrm>
                <a:off x="1538649" y="2764505"/>
                <a:ext cx="5245652" cy="196368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𝐼</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rPr>
                            <m:t>𝛴</m:t>
                          </m:r>
                        </m:sub>
                        <m:sup/>
                        <m:e>
                          <m:d>
                            <m:dPr>
                              <m:begChr m:val="|"/>
                              <m:endChr m:val="|"/>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m>
                                <m:mPr>
                                  <m:plcHide m:val="on"/>
                                  <m:mcs>
                                    <m:mc>
                                      <m:mcPr>
                                        <m:count m:val="3"/>
                                        <m:mcJc m:val="center"/>
                                      </m:mcPr>
                                    </m:mc>
                                  </m:mcs>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mPr>
                                <m:m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den>
                                    </m:f>
                                  </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den>
                                    </m:f>
                                  </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den>
                                    </m:f>
                                  </m:e>
                                </m:mr>
                                <m:m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e>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den>
                                    </m:f>
                                  </m:e>
                                </m:mr>
                                <m:mr>
                                  <m:e>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e>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e>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e>
                                </m:mr>
                              </m:m>
                            </m:e>
                          </m:d>
                        </m:e>
                      </m:nary>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𝑆</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2" name="对象 11">
                <a:extLst>
                  <a:ext uri="{FF2B5EF4-FFF2-40B4-BE49-F238E27FC236}">
                    <a16:creationId xmlns:a16="http://schemas.microsoft.com/office/drawing/2014/main" id="{B4FAA562-87B2-FC5D-FECB-2D3F50249CF3}"/>
                  </a:ext>
                </a:extLst>
              </p:cNvPr>
              <p:cNvSpPr txBox="1">
                <a:spLocks noRot="1" noChangeAspect="1" noMove="1" noResize="1" noEditPoints="1" noAdjustHandles="1" noChangeArrowheads="1" noChangeShapeType="1" noTextEdit="1"/>
              </p:cNvSpPr>
              <p:nvPr/>
            </p:nvSpPr>
            <p:spPr>
              <a:xfrm>
                <a:off x="1538649" y="2764505"/>
                <a:ext cx="5245652" cy="196368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对象 12">
                <a:extLst>
                  <a:ext uri="{FF2B5EF4-FFF2-40B4-BE49-F238E27FC236}">
                    <a16:creationId xmlns:a16="http://schemas.microsoft.com/office/drawing/2014/main" id="{98EC1B3A-5E8D-5041-4EC0-A26E04A33991}"/>
                  </a:ext>
                </a:extLst>
              </p:cNvPr>
              <p:cNvSpPr txBox="1"/>
              <p:nvPr/>
            </p:nvSpPr>
            <p:spPr>
              <a:xfrm>
                <a:off x="6531608" y="3276445"/>
                <a:ext cx="3103947" cy="939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4</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den>
                      </m:f>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rPr>
                            <m:t>𝛴</m:t>
                          </m:r>
                        </m:sub>
                        <m:sup/>
                        <m:e>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𝑆</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3" name="对象 12">
                <a:extLst>
                  <a:ext uri="{FF2B5EF4-FFF2-40B4-BE49-F238E27FC236}">
                    <a16:creationId xmlns:a16="http://schemas.microsoft.com/office/drawing/2014/main" id="{98EC1B3A-5E8D-5041-4EC0-A26E04A33991}"/>
                  </a:ext>
                </a:extLst>
              </p:cNvPr>
              <p:cNvSpPr txBox="1">
                <a:spLocks noRot="1" noChangeAspect="1" noMove="1" noResize="1" noEditPoints="1" noAdjustHandles="1" noChangeArrowheads="1" noChangeShapeType="1" noTextEdit="1"/>
              </p:cNvSpPr>
              <p:nvPr/>
            </p:nvSpPr>
            <p:spPr>
              <a:xfrm>
                <a:off x="6531608" y="3276445"/>
                <a:ext cx="3103947" cy="939800"/>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对象 13">
                <a:extLst>
                  <a:ext uri="{FF2B5EF4-FFF2-40B4-BE49-F238E27FC236}">
                    <a16:creationId xmlns:a16="http://schemas.microsoft.com/office/drawing/2014/main" id="{7E48969A-3116-CDB3-25AC-A3F0E224E9CE}"/>
                  </a:ext>
                </a:extLst>
              </p:cNvPr>
              <p:cNvSpPr txBox="1"/>
              <p:nvPr/>
            </p:nvSpPr>
            <p:spPr>
              <a:xfrm>
                <a:off x="6992350" y="4360489"/>
                <a:ext cx="3290334" cy="838200"/>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d>
                        <m:d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在</m:t>
                          </m:r>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i="1">
                              <a:solidFill>
                                <a:schemeClr val="tx1">
                                  <a:lumMod val="95000"/>
                                  <a:lumOff val="5000"/>
                                </a:schemeClr>
                              </a:solidFill>
                              <a:latin typeface="Cambria Math" panose="02040503050406030204" charset="0"/>
                              <a:ea typeface="黑体" panose="02010609060101010101" pitchFamily="49" charset="-122"/>
                            </a:rPr>
                            <m:t>𝛴</m:t>
                          </m:r>
                          <m:r>
                            <a:rPr kumimoji="1" lang="en-US" altLang="zh-CN" sz="2200" b="0" i="1"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上</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den>
                          </m:f>
                        </m:e>
                      </m:d>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4" name="对象 13">
                <a:extLst>
                  <a:ext uri="{FF2B5EF4-FFF2-40B4-BE49-F238E27FC236}">
                    <a16:creationId xmlns:a16="http://schemas.microsoft.com/office/drawing/2014/main" id="{7E48969A-3116-CDB3-25AC-A3F0E224E9CE}"/>
                  </a:ext>
                </a:extLst>
              </p:cNvPr>
              <p:cNvSpPr txBox="1">
                <a:spLocks noRot="1" noChangeAspect="1" noMove="1" noResize="1" noEditPoints="1" noAdjustHandles="1" noChangeArrowheads="1" noChangeShapeType="1" noTextEdit="1"/>
              </p:cNvSpPr>
              <p:nvPr/>
            </p:nvSpPr>
            <p:spPr>
              <a:xfrm>
                <a:off x="6992350" y="4360489"/>
                <a:ext cx="3290334" cy="838200"/>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对象 14">
                <a:extLst>
                  <a:ext uri="{FF2B5EF4-FFF2-40B4-BE49-F238E27FC236}">
                    <a16:creationId xmlns:a16="http://schemas.microsoft.com/office/drawing/2014/main" id="{51855A13-8D85-4941-EAA4-E8456BF4ACEE}"/>
                  </a:ext>
                </a:extLst>
              </p:cNvPr>
              <p:cNvSpPr txBox="1"/>
              <p:nvPr/>
            </p:nvSpPr>
            <p:spPr>
              <a:xfrm>
                <a:off x="1538649" y="5107775"/>
                <a:ext cx="2175542" cy="939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4</m:t>
                          </m:r>
                        </m:num>
                        <m:den>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den>
                      </m:f>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rPr>
                            <m:t>𝛴</m:t>
                          </m:r>
                        </m:sub>
                        <m:sup/>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𝑆</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5" name="对象 14">
                <a:extLst>
                  <a:ext uri="{FF2B5EF4-FFF2-40B4-BE49-F238E27FC236}">
                    <a16:creationId xmlns:a16="http://schemas.microsoft.com/office/drawing/2014/main" id="{51855A13-8D85-4941-EAA4-E8456BF4ACEE}"/>
                  </a:ext>
                </a:extLst>
              </p:cNvPr>
              <p:cNvSpPr txBox="1">
                <a:spLocks noRot="1" noChangeAspect="1" noMove="1" noResize="1" noEditPoints="1" noAdjustHandles="1" noChangeArrowheads="1" noChangeShapeType="1" noTextEdit="1"/>
              </p:cNvSpPr>
              <p:nvPr/>
            </p:nvSpPr>
            <p:spPr>
              <a:xfrm>
                <a:off x="1538649" y="5107775"/>
                <a:ext cx="2175542" cy="939800"/>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对象 15">
                <a:extLst>
                  <a:ext uri="{FF2B5EF4-FFF2-40B4-BE49-F238E27FC236}">
                    <a16:creationId xmlns:a16="http://schemas.microsoft.com/office/drawing/2014/main" id="{CC40E268-A31B-4555-4C01-1A205B03EDC0}"/>
                  </a:ext>
                </a:extLst>
              </p:cNvPr>
              <p:cNvSpPr txBox="1"/>
              <p:nvPr/>
            </p:nvSpPr>
            <p:spPr>
              <a:xfrm>
                <a:off x="3609107" y="5107775"/>
                <a:ext cx="2589165" cy="101157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𝐷</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𝑥𝑦</m:t>
                              </m:r>
                            </m:sub>
                          </m:sSub>
                        </m:sub>
                        <m:sup/>
                        <m:e>
                          <m:rad>
                            <m:radPr>
                              <m:deg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radPr>
                            <m:deg/>
                            <m:e>
                              <m:r>
                                <a:rPr kumimoji="1" lang="zh-CN" altLang="en-US" sz="2200">
                                  <a:solidFill>
                                    <a:schemeClr val="tx1">
                                      <a:lumMod val="95000"/>
                                      <a:lumOff val="5000"/>
                                    </a:schemeClr>
                                  </a:solidFill>
                                  <a:latin typeface="Cambria Math" panose="02040503050406030204" charset="0"/>
                                  <a:ea typeface="黑体" panose="02010609060101010101" pitchFamily="49" charset="-122"/>
                                </a:rPr>
                                <m:t>3</m:t>
                              </m:r>
                            </m:e>
                          </m:rad>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6" name="对象 15">
                <a:extLst>
                  <a:ext uri="{FF2B5EF4-FFF2-40B4-BE49-F238E27FC236}">
                    <a16:creationId xmlns:a16="http://schemas.microsoft.com/office/drawing/2014/main" id="{CC40E268-A31B-4555-4C01-1A205B03EDC0}"/>
                  </a:ext>
                </a:extLst>
              </p:cNvPr>
              <p:cNvSpPr txBox="1">
                <a:spLocks noRot="1" noChangeAspect="1" noMove="1" noResize="1" noEditPoints="1" noAdjustHandles="1" noChangeArrowheads="1" noChangeShapeType="1" noTextEdit="1"/>
              </p:cNvSpPr>
              <p:nvPr/>
            </p:nvSpPr>
            <p:spPr>
              <a:xfrm>
                <a:off x="3609107" y="5107775"/>
                <a:ext cx="2589165" cy="1011570"/>
              </a:xfrm>
              <a:prstGeom prst="rect">
                <a:avLst/>
              </a:prstGeom>
              <a:blipFill>
                <a:blip r:embed="rId17"/>
                <a:stretch>
                  <a:fillRect/>
                </a:stretch>
              </a:blipFill>
            </p:spPr>
            <p:txBody>
              <a:bodyPr/>
              <a:lstStyle/>
              <a:p>
                <a:r>
                  <a:rPr lang="zh-CN" altLang="en-US">
                    <a:noFill/>
                  </a:rPr>
                  <a:t> </a:t>
                </a:r>
              </a:p>
            </p:txBody>
          </p:sp>
        </mc:Fallback>
      </mc:AlternateContent>
      <p:pic>
        <p:nvPicPr>
          <p:cNvPr id="18" name="图片 17" descr="图表, 直方图&#10;&#10;描述已自动生成">
            <a:extLst>
              <a:ext uri="{FF2B5EF4-FFF2-40B4-BE49-F238E27FC236}">
                <a16:creationId xmlns:a16="http://schemas.microsoft.com/office/drawing/2014/main" id="{112E5C70-1FDF-BA45-E2B9-0AB73EE8A8F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101595" y="966953"/>
            <a:ext cx="2625825" cy="2431119"/>
          </a:xfrm>
          <a:prstGeom prst="rect">
            <a:avLst/>
          </a:prstGeom>
        </p:spPr>
      </p:pic>
    </p:spTree>
    <p:extLst>
      <p:ext uri="{BB962C8B-B14F-4D97-AF65-F5344CB8AC3E}">
        <p14:creationId xmlns:p14="http://schemas.microsoft.com/office/powerpoint/2010/main" val="1608501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wipe(left)">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left)">
                                      <p:cBhvr>
                                        <p:cTn id="5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0" grpId="0"/>
      <p:bldP spid="11" grpId="0"/>
      <p:bldP spid="12" grpId="0"/>
      <p:bldP spid="13" grpId="0"/>
      <p:bldP spid="14"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38">
            <a:extLst>
              <a:ext uri="{FF2B5EF4-FFF2-40B4-BE49-F238E27FC236}">
                <a16:creationId xmlns:a16="http://schemas.microsoft.com/office/drawing/2014/main" id="{02A4A6FA-8A2B-F198-204F-0CEE30986149}"/>
              </a:ext>
            </a:extLst>
          </p:cNvPr>
          <p:cNvSpPr>
            <a:spLocks noChangeArrowheads="1"/>
          </p:cNvSpPr>
          <p:nvPr/>
        </p:nvSpPr>
        <p:spPr bwMode="auto">
          <a:xfrm>
            <a:off x="1032305" y="869157"/>
            <a:ext cx="82232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dirty="0">
                <a:solidFill>
                  <a:srgbClr val="04926A"/>
                </a:solidFill>
                <a:latin typeface="微软雅黑" panose="020B0503020204020204" pitchFamily="34" charset="-122"/>
                <a:ea typeface="微软雅黑" panose="020B0503020204020204" pitchFamily="34" charset="-122"/>
              </a:rPr>
              <a:t>*</a:t>
            </a:r>
            <a:r>
              <a:rPr lang="zh-CN" altLang="en-US" sz="3200" b="1" dirty="0">
                <a:solidFill>
                  <a:srgbClr val="04926A"/>
                </a:solidFill>
                <a:latin typeface="微软雅黑" panose="020B0503020204020204" pitchFamily="34" charset="-122"/>
                <a:ea typeface="微软雅黑" panose="020B0503020204020204" pitchFamily="34" charset="-122"/>
              </a:rPr>
              <a:t>二、空间曲线积分与路径无关的条件</a:t>
            </a:r>
          </a:p>
        </p:txBody>
      </p:sp>
      <mc:AlternateContent xmlns:mc="http://schemas.openxmlformats.org/markup-compatibility/2006" xmlns:a14="http://schemas.microsoft.com/office/drawing/2010/main">
        <mc:Choice Requires="a14">
          <p:sp>
            <p:nvSpPr>
              <p:cNvPr id="4" name="Text Box 140">
                <a:extLst>
                  <a:ext uri="{FF2B5EF4-FFF2-40B4-BE49-F238E27FC236}">
                    <a16:creationId xmlns:a16="http://schemas.microsoft.com/office/drawing/2014/main" id="{0B61C11F-4FBD-9EBC-D40A-B692D9A40161}"/>
                  </a:ext>
                </a:extLst>
              </p:cNvPr>
              <p:cNvSpPr txBox="1">
                <a:spLocks noChangeArrowheads="1"/>
              </p:cNvSpPr>
              <p:nvPr/>
            </p:nvSpPr>
            <p:spPr bwMode="auto">
              <a:xfrm>
                <a:off x="7293946" y="1686204"/>
                <a:ext cx="3716953"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rPr>
                  <a:t>函数</a:t>
                </a: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𝑃</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mj-cs"/>
                  </a:rPr>
                  <a:t>(</a:t>
                </a:r>
                <a14:m>
                  <m:oMath xmlns:m="http://schemas.openxmlformats.org/officeDocument/2006/math">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mj-cs"/>
                  </a:rPr>
                  <a:t>)</a:t>
                </a:r>
                <a14:m>
                  <m:oMath xmlns:m="http://schemas.openxmlformats.org/officeDocument/2006/math">
                    <m:r>
                      <m:rPr>
                        <m:nor/>
                      </m:rPr>
                      <a:rPr kumimoji="1" lang="en-US" altLang="zh-CN" sz="2800" dirty="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𝑄</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a:t>
                </a:r>
                <a14:m>
                  <m:oMath xmlns:m="http://schemas.openxmlformats.org/officeDocument/2006/math">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a:t>
                </a:r>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mj-cs"/>
                  </a:rPr>
                  <a:t> </a:t>
                </a:r>
              </a:p>
            </p:txBody>
          </p:sp>
        </mc:Choice>
        <mc:Fallback xmlns="">
          <p:sp>
            <p:nvSpPr>
              <p:cNvPr id="4" name="Text Box 140">
                <a:extLst>
                  <a:ext uri="{FF2B5EF4-FFF2-40B4-BE49-F238E27FC236}">
                    <a16:creationId xmlns:a16="http://schemas.microsoft.com/office/drawing/2014/main" id="{0B61C11F-4FBD-9EBC-D40A-B692D9A40161}"/>
                  </a:ext>
                </a:extLst>
              </p:cNvPr>
              <p:cNvSpPr txBox="1">
                <a:spLocks noRot="1" noChangeAspect="1" noMove="1" noResize="1" noEditPoints="1" noAdjustHandles="1" noChangeArrowheads="1" noChangeShapeType="1" noTextEdit="1"/>
              </p:cNvSpPr>
              <p:nvPr/>
            </p:nvSpPr>
            <p:spPr bwMode="auto">
              <a:xfrm>
                <a:off x="7293946" y="1686204"/>
                <a:ext cx="3716953" cy="523220"/>
              </a:xfrm>
              <a:prstGeom prst="rect">
                <a:avLst/>
              </a:prstGeom>
              <a:blipFill>
                <a:blip r:embed="rId2"/>
                <a:stretch>
                  <a:fillRect l="-3448" t="-16471" r="-9524" b="-329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 Box 141">
                <a:extLst>
                  <a:ext uri="{FF2B5EF4-FFF2-40B4-BE49-F238E27FC236}">
                    <a16:creationId xmlns:a16="http://schemas.microsoft.com/office/drawing/2014/main" id="{1132261D-C315-45CC-4579-D90C3C705ACF}"/>
                  </a:ext>
                </a:extLst>
              </p:cNvPr>
              <p:cNvSpPr txBox="1">
                <a:spLocks noChangeArrowheads="1"/>
              </p:cNvSpPr>
              <p:nvPr/>
            </p:nvSpPr>
            <p:spPr bwMode="auto">
              <a:xfrm>
                <a:off x="2523799" y="2347704"/>
                <a:ext cx="6008071"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𝑅</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mj-cs"/>
                  </a:rPr>
                  <a:t>(</a:t>
                </a:r>
                <a14:m>
                  <m:oMath xmlns:m="http://schemas.openxmlformats.org/officeDocument/2006/math">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𝑧</m:t>
                    </m:r>
                  </m:oMath>
                </a14:m>
                <a:r>
                  <a:rPr kumimoji="1" lang="en-US" altLang="zh-CN" sz="2800" dirty="0">
                    <a:solidFill>
                      <a:schemeClr val="tx1">
                        <a:lumMod val="95000"/>
                        <a:lumOff val="5000"/>
                      </a:schemeClr>
                    </a:solidFill>
                    <a:latin typeface="Cambria Math" panose="02040503050406030204" charset="0"/>
                    <a:ea typeface="黑体" panose="02010609060101010101" pitchFamily="49" charset="-122"/>
                    <a:cs typeface="+mj-cs"/>
                  </a:rPr>
                  <a:t>)</a:t>
                </a:r>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rPr>
                  <a:t>在</a:t>
                </a:r>
                <a14:m>
                  <m:oMath xmlns:m="http://schemas.openxmlformats.org/officeDocument/2006/math">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en-US" altLang="zh-CN" sz="2800" i="1">
                        <a:solidFill>
                          <a:schemeClr val="tx1">
                            <a:lumMod val="95000"/>
                            <a:lumOff val="5000"/>
                          </a:schemeClr>
                        </a:solidFill>
                        <a:latin typeface="Cambria Math" panose="02040503050406030204" pitchFamily="18" charset="0"/>
                        <a:ea typeface="黑体" panose="02010609060101010101" pitchFamily="49" charset="-122"/>
                      </a:rPr>
                      <m:t>𝐺</m:t>
                    </m:r>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rPr>
                  <a:t>内具有一阶连续偏导数</a:t>
                </a:r>
                <a14:m>
                  <m:oMath xmlns:m="http://schemas.openxmlformats.org/officeDocument/2006/math">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oMath>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5" name="Text Box 141">
                <a:extLst>
                  <a:ext uri="{FF2B5EF4-FFF2-40B4-BE49-F238E27FC236}">
                    <a16:creationId xmlns:a16="http://schemas.microsoft.com/office/drawing/2014/main" id="{1132261D-C315-45CC-4579-D90C3C705ACF}"/>
                  </a:ext>
                </a:extLst>
              </p:cNvPr>
              <p:cNvSpPr txBox="1">
                <a:spLocks noRot="1" noChangeAspect="1" noMove="1" noResize="1" noEditPoints="1" noAdjustHandles="1" noChangeArrowheads="1" noChangeShapeType="1" noTextEdit="1"/>
              </p:cNvSpPr>
              <p:nvPr/>
            </p:nvSpPr>
            <p:spPr bwMode="auto">
              <a:xfrm>
                <a:off x="2523799" y="2347704"/>
                <a:ext cx="6008071" cy="523220"/>
              </a:xfrm>
              <a:prstGeom prst="rect">
                <a:avLst/>
              </a:prstGeom>
              <a:blipFill>
                <a:blip r:embed="rId4"/>
                <a:stretch>
                  <a:fillRect t="-15116" b="-3139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Text Box 142">
            <a:extLst>
              <a:ext uri="{FF2B5EF4-FFF2-40B4-BE49-F238E27FC236}">
                <a16:creationId xmlns:a16="http://schemas.microsoft.com/office/drawing/2014/main" id="{FFD19B46-44F3-F5A2-E000-18B7DA029D6B}"/>
              </a:ext>
            </a:extLst>
          </p:cNvPr>
          <p:cNvSpPr txBox="1">
            <a:spLocks noChangeArrowheads="1"/>
          </p:cNvSpPr>
          <p:nvPr/>
        </p:nvSpPr>
        <p:spPr bwMode="auto">
          <a:xfrm>
            <a:off x="8359481" y="2339865"/>
            <a:ext cx="1273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rPr>
              <a:t>则空间</a:t>
            </a:r>
          </a:p>
        </p:txBody>
      </p:sp>
      <p:sp>
        <p:nvSpPr>
          <p:cNvPr id="7" name="Text Box 143">
            <a:extLst>
              <a:ext uri="{FF2B5EF4-FFF2-40B4-BE49-F238E27FC236}">
                <a16:creationId xmlns:a16="http://schemas.microsoft.com/office/drawing/2014/main" id="{ED39549D-7D0C-43FF-DF2D-4B5400326E90}"/>
              </a:ext>
            </a:extLst>
          </p:cNvPr>
          <p:cNvSpPr txBox="1">
            <a:spLocks noChangeArrowheads="1"/>
          </p:cNvSpPr>
          <p:nvPr/>
        </p:nvSpPr>
        <p:spPr bwMode="auto">
          <a:xfrm>
            <a:off x="9435967" y="2325406"/>
            <a:ext cx="169544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rPr>
              <a:t>曲线积分</a:t>
            </a:r>
          </a:p>
        </p:txBody>
      </p:sp>
      <p:grpSp>
        <p:nvGrpSpPr>
          <p:cNvPr id="3" name="组合 2">
            <a:extLst>
              <a:ext uri="{FF2B5EF4-FFF2-40B4-BE49-F238E27FC236}">
                <a16:creationId xmlns:a16="http://schemas.microsoft.com/office/drawing/2014/main" id="{BC0AAF76-3E4C-95AF-6E3A-5B044C013299}"/>
              </a:ext>
            </a:extLst>
          </p:cNvPr>
          <p:cNvGrpSpPr/>
          <p:nvPr/>
        </p:nvGrpSpPr>
        <p:grpSpPr>
          <a:xfrm>
            <a:off x="2458482" y="3009204"/>
            <a:ext cx="8672933" cy="2861092"/>
            <a:chOff x="2458482" y="3009204"/>
            <a:chExt cx="8838601" cy="2861092"/>
          </a:xfrm>
        </p:grpSpPr>
        <mc:AlternateContent xmlns:mc="http://schemas.openxmlformats.org/markup-compatibility/2006" xmlns:a14="http://schemas.microsoft.com/office/drawing/2010/main">
          <mc:Choice Requires="a14">
            <p:sp>
              <p:nvSpPr>
                <p:cNvPr id="8" name="Text Box 145">
                  <a:extLst>
                    <a:ext uri="{FF2B5EF4-FFF2-40B4-BE49-F238E27FC236}">
                      <a16:creationId xmlns:a16="http://schemas.microsoft.com/office/drawing/2014/main" id="{C962BDA3-88E0-1313-2A24-DEB08E13478A}"/>
                    </a:ext>
                  </a:extLst>
                </p:cNvPr>
                <p:cNvSpPr txBox="1">
                  <a:spLocks noChangeArrowheads="1"/>
                </p:cNvSpPr>
                <p:nvPr/>
              </p:nvSpPr>
              <p:spPr bwMode="auto">
                <a:xfrm>
                  <a:off x="5630668" y="3125087"/>
                  <a:ext cx="5666415" cy="95410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rPr>
                    <a:t>在 </a:t>
                  </a:r>
                  <a14:m>
                    <m:oMath xmlns:m="http://schemas.openxmlformats.org/officeDocument/2006/math">
                      <m:r>
                        <a:rPr kumimoji="1" lang="en-US" altLang="zh-CN" sz="2800" b="0" i="1">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rPr>
                    <a:t> 内与路径无关的充要</a:t>
                  </a:r>
                  <a:r>
                    <a:rPr kumimoji="1" lang="zh-CN" altLang="en-US" sz="2800" dirty="0">
                      <a:solidFill>
                        <a:schemeClr val="tx1">
                          <a:lumMod val="95000"/>
                          <a:lumOff val="5000"/>
                        </a:schemeClr>
                      </a:solidFill>
                      <a:latin typeface="Cambria Math" panose="02040503050406030204" charset="0"/>
                      <a:ea typeface="黑体" panose="02010609060101010101" pitchFamily="49" charset="-122"/>
                    </a:rPr>
                    <a:t>条件是在</a:t>
                  </a:r>
                  <a14:m>
                    <m:oMath xmlns:m="http://schemas.openxmlformats.org/officeDocument/2006/math">
                      <m:r>
                        <a:rPr kumimoji="1" lang="en-US" altLang="zh-CN" sz="2800">
                          <a:solidFill>
                            <a:schemeClr val="tx1">
                              <a:lumMod val="95000"/>
                              <a:lumOff val="5000"/>
                            </a:schemeClr>
                          </a:solidFill>
                          <a:latin typeface="Cambria Math" panose="02040503050406030204" pitchFamily="18" charset="0"/>
                          <a:ea typeface="黑体" panose="02010609060101010101" pitchFamily="49" charset="-122"/>
                        </a:rPr>
                        <m:t> </m:t>
                      </m:r>
                    </m:oMath>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8" name="Text Box 145">
                  <a:extLst>
                    <a:ext uri="{FF2B5EF4-FFF2-40B4-BE49-F238E27FC236}">
                      <a16:creationId xmlns:a16="http://schemas.microsoft.com/office/drawing/2014/main" id="{C962BDA3-88E0-1313-2A24-DEB08E13478A}"/>
                    </a:ext>
                  </a:extLst>
                </p:cNvPr>
                <p:cNvSpPr txBox="1">
                  <a:spLocks noRot="1" noChangeAspect="1" noMove="1" noResize="1" noEditPoints="1" noAdjustHandles="1" noChangeArrowheads="1" noChangeShapeType="1" noTextEdit="1"/>
                </p:cNvSpPr>
                <p:nvPr/>
              </p:nvSpPr>
              <p:spPr bwMode="auto">
                <a:xfrm>
                  <a:off x="5630668" y="3125087"/>
                  <a:ext cx="5666415" cy="954107"/>
                </a:xfrm>
                <a:prstGeom prst="rect">
                  <a:avLst/>
                </a:prstGeom>
                <a:blipFill>
                  <a:blip r:embed="rId5"/>
                  <a:stretch>
                    <a:fillRect l="-2303" t="-8974" r="-164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 Box 146">
                  <a:extLst>
                    <a:ext uri="{FF2B5EF4-FFF2-40B4-BE49-F238E27FC236}">
                      <a16:creationId xmlns:a16="http://schemas.microsoft.com/office/drawing/2014/main" id="{FC80B609-DEB3-50FE-B46A-7478DA683B8F}"/>
                    </a:ext>
                  </a:extLst>
                </p:cNvPr>
                <p:cNvSpPr txBox="1">
                  <a:spLocks noChangeArrowheads="1"/>
                </p:cNvSpPr>
                <p:nvPr/>
              </p:nvSpPr>
              <p:spPr bwMode="auto">
                <a:xfrm>
                  <a:off x="2458482" y="4228200"/>
                  <a:ext cx="3505200"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14:m>
                    <m:oMath xmlns:m="http://schemas.openxmlformats.org/officeDocument/2006/math">
                      <m:r>
                        <a:rPr kumimoji="1" lang="en-US" altLang="zh-CN" sz="2800" i="1" smtClean="0">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rPr>
                    <a:t> 内恒有</a:t>
                  </a:r>
                </a:p>
              </p:txBody>
            </p:sp>
          </mc:Choice>
          <mc:Fallback xmlns="">
            <p:sp>
              <p:nvSpPr>
                <p:cNvPr id="9" name="Text Box 146">
                  <a:extLst>
                    <a:ext uri="{FF2B5EF4-FFF2-40B4-BE49-F238E27FC236}">
                      <a16:creationId xmlns:a16="http://schemas.microsoft.com/office/drawing/2014/main" id="{FC80B609-DEB3-50FE-B46A-7478DA683B8F}"/>
                    </a:ext>
                  </a:extLst>
                </p:cNvPr>
                <p:cNvSpPr txBox="1">
                  <a:spLocks noRot="1" noChangeAspect="1" noMove="1" noResize="1" noEditPoints="1" noAdjustHandles="1" noChangeArrowheads="1" noChangeShapeType="1" noTextEdit="1"/>
                </p:cNvSpPr>
                <p:nvPr/>
              </p:nvSpPr>
              <p:spPr bwMode="auto">
                <a:xfrm>
                  <a:off x="2458482" y="4228200"/>
                  <a:ext cx="3505200" cy="523220"/>
                </a:xfrm>
                <a:prstGeom prst="rect">
                  <a:avLst/>
                </a:prstGeom>
                <a:blipFill>
                  <a:blip r:embed="rId6"/>
                  <a:stretch>
                    <a:fillRect t="-16471" b="-294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609BB073-B60C-A245-BADE-CA4CABDEDABA}"/>
                    </a:ext>
                  </a:extLst>
                </p:cNvPr>
                <p:cNvSpPr txBox="1"/>
                <p:nvPr/>
              </p:nvSpPr>
              <p:spPr>
                <a:xfrm>
                  <a:off x="2523799" y="4955896"/>
                  <a:ext cx="5407025" cy="9144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800" i="1" smtClean="0">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 , </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 , </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8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8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0" name="对象 9">
                  <a:extLst>
                    <a:ext uri="{FF2B5EF4-FFF2-40B4-BE49-F238E27FC236}">
                      <a16:creationId xmlns:a16="http://schemas.microsoft.com/office/drawing/2014/main" id="{609BB073-B60C-A245-BADE-CA4CABDEDABA}"/>
                    </a:ext>
                  </a:extLst>
                </p:cNvPr>
                <p:cNvSpPr txBox="1">
                  <a:spLocks noRot="1" noChangeAspect="1" noMove="1" noResize="1" noEditPoints="1" noAdjustHandles="1" noChangeArrowheads="1" noChangeShapeType="1" noTextEdit="1"/>
                </p:cNvSpPr>
                <p:nvPr/>
              </p:nvSpPr>
              <p:spPr>
                <a:xfrm>
                  <a:off x="2523799" y="4955896"/>
                  <a:ext cx="5407025" cy="914400"/>
                </a:xfrm>
                <a:prstGeom prst="rect">
                  <a:avLst/>
                </a:prstGeom>
                <a:blipFill>
                  <a:blip r:embed="rId7"/>
                  <a:stretch>
                    <a:fillRect b="-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8673E6A-8A93-B245-2ED2-DEA0C489324D}"/>
                    </a:ext>
                  </a:extLst>
                </p:cNvPr>
                <p:cNvSpPr txBox="1"/>
                <p:nvPr/>
              </p:nvSpPr>
              <p:spPr>
                <a:xfrm>
                  <a:off x="2561899" y="3009204"/>
                  <a:ext cx="3142592" cy="8810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subSup"/>
                            <m:grow m:val="on"/>
                            <m:supHide m:val="on"/>
                            <m:ctrlPr>
                              <a:rPr lang="zh-CN" altLang="en-US" sz="2800" i="1" smtClean="0">
                                <a:latin typeface="Cambria Math" panose="02040503050406030204" pitchFamily="18" charset="0"/>
                              </a:rPr>
                            </m:ctrlPr>
                          </m:naryPr>
                          <m:sub>
                            <m:r>
                              <a:rPr kumimoji="1" lang="zh-CN" altLang="en-US" sz="2800" i="1">
                                <a:solidFill>
                                  <a:schemeClr val="tx1">
                                    <a:lumMod val="95000"/>
                                    <a:lumOff val="5000"/>
                                  </a:schemeClr>
                                </a:solidFill>
                                <a:latin typeface="Cambria Math" panose="02040503050406030204" charset="0"/>
                                <a:ea typeface="黑体" panose="02010609060101010101" pitchFamily="49" charset="-122"/>
                              </a:rPr>
                              <m:t>𝛤</m:t>
                            </m:r>
                          </m:sub>
                          <m:sup/>
                          <m:e>
                            <m:r>
                              <a:rPr kumimoji="1" lang="zh-CN" altLang="en-US" sz="2800">
                                <a:solidFill>
                                  <a:schemeClr val="tx1">
                                    <a:lumMod val="95000"/>
                                    <a:lumOff val="5000"/>
                                  </a:schemeClr>
                                </a:solidFill>
                                <a:latin typeface="Cambria Math" panose="02040503050406030204" charset="0"/>
                                <a:ea typeface="黑体" panose="02010609060101010101" pitchFamily="49" charset="-122"/>
                              </a:rPr>
                              <m:t>𝑃</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𝑄</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800">
                                <a:solidFill>
                                  <a:schemeClr val="tx1">
                                    <a:lumMod val="95000"/>
                                    <a:lumOff val="5000"/>
                                  </a:schemeClr>
                                </a:solidFill>
                                <a:latin typeface="Cambria Math" panose="02040503050406030204" charset="0"/>
                                <a:ea typeface="黑体" panose="02010609060101010101" pitchFamily="49" charset="-122"/>
                              </a:rPr>
                              <m:t>+</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𝑅</m:t>
                            </m:r>
                            <m:r>
                              <m:rPr>
                                <m:sty m:val="p"/>
                              </m:rPr>
                              <a:rPr kumimoji="1" lang="zh-CN" altLang="en-US" sz="2800">
                                <a:solidFill>
                                  <a:schemeClr val="tx1">
                                    <a:lumMod val="95000"/>
                                    <a:lumOff val="5000"/>
                                  </a:schemeClr>
                                </a:solidFill>
                                <a:latin typeface="Cambria Math" panose="02040503050406030204" charset="0"/>
                                <a:ea typeface="黑体" panose="02010609060101010101" pitchFamily="49" charset="-122"/>
                              </a:rPr>
                              <m:t>d</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𝑧</m:t>
                            </m:r>
                          </m:e>
                        </m:nary>
                      </m:oMath>
                    </m:oMathPara>
                  </a14:m>
                  <a:endParaRPr lang="zh-CN" altLang="en-US" sz="2800" dirty="0"/>
                </a:p>
              </p:txBody>
            </p:sp>
          </mc:Choice>
          <mc:Fallback xmlns="">
            <p:sp>
              <p:nvSpPr>
                <p:cNvPr id="17" name="文本框 16">
                  <a:extLst>
                    <a:ext uri="{FF2B5EF4-FFF2-40B4-BE49-F238E27FC236}">
                      <a16:creationId xmlns:a16="http://schemas.microsoft.com/office/drawing/2014/main" id="{18673E6A-8A93-B245-2ED2-DEA0C489324D}"/>
                    </a:ext>
                  </a:extLst>
                </p:cNvPr>
                <p:cNvSpPr txBox="1">
                  <a:spLocks noRot="1" noChangeAspect="1" noMove="1" noResize="1" noEditPoints="1" noAdjustHandles="1" noChangeArrowheads="1" noChangeShapeType="1" noTextEdit="1"/>
                </p:cNvSpPr>
                <p:nvPr/>
              </p:nvSpPr>
              <p:spPr>
                <a:xfrm>
                  <a:off x="2561899" y="3009204"/>
                  <a:ext cx="3142592" cy="881010"/>
                </a:xfrm>
                <a:prstGeom prst="rect">
                  <a:avLst/>
                </a:prstGeom>
                <a:blipFill>
                  <a:blip r:embed="rId8"/>
                  <a:stretch>
                    <a:fillRect/>
                  </a:stretch>
                </a:blipFill>
              </p:spPr>
              <p:txBody>
                <a:bodyPr/>
                <a:lstStyle/>
                <a:p>
                  <a:r>
                    <a:rPr lang="zh-CN" altLang="en-US">
                      <a:noFill/>
                    </a:rPr>
                    <a:t> </a:t>
                  </a:r>
                </a:p>
              </p:txBody>
            </p:sp>
          </mc:Fallback>
        </mc:AlternateContent>
      </p:grpSp>
      <p:grpSp>
        <p:nvGrpSpPr>
          <p:cNvPr id="11" name="组合 10">
            <a:extLst>
              <a:ext uri="{FF2B5EF4-FFF2-40B4-BE49-F238E27FC236}">
                <a16:creationId xmlns:a16="http://schemas.microsoft.com/office/drawing/2014/main" id="{29C94EE4-FBD1-7232-5514-DD4EA7B2A9F0}"/>
              </a:ext>
            </a:extLst>
          </p:cNvPr>
          <p:cNvGrpSpPr/>
          <p:nvPr/>
        </p:nvGrpSpPr>
        <p:grpSpPr>
          <a:xfrm>
            <a:off x="1234202" y="1767683"/>
            <a:ext cx="6193155" cy="449580"/>
            <a:chOff x="1553" y="3802"/>
            <a:chExt cx="9753" cy="708"/>
          </a:xfrm>
        </p:grpSpPr>
        <p:sp>
          <p:nvSpPr>
            <p:cNvPr id="12" name="圆角矩形 3">
              <a:extLst>
                <a:ext uri="{FF2B5EF4-FFF2-40B4-BE49-F238E27FC236}">
                  <a16:creationId xmlns:a16="http://schemas.microsoft.com/office/drawing/2014/main" id="{6AC77FE8-BF60-81D5-0E86-5D74743B7233}"/>
                </a:ext>
              </a:extLst>
            </p:cNvPr>
            <p:cNvSpPr/>
            <p:nvPr/>
          </p:nvSpPr>
          <p:spPr>
            <a:xfrm>
              <a:off x="1553" y="3803"/>
              <a:ext cx="1928"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mc:AlternateContent xmlns:mc="http://schemas.openxmlformats.org/markup-compatibility/2006" xmlns:a14="http://schemas.microsoft.com/office/drawing/2010/main">
          <mc:Choice Requires="a14">
            <p:sp>
              <p:nvSpPr>
                <p:cNvPr id="13" name="Text Box 28">
                  <a:extLst>
                    <a:ext uri="{FF2B5EF4-FFF2-40B4-BE49-F238E27FC236}">
                      <a16:creationId xmlns:a16="http://schemas.microsoft.com/office/drawing/2014/main" id="{DB1CD8C1-DA65-CF95-9F1A-78E40C3EB77C}"/>
                    </a:ext>
                  </a:extLst>
                </p:cNvPr>
                <p:cNvSpPr txBox="1">
                  <a:spLocks noChangeArrowheads="1"/>
                </p:cNvSpPr>
                <p:nvPr/>
              </p:nvSpPr>
              <p:spPr bwMode="auto">
                <a:xfrm>
                  <a:off x="1710" y="3802"/>
                  <a:ext cx="9596" cy="67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定理</a:t>
                  </a:r>
                  <a:r>
                    <a:rPr kumimoji="1" lang="en-US" altLang="zh-CN"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2   </a:t>
                  </a:r>
                  <a:r>
                    <a:rPr kumimoji="1" lang="zh-CN" altLang="en-US" sz="2800" b="0" dirty="0">
                      <a:solidFill>
                        <a:schemeClr val="tx1">
                          <a:lumMod val="95000"/>
                          <a:lumOff val="5000"/>
                        </a:schemeClr>
                      </a:solidFill>
                      <a:latin typeface="Cambria Math" panose="02040503050406030204" charset="0"/>
                      <a:ea typeface="黑体" panose="02010609060101010101" pitchFamily="49" charset="-122"/>
                      <a:cs typeface="+mj-cs"/>
                    </a:rPr>
                    <a:t>设空间区域 </a:t>
                  </a:r>
                  <a14:m>
                    <m:oMath xmlns:m="http://schemas.openxmlformats.org/officeDocument/2006/math">
                      <m:r>
                        <a:rPr kumimoji="1" lang="en-US" altLang="zh-CN" sz="2800" b="0" i="1">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zh-CN" altLang="en-US" sz="2800" b="0" dirty="0">
                      <a:solidFill>
                        <a:schemeClr val="tx1">
                          <a:lumMod val="95000"/>
                          <a:lumOff val="5000"/>
                        </a:schemeClr>
                      </a:solidFill>
                      <a:latin typeface="Cambria Math" panose="02040503050406030204" charset="0"/>
                      <a:ea typeface="黑体" panose="02010609060101010101" pitchFamily="49" charset="-122"/>
                      <a:cs typeface="+mj-cs"/>
                    </a:rPr>
                    <a:t> 是一维单连通域</a:t>
                  </a:r>
                  <a14:m>
                    <m:oMath xmlns:m="http://schemas.openxmlformats.org/officeDocument/2006/math">
                      <m:r>
                        <a:rPr kumimoji="1" lang="zh-CN" altLang="en-US" sz="2800">
                          <a:solidFill>
                            <a:schemeClr val="tx1">
                              <a:lumMod val="95000"/>
                              <a:lumOff val="5000"/>
                            </a:schemeClr>
                          </a:solidFill>
                          <a:latin typeface="Cambria Math" panose="02040503050406030204" pitchFamily="18" charset="0"/>
                          <a:ea typeface="黑体" panose="02010609060101010101" pitchFamily="49" charset="-122"/>
                        </a:rPr>
                        <m:t>,</m:t>
                      </m:r>
                    </m:oMath>
                  </a14:m>
                  <a:endParaRPr kumimoji="1" lang="en-US" altLang="zh-CN"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mc:Choice>
          <mc:Fallback xmlns="">
            <p:sp>
              <p:nvSpPr>
                <p:cNvPr id="13" name="Text Box 28">
                  <a:extLst>
                    <a:ext uri="{FF2B5EF4-FFF2-40B4-BE49-F238E27FC236}">
                      <a16:creationId xmlns:a16="http://schemas.microsoft.com/office/drawing/2014/main" id="{DB1CD8C1-DA65-CF95-9F1A-78E40C3EB77C}"/>
                    </a:ext>
                  </a:extLst>
                </p:cNvPr>
                <p:cNvSpPr txBox="1">
                  <a:spLocks noRot="1" noChangeAspect="1" noMove="1" noResize="1" noEditPoints="1" noAdjustHandles="1" noChangeArrowheads="1" noChangeShapeType="1" noTextEdit="1"/>
                </p:cNvSpPr>
                <p:nvPr/>
              </p:nvSpPr>
              <p:spPr bwMode="auto">
                <a:xfrm>
                  <a:off x="1710" y="3802"/>
                  <a:ext cx="9596" cy="678"/>
                </a:xfrm>
                <a:prstGeom prst="rect">
                  <a:avLst/>
                </a:prstGeom>
                <a:blipFill>
                  <a:blip r:embed="rId9"/>
                  <a:stretch>
                    <a:fillRect l="-3604" t="-29577" r="-300" b="-4929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1269055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par>
                                <p:cTn id="31" presetID="22" presetClass="entr" presetSubtype="8"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left)">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55640417-ECFF-D6A5-A98A-B92C64A48AC3}"/>
              </a:ext>
            </a:extLst>
          </p:cNvPr>
          <p:cNvGrpSpPr/>
          <p:nvPr/>
        </p:nvGrpSpPr>
        <p:grpSpPr>
          <a:xfrm>
            <a:off x="510540" y="494665"/>
            <a:ext cx="11149330" cy="5612765"/>
            <a:chOff x="838" y="906"/>
            <a:chExt cx="17558" cy="8839"/>
          </a:xfrm>
        </p:grpSpPr>
        <p:sp>
          <p:nvSpPr>
            <p:cNvPr id="30" name="PA-102232">
              <a:extLst>
                <a:ext uri="{FF2B5EF4-FFF2-40B4-BE49-F238E27FC236}">
                  <a16:creationId xmlns:a16="http://schemas.microsoft.com/office/drawing/2014/main" id="{0FD3319D-827C-1173-DE9F-26181152DE8C}"/>
                </a:ext>
              </a:extLst>
            </p:cNvPr>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31" name="组合 30">
              <a:extLst>
                <a:ext uri="{FF2B5EF4-FFF2-40B4-BE49-F238E27FC236}">
                  <a16:creationId xmlns:a16="http://schemas.microsoft.com/office/drawing/2014/main" id="{D33AC349-3C04-C1CF-8828-DCD4B6BFCEB5}"/>
                </a:ext>
              </a:extLst>
            </p:cNvPr>
            <p:cNvGrpSpPr/>
            <p:nvPr/>
          </p:nvGrpSpPr>
          <p:grpSpPr>
            <a:xfrm>
              <a:off x="838" y="9635"/>
              <a:ext cx="17558" cy="110"/>
              <a:chOff x="838" y="9635"/>
              <a:chExt cx="17558" cy="110"/>
            </a:xfrm>
          </p:grpSpPr>
          <p:sp>
            <p:nvSpPr>
              <p:cNvPr id="32" name="Rectangle 1">
                <a:extLst>
                  <a:ext uri="{FF2B5EF4-FFF2-40B4-BE49-F238E27FC236}">
                    <a16:creationId xmlns:a16="http://schemas.microsoft.com/office/drawing/2014/main" id="{71A201C6-6F28-C527-0E03-3C4501DD6AB6}"/>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3" name="Rectangle 1">
                <a:extLst>
                  <a:ext uri="{FF2B5EF4-FFF2-40B4-BE49-F238E27FC236}">
                    <a16:creationId xmlns:a16="http://schemas.microsoft.com/office/drawing/2014/main" id="{DD02044B-91F3-178C-70A4-4798F6421D3F}"/>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34" name="Rectangle 1">
                <a:extLst>
                  <a:ext uri="{FF2B5EF4-FFF2-40B4-BE49-F238E27FC236}">
                    <a16:creationId xmlns:a16="http://schemas.microsoft.com/office/drawing/2014/main" id="{3FDB3812-1CD7-A113-C1CB-61B99A59B341}"/>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2" name="Rectangle 330">
            <a:extLst>
              <a:ext uri="{FF2B5EF4-FFF2-40B4-BE49-F238E27FC236}">
                <a16:creationId xmlns:a16="http://schemas.microsoft.com/office/drawing/2014/main" id="{32D28BC9-EC57-4CD2-0473-D71EBA2FE992}"/>
              </a:ext>
            </a:extLst>
          </p:cNvPr>
          <p:cNvSpPr>
            <a:spLocks noChangeArrowheads="1"/>
          </p:cNvSpPr>
          <p:nvPr/>
        </p:nvSpPr>
        <p:spPr bwMode="auto">
          <a:xfrm>
            <a:off x="1622140" y="1996948"/>
            <a:ext cx="94961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spcBef>
                <a:spcPct val="50000"/>
              </a:spcBef>
            </a:pPr>
            <a:r>
              <a:rPr lang="zh-CN" altLang="en-US" sz="2800" b="1" dirty="0">
                <a:solidFill>
                  <a:srgbClr val="04926A"/>
                </a:solidFill>
                <a:latin typeface="微软雅黑" panose="020B0503020204020204" pitchFamily="34" charset="-122"/>
                <a:ea typeface="微软雅黑" panose="020B0503020204020204" pitchFamily="34" charset="-122"/>
                <a:cs typeface="+mj-cs"/>
              </a:rPr>
              <a:t>证明</a:t>
            </a:r>
          </a:p>
        </p:txBody>
      </p:sp>
      <p:sp>
        <p:nvSpPr>
          <p:cNvPr id="3" name="AutoShape 470">
            <a:extLst>
              <a:ext uri="{FF2B5EF4-FFF2-40B4-BE49-F238E27FC236}">
                <a16:creationId xmlns:a16="http://schemas.microsoft.com/office/drawing/2014/main" id="{DD0EBC72-F4FA-7583-67FE-E6D008ED6AFA}"/>
              </a:ext>
            </a:extLst>
          </p:cNvPr>
          <p:cNvSpPr>
            <a:spLocks noChangeArrowheads="1"/>
          </p:cNvSpPr>
          <p:nvPr/>
        </p:nvSpPr>
        <p:spPr bwMode="auto">
          <a:xfrm>
            <a:off x="4752691" y="1049572"/>
            <a:ext cx="720725" cy="360362"/>
          </a:xfrm>
          <a:prstGeom prst="leftRightArrow">
            <a:avLst>
              <a:gd name="adj1" fmla="val 50000"/>
              <a:gd name="adj2" fmla="val 40000"/>
            </a:avLst>
          </a:prstGeom>
          <a:solidFill>
            <a:srgbClr val="04926A">
              <a:alpha val="42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latin typeface="Times New Roman" panose="02020603050405020304" pitchFamily="18" charset="0"/>
              <a:cs typeface="Times New Roman" panose="02020603050405020304" pitchFamily="18" charset="0"/>
            </a:endParaRPr>
          </a:p>
        </p:txBody>
      </p:sp>
      <p:sp>
        <p:nvSpPr>
          <p:cNvPr id="4" name="Line 471">
            <a:extLst>
              <a:ext uri="{FF2B5EF4-FFF2-40B4-BE49-F238E27FC236}">
                <a16:creationId xmlns:a16="http://schemas.microsoft.com/office/drawing/2014/main" id="{6E5511FA-483B-0D1E-3835-3930AAD96B5C}"/>
              </a:ext>
            </a:extLst>
          </p:cNvPr>
          <p:cNvSpPr>
            <a:spLocks noChangeShapeType="1"/>
          </p:cNvSpPr>
          <p:nvPr/>
        </p:nvSpPr>
        <p:spPr bwMode="auto">
          <a:xfrm>
            <a:off x="1710752" y="1833721"/>
            <a:ext cx="7961957" cy="19065"/>
          </a:xfrm>
          <a:prstGeom prst="line">
            <a:avLst/>
          </a:prstGeom>
          <a:noFill/>
          <a:ln w="19050">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Times New Roman" panose="02020603050405020304" pitchFamily="18" charset="0"/>
              <a:cs typeface="Times New Roman" panose="02020603050405020304" pitchFamily="18" charset="0"/>
            </a:endParaRPr>
          </a:p>
        </p:txBody>
      </p:sp>
      <p:sp>
        <p:nvSpPr>
          <p:cNvPr id="5" name="Text Box 472">
            <a:extLst>
              <a:ext uri="{FF2B5EF4-FFF2-40B4-BE49-F238E27FC236}">
                <a16:creationId xmlns:a16="http://schemas.microsoft.com/office/drawing/2014/main" id="{635E4F25-B05E-377B-BCC6-63BA33A4006D}"/>
              </a:ext>
            </a:extLst>
          </p:cNvPr>
          <p:cNvSpPr txBox="1">
            <a:spLocks noChangeArrowheads="1"/>
          </p:cNvSpPr>
          <p:nvPr/>
        </p:nvSpPr>
        <p:spPr bwMode="auto">
          <a:xfrm>
            <a:off x="2526731" y="1996948"/>
            <a:ext cx="10845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rgbClr val="4A7BA8"/>
                </a:solidFill>
                <a:latin typeface="Cambria Math" panose="02040503050406030204" charset="0"/>
                <a:ea typeface="黑体" panose="02010609060101010101" pitchFamily="49" charset="-122"/>
                <a:cs typeface="+mj-cs"/>
              </a:rPr>
              <a:t>充分性</a:t>
            </a:r>
          </a:p>
        </p:txBody>
      </p:sp>
      <mc:AlternateContent xmlns:mc="http://schemas.openxmlformats.org/markup-compatibility/2006" xmlns:a14="http://schemas.microsoft.com/office/drawing/2010/main">
        <mc:Choice Requires="a14">
          <p:sp>
            <p:nvSpPr>
              <p:cNvPr id="6" name="Text Box 473">
                <a:extLst>
                  <a:ext uri="{FF2B5EF4-FFF2-40B4-BE49-F238E27FC236}">
                    <a16:creationId xmlns:a16="http://schemas.microsoft.com/office/drawing/2014/main" id="{BB801931-4395-156C-D851-D46C65C263EF}"/>
                  </a:ext>
                </a:extLst>
              </p:cNvPr>
              <p:cNvSpPr txBox="1">
                <a:spLocks noChangeArrowheads="1"/>
              </p:cNvSpPr>
              <p:nvPr/>
            </p:nvSpPr>
            <p:spPr bwMode="auto">
              <a:xfrm>
                <a:off x="3482744" y="1996948"/>
                <a:ext cx="1941195"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若在 </a:t>
                </a:r>
                <a14:m>
                  <m:oMath xmlns:m="http://schemas.openxmlformats.org/officeDocument/2006/math">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 </a:t>
                </a: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内恒有</a:t>
                </a:r>
              </a:p>
            </p:txBody>
          </p:sp>
        </mc:Choice>
        <mc:Fallback xmlns="">
          <p:sp>
            <p:nvSpPr>
              <p:cNvPr id="6" name="Text Box 473">
                <a:extLst>
                  <a:ext uri="{FF2B5EF4-FFF2-40B4-BE49-F238E27FC236}">
                    <a16:creationId xmlns:a16="http://schemas.microsoft.com/office/drawing/2014/main" id="{BB801931-4395-156C-D851-D46C65C263EF}"/>
                  </a:ext>
                </a:extLst>
              </p:cNvPr>
              <p:cNvSpPr txBox="1">
                <a:spLocks noRot="1" noChangeAspect="1" noMove="1" noResize="1" noEditPoints="1" noAdjustHandles="1" noChangeArrowheads="1" noChangeShapeType="1" noTextEdit="1"/>
              </p:cNvSpPr>
              <p:nvPr/>
            </p:nvSpPr>
            <p:spPr bwMode="auto">
              <a:xfrm>
                <a:off x="3482744" y="1996948"/>
                <a:ext cx="1941195" cy="430887"/>
              </a:xfrm>
              <a:prstGeom prst="rect">
                <a:avLst/>
              </a:prstGeom>
              <a:blipFill>
                <a:blip r:embed="rId3"/>
                <a:stretch>
                  <a:fillRect l="-4075" t="-14286" r="-1567"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 Box 475">
                <a:extLst>
                  <a:ext uri="{FF2B5EF4-FFF2-40B4-BE49-F238E27FC236}">
                    <a16:creationId xmlns:a16="http://schemas.microsoft.com/office/drawing/2014/main" id="{F17286DE-05BD-D7B2-8C34-70B794304769}"/>
                  </a:ext>
                </a:extLst>
              </p:cNvPr>
              <p:cNvSpPr txBox="1">
                <a:spLocks noChangeArrowheads="1"/>
              </p:cNvSpPr>
              <p:nvPr/>
            </p:nvSpPr>
            <p:spPr bwMode="auto">
              <a:xfrm>
                <a:off x="2526731" y="3456401"/>
                <a:ext cx="2755901"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则由斯托克斯公式</a:t>
                </a: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有</a:t>
                </a:r>
              </a:p>
            </p:txBody>
          </p:sp>
        </mc:Choice>
        <mc:Fallback xmlns="">
          <p:sp>
            <p:nvSpPr>
              <p:cNvPr id="7" name="Text Box 475">
                <a:extLst>
                  <a:ext uri="{FF2B5EF4-FFF2-40B4-BE49-F238E27FC236}">
                    <a16:creationId xmlns:a16="http://schemas.microsoft.com/office/drawing/2014/main" id="{F17286DE-05BD-D7B2-8C34-70B794304769}"/>
                  </a:ext>
                </a:extLst>
              </p:cNvPr>
              <p:cNvSpPr txBox="1">
                <a:spLocks noRot="1" noChangeAspect="1" noMove="1" noResize="1" noEditPoints="1" noAdjustHandles="1" noChangeArrowheads="1" noChangeShapeType="1" noTextEdit="1"/>
              </p:cNvSpPr>
              <p:nvPr/>
            </p:nvSpPr>
            <p:spPr bwMode="auto">
              <a:xfrm>
                <a:off x="2526731" y="3456401"/>
                <a:ext cx="2755901" cy="430887"/>
              </a:xfrm>
              <a:prstGeom prst="rect">
                <a:avLst/>
              </a:prstGeom>
              <a:blipFill>
                <a:blip r:embed="rId4"/>
                <a:stretch>
                  <a:fillRect l="-2870" t="-14085" r="-2428" b="-225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CC8D890A-B503-CCC9-2BD7-38FCFE2B10B8}"/>
                  </a:ext>
                </a:extLst>
              </p:cNvPr>
              <p:cNvSpPr txBox="1"/>
              <p:nvPr/>
            </p:nvSpPr>
            <p:spPr>
              <a:xfrm>
                <a:off x="2526731" y="2557466"/>
                <a:ext cx="3851276" cy="82732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cs typeface="+mj-cs"/>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cs typeface="+mj-cs"/>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8" name="对象 7">
                <a:extLst>
                  <a:ext uri="{FF2B5EF4-FFF2-40B4-BE49-F238E27FC236}">
                    <a16:creationId xmlns:a16="http://schemas.microsoft.com/office/drawing/2014/main" id="{CC8D890A-B503-CCC9-2BD7-38FCFE2B10B8}"/>
                  </a:ext>
                </a:extLst>
              </p:cNvPr>
              <p:cNvSpPr txBox="1">
                <a:spLocks noRot="1" noChangeAspect="1" noMove="1" noResize="1" noEditPoints="1" noAdjustHandles="1" noChangeArrowheads="1" noChangeShapeType="1" noTextEdit="1"/>
              </p:cNvSpPr>
              <p:nvPr/>
            </p:nvSpPr>
            <p:spPr>
              <a:xfrm>
                <a:off x="2526731" y="2557466"/>
                <a:ext cx="3851276" cy="82732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象 8">
                <a:extLst>
                  <a:ext uri="{FF2B5EF4-FFF2-40B4-BE49-F238E27FC236}">
                    <a16:creationId xmlns:a16="http://schemas.microsoft.com/office/drawing/2014/main" id="{58E4FBA0-41FF-3C6E-0919-8F3E9689FABB}"/>
                  </a:ext>
                </a:extLst>
              </p:cNvPr>
              <p:cNvSpPr txBox="1"/>
              <p:nvPr/>
            </p:nvSpPr>
            <p:spPr>
              <a:xfrm>
                <a:off x="2526731" y="4030718"/>
                <a:ext cx="2527302" cy="759307"/>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cs typeface="+mj-cs"/>
                            </a:rPr>
                            <m:t>𝛤</m:t>
                          </m:r>
                        </m:sub>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9" name="对象 8">
                <a:extLst>
                  <a:ext uri="{FF2B5EF4-FFF2-40B4-BE49-F238E27FC236}">
                    <a16:creationId xmlns:a16="http://schemas.microsoft.com/office/drawing/2014/main" id="{58E4FBA0-41FF-3C6E-0919-8F3E9689FABB}"/>
                  </a:ext>
                </a:extLst>
              </p:cNvPr>
              <p:cNvSpPr txBox="1">
                <a:spLocks noRot="1" noChangeAspect="1" noMove="1" noResize="1" noEditPoints="1" noAdjustHandles="1" noChangeArrowheads="1" noChangeShapeType="1" noTextEdit="1"/>
              </p:cNvSpPr>
              <p:nvPr/>
            </p:nvSpPr>
            <p:spPr>
              <a:xfrm>
                <a:off x="2526731" y="4030718"/>
                <a:ext cx="2527302" cy="75930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0DC846A1-4E59-35AD-10B6-BAA82A2EEA68}"/>
                  </a:ext>
                </a:extLst>
              </p:cNvPr>
              <p:cNvSpPr txBox="1"/>
              <p:nvPr/>
            </p:nvSpPr>
            <p:spPr>
              <a:xfrm>
                <a:off x="2526731" y="4913240"/>
                <a:ext cx="7518402" cy="10033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cs typeface="+mj-cs"/>
                            </a:rPr>
                            <m:t>𝛴</m:t>
                          </m:r>
                        </m:sub>
                        <m:sup/>
                        <m:e>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e>
                          </m:d>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e>
                          </m:d>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e>
                          </m:d>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0" name="对象 9">
                <a:extLst>
                  <a:ext uri="{FF2B5EF4-FFF2-40B4-BE49-F238E27FC236}">
                    <a16:creationId xmlns:a16="http://schemas.microsoft.com/office/drawing/2014/main" id="{0DC846A1-4E59-35AD-10B6-BAA82A2EEA68}"/>
                  </a:ext>
                </a:extLst>
              </p:cNvPr>
              <p:cNvSpPr txBox="1">
                <a:spLocks noRot="1" noChangeAspect="1" noMove="1" noResize="1" noEditPoints="1" noAdjustHandles="1" noChangeArrowheads="1" noChangeShapeType="1" noTextEdit="1"/>
              </p:cNvSpPr>
              <p:nvPr/>
            </p:nvSpPr>
            <p:spPr>
              <a:xfrm>
                <a:off x="2526731" y="4913240"/>
                <a:ext cx="7518402" cy="100330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对象 10">
                <a:extLst>
                  <a:ext uri="{FF2B5EF4-FFF2-40B4-BE49-F238E27FC236}">
                    <a16:creationId xmlns:a16="http://schemas.microsoft.com/office/drawing/2014/main" id="{21C3F892-EE6D-6013-C148-B1F638C03612}"/>
                  </a:ext>
                </a:extLst>
              </p:cNvPr>
              <p:cNvSpPr txBox="1"/>
              <p:nvPr/>
            </p:nvSpPr>
            <p:spPr>
              <a:xfrm>
                <a:off x="9887019" y="5128035"/>
                <a:ext cx="642940" cy="372963"/>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1" name="对象 10">
                <a:extLst>
                  <a:ext uri="{FF2B5EF4-FFF2-40B4-BE49-F238E27FC236}">
                    <a16:creationId xmlns:a16="http://schemas.microsoft.com/office/drawing/2014/main" id="{21C3F892-EE6D-6013-C148-B1F638C03612}"/>
                  </a:ext>
                </a:extLst>
              </p:cNvPr>
              <p:cNvSpPr txBox="1">
                <a:spLocks noRot="1" noChangeAspect="1" noMove="1" noResize="1" noEditPoints="1" noAdjustHandles="1" noChangeArrowheads="1" noChangeShapeType="1" noTextEdit="1"/>
              </p:cNvSpPr>
              <p:nvPr/>
            </p:nvSpPr>
            <p:spPr>
              <a:xfrm>
                <a:off x="9887019" y="5128035"/>
                <a:ext cx="642940" cy="372963"/>
              </a:xfrm>
              <a:prstGeom prst="rect">
                <a:avLst/>
              </a:prstGeom>
              <a:blipFill>
                <a:blip r:embed="rId8"/>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对象 11">
                <a:extLst>
                  <a:ext uri="{FF2B5EF4-FFF2-40B4-BE49-F238E27FC236}">
                    <a16:creationId xmlns:a16="http://schemas.microsoft.com/office/drawing/2014/main" id="{B70462B3-3FF0-3475-C703-6BE0AACD0488}"/>
                  </a:ext>
                </a:extLst>
              </p:cNvPr>
              <p:cNvSpPr txBox="1"/>
              <p:nvPr/>
            </p:nvSpPr>
            <p:spPr>
              <a:xfrm>
                <a:off x="1710752" y="821951"/>
                <a:ext cx="2901954" cy="808841"/>
              </a:xfrm>
              <a:prstGeom prst="rect">
                <a:avLst/>
              </a:prstGeom>
              <a:solidFill>
                <a:srgbClr val="04926A">
                  <a:alpha val="42000"/>
                </a:srgbClr>
              </a:solidFill>
              <a:ln>
                <a:noFill/>
              </a:ln>
            </p:spPr>
            <p:txBody>
              <a:bodyPr>
                <a:noAutofit/>
              </a:bodyPr>
              <a:lstStyle/>
              <a:p>
                <a:pPr/>
                <a14:m>
                  <m:oMathPara xmlns:m="http://schemas.openxmlformats.org/officeDocument/2006/math">
                    <m:oMathParaPr>
                      <m:jc m:val="center"/>
                    </m:oMathParaPr>
                    <m:oMath xmlns:m="http://schemas.openxmlformats.org/officeDocument/2006/math">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𝛤</m:t>
                          </m:r>
                        </m:sub>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2" name="对象 11">
                <a:extLst>
                  <a:ext uri="{FF2B5EF4-FFF2-40B4-BE49-F238E27FC236}">
                    <a16:creationId xmlns:a16="http://schemas.microsoft.com/office/drawing/2014/main" id="{B70462B3-3FF0-3475-C703-6BE0AACD0488}"/>
                  </a:ext>
                </a:extLst>
              </p:cNvPr>
              <p:cNvSpPr txBox="1">
                <a:spLocks noRot="1" noChangeAspect="1" noMove="1" noResize="1" noEditPoints="1" noAdjustHandles="1" noChangeArrowheads="1" noChangeShapeType="1" noTextEdit="1"/>
              </p:cNvSpPr>
              <p:nvPr/>
            </p:nvSpPr>
            <p:spPr>
              <a:xfrm>
                <a:off x="1710752" y="821951"/>
                <a:ext cx="2901954" cy="808841"/>
              </a:xfrm>
              <a:prstGeom prst="rect">
                <a:avLst/>
              </a:prstGeom>
              <a:blipFill>
                <a:blip r:embed="rId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对象 12">
                <a:extLst>
                  <a:ext uri="{FF2B5EF4-FFF2-40B4-BE49-F238E27FC236}">
                    <a16:creationId xmlns:a16="http://schemas.microsoft.com/office/drawing/2014/main" id="{F94D0C58-2089-5E8D-9F59-3881E6934C55}"/>
                  </a:ext>
                </a:extLst>
              </p:cNvPr>
              <p:cNvSpPr txBox="1"/>
              <p:nvPr/>
            </p:nvSpPr>
            <p:spPr>
              <a:xfrm>
                <a:off x="5613401" y="821951"/>
                <a:ext cx="4059308" cy="808841"/>
              </a:xfrm>
              <a:prstGeom prst="rect">
                <a:avLst/>
              </a:prstGeom>
              <a:solidFill>
                <a:srgbClr val="04926A">
                  <a:alpha val="42000"/>
                </a:srgbClr>
              </a:solidFill>
              <a:ln>
                <a:noFill/>
              </a:ln>
            </p:spPr>
            <p:txBody>
              <a:bodyPr>
                <a:noAutofit/>
              </a:bodyPr>
              <a:lstStyle/>
              <a:p>
                <a:pPr/>
                <a14:m>
                  <m:oMathPara xmlns:m="http://schemas.openxmlformats.org/officeDocument/2006/math">
                    <m:oMathParaPr>
                      <m:jc m:val="center"/>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3" name="对象 12">
                <a:extLst>
                  <a:ext uri="{FF2B5EF4-FFF2-40B4-BE49-F238E27FC236}">
                    <a16:creationId xmlns:a16="http://schemas.microsoft.com/office/drawing/2014/main" id="{F94D0C58-2089-5E8D-9F59-3881E6934C55}"/>
                  </a:ext>
                </a:extLst>
              </p:cNvPr>
              <p:cNvSpPr txBox="1">
                <a:spLocks noRot="1" noChangeAspect="1" noMove="1" noResize="1" noEditPoints="1" noAdjustHandles="1" noChangeArrowheads="1" noChangeShapeType="1" noTextEdit="1"/>
              </p:cNvSpPr>
              <p:nvPr/>
            </p:nvSpPr>
            <p:spPr>
              <a:xfrm>
                <a:off x="5613401" y="821951"/>
                <a:ext cx="4059308" cy="808841"/>
              </a:xfrm>
              <a:prstGeom prst="rect">
                <a:avLst/>
              </a:prstGeom>
              <a:blipFill>
                <a:blip r:embed="rId10"/>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58304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left)">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wipe(left)">
                                      <p:cBhvr>
                                        <p:cTn id="5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p:bldP spid="6" grpId="0"/>
      <p:bldP spid="7" grpId="0"/>
      <p:bldP spid="8" grpId="0"/>
      <p:bldP spid="9" grpId="0"/>
      <p:bldP spid="10" grpId="0"/>
      <p:bldP spid="11" grpId="0"/>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a:extLst>
              <a:ext uri="{FF2B5EF4-FFF2-40B4-BE49-F238E27FC236}">
                <a16:creationId xmlns:a16="http://schemas.microsoft.com/office/drawing/2014/main" id="{C1759A5F-56BC-B8CB-56DD-F4C3D2E87FE2}"/>
              </a:ext>
            </a:extLst>
          </p:cNvPr>
          <p:cNvGrpSpPr/>
          <p:nvPr/>
        </p:nvGrpSpPr>
        <p:grpSpPr>
          <a:xfrm>
            <a:off x="510540" y="494665"/>
            <a:ext cx="11149330" cy="5612765"/>
            <a:chOff x="838" y="906"/>
            <a:chExt cx="17558" cy="8839"/>
          </a:xfrm>
        </p:grpSpPr>
        <p:sp>
          <p:nvSpPr>
            <p:cNvPr id="39" name="PA-102232">
              <a:extLst>
                <a:ext uri="{FF2B5EF4-FFF2-40B4-BE49-F238E27FC236}">
                  <a16:creationId xmlns:a16="http://schemas.microsoft.com/office/drawing/2014/main" id="{3669C10B-89F6-532F-47F2-B8E67011CCEE}"/>
                </a:ext>
              </a:extLst>
            </p:cNvPr>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40" name="组合 39">
              <a:extLst>
                <a:ext uri="{FF2B5EF4-FFF2-40B4-BE49-F238E27FC236}">
                  <a16:creationId xmlns:a16="http://schemas.microsoft.com/office/drawing/2014/main" id="{2C6AA6B6-B7F3-D5BD-0C46-4E6F19E0C698}"/>
                </a:ext>
              </a:extLst>
            </p:cNvPr>
            <p:cNvGrpSpPr/>
            <p:nvPr/>
          </p:nvGrpSpPr>
          <p:grpSpPr>
            <a:xfrm>
              <a:off x="838" y="9635"/>
              <a:ext cx="17558" cy="110"/>
              <a:chOff x="838" y="9635"/>
              <a:chExt cx="17558" cy="110"/>
            </a:xfrm>
          </p:grpSpPr>
          <p:sp>
            <p:nvSpPr>
              <p:cNvPr id="41" name="Rectangle 1">
                <a:extLst>
                  <a:ext uri="{FF2B5EF4-FFF2-40B4-BE49-F238E27FC236}">
                    <a16:creationId xmlns:a16="http://schemas.microsoft.com/office/drawing/2014/main" id="{A322C510-3E98-6AAF-1A80-CEC992057687}"/>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2" name="Rectangle 1">
                <a:extLst>
                  <a:ext uri="{FF2B5EF4-FFF2-40B4-BE49-F238E27FC236}">
                    <a16:creationId xmlns:a16="http://schemas.microsoft.com/office/drawing/2014/main" id="{E0942AD2-619B-0E6D-D9EF-02D366F468BA}"/>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3" name="Rectangle 1">
                <a:extLst>
                  <a:ext uri="{FF2B5EF4-FFF2-40B4-BE49-F238E27FC236}">
                    <a16:creationId xmlns:a16="http://schemas.microsoft.com/office/drawing/2014/main" id="{FEDD666C-8478-EAA0-594B-A432964B022B}"/>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2" name="Text Box 115">
            <a:extLst>
              <a:ext uri="{FF2B5EF4-FFF2-40B4-BE49-F238E27FC236}">
                <a16:creationId xmlns:a16="http://schemas.microsoft.com/office/drawing/2014/main" id="{45AF23F3-8C46-793C-DFE3-642CDF0B78EE}"/>
              </a:ext>
            </a:extLst>
          </p:cNvPr>
          <p:cNvSpPr txBox="1">
            <a:spLocks noChangeArrowheads="1"/>
          </p:cNvSpPr>
          <p:nvPr/>
        </p:nvSpPr>
        <p:spPr bwMode="auto">
          <a:xfrm>
            <a:off x="1953259" y="1800514"/>
            <a:ext cx="112014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rgbClr val="4A7BA8"/>
                </a:solidFill>
                <a:latin typeface="Cambria Math" panose="02040503050406030204" charset="0"/>
                <a:ea typeface="黑体" panose="02010609060101010101" pitchFamily="49" charset="-122"/>
                <a:cs typeface="+mj-cs"/>
              </a:rPr>
              <a:t>必要性</a:t>
            </a:r>
          </a:p>
        </p:txBody>
      </p:sp>
      <mc:AlternateContent xmlns:mc="http://schemas.openxmlformats.org/markup-compatibility/2006" xmlns:a14="http://schemas.microsoft.com/office/drawing/2010/main">
        <mc:Choice Requires="a14">
          <p:sp>
            <p:nvSpPr>
              <p:cNvPr id="3" name="Text Box 116">
                <a:extLst>
                  <a:ext uri="{FF2B5EF4-FFF2-40B4-BE49-F238E27FC236}">
                    <a16:creationId xmlns:a16="http://schemas.microsoft.com/office/drawing/2014/main" id="{B5E61BC5-47CF-A57A-AB08-1FD4E839C673}"/>
                  </a:ext>
                </a:extLst>
              </p:cNvPr>
              <p:cNvSpPr txBox="1">
                <a:spLocks noChangeArrowheads="1"/>
              </p:cNvSpPr>
              <p:nvPr/>
            </p:nvSpPr>
            <p:spPr bwMode="auto">
              <a:xfrm>
                <a:off x="3102577" y="1796704"/>
                <a:ext cx="3025775"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若在</a:t>
                </a:r>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 </a:t>
                </a:r>
                <a14:m>
                  <m:oMath xmlns:m="http://schemas.openxmlformats.org/officeDocument/2006/math">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 内恒有</a:t>
                </a:r>
              </a:p>
            </p:txBody>
          </p:sp>
        </mc:Choice>
        <mc:Fallback xmlns="">
          <p:sp>
            <p:nvSpPr>
              <p:cNvPr id="3" name="Text Box 116">
                <a:extLst>
                  <a:ext uri="{FF2B5EF4-FFF2-40B4-BE49-F238E27FC236}">
                    <a16:creationId xmlns:a16="http://schemas.microsoft.com/office/drawing/2014/main" id="{B5E61BC5-47CF-A57A-AB08-1FD4E839C673}"/>
                  </a:ext>
                </a:extLst>
              </p:cNvPr>
              <p:cNvSpPr txBox="1">
                <a:spLocks noRot="1" noChangeAspect="1" noMove="1" noResize="1" noEditPoints="1" noAdjustHandles="1" noChangeArrowheads="1" noChangeShapeType="1" noTextEdit="1"/>
              </p:cNvSpPr>
              <p:nvPr/>
            </p:nvSpPr>
            <p:spPr bwMode="auto">
              <a:xfrm>
                <a:off x="3102577" y="1796704"/>
                <a:ext cx="3025775" cy="430887"/>
              </a:xfrm>
              <a:prstGeom prst="rect">
                <a:avLst/>
              </a:prstGeom>
              <a:blipFill>
                <a:blip r:embed="rId3"/>
                <a:stretch>
                  <a:fillRect l="-2621" t="-14286" b="-242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 Box 118">
                <a:extLst>
                  <a:ext uri="{FF2B5EF4-FFF2-40B4-BE49-F238E27FC236}">
                    <a16:creationId xmlns:a16="http://schemas.microsoft.com/office/drawing/2014/main" id="{954D258A-F466-5E7B-37D6-A7D83300C5FC}"/>
                  </a:ext>
                </a:extLst>
              </p:cNvPr>
              <p:cNvSpPr txBox="1">
                <a:spLocks noChangeArrowheads="1"/>
              </p:cNvSpPr>
              <p:nvPr/>
            </p:nvSpPr>
            <p:spPr bwMode="auto">
              <a:xfrm>
                <a:off x="1953259" y="3201128"/>
                <a:ext cx="2215469"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用反证法证明</a:t>
                </a: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4" name="Text Box 118">
                <a:extLst>
                  <a:ext uri="{FF2B5EF4-FFF2-40B4-BE49-F238E27FC236}">
                    <a16:creationId xmlns:a16="http://schemas.microsoft.com/office/drawing/2014/main" id="{954D258A-F466-5E7B-37D6-A7D83300C5FC}"/>
                  </a:ext>
                </a:extLst>
              </p:cNvPr>
              <p:cNvSpPr txBox="1">
                <a:spLocks noRot="1" noChangeAspect="1" noMove="1" noResize="1" noEditPoints="1" noAdjustHandles="1" noChangeArrowheads="1" noChangeShapeType="1" noTextEdit="1"/>
              </p:cNvSpPr>
              <p:nvPr/>
            </p:nvSpPr>
            <p:spPr bwMode="auto">
              <a:xfrm>
                <a:off x="1953259" y="3201128"/>
                <a:ext cx="2215469" cy="430887"/>
              </a:xfrm>
              <a:prstGeom prst="rect">
                <a:avLst/>
              </a:prstGeom>
              <a:blipFill>
                <a:blip r:embed="rId4"/>
                <a:stretch>
                  <a:fillRect l="-3571" t="-14085" b="-239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 Box 119">
                <a:extLst>
                  <a:ext uri="{FF2B5EF4-FFF2-40B4-BE49-F238E27FC236}">
                    <a16:creationId xmlns:a16="http://schemas.microsoft.com/office/drawing/2014/main" id="{98439D56-4124-C60C-71DF-4BC9B734F148}"/>
                  </a:ext>
                </a:extLst>
              </p:cNvPr>
              <p:cNvSpPr txBox="1">
                <a:spLocks noChangeArrowheads="1"/>
              </p:cNvSpPr>
              <p:nvPr/>
            </p:nvSpPr>
            <p:spPr bwMode="auto">
              <a:xfrm>
                <a:off x="3758757" y="3197001"/>
                <a:ext cx="3104758"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假设在</a:t>
                </a:r>
                <a14:m>
                  <m:oMath xmlns:m="http://schemas.openxmlformats.org/officeDocument/2006/math">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 内有一点</a:t>
                </a:r>
                <a14:m>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𝑀</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sub>
                    </m:sSub>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使</a:t>
                </a:r>
              </a:p>
            </p:txBody>
          </p:sp>
        </mc:Choice>
        <mc:Fallback xmlns="">
          <p:sp>
            <p:nvSpPr>
              <p:cNvPr id="5" name="Text Box 119">
                <a:extLst>
                  <a:ext uri="{FF2B5EF4-FFF2-40B4-BE49-F238E27FC236}">
                    <a16:creationId xmlns:a16="http://schemas.microsoft.com/office/drawing/2014/main" id="{98439D56-4124-C60C-71DF-4BC9B734F148}"/>
                  </a:ext>
                </a:extLst>
              </p:cNvPr>
              <p:cNvSpPr txBox="1">
                <a:spLocks noRot="1" noChangeAspect="1" noMove="1" noResize="1" noEditPoints="1" noAdjustHandles="1" noChangeArrowheads="1" noChangeShapeType="1" noTextEdit="1"/>
              </p:cNvSpPr>
              <p:nvPr/>
            </p:nvSpPr>
            <p:spPr bwMode="auto">
              <a:xfrm>
                <a:off x="3758757" y="3197001"/>
                <a:ext cx="3104758" cy="430887"/>
              </a:xfrm>
              <a:prstGeom prst="rect">
                <a:avLst/>
              </a:prstGeom>
              <a:blipFill>
                <a:blip r:embed="rId5"/>
                <a:stretch>
                  <a:fillRect l="-2554" t="-12676" r="-2161" b="-239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6" name="Text Box 121">
            <a:extLst>
              <a:ext uri="{FF2B5EF4-FFF2-40B4-BE49-F238E27FC236}">
                <a16:creationId xmlns:a16="http://schemas.microsoft.com/office/drawing/2014/main" id="{774C96FE-C3C9-2FAE-F3F7-664C7E419A98}"/>
              </a:ext>
            </a:extLst>
          </p:cNvPr>
          <p:cNvSpPr txBox="1">
            <a:spLocks noChangeArrowheads="1"/>
          </p:cNvSpPr>
          <p:nvPr/>
        </p:nvSpPr>
        <p:spPr bwMode="auto">
          <a:xfrm>
            <a:off x="8012233" y="3198906"/>
            <a:ext cx="80945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不妨</a:t>
            </a:r>
          </a:p>
        </p:txBody>
      </p:sp>
      <p:sp>
        <p:nvSpPr>
          <p:cNvPr id="7" name="Text Box 122">
            <a:extLst>
              <a:ext uri="{FF2B5EF4-FFF2-40B4-BE49-F238E27FC236}">
                <a16:creationId xmlns:a16="http://schemas.microsoft.com/office/drawing/2014/main" id="{508AE092-5EE2-7AF5-F563-1D9B8ED682DA}"/>
              </a:ext>
            </a:extLst>
          </p:cNvPr>
          <p:cNvSpPr txBox="1">
            <a:spLocks noChangeArrowheads="1"/>
          </p:cNvSpPr>
          <p:nvPr/>
        </p:nvSpPr>
        <p:spPr bwMode="auto">
          <a:xfrm>
            <a:off x="1953259" y="4061832"/>
            <a:ext cx="43021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设</a:t>
            </a:r>
          </a:p>
        </p:txBody>
      </p:sp>
      <p:sp>
        <p:nvSpPr>
          <p:cNvPr id="8" name="Text Box 125">
            <a:extLst>
              <a:ext uri="{FF2B5EF4-FFF2-40B4-BE49-F238E27FC236}">
                <a16:creationId xmlns:a16="http://schemas.microsoft.com/office/drawing/2014/main" id="{44BF6A1E-51C0-5579-E7C0-98AB46CB5D1B}"/>
              </a:ext>
            </a:extLst>
          </p:cNvPr>
          <p:cNvSpPr txBox="1">
            <a:spLocks noChangeArrowheads="1"/>
          </p:cNvSpPr>
          <p:nvPr/>
        </p:nvSpPr>
        <p:spPr bwMode="auto">
          <a:xfrm>
            <a:off x="5816551" y="4941586"/>
            <a:ext cx="300513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并在该平面上取一个以</a:t>
            </a:r>
          </a:p>
        </p:txBody>
      </p:sp>
      <mc:AlternateContent xmlns:mc="http://schemas.openxmlformats.org/markup-compatibility/2006" xmlns:a14="http://schemas.microsoft.com/office/drawing/2010/main">
        <mc:Choice Requires="a14">
          <p:sp>
            <p:nvSpPr>
              <p:cNvPr id="9" name="Text Box 126">
                <a:extLst>
                  <a:ext uri="{FF2B5EF4-FFF2-40B4-BE49-F238E27FC236}">
                    <a16:creationId xmlns:a16="http://schemas.microsoft.com/office/drawing/2014/main" id="{3EE0ADF6-5004-9D64-0526-42010BEC2122}"/>
                  </a:ext>
                </a:extLst>
              </p:cNvPr>
              <p:cNvSpPr txBox="1">
                <a:spLocks noChangeArrowheads="1"/>
              </p:cNvSpPr>
              <p:nvPr/>
            </p:nvSpPr>
            <p:spPr bwMode="auto">
              <a:xfrm>
                <a:off x="1953259" y="5571467"/>
                <a:ext cx="6590666" cy="45313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𝑀</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sub>
                    </m:sSub>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为圆心、半径足够小的圆形闭区域</a:t>
                </a:r>
                <a14:m>
                  <m:oMath xmlns:m="http://schemas.openxmlformats.org/officeDocument/2006/math">
                    <m:r>
                      <a:rPr kumimoji="1" lang="en-US" altLang="zh-CN" sz="2400" b="0" i="1" smtClean="0">
                        <a:solidFill>
                          <a:schemeClr val="tx1">
                            <a:lumMod val="95000"/>
                            <a:lumOff val="5000"/>
                          </a:schemeClr>
                        </a:solidFill>
                        <a:latin typeface="Cambria Math" panose="02040503050406030204" pitchFamily="18" charset="0"/>
                        <a:ea typeface="黑体" panose="02010609060101010101" pitchFamily="49" charset="-122"/>
                      </a:rPr>
                      <m:t>𝐾</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 使得在</a:t>
                </a:r>
                <a14:m>
                  <m:oMath xmlns:m="http://schemas.openxmlformats.org/officeDocument/2006/math">
                    <m:r>
                      <a:rPr kumimoji="1" lang="en-US" altLang="zh-CN" sz="2400" b="0" i="1" smtClean="0">
                        <a:solidFill>
                          <a:schemeClr val="tx1">
                            <a:lumMod val="95000"/>
                            <a:lumOff val="5000"/>
                          </a:schemeClr>
                        </a:solidFill>
                        <a:latin typeface="Cambria Math" panose="02040503050406030204" pitchFamily="18" charset="0"/>
                        <a:ea typeface="黑体" panose="02010609060101010101" pitchFamily="49" charset="-122"/>
                      </a:rPr>
                      <m:t>𝐾</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上</a:t>
                </a:r>
              </a:p>
            </p:txBody>
          </p:sp>
        </mc:Choice>
        <mc:Fallback xmlns="">
          <p:sp>
            <p:nvSpPr>
              <p:cNvPr id="9" name="Text Box 126">
                <a:extLst>
                  <a:ext uri="{FF2B5EF4-FFF2-40B4-BE49-F238E27FC236}">
                    <a16:creationId xmlns:a16="http://schemas.microsoft.com/office/drawing/2014/main" id="{3EE0ADF6-5004-9D64-0526-42010BEC2122}"/>
                  </a:ext>
                </a:extLst>
              </p:cNvPr>
              <p:cNvSpPr txBox="1">
                <a:spLocks noRot="1" noChangeAspect="1" noMove="1" noResize="1" noEditPoints="1" noAdjustHandles="1" noChangeArrowheads="1" noChangeShapeType="1" noTextEdit="1"/>
              </p:cNvSpPr>
              <p:nvPr/>
            </p:nvSpPr>
            <p:spPr bwMode="auto">
              <a:xfrm>
                <a:off x="1953259" y="5571467"/>
                <a:ext cx="6590666" cy="453137"/>
              </a:xfrm>
              <a:prstGeom prst="rect">
                <a:avLst/>
              </a:prstGeom>
              <a:blipFill>
                <a:blip r:embed="rId6"/>
                <a:stretch>
                  <a:fillRect l="-92" t="-9459" b="-216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对象 13">
                <a:extLst>
                  <a:ext uri="{FF2B5EF4-FFF2-40B4-BE49-F238E27FC236}">
                    <a16:creationId xmlns:a16="http://schemas.microsoft.com/office/drawing/2014/main" id="{4C97A915-6C25-F08A-EAA2-3BC6561223D9}"/>
                  </a:ext>
                </a:extLst>
              </p:cNvPr>
              <p:cNvSpPr txBox="1"/>
              <p:nvPr/>
            </p:nvSpPr>
            <p:spPr>
              <a:xfrm>
                <a:off x="3102577" y="2339207"/>
                <a:ext cx="3104758" cy="802333"/>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cs typeface="+mj-cs"/>
                            </a:rPr>
                            <m:t>𝛤</m:t>
                          </m:r>
                        </m:sub>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nary>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4" name="对象 13">
                <a:extLst>
                  <a:ext uri="{FF2B5EF4-FFF2-40B4-BE49-F238E27FC236}">
                    <a16:creationId xmlns:a16="http://schemas.microsoft.com/office/drawing/2014/main" id="{4C97A915-6C25-F08A-EAA2-3BC6561223D9}"/>
                  </a:ext>
                </a:extLst>
              </p:cNvPr>
              <p:cNvSpPr txBox="1">
                <a:spLocks noRot="1" noChangeAspect="1" noMove="1" noResize="1" noEditPoints="1" noAdjustHandles="1" noChangeArrowheads="1" noChangeShapeType="1" noTextEdit="1"/>
              </p:cNvSpPr>
              <p:nvPr/>
            </p:nvSpPr>
            <p:spPr>
              <a:xfrm>
                <a:off x="3102577" y="2339207"/>
                <a:ext cx="3104758" cy="80233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对象 14">
                <a:extLst>
                  <a:ext uri="{FF2B5EF4-FFF2-40B4-BE49-F238E27FC236}">
                    <a16:creationId xmlns:a16="http://schemas.microsoft.com/office/drawing/2014/main" id="{E2D3704C-421A-9DE3-D231-171587DB351B}"/>
                  </a:ext>
                </a:extLst>
              </p:cNvPr>
              <p:cNvSpPr txBox="1"/>
              <p:nvPr/>
            </p:nvSpPr>
            <p:spPr>
              <a:xfrm>
                <a:off x="3102577" y="3828166"/>
                <a:ext cx="2920185" cy="968774"/>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e>
                          </m:d>
                        </m:e>
                        <m:sub>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𝑀</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𝜂</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&gt;0.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5" name="对象 14">
                <a:extLst>
                  <a:ext uri="{FF2B5EF4-FFF2-40B4-BE49-F238E27FC236}">
                    <a16:creationId xmlns:a16="http://schemas.microsoft.com/office/drawing/2014/main" id="{E2D3704C-421A-9DE3-D231-171587DB351B}"/>
                  </a:ext>
                </a:extLst>
              </p:cNvPr>
              <p:cNvSpPr txBox="1">
                <a:spLocks noRot="1" noChangeAspect="1" noMove="1" noResize="1" noEditPoints="1" noAdjustHandles="1" noChangeArrowheads="1" noChangeShapeType="1" noTextEdit="1"/>
              </p:cNvSpPr>
              <p:nvPr/>
            </p:nvSpPr>
            <p:spPr>
              <a:xfrm>
                <a:off x="3102577" y="3828166"/>
                <a:ext cx="2920185" cy="96877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对象 15">
                <a:extLst>
                  <a:ext uri="{FF2B5EF4-FFF2-40B4-BE49-F238E27FC236}">
                    <a16:creationId xmlns:a16="http://schemas.microsoft.com/office/drawing/2014/main" id="{68230489-7C77-50C4-96EE-FD8D4F8BA4DE}"/>
                  </a:ext>
                </a:extLst>
              </p:cNvPr>
              <p:cNvSpPr txBox="1"/>
              <p:nvPr/>
            </p:nvSpPr>
            <p:spPr>
              <a:xfrm>
                <a:off x="1953259" y="4925066"/>
                <a:ext cx="4075725" cy="4572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过点</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𝑀</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作平面</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6" name="对象 15">
                <a:extLst>
                  <a:ext uri="{FF2B5EF4-FFF2-40B4-BE49-F238E27FC236}">
                    <a16:creationId xmlns:a16="http://schemas.microsoft.com/office/drawing/2014/main" id="{68230489-7C77-50C4-96EE-FD8D4F8BA4DE}"/>
                  </a:ext>
                </a:extLst>
              </p:cNvPr>
              <p:cNvSpPr txBox="1">
                <a:spLocks noRot="1" noChangeAspect="1" noMove="1" noResize="1" noEditPoints="1" noAdjustHandles="1" noChangeArrowheads="1" noChangeShapeType="1" noTextEdit="1"/>
              </p:cNvSpPr>
              <p:nvPr/>
            </p:nvSpPr>
            <p:spPr>
              <a:xfrm>
                <a:off x="1953259" y="4925066"/>
                <a:ext cx="4075725" cy="457200"/>
              </a:xfrm>
              <a:prstGeom prst="rect">
                <a:avLst/>
              </a:prstGeom>
              <a:blipFill>
                <a:blip r:embed="rId9"/>
                <a:stretch>
                  <a:fillRect l="-1046"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对象 16">
                <a:extLst>
                  <a:ext uri="{FF2B5EF4-FFF2-40B4-BE49-F238E27FC236}">
                    <a16:creationId xmlns:a16="http://schemas.microsoft.com/office/drawing/2014/main" id="{89EB52AE-0983-1308-6801-4F74C298D7EB}"/>
                  </a:ext>
                </a:extLst>
              </p:cNvPr>
              <p:cNvSpPr txBox="1"/>
              <p:nvPr/>
            </p:nvSpPr>
            <p:spPr>
              <a:xfrm>
                <a:off x="6770170" y="2994183"/>
                <a:ext cx="1409700" cy="815285"/>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7" name="对象 16">
                <a:extLst>
                  <a:ext uri="{FF2B5EF4-FFF2-40B4-BE49-F238E27FC236}">
                    <a16:creationId xmlns:a16="http://schemas.microsoft.com/office/drawing/2014/main" id="{89EB52AE-0983-1308-6801-4F74C298D7EB}"/>
                  </a:ext>
                </a:extLst>
              </p:cNvPr>
              <p:cNvSpPr txBox="1">
                <a:spLocks noRot="1" noChangeAspect="1" noMove="1" noResize="1" noEditPoints="1" noAdjustHandles="1" noChangeArrowheads="1" noChangeShapeType="1" noTextEdit="1"/>
              </p:cNvSpPr>
              <p:nvPr/>
            </p:nvSpPr>
            <p:spPr>
              <a:xfrm>
                <a:off x="6770170" y="2994183"/>
                <a:ext cx="1409700" cy="815285"/>
              </a:xfrm>
              <a:prstGeom prst="rect">
                <a:avLst/>
              </a:prstGeom>
              <a:blipFill>
                <a:blip r:embed="rId10"/>
                <a:stretch>
                  <a:fillRect/>
                </a:stretch>
              </a:blipFill>
            </p:spPr>
            <p:txBody>
              <a:bodyPr/>
              <a:lstStyle/>
              <a:p>
                <a:r>
                  <a:rPr lang="zh-CN" altLang="en-US">
                    <a:noFill/>
                  </a:rPr>
                  <a:t> </a:t>
                </a:r>
              </a:p>
            </p:txBody>
          </p:sp>
        </mc:Fallback>
      </mc:AlternateContent>
      <p:sp>
        <p:nvSpPr>
          <p:cNvPr id="30" name="AutoShape 470">
            <a:extLst>
              <a:ext uri="{FF2B5EF4-FFF2-40B4-BE49-F238E27FC236}">
                <a16:creationId xmlns:a16="http://schemas.microsoft.com/office/drawing/2014/main" id="{3AB6733C-1F06-FEFF-D5C5-F6DB511C4867}"/>
              </a:ext>
            </a:extLst>
          </p:cNvPr>
          <p:cNvSpPr>
            <a:spLocks noChangeArrowheads="1"/>
          </p:cNvSpPr>
          <p:nvPr/>
        </p:nvSpPr>
        <p:spPr bwMode="auto">
          <a:xfrm>
            <a:off x="5235290" y="861976"/>
            <a:ext cx="720725" cy="360362"/>
          </a:xfrm>
          <a:prstGeom prst="leftRightArrow">
            <a:avLst>
              <a:gd name="adj1" fmla="val 50000"/>
              <a:gd name="adj2" fmla="val 40000"/>
            </a:avLst>
          </a:prstGeom>
          <a:solidFill>
            <a:srgbClr val="04926A">
              <a:alpha val="42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latin typeface="Times New Roman" panose="02020603050405020304" pitchFamily="18" charset="0"/>
              <a:cs typeface="Times New Roman" panose="02020603050405020304" pitchFamily="18" charset="0"/>
            </a:endParaRPr>
          </a:p>
        </p:txBody>
      </p:sp>
      <p:sp>
        <p:nvSpPr>
          <p:cNvPr id="31" name="Line 471">
            <a:extLst>
              <a:ext uri="{FF2B5EF4-FFF2-40B4-BE49-F238E27FC236}">
                <a16:creationId xmlns:a16="http://schemas.microsoft.com/office/drawing/2014/main" id="{8AE9B426-78DD-C4A6-EAC8-AA06D0B18BD9}"/>
              </a:ext>
            </a:extLst>
          </p:cNvPr>
          <p:cNvSpPr>
            <a:spLocks noChangeShapeType="1"/>
          </p:cNvSpPr>
          <p:nvPr/>
        </p:nvSpPr>
        <p:spPr bwMode="auto">
          <a:xfrm>
            <a:off x="2044699" y="1645769"/>
            <a:ext cx="8110609" cy="19421"/>
          </a:xfrm>
          <a:prstGeom prst="line">
            <a:avLst/>
          </a:prstGeom>
          <a:noFill/>
          <a:ln w="19050">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2" name="对象 11">
                <a:extLst>
                  <a:ext uri="{FF2B5EF4-FFF2-40B4-BE49-F238E27FC236}">
                    <a16:creationId xmlns:a16="http://schemas.microsoft.com/office/drawing/2014/main" id="{06742272-61C6-97D4-F787-F4834F49CC64}"/>
                  </a:ext>
                </a:extLst>
              </p:cNvPr>
              <p:cNvSpPr txBox="1"/>
              <p:nvPr/>
            </p:nvSpPr>
            <p:spPr>
              <a:xfrm>
                <a:off x="2044699" y="634355"/>
                <a:ext cx="3050606" cy="808841"/>
              </a:xfrm>
              <a:prstGeom prst="rect">
                <a:avLst/>
              </a:prstGeom>
              <a:solidFill>
                <a:srgbClr val="04926A">
                  <a:alpha val="42000"/>
                </a:srgbClr>
              </a:solidFill>
              <a:ln>
                <a:noFill/>
              </a:ln>
            </p:spPr>
            <p:txBody>
              <a:bodyPr>
                <a:noAutofit/>
              </a:bodyPr>
              <a:lstStyle/>
              <a:p>
                <a:pPr/>
                <a14:m>
                  <m:oMathPara xmlns:m="http://schemas.openxmlformats.org/officeDocument/2006/math">
                    <m:oMathParaPr>
                      <m:jc m:val="center"/>
                    </m:oMathParaPr>
                    <m:oMath xmlns:m="http://schemas.openxmlformats.org/officeDocument/2006/math">
                      <m:nary>
                        <m:naryPr>
                          <m:chr m:val="∮"/>
                          <m:supHide m:val="on"/>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𝛤</m:t>
                          </m:r>
                        </m:sub>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cs typeface="+mj-cs"/>
                            </a:rPr>
                            <m:t>=0</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32" name="对象 11">
                <a:extLst>
                  <a:ext uri="{FF2B5EF4-FFF2-40B4-BE49-F238E27FC236}">
                    <a16:creationId xmlns:a16="http://schemas.microsoft.com/office/drawing/2014/main" id="{06742272-61C6-97D4-F787-F4834F49CC64}"/>
                  </a:ext>
                </a:extLst>
              </p:cNvPr>
              <p:cNvSpPr txBox="1">
                <a:spLocks noRot="1" noChangeAspect="1" noMove="1" noResize="1" noEditPoints="1" noAdjustHandles="1" noChangeArrowheads="1" noChangeShapeType="1" noTextEdit="1"/>
              </p:cNvSpPr>
              <p:nvPr/>
            </p:nvSpPr>
            <p:spPr>
              <a:xfrm>
                <a:off x="2044699" y="634355"/>
                <a:ext cx="3050606" cy="808841"/>
              </a:xfrm>
              <a:prstGeom prst="rect">
                <a:avLst/>
              </a:prstGeom>
              <a:blipFill>
                <a:blip r:embed="rId11"/>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对象 12">
                <a:extLst>
                  <a:ext uri="{FF2B5EF4-FFF2-40B4-BE49-F238E27FC236}">
                    <a16:creationId xmlns:a16="http://schemas.microsoft.com/office/drawing/2014/main" id="{D224B292-C4E8-2F48-6ED2-55CFF394BE27}"/>
                  </a:ext>
                </a:extLst>
              </p:cNvPr>
              <p:cNvSpPr txBox="1"/>
              <p:nvPr/>
            </p:nvSpPr>
            <p:spPr>
              <a:xfrm>
                <a:off x="6096000" y="634355"/>
                <a:ext cx="4059308" cy="808841"/>
              </a:xfrm>
              <a:prstGeom prst="rect">
                <a:avLst/>
              </a:prstGeom>
              <a:solidFill>
                <a:srgbClr val="04926A">
                  <a:alpha val="42000"/>
                </a:srgbClr>
              </a:solidFill>
              <a:ln>
                <a:noFill/>
              </a:ln>
            </p:spPr>
            <p:txBody>
              <a:bodyPr>
                <a:noAutofit/>
              </a:bodyPr>
              <a:lstStyle/>
              <a:p>
                <a:pPr/>
                <a14:m>
                  <m:oMathPara xmlns:m="http://schemas.openxmlformats.org/officeDocument/2006/math">
                    <m:oMathParaPr>
                      <m:jc m:val="center"/>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33" name="对象 12">
                <a:extLst>
                  <a:ext uri="{FF2B5EF4-FFF2-40B4-BE49-F238E27FC236}">
                    <a16:creationId xmlns:a16="http://schemas.microsoft.com/office/drawing/2014/main" id="{D224B292-C4E8-2F48-6ED2-55CFF394BE27}"/>
                  </a:ext>
                </a:extLst>
              </p:cNvPr>
              <p:cNvSpPr txBox="1">
                <a:spLocks noRot="1" noChangeAspect="1" noMove="1" noResize="1" noEditPoints="1" noAdjustHandles="1" noChangeArrowheads="1" noChangeShapeType="1" noTextEdit="1"/>
              </p:cNvSpPr>
              <p:nvPr/>
            </p:nvSpPr>
            <p:spPr>
              <a:xfrm>
                <a:off x="6096000" y="634355"/>
                <a:ext cx="4059308" cy="808841"/>
              </a:xfrm>
              <a:prstGeom prst="rect">
                <a:avLst/>
              </a:prstGeom>
              <a:blipFill>
                <a:blip r:embed="rId12"/>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31488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wipe(left)">
                                      <p:cBhvr>
                                        <p:cTn id="10" dur="500"/>
                                        <p:tgtEl>
                                          <p:spTgt spid="30"/>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wipe(left)">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left)">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left)">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left)">
                                      <p:cBhvr>
                                        <p:cTn id="53" dur="500"/>
                                        <p:tgtEl>
                                          <p:spTgt spid="6"/>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left)">
                                      <p:cBhvr>
                                        <p:cTn id="57" dur="5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wipe(left)">
                                      <p:cBhvr>
                                        <p:cTn id="72" dur="500"/>
                                        <p:tgtEl>
                                          <p:spTgt spid="8"/>
                                        </p:tgtEl>
                                      </p:cBhvr>
                                    </p:animEffect>
                                  </p:child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wipe(left)">
                                      <p:cBhvr>
                                        <p:cTn id="7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4" grpId="0"/>
      <p:bldP spid="15" grpId="0"/>
      <p:bldP spid="16" grpId="0"/>
      <p:bldP spid="17" grpId="0"/>
      <p:bldP spid="30" grpId="0" animBg="1"/>
      <p:bldP spid="31" grpId="0" animBg="1"/>
      <p:bldP spid="32" grpId="0" animBg="1"/>
      <p:bldP spid="3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35768396-7540-EB77-2941-6C2B2EEC3312}"/>
              </a:ext>
            </a:extLst>
          </p:cNvPr>
          <p:cNvGrpSpPr/>
          <p:nvPr/>
        </p:nvGrpSpPr>
        <p:grpSpPr>
          <a:xfrm>
            <a:off x="510540" y="494665"/>
            <a:ext cx="11149330" cy="5612765"/>
            <a:chOff x="838" y="906"/>
            <a:chExt cx="17558" cy="8839"/>
          </a:xfrm>
        </p:grpSpPr>
        <p:sp>
          <p:nvSpPr>
            <p:cNvPr id="43" name="PA-102232">
              <a:extLst>
                <a:ext uri="{FF2B5EF4-FFF2-40B4-BE49-F238E27FC236}">
                  <a16:creationId xmlns:a16="http://schemas.microsoft.com/office/drawing/2014/main" id="{160FE1F7-AAE8-1575-B5E9-145E26439A12}"/>
                </a:ext>
              </a:extLst>
            </p:cNvPr>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44" name="组合 43">
              <a:extLst>
                <a:ext uri="{FF2B5EF4-FFF2-40B4-BE49-F238E27FC236}">
                  <a16:creationId xmlns:a16="http://schemas.microsoft.com/office/drawing/2014/main" id="{628E07A4-3DD1-70F6-CC46-A8687931AE3B}"/>
                </a:ext>
              </a:extLst>
            </p:cNvPr>
            <p:cNvGrpSpPr/>
            <p:nvPr/>
          </p:nvGrpSpPr>
          <p:grpSpPr>
            <a:xfrm>
              <a:off x="838" y="9635"/>
              <a:ext cx="17558" cy="110"/>
              <a:chOff x="838" y="9635"/>
              <a:chExt cx="17558" cy="110"/>
            </a:xfrm>
          </p:grpSpPr>
          <p:sp>
            <p:nvSpPr>
              <p:cNvPr id="45" name="Rectangle 1">
                <a:extLst>
                  <a:ext uri="{FF2B5EF4-FFF2-40B4-BE49-F238E27FC236}">
                    <a16:creationId xmlns:a16="http://schemas.microsoft.com/office/drawing/2014/main" id="{2EF97703-325F-DDB4-CA11-379EB24A60EF}"/>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6" name="Rectangle 1">
                <a:extLst>
                  <a:ext uri="{FF2B5EF4-FFF2-40B4-BE49-F238E27FC236}">
                    <a16:creationId xmlns:a16="http://schemas.microsoft.com/office/drawing/2014/main" id="{C7DA1A43-52C5-4F25-A1C8-E02A12A410FE}"/>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7" name="Rectangle 1">
                <a:extLst>
                  <a:ext uri="{FF2B5EF4-FFF2-40B4-BE49-F238E27FC236}">
                    <a16:creationId xmlns:a16="http://schemas.microsoft.com/office/drawing/2014/main" id="{C6132564-14E7-6E9B-DADD-7101E6E52840}"/>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p:sp>
        <p:nvSpPr>
          <p:cNvPr id="7" name="Text Box 72">
            <a:extLst>
              <a:ext uri="{FF2B5EF4-FFF2-40B4-BE49-F238E27FC236}">
                <a16:creationId xmlns:a16="http://schemas.microsoft.com/office/drawing/2014/main" id="{95C830FB-CD23-7C35-BEC8-8317F7369CE1}"/>
              </a:ext>
            </a:extLst>
          </p:cNvPr>
          <p:cNvSpPr txBox="1">
            <a:spLocks noChangeArrowheads="1"/>
          </p:cNvSpPr>
          <p:nvPr/>
        </p:nvSpPr>
        <p:spPr bwMode="auto">
          <a:xfrm>
            <a:off x="1912939" y="2119313"/>
            <a:ext cx="89693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恒有</a:t>
            </a:r>
          </a:p>
        </p:txBody>
      </p:sp>
      <mc:AlternateContent xmlns:mc="http://schemas.openxmlformats.org/markup-compatibility/2006" xmlns:a14="http://schemas.microsoft.com/office/drawing/2010/main">
        <mc:Choice Requires="a14">
          <p:sp>
            <p:nvSpPr>
              <p:cNvPr id="8" name="Text Box 79">
                <a:extLst>
                  <a:ext uri="{FF2B5EF4-FFF2-40B4-BE49-F238E27FC236}">
                    <a16:creationId xmlns:a16="http://schemas.microsoft.com/office/drawing/2014/main" id="{3EBDC5BA-6245-86C5-03A4-F9CF9536E992}"/>
                  </a:ext>
                </a:extLst>
              </p:cNvPr>
              <p:cNvSpPr txBox="1">
                <a:spLocks noChangeArrowheads="1"/>
              </p:cNvSpPr>
              <p:nvPr/>
            </p:nvSpPr>
            <p:spPr bwMode="auto">
              <a:xfrm>
                <a:off x="6142564" y="4581706"/>
                <a:ext cx="1896034"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𝜎</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为</a:t>
                </a:r>
                <a14:m>
                  <m:oMath xmlns:m="http://schemas.openxmlformats.org/officeDocument/2006/math">
                    <m:r>
                      <a:rPr kumimoji="1" lang="en-US" altLang="zh-CN" sz="2000" i="1">
                        <a:solidFill>
                          <a:schemeClr val="tx1">
                            <a:lumMod val="95000"/>
                            <a:lumOff val="5000"/>
                          </a:schemeClr>
                        </a:solidFill>
                        <a:latin typeface="Cambria Math" panose="02040503050406030204" pitchFamily="18" charset="0"/>
                        <a:ea typeface="黑体" panose="02010609060101010101" pitchFamily="49" charset="-122"/>
                      </a:rPr>
                      <m:t>𝐾</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的面积</a:t>
                </a:r>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p>
            </p:txBody>
          </p:sp>
        </mc:Choice>
        <mc:Fallback xmlns="">
          <p:sp>
            <p:nvSpPr>
              <p:cNvPr id="8" name="Text Box 79">
                <a:extLst>
                  <a:ext uri="{FF2B5EF4-FFF2-40B4-BE49-F238E27FC236}">
                    <a16:creationId xmlns:a16="http://schemas.microsoft.com/office/drawing/2014/main" id="{3EBDC5BA-6245-86C5-03A4-F9CF9536E992}"/>
                  </a:ext>
                </a:extLst>
              </p:cNvPr>
              <p:cNvSpPr txBox="1">
                <a:spLocks noRot="1" noChangeAspect="1" noMove="1" noResize="1" noEditPoints="1" noAdjustHandles="1" noChangeArrowheads="1" noChangeShapeType="1" noTextEdit="1"/>
              </p:cNvSpPr>
              <p:nvPr/>
            </p:nvSpPr>
            <p:spPr bwMode="auto">
              <a:xfrm>
                <a:off x="6142564" y="4581706"/>
                <a:ext cx="1896034" cy="430887"/>
              </a:xfrm>
              <a:prstGeom prst="rect">
                <a:avLst/>
              </a:prstGeom>
              <a:blipFill>
                <a:blip r:embed="rId3"/>
                <a:stretch>
                  <a:fillRect l="-4180" t="-14286" r="-3859" b="-2857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 Box 80">
                <a:extLst>
                  <a:ext uri="{FF2B5EF4-FFF2-40B4-BE49-F238E27FC236}">
                    <a16:creationId xmlns:a16="http://schemas.microsoft.com/office/drawing/2014/main" id="{DB2937C9-03DA-1EED-D4D8-237E03E287EB}"/>
                  </a:ext>
                </a:extLst>
              </p:cNvPr>
              <p:cNvSpPr txBox="1">
                <a:spLocks noChangeArrowheads="1"/>
              </p:cNvSpPr>
              <p:nvPr/>
            </p:nvSpPr>
            <p:spPr bwMode="auto">
              <a:xfrm>
                <a:off x="1912939" y="5461807"/>
                <a:ext cx="2653312"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矛盾</a:t>
                </a: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 故假设不成立</a:t>
                </a:r>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p>
            </p:txBody>
          </p:sp>
        </mc:Choice>
        <mc:Fallback xmlns="">
          <p:sp>
            <p:nvSpPr>
              <p:cNvPr id="9" name="Text Box 80">
                <a:extLst>
                  <a:ext uri="{FF2B5EF4-FFF2-40B4-BE49-F238E27FC236}">
                    <a16:creationId xmlns:a16="http://schemas.microsoft.com/office/drawing/2014/main" id="{DB2937C9-03DA-1EED-D4D8-237E03E287EB}"/>
                  </a:ext>
                </a:extLst>
              </p:cNvPr>
              <p:cNvSpPr txBox="1">
                <a:spLocks noRot="1" noChangeAspect="1" noMove="1" noResize="1" noEditPoints="1" noAdjustHandles="1" noChangeArrowheads="1" noChangeShapeType="1" noTextEdit="1"/>
              </p:cNvSpPr>
              <p:nvPr/>
            </p:nvSpPr>
            <p:spPr bwMode="auto">
              <a:xfrm>
                <a:off x="1912939" y="5461807"/>
                <a:ext cx="2653312" cy="430887"/>
              </a:xfrm>
              <a:prstGeom prst="rect">
                <a:avLst/>
              </a:prstGeom>
              <a:blipFill>
                <a:blip r:embed="rId4"/>
                <a:stretch>
                  <a:fillRect l="-2989" t="-14085" r="-920" b="-267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66E771C7-E6A1-062B-8F63-F0BE0B7A85AF}"/>
                  </a:ext>
                </a:extLst>
              </p:cNvPr>
              <p:cNvSpPr txBox="1"/>
              <p:nvPr/>
            </p:nvSpPr>
            <p:spPr>
              <a:xfrm>
                <a:off x="2599153" y="1931471"/>
                <a:ext cx="1886488" cy="81963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m:rPr>
                          <m:nor/>
                        </m:rPr>
                        <a:rPr lang="en-US" altLang="zh-CN" sz="2200" dirty="0">
                          <a:latin typeface="宋体" panose="02010600030101010101" pitchFamily="2"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𝜂</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2</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0" name="对象 9">
                <a:extLst>
                  <a:ext uri="{FF2B5EF4-FFF2-40B4-BE49-F238E27FC236}">
                    <a16:creationId xmlns:a16="http://schemas.microsoft.com/office/drawing/2014/main" id="{66E771C7-E6A1-062B-8F63-F0BE0B7A85AF}"/>
                  </a:ext>
                </a:extLst>
              </p:cNvPr>
              <p:cNvSpPr txBox="1">
                <a:spLocks noRot="1" noChangeAspect="1" noMove="1" noResize="1" noEditPoints="1" noAdjustHandles="1" noChangeArrowheads="1" noChangeShapeType="1" noTextEdit="1"/>
              </p:cNvSpPr>
              <p:nvPr/>
            </p:nvSpPr>
            <p:spPr>
              <a:xfrm>
                <a:off x="2599153" y="1931471"/>
                <a:ext cx="1886488" cy="81963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对象 10">
                <a:extLst>
                  <a:ext uri="{FF2B5EF4-FFF2-40B4-BE49-F238E27FC236}">
                    <a16:creationId xmlns:a16="http://schemas.microsoft.com/office/drawing/2014/main" id="{F85AB90B-BC5A-606B-416A-2C5D37F217C6}"/>
                  </a:ext>
                </a:extLst>
              </p:cNvPr>
              <p:cNvSpPr txBox="1"/>
              <p:nvPr/>
            </p:nvSpPr>
            <p:spPr>
              <a:xfrm>
                <a:off x="1912939" y="3469635"/>
                <a:ext cx="2552887" cy="787619"/>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cs typeface="+mj-cs"/>
                            </a:rPr>
                            <m:t>𝛤</m:t>
                          </m:r>
                        </m:sub>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1" name="对象 10">
                <a:extLst>
                  <a:ext uri="{FF2B5EF4-FFF2-40B4-BE49-F238E27FC236}">
                    <a16:creationId xmlns:a16="http://schemas.microsoft.com/office/drawing/2014/main" id="{F85AB90B-BC5A-606B-416A-2C5D37F217C6}"/>
                  </a:ext>
                </a:extLst>
              </p:cNvPr>
              <p:cNvSpPr txBox="1">
                <a:spLocks noRot="1" noChangeAspect="1" noMove="1" noResize="1" noEditPoints="1" noAdjustHandles="1" noChangeArrowheads="1" noChangeShapeType="1" noTextEdit="1"/>
              </p:cNvSpPr>
              <p:nvPr/>
            </p:nvSpPr>
            <p:spPr>
              <a:xfrm>
                <a:off x="1912939" y="3469635"/>
                <a:ext cx="2552887" cy="78761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对象 11">
                <a:extLst>
                  <a:ext uri="{FF2B5EF4-FFF2-40B4-BE49-F238E27FC236}">
                    <a16:creationId xmlns:a16="http://schemas.microsoft.com/office/drawing/2014/main" id="{FF369842-E900-C422-6A63-78764D4550D9}"/>
                  </a:ext>
                </a:extLst>
              </p:cNvPr>
              <p:cNvSpPr txBox="1"/>
              <p:nvPr/>
            </p:nvSpPr>
            <p:spPr>
              <a:xfrm>
                <a:off x="4373279" y="3472590"/>
                <a:ext cx="2444750" cy="787619"/>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cs typeface="+mj-cs"/>
                            </a:rPr>
                            <m:t>𝛤</m:t>
                          </m:r>
                        </m:sub>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2" name="对象 11">
                <a:extLst>
                  <a:ext uri="{FF2B5EF4-FFF2-40B4-BE49-F238E27FC236}">
                    <a16:creationId xmlns:a16="http://schemas.microsoft.com/office/drawing/2014/main" id="{FF369842-E900-C422-6A63-78764D4550D9}"/>
                  </a:ext>
                </a:extLst>
              </p:cNvPr>
              <p:cNvSpPr txBox="1">
                <a:spLocks noRot="1" noChangeAspect="1" noMove="1" noResize="1" noEditPoints="1" noAdjustHandles="1" noChangeArrowheads="1" noChangeShapeType="1" noTextEdit="1"/>
              </p:cNvSpPr>
              <p:nvPr/>
            </p:nvSpPr>
            <p:spPr>
              <a:xfrm>
                <a:off x="4373279" y="3472590"/>
                <a:ext cx="2444750" cy="78761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对象 12">
                <a:extLst>
                  <a:ext uri="{FF2B5EF4-FFF2-40B4-BE49-F238E27FC236}">
                    <a16:creationId xmlns:a16="http://schemas.microsoft.com/office/drawing/2014/main" id="{FB257C11-1BE4-3793-7084-0859E5252FE8}"/>
                  </a:ext>
                </a:extLst>
              </p:cNvPr>
              <p:cNvSpPr txBox="1"/>
              <p:nvPr/>
            </p:nvSpPr>
            <p:spPr>
              <a:xfrm>
                <a:off x="1912939" y="4368514"/>
                <a:ext cx="3086100" cy="10033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nary>
                        <m:naryPr>
                          <m:chr m:val="∬"/>
                          <m:limLoc m:val="undOvr"/>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𝐾</m:t>
                          </m:r>
                        </m:sub>
                        <m:sup/>
                        <m:e>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dPr>
                            <m:e>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e>
                          </m:d>
                        </m:e>
                      </m:nary>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3" name="对象 12">
                <a:extLst>
                  <a:ext uri="{FF2B5EF4-FFF2-40B4-BE49-F238E27FC236}">
                    <a16:creationId xmlns:a16="http://schemas.microsoft.com/office/drawing/2014/main" id="{FB257C11-1BE4-3793-7084-0859E5252FE8}"/>
                  </a:ext>
                </a:extLst>
              </p:cNvPr>
              <p:cNvSpPr txBox="1">
                <a:spLocks noRot="1" noChangeAspect="1" noMove="1" noResize="1" noEditPoints="1" noAdjustHandles="1" noChangeArrowheads="1" noChangeShapeType="1" noTextEdit="1"/>
              </p:cNvSpPr>
              <p:nvPr/>
            </p:nvSpPr>
            <p:spPr>
              <a:xfrm>
                <a:off x="1912939" y="4368514"/>
                <a:ext cx="3086100" cy="100330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对象 13">
                <a:extLst>
                  <a:ext uri="{FF2B5EF4-FFF2-40B4-BE49-F238E27FC236}">
                    <a16:creationId xmlns:a16="http://schemas.microsoft.com/office/drawing/2014/main" id="{232753D7-F7E1-55BC-5304-F3BADC614129}"/>
                  </a:ext>
                </a:extLst>
              </p:cNvPr>
              <p:cNvSpPr txBox="1"/>
              <p:nvPr/>
            </p:nvSpPr>
            <p:spPr>
              <a:xfrm>
                <a:off x="4694820" y="4466304"/>
                <a:ext cx="1796097" cy="676932"/>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m:rPr>
                          <m:nor/>
                        </m:rPr>
                        <a:rPr lang="en-US" altLang="zh-CN" sz="2200" dirty="0">
                          <a:latin typeface="宋体" panose="02010600030101010101" pitchFamily="2" charset="-122"/>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𝜂</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2</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𝜎</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&gt;0</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4" name="对象 13">
                <a:extLst>
                  <a:ext uri="{FF2B5EF4-FFF2-40B4-BE49-F238E27FC236}">
                    <a16:creationId xmlns:a16="http://schemas.microsoft.com/office/drawing/2014/main" id="{232753D7-F7E1-55BC-5304-F3BADC614129}"/>
                  </a:ext>
                </a:extLst>
              </p:cNvPr>
              <p:cNvSpPr txBox="1">
                <a:spLocks noRot="1" noChangeAspect="1" noMove="1" noResize="1" noEditPoints="1" noAdjustHandles="1" noChangeArrowheads="1" noChangeShapeType="1" noTextEdit="1"/>
              </p:cNvSpPr>
              <p:nvPr/>
            </p:nvSpPr>
            <p:spPr>
              <a:xfrm>
                <a:off x="4694820" y="4466304"/>
                <a:ext cx="1796097" cy="6769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对象 14">
                <a:extLst>
                  <a:ext uri="{FF2B5EF4-FFF2-40B4-BE49-F238E27FC236}">
                    <a16:creationId xmlns:a16="http://schemas.microsoft.com/office/drawing/2014/main" id="{83107F9A-2F7F-054B-F9A1-5171BF873EAF}"/>
                  </a:ext>
                </a:extLst>
              </p:cNvPr>
              <p:cNvSpPr txBox="1"/>
              <p:nvPr/>
            </p:nvSpPr>
            <p:spPr>
              <a:xfrm>
                <a:off x="1912939" y="2849006"/>
                <a:ext cx="6434136" cy="4445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设</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𝛾</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是</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𝐾</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的正向边界曲线</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因为</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𝛾</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在平面</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上</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所以</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5" name="对象 14">
                <a:extLst>
                  <a:ext uri="{FF2B5EF4-FFF2-40B4-BE49-F238E27FC236}">
                    <a16:creationId xmlns:a16="http://schemas.microsoft.com/office/drawing/2014/main" id="{83107F9A-2F7F-054B-F9A1-5171BF873EAF}"/>
                  </a:ext>
                </a:extLst>
              </p:cNvPr>
              <p:cNvSpPr txBox="1">
                <a:spLocks noRot="1" noChangeAspect="1" noMove="1" noResize="1" noEditPoints="1" noAdjustHandles="1" noChangeArrowheads="1" noChangeShapeType="1" noTextEdit="1"/>
              </p:cNvSpPr>
              <p:nvPr/>
            </p:nvSpPr>
            <p:spPr>
              <a:xfrm>
                <a:off x="1912939" y="2849006"/>
                <a:ext cx="6434136" cy="444500"/>
              </a:xfrm>
              <a:prstGeom prst="rect">
                <a:avLst/>
              </a:prstGeom>
              <a:blipFill>
                <a:blip r:embed="rId10"/>
                <a:stretch>
                  <a:fillRect l="-664" b="-10959"/>
                </a:stretch>
              </a:blipFill>
            </p:spPr>
            <p:txBody>
              <a:bodyPr/>
              <a:lstStyle/>
              <a:p>
                <a:r>
                  <a:rPr lang="zh-CN" altLang="en-US">
                    <a:noFill/>
                  </a:rPr>
                  <a:t> </a:t>
                </a:r>
              </a:p>
            </p:txBody>
          </p:sp>
        </mc:Fallback>
      </mc:AlternateContent>
      <p:sp>
        <p:nvSpPr>
          <p:cNvPr id="35" name="AutoShape 470">
            <a:extLst>
              <a:ext uri="{FF2B5EF4-FFF2-40B4-BE49-F238E27FC236}">
                <a16:creationId xmlns:a16="http://schemas.microsoft.com/office/drawing/2014/main" id="{789A218F-4A34-568F-AED4-1F6C379BC809}"/>
              </a:ext>
            </a:extLst>
          </p:cNvPr>
          <p:cNvSpPr>
            <a:spLocks noChangeArrowheads="1"/>
          </p:cNvSpPr>
          <p:nvPr/>
        </p:nvSpPr>
        <p:spPr bwMode="auto">
          <a:xfrm>
            <a:off x="5247990" y="1005726"/>
            <a:ext cx="720725" cy="360362"/>
          </a:xfrm>
          <a:prstGeom prst="leftRightArrow">
            <a:avLst>
              <a:gd name="adj1" fmla="val 50000"/>
              <a:gd name="adj2" fmla="val 40000"/>
            </a:avLst>
          </a:prstGeom>
          <a:solidFill>
            <a:srgbClr val="04926A">
              <a:alpha val="42000"/>
            </a:srgbClr>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latin typeface="Times New Roman" panose="02020603050405020304" pitchFamily="18" charset="0"/>
              <a:cs typeface="Times New Roman" panose="02020603050405020304" pitchFamily="18" charset="0"/>
            </a:endParaRPr>
          </a:p>
        </p:txBody>
      </p:sp>
      <p:sp>
        <p:nvSpPr>
          <p:cNvPr id="36" name="Line 471">
            <a:extLst>
              <a:ext uri="{FF2B5EF4-FFF2-40B4-BE49-F238E27FC236}">
                <a16:creationId xmlns:a16="http://schemas.microsoft.com/office/drawing/2014/main" id="{AC0CAE45-688C-EB97-8BC7-FD3A31BD382C}"/>
              </a:ext>
            </a:extLst>
          </p:cNvPr>
          <p:cNvSpPr>
            <a:spLocks noChangeShapeType="1"/>
          </p:cNvSpPr>
          <p:nvPr/>
        </p:nvSpPr>
        <p:spPr bwMode="auto">
          <a:xfrm>
            <a:off x="2057399" y="1789519"/>
            <a:ext cx="8110609" cy="19421"/>
          </a:xfrm>
          <a:prstGeom prst="line">
            <a:avLst/>
          </a:prstGeom>
          <a:noFill/>
          <a:ln w="19050">
            <a:solidFill>
              <a:srgbClr val="04926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 name="对象 11">
                <a:extLst>
                  <a:ext uri="{FF2B5EF4-FFF2-40B4-BE49-F238E27FC236}">
                    <a16:creationId xmlns:a16="http://schemas.microsoft.com/office/drawing/2014/main" id="{5DE43ABF-AADD-4C27-53CD-F5B408AF074A}"/>
                  </a:ext>
                </a:extLst>
              </p:cNvPr>
              <p:cNvSpPr txBox="1"/>
              <p:nvPr/>
            </p:nvSpPr>
            <p:spPr>
              <a:xfrm>
                <a:off x="2057399" y="778105"/>
                <a:ext cx="3050606" cy="808841"/>
              </a:xfrm>
              <a:prstGeom prst="rect">
                <a:avLst/>
              </a:prstGeom>
              <a:solidFill>
                <a:srgbClr val="04926A">
                  <a:alpha val="42000"/>
                </a:srgbClr>
              </a:solidFill>
              <a:ln>
                <a:noFill/>
              </a:ln>
            </p:spPr>
            <p:txBody>
              <a:bodyPr>
                <a:noAutofit/>
              </a:bodyPr>
              <a:lstStyle/>
              <a:p>
                <a:pPr/>
                <a14:m>
                  <m:oMathPara xmlns:m="http://schemas.openxmlformats.org/officeDocument/2006/math">
                    <m:oMathParaPr>
                      <m:jc m:val="center"/>
                    </m:oMathParaPr>
                    <m:oMath xmlns:m="http://schemas.openxmlformats.org/officeDocument/2006/math">
                      <m:nary>
                        <m:naryPr>
                          <m:chr m:val="∮"/>
                          <m:supHide m:val="on"/>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𝛤</m:t>
                          </m:r>
                        </m:sub>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cs typeface="+mj-cs"/>
                            </a:rPr>
                            <m:t>=0</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37" name="对象 11">
                <a:extLst>
                  <a:ext uri="{FF2B5EF4-FFF2-40B4-BE49-F238E27FC236}">
                    <a16:creationId xmlns:a16="http://schemas.microsoft.com/office/drawing/2014/main" id="{5DE43ABF-AADD-4C27-53CD-F5B408AF074A}"/>
                  </a:ext>
                </a:extLst>
              </p:cNvPr>
              <p:cNvSpPr txBox="1">
                <a:spLocks noRot="1" noChangeAspect="1" noMove="1" noResize="1" noEditPoints="1" noAdjustHandles="1" noChangeArrowheads="1" noChangeShapeType="1" noTextEdit="1"/>
              </p:cNvSpPr>
              <p:nvPr/>
            </p:nvSpPr>
            <p:spPr>
              <a:xfrm>
                <a:off x="2057399" y="778105"/>
                <a:ext cx="3050606" cy="808841"/>
              </a:xfrm>
              <a:prstGeom prst="rect">
                <a:avLst/>
              </a:prstGeom>
              <a:blipFill>
                <a:blip r:embed="rId11"/>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对象 12">
                <a:extLst>
                  <a:ext uri="{FF2B5EF4-FFF2-40B4-BE49-F238E27FC236}">
                    <a16:creationId xmlns:a16="http://schemas.microsoft.com/office/drawing/2014/main" id="{ED5B27BA-CE0B-B5EB-709D-E17ED605A75D}"/>
                  </a:ext>
                </a:extLst>
              </p:cNvPr>
              <p:cNvSpPr txBox="1"/>
              <p:nvPr/>
            </p:nvSpPr>
            <p:spPr>
              <a:xfrm>
                <a:off x="6108700" y="778105"/>
                <a:ext cx="4059308" cy="808841"/>
              </a:xfrm>
              <a:prstGeom prst="rect">
                <a:avLst/>
              </a:prstGeom>
              <a:solidFill>
                <a:srgbClr val="04926A">
                  <a:alpha val="42000"/>
                </a:srgbClr>
              </a:solidFill>
              <a:ln>
                <a:noFill/>
              </a:ln>
            </p:spPr>
            <p:txBody>
              <a:bodyPr>
                <a:noAutofit/>
              </a:bodyPr>
              <a:lstStyle/>
              <a:p>
                <a:pPr/>
                <a14:m>
                  <m:oMathPara xmlns:m="http://schemas.openxmlformats.org/officeDocument/2006/math">
                    <m:oMathParaPr>
                      <m:jc m:val="center"/>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38" name="对象 12">
                <a:extLst>
                  <a:ext uri="{FF2B5EF4-FFF2-40B4-BE49-F238E27FC236}">
                    <a16:creationId xmlns:a16="http://schemas.microsoft.com/office/drawing/2014/main" id="{ED5B27BA-CE0B-B5EB-709D-E17ED605A75D}"/>
                  </a:ext>
                </a:extLst>
              </p:cNvPr>
              <p:cNvSpPr txBox="1">
                <a:spLocks noRot="1" noChangeAspect="1" noMove="1" noResize="1" noEditPoints="1" noAdjustHandles="1" noChangeArrowheads="1" noChangeShapeType="1" noTextEdit="1"/>
              </p:cNvSpPr>
              <p:nvPr/>
            </p:nvSpPr>
            <p:spPr>
              <a:xfrm>
                <a:off x="6108700" y="778105"/>
                <a:ext cx="4059308" cy="808841"/>
              </a:xfrm>
              <a:prstGeom prst="rect">
                <a:avLst/>
              </a:prstGeom>
              <a:blipFill>
                <a:blip r:embed="rId12"/>
                <a:stretch>
                  <a:fillRect/>
                </a:stretch>
              </a:blipFill>
              <a:ln>
                <a:noFill/>
              </a:ln>
            </p:spPr>
            <p:txBody>
              <a:bodyPr/>
              <a:lstStyle/>
              <a:p>
                <a:r>
                  <a:rPr lang="zh-CN" altLang="en-US">
                    <a:noFill/>
                  </a:rPr>
                  <a:t> </a:t>
                </a:r>
              </a:p>
            </p:txBody>
          </p:sp>
        </mc:Fallback>
      </mc:AlternateContent>
      <p:grpSp>
        <p:nvGrpSpPr>
          <p:cNvPr id="39" name="组合 38">
            <a:extLst>
              <a:ext uri="{FF2B5EF4-FFF2-40B4-BE49-F238E27FC236}">
                <a16:creationId xmlns:a16="http://schemas.microsoft.com/office/drawing/2014/main" id="{343B6CE2-29CA-3639-3169-37C19D4F5784}"/>
              </a:ext>
            </a:extLst>
          </p:cNvPr>
          <p:cNvGrpSpPr/>
          <p:nvPr/>
        </p:nvGrpSpPr>
        <p:grpSpPr>
          <a:xfrm>
            <a:off x="9472701" y="5474544"/>
            <a:ext cx="716209" cy="360271"/>
            <a:chOff x="1553" y="3803"/>
            <a:chExt cx="1165" cy="579"/>
          </a:xfrm>
        </p:grpSpPr>
        <p:sp>
          <p:nvSpPr>
            <p:cNvPr id="40" name="圆角矩形 21">
              <a:extLst>
                <a:ext uri="{FF2B5EF4-FFF2-40B4-BE49-F238E27FC236}">
                  <a16:creationId xmlns:a16="http://schemas.microsoft.com/office/drawing/2014/main" id="{8DD721AF-2454-263D-67A4-58AD294F657C}"/>
                </a:ext>
              </a:extLst>
            </p:cNvPr>
            <p:cNvSpPr/>
            <p:nvPr/>
          </p:nvSpPr>
          <p:spPr>
            <a:xfrm>
              <a:off x="1553" y="3803"/>
              <a:ext cx="1131" cy="579"/>
            </a:xfrm>
            <a:prstGeom prst="roundRect">
              <a:avLst>
                <a:gd name="adj" fmla="val 0"/>
              </a:avLst>
            </a:prstGeom>
            <a:solidFill>
              <a:srgbClr val="04926A">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latin typeface="微软雅黑" panose="020B0503020204020204" charset="-122"/>
                <a:ea typeface="微软雅黑" panose="020B0503020204020204" charset="-122"/>
              </a:endParaRPr>
            </a:p>
          </p:txBody>
        </p:sp>
        <p:sp>
          <p:nvSpPr>
            <p:cNvPr id="41" name="Text Box 28">
              <a:extLst>
                <a:ext uri="{FF2B5EF4-FFF2-40B4-BE49-F238E27FC236}">
                  <a16:creationId xmlns:a16="http://schemas.microsoft.com/office/drawing/2014/main" id="{F9455509-2EC0-9014-3919-695BCC1DE2FC}"/>
                </a:ext>
              </a:extLst>
            </p:cNvPr>
            <p:cNvSpPr txBox="1">
              <a:spLocks noChangeArrowheads="1"/>
            </p:cNvSpPr>
            <p:nvPr/>
          </p:nvSpPr>
          <p:spPr bwMode="auto">
            <a:xfrm>
              <a:off x="1650" y="3817"/>
              <a:ext cx="1068"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lang="zh-CN" altLang="en-US" sz="2200" b="0" dirty="0">
                  <a:solidFill>
                    <a:schemeClr val="tx1">
                      <a:lumMod val="95000"/>
                      <a:lumOff val="5000"/>
                    </a:schemeClr>
                  </a:solidFill>
                  <a:latin typeface="Cambria Math" panose="02040503050406030204" charset="0"/>
                  <a:ea typeface="黑体" panose="02010609060101010101" pitchFamily="49" charset="-122"/>
                  <a:cs typeface="+mj-cs"/>
                </a:rPr>
                <a:t>证毕</a:t>
              </a:r>
            </a:p>
          </p:txBody>
        </p:sp>
      </p:grpSp>
    </p:spTree>
    <p:extLst>
      <p:ext uri="{BB962C8B-B14F-4D97-AF65-F5344CB8AC3E}">
        <p14:creationId xmlns:p14="http://schemas.microsoft.com/office/powerpoint/2010/main" val="165173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500"/>
                                        <p:tgtEl>
                                          <p:spTgt spid="3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left)">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wipe(left)">
                                      <p:cBhvr>
                                        <p:cTn id="53" dur="500"/>
                                        <p:tgtEl>
                                          <p:spTgt spid="1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wipe(left)">
                                      <p:cBhvr>
                                        <p:cTn id="58" dur="5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wipe(left)">
                                      <p:cBhvr>
                                        <p:cTn id="63" dur="500"/>
                                        <p:tgtEl>
                                          <p:spTgt spid="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wipe(left)">
                                      <p:cBhvr>
                                        <p:cTn id="6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35" grpId="0" animBg="1"/>
      <p:bldP spid="36" grpId="0" animBg="1"/>
      <p:bldP spid="37" grpId="0" animBg="1"/>
      <p:bldP spid="3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727E6D3-ADE2-3F76-5B54-6978784F8B52}"/>
              </a:ext>
            </a:extLst>
          </p:cNvPr>
          <p:cNvGrpSpPr/>
          <p:nvPr/>
        </p:nvGrpSpPr>
        <p:grpSpPr>
          <a:xfrm>
            <a:off x="0" y="-181"/>
            <a:ext cx="12192000" cy="6863080"/>
            <a:chOff x="0" y="-181"/>
            <a:chExt cx="12192000" cy="6863080"/>
          </a:xfrm>
        </p:grpSpPr>
        <p:grpSp>
          <p:nvGrpSpPr>
            <p:cNvPr id="42" name="组合 41">
              <a:extLst>
                <a:ext uri="{FF2B5EF4-FFF2-40B4-BE49-F238E27FC236}">
                  <a16:creationId xmlns:a16="http://schemas.microsoft.com/office/drawing/2014/main" id="{4572C008-1BEE-896C-7D91-C54BD73F3596}"/>
                </a:ext>
              </a:extLst>
            </p:cNvPr>
            <p:cNvGrpSpPr/>
            <p:nvPr/>
          </p:nvGrpSpPr>
          <p:grpSpPr>
            <a:xfrm>
              <a:off x="0" y="-181"/>
              <a:ext cx="12192000" cy="6863080"/>
              <a:chOff x="0" y="-8"/>
              <a:chExt cx="19200" cy="10808"/>
            </a:xfrm>
          </p:grpSpPr>
          <p:sp>
            <p:nvSpPr>
              <p:cNvPr id="50" name="Rectangle 1">
                <a:extLst>
                  <a:ext uri="{FF2B5EF4-FFF2-40B4-BE49-F238E27FC236}">
                    <a16:creationId xmlns:a16="http://schemas.microsoft.com/office/drawing/2014/main" id="{F41D06DF-D00E-F202-8188-D63AA9C670F7}"/>
                  </a:ext>
                </a:extLst>
              </p:cNvPr>
              <p:cNvSpPr/>
              <p:nvPr/>
            </p:nvSpPr>
            <p:spPr>
              <a:xfrm>
                <a:off x="0" y="-8"/>
                <a:ext cx="19200" cy="10808"/>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1" name="圆角矩形 16">
                <a:extLst>
                  <a:ext uri="{FF2B5EF4-FFF2-40B4-BE49-F238E27FC236}">
                    <a16:creationId xmlns:a16="http://schemas.microsoft.com/office/drawing/2014/main" id="{E6322862-9CDA-70ED-A421-AFC545D5F2E4}"/>
                  </a:ext>
                </a:extLst>
              </p:cNvPr>
              <p:cNvSpPr/>
              <p:nvPr/>
            </p:nvSpPr>
            <p:spPr>
              <a:xfrm>
                <a:off x="354" y="310"/>
                <a:ext cx="18493" cy="10167"/>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3" name="组合 42">
              <a:extLst>
                <a:ext uri="{FF2B5EF4-FFF2-40B4-BE49-F238E27FC236}">
                  <a16:creationId xmlns:a16="http://schemas.microsoft.com/office/drawing/2014/main" id="{BA36E424-3272-0A7B-DDA6-D23CC152AE5E}"/>
                </a:ext>
              </a:extLst>
            </p:cNvPr>
            <p:cNvGrpSpPr/>
            <p:nvPr/>
          </p:nvGrpSpPr>
          <p:grpSpPr>
            <a:xfrm>
              <a:off x="0" y="239357"/>
              <a:ext cx="11993046" cy="6427310"/>
              <a:chOff x="0" y="239357"/>
              <a:chExt cx="11993046" cy="6427310"/>
            </a:xfrm>
          </p:grpSpPr>
          <p:sp>
            <p:nvSpPr>
              <p:cNvPr id="44" name="Rectangle 1">
                <a:extLst>
                  <a:ext uri="{FF2B5EF4-FFF2-40B4-BE49-F238E27FC236}">
                    <a16:creationId xmlns:a16="http://schemas.microsoft.com/office/drawing/2014/main" id="{F53144AF-350D-B261-FEA2-34501BE03D62}"/>
                  </a:ext>
                </a:extLst>
              </p:cNvPr>
              <p:cNvSpPr/>
              <p:nvPr userDrawn="1"/>
            </p:nvSpPr>
            <p:spPr>
              <a:xfrm>
                <a:off x="297498" y="64715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5" name="矩形 44">
                <a:extLst>
                  <a:ext uri="{FF2B5EF4-FFF2-40B4-BE49-F238E27FC236}">
                    <a16:creationId xmlns:a16="http://schemas.microsoft.com/office/drawing/2014/main" id="{9B93F9E9-5C47-7CEF-7DCD-2917B3C329F6}"/>
                  </a:ext>
                </a:extLst>
              </p:cNvPr>
              <p:cNvSpPr/>
              <p:nvPr/>
            </p:nvSpPr>
            <p:spPr>
              <a:xfrm>
                <a:off x="476885" y="6358890"/>
                <a:ext cx="3784600" cy="307777"/>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  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46" name="Rectangle 1">
                <a:extLst>
                  <a:ext uri="{FF2B5EF4-FFF2-40B4-BE49-F238E27FC236}">
                    <a16:creationId xmlns:a16="http://schemas.microsoft.com/office/drawing/2014/main" id="{D35E520A-F161-D3E4-B1A9-23434C5034F7}"/>
                  </a:ext>
                </a:extLst>
              </p:cNvPr>
              <p:cNvSpPr/>
              <p:nvPr userDrawn="1"/>
            </p:nvSpPr>
            <p:spPr>
              <a:xfrm rot="2659048">
                <a:off x="9060538" y="323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7" name="矩形 46">
                <a:extLst>
                  <a:ext uri="{FF2B5EF4-FFF2-40B4-BE49-F238E27FC236}">
                    <a16:creationId xmlns:a16="http://schemas.microsoft.com/office/drawing/2014/main" id="{670940C5-30E0-BB89-891A-33E18AD7FD1D}"/>
                  </a:ext>
                </a:extLst>
              </p:cNvPr>
              <p:cNvSpPr/>
              <p:nvPr/>
            </p:nvSpPr>
            <p:spPr>
              <a:xfrm>
                <a:off x="9315710" y="239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曲线积分与曲面积分</a:t>
                </a:r>
              </a:p>
            </p:txBody>
          </p:sp>
          <p:cxnSp>
            <p:nvCxnSpPr>
              <p:cNvPr id="48" name="直接连接符 47">
                <a:extLst>
                  <a:ext uri="{FF2B5EF4-FFF2-40B4-BE49-F238E27FC236}">
                    <a16:creationId xmlns:a16="http://schemas.microsoft.com/office/drawing/2014/main" id="{01F35F37-2981-29B4-C1FD-9F66BC51E29D}"/>
                  </a:ext>
                </a:extLst>
              </p:cNvPr>
              <p:cNvCxnSpPr>
                <a:cxnSpLocks/>
              </p:cNvCxnSpPr>
              <p:nvPr userDrawn="1"/>
            </p:nvCxnSpPr>
            <p:spPr>
              <a:xfrm>
                <a:off x="0" y="393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DC50AF73-332C-9FAF-560F-2B15EAB24CBE}"/>
                  </a:ext>
                </a:extLst>
              </p:cNvPr>
              <p:cNvCxnSpPr>
                <a:cxnSpLocks/>
              </p:cNvCxnSpPr>
              <p:nvPr userDrawn="1"/>
            </p:nvCxnSpPr>
            <p:spPr>
              <a:xfrm>
                <a:off x="3675872" y="6512242"/>
                <a:ext cx="827228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3" name="Text Box 44">
                <a:extLst>
                  <a:ext uri="{FF2B5EF4-FFF2-40B4-BE49-F238E27FC236}">
                    <a16:creationId xmlns:a16="http://schemas.microsoft.com/office/drawing/2014/main" id="{F292687B-6F2B-D9E9-851C-B99E6F941421}"/>
                  </a:ext>
                </a:extLst>
              </p:cNvPr>
              <p:cNvSpPr txBox="1">
                <a:spLocks noChangeArrowheads="1"/>
              </p:cNvSpPr>
              <p:nvPr/>
            </p:nvSpPr>
            <p:spPr bwMode="auto">
              <a:xfrm>
                <a:off x="6067050" y="732429"/>
                <a:ext cx="2362200"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若函数</a:t>
                </a: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𝑃</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p>
            </p:txBody>
          </p:sp>
        </mc:Choice>
        <mc:Fallback xmlns="">
          <p:sp>
            <p:nvSpPr>
              <p:cNvPr id="3" name="Text Box 44">
                <a:extLst>
                  <a:ext uri="{FF2B5EF4-FFF2-40B4-BE49-F238E27FC236}">
                    <a16:creationId xmlns:a16="http://schemas.microsoft.com/office/drawing/2014/main" id="{F292687B-6F2B-D9E9-851C-B99E6F941421}"/>
                  </a:ext>
                </a:extLst>
              </p:cNvPr>
              <p:cNvSpPr txBox="1">
                <a:spLocks noRot="1" noChangeAspect="1" noMove="1" noResize="1" noEditPoints="1" noAdjustHandles="1" noChangeArrowheads="1" noChangeShapeType="1" noTextEdit="1"/>
              </p:cNvSpPr>
              <p:nvPr/>
            </p:nvSpPr>
            <p:spPr bwMode="auto">
              <a:xfrm>
                <a:off x="6067050" y="732429"/>
                <a:ext cx="2362200" cy="430887"/>
              </a:xfrm>
              <a:prstGeom prst="rect">
                <a:avLst/>
              </a:prstGeom>
              <a:blipFill>
                <a:blip r:embed="rId2"/>
                <a:stretch>
                  <a:fillRect l="-3351" t="-14085" b="-2816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 Box 45">
                <a:extLst>
                  <a:ext uri="{FF2B5EF4-FFF2-40B4-BE49-F238E27FC236}">
                    <a16:creationId xmlns:a16="http://schemas.microsoft.com/office/drawing/2014/main" id="{133FCF6E-64DC-5491-BC2A-36F8323361C7}"/>
                  </a:ext>
                </a:extLst>
              </p:cNvPr>
              <p:cNvSpPr txBox="1">
                <a:spLocks noChangeArrowheads="1"/>
              </p:cNvSpPr>
              <p:nvPr/>
            </p:nvSpPr>
            <p:spPr bwMode="auto">
              <a:xfrm>
                <a:off x="2272638" y="1282737"/>
                <a:ext cx="5946710"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𝑄</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  </a:t>
                </a:r>
                <a14:m>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𝑅</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在</a:t>
                </a:r>
                <a14:m>
                  <m:oMath xmlns:m="http://schemas.openxmlformats.org/officeDocument/2006/math">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 内具有一阶连续偏导数</a:t>
                </a:r>
                <a:r>
                  <a:rPr kumimoji="1" lang="en-US" altLang="zh-CN" sz="2200" dirty="0">
                    <a:solidFill>
                      <a:schemeClr val="tx1">
                        <a:lumMod val="95000"/>
                        <a:lumOff val="5000"/>
                      </a:schemeClr>
                    </a:solidFill>
                    <a:latin typeface="Cambria Math" panose="02040503050406030204" charset="0"/>
                    <a:ea typeface="黑体" panose="02010609060101010101" pitchFamily="49" charset="-122"/>
                  </a:rPr>
                  <a:t>,</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4" name="Text Box 45">
                <a:extLst>
                  <a:ext uri="{FF2B5EF4-FFF2-40B4-BE49-F238E27FC236}">
                    <a16:creationId xmlns:a16="http://schemas.microsoft.com/office/drawing/2014/main" id="{133FCF6E-64DC-5491-BC2A-36F8323361C7}"/>
                  </a:ext>
                </a:extLst>
              </p:cNvPr>
              <p:cNvSpPr txBox="1">
                <a:spLocks noRot="1" noChangeAspect="1" noMove="1" noResize="1" noEditPoints="1" noAdjustHandles="1" noChangeArrowheads="1" noChangeShapeType="1" noTextEdit="1"/>
              </p:cNvSpPr>
              <p:nvPr/>
            </p:nvSpPr>
            <p:spPr bwMode="auto">
              <a:xfrm>
                <a:off x="2272638" y="1282737"/>
                <a:ext cx="5946710" cy="430887"/>
              </a:xfrm>
              <a:prstGeom prst="rect">
                <a:avLst/>
              </a:prstGeom>
              <a:blipFill>
                <a:blip r:embed="rId3"/>
                <a:stretch>
                  <a:fillRect l="-615" t="-12676" r="-2256" b="-2816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 name="Text Box 46">
            <a:extLst>
              <a:ext uri="{FF2B5EF4-FFF2-40B4-BE49-F238E27FC236}">
                <a16:creationId xmlns:a16="http://schemas.microsoft.com/office/drawing/2014/main" id="{C6D470C9-2683-CDFE-9CF8-66F8CB8C1FC3}"/>
              </a:ext>
            </a:extLst>
          </p:cNvPr>
          <p:cNvSpPr txBox="1">
            <a:spLocks noChangeArrowheads="1"/>
          </p:cNvSpPr>
          <p:nvPr/>
        </p:nvSpPr>
        <p:spPr bwMode="auto">
          <a:xfrm>
            <a:off x="8145233" y="1283742"/>
            <a:ext cx="139665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则表达</a:t>
            </a: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式</a:t>
            </a:r>
          </a:p>
        </p:txBody>
      </p:sp>
      <mc:AlternateContent xmlns:mc="http://schemas.openxmlformats.org/markup-compatibility/2006" xmlns:a14="http://schemas.microsoft.com/office/drawing/2010/main">
        <mc:Choice Requires="a14">
          <p:sp>
            <p:nvSpPr>
              <p:cNvPr id="7" name="Text Box 49">
                <a:extLst>
                  <a:ext uri="{FF2B5EF4-FFF2-40B4-BE49-F238E27FC236}">
                    <a16:creationId xmlns:a16="http://schemas.microsoft.com/office/drawing/2014/main" id="{7BA7CBA4-055D-2FC7-A95A-B77B63C2235F}"/>
                  </a:ext>
                </a:extLst>
              </p:cNvPr>
              <p:cNvSpPr txBox="1">
                <a:spLocks noChangeArrowheads="1"/>
              </p:cNvSpPr>
              <p:nvPr/>
            </p:nvSpPr>
            <p:spPr bwMode="auto">
              <a:xfrm>
                <a:off x="4456630" y="1878923"/>
                <a:ext cx="4933590"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在 </a:t>
                </a:r>
                <a14:m>
                  <m:oMath xmlns:m="http://schemas.openxmlformats.org/officeDocument/2006/math">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 内是某一函数</a:t>
                </a:r>
                <a14:m>
                  <m:oMath xmlns:m="http://schemas.openxmlformats.org/officeDocument/2006/math">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𝑢</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14:m>
                  <m:oMath xmlns:m="http://schemas.openxmlformats.org/officeDocument/2006/math">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m:t>
                    </m:r>
                    <m:r>
                      <a:rPr kumimoji="1" lang="zh-CN" altLang="en-US" sz="2200">
                        <a:solidFill>
                          <a:schemeClr val="tx1">
                            <a:lumMod val="95000"/>
                            <a:lumOff val="5000"/>
                          </a:schemeClr>
                        </a:solidFill>
                        <a:latin typeface="Cambria Math" panose="02040503050406030204" pitchFamily="18" charset="0"/>
                        <a:ea typeface="黑体" panose="02010609060101010101" pitchFamily="49" charset="-122"/>
                      </a:rPr>
                      <m:t>𝑧</m:t>
                    </m:r>
                  </m:oMath>
                </a14:m>
                <a:r>
                  <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rPr>
                  <a:t>)</a:t>
                </a: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的全微分的</a:t>
                </a:r>
              </a:p>
            </p:txBody>
          </p:sp>
        </mc:Choice>
        <mc:Fallback xmlns="">
          <p:sp>
            <p:nvSpPr>
              <p:cNvPr id="7" name="Text Box 49">
                <a:extLst>
                  <a:ext uri="{FF2B5EF4-FFF2-40B4-BE49-F238E27FC236}">
                    <a16:creationId xmlns:a16="http://schemas.microsoft.com/office/drawing/2014/main" id="{7BA7CBA4-055D-2FC7-A95A-B77B63C2235F}"/>
                  </a:ext>
                </a:extLst>
              </p:cNvPr>
              <p:cNvSpPr txBox="1">
                <a:spLocks noRot="1" noChangeAspect="1" noMove="1" noResize="1" noEditPoints="1" noAdjustHandles="1" noChangeArrowheads="1" noChangeShapeType="1" noTextEdit="1"/>
              </p:cNvSpPr>
              <p:nvPr/>
            </p:nvSpPr>
            <p:spPr bwMode="auto">
              <a:xfrm>
                <a:off x="4456630" y="1878923"/>
                <a:ext cx="4933590" cy="430887"/>
              </a:xfrm>
              <a:prstGeom prst="rect">
                <a:avLst/>
              </a:prstGeom>
              <a:blipFill>
                <a:blip r:embed="rId4"/>
                <a:stretch>
                  <a:fillRect l="-1607" t="-14085" r="-1360" b="-2816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 Box 50">
                <a:extLst>
                  <a:ext uri="{FF2B5EF4-FFF2-40B4-BE49-F238E27FC236}">
                    <a16:creationId xmlns:a16="http://schemas.microsoft.com/office/drawing/2014/main" id="{55CB21BB-1CDD-2348-1311-62314355372D}"/>
                  </a:ext>
                </a:extLst>
              </p:cNvPr>
              <p:cNvSpPr txBox="1">
                <a:spLocks noChangeArrowheads="1"/>
              </p:cNvSpPr>
              <p:nvPr/>
            </p:nvSpPr>
            <p:spPr bwMode="auto">
              <a:xfrm>
                <a:off x="2272638" y="2456326"/>
                <a:ext cx="3726022"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充要条件是在</a:t>
                </a:r>
                <a14:m>
                  <m:oMath xmlns:m="http://schemas.openxmlformats.org/officeDocument/2006/math">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 内恒有</a:t>
                </a:r>
              </a:p>
            </p:txBody>
          </p:sp>
        </mc:Choice>
        <mc:Fallback xmlns="">
          <p:sp>
            <p:nvSpPr>
              <p:cNvPr id="8" name="Text Box 50">
                <a:extLst>
                  <a:ext uri="{FF2B5EF4-FFF2-40B4-BE49-F238E27FC236}">
                    <a16:creationId xmlns:a16="http://schemas.microsoft.com/office/drawing/2014/main" id="{55CB21BB-1CDD-2348-1311-62314355372D}"/>
                  </a:ext>
                </a:extLst>
              </p:cNvPr>
              <p:cNvSpPr txBox="1">
                <a:spLocks noRot="1" noChangeAspect="1" noMove="1" noResize="1" noEditPoints="1" noAdjustHandles="1" noChangeArrowheads="1" noChangeShapeType="1" noTextEdit="1"/>
              </p:cNvSpPr>
              <p:nvPr/>
            </p:nvSpPr>
            <p:spPr bwMode="auto">
              <a:xfrm>
                <a:off x="2272638" y="2456326"/>
                <a:ext cx="3726022" cy="430887"/>
              </a:xfrm>
              <a:prstGeom prst="rect">
                <a:avLst/>
              </a:prstGeom>
              <a:blipFill>
                <a:blip r:embed="rId5"/>
                <a:stretch>
                  <a:fillRect l="-2128" t="-14085" b="-225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9" name="Rectangle 52">
            <a:extLst>
              <a:ext uri="{FF2B5EF4-FFF2-40B4-BE49-F238E27FC236}">
                <a16:creationId xmlns:a16="http://schemas.microsoft.com/office/drawing/2014/main" id="{B65C1BCD-A37F-7E3A-16D7-945FFDD5E1C9}"/>
              </a:ext>
            </a:extLst>
          </p:cNvPr>
          <p:cNvSpPr>
            <a:spLocks noChangeArrowheads="1"/>
          </p:cNvSpPr>
          <p:nvPr/>
        </p:nvSpPr>
        <p:spPr bwMode="auto">
          <a:xfrm>
            <a:off x="2272638" y="3883973"/>
            <a:ext cx="11938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rPr>
              <a:t>并且</a:t>
            </a:r>
          </a:p>
        </p:txBody>
      </p:sp>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2BC749B6-00F4-3774-780C-C2F5FB2A57FD}"/>
                  </a:ext>
                </a:extLst>
              </p:cNvPr>
              <p:cNvSpPr txBox="1"/>
              <p:nvPr/>
            </p:nvSpPr>
            <p:spPr>
              <a:xfrm>
                <a:off x="3913320" y="3054792"/>
                <a:ext cx="4219836" cy="9144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f>
                        <m:f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smtClean="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 , 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 , 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0" name="对象 9">
                <a:extLst>
                  <a:ext uri="{FF2B5EF4-FFF2-40B4-BE49-F238E27FC236}">
                    <a16:creationId xmlns:a16="http://schemas.microsoft.com/office/drawing/2014/main" id="{2BC749B6-00F4-3774-780C-C2F5FB2A57FD}"/>
                  </a:ext>
                </a:extLst>
              </p:cNvPr>
              <p:cNvSpPr txBox="1">
                <a:spLocks noRot="1" noChangeAspect="1" noMove="1" noResize="1" noEditPoints="1" noAdjustHandles="1" noChangeArrowheads="1" noChangeShapeType="1" noTextEdit="1"/>
              </p:cNvSpPr>
              <p:nvPr/>
            </p:nvSpPr>
            <p:spPr>
              <a:xfrm>
                <a:off x="3913320" y="3054792"/>
                <a:ext cx="4219836" cy="9144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对象 10">
                <a:extLst>
                  <a:ext uri="{FF2B5EF4-FFF2-40B4-BE49-F238E27FC236}">
                    <a16:creationId xmlns:a16="http://schemas.microsoft.com/office/drawing/2014/main" id="{7654E781-FAB8-1F5B-615C-0D37290EF03A}"/>
                  </a:ext>
                </a:extLst>
              </p:cNvPr>
              <p:cNvSpPr txBox="1"/>
              <p:nvPr/>
            </p:nvSpPr>
            <p:spPr>
              <a:xfrm>
                <a:off x="2308306" y="4356930"/>
                <a:ext cx="4785697" cy="914399"/>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𝑢</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nary>
                        <m:nary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ub>
                        <m:sup>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1" name="对象 10">
                <a:extLst>
                  <a:ext uri="{FF2B5EF4-FFF2-40B4-BE49-F238E27FC236}">
                    <a16:creationId xmlns:a16="http://schemas.microsoft.com/office/drawing/2014/main" id="{7654E781-FAB8-1F5B-615C-0D37290EF03A}"/>
                  </a:ext>
                </a:extLst>
              </p:cNvPr>
              <p:cNvSpPr txBox="1">
                <a:spLocks noRot="1" noChangeAspect="1" noMove="1" noResize="1" noEditPoints="1" noAdjustHandles="1" noChangeArrowheads="1" noChangeShapeType="1" noTextEdit="1"/>
              </p:cNvSpPr>
              <p:nvPr/>
            </p:nvSpPr>
            <p:spPr>
              <a:xfrm>
                <a:off x="2308306" y="4356930"/>
                <a:ext cx="4785697" cy="914399"/>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对象 11">
                <a:extLst>
                  <a:ext uri="{FF2B5EF4-FFF2-40B4-BE49-F238E27FC236}">
                    <a16:creationId xmlns:a16="http://schemas.microsoft.com/office/drawing/2014/main" id="{9FA7DF04-9723-7241-0BF3-9F5B839B95A9}"/>
                  </a:ext>
                </a:extLst>
              </p:cNvPr>
              <p:cNvSpPr txBox="1"/>
              <p:nvPr/>
            </p:nvSpPr>
            <p:spPr>
              <a:xfrm>
                <a:off x="3446618" y="5298754"/>
                <a:ext cx="6828237" cy="825031"/>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cs typeface="+mj-cs"/>
                        </a:rPr>
                        <m:t>=</m:t>
                      </m:r>
                      <m:nary>
                        <m:naryPr>
                          <m:ctrlPr>
                            <a:rPr kumimoji="1" lang="zh-CN" altLang="en-US" sz="2200" i="1" smtClean="0">
                              <a:solidFill>
                                <a:schemeClr val="tx1">
                                  <a:lumMod val="95000"/>
                                  <a:lumOff val="5000"/>
                                </a:schemeClr>
                              </a:solidFill>
                              <a:latin typeface="Cambria Math" panose="02040503050406030204" pitchFamily="18" charset="0"/>
                              <a:ea typeface="黑体" panose="02010609060101010101" pitchFamily="49" charset="-122"/>
                              <a:cs typeface="+mj-cs"/>
                            </a:rPr>
                          </m:ctrlPr>
                        </m:naryPr>
                        <m:sub>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sub>
                        <m:sup>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d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e>
                          </m:d>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nary>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nary>
                        <m:nary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sub>
                        <m:sup>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d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e>
                          </m:d>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nary>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nary>
                        <m:nary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naryPr>
                        <m:sub>
                          <m:sSub>
                            <m:sSub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cs typeface="+mj-cs"/>
                                </a:rPr>
                              </m:ctrlPr>
                            </m:sSubPr>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e>
                            <m:sub>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0</m:t>
                              </m:r>
                            </m:sub>
                          </m:sSub>
                        </m:sub>
                        <m:sup>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sup>
                        <m:e>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2" name="对象 11">
                <a:extLst>
                  <a:ext uri="{FF2B5EF4-FFF2-40B4-BE49-F238E27FC236}">
                    <a16:creationId xmlns:a16="http://schemas.microsoft.com/office/drawing/2014/main" id="{9FA7DF04-9723-7241-0BF3-9F5B839B95A9}"/>
                  </a:ext>
                </a:extLst>
              </p:cNvPr>
              <p:cNvSpPr txBox="1">
                <a:spLocks noRot="1" noChangeAspect="1" noMove="1" noResize="1" noEditPoints="1" noAdjustHandles="1" noChangeArrowheads="1" noChangeShapeType="1" noTextEdit="1"/>
              </p:cNvSpPr>
              <p:nvPr/>
            </p:nvSpPr>
            <p:spPr>
              <a:xfrm>
                <a:off x="3446618" y="5298754"/>
                <a:ext cx="6828237" cy="825031"/>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对象 12">
                <a:extLst>
                  <a:ext uri="{FF2B5EF4-FFF2-40B4-BE49-F238E27FC236}">
                    <a16:creationId xmlns:a16="http://schemas.microsoft.com/office/drawing/2014/main" id="{3FACB214-A7ED-7BCA-0FCF-CAF03643EEEF}"/>
                  </a:ext>
                </a:extLst>
              </p:cNvPr>
              <p:cNvSpPr txBox="1"/>
              <p:nvPr/>
            </p:nvSpPr>
            <p:spPr>
              <a:xfrm>
                <a:off x="2308306" y="1880289"/>
                <a:ext cx="2489200" cy="3937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𝑃</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𝑄</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𝑅</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cs typeface="+mj-cs"/>
                        </a:rPr>
                        <m:t>𝑧</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13" name="对象 12">
                <a:extLst>
                  <a:ext uri="{FF2B5EF4-FFF2-40B4-BE49-F238E27FC236}">
                    <a16:creationId xmlns:a16="http://schemas.microsoft.com/office/drawing/2014/main" id="{3FACB214-A7ED-7BCA-0FCF-CAF03643EEEF}"/>
                  </a:ext>
                </a:extLst>
              </p:cNvPr>
              <p:cNvSpPr txBox="1">
                <a:spLocks noRot="1" noChangeAspect="1" noMove="1" noResize="1" noEditPoints="1" noAdjustHandles="1" noChangeArrowheads="1" noChangeShapeType="1" noTextEdit="1"/>
              </p:cNvSpPr>
              <p:nvPr/>
            </p:nvSpPr>
            <p:spPr>
              <a:xfrm>
                <a:off x="2308306" y="1880289"/>
                <a:ext cx="2489200" cy="393700"/>
              </a:xfrm>
              <a:prstGeom prst="rect">
                <a:avLst/>
              </a:prstGeom>
              <a:blipFill>
                <a:blip r:embed="rId9"/>
                <a:stretch>
                  <a:fillRect l="-490" b="-2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Text Box 44">
                <a:extLst>
                  <a:ext uri="{FF2B5EF4-FFF2-40B4-BE49-F238E27FC236}">
                    <a16:creationId xmlns:a16="http://schemas.microsoft.com/office/drawing/2014/main" id="{0250A657-0148-0304-2E7F-C3CCB7819E48}"/>
                  </a:ext>
                </a:extLst>
              </p:cNvPr>
              <p:cNvSpPr txBox="1">
                <a:spLocks noChangeArrowheads="1"/>
              </p:cNvSpPr>
              <p:nvPr/>
            </p:nvSpPr>
            <p:spPr bwMode="auto">
              <a:xfrm>
                <a:off x="2275218" y="732429"/>
                <a:ext cx="4067629" cy="4308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设空间区域</a:t>
                </a:r>
                <a14:m>
                  <m:oMath xmlns:m="http://schemas.openxmlformats.org/officeDocument/2006/math">
                    <m:r>
                      <a:rPr kumimoji="1" lang="en-US" altLang="zh-CN" sz="2200">
                        <a:solidFill>
                          <a:schemeClr val="tx1">
                            <a:lumMod val="95000"/>
                            <a:lumOff val="5000"/>
                          </a:schemeClr>
                        </a:solidFill>
                        <a:latin typeface="Cambria Math" panose="02040503050406030204" pitchFamily="18" charset="0"/>
                        <a:ea typeface="黑体" panose="02010609060101010101" pitchFamily="49" charset="-122"/>
                      </a:rPr>
                      <m:t> </m:t>
                    </m:r>
                    <m:r>
                      <a:rPr kumimoji="1" lang="en-US" altLang="zh-CN" sz="2200" i="1">
                        <a:solidFill>
                          <a:schemeClr val="tx1">
                            <a:lumMod val="95000"/>
                            <a:lumOff val="5000"/>
                          </a:schemeClr>
                        </a:solidFill>
                        <a:latin typeface="Cambria Math" panose="02040503050406030204" pitchFamily="18" charset="0"/>
                        <a:ea typeface="黑体" panose="02010609060101010101" pitchFamily="49" charset="-122"/>
                      </a:rPr>
                      <m:t>𝐺</m:t>
                    </m:r>
                  </m:oMath>
                </a14:m>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 是一维单连通域</a:t>
                </a:r>
                <a:r>
                  <a:rPr kumimoji="1" lang="en-US" altLang="zh-CN" sz="2200" dirty="0">
                    <a:solidFill>
                      <a:schemeClr val="tx1">
                        <a:lumMod val="95000"/>
                        <a:lumOff val="5000"/>
                      </a:schemeClr>
                    </a:solidFill>
                    <a:latin typeface="Cambria Math" panose="02040503050406030204" charset="0"/>
                    <a:ea typeface="黑体" panose="02010609060101010101" pitchFamily="49" charset="-122"/>
                  </a:rPr>
                  <a:t>,</a:t>
                </a:r>
                <a:endParaRPr kumimoji="1" lang="en-US" altLang="zh-CN" sz="2200" dirty="0">
                  <a:solidFill>
                    <a:schemeClr val="tx1">
                      <a:lumMod val="95000"/>
                      <a:lumOff val="5000"/>
                    </a:schemeClr>
                  </a:solidFill>
                  <a:latin typeface="Cambria Math" panose="02040503050406030204" charset="0"/>
                  <a:ea typeface="黑体" panose="02010609060101010101" pitchFamily="49" charset="-122"/>
                  <a:cs typeface="+mj-cs"/>
                </a:endParaRPr>
              </a:p>
            </p:txBody>
          </p:sp>
        </mc:Choice>
        <mc:Fallback xmlns="">
          <p:sp>
            <p:nvSpPr>
              <p:cNvPr id="53" name="Text Box 44">
                <a:extLst>
                  <a:ext uri="{FF2B5EF4-FFF2-40B4-BE49-F238E27FC236}">
                    <a16:creationId xmlns:a16="http://schemas.microsoft.com/office/drawing/2014/main" id="{0250A657-0148-0304-2E7F-C3CCB7819E48}"/>
                  </a:ext>
                </a:extLst>
              </p:cNvPr>
              <p:cNvSpPr txBox="1">
                <a:spLocks noRot="1" noChangeAspect="1" noMove="1" noResize="1" noEditPoints="1" noAdjustHandles="1" noChangeArrowheads="1" noChangeShapeType="1" noTextEdit="1"/>
              </p:cNvSpPr>
              <p:nvPr/>
            </p:nvSpPr>
            <p:spPr bwMode="auto">
              <a:xfrm>
                <a:off x="2275218" y="732429"/>
                <a:ext cx="4067629" cy="430887"/>
              </a:xfrm>
              <a:prstGeom prst="rect">
                <a:avLst/>
              </a:prstGeom>
              <a:blipFill>
                <a:blip r:embed="rId20"/>
                <a:stretch>
                  <a:fillRect l="-1949" t="-14085" b="-2816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7B886EE2-70FD-F772-14FC-BEF0A3A821E0}"/>
              </a:ext>
            </a:extLst>
          </p:cNvPr>
          <p:cNvGrpSpPr/>
          <p:nvPr/>
        </p:nvGrpSpPr>
        <p:grpSpPr>
          <a:xfrm>
            <a:off x="1156943" y="757081"/>
            <a:ext cx="1195705" cy="449580"/>
            <a:chOff x="1553" y="3802"/>
            <a:chExt cx="1883" cy="708"/>
          </a:xfrm>
        </p:grpSpPr>
        <p:sp>
          <p:nvSpPr>
            <p:cNvPr id="29" name="圆角矩形 3">
              <a:extLst>
                <a:ext uri="{FF2B5EF4-FFF2-40B4-BE49-F238E27FC236}">
                  <a16:creationId xmlns:a16="http://schemas.microsoft.com/office/drawing/2014/main" id="{86F04531-8B89-2522-8237-D1DB61BF59D2}"/>
                </a:ext>
              </a:extLst>
            </p:cNvPr>
            <p:cNvSpPr/>
            <p:nvPr/>
          </p:nvSpPr>
          <p:spPr>
            <a:xfrm>
              <a:off x="1553" y="3803"/>
              <a:ext cx="1757" cy="707"/>
            </a:xfrm>
            <a:prstGeom prst="roundRect">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0" name="Text Box 28">
              <a:extLst>
                <a:ext uri="{FF2B5EF4-FFF2-40B4-BE49-F238E27FC236}">
                  <a16:creationId xmlns:a16="http://schemas.microsoft.com/office/drawing/2014/main" id="{0BE1C438-CD71-4EDA-1FC6-FEFB4B56CA1A}"/>
                </a:ext>
              </a:extLst>
            </p:cNvPr>
            <p:cNvSpPr txBox="1">
              <a:spLocks noChangeArrowheads="1"/>
            </p:cNvSpPr>
            <p:nvPr/>
          </p:nvSpPr>
          <p:spPr bwMode="auto">
            <a:xfrm>
              <a:off x="1650" y="3802"/>
              <a:ext cx="1786" cy="6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bIns="0">
              <a:spAutoFit/>
            </a:bodyPr>
            <a:lstStyle>
              <a:lvl1pPr>
                <a:lnSpc>
                  <a:spcPct val="85000"/>
                </a:lnSpc>
                <a:defRPr kumimoji="1" sz="2800" b="1">
                  <a:solidFill>
                    <a:schemeClr val="tx2"/>
                  </a:solidFill>
                  <a:latin typeface="Times New Roman" panose="02020603050405020304" pitchFamily="18" charset="0"/>
                  <a:ea typeface="楷体_GB2312" pitchFamily="49" charset="-122"/>
                </a:defRPr>
              </a:lvl1pPr>
              <a:lvl2pPr marL="742950" indent="-285750">
                <a:lnSpc>
                  <a:spcPct val="85000"/>
                </a:lnSpc>
                <a:defRPr kumimoji="1" sz="2800" b="1">
                  <a:solidFill>
                    <a:schemeClr val="tx2"/>
                  </a:solidFill>
                  <a:latin typeface="Times New Roman" panose="02020603050405020304" pitchFamily="18" charset="0"/>
                  <a:ea typeface="楷体_GB2312" pitchFamily="49" charset="-122"/>
                </a:defRPr>
              </a:lvl2pPr>
              <a:lvl3pPr marL="1143000" indent="-228600">
                <a:lnSpc>
                  <a:spcPct val="85000"/>
                </a:lnSpc>
                <a:defRPr kumimoji="1" sz="2800" b="1">
                  <a:solidFill>
                    <a:schemeClr val="tx2"/>
                  </a:solidFill>
                  <a:latin typeface="Times New Roman" panose="02020603050405020304" pitchFamily="18" charset="0"/>
                  <a:ea typeface="楷体_GB2312" pitchFamily="49" charset="-122"/>
                </a:defRPr>
              </a:lvl3pPr>
              <a:lvl4pPr marL="1600200" indent="-228600">
                <a:lnSpc>
                  <a:spcPct val="85000"/>
                </a:lnSpc>
                <a:defRPr kumimoji="1" sz="2800" b="1">
                  <a:solidFill>
                    <a:schemeClr val="tx2"/>
                  </a:solidFill>
                  <a:latin typeface="Times New Roman" panose="02020603050405020304" pitchFamily="18" charset="0"/>
                  <a:ea typeface="楷体_GB2312" pitchFamily="49" charset="-122"/>
                </a:defRPr>
              </a:lvl4pPr>
              <a:lvl5pPr marL="2057400" indent="-228600">
                <a:lnSpc>
                  <a:spcPct val="85000"/>
                </a:lnSpc>
                <a:defRPr kumimoji="1" sz="2800" b="1">
                  <a:solidFill>
                    <a:schemeClr val="tx2"/>
                  </a:solidFill>
                  <a:latin typeface="Times New Roman" panose="02020603050405020304" pitchFamily="18" charset="0"/>
                  <a:ea typeface="楷体_GB2312" pitchFamily="49" charset="-122"/>
                </a:defRPr>
              </a:lvl5pPr>
              <a:lvl6pPr marL="25146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6pPr>
              <a:lvl7pPr marL="29718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7pPr>
              <a:lvl8pPr marL="34290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8pPr>
              <a:lvl9pPr marL="3886200" indent="-228600" eaLnBrk="0" fontAlgn="base" hangingPunct="0">
                <a:lnSpc>
                  <a:spcPct val="85000"/>
                </a:lnSpc>
                <a:spcBef>
                  <a:spcPct val="0"/>
                </a:spcBef>
                <a:spcAft>
                  <a:spcPct val="0"/>
                </a:spcAft>
                <a:defRPr kumimoji="1" sz="2800" b="1">
                  <a:solidFill>
                    <a:schemeClr val="tx2"/>
                  </a:solidFill>
                  <a:latin typeface="Times New Roman" panose="02020603050405020304" pitchFamily="18" charset="0"/>
                  <a:ea typeface="楷体_GB2312" pitchFamily="49" charset="-122"/>
                </a:defRPr>
              </a:lvl9pPr>
            </a:lstStyle>
            <a:p>
              <a:pPr marL="0" marR="0" lvl="0" indent="0" defTabSz="914400" eaLnBrk="1" fontAlgn="base" latinLnBrk="0" hangingPunct="1">
                <a:lnSpc>
                  <a:spcPct val="100000"/>
                </a:lnSpc>
                <a:spcBef>
                  <a:spcPct val="50000"/>
                </a:spcBef>
                <a:spcAft>
                  <a:spcPct val="0"/>
                </a:spcAft>
                <a:buClrTx/>
                <a:buSzTx/>
                <a:defRPr/>
              </a:pPr>
              <a:r>
                <a:rPr kumimoji="1" lang="zh-CN" altLang="en-US"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定理</a:t>
              </a:r>
              <a:r>
                <a:rPr lang="en-US" altLang="zh-CN" kern="0" dirty="0">
                  <a:solidFill>
                    <a:schemeClr val="bg1"/>
                  </a:solidFill>
                  <a:latin typeface="微软雅黑" panose="020B0503020204020204" charset="-122"/>
                  <a:ea typeface="微软雅黑" panose="020B0503020204020204" charset="-122"/>
                  <a:cs typeface="微软雅黑" panose="020B0503020204020204" charset="-122"/>
                </a:rPr>
                <a:t>3 </a:t>
              </a:r>
              <a:endParaRPr kumimoji="1" lang="en-US" altLang="zh-CN"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pic>
        <p:nvPicPr>
          <p:cNvPr id="32" name="图片 31" descr="图示&#10;&#10;描述已自动生成">
            <a:extLst>
              <a:ext uri="{FF2B5EF4-FFF2-40B4-BE49-F238E27FC236}">
                <a16:creationId xmlns:a16="http://schemas.microsoft.com/office/drawing/2014/main" id="{A8CFE297-10D6-8AF0-EE8B-762726352C58}"/>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8046508" y="2563408"/>
            <a:ext cx="2984481" cy="2623581"/>
          </a:xfrm>
          <a:prstGeom prst="rect">
            <a:avLst/>
          </a:prstGeom>
        </p:spPr>
      </p:pic>
    </p:spTree>
    <p:extLst>
      <p:ext uri="{BB962C8B-B14F-4D97-AF65-F5344CB8AC3E}">
        <p14:creationId xmlns:p14="http://schemas.microsoft.com/office/powerpoint/2010/main" val="3350900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wipe(left)">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left)">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left)">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left)">
                                      <p:cBhvr>
                                        <p:cTn id="6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8" grpId="0"/>
      <p:bldP spid="9" grpId="0"/>
      <p:bldP spid="10" grpId="0"/>
      <p:bldP spid="11" grpId="0"/>
      <p:bldP spid="12" grpId="0"/>
      <p:bldP spid="13" grpId="0"/>
      <p:bldP spid="5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矩形 90">
            <a:extLst>
              <a:ext uri="{FF2B5EF4-FFF2-40B4-BE49-F238E27FC236}">
                <a16:creationId xmlns:a16="http://schemas.microsoft.com/office/drawing/2014/main" id="{F3A22676-96F9-8C46-847F-5D0D9920E552}"/>
              </a:ext>
            </a:extLst>
          </p:cNvPr>
          <p:cNvSpPr/>
          <p:nvPr/>
        </p:nvSpPr>
        <p:spPr>
          <a:xfrm>
            <a:off x="687388" y="660400"/>
            <a:ext cx="10817225" cy="55372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2" name="半闭框 91">
            <a:extLst>
              <a:ext uri="{FF2B5EF4-FFF2-40B4-BE49-F238E27FC236}">
                <a16:creationId xmlns:a16="http://schemas.microsoft.com/office/drawing/2014/main" id="{3A993AD0-3B5F-BE13-25CD-66D4D4ECAFE4}"/>
              </a:ext>
            </a:extLst>
          </p:cNvPr>
          <p:cNvSpPr/>
          <p:nvPr/>
        </p:nvSpPr>
        <p:spPr>
          <a:xfrm>
            <a:off x="687324" y="6604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3" name="半闭框 92">
            <a:extLst>
              <a:ext uri="{FF2B5EF4-FFF2-40B4-BE49-F238E27FC236}">
                <a16:creationId xmlns:a16="http://schemas.microsoft.com/office/drawing/2014/main" id="{9F108FD3-F295-31CE-0B3A-FA2CD95A0B00}"/>
              </a:ext>
            </a:extLst>
          </p:cNvPr>
          <p:cNvSpPr/>
          <p:nvPr/>
        </p:nvSpPr>
        <p:spPr>
          <a:xfrm flipH="1">
            <a:off x="10823530" y="6604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4" name="半闭框 93">
            <a:extLst>
              <a:ext uri="{FF2B5EF4-FFF2-40B4-BE49-F238E27FC236}">
                <a16:creationId xmlns:a16="http://schemas.microsoft.com/office/drawing/2014/main" id="{4DCF04D5-2B49-EA5E-EFD2-2CC283836868}"/>
              </a:ext>
            </a:extLst>
          </p:cNvPr>
          <p:cNvSpPr/>
          <p:nvPr/>
        </p:nvSpPr>
        <p:spPr>
          <a:xfrm flipV="1">
            <a:off x="687324" y="55240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5" name="半闭框 94">
            <a:extLst>
              <a:ext uri="{FF2B5EF4-FFF2-40B4-BE49-F238E27FC236}">
                <a16:creationId xmlns:a16="http://schemas.microsoft.com/office/drawing/2014/main" id="{A8591B70-1C38-564D-8D95-15A7A378ED27}"/>
              </a:ext>
            </a:extLst>
          </p:cNvPr>
          <p:cNvSpPr/>
          <p:nvPr/>
        </p:nvSpPr>
        <p:spPr>
          <a:xfrm flipH="1" flipV="1">
            <a:off x="10823530" y="55042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mc:AlternateContent xmlns:mc="http://schemas.openxmlformats.org/markup-compatibility/2006" xmlns:a14="http://schemas.microsoft.com/office/drawing/2010/main">
        <mc:Choice Requires="a14">
          <p:sp>
            <p:nvSpPr>
              <p:cNvPr id="2" name="Object 3">
                <a:extLst>
                  <a:ext uri="{FF2B5EF4-FFF2-40B4-BE49-F238E27FC236}">
                    <a16:creationId xmlns:a16="http://schemas.microsoft.com/office/drawing/2014/main" id="{A92AFF4D-F44B-0969-E856-E21286903081}"/>
                  </a:ext>
                </a:extLst>
              </p:cNvPr>
              <p:cNvSpPr txBox="1"/>
              <p:nvPr/>
            </p:nvSpPr>
            <p:spPr bwMode="auto">
              <a:xfrm>
                <a:off x="4554869" y="635794"/>
                <a:ext cx="6012994" cy="98345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supHide m:val="on"/>
                          <m:ctrlPr>
                            <a:rPr kumimoji="1" lang="zh-CN" altLang="en-US" sz="2800" i="1" smtClean="0">
                              <a:solidFill>
                                <a:prstClr val="black"/>
                              </a:solidFill>
                              <a:latin typeface="Cambria Math" panose="02040503050406030204" pitchFamily="18" charset="0"/>
                              <a:ea typeface="黑体" panose="02010609060101010101" pitchFamily="49" charset="-122"/>
                            </a:rPr>
                          </m:ctrlPr>
                        </m:naryPr>
                        <m:sub>
                          <m:r>
                            <a:rPr kumimoji="1" lang="zh-CN" altLang="en-US" sz="2800">
                              <a:solidFill>
                                <a:prstClr val="black"/>
                              </a:solidFill>
                              <a:latin typeface="Cambria Math" panose="02040503050406030204" pitchFamily="18" charset="0"/>
                              <a:ea typeface="黑体" panose="02010609060101010101" pitchFamily="49" charset="-122"/>
                            </a:rPr>
                            <m:t>𝛤</m:t>
                          </m:r>
                        </m:sub>
                        <m:sup/>
                        <m:e>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e>
                      </m:nary>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e>
                      </m:d>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e>
                      </m:d>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en-US" altLang="zh-CN" sz="2800" b="0" i="0" smtClean="0">
                          <a:solidFill>
                            <a:prstClr val="black"/>
                          </a:solidFill>
                          <a:latin typeface="Cambria Math" panose="02040503050406030204" pitchFamily="18" charset="0"/>
                          <a:ea typeface="黑体" panose="02010609060101010101" pitchFamily="49" charset="-122"/>
                        </a:rPr>
                        <m:t> </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2" name="Object 3">
                <a:extLst>
                  <a:ext uri="{FF2B5EF4-FFF2-40B4-BE49-F238E27FC236}">
                    <a16:creationId xmlns:a16="http://schemas.microsoft.com/office/drawing/2014/main" id="{A92AFF4D-F44B-0969-E856-E21286903081}"/>
                  </a:ext>
                </a:extLst>
              </p:cNvPr>
              <p:cNvSpPr txBox="1">
                <a:spLocks noRot="1" noChangeAspect="1" noMove="1" noResize="1" noEditPoints="1" noAdjustHandles="1" noChangeArrowheads="1" noChangeShapeType="1" noTextEdit="1"/>
              </p:cNvSpPr>
              <p:nvPr/>
            </p:nvSpPr>
            <p:spPr bwMode="auto">
              <a:xfrm>
                <a:off x="4554869" y="635794"/>
                <a:ext cx="6012994" cy="983457"/>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3" name="Text Box 4">
            <a:extLst>
              <a:ext uri="{FF2B5EF4-FFF2-40B4-BE49-F238E27FC236}">
                <a16:creationId xmlns:a16="http://schemas.microsoft.com/office/drawing/2014/main" id="{1E34CA0C-536B-39CB-77F4-374EE26A342E}"/>
              </a:ext>
            </a:extLst>
          </p:cNvPr>
          <p:cNvSpPr txBox="1">
            <a:spLocks noChangeArrowheads="1"/>
          </p:cNvSpPr>
          <p:nvPr/>
        </p:nvSpPr>
        <p:spPr bwMode="auto">
          <a:xfrm>
            <a:off x="2283157" y="1573104"/>
            <a:ext cx="4267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lvl="0" fontAlgn="base">
              <a:spcBef>
                <a:spcPct val="50000"/>
              </a:spcBef>
              <a:spcAft>
                <a:spcPct val="0"/>
              </a:spcAft>
              <a:defRPr/>
            </a:pPr>
            <a:r>
              <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与路径无关</a:t>
            </a:r>
            <a:r>
              <a:rPr kumimoji="1" lang="en-US" altLang="zh-CN" sz="2800" dirty="0">
                <a:solidFill>
                  <a:schemeClr val="tx1">
                    <a:lumMod val="95000"/>
                    <a:lumOff val="5000"/>
                  </a:schemeClr>
                </a:solidFill>
                <a:latin typeface="Cambria Math" panose="02040503050406030204" charset="0"/>
                <a:ea typeface="黑体" panose="02010609060101010101" pitchFamily="49" charset="-122"/>
              </a:rPr>
              <a:t>,</a:t>
            </a:r>
            <a:r>
              <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rPr>
              <a:t>并求函数</a:t>
            </a:r>
          </a:p>
        </p:txBody>
      </p:sp>
      <mc:AlternateContent xmlns:mc="http://schemas.openxmlformats.org/markup-compatibility/2006" xmlns:a14="http://schemas.microsoft.com/office/drawing/2010/main">
        <mc:Choice Requires="a14">
          <p:sp>
            <p:nvSpPr>
              <p:cNvPr id="4" name="Object 5">
                <a:extLst>
                  <a:ext uri="{FF2B5EF4-FFF2-40B4-BE49-F238E27FC236}">
                    <a16:creationId xmlns:a16="http://schemas.microsoft.com/office/drawing/2014/main" id="{B19D9A98-DBAD-B82C-DB53-692282A852E5}"/>
                  </a:ext>
                </a:extLst>
              </p:cNvPr>
              <p:cNvSpPr txBox="1"/>
              <p:nvPr/>
            </p:nvSpPr>
            <p:spPr bwMode="auto">
              <a:xfrm>
                <a:off x="2311731" y="2067412"/>
                <a:ext cx="8822991" cy="111164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𝑢</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nary>
                        <m:naryPr>
                          <m:ctrlPr>
                            <a:rPr kumimoji="1" lang="zh-CN" altLang="en-US" sz="2800" i="1">
                              <a:solidFill>
                                <a:prstClr val="black"/>
                              </a:solidFill>
                              <a:latin typeface="Cambria Math" panose="02040503050406030204" pitchFamily="18" charset="0"/>
                              <a:ea typeface="黑体" panose="02010609060101010101" pitchFamily="49" charset="-122"/>
                            </a:rPr>
                          </m:ctrlPr>
                        </m:naryPr>
                        <m:sub>
                          <m:r>
                            <a:rPr kumimoji="1" lang="zh-CN" altLang="en-US" sz="2800">
                              <a:solidFill>
                                <a:prstClr val="black"/>
                              </a:solidFill>
                              <a:latin typeface="Cambria Math" panose="02040503050406030204" pitchFamily="18" charset="0"/>
                              <a:ea typeface="黑体" panose="02010609060101010101" pitchFamily="49" charset="-122"/>
                            </a:rPr>
                            <m:t>(0,0,0)</m:t>
                          </m:r>
                        </m:sub>
                        <m:sup>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sup>
                        <m:e>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e>
                          </m:d>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e>
                          </m:d>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𝑧</m:t>
                          </m:r>
                        </m:e>
                      </m:nary>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4" name="Object 5">
                <a:extLst>
                  <a:ext uri="{FF2B5EF4-FFF2-40B4-BE49-F238E27FC236}">
                    <a16:creationId xmlns:a16="http://schemas.microsoft.com/office/drawing/2014/main" id="{B19D9A98-DBAD-B82C-DB53-692282A852E5}"/>
                  </a:ext>
                </a:extLst>
              </p:cNvPr>
              <p:cNvSpPr txBox="1">
                <a:spLocks noRot="1" noChangeAspect="1" noMove="1" noResize="1" noEditPoints="1" noAdjustHandles="1" noChangeArrowheads="1" noChangeShapeType="1" noTextEdit="1"/>
              </p:cNvSpPr>
              <p:nvPr/>
            </p:nvSpPr>
            <p:spPr bwMode="auto">
              <a:xfrm>
                <a:off x="2311731" y="2067412"/>
                <a:ext cx="8822991" cy="1111648"/>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5" name="Text Box 6">
            <a:extLst>
              <a:ext uri="{FF2B5EF4-FFF2-40B4-BE49-F238E27FC236}">
                <a16:creationId xmlns:a16="http://schemas.microsoft.com/office/drawing/2014/main" id="{0B70BF24-79F3-B50A-37D3-A0F6890914CA}"/>
              </a:ext>
            </a:extLst>
          </p:cNvPr>
          <p:cNvSpPr txBox="1">
            <a:spLocks noChangeArrowheads="1"/>
          </p:cNvSpPr>
          <p:nvPr/>
        </p:nvSpPr>
        <p:spPr bwMode="auto">
          <a:xfrm>
            <a:off x="1543382" y="3064661"/>
            <a:ext cx="1406652"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dirty="0">
                <a:solidFill>
                  <a:srgbClr val="04926A"/>
                </a:solidFill>
                <a:latin typeface="微软雅黑" panose="020B0503020204020204" pitchFamily="34" charset="-122"/>
                <a:ea typeface="微软雅黑" panose="020B0503020204020204" pitchFamily="34" charset="-122"/>
              </a:rPr>
              <a:t>解</a:t>
            </a:r>
            <a:r>
              <a:rPr kumimoji="1" lang="en-US" altLang="zh-CN" sz="2800" b="1" dirty="0">
                <a:solidFill>
                  <a:srgbClr val="04926A"/>
                </a:solidFill>
                <a:latin typeface="微软雅黑" panose="020B0503020204020204" pitchFamily="34" charset="-122"/>
                <a:ea typeface="微软雅黑" panose="020B0503020204020204" pitchFamily="34" charset="-122"/>
              </a:rPr>
              <a:t>   </a:t>
            </a:r>
            <a:r>
              <a:rPr kumimoji="1" lang="zh-CN" altLang="en-US" sz="2200" dirty="0">
                <a:solidFill>
                  <a:schemeClr val="tx1">
                    <a:lumMod val="95000"/>
                    <a:lumOff val="5000"/>
                  </a:schemeClr>
                </a:solidFill>
                <a:latin typeface="Cambria Math" panose="02040503050406030204" charset="0"/>
                <a:ea typeface="黑体" panose="02010609060101010101" pitchFamily="49" charset="-122"/>
              </a:rPr>
              <a:t>令</a:t>
            </a:r>
          </a:p>
        </p:txBody>
      </p:sp>
      <mc:AlternateContent xmlns:mc="http://schemas.openxmlformats.org/markup-compatibility/2006" xmlns:a14="http://schemas.microsoft.com/office/drawing/2010/main">
        <mc:Choice Requires="a14">
          <p:sp>
            <p:nvSpPr>
              <p:cNvPr id="6" name="Object 7">
                <a:extLst>
                  <a:ext uri="{FF2B5EF4-FFF2-40B4-BE49-F238E27FC236}">
                    <a16:creationId xmlns:a16="http://schemas.microsoft.com/office/drawing/2014/main" id="{D7C30BCC-CB81-680C-3200-6987434D5701}"/>
                  </a:ext>
                </a:extLst>
              </p:cNvPr>
              <p:cNvSpPr txBox="1"/>
              <p:nvPr/>
            </p:nvSpPr>
            <p:spPr bwMode="auto">
              <a:xfrm>
                <a:off x="2568451" y="3119549"/>
                <a:ext cx="4772025" cy="3937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𝑃</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 ,  </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𝑄</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 ,  </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𝑅</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Object 7">
                <a:extLst>
                  <a:ext uri="{FF2B5EF4-FFF2-40B4-BE49-F238E27FC236}">
                    <a16:creationId xmlns:a16="http://schemas.microsoft.com/office/drawing/2014/main" id="{D7C30BCC-CB81-680C-3200-6987434D5701}"/>
                  </a:ext>
                </a:extLst>
              </p:cNvPr>
              <p:cNvSpPr txBox="1">
                <a:spLocks noRot="1" noChangeAspect="1" noMove="1" noResize="1" noEditPoints="1" noAdjustHandles="1" noChangeArrowheads="1" noChangeShapeType="1" noTextEdit="1"/>
              </p:cNvSpPr>
              <p:nvPr/>
            </p:nvSpPr>
            <p:spPr bwMode="auto">
              <a:xfrm>
                <a:off x="2568451" y="3119549"/>
                <a:ext cx="4772025" cy="393700"/>
              </a:xfrm>
              <a:prstGeom prst="rect">
                <a:avLst/>
              </a:prstGeom>
              <a:blipFill>
                <a:blip r:embed="rId4"/>
                <a:stretch>
                  <a:fillRect l="-128" b="-28125"/>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8">
                <a:extLst>
                  <a:ext uri="{FF2B5EF4-FFF2-40B4-BE49-F238E27FC236}">
                    <a16:creationId xmlns:a16="http://schemas.microsoft.com/office/drawing/2014/main" id="{4D1A3316-4298-A092-6206-4419CEDB25EB}"/>
                  </a:ext>
                </a:extLst>
              </p:cNvPr>
              <p:cNvSpPr txBox="1"/>
              <p:nvPr/>
            </p:nvSpPr>
            <p:spPr bwMode="auto">
              <a:xfrm>
                <a:off x="2326020" y="3533380"/>
                <a:ext cx="2500313" cy="927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Object 8">
                <a:extLst>
                  <a:ext uri="{FF2B5EF4-FFF2-40B4-BE49-F238E27FC236}">
                    <a16:creationId xmlns:a16="http://schemas.microsoft.com/office/drawing/2014/main" id="{4D1A3316-4298-A092-6206-4419CEDB25EB}"/>
                  </a:ext>
                </a:extLst>
              </p:cNvPr>
              <p:cNvSpPr txBox="1">
                <a:spLocks noRot="1" noChangeAspect="1" noMove="1" noResize="1" noEditPoints="1" noAdjustHandles="1" noChangeArrowheads="1" noChangeShapeType="1" noTextEdit="1"/>
              </p:cNvSpPr>
              <p:nvPr/>
            </p:nvSpPr>
            <p:spPr bwMode="auto">
              <a:xfrm>
                <a:off x="2326020" y="3533380"/>
                <a:ext cx="2500313" cy="927100"/>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Object 9">
                <a:extLst>
                  <a:ext uri="{FF2B5EF4-FFF2-40B4-BE49-F238E27FC236}">
                    <a16:creationId xmlns:a16="http://schemas.microsoft.com/office/drawing/2014/main" id="{D7CB7916-3EA7-10D1-6174-E356A10A9682}"/>
                  </a:ext>
                </a:extLst>
              </p:cNvPr>
              <p:cNvSpPr txBox="1"/>
              <p:nvPr/>
            </p:nvSpPr>
            <p:spPr bwMode="auto">
              <a:xfrm>
                <a:off x="4621544" y="3533380"/>
                <a:ext cx="1930400" cy="927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𝑄</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8" name="Object 9">
                <a:extLst>
                  <a:ext uri="{FF2B5EF4-FFF2-40B4-BE49-F238E27FC236}">
                    <a16:creationId xmlns:a16="http://schemas.microsoft.com/office/drawing/2014/main" id="{D7CB7916-3EA7-10D1-6174-E356A10A9682}"/>
                  </a:ext>
                </a:extLst>
              </p:cNvPr>
              <p:cNvSpPr txBox="1">
                <a:spLocks noRot="1" noChangeAspect="1" noMove="1" noResize="1" noEditPoints="1" noAdjustHandles="1" noChangeArrowheads="1" noChangeShapeType="1" noTextEdit="1"/>
              </p:cNvSpPr>
              <p:nvPr/>
            </p:nvSpPr>
            <p:spPr bwMode="auto">
              <a:xfrm>
                <a:off x="4621544" y="3533380"/>
                <a:ext cx="1930400" cy="927100"/>
              </a:xfrm>
              <a:prstGeom prst="rect">
                <a:avLst/>
              </a:prstGeom>
              <a:blipFill>
                <a:blip r:embed="rId6"/>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10">
                <a:extLst>
                  <a:ext uri="{FF2B5EF4-FFF2-40B4-BE49-F238E27FC236}">
                    <a16:creationId xmlns:a16="http://schemas.microsoft.com/office/drawing/2014/main" id="{473F94D9-986A-FC62-53B4-1C68D5536B63}"/>
                  </a:ext>
                </a:extLst>
              </p:cNvPr>
              <p:cNvSpPr txBox="1"/>
              <p:nvPr/>
            </p:nvSpPr>
            <p:spPr bwMode="auto">
              <a:xfrm>
                <a:off x="6377789" y="3533380"/>
                <a:ext cx="1790700" cy="9271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𝑅</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den>
                      </m:f>
                      <m:r>
                        <a:rPr kumimoji="1" lang="zh-CN" altLang="en-US" sz="2200">
                          <a:solidFill>
                            <a:schemeClr val="tx1">
                              <a:lumMod val="95000"/>
                              <a:lumOff val="5000"/>
                            </a:schemeClr>
                          </a:solidFill>
                          <a:latin typeface="Cambria Math" panose="02040503050406030204" charset="0"/>
                          <a:ea typeface="黑体" panose="02010609060101010101" pitchFamily="49" charset="-122"/>
                        </a:rPr>
                        <m:t>=1=</m:t>
                      </m:r>
                      <m:f>
                        <m:f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Pr>
                        <m:num>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𝑃</m:t>
                          </m:r>
                        </m:num>
                        <m:den>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den>
                      </m:f>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9" name="Object 10">
                <a:extLst>
                  <a:ext uri="{FF2B5EF4-FFF2-40B4-BE49-F238E27FC236}">
                    <a16:creationId xmlns:a16="http://schemas.microsoft.com/office/drawing/2014/main" id="{473F94D9-986A-FC62-53B4-1C68D5536B63}"/>
                  </a:ext>
                </a:extLst>
              </p:cNvPr>
              <p:cNvSpPr txBox="1">
                <a:spLocks noRot="1" noChangeAspect="1" noMove="1" noResize="1" noEditPoints="1" noAdjustHandles="1" noChangeArrowheads="1" noChangeShapeType="1" noTextEdit="1"/>
              </p:cNvSpPr>
              <p:nvPr/>
            </p:nvSpPr>
            <p:spPr bwMode="auto">
              <a:xfrm>
                <a:off x="6377789" y="3533380"/>
                <a:ext cx="1790700" cy="927100"/>
              </a:xfrm>
              <a:prstGeom prst="rect">
                <a:avLst/>
              </a:prstGeom>
              <a:blipFill>
                <a:blip r:embed="rId7"/>
                <a:stretch>
                  <a:fillRect/>
                </a:stretch>
              </a:blipFill>
              <a:ln>
                <a:noFill/>
              </a:ln>
              <a:effectLst/>
            </p:spPr>
            <p:txBody>
              <a:bodyPr/>
              <a:lstStyle/>
              <a:p>
                <a:r>
                  <a:rPr lang="zh-CN" altLang="en-US">
                    <a:noFill/>
                  </a:rPr>
                  <a:t> </a:t>
                </a:r>
              </a:p>
            </p:txBody>
          </p:sp>
        </mc:Fallback>
      </mc:AlternateContent>
      <p:sp>
        <p:nvSpPr>
          <p:cNvPr id="10" name="Text Box 11">
            <a:extLst>
              <a:ext uri="{FF2B5EF4-FFF2-40B4-BE49-F238E27FC236}">
                <a16:creationId xmlns:a16="http://schemas.microsoft.com/office/drawing/2014/main" id="{DC16C2AF-4C5A-01E5-83F0-E1ED8650E150}"/>
              </a:ext>
            </a:extLst>
          </p:cNvPr>
          <p:cNvSpPr txBox="1">
            <a:spLocks noChangeArrowheads="1"/>
          </p:cNvSpPr>
          <p:nvPr/>
        </p:nvSpPr>
        <p:spPr bwMode="auto">
          <a:xfrm>
            <a:off x="2284745" y="4258867"/>
            <a:ext cx="2888794" cy="43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Symbol" panose="05050102010706020507" pitchFamily="18" charset="2"/>
              </a:rPr>
              <a:t>     </a:t>
            </a: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Symbol" panose="05050102010706020507" pitchFamily="18" charset="2"/>
              </a:rPr>
              <a:t>积分与路径无关</a:t>
            </a:r>
            <a:r>
              <a:rPr kumimoji="1" lang="en-US" altLang="zh-CN" sz="2200" dirty="0">
                <a:solidFill>
                  <a:schemeClr val="tx1">
                    <a:lumMod val="95000"/>
                    <a:lumOff val="5000"/>
                  </a:schemeClr>
                </a:solidFill>
                <a:latin typeface="Cambria Math" panose="02040503050406030204" charset="0"/>
                <a:ea typeface="黑体" panose="02010609060101010101" pitchFamily="49" charset="-122"/>
                <a:sym typeface="Symbol" panose="05050102010706020507" pitchFamily="18" charset="2"/>
              </a:rPr>
              <a:t>,</a:t>
            </a:r>
            <a:endParaRPr kumimoji="1" lang="en-US" altLang="zh-CN" sz="2200" dirty="0">
              <a:solidFill>
                <a:schemeClr val="tx1">
                  <a:lumMod val="95000"/>
                  <a:lumOff val="5000"/>
                </a:schemeClr>
              </a:solidFill>
              <a:latin typeface="Cambria Math" panose="0204050305040603020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11" name="Object 12">
                <a:extLst>
                  <a:ext uri="{FF2B5EF4-FFF2-40B4-BE49-F238E27FC236}">
                    <a16:creationId xmlns:a16="http://schemas.microsoft.com/office/drawing/2014/main" id="{75BE25E6-B654-DD27-DB0E-9AD7DDE3D6F5}"/>
                  </a:ext>
                </a:extLst>
              </p:cNvPr>
              <p:cNvSpPr txBox="1"/>
              <p:nvPr/>
            </p:nvSpPr>
            <p:spPr bwMode="auto">
              <a:xfrm>
                <a:off x="2326020" y="4801599"/>
                <a:ext cx="1612900"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𝑢</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1" name="Object 12">
                <a:extLst>
                  <a:ext uri="{FF2B5EF4-FFF2-40B4-BE49-F238E27FC236}">
                    <a16:creationId xmlns:a16="http://schemas.microsoft.com/office/drawing/2014/main" id="{75BE25E6-B654-DD27-DB0E-9AD7DDE3D6F5}"/>
                  </a:ext>
                </a:extLst>
              </p:cNvPr>
              <p:cNvSpPr txBox="1">
                <a:spLocks noRot="1" noChangeAspect="1" noMove="1" noResize="1" noEditPoints="1" noAdjustHandles="1" noChangeArrowheads="1" noChangeShapeType="1" noTextEdit="1"/>
              </p:cNvSpPr>
              <p:nvPr/>
            </p:nvSpPr>
            <p:spPr bwMode="auto">
              <a:xfrm>
                <a:off x="2326020" y="4801599"/>
                <a:ext cx="1612900" cy="406400"/>
              </a:xfrm>
              <a:prstGeom prst="rect">
                <a:avLst/>
              </a:prstGeom>
              <a:blipFill>
                <a:blip r:embed="rId8"/>
                <a:stretch>
                  <a:fillRect b="-2727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Object 13">
                <a:extLst>
                  <a:ext uri="{FF2B5EF4-FFF2-40B4-BE49-F238E27FC236}">
                    <a16:creationId xmlns:a16="http://schemas.microsoft.com/office/drawing/2014/main" id="{31F9423B-537F-45F4-7184-6AAE10584F01}"/>
                  </a:ext>
                </a:extLst>
              </p:cNvPr>
              <p:cNvSpPr txBox="1"/>
              <p:nvPr/>
            </p:nvSpPr>
            <p:spPr bwMode="auto">
              <a:xfrm>
                <a:off x="3465052" y="5342020"/>
                <a:ext cx="2197100"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2" name="Object 13">
                <a:extLst>
                  <a:ext uri="{FF2B5EF4-FFF2-40B4-BE49-F238E27FC236}">
                    <a16:creationId xmlns:a16="http://schemas.microsoft.com/office/drawing/2014/main" id="{31F9423B-537F-45F4-7184-6AAE10584F01}"/>
                  </a:ext>
                </a:extLst>
              </p:cNvPr>
              <p:cNvSpPr txBox="1">
                <a:spLocks noRot="1" noChangeAspect="1" noMove="1" noResize="1" noEditPoints="1" noAdjustHandles="1" noChangeArrowheads="1" noChangeShapeType="1" noTextEdit="1"/>
              </p:cNvSpPr>
              <p:nvPr/>
            </p:nvSpPr>
            <p:spPr bwMode="auto">
              <a:xfrm>
                <a:off x="3465052" y="5342020"/>
                <a:ext cx="2197100" cy="406400"/>
              </a:xfrm>
              <a:prstGeom prst="rect">
                <a:avLst/>
              </a:prstGeom>
              <a:blipFill>
                <a:blip r:embed="rId9"/>
                <a:stretch>
                  <a:fillRect b="-2537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32">
                <a:extLst>
                  <a:ext uri="{FF2B5EF4-FFF2-40B4-BE49-F238E27FC236}">
                    <a16:creationId xmlns:a16="http://schemas.microsoft.com/office/drawing/2014/main" id="{78162556-BBE5-9853-01CC-1C8EC7F93813}"/>
                  </a:ext>
                </a:extLst>
              </p:cNvPr>
              <p:cNvSpPr txBox="1"/>
              <p:nvPr/>
            </p:nvSpPr>
            <p:spPr bwMode="auto">
              <a:xfrm>
                <a:off x="3465052" y="5674124"/>
                <a:ext cx="2095500" cy="406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5" name="Object 32">
                <a:extLst>
                  <a:ext uri="{FF2B5EF4-FFF2-40B4-BE49-F238E27FC236}">
                    <a16:creationId xmlns:a16="http://schemas.microsoft.com/office/drawing/2014/main" id="{78162556-BBE5-9853-01CC-1C8EC7F93813}"/>
                  </a:ext>
                </a:extLst>
              </p:cNvPr>
              <p:cNvSpPr txBox="1">
                <a:spLocks noRot="1" noChangeAspect="1" noMove="1" noResize="1" noEditPoints="1" noAdjustHandles="1" noChangeArrowheads="1" noChangeShapeType="1" noTextEdit="1"/>
              </p:cNvSpPr>
              <p:nvPr/>
            </p:nvSpPr>
            <p:spPr bwMode="auto">
              <a:xfrm>
                <a:off x="3465052" y="5674124"/>
                <a:ext cx="2095500" cy="406400"/>
              </a:xfrm>
              <a:prstGeom prst="rect">
                <a:avLst/>
              </a:prstGeom>
              <a:blipFill>
                <a:blip r:embed="rId10"/>
                <a:stretch>
                  <a:fillRect b="-19697"/>
                </a:stretch>
              </a:blipFill>
              <a:ln>
                <a:noFill/>
              </a:ln>
              <a:effectLst/>
            </p:spPr>
            <p:txBody>
              <a:bodyPr/>
              <a:lstStyle/>
              <a:p>
                <a:r>
                  <a:rPr lang="zh-CN" altLang="en-US">
                    <a:noFill/>
                  </a:rPr>
                  <a:t> </a:t>
                </a:r>
              </a:p>
            </p:txBody>
          </p:sp>
        </mc:Fallback>
      </mc:AlternateContent>
      <p:grpSp>
        <p:nvGrpSpPr>
          <p:cNvPr id="16" name="Group 43">
            <a:extLst>
              <a:ext uri="{FF2B5EF4-FFF2-40B4-BE49-F238E27FC236}">
                <a16:creationId xmlns:a16="http://schemas.microsoft.com/office/drawing/2014/main" id="{A751184B-162A-342E-0D5B-FEF664711BAA}"/>
              </a:ext>
            </a:extLst>
          </p:cNvPr>
          <p:cNvGrpSpPr>
            <a:grpSpLocks/>
          </p:cNvGrpSpPr>
          <p:nvPr/>
        </p:nvGrpSpPr>
        <p:grpSpPr bwMode="auto">
          <a:xfrm>
            <a:off x="8624427" y="3498991"/>
            <a:ext cx="1941513" cy="2122487"/>
            <a:chOff x="4141" y="2386"/>
            <a:chExt cx="1223" cy="1337"/>
          </a:xfrm>
        </p:grpSpPr>
        <p:grpSp>
          <p:nvGrpSpPr>
            <p:cNvPr id="17" name="Group 42">
              <a:extLst>
                <a:ext uri="{FF2B5EF4-FFF2-40B4-BE49-F238E27FC236}">
                  <a16:creationId xmlns:a16="http://schemas.microsoft.com/office/drawing/2014/main" id="{6599305B-4C59-0F73-EDE7-B40775A9C368}"/>
                </a:ext>
              </a:extLst>
            </p:cNvPr>
            <p:cNvGrpSpPr>
              <a:grpSpLocks/>
            </p:cNvGrpSpPr>
            <p:nvPr/>
          </p:nvGrpSpPr>
          <p:grpSpPr bwMode="auto">
            <a:xfrm>
              <a:off x="4141" y="2386"/>
              <a:ext cx="1223" cy="1337"/>
              <a:chOff x="4141" y="2386"/>
              <a:chExt cx="1223" cy="1337"/>
            </a:xfrm>
          </p:grpSpPr>
          <p:grpSp>
            <p:nvGrpSpPr>
              <p:cNvPr id="21" name="Group 40">
                <a:extLst>
                  <a:ext uri="{FF2B5EF4-FFF2-40B4-BE49-F238E27FC236}">
                    <a16:creationId xmlns:a16="http://schemas.microsoft.com/office/drawing/2014/main" id="{CB30C517-2B26-00E1-03CD-F587A612FE6A}"/>
                  </a:ext>
                </a:extLst>
              </p:cNvPr>
              <p:cNvGrpSpPr>
                <a:grpSpLocks/>
              </p:cNvGrpSpPr>
              <p:nvPr/>
            </p:nvGrpSpPr>
            <p:grpSpPr bwMode="auto">
              <a:xfrm>
                <a:off x="4141" y="2386"/>
                <a:ext cx="1223" cy="1337"/>
                <a:chOff x="4141" y="2386"/>
                <a:chExt cx="1223" cy="1337"/>
              </a:xfrm>
            </p:grpSpPr>
            <p:sp>
              <p:nvSpPr>
                <p:cNvPr id="24" name="Line 16">
                  <a:extLst>
                    <a:ext uri="{FF2B5EF4-FFF2-40B4-BE49-F238E27FC236}">
                      <a16:creationId xmlns:a16="http://schemas.microsoft.com/office/drawing/2014/main" id="{844562BC-4DB6-8C2B-569D-C3CA95419EDA}"/>
                    </a:ext>
                  </a:extLst>
                </p:cNvPr>
                <p:cNvSpPr>
                  <a:spLocks noChangeShapeType="1"/>
                </p:cNvSpPr>
                <p:nvPr/>
              </p:nvSpPr>
              <p:spPr bwMode="auto">
                <a:xfrm>
                  <a:off x="4530" y="3148"/>
                  <a:ext cx="8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sp>
              <p:nvSpPr>
                <p:cNvPr id="25" name="Line 17">
                  <a:extLst>
                    <a:ext uri="{FF2B5EF4-FFF2-40B4-BE49-F238E27FC236}">
                      <a16:creationId xmlns:a16="http://schemas.microsoft.com/office/drawing/2014/main" id="{7C823A67-500D-B869-6FD8-F32E6AE208A5}"/>
                    </a:ext>
                  </a:extLst>
                </p:cNvPr>
                <p:cNvSpPr>
                  <a:spLocks noChangeShapeType="1"/>
                </p:cNvSpPr>
                <p:nvPr/>
              </p:nvSpPr>
              <p:spPr bwMode="auto">
                <a:xfrm flipV="1">
                  <a:off x="4530" y="2457"/>
                  <a:ext cx="0" cy="69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sp>
              <p:nvSpPr>
                <p:cNvPr id="26" name="Line 18">
                  <a:extLst>
                    <a:ext uri="{FF2B5EF4-FFF2-40B4-BE49-F238E27FC236}">
                      <a16:creationId xmlns:a16="http://schemas.microsoft.com/office/drawing/2014/main" id="{EFD84039-A415-240C-B7BA-7B7821114663}"/>
                    </a:ext>
                  </a:extLst>
                </p:cNvPr>
                <p:cNvSpPr>
                  <a:spLocks noChangeShapeType="1"/>
                </p:cNvSpPr>
                <p:nvPr/>
              </p:nvSpPr>
              <p:spPr bwMode="auto">
                <a:xfrm flipH="1">
                  <a:off x="4141" y="3148"/>
                  <a:ext cx="389" cy="5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27" name="Object 19">
                      <a:extLst>
                        <a:ext uri="{FF2B5EF4-FFF2-40B4-BE49-F238E27FC236}">
                          <a16:creationId xmlns:a16="http://schemas.microsoft.com/office/drawing/2014/main" id="{A9401757-7E61-F6C9-47B9-E60A2FEA82D6}"/>
                        </a:ext>
                      </a:extLst>
                    </p:cNvPr>
                    <p:cNvSpPr txBox="1"/>
                    <p:nvPr/>
                  </p:nvSpPr>
                  <p:spPr bwMode="auto">
                    <a:xfrm>
                      <a:off x="4171" y="3571"/>
                      <a:ext cx="144" cy="15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1600" i="1">
                                <a:solidFill>
                                  <a:srgbClr val="000000"/>
                                </a:solidFill>
                                <a:latin typeface="Cambria Math" panose="02040503050406030204" pitchFamily="18" charset="0"/>
                              </a:rPr>
                              <m:t>𝑥</m:t>
                            </m:r>
                          </m:oMath>
                        </m:oMathPara>
                      </a14:m>
                      <a:endParaRPr lang="zh-CN" altLang="en-US" sz="1600" i="1" dirty="0">
                        <a:solidFill>
                          <a:srgbClr val="000000"/>
                        </a:solidFill>
                        <a:latin typeface="Cambria Math" panose="02040503050406030204" pitchFamily="18" charset="0"/>
                      </a:endParaRPr>
                    </a:p>
                  </p:txBody>
                </p:sp>
              </mc:Choice>
              <mc:Fallback xmlns="">
                <p:sp>
                  <p:nvSpPr>
                    <p:cNvPr id="27" name="Object 19">
                      <a:extLst>
                        <a:ext uri="{FF2B5EF4-FFF2-40B4-BE49-F238E27FC236}">
                          <a16:creationId xmlns:a16="http://schemas.microsoft.com/office/drawing/2014/main" id="{A9401757-7E61-F6C9-47B9-E60A2FEA82D6}"/>
                        </a:ext>
                      </a:extLst>
                    </p:cNvPr>
                    <p:cNvSpPr txBox="1">
                      <a:spLocks noRot="1" noChangeAspect="1" noMove="1" noResize="1" noEditPoints="1" noAdjustHandles="1" noChangeArrowheads="1" noChangeShapeType="1" noTextEdit="1"/>
                    </p:cNvSpPr>
                    <p:nvPr/>
                  </p:nvSpPr>
                  <p:spPr bwMode="auto">
                    <a:xfrm>
                      <a:off x="4171" y="3571"/>
                      <a:ext cx="144" cy="152"/>
                    </a:xfrm>
                    <a:prstGeom prst="rect">
                      <a:avLst/>
                    </a:prstGeom>
                    <a:blipFill>
                      <a:blip r:embed="rId11"/>
                      <a:stretch>
                        <a:fillRect r="-10811" b="-2307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Object 20">
                      <a:extLst>
                        <a:ext uri="{FF2B5EF4-FFF2-40B4-BE49-F238E27FC236}">
                          <a16:creationId xmlns:a16="http://schemas.microsoft.com/office/drawing/2014/main" id="{C01A2FFF-1267-A8DC-144C-63AAD2A12105}"/>
                        </a:ext>
                      </a:extLst>
                    </p:cNvPr>
                    <p:cNvSpPr txBox="1"/>
                    <p:nvPr/>
                  </p:nvSpPr>
                  <p:spPr bwMode="auto">
                    <a:xfrm>
                      <a:off x="4347" y="2386"/>
                      <a:ext cx="136" cy="136"/>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1600" i="1">
                                <a:solidFill>
                                  <a:srgbClr val="000000"/>
                                </a:solidFill>
                                <a:latin typeface="Cambria Math" panose="02040503050406030204" pitchFamily="18" charset="0"/>
                              </a:rPr>
                              <m:t>𝑧</m:t>
                            </m:r>
                          </m:oMath>
                        </m:oMathPara>
                      </a14:m>
                      <a:endParaRPr lang="zh-CN" altLang="en-US" sz="1600" i="1" dirty="0">
                        <a:solidFill>
                          <a:srgbClr val="000000"/>
                        </a:solidFill>
                        <a:latin typeface="Cambria Math" panose="02040503050406030204" pitchFamily="18" charset="0"/>
                      </a:endParaRPr>
                    </a:p>
                  </p:txBody>
                </p:sp>
              </mc:Choice>
              <mc:Fallback xmlns="">
                <p:sp>
                  <p:nvSpPr>
                    <p:cNvPr id="28" name="Object 20">
                      <a:extLst>
                        <a:ext uri="{FF2B5EF4-FFF2-40B4-BE49-F238E27FC236}">
                          <a16:creationId xmlns:a16="http://schemas.microsoft.com/office/drawing/2014/main" id="{C01A2FFF-1267-A8DC-144C-63AAD2A12105}"/>
                        </a:ext>
                      </a:extLst>
                    </p:cNvPr>
                    <p:cNvSpPr txBox="1">
                      <a:spLocks noRot="1" noChangeAspect="1" noMove="1" noResize="1" noEditPoints="1" noAdjustHandles="1" noChangeArrowheads="1" noChangeShapeType="1" noTextEdit="1"/>
                    </p:cNvSpPr>
                    <p:nvPr/>
                  </p:nvSpPr>
                  <p:spPr bwMode="auto">
                    <a:xfrm>
                      <a:off x="4347" y="2386"/>
                      <a:ext cx="136" cy="136"/>
                    </a:xfrm>
                    <a:prstGeom prst="rect">
                      <a:avLst/>
                    </a:prstGeom>
                    <a:blipFill>
                      <a:blip r:embed="rId12"/>
                      <a:stretch>
                        <a:fillRect r="-11111" b="-3714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Object 21">
                      <a:extLst>
                        <a:ext uri="{FF2B5EF4-FFF2-40B4-BE49-F238E27FC236}">
                          <a16:creationId xmlns:a16="http://schemas.microsoft.com/office/drawing/2014/main" id="{D60E5EEC-053E-0E35-1947-C06C8F4723DB}"/>
                        </a:ext>
                      </a:extLst>
                    </p:cNvPr>
                    <p:cNvSpPr txBox="1"/>
                    <p:nvPr/>
                  </p:nvSpPr>
                  <p:spPr bwMode="auto">
                    <a:xfrm>
                      <a:off x="5212" y="3124"/>
                      <a:ext cx="152" cy="2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1600" i="1">
                                <a:solidFill>
                                  <a:srgbClr val="000000"/>
                                </a:solidFill>
                                <a:latin typeface="Cambria Math" panose="02040503050406030204" pitchFamily="18" charset="0"/>
                              </a:rPr>
                              <m:t>𝑦</m:t>
                            </m:r>
                          </m:oMath>
                        </m:oMathPara>
                      </a14:m>
                      <a:endParaRPr lang="zh-CN" altLang="en-US" sz="1600" i="1" dirty="0">
                        <a:solidFill>
                          <a:srgbClr val="000000"/>
                        </a:solidFill>
                        <a:latin typeface="Cambria Math" panose="02040503050406030204" pitchFamily="18" charset="0"/>
                      </a:endParaRPr>
                    </a:p>
                  </p:txBody>
                </p:sp>
              </mc:Choice>
              <mc:Fallback xmlns="">
                <p:sp>
                  <p:nvSpPr>
                    <p:cNvPr id="29" name="Object 21">
                      <a:extLst>
                        <a:ext uri="{FF2B5EF4-FFF2-40B4-BE49-F238E27FC236}">
                          <a16:creationId xmlns:a16="http://schemas.microsoft.com/office/drawing/2014/main" id="{D60E5EEC-053E-0E35-1947-C06C8F4723DB}"/>
                        </a:ext>
                      </a:extLst>
                    </p:cNvPr>
                    <p:cNvSpPr txBox="1">
                      <a:spLocks noRot="1" noChangeAspect="1" noMove="1" noResize="1" noEditPoints="1" noAdjustHandles="1" noChangeArrowheads="1" noChangeShapeType="1" noTextEdit="1"/>
                    </p:cNvSpPr>
                    <p:nvPr/>
                  </p:nvSpPr>
                  <p:spPr bwMode="auto">
                    <a:xfrm>
                      <a:off x="5212" y="3124"/>
                      <a:ext cx="152" cy="200"/>
                    </a:xfrm>
                    <a:prstGeom prst="rect">
                      <a:avLst/>
                    </a:prstGeom>
                    <a:blipFill>
                      <a:blip r:embed="rId13"/>
                      <a:stretch>
                        <a:fillRect r="-15385" b="-13462"/>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Object 22">
                      <a:extLst>
                        <a:ext uri="{FF2B5EF4-FFF2-40B4-BE49-F238E27FC236}">
                          <a16:creationId xmlns:a16="http://schemas.microsoft.com/office/drawing/2014/main" id="{58754DEA-AFF8-8845-9C21-A6BED5FA4122}"/>
                        </a:ext>
                      </a:extLst>
                    </p:cNvPr>
                    <p:cNvSpPr txBox="1"/>
                    <p:nvPr/>
                  </p:nvSpPr>
                  <p:spPr bwMode="auto">
                    <a:xfrm>
                      <a:off x="4354" y="3004"/>
                      <a:ext cx="136" cy="15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en-US" altLang="zh-CN" sz="1600" i="1">
                                <a:solidFill>
                                  <a:srgbClr val="000000"/>
                                </a:solidFill>
                                <a:latin typeface="Cambria Math" panose="02040503050406030204" pitchFamily="18" charset="0"/>
                              </a:rPr>
                              <m:t>𝑂</m:t>
                            </m:r>
                          </m:oMath>
                        </m:oMathPara>
                      </a14:m>
                      <a:endParaRPr lang="zh-CN" altLang="en-US" sz="1600" i="1" dirty="0">
                        <a:solidFill>
                          <a:srgbClr val="000000"/>
                        </a:solidFill>
                        <a:latin typeface="Cambria Math" panose="02040503050406030204" pitchFamily="18" charset="0"/>
                      </a:endParaRPr>
                    </a:p>
                  </p:txBody>
                </p:sp>
              </mc:Choice>
              <mc:Fallback xmlns="">
                <p:sp>
                  <p:nvSpPr>
                    <p:cNvPr id="30" name="Object 22">
                      <a:extLst>
                        <a:ext uri="{FF2B5EF4-FFF2-40B4-BE49-F238E27FC236}">
                          <a16:creationId xmlns:a16="http://schemas.microsoft.com/office/drawing/2014/main" id="{58754DEA-AFF8-8845-9C21-A6BED5FA4122}"/>
                        </a:ext>
                      </a:extLst>
                    </p:cNvPr>
                    <p:cNvSpPr txBox="1">
                      <a:spLocks noRot="1" noChangeAspect="1" noMove="1" noResize="1" noEditPoints="1" noAdjustHandles="1" noChangeArrowheads="1" noChangeShapeType="1" noTextEdit="1"/>
                    </p:cNvSpPr>
                    <p:nvPr/>
                  </p:nvSpPr>
                  <p:spPr bwMode="auto">
                    <a:xfrm>
                      <a:off x="4354" y="3004"/>
                      <a:ext cx="136" cy="152"/>
                    </a:xfrm>
                    <a:prstGeom prst="rect">
                      <a:avLst/>
                    </a:prstGeom>
                    <a:blipFill>
                      <a:blip r:embed="rId14"/>
                      <a:stretch>
                        <a:fillRect r="-36111" b="-27500"/>
                      </a:stretch>
                    </a:blipFill>
                    <a:ln>
                      <a:noFill/>
                    </a:ln>
                    <a:effectLst/>
                  </p:spPr>
                  <p:txBody>
                    <a:bodyPr/>
                    <a:lstStyle/>
                    <a:p>
                      <a:r>
                        <a:rPr lang="zh-CN" altLang="en-US">
                          <a:noFill/>
                        </a:rPr>
                        <a:t> </a:t>
                      </a:r>
                    </a:p>
                  </p:txBody>
                </p:sp>
              </mc:Fallback>
            </mc:AlternateContent>
          </p:grpSp>
          <p:sp>
            <p:nvSpPr>
              <p:cNvPr id="23" name="Oval 41">
                <a:extLst>
                  <a:ext uri="{FF2B5EF4-FFF2-40B4-BE49-F238E27FC236}">
                    <a16:creationId xmlns:a16="http://schemas.microsoft.com/office/drawing/2014/main" id="{BCD91B04-0C52-2570-41AC-AE6F5D6469E1}"/>
                  </a:ext>
                </a:extLst>
              </p:cNvPr>
              <p:cNvSpPr>
                <a:spLocks noChangeArrowheads="1"/>
              </p:cNvSpPr>
              <p:nvPr/>
            </p:nvSpPr>
            <p:spPr bwMode="auto">
              <a:xfrm>
                <a:off x="4989" y="2880"/>
                <a:ext cx="34" cy="34"/>
              </a:xfrm>
              <a:prstGeom prst="ellipse">
                <a:avLst/>
              </a:prstGeom>
              <a:solidFill>
                <a:schemeClr val="hlink"/>
              </a:solidFill>
              <a:ln w="9525">
                <a:solidFill>
                  <a:srgbClr val="04926A"/>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grpSp>
        <p:sp>
          <p:nvSpPr>
            <p:cNvPr id="18" name="Line 24">
              <a:extLst>
                <a:ext uri="{FF2B5EF4-FFF2-40B4-BE49-F238E27FC236}">
                  <a16:creationId xmlns:a16="http://schemas.microsoft.com/office/drawing/2014/main" id="{D172DEDD-5835-B3C8-DE7D-7F727A96C718}"/>
                </a:ext>
              </a:extLst>
            </p:cNvPr>
            <p:cNvSpPr>
              <a:spLocks noChangeShapeType="1"/>
            </p:cNvSpPr>
            <p:nvPr/>
          </p:nvSpPr>
          <p:spPr bwMode="auto">
            <a:xfrm>
              <a:off x="4314" y="3451"/>
              <a:ext cx="692" cy="0"/>
            </a:xfrm>
            <a:prstGeom prst="line">
              <a:avLst/>
            </a:prstGeom>
            <a:noFill/>
            <a:ln w="38100">
              <a:solidFill>
                <a:srgbClr val="4A7BA8"/>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sp>
          <p:nvSpPr>
            <p:cNvPr id="19" name="Line 25">
              <a:extLst>
                <a:ext uri="{FF2B5EF4-FFF2-40B4-BE49-F238E27FC236}">
                  <a16:creationId xmlns:a16="http://schemas.microsoft.com/office/drawing/2014/main" id="{EF530371-25F5-8BC5-85EB-1F85CA51FA85}"/>
                </a:ext>
              </a:extLst>
            </p:cNvPr>
            <p:cNvSpPr>
              <a:spLocks noChangeShapeType="1"/>
            </p:cNvSpPr>
            <p:nvPr/>
          </p:nvSpPr>
          <p:spPr bwMode="auto">
            <a:xfrm flipV="1">
              <a:off x="5006" y="2932"/>
              <a:ext cx="0" cy="519"/>
            </a:xfrm>
            <a:prstGeom prst="line">
              <a:avLst/>
            </a:prstGeom>
            <a:noFill/>
            <a:ln w="38100">
              <a:solidFill>
                <a:srgbClr val="4A7BA8"/>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sp>
          <p:nvSpPr>
            <p:cNvPr id="20" name="Line 26">
              <a:extLst>
                <a:ext uri="{FF2B5EF4-FFF2-40B4-BE49-F238E27FC236}">
                  <a16:creationId xmlns:a16="http://schemas.microsoft.com/office/drawing/2014/main" id="{BCCC2E5D-2E31-4E4B-2154-790E5246FF5D}"/>
                </a:ext>
              </a:extLst>
            </p:cNvPr>
            <p:cNvSpPr>
              <a:spLocks noChangeShapeType="1"/>
            </p:cNvSpPr>
            <p:nvPr/>
          </p:nvSpPr>
          <p:spPr bwMode="auto">
            <a:xfrm flipH="1">
              <a:off x="4314" y="3148"/>
              <a:ext cx="216" cy="303"/>
            </a:xfrm>
            <a:prstGeom prst="line">
              <a:avLst/>
            </a:prstGeom>
            <a:noFill/>
            <a:ln w="38100">
              <a:solidFill>
                <a:srgbClr val="4A7BA8"/>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grpSp>
      <mc:AlternateContent xmlns:mc="http://schemas.openxmlformats.org/markup-compatibility/2006" xmlns:a14="http://schemas.microsoft.com/office/drawing/2010/main">
        <mc:Choice Requires="a14">
          <p:sp>
            <p:nvSpPr>
              <p:cNvPr id="31" name="Object 28">
                <a:extLst>
                  <a:ext uri="{FF2B5EF4-FFF2-40B4-BE49-F238E27FC236}">
                    <a16:creationId xmlns:a16="http://schemas.microsoft.com/office/drawing/2014/main" id="{E066D8B6-4212-8B25-9763-FD38C68B52B7}"/>
                  </a:ext>
                </a:extLst>
              </p:cNvPr>
              <p:cNvSpPr txBox="1"/>
              <p:nvPr/>
            </p:nvSpPr>
            <p:spPr bwMode="auto">
              <a:xfrm>
                <a:off x="9554698" y="5218253"/>
                <a:ext cx="982662" cy="3667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𝑥</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𝑦</m:t>
                      </m:r>
                      <m:r>
                        <a:rPr lang="zh-CN" altLang="en-US" sz="1600" i="1">
                          <a:solidFill>
                            <a:srgbClr val="000000"/>
                          </a:solidFill>
                          <a:latin typeface="Cambria Math" panose="02040503050406030204" pitchFamily="18" charset="0"/>
                        </a:rPr>
                        <m:t>,0)</m:t>
                      </m:r>
                    </m:oMath>
                  </m:oMathPara>
                </a14:m>
                <a:endParaRPr lang="zh-CN" altLang="en-US" sz="1600" dirty="0"/>
              </a:p>
            </p:txBody>
          </p:sp>
        </mc:Choice>
        <mc:Fallback xmlns="">
          <p:sp>
            <p:nvSpPr>
              <p:cNvPr id="31" name="Object 28">
                <a:extLst>
                  <a:ext uri="{FF2B5EF4-FFF2-40B4-BE49-F238E27FC236}">
                    <a16:creationId xmlns:a16="http://schemas.microsoft.com/office/drawing/2014/main" id="{E066D8B6-4212-8B25-9763-FD38C68B52B7}"/>
                  </a:ext>
                </a:extLst>
              </p:cNvPr>
              <p:cNvSpPr txBox="1">
                <a:spLocks noRot="1" noChangeAspect="1" noMove="1" noResize="1" noEditPoints="1" noAdjustHandles="1" noChangeArrowheads="1" noChangeShapeType="1" noTextEdit="1"/>
              </p:cNvSpPr>
              <p:nvPr/>
            </p:nvSpPr>
            <p:spPr bwMode="auto">
              <a:xfrm>
                <a:off x="9554698" y="5218253"/>
                <a:ext cx="982662" cy="366713"/>
              </a:xfrm>
              <a:prstGeom prst="rect">
                <a:avLst/>
              </a:prstGeom>
              <a:blipFill>
                <a:blip r:embed="rId15"/>
                <a:stretch>
                  <a:fillRect b="-166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Object 29">
                <a:extLst>
                  <a:ext uri="{FF2B5EF4-FFF2-40B4-BE49-F238E27FC236}">
                    <a16:creationId xmlns:a16="http://schemas.microsoft.com/office/drawing/2014/main" id="{85F216B2-2AC8-9EA9-4A5D-94B1741D199B}"/>
                  </a:ext>
                </a:extLst>
              </p:cNvPr>
              <p:cNvSpPr txBox="1"/>
              <p:nvPr/>
            </p:nvSpPr>
            <p:spPr bwMode="auto">
              <a:xfrm>
                <a:off x="8073565" y="4917818"/>
                <a:ext cx="914400" cy="3667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𝑥</m:t>
                      </m:r>
                      <m:r>
                        <a:rPr lang="zh-CN" altLang="en-US" sz="1600" i="1">
                          <a:solidFill>
                            <a:srgbClr val="000000"/>
                          </a:solidFill>
                          <a:latin typeface="Cambria Math" panose="02040503050406030204" pitchFamily="18" charset="0"/>
                        </a:rPr>
                        <m:t>,0,0)</m:t>
                      </m:r>
                    </m:oMath>
                  </m:oMathPara>
                </a14:m>
                <a:endParaRPr lang="zh-CN" altLang="en-US" sz="1600" i="1" dirty="0">
                  <a:solidFill>
                    <a:srgbClr val="000000"/>
                  </a:solidFill>
                  <a:latin typeface="Cambria Math" panose="02040503050406030204" pitchFamily="18" charset="0"/>
                </a:endParaRPr>
              </a:p>
            </p:txBody>
          </p:sp>
        </mc:Choice>
        <mc:Fallback xmlns="">
          <p:sp>
            <p:nvSpPr>
              <p:cNvPr id="32" name="Object 29">
                <a:extLst>
                  <a:ext uri="{FF2B5EF4-FFF2-40B4-BE49-F238E27FC236}">
                    <a16:creationId xmlns:a16="http://schemas.microsoft.com/office/drawing/2014/main" id="{85F216B2-2AC8-9EA9-4A5D-94B1741D199B}"/>
                  </a:ext>
                </a:extLst>
              </p:cNvPr>
              <p:cNvSpPr txBox="1">
                <a:spLocks noRot="1" noChangeAspect="1" noMove="1" noResize="1" noEditPoints="1" noAdjustHandles="1" noChangeArrowheads="1" noChangeShapeType="1" noTextEdit="1"/>
              </p:cNvSpPr>
              <p:nvPr/>
            </p:nvSpPr>
            <p:spPr bwMode="auto">
              <a:xfrm>
                <a:off x="8073565" y="4917818"/>
                <a:ext cx="914400" cy="366713"/>
              </a:xfrm>
              <a:prstGeom prst="rect">
                <a:avLst/>
              </a:prstGeom>
              <a:blipFill>
                <a:blip r:embed="rId16"/>
                <a:stretch>
                  <a:fillRect b="-3333"/>
                </a:stretch>
              </a:blipFill>
              <a:ln>
                <a:noFill/>
              </a:ln>
              <a:effectLst/>
            </p:spPr>
            <p:txBody>
              <a:bodyPr/>
              <a:lstStyle/>
              <a:p>
                <a:r>
                  <a:rPr lang="zh-CN" altLang="en-US">
                    <a:noFill/>
                  </a:rPr>
                  <a:t> </a:t>
                </a:r>
              </a:p>
            </p:txBody>
          </p:sp>
        </mc:Fallback>
      </mc:AlternateContent>
      <p:sp>
        <p:nvSpPr>
          <p:cNvPr id="33" name="Line 33">
            <a:extLst>
              <a:ext uri="{FF2B5EF4-FFF2-40B4-BE49-F238E27FC236}">
                <a16:creationId xmlns:a16="http://schemas.microsoft.com/office/drawing/2014/main" id="{CF71CF09-70BD-1C91-05E8-32C9920AA58C}"/>
              </a:ext>
            </a:extLst>
          </p:cNvPr>
          <p:cNvSpPr>
            <a:spLocks noChangeShapeType="1"/>
          </p:cNvSpPr>
          <p:nvPr/>
        </p:nvSpPr>
        <p:spPr bwMode="auto">
          <a:xfrm>
            <a:off x="8900499" y="5188967"/>
            <a:ext cx="1098550" cy="0"/>
          </a:xfrm>
          <a:prstGeom prst="line">
            <a:avLst/>
          </a:prstGeom>
          <a:noFill/>
          <a:ln w="38100">
            <a:solidFill>
              <a:srgbClr val="04926A"/>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sp>
        <p:nvSpPr>
          <p:cNvPr id="34" name="Line 34">
            <a:extLst>
              <a:ext uri="{FF2B5EF4-FFF2-40B4-BE49-F238E27FC236}">
                <a16:creationId xmlns:a16="http://schemas.microsoft.com/office/drawing/2014/main" id="{DBF02AFC-7C45-12E4-31EC-DAE6B64438EF}"/>
              </a:ext>
            </a:extLst>
          </p:cNvPr>
          <p:cNvSpPr>
            <a:spLocks noChangeShapeType="1"/>
          </p:cNvSpPr>
          <p:nvPr/>
        </p:nvSpPr>
        <p:spPr bwMode="auto">
          <a:xfrm flipV="1">
            <a:off x="9999049" y="4365055"/>
            <a:ext cx="0" cy="823913"/>
          </a:xfrm>
          <a:prstGeom prst="line">
            <a:avLst/>
          </a:prstGeom>
          <a:noFill/>
          <a:ln w="38100">
            <a:solidFill>
              <a:srgbClr val="04926A"/>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sp>
        <p:nvSpPr>
          <p:cNvPr id="35" name="Line 35">
            <a:extLst>
              <a:ext uri="{FF2B5EF4-FFF2-40B4-BE49-F238E27FC236}">
                <a16:creationId xmlns:a16="http://schemas.microsoft.com/office/drawing/2014/main" id="{5A004083-DDE5-71C7-311C-BD7304BC0608}"/>
              </a:ext>
            </a:extLst>
          </p:cNvPr>
          <p:cNvSpPr>
            <a:spLocks noChangeShapeType="1"/>
          </p:cNvSpPr>
          <p:nvPr/>
        </p:nvSpPr>
        <p:spPr bwMode="auto">
          <a:xfrm flipH="1">
            <a:off x="8900504" y="4707160"/>
            <a:ext cx="342900" cy="481013"/>
          </a:xfrm>
          <a:prstGeom prst="line">
            <a:avLst/>
          </a:prstGeom>
          <a:noFill/>
          <a:ln w="38100">
            <a:solidFill>
              <a:srgbClr val="04926A"/>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mn-cs"/>
            </a:endParaRPr>
          </a:p>
        </p:txBody>
      </p:sp>
      <p:sp>
        <p:nvSpPr>
          <p:cNvPr id="37" name="Text Box 37">
            <a:extLst>
              <a:ext uri="{FF2B5EF4-FFF2-40B4-BE49-F238E27FC236}">
                <a16:creationId xmlns:a16="http://schemas.microsoft.com/office/drawing/2014/main" id="{4667518C-CA23-05CA-0593-C78C83EB44BB}"/>
              </a:ext>
            </a:extLst>
          </p:cNvPr>
          <p:cNvSpPr txBox="1">
            <a:spLocks noChangeArrowheads="1"/>
          </p:cNvSpPr>
          <p:nvPr/>
        </p:nvSpPr>
        <p:spPr bwMode="auto">
          <a:xfrm>
            <a:off x="4915233" y="4254105"/>
            <a:ext cx="74892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200" dirty="0">
                <a:solidFill>
                  <a:schemeClr val="tx1">
                    <a:lumMod val="95000"/>
                    <a:lumOff val="5000"/>
                  </a:schemeClr>
                </a:solidFill>
                <a:latin typeface="Cambria Math" panose="02040503050406030204" charset="0"/>
                <a:ea typeface="黑体" panose="02010609060101010101" pitchFamily="49" charset="-122"/>
                <a:sym typeface="Symbol" panose="05050102010706020507" pitchFamily="18" charset="2"/>
              </a:rPr>
              <a:t>因此</a:t>
            </a:r>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p:sp>
        <p:nvSpPr>
          <p:cNvPr id="38" name="Rectangle 38">
            <a:extLst>
              <a:ext uri="{FF2B5EF4-FFF2-40B4-BE49-F238E27FC236}">
                <a16:creationId xmlns:a16="http://schemas.microsoft.com/office/drawing/2014/main" id="{571A0016-0B0C-02CD-0FFD-B8E623C59392}"/>
              </a:ext>
            </a:extLst>
          </p:cNvPr>
          <p:cNvSpPr txBox="1">
            <a:spLocks noChangeArrowheads="1"/>
          </p:cNvSpPr>
          <p:nvPr/>
        </p:nvSpPr>
        <p:spPr>
          <a:xfrm>
            <a:off x="1543382" y="908448"/>
            <a:ext cx="3124200" cy="48260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2800" b="1" dirty="0">
                <a:solidFill>
                  <a:srgbClr val="04926A"/>
                </a:solidFill>
                <a:latin typeface="微软雅黑" panose="020B0503020204020204" pitchFamily="34" charset="-122"/>
                <a:ea typeface="微软雅黑" panose="020B0503020204020204" pitchFamily="34" charset="-122"/>
                <a:cs typeface="+mn-cs"/>
              </a:rPr>
              <a:t>例</a:t>
            </a:r>
            <a:r>
              <a:rPr kumimoji="1" lang="en-US" altLang="zh-CN" sz="2800" b="1" dirty="0">
                <a:solidFill>
                  <a:srgbClr val="04926A"/>
                </a:solidFill>
                <a:latin typeface="微软雅黑" panose="020B0503020204020204" pitchFamily="34" charset="-122"/>
                <a:ea typeface="微软雅黑" panose="020B0503020204020204" pitchFamily="34" charset="-122"/>
                <a:cs typeface="+mn-cs"/>
              </a:rPr>
              <a:t>3  </a:t>
            </a:r>
            <a:r>
              <a:rPr lang="zh-CN" altLang="en-US" sz="2800" dirty="0">
                <a:ea typeface="黑体" panose="02010609060101010101" pitchFamily="49" charset="-122"/>
              </a:rPr>
              <a:t>验证曲线积分</a:t>
            </a:r>
          </a:p>
        </p:txBody>
      </p:sp>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9819FEE1-035F-E9D2-764D-BA368B8DB41A}"/>
                  </a:ext>
                </a:extLst>
              </p:cNvPr>
              <p:cNvSpPr txBox="1"/>
              <p:nvPr/>
            </p:nvSpPr>
            <p:spPr>
              <a:xfrm>
                <a:off x="4714429" y="4664591"/>
                <a:ext cx="1169648" cy="73372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kumimoji="1" lang="en-US" altLang="zh-CN" sz="2200">
                          <a:solidFill>
                            <a:schemeClr val="tx1">
                              <a:lumMod val="95000"/>
                              <a:lumOff val="5000"/>
                            </a:schemeClr>
                          </a:solidFill>
                          <a:latin typeface="Cambria Math" panose="02040503050406030204" charset="0"/>
                          <a:ea typeface="黑体" panose="02010609060101010101" pitchFamily="49" charset="-122"/>
                        </a:rPr>
                        <m:t>+</m:t>
                      </m:r>
                      <m:nary>
                        <m:naryPr>
                          <m:limLoc m:val="subSup"/>
                          <m:grow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sub>
                        <m:sup>
                          <m:r>
                            <a:rPr kumimoji="1" lang="en-US" altLang="zh-CN" sz="2200">
                              <a:solidFill>
                                <a:schemeClr val="tx1">
                                  <a:lumMod val="95000"/>
                                  <a:lumOff val="5000"/>
                                </a:schemeClr>
                              </a:solidFill>
                              <a:latin typeface="Cambria Math" panose="02040503050406030204" charset="0"/>
                              <a:ea typeface="黑体" panose="02010609060101010101" pitchFamily="49" charset="-122"/>
                            </a:rPr>
                            <m:t>𝑦</m:t>
                          </m:r>
                        </m:sup>
                        <m:e>
                          <m:r>
                            <a:rPr kumimoji="1" lang="en-US" altLang="zh-CN" sz="2200">
                              <a:solidFill>
                                <a:schemeClr val="tx1">
                                  <a:lumMod val="95000"/>
                                  <a:lumOff val="5000"/>
                                </a:schemeClr>
                              </a:solidFill>
                              <a:latin typeface="Cambria Math" panose="02040503050406030204" charset="0"/>
                              <a:ea typeface="黑体" panose="02010609060101010101" pitchFamily="49" charset="-122"/>
                            </a:rPr>
                            <m:t>𝑥</m:t>
                          </m:r>
                          <m:r>
                            <m:rPr>
                              <m:sty m:val="p"/>
                            </m:rPr>
                            <a:rPr kumimoji="1" lang="en-US" altLang="zh-CN" sz="2200">
                              <a:solidFill>
                                <a:schemeClr val="tx1">
                                  <a:lumMod val="95000"/>
                                  <a:lumOff val="5000"/>
                                </a:schemeClr>
                              </a:solidFill>
                              <a:latin typeface="Cambria Math" panose="02040503050406030204" charset="0"/>
                              <a:ea typeface="黑体" panose="02010609060101010101" pitchFamily="49" charset="-122"/>
                            </a:rPr>
                            <m:t>d</m:t>
                          </m:r>
                          <m:r>
                            <a:rPr kumimoji="1" lang="en-US" altLang="zh-CN" sz="2200">
                              <a:solidFill>
                                <a:schemeClr val="tx1">
                                  <a:lumMod val="95000"/>
                                  <a:lumOff val="5000"/>
                                </a:schemeClr>
                              </a:solidFill>
                              <a:latin typeface="Cambria Math" panose="02040503050406030204" charset="0"/>
                              <a:ea typeface="黑体" panose="02010609060101010101" pitchFamily="49" charset="-122"/>
                            </a:rPr>
                            <m:t>𝑦</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7" name="文本框 76">
                <a:extLst>
                  <a:ext uri="{FF2B5EF4-FFF2-40B4-BE49-F238E27FC236}">
                    <a16:creationId xmlns:a16="http://schemas.microsoft.com/office/drawing/2014/main" id="{9819FEE1-035F-E9D2-764D-BA368B8DB41A}"/>
                  </a:ext>
                </a:extLst>
              </p:cNvPr>
              <p:cNvSpPr txBox="1">
                <a:spLocks noRot="1" noChangeAspect="1" noMove="1" noResize="1" noEditPoints="1" noAdjustHandles="1" noChangeArrowheads="1" noChangeShapeType="1" noTextEdit="1"/>
              </p:cNvSpPr>
              <p:nvPr/>
            </p:nvSpPr>
            <p:spPr>
              <a:xfrm>
                <a:off x="4714429" y="4664591"/>
                <a:ext cx="1169648" cy="733727"/>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5A16D727-D06A-B981-C8C6-BD605A45F5BC}"/>
                  </a:ext>
                </a:extLst>
              </p:cNvPr>
              <p:cNvSpPr txBox="1"/>
              <p:nvPr/>
            </p:nvSpPr>
            <p:spPr>
              <a:xfrm>
                <a:off x="3856840" y="4668083"/>
                <a:ext cx="809625" cy="73372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nary>
                        <m:naryPr>
                          <m:limLoc m:val="subSup"/>
                          <m:grow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sub>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sup>
                        <m:e>
                          <m:r>
                            <a:rPr kumimoji="1" lang="en-US" altLang="zh-CN" sz="2200">
                              <a:solidFill>
                                <a:schemeClr val="tx1">
                                  <a:lumMod val="95000"/>
                                  <a:lumOff val="5000"/>
                                </a:schemeClr>
                              </a:solidFill>
                              <a:latin typeface="Cambria Math" panose="02040503050406030204" charset="0"/>
                              <a:ea typeface="黑体" panose="02010609060101010101" pitchFamily="49" charset="-122"/>
                            </a:rPr>
                            <m:t>0</m:t>
                          </m:r>
                          <m:r>
                            <m:rPr>
                              <m:sty m:val="p"/>
                            </m:rPr>
                            <a:rPr kumimoji="1" lang="en-US" altLang="zh-CN" sz="2200">
                              <a:solidFill>
                                <a:schemeClr val="tx1">
                                  <a:lumMod val="95000"/>
                                  <a:lumOff val="5000"/>
                                </a:schemeClr>
                              </a:solidFill>
                              <a:latin typeface="Cambria Math" panose="02040503050406030204" charset="0"/>
                              <a:ea typeface="黑体" panose="02010609060101010101" pitchFamily="49" charset="-122"/>
                            </a:rPr>
                            <m:t>d</m:t>
                          </m:r>
                          <m:r>
                            <a:rPr kumimoji="1" lang="en-US" altLang="zh-CN" sz="2200">
                              <a:solidFill>
                                <a:schemeClr val="tx1">
                                  <a:lumMod val="95000"/>
                                  <a:lumOff val="5000"/>
                                </a:schemeClr>
                              </a:solidFill>
                              <a:latin typeface="Cambria Math" panose="02040503050406030204" charset="0"/>
                              <a:ea typeface="黑体" panose="02010609060101010101" pitchFamily="49" charset="-122"/>
                            </a:rPr>
                            <m:t>𝑥</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9" name="文本框 78">
                <a:extLst>
                  <a:ext uri="{FF2B5EF4-FFF2-40B4-BE49-F238E27FC236}">
                    <a16:creationId xmlns:a16="http://schemas.microsoft.com/office/drawing/2014/main" id="{5A16D727-D06A-B981-C8C6-BD605A45F5BC}"/>
                  </a:ext>
                </a:extLst>
              </p:cNvPr>
              <p:cNvSpPr txBox="1">
                <a:spLocks noRot="1" noChangeAspect="1" noMove="1" noResize="1" noEditPoints="1" noAdjustHandles="1" noChangeArrowheads="1" noChangeShapeType="1" noTextEdit="1"/>
              </p:cNvSpPr>
              <p:nvPr/>
            </p:nvSpPr>
            <p:spPr>
              <a:xfrm>
                <a:off x="3856840" y="4668083"/>
                <a:ext cx="809625" cy="733727"/>
              </a:xfrm>
              <a:prstGeom prst="rect">
                <a:avLst/>
              </a:prstGeom>
              <a:blipFill>
                <a:blip r:embed="rId18"/>
                <a:stretch>
                  <a:fillRect r="-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62A2BFF6-DEF1-9981-73C2-EACD0A21B7BC}"/>
                  </a:ext>
                </a:extLst>
              </p:cNvPr>
              <p:cNvSpPr txBox="1"/>
              <p:nvPr/>
            </p:nvSpPr>
            <p:spPr>
              <a:xfrm>
                <a:off x="5845977" y="4666707"/>
                <a:ext cx="1808503" cy="73161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kumimoji="1" lang="en-US" altLang="zh-CN" sz="2200">
                          <a:solidFill>
                            <a:schemeClr val="tx1">
                              <a:lumMod val="95000"/>
                              <a:lumOff val="5000"/>
                            </a:schemeClr>
                          </a:solidFill>
                          <a:latin typeface="Cambria Math" panose="02040503050406030204" charset="0"/>
                          <a:ea typeface="黑体" panose="02010609060101010101" pitchFamily="49" charset="-122"/>
                        </a:rPr>
                        <m:t>+</m:t>
                      </m:r>
                      <m:nary>
                        <m:naryPr>
                          <m:limLoc m:val="subSup"/>
                          <m:grow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sub>
                        <m:sup>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sup>
                        <m:e>
                          <m:d>
                            <m:d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d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e>
                          </m:d>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en-US" altLang="zh-CN" sz="2200">
                              <a:solidFill>
                                <a:schemeClr val="tx1">
                                  <a:lumMod val="95000"/>
                                  <a:lumOff val="5000"/>
                                </a:schemeClr>
                              </a:solidFill>
                              <a:latin typeface="Cambria Math" panose="02040503050406030204" charset="0"/>
                              <a:ea typeface="黑体" panose="02010609060101010101" pitchFamily="49" charset="-122"/>
                            </a:rPr>
                            <m:t>𝑧</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80" name="文本框 79">
                <a:extLst>
                  <a:ext uri="{FF2B5EF4-FFF2-40B4-BE49-F238E27FC236}">
                    <a16:creationId xmlns:a16="http://schemas.microsoft.com/office/drawing/2014/main" id="{62A2BFF6-DEF1-9981-73C2-EACD0A21B7BC}"/>
                  </a:ext>
                </a:extLst>
              </p:cNvPr>
              <p:cNvSpPr txBox="1">
                <a:spLocks noRot="1" noChangeAspect="1" noMove="1" noResize="1" noEditPoints="1" noAdjustHandles="1" noChangeArrowheads="1" noChangeShapeType="1" noTextEdit="1"/>
              </p:cNvSpPr>
              <p:nvPr/>
            </p:nvSpPr>
            <p:spPr>
              <a:xfrm>
                <a:off x="5845977" y="4666707"/>
                <a:ext cx="1808503" cy="731611"/>
              </a:xfrm>
              <a:prstGeom prst="rect">
                <a:avLst/>
              </a:prstGeom>
              <a:blipFill>
                <a:blip r:embed="rId1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4154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left)">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left)">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wipe(left)">
                                      <p:cBhvr>
                                        <p:cTn id="55" dur="500"/>
                                        <p:tgtEl>
                                          <p:spTgt spid="37"/>
                                        </p:tgtEl>
                                      </p:cBhvr>
                                    </p:animEffect>
                                  </p:childTnLst>
                                </p:cTn>
                              </p:par>
                            </p:childTnLst>
                          </p:cTn>
                        </p:par>
                        <p:par>
                          <p:cTn id="56" fill="hold">
                            <p:stCondLst>
                              <p:cond delay="500"/>
                            </p:stCondLst>
                            <p:childTnLst>
                              <p:par>
                                <p:cTn id="57" presetID="22" presetClass="entr" presetSubtype="8" fill="hold" grpId="0" nodeType="after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ipe(left)">
                                      <p:cBhvr>
                                        <p:cTn id="59" dur="500"/>
                                        <p:tgtEl>
                                          <p:spTgt spid="1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wipe(left)">
                                      <p:cBhvr>
                                        <p:cTn id="64" dur="5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wipe(up)">
                                      <p:cBhvr>
                                        <p:cTn id="69" dur="500"/>
                                        <p:tgtEl>
                                          <p:spTgt spid="35"/>
                                        </p:tgtEl>
                                      </p:cBhvr>
                                    </p:animEffect>
                                  </p:childTnLst>
                                </p:cTn>
                              </p:par>
                            </p:childTnLst>
                          </p:cTn>
                        </p:par>
                        <p:par>
                          <p:cTn id="70" fill="hold">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wipe(left)">
                                      <p:cBhvr>
                                        <p:cTn id="73" dur="500"/>
                                        <p:tgtEl>
                                          <p:spTgt spid="3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79"/>
                                        </p:tgtEl>
                                        <p:attrNameLst>
                                          <p:attrName>style.visibility</p:attrName>
                                        </p:attrNameLst>
                                      </p:cBhvr>
                                      <p:to>
                                        <p:strVal val="visible"/>
                                      </p:to>
                                    </p:set>
                                    <p:animEffect transition="in" filter="wipe(left)">
                                      <p:cBhvr>
                                        <p:cTn id="78" dur="500"/>
                                        <p:tgtEl>
                                          <p:spTgt spid="79"/>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wipe(left)">
                                      <p:cBhvr>
                                        <p:cTn id="83" dur="500"/>
                                        <p:tgtEl>
                                          <p:spTgt spid="33"/>
                                        </p:tgtEl>
                                      </p:cBhvr>
                                    </p:animEffect>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left)">
                                      <p:cBhvr>
                                        <p:cTn id="87" dur="500"/>
                                        <p:tgtEl>
                                          <p:spTgt spid="3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77"/>
                                        </p:tgtEl>
                                        <p:attrNameLst>
                                          <p:attrName>style.visibility</p:attrName>
                                        </p:attrNameLst>
                                      </p:cBhvr>
                                      <p:to>
                                        <p:strVal val="visible"/>
                                      </p:to>
                                    </p:set>
                                    <p:animEffect transition="in" filter="wipe(left)">
                                      <p:cBhvr>
                                        <p:cTn id="92" dur="500"/>
                                        <p:tgtEl>
                                          <p:spTgt spid="7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wipe(down)">
                                      <p:cBhvr>
                                        <p:cTn id="97" dur="500"/>
                                        <p:tgtEl>
                                          <p:spTgt spid="34"/>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80"/>
                                        </p:tgtEl>
                                        <p:attrNameLst>
                                          <p:attrName>style.visibility</p:attrName>
                                        </p:attrNameLst>
                                      </p:cBhvr>
                                      <p:to>
                                        <p:strVal val="visible"/>
                                      </p:to>
                                    </p:set>
                                    <p:animEffect transition="in" filter="wipe(left)">
                                      <p:cBhvr>
                                        <p:cTn id="102" dur="500"/>
                                        <p:tgtEl>
                                          <p:spTgt spid="8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2"/>
                                        </p:tgtEl>
                                        <p:attrNameLst>
                                          <p:attrName>style.visibility</p:attrName>
                                        </p:attrNameLst>
                                      </p:cBhvr>
                                      <p:to>
                                        <p:strVal val="visible"/>
                                      </p:to>
                                    </p:set>
                                    <p:animEffect transition="in" filter="wipe(left)">
                                      <p:cBhvr>
                                        <p:cTn id="107" dur="500"/>
                                        <p:tgtEl>
                                          <p:spTgt spid="12"/>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5"/>
                                        </p:tgtEl>
                                        <p:attrNameLst>
                                          <p:attrName>style.visibility</p:attrName>
                                        </p:attrNameLst>
                                      </p:cBhvr>
                                      <p:to>
                                        <p:strVal val="visible"/>
                                      </p:to>
                                    </p:set>
                                    <p:animEffect transition="in" filter="wipe(left)">
                                      <p:cBhvr>
                                        <p:cTn id="1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5" grpId="0"/>
      <p:bldP spid="31" grpId="0"/>
      <p:bldP spid="32" grpId="0"/>
      <p:bldP spid="33" grpId="0" animBg="1"/>
      <p:bldP spid="34" grpId="0" animBg="1"/>
      <p:bldP spid="35" grpId="0" animBg="1"/>
      <p:bldP spid="37" grpId="0"/>
      <p:bldP spid="38" grpId="0"/>
      <p:bldP spid="77" grpId="0"/>
      <p:bldP spid="79" grpId="0"/>
      <p:bldP spid="8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DDFFA1D3-3FC2-4AED-BEB1-F77B928FF506}"/>
              </a:ext>
            </a:extLst>
          </p:cNvPr>
          <p:cNvGrpSpPr/>
          <p:nvPr/>
        </p:nvGrpSpPr>
        <p:grpSpPr>
          <a:xfrm>
            <a:off x="0" y="-181"/>
            <a:ext cx="12192000" cy="6863080"/>
            <a:chOff x="0" y="-181"/>
            <a:chExt cx="12192000" cy="6863080"/>
          </a:xfrm>
        </p:grpSpPr>
        <p:grpSp>
          <p:nvGrpSpPr>
            <p:cNvPr id="11" name="组合 10">
              <a:extLst>
                <a:ext uri="{FF2B5EF4-FFF2-40B4-BE49-F238E27FC236}">
                  <a16:creationId xmlns:a16="http://schemas.microsoft.com/office/drawing/2014/main" id="{32846BA4-B262-A4A9-51A0-DE8CC3A492FF}"/>
                </a:ext>
              </a:extLst>
            </p:cNvPr>
            <p:cNvGrpSpPr/>
            <p:nvPr/>
          </p:nvGrpSpPr>
          <p:grpSpPr>
            <a:xfrm>
              <a:off x="0" y="-181"/>
              <a:ext cx="12192000" cy="6863080"/>
              <a:chOff x="0" y="-8"/>
              <a:chExt cx="19200" cy="10808"/>
            </a:xfrm>
          </p:grpSpPr>
          <p:sp>
            <p:nvSpPr>
              <p:cNvPr id="19" name="Rectangle 1">
                <a:extLst>
                  <a:ext uri="{FF2B5EF4-FFF2-40B4-BE49-F238E27FC236}">
                    <a16:creationId xmlns:a16="http://schemas.microsoft.com/office/drawing/2014/main" id="{8B50EE8F-4A3E-0F33-51C8-D1B488CC1CD8}"/>
                  </a:ext>
                </a:extLst>
              </p:cNvPr>
              <p:cNvSpPr/>
              <p:nvPr/>
            </p:nvSpPr>
            <p:spPr>
              <a:xfrm>
                <a:off x="0" y="-8"/>
                <a:ext cx="19200" cy="10808"/>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0" name="圆角矩形 16">
                <a:extLst>
                  <a:ext uri="{FF2B5EF4-FFF2-40B4-BE49-F238E27FC236}">
                    <a16:creationId xmlns:a16="http://schemas.microsoft.com/office/drawing/2014/main" id="{62D20447-C076-BE70-D856-8793D5414F73}"/>
                  </a:ext>
                </a:extLst>
              </p:cNvPr>
              <p:cNvSpPr/>
              <p:nvPr/>
            </p:nvSpPr>
            <p:spPr>
              <a:xfrm>
                <a:off x="354" y="310"/>
                <a:ext cx="18493" cy="10167"/>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2" name="组合 11">
              <a:extLst>
                <a:ext uri="{FF2B5EF4-FFF2-40B4-BE49-F238E27FC236}">
                  <a16:creationId xmlns:a16="http://schemas.microsoft.com/office/drawing/2014/main" id="{36661E08-8532-51D0-7057-75F1EC641791}"/>
                </a:ext>
              </a:extLst>
            </p:cNvPr>
            <p:cNvGrpSpPr/>
            <p:nvPr/>
          </p:nvGrpSpPr>
          <p:grpSpPr>
            <a:xfrm>
              <a:off x="0" y="239357"/>
              <a:ext cx="11993046" cy="6427310"/>
              <a:chOff x="0" y="239357"/>
              <a:chExt cx="11993046" cy="6427310"/>
            </a:xfrm>
          </p:grpSpPr>
          <p:sp>
            <p:nvSpPr>
              <p:cNvPr id="13" name="Rectangle 1">
                <a:extLst>
                  <a:ext uri="{FF2B5EF4-FFF2-40B4-BE49-F238E27FC236}">
                    <a16:creationId xmlns:a16="http://schemas.microsoft.com/office/drawing/2014/main" id="{08997E8B-465D-D642-C7D7-00E439F2CDB9}"/>
                  </a:ext>
                </a:extLst>
              </p:cNvPr>
              <p:cNvSpPr/>
              <p:nvPr userDrawn="1"/>
            </p:nvSpPr>
            <p:spPr>
              <a:xfrm>
                <a:off x="297498" y="64715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矩形 13">
                <a:extLst>
                  <a:ext uri="{FF2B5EF4-FFF2-40B4-BE49-F238E27FC236}">
                    <a16:creationId xmlns:a16="http://schemas.microsoft.com/office/drawing/2014/main" id="{ED582772-5122-39D9-716D-1FB6D19BEFA4}"/>
                  </a:ext>
                </a:extLst>
              </p:cNvPr>
              <p:cNvSpPr/>
              <p:nvPr/>
            </p:nvSpPr>
            <p:spPr>
              <a:xfrm>
                <a:off x="476885" y="6358890"/>
                <a:ext cx="3784600" cy="307777"/>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  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15" name="Rectangle 1">
                <a:extLst>
                  <a:ext uri="{FF2B5EF4-FFF2-40B4-BE49-F238E27FC236}">
                    <a16:creationId xmlns:a16="http://schemas.microsoft.com/office/drawing/2014/main" id="{1E31C269-131C-3136-79D8-D01D7DFD2F65}"/>
                  </a:ext>
                </a:extLst>
              </p:cNvPr>
              <p:cNvSpPr/>
              <p:nvPr userDrawn="1"/>
            </p:nvSpPr>
            <p:spPr>
              <a:xfrm rot="2659048">
                <a:off x="9060538" y="323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6" name="矩形 15">
                <a:extLst>
                  <a:ext uri="{FF2B5EF4-FFF2-40B4-BE49-F238E27FC236}">
                    <a16:creationId xmlns:a16="http://schemas.microsoft.com/office/drawing/2014/main" id="{E2820269-DF7A-2259-FC37-0887B1A28FD2}"/>
                  </a:ext>
                </a:extLst>
              </p:cNvPr>
              <p:cNvSpPr/>
              <p:nvPr/>
            </p:nvSpPr>
            <p:spPr>
              <a:xfrm>
                <a:off x="9315710" y="239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曲线积分与曲面积分</a:t>
                </a:r>
              </a:p>
            </p:txBody>
          </p:sp>
          <p:cxnSp>
            <p:nvCxnSpPr>
              <p:cNvPr id="17" name="直接连接符 16">
                <a:extLst>
                  <a:ext uri="{FF2B5EF4-FFF2-40B4-BE49-F238E27FC236}">
                    <a16:creationId xmlns:a16="http://schemas.microsoft.com/office/drawing/2014/main" id="{E4FD72F2-D00A-E035-B816-2ED6C40E6E6B}"/>
                  </a:ext>
                </a:extLst>
              </p:cNvPr>
              <p:cNvCxnSpPr>
                <a:cxnSpLocks/>
              </p:cNvCxnSpPr>
              <p:nvPr userDrawn="1"/>
            </p:nvCxnSpPr>
            <p:spPr>
              <a:xfrm>
                <a:off x="0" y="393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39E2BA0-373C-9B56-FE53-315E84212EDA}"/>
                  </a:ext>
                </a:extLst>
              </p:cNvPr>
              <p:cNvCxnSpPr>
                <a:cxnSpLocks/>
              </p:cNvCxnSpPr>
              <p:nvPr userDrawn="1"/>
            </p:nvCxnSpPr>
            <p:spPr>
              <a:xfrm>
                <a:off x="3675872" y="6512242"/>
                <a:ext cx="827228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sp>
        <p:nvSpPr>
          <p:cNvPr id="2" name="Rectangle 318">
            <a:extLst>
              <a:ext uri="{FF2B5EF4-FFF2-40B4-BE49-F238E27FC236}">
                <a16:creationId xmlns:a16="http://schemas.microsoft.com/office/drawing/2014/main" id="{8907119B-FB30-EB62-923C-8B794C5F7C4D}"/>
              </a:ext>
            </a:extLst>
          </p:cNvPr>
          <p:cNvSpPr>
            <a:spLocks noChangeArrowheads="1"/>
          </p:cNvSpPr>
          <p:nvPr/>
        </p:nvSpPr>
        <p:spPr bwMode="auto">
          <a:xfrm>
            <a:off x="734060" y="898744"/>
            <a:ext cx="50292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en-US" altLang="zh-CN" sz="3200" b="1" dirty="0">
                <a:solidFill>
                  <a:srgbClr val="04926A"/>
                </a:solidFill>
                <a:latin typeface="微软雅黑" panose="020B0503020204020204" pitchFamily="34" charset="-122"/>
                <a:ea typeface="微软雅黑" panose="020B0503020204020204" pitchFamily="34" charset="-122"/>
              </a:rPr>
              <a:t>*</a:t>
            </a:r>
            <a:r>
              <a:rPr lang="zh-CN" altLang="en-US" sz="3200" b="1" dirty="0">
                <a:solidFill>
                  <a:srgbClr val="04926A"/>
                </a:solidFill>
                <a:latin typeface="微软雅黑" panose="020B0503020204020204" pitchFamily="34" charset="-122"/>
                <a:ea typeface="微软雅黑" panose="020B0503020204020204" pitchFamily="34" charset="-122"/>
              </a:rPr>
              <a:t>三、 环流量与旋度</a:t>
            </a:r>
          </a:p>
        </p:txBody>
      </p:sp>
      <p:sp>
        <p:nvSpPr>
          <p:cNvPr id="3" name="文本框 2">
            <a:extLst>
              <a:ext uri="{FF2B5EF4-FFF2-40B4-BE49-F238E27FC236}">
                <a16:creationId xmlns:a16="http://schemas.microsoft.com/office/drawing/2014/main" id="{15640809-49F9-131F-E683-718BC9AB46F2}"/>
              </a:ext>
            </a:extLst>
          </p:cNvPr>
          <p:cNvSpPr txBox="1"/>
          <p:nvPr/>
        </p:nvSpPr>
        <p:spPr bwMode="auto">
          <a:xfrm>
            <a:off x="1425981" y="1615927"/>
            <a:ext cx="2772639" cy="523220"/>
          </a:xfrm>
          <a:prstGeom prst="rect">
            <a:avLst/>
          </a:prstGeom>
          <a:noFill/>
          <a:ln w="19050">
            <a:noFill/>
            <a:prstDash val="dashDot"/>
            <a:miter lim="800000"/>
            <a:headEnd/>
            <a:tailEnd/>
          </a:ln>
          <a:extLst>
            <a:ext uri="{909E8E84-426E-40DD-AFC4-6F175D3DCCD1}">
              <a14:hiddenFill xmlns:a14="http://schemas.microsoft.com/office/drawing/2010/main">
                <a:solidFill>
                  <a:schemeClr val="accent1"/>
                </a:solidFill>
              </a14:hiddenFill>
            </a:ext>
          </a:extLst>
        </p:spPr>
        <p:txBody>
          <a:bodyPr wrap="square" rtlCol="0">
            <a:spAutoFit/>
          </a:bodyPr>
          <a:lstStyle/>
          <a:p>
            <a:pPr lvl="0" algn="ct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1. </a:t>
            </a:r>
            <a:r>
              <a:rPr kumimoji="1" lang="zh-CN" altLang="en-US" sz="2800" b="1" dirty="0">
                <a:solidFill>
                  <a:srgbClr val="04926A"/>
                </a:solidFill>
                <a:latin typeface="微软雅黑" panose="020B0503020204020204" pitchFamily="34" charset="-122"/>
                <a:ea typeface="微软雅黑" panose="020B0503020204020204" pitchFamily="34" charset="-122"/>
              </a:rPr>
              <a:t>环流量的定义</a:t>
            </a:r>
          </a:p>
        </p:txBody>
      </p:sp>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61DA6891-EA0A-875F-7F93-EAD5BEB309FE}"/>
                  </a:ext>
                </a:extLst>
              </p:cNvPr>
              <p:cNvSpPr txBox="1"/>
              <p:nvPr/>
            </p:nvSpPr>
            <p:spPr>
              <a:xfrm>
                <a:off x="1846262" y="2406650"/>
                <a:ext cx="9666287" cy="52322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设有向量场</m:t>
                      </m:r>
                      <m:r>
                        <a:rPr kumimoji="1" lang="en-US" altLang="zh-CN" sz="2800" b="1" i="1" smtClean="0">
                          <a:solidFill>
                            <a:prstClr val="black"/>
                          </a:solidFill>
                          <a:latin typeface="Cambria Math" panose="02040503050406030204" pitchFamily="18" charset="0"/>
                          <a:ea typeface="黑体" panose="02010609060101010101" pitchFamily="49" charset="-122"/>
                        </a:rPr>
                        <m:t> </m:t>
                      </m:r>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𝑃</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𝒊</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𝑄</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𝒋</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𝑅</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𝒌</m:t>
                      </m:r>
                      <m:r>
                        <a:rPr kumimoji="1" lang="zh-CN" altLang="en-US" sz="2800" b="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61DA6891-EA0A-875F-7F93-EAD5BEB309FE}"/>
                  </a:ext>
                </a:extLst>
              </p:cNvPr>
              <p:cNvSpPr txBox="1">
                <a:spLocks noRot="1" noChangeAspect="1" noMove="1" noResize="1" noEditPoints="1" noAdjustHandles="1" noChangeArrowheads="1" noChangeShapeType="1" noTextEdit="1"/>
              </p:cNvSpPr>
              <p:nvPr/>
            </p:nvSpPr>
            <p:spPr>
              <a:xfrm>
                <a:off x="1846262" y="2406650"/>
                <a:ext cx="9666287" cy="52322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84E27151-C08A-4D56-DE07-215A8F0FBE7A}"/>
                  </a:ext>
                </a:extLst>
              </p:cNvPr>
              <p:cNvSpPr txBox="1"/>
              <p:nvPr/>
            </p:nvSpPr>
            <p:spPr>
              <a:xfrm>
                <a:off x="2687637" y="4282556"/>
                <a:ext cx="6891337" cy="932676"/>
              </a:xfrm>
              <a:prstGeom prst="rect">
                <a:avLst/>
              </a:prstGeom>
            </p:spPr>
            <p:txBody>
              <a:bodyPr>
                <a:noAutofit/>
              </a:bodyPr>
              <a:lstStyle/>
              <a:p>
                <a:pPr/>
                <a14:m>
                  <m:oMathPara xmlns:m="http://schemas.openxmlformats.org/officeDocument/2006/math">
                    <m:oMathParaPr>
                      <m:jc m:val="left"/>
                    </m:oMathParaPr>
                    <m:oMath xmlns:m="http://schemas.openxmlformats.org/officeDocument/2006/math">
                      <m:nary>
                        <m:naryPr>
                          <m:chr m:val="∮"/>
                          <m:supHide m:val="on"/>
                          <m:ctrlPr>
                            <a:rPr kumimoji="1" lang="zh-CN" altLang="en-US" sz="2800" i="1" smtClean="0">
                              <a:solidFill>
                                <a:prstClr val="black"/>
                              </a:solidFill>
                              <a:latin typeface="Cambria Math" panose="02040503050406030204" pitchFamily="18" charset="0"/>
                              <a:ea typeface="黑体" panose="02010609060101010101" pitchFamily="49" charset="-122"/>
                            </a:rPr>
                          </m:ctrlPr>
                        </m:naryPr>
                        <m:sub>
                          <m:r>
                            <a:rPr kumimoji="1" lang="zh-CN" altLang="en-US" sz="2800" i="1">
                              <a:solidFill>
                                <a:prstClr val="black"/>
                              </a:solidFill>
                              <a:latin typeface="Cambria Math" panose="02040503050406030204" pitchFamily="18" charset="0"/>
                              <a:ea typeface="黑体" panose="02010609060101010101" pitchFamily="49" charset="-122"/>
                            </a:rPr>
                            <m:t>𝛤</m:t>
                          </m:r>
                        </m:sub>
                        <m:sup/>
                        <m:e>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𝝉</m:t>
                          </m:r>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𝑠</m:t>
                          </m:r>
                        </m:e>
                      </m:nary>
                      <m:r>
                        <a:rPr kumimoji="1" lang="zh-CN" altLang="en-US" sz="2800">
                          <a:solidFill>
                            <a:prstClr val="black"/>
                          </a:solidFill>
                          <a:latin typeface="Cambria Math" panose="02040503050406030204" pitchFamily="18" charset="0"/>
                          <a:ea typeface="黑体" panose="02010609060101010101" pitchFamily="49" charset="-122"/>
                        </a:rPr>
                        <m:t>=</m:t>
                      </m:r>
                      <m:nary>
                        <m:naryPr>
                          <m:chr m:val="∮"/>
                          <m:supHide m:val="on"/>
                          <m:ctrlPr>
                            <a:rPr kumimoji="1" lang="zh-CN" altLang="en-US" sz="2800" i="1">
                              <a:solidFill>
                                <a:prstClr val="black"/>
                              </a:solidFill>
                              <a:latin typeface="Cambria Math" panose="02040503050406030204" pitchFamily="18" charset="0"/>
                              <a:ea typeface="黑体" panose="02010609060101010101" pitchFamily="49" charset="-122"/>
                            </a:rPr>
                          </m:ctrlPr>
                        </m:naryPr>
                        <m:sub>
                          <m:r>
                            <a:rPr kumimoji="1" lang="zh-CN" altLang="en-US" sz="2800" b="0" i="1">
                              <a:solidFill>
                                <a:prstClr val="black"/>
                              </a:solidFill>
                              <a:latin typeface="Cambria Math" panose="02040503050406030204" pitchFamily="18" charset="0"/>
                              <a:ea typeface="黑体" panose="02010609060101010101" pitchFamily="49" charset="-122"/>
                            </a:rPr>
                            <m:t>𝛤</m:t>
                          </m:r>
                        </m:sub>
                        <m:sup/>
                        <m:e>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zh-CN" altLang="en-US" sz="2800" b="0">
                              <a:solidFill>
                                <a:prstClr val="black"/>
                              </a:solidFill>
                              <a:latin typeface="Cambria Math" panose="02040503050406030204" pitchFamily="18" charset="0"/>
                              <a:ea typeface="黑体" panose="02010609060101010101" pitchFamily="49" charset="-122"/>
                            </a:rPr>
                            <m:t>⋅</m:t>
                          </m:r>
                          <m:r>
                            <m:rPr>
                              <m:sty m:val="p"/>
                            </m:rPr>
                            <a:rPr kumimoji="1" lang="zh-CN" altLang="en-US" sz="2800" b="0" i="0">
                              <a:solidFill>
                                <a:prstClr val="black"/>
                              </a:solidFill>
                              <a:latin typeface="Cambria Math" panose="02040503050406030204" pitchFamily="18" charset="0"/>
                              <a:ea typeface="黑体" panose="02010609060101010101" pitchFamily="49" charset="-122"/>
                            </a:rPr>
                            <m:t>d</m:t>
                          </m:r>
                          <m:r>
                            <a:rPr kumimoji="1" lang="en-US" altLang="zh-CN" sz="2800" b="1" i="1">
                              <a:solidFill>
                                <a:prstClr val="black"/>
                              </a:solidFill>
                              <a:latin typeface="Cambria Math" panose="02040503050406030204" pitchFamily="18" charset="0"/>
                              <a:ea typeface="黑体" panose="02010609060101010101" pitchFamily="49" charset="-122"/>
                            </a:rPr>
                            <m:t>𝒓</m:t>
                          </m:r>
                        </m:e>
                      </m:nary>
                      <m:r>
                        <a:rPr kumimoji="1" lang="zh-CN" altLang="en-US" sz="2800">
                          <a:solidFill>
                            <a:prstClr val="black"/>
                          </a:solidFill>
                          <a:latin typeface="Cambria Math" panose="02040503050406030204" pitchFamily="18" charset="0"/>
                          <a:ea typeface="黑体" panose="02010609060101010101" pitchFamily="49" charset="-122"/>
                        </a:rPr>
                        <m:t>=</m:t>
                      </m:r>
                      <m:nary>
                        <m:naryPr>
                          <m:chr m:val="∮"/>
                          <m:supHide m:val="on"/>
                          <m:ctrlPr>
                            <a:rPr kumimoji="1" lang="zh-CN" altLang="en-US" sz="2800" i="1">
                              <a:solidFill>
                                <a:prstClr val="black"/>
                              </a:solidFill>
                              <a:latin typeface="Cambria Math" panose="02040503050406030204" pitchFamily="18" charset="0"/>
                              <a:ea typeface="黑体" panose="02010609060101010101" pitchFamily="49" charset="-122"/>
                            </a:rPr>
                          </m:ctrlPr>
                        </m:naryPr>
                        <m:sub>
                          <m:r>
                            <a:rPr kumimoji="1" lang="zh-CN" altLang="en-US" sz="2800" i="1">
                              <a:solidFill>
                                <a:prstClr val="black"/>
                              </a:solidFill>
                              <a:latin typeface="Cambria Math" panose="02040503050406030204" pitchFamily="18" charset="0"/>
                              <a:ea typeface="黑体" panose="02010609060101010101" pitchFamily="49" charset="-122"/>
                            </a:rPr>
                            <m:t>𝛤</m:t>
                          </m:r>
                        </m:sub>
                        <m:sup/>
                        <m:e>
                          <m:r>
                            <a:rPr kumimoji="1" lang="zh-CN" altLang="en-US" sz="2800">
                              <a:solidFill>
                                <a:prstClr val="black"/>
                              </a:solidFill>
                              <a:latin typeface="Cambria Math" panose="02040503050406030204" pitchFamily="18" charset="0"/>
                              <a:ea typeface="黑体" panose="02010609060101010101" pitchFamily="49" charset="-122"/>
                            </a:rPr>
                            <m:t>𝑃</m:t>
                          </m:r>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𝑄</m:t>
                          </m:r>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𝑅</m:t>
                          </m:r>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𝑧</m:t>
                          </m:r>
                        </m:e>
                      </m:nary>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5" name="对象 4">
                <a:extLst>
                  <a:ext uri="{FF2B5EF4-FFF2-40B4-BE49-F238E27FC236}">
                    <a16:creationId xmlns:a16="http://schemas.microsoft.com/office/drawing/2014/main" id="{84E27151-C08A-4D56-DE07-215A8F0FBE7A}"/>
                  </a:ext>
                </a:extLst>
              </p:cNvPr>
              <p:cNvSpPr txBox="1">
                <a:spLocks noRot="1" noChangeAspect="1" noMove="1" noResize="1" noEditPoints="1" noAdjustHandles="1" noChangeArrowheads="1" noChangeShapeType="1" noTextEdit="1"/>
              </p:cNvSpPr>
              <p:nvPr/>
            </p:nvSpPr>
            <p:spPr>
              <a:xfrm>
                <a:off x="2687637" y="4282556"/>
                <a:ext cx="6891337" cy="93267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对象 6">
                <a:extLst>
                  <a:ext uri="{FF2B5EF4-FFF2-40B4-BE49-F238E27FC236}">
                    <a16:creationId xmlns:a16="http://schemas.microsoft.com/office/drawing/2014/main" id="{64F20D3B-6AD5-DB96-B43D-9DB70AB70467}"/>
                  </a:ext>
                </a:extLst>
              </p:cNvPr>
              <p:cNvSpPr txBox="1"/>
              <p:nvPr/>
            </p:nvSpPr>
            <p:spPr>
              <a:xfrm>
                <a:off x="1846262" y="3040496"/>
                <a:ext cx="4332288" cy="4191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其中函数</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smtClean="0">
                          <a:solidFill>
                            <a:prstClr val="black"/>
                          </a:solidFill>
                          <a:latin typeface="Cambria Math" panose="02040503050406030204" pitchFamily="18" charset="0"/>
                          <a:ea typeface="黑体" panose="02010609060101010101" pitchFamily="49" charset="-122"/>
                        </a:rPr>
                        <m:t>𝑃</m:t>
                      </m:r>
                      <m:r>
                        <a:rPr kumimoji="1" lang="zh-CN" altLang="en-US" sz="2800" smtClean="0">
                          <a:solidFill>
                            <a:prstClr val="black"/>
                          </a:solidFill>
                          <a:latin typeface="Cambria Math" panose="02040503050406030204" pitchFamily="18" charset="0"/>
                          <a:ea typeface="黑体" panose="02010609060101010101" pitchFamily="49" charset="-122"/>
                        </a:rPr>
                        <m:t>,</m:t>
                      </m:r>
                      <m:r>
                        <a:rPr kumimoji="1" lang="zh-CN" altLang="en-US" sz="2800" smtClean="0">
                          <a:solidFill>
                            <a:prstClr val="black"/>
                          </a:solidFill>
                          <a:latin typeface="Cambria Math" panose="02040503050406030204" pitchFamily="18" charset="0"/>
                          <a:ea typeface="黑体" panose="02010609060101010101" pitchFamily="49" charset="-122"/>
                        </a:rPr>
                        <m:t>𝑄</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smtClean="0">
                          <a:solidFill>
                            <a:prstClr val="black"/>
                          </a:solidFill>
                          <a:latin typeface="Cambria Math" panose="02040503050406030204" pitchFamily="18" charset="0"/>
                          <a:ea typeface="黑体" panose="02010609060101010101" pitchFamily="49" charset="-122"/>
                        </a:rPr>
                        <m:t>与</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smtClean="0">
                          <a:solidFill>
                            <a:prstClr val="black"/>
                          </a:solidFill>
                          <a:latin typeface="Cambria Math" panose="02040503050406030204" pitchFamily="18" charset="0"/>
                          <a:ea typeface="黑体" panose="02010609060101010101" pitchFamily="49" charset="-122"/>
                        </a:rPr>
                        <m:t>𝑅</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均连续</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7" name="对象 6">
                <a:extLst>
                  <a:ext uri="{FF2B5EF4-FFF2-40B4-BE49-F238E27FC236}">
                    <a16:creationId xmlns:a16="http://schemas.microsoft.com/office/drawing/2014/main" id="{64F20D3B-6AD5-DB96-B43D-9DB70AB70467}"/>
                  </a:ext>
                </a:extLst>
              </p:cNvPr>
              <p:cNvSpPr txBox="1">
                <a:spLocks noRot="1" noChangeAspect="1" noMove="1" noResize="1" noEditPoints="1" noAdjustHandles="1" noChangeArrowheads="1" noChangeShapeType="1" noTextEdit="1"/>
              </p:cNvSpPr>
              <p:nvPr/>
            </p:nvSpPr>
            <p:spPr>
              <a:xfrm>
                <a:off x="1846262" y="3040496"/>
                <a:ext cx="4332288" cy="419100"/>
              </a:xfrm>
              <a:prstGeom prst="rect">
                <a:avLst/>
              </a:prstGeom>
              <a:blipFill>
                <a:blip r:embed="rId4"/>
                <a:stretch>
                  <a:fillRect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6A6AE7D4-3221-0007-BF62-02032C304849}"/>
                  </a:ext>
                </a:extLst>
              </p:cNvPr>
              <p:cNvSpPr txBox="1"/>
              <p:nvPr/>
            </p:nvSpPr>
            <p:spPr>
              <a:xfrm>
                <a:off x="5932189" y="3028709"/>
                <a:ext cx="5770860" cy="4445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en-US" altLang="zh-CN" sz="2800" b="0" i="1" smtClean="0">
                          <a:solidFill>
                            <a:prstClr val="black"/>
                          </a:solidFill>
                          <a:latin typeface="Cambria Math" panose="02040503050406030204" pitchFamily="18" charset="0"/>
                          <a:ea typeface="黑体" panose="02010609060101010101" pitchFamily="49" charset="-122"/>
                        </a:rPr>
                        <m:t> </m:t>
                      </m:r>
                      <m:r>
                        <a:rPr kumimoji="1" lang="zh-CN" altLang="en-US" sz="2800" i="1" smtClean="0">
                          <a:solidFill>
                            <a:prstClr val="black"/>
                          </a:solidFill>
                          <a:latin typeface="Cambria Math" panose="02040503050406030204" pitchFamily="18" charset="0"/>
                          <a:ea typeface="黑体" panose="02010609060101010101" pitchFamily="49" charset="-122"/>
                        </a:rPr>
                        <m:t>𝛤</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是</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的定义域内的一条分段光滑</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8" name="对象 7">
                <a:extLst>
                  <a:ext uri="{FF2B5EF4-FFF2-40B4-BE49-F238E27FC236}">
                    <a16:creationId xmlns:a16="http://schemas.microsoft.com/office/drawing/2014/main" id="{6A6AE7D4-3221-0007-BF62-02032C304849}"/>
                  </a:ext>
                </a:extLst>
              </p:cNvPr>
              <p:cNvSpPr txBox="1">
                <a:spLocks noRot="1" noChangeAspect="1" noMove="1" noResize="1" noEditPoints="1" noAdjustHandles="1" noChangeArrowheads="1" noChangeShapeType="1" noTextEdit="1"/>
              </p:cNvSpPr>
              <p:nvPr/>
            </p:nvSpPr>
            <p:spPr>
              <a:xfrm>
                <a:off x="5932189" y="3028709"/>
                <a:ext cx="5770860" cy="44450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象 8">
                <a:extLst>
                  <a:ext uri="{FF2B5EF4-FFF2-40B4-BE49-F238E27FC236}">
                    <a16:creationId xmlns:a16="http://schemas.microsoft.com/office/drawing/2014/main" id="{F4DA0C38-A75F-64C5-46EB-52C5317AF22B}"/>
                  </a:ext>
                </a:extLst>
              </p:cNvPr>
              <p:cNvSpPr txBox="1"/>
              <p:nvPr/>
            </p:nvSpPr>
            <p:spPr>
              <a:xfrm>
                <a:off x="1846262" y="3680576"/>
                <a:ext cx="2455862" cy="3810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的有向闭曲线</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9" name="对象 8">
                <a:extLst>
                  <a:ext uri="{FF2B5EF4-FFF2-40B4-BE49-F238E27FC236}">
                    <a16:creationId xmlns:a16="http://schemas.microsoft.com/office/drawing/2014/main" id="{F4DA0C38-A75F-64C5-46EB-52C5317AF22B}"/>
                  </a:ext>
                </a:extLst>
              </p:cNvPr>
              <p:cNvSpPr txBox="1">
                <a:spLocks noRot="1" noChangeAspect="1" noMove="1" noResize="1" noEditPoints="1" noAdjustHandles="1" noChangeArrowheads="1" noChangeShapeType="1" noTextEdit="1"/>
              </p:cNvSpPr>
              <p:nvPr/>
            </p:nvSpPr>
            <p:spPr>
              <a:xfrm>
                <a:off x="1846262" y="3680576"/>
                <a:ext cx="2455862" cy="381000"/>
              </a:xfrm>
              <a:prstGeom prst="rect">
                <a:avLst/>
              </a:prstGeom>
              <a:blipFill>
                <a:blip r:embed="rId6"/>
                <a:stretch>
                  <a:fillRect b="-112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E5098D50-02E7-3AEE-BAEA-EE7728CB356E}"/>
                  </a:ext>
                </a:extLst>
              </p:cNvPr>
              <p:cNvSpPr txBox="1"/>
              <p:nvPr/>
            </p:nvSpPr>
            <p:spPr>
              <a:xfrm>
                <a:off x="4098925" y="3675459"/>
                <a:ext cx="7040562" cy="4318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b="1" i="1" smtClean="0">
                          <a:solidFill>
                            <a:prstClr val="black"/>
                          </a:solidFill>
                          <a:latin typeface="Cambria Math" panose="02040503050406030204" pitchFamily="18" charset="0"/>
                          <a:ea typeface="黑体" panose="02010609060101010101" pitchFamily="49" charset="-122"/>
                        </a:rPr>
                        <m:t>𝝉</m:t>
                      </m:r>
                      <m:r>
                        <a:rPr kumimoji="1" lang="en-US" altLang="zh-CN" sz="2800" b="0" i="1"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是</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i="1">
                          <a:solidFill>
                            <a:prstClr val="black"/>
                          </a:solidFill>
                          <a:latin typeface="Cambria Math" panose="02040503050406030204" pitchFamily="18" charset="0"/>
                          <a:ea typeface="黑体" panose="02010609060101010101" pitchFamily="49" charset="-122"/>
                        </a:rPr>
                        <m:t>𝛤</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在点</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处的单位切向量</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则积分</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10" name="对象 9">
                <a:extLst>
                  <a:ext uri="{FF2B5EF4-FFF2-40B4-BE49-F238E27FC236}">
                    <a16:creationId xmlns:a16="http://schemas.microsoft.com/office/drawing/2014/main" id="{E5098D50-02E7-3AEE-BAEA-EE7728CB356E}"/>
                  </a:ext>
                </a:extLst>
              </p:cNvPr>
              <p:cNvSpPr txBox="1">
                <a:spLocks noRot="1" noChangeAspect="1" noMove="1" noResize="1" noEditPoints="1" noAdjustHandles="1" noChangeArrowheads="1" noChangeShapeType="1" noTextEdit="1"/>
              </p:cNvSpPr>
              <p:nvPr/>
            </p:nvSpPr>
            <p:spPr>
              <a:xfrm>
                <a:off x="4098925" y="3675459"/>
                <a:ext cx="7040562" cy="431800"/>
              </a:xfrm>
              <a:prstGeom prst="rect">
                <a:avLst/>
              </a:prstGeom>
              <a:blipFill>
                <a:blip r:embed="rId7"/>
                <a:stretch>
                  <a:fillRect b="-84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对象 7">
                <a:extLst>
                  <a:ext uri="{FF2B5EF4-FFF2-40B4-BE49-F238E27FC236}">
                    <a16:creationId xmlns:a16="http://schemas.microsoft.com/office/drawing/2014/main" id="{249648F3-1FB7-32C0-B394-E102E6C104A4}"/>
                  </a:ext>
                </a:extLst>
              </p:cNvPr>
              <p:cNvSpPr txBox="1"/>
              <p:nvPr/>
            </p:nvSpPr>
            <p:spPr>
              <a:xfrm>
                <a:off x="1846262" y="5390529"/>
                <a:ext cx="6603937" cy="444500"/>
              </a:xfrm>
              <a:prstGeom prst="rect">
                <a:avLst/>
              </a:prstGeom>
            </p:spPr>
            <p:txBody>
              <a:bodyPr>
                <a:noAutofit/>
              </a:bodyPr>
              <a:lstStyle/>
              <a:p>
                <a14:m>
                  <m:oMath xmlns:m="http://schemas.openxmlformats.org/officeDocument/2006/math">
                    <m:r>
                      <a:rPr kumimoji="1" lang="zh-CN" altLang="en-US" sz="2800" i="1" smtClean="0">
                        <a:solidFill>
                          <a:prstClr val="black"/>
                        </a:solidFill>
                        <a:latin typeface="Cambria Math" panose="02040503050406030204" pitchFamily="18" charset="0"/>
                        <a:ea typeface="黑体" panose="02010609060101010101" pitchFamily="49" charset="-122"/>
                      </a:rPr>
                      <m:t>称为向量</m:t>
                    </m:r>
                    <m:r>
                      <a:rPr kumimoji="1" lang="zh-CN" altLang="en-US" sz="2800" i="1">
                        <a:solidFill>
                          <a:prstClr val="black"/>
                        </a:solidFill>
                        <a:latin typeface="Cambria Math" panose="02040503050406030204" pitchFamily="18" charset="0"/>
                        <a:ea typeface="黑体" panose="02010609060101010101" pitchFamily="49" charset="-122"/>
                      </a:rPr>
                      <m:t>场</m:t>
                    </m:r>
                    <m:r>
                      <a:rPr kumimoji="1" lang="en-US" altLang="zh-CN" sz="2800" b="1" i="1" smtClean="0">
                        <a:solidFill>
                          <a:prstClr val="black"/>
                        </a:solidFill>
                        <a:latin typeface="Cambria Math" panose="02040503050406030204" pitchFamily="18" charset="0"/>
                        <a:ea typeface="黑体" panose="02010609060101010101" pitchFamily="49" charset="-122"/>
                      </a:rPr>
                      <m:t> </m:t>
                    </m:r>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en-US" altLang="zh-CN" sz="2800" b="1" i="1" smtClean="0">
                        <a:solidFill>
                          <a:prstClr val="black"/>
                        </a:solidFill>
                        <a:latin typeface="Cambria Math" panose="02040503050406030204" pitchFamily="18" charset="0"/>
                        <a:ea typeface="黑体" panose="02010609060101010101" pitchFamily="49" charset="-122"/>
                      </a:rPr>
                      <m:t> </m:t>
                    </m:r>
                    <m:r>
                      <a:rPr kumimoji="1" lang="zh-CN" altLang="en-US" sz="2800" b="1" i="1">
                        <a:solidFill>
                          <a:prstClr val="black"/>
                        </a:solidFill>
                        <a:latin typeface="Cambria Math" panose="02040503050406030204" pitchFamily="18" charset="0"/>
                        <a:ea typeface="黑体" panose="02010609060101010101" pitchFamily="49" charset="-122"/>
                      </a:rPr>
                      <m:t>沿有向</m:t>
                    </m:r>
                  </m:oMath>
                </a14:m>
                <a:r>
                  <a:rPr kumimoji="1" lang="zh-CN" altLang="en-US" sz="2800" dirty="0">
                    <a:solidFill>
                      <a:prstClr val="black"/>
                    </a:solidFill>
                    <a:latin typeface="Times New Roman" panose="02020603050405020304" pitchFamily="18" charset="0"/>
                    <a:ea typeface="黑体" panose="02010609060101010101" pitchFamily="49" charset="-122"/>
                  </a:rPr>
                  <a:t>闭曲线</a:t>
                </a:r>
                <a14:m>
                  <m:oMath xmlns:m="http://schemas.openxmlformats.org/officeDocument/2006/math">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i="1">
                        <a:solidFill>
                          <a:prstClr val="black"/>
                        </a:solidFill>
                        <a:latin typeface="Cambria Math" panose="02040503050406030204" pitchFamily="18" charset="0"/>
                        <a:ea typeface="黑体" panose="02010609060101010101" pitchFamily="49" charset="-122"/>
                      </a:rPr>
                      <m:t>𝛤</m:t>
                    </m:r>
                  </m:oMath>
                </a14:m>
                <a:r>
                  <a:rPr kumimoji="1" lang="zh-CN" altLang="en-US" sz="2800" dirty="0">
                    <a:solidFill>
                      <a:prstClr val="black"/>
                    </a:solidFill>
                    <a:latin typeface="Times New Roman" panose="02020603050405020304" pitchFamily="18" charset="0"/>
                    <a:ea typeface="黑体" panose="02010609060101010101" pitchFamily="49" charset="-122"/>
                  </a:rPr>
                  <a:t> 的环流量</a:t>
                </a:r>
                <a14:m>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m:t>
                    </m:r>
                  </m:oMath>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23" name="对象 7">
                <a:extLst>
                  <a:ext uri="{FF2B5EF4-FFF2-40B4-BE49-F238E27FC236}">
                    <a16:creationId xmlns:a16="http://schemas.microsoft.com/office/drawing/2014/main" id="{249648F3-1FB7-32C0-B394-E102E6C104A4}"/>
                  </a:ext>
                </a:extLst>
              </p:cNvPr>
              <p:cNvSpPr txBox="1">
                <a:spLocks noRot="1" noChangeAspect="1" noMove="1" noResize="1" noEditPoints="1" noAdjustHandles="1" noChangeArrowheads="1" noChangeShapeType="1" noTextEdit="1"/>
              </p:cNvSpPr>
              <p:nvPr/>
            </p:nvSpPr>
            <p:spPr>
              <a:xfrm>
                <a:off x="1846262" y="5390529"/>
                <a:ext cx="6603937" cy="444500"/>
              </a:xfrm>
              <a:prstGeom prst="rect">
                <a:avLst/>
              </a:prstGeom>
              <a:blipFill>
                <a:blip r:embed="rId8"/>
                <a:stretch>
                  <a:fillRect t="-17808" b="-506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97980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left)">
                                      <p:cBhvr>
                                        <p:cTn id="4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7" grpId="0"/>
      <p:bldP spid="8" grpId="0"/>
      <p:bldP spid="9" grpId="0"/>
      <p:bldP spid="10" grpId="0"/>
      <p:bldP spid="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F237B5D6-4541-BB5B-E965-C03BA2D3EF99}"/>
              </a:ext>
            </a:extLst>
          </p:cNvPr>
          <p:cNvSpPr/>
          <p:nvPr/>
        </p:nvSpPr>
        <p:spPr>
          <a:xfrm>
            <a:off x="687388" y="660400"/>
            <a:ext cx="10817225" cy="55372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半闭框 28">
            <a:extLst>
              <a:ext uri="{FF2B5EF4-FFF2-40B4-BE49-F238E27FC236}">
                <a16:creationId xmlns:a16="http://schemas.microsoft.com/office/drawing/2014/main" id="{D7792D45-AB73-4624-4649-53F06D793C74}"/>
              </a:ext>
            </a:extLst>
          </p:cNvPr>
          <p:cNvSpPr/>
          <p:nvPr/>
        </p:nvSpPr>
        <p:spPr>
          <a:xfrm>
            <a:off x="687324" y="6604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半闭框 29">
            <a:extLst>
              <a:ext uri="{FF2B5EF4-FFF2-40B4-BE49-F238E27FC236}">
                <a16:creationId xmlns:a16="http://schemas.microsoft.com/office/drawing/2014/main" id="{8966AA14-DF58-0094-7AE2-17C65CA0A99B}"/>
              </a:ext>
            </a:extLst>
          </p:cNvPr>
          <p:cNvSpPr/>
          <p:nvPr/>
        </p:nvSpPr>
        <p:spPr>
          <a:xfrm flipH="1">
            <a:off x="10823530" y="6604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半闭框 30">
            <a:extLst>
              <a:ext uri="{FF2B5EF4-FFF2-40B4-BE49-F238E27FC236}">
                <a16:creationId xmlns:a16="http://schemas.microsoft.com/office/drawing/2014/main" id="{72B95A99-4434-E105-4643-668927BE0238}"/>
              </a:ext>
            </a:extLst>
          </p:cNvPr>
          <p:cNvSpPr/>
          <p:nvPr/>
        </p:nvSpPr>
        <p:spPr>
          <a:xfrm flipV="1">
            <a:off x="687324" y="55240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半闭框 31">
            <a:extLst>
              <a:ext uri="{FF2B5EF4-FFF2-40B4-BE49-F238E27FC236}">
                <a16:creationId xmlns:a16="http://schemas.microsoft.com/office/drawing/2014/main" id="{02FAD135-A21D-52AB-2BD8-F47D07E2DDC4}"/>
              </a:ext>
            </a:extLst>
          </p:cNvPr>
          <p:cNvSpPr/>
          <p:nvPr/>
        </p:nvSpPr>
        <p:spPr>
          <a:xfrm flipH="1" flipV="1">
            <a:off x="10823530" y="55042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 name="Rectangle 38">
            <a:extLst>
              <a:ext uri="{FF2B5EF4-FFF2-40B4-BE49-F238E27FC236}">
                <a16:creationId xmlns:a16="http://schemas.microsoft.com/office/drawing/2014/main" id="{4255449A-BC39-A60F-21D8-6928BF1D3921}"/>
              </a:ext>
            </a:extLst>
          </p:cNvPr>
          <p:cNvSpPr txBox="1">
            <a:spLocks noChangeArrowheads="1"/>
          </p:cNvSpPr>
          <p:nvPr/>
        </p:nvSpPr>
        <p:spPr>
          <a:xfrm>
            <a:off x="1279338" y="879923"/>
            <a:ext cx="1005092" cy="466277"/>
          </a:xfrm>
          <a:prstGeom prst="rect">
            <a:avLst/>
          </a:prstGeom>
        </p:spPr>
        <p:txBody>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kumimoji="1" lang="zh-CN" altLang="en-US" sz="2800" dirty="0">
                <a:solidFill>
                  <a:srgbClr val="04926A"/>
                </a:solidFill>
                <a:latin typeface="微软雅黑" panose="020B0503020204020204" pitchFamily="34" charset="-122"/>
                <a:ea typeface="微软雅黑" panose="020B0503020204020204" pitchFamily="34" charset="-122"/>
                <a:cs typeface="+mn-cs"/>
              </a:rPr>
              <a:t>例</a:t>
            </a:r>
            <a:r>
              <a:rPr kumimoji="1" lang="en-US" altLang="zh-CN" sz="2800" dirty="0">
                <a:solidFill>
                  <a:srgbClr val="04926A"/>
                </a:solidFill>
                <a:latin typeface="微软雅黑" panose="020B0503020204020204" pitchFamily="34" charset="-122"/>
                <a:ea typeface="微软雅黑" panose="020B0503020204020204" pitchFamily="34" charset="-122"/>
                <a:cs typeface="+mn-cs"/>
              </a:rPr>
              <a:t>4  </a:t>
            </a:r>
            <a:endParaRPr kumimoji="1" lang="zh-CN" altLang="en-US" sz="2800" dirty="0">
              <a:solidFill>
                <a:srgbClr val="04926A"/>
              </a:solidFill>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8B51F882-29EE-5D59-15D5-A5177D82FDAD}"/>
                  </a:ext>
                </a:extLst>
              </p:cNvPr>
              <p:cNvSpPr txBox="1"/>
              <p:nvPr/>
            </p:nvSpPr>
            <p:spPr>
              <a:xfrm>
                <a:off x="2081511" y="803723"/>
                <a:ext cx="9421514" cy="1651000"/>
              </a:xfrm>
              <a:prstGeom prst="rect">
                <a:avLst/>
              </a:prstGeom>
            </p:spPr>
            <p:txBody>
              <a:bodyPr>
                <a:noAutofit/>
              </a:bodyPr>
              <a:lstStyle/>
              <a:p>
                <a:pPr>
                  <a:lnSpc>
                    <a:spcPct val="110000"/>
                  </a:lnSpc>
                </a:pPr>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求向量场</m:t>
                      </m:r>
                      <m:r>
                        <a:rPr kumimoji="1" lang="zh-CN" altLang="en-US" sz="2800" b="1" i="1">
                          <a:solidFill>
                            <a:prstClr val="black"/>
                          </a:solidFill>
                          <a:latin typeface="Cambria Math" panose="02040503050406030204" pitchFamily="18" charset="0"/>
                          <a:ea typeface="黑体" panose="02010609060101010101" pitchFamily="49" charset="-122"/>
                        </a:rPr>
                        <m:t>𝑨</m:t>
                      </m:r>
                      <m:d>
                        <m:dPr>
                          <m:ctrlPr>
                            <a:rPr kumimoji="1" lang="zh-CN" altLang="en-US" sz="2800" b="1" i="1">
                              <a:solidFill>
                                <a:prstClr val="black"/>
                              </a:solidFill>
                              <a:latin typeface="Cambria Math" panose="02040503050406030204" pitchFamily="18" charset="0"/>
                              <a:ea typeface="黑体" panose="02010609060101010101" pitchFamily="49" charset="-122"/>
                            </a:rPr>
                          </m:ctrlPr>
                        </m:dPr>
                        <m:e>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e>
                      </m:d>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sSup>
                            <m:sSupPr>
                              <m:ctrlPr>
                                <a:rPr kumimoji="1" lang="zh-CN" altLang="en-US" sz="2800" i="1">
                                  <a:solidFill>
                                    <a:prstClr val="black"/>
                                  </a:solidFill>
                                  <a:latin typeface="Cambria Math" panose="02040503050406030204" pitchFamily="18" charset="0"/>
                                  <a:ea typeface="黑体" panose="02010609060101010101" pitchFamily="49" charset="-122"/>
                                </a:rPr>
                              </m:ctrlPr>
                            </m:sSupPr>
                            <m:e>
                              <m:r>
                                <a:rPr kumimoji="1" lang="zh-CN" altLang="en-US" sz="2800">
                                  <a:solidFill>
                                    <a:prstClr val="black"/>
                                  </a:solidFill>
                                  <a:latin typeface="Cambria Math" panose="02040503050406030204" pitchFamily="18" charset="0"/>
                                  <a:ea typeface="黑体" panose="02010609060101010101" pitchFamily="49" charset="-122"/>
                                </a:rPr>
                                <m:t>𝑥</m:t>
                              </m:r>
                            </m:e>
                            <m:sup>
                              <m:r>
                                <a:rPr kumimoji="1" lang="zh-CN" altLang="en-US" sz="2800">
                                  <a:solidFill>
                                    <a:prstClr val="black"/>
                                  </a:solidFill>
                                  <a:latin typeface="Cambria Math" panose="02040503050406030204" pitchFamily="18" charset="0"/>
                                  <a:ea typeface="黑体" panose="02010609060101010101" pitchFamily="49" charset="-122"/>
                                </a:rPr>
                                <m:t>2</m:t>
                              </m:r>
                            </m:sup>
                          </m:sSup>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e>
                      </m:d>
                      <m:r>
                        <a:rPr kumimoji="1" lang="zh-CN" altLang="en-US" sz="2800" b="1" i="1">
                          <a:solidFill>
                            <a:prstClr val="black"/>
                          </a:solidFill>
                          <a:latin typeface="Cambria Math" panose="02040503050406030204" pitchFamily="18" charset="0"/>
                          <a:ea typeface="黑体" panose="02010609060101010101" pitchFamily="49" charset="-122"/>
                        </a:rPr>
                        <m:t>𝒊</m:t>
                      </m:r>
                      <m:r>
                        <a:rPr kumimoji="1" lang="zh-CN" altLang="en-US" sz="2800">
                          <a:solidFill>
                            <a:prstClr val="black"/>
                          </a:solidFill>
                          <a:latin typeface="Cambria Math" panose="02040503050406030204" pitchFamily="18" charset="0"/>
                          <a:ea typeface="黑体" panose="02010609060101010101" pitchFamily="49" charset="-122"/>
                        </a:rPr>
                        <m:t>+4</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b="1" i="1">
                          <a:solidFill>
                            <a:prstClr val="black"/>
                          </a:solidFill>
                          <a:latin typeface="Cambria Math" panose="02040503050406030204" pitchFamily="18" charset="0"/>
                          <a:ea typeface="黑体" panose="02010609060101010101" pitchFamily="49" charset="-122"/>
                        </a:rPr>
                        <m:t>𝒋</m:t>
                      </m:r>
                      <m:r>
                        <a:rPr kumimoji="1" lang="zh-CN" altLang="en-US" sz="2800">
                          <a:solidFill>
                            <a:prstClr val="black"/>
                          </a:solidFill>
                          <a:latin typeface="Cambria Math" panose="02040503050406030204" pitchFamily="18" charset="0"/>
                          <a:ea typeface="黑体" panose="02010609060101010101" pitchFamily="49" charset="-122"/>
                        </a:rPr>
                        <m:t>+</m:t>
                      </m:r>
                      <m:sSup>
                        <m:sSupPr>
                          <m:ctrlPr>
                            <a:rPr kumimoji="1" lang="zh-CN" altLang="en-US" sz="2800" i="1">
                              <a:solidFill>
                                <a:prstClr val="black"/>
                              </a:solidFill>
                              <a:latin typeface="Cambria Math" panose="02040503050406030204" pitchFamily="18" charset="0"/>
                              <a:ea typeface="黑体" panose="02010609060101010101" pitchFamily="49" charset="-122"/>
                            </a:rPr>
                          </m:ctrlPr>
                        </m:sSupPr>
                        <m:e>
                          <m:r>
                            <a:rPr kumimoji="1" lang="zh-CN" altLang="en-US" sz="2800">
                              <a:solidFill>
                                <a:prstClr val="black"/>
                              </a:solidFill>
                              <a:latin typeface="Cambria Math" panose="02040503050406030204" pitchFamily="18" charset="0"/>
                              <a:ea typeface="黑体" panose="02010609060101010101" pitchFamily="49" charset="-122"/>
                            </a:rPr>
                            <m:t>𝑥</m:t>
                          </m:r>
                        </m:e>
                        <m:sup>
                          <m:r>
                            <a:rPr kumimoji="1" lang="zh-CN" altLang="en-US" sz="2800">
                              <a:solidFill>
                                <a:prstClr val="black"/>
                              </a:solidFill>
                              <a:latin typeface="Cambria Math" panose="02040503050406030204" pitchFamily="18" charset="0"/>
                              <a:ea typeface="黑体" panose="02010609060101010101" pitchFamily="49" charset="-122"/>
                            </a:rPr>
                            <m:t>2</m:t>
                          </m:r>
                        </m:sup>
                      </m:sSup>
                      <m:r>
                        <a:rPr kumimoji="1" lang="zh-CN" altLang="en-US" sz="2800" b="1" i="1">
                          <a:solidFill>
                            <a:prstClr val="black"/>
                          </a:solidFill>
                          <a:latin typeface="Cambria Math" panose="02040503050406030204" pitchFamily="18" charset="0"/>
                          <a:ea typeface="黑体" panose="02010609060101010101" pitchFamily="49" charset="-122"/>
                        </a:rPr>
                        <m:t>𝒌</m:t>
                      </m:r>
                      <m:r>
                        <a:rPr kumimoji="1" lang="zh-CN" altLang="en-US" sz="2800">
                          <a:solidFill>
                            <a:prstClr val="black"/>
                          </a:solidFill>
                          <a:latin typeface="Cambria Math" panose="02040503050406030204" pitchFamily="18" charset="0"/>
                          <a:ea typeface="黑体" panose="02010609060101010101" pitchFamily="49" charset="-122"/>
                        </a:rPr>
                        <m:t>沿闭曲线</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i="1">
                          <a:solidFill>
                            <a:prstClr val="black"/>
                          </a:solidFill>
                          <a:latin typeface="Cambria Math" panose="02040503050406030204" pitchFamily="18" charset="0"/>
                          <a:ea typeface="黑体" panose="02010609060101010101" pitchFamily="49" charset="-122"/>
                        </a:rPr>
                        <m:t>𝛤</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的</m:t>
                      </m:r>
                    </m:oMath>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环流量</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其中</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i="1">
                          <a:solidFill>
                            <a:prstClr val="black"/>
                          </a:solidFill>
                          <a:latin typeface="Cambria Math" panose="02040503050406030204" pitchFamily="18" charset="0"/>
                          <a:ea typeface="黑体" panose="02010609060101010101" pitchFamily="49" charset="-122"/>
                        </a:rPr>
                        <m:t>𝛤</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为锥面</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ad>
                        <m:radPr>
                          <m:degHide m:val="on"/>
                          <m:ctrlPr>
                            <a:rPr kumimoji="1" lang="zh-CN" altLang="en-US" sz="2800" i="1">
                              <a:solidFill>
                                <a:prstClr val="black"/>
                              </a:solidFill>
                              <a:latin typeface="Cambria Math" panose="02040503050406030204" pitchFamily="18" charset="0"/>
                              <a:ea typeface="黑体" panose="02010609060101010101" pitchFamily="49" charset="-122"/>
                            </a:rPr>
                          </m:ctrlPr>
                        </m:radPr>
                        <m:deg/>
                        <m:e>
                          <m:sSup>
                            <m:sSupPr>
                              <m:ctrlPr>
                                <a:rPr kumimoji="1" lang="zh-CN" altLang="en-US" sz="2800" i="1">
                                  <a:solidFill>
                                    <a:prstClr val="black"/>
                                  </a:solidFill>
                                  <a:latin typeface="Cambria Math" panose="02040503050406030204" pitchFamily="18" charset="0"/>
                                  <a:ea typeface="黑体" panose="02010609060101010101" pitchFamily="49" charset="-122"/>
                                </a:rPr>
                              </m:ctrlPr>
                            </m:sSupPr>
                            <m:e>
                              <m:r>
                                <a:rPr kumimoji="1" lang="zh-CN" altLang="en-US" sz="2800">
                                  <a:solidFill>
                                    <a:prstClr val="black"/>
                                  </a:solidFill>
                                  <a:latin typeface="Cambria Math" panose="02040503050406030204" pitchFamily="18" charset="0"/>
                                  <a:ea typeface="黑体" panose="02010609060101010101" pitchFamily="49" charset="-122"/>
                                </a:rPr>
                                <m:t>𝑥</m:t>
                              </m:r>
                            </m:e>
                            <m:sup>
                              <m:r>
                                <a:rPr kumimoji="1" lang="zh-CN" altLang="en-US" sz="2800">
                                  <a:solidFill>
                                    <a:prstClr val="black"/>
                                  </a:solidFill>
                                  <a:latin typeface="Cambria Math" panose="02040503050406030204" pitchFamily="18" charset="0"/>
                                  <a:ea typeface="黑体" panose="02010609060101010101" pitchFamily="49" charset="-122"/>
                                </a:rPr>
                                <m:t>2</m:t>
                              </m:r>
                            </m:sup>
                          </m:sSup>
                          <m:r>
                            <a:rPr kumimoji="1" lang="zh-CN" altLang="en-US" sz="2800">
                              <a:solidFill>
                                <a:prstClr val="black"/>
                              </a:solidFill>
                              <a:latin typeface="Cambria Math" panose="02040503050406030204" pitchFamily="18" charset="0"/>
                              <a:ea typeface="黑体" panose="02010609060101010101" pitchFamily="49" charset="-122"/>
                            </a:rPr>
                            <m:t>+</m:t>
                          </m:r>
                          <m:sSup>
                            <m:sSupPr>
                              <m:ctrlPr>
                                <a:rPr kumimoji="1" lang="zh-CN" altLang="en-US" sz="2800" i="1">
                                  <a:solidFill>
                                    <a:prstClr val="black"/>
                                  </a:solidFill>
                                  <a:latin typeface="Cambria Math" panose="02040503050406030204" pitchFamily="18" charset="0"/>
                                  <a:ea typeface="黑体" panose="02010609060101010101" pitchFamily="49" charset="-122"/>
                                </a:rPr>
                              </m:ctrlPr>
                            </m:sSupPr>
                            <m:e>
                              <m:r>
                                <a:rPr kumimoji="1" lang="zh-CN" altLang="en-US" sz="2800">
                                  <a:solidFill>
                                    <a:prstClr val="black"/>
                                  </a:solidFill>
                                  <a:latin typeface="Cambria Math" panose="02040503050406030204" pitchFamily="18" charset="0"/>
                                  <a:ea typeface="黑体" panose="02010609060101010101" pitchFamily="49" charset="-122"/>
                                </a:rPr>
                                <m:t>𝑦</m:t>
                              </m:r>
                            </m:e>
                            <m:sup>
                              <m:r>
                                <a:rPr kumimoji="1" lang="zh-CN" altLang="en-US" sz="2800">
                                  <a:solidFill>
                                    <a:prstClr val="black"/>
                                  </a:solidFill>
                                  <a:latin typeface="Cambria Math" panose="02040503050406030204" pitchFamily="18" charset="0"/>
                                  <a:ea typeface="黑体" panose="02010609060101010101" pitchFamily="49" charset="-122"/>
                                </a:rPr>
                                <m:t>2</m:t>
                              </m:r>
                            </m:sup>
                          </m:sSup>
                        </m:e>
                      </m:rad>
                      <m:r>
                        <a:rPr kumimoji="1" lang="zh-CN" altLang="en-US" sz="2800">
                          <a:solidFill>
                            <a:prstClr val="black"/>
                          </a:solidFill>
                          <a:latin typeface="Cambria Math" panose="02040503050406030204" pitchFamily="18" charset="0"/>
                          <a:ea typeface="黑体" panose="02010609060101010101" pitchFamily="49" charset="-122"/>
                        </a:rPr>
                        <m:t>和平面</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=2</m:t>
                      </m:r>
                      <m:r>
                        <a:rPr kumimoji="1" lang="zh-CN" altLang="en-US" sz="2800">
                          <a:solidFill>
                            <a:prstClr val="black"/>
                          </a:solidFill>
                          <a:latin typeface="Cambria Math" panose="02040503050406030204" pitchFamily="18" charset="0"/>
                          <a:ea typeface="黑体" panose="02010609060101010101" pitchFamily="49" charset="-122"/>
                        </a:rPr>
                        <m:t>的交线</m:t>
                      </m:r>
                      <m:r>
                        <a:rPr kumimoji="1" lang="zh-CN" altLang="en-US" sz="2800">
                          <a:solidFill>
                            <a:prstClr val="black"/>
                          </a:solidFill>
                          <a:latin typeface="Cambria Math" panose="02040503050406030204" pitchFamily="18" charset="0"/>
                          <a:ea typeface="黑体" panose="02010609060101010101" pitchFamily="49" charset="-122"/>
                        </a:rPr>
                        <m:t>,</m:t>
                      </m:r>
                    </m:oMath>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从</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轴正向看</m:t>
                      </m:r>
                      <m:r>
                        <a:rPr kumimoji="1" lang="en-US" altLang="zh-CN" sz="2800" b="0" i="1" smtClean="0">
                          <a:solidFill>
                            <a:prstClr val="black"/>
                          </a:solidFill>
                          <a:latin typeface="Cambria Math" panose="02040503050406030204" pitchFamily="18" charset="0"/>
                          <a:ea typeface="黑体" panose="02010609060101010101" pitchFamily="49" charset="-122"/>
                        </a:rPr>
                        <m:t> </m:t>
                      </m:r>
                      <m:r>
                        <a:rPr kumimoji="1" lang="zh-CN" altLang="en-US" sz="2800" i="1">
                          <a:solidFill>
                            <a:prstClr val="black"/>
                          </a:solidFill>
                          <a:latin typeface="Cambria Math" panose="02040503050406030204" pitchFamily="18" charset="0"/>
                          <a:ea typeface="黑体" panose="02010609060101010101" pitchFamily="49" charset="-122"/>
                        </a:rPr>
                        <m:t>𝛤</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为逆时针方向</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3" name="对象 2">
                <a:extLst>
                  <a:ext uri="{FF2B5EF4-FFF2-40B4-BE49-F238E27FC236}">
                    <a16:creationId xmlns:a16="http://schemas.microsoft.com/office/drawing/2014/main" id="{8B51F882-29EE-5D59-15D5-A5177D82FDAD}"/>
                  </a:ext>
                </a:extLst>
              </p:cNvPr>
              <p:cNvSpPr txBox="1">
                <a:spLocks noRot="1" noChangeAspect="1" noMove="1" noResize="1" noEditPoints="1" noAdjustHandles="1" noChangeArrowheads="1" noChangeShapeType="1" noTextEdit="1"/>
              </p:cNvSpPr>
              <p:nvPr/>
            </p:nvSpPr>
            <p:spPr>
              <a:xfrm>
                <a:off x="2081511" y="803723"/>
                <a:ext cx="9421514" cy="1651000"/>
              </a:xfrm>
              <a:prstGeom prst="rect">
                <a:avLst/>
              </a:prstGeom>
              <a:blipFill>
                <a:blip r:embed="rId2"/>
                <a:stretch>
                  <a:fillRect/>
                </a:stretch>
              </a:blipFill>
            </p:spPr>
            <p:txBody>
              <a:bodyPr/>
              <a:lstStyle/>
              <a:p>
                <a:r>
                  <a:rPr lang="zh-CN" altLang="en-US">
                    <a:noFill/>
                  </a:rPr>
                  <a:t> </a:t>
                </a:r>
              </a:p>
            </p:txBody>
          </p:sp>
        </mc:Fallback>
      </mc:AlternateContent>
      <p:sp>
        <p:nvSpPr>
          <p:cNvPr id="4" name="Rectangle 38">
            <a:extLst>
              <a:ext uri="{FF2B5EF4-FFF2-40B4-BE49-F238E27FC236}">
                <a16:creationId xmlns:a16="http://schemas.microsoft.com/office/drawing/2014/main" id="{FDA66CB3-DAF7-1F9B-2A33-6267C13DD53A}"/>
              </a:ext>
            </a:extLst>
          </p:cNvPr>
          <p:cNvSpPr txBox="1">
            <a:spLocks noChangeArrowheads="1"/>
          </p:cNvSpPr>
          <p:nvPr/>
        </p:nvSpPr>
        <p:spPr>
          <a:xfrm>
            <a:off x="1279338" y="2464248"/>
            <a:ext cx="606013" cy="609600"/>
          </a:xfrm>
          <a:prstGeom prst="rect">
            <a:avLst/>
          </a:prstGeom>
        </p:spPr>
        <p:txBody>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kumimoji="1" lang="zh-CN" altLang="en-US" sz="2800" dirty="0">
                <a:solidFill>
                  <a:srgbClr val="04926A"/>
                </a:solidFill>
                <a:latin typeface="微软雅黑" panose="020B0503020204020204" pitchFamily="34" charset="-122"/>
                <a:ea typeface="微软雅黑" panose="020B0503020204020204" pitchFamily="34" charset="-122"/>
                <a:cs typeface="+mn-cs"/>
              </a:rPr>
              <a:t>解</a:t>
            </a:r>
            <a:r>
              <a:rPr kumimoji="1" lang="en-US" altLang="zh-CN" sz="2800" dirty="0">
                <a:solidFill>
                  <a:srgbClr val="04926A"/>
                </a:solidFill>
                <a:latin typeface="微软雅黑" panose="020B0503020204020204" pitchFamily="34" charset="-122"/>
                <a:ea typeface="微软雅黑" panose="020B0503020204020204" pitchFamily="34" charset="-122"/>
                <a:cs typeface="+mn-cs"/>
              </a:rPr>
              <a:t> </a:t>
            </a:r>
            <a:endParaRPr kumimoji="1" lang="zh-CN" altLang="en-US" sz="2800" dirty="0">
              <a:solidFill>
                <a:srgbClr val="04926A"/>
              </a:solidFill>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28D40D68-2FF2-7010-28B3-035B7D196FD7}"/>
                  </a:ext>
                </a:extLst>
              </p:cNvPr>
              <p:cNvSpPr txBox="1"/>
              <p:nvPr/>
            </p:nvSpPr>
            <p:spPr>
              <a:xfrm>
                <a:off x="2081511" y="2464248"/>
                <a:ext cx="2425700" cy="4064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i="1" smtClean="0">
                          <a:solidFill>
                            <a:schemeClr val="tx1">
                              <a:lumMod val="95000"/>
                              <a:lumOff val="5000"/>
                            </a:schemeClr>
                          </a:solidFill>
                          <a:latin typeface="Cambria Math" panose="02040503050406030204" charset="0"/>
                          <a:ea typeface="黑体" panose="02010609060101010101" pitchFamily="49" charset="-122"/>
                        </a:rPr>
                        <m:t>𝛤</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200">
                          <a:solidFill>
                            <a:schemeClr val="tx1">
                              <a:lumMod val="95000"/>
                              <a:lumOff val="5000"/>
                            </a:schemeClr>
                          </a:solidFill>
                          <a:latin typeface="Cambria Math" panose="02040503050406030204" charset="0"/>
                          <a:ea typeface="黑体" panose="02010609060101010101" pitchFamily="49" charset="-122"/>
                        </a:rPr>
                        <m:t>的向量方程为</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5" name="对象 4">
                <a:extLst>
                  <a:ext uri="{FF2B5EF4-FFF2-40B4-BE49-F238E27FC236}">
                    <a16:creationId xmlns:a16="http://schemas.microsoft.com/office/drawing/2014/main" id="{28D40D68-2FF2-7010-28B3-035B7D196FD7}"/>
                  </a:ext>
                </a:extLst>
              </p:cNvPr>
              <p:cNvSpPr txBox="1">
                <a:spLocks noRot="1" noChangeAspect="1" noMove="1" noResize="1" noEditPoints="1" noAdjustHandles="1" noChangeArrowheads="1" noChangeShapeType="1" noTextEdit="1"/>
              </p:cNvSpPr>
              <p:nvPr/>
            </p:nvSpPr>
            <p:spPr>
              <a:xfrm>
                <a:off x="2081511" y="2464248"/>
                <a:ext cx="2425700" cy="406400"/>
              </a:xfrm>
              <a:prstGeom prst="rect">
                <a:avLst/>
              </a:prstGeom>
              <a:blipFill>
                <a:blip r:embed="rId3"/>
                <a:stretch>
                  <a:fillRect l="-251" b="-194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B096801D-B128-125A-2418-07ABF5F81F3C}"/>
                  </a:ext>
                </a:extLst>
              </p:cNvPr>
              <p:cNvSpPr txBox="1"/>
              <p:nvPr/>
            </p:nvSpPr>
            <p:spPr>
              <a:xfrm>
                <a:off x="4066147" y="2388176"/>
                <a:ext cx="5740400" cy="3937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𝒓</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𝒊</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𝒋</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𝒌</m:t>
                      </m:r>
                      <m:r>
                        <a:rPr kumimoji="1" lang="zh-CN" altLang="en-US" sz="2200">
                          <a:solidFill>
                            <a:schemeClr val="tx1">
                              <a:lumMod val="95000"/>
                              <a:lumOff val="5000"/>
                            </a:schemeClr>
                          </a:solidFill>
                          <a:latin typeface="Cambria Math" panose="02040503050406030204" charset="0"/>
                          <a:ea typeface="黑体" panose="02010609060101010101" pitchFamily="49" charset="-122"/>
                        </a:rPr>
                        <m:t>, 0</m:t>
                      </m:r>
                      <m:r>
                        <m:rPr>
                          <m:nor/>
                        </m:rPr>
                        <a:rPr lang="en-US" altLang="zh-CN" sz="2200" dirty="0">
                          <a:latin typeface="宋体" panose="02010600030101010101" pitchFamily="2"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r>
                        <m:rPr>
                          <m:nor/>
                        </m:rPr>
                        <a:rPr lang="en-US" altLang="zh-CN" sz="2200" dirty="0">
                          <a:latin typeface="宋体" panose="02010600030101010101" pitchFamily="2"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π</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6" name="对象 5">
                <a:extLst>
                  <a:ext uri="{FF2B5EF4-FFF2-40B4-BE49-F238E27FC236}">
                    <a16:creationId xmlns:a16="http://schemas.microsoft.com/office/drawing/2014/main" id="{B096801D-B128-125A-2418-07ABF5F81F3C}"/>
                  </a:ext>
                </a:extLst>
              </p:cNvPr>
              <p:cNvSpPr txBox="1">
                <a:spLocks noRot="1" noChangeAspect="1" noMove="1" noResize="1" noEditPoints="1" noAdjustHandles="1" noChangeArrowheads="1" noChangeShapeType="1" noTextEdit="1"/>
              </p:cNvSpPr>
              <p:nvPr/>
            </p:nvSpPr>
            <p:spPr>
              <a:xfrm>
                <a:off x="4066147" y="2388176"/>
                <a:ext cx="5740400" cy="393700"/>
              </a:xfrm>
              <a:prstGeom prst="rect">
                <a:avLst/>
              </a:prstGeom>
              <a:blipFill>
                <a:blip r:embed="rId4"/>
                <a:stretch>
                  <a:fillRect b="-7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对象 6">
                <a:extLst>
                  <a:ext uri="{FF2B5EF4-FFF2-40B4-BE49-F238E27FC236}">
                    <a16:creationId xmlns:a16="http://schemas.microsoft.com/office/drawing/2014/main" id="{AA67419C-0C4A-40C3-3F45-D63EF3CDF782}"/>
                  </a:ext>
                </a:extLst>
              </p:cNvPr>
              <p:cNvSpPr txBox="1"/>
              <p:nvPr/>
            </p:nvSpPr>
            <p:spPr>
              <a:xfrm>
                <a:off x="2041525" y="2967746"/>
                <a:ext cx="5219700" cy="4699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∵  </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𝑨</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𝑦</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𝒊</m:t>
                      </m:r>
                      <m:r>
                        <a:rPr kumimoji="1" lang="zh-CN" altLang="en-US" sz="2200">
                          <a:solidFill>
                            <a:schemeClr val="tx1">
                              <a:lumMod val="95000"/>
                              <a:lumOff val="5000"/>
                            </a:schemeClr>
                          </a:solidFill>
                          <a:latin typeface="Cambria Math" panose="02040503050406030204" charset="0"/>
                          <a:ea typeface="黑体" panose="02010609060101010101" pitchFamily="49" charset="-122"/>
                        </a:rPr>
                        <m:t>+4</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𝑧</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𝒋</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a:rPr kumimoji="1" lang="zh-CN" altLang="en-US" sz="2200" b="0" i="1">
                              <a:solidFill>
                                <a:schemeClr val="tx1">
                                  <a:lumMod val="95000"/>
                                  <a:lumOff val="5000"/>
                                </a:schemeClr>
                              </a:solidFill>
                              <a:latin typeface="Cambria Math" panose="02040503050406030204" charset="0"/>
                              <a:ea typeface="黑体" panose="02010609060101010101" pitchFamily="49" charset="-122"/>
                            </a:rPr>
                            <m:t>𝑥</m:t>
                          </m:r>
                        </m:e>
                        <m:sup>
                          <m:r>
                            <a:rPr kumimoji="1" lang="zh-CN" altLang="en-US" sz="2200" b="0" i="1">
                              <a:solidFill>
                                <a:schemeClr val="tx1">
                                  <a:lumMod val="95000"/>
                                  <a:lumOff val="5000"/>
                                </a:schemeClr>
                              </a:solidFill>
                              <a:latin typeface="Cambria Math" panose="02040503050406030204" charset="0"/>
                              <a:ea typeface="黑体" panose="02010609060101010101" pitchFamily="49" charset="-122"/>
                            </a:rPr>
                            <m:t>2</m:t>
                          </m:r>
                        </m:sup>
                      </m:sSup>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𝒌</m:t>
                      </m:r>
                    </m:oMath>
                  </m:oMathPara>
                </a14:m>
                <a:endParaRPr kumimoji="1" lang="zh-CN" altLang="en-US" sz="2200" b="1"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7" name="对象 6">
                <a:extLst>
                  <a:ext uri="{FF2B5EF4-FFF2-40B4-BE49-F238E27FC236}">
                    <a16:creationId xmlns:a16="http://schemas.microsoft.com/office/drawing/2014/main" id="{AA67419C-0C4A-40C3-3F45-D63EF3CDF782}"/>
                  </a:ext>
                </a:extLst>
              </p:cNvPr>
              <p:cNvSpPr txBox="1">
                <a:spLocks noRot="1" noChangeAspect="1" noMove="1" noResize="1" noEditPoints="1" noAdjustHandles="1" noChangeArrowheads="1" noChangeShapeType="1" noTextEdit="1"/>
              </p:cNvSpPr>
              <p:nvPr/>
            </p:nvSpPr>
            <p:spPr>
              <a:xfrm>
                <a:off x="2041525" y="2967746"/>
                <a:ext cx="5219700" cy="469900"/>
              </a:xfrm>
              <a:prstGeom prst="rect">
                <a:avLst/>
              </a:prstGeom>
              <a:blipFill>
                <a:blip r:embed="rId5"/>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0DC5525D-E5EC-477E-5958-50DA7AF4DC3C}"/>
                  </a:ext>
                </a:extLst>
              </p:cNvPr>
              <p:cNvSpPr txBox="1"/>
              <p:nvPr/>
            </p:nvSpPr>
            <p:spPr>
              <a:xfrm>
                <a:off x="3624213" y="3441333"/>
                <a:ext cx="5346700" cy="4699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=(4</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𝒊</m:t>
                      </m:r>
                      <m:r>
                        <a:rPr kumimoji="1" lang="zh-CN" altLang="en-US" sz="2200">
                          <a:solidFill>
                            <a:schemeClr val="tx1">
                              <a:lumMod val="95000"/>
                              <a:lumOff val="5000"/>
                            </a:schemeClr>
                          </a:solidFill>
                          <a:latin typeface="Cambria Math" panose="02040503050406030204" charset="0"/>
                          <a:ea typeface="黑体" panose="02010609060101010101" pitchFamily="49" charset="-122"/>
                        </a:rPr>
                        <m:t>+8</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𝒋</m:t>
                      </m:r>
                      <m:r>
                        <a:rPr kumimoji="1" lang="zh-CN" altLang="en-US" sz="2200">
                          <a:solidFill>
                            <a:schemeClr val="tx1">
                              <a:lumMod val="95000"/>
                              <a:lumOff val="5000"/>
                            </a:schemeClr>
                          </a:solidFill>
                          <a:latin typeface="Cambria Math" panose="02040503050406030204" charset="0"/>
                          <a:ea typeface="黑体" panose="02010609060101010101" pitchFamily="49" charset="-122"/>
                        </a:rPr>
                        <m:t>+4</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𝒌</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func>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8" name="对象 7">
                <a:extLst>
                  <a:ext uri="{FF2B5EF4-FFF2-40B4-BE49-F238E27FC236}">
                    <a16:creationId xmlns:a16="http://schemas.microsoft.com/office/drawing/2014/main" id="{0DC5525D-E5EC-477E-5958-50DA7AF4DC3C}"/>
                  </a:ext>
                </a:extLst>
              </p:cNvPr>
              <p:cNvSpPr txBox="1">
                <a:spLocks noRot="1" noChangeAspect="1" noMove="1" noResize="1" noEditPoints="1" noAdjustHandles="1" noChangeArrowheads="1" noChangeShapeType="1" noTextEdit="1"/>
              </p:cNvSpPr>
              <p:nvPr/>
            </p:nvSpPr>
            <p:spPr>
              <a:xfrm>
                <a:off x="3624213" y="3441333"/>
                <a:ext cx="5346700" cy="469900"/>
              </a:xfrm>
              <a:prstGeom prst="rect">
                <a:avLst/>
              </a:prstGeom>
              <a:blipFill>
                <a:blip r:embed="rId6"/>
                <a:stretch>
                  <a:fillRect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象 8">
                <a:extLst>
                  <a:ext uri="{FF2B5EF4-FFF2-40B4-BE49-F238E27FC236}">
                    <a16:creationId xmlns:a16="http://schemas.microsoft.com/office/drawing/2014/main" id="{505EE530-4581-D0EE-84E4-7F6A3736334A}"/>
                  </a:ext>
                </a:extLst>
              </p:cNvPr>
              <p:cNvSpPr txBox="1"/>
              <p:nvPr/>
            </p:nvSpPr>
            <p:spPr>
              <a:xfrm>
                <a:off x="3268961" y="4010170"/>
                <a:ext cx="4517354" cy="3937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𝒓</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𝒊</m:t>
                      </m:r>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𝒋</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9" name="对象 8">
                <a:extLst>
                  <a:ext uri="{FF2B5EF4-FFF2-40B4-BE49-F238E27FC236}">
                    <a16:creationId xmlns:a16="http://schemas.microsoft.com/office/drawing/2014/main" id="{505EE530-4581-D0EE-84E4-7F6A3736334A}"/>
                  </a:ext>
                </a:extLst>
              </p:cNvPr>
              <p:cNvSpPr txBox="1">
                <a:spLocks noRot="1" noChangeAspect="1" noMove="1" noResize="1" noEditPoints="1" noAdjustHandles="1" noChangeArrowheads="1" noChangeShapeType="1" noTextEdit="1"/>
              </p:cNvSpPr>
              <p:nvPr/>
            </p:nvSpPr>
            <p:spPr>
              <a:xfrm>
                <a:off x="3268961" y="4010170"/>
                <a:ext cx="4517354" cy="393700"/>
              </a:xfrm>
              <a:prstGeom prst="rect">
                <a:avLst/>
              </a:prstGeom>
              <a:blipFill>
                <a:blip r:embed="rId7"/>
                <a:stretch>
                  <a:fillRect l="-135" b="-31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79A4E6C4-3426-560B-DB04-F199145EB6DE}"/>
                  </a:ext>
                </a:extLst>
              </p:cNvPr>
              <p:cNvSpPr txBox="1"/>
              <p:nvPr/>
            </p:nvSpPr>
            <p:spPr>
              <a:xfrm>
                <a:off x="2056218" y="4515841"/>
                <a:ext cx="3429300" cy="813084"/>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smtClean="0">
                          <a:solidFill>
                            <a:schemeClr val="tx1">
                              <a:lumMod val="95000"/>
                              <a:lumOff val="5000"/>
                            </a:schemeClr>
                          </a:solidFill>
                          <a:latin typeface="Cambria Math" panose="02040503050406030204" charset="0"/>
                          <a:ea typeface="黑体" panose="02010609060101010101" pitchFamily="49" charset="-122"/>
                        </a:rPr>
                        <m:t>∴</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rPr>
                            <m:t>𝛤</m:t>
                          </m:r>
                        </m:sub>
                        <m:sup/>
                        <m:e>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𝑨</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𝝉</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𝑠</m:t>
                          </m:r>
                        </m:e>
                      </m:nary>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nary>
                        <m:naryPr>
                          <m:chr m:val="∮"/>
                          <m:supHide m:val="on"/>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i="1">
                              <a:solidFill>
                                <a:schemeClr val="tx1">
                                  <a:lumMod val="95000"/>
                                  <a:lumOff val="5000"/>
                                </a:schemeClr>
                              </a:solidFill>
                              <a:latin typeface="Cambria Math" panose="02040503050406030204" charset="0"/>
                              <a:ea typeface="黑体" panose="02010609060101010101" pitchFamily="49" charset="-122"/>
                            </a:rPr>
                            <m:t>𝛤</m:t>
                          </m:r>
                        </m:sub>
                        <m:sup/>
                        <m:e>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𝑨</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b="1" i="1">
                              <a:solidFill>
                                <a:schemeClr val="tx1">
                                  <a:lumMod val="95000"/>
                                  <a:lumOff val="5000"/>
                                </a:schemeClr>
                              </a:solidFill>
                              <a:latin typeface="Cambria Math" panose="02040503050406030204" charset="0"/>
                              <a:ea typeface="黑体" panose="02010609060101010101" pitchFamily="49" charset="-122"/>
                            </a:rPr>
                            <m:t>𝒓</m:t>
                          </m:r>
                          <m:r>
                            <a:rPr kumimoji="1" lang="en-US" altLang="zh-CN" sz="2200" b="0" i="0" smtClean="0">
                              <a:solidFill>
                                <a:schemeClr val="tx1">
                                  <a:lumMod val="95000"/>
                                  <a:lumOff val="5000"/>
                                </a:schemeClr>
                              </a:solidFill>
                              <a:latin typeface="Cambria Math" panose="02040503050406030204" pitchFamily="18" charset="0"/>
                              <a:ea typeface="黑体" panose="02010609060101010101" pitchFamily="49" charset="-122"/>
                            </a:rPr>
                            <m:t> </m:t>
                          </m:r>
                        </m:e>
                      </m:nary>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0" name="对象 9">
                <a:extLst>
                  <a:ext uri="{FF2B5EF4-FFF2-40B4-BE49-F238E27FC236}">
                    <a16:creationId xmlns:a16="http://schemas.microsoft.com/office/drawing/2014/main" id="{79A4E6C4-3426-560B-DB04-F199145EB6DE}"/>
                  </a:ext>
                </a:extLst>
              </p:cNvPr>
              <p:cNvSpPr txBox="1">
                <a:spLocks noRot="1" noChangeAspect="1" noMove="1" noResize="1" noEditPoints="1" noAdjustHandles="1" noChangeArrowheads="1" noChangeShapeType="1" noTextEdit="1"/>
              </p:cNvSpPr>
              <p:nvPr/>
            </p:nvSpPr>
            <p:spPr>
              <a:xfrm>
                <a:off x="2056218" y="4515841"/>
                <a:ext cx="3429300" cy="813084"/>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对象 10">
                <a:extLst>
                  <a:ext uri="{FF2B5EF4-FFF2-40B4-BE49-F238E27FC236}">
                    <a16:creationId xmlns:a16="http://schemas.microsoft.com/office/drawing/2014/main" id="{F3B3E0E4-CA23-0D42-11D8-AFE0ABB4286F}"/>
                  </a:ext>
                </a:extLst>
              </p:cNvPr>
              <p:cNvSpPr txBox="1"/>
              <p:nvPr/>
            </p:nvSpPr>
            <p:spPr>
              <a:xfrm>
                <a:off x="3633738" y="5333956"/>
                <a:ext cx="6627513" cy="813084"/>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nary>
                        <m:nary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naryPr>
                        <m:sub>
                          <m:r>
                            <a:rPr kumimoji="1" lang="zh-CN" altLang="en-US" sz="2200">
                              <a:solidFill>
                                <a:schemeClr val="tx1">
                                  <a:lumMod val="95000"/>
                                  <a:lumOff val="5000"/>
                                </a:schemeClr>
                              </a:solidFill>
                              <a:latin typeface="Cambria Math" panose="02040503050406030204" charset="0"/>
                              <a:ea typeface="黑体" panose="02010609060101010101" pitchFamily="49" charset="-122"/>
                            </a:rPr>
                            <m:t>0</m:t>
                          </m:r>
                        </m:sub>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π</m:t>
                          </m:r>
                        </m:sup>
                        <m:e>
                          <m:r>
                            <a:rPr kumimoji="1" lang="zh-CN" altLang="en-US" sz="2200">
                              <a:solidFill>
                                <a:schemeClr val="tx1">
                                  <a:lumMod val="95000"/>
                                  <a:lumOff val="5000"/>
                                </a:schemeClr>
                              </a:solidFill>
                              <a:latin typeface="Cambria Math" panose="02040503050406030204" charset="0"/>
                              <a:ea typeface="黑体" panose="02010609060101010101" pitchFamily="49" charset="-122"/>
                            </a:rPr>
                            <m:t>(−8</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+4</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sSup>
                                <m:sSup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sSupPr>
                                <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sin</m:t>
                                  </m:r>
                                </m:e>
                                <m:sup>
                                  <m:r>
                                    <a:rPr kumimoji="1" lang="zh-CN" altLang="en-US" sz="2200">
                                      <a:solidFill>
                                        <a:schemeClr val="tx1">
                                          <a:lumMod val="95000"/>
                                          <a:lumOff val="5000"/>
                                        </a:schemeClr>
                                      </a:solidFill>
                                      <a:latin typeface="Cambria Math" panose="02040503050406030204" charset="0"/>
                                      <a:ea typeface="黑体" panose="02010609060101010101" pitchFamily="49" charset="-122"/>
                                    </a:rPr>
                                    <m:t>2</m:t>
                                  </m:r>
                                </m:sup>
                              </m:sSup>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+16</m:t>
                          </m:r>
                          <m:func>
                            <m:funcPr>
                              <m:ctrlPr>
                                <a:rPr kumimoji="1" lang="zh-CN" altLang="en-US" sz="2200" i="1">
                                  <a:solidFill>
                                    <a:schemeClr val="tx1">
                                      <a:lumMod val="95000"/>
                                      <a:lumOff val="5000"/>
                                    </a:schemeClr>
                                  </a:solidFill>
                                  <a:latin typeface="Cambria Math" panose="02040503050406030204" pitchFamily="18" charset="0"/>
                                  <a:ea typeface="黑体" panose="02010609060101010101" pitchFamily="49" charset="-122"/>
                                </a:rPr>
                              </m:ctrlPr>
                            </m:funcPr>
                            <m:fName>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cos</m:t>
                              </m:r>
                            </m:fName>
                            <m:e>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e>
                          </m:func>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e>
                      </m:nary>
                      <m:r>
                        <m:rPr>
                          <m:sty m:val="p"/>
                        </m:rPr>
                        <a:rPr kumimoji="1" lang="zh-CN" altLang="en-US" sz="2200">
                          <a:solidFill>
                            <a:schemeClr val="tx1">
                              <a:lumMod val="95000"/>
                              <a:lumOff val="5000"/>
                            </a:schemeClr>
                          </a:solidFill>
                          <a:latin typeface="Cambria Math" panose="02040503050406030204" charset="0"/>
                          <a:ea typeface="黑体" panose="02010609060101010101" pitchFamily="49" charset="-122"/>
                        </a:rPr>
                        <m:t>d</m:t>
                      </m:r>
                      <m:r>
                        <a:rPr kumimoji="1" lang="zh-CN" altLang="en-US" sz="2200">
                          <a:solidFill>
                            <a:schemeClr val="tx1">
                              <a:lumMod val="95000"/>
                              <a:lumOff val="5000"/>
                            </a:schemeClr>
                          </a:solidFill>
                          <a:latin typeface="Cambria Math" panose="02040503050406030204" charset="0"/>
                          <a:ea typeface="黑体" panose="02010609060101010101" pitchFamily="49" charset="-122"/>
                        </a:rPr>
                        <m:t>𝜃</m:t>
                      </m:r>
                      <m:r>
                        <a:rPr kumimoji="1" lang="zh-CN" altLang="en-US" sz="2200">
                          <a:solidFill>
                            <a:schemeClr val="tx1">
                              <a:lumMod val="95000"/>
                              <a:lumOff val="5000"/>
                            </a:schemeClr>
                          </a:solidFill>
                          <a:latin typeface="Cambria Math" panose="02040503050406030204" charset="0"/>
                          <a:ea typeface="黑体" panose="02010609060101010101" pitchFamily="49" charset="-122"/>
                        </a:rPr>
                        <m:t>=4</m:t>
                      </m:r>
                      <m:r>
                        <m:rPr>
                          <m:sty m:val="p"/>
                        </m:rPr>
                        <a:rPr kumimoji="1" lang="zh-CN" altLang="en-US" sz="2200" i="0">
                          <a:solidFill>
                            <a:schemeClr val="tx1">
                              <a:lumMod val="95000"/>
                              <a:lumOff val="5000"/>
                            </a:schemeClr>
                          </a:solidFill>
                          <a:latin typeface="Cambria Math" panose="02040503050406030204" charset="0"/>
                          <a:ea typeface="黑体" panose="02010609060101010101" pitchFamily="49" charset="-122"/>
                        </a:rPr>
                        <m:t>π</m:t>
                      </m:r>
                      <m:r>
                        <a:rPr kumimoji="1" lang="zh-CN" altLang="en-US" sz="2200">
                          <a:solidFill>
                            <a:schemeClr val="tx1">
                              <a:lumMod val="95000"/>
                              <a:lumOff val="5000"/>
                            </a:schemeClr>
                          </a:solidFill>
                          <a:latin typeface="Cambria Math" panose="02040503050406030204" charset="0"/>
                          <a:ea typeface="黑体" panose="02010609060101010101" pitchFamily="49" charset="-122"/>
                        </a:rPr>
                        <m:t>.</m:t>
                      </m:r>
                    </m:oMath>
                  </m:oMathPara>
                </a14:m>
                <a:endParaRPr kumimoji="1" lang="zh-CN" altLang="en-US" sz="2200" dirty="0">
                  <a:solidFill>
                    <a:schemeClr val="tx1">
                      <a:lumMod val="95000"/>
                      <a:lumOff val="5000"/>
                    </a:schemeClr>
                  </a:solidFill>
                  <a:latin typeface="Cambria Math" panose="02040503050406030204" charset="0"/>
                  <a:ea typeface="黑体" panose="02010609060101010101" pitchFamily="49" charset="-122"/>
                </a:endParaRPr>
              </a:p>
            </p:txBody>
          </p:sp>
        </mc:Choice>
        <mc:Fallback xmlns="">
          <p:sp>
            <p:nvSpPr>
              <p:cNvPr id="11" name="对象 10">
                <a:extLst>
                  <a:ext uri="{FF2B5EF4-FFF2-40B4-BE49-F238E27FC236}">
                    <a16:creationId xmlns:a16="http://schemas.microsoft.com/office/drawing/2014/main" id="{F3B3E0E4-CA23-0D42-11D8-AFE0ABB4286F}"/>
                  </a:ext>
                </a:extLst>
              </p:cNvPr>
              <p:cNvSpPr txBox="1">
                <a:spLocks noRot="1" noChangeAspect="1" noMove="1" noResize="1" noEditPoints="1" noAdjustHandles="1" noChangeArrowheads="1" noChangeShapeType="1" noTextEdit="1"/>
              </p:cNvSpPr>
              <p:nvPr/>
            </p:nvSpPr>
            <p:spPr>
              <a:xfrm>
                <a:off x="3633738" y="5333956"/>
                <a:ext cx="6627513" cy="813084"/>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6324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A49D58CB-7355-1182-215E-69E968EFA3E8}"/>
              </a:ext>
            </a:extLst>
          </p:cNvPr>
          <p:cNvGrpSpPr/>
          <p:nvPr/>
        </p:nvGrpSpPr>
        <p:grpSpPr>
          <a:xfrm>
            <a:off x="0" y="-181"/>
            <a:ext cx="12192000" cy="6863080"/>
            <a:chOff x="0" y="-181"/>
            <a:chExt cx="12192000" cy="6863080"/>
          </a:xfrm>
        </p:grpSpPr>
        <p:grpSp>
          <p:nvGrpSpPr>
            <p:cNvPr id="9" name="组合 8">
              <a:extLst>
                <a:ext uri="{FF2B5EF4-FFF2-40B4-BE49-F238E27FC236}">
                  <a16:creationId xmlns:a16="http://schemas.microsoft.com/office/drawing/2014/main" id="{C0DBE4FE-67E6-2588-5A76-6574DAC2E2FC}"/>
                </a:ext>
              </a:extLst>
            </p:cNvPr>
            <p:cNvGrpSpPr/>
            <p:nvPr/>
          </p:nvGrpSpPr>
          <p:grpSpPr>
            <a:xfrm>
              <a:off x="0" y="-181"/>
              <a:ext cx="12192000" cy="6863080"/>
              <a:chOff x="0" y="-8"/>
              <a:chExt cx="19200" cy="10808"/>
            </a:xfrm>
          </p:grpSpPr>
          <p:sp>
            <p:nvSpPr>
              <p:cNvPr id="17" name="Rectangle 1">
                <a:extLst>
                  <a:ext uri="{FF2B5EF4-FFF2-40B4-BE49-F238E27FC236}">
                    <a16:creationId xmlns:a16="http://schemas.microsoft.com/office/drawing/2014/main" id="{85CC2D83-9B85-12C5-F09E-6A4E74960B15}"/>
                  </a:ext>
                </a:extLst>
              </p:cNvPr>
              <p:cNvSpPr/>
              <p:nvPr/>
            </p:nvSpPr>
            <p:spPr>
              <a:xfrm>
                <a:off x="0" y="-8"/>
                <a:ext cx="19200" cy="10808"/>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8" name="圆角矩形 16">
                <a:extLst>
                  <a:ext uri="{FF2B5EF4-FFF2-40B4-BE49-F238E27FC236}">
                    <a16:creationId xmlns:a16="http://schemas.microsoft.com/office/drawing/2014/main" id="{E8659022-F878-6D26-1EEB-3DD997DC6D11}"/>
                  </a:ext>
                </a:extLst>
              </p:cNvPr>
              <p:cNvSpPr/>
              <p:nvPr/>
            </p:nvSpPr>
            <p:spPr>
              <a:xfrm>
                <a:off x="354" y="310"/>
                <a:ext cx="18493" cy="10167"/>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0" name="组合 9">
              <a:extLst>
                <a:ext uri="{FF2B5EF4-FFF2-40B4-BE49-F238E27FC236}">
                  <a16:creationId xmlns:a16="http://schemas.microsoft.com/office/drawing/2014/main" id="{369BBE79-5CA5-6F49-C844-4AD6A8275A70}"/>
                </a:ext>
              </a:extLst>
            </p:cNvPr>
            <p:cNvGrpSpPr/>
            <p:nvPr/>
          </p:nvGrpSpPr>
          <p:grpSpPr>
            <a:xfrm>
              <a:off x="0" y="239357"/>
              <a:ext cx="11993046" cy="6427310"/>
              <a:chOff x="0" y="239357"/>
              <a:chExt cx="11993046" cy="6427310"/>
            </a:xfrm>
          </p:grpSpPr>
          <p:sp>
            <p:nvSpPr>
              <p:cNvPr id="11" name="Rectangle 1">
                <a:extLst>
                  <a:ext uri="{FF2B5EF4-FFF2-40B4-BE49-F238E27FC236}">
                    <a16:creationId xmlns:a16="http://schemas.microsoft.com/office/drawing/2014/main" id="{B815F398-F25E-E7C1-98F9-80D1197119F5}"/>
                  </a:ext>
                </a:extLst>
              </p:cNvPr>
              <p:cNvSpPr/>
              <p:nvPr userDrawn="1"/>
            </p:nvSpPr>
            <p:spPr>
              <a:xfrm>
                <a:off x="297498" y="64715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矩形 11">
                <a:extLst>
                  <a:ext uri="{FF2B5EF4-FFF2-40B4-BE49-F238E27FC236}">
                    <a16:creationId xmlns:a16="http://schemas.microsoft.com/office/drawing/2014/main" id="{07439279-B9A2-A59A-20E5-C257EC685EBC}"/>
                  </a:ext>
                </a:extLst>
              </p:cNvPr>
              <p:cNvSpPr/>
              <p:nvPr/>
            </p:nvSpPr>
            <p:spPr>
              <a:xfrm>
                <a:off x="476885" y="6358890"/>
                <a:ext cx="3784600" cy="307777"/>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  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13" name="Rectangle 1">
                <a:extLst>
                  <a:ext uri="{FF2B5EF4-FFF2-40B4-BE49-F238E27FC236}">
                    <a16:creationId xmlns:a16="http://schemas.microsoft.com/office/drawing/2014/main" id="{5152FECD-C921-A08B-FF50-4690FEE90D99}"/>
                  </a:ext>
                </a:extLst>
              </p:cNvPr>
              <p:cNvSpPr/>
              <p:nvPr userDrawn="1"/>
            </p:nvSpPr>
            <p:spPr>
              <a:xfrm rot="2659048">
                <a:off x="9060538" y="323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矩形 13">
                <a:extLst>
                  <a:ext uri="{FF2B5EF4-FFF2-40B4-BE49-F238E27FC236}">
                    <a16:creationId xmlns:a16="http://schemas.microsoft.com/office/drawing/2014/main" id="{E96DB8F2-D855-BF44-885C-C8C7A9F5936D}"/>
                  </a:ext>
                </a:extLst>
              </p:cNvPr>
              <p:cNvSpPr/>
              <p:nvPr/>
            </p:nvSpPr>
            <p:spPr>
              <a:xfrm>
                <a:off x="9315710" y="239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曲线积分与曲面积分</a:t>
                </a:r>
              </a:p>
            </p:txBody>
          </p:sp>
          <p:cxnSp>
            <p:nvCxnSpPr>
              <p:cNvPr id="15" name="直接连接符 14">
                <a:extLst>
                  <a:ext uri="{FF2B5EF4-FFF2-40B4-BE49-F238E27FC236}">
                    <a16:creationId xmlns:a16="http://schemas.microsoft.com/office/drawing/2014/main" id="{6BFA5F1E-1CA8-E1EA-2C29-985FE9724D8A}"/>
                  </a:ext>
                </a:extLst>
              </p:cNvPr>
              <p:cNvCxnSpPr>
                <a:cxnSpLocks/>
              </p:cNvCxnSpPr>
              <p:nvPr userDrawn="1"/>
            </p:nvCxnSpPr>
            <p:spPr>
              <a:xfrm>
                <a:off x="0" y="393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C1EA843-3ECC-C2AC-2C7E-B962568FC07E}"/>
                  </a:ext>
                </a:extLst>
              </p:cNvPr>
              <p:cNvCxnSpPr>
                <a:cxnSpLocks/>
              </p:cNvCxnSpPr>
              <p:nvPr userDrawn="1"/>
            </p:nvCxnSpPr>
            <p:spPr>
              <a:xfrm>
                <a:off x="3675872" y="6512242"/>
                <a:ext cx="827228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sp>
        <p:nvSpPr>
          <p:cNvPr id="2" name="文本框 1">
            <a:extLst>
              <a:ext uri="{FF2B5EF4-FFF2-40B4-BE49-F238E27FC236}">
                <a16:creationId xmlns:a16="http://schemas.microsoft.com/office/drawing/2014/main" id="{A3DE7518-8050-53B2-C679-3D6741E436D8}"/>
              </a:ext>
            </a:extLst>
          </p:cNvPr>
          <p:cNvSpPr txBox="1"/>
          <p:nvPr/>
        </p:nvSpPr>
        <p:spPr bwMode="auto">
          <a:xfrm>
            <a:off x="1258714" y="1002921"/>
            <a:ext cx="2402061" cy="523220"/>
          </a:xfrm>
          <a:prstGeom prst="rect">
            <a:avLst/>
          </a:prstGeom>
          <a:noFill/>
          <a:ln w="19050">
            <a:noFill/>
            <a:prstDash val="dashDot"/>
            <a:miter lim="800000"/>
            <a:headEnd/>
            <a:tailEnd/>
          </a:ln>
          <a:extLst>
            <a:ext uri="{909E8E84-426E-40DD-AFC4-6F175D3DCCD1}">
              <a14:hiddenFill xmlns:a14="http://schemas.microsoft.com/office/drawing/2010/main">
                <a:solidFill>
                  <a:schemeClr val="accent1"/>
                </a:solidFill>
              </a14:hiddenFill>
            </a:ext>
          </a:extLst>
        </p:spPr>
        <p:txBody>
          <a:bodyPr wrap="square" rtlCol="0">
            <a:spAutoFit/>
          </a:bodyPr>
          <a:lstStyle/>
          <a:p>
            <a:pPr lvl="0">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2. </a:t>
            </a:r>
            <a:r>
              <a:rPr kumimoji="1" lang="zh-CN" altLang="en-US" sz="2800" b="1" dirty="0">
                <a:solidFill>
                  <a:srgbClr val="04926A"/>
                </a:solidFill>
                <a:latin typeface="微软雅黑" panose="020B0503020204020204" pitchFamily="34" charset="-122"/>
                <a:ea typeface="微软雅黑" panose="020B0503020204020204" pitchFamily="34" charset="-122"/>
              </a:rPr>
              <a:t>旋度的定义</a:t>
            </a:r>
          </a:p>
        </p:txBody>
      </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2124B89C-B260-E9CA-2E23-60B51FA55C35}"/>
                  </a:ext>
                </a:extLst>
              </p:cNvPr>
              <p:cNvSpPr txBox="1"/>
              <p:nvPr/>
            </p:nvSpPr>
            <p:spPr>
              <a:xfrm>
                <a:off x="1684860" y="1709031"/>
                <a:ext cx="9548289" cy="52322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设有向量场</m:t>
                      </m:r>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𝑃</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𝒊</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𝑄</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𝒋</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𝑅</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𝒌</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3" name="对象 2">
                <a:extLst>
                  <a:ext uri="{FF2B5EF4-FFF2-40B4-BE49-F238E27FC236}">
                    <a16:creationId xmlns:a16="http://schemas.microsoft.com/office/drawing/2014/main" id="{2124B89C-B260-E9CA-2E23-60B51FA55C35}"/>
                  </a:ext>
                </a:extLst>
              </p:cNvPr>
              <p:cNvSpPr txBox="1">
                <a:spLocks noRot="1" noChangeAspect="1" noMove="1" noResize="1" noEditPoints="1" noAdjustHandles="1" noChangeArrowheads="1" noChangeShapeType="1" noTextEdit="1"/>
              </p:cNvSpPr>
              <p:nvPr/>
            </p:nvSpPr>
            <p:spPr>
              <a:xfrm>
                <a:off x="1684860" y="1709031"/>
                <a:ext cx="9548289" cy="52322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4755FBA2-E287-FC03-C9D6-F2F31E8B0208}"/>
                  </a:ext>
                </a:extLst>
              </p:cNvPr>
              <p:cNvSpPr txBox="1"/>
              <p:nvPr/>
            </p:nvSpPr>
            <p:spPr>
              <a:xfrm>
                <a:off x="1684860" y="3041867"/>
                <a:ext cx="7007207" cy="10033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d>
                        <m:dPr>
                          <m:ctrlPr>
                            <a:rPr kumimoji="1" lang="zh-CN" altLang="en-US" sz="2800" i="1" smtClean="0">
                              <a:solidFill>
                                <a:prstClr val="black"/>
                              </a:solidFill>
                              <a:latin typeface="Cambria Math" panose="02040503050406030204" pitchFamily="18" charset="0"/>
                              <a:ea typeface="黑体" panose="02010609060101010101" pitchFamily="49" charset="-122"/>
                            </a:rPr>
                          </m:ctrlPr>
                        </m:dPr>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𝑅</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den>
                          </m:f>
                          <m:r>
                            <a:rPr kumimoji="1" lang="zh-CN" altLang="en-US" sz="2800">
                              <a:solidFill>
                                <a:prstClr val="black"/>
                              </a:solidFill>
                              <a:latin typeface="Cambria Math" panose="02040503050406030204" pitchFamily="18" charset="0"/>
                              <a:ea typeface="黑体" panose="02010609060101010101" pitchFamily="49" charset="-122"/>
                            </a:rPr>
                            <m:t>−</m:t>
                          </m:r>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𝑄</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en-US" altLang="zh-CN" sz="2800" b="0" i="1" smtClean="0">
                                  <a:solidFill>
                                    <a:prstClr val="black"/>
                                  </a:solidFill>
                                  <a:latin typeface="Cambria Math" panose="02040503050406030204" pitchFamily="18" charset="0"/>
                                  <a:ea typeface="黑体" panose="02010609060101010101" pitchFamily="49" charset="-122"/>
                                </a:rPr>
                                <m:t>𝑧</m:t>
                              </m:r>
                            </m:den>
                          </m:f>
                        </m:e>
                      </m:d>
                      <m:r>
                        <a:rPr kumimoji="1" lang="zh-CN" altLang="en-US" sz="2800" b="1" i="1">
                          <a:solidFill>
                            <a:prstClr val="black"/>
                          </a:solidFill>
                          <a:latin typeface="Cambria Math" panose="02040503050406030204" pitchFamily="18" charset="0"/>
                          <a:ea typeface="黑体" panose="02010609060101010101" pitchFamily="49" charset="-122"/>
                        </a:rPr>
                        <m:t>𝒊</m:t>
                      </m:r>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b="0" i="1">
                                  <a:solidFill>
                                    <a:prstClr val="black"/>
                                  </a:solidFill>
                                  <a:latin typeface="Cambria Math" panose="02040503050406030204" pitchFamily="18" charset="0"/>
                                  <a:ea typeface="黑体" panose="02010609060101010101" pitchFamily="49" charset="-122"/>
                                </a:rPr>
                                <m:t>𝜕</m:t>
                              </m:r>
                              <m:r>
                                <a:rPr kumimoji="1" lang="zh-CN" altLang="en-US" sz="2800" b="0" i="1">
                                  <a:solidFill>
                                    <a:prstClr val="black"/>
                                  </a:solidFill>
                                  <a:latin typeface="Cambria Math" panose="02040503050406030204" pitchFamily="18" charset="0"/>
                                  <a:ea typeface="黑体" panose="02010609060101010101" pitchFamily="49" charset="-122"/>
                                </a:rPr>
                                <m:t>𝑃</m:t>
                              </m:r>
                            </m:num>
                            <m:den>
                              <m:r>
                                <a:rPr kumimoji="1" lang="zh-CN" altLang="en-US" sz="2800" b="0" i="1">
                                  <a:solidFill>
                                    <a:prstClr val="black"/>
                                  </a:solidFill>
                                  <a:latin typeface="Cambria Math" panose="02040503050406030204" pitchFamily="18" charset="0"/>
                                  <a:ea typeface="黑体" panose="02010609060101010101" pitchFamily="49" charset="-122"/>
                                </a:rPr>
                                <m:t>𝜕</m:t>
                              </m:r>
                              <m:r>
                                <a:rPr kumimoji="1" lang="zh-CN" altLang="en-US" sz="2800" b="0" i="1">
                                  <a:solidFill>
                                    <a:prstClr val="black"/>
                                  </a:solidFill>
                                  <a:latin typeface="Cambria Math" panose="02040503050406030204" pitchFamily="18" charset="0"/>
                                  <a:ea typeface="黑体" panose="02010609060101010101" pitchFamily="49" charset="-122"/>
                                </a:rPr>
                                <m:t>𝑧</m:t>
                              </m:r>
                            </m:den>
                          </m:f>
                          <m:r>
                            <a:rPr kumimoji="1" lang="zh-CN" altLang="en-US" sz="2800" b="0">
                              <a:solidFill>
                                <a:prstClr val="black"/>
                              </a:solidFill>
                              <a:latin typeface="Cambria Math" panose="02040503050406030204" pitchFamily="18" charset="0"/>
                              <a:ea typeface="黑体" panose="02010609060101010101" pitchFamily="49" charset="-122"/>
                            </a:rPr>
                            <m:t>−</m:t>
                          </m:r>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b="0" i="1">
                                  <a:solidFill>
                                    <a:prstClr val="black"/>
                                  </a:solidFill>
                                  <a:latin typeface="Cambria Math" panose="02040503050406030204" pitchFamily="18" charset="0"/>
                                  <a:ea typeface="黑体" panose="02010609060101010101" pitchFamily="49" charset="-122"/>
                                </a:rPr>
                                <m:t>𝜕</m:t>
                              </m:r>
                              <m:r>
                                <a:rPr kumimoji="1" lang="zh-CN" altLang="en-US" sz="2800" b="0" i="1">
                                  <a:solidFill>
                                    <a:prstClr val="black"/>
                                  </a:solidFill>
                                  <a:latin typeface="Cambria Math" panose="02040503050406030204" pitchFamily="18" charset="0"/>
                                  <a:ea typeface="黑体" panose="02010609060101010101" pitchFamily="49" charset="-122"/>
                                </a:rPr>
                                <m:t>𝑅</m:t>
                              </m:r>
                            </m:num>
                            <m:den>
                              <m:r>
                                <a:rPr kumimoji="1" lang="zh-CN" altLang="en-US" sz="2800" b="0" i="1">
                                  <a:solidFill>
                                    <a:prstClr val="black"/>
                                  </a:solidFill>
                                  <a:latin typeface="Cambria Math" panose="02040503050406030204" pitchFamily="18" charset="0"/>
                                  <a:ea typeface="黑体" panose="02010609060101010101" pitchFamily="49" charset="-122"/>
                                </a:rPr>
                                <m:t>𝜕</m:t>
                              </m:r>
                              <m:r>
                                <a:rPr kumimoji="1" lang="zh-CN" altLang="en-US" sz="2800" b="0" i="1">
                                  <a:solidFill>
                                    <a:prstClr val="black"/>
                                  </a:solidFill>
                                  <a:latin typeface="Cambria Math" panose="02040503050406030204" pitchFamily="18" charset="0"/>
                                  <a:ea typeface="黑体" panose="02010609060101010101" pitchFamily="49" charset="-122"/>
                                </a:rPr>
                                <m:t>𝑥</m:t>
                              </m:r>
                            </m:den>
                          </m:f>
                        </m:e>
                      </m:d>
                      <m:r>
                        <a:rPr kumimoji="1" lang="zh-CN" altLang="en-US" sz="2800" b="1" i="1">
                          <a:solidFill>
                            <a:prstClr val="black"/>
                          </a:solidFill>
                          <a:latin typeface="Cambria Math" panose="02040503050406030204" pitchFamily="18" charset="0"/>
                          <a:ea typeface="黑体" panose="02010609060101010101" pitchFamily="49" charset="-122"/>
                        </a:rPr>
                        <m:t>𝒋</m:t>
                      </m:r>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𝑄</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den>
                          </m:f>
                          <m:r>
                            <a:rPr kumimoji="1" lang="zh-CN" altLang="en-US" sz="2800">
                              <a:solidFill>
                                <a:prstClr val="black"/>
                              </a:solidFill>
                              <a:latin typeface="Cambria Math" panose="02040503050406030204" pitchFamily="18" charset="0"/>
                              <a:ea typeface="黑体" panose="02010609060101010101" pitchFamily="49" charset="-122"/>
                            </a:rPr>
                            <m:t>−</m:t>
                          </m:r>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𝑃</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den>
                          </m:f>
                        </m:e>
                      </m:d>
                      <m:r>
                        <a:rPr kumimoji="1" lang="zh-CN" altLang="en-US" sz="2800" b="1" i="1">
                          <a:solidFill>
                            <a:prstClr val="black"/>
                          </a:solidFill>
                          <a:latin typeface="Cambria Math" panose="02040503050406030204" pitchFamily="18" charset="0"/>
                          <a:ea typeface="黑体" panose="02010609060101010101" pitchFamily="49" charset="-122"/>
                        </a:rPr>
                        <m:t>𝒌</m:t>
                      </m:r>
                    </m:oMath>
                  </m:oMathPara>
                </a14:m>
                <a:endParaRPr kumimoji="1" lang="zh-CN" altLang="en-US" sz="2800" b="1" dirty="0">
                  <a:solidFill>
                    <a:prstClr val="black"/>
                  </a:solidFill>
                  <a:latin typeface="Times New Roman" panose="02020603050405020304" pitchFamily="18"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4755FBA2-E287-FC03-C9D6-F2F31E8B0208}"/>
                  </a:ext>
                </a:extLst>
              </p:cNvPr>
              <p:cNvSpPr txBox="1">
                <a:spLocks noRot="1" noChangeAspect="1" noMove="1" noResize="1" noEditPoints="1" noAdjustHandles="1" noChangeArrowheads="1" noChangeShapeType="1" noTextEdit="1"/>
              </p:cNvSpPr>
              <p:nvPr/>
            </p:nvSpPr>
            <p:spPr>
              <a:xfrm>
                <a:off x="1684860" y="3041867"/>
                <a:ext cx="7007207" cy="10033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B47D6152-6984-0543-BA16-F1147E2689E1}"/>
                  </a:ext>
                </a:extLst>
              </p:cNvPr>
              <p:cNvSpPr txBox="1"/>
              <p:nvPr/>
            </p:nvSpPr>
            <p:spPr>
              <a:xfrm>
                <a:off x="1684860" y="2378904"/>
                <a:ext cx="3995214" cy="4191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其中函数</m:t>
                      </m:r>
                      <m:r>
                        <a:rPr kumimoji="1" lang="zh-CN" altLang="en-US" sz="2800">
                          <a:solidFill>
                            <a:prstClr val="black"/>
                          </a:solidFill>
                          <a:latin typeface="Cambria Math" panose="02040503050406030204" pitchFamily="18" charset="0"/>
                          <a:ea typeface="黑体" panose="02010609060101010101" pitchFamily="49" charset="-122"/>
                        </a:rPr>
                        <m:t>𝑃</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𝑄</m:t>
                      </m:r>
                      <m:r>
                        <a:rPr kumimoji="1" lang="zh-CN" altLang="en-US" sz="2800">
                          <a:solidFill>
                            <a:prstClr val="black"/>
                          </a:solidFill>
                          <a:latin typeface="Cambria Math" panose="02040503050406030204" pitchFamily="18" charset="0"/>
                          <a:ea typeface="黑体" panose="02010609060101010101" pitchFamily="49" charset="-122"/>
                        </a:rPr>
                        <m:t>与</m:t>
                      </m:r>
                      <m:r>
                        <a:rPr kumimoji="1" lang="zh-CN" altLang="en-US" sz="2800">
                          <a:solidFill>
                            <a:prstClr val="black"/>
                          </a:solidFill>
                          <a:latin typeface="Cambria Math" panose="02040503050406030204" pitchFamily="18" charset="0"/>
                          <a:ea typeface="黑体" panose="02010609060101010101" pitchFamily="49" charset="-122"/>
                        </a:rPr>
                        <m:t>𝑅</m:t>
                      </m:r>
                      <m:r>
                        <a:rPr kumimoji="1" lang="zh-CN" altLang="en-US" sz="2800">
                          <a:solidFill>
                            <a:prstClr val="black"/>
                          </a:solidFill>
                          <a:latin typeface="Cambria Math" panose="02040503050406030204" pitchFamily="18" charset="0"/>
                          <a:ea typeface="黑体" panose="02010609060101010101" pitchFamily="49" charset="-122"/>
                        </a:rPr>
                        <m:t>均连续</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6" name="对象 5">
                <a:extLst>
                  <a:ext uri="{FF2B5EF4-FFF2-40B4-BE49-F238E27FC236}">
                    <a16:creationId xmlns:a16="http://schemas.microsoft.com/office/drawing/2014/main" id="{B47D6152-6984-0543-BA16-F1147E2689E1}"/>
                  </a:ext>
                </a:extLst>
              </p:cNvPr>
              <p:cNvSpPr txBox="1">
                <a:spLocks noRot="1" noChangeAspect="1" noMove="1" noResize="1" noEditPoints="1" noAdjustHandles="1" noChangeArrowheads="1" noChangeShapeType="1" noTextEdit="1"/>
              </p:cNvSpPr>
              <p:nvPr/>
            </p:nvSpPr>
            <p:spPr>
              <a:xfrm>
                <a:off x="1684860" y="2378904"/>
                <a:ext cx="3995214" cy="419100"/>
              </a:xfrm>
              <a:prstGeom prst="rect">
                <a:avLst/>
              </a:prstGeom>
              <a:blipFill>
                <a:blip r:embed="rId4"/>
                <a:stretch>
                  <a:fillRect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对象 6">
                <a:extLst>
                  <a:ext uri="{FF2B5EF4-FFF2-40B4-BE49-F238E27FC236}">
                    <a16:creationId xmlns:a16="http://schemas.microsoft.com/office/drawing/2014/main" id="{CCD2824E-B454-EC4A-C24E-1491EAC021EE}"/>
                  </a:ext>
                </a:extLst>
              </p:cNvPr>
              <p:cNvSpPr txBox="1"/>
              <p:nvPr/>
            </p:nvSpPr>
            <p:spPr>
              <a:xfrm>
                <a:off x="5505450" y="2379068"/>
                <a:ext cx="1079500" cy="3937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则向量</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7" name="对象 6">
                <a:extLst>
                  <a:ext uri="{FF2B5EF4-FFF2-40B4-BE49-F238E27FC236}">
                    <a16:creationId xmlns:a16="http://schemas.microsoft.com/office/drawing/2014/main" id="{CCD2824E-B454-EC4A-C24E-1491EAC021EE}"/>
                  </a:ext>
                </a:extLst>
              </p:cNvPr>
              <p:cNvSpPr txBox="1">
                <a:spLocks noRot="1" noChangeAspect="1" noMove="1" noResize="1" noEditPoints="1" noAdjustHandles="1" noChangeArrowheads="1" noChangeShapeType="1" noTextEdit="1"/>
              </p:cNvSpPr>
              <p:nvPr/>
            </p:nvSpPr>
            <p:spPr>
              <a:xfrm>
                <a:off x="5505450" y="2379068"/>
                <a:ext cx="1079500" cy="393700"/>
              </a:xfrm>
              <a:prstGeom prst="rect">
                <a:avLst/>
              </a:prstGeom>
              <a:blipFill>
                <a:blip r:embed="rId5"/>
                <a:stretch>
                  <a:fillRect r="-5085"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F62E7084-FC08-F76B-DBB4-6D743A337508}"/>
                  </a:ext>
                </a:extLst>
              </p:cNvPr>
              <p:cNvSpPr txBox="1"/>
              <p:nvPr/>
            </p:nvSpPr>
            <p:spPr>
              <a:xfrm>
                <a:off x="1684860" y="4854783"/>
                <a:ext cx="8169016" cy="10033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func>
                        <m:funcPr>
                          <m:ctrlPr>
                            <a:rPr kumimoji="1" lang="zh-CN" altLang="en-US" sz="2800" b="1" i="1" smtClean="0">
                              <a:solidFill>
                                <a:prstClr val="black"/>
                              </a:solidFill>
                              <a:latin typeface="Cambria Math" panose="02040503050406030204" pitchFamily="18" charset="0"/>
                              <a:ea typeface="黑体" panose="02010609060101010101" pitchFamily="49" charset="-122"/>
                            </a:rPr>
                          </m:ctrlPr>
                        </m:funcPr>
                        <m:fName>
                          <m:r>
                            <a:rPr kumimoji="1" lang="zh-CN" altLang="en-US" sz="2800" b="1" i="0">
                              <a:solidFill>
                                <a:prstClr val="black"/>
                              </a:solidFill>
                              <a:latin typeface="Cambria Math" panose="02040503050406030204" pitchFamily="18" charset="0"/>
                              <a:ea typeface="黑体" panose="02010609060101010101" pitchFamily="49" charset="-122"/>
                            </a:rPr>
                            <m:t>𝐫𝐨𝐭</m:t>
                          </m:r>
                        </m:fName>
                        <m:e>
                          <m:r>
                            <a:rPr kumimoji="1" lang="zh-CN" altLang="en-US" sz="2800" b="1" i="1">
                              <a:solidFill>
                                <a:prstClr val="black"/>
                              </a:solidFill>
                              <a:latin typeface="Cambria Math" panose="02040503050406030204" pitchFamily="18" charset="0"/>
                              <a:ea typeface="黑体" panose="02010609060101010101" pitchFamily="49" charset="-122"/>
                            </a:rPr>
                            <m:t>𝑨</m:t>
                          </m:r>
                        </m:e>
                      </m:func>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𝑅</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den>
                          </m:f>
                          <m:r>
                            <a:rPr kumimoji="1" lang="zh-CN" altLang="en-US" sz="2800">
                              <a:solidFill>
                                <a:prstClr val="black"/>
                              </a:solidFill>
                              <a:latin typeface="Cambria Math" panose="02040503050406030204" pitchFamily="18" charset="0"/>
                              <a:ea typeface="黑体" panose="02010609060101010101" pitchFamily="49" charset="-122"/>
                            </a:rPr>
                            <m:t>−</m:t>
                          </m:r>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𝑄</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en-US" altLang="zh-CN" sz="2800" b="0" i="1" smtClean="0">
                                  <a:solidFill>
                                    <a:prstClr val="black"/>
                                  </a:solidFill>
                                  <a:latin typeface="Cambria Math" panose="02040503050406030204" pitchFamily="18" charset="0"/>
                                  <a:ea typeface="黑体" panose="02010609060101010101" pitchFamily="49" charset="-122"/>
                                </a:rPr>
                                <m:t>𝑧</m:t>
                              </m:r>
                            </m:den>
                          </m:f>
                        </m:e>
                      </m:d>
                      <m:r>
                        <a:rPr kumimoji="1" lang="zh-CN" altLang="en-US" sz="2800" b="1" i="1">
                          <a:solidFill>
                            <a:prstClr val="black"/>
                          </a:solidFill>
                          <a:latin typeface="Cambria Math" panose="02040503050406030204" pitchFamily="18" charset="0"/>
                          <a:ea typeface="黑体" panose="02010609060101010101" pitchFamily="49" charset="-122"/>
                        </a:rPr>
                        <m:t>𝒊</m:t>
                      </m:r>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𝑃</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den>
                          </m:f>
                          <m:r>
                            <a:rPr kumimoji="1" lang="zh-CN" altLang="en-US" sz="2800">
                              <a:solidFill>
                                <a:prstClr val="black"/>
                              </a:solidFill>
                              <a:latin typeface="Cambria Math" panose="02040503050406030204" pitchFamily="18" charset="0"/>
                              <a:ea typeface="黑体" panose="02010609060101010101" pitchFamily="49" charset="-122"/>
                            </a:rPr>
                            <m:t>−</m:t>
                          </m:r>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𝑅</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den>
                          </m:f>
                        </m:e>
                      </m:d>
                      <m:r>
                        <a:rPr kumimoji="1" lang="zh-CN" altLang="en-US" sz="2800" b="1" i="1">
                          <a:solidFill>
                            <a:prstClr val="black"/>
                          </a:solidFill>
                          <a:latin typeface="Cambria Math" panose="02040503050406030204" pitchFamily="18" charset="0"/>
                          <a:ea typeface="黑体" panose="02010609060101010101" pitchFamily="49" charset="-122"/>
                        </a:rPr>
                        <m:t>𝒋</m:t>
                      </m:r>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𝑄</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den>
                          </m:f>
                          <m:r>
                            <a:rPr kumimoji="1" lang="zh-CN" altLang="en-US" sz="2800">
                              <a:solidFill>
                                <a:prstClr val="black"/>
                              </a:solidFill>
                              <a:latin typeface="Cambria Math" panose="02040503050406030204" pitchFamily="18" charset="0"/>
                              <a:ea typeface="黑体" panose="02010609060101010101" pitchFamily="49" charset="-122"/>
                            </a:rPr>
                            <m:t>−</m:t>
                          </m:r>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𝑃</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den>
                          </m:f>
                        </m:e>
                      </m:d>
                      <m:r>
                        <a:rPr kumimoji="1" lang="zh-CN" altLang="en-US" sz="2800" b="1" i="1">
                          <a:solidFill>
                            <a:prstClr val="black"/>
                          </a:solidFill>
                          <a:latin typeface="Cambria Math" panose="02040503050406030204" pitchFamily="18" charset="0"/>
                          <a:ea typeface="黑体" panose="02010609060101010101" pitchFamily="49" charset="-122"/>
                        </a:rPr>
                        <m:t>𝒌</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8" name="对象 7">
                <a:extLst>
                  <a:ext uri="{FF2B5EF4-FFF2-40B4-BE49-F238E27FC236}">
                    <a16:creationId xmlns:a16="http://schemas.microsoft.com/office/drawing/2014/main" id="{F62E7084-FC08-F76B-DBB4-6D743A337508}"/>
                  </a:ext>
                </a:extLst>
              </p:cNvPr>
              <p:cNvSpPr txBox="1">
                <a:spLocks noRot="1" noChangeAspect="1" noMove="1" noResize="1" noEditPoints="1" noAdjustHandles="1" noChangeArrowheads="1" noChangeShapeType="1" noTextEdit="1"/>
              </p:cNvSpPr>
              <p:nvPr/>
            </p:nvSpPr>
            <p:spPr>
              <a:xfrm>
                <a:off x="1684860" y="4854783"/>
                <a:ext cx="8169016" cy="1003300"/>
              </a:xfrm>
              <a:prstGeom prst="rect">
                <a:avLst/>
              </a:prstGeom>
              <a:blipFill>
                <a:blip r:embed="rId6"/>
                <a:stretch>
                  <a:fillRect b="-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对象 5">
                <a:extLst>
                  <a:ext uri="{FF2B5EF4-FFF2-40B4-BE49-F238E27FC236}">
                    <a16:creationId xmlns:a16="http://schemas.microsoft.com/office/drawing/2014/main" id="{4D63CCAD-6D10-703B-B6FF-3C1A4D8B1141}"/>
                  </a:ext>
                </a:extLst>
              </p:cNvPr>
              <p:cNvSpPr txBox="1"/>
              <p:nvPr/>
            </p:nvSpPr>
            <p:spPr>
              <a:xfrm>
                <a:off x="1684860" y="4185799"/>
                <a:ext cx="5684249" cy="419100"/>
              </a:xfrm>
              <a:prstGeom prst="rect">
                <a:avLst/>
              </a:prstGeom>
            </p:spPr>
            <p:txBody>
              <a:bodyPr>
                <a:noAutofit/>
              </a:bodyPr>
              <a:lstStyle/>
              <a:p>
                <a14:m>
                  <m:oMath xmlns:m="http://schemas.openxmlformats.org/officeDocument/2006/math">
                    <m:r>
                      <a:rPr kumimoji="1" lang="zh-CN" altLang="en-US" sz="2800" i="1" smtClean="0">
                        <a:solidFill>
                          <a:prstClr val="black"/>
                        </a:solidFill>
                        <a:latin typeface="Cambria Math" panose="02040503050406030204" pitchFamily="18" charset="0"/>
                        <a:ea typeface="黑体" panose="02010609060101010101" pitchFamily="49" charset="-122"/>
                      </a:rPr>
                      <m:t>称为向量场</m:t>
                    </m:r>
                    <m:r>
                      <a:rPr kumimoji="1" lang="zh-CN" altLang="en-US" sz="2800" b="0" i="1">
                        <a:solidFill>
                          <a:prstClr val="black"/>
                        </a:solidFill>
                        <a:latin typeface="Cambria Math" panose="02040503050406030204" pitchFamily="18" charset="0"/>
                        <a:ea typeface="黑体" panose="02010609060101010101" pitchFamily="49" charset="-122"/>
                      </a:rPr>
                      <m:t>𝐴</m:t>
                    </m:r>
                  </m:oMath>
                </a14:m>
                <a:r>
                  <a:rPr kumimoji="1" lang="zh-CN" altLang="en-US" sz="2800" dirty="0">
                    <a:solidFill>
                      <a:prstClr val="black"/>
                    </a:solidFill>
                    <a:latin typeface="Times New Roman" panose="02020603050405020304" pitchFamily="18" charset="0"/>
                    <a:ea typeface="黑体" panose="02010609060101010101" pitchFamily="49" charset="-122"/>
                  </a:rPr>
                  <a:t>的</a:t>
                </a:r>
                <a:r>
                  <a:rPr kumimoji="1" lang="zh-CN" altLang="en-US" sz="2800" dirty="0">
                    <a:solidFill>
                      <a:srgbClr val="04926A"/>
                    </a:solidFill>
                    <a:latin typeface="Times New Roman" panose="02020603050405020304" pitchFamily="18" charset="0"/>
                    <a:ea typeface="黑体" panose="02010609060101010101" pitchFamily="49" charset="-122"/>
                  </a:rPr>
                  <a:t>旋度</a:t>
                </a:r>
                <a14:m>
                  <m:oMath xmlns:m="http://schemas.openxmlformats.org/officeDocument/2006/math">
                    <m:r>
                      <a:rPr kumimoji="1" lang="zh-CN" altLang="en-US" sz="2800" b="1">
                        <a:solidFill>
                          <a:srgbClr val="04926A"/>
                        </a:solidFill>
                        <a:latin typeface="Cambria Math" panose="02040503050406030204" pitchFamily="18" charset="0"/>
                        <a:ea typeface="黑体" panose="02010609060101010101" pitchFamily="49" charset="-122"/>
                      </a:rPr>
                      <m:t>,</m:t>
                    </m:r>
                  </m:oMath>
                </a14:m>
                <a:r>
                  <a:rPr kumimoji="1" lang="zh-CN" altLang="en-US" sz="2800" dirty="0">
                    <a:solidFill>
                      <a:prstClr val="black"/>
                    </a:solidFill>
                    <a:latin typeface="Times New Roman" panose="02020603050405020304" pitchFamily="18" charset="0"/>
                    <a:ea typeface="黑体" panose="02010609060101010101" pitchFamily="49" charset="-122"/>
                  </a:rPr>
                  <a:t> 记作</a:t>
                </a:r>
                <a:r>
                  <a:rPr kumimoji="1" lang="en-US" altLang="zh-CN" sz="2800" b="1" dirty="0">
                    <a:solidFill>
                      <a:srgbClr val="04926A"/>
                    </a:solidFill>
                    <a:latin typeface="Times New Roman" panose="02020603050405020304" pitchFamily="18" charset="0"/>
                    <a:ea typeface="黑体" panose="02010609060101010101" pitchFamily="49" charset="-122"/>
                  </a:rPr>
                  <a:t>rot</a:t>
                </a:r>
                <a14:m>
                  <m:oMath xmlns:m="http://schemas.openxmlformats.org/officeDocument/2006/math">
                    <m:r>
                      <a:rPr kumimoji="1" lang="zh-CN" altLang="en-US" sz="2800" b="1" i="1">
                        <a:solidFill>
                          <a:srgbClr val="04926A"/>
                        </a:solidFill>
                        <a:latin typeface="Cambria Math" panose="02040503050406030204" pitchFamily="18" charset="0"/>
                        <a:ea typeface="黑体" panose="02010609060101010101" pitchFamily="49" charset="-122"/>
                      </a:rPr>
                      <m:t>𝑨</m:t>
                    </m:r>
                    <m:r>
                      <a:rPr kumimoji="1" lang="zh-CN" altLang="en-US" sz="2800" b="1">
                        <a:solidFill>
                          <a:srgbClr val="04926A"/>
                        </a:solidFill>
                        <a:latin typeface="Cambria Math" panose="02040503050406030204" pitchFamily="18" charset="0"/>
                        <a:ea typeface="黑体" panose="02010609060101010101" pitchFamily="49" charset="-122"/>
                      </a:rPr>
                      <m:t>,</m:t>
                    </m:r>
                    <m:r>
                      <a:rPr kumimoji="1" lang="en-US" altLang="zh-CN" sz="2800" b="1" i="0" smtClean="0">
                        <a:solidFill>
                          <a:srgbClr val="04926A"/>
                        </a:solidFill>
                        <a:latin typeface="Cambria Math" panose="02040503050406030204" pitchFamily="18" charset="0"/>
                        <a:ea typeface="黑体" panose="02010609060101010101" pitchFamily="49" charset="-122"/>
                      </a:rPr>
                      <m:t> </m:t>
                    </m:r>
                  </m:oMath>
                </a14:m>
                <a:r>
                  <a:rPr kumimoji="1" lang="zh-CN" altLang="en-US" sz="2800" dirty="0">
                    <a:solidFill>
                      <a:srgbClr val="04926A"/>
                    </a:solidFill>
                    <a:latin typeface="Times New Roman" panose="02020603050405020304" pitchFamily="18" charset="0"/>
                    <a:ea typeface="黑体" panose="02010609060101010101" pitchFamily="49" charset="-122"/>
                  </a:rPr>
                  <a:t>即</a:t>
                </a:r>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19" name="对象 5">
                <a:extLst>
                  <a:ext uri="{FF2B5EF4-FFF2-40B4-BE49-F238E27FC236}">
                    <a16:creationId xmlns:a16="http://schemas.microsoft.com/office/drawing/2014/main" id="{4D63CCAD-6D10-703B-B6FF-3C1A4D8B1141}"/>
                  </a:ext>
                </a:extLst>
              </p:cNvPr>
              <p:cNvSpPr txBox="1">
                <a:spLocks noRot="1" noChangeAspect="1" noMove="1" noResize="1" noEditPoints="1" noAdjustHandles="1" noChangeArrowheads="1" noChangeShapeType="1" noTextEdit="1"/>
              </p:cNvSpPr>
              <p:nvPr/>
            </p:nvSpPr>
            <p:spPr>
              <a:xfrm>
                <a:off x="1684860" y="4185799"/>
                <a:ext cx="5684249" cy="419100"/>
              </a:xfrm>
              <a:prstGeom prst="rect">
                <a:avLst/>
              </a:prstGeom>
              <a:blipFill>
                <a:blip r:embed="rId7"/>
                <a:stretch>
                  <a:fillRect t="-20588" b="-676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7560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7" grpId="0"/>
      <p:bldP spid="8" grpId="0"/>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5F49C203-53A1-F41F-91CC-2AA6DA6BBD2E}"/>
              </a:ext>
            </a:extLst>
          </p:cNvPr>
          <p:cNvGrpSpPr/>
          <p:nvPr/>
        </p:nvGrpSpPr>
        <p:grpSpPr>
          <a:xfrm>
            <a:off x="1111250" y="670560"/>
            <a:ext cx="9970770" cy="5509895"/>
            <a:chOff x="1649" y="2344"/>
            <a:chExt cx="16057" cy="7346"/>
          </a:xfrm>
        </p:grpSpPr>
        <p:sp>
          <p:nvSpPr>
            <p:cNvPr id="16" name="矩形 15">
              <a:extLst>
                <a:ext uri="{FF2B5EF4-FFF2-40B4-BE49-F238E27FC236}">
                  <a16:creationId xmlns:a16="http://schemas.microsoft.com/office/drawing/2014/main" id="{FEAEB9B2-3DE7-6656-87CE-14341D3D7694}"/>
                </a:ext>
              </a:extLst>
            </p:cNvPr>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6779DCE7-651C-D8B3-961B-BC873614009E}"/>
                </a:ext>
              </a:extLst>
            </p:cNvPr>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AE7EEB6-DC66-9E5E-C3BA-E4E94877F29B}"/>
                  </a:ext>
                </a:extLst>
              </p:cNvPr>
              <p:cNvSpPr txBox="1"/>
              <p:nvPr/>
            </p:nvSpPr>
            <p:spPr bwMode="auto">
              <a:xfrm>
                <a:off x="2592257" y="948722"/>
                <a:ext cx="3334758" cy="523220"/>
              </a:xfrm>
              <a:prstGeom prst="rect">
                <a:avLst/>
              </a:prstGeom>
              <a:noFill/>
              <a:ln>
                <a:noFill/>
              </a:ln>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Lst>
            </p:spPr>
            <p:txBody>
              <a:bodyPr wrap="square" rtlCol="0">
                <a:spAutoFit/>
              </a:bodyPr>
              <a:lstStyle/>
              <a:p>
                <a:pPr eaLnBrk="1" hangingPunct="1">
                  <a:spcBef>
                    <a:spcPct val="50000"/>
                  </a:spcBef>
                </a:pPr>
                <a:r>
                  <a:rPr kumimoji="1" lang="zh-CN" altLang="en-US" sz="2800" dirty="0">
                    <a:solidFill>
                      <a:prstClr val="black"/>
                    </a:solidFill>
                    <a:latin typeface="Times New Roman" panose="02020603050405020304" pitchFamily="18" charset="0"/>
                    <a:ea typeface="黑体" panose="02010609060101010101" pitchFamily="49" charset="-122"/>
                  </a:rPr>
                  <a:t>利用向量微分算子</a:t>
                </a:r>
                <a14:m>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m:t>
                    </m:r>
                  </m:oMath>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3" name="文本框 2">
                <a:extLst>
                  <a:ext uri="{FF2B5EF4-FFF2-40B4-BE49-F238E27FC236}">
                    <a16:creationId xmlns:a16="http://schemas.microsoft.com/office/drawing/2014/main" id="{AAE7EEB6-DC66-9E5E-C3BA-E4E94877F29B}"/>
                  </a:ext>
                </a:extLst>
              </p:cNvPr>
              <p:cNvSpPr txBox="1">
                <a:spLocks noRot="1" noChangeAspect="1" noMove="1" noResize="1" noEditPoints="1" noAdjustHandles="1" noChangeArrowheads="1" noChangeShapeType="1" noTextEdit="1"/>
              </p:cNvSpPr>
              <p:nvPr/>
            </p:nvSpPr>
            <p:spPr bwMode="auto">
              <a:xfrm>
                <a:off x="2592257" y="948722"/>
                <a:ext cx="3334758" cy="523220"/>
              </a:xfrm>
              <a:prstGeom prst="rect">
                <a:avLst/>
              </a:prstGeom>
              <a:blipFill>
                <a:blip r:embed="rId3"/>
                <a:stretch>
                  <a:fillRect l="-3656" t="-16471" b="-29412"/>
                </a:stretch>
              </a:blip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12D7AF75-7C45-E1BA-7D98-6ACF64EA97FE}"/>
              </a:ext>
            </a:extLst>
          </p:cNvPr>
          <p:cNvGrpSpPr/>
          <p:nvPr/>
        </p:nvGrpSpPr>
        <p:grpSpPr>
          <a:xfrm>
            <a:off x="2592257" y="1647764"/>
            <a:ext cx="6507418" cy="4212832"/>
            <a:chOff x="2592257" y="1647764"/>
            <a:chExt cx="6507418" cy="4212832"/>
          </a:xfrm>
        </p:grpSpPr>
        <mc:AlternateContent xmlns:mc="http://schemas.openxmlformats.org/markup-compatibility/2006" xmlns:a14="http://schemas.microsoft.com/office/drawing/2010/main">
          <mc:Choice Requires="a14">
            <p:sp>
              <p:nvSpPr>
                <p:cNvPr id="5" name="Object 3">
                  <a:extLst>
                    <a:ext uri="{FF2B5EF4-FFF2-40B4-BE49-F238E27FC236}">
                      <a16:creationId xmlns:a16="http://schemas.microsoft.com/office/drawing/2014/main" id="{E39BDD04-3936-119F-7574-47292EBACF54}"/>
                    </a:ext>
                  </a:extLst>
                </p:cNvPr>
                <p:cNvSpPr txBox="1"/>
                <p:nvPr/>
              </p:nvSpPr>
              <p:spPr bwMode="auto">
                <a:xfrm>
                  <a:off x="3983164" y="1647764"/>
                  <a:ext cx="3617202" cy="9144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m:rPr>
                            <m:sty m:val="p"/>
                          </m:rPr>
                          <a:rPr kumimoji="1" lang="zh-CN" altLang="en-US" sz="2800" b="0" i="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m:t>
                        </m:r>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den>
                        </m:f>
                        <m:r>
                          <a:rPr kumimoji="1" lang="zh-CN" altLang="en-US" sz="2800" b="1" i="1">
                            <a:solidFill>
                              <a:prstClr val="black"/>
                            </a:solidFill>
                            <a:latin typeface="Cambria Math" panose="02040503050406030204" pitchFamily="18" charset="0"/>
                            <a:ea typeface="黑体" panose="02010609060101010101" pitchFamily="49" charset="-122"/>
                          </a:rPr>
                          <m:t>𝒊</m:t>
                        </m:r>
                        <m:r>
                          <a:rPr kumimoji="1" lang="zh-CN" altLang="en-US" sz="2800">
                            <a:solidFill>
                              <a:prstClr val="black"/>
                            </a:solidFill>
                            <a:latin typeface="Cambria Math" panose="02040503050406030204" pitchFamily="18" charset="0"/>
                            <a:ea typeface="黑体" panose="02010609060101010101" pitchFamily="49" charset="-122"/>
                          </a:rPr>
                          <m:t>+</m:t>
                        </m:r>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den>
                        </m:f>
                        <m:r>
                          <a:rPr kumimoji="1" lang="zh-CN" altLang="en-US" sz="2800" b="1" i="1">
                            <a:solidFill>
                              <a:prstClr val="black"/>
                            </a:solidFill>
                            <a:latin typeface="Cambria Math" panose="02040503050406030204" pitchFamily="18" charset="0"/>
                            <a:ea typeface="黑体" panose="02010609060101010101" pitchFamily="49" charset="-122"/>
                          </a:rPr>
                          <m:t>𝒋</m:t>
                        </m:r>
                        <m:r>
                          <a:rPr kumimoji="1" lang="zh-CN" altLang="en-US" sz="2800">
                            <a:solidFill>
                              <a:prstClr val="black"/>
                            </a:solidFill>
                            <a:latin typeface="Cambria Math" panose="02040503050406030204" pitchFamily="18" charset="0"/>
                            <a:ea typeface="黑体" panose="02010609060101010101" pitchFamily="49" charset="-122"/>
                          </a:rPr>
                          <m:t>+</m:t>
                        </m:r>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den>
                        </m:f>
                        <m:r>
                          <a:rPr kumimoji="1" lang="zh-CN" altLang="en-US" sz="2800" b="1" i="1">
                            <a:solidFill>
                              <a:prstClr val="black"/>
                            </a:solidFill>
                            <a:latin typeface="Cambria Math" panose="02040503050406030204" pitchFamily="18" charset="0"/>
                            <a:ea typeface="黑体" panose="02010609060101010101" pitchFamily="49" charset="-122"/>
                          </a:rPr>
                          <m:t>𝒌</m:t>
                        </m:r>
                      </m:oMath>
                    </m:oMathPara>
                  </a14:m>
                  <a:endParaRPr kumimoji="1" lang="zh-CN" altLang="en-US" sz="2800" b="1" dirty="0">
                    <a:solidFill>
                      <a:prstClr val="black"/>
                    </a:solidFill>
                    <a:latin typeface="Times New Roman" panose="02020603050405020304" pitchFamily="18" charset="0"/>
                    <a:ea typeface="黑体" panose="02010609060101010101" pitchFamily="49" charset="-122"/>
                  </a:endParaRPr>
                </a:p>
              </p:txBody>
            </p:sp>
          </mc:Choice>
          <mc:Fallback xmlns="">
            <p:sp>
              <p:nvSpPr>
                <p:cNvPr id="5" name="Object 3">
                  <a:extLst>
                    <a:ext uri="{FF2B5EF4-FFF2-40B4-BE49-F238E27FC236}">
                      <a16:creationId xmlns:a16="http://schemas.microsoft.com/office/drawing/2014/main" id="{E39BDD04-3936-119F-7574-47292EBACF54}"/>
                    </a:ext>
                  </a:extLst>
                </p:cNvPr>
                <p:cNvSpPr txBox="1">
                  <a:spLocks noRot="1" noChangeAspect="1" noMove="1" noResize="1" noEditPoints="1" noAdjustHandles="1" noChangeArrowheads="1" noChangeShapeType="1" noTextEdit="1"/>
                </p:cNvSpPr>
                <p:nvPr/>
              </p:nvSpPr>
              <p:spPr bwMode="auto">
                <a:xfrm>
                  <a:off x="3983164" y="1647764"/>
                  <a:ext cx="3617202" cy="914400"/>
                </a:xfrm>
                <a:prstGeom prst="rect">
                  <a:avLst/>
                </a:prstGeom>
                <a:blipFill>
                  <a:blip r:embed="rId4"/>
                  <a:stretch>
                    <a:fillRect b="-2667"/>
                  </a:stretch>
                </a:blipFill>
                <a:ln>
                  <a:noFill/>
                </a:ln>
                <a:effectLst/>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7AA5AF5D-A25D-5B16-C701-225822EE0776}"/>
                </a:ext>
              </a:extLst>
            </p:cNvPr>
            <p:cNvGrpSpPr/>
            <p:nvPr/>
          </p:nvGrpSpPr>
          <p:grpSpPr>
            <a:xfrm>
              <a:off x="2592257" y="2778403"/>
              <a:ext cx="6507418" cy="3082193"/>
              <a:chOff x="2592257" y="2778403"/>
              <a:chExt cx="6507418" cy="3082193"/>
            </a:xfrm>
          </p:grpSpPr>
          <mc:AlternateContent xmlns:mc="http://schemas.openxmlformats.org/markup-compatibility/2006" xmlns:a14="http://schemas.microsoft.com/office/drawing/2010/main">
            <mc:Choice Requires="a14">
              <p:sp>
                <p:nvSpPr>
                  <p:cNvPr id="2" name="Object 17">
                    <a:extLst>
                      <a:ext uri="{FF2B5EF4-FFF2-40B4-BE49-F238E27FC236}">
                        <a16:creationId xmlns:a16="http://schemas.microsoft.com/office/drawing/2014/main" id="{4CD5547B-D916-88B8-F65D-2A3B1FD86959}"/>
                      </a:ext>
                    </a:extLst>
                  </p:cNvPr>
                  <p:cNvSpPr txBox="1"/>
                  <p:nvPr/>
                </p:nvSpPr>
                <p:spPr bwMode="auto">
                  <a:xfrm>
                    <a:off x="3983164" y="3991623"/>
                    <a:ext cx="5116511" cy="186897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kumimoji="1" lang="zh-CN" altLang="en-US" sz="2800" b="1" i="1" smtClean="0">
                                  <a:solidFill>
                                    <a:prstClr val="black"/>
                                  </a:solidFill>
                                  <a:latin typeface="Cambria Math" panose="02040503050406030204" pitchFamily="18" charset="0"/>
                                  <a:ea typeface="黑体" panose="02010609060101010101" pitchFamily="49" charset="-122"/>
                                </a:rPr>
                              </m:ctrlPr>
                            </m:funcPr>
                            <m:fName>
                              <m:r>
                                <a:rPr kumimoji="1" lang="zh-CN" altLang="en-US" sz="2800" b="1" i="0">
                                  <a:solidFill>
                                    <a:prstClr val="black"/>
                                  </a:solidFill>
                                  <a:latin typeface="Cambria Math" panose="02040503050406030204" pitchFamily="18" charset="0"/>
                                  <a:ea typeface="黑体" panose="02010609060101010101" pitchFamily="49" charset="-122"/>
                                </a:rPr>
                                <m:t>𝐫𝐨𝐭</m:t>
                              </m:r>
                            </m:fName>
                            <m:e>
                              <m:r>
                                <a:rPr kumimoji="1" lang="zh-CN" altLang="en-US" sz="2800" b="1" i="1">
                                  <a:solidFill>
                                    <a:prstClr val="black"/>
                                  </a:solidFill>
                                  <a:latin typeface="Cambria Math" panose="02040503050406030204" pitchFamily="18" charset="0"/>
                                  <a:ea typeface="黑体" panose="02010609060101010101" pitchFamily="49" charset="-122"/>
                                </a:rPr>
                                <m:t>𝑨</m:t>
                              </m:r>
                            </m:e>
                          </m:func>
                          <m:r>
                            <a:rPr kumimoji="1" lang="zh-CN" altLang="en-US" sz="2800">
                              <a:solidFill>
                                <a:prstClr val="black"/>
                              </a:solidFill>
                              <a:latin typeface="Cambria Math" panose="02040503050406030204" pitchFamily="18" charset="0"/>
                              <a:ea typeface="黑体" panose="02010609060101010101" pitchFamily="49" charset="-122"/>
                            </a:rPr>
                            <m:t>=</m:t>
                          </m:r>
                          <m:r>
                            <m:rPr>
                              <m:sty m:val="p"/>
                            </m:rPr>
                            <a:rPr kumimoji="1" lang="zh-CN" altLang="en-US" sz="2800" b="0" i="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zh-CN" altLang="en-US" sz="2800">
                              <a:solidFill>
                                <a:prstClr val="black"/>
                              </a:solidFill>
                              <a:latin typeface="Cambria Math" panose="02040503050406030204" pitchFamily="18" charset="0"/>
                              <a:ea typeface="黑体" panose="02010609060101010101" pitchFamily="49" charset="-122"/>
                            </a:rPr>
                            <m:t>=</m:t>
                          </m:r>
                          <m:d>
                            <m:dPr>
                              <m:begChr m:val="|"/>
                              <m:endChr m:val="|"/>
                              <m:ctrlPr>
                                <a:rPr kumimoji="1" lang="zh-CN" altLang="en-US" sz="2800" i="1">
                                  <a:solidFill>
                                    <a:prstClr val="black"/>
                                  </a:solidFill>
                                  <a:latin typeface="Cambria Math" panose="02040503050406030204" pitchFamily="18" charset="0"/>
                                  <a:ea typeface="黑体" panose="02010609060101010101" pitchFamily="49" charset="-122"/>
                                </a:rPr>
                              </m:ctrlPr>
                            </m:dPr>
                            <m:e>
                              <m:m>
                                <m:mPr>
                                  <m:plcHide m:val="on"/>
                                  <m:mcs>
                                    <m:mc>
                                      <m:mcPr>
                                        <m:count m:val="3"/>
                                        <m:mcJc m:val="center"/>
                                      </m:mcPr>
                                    </m:mc>
                                  </m:mcs>
                                  <m:ctrlPr>
                                    <a:rPr kumimoji="1" lang="zh-CN" altLang="en-US" sz="2800" i="1">
                                      <a:solidFill>
                                        <a:prstClr val="black"/>
                                      </a:solidFill>
                                      <a:latin typeface="Cambria Math" panose="02040503050406030204" pitchFamily="18" charset="0"/>
                                      <a:ea typeface="黑体" panose="02010609060101010101" pitchFamily="49" charset="-122"/>
                                    </a:rPr>
                                  </m:ctrlPr>
                                </m:mPr>
                                <m:mr>
                                  <m:e>
                                    <m:r>
                                      <a:rPr kumimoji="1" lang="zh-CN" altLang="en-US" sz="2800" b="1" i="1">
                                        <a:solidFill>
                                          <a:prstClr val="black"/>
                                        </a:solidFill>
                                        <a:latin typeface="Cambria Math" panose="02040503050406030204" pitchFamily="18" charset="0"/>
                                        <a:ea typeface="黑体" panose="02010609060101010101" pitchFamily="49" charset="-122"/>
                                      </a:rPr>
                                      <m:t>𝒊</m:t>
                                    </m:r>
                                  </m:e>
                                  <m:e>
                                    <m:r>
                                      <a:rPr kumimoji="1" lang="zh-CN" altLang="en-US" sz="2800" b="1" i="1">
                                        <a:solidFill>
                                          <a:prstClr val="black"/>
                                        </a:solidFill>
                                        <a:latin typeface="Cambria Math" panose="02040503050406030204" pitchFamily="18" charset="0"/>
                                        <a:ea typeface="黑体" panose="02010609060101010101" pitchFamily="49" charset="-122"/>
                                      </a:rPr>
                                      <m:t>𝒋</m:t>
                                    </m:r>
                                  </m:e>
                                  <m:e>
                                    <m:r>
                                      <a:rPr kumimoji="1" lang="zh-CN" altLang="en-US" sz="2800" b="1" i="1">
                                        <a:solidFill>
                                          <a:prstClr val="black"/>
                                        </a:solidFill>
                                        <a:latin typeface="Cambria Math" panose="02040503050406030204" pitchFamily="18" charset="0"/>
                                        <a:ea typeface="黑体" panose="02010609060101010101" pitchFamily="49" charset="-122"/>
                                      </a:rPr>
                                      <m:t>𝐤</m:t>
                                    </m:r>
                                  </m:e>
                                </m:mr>
                                <m:mr>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den>
                                    </m:f>
                                  </m:e>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den>
                                    </m:f>
                                  </m:e>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den>
                                    </m:f>
                                  </m:e>
                                </m:mr>
                                <m:mr>
                                  <m:e>
                                    <m:r>
                                      <a:rPr kumimoji="1" lang="zh-CN" altLang="en-US" sz="2800">
                                        <a:solidFill>
                                          <a:prstClr val="black"/>
                                        </a:solidFill>
                                        <a:latin typeface="Cambria Math" panose="02040503050406030204" pitchFamily="18" charset="0"/>
                                        <a:ea typeface="黑体" panose="02010609060101010101" pitchFamily="49" charset="-122"/>
                                      </a:rPr>
                                      <m:t>𝑃</m:t>
                                    </m:r>
                                  </m:e>
                                  <m:e>
                                    <m:r>
                                      <a:rPr kumimoji="1" lang="zh-CN" altLang="en-US" sz="2800">
                                        <a:solidFill>
                                          <a:prstClr val="black"/>
                                        </a:solidFill>
                                        <a:latin typeface="Cambria Math" panose="02040503050406030204" pitchFamily="18" charset="0"/>
                                        <a:ea typeface="黑体" panose="02010609060101010101" pitchFamily="49" charset="-122"/>
                                      </a:rPr>
                                      <m:t>𝑄</m:t>
                                    </m:r>
                                  </m:e>
                                  <m:e>
                                    <m:r>
                                      <a:rPr kumimoji="1" lang="zh-CN" altLang="en-US" sz="2800">
                                        <a:solidFill>
                                          <a:prstClr val="black"/>
                                        </a:solidFill>
                                        <a:latin typeface="Cambria Math" panose="02040503050406030204" pitchFamily="18" charset="0"/>
                                        <a:ea typeface="黑体" panose="02010609060101010101" pitchFamily="49" charset="-122"/>
                                      </a:rPr>
                                      <m:t>𝑅</m:t>
                                    </m:r>
                                  </m:e>
                                </m:mr>
                              </m:m>
                            </m:e>
                          </m:d>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2" name="Object 17">
                    <a:extLst>
                      <a:ext uri="{FF2B5EF4-FFF2-40B4-BE49-F238E27FC236}">
                        <a16:creationId xmlns:a16="http://schemas.microsoft.com/office/drawing/2014/main" id="{4CD5547B-D916-88B8-F65D-2A3B1FD86959}"/>
                      </a:ext>
                    </a:extLst>
                  </p:cNvPr>
                  <p:cNvSpPr txBox="1">
                    <a:spLocks noRot="1" noChangeAspect="1" noMove="1" noResize="1" noEditPoints="1" noAdjustHandles="1" noChangeArrowheads="1" noChangeShapeType="1" noTextEdit="1"/>
                  </p:cNvSpPr>
                  <p:nvPr/>
                </p:nvSpPr>
                <p:spPr bwMode="auto">
                  <a:xfrm>
                    <a:off x="3983164" y="3991623"/>
                    <a:ext cx="5116511" cy="1868973"/>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69D888A9-A67A-630F-439D-45172002C831}"/>
                      </a:ext>
                    </a:extLst>
                  </p:cNvPr>
                  <p:cNvSpPr txBox="1"/>
                  <p:nvPr/>
                </p:nvSpPr>
                <p:spPr>
                  <a:xfrm>
                    <a:off x="2592257" y="3423267"/>
                    <a:ext cx="4501366" cy="4445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向量场</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的旋度也可表示为</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69D888A9-A67A-630F-439D-45172002C831}"/>
                      </a:ext>
                    </a:extLst>
                  </p:cNvPr>
                  <p:cNvSpPr txBox="1">
                    <a:spLocks noRot="1" noChangeAspect="1" noMove="1" noResize="1" noEditPoints="1" noAdjustHandles="1" noChangeArrowheads="1" noChangeShapeType="1" noTextEdit="1"/>
                  </p:cNvSpPr>
                  <p:nvPr/>
                </p:nvSpPr>
                <p:spPr>
                  <a:xfrm>
                    <a:off x="2592257" y="3423267"/>
                    <a:ext cx="4501366" cy="4445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649DF42A-92B9-F2A7-BA57-B50E360DF022}"/>
                      </a:ext>
                    </a:extLst>
                  </p:cNvPr>
                  <p:cNvSpPr txBox="1"/>
                  <p:nvPr/>
                </p:nvSpPr>
                <p:spPr>
                  <a:xfrm>
                    <a:off x="2592257" y="2778403"/>
                    <a:ext cx="4797910" cy="4445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也称为</m:t>
                          </m:r>
                          <m:r>
                            <a:rPr kumimoji="1" lang="en-US" altLang="zh-CN" sz="2800" b="1" i="1" smtClean="0">
                              <a:solidFill>
                                <a:prstClr val="black"/>
                              </a:solidFill>
                              <a:latin typeface="Cambria Math" panose="02040503050406030204" pitchFamily="18" charset="0"/>
                              <a:ea typeface="黑体" panose="02010609060101010101" pitchFamily="49" charset="-122"/>
                            </a:rPr>
                            <m:t> </m:t>
                          </m:r>
                          <m:r>
                            <m:rPr>
                              <m:sty m:val="p"/>
                            </m:rPr>
                            <a:rPr kumimoji="1" lang="zh-CN" altLang="en-US" sz="2800" b="0" i="0">
                              <a:solidFill>
                                <a:prstClr val="black"/>
                              </a:solidFill>
                              <a:latin typeface="Cambria Math" panose="02040503050406030204" pitchFamily="18" charset="0"/>
                              <a:ea typeface="黑体" panose="02010609060101010101" pitchFamily="49" charset="-122"/>
                            </a:rPr>
                            <m:t>∇</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算子或哈密顿算子</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6" name="对象 5">
                    <a:extLst>
                      <a:ext uri="{FF2B5EF4-FFF2-40B4-BE49-F238E27FC236}">
                        <a16:creationId xmlns:a16="http://schemas.microsoft.com/office/drawing/2014/main" id="{649DF42A-92B9-F2A7-BA57-B50E360DF022}"/>
                      </a:ext>
                    </a:extLst>
                  </p:cNvPr>
                  <p:cNvSpPr txBox="1">
                    <a:spLocks noRot="1" noChangeAspect="1" noMove="1" noResize="1" noEditPoints="1" noAdjustHandles="1" noChangeArrowheads="1" noChangeShapeType="1" noTextEdit="1"/>
                  </p:cNvSpPr>
                  <p:nvPr/>
                </p:nvSpPr>
                <p:spPr>
                  <a:xfrm>
                    <a:off x="2592257" y="2778403"/>
                    <a:ext cx="4797910" cy="444500"/>
                  </a:xfrm>
                  <a:prstGeom prst="rect">
                    <a:avLst/>
                  </a:prstGeom>
                  <a:blipFill>
                    <a:blip r:embed="rId7"/>
                    <a:stretch>
                      <a:fillRect/>
                    </a:stretch>
                  </a:blipFill>
                </p:spPr>
                <p:txBody>
                  <a:bodyPr/>
                  <a:lstStyle/>
                  <a:p>
                    <a:r>
                      <a:rPr lang="zh-CN" altLang="en-US">
                        <a:noFill/>
                      </a:rPr>
                      <a:t> </a:t>
                    </a:r>
                  </a:p>
                </p:txBody>
              </p:sp>
            </mc:Fallback>
          </mc:AlternateContent>
        </p:grpSp>
      </p:grpSp>
    </p:spTree>
    <p:extLst>
      <p:ext uri="{BB962C8B-B14F-4D97-AF65-F5344CB8AC3E}">
        <p14:creationId xmlns:p14="http://schemas.microsoft.com/office/powerpoint/2010/main" val="4641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7485BD05-EBD8-FE94-6B93-344AF8C9F398}"/>
              </a:ext>
            </a:extLst>
          </p:cNvPr>
          <p:cNvGrpSpPr/>
          <p:nvPr/>
        </p:nvGrpSpPr>
        <p:grpSpPr>
          <a:xfrm>
            <a:off x="510540" y="494665"/>
            <a:ext cx="11149330" cy="5612765"/>
            <a:chOff x="838" y="906"/>
            <a:chExt cx="17558" cy="8839"/>
          </a:xfrm>
        </p:grpSpPr>
        <p:sp>
          <p:nvSpPr>
            <p:cNvPr id="5" name="PA-102232">
              <a:extLst>
                <a:ext uri="{FF2B5EF4-FFF2-40B4-BE49-F238E27FC236}">
                  <a16:creationId xmlns:a16="http://schemas.microsoft.com/office/drawing/2014/main" id="{5735CC6A-7756-C642-04BB-6D17EDEA0A14}"/>
                </a:ext>
              </a:extLst>
            </p:cNvPr>
            <p:cNvSpPr/>
            <p:nvPr>
              <p:custDataLst>
                <p:tags r:id="rId1"/>
              </p:custDataLst>
            </p:nvPr>
          </p:nvSpPr>
          <p:spPr>
            <a:xfrm>
              <a:off x="872" y="906"/>
              <a:ext cx="17524" cy="8826"/>
            </a:xfrm>
            <a:prstGeom prst="rect">
              <a:avLst/>
            </a:prstGeom>
            <a:solidFill>
              <a:schemeClr val="bg1"/>
            </a:solidFill>
            <a:ln>
              <a:noFill/>
            </a:ln>
            <a:effectLst>
              <a:outerShdw blurRad="393700" dist="889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6BB6"/>
                </a:solidFill>
                <a:cs typeface="+mn-ea"/>
                <a:sym typeface="+mn-lt"/>
              </a:endParaRPr>
            </a:p>
          </p:txBody>
        </p:sp>
        <p:grpSp>
          <p:nvGrpSpPr>
            <p:cNvPr id="6" name="组合 5">
              <a:extLst>
                <a:ext uri="{FF2B5EF4-FFF2-40B4-BE49-F238E27FC236}">
                  <a16:creationId xmlns:a16="http://schemas.microsoft.com/office/drawing/2014/main" id="{20117EFF-9380-082F-CF1E-1EB365E0E06E}"/>
                </a:ext>
              </a:extLst>
            </p:cNvPr>
            <p:cNvGrpSpPr/>
            <p:nvPr/>
          </p:nvGrpSpPr>
          <p:grpSpPr>
            <a:xfrm>
              <a:off x="838" y="9635"/>
              <a:ext cx="17558" cy="110"/>
              <a:chOff x="838" y="9635"/>
              <a:chExt cx="17558" cy="110"/>
            </a:xfrm>
          </p:grpSpPr>
          <p:sp>
            <p:nvSpPr>
              <p:cNvPr id="11" name="Rectangle 1">
                <a:extLst>
                  <a:ext uri="{FF2B5EF4-FFF2-40B4-BE49-F238E27FC236}">
                    <a16:creationId xmlns:a16="http://schemas.microsoft.com/office/drawing/2014/main" id="{DF3CC1F0-C4BE-414A-B2F7-9D8D0213FC9D}"/>
                  </a:ext>
                </a:extLst>
              </p:cNvPr>
              <p:cNvSpPr/>
              <p:nvPr/>
            </p:nvSpPr>
            <p:spPr>
              <a:xfrm>
                <a:off x="5321" y="9650"/>
                <a:ext cx="4286" cy="83"/>
              </a:xfrm>
              <a:prstGeom prst="rect">
                <a:avLst/>
              </a:prstGeom>
              <a:solidFill>
                <a:schemeClr val="bg1"/>
              </a:solidFill>
              <a:ln w="3175" cap="flat" cmpd="sng" algn="ctr">
                <a:solidFill>
                  <a:srgbClr val="0492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
                <a:extLst>
                  <a:ext uri="{FF2B5EF4-FFF2-40B4-BE49-F238E27FC236}">
                    <a16:creationId xmlns:a16="http://schemas.microsoft.com/office/drawing/2014/main" id="{6CEC08D9-B9F3-B90F-5350-5C0E779A1AA3}"/>
                  </a:ext>
                </a:extLst>
              </p:cNvPr>
              <p:cNvSpPr/>
              <p:nvPr/>
            </p:nvSpPr>
            <p:spPr>
              <a:xfrm>
                <a:off x="838" y="9650"/>
                <a:ext cx="4483" cy="83"/>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3" name="Rectangle 1">
                <a:extLst>
                  <a:ext uri="{FF2B5EF4-FFF2-40B4-BE49-F238E27FC236}">
                    <a16:creationId xmlns:a16="http://schemas.microsoft.com/office/drawing/2014/main" id="{12566586-2C3D-5405-D2B9-A21560ADE597}"/>
                  </a:ext>
                </a:extLst>
              </p:cNvPr>
              <p:cNvSpPr/>
              <p:nvPr/>
            </p:nvSpPr>
            <p:spPr>
              <a:xfrm>
                <a:off x="9602" y="9635"/>
                <a:ext cx="8794" cy="111"/>
              </a:xfrm>
              <a:prstGeom prst="rect">
                <a:avLst/>
              </a:prstGeom>
              <a:solidFill>
                <a:srgbClr val="04926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grpSp>
      <mc:AlternateContent xmlns:mc="http://schemas.openxmlformats.org/markup-compatibility/2006" xmlns:a14="http://schemas.microsoft.com/office/drawing/2010/main">
        <mc:Choice Requires="a14">
          <p:sp>
            <p:nvSpPr>
              <p:cNvPr id="2" name="Text Box 209">
                <a:extLst>
                  <a:ext uri="{FF2B5EF4-FFF2-40B4-BE49-F238E27FC236}">
                    <a16:creationId xmlns:a16="http://schemas.microsoft.com/office/drawing/2014/main" id="{27387B8A-DAFC-0EC9-9B04-5E65A80681B9}"/>
                  </a:ext>
                </a:extLst>
              </p:cNvPr>
              <p:cNvSpPr txBox="1">
                <a:spLocks noChangeArrowheads="1"/>
              </p:cNvSpPr>
              <p:nvPr/>
            </p:nvSpPr>
            <p:spPr bwMode="auto">
              <a:xfrm>
                <a:off x="970084" y="2712105"/>
                <a:ext cx="10545641"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spcBef>
                    <a:spcPct val="50000"/>
                  </a:spcBef>
                </a:pPr>
                <a14:m>
                  <m:oMath xmlns:m="http://schemas.openxmlformats.org/officeDocument/2006/math">
                    <m:d>
                      <m:dPr>
                        <m:ctrlPr>
                          <a:rPr kumimoji="1" lang="zh-CN" altLang="en-US" sz="2800" i="1">
                            <a:solidFill>
                              <a:prstClr val="black"/>
                            </a:solidFill>
                            <a:latin typeface="Cambria Math" panose="02040503050406030204" pitchFamily="18" charset="0"/>
                            <a:ea typeface="黑体" panose="02010609060101010101" pitchFamily="49" charset="-122"/>
                          </a:rPr>
                        </m:ctrlPr>
                      </m:dPr>
                      <m:e>
                        <m:r>
                          <a:rPr kumimoji="1" lang="en-US" altLang="zh-CN" sz="2800" i="1">
                            <a:solidFill>
                              <a:prstClr val="black"/>
                            </a:solidFill>
                            <a:latin typeface="Cambria Math" panose="02040503050406030204" pitchFamily="18" charset="0"/>
                            <a:ea typeface="黑体" panose="02010609060101010101" pitchFamily="49" charset="-122"/>
                          </a:rPr>
                          <m:t>1</m:t>
                        </m:r>
                      </m:e>
                    </m:d>
                  </m:oMath>
                </a14:m>
                <a:r>
                  <a:rPr kumimoji="1" lang="zh-CN" altLang="en-US" sz="2800" dirty="0">
                    <a:solidFill>
                      <a:prstClr val="black"/>
                    </a:solidFill>
                    <a:latin typeface="Times New Roman" panose="02020603050405020304" pitchFamily="18" charset="0"/>
                    <a:ea typeface="黑体" panose="02010609060101010101" pitchFamily="49" charset="-122"/>
                  </a:rPr>
                  <a:t>  如果向量场 </a:t>
                </a:r>
                <a:r>
                  <a:rPr kumimoji="1" lang="en-US" altLang="zh-CN" sz="2800" b="1" i="1" dirty="0">
                    <a:solidFill>
                      <a:prstClr val="black"/>
                    </a:solidFill>
                    <a:latin typeface="Times New Roman" panose="02020603050405020304" pitchFamily="18" charset="0"/>
                    <a:ea typeface="黑体" panose="02010609060101010101" pitchFamily="49" charset="-122"/>
                  </a:rPr>
                  <a:t>A</a:t>
                </a:r>
                <a:r>
                  <a:rPr kumimoji="1" lang="en-US" altLang="zh-CN" sz="2800" b="1" dirty="0">
                    <a:solidFill>
                      <a:prstClr val="black"/>
                    </a:solidFill>
                    <a:latin typeface="Times New Roman" panose="02020603050405020304" pitchFamily="18" charset="0"/>
                    <a:ea typeface="黑体" panose="02010609060101010101" pitchFamily="49" charset="-122"/>
                  </a:rPr>
                  <a:t> </a:t>
                </a:r>
                <a:r>
                  <a:rPr kumimoji="1" lang="zh-CN" altLang="en-US" sz="2800" dirty="0">
                    <a:solidFill>
                      <a:prstClr val="black"/>
                    </a:solidFill>
                    <a:latin typeface="Times New Roman" panose="02020603050405020304" pitchFamily="18" charset="0"/>
                    <a:ea typeface="黑体" panose="02010609060101010101" pitchFamily="49" charset="-122"/>
                  </a:rPr>
                  <a:t>的旋度 </a:t>
                </a:r>
                <a14:m>
                  <m:oMath xmlns:m="http://schemas.openxmlformats.org/officeDocument/2006/math">
                    <m:func>
                      <m:funcPr>
                        <m:ctrlPr>
                          <a:rPr kumimoji="1" lang="zh-CN" altLang="en-US" sz="2800" b="1" i="1">
                            <a:solidFill>
                              <a:prstClr val="black"/>
                            </a:solidFill>
                            <a:latin typeface="Cambria Math" panose="02040503050406030204" pitchFamily="18" charset="0"/>
                            <a:ea typeface="黑体" panose="02010609060101010101" pitchFamily="49" charset="-122"/>
                          </a:rPr>
                        </m:ctrlPr>
                      </m:funcPr>
                      <m:fName>
                        <m:r>
                          <a:rPr kumimoji="1" lang="zh-CN" altLang="en-US" sz="2800" b="1" i="0">
                            <a:solidFill>
                              <a:prstClr val="black"/>
                            </a:solidFill>
                            <a:latin typeface="Cambria Math" panose="02040503050406030204" pitchFamily="18" charset="0"/>
                            <a:ea typeface="黑体" panose="02010609060101010101" pitchFamily="49" charset="-122"/>
                          </a:rPr>
                          <m:t>𝐫𝐨𝐭</m:t>
                        </m:r>
                      </m:fName>
                      <m:e>
                        <m:r>
                          <a:rPr kumimoji="1" lang="zh-CN" altLang="en-US" sz="2800" b="1" i="1">
                            <a:solidFill>
                              <a:prstClr val="black"/>
                            </a:solidFill>
                            <a:latin typeface="Cambria Math" panose="02040503050406030204" pitchFamily="18" charset="0"/>
                            <a:ea typeface="黑体" panose="02010609060101010101" pitchFamily="49" charset="-122"/>
                          </a:rPr>
                          <m:t>𝑨</m:t>
                        </m:r>
                      </m:e>
                    </m:func>
                  </m:oMath>
                </a14:m>
                <a:r>
                  <a:rPr kumimoji="1" lang="zh-CN" altLang="en-US" sz="2800" b="1" dirty="0">
                    <a:solidFill>
                      <a:prstClr val="black"/>
                    </a:solidFill>
                    <a:latin typeface="Times New Roman" panose="02020603050405020304" pitchFamily="18" charset="0"/>
                    <a:ea typeface="黑体" panose="02010609060101010101" pitchFamily="49" charset="-122"/>
                  </a:rPr>
                  <a:t> </a:t>
                </a:r>
                <a:r>
                  <a:rPr kumimoji="1" lang="zh-CN" altLang="en-US" sz="2800" dirty="0">
                    <a:solidFill>
                      <a:prstClr val="black"/>
                    </a:solidFill>
                    <a:latin typeface="Times New Roman" panose="02020603050405020304" pitchFamily="18" charset="0"/>
                    <a:ea typeface="黑体" panose="02010609060101010101" pitchFamily="49" charset="-122"/>
                  </a:rPr>
                  <a:t>处处为零</a:t>
                </a:r>
                <a14:m>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m:t>
                    </m:r>
                  </m:oMath>
                </a14:m>
                <a:r>
                  <a:rPr kumimoji="1" lang="zh-CN" altLang="en-US" sz="2800" dirty="0">
                    <a:solidFill>
                      <a:prstClr val="black"/>
                    </a:solidFill>
                    <a:latin typeface="Times New Roman" panose="02020603050405020304" pitchFamily="18" charset="0"/>
                    <a:ea typeface="黑体" panose="02010609060101010101" pitchFamily="49" charset="-122"/>
                  </a:rPr>
                  <a:t>则称向量场</a:t>
                </a:r>
                <a:r>
                  <a:rPr kumimoji="1" lang="zh-CN" altLang="en-US" sz="2800" b="1" dirty="0">
                    <a:solidFill>
                      <a:prstClr val="black"/>
                    </a:solidFill>
                    <a:latin typeface="Times New Roman" panose="02020603050405020304" pitchFamily="18" charset="0"/>
                    <a:ea typeface="黑体" panose="02010609060101010101" pitchFamily="49" charset="-122"/>
                  </a:rPr>
                  <a:t> </a:t>
                </a:r>
                <a:r>
                  <a:rPr kumimoji="1" lang="en-US" altLang="zh-CN" sz="2800" b="1" i="1" dirty="0">
                    <a:solidFill>
                      <a:prstClr val="black"/>
                    </a:solidFill>
                    <a:latin typeface="Times New Roman" panose="02020603050405020304" pitchFamily="18" charset="0"/>
                    <a:ea typeface="黑体" panose="02010609060101010101" pitchFamily="49" charset="-122"/>
                  </a:rPr>
                  <a:t>A</a:t>
                </a:r>
                <a:r>
                  <a:rPr kumimoji="1" lang="en-US" altLang="zh-CN" sz="2800" b="1" dirty="0">
                    <a:solidFill>
                      <a:prstClr val="black"/>
                    </a:solidFill>
                    <a:latin typeface="Times New Roman" panose="02020603050405020304" pitchFamily="18" charset="0"/>
                    <a:ea typeface="黑体" panose="02010609060101010101" pitchFamily="49" charset="-122"/>
                  </a:rPr>
                  <a:t> </a:t>
                </a:r>
                <a:r>
                  <a:rPr kumimoji="1" lang="zh-CN" altLang="en-US" sz="2800" dirty="0">
                    <a:solidFill>
                      <a:prstClr val="black"/>
                    </a:solidFill>
                    <a:latin typeface="Times New Roman" panose="02020603050405020304" pitchFamily="18" charset="0"/>
                    <a:ea typeface="黑体" panose="02010609060101010101" pitchFamily="49" charset="-122"/>
                  </a:rPr>
                  <a:t>为无旋场</a:t>
                </a:r>
                <a:r>
                  <a:rPr kumimoji="1" lang="en-US" altLang="zh-CN" sz="2800" dirty="0">
                    <a:solidFill>
                      <a:prstClr val="black"/>
                    </a:solidFill>
                    <a:latin typeface="Times New Roman" panose="02020603050405020304" pitchFamily="18" charset="0"/>
                    <a:ea typeface="黑体" panose="02010609060101010101" pitchFamily="49" charset="-122"/>
                  </a:rPr>
                  <a:t>.</a:t>
                </a:r>
              </a:p>
            </p:txBody>
          </p:sp>
        </mc:Choice>
        <mc:Fallback xmlns="">
          <p:sp>
            <p:nvSpPr>
              <p:cNvPr id="2" name="Text Box 209">
                <a:extLst>
                  <a:ext uri="{FF2B5EF4-FFF2-40B4-BE49-F238E27FC236}">
                    <a16:creationId xmlns:a16="http://schemas.microsoft.com/office/drawing/2014/main" id="{27387B8A-DAFC-0EC9-9B04-5E65A80681B9}"/>
                  </a:ext>
                </a:extLst>
              </p:cNvPr>
              <p:cNvSpPr txBox="1">
                <a:spLocks noRot="1" noChangeAspect="1" noMove="1" noResize="1" noEditPoints="1" noAdjustHandles="1" noChangeArrowheads="1" noChangeShapeType="1" noTextEdit="1"/>
              </p:cNvSpPr>
              <p:nvPr/>
            </p:nvSpPr>
            <p:spPr bwMode="auto">
              <a:xfrm>
                <a:off x="970084" y="2712105"/>
                <a:ext cx="10545641" cy="523220"/>
              </a:xfrm>
              <a:prstGeom prst="rect">
                <a:avLst/>
              </a:prstGeom>
              <a:blipFill>
                <a:blip r:embed="rId3"/>
                <a:stretch>
                  <a:fillRect t="-16279" b="-3255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 Box 211">
                <a:extLst>
                  <a:ext uri="{FF2B5EF4-FFF2-40B4-BE49-F238E27FC236}">
                    <a16:creationId xmlns:a16="http://schemas.microsoft.com/office/drawing/2014/main" id="{B6C980D5-0F82-A882-5E1D-91CEFF969915}"/>
                  </a:ext>
                </a:extLst>
              </p:cNvPr>
              <p:cNvSpPr txBox="1">
                <a:spLocks noChangeArrowheads="1"/>
              </p:cNvSpPr>
              <p:nvPr/>
            </p:nvSpPr>
            <p:spPr bwMode="auto">
              <a:xfrm>
                <a:off x="970084" y="3500048"/>
                <a:ext cx="10205916" cy="136781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nSpc>
                    <a:spcPct val="130000"/>
                  </a:lnSpc>
                  <a:spcBef>
                    <a:spcPct val="50000"/>
                  </a:spcBef>
                </a:pPr>
                <a14:m>
                  <m:oMath xmlns:m="http://schemas.openxmlformats.org/officeDocument/2006/math">
                    <m:d>
                      <m:dPr>
                        <m:ctrlPr>
                          <a:rPr kumimoji="1" lang="zh-CN" altLang="en-US" sz="2800" i="1" smtClean="0">
                            <a:solidFill>
                              <a:prstClr val="black"/>
                            </a:solidFill>
                            <a:latin typeface="Cambria Math" panose="02040503050406030204" pitchFamily="18" charset="0"/>
                            <a:ea typeface="黑体" panose="02010609060101010101" pitchFamily="49" charset="-122"/>
                          </a:rPr>
                        </m:ctrlPr>
                      </m:dPr>
                      <m:e>
                        <m:r>
                          <a:rPr kumimoji="1" lang="en-US" altLang="zh-CN" sz="2800" b="0" i="1" smtClean="0">
                            <a:solidFill>
                              <a:prstClr val="black"/>
                            </a:solidFill>
                            <a:latin typeface="Cambria Math" panose="02040503050406030204" pitchFamily="18" charset="0"/>
                            <a:ea typeface="黑体" panose="02010609060101010101" pitchFamily="49" charset="-122"/>
                          </a:rPr>
                          <m:t>2</m:t>
                        </m:r>
                      </m:e>
                    </m:d>
                  </m:oMath>
                </a14:m>
                <a:r>
                  <a:rPr kumimoji="1" lang="zh-CN" altLang="en-US" sz="2800" dirty="0">
                    <a:solidFill>
                      <a:prstClr val="black"/>
                    </a:solidFill>
                    <a:latin typeface="Times New Roman" panose="02020603050405020304" pitchFamily="18" charset="0"/>
                    <a:ea typeface="黑体" panose="02010609060101010101" pitchFamily="49" charset="-122"/>
                  </a:rPr>
                  <a:t>  一个无源、无旋的向量场称为调和场</a:t>
                </a:r>
                <a:r>
                  <a:rPr kumimoji="1" lang="en-US" altLang="zh-CN" sz="2800" dirty="0">
                    <a:solidFill>
                      <a:prstClr val="black"/>
                    </a:solidFill>
                    <a:latin typeface="Times New Roman" panose="02020603050405020304" pitchFamily="18" charset="0"/>
                    <a:ea typeface="黑体" panose="02010609060101010101" pitchFamily="49" charset="-122"/>
                  </a:rPr>
                  <a:t>.</a:t>
                </a:r>
                <a:r>
                  <a:rPr kumimoji="1" lang="zh-CN" altLang="en-US" sz="2800" dirty="0">
                    <a:solidFill>
                      <a:prstClr val="black"/>
                    </a:solidFill>
                    <a:latin typeface="Times New Roman" panose="02020603050405020304" pitchFamily="18" charset="0"/>
                    <a:ea typeface="黑体" panose="02010609060101010101" pitchFamily="49" charset="-122"/>
                  </a:rPr>
                  <a:t>调和场是物理学中另一             </a:t>
                </a:r>
                <a:endParaRPr kumimoji="1" lang="en-US" altLang="zh-CN" sz="2800" dirty="0">
                  <a:solidFill>
                    <a:prstClr val="black"/>
                  </a:solidFill>
                  <a:latin typeface="Times New Roman" panose="02020603050405020304" pitchFamily="18" charset="0"/>
                  <a:ea typeface="黑体" panose="02010609060101010101" pitchFamily="49" charset="-122"/>
                </a:endParaRPr>
              </a:p>
              <a:p>
                <a:pPr>
                  <a:lnSpc>
                    <a:spcPct val="130000"/>
                  </a:lnSpc>
                  <a:spcBef>
                    <a:spcPct val="50000"/>
                  </a:spcBef>
                </a:pPr>
                <a:r>
                  <a:rPr kumimoji="1" lang="en-US" altLang="zh-CN" sz="2800" dirty="0">
                    <a:solidFill>
                      <a:prstClr val="black"/>
                    </a:solidFill>
                    <a:latin typeface="Times New Roman" panose="02020603050405020304" pitchFamily="18" charset="0"/>
                    <a:ea typeface="黑体" panose="02010609060101010101" pitchFamily="49" charset="-122"/>
                  </a:rPr>
                  <a:t>       </a:t>
                </a:r>
                <a:r>
                  <a:rPr kumimoji="1" lang="zh-CN" altLang="en-US" sz="2800" dirty="0">
                    <a:solidFill>
                      <a:prstClr val="black"/>
                    </a:solidFill>
                    <a:latin typeface="Times New Roman" panose="02020603050405020304" pitchFamily="18" charset="0"/>
                    <a:ea typeface="黑体" panose="02010609060101010101" pitchFamily="49" charset="-122"/>
                  </a:rPr>
                  <a:t>类重要的向量场</a:t>
                </a:r>
                <a14:m>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m:t>
                    </m:r>
                  </m:oMath>
                </a14:m>
                <a:r>
                  <a:rPr kumimoji="1" lang="zh-CN" altLang="en-US" sz="2800" dirty="0">
                    <a:solidFill>
                      <a:prstClr val="black"/>
                    </a:solidFill>
                    <a:latin typeface="Times New Roman" panose="02020603050405020304" pitchFamily="18" charset="0"/>
                    <a:ea typeface="黑体" panose="02010609060101010101" pitchFamily="49" charset="-122"/>
                  </a:rPr>
                  <a:t>这种场与调和函数有密切的关系</a:t>
                </a:r>
                <a:r>
                  <a:rPr kumimoji="1" lang="en-US" altLang="zh-CN" sz="2800" dirty="0">
                    <a:solidFill>
                      <a:prstClr val="black"/>
                    </a:solidFill>
                    <a:latin typeface="Times New Roman" panose="02020603050405020304" pitchFamily="18" charset="0"/>
                    <a:ea typeface="黑体" panose="02010609060101010101" pitchFamily="49" charset="-122"/>
                  </a:rPr>
                  <a:t>.</a:t>
                </a:r>
              </a:p>
            </p:txBody>
          </p:sp>
        </mc:Choice>
        <mc:Fallback xmlns="">
          <p:sp>
            <p:nvSpPr>
              <p:cNvPr id="3" name="Text Box 211">
                <a:extLst>
                  <a:ext uri="{FF2B5EF4-FFF2-40B4-BE49-F238E27FC236}">
                    <a16:creationId xmlns:a16="http://schemas.microsoft.com/office/drawing/2014/main" id="{B6C980D5-0F82-A882-5E1D-91CEFF969915}"/>
                  </a:ext>
                </a:extLst>
              </p:cNvPr>
              <p:cNvSpPr txBox="1">
                <a:spLocks noRot="1" noChangeAspect="1" noMove="1" noResize="1" noEditPoints="1" noAdjustHandles="1" noChangeArrowheads="1" noChangeShapeType="1" noTextEdit="1"/>
              </p:cNvSpPr>
              <p:nvPr/>
            </p:nvSpPr>
            <p:spPr bwMode="auto">
              <a:xfrm>
                <a:off x="970084" y="3500048"/>
                <a:ext cx="10205916" cy="1367810"/>
              </a:xfrm>
              <a:prstGeom prst="rect">
                <a:avLst/>
              </a:prstGeom>
              <a:blipFill>
                <a:blip r:embed="rId4"/>
                <a:stretch>
                  <a:fillRect t="-889" r="-777" b="-1155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DD71B375-ECCF-3B49-589D-A5390489772C}"/>
              </a:ext>
            </a:extLst>
          </p:cNvPr>
          <p:cNvGrpSpPr/>
          <p:nvPr/>
        </p:nvGrpSpPr>
        <p:grpSpPr>
          <a:xfrm>
            <a:off x="1062679" y="1949741"/>
            <a:ext cx="612775" cy="612775"/>
            <a:chOff x="1601" y="872"/>
            <a:chExt cx="965" cy="965"/>
          </a:xfrm>
        </p:grpSpPr>
        <p:sp>
          <p:nvSpPr>
            <p:cNvPr id="8" name="椭圆 7">
              <a:extLst>
                <a:ext uri="{FF2B5EF4-FFF2-40B4-BE49-F238E27FC236}">
                  <a16:creationId xmlns:a16="http://schemas.microsoft.com/office/drawing/2014/main" id="{F3370A08-7FC6-4885-A78A-B628F3DB6C98}"/>
                </a:ext>
              </a:extLst>
            </p:cNvPr>
            <p:cNvSpPr/>
            <p:nvPr/>
          </p:nvSpPr>
          <p:spPr>
            <a:xfrm>
              <a:off x="1663" y="934"/>
              <a:ext cx="841" cy="841"/>
            </a:xfrm>
            <a:prstGeom prst="ellipse">
              <a:avLst/>
            </a:prstGeom>
            <a:solidFill>
              <a:srgbClr val="049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a:extLst>
                <a:ext uri="{FF2B5EF4-FFF2-40B4-BE49-F238E27FC236}">
                  <a16:creationId xmlns:a16="http://schemas.microsoft.com/office/drawing/2014/main" id="{D317A04B-B039-6E01-03E8-6B952A366461}"/>
                </a:ext>
              </a:extLst>
            </p:cNvPr>
            <p:cNvSpPr txBox="1"/>
            <p:nvPr/>
          </p:nvSpPr>
          <p:spPr bwMode="auto">
            <a:xfrm>
              <a:off x="1625" y="921"/>
              <a:ext cx="848" cy="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rtlCol="0">
              <a:spAutoFit/>
            </a:bodyPr>
            <a:lstStyle/>
            <a:p>
              <a:pPr eaLnBrk="1" hangingPunct="1">
                <a:spcBef>
                  <a:spcPct val="50000"/>
                </a:spcBef>
              </a:pPr>
              <a:r>
                <a:rPr lang="zh-CN" altLang="en-US" sz="28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注</a:t>
              </a:r>
            </a:p>
          </p:txBody>
        </p:sp>
        <p:sp>
          <p:nvSpPr>
            <p:cNvPr id="10" name="椭圆 9">
              <a:extLst>
                <a:ext uri="{FF2B5EF4-FFF2-40B4-BE49-F238E27FC236}">
                  <a16:creationId xmlns:a16="http://schemas.microsoft.com/office/drawing/2014/main" id="{1A6867AF-DC2F-37C1-FE1A-936E005C1553}"/>
                </a:ext>
              </a:extLst>
            </p:cNvPr>
            <p:cNvSpPr/>
            <p:nvPr/>
          </p:nvSpPr>
          <p:spPr>
            <a:xfrm>
              <a:off x="1601" y="872"/>
              <a:ext cx="965" cy="965"/>
            </a:xfrm>
            <a:prstGeom prst="ellipse">
              <a:avLst/>
            </a:prstGeom>
            <a:noFill/>
            <a:ln>
              <a:solidFill>
                <a:srgbClr val="0492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spTree>
    <p:extLst>
      <p:ext uri="{BB962C8B-B14F-4D97-AF65-F5344CB8AC3E}">
        <p14:creationId xmlns:p14="http://schemas.microsoft.com/office/powerpoint/2010/main" val="2652023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AD9AF72C-0EC2-8422-BAC2-A2A84DB17909}"/>
              </a:ext>
            </a:extLst>
          </p:cNvPr>
          <p:cNvSpPr/>
          <p:nvPr/>
        </p:nvSpPr>
        <p:spPr>
          <a:xfrm>
            <a:off x="687388" y="660400"/>
            <a:ext cx="10817225" cy="5537200"/>
          </a:xfrm>
          <a:prstGeom prst="rect">
            <a:avLst/>
          </a:prstGeom>
          <a:solidFill>
            <a:schemeClr val="bg1"/>
          </a:solidFill>
          <a:ln>
            <a:noFill/>
          </a:ln>
          <a:effectLst>
            <a:outerShdw blurRad="635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半闭框 13">
            <a:extLst>
              <a:ext uri="{FF2B5EF4-FFF2-40B4-BE49-F238E27FC236}">
                <a16:creationId xmlns:a16="http://schemas.microsoft.com/office/drawing/2014/main" id="{EB925E5D-A218-05D9-08AB-911F1259A45E}"/>
              </a:ext>
            </a:extLst>
          </p:cNvPr>
          <p:cNvSpPr/>
          <p:nvPr/>
        </p:nvSpPr>
        <p:spPr>
          <a:xfrm>
            <a:off x="687324" y="660400"/>
            <a:ext cx="681355" cy="73917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半闭框 14">
            <a:extLst>
              <a:ext uri="{FF2B5EF4-FFF2-40B4-BE49-F238E27FC236}">
                <a16:creationId xmlns:a16="http://schemas.microsoft.com/office/drawing/2014/main" id="{751EBEF9-BD56-1846-8AA0-59BEFB1837E7}"/>
              </a:ext>
            </a:extLst>
          </p:cNvPr>
          <p:cNvSpPr/>
          <p:nvPr/>
        </p:nvSpPr>
        <p:spPr>
          <a:xfrm flipH="1">
            <a:off x="10823530" y="660400"/>
            <a:ext cx="681146" cy="739134"/>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半闭框 15">
            <a:extLst>
              <a:ext uri="{FF2B5EF4-FFF2-40B4-BE49-F238E27FC236}">
                <a16:creationId xmlns:a16="http://schemas.microsoft.com/office/drawing/2014/main" id="{CF5F8EDA-4BCD-E03C-BCEA-FD33B598697A}"/>
              </a:ext>
            </a:extLst>
          </p:cNvPr>
          <p:cNvSpPr/>
          <p:nvPr/>
        </p:nvSpPr>
        <p:spPr>
          <a:xfrm flipV="1">
            <a:off x="687324" y="5524083"/>
            <a:ext cx="681355" cy="673517"/>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半闭框 16">
            <a:extLst>
              <a:ext uri="{FF2B5EF4-FFF2-40B4-BE49-F238E27FC236}">
                <a16:creationId xmlns:a16="http://schemas.microsoft.com/office/drawing/2014/main" id="{ADAB7FD9-CCCA-5483-DC20-892A1311134A}"/>
              </a:ext>
            </a:extLst>
          </p:cNvPr>
          <p:cNvSpPr/>
          <p:nvPr/>
        </p:nvSpPr>
        <p:spPr>
          <a:xfrm flipH="1" flipV="1">
            <a:off x="10823530" y="5504217"/>
            <a:ext cx="681146" cy="693383"/>
          </a:xfrm>
          <a:prstGeom prst="halfFrame">
            <a:avLst>
              <a:gd name="adj1" fmla="val 7739"/>
              <a:gd name="adj2" fmla="val 6987"/>
            </a:avLst>
          </a:prstGeom>
          <a:gradFill flip="none" rotWithShape="1">
            <a:gsLst>
              <a:gs pos="0">
                <a:schemeClr val="bg1"/>
              </a:gs>
              <a:gs pos="46000">
                <a:srgbClr val="039463"/>
              </a:gs>
              <a:gs pos="100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chemeClr val="tx1"/>
              </a:solidFill>
            </a:endParaRPr>
          </a:p>
        </p:txBody>
      </p:sp>
      <p:sp>
        <p:nvSpPr>
          <p:cNvPr id="2" name="Rectangle 38">
            <a:extLst>
              <a:ext uri="{FF2B5EF4-FFF2-40B4-BE49-F238E27FC236}">
                <a16:creationId xmlns:a16="http://schemas.microsoft.com/office/drawing/2014/main" id="{88114C82-0178-08F9-B7C9-D3B302ABACCD}"/>
              </a:ext>
            </a:extLst>
          </p:cNvPr>
          <p:cNvSpPr txBox="1">
            <a:spLocks noChangeArrowheads="1"/>
          </p:cNvSpPr>
          <p:nvPr/>
        </p:nvSpPr>
        <p:spPr>
          <a:xfrm>
            <a:off x="1624960" y="1947182"/>
            <a:ext cx="936812" cy="467234"/>
          </a:xfrm>
          <a:prstGeom prst="rect">
            <a:avLst/>
          </a:prstGeom>
        </p:spPr>
        <p:txBody>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kumimoji="1" lang="zh-CN" altLang="en-US" sz="2800" dirty="0">
                <a:solidFill>
                  <a:srgbClr val="04926A"/>
                </a:solidFill>
                <a:latin typeface="微软雅黑" panose="020B0503020204020204" pitchFamily="34" charset="-122"/>
                <a:ea typeface="微软雅黑" panose="020B0503020204020204" pitchFamily="34" charset="-122"/>
                <a:cs typeface="+mn-cs"/>
              </a:rPr>
              <a:t>例</a:t>
            </a:r>
            <a:r>
              <a:rPr kumimoji="1" lang="en-US" altLang="zh-CN" sz="2800" dirty="0">
                <a:solidFill>
                  <a:srgbClr val="04926A"/>
                </a:solidFill>
                <a:latin typeface="微软雅黑" panose="020B0503020204020204" pitchFamily="34" charset="-122"/>
                <a:ea typeface="微软雅黑" panose="020B0503020204020204" pitchFamily="34" charset="-122"/>
                <a:cs typeface="+mn-cs"/>
              </a:rPr>
              <a:t>5  </a:t>
            </a:r>
            <a:endParaRPr kumimoji="1" lang="zh-CN" altLang="en-US" sz="2800" dirty="0">
              <a:solidFill>
                <a:srgbClr val="04926A"/>
              </a:solidFill>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A5587A6F-91B7-B539-6C0D-4E993F51AF75}"/>
                  </a:ext>
                </a:extLst>
              </p:cNvPr>
              <p:cNvSpPr txBox="1"/>
              <p:nvPr/>
            </p:nvSpPr>
            <p:spPr>
              <a:xfrm>
                <a:off x="2569548" y="1907701"/>
                <a:ext cx="8253982" cy="4699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求向量场</m:t>
                      </m:r>
                      <m:r>
                        <a:rPr kumimoji="1" lang="en-US" altLang="zh-CN" sz="2800" b="1" i="1" smtClean="0">
                          <a:solidFill>
                            <a:prstClr val="black"/>
                          </a:solidFill>
                          <a:latin typeface="Cambria Math" panose="02040503050406030204" pitchFamily="18" charset="0"/>
                          <a:ea typeface="黑体" panose="02010609060101010101" pitchFamily="49" charset="-122"/>
                        </a:rPr>
                        <m:t> </m:t>
                      </m:r>
                      <m:r>
                        <a:rPr kumimoji="1" lang="zh-CN" altLang="en-US" sz="2800" b="1" i="1">
                          <a:solidFill>
                            <a:prstClr val="black"/>
                          </a:solidFill>
                          <a:latin typeface="Cambria Math" panose="02040503050406030204" pitchFamily="18" charset="0"/>
                          <a:ea typeface="黑体" panose="02010609060101010101" pitchFamily="49" charset="-122"/>
                        </a:rPr>
                        <m:t>𝑨</m:t>
                      </m:r>
                      <m:d>
                        <m:dPr>
                          <m:ctrlPr>
                            <a:rPr kumimoji="1" lang="zh-CN" altLang="en-US" sz="2800" b="1" i="1">
                              <a:solidFill>
                                <a:prstClr val="black"/>
                              </a:solidFill>
                              <a:latin typeface="Cambria Math" panose="02040503050406030204" pitchFamily="18" charset="0"/>
                              <a:ea typeface="黑体" panose="02010609060101010101" pitchFamily="49" charset="-122"/>
                            </a:rPr>
                          </m:ctrlPr>
                        </m:dPr>
                        <m:e>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e>
                      </m:d>
                      <m:r>
                        <a:rPr kumimoji="1" lang="zh-CN" altLang="en-US" sz="280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sSup>
                            <m:sSupPr>
                              <m:ctrlPr>
                                <a:rPr kumimoji="1" lang="zh-CN" altLang="en-US" sz="2800" i="1">
                                  <a:solidFill>
                                    <a:prstClr val="black"/>
                                  </a:solidFill>
                                  <a:latin typeface="Cambria Math" panose="02040503050406030204" pitchFamily="18" charset="0"/>
                                  <a:ea typeface="黑体" panose="02010609060101010101" pitchFamily="49" charset="-122"/>
                                </a:rPr>
                              </m:ctrlPr>
                            </m:sSupPr>
                            <m:e>
                              <m:r>
                                <a:rPr kumimoji="1" lang="zh-CN" altLang="en-US" sz="2800">
                                  <a:solidFill>
                                    <a:prstClr val="black"/>
                                  </a:solidFill>
                                  <a:latin typeface="Cambria Math" panose="02040503050406030204" pitchFamily="18" charset="0"/>
                                  <a:ea typeface="黑体" panose="02010609060101010101" pitchFamily="49" charset="-122"/>
                                </a:rPr>
                                <m:t>𝑥</m:t>
                              </m:r>
                            </m:e>
                            <m:sup>
                              <m:r>
                                <a:rPr kumimoji="1" lang="zh-CN" altLang="en-US" sz="2800">
                                  <a:solidFill>
                                    <a:prstClr val="black"/>
                                  </a:solidFill>
                                  <a:latin typeface="Cambria Math" panose="02040503050406030204" pitchFamily="18" charset="0"/>
                                  <a:ea typeface="黑体" panose="02010609060101010101" pitchFamily="49" charset="-122"/>
                                </a:rPr>
                                <m:t>2</m:t>
                              </m:r>
                            </m:sup>
                          </m:sSup>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e>
                      </m:d>
                      <m:r>
                        <a:rPr kumimoji="1" lang="zh-CN" altLang="en-US" sz="2800" b="1" i="1">
                          <a:solidFill>
                            <a:prstClr val="black"/>
                          </a:solidFill>
                          <a:latin typeface="Cambria Math" panose="02040503050406030204" pitchFamily="18" charset="0"/>
                          <a:ea typeface="黑体" panose="02010609060101010101" pitchFamily="49" charset="-122"/>
                        </a:rPr>
                        <m:t>𝒊</m:t>
                      </m:r>
                      <m:r>
                        <a:rPr kumimoji="1" lang="zh-CN" altLang="en-US" sz="2800">
                          <a:solidFill>
                            <a:prstClr val="black"/>
                          </a:solidFill>
                          <a:latin typeface="Cambria Math" panose="02040503050406030204" pitchFamily="18" charset="0"/>
                          <a:ea typeface="黑体" panose="02010609060101010101" pitchFamily="49" charset="-122"/>
                        </a:rPr>
                        <m:t>+4</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b="1" i="1">
                          <a:solidFill>
                            <a:prstClr val="black"/>
                          </a:solidFill>
                          <a:latin typeface="Cambria Math" panose="02040503050406030204" pitchFamily="18" charset="0"/>
                          <a:ea typeface="黑体" panose="02010609060101010101" pitchFamily="49" charset="-122"/>
                        </a:rPr>
                        <m:t>𝒋</m:t>
                      </m:r>
                      <m:r>
                        <a:rPr kumimoji="1" lang="zh-CN" altLang="en-US" sz="2800">
                          <a:solidFill>
                            <a:prstClr val="black"/>
                          </a:solidFill>
                          <a:latin typeface="Cambria Math" panose="02040503050406030204" pitchFamily="18" charset="0"/>
                          <a:ea typeface="黑体" panose="02010609060101010101" pitchFamily="49" charset="-122"/>
                        </a:rPr>
                        <m:t>+</m:t>
                      </m:r>
                      <m:sSup>
                        <m:sSupPr>
                          <m:ctrlPr>
                            <a:rPr kumimoji="1" lang="zh-CN" altLang="en-US" sz="2800" i="1">
                              <a:solidFill>
                                <a:prstClr val="black"/>
                              </a:solidFill>
                              <a:latin typeface="Cambria Math" panose="02040503050406030204" pitchFamily="18" charset="0"/>
                              <a:ea typeface="黑体" panose="02010609060101010101" pitchFamily="49" charset="-122"/>
                            </a:rPr>
                          </m:ctrlPr>
                        </m:sSupPr>
                        <m:e>
                          <m:r>
                            <a:rPr kumimoji="1" lang="zh-CN" altLang="en-US" sz="2800">
                              <a:solidFill>
                                <a:prstClr val="black"/>
                              </a:solidFill>
                              <a:latin typeface="Cambria Math" panose="02040503050406030204" pitchFamily="18" charset="0"/>
                              <a:ea typeface="黑体" panose="02010609060101010101" pitchFamily="49" charset="-122"/>
                            </a:rPr>
                            <m:t>𝑥</m:t>
                          </m:r>
                        </m:e>
                        <m:sup>
                          <m:r>
                            <a:rPr kumimoji="1" lang="zh-CN" altLang="en-US" sz="2800">
                              <a:solidFill>
                                <a:prstClr val="black"/>
                              </a:solidFill>
                              <a:latin typeface="Cambria Math" panose="02040503050406030204" pitchFamily="18" charset="0"/>
                              <a:ea typeface="黑体" panose="02010609060101010101" pitchFamily="49" charset="-122"/>
                            </a:rPr>
                            <m:t>2</m:t>
                          </m:r>
                        </m:sup>
                      </m:sSup>
                      <m:r>
                        <a:rPr kumimoji="1" lang="zh-CN" altLang="en-US" sz="2800" b="1" i="1">
                          <a:solidFill>
                            <a:prstClr val="black"/>
                          </a:solidFill>
                          <a:latin typeface="Cambria Math" panose="02040503050406030204" pitchFamily="18" charset="0"/>
                          <a:ea typeface="黑体" panose="02010609060101010101" pitchFamily="49" charset="-122"/>
                        </a:rPr>
                        <m:t>𝒌</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的旋度</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3" name="对象 2">
                <a:extLst>
                  <a:ext uri="{FF2B5EF4-FFF2-40B4-BE49-F238E27FC236}">
                    <a16:creationId xmlns:a16="http://schemas.microsoft.com/office/drawing/2014/main" id="{A5587A6F-91B7-B539-6C0D-4E993F51AF75}"/>
                  </a:ext>
                </a:extLst>
              </p:cNvPr>
              <p:cNvSpPr txBox="1">
                <a:spLocks noRot="1" noChangeAspect="1" noMove="1" noResize="1" noEditPoints="1" noAdjustHandles="1" noChangeArrowheads="1" noChangeShapeType="1" noTextEdit="1"/>
              </p:cNvSpPr>
              <p:nvPr/>
            </p:nvSpPr>
            <p:spPr>
              <a:xfrm>
                <a:off x="2569548" y="1907701"/>
                <a:ext cx="8253982" cy="469900"/>
              </a:xfrm>
              <a:prstGeom prst="rect">
                <a:avLst/>
              </a:prstGeom>
              <a:blipFill>
                <a:blip r:embed="rId2"/>
                <a:stretch>
                  <a:fillRect/>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038F928D-4D25-4BD9-55DB-C66C9C93A692}"/>
              </a:ext>
            </a:extLst>
          </p:cNvPr>
          <p:cNvGrpSpPr/>
          <p:nvPr/>
        </p:nvGrpSpPr>
        <p:grpSpPr>
          <a:xfrm>
            <a:off x="1624960" y="2745040"/>
            <a:ext cx="5518791" cy="2179844"/>
            <a:chOff x="1624960" y="2745040"/>
            <a:chExt cx="5518791" cy="2179844"/>
          </a:xfrm>
        </p:grpSpPr>
        <p:sp>
          <p:nvSpPr>
            <p:cNvPr id="4" name="Rectangle 38">
              <a:extLst>
                <a:ext uri="{FF2B5EF4-FFF2-40B4-BE49-F238E27FC236}">
                  <a16:creationId xmlns:a16="http://schemas.microsoft.com/office/drawing/2014/main" id="{AB8B00DE-C95C-7868-7C84-C988FD52A398}"/>
                </a:ext>
              </a:extLst>
            </p:cNvPr>
            <p:cNvSpPr txBox="1">
              <a:spLocks noChangeArrowheads="1"/>
            </p:cNvSpPr>
            <p:nvPr/>
          </p:nvSpPr>
          <p:spPr>
            <a:xfrm>
              <a:off x="1624960" y="3295546"/>
              <a:ext cx="660587" cy="609600"/>
            </a:xfrm>
            <a:prstGeom prst="rect">
              <a:avLst/>
            </a:prstGeom>
          </p:spPr>
          <p:txBody>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kumimoji="1" lang="zh-CN" altLang="en-US" sz="2800" dirty="0">
                  <a:solidFill>
                    <a:srgbClr val="04926A"/>
                  </a:solidFill>
                  <a:latin typeface="微软雅黑" panose="020B0503020204020204" pitchFamily="34" charset="-122"/>
                  <a:ea typeface="微软雅黑" panose="020B0503020204020204" pitchFamily="34" charset="-122"/>
                  <a:cs typeface="+mn-cs"/>
                </a:rPr>
                <a:t>解</a:t>
              </a:r>
              <a:r>
                <a:rPr kumimoji="1" lang="en-US" altLang="zh-CN" sz="2800" dirty="0">
                  <a:solidFill>
                    <a:srgbClr val="04926A"/>
                  </a:solidFill>
                  <a:latin typeface="微软雅黑" panose="020B0503020204020204" pitchFamily="34" charset="-122"/>
                  <a:ea typeface="微软雅黑" panose="020B0503020204020204" pitchFamily="34" charset="-122"/>
                  <a:cs typeface="+mn-cs"/>
                </a:rPr>
                <a:t> </a:t>
              </a:r>
              <a:endParaRPr kumimoji="1" lang="zh-CN" altLang="en-US" sz="2800" dirty="0">
                <a:solidFill>
                  <a:srgbClr val="04926A"/>
                </a:solidFill>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5" name="Object 17">
                  <a:extLst>
                    <a:ext uri="{FF2B5EF4-FFF2-40B4-BE49-F238E27FC236}">
                      <a16:creationId xmlns:a16="http://schemas.microsoft.com/office/drawing/2014/main" id="{ACE061AB-5000-6CE0-BE5A-D4C020E6310B}"/>
                    </a:ext>
                  </a:extLst>
                </p:cNvPr>
                <p:cNvSpPr txBox="1"/>
                <p:nvPr/>
              </p:nvSpPr>
              <p:spPr bwMode="auto">
                <a:xfrm>
                  <a:off x="2569549" y="2745040"/>
                  <a:ext cx="4574202" cy="153867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func>
                          <m:funcPr>
                            <m:ctrlPr>
                              <a:rPr kumimoji="1" lang="zh-CN" altLang="en-US" sz="2200" i="1">
                                <a:solidFill>
                                  <a:prstClr val="black"/>
                                </a:solidFill>
                                <a:latin typeface="Cambria Math" panose="02040503050406030204" pitchFamily="18" charset="0"/>
                                <a:ea typeface="黑体" panose="02010609060101010101" pitchFamily="49" charset="-122"/>
                              </a:rPr>
                            </m:ctrlPr>
                          </m:funcPr>
                          <m:fName>
                            <m:r>
                              <a:rPr kumimoji="1" lang="zh-CN" altLang="en-US" sz="2200" b="1" i="0">
                                <a:solidFill>
                                  <a:prstClr val="black"/>
                                </a:solidFill>
                                <a:latin typeface="Cambria Math" panose="02040503050406030204" pitchFamily="18" charset="0"/>
                                <a:ea typeface="黑体" panose="02010609060101010101" pitchFamily="49" charset="-122"/>
                              </a:rPr>
                              <m:t>𝐫𝐨𝐭</m:t>
                            </m:r>
                          </m:fName>
                          <m:e>
                            <m:r>
                              <a:rPr kumimoji="1" lang="zh-CN" altLang="en-US" sz="2200" b="0" i="1">
                                <a:solidFill>
                                  <a:prstClr val="black"/>
                                </a:solidFill>
                                <a:latin typeface="Cambria Math" panose="02040503050406030204" pitchFamily="18" charset="0"/>
                                <a:ea typeface="黑体" panose="02010609060101010101" pitchFamily="49" charset="-122"/>
                              </a:rPr>
                              <m:t>𝐴</m:t>
                            </m:r>
                          </m:e>
                        </m:func>
                        <m:r>
                          <a:rPr kumimoji="1" lang="zh-CN" altLang="en-US" sz="2200">
                            <a:solidFill>
                              <a:prstClr val="black"/>
                            </a:solidFill>
                            <a:latin typeface="Cambria Math" panose="02040503050406030204" pitchFamily="18" charset="0"/>
                            <a:ea typeface="黑体" panose="02010609060101010101" pitchFamily="49" charset="-122"/>
                          </a:rPr>
                          <m:t>=</m:t>
                        </m:r>
                        <m:r>
                          <m:rPr>
                            <m:sty m:val="p"/>
                          </m:rPr>
                          <a:rPr kumimoji="1" lang="zh-CN" altLang="en-US" sz="2200" b="0" i="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b="1" i="1">
                            <a:solidFill>
                              <a:prstClr val="black"/>
                            </a:solidFill>
                            <a:latin typeface="Cambria Math" panose="02040503050406030204" pitchFamily="18" charset="0"/>
                            <a:ea typeface="黑体" panose="02010609060101010101" pitchFamily="49" charset="-122"/>
                          </a:rPr>
                          <m:t>𝑨</m:t>
                        </m:r>
                        <m:r>
                          <a:rPr kumimoji="1" lang="zh-CN" altLang="en-US" sz="2200">
                            <a:solidFill>
                              <a:prstClr val="black"/>
                            </a:solidFill>
                            <a:latin typeface="Cambria Math" panose="02040503050406030204" pitchFamily="18" charset="0"/>
                            <a:ea typeface="黑体" panose="02010609060101010101" pitchFamily="49" charset="-122"/>
                          </a:rPr>
                          <m:t>=</m:t>
                        </m:r>
                        <m:d>
                          <m:dPr>
                            <m:begChr m:val="|"/>
                            <m:endChr m:val="|"/>
                            <m:ctrlPr>
                              <a:rPr kumimoji="1" lang="zh-CN" altLang="en-US" sz="2200" i="1">
                                <a:solidFill>
                                  <a:prstClr val="black"/>
                                </a:solidFill>
                                <a:latin typeface="Cambria Math" panose="02040503050406030204" pitchFamily="18" charset="0"/>
                                <a:ea typeface="黑体" panose="02010609060101010101" pitchFamily="49" charset="-122"/>
                              </a:rPr>
                            </m:ctrlPr>
                          </m:dPr>
                          <m:e>
                            <m:m>
                              <m:mPr>
                                <m:plcHide m:val="on"/>
                                <m:mcs>
                                  <m:mc>
                                    <m:mcPr>
                                      <m:count m:val="3"/>
                                      <m:mcJc m:val="center"/>
                                    </m:mcPr>
                                  </m:mc>
                                </m:mcs>
                                <m:ctrlPr>
                                  <a:rPr kumimoji="1" lang="zh-CN" altLang="en-US" sz="2200" i="1">
                                    <a:solidFill>
                                      <a:prstClr val="black"/>
                                    </a:solidFill>
                                    <a:latin typeface="Cambria Math" panose="02040503050406030204" pitchFamily="18" charset="0"/>
                                    <a:ea typeface="黑体" panose="02010609060101010101" pitchFamily="49" charset="-122"/>
                                  </a:rPr>
                                </m:ctrlPr>
                              </m:mPr>
                              <m:mr>
                                <m:e>
                                  <m:r>
                                    <a:rPr kumimoji="1" lang="zh-CN" altLang="en-US" sz="2200" b="1" i="1">
                                      <a:solidFill>
                                        <a:prstClr val="black"/>
                                      </a:solidFill>
                                      <a:latin typeface="Cambria Math" panose="02040503050406030204" pitchFamily="18" charset="0"/>
                                      <a:ea typeface="黑体" panose="02010609060101010101" pitchFamily="49" charset="-122"/>
                                    </a:rPr>
                                    <m:t>𝒊</m:t>
                                  </m:r>
                                </m:e>
                                <m:e>
                                  <m:r>
                                    <a:rPr kumimoji="1" lang="zh-CN" altLang="en-US" sz="2200" b="1" i="1">
                                      <a:solidFill>
                                        <a:prstClr val="black"/>
                                      </a:solidFill>
                                      <a:latin typeface="Cambria Math" panose="02040503050406030204" pitchFamily="18" charset="0"/>
                                      <a:ea typeface="黑体" panose="02010609060101010101" pitchFamily="49" charset="-122"/>
                                    </a:rPr>
                                    <m:t>𝒋</m:t>
                                  </m:r>
                                </m:e>
                                <m:e>
                                  <m:r>
                                    <a:rPr kumimoji="1" lang="zh-CN" altLang="en-US" sz="2200" b="1" i="1">
                                      <a:solidFill>
                                        <a:prstClr val="black"/>
                                      </a:solidFill>
                                      <a:latin typeface="Cambria Math" panose="02040503050406030204" pitchFamily="18" charset="0"/>
                                      <a:ea typeface="黑体" panose="02010609060101010101" pitchFamily="49" charset="-122"/>
                                    </a:rPr>
                                    <m:t>𝒌</m:t>
                                  </m:r>
                                </m:e>
                              </m:mr>
                              <m:mr>
                                <m:e>
                                  <m:f>
                                    <m:fPr>
                                      <m:ctrlPr>
                                        <a:rPr kumimoji="1" lang="zh-CN" altLang="en-US" sz="2200" i="1">
                                          <a:solidFill>
                                            <a:prstClr val="black"/>
                                          </a:solidFill>
                                          <a:latin typeface="Cambria Math" panose="02040503050406030204" pitchFamily="18" charset="0"/>
                                          <a:ea typeface="黑体" panose="02010609060101010101" pitchFamily="49" charset="-122"/>
                                        </a:rPr>
                                      </m:ctrlPr>
                                    </m:fPr>
                                    <m:num>
                                      <m:r>
                                        <a:rPr kumimoji="1" lang="zh-CN" altLang="en-US" sz="2200">
                                          <a:solidFill>
                                            <a:prstClr val="black"/>
                                          </a:solidFill>
                                          <a:latin typeface="Cambria Math" panose="02040503050406030204" pitchFamily="18" charset="0"/>
                                          <a:ea typeface="黑体" panose="02010609060101010101" pitchFamily="49" charset="-122"/>
                                        </a:rPr>
                                        <m:t>𝜕</m:t>
                                      </m:r>
                                    </m:num>
                                    <m:den>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𝑥</m:t>
                                      </m:r>
                                    </m:den>
                                  </m:f>
                                </m:e>
                                <m:e>
                                  <m:f>
                                    <m:fPr>
                                      <m:ctrlPr>
                                        <a:rPr kumimoji="1" lang="zh-CN" altLang="en-US" sz="2200" i="1">
                                          <a:solidFill>
                                            <a:prstClr val="black"/>
                                          </a:solidFill>
                                          <a:latin typeface="Cambria Math" panose="02040503050406030204" pitchFamily="18" charset="0"/>
                                          <a:ea typeface="黑体" panose="02010609060101010101" pitchFamily="49" charset="-122"/>
                                        </a:rPr>
                                      </m:ctrlPr>
                                    </m:fPr>
                                    <m:num>
                                      <m:r>
                                        <a:rPr kumimoji="1" lang="zh-CN" altLang="en-US" sz="2200">
                                          <a:solidFill>
                                            <a:prstClr val="black"/>
                                          </a:solidFill>
                                          <a:latin typeface="Cambria Math" panose="02040503050406030204" pitchFamily="18" charset="0"/>
                                          <a:ea typeface="黑体" panose="02010609060101010101" pitchFamily="49" charset="-122"/>
                                        </a:rPr>
                                        <m:t>𝜕</m:t>
                                      </m:r>
                                    </m:num>
                                    <m:den>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𝑦</m:t>
                                      </m:r>
                                    </m:den>
                                  </m:f>
                                </m:e>
                                <m:e>
                                  <m:f>
                                    <m:fPr>
                                      <m:ctrlPr>
                                        <a:rPr kumimoji="1" lang="zh-CN" altLang="en-US" sz="2200" i="1">
                                          <a:solidFill>
                                            <a:prstClr val="black"/>
                                          </a:solidFill>
                                          <a:latin typeface="Cambria Math" panose="02040503050406030204" pitchFamily="18" charset="0"/>
                                          <a:ea typeface="黑体" panose="02010609060101010101" pitchFamily="49" charset="-122"/>
                                        </a:rPr>
                                      </m:ctrlPr>
                                    </m:fPr>
                                    <m:num>
                                      <m:r>
                                        <a:rPr kumimoji="1" lang="zh-CN" altLang="en-US" sz="2200">
                                          <a:solidFill>
                                            <a:prstClr val="black"/>
                                          </a:solidFill>
                                          <a:latin typeface="Cambria Math" panose="02040503050406030204" pitchFamily="18" charset="0"/>
                                          <a:ea typeface="黑体" panose="02010609060101010101" pitchFamily="49" charset="-122"/>
                                        </a:rPr>
                                        <m:t>𝜕</m:t>
                                      </m:r>
                                    </m:num>
                                    <m:den>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𝑧</m:t>
                                      </m:r>
                                    </m:den>
                                  </m:f>
                                </m:e>
                              </m:mr>
                              <m:mr>
                                <m:e>
                                  <m:sSup>
                                    <m:sSupPr>
                                      <m:ctrlPr>
                                        <a:rPr kumimoji="1" lang="zh-CN" altLang="en-US" sz="2200" i="1">
                                          <a:solidFill>
                                            <a:prstClr val="black"/>
                                          </a:solidFill>
                                          <a:latin typeface="Cambria Math" panose="02040503050406030204" pitchFamily="18" charset="0"/>
                                          <a:ea typeface="黑体" panose="02010609060101010101" pitchFamily="49" charset="-122"/>
                                        </a:rPr>
                                      </m:ctrlPr>
                                    </m:sSupPr>
                                    <m:e>
                                      <m:r>
                                        <a:rPr kumimoji="1" lang="zh-CN" altLang="en-US" sz="2200">
                                          <a:solidFill>
                                            <a:prstClr val="black"/>
                                          </a:solidFill>
                                          <a:latin typeface="Cambria Math" panose="02040503050406030204" pitchFamily="18" charset="0"/>
                                          <a:ea typeface="黑体" panose="02010609060101010101" pitchFamily="49" charset="-122"/>
                                        </a:rPr>
                                        <m:t>𝑥</m:t>
                                      </m:r>
                                    </m:e>
                                    <m:sup>
                                      <m:r>
                                        <a:rPr kumimoji="1" lang="zh-CN" altLang="en-US" sz="2200">
                                          <a:solidFill>
                                            <a:prstClr val="black"/>
                                          </a:solidFill>
                                          <a:latin typeface="Cambria Math" panose="02040503050406030204" pitchFamily="18" charset="0"/>
                                          <a:ea typeface="黑体" panose="02010609060101010101" pitchFamily="49" charset="-122"/>
                                        </a:rPr>
                                        <m:t>2</m:t>
                                      </m:r>
                                    </m:sup>
                                  </m:sSup>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a:solidFill>
                                        <a:prstClr val="black"/>
                                      </a:solidFill>
                                      <a:latin typeface="Cambria Math" panose="02040503050406030204" pitchFamily="18" charset="0"/>
                                      <a:ea typeface="黑体" panose="02010609060101010101" pitchFamily="49" charset="-122"/>
                                    </a:rPr>
                                    <m:t>𝑦</m:t>
                                  </m:r>
                                </m:e>
                                <m:e>
                                  <m:r>
                                    <a:rPr kumimoji="1" lang="zh-CN" altLang="en-US" sz="2200">
                                      <a:solidFill>
                                        <a:prstClr val="black"/>
                                      </a:solidFill>
                                      <a:latin typeface="Cambria Math" panose="02040503050406030204" pitchFamily="18" charset="0"/>
                                      <a:ea typeface="黑体" panose="02010609060101010101" pitchFamily="49" charset="-122"/>
                                    </a:rPr>
                                    <m:t>4</m:t>
                                  </m:r>
                                  <m:r>
                                    <a:rPr kumimoji="1" lang="zh-CN" altLang="en-US" sz="2200">
                                      <a:solidFill>
                                        <a:prstClr val="black"/>
                                      </a:solidFill>
                                      <a:latin typeface="Cambria Math" panose="02040503050406030204" pitchFamily="18" charset="0"/>
                                      <a:ea typeface="黑体" panose="02010609060101010101" pitchFamily="49" charset="-122"/>
                                    </a:rPr>
                                    <m:t>𝑧</m:t>
                                  </m:r>
                                </m:e>
                                <m:e>
                                  <m:sSup>
                                    <m:sSupPr>
                                      <m:ctrlPr>
                                        <a:rPr kumimoji="1" lang="zh-CN" altLang="en-US" sz="2200" i="1">
                                          <a:solidFill>
                                            <a:prstClr val="black"/>
                                          </a:solidFill>
                                          <a:latin typeface="Cambria Math" panose="02040503050406030204" pitchFamily="18" charset="0"/>
                                          <a:ea typeface="黑体" panose="02010609060101010101" pitchFamily="49" charset="-122"/>
                                        </a:rPr>
                                      </m:ctrlPr>
                                    </m:sSupPr>
                                    <m:e>
                                      <m:r>
                                        <a:rPr kumimoji="1" lang="zh-CN" altLang="en-US" sz="2200">
                                          <a:solidFill>
                                            <a:prstClr val="black"/>
                                          </a:solidFill>
                                          <a:latin typeface="Cambria Math" panose="02040503050406030204" pitchFamily="18" charset="0"/>
                                          <a:ea typeface="黑体" panose="02010609060101010101" pitchFamily="49" charset="-122"/>
                                        </a:rPr>
                                        <m:t>𝑥</m:t>
                                      </m:r>
                                    </m:e>
                                    <m:sup>
                                      <m:r>
                                        <a:rPr kumimoji="1" lang="zh-CN" altLang="en-US" sz="2200">
                                          <a:solidFill>
                                            <a:prstClr val="black"/>
                                          </a:solidFill>
                                          <a:latin typeface="Cambria Math" panose="02040503050406030204" pitchFamily="18" charset="0"/>
                                          <a:ea typeface="黑体" panose="02010609060101010101" pitchFamily="49" charset="-122"/>
                                        </a:rPr>
                                        <m:t>2</m:t>
                                      </m:r>
                                    </m:sup>
                                  </m:sSup>
                                </m:e>
                              </m:mr>
                            </m:m>
                          </m:e>
                        </m:d>
                      </m:oMath>
                    </m:oMathPara>
                  </a14:m>
                  <a:endParaRPr kumimoji="1" lang="zh-CN" altLang="en-US" sz="2200" dirty="0">
                    <a:solidFill>
                      <a:prstClr val="black"/>
                    </a:solidFill>
                    <a:latin typeface="Times New Roman" panose="02020603050405020304" pitchFamily="18" charset="0"/>
                    <a:ea typeface="黑体" panose="02010609060101010101" pitchFamily="49" charset="-122"/>
                  </a:endParaRPr>
                </a:p>
              </p:txBody>
            </p:sp>
          </mc:Choice>
          <mc:Fallback xmlns="">
            <p:sp>
              <p:nvSpPr>
                <p:cNvPr id="5" name="Object 17">
                  <a:extLst>
                    <a:ext uri="{FF2B5EF4-FFF2-40B4-BE49-F238E27FC236}">
                      <a16:creationId xmlns:a16="http://schemas.microsoft.com/office/drawing/2014/main" id="{ACE061AB-5000-6CE0-BE5A-D4C020E6310B}"/>
                    </a:ext>
                  </a:extLst>
                </p:cNvPr>
                <p:cNvSpPr txBox="1">
                  <a:spLocks noRot="1" noChangeAspect="1" noMove="1" noResize="1" noEditPoints="1" noAdjustHandles="1" noChangeArrowheads="1" noChangeShapeType="1" noTextEdit="1"/>
                </p:cNvSpPr>
                <p:nvPr/>
              </p:nvSpPr>
              <p:spPr bwMode="auto">
                <a:xfrm>
                  <a:off x="2569549" y="2745040"/>
                  <a:ext cx="4574202" cy="153867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42B41A27-C654-6E01-6C59-9C3EE76AF2BC}"/>
                    </a:ext>
                  </a:extLst>
                </p:cNvPr>
                <p:cNvSpPr txBox="1"/>
                <p:nvPr/>
              </p:nvSpPr>
              <p:spPr>
                <a:xfrm>
                  <a:off x="3283277" y="4531184"/>
                  <a:ext cx="2274982" cy="3937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200">
                            <a:solidFill>
                              <a:prstClr val="black"/>
                            </a:solidFill>
                            <a:latin typeface="Cambria Math" panose="02040503050406030204" pitchFamily="18" charset="0"/>
                            <a:ea typeface="黑体" panose="02010609060101010101" pitchFamily="49" charset="-122"/>
                          </a:rPr>
                          <m:t>=−4</m:t>
                        </m:r>
                        <m:r>
                          <a:rPr kumimoji="1" lang="zh-CN" altLang="en-US" sz="2200" b="1" i="1">
                            <a:solidFill>
                              <a:prstClr val="black"/>
                            </a:solidFill>
                            <a:latin typeface="Cambria Math" panose="02040503050406030204" pitchFamily="18" charset="0"/>
                            <a:ea typeface="黑体" panose="02010609060101010101" pitchFamily="49" charset="-122"/>
                          </a:rPr>
                          <m:t>𝒊</m:t>
                        </m:r>
                        <m:r>
                          <a:rPr kumimoji="1" lang="zh-CN" altLang="en-US" sz="2200">
                            <a:solidFill>
                              <a:prstClr val="black"/>
                            </a:solidFill>
                            <a:latin typeface="Cambria Math" panose="02040503050406030204" pitchFamily="18" charset="0"/>
                            <a:ea typeface="黑体" panose="02010609060101010101" pitchFamily="49" charset="-122"/>
                          </a:rPr>
                          <m:t>−2</m:t>
                        </m:r>
                        <m:r>
                          <a:rPr kumimoji="1" lang="zh-CN" altLang="en-US" sz="2200">
                            <a:solidFill>
                              <a:prstClr val="black"/>
                            </a:solidFill>
                            <a:latin typeface="Cambria Math" panose="02040503050406030204" pitchFamily="18" charset="0"/>
                            <a:ea typeface="黑体" panose="02010609060101010101" pitchFamily="49" charset="-122"/>
                          </a:rPr>
                          <m:t>𝑥</m:t>
                        </m:r>
                        <m:r>
                          <a:rPr kumimoji="1" lang="zh-CN" altLang="en-US" sz="2200" b="1" i="1">
                            <a:solidFill>
                              <a:prstClr val="black"/>
                            </a:solidFill>
                            <a:latin typeface="Cambria Math" panose="02040503050406030204" pitchFamily="18" charset="0"/>
                            <a:ea typeface="黑体" panose="02010609060101010101" pitchFamily="49" charset="-122"/>
                          </a:rPr>
                          <m:t>𝒋</m:t>
                        </m:r>
                        <m:r>
                          <a:rPr kumimoji="1" lang="zh-CN" altLang="en-US" sz="2200">
                            <a:solidFill>
                              <a:prstClr val="black"/>
                            </a:solidFill>
                            <a:latin typeface="Cambria Math" panose="02040503050406030204" pitchFamily="18" charset="0"/>
                            <a:ea typeface="黑体" panose="02010609060101010101" pitchFamily="49" charset="-122"/>
                          </a:rPr>
                          <m:t>+</m:t>
                        </m:r>
                        <m:r>
                          <a:rPr kumimoji="1" lang="zh-CN" altLang="en-US" sz="2200" b="1" i="1">
                            <a:solidFill>
                              <a:prstClr val="black"/>
                            </a:solidFill>
                            <a:latin typeface="Cambria Math" panose="02040503050406030204" pitchFamily="18" charset="0"/>
                            <a:ea typeface="黑体" panose="02010609060101010101" pitchFamily="49" charset="-122"/>
                          </a:rPr>
                          <m:t>𝒌</m:t>
                        </m:r>
                        <m:r>
                          <a:rPr kumimoji="1" lang="zh-CN" altLang="en-US" sz="2200">
                            <a:solidFill>
                              <a:prstClr val="black"/>
                            </a:solidFill>
                            <a:latin typeface="Cambria Math" panose="02040503050406030204" pitchFamily="18" charset="0"/>
                            <a:ea typeface="黑体" panose="02010609060101010101" pitchFamily="49" charset="-122"/>
                          </a:rPr>
                          <m:t>.</m:t>
                        </m:r>
                      </m:oMath>
                    </m:oMathPara>
                  </a14:m>
                  <a:endParaRPr kumimoji="1" lang="zh-CN" altLang="en-US" sz="2200" dirty="0">
                    <a:solidFill>
                      <a:prstClr val="black"/>
                    </a:solidFill>
                    <a:latin typeface="Times New Roman" panose="02020603050405020304" pitchFamily="18" charset="0"/>
                    <a:ea typeface="黑体" panose="02010609060101010101" pitchFamily="49" charset="-122"/>
                  </a:endParaRPr>
                </a:p>
              </p:txBody>
            </p:sp>
          </mc:Choice>
          <mc:Fallback xmlns="">
            <p:sp>
              <p:nvSpPr>
                <p:cNvPr id="6" name="对象 5">
                  <a:extLst>
                    <a:ext uri="{FF2B5EF4-FFF2-40B4-BE49-F238E27FC236}">
                      <a16:creationId xmlns:a16="http://schemas.microsoft.com/office/drawing/2014/main" id="{42B41A27-C654-6E01-6C59-9C3EE76AF2BC}"/>
                    </a:ext>
                  </a:extLst>
                </p:cNvPr>
                <p:cNvSpPr txBox="1">
                  <a:spLocks noRot="1" noChangeAspect="1" noMove="1" noResize="1" noEditPoints="1" noAdjustHandles="1" noChangeArrowheads="1" noChangeShapeType="1" noTextEdit="1"/>
                </p:cNvSpPr>
                <p:nvPr/>
              </p:nvSpPr>
              <p:spPr>
                <a:xfrm>
                  <a:off x="3283277" y="4531184"/>
                  <a:ext cx="2274982" cy="393700"/>
                </a:xfrm>
                <a:prstGeom prst="rect">
                  <a:avLst/>
                </a:prstGeom>
                <a:blipFill>
                  <a:blip r:embed="rId4"/>
                  <a:stretch>
                    <a:fillRect b="-27692"/>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977417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550316F5-9374-BC80-3B7C-73C8A3F6D787}"/>
              </a:ext>
            </a:extLst>
          </p:cNvPr>
          <p:cNvGrpSpPr/>
          <p:nvPr/>
        </p:nvGrpSpPr>
        <p:grpSpPr>
          <a:xfrm>
            <a:off x="0" y="-181"/>
            <a:ext cx="12192000" cy="6863080"/>
            <a:chOff x="0" y="-181"/>
            <a:chExt cx="12192000" cy="6863080"/>
          </a:xfrm>
        </p:grpSpPr>
        <p:grpSp>
          <p:nvGrpSpPr>
            <p:cNvPr id="9" name="组合 8">
              <a:extLst>
                <a:ext uri="{FF2B5EF4-FFF2-40B4-BE49-F238E27FC236}">
                  <a16:creationId xmlns:a16="http://schemas.microsoft.com/office/drawing/2014/main" id="{EC75E984-1C6A-C308-2CE3-C1EAE77FB8E5}"/>
                </a:ext>
              </a:extLst>
            </p:cNvPr>
            <p:cNvGrpSpPr/>
            <p:nvPr/>
          </p:nvGrpSpPr>
          <p:grpSpPr>
            <a:xfrm>
              <a:off x="0" y="-181"/>
              <a:ext cx="12192000" cy="6863080"/>
              <a:chOff x="0" y="-8"/>
              <a:chExt cx="19200" cy="10808"/>
            </a:xfrm>
          </p:grpSpPr>
          <p:sp>
            <p:nvSpPr>
              <p:cNvPr id="17" name="Rectangle 1">
                <a:extLst>
                  <a:ext uri="{FF2B5EF4-FFF2-40B4-BE49-F238E27FC236}">
                    <a16:creationId xmlns:a16="http://schemas.microsoft.com/office/drawing/2014/main" id="{47E8AC9C-D9F0-2269-7B73-14FD58EDD5C6}"/>
                  </a:ext>
                </a:extLst>
              </p:cNvPr>
              <p:cNvSpPr/>
              <p:nvPr/>
            </p:nvSpPr>
            <p:spPr>
              <a:xfrm>
                <a:off x="0" y="-8"/>
                <a:ext cx="19200" cy="10808"/>
              </a:xfrm>
              <a:prstGeom prst="rect">
                <a:avLst/>
              </a:prstGeom>
              <a:gradFill flip="none" rotWithShape="1">
                <a:gsLst>
                  <a:gs pos="0">
                    <a:srgbClr val="009E47">
                      <a:alpha val="88000"/>
                    </a:srgbClr>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9" name="圆角矩形 16">
                <a:extLst>
                  <a:ext uri="{FF2B5EF4-FFF2-40B4-BE49-F238E27FC236}">
                    <a16:creationId xmlns:a16="http://schemas.microsoft.com/office/drawing/2014/main" id="{009932BC-9B35-8004-1095-B097ECF7E13E}"/>
                  </a:ext>
                </a:extLst>
              </p:cNvPr>
              <p:cNvSpPr/>
              <p:nvPr/>
            </p:nvSpPr>
            <p:spPr>
              <a:xfrm>
                <a:off x="354" y="310"/>
                <a:ext cx="18493" cy="10167"/>
              </a:xfrm>
              <a:prstGeom prst="roundRect">
                <a:avLst>
                  <a:gd name="adj" fmla="val 3499"/>
                </a:avLst>
              </a:prstGeom>
              <a:solidFill>
                <a:schemeClr val="bg1"/>
              </a:solidFill>
              <a:ln>
                <a:solidFill>
                  <a:srgbClr val="17908C"/>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0" name="组合 9">
              <a:extLst>
                <a:ext uri="{FF2B5EF4-FFF2-40B4-BE49-F238E27FC236}">
                  <a16:creationId xmlns:a16="http://schemas.microsoft.com/office/drawing/2014/main" id="{EECEAA94-57F0-3563-FF82-56A6D421A7C1}"/>
                </a:ext>
              </a:extLst>
            </p:cNvPr>
            <p:cNvGrpSpPr/>
            <p:nvPr/>
          </p:nvGrpSpPr>
          <p:grpSpPr>
            <a:xfrm>
              <a:off x="0" y="239357"/>
              <a:ext cx="11993046" cy="6427310"/>
              <a:chOff x="0" y="239357"/>
              <a:chExt cx="11993046" cy="6427310"/>
            </a:xfrm>
          </p:grpSpPr>
          <p:sp>
            <p:nvSpPr>
              <p:cNvPr id="11" name="Rectangle 1">
                <a:extLst>
                  <a:ext uri="{FF2B5EF4-FFF2-40B4-BE49-F238E27FC236}">
                    <a16:creationId xmlns:a16="http://schemas.microsoft.com/office/drawing/2014/main" id="{F4724945-F070-FFBD-8BEF-22A8D8FE94E3}"/>
                  </a:ext>
                </a:extLst>
              </p:cNvPr>
              <p:cNvSpPr/>
              <p:nvPr userDrawn="1"/>
            </p:nvSpPr>
            <p:spPr>
              <a:xfrm>
                <a:off x="297498" y="64715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2" name="矩形 11">
                <a:extLst>
                  <a:ext uri="{FF2B5EF4-FFF2-40B4-BE49-F238E27FC236}">
                    <a16:creationId xmlns:a16="http://schemas.microsoft.com/office/drawing/2014/main" id="{78B25118-E4F2-BC4D-083F-226A6C37F5F9}"/>
                  </a:ext>
                </a:extLst>
              </p:cNvPr>
              <p:cNvSpPr/>
              <p:nvPr/>
            </p:nvSpPr>
            <p:spPr>
              <a:xfrm>
                <a:off x="476885" y="6358890"/>
                <a:ext cx="3784600" cy="307777"/>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  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13" name="Rectangle 1">
                <a:extLst>
                  <a:ext uri="{FF2B5EF4-FFF2-40B4-BE49-F238E27FC236}">
                    <a16:creationId xmlns:a16="http://schemas.microsoft.com/office/drawing/2014/main" id="{3653CF95-6E71-536F-193E-1A4D0755FD25}"/>
                  </a:ext>
                </a:extLst>
              </p:cNvPr>
              <p:cNvSpPr/>
              <p:nvPr userDrawn="1"/>
            </p:nvSpPr>
            <p:spPr>
              <a:xfrm rot="2659048">
                <a:off x="9060538" y="323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14" name="矩形 13">
                <a:extLst>
                  <a:ext uri="{FF2B5EF4-FFF2-40B4-BE49-F238E27FC236}">
                    <a16:creationId xmlns:a16="http://schemas.microsoft.com/office/drawing/2014/main" id="{09392BDA-D4C0-ADC1-46DA-8A87AA63F352}"/>
                  </a:ext>
                </a:extLst>
              </p:cNvPr>
              <p:cNvSpPr/>
              <p:nvPr/>
            </p:nvSpPr>
            <p:spPr>
              <a:xfrm>
                <a:off x="9315710" y="239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曲线积分与曲面积分</a:t>
                </a:r>
              </a:p>
            </p:txBody>
          </p:sp>
          <p:cxnSp>
            <p:nvCxnSpPr>
              <p:cNvPr id="15" name="直接连接符 14">
                <a:extLst>
                  <a:ext uri="{FF2B5EF4-FFF2-40B4-BE49-F238E27FC236}">
                    <a16:creationId xmlns:a16="http://schemas.microsoft.com/office/drawing/2014/main" id="{D797C803-71CC-0C49-64A5-E86DCE50C829}"/>
                  </a:ext>
                </a:extLst>
              </p:cNvPr>
              <p:cNvCxnSpPr>
                <a:cxnSpLocks/>
              </p:cNvCxnSpPr>
              <p:nvPr userDrawn="1"/>
            </p:nvCxnSpPr>
            <p:spPr>
              <a:xfrm>
                <a:off x="0" y="393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974B174-17CF-9EBF-A89F-9FA320237D50}"/>
                  </a:ext>
                </a:extLst>
              </p:cNvPr>
              <p:cNvCxnSpPr>
                <a:cxnSpLocks/>
              </p:cNvCxnSpPr>
              <p:nvPr userDrawn="1"/>
            </p:nvCxnSpPr>
            <p:spPr>
              <a:xfrm>
                <a:off x="3675872" y="6512242"/>
                <a:ext cx="827228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2" name="Object 7">
                <a:extLst>
                  <a:ext uri="{FF2B5EF4-FFF2-40B4-BE49-F238E27FC236}">
                    <a16:creationId xmlns:a16="http://schemas.microsoft.com/office/drawing/2014/main" id="{6172AFF6-98E2-C342-527F-7C7CF0F08C4D}"/>
                  </a:ext>
                </a:extLst>
              </p:cNvPr>
              <p:cNvSpPr txBox="1"/>
              <p:nvPr/>
            </p:nvSpPr>
            <p:spPr bwMode="auto">
              <a:xfrm>
                <a:off x="1590382" y="2373879"/>
                <a:ext cx="7921918" cy="18526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∵ </m:t>
                      </m:r>
                      <m:func>
                        <m:funcPr>
                          <m:ctrlPr>
                            <a:rPr kumimoji="1" lang="zh-CN" altLang="en-US" sz="2800" b="1" i="1">
                              <a:solidFill>
                                <a:prstClr val="black"/>
                              </a:solidFill>
                              <a:latin typeface="Cambria Math" panose="02040503050406030204" pitchFamily="18" charset="0"/>
                              <a:ea typeface="黑体" panose="02010609060101010101" pitchFamily="49" charset="-122"/>
                            </a:rPr>
                          </m:ctrlPr>
                        </m:funcPr>
                        <m:fName>
                          <m:r>
                            <a:rPr kumimoji="1" lang="zh-CN" altLang="en-US" sz="2800" b="1" i="0">
                              <a:solidFill>
                                <a:prstClr val="black"/>
                              </a:solidFill>
                              <a:latin typeface="Cambria Math" panose="02040503050406030204" pitchFamily="18" charset="0"/>
                              <a:ea typeface="黑体" panose="02010609060101010101" pitchFamily="49" charset="-122"/>
                            </a:rPr>
                            <m:t>𝐫𝐨𝐭</m:t>
                          </m:r>
                        </m:fName>
                        <m:e>
                          <m:r>
                            <a:rPr kumimoji="1" lang="zh-CN" altLang="en-US" sz="2800" b="1" i="1">
                              <a:solidFill>
                                <a:prstClr val="black"/>
                              </a:solidFill>
                              <a:latin typeface="Cambria Math" panose="02040503050406030204" pitchFamily="18" charset="0"/>
                              <a:ea typeface="黑体" panose="02010609060101010101" pitchFamily="49" charset="-122"/>
                            </a:rPr>
                            <m:t>𝑨</m:t>
                          </m:r>
                        </m:e>
                      </m:func>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𝒏</m:t>
                      </m:r>
                      <m:r>
                        <a:rPr kumimoji="1" lang="zh-CN" altLang="en-US" sz="2800">
                          <a:solidFill>
                            <a:prstClr val="black"/>
                          </a:solidFill>
                          <a:latin typeface="Cambria Math" panose="02040503050406030204" pitchFamily="18" charset="0"/>
                          <a:ea typeface="黑体" panose="02010609060101010101" pitchFamily="49" charset="-122"/>
                        </a:rPr>
                        <m:t>=</m:t>
                      </m:r>
                      <m:r>
                        <m:rPr>
                          <m:sty m:val="p"/>
                        </m:rPr>
                        <a:rPr kumimoji="1" lang="zh-CN" altLang="en-US" sz="2800" b="0" i="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𝒏</m:t>
                      </m:r>
                      <m:r>
                        <a:rPr kumimoji="1" lang="zh-CN" altLang="en-US" sz="2800">
                          <a:solidFill>
                            <a:prstClr val="black"/>
                          </a:solidFill>
                          <a:latin typeface="Cambria Math" panose="02040503050406030204" pitchFamily="18" charset="0"/>
                          <a:ea typeface="黑体" panose="02010609060101010101" pitchFamily="49" charset="-122"/>
                        </a:rPr>
                        <m:t>=</m:t>
                      </m:r>
                      <m:d>
                        <m:dPr>
                          <m:begChr m:val="|"/>
                          <m:endChr m:val="|"/>
                          <m:ctrlPr>
                            <a:rPr kumimoji="1" lang="zh-CN" altLang="en-US" sz="2800" i="1">
                              <a:solidFill>
                                <a:prstClr val="black"/>
                              </a:solidFill>
                              <a:latin typeface="Cambria Math" panose="02040503050406030204" pitchFamily="18" charset="0"/>
                              <a:ea typeface="黑体" panose="02010609060101010101" pitchFamily="49" charset="-122"/>
                            </a:rPr>
                          </m:ctrlPr>
                        </m:dPr>
                        <m:e>
                          <m:m>
                            <m:mPr>
                              <m:plcHide m:val="on"/>
                              <m:mcs>
                                <m:mc>
                                  <m:mcPr>
                                    <m:count m:val="3"/>
                                    <m:mcJc m:val="center"/>
                                  </m:mcPr>
                                </m:mc>
                              </m:mcs>
                              <m:ctrlPr>
                                <a:rPr kumimoji="1" lang="zh-CN" altLang="en-US" sz="2800" i="1">
                                  <a:solidFill>
                                    <a:prstClr val="black"/>
                                  </a:solidFill>
                                  <a:latin typeface="Cambria Math" panose="02040503050406030204" pitchFamily="18" charset="0"/>
                                  <a:ea typeface="黑体" panose="02010609060101010101" pitchFamily="49" charset="-122"/>
                                </a:rPr>
                              </m:ctrlPr>
                            </m:mPr>
                            <m:mr>
                              <m:e>
                                <m:func>
                                  <m:funcPr>
                                    <m:ctrlPr>
                                      <a:rPr kumimoji="1" lang="zh-CN" altLang="en-US" sz="2800" i="1">
                                        <a:solidFill>
                                          <a:prstClr val="black"/>
                                        </a:solidFill>
                                        <a:latin typeface="Cambria Math" panose="02040503050406030204" pitchFamily="18" charset="0"/>
                                        <a:ea typeface="黑体" panose="02010609060101010101" pitchFamily="49" charset="-122"/>
                                      </a:rPr>
                                    </m:ctrlPr>
                                  </m:funcPr>
                                  <m:fName>
                                    <m:r>
                                      <m:rPr>
                                        <m:sty m:val="p"/>
                                      </m:rPr>
                                      <a:rPr kumimoji="1" lang="zh-CN" altLang="en-US" sz="2800">
                                        <a:solidFill>
                                          <a:prstClr val="black"/>
                                        </a:solidFill>
                                        <a:latin typeface="Cambria Math" panose="02040503050406030204" pitchFamily="18" charset="0"/>
                                        <a:ea typeface="黑体" panose="02010609060101010101" pitchFamily="49" charset="-122"/>
                                      </a:rPr>
                                      <m:t>cos</m:t>
                                    </m:r>
                                  </m:fName>
                                  <m:e>
                                    <m:r>
                                      <a:rPr kumimoji="1" lang="zh-CN" altLang="en-US" sz="2800">
                                        <a:solidFill>
                                          <a:prstClr val="black"/>
                                        </a:solidFill>
                                        <a:latin typeface="Cambria Math" panose="02040503050406030204" pitchFamily="18" charset="0"/>
                                        <a:ea typeface="黑体" panose="02010609060101010101" pitchFamily="49" charset="-122"/>
                                      </a:rPr>
                                      <m:t>𝛼</m:t>
                                    </m:r>
                                  </m:e>
                                </m:func>
                              </m:e>
                              <m:e>
                                <m:func>
                                  <m:funcPr>
                                    <m:ctrlPr>
                                      <a:rPr kumimoji="1" lang="zh-CN" altLang="en-US" sz="2800" i="1">
                                        <a:solidFill>
                                          <a:prstClr val="black"/>
                                        </a:solidFill>
                                        <a:latin typeface="Cambria Math" panose="02040503050406030204" pitchFamily="18" charset="0"/>
                                        <a:ea typeface="黑体" panose="02010609060101010101" pitchFamily="49" charset="-122"/>
                                      </a:rPr>
                                    </m:ctrlPr>
                                  </m:funcPr>
                                  <m:fName>
                                    <m:r>
                                      <m:rPr>
                                        <m:sty m:val="p"/>
                                      </m:rPr>
                                      <a:rPr kumimoji="1" lang="zh-CN" altLang="en-US" sz="2800">
                                        <a:solidFill>
                                          <a:prstClr val="black"/>
                                        </a:solidFill>
                                        <a:latin typeface="Cambria Math" panose="02040503050406030204" pitchFamily="18" charset="0"/>
                                        <a:ea typeface="黑体" panose="02010609060101010101" pitchFamily="49" charset="-122"/>
                                      </a:rPr>
                                      <m:t>cos</m:t>
                                    </m:r>
                                  </m:fName>
                                  <m:e>
                                    <m:r>
                                      <a:rPr kumimoji="1" lang="zh-CN" altLang="en-US" sz="2800">
                                        <a:solidFill>
                                          <a:prstClr val="black"/>
                                        </a:solidFill>
                                        <a:latin typeface="Cambria Math" panose="02040503050406030204" pitchFamily="18" charset="0"/>
                                        <a:ea typeface="黑体" panose="02010609060101010101" pitchFamily="49" charset="-122"/>
                                      </a:rPr>
                                      <m:t>𝛽</m:t>
                                    </m:r>
                                  </m:e>
                                </m:func>
                              </m:e>
                              <m:e>
                                <m:func>
                                  <m:funcPr>
                                    <m:ctrlPr>
                                      <a:rPr kumimoji="1" lang="zh-CN" altLang="en-US" sz="2800" i="1">
                                        <a:solidFill>
                                          <a:prstClr val="black"/>
                                        </a:solidFill>
                                        <a:latin typeface="Cambria Math" panose="02040503050406030204" pitchFamily="18" charset="0"/>
                                        <a:ea typeface="黑体" panose="02010609060101010101" pitchFamily="49" charset="-122"/>
                                      </a:rPr>
                                    </m:ctrlPr>
                                  </m:funcPr>
                                  <m:fName>
                                    <m:r>
                                      <m:rPr>
                                        <m:sty m:val="p"/>
                                      </m:rPr>
                                      <a:rPr kumimoji="1" lang="zh-CN" altLang="en-US" sz="2800">
                                        <a:solidFill>
                                          <a:prstClr val="black"/>
                                        </a:solidFill>
                                        <a:latin typeface="Cambria Math" panose="02040503050406030204" pitchFamily="18" charset="0"/>
                                        <a:ea typeface="黑体" panose="02010609060101010101" pitchFamily="49" charset="-122"/>
                                      </a:rPr>
                                      <m:t>cos</m:t>
                                    </m:r>
                                  </m:fName>
                                  <m:e>
                                    <m:r>
                                      <a:rPr kumimoji="1" lang="zh-CN" altLang="en-US" sz="2800">
                                        <a:solidFill>
                                          <a:prstClr val="black"/>
                                        </a:solidFill>
                                        <a:latin typeface="Cambria Math" panose="02040503050406030204" pitchFamily="18" charset="0"/>
                                        <a:ea typeface="黑体" panose="02010609060101010101" pitchFamily="49" charset="-122"/>
                                      </a:rPr>
                                      <m:t>𝛾</m:t>
                                    </m:r>
                                  </m:e>
                                </m:func>
                              </m:e>
                            </m:mr>
                            <m:mr>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den>
                                </m:f>
                              </m:e>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den>
                                </m:f>
                              </m:e>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den>
                                </m:f>
                              </m:e>
                            </m:mr>
                            <m:mr>
                              <m:e>
                                <m:r>
                                  <a:rPr kumimoji="1" lang="zh-CN" altLang="en-US" sz="2800">
                                    <a:solidFill>
                                      <a:prstClr val="black"/>
                                    </a:solidFill>
                                    <a:latin typeface="Cambria Math" panose="02040503050406030204" pitchFamily="18" charset="0"/>
                                    <a:ea typeface="黑体" panose="02010609060101010101" pitchFamily="49" charset="-122"/>
                                  </a:rPr>
                                  <m:t>𝑃</m:t>
                                </m:r>
                              </m:e>
                              <m:e>
                                <m:r>
                                  <a:rPr kumimoji="1" lang="zh-CN" altLang="en-US" sz="2800">
                                    <a:solidFill>
                                      <a:prstClr val="black"/>
                                    </a:solidFill>
                                    <a:latin typeface="Cambria Math" panose="02040503050406030204" pitchFamily="18" charset="0"/>
                                    <a:ea typeface="黑体" panose="02010609060101010101" pitchFamily="49" charset="-122"/>
                                  </a:rPr>
                                  <m:t>𝑄</m:t>
                                </m:r>
                              </m:e>
                              <m:e>
                                <m:r>
                                  <a:rPr kumimoji="1" lang="zh-CN" altLang="en-US" sz="2800">
                                    <a:solidFill>
                                      <a:prstClr val="black"/>
                                    </a:solidFill>
                                    <a:latin typeface="Cambria Math" panose="02040503050406030204" pitchFamily="18" charset="0"/>
                                    <a:ea typeface="黑体" panose="02010609060101010101" pitchFamily="49" charset="-122"/>
                                  </a:rPr>
                                  <m:t>𝑅</m:t>
                                </m:r>
                              </m:e>
                            </m:mr>
                          </m:m>
                        </m:e>
                      </m:d>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2" name="Object 7">
                <a:extLst>
                  <a:ext uri="{FF2B5EF4-FFF2-40B4-BE49-F238E27FC236}">
                    <a16:creationId xmlns:a16="http://schemas.microsoft.com/office/drawing/2014/main" id="{6172AFF6-98E2-C342-527F-7C7CF0F08C4D}"/>
                  </a:ext>
                </a:extLst>
              </p:cNvPr>
              <p:cNvSpPr txBox="1">
                <a:spLocks noRot="1" noChangeAspect="1" noMove="1" noResize="1" noEditPoints="1" noAdjustHandles="1" noChangeArrowheads="1" noChangeShapeType="1" noTextEdit="1"/>
              </p:cNvSpPr>
              <p:nvPr/>
            </p:nvSpPr>
            <p:spPr bwMode="auto">
              <a:xfrm>
                <a:off x="1590382" y="2373879"/>
                <a:ext cx="7921918" cy="1852612"/>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3" name="Text Box 3">
            <a:extLst>
              <a:ext uri="{FF2B5EF4-FFF2-40B4-BE49-F238E27FC236}">
                <a16:creationId xmlns:a16="http://schemas.microsoft.com/office/drawing/2014/main" id="{0849743B-E9AB-0452-D7F6-0A8FB25ACD73}"/>
              </a:ext>
            </a:extLst>
          </p:cNvPr>
          <p:cNvSpPr txBox="1">
            <a:spLocks noChangeArrowheads="1"/>
          </p:cNvSpPr>
          <p:nvPr/>
        </p:nvSpPr>
        <p:spPr bwMode="auto">
          <a:xfrm>
            <a:off x="1193525" y="669925"/>
            <a:ext cx="5410200" cy="52322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kumimoji="1" lang="en-US" altLang="zh-CN" sz="2800" b="1" dirty="0">
                <a:solidFill>
                  <a:srgbClr val="04926A"/>
                </a:solidFill>
                <a:latin typeface="微软雅黑" panose="020B0503020204020204" pitchFamily="34" charset="-122"/>
                <a:ea typeface="微软雅黑" panose="020B0503020204020204" pitchFamily="34" charset="-122"/>
              </a:rPr>
              <a:t>3. </a:t>
            </a:r>
            <a:r>
              <a:rPr kumimoji="1" lang="zh-CN" altLang="en-US" sz="2800" b="1" dirty="0">
                <a:solidFill>
                  <a:srgbClr val="04926A"/>
                </a:solidFill>
                <a:latin typeface="微软雅黑" panose="020B0503020204020204" pitchFamily="34" charset="-122"/>
                <a:ea typeface="微软雅黑" panose="020B0503020204020204" pitchFamily="34" charset="-122"/>
              </a:rPr>
              <a:t>斯托克斯公式的物理解释</a:t>
            </a:r>
            <a:endParaRPr kumimoji="1" lang="en-US" altLang="zh-CN" sz="2800" b="1" dirty="0">
              <a:solidFill>
                <a:srgbClr val="04926A"/>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D76C9DDC-BAD9-BC7C-9105-66BD891689CC}"/>
                  </a:ext>
                </a:extLst>
              </p:cNvPr>
              <p:cNvSpPr txBox="1"/>
              <p:nvPr/>
            </p:nvSpPr>
            <p:spPr>
              <a:xfrm>
                <a:off x="1590382" y="1315279"/>
                <a:ext cx="9623718" cy="1144426"/>
              </a:xfrm>
              <a:prstGeom prst="rect">
                <a:avLst/>
              </a:prstGeom>
            </p:spPr>
            <p:txBody>
              <a:bodyPr>
                <a:noAutofit/>
              </a:bodyPr>
              <a:lstStyle/>
              <a:p>
                <a:pPr>
                  <a:lnSpc>
                    <a:spcPct val="130000"/>
                  </a:lnSpc>
                </a:pPr>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设</m:t>
                      </m:r>
                      <m:r>
                        <a:rPr kumimoji="1" lang="zh-CN" altLang="en-US" sz="2800" b="1" i="1">
                          <a:solidFill>
                            <a:prstClr val="black"/>
                          </a:solidFill>
                          <a:latin typeface="Cambria Math" panose="02040503050406030204" pitchFamily="18" charset="0"/>
                          <a:ea typeface="黑体" panose="02010609060101010101" pitchFamily="49" charset="-122"/>
                        </a:rPr>
                        <m:t>𝒏</m:t>
                      </m:r>
                      <m:r>
                        <a:rPr kumimoji="1" lang="zh-CN" altLang="en-US" sz="2800">
                          <a:solidFill>
                            <a:prstClr val="black"/>
                          </a:solidFill>
                          <a:latin typeface="Cambria Math" panose="02040503050406030204" pitchFamily="18" charset="0"/>
                          <a:ea typeface="黑体" panose="02010609060101010101" pitchFamily="49" charset="-122"/>
                        </a:rPr>
                        <m:t>=</m:t>
                      </m:r>
                      <m:func>
                        <m:funcPr>
                          <m:ctrlPr>
                            <a:rPr kumimoji="1" lang="zh-CN" altLang="en-US" sz="2800" i="1">
                              <a:solidFill>
                                <a:prstClr val="black"/>
                              </a:solidFill>
                              <a:latin typeface="Cambria Math" panose="02040503050406030204" pitchFamily="18" charset="0"/>
                              <a:ea typeface="黑体" panose="02010609060101010101" pitchFamily="49" charset="-122"/>
                            </a:rPr>
                          </m:ctrlPr>
                        </m:funcPr>
                        <m:fName>
                          <m:r>
                            <m:rPr>
                              <m:sty m:val="p"/>
                            </m:rPr>
                            <a:rPr kumimoji="1" lang="zh-CN" altLang="en-US" sz="2800">
                              <a:solidFill>
                                <a:prstClr val="black"/>
                              </a:solidFill>
                              <a:latin typeface="Cambria Math" panose="02040503050406030204" pitchFamily="18" charset="0"/>
                              <a:ea typeface="黑体" panose="02010609060101010101" pitchFamily="49" charset="-122"/>
                            </a:rPr>
                            <m:t>cos</m:t>
                          </m:r>
                        </m:fName>
                        <m:e>
                          <m:r>
                            <a:rPr kumimoji="1" lang="zh-CN" altLang="en-US" sz="2800">
                              <a:solidFill>
                                <a:prstClr val="black"/>
                              </a:solidFill>
                              <a:latin typeface="Cambria Math" panose="02040503050406030204" pitchFamily="18" charset="0"/>
                              <a:ea typeface="黑体" panose="02010609060101010101" pitchFamily="49" charset="-122"/>
                            </a:rPr>
                            <m:t>𝛼</m:t>
                          </m:r>
                        </m:e>
                      </m:func>
                      <m:r>
                        <a:rPr kumimoji="1" lang="zh-CN" altLang="en-US" sz="2800" b="1" i="1">
                          <a:solidFill>
                            <a:prstClr val="black"/>
                          </a:solidFill>
                          <a:latin typeface="Cambria Math" panose="02040503050406030204" pitchFamily="18" charset="0"/>
                          <a:ea typeface="黑体" panose="02010609060101010101" pitchFamily="49" charset="-122"/>
                        </a:rPr>
                        <m:t>𝒊</m:t>
                      </m:r>
                      <m:r>
                        <a:rPr kumimoji="1" lang="zh-CN" altLang="en-US" sz="2800">
                          <a:solidFill>
                            <a:prstClr val="black"/>
                          </a:solidFill>
                          <a:latin typeface="Cambria Math" panose="02040503050406030204" pitchFamily="18" charset="0"/>
                          <a:ea typeface="黑体" panose="02010609060101010101" pitchFamily="49" charset="-122"/>
                        </a:rPr>
                        <m:t>+</m:t>
                      </m:r>
                      <m:func>
                        <m:funcPr>
                          <m:ctrlPr>
                            <a:rPr kumimoji="1" lang="zh-CN" altLang="en-US" sz="2800" i="1">
                              <a:solidFill>
                                <a:prstClr val="black"/>
                              </a:solidFill>
                              <a:latin typeface="Cambria Math" panose="02040503050406030204" pitchFamily="18" charset="0"/>
                              <a:ea typeface="黑体" panose="02010609060101010101" pitchFamily="49" charset="-122"/>
                            </a:rPr>
                          </m:ctrlPr>
                        </m:funcPr>
                        <m:fName>
                          <m:r>
                            <m:rPr>
                              <m:sty m:val="p"/>
                            </m:rPr>
                            <a:rPr kumimoji="1" lang="zh-CN" altLang="en-US" sz="2800">
                              <a:solidFill>
                                <a:prstClr val="black"/>
                              </a:solidFill>
                              <a:latin typeface="Cambria Math" panose="02040503050406030204" pitchFamily="18" charset="0"/>
                              <a:ea typeface="黑体" panose="02010609060101010101" pitchFamily="49" charset="-122"/>
                            </a:rPr>
                            <m:t>cos</m:t>
                          </m:r>
                        </m:fName>
                        <m:e>
                          <m:r>
                            <a:rPr kumimoji="1" lang="zh-CN" altLang="en-US" sz="2800">
                              <a:solidFill>
                                <a:prstClr val="black"/>
                              </a:solidFill>
                              <a:latin typeface="Cambria Math" panose="02040503050406030204" pitchFamily="18" charset="0"/>
                              <a:ea typeface="黑体" panose="02010609060101010101" pitchFamily="49" charset="-122"/>
                            </a:rPr>
                            <m:t>𝛽</m:t>
                          </m:r>
                        </m:e>
                      </m:func>
                      <m:r>
                        <a:rPr kumimoji="1" lang="zh-CN" altLang="en-US" sz="2800" b="1" i="1">
                          <a:solidFill>
                            <a:prstClr val="black"/>
                          </a:solidFill>
                          <a:latin typeface="Cambria Math" panose="02040503050406030204" pitchFamily="18" charset="0"/>
                          <a:ea typeface="黑体" panose="02010609060101010101" pitchFamily="49" charset="-122"/>
                        </a:rPr>
                        <m:t>𝒋</m:t>
                      </m:r>
                      <m:r>
                        <a:rPr kumimoji="1" lang="zh-CN" altLang="en-US" sz="2800">
                          <a:solidFill>
                            <a:prstClr val="black"/>
                          </a:solidFill>
                          <a:latin typeface="Cambria Math" panose="02040503050406030204" pitchFamily="18" charset="0"/>
                          <a:ea typeface="黑体" panose="02010609060101010101" pitchFamily="49" charset="-122"/>
                        </a:rPr>
                        <m:t>+</m:t>
                      </m:r>
                      <m:func>
                        <m:funcPr>
                          <m:ctrlPr>
                            <a:rPr kumimoji="1" lang="zh-CN" altLang="en-US" sz="2800" i="1">
                              <a:solidFill>
                                <a:prstClr val="black"/>
                              </a:solidFill>
                              <a:latin typeface="Cambria Math" panose="02040503050406030204" pitchFamily="18" charset="0"/>
                              <a:ea typeface="黑体" panose="02010609060101010101" pitchFamily="49" charset="-122"/>
                            </a:rPr>
                          </m:ctrlPr>
                        </m:funcPr>
                        <m:fName>
                          <m:r>
                            <m:rPr>
                              <m:sty m:val="p"/>
                            </m:rPr>
                            <a:rPr kumimoji="1" lang="zh-CN" altLang="en-US" sz="2800">
                              <a:solidFill>
                                <a:prstClr val="black"/>
                              </a:solidFill>
                              <a:latin typeface="Cambria Math" panose="02040503050406030204" pitchFamily="18" charset="0"/>
                              <a:ea typeface="黑体" panose="02010609060101010101" pitchFamily="49" charset="-122"/>
                            </a:rPr>
                            <m:t>cos</m:t>
                          </m:r>
                        </m:fName>
                        <m:e>
                          <m:r>
                            <a:rPr kumimoji="1" lang="zh-CN" altLang="en-US" sz="2800">
                              <a:solidFill>
                                <a:prstClr val="black"/>
                              </a:solidFill>
                              <a:latin typeface="Cambria Math" panose="02040503050406030204" pitchFamily="18" charset="0"/>
                              <a:ea typeface="黑体" panose="02010609060101010101" pitchFamily="49" charset="-122"/>
                            </a:rPr>
                            <m:t>𝛾</m:t>
                          </m:r>
                        </m:e>
                      </m:func>
                      <m:r>
                        <a:rPr kumimoji="1" lang="zh-CN" altLang="en-US" sz="2800" b="1" i="1">
                          <a:solidFill>
                            <a:prstClr val="black"/>
                          </a:solidFill>
                          <a:latin typeface="Cambria Math" panose="02040503050406030204" pitchFamily="18" charset="0"/>
                          <a:ea typeface="黑体" panose="02010609060101010101" pitchFamily="49" charset="-122"/>
                        </a:rPr>
                        <m:t>𝒌</m:t>
                      </m:r>
                      <m:r>
                        <a:rPr kumimoji="1" lang="zh-CN" altLang="en-US" sz="2800">
                          <a:solidFill>
                            <a:prstClr val="black"/>
                          </a:solidFill>
                          <a:latin typeface="Cambria Math" panose="02040503050406030204" pitchFamily="18" charset="0"/>
                          <a:ea typeface="黑体" panose="02010609060101010101" pitchFamily="49" charset="-122"/>
                        </a:rPr>
                        <m:t>为有向曲面</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i="1">
                          <a:solidFill>
                            <a:prstClr val="black"/>
                          </a:solidFill>
                          <a:latin typeface="Cambria Math" panose="02040503050406030204" pitchFamily="18" charset="0"/>
                          <a:ea typeface="黑体" panose="02010609060101010101" pitchFamily="49" charset="-122"/>
                        </a:rPr>
                        <m:t>𝛴</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在点</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处</m:t>
                      </m:r>
                    </m:oMath>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的单位法向量</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则</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4" name="对象 3">
                <a:extLst>
                  <a:ext uri="{FF2B5EF4-FFF2-40B4-BE49-F238E27FC236}">
                    <a16:creationId xmlns:a16="http://schemas.microsoft.com/office/drawing/2014/main" id="{D76C9DDC-BAD9-BC7C-9105-66BD891689CC}"/>
                  </a:ext>
                </a:extLst>
              </p:cNvPr>
              <p:cNvSpPr txBox="1">
                <a:spLocks noRot="1" noChangeAspect="1" noMove="1" noResize="1" noEditPoints="1" noAdjustHandles="1" noChangeArrowheads="1" noChangeShapeType="1" noTextEdit="1"/>
              </p:cNvSpPr>
              <p:nvPr/>
            </p:nvSpPr>
            <p:spPr>
              <a:xfrm>
                <a:off x="1590382" y="1315279"/>
                <a:ext cx="9623718" cy="114442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3CCD751A-DDC5-961C-1D7C-6973FC5C2AD6}"/>
                  </a:ext>
                </a:extLst>
              </p:cNvPr>
              <p:cNvSpPr txBox="1"/>
              <p:nvPr/>
            </p:nvSpPr>
            <p:spPr>
              <a:xfrm>
                <a:off x="1590382" y="4375775"/>
                <a:ext cx="6448718" cy="393700"/>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得到斯托克斯公式的向量形式为</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5" name="对象 4">
                <a:extLst>
                  <a:ext uri="{FF2B5EF4-FFF2-40B4-BE49-F238E27FC236}">
                    <a16:creationId xmlns:a16="http://schemas.microsoft.com/office/drawing/2014/main" id="{3CCD751A-DDC5-961C-1D7C-6973FC5C2AD6}"/>
                  </a:ext>
                </a:extLst>
              </p:cNvPr>
              <p:cNvSpPr txBox="1">
                <a:spLocks noRot="1" noChangeAspect="1" noMove="1" noResize="1" noEditPoints="1" noAdjustHandles="1" noChangeArrowheads="1" noChangeShapeType="1" noTextEdit="1"/>
              </p:cNvSpPr>
              <p:nvPr/>
            </p:nvSpPr>
            <p:spPr>
              <a:xfrm>
                <a:off x="1590382" y="4375775"/>
                <a:ext cx="6448718" cy="393700"/>
              </a:xfrm>
              <a:prstGeom prst="rect">
                <a:avLst/>
              </a:prstGeom>
              <a:blipFill>
                <a:blip r:embed="rId4"/>
                <a:stretch>
                  <a:fillRect b="-9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Object 3">
                <a:extLst>
                  <a:ext uri="{FF2B5EF4-FFF2-40B4-BE49-F238E27FC236}">
                    <a16:creationId xmlns:a16="http://schemas.microsoft.com/office/drawing/2014/main" id="{207FCC20-61D5-4EC9-5CB8-6A307349D32A}"/>
                  </a:ext>
                </a:extLst>
              </p:cNvPr>
              <p:cNvSpPr txBox="1"/>
              <p:nvPr/>
            </p:nvSpPr>
            <p:spPr bwMode="auto">
              <a:xfrm>
                <a:off x="1885657" y="4933613"/>
                <a:ext cx="4386181" cy="120657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kumimoji="1" lang="zh-CN" altLang="en-US" sz="2800" i="1" smtClean="0">
                              <a:solidFill>
                                <a:prstClr val="black"/>
                              </a:solidFill>
                              <a:latin typeface="Cambria Math" panose="02040503050406030204" pitchFamily="18" charset="0"/>
                              <a:ea typeface="黑体" panose="02010609060101010101" pitchFamily="49" charset="-122"/>
                            </a:rPr>
                          </m:ctrlPr>
                        </m:naryPr>
                        <m:sub>
                          <m:r>
                            <a:rPr kumimoji="1" lang="zh-CN" altLang="en-US" sz="2800" i="1">
                              <a:solidFill>
                                <a:prstClr val="black"/>
                              </a:solidFill>
                              <a:latin typeface="Cambria Math" panose="02040503050406030204" pitchFamily="18" charset="0"/>
                              <a:ea typeface="黑体" panose="02010609060101010101" pitchFamily="49" charset="-122"/>
                            </a:rPr>
                            <m:t>𝛴</m:t>
                          </m:r>
                        </m:sub>
                        <m:sup/>
                        <m:e>
                          <m:func>
                            <m:funcPr>
                              <m:ctrlPr>
                                <a:rPr kumimoji="1" lang="zh-CN" altLang="en-US" sz="2800" b="1" i="1">
                                  <a:solidFill>
                                    <a:prstClr val="black"/>
                                  </a:solidFill>
                                  <a:latin typeface="Cambria Math" panose="02040503050406030204" pitchFamily="18" charset="0"/>
                                  <a:ea typeface="黑体" panose="02010609060101010101" pitchFamily="49" charset="-122"/>
                                </a:rPr>
                              </m:ctrlPr>
                            </m:funcPr>
                            <m:fName>
                              <m:r>
                                <a:rPr kumimoji="1" lang="zh-CN" altLang="en-US" sz="2800" b="1" i="0">
                                  <a:solidFill>
                                    <a:prstClr val="black"/>
                                  </a:solidFill>
                                  <a:latin typeface="Cambria Math" panose="02040503050406030204" pitchFamily="18" charset="0"/>
                                  <a:ea typeface="黑体" panose="02010609060101010101" pitchFamily="49" charset="-122"/>
                                </a:rPr>
                                <m:t>𝐫𝐨𝐭</m:t>
                              </m:r>
                            </m:fName>
                            <m:e>
                              <m:r>
                                <a:rPr kumimoji="1" lang="zh-CN" altLang="en-US" sz="2800" b="1" i="1">
                                  <a:solidFill>
                                    <a:prstClr val="black"/>
                                  </a:solidFill>
                                  <a:latin typeface="Cambria Math" panose="02040503050406030204" pitchFamily="18" charset="0"/>
                                  <a:ea typeface="黑体" panose="02010609060101010101" pitchFamily="49" charset="-122"/>
                                </a:rPr>
                                <m:t>𝑨</m:t>
                              </m:r>
                            </m:e>
                          </m:func>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𝒏</m:t>
                          </m:r>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smtClean="0">
                              <a:solidFill>
                                <a:prstClr val="black"/>
                              </a:solidFill>
                              <a:latin typeface="Cambria Math" panose="02040503050406030204" pitchFamily="18" charset="0"/>
                              <a:ea typeface="黑体" panose="02010609060101010101" pitchFamily="49" charset="-122"/>
                            </a:rPr>
                            <m:t>𝑆</m:t>
                          </m:r>
                          <m:r>
                            <a:rPr kumimoji="1" lang="zh-CN" altLang="en-US" sz="2800">
                              <a:solidFill>
                                <a:prstClr val="black"/>
                              </a:solidFill>
                              <a:latin typeface="Cambria Math" panose="02040503050406030204" pitchFamily="18" charset="0"/>
                              <a:ea typeface="黑体" panose="02010609060101010101" pitchFamily="49" charset="-122"/>
                            </a:rPr>
                            <m:t>=</m:t>
                          </m:r>
                          <m:nary>
                            <m:naryPr>
                              <m:chr m:val="∮"/>
                              <m:supHide m:val="on"/>
                              <m:ctrlPr>
                                <a:rPr kumimoji="1" lang="zh-CN" altLang="en-US" sz="2800" i="1">
                                  <a:solidFill>
                                    <a:prstClr val="black"/>
                                  </a:solidFill>
                                  <a:latin typeface="Cambria Math" panose="02040503050406030204" pitchFamily="18" charset="0"/>
                                  <a:ea typeface="黑体" panose="02010609060101010101" pitchFamily="49" charset="-122"/>
                                </a:rPr>
                              </m:ctrlPr>
                            </m:naryPr>
                            <m:sub>
                              <m:r>
                                <a:rPr kumimoji="1" lang="zh-CN" altLang="en-US" sz="2800" i="1">
                                  <a:solidFill>
                                    <a:prstClr val="black"/>
                                  </a:solidFill>
                                  <a:latin typeface="Cambria Math" panose="02040503050406030204" pitchFamily="18" charset="0"/>
                                  <a:ea typeface="黑体" panose="02010609060101010101" pitchFamily="49" charset="-122"/>
                                </a:rPr>
                                <m:t>𝛤</m:t>
                              </m:r>
                            </m:sub>
                            <m:sup/>
                            <m:e>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𝝉</m:t>
                              </m:r>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𝑆</m:t>
                              </m:r>
                            </m:e>
                          </m:nary>
                        </m:e>
                      </m:nary>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6" name="Object 3">
                <a:extLst>
                  <a:ext uri="{FF2B5EF4-FFF2-40B4-BE49-F238E27FC236}">
                    <a16:creationId xmlns:a16="http://schemas.microsoft.com/office/drawing/2014/main" id="{207FCC20-61D5-4EC9-5CB8-6A307349D32A}"/>
                  </a:ext>
                </a:extLst>
              </p:cNvPr>
              <p:cNvSpPr txBox="1">
                <a:spLocks noRot="1" noChangeAspect="1" noMove="1" noResize="1" noEditPoints="1" noAdjustHandles="1" noChangeArrowheads="1" noChangeShapeType="1" noTextEdit="1"/>
              </p:cNvSpPr>
              <p:nvPr/>
            </p:nvSpPr>
            <p:spPr bwMode="auto">
              <a:xfrm>
                <a:off x="1885657" y="4933613"/>
                <a:ext cx="4386181" cy="1206579"/>
              </a:xfrm>
              <a:prstGeom prst="rect">
                <a:avLst/>
              </a:prstGeom>
              <a:blipFill>
                <a:blip r:embed="rId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Object 4">
                <a:extLst>
                  <a:ext uri="{FF2B5EF4-FFF2-40B4-BE49-F238E27FC236}">
                    <a16:creationId xmlns:a16="http://schemas.microsoft.com/office/drawing/2014/main" id="{0A9F6A98-6004-7BE1-D3FA-6E59D548020C}"/>
                  </a:ext>
                </a:extLst>
              </p:cNvPr>
              <p:cNvSpPr txBox="1"/>
              <p:nvPr/>
            </p:nvSpPr>
            <p:spPr bwMode="auto">
              <a:xfrm>
                <a:off x="5990559" y="4934859"/>
                <a:ext cx="4726214" cy="129864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或</m:t>
                      </m:r>
                      <m:nary>
                        <m:naryPr>
                          <m:chr m:val="∬"/>
                          <m:limLoc m:val="undOvr"/>
                          <m:supHide m:val="on"/>
                          <m:ctrlPr>
                            <a:rPr kumimoji="1" lang="zh-CN" altLang="en-US" sz="2800" i="1">
                              <a:solidFill>
                                <a:prstClr val="black"/>
                              </a:solidFill>
                              <a:latin typeface="Cambria Math" panose="02040503050406030204" pitchFamily="18" charset="0"/>
                              <a:ea typeface="黑体" panose="02010609060101010101" pitchFamily="49" charset="-122"/>
                            </a:rPr>
                          </m:ctrlPr>
                        </m:naryPr>
                        <m:sub>
                          <m:r>
                            <a:rPr kumimoji="1" lang="zh-CN" altLang="en-US" sz="2800" i="1">
                              <a:solidFill>
                                <a:prstClr val="black"/>
                              </a:solidFill>
                              <a:latin typeface="Cambria Math" panose="02040503050406030204" pitchFamily="18" charset="0"/>
                              <a:ea typeface="黑体" panose="02010609060101010101" pitchFamily="49" charset="-122"/>
                            </a:rPr>
                            <m:t>𝛴</m:t>
                          </m:r>
                        </m:sub>
                        <m:sup/>
                        <m:e>
                          <m:r>
                            <a:rPr kumimoji="1" lang="zh-CN" altLang="en-US" sz="2800">
                              <a:solidFill>
                                <a:prstClr val="black"/>
                              </a:solidFill>
                              <a:latin typeface="Cambria Math" panose="02040503050406030204" pitchFamily="18" charset="0"/>
                              <a:ea typeface="黑体" panose="02010609060101010101" pitchFamily="49" charset="-122"/>
                            </a:rPr>
                            <m:t>(</m:t>
                          </m:r>
                          <m:func>
                            <m:funcPr>
                              <m:ctrlPr>
                                <a:rPr kumimoji="1" lang="zh-CN" altLang="en-US" sz="2800" b="1" i="1">
                                  <a:solidFill>
                                    <a:prstClr val="black"/>
                                  </a:solidFill>
                                  <a:latin typeface="Cambria Math" panose="02040503050406030204" pitchFamily="18" charset="0"/>
                                  <a:ea typeface="黑体" panose="02010609060101010101" pitchFamily="49" charset="-122"/>
                                </a:rPr>
                              </m:ctrlPr>
                            </m:funcPr>
                            <m:fName>
                              <m:r>
                                <a:rPr kumimoji="1" lang="zh-CN" altLang="en-US" sz="2800" b="1" i="0">
                                  <a:solidFill>
                                    <a:prstClr val="black"/>
                                  </a:solidFill>
                                  <a:latin typeface="Cambria Math" panose="02040503050406030204" pitchFamily="18" charset="0"/>
                                  <a:ea typeface="黑体" panose="02010609060101010101" pitchFamily="49" charset="-122"/>
                                </a:rPr>
                                <m:t>𝐫𝐨𝐭</m:t>
                              </m:r>
                            </m:fName>
                            <m:e>
                              <m:r>
                                <a:rPr kumimoji="1" lang="zh-CN" altLang="en-US" sz="2800" b="1" i="1">
                                  <a:solidFill>
                                    <a:prstClr val="black"/>
                                  </a:solidFill>
                                  <a:latin typeface="Cambria Math" panose="02040503050406030204" pitchFamily="18" charset="0"/>
                                  <a:ea typeface="黑体" panose="02010609060101010101" pitchFamily="49" charset="-122"/>
                                </a:rPr>
                                <m:t>𝑨</m:t>
                              </m:r>
                            </m:e>
                          </m:func>
                          <m:sSub>
                            <m:sSubPr>
                              <m:ctrlPr>
                                <a:rPr kumimoji="1" lang="zh-CN" altLang="en-US" sz="2800" i="1">
                                  <a:solidFill>
                                    <a:prstClr val="black"/>
                                  </a:solidFill>
                                  <a:latin typeface="Cambria Math" panose="02040503050406030204" pitchFamily="18" charset="0"/>
                                  <a:ea typeface="黑体" panose="02010609060101010101" pitchFamily="49" charset="-122"/>
                                </a:rPr>
                              </m:ctrlPr>
                            </m:sSubPr>
                            <m:e>
                              <m:r>
                                <a:rPr kumimoji="1" lang="zh-CN" altLang="en-US" sz="2800" b="0">
                                  <a:solidFill>
                                    <a:prstClr val="black"/>
                                  </a:solidFill>
                                  <a:latin typeface="Cambria Math" panose="02040503050406030204" pitchFamily="18" charset="0"/>
                                  <a:ea typeface="黑体" panose="02010609060101010101" pitchFamily="49" charset="-122"/>
                                </a:rPr>
                                <m:t>)</m:t>
                              </m:r>
                            </m:e>
                            <m:sub>
                              <m:r>
                                <a:rPr kumimoji="1" lang="zh-CN" altLang="en-US" sz="2800" b="0" i="1">
                                  <a:solidFill>
                                    <a:prstClr val="black"/>
                                  </a:solidFill>
                                  <a:latin typeface="Cambria Math" panose="02040503050406030204" pitchFamily="18" charset="0"/>
                                  <a:ea typeface="黑体" panose="02010609060101010101" pitchFamily="49" charset="-122"/>
                                </a:rPr>
                                <m:t>𝑛</m:t>
                              </m:r>
                            </m:sub>
                          </m:sSub>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𝑆</m:t>
                          </m:r>
                          <m:r>
                            <a:rPr kumimoji="1" lang="zh-CN" altLang="en-US" sz="2800">
                              <a:solidFill>
                                <a:prstClr val="black"/>
                              </a:solidFill>
                              <a:latin typeface="Cambria Math" panose="02040503050406030204" pitchFamily="18" charset="0"/>
                              <a:ea typeface="黑体" panose="02010609060101010101" pitchFamily="49" charset="-122"/>
                            </a:rPr>
                            <m:t>=</m:t>
                          </m:r>
                          <m:nary>
                            <m:naryPr>
                              <m:chr m:val="∮"/>
                              <m:supHide m:val="on"/>
                              <m:ctrlPr>
                                <a:rPr kumimoji="1" lang="zh-CN" altLang="en-US" sz="2800" i="1">
                                  <a:solidFill>
                                    <a:prstClr val="black"/>
                                  </a:solidFill>
                                  <a:latin typeface="Cambria Math" panose="02040503050406030204" pitchFamily="18" charset="0"/>
                                  <a:ea typeface="黑体" panose="02010609060101010101" pitchFamily="49" charset="-122"/>
                                </a:rPr>
                              </m:ctrlPr>
                            </m:naryPr>
                            <m:sub>
                              <m:r>
                                <a:rPr kumimoji="1" lang="zh-CN" altLang="en-US" sz="2800" i="1">
                                  <a:solidFill>
                                    <a:prstClr val="black"/>
                                  </a:solidFill>
                                  <a:latin typeface="Cambria Math" panose="02040503050406030204" pitchFamily="18" charset="0"/>
                                  <a:ea typeface="黑体" panose="02010609060101010101" pitchFamily="49" charset="-122"/>
                                </a:rPr>
                                <m:t>𝛤</m:t>
                              </m:r>
                            </m:sub>
                            <m:sup/>
                            <m:e>
                              <m:sSub>
                                <m:sSubPr>
                                  <m:ctrlPr>
                                    <a:rPr kumimoji="1" lang="zh-CN" altLang="en-US" sz="2800" i="1">
                                      <a:solidFill>
                                        <a:prstClr val="black"/>
                                      </a:solidFill>
                                      <a:latin typeface="Cambria Math" panose="02040503050406030204" pitchFamily="18" charset="0"/>
                                      <a:ea typeface="黑体" panose="02010609060101010101" pitchFamily="49" charset="-122"/>
                                    </a:rPr>
                                  </m:ctrlPr>
                                </m:sSubPr>
                                <m:e>
                                  <m:r>
                                    <a:rPr kumimoji="1" lang="zh-CN" altLang="en-US" sz="2800" b="1" i="1">
                                      <a:solidFill>
                                        <a:prstClr val="black"/>
                                      </a:solidFill>
                                      <a:latin typeface="Cambria Math" panose="02040503050406030204" pitchFamily="18" charset="0"/>
                                      <a:ea typeface="黑体" panose="02010609060101010101" pitchFamily="49" charset="-122"/>
                                    </a:rPr>
                                    <m:t>𝑨</m:t>
                                  </m:r>
                                </m:e>
                                <m:sub>
                                  <m:r>
                                    <a:rPr kumimoji="1" lang="zh-CN" altLang="en-US" sz="2800">
                                      <a:solidFill>
                                        <a:prstClr val="black"/>
                                      </a:solidFill>
                                      <a:latin typeface="Cambria Math" panose="02040503050406030204" pitchFamily="18" charset="0"/>
                                      <a:ea typeface="黑体" panose="02010609060101010101" pitchFamily="49" charset="-122"/>
                                    </a:rPr>
                                    <m:t>𝜏</m:t>
                                  </m:r>
                                </m:sub>
                              </m:sSub>
                              <m:r>
                                <m:rPr>
                                  <m:sty m:val="p"/>
                                </m:rPr>
                                <a:rPr kumimoji="1" lang="zh-CN" altLang="en-US" sz="2800">
                                  <a:solidFill>
                                    <a:prstClr val="black"/>
                                  </a:solidFill>
                                  <a:latin typeface="Cambria Math" panose="02040503050406030204" pitchFamily="18" charset="0"/>
                                  <a:ea typeface="黑体" panose="02010609060101010101" pitchFamily="49" charset="-122"/>
                                </a:rPr>
                                <m:t>d</m:t>
                              </m:r>
                              <m:r>
                                <a:rPr kumimoji="1" lang="zh-CN" altLang="en-US" sz="2800">
                                  <a:solidFill>
                                    <a:prstClr val="black"/>
                                  </a:solidFill>
                                  <a:latin typeface="Cambria Math" panose="02040503050406030204" pitchFamily="18" charset="0"/>
                                  <a:ea typeface="黑体" panose="02010609060101010101" pitchFamily="49" charset="-122"/>
                                </a:rPr>
                                <m:t>𝑠</m:t>
                              </m:r>
                              <m:r>
                                <a:rPr kumimoji="1" lang="zh-CN" altLang="en-US" sz="2800">
                                  <a:solidFill>
                                    <a:prstClr val="black"/>
                                  </a:solidFill>
                                  <a:latin typeface="Cambria Math" panose="02040503050406030204" pitchFamily="18" charset="0"/>
                                  <a:ea typeface="黑体" panose="02010609060101010101" pitchFamily="49" charset="-122"/>
                                </a:rPr>
                                <m:t>,</m:t>
                              </m:r>
                            </m:e>
                          </m:nary>
                        </m:e>
                      </m:nary>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7" name="Object 4">
                <a:extLst>
                  <a:ext uri="{FF2B5EF4-FFF2-40B4-BE49-F238E27FC236}">
                    <a16:creationId xmlns:a16="http://schemas.microsoft.com/office/drawing/2014/main" id="{0A9F6A98-6004-7BE1-D3FA-6E59D548020C}"/>
                  </a:ext>
                </a:extLst>
              </p:cNvPr>
              <p:cNvSpPr txBox="1">
                <a:spLocks noRot="1" noChangeAspect="1" noMove="1" noResize="1" noEditPoints="1" noAdjustHandles="1" noChangeArrowheads="1" noChangeShapeType="1" noTextEdit="1"/>
              </p:cNvSpPr>
              <p:nvPr/>
            </p:nvSpPr>
            <p:spPr bwMode="auto">
              <a:xfrm>
                <a:off x="5990559" y="4934859"/>
                <a:ext cx="4726214" cy="1298640"/>
              </a:xfrm>
              <a:prstGeom prst="rect">
                <a:avLst/>
              </a:prstGeom>
              <a:blipFill>
                <a:blip r:embed="rId6"/>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19761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2F059DEA-CC55-C72E-EC37-9FEE95692221}"/>
              </a:ext>
            </a:extLst>
          </p:cNvPr>
          <p:cNvGrpSpPr/>
          <p:nvPr/>
        </p:nvGrpSpPr>
        <p:grpSpPr>
          <a:xfrm>
            <a:off x="1111250" y="670560"/>
            <a:ext cx="9970770" cy="5509895"/>
            <a:chOff x="1649" y="2344"/>
            <a:chExt cx="16057" cy="7346"/>
          </a:xfrm>
        </p:grpSpPr>
        <p:sp>
          <p:nvSpPr>
            <p:cNvPr id="7" name="矩形 6">
              <a:extLst>
                <a:ext uri="{FF2B5EF4-FFF2-40B4-BE49-F238E27FC236}">
                  <a16:creationId xmlns:a16="http://schemas.microsoft.com/office/drawing/2014/main" id="{416C9C97-82F1-495F-E4B8-87E2A7D423D3}"/>
                </a:ext>
              </a:extLst>
            </p:cNvPr>
            <p:cNvSpPr/>
            <p:nvPr/>
          </p:nvSpPr>
          <p:spPr>
            <a:xfrm>
              <a:off x="1821" y="2483"/>
              <a:ext cx="15885" cy="720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B9A59E4F-24C9-D810-C896-CC1582E96DF1}"/>
                </a:ext>
              </a:extLst>
            </p:cNvPr>
            <p:cNvSpPr/>
            <p:nvPr/>
          </p:nvSpPr>
          <p:spPr>
            <a:xfrm>
              <a:off x="1649" y="2344"/>
              <a:ext cx="15885" cy="7207"/>
            </a:xfrm>
            <a:prstGeom prst="rect">
              <a:avLst/>
            </a:prstGeom>
            <a:solidFill>
              <a:schemeClr val="bg1"/>
            </a:solidFill>
            <a:ln w="317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spcBef>
                  <a:spcPct val="50000"/>
                </a:spcBef>
              </a:pPr>
              <a:endParaRPr lang="zh-CN" altLang="en-US" sz="2800" dirty="0">
                <a:solidFill>
                  <a:srgbClr val="04926A"/>
                </a:solidFill>
                <a:latin typeface="黑体" panose="02010609060101010101" pitchFamily="49" charset="-122"/>
                <a:ea typeface="黑体" panose="02010609060101010101" pitchFamily="49" charset="-122"/>
                <a:sym typeface="+mn-ea"/>
              </a:endParaRPr>
            </a:p>
          </p:txBody>
        </p:sp>
      </p:grpSp>
      <p:sp>
        <p:nvSpPr>
          <p:cNvPr id="2" name="Text Box 3">
            <a:extLst>
              <a:ext uri="{FF2B5EF4-FFF2-40B4-BE49-F238E27FC236}">
                <a16:creationId xmlns:a16="http://schemas.microsoft.com/office/drawing/2014/main" id="{2C97B150-903F-758F-D816-E1B0FC49B282}"/>
              </a:ext>
            </a:extLst>
          </p:cNvPr>
          <p:cNvSpPr txBox="1">
            <a:spLocks noChangeArrowheads="1"/>
          </p:cNvSpPr>
          <p:nvPr/>
        </p:nvSpPr>
        <p:spPr bwMode="auto">
          <a:xfrm>
            <a:off x="2753014" y="2197543"/>
            <a:ext cx="5410200" cy="52322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spcBef>
                <a:spcPct val="50000"/>
              </a:spcBef>
            </a:pPr>
            <a:r>
              <a:rPr kumimoji="1" lang="zh-CN" altLang="en-US" sz="2800" dirty="0">
                <a:solidFill>
                  <a:srgbClr val="04926A"/>
                </a:solidFill>
                <a:latin typeface="Times New Roman" panose="02020603050405020304" pitchFamily="18" charset="0"/>
                <a:ea typeface="黑体" panose="02010609060101010101" pitchFamily="49" charset="-122"/>
              </a:rPr>
              <a:t>斯托克斯公式的物理解释</a:t>
            </a:r>
            <a:r>
              <a:rPr kumimoji="1" lang="en-US" altLang="zh-CN" sz="2800" dirty="0">
                <a:solidFill>
                  <a:srgbClr val="04926A"/>
                </a:solidFill>
                <a:latin typeface="Times New Roman" panose="02020603050405020304" pitchFamily="18" charset="0"/>
                <a:ea typeface="黑体" panose="02010609060101010101" pitchFamily="49" charset="-122"/>
              </a:rPr>
              <a:t>:</a:t>
            </a:r>
          </a:p>
        </p:txBody>
      </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766CFB55-83A8-FC7D-CC9D-B8DE9C7AB989}"/>
                  </a:ext>
                </a:extLst>
              </p:cNvPr>
              <p:cNvSpPr txBox="1"/>
              <p:nvPr/>
            </p:nvSpPr>
            <p:spPr>
              <a:xfrm>
                <a:off x="2725021" y="2720763"/>
                <a:ext cx="7890338" cy="1985972"/>
              </a:xfrm>
              <a:prstGeom prst="rect">
                <a:avLst/>
              </a:prstGeom>
            </p:spPr>
            <p:txBody>
              <a:bodyPr>
                <a:noAutofit/>
              </a:bodyPr>
              <a:lstStyle/>
              <a:p>
                <a:pPr>
                  <a:lnSpc>
                    <a:spcPct val="150000"/>
                  </a:lnSpc>
                </a:pPr>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向量场</m:t>
                      </m:r>
                      <m:r>
                        <a:rPr kumimoji="1" lang="en-US" altLang="zh-CN" sz="2800" b="1" i="1" smtClean="0">
                          <a:solidFill>
                            <a:prstClr val="black"/>
                          </a:solidFill>
                          <a:latin typeface="Cambria Math" panose="02040503050406030204" pitchFamily="18" charset="0"/>
                          <a:ea typeface="黑体" panose="02010609060101010101" pitchFamily="49" charset="-122"/>
                        </a:rPr>
                        <m:t> </m:t>
                      </m:r>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沿有向闭曲线</m:t>
                      </m:r>
                      <m:r>
                        <a:rPr kumimoji="1" lang="zh-CN" altLang="en-US" sz="2800" i="1">
                          <a:solidFill>
                            <a:prstClr val="black"/>
                          </a:solidFill>
                          <a:latin typeface="Cambria Math" panose="02040503050406030204" pitchFamily="18" charset="0"/>
                          <a:ea typeface="黑体" panose="02010609060101010101" pitchFamily="49" charset="-122"/>
                        </a:rPr>
                        <m:t>𝛤</m:t>
                      </m:r>
                      <m:r>
                        <a:rPr kumimoji="1" lang="zh-CN" altLang="en-US" sz="2800">
                          <a:solidFill>
                            <a:prstClr val="black"/>
                          </a:solidFill>
                          <a:latin typeface="Cambria Math" panose="02040503050406030204" pitchFamily="18" charset="0"/>
                          <a:ea typeface="黑体" panose="02010609060101010101" pitchFamily="49" charset="-122"/>
                        </a:rPr>
                        <m:t>的环流量等于</m:t>
                      </m:r>
                    </m:oMath>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向量场</m:t>
                      </m:r>
                      <m:r>
                        <a:rPr kumimoji="1" lang="en-US" altLang="zh-CN" sz="2800" b="1" i="1" smtClean="0">
                          <a:solidFill>
                            <a:prstClr val="black"/>
                          </a:solidFill>
                          <a:latin typeface="Cambria Math" panose="02040503050406030204" pitchFamily="18" charset="0"/>
                          <a:ea typeface="黑体" panose="02010609060101010101" pitchFamily="49" charset="-122"/>
                        </a:rPr>
                        <m:t> </m:t>
                      </m:r>
                      <m:r>
                        <a:rPr kumimoji="1" lang="zh-CN" altLang="en-US" sz="2800" b="1" i="1">
                          <a:solidFill>
                            <a:prstClr val="black"/>
                          </a:solidFill>
                          <a:latin typeface="Cambria Math" panose="02040503050406030204" pitchFamily="18" charset="0"/>
                          <a:ea typeface="黑体" panose="02010609060101010101" pitchFamily="49" charset="-122"/>
                        </a:rPr>
                        <m:t>𝑨</m:t>
                      </m:r>
                      <m:r>
                        <a:rPr kumimoji="1" lang="en-US" altLang="zh-CN" sz="2800" b="1"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的旋度场通过</m:t>
                      </m:r>
                      <m:r>
                        <a:rPr kumimoji="1" lang="zh-CN" altLang="en-US" sz="2800" i="1">
                          <a:solidFill>
                            <a:prstClr val="black"/>
                          </a:solidFill>
                          <a:latin typeface="Cambria Math" panose="02040503050406030204" pitchFamily="18" charset="0"/>
                          <a:ea typeface="黑体" panose="02010609060101010101" pitchFamily="49" charset="-122"/>
                        </a:rPr>
                        <m:t>𝛤</m:t>
                      </m:r>
                      <m:r>
                        <a:rPr kumimoji="1" lang="zh-CN" altLang="en-US" sz="2800">
                          <a:solidFill>
                            <a:prstClr val="black"/>
                          </a:solidFill>
                          <a:latin typeface="Cambria Math" panose="02040503050406030204" pitchFamily="18" charset="0"/>
                          <a:ea typeface="黑体" panose="02010609060101010101" pitchFamily="49" charset="-122"/>
                        </a:rPr>
                        <m:t>所张的曲面的通量</m:t>
                      </m:r>
                      <m:r>
                        <a:rPr kumimoji="1" lang="zh-CN" altLang="en-US" sz="2800">
                          <a:solidFill>
                            <a:prstClr val="black"/>
                          </a:solidFill>
                          <a:latin typeface="Cambria Math" panose="02040503050406030204" pitchFamily="18" charset="0"/>
                          <a:ea typeface="黑体" panose="02010609060101010101" pitchFamily="49" charset="-122"/>
                        </a:rPr>
                        <m:t>.</m:t>
                      </m:r>
                    </m:oMath>
                  </m:oMathPara>
                </a14:m>
                <a:br>
                  <a:rPr kumimoji="1" lang="zh-CN" altLang="en-US" sz="2800" dirty="0">
                    <a:solidFill>
                      <a:prstClr val="black"/>
                    </a:solidFill>
                    <a:latin typeface="Times New Roman" panose="02020603050405020304" pitchFamily="18" charset="0"/>
                    <a:ea typeface="黑体" panose="02010609060101010101" pitchFamily="49" charset="-122"/>
                  </a:rPr>
                </a:br>
                <a14:m>
                  <m:oMath xmlns:m="http://schemas.openxmlformats.org/officeDocument/2006/math">
                    <m:d>
                      <m:dPr>
                        <m:ctrlPr>
                          <a:rPr kumimoji="1" lang="zh-CN" altLang="en-US" sz="2800" b="0" i="1">
                            <a:solidFill>
                              <a:prstClr val="black"/>
                            </a:solidFill>
                            <a:latin typeface="Cambria Math" panose="02040503050406030204" pitchFamily="18" charset="0"/>
                            <a:ea typeface="黑体" panose="02010609060101010101" pitchFamily="49" charset="-122"/>
                          </a:rPr>
                        </m:ctrlPr>
                      </m:dPr>
                      <m:e>
                        <m:r>
                          <a:rPr kumimoji="1" lang="en-US" altLang="zh-CN" sz="2800" b="0" i="1" smtClean="0">
                            <a:solidFill>
                              <a:prstClr val="black"/>
                            </a:solidFill>
                            <a:latin typeface="Cambria Math" panose="02040503050406030204" pitchFamily="18" charset="0"/>
                            <a:ea typeface="黑体" panose="02010609060101010101" pitchFamily="49" charset="-122"/>
                          </a:rPr>
                          <m:t> </m:t>
                        </m:r>
                        <m:r>
                          <a:rPr kumimoji="1" lang="zh-CN" altLang="en-US" sz="2800" i="1">
                            <a:solidFill>
                              <a:prstClr val="black"/>
                            </a:solidFill>
                            <a:latin typeface="Cambria Math" panose="02040503050406030204" pitchFamily="18" charset="0"/>
                            <a:ea typeface="黑体" panose="02010609060101010101" pitchFamily="49" charset="-122"/>
                          </a:rPr>
                          <m:t>𝛤</m:t>
                        </m:r>
                        <m:r>
                          <a:rPr kumimoji="1" lang="en-US" altLang="zh-CN" sz="2800" b="0" i="0"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的正向与</m:t>
                        </m:r>
                        <m:r>
                          <a:rPr kumimoji="1" lang="zh-CN" altLang="en-US" sz="2800" i="1">
                            <a:solidFill>
                              <a:prstClr val="black"/>
                            </a:solidFill>
                            <a:latin typeface="Cambria Math" panose="02040503050406030204" pitchFamily="18" charset="0"/>
                            <a:ea typeface="黑体" panose="02010609060101010101" pitchFamily="49" charset="-122"/>
                          </a:rPr>
                          <m:t>𝛴</m:t>
                        </m:r>
                        <m:r>
                          <a:rPr kumimoji="1" lang="zh-CN" altLang="en-US" sz="2800">
                            <a:solidFill>
                              <a:prstClr val="black"/>
                            </a:solidFill>
                            <a:latin typeface="Cambria Math" panose="02040503050406030204" pitchFamily="18" charset="0"/>
                            <a:ea typeface="黑体" panose="02010609060101010101" pitchFamily="49" charset="-122"/>
                          </a:rPr>
                          <m:t>的侧符合右手法则</m:t>
                        </m:r>
                        <m:r>
                          <a:rPr kumimoji="1" lang="en-US" altLang="zh-CN" sz="2800" b="0" i="0" smtClean="0">
                            <a:solidFill>
                              <a:prstClr val="black"/>
                            </a:solidFill>
                            <a:latin typeface="Cambria Math" panose="02040503050406030204" pitchFamily="18" charset="0"/>
                            <a:ea typeface="黑体" panose="02010609060101010101" pitchFamily="49" charset="-122"/>
                          </a:rPr>
                          <m:t> </m:t>
                        </m:r>
                      </m:e>
                    </m:d>
                  </m:oMath>
                </a14:m>
                <a:r>
                  <a:rPr kumimoji="1" lang="zh-CN" altLang="en-US" sz="2800" dirty="0">
                    <a:solidFill>
                      <a:prstClr val="black"/>
                    </a:solidFill>
                    <a:latin typeface="Times New Roman" panose="02020603050405020304" pitchFamily="18" charset="0"/>
                    <a:ea typeface="黑体" panose="02010609060101010101" pitchFamily="49" charset="-122"/>
                  </a:rPr>
                  <a:t> </a:t>
                </a:r>
              </a:p>
            </p:txBody>
          </p:sp>
        </mc:Choice>
        <mc:Fallback xmlns="">
          <p:sp>
            <p:nvSpPr>
              <p:cNvPr id="3" name="对象 2">
                <a:extLst>
                  <a:ext uri="{FF2B5EF4-FFF2-40B4-BE49-F238E27FC236}">
                    <a16:creationId xmlns:a16="http://schemas.microsoft.com/office/drawing/2014/main" id="{766CFB55-83A8-FC7D-CC9D-B8DE9C7AB989}"/>
                  </a:ext>
                </a:extLst>
              </p:cNvPr>
              <p:cNvSpPr txBox="1">
                <a:spLocks noRot="1" noChangeAspect="1" noMove="1" noResize="1" noEditPoints="1" noAdjustHandles="1" noChangeArrowheads="1" noChangeShapeType="1" noTextEdit="1"/>
              </p:cNvSpPr>
              <p:nvPr/>
            </p:nvSpPr>
            <p:spPr>
              <a:xfrm>
                <a:off x="2725021" y="2720763"/>
                <a:ext cx="7890338" cy="1985972"/>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9232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a:extLst>
              <a:ext uri="{FF2B5EF4-FFF2-40B4-BE49-F238E27FC236}">
                <a16:creationId xmlns:a16="http://schemas.microsoft.com/office/drawing/2014/main" id="{2200CA35-93E2-5B01-1819-CB0C037A6890}"/>
              </a:ext>
            </a:extLst>
          </p:cNvPr>
          <p:cNvGrpSpPr/>
          <p:nvPr/>
        </p:nvGrpSpPr>
        <p:grpSpPr>
          <a:xfrm>
            <a:off x="-3175" y="167"/>
            <a:ext cx="12195175" cy="6873240"/>
            <a:chOff x="-3175" y="-15875"/>
            <a:chExt cx="12195175" cy="6873240"/>
          </a:xfrm>
        </p:grpSpPr>
        <p:grpSp>
          <p:nvGrpSpPr>
            <p:cNvPr id="42" name="组合 41">
              <a:extLst>
                <a:ext uri="{FF2B5EF4-FFF2-40B4-BE49-F238E27FC236}">
                  <a16:creationId xmlns:a16="http://schemas.microsoft.com/office/drawing/2014/main" id="{7E276E88-513F-E639-801F-0A562AD0C98F}"/>
                </a:ext>
              </a:extLst>
            </p:cNvPr>
            <p:cNvGrpSpPr/>
            <p:nvPr/>
          </p:nvGrpSpPr>
          <p:grpSpPr>
            <a:xfrm>
              <a:off x="-3175" y="-15875"/>
              <a:ext cx="12195175" cy="6873240"/>
              <a:chOff x="-20" y="-45"/>
              <a:chExt cx="19205" cy="10824"/>
            </a:xfrm>
          </p:grpSpPr>
          <p:grpSp>
            <p:nvGrpSpPr>
              <p:cNvPr id="52" name="组合 51">
                <a:extLst>
                  <a:ext uri="{FF2B5EF4-FFF2-40B4-BE49-F238E27FC236}">
                    <a16:creationId xmlns:a16="http://schemas.microsoft.com/office/drawing/2014/main" id="{CD4B7203-4CCC-B107-F5A3-1C89C1D73BA8}"/>
                  </a:ext>
                </a:extLst>
              </p:cNvPr>
              <p:cNvGrpSpPr/>
              <p:nvPr/>
            </p:nvGrpSpPr>
            <p:grpSpPr>
              <a:xfrm>
                <a:off x="-20" y="-45"/>
                <a:ext cx="19205" cy="10824"/>
                <a:chOff x="0" y="-24"/>
                <a:chExt cx="19205" cy="10824"/>
              </a:xfrm>
            </p:grpSpPr>
            <p:sp>
              <p:nvSpPr>
                <p:cNvPr id="55" name="Rectangle 1">
                  <a:extLst>
                    <a:ext uri="{FF2B5EF4-FFF2-40B4-BE49-F238E27FC236}">
                      <a16:creationId xmlns:a16="http://schemas.microsoft.com/office/drawing/2014/main" id="{105964B2-3A96-B6F2-F5A8-96480F2D9894}"/>
                    </a:ext>
                  </a:extLst>
                </p:cNvPr>
                <p:cNvSpPr/>
                <p:nvPr/>
              </p:nvSpPr>
              <p:spPr>
                <a:xfrm>
                  <a:off x="0" y="-24"/>
                  <a:ext cx="19205" cy="10824"/>
                </a:xfrm>
                <a:prstGeom prst="rect">
                  <a:avLst/>
                </a:prstGeom>
                <a:gradFill flip="none" rotWithShape="1">
                  <a:gsLst>
                    <a:gs pos="0">
                      <a:srgbClr val="009E47"/>
                    </a:gs>
                    <a:gs pos="55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56" name="PA-102231">
                  <a:extLst>
                    <a:ext uri="{FF2B5EF4-FFF2-40B4-BE49-F238E27FC236}">
                      <a16:creationId xmlns:a16="http://schemas.microsoft.com/office/drawing/2014/main" id="{F3BEB412-9795-C4C1-B4DF-83F9E27FCF39}"/>
                    </a:ext>
                  </a:extLst>
                </p:cNvPr>
                <p:cNvSpPr/>
                <p:nvPr>
                  <p:custDataLst>
                    <p:tags r:id="rId1"/>
                  </p:custDataLst>
                </p:nvPr>
              </p:nvSpPr>
              <p:spPr>
                <a:xfrm>
                  <a:off x="798" y="10042"/>
                  <a:ext cx="8533" cy="169"/>
                </a:xfrm>
                <a:prstGeom prst="rect">
                  <a:avLst/>
                </a:prstGeom>
                <a:solidFill>
                  <a:srgbClr val="068884"/>
                </a:solidFill>
                <a:ln>
                  <a:no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sp>
              <p:nvSpPr>
                <p:cNvPr id="57" name="PA-102231">
                  <a:extLst>
                    <a:ext uri="{FF2B5EF4-FFF2-40B4-BE49-F238E27FC236}">
                      <a16:creationId xmlns:a16="http://schemas.microsoft.com/office/drawing/2014/main" id="{D924EA9F-69F1-54BA-3E38-374C0612AD11}"/>
                    </a:ext>
                  </a:extLst>
                </p:cNvPr>
                <p:cNvSpPr/>
                <p:nvPr>
                  <p:custDataLst>
                    <p:tags r:id="rId2"/>
                  </p:custDataLst>
                </p:nvPr>
              </p:nvSpPr>
              <p:spPr>
                <a:xfrm>
                  <a:off x="9858" y="10050"/>
                  <a:ext cx="8533" cy="162"/>
                </a:xfrm>
                <a:prstGeom prst="rect">
                  <a:avLst/>
                </a:prstGeom>
                <a:solidFill>
                  <a:srgbClr val="068884"/>
                </a:solidFill>
                <a:ln>
                  <a:noFill/>
                </a:ln>
                <a:effectLst>
                  <a:outerShdw blurRad="203200" dist="63500" dir="300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n>
                      <a:solidFill>
                        <a:schemeClr val="bg1">
                          <a:lumMod val="95000"/>
                        </a:schemeClr>
                      </a:solidFill>
                    </a:ln>
                    <a:cs typeface="+mn-ea"/>
                    <a:sym typeface="+mn-lt"/>
                  </a:endParaRPr>
                </a:p>
              </p:txBody>
            </p:sp>
          </p:grpSp>
          <p:sp>
            <p:nvSpPr>
              <p:cNvPr id="54" name="矩形: 折角 16">
                <a:extLst>
                  <a:ext uri="{FF2B5EF4-FFF2-40B4-BE49-F238E27FC236}">
                    <a16:creationId xmlns:a16="http://schemas.microsoft.com/office/drawing/2014/main" id="{A9B14052-D474-AB0D-BA74-E169BAA61AA0}"/>
                  </a:ext>
                </a:extLst>
              </p:cNvPr>
              <p:cNvSpPr/>
              <p:nvPr/>
            </p:nvSpPr>
            <p:spPr>
              <a:xfrm rot="10800000">
                <a:off x="230" y="248"/>
                <a:ext cx="18709" cy="10259"/>
              </a:xfrm>
              <a:prstGeom prst="foldedCorner">
                <a:avLst>
                  <a:gd name="adj" fmla="val 10200"/>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a:extLst>
                <a:ext uri="{FF2B5EF4-FFF2-40B4-BE49-F238E27FC236}">
                  <a16:creationId xmlns:a16="http://schemas.microsoft.com/office/drawing/2014/main" id="{C0C4CC94-449E-3592-9319-2271EBE04E97}"/>
                </a:ext>
              </a:extLst>
            </p:cNvPr>
            <p:cNvGrpSpPr/>
            <p:nvPr/>
          </p:nvGrpSpPr>
          <p:grpSpPr>
            <a:xfrm>
              <a:off x="0" y="239357"/>
              <a:ext cx="12027872" cy="6427310"/>
              <a:chOff x="0" y="239357"/>
              <a:chExt cx="12027872" cy="6427310"/>
            </a:xfrm>
          </p:grpSpPr>
          <p:sp>
            <p:nvSpPr>
              <p:cNvPr id="44" name="Rectangle 1">
                <a:extLst>
                  <a:ext uri="{FF2B5EF4-FFF2-40B4-BE49-F238E27FC236}">
                    <a16:creationId xmlns:a16="http://schemas.microsoft.com/office/drawing/2014/main" id="{E995F9EC-DC33-39EE-B2BB-042FA0533154}"/>
                  </a:ext>
                </a:extLst>
              </p:cNvPr>
              <p:cNvSpPr/>
              <p:nvPr/>
            </p:nvSpPr>
            <p:spPr>
              <a:xfrm>
                <a:off x="297498" y="6471504"/>
                <a:ext cx="82948" cy="81477"/>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5" name="矩形 44">
                <a:extLst>
                  <a:ext uri="{FF2B5EF4-FFF2-40B4-BE49-F238E27FC236}">
                    <a16:creationId xmlns:a16="http://schemas.microsoft.com/office/drawing/2014/main" id="{CB409372-7AC2-BBCB-32F3-390E1F26EEB2}"/>
                  </a:ext>
                </a:extLst>
              </p:cNvPr>
              <p:cNvSpPr/>
              <p:nvPr/>
            </p:nvSpPr>
            <p:spPr>
              <a:xfrm>
                <a:off x="476885" y="6358890"/>
                <a:ext cx="3784600" cy="307777"/>
              </a:xfrm>
              <a:prstGeom prst="rect">
                <a:avLst/>
              </a:prstGeom>
            </p:spPr>
            <p:txBody>
              <a:bodyPr wrap="square">
                <a:spAutoFit/>
              </a:bodyPr>
              <a:lstStyle/>
              <a:p>
                <a:pPr algn="l"/>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第七节</a:t>
                </a:r>
                <a:r>
                  <a:rPr lang="en-US" altLang="zh-CN" sz="1400" kern="1200" dirty="0">
                    <a:solidFill>
                      <a:schemeClr val="bg1">
                        <a:lumMod val="50000"/>
                      </a:schemeClr>
                    </a:solidFill>
                    <a:latin typeface="微软雅黑" panose="020B0503020204020204" pitchFamily="34" charset="-122"/>
                    <a:ea typeface="微软雅黑" panose="020B0503020204020204" pitchFamily="34" charset="-122"/>
                    <a:cs typeface="+mn-cs"/>
                  </a:rPr>
                  <a:t>  </a:t>
                </a:r>
                <a:r>
                  <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rPr>
                  <a:t>斯托克斯公式  环流量与旋度 </a:t>
                </a:r>
                <a:endParaRPr lang="zh-CN" altLang="en-US" sz="1400" kern="1200" dirty="0">
                  <a:solidFill>
                    <a:schemeClr val="bg1">
                      <a:lumMod val="50000"/>
                    </a:schemeClr>
                  </a:solidFill>
                  <a:latin typeface="微软雅黑" panose="020B0503020204020204" pitchFamily="34" charset="-122"/>
                  <a:ea typeface="微软雅黑" panose="020B0503020204020204" pitchFamily="34" charset="-122"/>
                  <a:cs typeface="+mn-cs"/>
                  <a:sym typeface="+mn-ea"/>
                </a:endParaRPr>
              </a:p>
            </p:txBody>
          </p:sp>
          <p:sp>
            <p:nvSpPr>
              <p:cNvPr id="46" name="Rectangle 1">
                <a:extLst>
                  <a:ext uri="{FF2B5EF4-FFF2-40B4-BE49-F238E27FC236}">
                    <a16:creationId xmlns:a16="http://schemas.microsoft.com/office/drawing/2014/main" id="{F1F84CAD-09E2-8F04-DA57-53B65B39C465}"/>
                  </a:ext>
                </a:extLst>
              </p:cNvPr>
              <p:cNvSpPr/>
              <p:nvPr/>
            </p:nvSpPr>
            <p:spPr>
              <a:xfrm rot="2659048">
                <a:off x="9060538" y="323227"/>
                <a:ext cx="147664" cy="140036"/>
              </a:xfrm>
              <a:prstGeom prst="rect">
                <a:avLst/>
              </a:prstGeom>
              <a:gradFill flip="none" rotWithShape="1">
                <a:gsLst>
                  <a:gs pos="0">
                    <a:srgbClr val="009E47">
                      <a:alpha val="73000"/>
                    </a:srgbClr>
                  </a:gs>
                  <a:gs pos="61000">
                    <a:srgbClr val="039463"/>
                  </a:gs>
                  <a:gs pos="100000">
                    <a:srgbClr val="068885"/>
                  </a:gs>
                </a:gsLst>
                <a:path path="circle">
                  <a:fillToRect t="100000" r="100000"/>
                </a:path>
                <a:tileRect l="-100000" b="-10000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47" name="矩形 46">
                <a:extLst>
                  <a:ext uri="{FF2B5EF4-FFF2-40B4-BE49-F238E27FC236}">
                    <a16:creationId xmlns:a16="http://schemas.microsoft.com/office/drawing/2014/main" id="{AB73AC66-D6F2-1929-549F-5CBC96BDDCD7}"/>
                  </a:ext>
                </a:extLst>
              </p:cNvPr>
              <p:cNvSpPr/>
              <p:nvPr/>
            </p:nvSpPr>
            <p:spPr>
              <a:xfrm>
                <a:off x="9315710" y="239357"/>
                <a:ext cx="2677336" cy="307777"/>
              </a:xfrm>
              <a:prstGeom prst="rect">
                <a:avLst/>
              </a:prstGeom>
            </p:spPr>
            <p:txBody>
              <a:bodyPr wrap="none">
                <a:spAutoFit/>
              </a:bodyPr>
              <a:lstStyle/>
              <a:p>
                <a:r>
                  <a:rPr lang="zh-CN" altLang="en-US" sz="1400" dirty="0">
                    <a:solidFill>
                      <a:schemeClr val="bg1">
                        <a:lumMod val="50000"/>
                      </a:schemeClr>
                    </a:solidFill>
                    <a:latin typeface="微软雅黑" panose="020B0503020204020204" pitchFamily="34" charset="-122"/>
                    <a:ea typeface="微软雅黑" panose="020B0503020204020204" pitchFamily="34" charset="-122"/>
                  </a:rPr>
                  <a:t>第十一章   曲线积分与曲面积分</a:t>
                </a:r>
              </a:p>
            </p:txBody>
          </p:sp>
          <p:cxnSp>
            <p:nvCxnSpPr>
              <p:cNvPr id="48" name="直接连接符 47">
                <a:extLst>
                  <a:ext uri="{FF2B5EF4-FFF2-40B4-BE49-F238E27FC236}">
                    <a16:creationId xmlns:a16="http://schemas.microsoft.com/office/drawing/2014/main" id="{FF45E117-5F37-E412-5A39-D360887074FB}"/>
                  </a:ext>
                </a:extLst>
              </p:cNvPr>
              <p:cNvCxnSpPr>
                <a:cxnSpLocks/>
              </p:cNvCxnSpPr>
              <p:nvPr/>
            </p:nvCxnSpPr>
            <p:spPr>
              <a:xfrm>
                <a:off x="0" y="393245"/>
                <a:ext cx="8793692" cy="0"/>
              </a:xfrm>
              <a:prstGeom prst="line">
                <a:avLst/>
              </a:prstGeom>
              <a:ln>
                <a:solidFill>
                  <a:srgbClr val="00926A"/>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04F4565-197D-270A-7C47-65FDB7B45DA6}"/>
                  </a:ext>
                </a:extLst>
              </p:cNvPr>
              <p:cNvCxnSpPr>
                <a:cxnSpLocks/>
              </p:cNvCxnSpPr>
              <p:nvPr/>
            </p:nvCxnSpPr>
            <p:spPr>
              <a:xfrm>
                <a:off x="3675872" y="6512242"/>
                <a:ext cx="83520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18" name="Text Box 356">
                <a:extLst>
                  <a:ext uri="{FF2B5EF4-FFF2-40B4-BE49-F238E27FC236}">
                    <a16:creationId xmlns:a16="http://schemas.microsoft.com/office/drawing/2014/main" id="{A7D57418-46E8-C373-F421-7AAB4E300F5B}"/>
                  </a:ext>
                </a:extLst>
              </p:cNvPr>
              <p:cNvSpPr txBox="1">
                <a:spLocks noChangeArrowheads="1"/>
              </p:cNvSpPr>
              <p:nvPr/>
            </p:nvSpPr>
            <p:spPr bwMode="auto">
              <a:xfrm>
                <a:off x="825501" y="1086695"/>
                <a:ext cx="3785011"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r>
                  <a:rPr kumimoji="1" lang="zh-CN" altLang="en-US" sz="2800" dirty="0">
                    <a:solidFill>
                      <a:prstClr val="black"/>
                    </a:solidFill>
                    <a:latin typeface="Times New Roman" panose="02020603050405020304" pitchFamily="18" charset="0"/>
                    <a:ea typeface="黑体" panose="02010609060101010101" pitchFamily="49" charset="-122"/>
                  </a:rPr>
                  <a:t>设某刚体绕定轴 </a:t>
                </a:r>
                <a14:m>
                  <m:oMath xmlns:m="http://schemas.openxmlformats.org/officeDocument/2006/math">
                    <m:r>
                      <a:rPr kumimoji="1" lang="en-US" altLang="zh-CN" sz="2800" i="1">
                        <a:solidFill>
                          <a:prstClr val="black"/>
                        </a:solidFill>
                        <a:latin typeface="Cambria Math" panose="02040503050406030204" pitchFamily="18" charset="0"/>
                        <a:ea typeface="黑体" panose="02010609060101010101" pitchFamily="49" charset="-122"/>
                      </a:rPr>
                      <m:t>𝑙</m:t>
                    </m:r>
                  </m:oMath>
                </a14:m>
                <a:r>
                  <a:rPr kumimoji="1" lang="en-US" altLang="zh-CN" sz="2800" dirty="0">
                    <a:solidFill>
                      <a:prstClr val="black"/>
                    </a:solidFill>
                    <a:latin typeface="Times New Roman" panose="02020603050405020304" pitchFamily="18" charset="0"/>
                    <a:ea typeface="黑体" panose="02010609060101010101" pitchFamily="49" charset="-122"/>
                  </a:rPr>
                  <a:t> </a:t>
                </a:r>
                <a:r>
                  <a:rPr kumimoji="1" lang="zh-CN" altLang="en-US" sz="2800" dirty="0">
                    <a:solidFill>
                      <a:prstClr val="black"/>
                    </a:solidFill>
                    <a:latin typeface="Times New Roman" panose="02020603050405020304" pitchFamily="18" charset="0"/>
                    <a:ea typeface="黑体" panose="02010609060101010101" pitchFamily="49" charset="-122"/>
                  </a:rPr>
                  <a:t>转动</a:t>
                </a:r>
                <a14:m>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m:t>
                    </m:r>
                  </m:oMath>
                </a14:m>
                <a:endParaRPr kumimoji="1" lang="en-US" altLang="zh-CN"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18" name="Text Box 356">
                <a:extLst>
                  <a:ext uri="{FF2B5EF4-FFF2-40B4-BE49-F238E27FC236}">
                    <a16:creationId xmlns:a16="http://schemas.microsoft.com/office/drawing/2014/main" id="{A7D57418-46E8-C373-F421-7AAB4E300F5B}"/>
                  </a:ext>
                </a:extLst>
              </p:cNvPr>
              <p:cNvSpPr txBox="1">
                <a:spLocks noRot="1" noChangeAspect="1" noMove="1" noResize="1" noEditPoints="1" noAdjustHandles="1" noChangeArrowheads="1" noChangeShapeType="1" noTextEdit="1"/>
              </p:cNvSpPr>
              <p:nvPr/>
            </p:nvSpPr>
            <p:spPr bwMode="auto">
              <a:xfrm>
                <a:off x="825501" y="1086695"/>
                <a:ext cx="3785011" cy="523220"/>
              </a:xfrm>
              <a:prstGeom prst="rect">
                <a:avLst/>
              </a:prstGeom>
              <a:blipFill>
                <a:blip r:embed="rId5"/>
                <a:stretch>
                  <a:fillRect l="-3221" t="-15116" r="-483"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 Box 357">
                <a:extLst>
                  <a:ext uri="{FF2B5EF4-FFF2-40B4-BE49-F238E27FC236}">
                    <a16:creationId xmlns:a16="http://schemas.microsoft.com/office/drawing/2014/main" id="{DFBE1BD5-C9D0-D7E5-1808-3C6C199B5953}"/>
                  </a:ext>
                </a:extLst>
              </p:cNvPr>
              <p:cNvSpPr txBox="1">
                <a:spLocks noChangeArrowheads="1"/>
              </p:cNvSpPr>
              <p:nvPr/>
            </p:nvSpPr>
            <p:spPr bwMode="auto">
              <a:xfrm>
                <a:off x="6274226" y="1099395"/>
                <a:ext cx="3642857" cy="95410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eaLnBrk="0" hangingPunct="0"/>
                <a14:m>
                  <m:oMath xmlns:m="http://schemas.openxmlformats.org/officeDocument/2006/math">
                    <m:r>
                      <a:rPr kumimoji="1" lang="zh-CN" altLang="en-US" sz="2800">
                        <a:solidFill>
                          <a:schemeClr val="tx1">
                            <a:lumMod val="95000"/>
                            <a:lumOff val="5000"/>
                          </a:schemeClr>
                        </a:solidFill>
                        <a:latin typeface="Cambria Math" panose="02040503050406030204" charset="0"/>
                        <a:ea typeface="黑体" panose="02010609060101010101" pitchFamily="49" charset="-122"/>
                      </a:rPr>
                      <m:t>𝑀</m:t>
                    </m:r>
                  </m:oMath>
                </a14:m>
                <a:r>
                  <a:rPr kumimoji="1" lang="zh-CN" altLang="en-US" sz="2800" dirty="0">
                    <a:solidFill>
                      <a:prstClr val="black"/>
                    </a:solidFill>
                    <a:latin typeface="Times New Roman" panose="02020603050405020304" pitchFamily="18" charset="0"/>
                    <a:ea typeface="黑体" panose="02010609060101010101" pitchFamily="49" charset="-122"/>
                  </a:rPr>
                  <a:t> 为刚体上任一点</a:t>
                </a:r>
                <a14:m>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m:t>
                    </m:r>
                  </m:oMath>
                </a14:m>
                <a:endParaRPr kumimoji="1" lang="en-US" altLang="zh-CN" sz="2800" dirty="0">
                  <a:solidFill>
                    <a:prstClr val="black"/>
                  </a:solidFill>
                  <a:latin typeface="Times New Roman" panose="02020603050405020304" pitchFamily="18" charset="0"/>
                  <a:ea typeface="黑体" panose="02010609060101010101" pitchFamily="49" charset="-122"/>
                </a:endParaRPr>
              </a:p>
              <a:p>
                <a:pPr eaLnBrk="0" hangingPunct="0"/>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19" name="Text Box 357">
                <a:extLst>
                  <a:ext uri="{FF2B5EF4-FFF2-40B4-BE49-F238E27FC236}">
                    <a16:creationId xmlns:a16="http://schemas.microsoft.com/office/drawing/2014/main" id="{DFBE1BD5-C9D0-D7E5-1808-3C6C199B5953}"/>
                  </a:ext>
                </a:extLst>
              </p:cNvPr>
              <p:cNvSpPr txBox="1">
                <a:spLocks noRot="1" noChangeAspect="1" noMove="1" noResize="1" noEditPoints="1" noAdjustHandles="1" noChangeArrowheads="1" noChangeShapeType="1" noTextEdit="1"/>
              </p:cNvSpPr>
              <p:nvPr/>
            </p:nvSpPr>
            <p:spPr bwMode="auto">
              <a:xfrm>
                <a:off x="6274226" y="1099395"/>
                <a:ext cx="3642857" cy="954107"/>
              </a:xfrm>
              <a:prstGeom prst="rect">
                <a:avLst/>
              </a:prstGeom>
              <a:blipFill>
                <a:blip r:embed="rId6"/>
                <a:stretch>
                  <a:fillRect t="-828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0" name="Text Box 358">
            <a:extLst>
              <a:ext uri="{FF2B5EF4-FFF2-40B4-BE49-F238E27FC236}">
                <a16:creationId xmlns:a16="http://schemas.microsoft.com/office/drawing/2014/main" id="{325EF2B2-2C84-48A9-4F95-0FCFA2D1CD61}"/>
              </a:ext>
            </a:extLst>
          </p:cNvPr>
          <p:cNvSpPr txBox="1">
            <a:spLocks noChangeArrowheads="1"/>
          </p:cNvSpPr>
          <p:nvPr/>
        </p:nvSpPr>
        <p:spPr bwMode="auto">
          <a:xfrm>
            <a:off x="825501" y="1600725"/>
            <a:ext cx="10413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endParaRPr kumimoji="1" lang="en-US" altLang="zh-CN" sz="2800" dirty="0">
              <a:solidFill>
                <a:prstClr val="black"/>
              </a:solidFill>
              <a:latin typeface="Times New Roman" panose="02020603050405020304" pitchFamily="18"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21" name="Text Box 359">
                <a:extLst>
                  <a:ext uri="{FF2B5EF4-FFF2-40B4-BE49-F238E27FC236}">
                    <a16:creationId xmlns:a16="http://schemas.microsoft.com/office/drawing/2014/main" id="{74CAA9FF-875A-6546-9AE6-60416257DB53}"/>
                  </a:ext>
                </a:extLst>
              </p:cNvPr>
              <p:cNvSpPr txBox="1">
                <a:spLocks noChangeArrowheads="1"/>
              </p:cNvSpPr>
              <p:nvPr/>
            </p:nvSpPr>
            <p:spPr bwMode="auto">
              <a:xfrm>
                <a:off x="838555" y="1600725"/>
                <a:ext cx="2053767"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r>
                  <a:rPr kumimoji="1" lang="zh-CN" altLang="en-US" sz="2800" dirty="0">
                    <a:solidFill>
                      <a:prstClr val="black"/>
                    </a:solidFill>
                    <a:latin typeface="Times New Roman" panose="02020603050405020304" pitchFamily="18" charset="0"/>
                    <a:ea typeface="黑体" panose="02010609060101010101" pitchFamily="49" charset="-122"/>
                  </a:rPr>
                  <a:t>建立坐标系</a:t>
                </a:r>
                <a14:m>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m:t>
                    </m:r>
                  </m:oMath>
                </a14:m>
                <a:endParaRPr kumimoji="1" lang="en-US" altLang="zh-CN"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21" name="Text Box 359">
                <a:extLst>
                  <a:ext uri="{FF2B5EF4-FFF2-40B4-BE49-F238E27FC236}">
                    <a16:creationId xmlns:a16="http://schemas.microsoft.com/office/drawing/2014/main" id="{74CAA9FF-875A-6546-9AE6-60416257DB53}"/>
                  </a:ext>
                </a:extLst>
              </p:cNvPr>
              <p:cNvSpPr txBox="1">
                <a:spLocks noRot="1" noChangeAspect="1" noMove="1" noResize="1" noEditPoints="1" noAdjustHandles="1" noChangeArrowheads="1" noChangeShapeType="1" noTextEdit="1"/>
              </p:cNvSpPr>
              <p:nvPr/>
            </p:nvSpPr>
            <p:spPr bwMode="auto">
              <a:xfrm>
                <a:off x="838555" y="1600725"/>
                <a:ext cx="2053767" cy="523220"/>
              </a:xfrm>
              <a:prstGeom prst="rect">
                <a:avLst/>
              </a:prstGeom>
              <a:blipFill>
                <a:blip r:embed="rId7"/>
                <a:stretch>
                  <a:fillRect l="-6250" t="-16471" r="-1786" b="-294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2" name="Text Box 363">
            <a:extLst>
              <a:ext uri="{FF2B5EF4-FFF2-40B4-BE49-F238E27FC236}">
                <a16:creationId xmlns:a16="http://schemas.microsoft.com/office/drawing/2014/main" id="{48AB98B1-E872-C0C9-A6C2-69D68AC7BD89}"/>
              </a:ext>
            </a:extLst>
          </p:cNvPr>
          <p:cNvSpPr txBox="1">
            <a:spLocks noChangeArrowheads="1"/>
          </p:cNvSpPr>
          <p:nvPr/>
        </p:nvSpPr>
        <p:spPr bwMode="auto">
          <a:xfrm>
            <a:off x="2719714" y="1609715"/>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kumimoji="1" lang="zh-CN" altLang="en-US" sz="2800" dirty="0">
                <a:solidFill>
                  <a:prstClr val="black"/>
                </a:solidFill>
                <a:latin typeface="Times New Roman" panose="02020603050405020304" pitchFamily="18" charset="0"/>
                <a:ea typeface="黑体" panose="02010609060101010101" pitchFamily="49" charset="-122"/>
              </a:rPr>
              <a:t>则</a:t>
            </a:r>
          </a:p>
        </p:txBody>
      </p:sp>
      <mc:AlternateContent xmlns:mc="http://schemas.openxmlformats.org/markup-compatibility/2006" xmlns:a14="http://schemas.microsoft.com/office/drawing/2010/main">
        <mc:Choice Requires="a14">
          <p:sp>
            <p:nvSpPr>
              <p:cNvPr id="23" name="Object 366">
                <a:extLst>
                  <a:ext uri="{FF2B5EF4-FFF2-40B4-BE49-F238E27FC236}">
                    <a16:creationId xmlns:a16="http://schemas.microsoft.com/office/drawing/2014/main" id="{D7E24455-3B39-6269-16B9-A5DC65500F67}"/>
                  </a:ext>
                </a:extLst>
              </p:cNvPr>
              <p:cNvSpPr txBox="1"/>
              <p:nvPr/>
            </p:nvSpPr>
            <p:spPr bwMode="auto">
              <a:xfrm>
                <a:off x="5211395" y="1606483"/>
                <a:ext cx="2125662" cy="4556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b="1" i="1">
                          <a:solidFill>
                            <a:prstClr val="black"/>
                          </a:solidFill>
                          <a:latin typeface="Cambria Math" panose="02040503050406030204" pitchFamily="18" charset="0"/>
                          <a:ea typeface="黑体" panose="02010609060101010101" pitchFamily="49" charset="-122"/>
                        </a:rPr>
                        <m:t>𝒓</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23" name="Object 366">
                <a:extLst>
                  <a:ext uri="{FF2B5EF4-FFF2-40B4-BE49-F238E27FC236}">
                    <a16:creationId xmlns:a16="http://schemas.microsoft.com/office/drawing/2014/main" id="{D7E24455-3B39-6269-16B9-A5DC65500F67}"/>
                  </a:ext>
                </a:extLst>
              </p:cNvPr>
              <p:cNvSpPr txBox="1">
                <a:spLocks noRot="1" noChangeAspect="1" noMove="1" noResize="1" noEditPoints="1" noAdjustHandles="1" noChangeArrowheads="1" noChangeShapeType="1" noTextEdit="1"/>
              </p:cNvSpPr>
              <p:nvPr/>
            </p:nvSpPr>
            <p:spPr bwMode="auto">
              <a:xfrm>
                <a:off x="5211395" y="1606483"/>
                <a:ext cx="2125662" cy="455612"/>
              </a:xfrm>
              <a:prstGeom prst="rect">
                <a:avLst/>
              </a:prstGeom>
              <a:blipFill>
                <a:blip r:embed="rId8"/>
                <a:stretch>
                  <a:fillRect b="-270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Text Box 369">
                <a:extLst>
                  <a:ext uri="{FF2B5EF4-FFF2-40B4-BE49-F238E27FC236}">
                    <a16:creationId xmlns:a16="http://schemas.microsoft.com/office/drawing/2014/main" id="{E6D924AF-0BEA-0523-370F-FA5E9477A356}"/>
                  </a:ext>
                </a:extLst>
              </p:cNvPr>
              <p:cNvSpPr txBox="1">
                <a:spLocks noChangeArrowheads="1"/>
              </p:cNvSpPr>
              <p:nvPr/>
            </p:nvSpPr>
            <p:spPr bwMode="auto">
              <a:xfrm>
                <a:off x="4433906" y="1110507"/>
                <a:ext cx="2023311"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r>
                  <a:rPr kumimoji="1" lang="zh-CN" altLang="en-US" sz="2800" dirty="0">
                    <a:solidFill>
                      <a:prstClr val="black"/>
                    </a:solidFill>
                    <a:latin typeface="Times New Roman" panose="02020603050405020304" pitchFamily="18" charset="0"/>
                    <a:ea typeface="黑体" panose="02010609060101010101" pitchFamily="49" charset="-122"/>
                  </a:rPr>
                  <a:t>角速度为</a:t>
                </a:r>
                <a14:m>
                  <m:oMath xmlns:m="http://schemas.openxmlformats.org/officeDocument/2006/math">
                    <m:r>
                      <a:rPr kumimoji="1" lang="zh-CN" altLang="en-US" sz="2800" b="1" i="1">
                        <a:solidFill>
                          <a:prstClr val="black"/>
                        </a:solidFill>
                        <a:latin typeface="Cambria Math" panose="02040503050406030204" pitchFamily="18" charset="0"/>
                        <a:ea typeface="黑体" panose="02010609060101010101" pitchFamily="49" charset="-122"/>
                      </a:rPr>
                      <m:t>𝝎</m:t>
                    </m:r>
                    <m:r>
                      <a:rPr kumimoji="1" lang="zh-CN" altLang="en-US" sz="2800">
                        <a:solidFill>
                          <a:prstClr val="black"/>
                        </a:solidFill>
                        <a:latin typeface="Cambria Math" panose="02040503050406030204" pitchFamily="18" charset="0"/>
                        <a:ea typeface="黑体" panose="02010609060101010101" pitchFamily="49" charset="-122"/>
                      </a:rPr>
                      <m:t>,</m:t>
                    </m:r>
                  </m:oMath>
                </a14:m>
                <a:endParaRPr kumimoji="1" lang="en-US" altLang="zh-CN"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24" name="Text Box 369">
                <a:extLst>
                  <a:ext uri="{FF2B5EF4-FFF2-40B4-BE49-F238E27FC236}">
                    <a16:creationId xmlns:a16="http://schemas.microsoft.com/office/drawing/2014/main" id="{E6D924AF-0BEA-0523-370F-FA5E9477A356}"/>
                  </a:ext>
                </a:extLst>
              </p:cNvPr>
              <p:cNvSpPr txBox="1">
                <a:spLocks noRot="1" noChangeAspect="1" noMove="1" noResize="1" noEditPoints="1" noAdjustHandles="1" noChangeArrowheads="1" noChangeShapeType="1" noTextEdit="1"/>
              </p:cNvSpPr>
              <p:nvPr/>
            </p:nvSpPr>
            <p:spPr bwMode="auto">
              <a:xfrm>
                <a:off x="4433906" y="1110507"/>
                <a:ext cx="2023311" cy="523220"/>
              </a:xfrm>
              <a:prstGeom prst="rect">
                <a:avLst/>
              </a:prstGeom>
              <a:blipFill>
                <a:blip r:embed="rId9"/>
                <a:stretch>
                  <a:fillRect l="-6024" t="-15116"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Object 375">
                <a:extLst>
                  <a:ext uri="{FF2B5EF4-FFF2-40B4-BE49-F238E27FC236}">
                    <a16:creationId xmlns:a16="http://schemas.microsoft.com/office/drawing/2014/main" id="{0D377F40-23E9-52E6-ED60-B6065937BC7F}"/>
                  </a:ext>
                </a:extLst>
              </p:cNvPr>
              <p:cNvSpPr txBox="1"/>
              <p:nvPr/>
            </p:nvSpPr>
            <p:spPr bwMode="auto">
              <a:xfrm>
                <a:off x="3145252" y="1565662"/>
                <a:ext cx="2260047" cy="45561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b="1" i="1" smtClean="0">
                          <a:solidFill>
                            <a:prstClr val="black"/>
                          </a:solidFill>
                          <a:latin typeface="Cambria Math" panose="02040503050406030204" pitchFamily="18" charset="0"/>
                          <a:ea typeface="黑体" panose="02010609060101010101" pitchFamily="49" charset="-122"/>
                        </a:rPr>
                        <m:t>𝝎</m:t>
                      </m:r>
                      <m:r>
                        <a:rPr kumimoji="1" lang="zh-CN" altLang="en-US" sz="2800" smtClean="0">
                          <a:solidFill>
                            <a:prstClr val="black"/>
                          </a:solidFill>
                          <a:latin typeface="Cambria Math" panose="02040503050406030204" pitchFamily="18" charset="0"/>
                          <a:ea typeface="黑体" panose="02010609060101010101" pitchFamily="49" charset="-122"/>
                        </a:rPr>
                        <m:t>=(0,0,</m:t>
                      </m:r>
                      <m:r>
                        <a:rPr kumimoji="1" lang="zh-CN" altLang="en-US" sz="2800" i="1" smtClean="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𝜔</m:t>
                      </m:r>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25" name="Object 375">
                <a:extLst>
                  <a:ext uri="{FF2B5EF4-FFF2-40B4-BE49-F238E27FC236}">
                    <a16:creationId xmlns:a16="http://schemas.microsoft.com/office/drawing/2014/main" id="{0D377F40-23E9-52E6-ED60-B6065937BC7F}"/>
                  </a:ext>
                </a:extLst>
              </p:cNvPr>
              <p:cNvSpPr txBox="1">
                <a:spLocks noRot="1" noChangeAspect="1" noMove="1" noResize="1" noEditPoints="1" noAdjustHandles="1" noChangeArrowheads="1" noChangeShapeType="1" noTextEdit="1"/>
              </p:cNvSpPr>
              <p:nvPr/>
            </p:nvSpPr>
            <p:spPr bwMode="auto">
              <a:xfrm>
                <a:off x="3145252" y="1565662"/>
                <a:ext cx="2260047" cy="455612"/>
              </a:xfrm>
              <a:prstGeom prst="rect">
                <a:avLst/>
              </a:prstGeom>
              <a:blipFill>
                <a:blip r:embed="rId10"/>
                <a:stretch>
                  <a:fillRect b="-2667"/>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 Box 377">
                <a:extLst>
                  <a:ext uri="{FF2B5EF4-FFF2-40B4-BE49-F238E27FC236}">
                    <a16:creationId xmlns:a16="http://schemas.microsoft.com/office/drawing/2014/main" id="{DF59B52A-44FE-1138-0F51-B243A1F121FA}"/>
                  </a:ext>
                </a:extLst>
              </p:cNvPr>
              <p:cNvSpPr txBox="1">
                <a:spLocks noChangeArrowheads="1"/>
              </p:cNvSpPr>
              <p:nvPr/>
            </p:nvSpPr>
            <p:spPr bwMode="auto">
              <a:xfrm>
                <a:off x="7094707" y="1638400"/>
                <a:ext cx="2822376" cy="52322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eaLnBrk="0" hangingPunct="0"/>
                <a:r>
                  <a:rPr kumimoji="1" lang="zh-CN" altLang="en-US" sz="2800" dirty="0">
                    <a:solidFill>
                      <a:prstClr val="black"/>
                    </a:solidFill>
                    <a:latin typeface="Times New Roman" panose="02020603050405020304" pitchFamily="18" charset="0"/>
                    <a:ea typeface="黑体" panose="02010609060101010101" pitchFamily="49" charset="-122"/>
                  </a:rPr>
                  <a:t>点</a:t>
                </a:r>
                <a14:m>
                  <m:oMath xmlns:m="http://schemas.openxmlformats.org/officeDocument/2006/math">
                    <m:r>
                      <a:rPr kumimoji="1" lang="en-US" altLang="zh-CN" sz="2800" b="0" i="0" smtClean="0">
                        <a:solidFill>
                          <a:schemeClr val="tx1">
                            <a:lumMod val="95000"/>
                            <a:lumOff val="5000"/>
                          </a:schemeClr>
                        </a:solidFill>
                        <a:latin typeface="Cambria Math" panose="02040503050406030204" pitchFamily="18" charset="0"/>
                        <a:ea typeface="黑体" panose="02010609060101010101" pitchFamily="49" charset="-122"/>
                      </a:rPr>
                      <m:t> </m:t>
                    </m:r>
                    <m:r>
                      <a:rPr kumimoji="1" lang="zh-CN" altLang="en-US" sz="2800">
                        <a:solidFill>
                          <a:schemeClr val="tx1">
                            <a:lumMod val="95000"/>
                            <a:lumOff val="5000"/>
                          </a:schemeClr>
                        </a:solidFill>
                        <a:latin typeface="Cambria Math" panose="02040503050406030204" charset="0"/>
                        <a:ea typeface="黑体" panose="02010609060101010101" pitchFamily="49" charset="-122"/>
                      </a:rPr>
                      <m:t>𝑀</m:t>
                    </m:r>
                  </m:oMath>
                </a14:m>
                <a:r>
                  <a:rPr kumimoji="1" lang="zh-CN" altLang="en-US" sz="2800" dirty="0">
                    <a:solidFill>
                      <a:prstClr val="black"/>
                    </a:solidFill>
                    <a:latin typeface="Times New Roman" panose="02020603050405020304" pitchFamily="18" charset="0"/>
                    <a:ea typeface="黑体" panose="02010609060101010101" pitchFamily="49" charset="-122"/>
                  </a:rPr>
                  <a:t> 的线速度为</a:t>
                </a:r>
              </a:p>
            </p:txBody>
          </p:sp>
        </mc:Choice>
        <mc:Fallback xmlns="">
          <p:sp>
            <p:nvSpPr>
              <p:cNvPr id="26" name="Text Box 377">
                <a:extLst>
                  <a:ext uri="{FF2B5EF4-FFF2-40B4-BE49-F238E27FC236}">
                    <a16:creationId xmlns:a16="http://schemas.microsoft.com/office/drawing/2014/main" id="{DF59B52A-44FE-1138-0F51-B243A1F121FA}"/>
                  </a:ext>
                </a:extLst>
              </p:cNvPr>
              <p:cNvSpPr txBox="1">
                <a:spLocks noRot="1" noChangeAspect="1" noMove="1" noResize="1" noEditPoints="1" noAdjustHandles="1" noChangeArrowheads="1" noChangeShapeType="1" noTextEdit="1"/>
              </p:cNvSpPr>
              <p:nvPr/>
            </p:nvSpPr>
            <p:spPr bwMode="auto">
              <a:xfrm>
                <a:off x="7094707" y="1638400"/>
                <a:ext cx="2822376" cy="523220"/>
              </a:xfrm>
              <a:prstGeom prst="rect">
                <a:avLst/>
              </a:prstGeom>
              <a:blipFill>
                <a:blip r:embed="rId11"/>
                <a:stretch>
                  <a:fillRect l="-4536" t="-16279" r="-3024" b="-2790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Object 380">
                <a:extLst>
                  <a:ext uri="{FF2B5EF4-FFF2-40B4-BE49-F238E27FC236}">
                    <a16:creationId xmlns:a16="http://schemas.microsoft.com/office/drawing/2014/main" id="{4F09A23A-A318-4D2C-0F6A-FAA18AB0EC3D}"/>
                  </a:ext>
                </a:extLst>
              </p:cNvPr>
              <p:cNvSpPr txBox="1"/>
              <p:nvPr/>
            </p:nvSpPr>
            <p:spPr bwMode="auto">
              <a:xfrm>
                <a:off x="795687" y="2863918"/>
                <a:ext cx="2096635" cy="52321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b="1" i="1" smtClean="0">
                          <a:solidFill>
                            <a:prstClr val="black"/>
                          </a:solidFill>
                          <a:latin typeface="Cambria Math" panose="02040503050406030204" pitchFamily="18" charset="0"/>
                          <a:ea typeface="黑体" panose="02010609060101010101" pitchFamily="49" charset="-122"/>
                        </a:rPr>
                        <m:t>𝒗</m:t>
                      </m:r>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𝝎</m:t>
                      </m:r>
                      <m:r>
                        <a:rPr kumimoji="1" lang="zh-CN" altLang="en-US" sz="2800" smtClean="0">
                          <a:solidFill>
                            <a:prstClr val="black"/>
                          </a:solidFill>
                          <a:latin typeface="Cambria Math" panose="02040503050406030204" pitchFamily="18" charset="0"/>
                          <a:ea typeface="黑体" panose="02010609060101010101" pitchFamily="49" charset="-122"/>
                        </a:rPr>
                        <m:t>×</m:t>
                      </m:r>
                      <m:r>
                        <a:rPr kumimoji="1" lang="zh-CN" altLang="en-US" sz="2800" b="1" i="1">
                          <a:solidFill>
                            <a:prstClr val="black"/>
                          </a:solidFill>
                          <a:latin typeface="Cambria Math" panose="02040503050406030204" pitchFamily="18" charset="0"/>
                          <a:ea typeface="黑体" panose="02010609060101010101" pitchFamily="49" charset="-122"/>
                        </a:rPr>
                        <m:t>𝒓</m:t>
                      </m:r>
                    </m:oMath>
                  </m:oMathPara>
                </a14:m>
                <a:endParaRPr kumimoji="1" lang="zh-CN" altLang="en-US" sz="2800" b="1" i="1" dirty="0">
                  <a:solidFill>
                    <a:prstClr val="black"/>
                  </a:solidFill>
                  <a:latin typeface="Times New Roman" panose="02020603050405020304" pitchFamily="18" charset="0"/>
                  <a:ea typeface="黑体" panose="02010609060101010101" pitchFamily="49" charset="-122"/>
                </a:endParaRPr>
              </a:p>
            </p:txBody>
          </p:sp>
        </mc:Choice>
        <mc:Fallback xmlns="">
          <p:sp>
            <p:nvSpPr>
              <p:cNvPr id="27" name="Object 380">
                <a:extLst>
                  <a:ext uri="{FF2B5EF4-FFF2-40B4-BE49-F238E27FC236}">
                    <a16:creationId xmlns:a16="http://schemas.microsoft.com/office/drawing/2014/main" id="{4F09A23A-A318-4D2C-0F6A-FAA18AB0EC3D}"/>
                  </a:ext>
                </a:extLst>
              </p:cNvPr>
              <p:cNvSpPr txBox="1">
                <a:spLocks noRot="1" noChangeAspect="1" noMove="1" noResize="1" noEditPoints="1" noAdjustHandles="1" noChangeArrowheads="1" noChangeShapeType="1" noTextEdit="1"/>
              </p:cNvSpPr>
              <p:nvPr/>
            </p:nvSpPr>
            <p:spPr bwMode="auto">
              <a:xfrm>
                <a:off x="795687" y="2863918"/>
                <a:ext cx="2096635" cy="523219"/>
              </a:xfrm>
              <a:prstGeom prst="rect">
                <a:avLst/>
              </a:prstGeom>
              <a:blipFill>
                <a:blip r:embed="rId12"/>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Object 387">
                <a:extLst>
                  <a:ext uri="{FF2B5EF4-FFF2-40B4-BE49-F238E27FC236}">
                    <a16:creationId xmlns:a16="http://schemas.microsoft.com/office/drawing/2014/main" id="{FB138C1D-AA1F-A128-BD86-27FC5D5C2664}"/>
                  </a:ext>
                </a:extLst>
              </p:cNvPr>
              <p:cNvSpPr txBox="1"/>
              <p:nvPr/>
            </p:nvSpPr>
            <p:spPr bwMode="auto">
              <a:xfrm>
                <a:off x="2369185" y="2446870"/>
                <a:ext cx="2466548" cy="1487488"/>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m:t>
                      </m:r>
                      <m:d>
                        <m:dPr>
                          <m:begChr m:val="|"/>
                          <m:endChr m:val="|"/>
                          <m:ctrlPr>
                            <a:rPr kumimoji="1" lang="zh-CN" altLang="en-US" sz="2800" i="1">
                              <a:solidFill>
                                <a:prstClr val="black"/>
                              </a:solidFill>
                              <a:latin typeface="Cambria Math" panose="02040503050406030204" pitchFamily="18" charset="0"/>
                              <a:ea typeface="黑体" panose="02010609060101010101" pitchFamily="49" charset="-122"/>
                            </a:rPr>
                          </m:ctrlPr>
                        </m:dPr>
                        <m:e>
                          <m:r>
                            <a:rPr kumimoji="1" lang="zh-CN" altLang="en-US" sz="2800">
                              <a:solidFill>
                                <a:prstClr val="black"/>
                              </a:solidFill>
                              <a:latin typeface="Cambria Math" panose="02040503050406030204" pitchFamily="18" charset="0"/>
                              <a:ea typeface="黑体" panose="02010609060101010101" pitchFamily="49" charset="-122"/>
                            </a:rPr>
                            <m:t> </m:t>
                          </m:r>
                          <m:m>
                            <m:mPr>
                              <m:plcHide m:val="on"/>
                              <m:mcs>
                                <m:mc>
                                  <m:mcPr>
                                    <m:count m:val="3"/>
                                    <m:mcJc m:val="center"/>
                                  </m:mcPr>
                                </m:mc>
                              </m:mcs>
                              <m:ctrlPr>
                                <a:rPr kumimoji="1" lang="zh-CN" altLang="en-US" sz="2800" i="1">
                                  <a:solidFill>
                                    <a:prstClr val="black"/>
                                  </a:solidFill>
                                  <a:latin typeface="Cambria Math" panose="02040503050406030204" pitchFamily="18" charset="0"/>
                                  <a:ea typeface="黑体" panose="02010609060101010101" pitchFamily="49" charset="-122"/>
                                </a:rPr>
                              </m:ctrlPr>
                            </m:mPr>
                            <m:mr>
                              <m:e>
                                <m:r>
                                  <a:rPr kumimoji="1" lang="zh-CN" altLang="en-US" sz="2800" b="1" i="1">
                                    <a:solidFill>
                                      <a:prstClr val="black"/>
                                    </a:solidFill>
                                    <a:latin typeface="Cambria Math" panose="02040503050406030204" pitchFamily="18" charset="0"/>
                                    <a:ea typeface="黑体" panose="02010609060101010101" pitchFamily="49" charset="-122"/>
                                  </a:rPr>
                                  <m:t>𝒊</m:t>
                                </m:r>
                              </m:e>
                              <m:e>
                                <m:r>
                                  <a:rPr kumimoji="1" lang="zh-CN" altLang="en-US" sz="2800" b="1" i="1">
                                    <a:solidFill>
                                      <a:prstClr val="black"/>
                                    </a:solidFill>
                                    <a:latin typeface="Cambria Math" panose="02040503050406030204" pitchFamily="18" charset="0"/>
                                    <a:ea typeface="黑体" panose="02010609060101010101" pitchFamily="49" charset="-122"/>
                                  </a:rPr>
                                  <m:t>𝒋</m:t>
                                </m:r>
                              </m:e>
                              <m:e>
                                <m:r>
                                  <a:rPr kumimoji="1" lang="zh-CN" altLang="en-US" sz="2800" b="1" i="1">
                                    <a:solidFill>
                                      <a:prstClr val="black"/>
                                    </a:solidFill>
                                    <a:latin typeface="Cambria Math" panose="02040503050406030204" pitchFamily="18" charset="0"/>
                                    <a:ea typeface="黑体" panose="02010609060101010101" pitchFamily="49" charset="-122"/>
                                  </a:rPr>
                                  <m:t>𝒌</m:t>
                                </m:r>
                              </m:e>
                            </m:mr>
                            <m:mr>
                              <m:e>
                                <m:r>
                                  <a:rPr kumimoji="1" lang="zh-CN" altLang="en-US" sz="2800">
                                    <a:solidFill>
                                      <a:prstClr val="black"/>
                                    </a:solidFill>
                                    <a:latin typeface="Cambria Math" panose="02040503050406030204" pitchFamily="18" charset="0"/>
                                    <a:ea typeface="黑体" panose="02010609060101010101" pitchFamily="49" charset="-122"/>
                                  </a:rPr>
                                  <m:t>0</m:t>
                                </m:r>
                              </m:e>
                              <m:e>
                                <m:r>
                                  <a:rPr kumimoji="1" lang="zh-CN" altLang="en-US" sz="2800">
                                    <a:solidFill>
                                      <a:prstClr val="black"/>
                                    </a:solidFill>
                                    <a:latin typeface="Cambria Math" panose="02040503050406030204" pitchFamily="18" charset="0"/>
                                    <a:ea typeface="黑体" panose="02010609060101010101" pitchFamily="49" charset="-122"/>
                                  </a:rPr>
                                  <m:t>0</m:t>
                                </m:r>
                              </m:e>
                              <m:e>
                                <m:r>
                                  <a:rPr kumimoji="1" lang="zh-CN" altLang="en-US" sz="2800">
                                    <a:solidFill>
                                      <a:prstClr val="black"/>
                                    </a:solidFill>
                                    <a:latin typeface="Cambria Math" panose="02040503050406030204" pitchFamily="18" charset="0"/>
                                    <a:ea typeface="黑体" panose="02010609060101010101" pitchFamily="49" charset="-122"/>
                                  </a:rPr>
                                  <m:t>𝜔</m:t>
                                </m:r>
                              </m:e>
                            </m:mr>
                            <m:mr>
                              <m:e>
                                <m:r>
                                  <a:rPr kumimoji="1" lang="zh-CN" altLang="en-US" sz="2800">
                                    <a:solidFill>
                                      <a:prstClr val="black"/>
                                    </a:solidFill>
                                    <a:latin typeface="Cambria Math" panose="02040503050406030204" pitchFamily="18" charset="0"/>
                                    <a:ea typeface="黑体" panose="02010609060101010101" pitchFamily="49" charset="-122"/>
                                  </a:rPr>
                                  <m:t>𝑥</m:t>
                                </m:r>
                              </m:e>
                              <m:e>
                                <m:r>
                                  <a:rPr kumimoji="1" lang="zh-CN" altLang="en-US" sz="2800">
                                    <a:solidFill>
                                      <a:prstClr val="black"/>
                                    </a:solidFill>
                                    <a:latin typeface="Cambria Math" panose="02040503050406030204" pitchFamily="18" charset="0"/>
                                    <a:ea typeface="黑体" panose="02010609060101010101" pitchFamily="49" charset="-122"/>
                                  </a:rPr>
                                  <m:t>𝑦</m:t>
                                </m:r>
                              </m:e>
                              <m:e>
                                <m:r>
                                  <a:rPr kumimoji="1" lang="zh-CN" altLang="en-US" sz="2800">
                                    <a:solidFill>
                                      <a:prstClr val="black"/>
                                    </a:solidFill>
                                    <a:latin typeface="Cambria Math" panose="02040503050406030204" pitchFamily="18" charset="0"/>
                                    <a:ea typeface="黑体" panose="02010609060101010101" pitchFamily="49" charset="-122"/>
                                  </a:rPr>
                                  <m:t>𝑧</m:t>
                                </m:r>
                              </m:e>
                            </m:mr>
                          </m:m>
                          <m:r>
                            <a:rPr kumimoji="1" lang="zh-CN" altLang="en-US" sz="2800">
                              <a:solidFill>
                                <a:prstClr val="black"/>
                              </a:solidFill>
                              <a:latin typeface="Cambria Math" panose="02040503050406030204" pitchFamily="18" charset="0"/>
                              <a:ea typeface="黑体" panose="02010609060101010101" pitchFamily="49" charset="-122"/>
                            </a:rPr>
                            <m:t> </m:t>
                          </m:r>
                        </m:e>
                      </m:d>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29" name="Object 387">
                <a:extLst>
                  <a:ext uri="{FF2B5EF4-FFF2-40B4-BE49-F238E27FC236}">
                    <a16:creationId xmlns:a16="http://schemas.microsoft.com/office/drawing/2014/main" id="{FB138C1D-AA1F-A128-BD86-27FC5D5C2664}"/>
                  </a:ext>
                </a:extLst>
              </p:cNvPr>
              <p:cNvSpPr txBox="1">
                <a:spLocks noRot="1" noChangeAspect="1" noMove="1" noResize="1" noEditPoints="1" noAdjustHandles="1" noChangeArrowheads="1" noChangeShapeType="1" noTextEdit="1"/>
              </p:cNvSpPr>
              <p:nvPr/>
            </p:nvSpPr>
            <p:spPr bwMode="auto">
              <a:xfrm>
                <a:off x="2369185" y="2446870"/>
                <a:ext cx="2466548" cy="1487488"/>
              </a:xfrm>
              <a:prstGeom prst="rect">
                <a:avLst/>
              </a:prstGeom>
              <a:blipFill>
                <a:blip r:embed="rId1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Object 391">
                <a:extLst>
                  <a:ext uri="{FF2B5EF4-FFF2-40B4-BE49-F238E27FC236}">
                    <a16:creationId xmlns:a16="http://schemas.microsoft.com/office/drawing/2014/main" id="{77C03F82-12AC-E581-40D2-2E3329921A80}"/>
                  </a:ext>
                </a:extLst>
              </p:cNvPr>
              <p:cNvSpPr txBox="1"/>
              <p:nvPr/>
            </p:nvSpPr>
            <p:spPr bwMode="auto">
              <a:xfrm>
                <a:off x="4610512" y="2868671"/>
                <a:ext cx="2775587" cy="48858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𝜔</m:t>
                      </m:r>
                      <m:r>
                        <a:rPr kumimoji="1" lang="zh-CN" altLang="en-US" sz="2800">
                          <a:solidFill>
                            <a:prstClr val="black"/>
                          </a:solidFill>
                          <a:latin typeface="Cambria Math" panose="02040503050406030204" pitchFamily="18" charset="0"/>
                          <a:ea typeface="黑体" panose="02010609060101010101" pitchFamily="49" charset="-122"/>
                        </a:rPr>
                        <m:t>𝑦</m:t>
                      </m:r>
                      <m:r>
                        <a:rPr kumimoji="1" lang="zh-CN" altLang="en-US" sz="2800">
                          <a:solidFill>
                            <a:prstClr val="black"/>
                          </a:solidFill>
                          <a:latin typeface="Cambria Math" panose="02040503050406030204" pitchFamily="18" charset="0"/>
                          <a:ea typeface="黑体" panose="02010609060101010101" pitchFamily="49" charset="-122"/>
                        </a:rPr>
                        <m:t>, </m:t>
                      </m:r>
                      <m:r>
                        <a:rPr kumimoji="1" lang="zh-CN" altLang="en-US" sz="2800">
                          <a:solidFill>
                            <a:prstClr val="black"/>
                          </a:solidFill>
                          <a:latin typeface="Cambria Math" panose="02040503050406030204" pitchFamily="18" charset="0"/>
                          <a:ea typeface="黑体" panose="02010609060101010101" pitchFamily="49" charset="-122"/>
                        </a:rPr>
                        <m:t>𝜔</m:t>
                      </m:r>
                      <m:r>
                        <a:rPr kumimoji="1" lang="zh-CN" altLang="en-US" sz="2800">
                          <a:solidFill>
                            <a:prstClr val="black"/>
                          </a:solidFill>
                          <a:latin typeface="Cambria Math" panose="02040503050406030204" pitchFamily="18" charset="0"/>
                          <a:ea typeface="黑体" panose="02010609060101010101" pitchFamily="49" charset="-122"/>
                        </a:rPr>
                        <m:t>𝑥</m:t>
                      </m:r>
                      <m:r>
                        <a:rPr kumimoji="1" lang="zh-CN" altLang="en-US" sz="2800">
                          <a:solidFill>
                            <a:prstClr val="black"/>
                          </a:solidFill>
                          <a:latin typeface="Cambria Math" panose="02040503050406030204" pitchFamily="18" charset="0"/>
                          <a:ea typeface="黑体" panose="02010609060101010101" pitchFamily="49" charset="-122"/>
                        </a:rPr>
                        <m:t>, 0).</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30" name="Object 391">
                <a:extLst>
                  <a:ext uri="{FF2B5EF4-FFF2-40B4-BE49-F238E27FC236}">
                    <a16:creationId xmlns:a16="http://schemas.microsoft.com/office/drawing/2014/main" id="{77C03F82-12AC-E581-40D2-2E3329921A80}"/>
                  </a:ext>
                </a:extLst>
              </p:cNvPr>
              <p:cNvSpPr txBox="1">
                <a:spLocks noRot="1" noChangeAspect="1" noMove="1" noResize="1" noEditPoints="1" noAdjustHandles="1" noChangeArrowheads="1" noChangeShapeType="1" noTextEdit="1"/>
              </p:cNvSpPr>
              <p:nvPr/>
            </p:nvSpPr>
            <p:spPr bwMode="auto">
              <a:xfrm>
                <a:off x="4610512" y="2868671"/>
                <a:ext cx="2775587" cy="488582"/>
              </a:xfrm>
              <a:prstGeom prst="rect">
                <a:avLst/>
              </a:prstGeom>
              <a:blipFill>
                <a:blip r:embed="rId14"/>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Object 393">
                <a:extLst>
                  <a:ext uri="{FF2B5EF4-FFF2-40B4-BE49-F238E27FC236}">
                    <a16:creationId xmlns:a16="http://schemas.microsoft.com/office/drawing/2014/main" id="{83E8A104-E382-7F11-46BB-63FA7C0AD8BD}"/>
                  </a:ext>
                </a:extLst>
              </p:cNvPr>
              <p:cNvSpPr txBox="1"/>
              <p:nvPr/>
            </p:nvSpPr>
            <p:spPr bwMode="auto">
              <a:xfrm>
                <a:off x="1992816" y="4350884"/>
                <a:ext cx="2775586" cy="183209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d>
                        <m:dPr>
                          <m:begChr m:val="|"/>
                          <m:endChr m:val="|"/>
                          <m:ctrlPr>
                            <a:rPr kumimoji="1" lang="zh-CN" altLang="en-US" sz="2800" i="1">
                              <a:solidFill>
                                <a:prstClr val="black"/>
                              </a:solidFill>
                              <a:latin typeface="Cambria Math" panose="02040503050406030204" pitchFamily="18" charset="0"/>
                              <a:ea typeface="黑体" panose="02010609060101010101" pitchFamily="49" charset="-122"/>
                            </a:rPr>
                          </m:ctrlPr>
                        </m:dPr>
                        <m:e>
                          <m:m>
                            <m:mPr>
                              <m:plcHide m:val="on"/>
                              <m:mcs>
                                <m:mc>
                                  <m:mcPr>
                                    <m:count m:val="3"/>
                                    <m:mcJc m:val="center"/>
                                  </m:mcPr>
                                </m:mc>
                              </m:mcs>
                              <m:ctrlPr>
                                <a:rPr kumimoji="1" lang="zh-CN" altLang="en-US" sz="2800" i="1">
                                  <a:solidFill>
                                    <a:prstClr val="black"/>
                                  </a:solidFill>
                                  <a:latin typeface="Cambria Math" panose="02040503050406030204" pitchFamily="18" charset="0"/>
                                  <a:ea typeface="黑体" panose="02010609060101010101" pitchFamily="49" charset="-122"/>
                                </a:rPr>
                              </m:ctrlPr>
                            </m:mPr>
                            <m:mr>
                              <m:e>
                                <m:r>
                                  <a:rPr kumimoji="1" lang="zh-CN" altLang="en-US" sz="2800" b="1" i="1">
                                    <a:solidFill>
                                      <a:prstClr val="black"/>
                                    </a:solidFill>
                                    <a:latin typeface="Cambria Math" panose="02040503050406030204" pitchFamily="18" charset="0"/>
                                    <a:ea typeface="黑体" panose="02010609060101010101" pitchFamily="49" charset="-122"/>
                                  </a:rPr>
                                  <m:t>𝒊</m:t>
                                </m:r>
                              </m:e>
                              <m:e>
                                <m:r>
                                  <a:rPr kumimoji="1" lang="zh-CN" altLang="en-US" sz="2800" b="1" i="1">
                                    <a:solidFill>
                                      <a:prstClr val="black"/>
                                    </a:solidFill>
                                    <a:latin typeface="Cambria Math" panose="02040503050406030204" pitchFamily="18" charset="0"/>
                                    <a:ea typeface="黑体" panose="02010609060101010101" pitchFamily="49" charset="-122"/>
                                  </a:rPr>
                                  <m:t>𝒋</m:t>
                                </m:r>
                              </m:e>
                              <m:e>
                                <m:r>
                                  <a:rPr kumimoji="1" lang="zh-CN" altLang="en-US" sz="2800" b="1" i="1">
                                    <a:solidFill>
                                      <a:prstClr val="black"/>
                                    </a:solidFill>
                                    <a:latin typeface="Cambria Math" panose="02040503050406030204" pitchFamily="18" charset="0"/>
                                    <a:ea typeface="黑体" panose="02010609060101010101" pitchFamily="49" charset="-122"/>
                                  </a:rPr>
                                  <m:t>𝒌</m:t>
                                </m:r>
                              </m:e>
                            </m:mr>
                            <m:mr>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𝑥</m:t>
                                    </m:r>
                                  </m:den>
                                </m:f>
                              </m:e>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𝑦</m:t>
                                    </m:r>
                                  </m:den>
                                </m:f>
                              </m:e>
                              <m:e>
                                <m:f>
                                  <m:fPr>
                                    <m:ctrlPr>
                                      <a:rPr kumimoji="1" lang="zh-CN" altLang="en-US" sz="2800" i="1">
                                        <a:solidFill>
                                          <a:prstClr val="black"/>
                                        </a:solidFill>
                                        <a:latin typeface="Cambria Math" panose="02040503050406030204" pitchFamily="18" charset="0"/>
                                        <a:ea typeface="黑体" panose="02010609060101010101" pitchFamily="49" charset="-122"/>
                                      </a:rPr>
                                    </m:ctrlPr>
                                  </m:fPr>
                                  <m:num>
                                    <m:r>
                                      <a:rPr kumimoji="1" lang="zh-CN" altLang="en-US" sz="2800">
                                        <a:solidFill>
                                          <a:prstClr val="black"/>
                                        </a:solidFill>
                                        <a:latin typeface="Cambria Math" panose="02040503050406030204" pitchFamily="18" charset="0"/>
                                        <a:ea typeface="黑体" panose="02010609060101010101" pitchFamily="49" charset="-122"/>
                                      </a:rPr>
                                      <m:t>𝜕</m:t>
                                    </m:r>
                                  </m:num>
                                  <m:den>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𝑧</m:t>
                                    </m:r>
                                  </m:den>
                                </m:f>
                              </m:e>
                            </m:mr>
                            <m:mr>
                              <m:e>
                                <m:r>
                                  <a:rPr kumimoji="1" lang="zh-CN" altLang="en-US" sz="2800">
                                    <a:solidFill>
                                      <a:prstClr val="black"/>
                                    </a:solidFill>
                                    <a:latin typeface="Cambria Math" panose="02040503050406030204" pitchFamily="18" charset="0"/>
                                    <a:ea typeface="黑体" panose="02010609060101010101" pitchFamily="49" charset="-122"/>
                                  </a:rPr>
                                  <m:t>−</m:t>
                                </m:r>
                                <m:r>
                                  <a:rPr kumimoji="1" lang="zh-CN" altLang="en-US" sz="2800">
                                    <a:solidFill>
                                      <a:prstClr val="black"/>
                                    </a:solidFill>
                                    <a:latin typeface="Cambria Math" panose="02040503050406030204" pitchFamily="18" charset="0"/>
                                    <a:ea typeface="黑体" panose="02010609060101010101" pitchFamily="49" charset="-122"/>
                                  </a:rPr>
                                  <m:t>𝜔</m:t>
                                </m:r>
                                <m:r>
                                  <a:rPr kumimoji="1" lang="zh-CN" altLang="en-US" sz="2800">
                                    <a:solidFill>
                                      <a:prstClr val="black"/>
                                    </a:solidFill>
                                    <a:latin typeface="Cambria Math" panose="02040503050406030204" pitchFamily="18" charset="0"/>
                                    <a:ea typeface="黑体" panose="02010609060101010101" pitchFamily="49" charset="-122"/>
                                  </a:rPr>
                                  <m:t>𝑦</m:t>
                                </m:r>
                              </m:e>
                              <m:e>
                                <m:r>
                                  <a:rPr kumimoji="1" lang="zh-CN" altLang="en-US" sz="2800">
                                    <a:solidFill>
                                      <a:prstClr val="black"/>
                                    </a:solidFill>
                                    <a:latin typeface="Cambria Math" panose="02040503050406030204" pitchFamily="18" charset="0"/>
                                    <a:ea typeface="黑体" panose="02010609060101010101" pitchFamily="49" charset="-122"/>
                                  </a:rPr>
                                  <m:t>𝜔</m:t>
                                </m:r>
                                <m:r>
                                  <a:rPr kumimoji="1" lang="zh-CN" altLang="en-US" sz="2800">
                                    <a:solidFill>
                                      <a:prstClr val="black"/>
                                    </a:solidFill>
                                    <a:latin typeface="Cambria Math" panose="02040503050406030204" pitchFamily="18" charset="0"/>
                                    <a:ea typeface="黑体" panose="02010609060101010101" pitchFamily="49" charset="-122"/>
                                  </a:rPr>
                                  <m:t>𝑥</m:t>
                                </m:r>
                              </m:e>
                              <m:e>
                                <m:r>
                                  <a:rPr kumimoji="1" lang="zh-CN" altLang="en-US" sz="2800">
                                    <a:solidFill>
                                      <a:prstClr val="black"/>
                                    </a:solidFill>
                                    <a:latin typeface="Cambria Math" panose="02040503050406030204" pitchFamily="18" charset="0"/>
                                    <a:ea typeface="黑体" panose="02010609060101010101" pitchFamily="49" charset="-122"/>
                                  </a:rPr>
                                  <m:t>0</m:t>
                                </m:r>
                              </m:e>
                            </m:mr>
                          </m:m>
                          <m:r>
                            <a:rPr kumimoji="1" lang="zh-CN" altLang="en-US" sz="2800">
                              <a:solidFill>
                                <a:prstClr val="black"/>
                              </a:solidFill>
                              <a:latin typeface="Cambria Math" panose="02040503050406030204" pitchFamily="18" charset="0"/>
                              <a:ea typeface="黑体" panose="02010609060101010101" pitchFamily="49" charset="-122"/>
                            </a:rPr>
                            <m:t> </m:t>
                          </m:r>
                        </m:e>
                      </m:d>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31" name="Object 393">
                <a:extLst>
                  <a:ext uri="{FF2B5EF4-FFF2-40B4-BE49-F238E27FC236}">
                    <a16:creationId xmlns:a16="http://schemas.microsoft.com/office/drawing/2014/main" id="{83E8A104-E382-7F11-46BB-63FA7C0AD8BD}"/>
                  </a:ext>
                </a:extLst>
              </p:cNvPr>
              <p:cNvSpPr txBox="1">
                <a:spLocks noRot="1" noChangeAspect="1" noMove="1" noResize="1" noEditPoints="1" noAdjustHandles="1" noChangeArrowheads="1" noChangeShapeType="1" noTextEdit="1"/>
              </p:cNvSpPr>
              <p:nvPr/>
            </p:nvSpPr>
            <p:spPr bwMode="auto">
              <a:xfrm>
                <a:off x="1992816" y="4350884"/>
                <a:ext cx="2775586" cy="1832093"/>
              </a:xfrm>
              <a:prstGeom prst="rect">
                <a:avLst/>
              </a:prstGeom>
              <a:blipFill>
                <a:blip r:embed="rId15"/>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Object 397">
                <a:extLst>
                  <a:ext uri="{FF2B5EF4-FFF2-40B4-BE49-F238E27FC236}">
                    <a16:creationId xmlns:a16="http://schemas.microsoft.com/office/drawing/2014/main" id="{DF692A46-3BA5-6307-C4F2-B7560025E5A1}"/>
                  </a:ext>
                </a:extLst>
              </p:cNvPr>
              <p:cNvSpPr txBox="1"/>
              <p:nvPr/>
            </p:nvSpPr>
            <p:spPr bwMode="auto">
              <a:xfrm>
                <a:off x="4698399" y="5005320"/>
                <a:ext cx="2021079" cy="52321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kumimoji="1" lang="zh-CN" altLang="en-US" sz="2800" smtClean="0">
                          <a:solidFill>
                            <a:prstClr val="black"/>
                          </a:solidFill>
                          <a:latin typeface="Cambria Math" panose="02040503050406030204" pitchFamily="18" charset="0"/>
                          <a:ea typeface="黑体" panose="02010609060101010101" pitchFamily="49" charset="-122"/>
                        </a:rPr>
                        <m:t>=</m:t>
                      </m:r>
                      <m:d>
                        <m:dPr>
                          <m:ctrlPr>
                            <a:rPr kumimoji="1" lang="zh-CN" altLang="en-US" sz="2800" i="1">
                              <a:solidFill>
                                <a:prstClr val="black"/>
                              </a:solidFill>
                              <a:latin typeface="Cambria Math" panose="02040503050406030204" pitchFamily="18" charset="0"/>
                              <a:ea typeface="黑体" panose="02010609060101010101" pitchFamily="49" charset="-122"/>
                            </a:rPr>
                          </m:ctrlPr>
                        </m:dPr>
                        <m:e>
                          <m:r>
                            <a:rPr kumimoji="1" lang="zh-CN" altLang="en-US" sz="2800">
                              <a:solidFill>
                                <a:prstClr val="black"/>
                              </a:solidFill>
                              <a:latin typeface="Cambria Math" panose="02040503050406030204" pitchFamily="18" charset="0"/>
                              <a:ea typeface="黑体" panose="02010609060101010101" pitchFamily="49" charset="-122"/>
                            </a:rPr>
                            <m:t>0,0,2</m:t>
                          </m:r>
                          <m:r>
                            <a:rPr kumimoji="1" lang="zh-CN" altLang="en-US" sz="2800">
                              <a:solidFill>
                                <a:prstClr val="black"/>
                              </a:solidFill>
                              <a:latin typeface="Cambria Math" panose="02040503050406030204" pitchFamily="18" charset="0"/>
                              <a:ea typeface="黑体" panose="02010609060101010101" pitchFamily="49" charset="-122"/>
                            </a:rPr>
                            <m:t>𝜔</m:t>
                          </m:r>
                        </m:e>
                      </m:d>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dirty="0">
                  <a:solidFill>
                    <a:prstClr val="black"/>
                  </a:solidFill>
                  <a:latin typeface="Times New Roman" panose="02020603050405020304" pitchFamily="18" charset="0"/>
                  <a:ea typeface="黑体" panose="02010609060101010101" pitchFamily="49" charset="-122"/>
                </a:endParaRPr>
              </a:p>
            </p:txBody>
          </p:sp>
        </mc:Choice>
        <mc:Fallback xmlns="">
          <p:sp>
            <p:nvSpPr>
              <p:cNvPr id="32" name="Object 397">
                <a:extLst>
                  <a:ext uri="{FF2B5EF4-FFF2-40B4-BE49-F238E27FC236}">
                    <a16:creationId xmlns:a16="http://schemas.microsoft.com/office/drawing/2014/main" id="{DF692A46-3BA5-6307-C4F2-B7560025E5A1}"/>
                  </a:ext>
                </a:extLst>
              </p:cNvPr>
              <p:cNvSpPr txBox="1">
                <a:spLocks noRot="1" noChangeAspect="1" noMove="1" noResize="1" noEditPoints="1" noAdjustHandles="1" noChangeArrowheads="1" noChangeShapeType="1" noTextEdit="1"/>
              </p:cNvSpPr>
              <p:nvPr/>
            </p:nvSpPr>
            <p:spPr bwMode="auto">
              <a:xfrm>
                <a:off x="4698399" y="5005320"/>
                <a:ext cx="2021079" cy="523219"/>
              </a:xfrm>
              <a:prstGeom prst="rect">
                <a:avLst/>
              </a:prstGeom>
              <a:blipFill>
                <a:blip r:embed="rId17"/>
                <a:stretch>
                  <a:fillRect/>
                </a:stretch>
              </a:blipFill>
              <a:ln>
                <a:noFill/>
              </a:ln>
              <a:effectLst/>
            </p:spPr>
            <p:txBody>
              <a:bodyPr/>
              <a:lstStyle/>
              <a:p>
                <a:r>
                  <a:rPr lang="zh-CN" altLang="en-US">
                    <a:noFill/>
                  </a:rPr>
                  <a:t> </a:t>
                </a:r>
              </a:p>
            </p:txBody>
          </p:sp>
        </mc:Fallback>
      </mc:AlternateContent>
      <p:sp>
        <p:nvSpPr>
          <p:cNvPr id="34" name="Rectangle 402">
            <a:extLst>
              <a:ext uri="{FF2B5EF4-FFF2-40B4-BE49-F238E27FC236}">
                <a16:creationId xmlns:a16="http://schemas.microsoft.com/office/drawing/2014/main" id="{B0BBFE55-50B9-86F6-50F0-D5CA3B613B7A}"/>
              </a:ext>
            </a:extLst>
          </p:cNvPr>
          <p:cNvSpPr>
            <a:spLocks noChangeArrowheads="1"/>
          </p:cNvSpPr>
          <p:nvPr/>
        </p:nvSpPr>
        <p:spPr bwMode="auto">
          <a:xfrm>
            <a:off x="825501" y="571500"/>
            <a:ext cx="349885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kumimoji="1" lang="zh-CN" altLang="en-US" sz="2800" dirty="0">
                <a:solidFill>
                  <a:srgbClr val="1D9D79"/>
                </a:solidFill>
                <a:latin typeface="Times New Roman" panose="02020603050405020304" pitchFamily="18" charset="0"/>
                <a:ea typeface="黑体" panose="02010609060101010101" pitchFamily="49" charset="-122"/>
              </a:rPr>
              <a:t>旋度的力学意义</a:t>
            </a:r>
          </a:p>
        </p:txBody>
      </p:sp>
      <mc:AlternateContent xmlns:mc="http://schemas.openxmlformats.org/markup-compatibility/2006" xmlns:a14="http://schemas.microsoft.com/office/drawing/2010/main">
        <mc:Choice Requires="a14">
          <p:sp>
            <p:nvSpPr>
              <p:cNvPr id="49" name="Object 380">
                <a:extLst>
                  <a:ext uri="{FF2B5EF4-FFF2-40B4-BE49-F238E27FC236}">
                    <a16:creationId xmlns:a16="http://schemas.microsoft.com/office/drawing/2014/main" id="{F9D121FB-F0C4-04EF-DD28-460AE90D5F5A}"/>
                  </a:ext>
                </a:extLst>
              </p:cNvPr>
              <p:cNvSpPr txBox="1"/>
              <p:nvPr/>
            </p:nvSpPr>
            <p:spPr bwMode="auto">
              <a:xfrm>
                <a:off x="813509" y="5006468"/>
                <a:ext cx="1405815" cy="52321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func>
                        <m:funcPr>
                          <m:ctrlPr>
                            <a:rPr kumimoji="1" lang="zh-CN" altLang="en-US" sz="2800" b="1" i="1">
                              <a:solidFill>
                                <a:prstClr val="black"/>
                              </a:solidFill>
                              <a:latin typeface="Cambria Math" panose="02040503050406030204" pitchFamily="18" charset="0"/>
                              <a:ea typeface="黑体" panose="02010609060101010101" pitchFamily="49" charset="-122"/>
                            </a:rPr>
                          </m:ctrlPr>
                        </m:funcPr>
                        <m:fName>
                          <m:r>
                            <a:rPr kumimoji="1" lang="zh-CN" altLang="en-US" sz="2800" b="1" i="0">
                              <a:solidFill>
                                <a:prstClr val="black"/>
                              </a:solidFill>
                              <a:latin typeface="Cambria Math" panose="02040503050406030204" pitchFamily="18" charset="0"/>
                              <a:ea typeface="黑体" panose="02010609060101010101" pitchFamily="49" charset="-122"/>
                            </a:rPr>
                            <m:t>𝐫𝐨𝐭</m:t>
                          </m:r>
                        </m:fName>
                        <m:e>
                          <m:r>
                            <a:rPr kumimoji="1" lang="en-US" altLang="zh-CN" sz="2800" b="1" i="1">
                              <a:solidFill>
                                <a:prstClr val="black"/>
                              </a:solidFill>
                              <a:latin typeface="Cambria Math" panose="02040503050406030204" pitchFamily="18" charset="0"/>
                              <a:ea typeface="黑体" panose="02010609060101010101" pitchFamily="49" charset="-122"/>
                            </a:rPr>
                            <m:t>𝒗</m:t>
                          </m:r>
                        </m:e>
                      </m:func>
                      <m:r>
                        <a:rPr kumimoji="1" lang="zh-CN" altLang="en-US" sz="2800">
                          <a:solidFill>
                            <a:prstClr val="black"/>
                          </a:solidFill>
                          <a:latin typeface="Cambria Math" panose="02040503050406030204" pitchFamily="18" charset="0"/>
                          <a:ea typeface="黑体" panose="02010609060101010101" pitchFamily="49" charset="-122"/>
                        </a:rPr>
                        <m:t>=</m:t>
                      </m:r>
                    </m:oMath>
                  </m:oMathPara>
                </a14:m>
                <a:endParaRPr kumimoji="1" lang="zh-CN" altLang="en-US" sz="2800" b="1" dirty="0">
                  <a:solidFill>
                    <a:prstClr val="black"/>
                  </a:solidFill>
                  <a:latin typeface="Times New Roman" panose="02020603050405020304" pitchFamily="18" charset="0"/>
                  <a:ea typeface="黑体" panose="02010609060101010101" pitchFamily="49" charset="-122"/>
                </a:endParaRPr>
              </a:p>
            </p:txBody>
          </p:sp>
        </mc:Choice>
        <mc:Fallback xmlns="">
          <p:sp>
            <p:nvSpPr>
              <p:cNvPr id="49" name="Object 380">
                <a:extLst>
                  <a:ext uri="{FF2B5EF4-FFF2-40B4-BE49-F238E27FC236}">
                    <a16:creationId xmlns:a16="http://schemas.microsoft.com/office/drawing/2014/main" id="{F9D121FB-F0C4-04EF-DD28-460AE90D5F5A}"/>
                  </a:ext>
                </a:extLst>
              </p:cNvPr>
              <p:cNvSpPr txBox="1">
                <a:spLocks noRot="1" noChangeAspect="1" noMove="1" noResize="1" noEditPoints="1" noAdjustHandles="1" noChangeArrowheads="1" noChangeShapeType="1" noTextEdit="1"/>
              </p:cNvSpPr>
              <p:nvPr/>
            </p:nvSpPr>
            <p:spPr bwMode="auto">
              <a:xfrm>
                <a:off x="813509" y="5006468"/>
                <a:ext cx="1405815" cy="523219"/>
              </a:xfrm>
              <a:prstGeom prst="rect">
                <a:avLst/>
              </a:prstGeom>
              <a:blipFill>
                <a:blip r:embed="rId18"/>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Object 397">
                <a:extLst>
                  <a:ext uri="{FF2B5EF4-FFF2-40B4-BE49-F238E27FC236}">
                    <a16:creationId xmlns:a16="http://schemas.microsoft.com/office/drawing/2014/main" id="{99FE3738-C965-92AF-2ACE-01B269EE8AD3}"/>
                  </a:ext>
                </a:extLst>
              </p:cNvPr>
              <p:cNvSpPr txBox="1"/>
              <p:nvPr/>
            </p:nvSpPr>
            <p:spPr bwMode="auto">
              <a:xfrm>
                <a:off x="7063226" y="5023030"/>
                <a:ext cx="3938801" cy="523219"/>
              </a:xfrm>
              <a:prstGeom prst="rect">
                <a:avLst/>
              </a:prstGeom>
              <a:noFill/>
              <a:ln>
                <a:noFill/>
              </a:ln>
              <a:effectLst/>
            </p:spPr>
            <p:txBody>
              <a:bodyPr>
                <a:noAutofit/>
              </a:bodyPr>
              <a:lstStyle/>
              <a:p>
                <a14:m>
                  <m:oMath xmlns:m="http://schemas.openxmlformats.org/officeDocument/2006/math">
                    <m:d>
                      <m:dPr>
                        <m:ctrlPr>
                          <a:rPr kumimoji="1" lang="zh-CN" altLang="en-US" sz="2800" i="1">
                            <a:solidFill>
                              <a:prstClr val="black"/>
                            </a:solidFill>
                            <a:latin typeface="Cambria Math" panose="02040503050406030204" pitchFamily="18" charset="0"/>
                            <a:ea typeface="黑体" panose="02010609060101010101" pitchFamily="49" charset="-122"/>
                          </a:rPr>
                        </m:ctrlPr>
                      </m:dPr>
                      <m:e>
                        <m:r>
                          <m:rPr>
                            <m:nor/>
                          </m:rPr>
                          <a:rPr kumimoji="1" lang="zh-CN" altLang="en-US" sz="2800" dirty="0">
                            <a:solidFill>
                              <a:prstClr val="black"/>
                            </a:solidFill>
                            <a:latin typeface="Times New Roman" panose="02020603050405020304" pitchFamily="18" charset="0"/>
                            <a:ea typeface="黑体" panose="02010609060101010101" pitchFamily="49" charset="-122"/>
                          </a:rPr>
                          <m:t>此即</m:t>
                        </m:r>
                        <m:r>
                          <a:rPr kumimoji="1" lang="zh-CN" altLang="en-US" sz="2800" dirty="0">
                            <a:latin typeface="Cambria Math" panose="02040503050406030204" charset="0"/>
                            <a:ea typeface="黑体" panose="02010609060101010101" pitchFamily="49" charset="-122"/>
                            <a:cs typeface="Cambria Math" panose="02040503050406030204" charset="0"/>
                            <a:sym typeface="Symbol" panose="05050102010706020507" pitchFamily="18" charset="2"/>
                          </a:rPr>
                          <m:t>“</m:t>
                        </m:r>
                        <m:r>
                          <m:rPr>
                            <m:nor/>
                          </m:rPr>
                          <a:rPr kumimoji="1" lang="zh-CN" altLang="en-US" sz="2800" dirty="0">
                            <a:solidFill>
                              <a:prstClr val="black"/>
                            </a:solidFill>
                            <a:latin typeface="Times New Roman" panose="02020603050405020304" pitchFamily="18" charset="0"/>
                            <a:ea typeface="黑体" panose="02010609060101010101" pitchFamily="49" charset="-122"/>
                          </a:rPr>
                          <m:t>旋度</m:t>
                        </m:r>
                        <m:r>
                          <a:rPr kumimoji="1" lang="zh-CN" altLang="en-US" sz="2800" dirty="0">
                            <a:latin typeface="Cambria Math" panose="02040503050406030204" charset="0"/>
                            <a:ea typeface="黑体" panose="02010609060101010101" pitchFamily="49" charset="-122"/>
                            <a:cs typeface="Cambria Math" panose="02040503050406030204" charset="0"/>
                            <a:sym typeface="Symbol" panose="05050102010706020507" pitchFamily="18" charset="2"/>
                          </a:rPr>
                          <m:t>”</m:t>
                        </m:r>
                        <m:r>
                          <m:rPr>
                            <m:nor/>
                          </m:rPr>
                          <a:rPr kumimoji="1" lang="zh-CN" altLang="en-US" sz="2800" dirty="0">
                            <a:solidFill>
                              <a:prstClr val="black"/>
                            </a:solidFill>
                            <a:latin typeface="Times New Roman" panose="02020603050405020304" pitchFamily="18" charset="0"/>
                            <a:ea typeface="黑体" panose="02010609060101010101" pitchFamily="49" charset="-122"/>
                          </a:rPr>
                          <m:t>一词的来源</m:t>
                        </m:r>
                      </m:e>
                    </m:d>
                  </m:oMath>
                </a14:m>
                <a:r>
                  <a:rPr kumimoji="1" lang="zh-CN" altLang="en-US" sz="2800" dirty="0">
                    <a:solidFill>
                      <a:prstClr val="black"/>
                    </a:solidFill>
                    <a:latin typeface="Times New Roman" panose="02020603050405020304" pitchFamily="18" charset="0"/>
                    <a:ea typeface="黑体" panose="02010609060101010101" pitchFamily="49" charset="-122"/>
                  </a:rPr>
                  <a:t> </a:t>
                </a:r>
              </a:p>
            </p:txBody>
          </p:sp>
        </mc:Choice>
        <mc:Fallback xmlns="">
          <p:sp>
            <p:nvSpPr>
              <p:cNvPr id="50" name="Object 397">
                <a:extLst>
                  <a:ext uri="{FF2B5EF4-FFF2-40B4-BE49-F238E27FC236}">
                    <a16:creationId xmlns:a16="http://schemas.microsoft.com/office/drawing/2014/main" id="{99FE3738-C965-92AF-2ACE-01B269EE8AD3}"/>
                  </a:ext>
                </a:extLst>
              </p:cNvPr>
              <p:cNvSpPr txBox="1">
                <a:spLocks noRot="1" noChangeAspect="1" noMove="1" noResize="1" noEditPoints="1" noAdjustHandles="1" noChangeArrowheads="1" noChangeShapeType="1" noTextEdit="1"/>
              </p:cNvSpPr>
              <p:nvPr/>
            </p:nvSpPr>
            <p:spPr bwMode="auto">
              <a:xfrm>
                <a:off x="7063226" y="5023030"/>
                <a:ext cx="3938801" cy="523219"/>
              </a:xfrm>
              <a:prstGeom prst="rect">
                <a:avLst/>
              </a:prstGeom>
              <a:blipFill>
                <a:blip r:embed="rId19"/>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419606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nodePh="1">
                                  <p:stCondLst>
                                    <p:cond delay="0"/>
                                  </p:stCondLst>
                                  <p:endCondLst>
                                    <p:cond evt="begin" delay="0">
                                      <p:tn val="25"/>
                                    </p:cond>
                                  </p:end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left)">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left)">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wipe(left)">
                                      <p:cBhvr>
                                        <p:cTn id="62" dur="50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left)">
                                      <p:cBhvr>
                                        <p:cTn id="67" dur="5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wipe(left)">
                                      <p:cBhvr>
                                        <p:cTn id="72" dur="500"/>
                                        <p:tgtEl>
                                          <p:spTgt spid="4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wipe(left)">
                                      <p:cBhvr>
                                        <p:cTn id="82" dur="500"/>
                                        <p:tgtEl>
                                          <p:spTgt spid="3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wipe(left)">
                                      <p:cBhvr>
                                        <p:cTn id="8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P spid="24" grpId="0"/>
      <p:bldP spid="25" grpId="0"/>
      <p:bldP spid="26" grpId="0"/>
      <p:bldP spid="27" grpId="0"/>
      <p:bldP spid="29" grpId="0"/>
      <p:bldP spid="30" grpId="0"/>
      <p:bldP spid="31" grpId="0"/>
      <p:bldP spid="32" grpId="0"/>
      <p:bldP spid="34" grpId="0"/>
      <p:bldP spid="49" grpId="0"/>
      <p:bldP spid="5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846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ZkODBiMGY1YmQ1MDgyN2Q2NGE3YzQ0YzI2NDc4MmYifQ=="/>
  <p:tag name="KSO_WPP_MARK_KEY" val="fdc9232b-9af6-4935-ba35-6661cd720253"/>
</p:tagLst>
</file>

<file path=ppt/tags/tag2.xml><?xml version="1.0" encoding="utf-8"?>
<p:tagLst xmlns:a="http://schemas.openxmlformats.org/drawingml/2006/main" xmlns:r="http://schemas.openxmlformats.org/officeDocument/2006/relationships" xmlns:p="http://schemas.openxmlformats.org/presentationml/2006/main">
  <p:tag name="PA" val="v5.2.9"/>
</p:tagLst>
</file>

<file path=ppt/tags/tag3.xml><?xml version="1.0" encoding="utf-8"?>
<p:tagLst xmlns:a="http://schemas.openxmlformats.org/drawingml/2006/main" xmlns:r="http://schemas.openxmlformats.org/officeDocument/2006/relationships" xmlns:p="http://schemas.openxmlformats.org/presentationml/2006/main">
  <p:tag name="PA" val="v5.2.9"/>
</p:tagLst>
</file>

<file path=ppt/tags/tag4.xml><?xml version="1.0" encoding="utf-8"?>
<p:tagLst xmlns:a="http://schemas.openxmlformats.org/drawingml/2006/main" xmlns:r="http://schemas.openxmlformats.org/officeDocument/2006/relationships" xmlns:p="http://schemas.openxmlformats.org/presentationml/2006/main">
  <p:tag name="PA" val="v5.2.9"/>
</p:tagLst>
</file>

<file path=ppt/tags/tag5.xml><?xml version="1.0" encoding="utf-8"?>
<p:tagLst xmlns:a="http://schemas.openxmlformats.org/drawingml/2006/main" xmlns:r="http://schemas.openxmlformats.org/officeDocument/2006/relationships" xmlns:p="http://schemas.openxmlformats.org/presentationml/2006/main">
  <p:tag name="PA" val="v5.2.9"/>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ags/tag7.xml><?xml version="1.0" encoding="utf-8"?>
<p:tagLst xmlns:a="http://schemas.openxmlformats.org/drawingml/2006/main" xmlns:r="http://schemas.openxmlformats.org/officeDocument/2006/relationships" xmlns:p="http://schemas.openxmlformats.org/presentationml/2006/main">
  <p:tag name="PA" val="v5.2.9"/>
</p:tagLst>
</file>

<file path=ppt/tags/tag8.xml><?xml version="1.0" encoding="utf-8"?>
<p:tagLst xmlns:a="http://schemas.openxmlformats.org/drawingml/2006/main" xmlns:r="http://schemas.openxmlformats.org/officeDocument/2006/relationships" xmlns:p="http://schemas.openxmlformats.org/presentationml/2006/main">
  <p:tag name="PA" val="v5.2.9"/>
</p:tagLst>
</file>

<file path=ppt/tags/tag9.xml><?xml version="1.0" encoding="utf-8"?>
<p:tagLst xmlns:a="http://schemas.openxmlformats.org/drawingml/2006/main" xmlns:r="http://schemas.openxmlformats.org/officeDocument/2006/relationships" xmlns:p="http://schemas.openxmlformats.org/presentationml/2006/main">
  <p:tag name="PA" val="v5.2.9"/>
</p:tagLst>
</file>

<file path=ppt/tags/tag10.xml><?xml version="1.0" encoding="utf-8"?>
<p:tagLst xmlns:a="http://schemas.openxmlformats.org/drawingml/2006/main" xmlns:r="http://schemas.openxmlformats.org/officeDocument/2006/relationships" xmlns:p="http://schemas.openxmlformats.org/presentationml/2006/main">
  <p:tag name="PA" val="v5.2.9"/>
</p:tagLst>
</file>

<file path=ppt/tags/tag11.xml><?xml version="1.0" encoding="utf-8"?>
<p:tagLst xmlns:a="http://schemas.openxmlformats.org/drawingml/2006/main" xmlns:r="http://schemas.openxmlformats.org/officeDocument/2006/relationships" xmlns:p="http://schemas.openxmlformats.org/presentationml/2006/main">
  <p:tag name="PA" val="v5.2.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00000">
              <a:srgbClr val="007434">
                <a:alpha val="31000"/>
              </a:srgbClr>
            </a:gs>
            <a:gs pos="4000">
              <a:schemeClr val="bg1">
                <a:alpha val="0"/>
              </a:schemeClr>
            </a:gs>
          </a:gsLst>
          <a:lin ang="15600000" scaled="0"/>
          <a:tileRect/>
        </a:gradFill>
        <a:ln>
          <a:noFill/>
        </a:ln>
      </a:spPr>
      <a:bodyPr rtlCol="0" anchor="ctr"/>
      <a:lstStyle>
        <a:defPPr algn="ctr">
          <a:defRPr>
            <a:latin typeface="字魂36号-正文宋楷" panose="00000500000000000000" pitchFamily="2" charset="-122"/>
            <a:ea typeface="字魂36号-正文宋楷" panose="00000500000000000000" pitchFamily="2"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4675</TotalTime>
  <Words>2212</Words>
  <Application>Microsoft Office PowerPoint</Application>
  <PresentationFormat>宽屏</PresentationFormat>
  <Paragraphs>305</Paragraphs>
  <Slides>34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34</vt:i4>
      </vt:variant>
    </vt:vector>
  </HeadingPairs>
  <TitlesOfParts>
    <vt:vector size="47" baseType="lpstr">
      <vt:lpstr>等线</vt:lpstr>
      <vt:lpstr>黑体</vt:lpstr>
      <vt:lpstr>华文中宋</vt:lpstr>
      <vt:lpstr>宋体</vt:lpstr>
      <vt:lpstr>微软雅黑</vt:lpstr>
      <vt:lpstr>字魂36号-正文宋楷</vt:lpstr>
      <vt:lpstr>Arial</vt:lpstr>
      <vt:lpstr>Calibri</vt:lpstr>
      <vt:lpstr>Calibri Light</vt:lpstr>
      <vt:lpstr>Calisto MT</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HEP</dc:creator>
  <cp:lastModifiedBy>yang fan</cp:lastModifiedBy>
  <cp:revision>488</cp:revision>
  <cp:lastPrinted>2022-10-16T13:45:50Z</cp:lastPrinted>
  <dcterms:created xsi:type="dcterms:W3CDTF">2022-03-21T05:54:00Z</dcterms:created>
  <dcterms:modified xsi:type="dcterms:W3CDTF">2023-07-06T03:15:11Z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C93CED513F0B46FCBF998E52C285068F</vt:lpwstr>
  </property>
  <property fmtid="{D5CDD505-2E9C-101B-9397-08002B2CF9AE}" pid="3" name="KSOProductBuildVer">
    <vt:lpwstr>2052-11.1.0.11744</vt:lpwstr>
  </property>
</Properties>
</file>