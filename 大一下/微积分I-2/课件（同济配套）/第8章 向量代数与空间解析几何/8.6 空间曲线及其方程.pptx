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25"/>
  </p:notesMasterIdLst>
  <p:sldIdLst>
    <p:sldId id="257" r:id="rId3"/>
    <p:sldId id="813" r:id="rId4"/>
    <p:sldId id="774" r:id="rId5"/>
    <p:sldId id="817" r:id="rId6"/>
    <p:sldId id="317" r:id="rId7"/>
    <p:sldId id="318" r:id="rId8"/>
    <p:sldId id="319" r:id="rId9"/>
    <p:sldId id="320" r:id="rId10"/>
    <p:sldId id="321" r:id="rId11"/>
    <p:sldId id="322" r:id="rId12"/>
    <p:sldId id="342" r:id="rId13"/>
    <p:sldId id="343" r:id="rId14"/>
    <p:sldId id="346" r:id="rId15"/>
    <p:sldId id="323" r:id="rId16"/>
    <p:sldId id="324" r:id="rId17"/>
    <p:sldId id="325" r:id="rId18"/>
    <p:sldId id="326" r:id="rId19"/>
    <p:sldId id="327" r:id="rId20"/>
    <p:sldId id="330" r:id="rId21"/>
    <p:sldId id="331" r:id="rId22"/>
    <p:sldId id="332" r:id="rId23"/>
    <p:sldId id="364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926A"/>
    <a:srgbClr val="C9FAFF"/>
    <a:srgbClr val="4A7BA8"/>
    <a:srgbClr val="CDE9E1"/>
    <a:srgbClr val="3333FF"/>
    <a:srgbClr val="0000FF"/>
    <a:srgbClr val="0D1C8B"/>
    <a:srgbClr val="66CCFF"/>
    <a:srgbClr val="FFCCFF"/>
    <a:srgbClr val="EBEB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4674"/>
  </p:normalViewPr>
  <p:slideViewPr>
    <p:cSldViewPr snapToGrid="0">
      <p:cViewPr varScale="1">
        <p:scale>
          <a:sx n="73" d="100"/>
          <a:sy n="73" d="100"/>
        </p:scale>
        <p:origin x="38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9891BAE-3010-4B29-87A0-9EE29A00AE05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7FC5A5-1BA0-4B7E-92D3-7983632DF5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5089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FC5A5-1BA0-4B7E-92D3-7983632DF5C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9861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7FC5A5-1BA0-4B7E-92D3-7983632DF5C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6238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 fontAlgn="auto">
              <a:lnSpc>
                <a:spcPct val="300000"/>
              </a:lnSpc>
              <a:defRPr sz="4400" b="1" baseline="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800" b="1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7876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48709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72095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  <a:lvl2pPr>
              <a:defRPr sz="2400" b="1"/>
            </a:lvl2pPr>
            <a:lvl3pPr>
              <a:defRPr sz="2400" b="1"/>
            </a:lvl3pPr>
            <a:lvl4pPr>
              <a:defRPr sz="2400" b="1"/>
            </a:lvl4pPr>
            <a:lvl5pPr>
              <a:defRPr sz="2400" b="1"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>
                <a:latin typeface="+mn-ea"/>
                <a:ea typeface="+mn-ea"/>
              </a:defRPr>
            </a:lvl1pPr>
            <a:lvl2pPr>
              <a:defRPr sz="2400" b="1">
                <a:latin typeface="+mn-ea"/>
                <a:ea typeface="+mn-ea"/>
              </a:defRPr>
            </a:lvl2pPr>
            <a:lvl3pPr>
              <a:defRPr sz="2400" b="1">
                <a:latin typeface="+mn-ea"/>
                <a:ea typeface="+mn-ea"/>
              </a:defRPr>
            </a:lvl3pPr>
            <a:lvl4pPr>
              <a:defRPr sz="2400" b="1">
                <a:latin typeface="+mn-ea"/>
                <a:ea typeface="+mn-ea"/>
              </a:defRPr>
            </a:lvl4pPr>
            <a:lvl5pPr>
              <a:defRPr sz="2400" b="1">
                <a:latin typeface="+mn-ea"/>
                <a:ea typeface="+mn-ea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8868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9421273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05256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3144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2800" b="1">
                <a:latin typeface="+mj-ea"/>
                <a:ea typeface="+mj-ea"/>
              </a:defRPr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6197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4950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>
            <a:lvl1pPr>
              <a:defRPr b="0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732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>
            <a:normAutofit/>
          </a:bodyPr>
          <a:lstStyle>
            <a:lvl1pPr>
              <a:defRPr sz="2800" b="1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>
            <a:lvl1pPr>
              <a:defRPr b="1"/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97792F0-EF9F-4BE1-B63F-330AAC244D27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33D2BE-6074-4EB8-AFBD-6B932328C7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884546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"/>
          <p:cNvSpPr/>
          <p:nvPr userDrawn="1"/>
        </p:nvSpPr>
        <p:spPr>
          <a:xfrm>
            <a:off x="297498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76828" y="6435405"/>
            <a:ext cx="1532890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第一节</a:t>
            </a:r>
            <a:r>
              <a:rPr lang="en-US" altLang="zh-CN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导数概念</a:t>
            </a:r>
          </a:p>
        </p:txBody>
      </p:sp>
      <p:cxnSp>
        <p:nvCxnSpPr>
          <p:cNvPr id="10" name="直接连接符 9"/>
          <p:cNvCxnSpPr/>
          <p:nvPr userDrawn="1"/>
        </p:nvCxnSpPr>
        <p:spPr>
          <a:xfrm flipV="1">
            <a:off x="2511359" y="6615405"/>
            <a:ext cx="9680641" cy="1240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63395" cy="30670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第二章   导数与积分</a:t>
            </a:r>
          </a:p>
        </p:txBody>
      </p:sp>
    </p:spTree>
    <p:extLst>
      <p:ext uri="{BB962C8B-B14F-4D97-AF65-F5344CB8AC3E}">
        <p14:creationId xmlns:p14="http://schemas.microsoft.com/office/powerpoint/2010/main" val="6846272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</p:spTree>
    <p:extLst>
      <p:ext uri="{BB962C8B-B14F-4D97-AF65-F5344CB8AC3E}">
        <p14:creationId xmlns:p14="http://schemas.microsoft.com/office/powerpoint/2010/main" val="168173716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/>
          <p:cNvSpPr/>
          <p:nvPr userDrawn="1"/>
        </p:nvSpPr>
        <p:spPr>
          <a:xfrm rot="2659048">
            <a:off x="9774913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直接连接符 10"/>
          <p:cNvCxnSpPr/>
          <p:nvPr userDrawn="1"/>
        </p:nvCxnSpPr>
        <p:spPr>
          <a:xfrm>
            <a:off x="0" y="217369"/>
            <a:ext cx="9508067" cy="28338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/>
          <p:cNvSpPr/>
          <p:nvPr userDrawn="1"/>
        </p:nvSpPr>
        <p:spPr>
          <a:xfrm>
            <a:off x="10030085" y="112357"/>
            <a:ext cx="177965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第一章   函数与极限</a:t>
            </a:r>
          </a:p>
        </p:txBody>
      </p:sp>
      <p:sp>
        <p:nvSpPr>
          <p:cNvPr id="5" name="Rectangle 1"/>
          <p:cNvSpPr/>
          <p:nvPr userDrawn="1"/>
        </p:nvSpPr>
        <p:spPr>
          <a:xfrm>
            <a:off x="6096000" y="6338672"/>
            <a:ext cx="6100032" cy="516885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1"/>
          <p:cNvSpPr/>
          <p:nvPr userDrawn="1"/>
        </p:nvSpPr>
        <p:spPr>
          <a:xfrm>
            <a:off x="0" y="6335487"/>
            <a:ext cx="3095897" cy="52251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1"/>
          <p:cNvSpPr/>
          <p:nvPr userDrawn="1"/>
        </p:nvSpPr>
        <p:spPr>
          <a:xfrm>
            <a:off x="3095897" y="6335487"/>
            <a:ext cx="3000104" cy="52251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>
            <a:outerShdw blurRad="50800" dist="38100" dir="16200000" rotWithShape="0">
              <a:schemeClr val="bg1">
                <a:lumMod val="50000"/>
                <a:alpha val="55000"/>
              </a:scheme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/>
          <p:cNvSpPr/>
          <p:nvPr userDrawn="1"/>
        </p:nvSpPr>
        <p:spPr>
          <a:xfrm>
            <a:off x="6091968" y="7110185"/>
            <a:ext cx="6100032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1"/>
          <p:cNvSpPr/>
          <p:nvPr userDrawn="1"/>
        </p:nvSpPr>
        <p:spPr>
          <a:xfrm>
            <a:off x="-4032" y="7110186"/>
            <a:ext cx="3099929" cy="224344"/>
          </a:xfrm>
          <a:prstGeom prst="rect">
            <a:avLst/>
          </a:prstGeom>
          <a:solidFill>
            <a:srgbClr val="04926A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"/>
          <p:cNvSpPr/>
          <p:nvPr userDrawn="1"/>
        </p:nvSpPr>
        <p:spPr>
          <a:xfrm>
            <a:off x="3095897" y="7110186"/>
            <a:ext cx="2996071" cy="224344"/>
          </a:xfrm>
          <a:prstGeom prst="rect">
            <a:avLst/>
          </a:prstGeom>
          <a:solidFill>
            <a:schemeClr val="bg1"/>
          </a:solidFill>
          <a:ln w="12700" cap="flat" cmpd="sng" algn="ctr">
            <a:solidFill>
              <a:srgbClr val="04926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045200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文框 6"/>
          <p:cNvSpPr/>
          <p:nvPr userDrawn="1"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0" y="-1905"/>
            <a:ext cx="6996430" cy="6859905"/>
          </a:xfrm>
          <a:prstGeom prst="rect">
            <a:avLst/>
          </a:prstGeom>
        </p:spPr>
      </p:pic>
      <p:sp>
        <p:nvSpPr>
          <p:cNvPr id="9" name="Rectangle 1"/>
          <p:cNvSpPr/>
          <p:nvPr userDrawn="1"/>
        </p:nvSpPr>
        <p:spPr>
          <a:xfrm>
            <a:off x="0" y="-1270"/>
            <a:ext cx="12192000" cy="6858635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矩形: 剪去对角 21"/>
          <p:cNvSpPr/>
          <p:nvPr userDrawn="1"/>
        </p:nvSpPr>
        <p:spPr>
          <a:xfrm>
            <a:off x="2496186" y="1627425"/>
            <a:ext cx="7199628" cy="3231673"/>
          </a:xfrm>
          <a:prstGeom prst="snip2DiagRect">
            <a:avLst>
              <a:gd name="adj1" fmla="val 0"/>
              <a:gd name="adj2" fmla="val 6393"/>
            </a:avLst>
          </a:prstGeom>
          <a:gradFill flip="none" rotWithShape="1">
            <a:gsLst>
              <a:gs pos="0">
                <a:schemeClr val="bg1"/>
              </a:gs>
              <a:gs pos="29000">
                <a:schemeClr val="bg1">
                  <a:alpha val="50000"/>
                </a:schemeClr>
              </a:gs>
              <a:gs pos="66000">
                <a:schemeClr val="bg1"/>
              </a:gs>
              <a:gs pos="100000">
                <a:schemeClr val="bg1">
                  <a:lumMod val="95000"/>
                </a:schemeClr>
              </a:gs>
            </a:gsLst>
            <a:lin ang="8100000" scaled="1"/>
            <a:tileRect/>
          </a:gradFill>
          <a:ln>
            <a:gradFill flip="none" rotWithShape="1">
              <a:gsLst>
                <a:gs pos="53000">
                  <a:srgbClr val="AA69D6"/>
                </a:gs>
                <a:gs pos="2419">
                  <a:srgbClr val="AC5FD4"/>
                </a:gs>
                <a:gs pos="26000">
                  <a:srgbClr val="AC5FD4"/>
                </a:gs>
                <a:gs pos="100000">
                  <a:srgbClr val="7030A0"/>
                </a:gs>
              </a:gsLst>
              <a:path path="circle">
                <a:fillToRect l="50000" t="50000" r="50000" b="50000"/>
              </a:path>
              <a:tileRect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2914015" y="2211408"/>
            <a:ext cx="6363970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575945" algn="just">
              <a:lnSpc>
                <a:spcPct val="150000"/>
              </a:lnSpc>
            </a:pP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本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PPT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为高等教育出版社出版的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《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高等数学</a:t>
            </a:r>
            <a:r>
              <a:rPr lang="en-US" altLang="zh-CN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》</a:t>
            </a:r>
            <a:r>
              <a:rPr lang="zh-CN" altLang="en-US" sz="2200" kern="100" dirty="0">
                <a:solidFill>
                  <a:prstClr val="black"/>
                </a:solidFill>
                <a:latin typeface="华文中宋" panose="02010600040101010101" pitchFamily="2" charset="-122"/>
                <a:ea typeface="华文中宋" panose="02010600040101010101" pitchFamily="2" charset="-122"/>
                <a:cs typeface="方正大标宋简体" panose="02010601030101010101" charset="-122"/>
              </a:rPr>
              <a:t>（第八版）教材配套课件，仅供受赠老师本人用于“高等数学”课堂教学。未经许可，任何人不能进行任何其他方式的传播。</a:t>
            </a:r>
            <a:endParaRPr lang="zh-CN" altLang="en-US" sz="2200" kern="100" dirty="0">
              <a:solidFill>
                <a:prstClr val="black"/>
              </a:solidFill>
              <a:latin typeface="华文中宋" panose="02010600040101010101" pitchFamily="2" charset="-122"/>
              <a:ea typeface="华文中宋" panose="02010600040101010101" pitchFamily="2" charset="-122"/>
              <a:cs typeface="方正大标宋简体" panose="02010601030101010101" charset="-122"/>
              <a:sym typeface="+mn-ea"/>
            </a:endParaRPr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4981488" y="5711355"/>
            <a:ext cx="2229025" cy="475907"/>
            <a:chOff x="3928951" y="7786292"/>
            <a:chExt cx="2663761" cy="568726"/>
          </a:xfrm>
        </p:grpSpPr>
        <p:pic>
          <p:nvPicPr>
            <p:cNvPr id="13" name="图片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41954" y="7786292"/>
              <a:ext cx="2050758" cy="472171"/>
            </a:xfrm>
            <a:prstGeom prst="rect">
              <a:avLst/>
            </a:prstGeom>
          </p:spPr>
        </p:pic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28951" y="7804037"/>
              <a:ext cx="551568" cy="5509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0561880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815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76534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96239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89873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0974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8829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93061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620040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212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1">
            <a:extLst>
              <a:ext uri="{FF2B5EF4-FFF2-40B4-BE49-F238E27FC236}">
                <a16:creationId xmlns:a16="http://schemas.microsoft.com/office/drawing/2014/main" id="{E77CB599-4668-72EE-C1A4-7EA7E2FF3BCA}"/>
              </a:ext>
            </a:extLst>
          </p:cNvPr>
          <p:cNvSpPr/>
          <p:nvPr userDrawn="1"/>
        </p:nvSpPr>
        <p:spPr>
          <a:xfrm>
            <a:off x="257742" y="6546328"/>
            <a:ext cx="82948" cy="81477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CF84B0C-D4EE-A3BE-6D8F-85DAAE062DC3}"/>
              </a:ext>
            </a:extLst>
          </p:cNvPr>
          <p:cNvSpPr/>
          <p:nvPr userDrawn="1"/>
        </p:nvSpPr>
        <p:spPr>
          <a:xfrm rot="2659048">
            <a:off x="9679218" y="172138"/>
            <a:ext cx="147664" cy="140036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73000"/>
                </a:srgbClr>
              </a:gs>
              <a:gs pos="61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71FF5A9-A90B-7714-33B4-2C1CEBC5A846}"/>
              </a:ext>
            </a:extLst>
          </p:cNvPr>
          <p:cNvSpPr/>
          <p:nvPr userDrawn="1"/>
        </p:nvSpPr>
        <p:spPr>
          <a:xfrm>
            <a:off x="370812" y="6435405"/>
            <a:ext cx="22397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空间曲线及其方程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1F638AD-676A-FA4D-67C3-6551142A36E0}"/>
              </a:ext>
            </a:extLst>
          </p:cNvPr>
          <p:cNvSpPr/>
          <p:nvPr userDrawn="1"/>
        </p:nvSpPr>
        <p:spPr>
          <a:xfrm>
            <a:off x="9841626" y="112357"/>
            <a:ext cx="221246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第八章 空间曲线及其方程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29788BC7-5A88-F65A-5037-67D8ACD4C4CD}"/>
              </a:ext>
            </a:extLst>
          </p:cNvPr>
          <p:cNvCxnSpPr/>
          <p:nvPr userDrawn="1"/>
        </p:nvCxnSpPr>
        <p:spPr>
          <a:xfrm>
            <a:off x="0" y="250010"/>
            <a:ext cx="9508067" cy="0"/>
          </a:xfrm>
          <a:prstGeom prst="line">
            <a:avLst/>
          </a:prstGeom>
          <a:ln>
            <a:solidFill>
              <a:srgbClr val="04926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8445438-828F-DD33-2AE4-DED5F494E7C2}"/>
              </a:ext>
            </a:extLst>
          </p:cNvPr>
          <p:cNvCxnSpPr/>
          <p:nvPr userDrawn="1"/>
        </p:nvCxnSpPr>
        <p:spPr>
          <a:xfrm>
            <a:off x="2683933" y="6582637"/>
            <a:ext cx="9508067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45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60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453706-F419-4023-A58A-D6EE144B71A3}" type="datetimeFigureOut">
              <a:rPr lang="zh-CN" altLang="en-US" smtClean="0"/>
              <a:t>2023/7/5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D7C98F-223D-4AB2-8916-8559149228E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0090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1.jpeg"/><Relationship Id="rId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3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Relationship Id="rId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8" Type="http://schemas.openxmlformats.org/officeDocument/2006/relationships/image" Target="../media/image100.png"/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20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0.png"/><Relationship Id="rId19" Type="http://schemas.openxmlformats.org/officeDocument/2006/relationships/image" Target="../media/image39.png"/><Relationship Id="rId4" Type="http://schemas.openxmlformats.org/officeDocument/2006/relationships/image" Target="../media/image27.png"/><Relationship Id="rId9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3.png"/><Relationship Id="rId11" Type="http://schemas.openxmlformats.org/officeDocument/2006/relationships/image" Target="../media/image17.png"/><Relationship Id="rId5" Type="http://schemas.openxmlformats.org/officeDocument/2006/relationships/image" Target="../media/image42.png"/><Relationship Id="rId10" Type="http://schemas.openxmlformats.org/officeDocument/2006/relationships/image" Target="../media/image45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8.png"/><Relationship Id="rId18" Type="http://schemas.openxmlformats.org/officeDocument/2006/relationships/image" Target="../media/image63.png"/><Relationship Id="rId12" Type="http://schemas.openxmlformats.org/officeDocument/2006/relationships/image" Target="../media/image57.png"/><Relationship Id="rId17" Type="http://schemas.openxmlformats.org/officeDocument/2006/relationships/image" Target="../media/image62.png"/><Relationship Id="rId2" Type="http://schemas.openxmlformats.org/officeDocument/2006/relationships/image" Target="../media/image26.png"/><Relationship Id="rId16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56.png"/><Relationship Id="rId15" Type="http://schemas.openxmlformats.org/officeDocument/2006/relationships/image" Target="../media/image60.png"/><Relationship Id="rId10" Type="http://schemas.openxmlformats.org/officeDocument/2006/relationships/image" Target="../media/image19.png"/><Relationship Id="rId9" Type="http://schemas.openxmlformats.org/officeDocument/2006/relationships/image" Target="../media/image54.png"/><Relationship Id="rId14" Type="http://schemas.openxmlformats.org/officeDocument/2006/relationships/image" Target="../media/image5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jp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38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6" Type="http://schemas.openxmlformats.org/officeDocument/2006/relationships/image" Target="../media/image93.png"/><Relationship Id="rId5" Type="http://schemas.openxmlformats.org/officeDocument/2006/relationships/image" Target="../media/image16.png"/><Relationship Id="rId4" Type="http://schemas.openxmlformats.org/officeDocument/2006/relationships/image" Target="../media/image9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Relationship Id="rId6" Type="http://schemas.openxmlformats.org/officeDocument/2006/relationships/image" Target="../media/image97.png"/><Relationship Id="rId5" Type="http://schemas.openxmlformats.org/officeDocument/2006/relationships/image" Target="../media/image55.png"/><Relationship Id="rId4" Type="http://schemas.openxmlformats.org/officeDocument/2006/relationships/image" Target="../media/image4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image" Target="../media/image18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png"/><Relationship Id="rId3" Type="http://schemas.openxmlformats.org/officeDocument/2006/relationships/image" Target="../media/image67.png"/><Relationship Id="rId7" Type="http://schemas.openxmlformats.org/officeDocument/2006/relationships/image" Target="../media/image69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image" Target="../media/image104.png"/><Relationship Id="rId5" Type="http://schemas.openxmlformats.org/officeDocument/2006/relationships/image" Target="../media/image103.png"/><Relationship Id="rId4" Type="http://schemas.openxmlformats.org/officeDocument/2006/relationships/image" Target="../media/image68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70.png"/><Relationship Id="rId7" Type="http://schemas.openxmlformats.org/officeDocument/2006/relationships/image" Target="../media/image11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5" Type="http://schemas.openxmlformats.org/officeDocument/2006/relationships/image" Target="../media/image109.png"/><Relationship Id="rId4" Type="http://schemas.openxmlformats.org/officeDocument/2006/relationships/image" Target="../media/image108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7.png"/><Relationship Id="rId3" Type="http://schemas.openxmlformats.org/officeDocument/2006/relationships/image" Target="../media/image26.png"/><Relationship Id="rId7" Type="http://schemas.openxmlformats.org/officeDocument/2006/relationships/image" Target="../media/image1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5.png"/><Relationship Id="rId5" Type="http://schemas.openxmlformats.org/officeDocument/2006/relationships/image" Target="../media/image114.png"/><Relationship Id="rId4" Type="http://schemas.openxmlformats.org/officeDocument/2006/relationships/image" Target="../media/image1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eg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7.png"/><Relationship Id="rId7" Type="http://schemas.openxmlformats.org/officeDocument/2006/relationships/image" Target="../media/image36.jpeg"/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0.png"/><Relationship Id="rId5" Type="http://schemas.openxmlformats.org/officeDocument/2006/relationships/image" Target="../media/image129.png"/><Relationship Id="rId4" Type="http://schemas.openxmlformats.org/officeDocument/2006/relationships/image" Target="../media/image12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-1"/>
            <a:ext cx="12192000" cy="6871855"/>
          </a:xfrm>
          <a:prstGeom prst="rect">
            <a:avLst/>
          </a:prstGeom>
        </p:spPr>
      </p:pic>
      <p:sp>
        <p:nvSpPr>
          <p:cNvPr id="9" name="图文框 8"/>
          <p:cNvSpPr/>
          <p:nvPr/>
        </p:nvSpPr>
        <p:spPr>
          <a:xfrm>
            <a:off x="0" y="-1"/>
            <a:ext cx="12192001" cy="685800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Rectangle 1"/>
          <p:cNvSpPr/>
          <p:nvPr/>
        </p:nvSpPr>
        <p:spPr>
          <a:xfrm>
            <a:off x="0" y="1312540"/>
            <a:ext cx="11144250" cy="356426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12"/>
          <p:cNvSpPr txBox="1"/>
          <p:nvPr/>
        </p:nvSpPr>
        <p:spPr>
          <a:xfrm>
            <a:off x="5524507" y="2152682"/>
            <a:ext cx="510909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9600" b="1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高等数学</a:t>
            </a:r>
            <a:endParaRPr lang="en-US" altLang="zh-CN" sz="96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TextBox 12"/>
          <p:cNvSpPr txBox="1"/>
          <p:nvPr/>
        </p:nvSpPr>
        <p:spPr>
          <a:xfrm>
            <a:off x="9118170" y="3703526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1218565"/>
            <a:r>
              <a:rPr lang="zh-CN" altLang="en-US" sz="3200" b="1" dirty="0">
                <a:solidFill>
                  <a:schemeClr val="bg1"/>
                </a:solidFill>
                <a:effectLst>
                  <a:innerShdw blurRad="63500" dist="50800" dir="18900000">
                    <a:prstClr val="black">
                      <a:alpha val="50000"/>
                    </a:prstClr>
                  </a:inn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第八版</a:t>
            </a:r>
            <a:endParaRPr lang="en-US" altLang="zh-CN" sz="3200" b="1" dirty="0">
              <a:solidFill>
                <a:schemeClr val="bg1"/>
              </a:solidFill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783949" y="5176128"/>
            <a:ext cx="367267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22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同济大学数学科学学院   编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/>
          <p:nvPr/>
        </p:nvSpPr>
        <p:spPr>
          <a:xfrm flipH="1">
            <a:off x="0" y="0"/>
            <a:ext cx="12192000" cy="6872990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789305" y="2369185"/>
            <a:ext cx="11083290" cy="450405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629285" y="2499995"/>
            <a:ext cx="10923270" cy="4373245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87045" y="2640330"/>
            <a:ext cx="10746105" cy="4232910"/>
          </a:xfrm>
          <a:prstGeom prst="rect">
            <a:avLst/>
          </a:prstGeom>
          <a:solidFill>
            <a:schemeClr val="bg1"/>
          </a:solidFill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任意多边形 41"/>
          <p:cNvSpPr/>
          <p:nvPr/>
        </p:nvSpPr>
        <p:spPr>
          <a:xfrm flipH="1">
            <a:off x="4953210" y="3160432"/>
            <a:ext cx="1784904" cy="429397"/>
          </a:xfrm>
          <a:custGeom>
            <a:avLst/>
            <a:gdLst/>
            <a:ahLst/>
            <a:cxnLst/>
            <a:rect l="l" t="t" r="r" b="b"/>
            <a:pathLst>
              <a:path w="1784904" h="429397">
                <a:moveTo>
                  <a:pt x="326672" y="316347"/>
                </a:moveTo>
                <a:cubicBezTo>
                  <a:pt x="322782" y="316737"/>
                  <a:pt x="318710" y="321188"/>
                  <a:pt x="314454" y="329699"/>
                </a:cubicBezTo>
                <a:cubicBezTo>
                  <a:pt x="309673" y="355056"/>
                  <a:pt x="310417" y="375966"/>
                  <a:pt x="316687" y="392430"/>
                </a:cubicBezTo>
                <a:cubicBezTo>
                  <a:pt x="326956" y="411666"/>
                  <a:pt x="343187" y="421926"/>
                  <a:pt x="365381" y="423210"/>
                </a:cubicBezTo>
                <a:cubicBezTo>
                  <a:pt x="383985" y="421777"/>
                  <a:pt x="393287" y="411824"/>
                  <a:pt x="393287" y="393351"/>
                </a:cubicBezTo>
                <a:cubicBezTo>
                  <a:pt x="393287" y="384012"/>
                  <a:pt x="384450" y="374934"/>
                  <a:pt x="366777" y="366116"/>
                </a:cubicBezTo>
                <a:cubicBezTo>
                  <a:pt x="348062" y="355102"/>
                  <a:pt x="337634" y="344787"/>
                  <a:pt x="335495" y="335169"/>
                </a:cubicBezTo>
                <a:cubicBezTo>
                  <a:pt x="334286" y="325439"/>
                  <a:pt x="332621" y="319486"/>
                  <a:pt x="330500" y="317309"/>
                </a:cubicBezTo>
                <a:cubicBezTo>
                  <a:pt x="329244" y="316537"/>
                  <a:pt x="327968" y="316216"/>
                  <a:pt x="326672" y="316347"/>
                </a:cubicBezTo>
                <a:close/>
                <a:moveTo>
                  <a:pt x="90072" y="314517"/>
                </a:moveTo>
                <a:cubicBezTo>
                  <a:pt x="88181" y="314481"/>
                  <a:pt x="85529" y="315049"/>
                  <a:pt x="82115" y="316221"/>
                </a:cubicBezTo>
                <a:cubicBezTo>
                  <a:pt x="78822" y="316221"/>
                  <a:pt x="74432" y="316919"/>
                  <a:pt x="68944" y="318314"/>
                </a:cubicBezTo>
                <a:cubicBezTo>
                  <a:pt x="41001" y="328025"/>
                  <a:pt x="20240" y="340294"/>
                  <a:pt x="6659" y="355121"/>
                </a:cubicBezTo>
                <a:cubicBezTo>
                  <a:pt x="-7721" y="387658"/>
                  <a:pt x="1190" y="408606"/>
                  <a:pt x="33393" y="417964"/>
                </a:cubicBezTo>
                <a:cubicBezTo>
                  <a:pt x="52480" y="417964"/>
                  <a:pt x="62712" y="406969"/>
                  <a:pt x="64088" y="384980"/>
                </a:cubicBezTo>
                <a:cubicBezTo>
                  <a:pt x="65205" y="364051"/>
                  <a:pt x="72683" y="346107"/>
                  <a:pt x="86524" y="331150"/>
                </a:cubicBezTo>
                <a:cubicBezTo>
                  <a:pt x="94561" y="320170"/>
                  <a:pt x="95743" y="314625"/>
                  <a:pt x="90072" y="314517"/>
                </a:cubicBezTo>
                <a:close/>
                <a:moveTo>
                  <a:pt x="187597" y="314463"/>
                </a:moveTo>
                <a:cubicBezTo>
                  <a:pt x="184025" y="314463"/>
                  <a:pt x="177449" y="315663"/>
                  <a:pt x="167868" y="318063"/>
                </a:cubicBezTo>
                <a:cubicBezTo>
                  <a:pt x="140149" y="326881"/>
                  <a:pt x="121899" y="339420"/>
                  <a:pt x="113118" y="355679"/>
                </a:cubicBezTo>
                <a:cubicBezTo>
                  <a:pt x="103630" y="385742"/>
                  <a:pt x="112662" y="404169"/>
                  <a:pt x="140214" y="410959"/>
                </a:cubicBezTo>
                <a:cubicBezTo>
                  <a:pt x="159506" y="410959"/>
                  <a:pt x="169152" y="398086"/>
                  <a:pt x="169152" y="372338"/>
                </a:cubicBezTo>
                <a:cubicBezTo>
                  <a:pt x="169152" y="352712"/>
                  <a:pt x="173217" y="338322"/>
                  <a:pt x="181346" y="329169"/>
                </a:cubicBezTo>
                <a:cubicBezTo>
                  <a:pt x="188397" y="323941"/>
                  <a:pt x="190481" y="319039"/>
                  <a:pt x="187597" y="314463"/>
                </a:cubicBezTo>
                <a:close/>
                <a:moveTo>
                  <a:pt x="277968" y="311505"/>
                </a:moveTo>
                <a:cubicBezTo>
                  <a:pt x="274629" y="311868"/>
                  <a:pt x="269620" y="313003"/>
                  <a:pt x="262941" y="314909"/>
                </a:cubicBezTo>
                <a:cubicBezTo>
                  <a:pt x="234701" y="328434"/>
                  <a:pt x="216898" y="342564"/>
                  <a:pt x="209531" y="357298"/>
                </a:cubicBezTo>
                <a:cubicBezTo>
                  <a:pt x="198815" y="387528"/>
                  <a:pt x="209121" y="406002"/>
                  <a:pt x="240450" y="412717"/>
                </a:cubicBezTo>
                <a:cubicBezTo>
                  <a:pt x="260616" y="411285"/>
                  <a:pt x="269536" y="397118"/>
                  <a:pt x="267211" y="370218"/>
                </a:cubicBezTo>
                <a:cubicBezTo>
                  <a:pt x="264867" y="350610"/>
                  <a:pt x="266634" y="337485"/>
                  <a:pt x="272513" y="330843"/>
                </a:cubicBezTo>
                <a:cubicBezTo>
                  <a:pt x="280643" y="318770"/>
                  <a:pt x="284131" y="312733"/>
                  <a:pt x="282977" y="312733"/>
                </a:cubicBezTo>
                <a:cubicBezTo>
                  <a:pt x="282977" y="311551"/>
                  <a:pt x="281308" y="311142"/>
                  <a:pt x="277968" y="311505"/>
                </a:cubicBezTo>
                <a:close/>
                <a:moveTo>
                  <a:pt x="637411" y="288371"/>
                </a:moveTo>
                <a:lnTo>
                  <a:pt x="637411" y="330229"/>
                </a:lnTo>
                <a:lnTo>
                  <a:pt x="576578" y="330229"/>
                </a:lnTo>
                <a:lnTo>
                  <a:pt x="560588" y="304138"/>
                </a:lnTo>
                <a:cubicBezTo>
                  <a:pt x="576922" y="307635"/>
                  <a:pt x="584503" y="302380"/>
                  <a:pt x="583331" y="288371"/>
                </a:cubicBezTo>
                <a:close/>
                <a:moveTo>
                  <a:pt x="1182178" y="241100"/>
                </a:moveTo>
                <a:lnTo>
                  <a:pt x="1182178" y="272438"/>
                </a:lnTo>
                <a:lnTo>
                  <a:pt x="1049293" y="272438"/>
                </a:lnTo>
                <a:lnTo>
                  <a:pt x="1049293" y="241100"/>
                </a:lnTo>
                <a:close/>
                <a:moveTo>
                  <a:pt x="637411" y="225333"/>
                </a:moveTo>
                <a:lnTo>
                  <a:pt x="637411" y="270707"/>
                </a:lnTo>
                <a:lnTo>
                  <a:pt x="583331" y="270707"/>
                </a:lnTo>
                <a:lnTo>
                  <a:pt x="583331" y="225333"/>
                </a:lnTo>
                <a:close/>
                <a:moveTo>
                  <a:pt x="752995" y="225333"/>
                </a:moveTo>
                <a:lnTo>
                  <a:pt x="752995" y="268949"/>
                </a:lnTo>
                <a:lnTo>
                  <a:pt x="697157" y="268949"/>
                </a:lnTo>
                <a:lnTo>
                  <a:pt x="697157" y="225333"/>
                </a:lnTo>
                <a:close/>
                <a:moveTo>
                  <a:pt x="1170514" y="197317"/>
                </a:moveTo>
                <a:cubicBezTo>
                  <a:pt x="1180616" y="196163"/>
                  <a:pt x="1184504" y="199679"/>
                  <a:pt x="1182178" y="207865"/>
                </a:cubicBezTo>
                <a:lnTo>
                  <a:pt x="1182178" y="225166"/>
                </a:lnTo>
                <a:lnTo>
                  <a:pt x="1049293" y="225166"/>
                </a:lnTo>
                <a:lnTo>
                  <a:pt x="1049293" y="197317"/>
                </a:lnTo>
                <a:close/>
                <a:moveTo>
                  <a:pt x="1604553" y="188582"/>
                </a:moveTo>
                <a:cubicBezTo>
                  <a:pt x="1622710" y="230459"/>
                  <a:pt x="1648327" y="264252"/>
                  <a:pt x="1681404" y="289962"/>
                </a:cubicBezTo>
                <a:lnTo>
                  <a:pt x="1604553" y="289962"/>
                </a:lnTo>
                <a:close/>
                <a:moveTo>
                  <a:pt x="250830" y="181578"/>
                </a:moveTo>
                <a:cubicBezTo>
                  <a:pt x="259276" y="182415"/>
                  <a:pt x="263499" y="185299"/>
                  <a:pt x="263499" y="190229"/>
                </a:cubicBezTo>
                <a:lnTo>
                  <a:pt x="263499" y="261945"/>
                </a:lnTo>
                <a:lnTo>
                  <a:pt x="132373" y="261945"/>
                </a:lnTo>
                <a:lnTo>
                  <a:pt x="132373" y="181578"/>
                </a:lnTo>
                <a:close/>
                <a:moveTo>
                  <a:pt x="737759" y="165812"/>
                </a:moveTo>
                <a:cubicBezTo>
                  <a:pt x="750242" y="164639"/>
                  <a:pt x="755321" y="168156"/>
                  <a:pt x="752995" y="176360"/>
                </a:cubicBezTo>
                <a:lnTo>
                  <a:pt x="752995" y="209400"/>
                </a:lnTo>
                <a:lnTo>
                  <a:pt x="697157" y="209400"/>
                </a:lnTo>
                <a:lnTo>
                  <a:pt x="697157" y="165812"/>
                </a:lnTo>
                <a:close/>
                <a:moveTo>
                  <a:pt x="1229548" y="165184"/>
                </a:moveTo>
                <a:cubicBezTo>
                  <a:pt x="1224915" y="165677"/>
                  <a:pt x="1219311" y="167783"/>
                  <a:pt x="1212735" y="171504"/>
                </a:cubicBezTo>
                <a:cubicBezTo>
                  <a:pt x="1199340" y="177085"/>
                  <a:pt x="1189118" y="180378"/>
                  <a:pt x="1182067" y="181383"/>
                </a:cubicBezTo>
                <a:lnTo>
                  <a:pt x="1049991" y="181383"/>
                </a:lnTo>
                <a:cubicBezTo>
                  <a:pt x="1052707" y="181364"/>
                  <a:pt x="1054214" y="180611"/>
                  <a:pt x="1054512" y="179122"/>
                </a:cubicBezTo>
                <a:cubicBezTo>
                  <a:pt x="1050121" y="171793"/>
                  <a:pt x="1044559" y="167300"/>
                  <a:pt x="1037824" y="165644"/>
                </a:cubicBezTo>
                <a:cubicBezTo>
                  <a:pt x="1010607" y="166909"/>
                  <a:pt x="988683" y="177913"/>
                  <a:pt x="972052" y="198656"/>
                </a:cubicBezTo>
                <a:cubicBezTo>
                  <a:pt x="973745" y="204423"/>
                  <a:pt x="977075" y="209790"/>
                  <a:pt x="982042" y="214757"/>
                </a:cubicBezTo>
                <a:cubicBezTo>
                  <a:pt x="983549" y="217008"/>
                  <a:pt x="984302" y="218171"/>
                  <a:pt x="984302" y="218246"/>
                </a:cubicBezTo>
                <a:lnTo>
                  <a:pt x="984302" y="283962"/>
                </a:lnTo>
                <a:cubicBezTo>
                  <a:pt x="983130" y="303068"/>
                  <a:pt x="995790" y="313300"/>
                  <a:pt x="1022281" y="314658"/>
                </a:cubicBezTo>
                <a:cubicBezTo>
                  <a:pt x="1043787" y="318156"/>
                  <a:pt x="1052791" y="312119"/>
                  <a:pt x="1049293" y="296548"/>
                </a:cubicBezTo>
                <a:lnTo>
                  <a:pt x="1049293" y="290130"/>
                </a:lnTo>
                <a:lnTo>
                  <a:pt x="1080715" y="290130"/>
                </a:lnTo>
                <a:cubicBezTo>
                  <a:pt x="1086482" y="290130"/>
                  <a:pt x="1088193" y="293599"/>
                  <a:pt x="1085849" y="300538"/>
                </a:cubicBezTo>
                <a:lnTo>
                  <a:pt x="1085849" y="326741"/>
                </a:lnTo>
                <a:lnTo>
                  <a:pt x="998422" y="326741"/>
                </a:lnTo>
                <a:cubicBezTo>
                  <a:pt x="999538" y="326741"/>
                  <a:pt x="998320" y="324072"/>
                  <a:pt x="994766" y="318732"/>
                </a:cubicBezTo>
                <a:cubicBezTo>
                  <a:pt x="986916" y="303050"/>
                  <a:pt x="979102" y="295208"/>
                  <a:pt x="971326" y="295208"/>
                </a:cubicBezTo>
                <a:cubicBezTo>
                  <a:pt x="960517" y="297924"/>
                  <a:pt x="945263" y="307282"/>
                  <a:pt x="925561" y="323281"/>
                </a:cubicBezTo>
                <a:cubicBezTo>
                  <a:pt x="921524" y="329197"/>
                  <a:pt x="920092" y="333699"/>
                  <a:pt x="921264" y="336787"/>
                </a:cubicBezTo>
                <a:cubicBezTo>
                  <a:pt x="921264" y="343038"/>
                  <a:pt x="925719" y="345577"/>
                  <a:pt x="934631" y="344405"/>
                </a:cubicBezTo>
                <a:lnTo>
                  <a:pt x="1085849" y="344405"/>
                </a:lnTo>
                <a:lnTo>
                  <a:pt x="1085849" y="407192"/>
                </a:lnTo>
                <a:cubicBezTo>
                  <a:pt x="1083524" y="420029"/>
                  <a:pt x="1096639" y="427098"/>
                  <a:pt x="1125196" y="428400"/>
                </a:cubicBezTo>
                <a:cubicBezTo>
                  <a:pt x="1144636" y="431953"/>
                  <a:pt x="1153194" y="426010"/>
                  <a:pt x="1150869" y="410569"/>
                </a:cubicBezTo>
                <a:lnTo>
                  <a:pt x="1150869" y="344405"/>
                </a:lnTo>
                <a:lnTo>
                  <a:pt x="1299604" y="344405"/>
                </a:lnTo>
                <a:cubicBezTo>
                  <a:pt x="1307678" y="344405"/>
                  <a:pt x="1312794" y="342266"/>
                  <a:pt x="1314952" y="337987"/>
                </a:cubicBezTo>
                <a:cubicBezTo>
                  <a:pt x="1316459" y="332518"/>
                  <a:pt x="1312691" y="328769"/>
                  <a:pt x="1303650" y="326741"/>
                </a:cubicBezTo>
                <a:lnTo>
                  <a:pt x="1150869" y="326741"/>
                </a:lnTo>
                <a:lnTo>
                  <a:pt x="1150869" y="290130"/>
                </a:lnTo>
                <a:lnTo>
                  <a:pt x="1182178" y="290130"/>
                </a:lnTo>
                <a:lnTo>
                  <a:pt x="1182178" y="293785"/>
                </a:lnTo>
                <a:cubicBezTo>
                  <a:pt x="1183927" y="302622"/>
                  <a:pt x="1196559" y="308993"/>
                  <a:pt x="1220074" y="312900"/>
                </a:cubicBezTo>
                <a:cubicBezTo>
                  <a:pt x="1239310" y="316398"/>
                  <a:pt x="1248342" y="310435"/>
                  <a:pt x="1247170" y="295013"/>
                </a:cubicBezTo>
                <a:lnTo>
                  <a:pt x="1247170" y="194219"/>
                </a:lnTo>
                <a:cubicBezTo>
                  <a:pt x="1248342" y="179969"/>
                  <a:pt x="1246128" y="171411"/>
                  <a:pt x="1240528" y="168546"/>
                </a:cubicBezTo>
                <a:cubicBezTo>
                  <a:pt x="1237840" y="165812"/>
                  <a:pt x="1234180" y="164691"/>
                  <a:pt x="1229548" y="165184"/>
                </a:cubicBezTo>
                <a:close/>
                <a:moveTo>
                  <a:pt x="637411" y="164053"/>
                </a:moveTo>
                <a:lnTo>
                  <a:pt x="637411" y="209400"/>
                </a:lnTo>
                <a:lnTo>
                  <a:pt x="583331" y="209400"/>
                </a:lnTo>
                <a:lnTo>
                  <a:pt x="583331" y="164053"/>
                </a:lnTo>
                <a:close/>
                <a:moveTo>
                  <a:pt x="1539561" y="122028"/>
                </a:moveTo>
                <a:lnTo>
                  <a:pt x="1539561" y="289962"/>
                </a:lnTo>
                <a:lnTo>
                  <a:pt x="1537915" y="289962"/>
                </a:lnTo>
                <a:cubicBezTo>
                  <a:pt x="1537747" y="289962"/>
                  <a:pt x="1534696" y="286009"/>
                  <a:pt x="1528762" y="278102"/>
                </a:cubicBezTo>
                <a:cubicBezTo>
                  <a:pt x="1523795" y="269433"/>
                  <a:pt x="1519228" y="264047"/>
                  <a:pt x="1515060" y="261945"/>
                </a:cubicBezTo>
                <a:cubicBezTo>
                  <a:pt x="1508140" y="261945"/>
                  <a:pt x="1500615" y="264847"/>
                  <a:pt x="1492485" y="270652"/>
                </a:cubicBezTo>
                <a:cubicBezTo>
                  <a:pt x="1518102" y="240514"/>
                  <a:pt x="1533729" y="190973"/>
                  <a:pt x="1539366" y="122028"/>
                </a:cubicBezTo>
                <a:close/>
                <a:moveTo>
                  <a:pt x="1178662" y="78245"/>
                </a:moveTo>
                <a:cubicBezTo>
                  <a:pt x="1159798" y="81184"/>
                  <a:pt x="1145306" y="88970"/>
                  <a:pt x="1135186" y="101601"/>
                </a:cubicBezTo>
                <a:cubicBezTo>
                  <a:pt x="1129158" y="116019"/>
                  <a:pt x="1132563" y="128605"/>
                  <a:pt x="1145399" y="139357"/>
                </a:cubicBezTo>
                <a:lnTo>
                  <a:pt x="1103737" y="139357"/>
                </a:lnTo>
                <a:cubicBezTo>
                  <a:pt x="1089617" y="112252"/>
                  <a:pt x="1082556" y="91881"/>
                  <a:pt x="1082556" y="78245"/>
                </a:cubicBezTo>
                <a:close/>
                <a:moveTo>
                  <a:pt x="215553" y="11133"/>
                </a:moveTo>
                <a:cubicBezTo>
                  <a:pt x="212440" y="10891"/>
                  <a:pt x="208712" y="11077"/>
                  <a:pt x="204368" y="11691"/>
                </a:cubicBezTo>
                <a:cubicBezTo>
                  <a:pt x="201168" y="12751"/>
                  <a:pt x="199085" y="13281"/>
                  <a:pt x="198117" y="13281"/>
                </a:cubicBezTo>
                <a:cubicBezTo>
                  <a:pt x="168166" y="14714"/>
                  <a:pt x="154520" y="20155"/>
                  <a:pt x="157180" y="29606"/>
                </a:cubicBezTo>
                <a:cubicBezTo>
                  <a:pt x="158706" y="32620"/>
                  <a:pt x="160817" y="35494"/>
                  <a:pt x="163515" y="38229"/>
                </a:cubicBezTo>
                <a:cubicBezTo>
                  <a:pt x="167124" y="41838"/>
                  <a:pt x="168928" y="45224"/>
                  <a:pt x="168928" y="48386"/>
                </a:cubicBezTo>
                <a:lnTo>
                  <a:pt x="168928" y="81593"/>
                </a:lnTo>
                <a:lnTo>
                  <a:pt x="93752" y="81593"/>
                </a:lnTo>
                <a:cubicBezTo>
                  <a:pt x="93752" y="81593"/>
                  <a:pt x="91454" y="77984"/>
                  <a:pt x="86859" y="70766"/>
                </a:cubicBezTo>
                <a:cubicBezTo>
                  <a:pt x="77167" y="53446"/>
                  <a:pt x="67967" y="46135"/>
                  <a:pt x="59261" y="48833"/>
                </a:cubicBezTo>
                <a:cubicBezTo>
                  <a:pt x="48508" y="57223"/>
                  <a:pt x="35765" y="67548"/>
                  <a:pt x="21031" y="79807"/>
                </a:cubicBezTo>
                <a:cubicBezTo>
                  <a:pt x="16901" y="83919"/>
                  <a:pt x="14835" y="86868"/>
                  <a:pt x="14835" y="88653"/>
                </a:cubicBezTo>
                <a:cubicBezTo>
                  <a:pt x="14835" y="94569"/>
                  <a:pt x="17793" y="97527"/>
                  <a:pt x="23709" y="97527"/>
                </a:cubicBezTo>
                <a:lnTo>
                  <a:pt x="168928" y="97527"/>
                </a:lnTo>
                <a:lnTo>
                  <a:pt x="168928" y="163886"/>
                </a:lnTo>
                <a:lnTo>
                  <a:pt x="131312" y="163886"/>
                </a:lnTo>
                <a:cubicBezTo>
                  <a:pt x="133061" y="163867"/>
                  <a:pt x="133414" y="161942"/>
                  <a:pt x="132373" y="158110"/>
                </a:cubicBezTo>
                <a:cubicBezTo>
                  <a:pt x="126866" y="148492"/>
                  <a:pt x="120345" y="142232"/>
                  <a:pt x="112811" y="139329"/>
                </a:cubicBezTo>
                <a:cubicBezTo>
                  <a:pt x="89296" y="148185"/>
                  <a:pt x="70646" y="162770"/>
                  <a:pt x="56861" y="183085"/>
                </a:cubicBezTo>
                <a:cubicBezTo>
                  <a:pt x="58572" y="188778"/>
                  <a:pt x="63028" y="194507"/>
                  <a:pt x="70227" y="200275"/>
                </a:cubicBezTo>
                <a:cubicBezTo>
                  <a:pt x="71827" y="201335"/>
                  <a:pt x="72627" y="201484"/>
                  <a:pt x="72627" y="200721"/>
                </a:cubicBezTo>
                <a:lnTo>
                  <a:pt x="72627" y="282037"/>
                </a:lnTo>
                <a:cubicBezTo>
                  <a:pt x="76981" y="296604"/>
                  <a:pt x="88915" y="304538"/>
                  <a:pt x="108430" y="305840"/>
                </a:cubicBezTo>
                <a:cubicBezTo>
                  <a:pt x="127889" y="308203"/>
                  <a:pt x="135870" y="303385"/>
                  <a:pt x="132373" y="291385"/>
                </a:cubicBezTo>
                <a:lnTo>
                  <a:pt x="132373" y="277879"/>
                </a:lnTo>
                <a:lnTo>
                  <a:pt x="137535" y="277879"/>
                </a:lnTo>
                <a:lnTo>
                  <a:pt x="263499" y="277879"/>
                </a:lnTo>
                <a:lnTo>
                  <a:pt x="263499" y="291274"/>
                </a:lnTo>
                <a:cubicBezTo>
                  <a:pt x="269545" y="303347"/>
                  <a:pt x="282224" y="309384"/>
                  <a:pt x="301534" y="309384"/>
                </a:cubicBezTo>
                <a:cubicBezTo>
                  <a:pt x="314836" y="310556"/>
                  <a:pt x="320901" y="305077"/>
                  <a:pt x="319729" y="292948"/>
                </a:cubicBezTo>
                <a:lnTo>
                  <a:pt x="319729" y="153449"/>
                </a:lnTo>
                <a:cubicBezTo>
                  <a:pt x="319729" y="144036"/>
                  <a:pt x="307162" y="145357"/>
                  <a:pt x="282029" y="157412"/>
                </a:cubicBezTo>
                <a:cubicBezTo>
                  <a:pt x="270141" y="161728"/>
                  <a:pt x="262830" y="163886"/>
                  <a:pt x="260095" y="163886"/>
                </a:cubicBezTo>
                <a:lnTo>
                  <a:pt x="226943" y="163886"/>
                </a:lnTo>
                <a:lnTo>
                  <a:pt x="226943" y="148203"/>
                </a:lnTo>
                <a:lnTo>
                  <a:pt x="226943" y="24862"/>
                </a:lnTo>
                <a:cubicBezTo>
                  <a:pt x="228688" y="16435"/>
                  <a:pt x="224891" y="11858"/>
                  <a:pt x="215553" y="11133"/>
                </a:cubicBezTo>
                <a:close/>
                <a:moveTo>
                  <a:pt x="1149983" y="6033"/>
                </a:moveTo>
                <a:cubicBezTo>
                  <a:pt x="1146011" y="5638"/>
                  <a:pt x="1140930" y="5738"/>
                  <a:pt x="1134739" y="6333"/>
                </a:cubicBezTo>
                <a:cubicBezTo>
                  <a:pt x="1109643" y="7579"/>
                  <a:pt x="1093002" y="12305"/>
                  <a:pt x="1084817" y="20509"/>
                </a:cubicBezTo>
                <a:cubicBezTo>
                  <a:pt x="1072669" y="40061"/>
                  <a:pt x="1073013" y="53418"/>
                  <a:pt x="1085849" y="60581"/>
                </a:cubicBezTo>
                <a:lnTo>
                  <a:pt x="1022923" y="60581"/>
                </a:lnTo>
                <a:cubicBezTo>
                  <a:pt x="1024169" y="60581"/>
                  <a:pt x="1023035" y="57706"/>
                  <a:pt x="1019518" y="51958"/>
                </a:cubicBezTo>
                <a:cubicBezTo>
                  <a:pt x="1010589" y="34917"/>
                  <a:pt x="1002682" y="25532"/>
                  <a:pt x="995799" y="23802"/>
                </a:cubicBezTo>
                <a:cubicBezTo>
                  <a:pt x="985400" y="23802"/>
                  <a:pt x="968433" y="34340"/>
                  <a:pt x="944900" y="55418"/>
                </a:cubicBezTo>
                <a:cubicBezTo>
                  <a:pt x="939654" y="63027"/>
                  <a:pt x="938723" y="68971"/>
                  <a:pt x="942109" y="73250"/>
                </a:cubicBezTo>
                <a:cubicBezTo>
                  <a:pt x="945681" y="76580"/>
                  <a:pt x="953002" y="77668"/>
                  <a:pt x="964071" y="76515"/>
                </a:cubicBezTo>
                <a:lnTo>
                  <a:pt x="1035089" y="76515"/>
                </a:lnTo>
                <a:cubicBezTo>
                  <a:pt x="1002403" y="89295"/>
                  <a:pt x="997111" y="99695"/>
                  <a:pt x="1019211" y="107713"/>
                </a:cubicBezTo>
                <a:cubicBezTo>
                  <a:pt x="1024309" y="110261"/>
                  <a:pt x="1027406" y="111536"/>
                  <a:pt x="1028504" y="111536"/>
                </a:cubicBezTo>
                <a:cubicBezTo>
                  <a:pt x="1044466" y="121098"/>
                  <a:pt x="1057163" y="130372"/>
                  <a:pt x="1066595" y="139357"/>
                </a:cubicBezTo>
                <a:lnTo>
                  <a:pt x="991557" y="139357"/>
                </a:lnTo>
                <a:cubicBezTo>
                  <a:pt x="979074" y="117796"/>
                  <a:pt x="967652" y="105545"/>
                  <a:pt x="957290" y="102606"/>
                </a:cubicBezTo>
                <a:cubicBezTo>
                  <a:pt x="950369" y="102606"/>
                  <a:pt x="937189" y="111099"/>
                  <a:pt x="917748" y="128084"/>
                </a:cubicBezTo>
                <a:cubicBezTo>
                  <a:pt x="915255" y="130539"/>
                  <a:pt x="912716" y="132409"/>
                  <a:pt x="910130" y="133693"/>
                </a:cubicBezTo>
                <a:cubicBezTo>
                  <a:pt x="904716" y="142901"/>
                  <a:pt x="902586" y="148454"/>
                  <a:pt x="903739" y="150352"/>
                </a:cubicBezTo>
                <a:cubicBezTo>
                  <a:pt x="903739" y="154817"/>
                  <a:pt x="909879" y="156463"/>
                  <a:pt x="922157" y="155291"/>
                </a:cubicBezTo>
                <a:lnTo>
                  <a:pt x="1313612" y="155291"/>
                </a:lnTo>
                <a:cubicBezTo>
                  <a:pt x="1321686" y="155291"/>
                  <a:pt x="1326532" y="153691"/>
                  <a:pt x="1328151" y="150492"/>
                </a:cubicBezTo>
                <a:cubicBezTo>
                  <a:pt x="1331369" y="146027"/>
                  <a:pt x="1328458" y="142315"/>
                  <a:pt x="1319417" y="139357"/>
                </a:cubicBezTo>
                <a:lnTo>
                  <a:pt x="1191136" y="139357"/>
                </a:lnTo>
                <a:cubicBezTo>
                  <a:pt x="1198131" y="137367"/>
                  <a:pt x="1200466" y="129795"/>
                  <a:pt x="1198140" y="116642"/>
                </a:cubicBezTo>
                <a:cubicBezTo>
                  <a:pt x="1195796" y="100197"/>
                  <a:pt x="1198364" y="87398"/>
                  <a:pt x="1205842" y="78245"/>
                </a:cubicBezTo>
                <a:lnTo>
                  <a:pt x="1278591" y="78245"/>
                </a:lnTo>
                <a:cubicBezTo>
                  <a:pt x="1285977" y="78245"/>
                  <a:pt x="1291344" y="76580"/>
                  <a:pt x="1294693" y="73250"/>
                </a:cubicBezTo>
                <a:cubicBezTo>
                  <a:pt x="1298023" y="67129"/>
                  <a:pt x="1295176" y="62906"/>
                  <a:pt x="1286153" y="60581"/>
                </a:cubicBezTo>
                <a:lnTo>
                  <a:pt x="1136042" y="60581"/>
                </a:lnTo>
                <a:lnTo>
                  <a:pt x="1137551" y="59046"/>
                </a:lnTo>
                <a:cubicBezTo>
                  <a:pt x="1138718" y="56944"/>
                  <a:pt x="1139651" y="53251"/>
                  <a:pt x="1140348" y="47968"/>
                </a:cubicBezTo>
                <a:cubicBezTo>
                  <a:pt x="1142376" y="37494"/>
                  <a:pt x="1147520" y="29159"/>
                  <a:pt x="1155780" y="22964"/>
                </a:cubicBezTo>
                <a:cubicBezTo>
                  <a:pt x="1163831" y="12863"/>
                  <a:pt x="1161898" y="7219"/>
                  <a:pt x="1149983" y="6033"/>
                </a:cubicBezTo>
                <a:close/>
                <a:moveTo>
                  <a:pt x="582640" y="3654"/>
                </a:moveTo>
                <a:cubicBezTo>
                  <a:pt x="574534" y="4640"/>
                  <a:pt x="566448" y="8258"/>
                  <a:pt x="558384" y="14509"/>
                </a:cubicBezTo>
                <a:cubicBezTo>
                  <a:pt x="513010" y="48833"/>
                  <a:pt x="509922" y="64822"/>
                  <a:pt x="549119" y="62478"/>
                </a:cubicBezTo>
                <a:cubicBezTo>
                  <a:pt x="554719" y="61306"/>
                  <a:pt x="557686" y="60730"/>
                  <a:pt x="558021" y="60748"/>
                </a:cubicBezTo>
                <a:cubicBezTo>
                  <a:pt x="568420" y="63055"/>
                  <a:pt x="582550" y="64804"/>
                  <a:pt x="600409" y="65994"/>
                </a:cubicBezTo>
                <a:cubicBezTo>
                  <a:pt x="619013" y="67166"/>
                  <a:pt x="631347" y="67752"/>
                  <a:pt x="637411" y="67752"/>
                </a:cubicBezTo>
                <a:lnTo>
                  <a:pt x="637411" y="99090"/>
                </a:lnTo>
                <a:lnTo>
                  <a:pt x="530702" y="99090"/>
                </a:lnTo>
                <a:cubicBezTo>
                  <a:pt x="530683" y="99090"/>
                  <a:pt x="526907" y="93193"/>
                  <a:pt x="519372" y="81398"/>
                </a:cubicBezTo>
                <a:cubicBezTo>
                  <a:pt x="511094" y="69548"/>
                  <a:pt x="504917" y="62609"/>
                  <a:pt x="500843" y="60581"/>
                </a:cubicBezTo>
                <a:cubicBezTo>
                  <a:pt x="493439" y="60581"/>
                  <a:pt x="477942" y="71110"/>
                  <a:pt x="454353" y="92170"/>
                </a:cubicBezTo>
                <a:cubicBezTo>
                  <a:pt x="445646" y="107406"/>
                  <a:pt x="446586" y="115024"/>
                  <a:pt x="457171" y="115024"/>
                </a:cubicBezTo>
                <a:lnTo>
                  <a:pt x="637411" y="115024"/>
                </a:lnTo>
                <a:lnTo>
                  <a:pt x="637411" y="148120"/>
                </a:lnTo>
                <a:lnTo>
                  <a:pt x="588493" y="148120"/>
                </a:lnTo>
                <a:cubicBezTo>
                  <a:pt x="589182" y="148120"/>
                  <a:pt x="586661" y="145255"/>
                  <a:pt x="580931" y="139525"/>
                </a:cubicBezTo>
                <a:cubicBezTo>
                  <a:pt x="572969" y="128921"/>
                  <a:pt x="565667" y="123619"/>
                  <a:pt x="559025" y="123619"/>
                </a:cubicBezTo>
                <a:cubicBezTo>
                  <a:pt x="531232" y="136232"/>
                  <a:pt x="513587" y="152203"/>
                  <a:pt x="506089" y="171532"/>
                </a:cubicBezTo>
                <a:cubicBezTo>
                  <a:pt x="508303" y="176425"/>
                  <a:pt x="511615" y="179606"/>
                  <a:pt x="516023" y="181076"/>
                </a:cubicBezTo>
                <a:cubicBezTo>
                  <a:pt x="517568" y="182099"/>
                  <a:pt x="518340" y="182229"/>
                  <a:pt x="518340" y="181466"/>
                </a:cubicBezTo>
                <a:lnTo>
                  <a:pt x="518340" y="279526"/>
                </a:lnTo>
                <a:cubicBezTo>
                  <a:pt x="518340" y="290427"/>
                  <a:pt x="524758" y="297050"/>
                  <a:pt x="537594" y="299394"/>
                </a:cubicBezTo>
                <a:cubicBezTo>
                  <a:pt x="520925" y="306891"/>
                  <a:pt x="507140" y="316695"/>
                  <a:pt x="496239" y="328806"/>
                </a:cubicBezTo>
                <a:cubicBezTo>
                  <a:pt x="492295" y="338052"/>
                  <a:pt x="494146" y="343838"/>
                  <a:pt x="501792" y="346163"/>
                </a:cubicBezTo>
                <a:lnTo>
                  <a:pt x="637411" y="346163"/>
                </a:lnTo>
                <a:lnTo>
                  <a:pt x="637411" y="389779"/>
                </a:lnTo>
                <a:lnTo>
                  <a:pt x="547501" y="389779"/>
                </a:lnTo>
                <a:cubicBezTo>
                  <a:pt x="546589" y="388849"/>
                  <a:pt x="543929" y="383975"/>
                  <a:pt x="539520" y="375157"/>
                </a:cubicBezTo>
                <a:cubicBezTo>
                  <a:pt x="530106" y="360386"/>
                  <a:pt x="522497" y="353000"/>
                  <a:pt x="516693" y="353000"/>
                </a:cubicBezTo>
                <a:cubicBezTo>
                  <a:pt x="510554" y="353000"/>
                  <a:pt x="497727" y="360302"/>
                  <a:pt x="478212" y="374906"/>
                </a:cubicBezTo>
                <a:cubicBezTo>
                  <a:pt x="476835" y="376189"/>
                  <a:pt x="475459" y="377520"/>
                  <a:pt x="474082" y="378896"/>
                </a:cubicBezTo>
                <a:cubicBezTo>
                  <a:pt x="466585" y="383882"/>
                  <a:pt x="462073" y="388672"/>
                  <a:pt x="460548" y="393267"/>
                </a:cubicBezTo>
                <a:cubicBezTo>
                  <a:pt x="460548" y="399648"/>
                  <a:pt x="464371" y="403797"/>
                  <a:pt x="472017" y="405713"/>
                </a:cubicBezTo>
                <a:lnTo>
                  <a:pt x="845138" y="405713"/>
                </a:lnTo>
                <a:cubicBezTo>
                  <a:pt x="850999" y="404243"/>
                  <a:pt x="855956" y="401481"/>
                  <a:pt x="860012" y="397425"/>
                </a:cubicBezTo>
                <a:cubicBezTo>
                  <a:pt x="860012" y="392328"/>
                  <a:pt x="855891" y="389779"/>
                  <a:pt x="847650" y="389779"/>
                </a:cubicBezTo>
                <a:lnTo>
                  <a:pt x="697157" y="389779"/>
                </a:lnTo>
                <a:lnTo>
                  <a:pt x="697157" y="347921"/>
                </a:lnTo>
                <a:lnTo>
                  <a:pt x="819633" y="347921"/>
                </a:lnTo>
                <a:cubicBezTo>
                  <a:pt x="825865" y="347921"/>
                  <a:pt x="830842" y="346061"/>
                  <a:pt x="834562" y="342340"/>
                </a:cubicBezTo>
                <a:cubicBezTo>
                  <a:pt x="836348" y="336480"/>
                  <a:pt x="833418" y="332443"/>
                  <a:pt x="825772" y="330229"/>
                </a:cubicBezTo>
                <a:lnTo>
                  <a:pt x="697157" y="330229"/>
                </a:lnTo>
                <a:lnTo>
                  <a:pt x="697157" y="284883"/>
                </a:lnTo>
                <a:lnTo>
                  <a:pt x="751237" y="284883"/>
                </a:lnTo>
                <a:cubicBezTo>
                  <a:pt x="751237" y="299748"/>
                  <a:pt x="758409" y="307887"/>
                  <a:pt x="772752" y="309300"/>
                </a:cubicBezTo>
                <a:cubicBezTo>
                  <a:pt x="799411" y="316370"/>
                  <a:pt x="811568" y="310947"/>
                  <a:pt x="809224" y="293032"/>
                </a:cubicBezTo>
                <a:lnTo>
                  <a:pt x="809224" y="147115"/>
                </a:lnTo>
                <a:cubicBezTo>
                  <a:pt x="810396" y="139525"/>
                  <a:pt x="808024" y="134679"/>
                  <a:pt x="802109" y="132576"/>
                </a:cubicBezTo>
                <a:cubicBezTo>
                  <a:pt x="797067" y="130083"/>
                  <a:pt x="789942" y="131572"/>
                  <a:pt x="780733" y="137041"/>
                </a:cubicBezTo>
                <a:cubicBezTo>
                  <a:pt x="779580" y="138195"/>
                  <a:pt x="778231" y="139153"/>
                  <a:pt x="776687" y="139915"/>
                </a:cubicBezTo>
                <a:cubicBezTo>
                  <a:pt x="766008" y="145366"/>
                  <a:pt x="758325" y="148101"/>
                  <a:pt x="753637" y="148120"/>
                </a:cubicBezTo>
                <a:lnTo>
                  <a:pt x="697157" y="148120"/>
                </a:lnTo>
                <a:lnTo>
                  <a:pt x="697157" y="115024"/>
                </a:lnTo>
                <a:lnTo>
                  <a:pt x="863416" y="115024"/>
                </a:lnTo>
                <a:cubicBezTo>
                  <a:pt x="871490" y="115024"/>
                  <a:pt x="876337" y="113424"/>
                  <a:pt x="877955" y="110224"/>
                </a:cubicBezTo>
                <a:cubicBezTo>
                  <a:pt x="881173" y="105759"/>
                  <a:pt x="878262" y="102048"/>
                  <a:pt x="869221" y="99090"/>
                </a:cubicBezTo>
                <a:lnTo>
                  <a:pt x="697157" y="99090"/>
                </a:lnTo>
                <a:lnTo>
                  <a:pt x="697157" y="71241"/>
                </a:lnTo>
                <a:cubicBezTo>
                  <a:pt x="729490" y="73585"/>
                  <a:pt x="760976" y="74757"/>
                  <a:pt x="791616" y="74757"/>
                </a:cubicBezTo>
                <a:cubicBezTo>
                  <a:pt x="817363" y="74757"/>
                  <a:pt x="823595" y="70766"/>
                  <a:pt x="810313" y="62785"/>
                </a:cubicBezTo>
                <a:cubicBezTo>
                  <a:pt x="740921" y="49856"/>
                  <a:pt x="676339" y="32852"/>
                  <a:pt x="616566" y="11774"/>
                </a:cubicBezTo>
                <a:cubicBezTo>
                  <a:pt x="613031" y="10602"/>
                  <a:pt x="609850" y="9542"/>
                  <a:pt x="607023" y="8593"/>
                </a:cubicBezTo>
                <a:cubicBezTo>
                  <a:pt x="598874" y="4314"/>
                  <a:pt x="590747" y="2668"/>
                  <a:pt x="582640" y="3654"/>
                </a:cubicBezTo>
                <a:close/>
                <a:moveTo>
                  <a:pt x="1593345" y="363"/>
                </a:moveTo>
                <a:cubicBezTo>
                  <a:pt x="1590269" y="-308"/>
                  <a:pt x="1586582" y="-48"/>
                  <a:pt x="1582284" y="1143"/>
                </a:cubicBezTo>
                <a:cubicBezTo>
                  <a:pt x="1543291" y="5124"/>
                  <a:pt x="1525544" y="10974"/>
                  <a:pt x="1529041" y="18695"/>
                </a:cubicBezTo>
                <a:cubicBezTo>
                  <a:pt x="1529041" y="21318"/>
                  <a:pt x="1530846" y="24425"/>
                  <a:pt x="1534455" y="28015"/>
                </a:cubicBezTo>
                <a:cubicBezTo>
                  <a:pt x="1537859" y="32276"/>
                  <a:pt x="1539561" y="36145"/>
                  <a:pt x="1539561" y="39624"/>
                </a:cubicBezTo>
                <a:lnTo>
                  <a:pt x="1539561" y="106094"/>
                </a:lnTo>
                <a:lnTo>
                  <a:pt x="1462627" y="106094"/>
                </a:lnTo>
                <a:cubicBezTo>
                  <a:pt x="1463761" y="106094"/>
                  <a:pt x="1460627" y="100271"/>
                  <a:pt x="1453222" y="88626"/>
                </a:cubicBezTo>
                <a:cubicBezTo>
                  <a:pt x="1446023" y="76645"/>
                  <a:pt x="1440674" y="69789"/>
                  <a:pt x="1437177" y="68059"/>
                </a:cubicBezTo>
                <a:cubicBezTo>
                  <a:pt x="1426071" y="64208"/>
                  <a:pt x="1406918" y="75603"/>
                  <a:pt x="1379720" y="102243"/>
                </a:cubicBezTo>
                <a:cubicBezTo>
                  <a:pt x="1374213" y="109145"/>
                  <a:pt x="1371460" y="113368"/>
                  <a:pt x="1371460" y="114912"/>
                </a:cubicBezTo>
                <a:cubicBezTo>
                  <a:pt x="1371460" y="120828"/>
                  <a:pt x="1376399" y="123200"/>
                  <a:pt x="1386278" y="122028"/>
                </a:cubicBezTo>
                <a:lnTo>
                  <a:pt x="1520307" y="122028"/>
                </a:lnTo>
                <a:cubicBezTo>
                  <a:pt x="1506540" y="196386"/>
                  <a:pt x="1458134" y="248913"/>
                  <a:pt x="1375088" y="279609"/>
                </a:cubicBezTo>
                <a:cubicBezTo>
                  <a:pt x="1362158" y="287255"/>
                  <a:pt x="1362540" y="294678"/>
                  <a:pt x="1376232" y="301878"/>
                </a:cubicBezTo>
                <a:cubicBezTo>
                  <a:pt x="1380418" y="303980"/>
                  <a:pt x="1383050" y="305570"/>
                  <a:pt x="1384129" y="306649"/>
                </a:cubicBezTo>
                <a:cubicBezTo>
                  <a:pt x="1390733" y="311040"/>
                  <a:pt x="1397905" y="319337"/>
                  <a:pt x="1405644" y="331541"/>
                </a:cubicBezTo>
                <a:cubicBezTo>
                  <a:pt x="1411355" y="340117"/>
                  <a:pt x="1415253" y="344405"/>
                  <a:pt x="1417336" y="344405"/>
                </a:cubicBezTo>
                <a:cubicBezTo>
                  <a:pt x="1424833" y="347921"/>
                  <a:pt x="1442479" y="335671"/>
                  <a:pt x="1470273" y="307654"/>
                </a:cubicBezTo>
                <a:lnTo>
                  <a:pt x="1539561" y="307654"/>
                </a:lnTo>
                <a:lnTo>
                  <a:pt x="1539561" y="398430"/>
                </a:lnTo>
                <a:cubicBezTo>
                  <a:pt x="1536064" y="413443"/>
                  <a:pt x="1550798" y="422261"/>
                  <a:pt x="1583763" y="424884"/>
                </a:cubicBezTo>
                <a:cubicBezTo>
                  <a:pt x="1598795" y="426112"/>
                  <a:pt x="1605725" y="418410"/>
                  <a:pt x="1604553" y="401779"/>
                </a:cubicBezTo>
                <a:lnTo>
                  <a:pt x="1604553" y="307654"/>
                </a:lnTo>
                <a:lnTo>
                  <a:pt x="1693487" y="307654"/>
                </a:lnTo>
                <a:cubicBezTo>
                  <a:pt x="1703309" y="316398"/>
                  <a:pt x="1723885" y="328881"/>
                  <a:pt x="1755213" y="345103"/>
                </a:cubicBezTo>
                <a:cubicBezTo>
                  <a:pt x="1770803" y="353977"/>
                  <a:pt x="1780700" y="356832"/>
                  <a:pt x="1784904" y="353670"/>
                </a:cubicBezTo>
                <a:cubicBezTo>
                  <a:pt x="1784904" y="349019"/>
                  <a:pt x="1777147" y="340610"/>
                  <a:pt x="1761631" y="328443"/>
                </a:cubicBezTo>
                <a:cubicBezTo>
                  <a:pt x="1699961" y="279721"/>
                  <a:pt x="1659275" y="210916"/>
                  <a:pt x="1639574" y="122028"/>
                </a:cubicBezTo>
                <a:lnTo>
                  <a:pt x="1744526" y="122028"/>
                </a:lnTo>
                <a:cubicBezTo>
                  <a:pt x="1753381" y="122028"/>
                  <a:pt x="1760059" y="121275"/>
                  <a:pt x="1764562" y="119768"/>
                </a:cubicBezTo>
                <a:cubicBezTo>
                  <a:pt x="1769957" y="113126"/>
                  <a:pt x="1767594" y="108569"/>
                  <a:pt x="1757474" y="106094"/>
                </a:cubicBezTo>
                <a:lnTo>
                  <a:pt x="1604553" y="106094"/>
                </a:lnTo>
                <a:lnTo>
                  <a:pt x="1604553" y="31531"/>
                </a:lnTo>
                <a:cubicBezTo>
                  <a:pt x="1606311" y="12765"/>
                  <a:pt x="1602575" y="2376"/>
                  <a:pt x="1593345" y="363"/>
                </a:cubicBezTo>
                <a:close/>
              </a:path>
            </a:pathLst>
          </a:custGeom>
          <a:gradFill flip="none" rotWithShape="1">
            <a:gsLst>
              <a:gs pos="0">
                <a:srgbClr val="009E47">
                  <a:alpha val="88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7" name="直接连接符 46"/>
          <p:cNvCxnSpPr>
            <a:cxnSpLocks/>
          </p:cNvCxnSpPr>
          <p:nvPr/>
        </p:nvCxnSpPr>
        <p:spPr>
          <a:xfrm>
            <a:off x="1399662" y="3843270"/>
            <a:ext cx="8892000" cy="0"/>
          </a:xfrm>
          <a:prstGeom prst="line">
            <a:avLst/>
          </a:prstGeom>
          <a:ln w="12700">
            <a:solidFill>
              <a:srgbClr val="04926A"/>
            </a:solidFill>
            <a:prstDash val="dash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" name="组合 17"/>
          <p:cNvGrpSpPr/>
          <p:nvPr/>
        </p:nvGrpSpPr>
        <p:grpSpPr>
          <a:xfrm>
            <a:off x="1399663" y="4450080"/>
            <a:ext cx="2469515" cy="1557020"/>
            <a:chOff x="3032" y="6990"/>
            <a:chExt cx="3889" cy="2452"/>
          </a:xfrm>
        </p:grpSpPr>
        <p:sp>
          <p:nvSpPr>
            <p:cNvPr id="51" name="矩形: 圆角 40"/>
            <p:cNvSpPr/>
            <p:nvPr/>
          </p:nvSpPr>
          <p:spPr>
            <a:xfrm rot="16200000" flipV="1">
              <a:off x="3965" y="6486"/>
              <a:ext cx="2023" cy="3889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0" name="矩形 49"/>
            <p:cNvSpPr/>
            <p:nvPr/>
          </p:nvSpPr>
          <p:spPr>
            <a:xfrm>
              <a:off x="3338" y="6990"/>
              <a:ext cx="3276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平面解析几何</a:t>
              </a:r>
            </a:p>
          </p:txBody>
        </p:sp>
        <p:sp>
          <p:nvSpPr>
            <p:cNvPr id="52" name="矩形 51"/>
            <p:cNvSpPr/>
            <p:nvPr/>
          </p:nvSpPr>
          <p:spPr>
            <a:xfrm>
              <a:off x="3100" y="8196"/>
              <a:ext cx="3752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一元函数微积分</a:t>
              </a: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4659331" y="4450080"/>
            <a:ext cx="2795905" cy="1561109"/>
            <a:chOff x="7155" y="6949"/>
            <a:chExt cx="4403" cy="2458"/>
          </a:xfrm>
        </p:grpSpPr>
        <p:sp>
          <p:nvSpPr>
            <p:cNvPr id="2" name="矩形: 圆角 40"/>
            <p:cNvSpPr/>
            <p:nvPr/>
          </p:nvSpPr>
          <p:spPr>
            <a:xfrm rot="16200000" flipV="1">
              <a:off x="8345" y="6193"/>
              <a:ext cx="2024" cy="4403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3" name="矩形 2"/>
            <p:cNvSpPr/>
            <p:nvPr/>
          </p:nvSpPr>
          <p:spPr>
            <a:xfrm>
              <a:off x="7719" y="6949"/>
              <a:ext cx="3277" cy="727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lvl="0"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空间解析几何</a:t>
              </a:r>
            </a:p>
          </p:txBody>
        </p:sp>
        <p:sp>
          <p:nvSpPr>
            <p:cNvPr id="13" name="矩形 12"/>
            <p:cNvSpPr/>
            <p:nvPr/>
          </p:nvSpPr>
          <p:spPr>
            <a:xfrm>
              <a:off x="7399" y="8109"/>
              <a:ext cx="3916" cy="7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多元函数微积分</a:t>
              </a: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208065" y="4450080"/>
            <a:ext cx="2080895" cy="1559203"/>
            <a:chOff x="8027" y="6949"/>
            <a:chExt cx="3277" cy="2455"/>
          </a:xfrm>
        </p:grpSpPr>
        <p:sp>
          <p:nvSpPr>
            <p:cNvPr id="21" name="矩形: 圆角 40"/>
            <p:cNvSpPr/>
            <p:nvPr/>
          </p:nvSpPr>
          <p:spPr>
            <a:xfrm rot="16200000" flipV="1">
              <a:off x="8645" y="6745"/>
              <a:ext cx="2041" cy="3277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63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8337" y="6949"/>
              <a:ext cx="2656" cy="725"/>
            </a:xfrm>
            <a:prstGeom prst="rect">
              <a:avLst/>
            </a:prstGeom>
            <a:gradFill>
              <a:gsLst>
                <a:gs pos="0">
                  <a:srgbClr val="009E47">
                    <a:alpha val="88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effectLst>
              <a:outerShdw blurRad="50800" dist="38100" algn="l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400" b="1" dirty="0">
                  <a:solidFill>
                    <a:schemeClr val="bg1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空间形式</a:t>
              </a:r>
            </a:p>
          </p:txBody>
        </p:sp>
        <p:sp>
          <p:nvSpPr>
            <p:cNvPr id="24" name="矩形 23"/>
            <p:cNvSpPr/>
            <p:nvPr/>
          </p:nvSpPr>
          <p:spPr>
            <a:xfrm>
              <a:off x="8547" y="7978"/>
              <a:ext cx="2240" cy="130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数量关系</a:t>
              </a:r>
            </a:p>
            <a:p>
              <a:pPr algn="ctr">
                <a:defRPr/>
              </a:pPr>
              <a:r>
                <a:rPr lang="zh-CN" altLang="en-US" sz="2400" b="1" dirty="0">
                  <a:latin typeface="宋体" panose="02010600030101010101" pitchFamily="2" charset="-122"/>
                  <a:ea typeface="宋体" panose="02010600030101010101" pitchFamily="2" charset="-122"/>
                </a:rPr>
                <a:t>基本方法</a:t>
              </a:r>
            </a:p>
          </p:txBody>
        </p:sp>
      </p:grpSp>
      <p:sp>
        <p:nvSpPr>
          <p:cNvPr id="26" name="矩形 25"/>
          <p:cNvSpPr/>
          <p:nvPr/>
        </p:nvSpPr>
        <p:spPr>
          <a:xfrm>
            <a:off x="1801178" y="884555"/>
            <a:ext cx="8589645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lt"/>
              </a:rPr>
              <a:t>第八章   </a:t>
            </a:r>
            <a:r>
              <a:rPr lang="zh-CN" altLang="en-US" sz="4400" b="1" baseline="0" dirty="0">
                <a:solidFill>
                  <a:schemeClr val="bg1"/>
                </a:solidFill>
                <a:latin typeface="+mj-ea"/>
                <a:ea typeface="+mj-ea"/>
              </a:rPr>
              <a:t>向量代数与空间解析几何</a:t>
            </a:r>
            <a:endParaRPr lang="zh-CN" altLang="en-US" sz="4400" dirty="0">
              <a:solidFill>
                <a:schemeClr val="bg1"/>
              </a:solidFill>
            </a:endParaRPr>
          </a:p>
        </p:txBody>
      </p:sp>
      <p:sp>
        <p:nvSpPr>
          <p:cNvPr id="5" name="右箭头 4"/>
          <p:cNvSpPr/>
          <p:nvPr/>
        </p:nvSpPr>
        <p:spPr>
          <a:xfrm>
            <a:off x="3933317" y="4460240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sp>
        <p:nvSpPr>
          <p:cNvPr id="6" name="右箭头 5"/>
          <p:cNvSpPr/>
          <p:nvPr/>
        </p:nvSpPr>
        <p:spPr>
          <a:xfrm>
            <a:off x="7358085" y="4472305"/>
            <a:ext cx="936000" cy="250190"/>
          </a:xfrm>
          <a:prstGeom prst="rightArrow">
            <a:avLst/>
          </a:prstGeom>
          <a:gradFill flip="none" rotWithShape="1">
            <a:gsLst>
              <a:gs pos="100000">
                <a:srgbClr val="007434">
                  <a:alpha val="100000"/>
                </a:srgbClr>
              </a:gs>
              <a:gs pos="4000">
                <a:schemeClr val="bg1"/>
              </a:gs>
            </a:gsLst>
            <a:lin ang="3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CE2B425-399F-554D-45F0-E467133D88B7}"/>
              </a:ext>
            </a:extLst>
          </p:cNvPr>
          <p:cNvSpPr/>
          <p:nvPr/>
        </p:nvSpPr>
        <p:spPr>
          <a:xfrm>
            <a:off x="-1" y="0"/>
            <a:ext cx="12192001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/>
          </a:p>
        </p:txBody>
      </p:sp>
      <p:sp>
        <p:nvSpPr>
          <p:cNvPr id="20" name="图文框 19"/>
          <p:cNvSpPr/>
          <p:nvPr/>
        </p:nvSpPr>
        <p:spPr>
          <a:xfrm>
            <a:off x="0" y="0"/>
            <a:ext cx="12192001" cy="6869151"/>
          </a:xfrm>
          <a:prstGeom prst="frame">
            <a:avLst>
              <a:gd name="adj1" fmla="val 50000"/>
            </a:avLst>
          </a:prstGeom>
          <a:gradFill flip="none" rotWithShape="1">
            <a:gsLst>
              <a:gs pos="74000">
                <a:srgbClr val="007434">
                  <a:alpha val="31000"/>
                </a:srgbClr>
              </a:gs>
              <a:gs pos="4000">
                <a:schemeClr val="bg1">
                  <a:alpha val="0"/>
                </a:schemeClr>
              </a:gs>
              <a:gs pos="100000">
                <a:schemeClr val="bg1">
                  <a:alpha val="64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字魂36号-正文宋楷" panose="00000500000000000000" pitchFamily="2" charset="-122"/>
              <a:ea typeface="字魂36号-正文宋楷" panose="00000500000000000000" pitchFamily="2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03" r="7303" b="29466"/>
          <a:stretch>
            <a:fillRect/>
          </a:stretch>
        </p:blipFill>
        <p:spPr>
          <a:xfrm flipH="1">
            <a:off x="-1" y="569167"/>
            <a:ext cx="6996701" cy="5718449"/>
          </a:xfrm>
          <a:prstGeom prst="rect">
            <a:avLst/>
          </a:prstGeom>
        </p:spPr>
      </p:pic>
      <p:sp>
        <p:nvSpPr>
          <p:cNvPr id="11" name="Rectangle 1"/>
          <p:cNvSpPr/>
          <p:nvPr/>
        </p:nvSpPr>
        <p:spPr>
          <a:xfrm>
            <a:off x="0" y="575945"/>
            <a:ext cx="7143115" cy="5731549"/>
          </a:xfrm>
          <a:prstGeom prst="rect">
            <a:avLst/>
          </a:prstGeom>
          <a:gradFill flip="none" rotWithShape="1">
            <a:gsLst>
              <a:gs pos="0">
                <a:srgbClr val="009E47">
                  <a:alpha val="42000"/>
                </a:srgbClr>
              </a:gs>
              <a:gs pos="55000">
                <a:srgbClr val="039463"/>
              </a:gs>
              <a:gs pos="100000">
                <a:srgbClr val="068885"/>
              </a:gs>
            </a:gsLst>
            <a:path path="circle">
              <a:fillToRect t="100000" r="100000"/>
            </a:path>
            <a:tileRect l="-100000" b="-100000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A-102232"/>
          <p:cNvSpPr/>
          <p:nvPr>
            <p:custDataLst>
              <p:tags r:id="rId1"/>
            </p:custDataLst>
          </p:nvPr>
        </p:nvSpPr>
        <p:spPr>
          <a:xfrm>
            <a:off x="3193962" y="985594"/>
            <a:ext cx="8667480" cy="48894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7" name="PA-文本框 8"/>
          <p:cNvSpPr txBox="1"/>
          <p:nvPr>
            <p:custDataLst>
              <p:tags r:id="rId2"/>
            </p:custDataLst>
          </p:nvPr>
        </p:nvSpPr>
        <p:spPr>
          <a:xfrm>
            <a:off x="763914" y="3419985"/>
            <a:ext cx="243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GB" altLang="zh-CN" sz="32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n-ea"/>
                <a:sym typeface="+mn-lt"/>
              </a:rPr>
              <a:t>CONTENTS</a:t>
            </a:r>
          </a:p>
        </p:txBody>
      </p:sp>
      <p:sp>
        <p:nvSpPr>
          <p:cNvPr id="9" name="PA-矩形 6"/>
          <p:cNvSpPr/>
          <p:nvPr>
            <p:custDataLst>
              <p:tags r:id="rId3"/>
            </p:custDataLst>
          </p:nvPr>
        </p:nvSpPr>
        <p:spPr>
          <a:xfrm>
            <a:off x="705880" y="4171950"/>
            <a:ext cx="2114550" cy="724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E79937"/>
              </a:solidFill>
              <a:cs typeface="+mn-ea"/>
              <a:sym typeface="+mn-lt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938250" y="2640333"/>
            <a:ext cx="1649811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目  录</a:t>
            </a:r>
          </a:p>
        </p:txBody>
      </p:sp>
      <p:sp>
        <p:nvSpPr>
          <p:cNvPr id="14" name="矩形 13"/>
          <p:cNvSpPr/>
          <p:nvPr/>
        </p:nvSpPr>
        <p:spPr>
          <a:xfrm>
            <a:off x="824436" y="1860681"/>
            <a:ext cx="18774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dist"/>
            <a:r>
              <a:rPr kumimoji="1" lang="zh-CN" alt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第八章</a:t>
            </a:r>
          </a:p>
        </p:txBody>
      </p:sp>
      <p:sp>
        <p:nvSpPr>
          <p:cNvPr id="3" name="矩形 2"/>
          <p:cNvSpPr/>
          <p:nvPr/>
        </p:nvSpPr>
        <p:spPr>
          <a:xfrm>
            <a:off x="5748849" y="1544187"/>
            <a:ext cx="420691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第一节   向量及其线性运算</a:t>
            </a:r>
          </a:p>
        </p:txBody>
      </p:sp>
      <p:sp>
        <p:nvSpPr>
          <p:cNvPr id="24" name="矩形 23"/>
          <p:cNvSpPr/>
          <p:nvPr/>
        </p:nvSpPr>
        <p:spPr>
          <a:xfrm>
            <a:off x="5748849" y="2226710"/>
            <a:ext cx="43348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第二节   数量积 向量积 混合积</a:t>
            </a:r>
          </a:p>
        </p:txBody>
      </p:sp>
      <p:sp>
        <p:nvSpPr>
          <p:cNvPr id="28" name="矩形 27"/>
          <p:cNvSpPr/>
          <p:nvPr/>
        </p:nvSpPr>
        <p:spPr>
          <a:xfrm>
            <a:off x="5748849" y="2909233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第三节   平面及其方程</a:t>
            </a:r>
          </a:p>
        </p:txBody>
      </p:sp>
      <p:sp>
        <p:nvSpPr>
          <p:cNvPr id="29" name="矩形 28"/>
          <p:cNvSpPr/>
          <p:nvPr/>
        </p:nvSpPr>
        <p:spPr>
          <a:xfrm>
            <a:off x="5749162" y="3591756"/>
            <a:ext cx="49144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第四节   空间直线及其方程</a:t>
            </a:r>
          </a:p>
        </p:txBody>
      </p:sp>
      <p:sp>
        <p:nvSpPr>
          <p:cNvPr id="32" name="矩形 31"/>
          <p:cNvSpPr/>
          <p:nvPr/>
        </p:nvSpPr>
        <p:spPr>
          <a:xfrm>
            <a:off x="5749162" y="4274279"/>
            <a:ext cx="32287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/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第五节   曲面及其方程</a:t>
            </a:r>
            <a:endParaRPr lang="zh-CN" altLang="en-US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 flipH="1">
            <a:off x="5225323" y="1652691"/>
            <a:ext cx="26504" cy="3600000"/>
          </a:xfrm>
          <a:prstGeom prst="line">
            <a:avLst/>
          </a:prstGeom>
          <a:ln>
            <a:solidFill>
              <a:srgbClr val="007434"/>
            </a:solidFill>
            <a:prstDash val="dash"/>
            <a:headEnd type="oval" w="med" len="med"/>
            <a:tailEnd type="oval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8D88A371-A813-7284-EA0D-B8C63B93E271}"/>
              </a:ext>
            </a:extLst>
          </p:cNvPr>
          <p:cNvSpPr/>
          <p:nvPr/>
        </p:nvSpPr>
        <p:spPr>
          <a:xfrm>
            <a:off x="5737415" y="4956800"/>
            <a:ext cx="3994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rgbClr val="00743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第六节   空间曲线及其方程</a:t>
            </a:r>
            <a:endParaRPr lang="zh-CN" altLang="en-US" sz="2400" b="1" dirty="0">
              <a:solidFill>
                <a:srgbClr val="00743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>
            <a:extLst>
              <a:ext uri="{FF2B5EF4-FFF2-40B4-BE49-F238E27FC236}">
                <a16:creationId xmlns:a16="http://schemas.microsoft.com/office/drawing/2014/main" id="{F2A10CEB-5CA9-4551-5EE7-D195BAB94096}"/>
              </a:ext>
            </a:extLst>
          </p:cNvPr>
          <p:cNvGrpSpPr/>
          <p:nvPr/>
        </p:nvGrpSpPr>
        <p:grpSpPr>
          <a:xfrm>
            <a:off x="-6985" y="-47904"/>
            <a:ext cx="12289790" cy="6917055"/>
            <a:chOff x="-6985" y="-47904"/>
            <a:chExt cx="12289790" cy="6917055"/>
          </a:xfrm>
        </p:grpSpPr>
        <p:sp>
          <p:nvSpPr>
            <p:cNvPr id="7" name="图文框 6">
              <a:extLst>
                <a:ext uri="{FF2B5EF4-FFF2-40B4-BE49-F238E27FC236}">
                  <a16:creationId xmlns:a16="http://schemas.microsoft.com/office/drawing/2014/main" id="{3CA61783-234C-EFE9-EC35-35C4F7127CF9}"/>
                </a:ext>
              </a:extLst>
            </p:cNvPr>
            <p:cNvSpPr/>
            <p:nvPr/>
          </p:nvSpPr>
          <p:spPr>
            <a:xfrm>
              <a:off x="0" y="11150"/>
              <a:ext cx="12192001" cy="6858001"/>
            </a:xfrm>
            <a:prstGeom prst="frame">
              <a:avLst>
                <a:gd name="adj1" fmla="val 50000"/>
              </a:avLst>
            </a:prstGeom>
            <a:gradFill flip="none" rotWithShape="1">
              <a:gsLst>
                <a:gs pos="74000">
                  <a:srgbClr val="007434">
                    <a:alpha val="31000"/>
                  </a:srgbClr>
                </a:gs>
                <a:gs pos="4000">
                  <a:schemeClr val="bg1">
                    <a:alpha val="0"/>
                  </a:schemeClr>
                </a:gs>
                <a:gs pos="100000">
                  <a:schemeClr val="bg1">
                    <a:alpha val="64000"/>
                  </a:schemeClr>
                </a:gs>
              </a:gsLst>
              <a:lin ang="2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>
                <a:latin typeface="字魂36号-正文宋楷" panose="00000500000000000000" pitchFamily="2" charset="-122"/>
                <a:ea typeface="字魂36号-正文宋楷" panose="00000500000000000000" pitchFamily="2" charset="-122"/>
              </a:endParaRPr>
            </a:p>
          </p:txBody>
        </p:sp>
        <p:pic>
          <p:nvPicPr>
            <p:cNvPr id="13" name="图片 12">
              <a:extLst>
                <a:ext uri="{FF2B5EF4-FFF2-40B4-BE49-F238E27FC236}">
                  <a16:creationId xmlns:a16="http://schemas.microsoft.com/office/drawing/2014/main" id="{9949B233-E9E5-C6C4-356E-99FC6DEEA75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303" r="7303" b="29466"/>
            <a:stretch>
              <a:fillRect/>
            </a:stretch>
          </p:blipFill>
          <p:spPr>
            <a:xfrm flipH="1">
              <a:off x="0" y="8611"/>
              <a:ext cx="6996430" cy="6860540"/>
            </a:xfrm>
            <a:prstGeom prst="rect">
              <a:avLst/>
            </a:prstGeom>
          </p:spPr>
        </p:pic>
        <p:sp>
          <p:nvSpPr>
            <p:cNvPr id="14" name="Rectangle 1">
              <a:extLst>
                <a:ext uri="{FF2B5EF4-FFF2-40B4-BE49-F238E27FC236}">
                  <a16:creationId xmlns:a16="http://schemas.microsoft.com/office/drawing/2014/main" id="{85486088-4289-7ED4-3CCB-07E732450E04}"/>
                </a:ext>
              </a:extLst>
            </p:cNvPr>
            <p:cNvSpPr/>
            <p:nvPr/>
          </p:nvSpPr>
          <p:spPr>
            <a:xfrm>
              <a:off x="-6985" y="-47904"/>
              <a:ext cx="12289790" cy="6917055"/>
            </a:xfrm>
            <a:prstGeom prst="rect">
              <a:avLst/>
            </a:prstGeom>
            <a:gradFill flip="none" rotWithShape="1">
              <a:gsLst>
                <a:gs pos="0">
                  <a:srgbClr val="009E47">
                    <a:alpha val="42000"/>
                  </a:srgbClr>
                </a:gs>
                <a:gs pos="55000">
                  <a:srgbClr val="039463"/>
                </a:gs>
                <a:gs pos="100000">
                  <a:srgbClr val="068885"/>
                </a:gs>
              </a:gsLst>
              <a:path path="circle">
                <a:fillToRect t="100000" r="100000"/>
              </a:path>
              <a:tileRect l="-100000" b="-100000"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6" name="PA-102232">
            <a:extLst>
              <a:ext uri="{FF2B5EF4-FFF2-40B4-BE49-F238E27FC236}">
                <a16:creationId xmlns:a16="http://schemas.microsoft.com/office/drawing/2014/main" id="{FA395C5F-797D-7C0F-0C0A-391EC34DE26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69888" y="1325366"/>
            <a:ext cx="11536045" cy="461309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93700" dist="88900" algn="ctr" rotWithShape="0">
              <a:schemeClr val="bg1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rgbClr val="006BB6"/>
              </a:solidFill>
              <a:cs typeface="+mn-ea"/>
              <a:sym typeface="+mn-lt"/>
            </a:endParaRPr>
          </a:p>
        </p:txBody>
      </p:sp>
      <p:sp>
        <p:nvSpPr>
          <p:cNvPr id="6" name="Text Box 62"/>
          <p:cNvSpPr txBox="1">
            <a:spLocks noChangeArrowheads="1"/>
          </p:cNvSpPr>
          <p:nvPr/>
        </p:nvSpPr>
        <p:spPr bwMode="auto">
          <a:xfrm>
            <a:off x="3624811" y="419854"/>
            <a:ext cx="4942379" cy="584775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第六节  空间曲线及其方程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A7092D0-ED27-1342-A6F8-F50C3C900361}"/>
              </a:ext>
            </a:extLst>
          </p:cNvPr>
          <p:cNvGrpSpPr/>
          <p:nvPr/>
        </p:nvGrpSpPr>
        <p:grpSpPr>
          <a:xfrm>
            <a:off x="3261239" y="1880531"/>
            <a:ext cx="5669522" cy="901065"/>
            <a:chOff x="3977910" y="1027775"/>
            <a:chExt cx="5669522" cy="901065"/>
          </a:xfrm>
        </p:grpSpPr>
        <p:sp>
          <p:nvSpPr>
            <p:cNvPr id="4" name="矩形: 圆角 40">
              <a:extLst>
                <a:ext uri="{FF2B5EF4-FFF2-40B4-BE49-F238E27FC236}">
                  <a16:creationId xmlns:a16="http://schemas.microsoft.com/office/drawing/2014/main" id="{0AFCECA3-3830-4C31-F876-EF09B7116080}"/>
                </a:ext>
              </a:extLst>
            </p:cNvPr>
            <p:cNvSpPr/>
            <p:nvPr/>
          </p:nvSpPr>
          <p:spPr>
            <a:xfrm flipV="1">
              <a:off x="3977910" y="1027775"/>
              <a:ext cx="5669522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DFF17138-8605-1774-D008-6AE81E15D8D9}"/>
                </a:ext>
              </a:extLst>
            </p:cNvPr>
            <p:cNvSpPr/>
            <p:nvPr/>
          </p:nvSpPr>
          <p:spPr>
            <a:xfrm>
              <a:off x="4304152" y="1217006"/>
              <a:ext cx="4134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一、</a:t>
              </a:r>
              <a:r>
                <a:rPr lang="zh-CN" altLang="en-US" sz="2800" b="1" noProof="0" dirty="0">
                  <a:solidFill>
                    <a:schemeClr val="dk1"/>
                  </a:solidFill>
                  <a:latin typeface="+mj-ea"/>
                  <a:ea typeface="+mj-ea"/>
                </a:rPr>
                <a:t>空间曲线的一般方程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9ED9C59A-3905-1548-871F-1C53D4AAEB80}"/>
              </a:ext>
            </a:extLst>
          </p:cNvPr>
          <p:cNvGrpSpPr/>
          <p:nvPr/>
        </p:nvGrpSpPr>
        <p:grpSpPr>
          <a:xfrm>
            <a:off x="3261239" y="4530130"/>
            <a:ext cx="5669524" cy="901065"/>
            <a:chOff x="3977910" y="3248409"/>
            <a:chExt cx="5669524" cy="901065"/>
          </a:xfrm>
        </p:grpSpPr>
        <p:sp>
          <p:nvSpPr>
            <p:cNvPr id="12" name="矩形: 圆角 40">
              <a:extLst>
                <a:ext uri="{FF2B5EF4-FFF2-40B4-BE49-F238E27FC236}">
                  <a16:creationId xmlns:a16="http://schemas.microsoft.com/office/drawing/2014/main" id="{1912BAEB-AC37-E423-F6CB-E1B0732FDB96}"/>
                </a:ext>
              </a:extLst>
            </p:cNvPr>
            <p:cNvSpPr/>
            <p:nvPr/>
          </p:nvSpPr>
          <p:spPr>
            <a:xfrm flipV="1">
              <a:off x="3977910" y="3248409"/>
              <a:ext cx="5669524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CF98919C-5025-83DC-C0D5-365276AA3669}"/>
                </a:ext>
              </a:extLst>
            </p:cNvPr>
            <p:cNvSpPr/>
            <p:nvPr/>
          </p:nvSpPr>
          <p:spPr>
            <a:xfrm>
              <a:off x="4218088" y="3437640"/>
              <a:ext cx="5211683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三、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空间曲线在坐标面上的投影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FD0FE73D-DB0C-994E-B1CE-58E27001D13C}"/>
              </a:ext>
            </a:extLst>
          </p:cNvPr>
          <p:cNvGrpSpPr/>
          <p:nvPr/>
        </p:nvGrpSpPr>
        <p:grpSpPr>
          <a:xfrm>
            <a:off x="3261239" y="3205330"/>
            <a:ext cx="5669523" cy="901065"/>
            <a:chOff x="3977909" y="2138092"/>
            <a:chExt cx="5669523" cy="901065"/>
          </a:xfrm>
        </p:grpSpPr>
        <p:sp>
          <p:nvSpPr>
            <p:cNvPr id="22" name="矩形: 圆角 40">
              <a:extLst>
                <a:ext uri="{FF2B5EF4-FFF2-40B4-BE49-F238E27FC236}">
                  <a16:creationId xmlns:a16="http://schemas.microsoft.com/office/drawing/2014/main" id="{2AFCDF72-0B32-3B23-3BEA-A6D0061312B5}"/>
                </a:ext>
              </a:extLst>
            </p:cNvPr>
            <p:cNvSpPr/>
            <p:nvPr/>
          </p:nvSpPr>
          <p:spPr>
            <a:xfrm flipV="1">
              <a:off x="3977909" y="2138092"/>
              <a:ext cx="5669523" cy="901065"/>
            </a:xfrm>
            <a:prstGeom prst="roundRect">
              <a:avLst>
                <a:gd name="adj" fmla="val 6487"/>
              </a:avLst>
            </a:prstGeom>
            <a:solidFill>
              <a:srgbClr val="FFFFFF"/>
            </a:solidFill>
            <a:ln w="19050" cap="flat" cmpd="sng" algn="ctr">
              <a:gradFill flip="none" rotWithShape="1">
                <a:gsLst>
                  <a:gs pos="0">
                    <a:srgbClr val="058C79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prstDash val="solid"/>
              <a:miter lim="800000"/>
            </a:ln>
            <a:effectLst>
              <a:outerShdw blurRad="63500" dist="38100" dir="2280000" algn="tl" rotWithShape="0">
                <a:prstClr val="black">
                  <a:alpha val="45000"/>
                </a:prstClr>
              </a:outerShdw>
            </a:effectLst>
          </p:spPr>
          <p:txBody>
            <a:bodyPr lIns="68580" tIns="34290" rIns="68580" bIns="34290" rtlCol="0" anchor="ctr"/>
            <a:lstStyle/>
            <a:p>
              <a:pPr algn="ctr" defTabSz="342900">
                <a:defRPr/>
              </a:pPr>
              <a:endParaRPr lang="zh-CN" altLang="en-US" kern="0" dirty="0">
                <a:solidFill>
                  <a:srgbClr val="FFFFFF"/>
                </a:solidFill>
                <a:latin typeface="Calibri" panose="020F0502020204030204"/>
                <a:ea typeface="微软雅黑 Light" panose="020B0502040204020203" charset="-122"/>
              </a:endParaRP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39FFA758-C763-F6DD-43E6-7491515A6524}"/>
                </a:ext>
              </a:extLst>
            </p:cNvPr>
            <p:cNvSpPr/>
            <p:nvPr/>
          </p:nvSpPr>
          <p:spPr>
            <a:xfrm>
              <a:off x="4218088" y="2327323"/>
              <a:ext cx="413446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lvl="0" algn="l"/>
              <a:r>
                <a:rPr lang="zh-CN" altLang="en-US" sz="2800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二、</a:t>
              </a:r>
              <a:r>
                <a:rPr kumimoji="1" lang="zh-CN" altLang="en-US" sz="2800" b="1" i="0" u="none" strike="noStrike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</a:rPr>
                <a:t>空间曲线的参数方程</a:t>
              </a:r>
              <a:endPara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6319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8196" name="Object 4"/>
              <p:cNvSpPr txBox="1"/>
              <p:nvPr/>
            </p:nvSpPr>
            <p:spPr bwMode="auto">
              <a:xfrm>
                <a:off x="1982555" y="2099454"/>
                <a:ext cx="2622413" cy="111677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)=0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196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2555" y="2099454"/>
                <a:ext cx="2622413" cy="111677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1982556" y="3236594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空间曲线的一般方程</a:t>
            </a:r>
          </a:p>
        </p:txBody>
      </p:sp>
      <p:sp>
        <p:nvSpPr>
          <p:cNvPr id="8199" name="Text Box 7"/>
          <p:cNvSpPr txBox="1">
            <a:spLocks noChangeArrowheads="1"/>
          </p:cNvSpPr>
          <p:nvPr/>
        </p:nvSpPr>
        <p:spPr bwMode="auto">
          <a:xfrm>
            <a:off x="1982556" y="3903307"/>
            <a:ext cx="9608553" cy="10577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特点</a:t>
            </a:r>
            <a:r>
              <a:rPr lang="zh-CN" altLang="en-US" sz="2800" dirty="0">
                <a:solidFill>
                  <a:srgbClr val="04926A"/>
                </a:solidFill>
              </a:rPr>
              <a:t>：</a:t>
            </a:r>
            <a:r>
              <a:rPr lang="zh-CN" altLang="en-US" sz="2800" dirty="0"/>
              <a:t>曲线上的点都满足方程，满足方程的点都在曲线上，不在曲线上的点不能同时满足两个方程</a:t>
            </a:r>
            <a:r>
              <a:rPr lang="en-US" altLang="zh-CN" sz="2800" dirty="0"/>
              <a:t>.</a:t>
            </a:r>
          </a:p>
        </p:txBody>
      </p:sp>
      <p:sp>
        <p:nvSpPr>
          <p:cNvPr id="8216" name="Object 24"/>
          <p:cNvSpPr txBox="1"/>
          <p:nvPr/>
        </p:nvSpPr>
        <p:spPr bwMode="auto">
          <a:xfrm>
            <a:off x="9148641" y="4251204"/>
            <a:ext cx="327025" cy="381000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normAutofit/>
          </a:bodyPr>
          <a:lstStyle/>
          <a:p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223" name="Rectangle 31"/>
              <p:cNvSpPr>
                <a:spLocks noChangeArrowheads="1"/>
              </p:cNvSpPr>
              <p:nvPr/>
            </p:nvSpPr>
            <p:spPr bwMode="auto">
              <a:xfrm>
                <a:off x="1982556" y="1498282"/>
                <a:ext cx="6035627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空间曲线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𝐶</m:t>
                    </m:r>
                  </m:oMath>
                </a14:m>
                <a:r>
                  <a:rPr lang="zh-CN" altLang="en-US" sz="2800" dirty="0"/>
                  <a:t>可看作空间两曲面的交线</a:t>
                </a:r>
                <a:r>
                  <a:rPr lang="en-US" altLang="zh-CN" sz="2800" dirty="0"/>
                  <a:t>.</a:t>
                </a:r>
              </a:p>
            </p:txBody>
          </p:sp>
        </mc:Choice>
        <mc:Fallback xmlns="">
          <p:sp>
            <p:nvSpPr>
              <p:cNvPr id="8223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82556" y="1498282"/>
                <a:ext cx="6035627" cy="523220"/>
              </a:xfrm>
              <a:prstGeom prst="rect">
                <a:avLst/>
              </a:prstGeom>
              <a:blipFill>
                <a:blip r:embed="rId13"/>
                <a:stretch>
                  <a:fillRect l="-2020" t="-15116" r="-202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25" name="Rectangle 33"/>
          <p:cNvSpPr>
            <a:spLocks noGrp="1" noChangeArrowheads="1"/>
          </p:cNvSpPr>
          <p:nvPr>
            <p:ph type="title"/>
          </p:nvPr>
        </p:nvSpPr>
        <p:spPr>
          <a:xfrm>
            <a:off x="1152525" y="756911"/>
            <a:ext cx="4943475" cy="799578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一、空间曲线的一般方程</a:t>
            </a:r>
          </a:p>
        </p:txBody>
      </p:sp>
    </p:spTree>
    <p:extLst>
      <p:ext uri="{BB962C8B-B14F-4D97-AF65-F5344CB8AC3E}">
        <p14:creationId xmlns:p14="http://schemas.microsoft.com/office/powerpoint/2010/main" val="1453664321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8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8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6" grpId="0"/>
      <p:bldP spid="8198" grpId="0" autoUpdateAnimBg="0"/>
      <p:bldP spid="8199" grpId="0" autoUpdateAnimBg="0"/>
      <p:bldP spid="8216" grpId="0"/>
      <p:bldP spid="8223" grpId="0" autoUpdateAnimBg="0"/>
      <p:bldP spid="822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661E0449-1075-C840-748E-79F556591FCA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B748A54-B037-511C-77A3-6EED18458DF6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B748A54-B037-511C-77A3-6EED18458DF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6A2D7F15-5E6B-D5FE-0E3D-244030B224A1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685394C-6397-121F-780E-85864E1B7944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63753EAC-5DD7-3951-BCBA-3688EE2FD5C2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07908C83-FB26-EB3D-E773-864552B609F1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251" name="Text Box 1059"/>
              <p:cNvSpPr txBox="1">
                <a:spLocks noChangeArrowheads="1"/>
              </p:cNvSpPr>
              <p:nvPr/>
            </p:nvSpPr>
            <p:spPr bwMode="auto">
              <a:xfrm>
                <a:off x="1718749" y="1146323"/>
                <a:ext cx="8093017" cy="10534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</a:t>
                </a:r>
                <a:r>
                  <a:rPr lang="en-US" altLang="zh-CN" sz="2800" dirty="0"/>
                  <a:t>  </a:t>
                </a:r>
                <a:r>
                  <a:rPr lang="zh-CN" altLang="en-US" sz="2800" dirty="0"/>
                  <a:t>方程组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，</m:t>
                            </m:r>
                          </m:e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&amp;2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+3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=6</m:t>
                            </m:r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表示怎样的曲线？</a:t>
                </a:r>
              </a:p>
            </p:txBody>
          </p:sp>
        </mc:Choice>
        <mc:Fallback xmlns="">
          <p:sp>
            <p:nvSpPr>
              <p:cNvPr id="9251" name="Text Box 105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18749" y="1146323"/>
                <a:ext cx="8093017" cy="1053494"/>
              </a:xfrm>
              <a:prstGeom prst="rect">
                <a:avLst/>
              </a:prstGeom>
              <a:blipFill>
                <a:blip r:embed="rId3"/>
                <a:stretch>
                  <a:fillRect l="-158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3" name="Text Box 1061"/>
          <p:cNvSpPr txBox="1">
            <a:spLocks noChangeArrowheads="1"/>
          </p:cNvSpPr>
          <p:nvPr/>
        </p:nvSpPr>
        <p:spPr bwMode="auto">
          <a:xfrm>
            <a:off x="1718749" y="2445068"/>
            <a:ext cx="914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4" name="Object 1062"/>
              <p:cNvSpPr txBox="1"/>
              <p:nvPr/>
            </p:nvSpPr>
            <p:spPr bwMode="auto">
              <a:xfrm>
                <a:off x="2633149" y="2521267"/>
                <a:ext cx="1718761" cy="45873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4" name="Object 10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149" y="2521267"/>
                <a:ext cx="1718761" cy="458737"/>
              </a:xfrm>
              <a:prstGeom prst="rect">
                <a:avLst/>
              </a:prstGeom>
              <a:blipFill>
                <a:blip r:embed="rId4"/>
                <a:stretch>
                  <a:fillRect b="-533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5" name="Text Box 1063"/>
          <p:cNvSpPr txBox="1">
            <a:spLocks noChangeArrowheads="1"/>
          </p:cNvSpPr>
          <p:nvPr/>
        </p:nvSpPr>
        <p:spPr bwMode="auto">
          <a:xfrm>
            <a:off x="4123888" y="2533089"/>
            <a:ext cx="189352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表示圆柱面，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6" name="Object 1064"/>
              <p:cNvSpPr txBox="1"/>
              <p:nvPr/>
            </p:nvSpPr>
            <p:spPr bwMode="auto">
              <a:xfrm>
                <a:off x="2633149" y="3033973"/>
                <a:ext cx="2377001" cy="47483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6" name="Object 10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149" y="3033973"/>
                <a:ext cx="2377001" cy="474830"/>
              </a:xfrm>
              <a:prstGeom prst="rect">
                <a:avLst/>
              </a:prstGeom>
              <a:blipFill>
                <a:blip r:embed="rId5"/>
                <a:stretch>
                  <a:fillRect l="-25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7" name="Text Box 1065"/>
          <p:cNvSpPr txBox="1">
            <a:spLocks noChangeArrowheads="1"/>
          </p:cNvSpPr>
          <p:nvPr/>
        </p:nvSpPr>
        <p:spPr bwMode="auto">
          <a:xfrm>
            <a:off x="4183077" y="3055944"/>
            <a:ext cx="158218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表示平面，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58" name="Object 1066"/>
              <p:cNvSpPr txBox="1"/>
              <p:nvPr/>
            </p:nvSpPr>
            <p:spPr bwMode="auto">
              <a:xfrm>
                <a:off x="2633149" y="3517569"/>
                <a:ext cx="2605601" cy="87219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，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&amp;2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+3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=6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258" name="Object 10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33149" y="3517569"/>
                <a:ext cx="2605601" cy="8721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259" name="Text Box 1067"/>
          <p:cNvSpPr txBox="1">
            <a:spLocks noChangeArrowheads="1"/>
          </p:cNvSpPr>
          <p:nvPr/>
        </p:nvSpPr>
        <p:spPr bwMode="auto">
          <a:xfrm flipH="1">
            <a:off x="2592031" y="4412441"/>
            <a:ext cx="173138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交线如图</a:t>
            </a:r>
            <a:r>
              <a:rPr lang="en-US" altLang="zh-CN" sz="2200" dirty="0"/>
              <a:t>.</a:t>
            </a:r>
          </a:p>
        </p:txBody>
      </p:sp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DA38E71A-4B19-7278-CB74-52AF69DD27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9363" y="2342601"/>
            <a:ext cx="2073312" cy="322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5232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"/>
                                        <p:tgtEl>
                                          <p:spTgt spid="9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9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9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75"/>
                                        <p:tgtEl>
                                          <p:spTgt spid="9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51" grpId="0"/>
      <p:bldP spid="9253" grpId="0" autoUpdateAnimBg="0"/>
      <p:bldP spid="9254" grpId="0"/>
      <p:bldP spid="9255" grpId="0" autoUpdateAnimBg="0"/>
      <p:bldP spid="9256" grpId="0"/>
      <p:bldP spid="9257" grpId="0" autoUpdateAnimBg="0"/>
      <p:bldP spid="9258" grpId="0"/>
      <p:bldP spid="9259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7518795-6D6D-9DDE-04B2-888D3AA5778D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7F49198D-E70D-2615-63B1-27F825B74DBD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7F49198D-E70D-2615-63B1-27F825B74D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B77DC4FD-FF36-34DE-0EE1-98F549BFCAFE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80B08CF-E8B2-21E3-546C-38B1ABF511B9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CBAD1660-44C3-471A-FD4C-A9DC0B6FCA7D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94F955CC-A994-2D0C-1E11-7761122E2232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95" name="Text Box 55"/>
              <p:cNvSpPr txBox="1">
                <a:spLocks noChangeArrowheads="1"/>
              </p:cNvSpPr>
              <p:nvPr/>
            </p:nvSpPr>
            <p:spPr bwMode="auto">
              <a:xfrm>
                <a:off x="1295399" y="647856"/>
                <a:ext cx="8562976" cy="20347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</a:t>
                </a:r>
                <a:r>
                  <a:rPr lang="en-US" altLang="zh-CN" sz="2800" b="1" dirty="0"/>
                  <a:t>  </a:t>
                </a:r>
                <a:r>
                  <a:rPr lang="zh-CN" altLang="en-US" sz="2800" dirty="0"/>
                  <a:t>方程组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zh-CN" altLang="en-US" sz="28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</m:e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e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&amp;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zh-CN" sz="2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num>
                                      <m:den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den>
                                    </m:f>
                                  </m:e>
                                </m:d>
                              </m:e>
                              <m:sup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sSup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f>
                              <m:f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e>
                                  <m:sup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eqArr>
                      </m:e>
                    </m:d>
                  </m:oMath>
                </a14:m>
                <a:r>
                  <a:rPr lang="zh-CN" altLang="en-US" sz="2800" dirty="0"/>
                  <a:t> 表示怎样的曲线？</a:t>
                </a:r>
              </a:p>
            </p:txBody>
          </p:sp>
        </mc:Choice>
        <mc:Fallback xmlns="">
          <p:sp>
            <p:nvSpPr>
              <p:cNvPr id="10295" name="Text Box 5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5399" y="647856"/>
                <a:ext cx="8562976" cy="2034788"/>
              </a:xfrm>
              <a:prstGeom prst="rect">
                <a:avLst/>
              </a:prstGeom>
              <a:blipFill>
                <a:blip r:embed="rId3"/>
                <a:stretch>
                  <a:fillRect l="-1423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7" name="Text Box 57"/>
          <p:cNvSpPr txBox="1">
            <a:spLocks noChangeArrowheads="1"/>
          </p:cNvSpPr>
          <p:nvPr/>
        </p:nvSpPr>
        <p:spPr bwMode="auto">
          <a:xfrm>
            <a:off x="1295399" y="3024780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8" name="Object 58"/>
              <p:cNvSpPr txBox="1"/>
              <p:nvPr/>
            </p:nvSpPr>
            <p:spPr bwMode="auto">
              <a:xfrm>
                <a:off x="2219172" y="3010493"/>
                <a:ext cx="2565012" cy="5318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298" name="Object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172" y="3010493"/>
                <a:ext cx="2565012" cy="53181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99" name="Text Box 59"/>
          <p:cNvSpPr txBox="1">
            <a:spLocks noChangeArrowheads="1"/>
          </p:cNvSpPr>
          <p:nvPr/>
        </p:nvSpPr>
        <p:spPr bwMode="auto">
          <a:xfrm>
            <a:off x="2219172" y="3654089"/>
            <a:ext cx="156225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上半球面，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301" name="Object 61"/>
              <p:cNvSpPr txBox="1"/>
              <p:nvPr/>
            </p:nvSpPr>
            <p:spPr bwMode="auto">
              <a:xfrm>
                <a:off x="2219172" y="4108946"/>
                <a:ext cx="2587007" cy="9239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CN" sz="22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0301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9172" y="4108946"/>
                <a:ext cx="2587007" cy="92399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2" name="Text Box 62"/>
          <p:cNvSpPr txBox="1">
            <a:spLocks noChangeArrowheads="1"/>
          </p:cNvSpPr>
          <p:nvPr/>
        </p:nvSpPr>
        <p:spPr bwMode="auto">
          <a:xfrm>
            <a:off x="4650834" y="4321495"/>
            <a:ext cx="11497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圆柱面，</a:t>
            </a:r>
            <a:endParaRPr lang="en-US" altLang="zh-CN" sz="2200" dirty="0"/>
          </a:p>
        </p:txBody>
      </p:sp>
      <p:sp>
        <p:nvSpPr>
          <p:cNvPr id="10303" name="Text Box 63"/>
          <p:cNvSpPr txBox="1">
            <a:spLocks noChangeArrowheads="1"/>
          </p:cNvSpPr>
          <p:nvPr/>
        </p:nvSpPr>
        <p:spPr bwMode="auto">
          <a:xfrm>
            <a:off x="2219173" y="4968608"/>
            <a:ext cx="145747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交线如图</a:t>
            </a:r>
            <a:r>
              <a:rPr lang="en-US" altLang="zh-CN" sz="2200" dirty="0"/>
              <a:t>.</a:t>
            </a:r>
          </a:p>
        </p:txBody>
      </p:sp>
      <p:pic>
        <p:nvPicPr>
          <p:cNvPr id="9" name="图片 8" descr="图片包含 游戏机, 体育&#10;&#10;描述已自动生成">
            <a:extLst>
              <a:ext uri="{FF2B5EF4-FFF2-40B4-BE49-F238E27FC236}">
                <a16:creationId xmlns:a16="http://schemas.microsoft.com/office/drawing/2014/main" id="{727DB00A-96F1-389F-8A85-9C05B607905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2214" y="2629580"/>
            <a:ext cx="3074632" cy="291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392409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0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75"/>
                                        <p:tgtEl>
                                          <p:spTgt spid="10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0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95" grpId="0"/>
      <p:bldP spid="10297" grpId="0" autoUpdateAnimBg="0"/>
      <p:bldP spid="10298" grpId="0"/>
      <p:bldP spid="10299" grpId="0" autoUpdateAnimBg="0"/>
      <p:bldP spid="10301" grpId="0"/>
      <p:bldP spid="10302" grpId="0" autoUpdateAnimBg="0"/>
      <p:bldP spid="10303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827FA1C-DBD2-165F-3CC8-AE403FC69A75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5" name="PA-102232">
              <a:extLst>
                <a:ext uri="{FF2B5EF4-FFF2-40B4-BE49-F238E27FC236}">
                  <a16:creationId xmlns:a16="http://schemas.microsoft.com/office/drawing/2014/main" id="{CFA999F8-E50C-F9AF-7FDF-7D4D69644C20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6" name="组合 5">
              <a:extLst>
                <a:ext uri="{FF2B5EF4-FFF2-40B4-BE49-F238E27FC236}">
                  <a16:creationId xmlns:a16="http://schemas.microsoft.com/office/drawing/2014/main" id="{31574EA3-142F-72B6-B2A8-08B9CF14E590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4D095DF3-3D82-A6FC-97E7-3FF7E431D455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A0CEE7FD-89BF-BE9C-2575-708F362A9B8D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9" name="Rectangle 1">
                <a:extLst>
                  <a:ext uri="{FF2B5EF4-FFF2-40B4-BE49-F238E27FC236}">
                    <a16:creationId xmlns:a16="http://schemas.microsoft.com/office/drawing/2014/main" id="{0328BB5E-EE34-C69C-3481-A4D200B1464B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1269" name="Rectangle 5"/>
          <p:cNvSpPr>
            <a:spLocks noChangeArrowheads="1"/>
          </p:cNvSpPr>
          <p:nvPr/>
        </p:nvSpPr>
        <p:spPr bwMode="auto">
          <a:xfrm>
            <a:off x="2327911" y="1964973"/>
            <a:ext cx="2016565" cy="1881163"/>
          </a:xfrm>
          <a:prstGeom prst="rect">
            <a:avLst/>
          </a:prstGeom>
          <a:noFill/>
          <a:ln w="9525">
            <a:solidFill>
              <a:srgbClr val="04926A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267" name="Object 3"/>
              <p:cNvSpPr txBox="1"/>
              <p:nvPr/>
            </p:nvSpPr>
            <p:spPr bwMode="auto">
              <a:xfrm>
                <a:off x="2447486" y="1964974"/>
                <a:ext cx="2016565" cy="1881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d>
                                <m:d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1267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47486" y="1964974"/>
                <a:ext cx="2016565" cy="18811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70" name="Text Box 6"/>
          <p:cNvSpPr txBox="1">
            <a:spLocks noChangeArrowheads="1"/>
          </p:cNvSpPr>
          <p:nvPr/>
        </p:nvSpPr>
        <p:spPr bwMode="auto">
          <a:xfrm>
            <a:off x="4464051" y="2465307"/>
            <a:ext cx="3810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空间曲线的参数方程</a:t>
            </a:r>
          </a:p>
        </p:txBody>
      </p:sp>
      <p:sp>
        <p:nvSpPr>
          <p:cNvPr id="11271" name="Rectangle 7"/>
          <p:cNvSpPr>
            <a:spLocks noGrp="1" noChangeArrowheads="1"/>
          </p:cNvSpPr>
          <p:nvPr>
            <p:ph type="title"/>
          </p:nvPr>
        </p:nvSpPr>
        <p:spPr>
          <a:xfrm>
            <a:off x="1425475" y="1183574"/>
            <a:ext cx="4868793" cy="583299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二、空间曲线的参数方程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 Box 6">
                <a:extLst>
                  <a:ext uri="{FF2B5EF4-FFF2-40B4-BE49-F238E27FC236}">
                    <a16:creationId xmlns:a16="http://schemas.microsoft.com/office/drawing/2014/main" id="{56E69E54-3916-FBC2-5BBF-8E9A1C30D1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13830" y="4055140"/>
                <a:ext cx="8498426" cy="12840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ct val="50000"/>
                  </a:spcBef>
                </a:pPr>
                <a:r>
                  <a:rPr lang="zh-CN" altLang="en-US" sz="2800" dirty="0">
                    <a:ea typeface="黑体" panose="02010609060101010101" pitchFamily="49" charset="-122"/>
                  </a:rPr>
                  <a:t>当给定</a:t>
                </a:r>
                <a14:m>
                  <m:oMath xmlns:m="http://schemas.openxmlformats.org/officeDocument/2006/math"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𝑡</m:t>
                    </m:r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=</m:t>
                    </m:r>
                    <m:sSub>
                      <m:sSub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𝑡</m:t>
                        </m:r>
                      </m:e>
                      <m:sub>
                        <m:r>
                          <a:rPr lang="en-US" altLang="zh-CN" sz="28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sz="2800" dirty="0">
                    <a:ea typeface="黑体" panose="02010609060101010101" pitchFamily="49" charset="-122"/>
                  </a:rPr>
                  <a:t>时，就得到曲线上的一个点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zh-CN" sz="280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  <m:r>
                          <a:rPr lang="en-US" altLang="zh-CN" sz="28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,</m:t>
                        </m:r>
                        <m:sSub>
                          <m:sSubPr>
                            <m:ctrlP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</m:ctrlPr>
                          </m:sSubPr>
                          <m:e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zh-CN" sz="2800" b="0" i="1" smtClean="0">
                                <a:latin typeface="Cambria Math" panose="02040503050406030204" pitchFamily="18" charset="0"/>
                                <a:ea typeface="黑体" panose="02010609060101010101" pitchFamily="49" charset="-122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zh-CN" sz="2800" b="0" i="1" smtClean="0">
                        <a:latin typeface="Cambria Math" panose="02040503050406030204" pitchFamily="18" charset="0"/>
                        <a:ea typeface="黑体" panose="02010609060101010101" pitchFamily="49" charset="-122"/>
                      </a:rPr>
                      <m:t>,</m:t>
                    </m:r>
                  </m:oMath>
                </a14:m>
                <a:r>
                  <a:rPr kumimoji="1" lang="en-US" altLang="zh-CN" sz="2800" baseline="-25000" dirty="0">
                    <a:latin typeface="Cambria Math" panose="02040503050406030204" pitchFamily="18" charset="0"/>
                    <a:ea typeface="黑体" panose="02010609060101010101" pitchFamily="49" charset="-122"/>
                    <a:cs typeface="黑体" panose="02010609060101010101" pitchFamily="49" charset="-122"/>
                  </a:rPr>
                  <a:t> </a:t>
                </a:r>
                <a:r>
                  <a:rPr lang="zh-CN" altLang="en-US" sz="2800" dirty="0">
                    <a:ea typeface="黑体" panose="02010609060101010101" pitchFamily="49" charset="-122"/>
                  </a:rPr>
                  <a:t>随着参数的变化可得到曲线上的全部点</a:t>
                </a:r>
                <a:r>
                  <a:rPr lang="en-US" altLang="zh-CN" sz="2800" dirty="0">
                    <a:ea typeface="黑体" panose="02010609060101010101" pitchFamily="49" charset="-122"/>
                  </a:rPr>
                  <a:t>.</a:t>
                </a:r>
                <a:endParaRPr lang="zh-CN" altLang="en-US" sz="2800" baseline="-25000" dirty="0"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4" name="Text Box 6">
                <a:extLst>
                  <a:ext uri="{FF2B5EF4-FFF2-40B4-BE49-F238E27FC236}">
                    <a16:creationId xmlns:a16="http://schemas.microsoft.com/office/drawing/2014/main" id="{56E69E54-3916-FBC2-5BBF-8E9A1C30D1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213830" y="4055140"/>
                <a:ext cx="8498426" cy="1284006"/>
              </a:xfrm>
              <a:prstGeom prst="rect">
                <a:avLst/>
              </a:prstGeom>
              <a:blipFill>
                <a:blip r:embed="rId4"/>
                <a:stretch>
                  <a:fillRect l="-1435" r="-1148" b="-123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61954000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1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0" dur="500"/>
                                        <p:tgtEl>
                                          <p:spTgt spid="11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67" grpId="0"/>
      <p:bldP spid="11270" grpId="0" autoUpdateAnimBg="0"/>
      <p:bldP spid="11271" grpId="0"/>
      <p:bldP spid="4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15339896-42C9-1BF2-C35E-B5195CD69455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AA57B35-FCE1-010B-1934-86FDDB27DC0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6AA57B35-FCE1-010B-1934-86FDDB27DC0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8F599B8E-053C-5CDB-7E69-62B0E5CB042D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5EB6D7BC-4EB4-B118-D07F-1235804D4977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988D2C3F-0285-F876-BD41-B74849B7DE19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06604250-269C-C296-0C1B-82890464ABE7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344" name="Text Box 56"/>
              <p:cNvSpPr txBox="1">
                <a:spLocks noChangeArrowheads="1"/>
              </p:cNvSpPr>
              <p:nvPr/>
            </p:nvSpPr>
            <p:spPr bwMode="auto">
              <a:xfrm>
                <a:off x="5304812" y="3009585"/>
                <a:ext cx="5096608" cy="7916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altLang="zh-CN" sz="2200" dirty="0"/>
                  <a:t>              </a:t>
                </a: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动点从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𝐴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点出发</a:t>
                </a:r>
                <a:r>
                  <a:rPr lang="zh-CN" altLang="en-US" sz="2200" dirty="0"/>
                  <a:t>，</a:t>
                </a: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经过时间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𝑡</m:t>
                    </m:r>
                    <m:r>
                      <a:rPr kumimoji="1" lang="en-US" altLang="zh-CN" sz="22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, 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运动到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𝑀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    </a:t>
                </a:r>
              </a:p>
            </p:txBody>
          </p:sp>
        </mc:Choice>
        <mc:Fallback xmlns="">
          <p:sp>
            <p:nvSpPr>
              <p:cNvPr id="12344" name="Text Box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812" y="3009585"/>
                <a:ext cx="5096608" cy="791692"/>
              </a:xfrm>
              <a:prstGeom prst="rect">
                <a:avLst/>
              </a:prstGeom>
              <a:blipFill>
                <a:blip r:embed="rId4"/>
                <a:stretch>
                  <a:fillRect l="-1555" t="-7692" b="-923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60" name="Object 72"/>
              <p:cNvSpPr txBox="1"/>
              <p:nvPr/>
            </p:nvSpPr>
            <p:spPr bwMode="auto">
              <a:xfrm>
                <a:off x="5417356" y="4245886"/>
                <a:ext cx="2232074" cy="53615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b="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360" name="Object 7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7356" y="4245886"/>
                <a:ext cx="2232074" cy="53615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61" name="Object 73"/>
              <p:cNvSpPr txBox="1"/>
              <p:nvPr/>
            </p:nvSpPr>
            <p:spPr bwMode="auto">
              <a:xfrm>
                <a:off x="5417357" y="4616107"/>
                <a:ext cx="1802594" cy="4430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361" name="Object 7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7357" y="4616107"/>
                <a:ext cx="1802594" cy="443013"/>
              </a:xfrm>
              <a:prstGeom prst="rect">
                <a:avLst/>
              </a:prstGeom>
              <a:blipFill>
                <a:blip r:embed="rId6"/>
                <a:stretch>
                  <a:fillRect l="-678" b="-821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362" name="Object 74"/>
              <p:cNvSpPr txBox="1"/>
              <p:nvPr/>
            </p:nvSpPr>
            <p:spPr bwMode="auto">
              <a:xfrm>
                <a:off x="5417356" y="5007139"/>
                <a:ext cx="1092947" cy="45989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𝑣𝑡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2362" name="Object 7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17356" y="5007139"/>
                <a:ext cx="1092947" cy="45989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67" name="Rectangle 79"/>
          <p:cNvSpPr>
            <a:spLocks noChangeArrowheads="1"/>
          </p:cNvSpPr>
          <p:nvPr/>
        </p:nvSpPr>
        <p:spPr bwMode="auto">
          <a:xfrm>
            <a:off x="5417356" y="4239386"/>
            <a:ext cx="2057400" cy="1290676"/>
          </a:xfrm>
          <a:prstGeom prst="rect">
            <a:avLst/>
          </a:prstGeom>
          <a:noFill/>
          <a:ln w="28575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68" name="Text Box 80"/>
          <p:cNvSpPr txBox="1">
            <a:spLocks noChangeArrowheads="1"/>
          </p:cNvSpPr>
          <p:nvPr/>
        </p:nvSpPr>
        <p:spPr bwMode="auto">
          <a:xfrm>
            <a:off x="5304428" y="5617091"/>
            <a:ext cx="2497655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4926A"/>
                </a:solidFill>
              </a:rPr>
              <a:t>螺旋线的参数方程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69" name="Rectangle 81"/>
              <p:cNvSpPr>
                <a:spLocks noChangeArrowheads="1"/>
              </p:cNvSpPr>
              <p:nvPr/>
            </p:nvSpPr>
            <p:spPr bwMode="auto">
              <a:xfrm>
                <a:off x="5304812" y="2997190"/>
                <a:ext cx="2277034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取时间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𝑡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为参数，</a:t>
                </a:r>
              </a:p>
            </p:txBody>
          </p:sp>
        </mc:Choice>
        <mc:Fallback xmlns="">
          <p:sp>
            <p:nvSpPr>
              <p:cNvPr id="12369" name="Rectangle 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812" y="2997190"/>
                <a:ext cx="2277034" cy="430887"/>
              </a:xfrm>
              <a:prstGeom prst="rect">
                <a:avLst/>
              </a:prstGeom>
              <a:blipFill>
                <a:blip r:embed="rId8"/>
                <a:stretch>
                  <a:fillRect l="-3476" t="-14286" r="-240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370" name="Text Box 82"/>
          <p:cNvSpPr txBox="1">
            <a:spLocks noChangeArrowheads="1"/>
          </p:cNvSpPr>
          <p:nvPr/>
        </p:nvSpPr>
        <p:spPr bwMode="auto">
          <a:xfrm>
            <a:off x="1258307" y="3129111"/>
            <a:ext cx="1066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54" name="Object 66"/>
              <p:cNvSpPr txBox="1"/>
              <p:nvPr/>
            </p:nvSpPr>
            <p:spPr bwMode="auto">
              <a:xfrm>
                <a:off x="4164137" y="5231988"/>
                <a:ext cx="88836" cy="8096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25000" lnSpcReduction="200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•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354" name="Object 6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64137" y="5231988"/>
                <a:ext cx="88836" cy="80969"/>
              </a:xfrm>
              <a:prstGeom prst="rect">
                <a:avLst/>
              </a:prstGeom>
              <a:blipFill>
                <a:blip r:embed="rId9"/>
                <a:stretch>
                  <a:fillRect b="-357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81">
                <a:extLst>
                  <a:ext uri="{FF2B5EF4-FFF2-40B4-BE49-F238E27FC236}">
                    <a16:creationId xmlns:a16="http://schemas.microsoft.com/office/drawing/2014/main" id="{C0D74BF8-1A82-70BF-F237-396387804B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8307" y="845978"/>
                <a:ext cx="10036183" cy="18158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例</a:t>
                </a:r>
                <a:r>
                  <a:rPr lang="en-US" altLang="zh-CN" sz="2800" b="1" dirty="0">
                    <a:solidFill>
                      <a:srgbClr val="04926A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   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如果空间一点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 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𝑀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在圆柱面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上以角速度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𝜔</m:t>
                    </m:r>
                    <m: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绕</m:t>
                    </m:r>
                  </m:oMath>
                </a14:m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r>
                  <a:rPr kumimoji="1" lang="en-US" altLang="zh-CN" sz="2800" dirty="0">
                    <a:ea typeface="黑体" panose="02010609060101010101" pitchFamily="49" charset="-122"/>
                    <a:cs typeface="黑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轴旋转，同时又以线速度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𝑣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沿平行于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𝑧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轴的正方向上升</a:t>
                </a:r>
                <a:endParaRPr kumimoji="1" lang="en-US" altLang="zh-CN" sz="2800" dirty="0">
                  <a:latin typeface="Cambria Math" panose="02040503050406030204" pitchFamily="18" charset="0"/>
                  <a:ea typeface="黑体" panose="02010609060101010101" pitchFamily="49" charset="-122"/>
                  <a:cs typeface="黑体" panose="02010609060101010101" pitchFamily="49" charset="-122"/>
                </a:endParaRPr>
              </a:p>
              <a:p>
                <a:r>
                  <a:rPr kumimoji="1" lang="en-US" altLang="zh-CN" sz="2800" dirty="0">
                    <a:ea typeface="黑体" panose="02010609060101010101" pitchFamily="49" charset="-122"/>
                    <a:cs typeface="黑体" panose="02010609060101010101" pitchFamily="49" charset="-122"/>
                  </a:rPr>
                  <a:t>      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(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其中</a:t>
                </a:r>
                <a14:m>
                  <m:oMath xmlns:m="http://schemas.openxmlformats.org/officeDocument/2006/math">
                    <m: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𝜔</m:t>
                    </m:r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zh-CN" altLang="en-US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𝑣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都是常数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)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,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那么点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𝑀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构成的图形叫做</a:t>
                </a:r>
                <a:r>
                  <a:rPr lang="zh-CN" altLang="en-US" sz="2800" dirty="0">
                    <a:solidFill>
                      <a:srgbClr val="04926A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螺旋线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   试建立其参数方程</a:t>
                </a:r>
                <a:r>
                  <a:rPr lang="en-US" altLang="zh-CN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endParaRPr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Rectangle 81">
                <a:extLst>
                  <a:ext uri="{FF2B5EF4-FFF2-40B4-BE49-F238E27FC236}">
                    <a16:creationId xmlns:a16="http://schemas.microsoft.com/office/drawing/2014/main" id="{C0D74BF8-1A82-70BF-F237-396387804BE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58307" y="845978"/>
                <a:ext cx="10036183" cy="1815882"/>
              </a:xfrm>
              <a:prstGeom prst="rect">
                <a:avLst/>
              </a:prstGeom>
              <a:blipFill>
                <a:blip r:embed="rId18"/>
                <a:stretch>
                  <a:fillRect l="-1214" t="-4698" b="-872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578C0DD-1AFC-94DC-247D-48BB5FA6F328}"/>
                  </a:ext>
                </a:extLst>
              </p:cNvPr>
              <p:cNvSpPr txBox="1"/>
              <p:nvPr/>
            </p:nvSpPr>
            <p:spPr bwMode="auto">
              <a:xfrm>
                <a:off x="5304812" y="3676931"/>
                <a:ext cx="3924913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2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zh-CN" altLang="en-US" sz="2200" dirty="0"/>
                  <a:t>在</a:t>
                </a:r>
                <a14:m>
                  <m:oMath xmlns:m="http://schemas.openxmlformats.org/officeDocument/2006/math">
                    <m:r>
                      <a:rPr kumimoji="1" lang="en-US" altLang="zh-CN" sz="2200" i="1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𝑂𝑦</m:t>
                    </m:r>
                  </m:oMath>
                </a14:m>
                <a:r>
                  <a:rPr lang="zh-CN" altLang="en-US" sz="2200" dirty="0"/>
                  <a:t>面的投影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,0) </m:t>
                    </m:r>
                  </m:oMath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4578C0DD-1AFC-94DC-247D-48BB5FA6F3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304812" y="3676931"/>
                <a:ext cx="3924913" cy="430887"/>
              </a:xfrm>
              <a:prstGeom prst="rect">
                <a:avLst/>
              </a:prstGeom>
              <a:blipFill>
                <a:blip r:embed="rId19"/>
                <a:stretch>
                  <a:fillRect l="-155" t="-14085" b="-23944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图示, 示意图&#10;&#10;描述已自动生成">
            <a:extLst>
              <a:ext uri="{FF2B5EF4-FFF2-40B4-BE49-F238E27FC236}">
                <a16:creationId xmlns:a16="http://schemas.microsoft.com/office/drawing/2014/main" id="{DF1BC578-6BCD-E51B-8AC3-5D036115D658}"/>
              </a:ext>
            </a:extLst>
          </p:cNvPr>
          <p:cNvPicPr>
            <a:picLocks noChangeAspect="1"/>
          </p:cNvPicPr>
          <p:nvPr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107" y="2875430"/>
            <a:ext cx="2023277" cy="3221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993343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2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2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2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44" grpId="0" autoUpdateAnimBg="0"/>
      <p:bldP spid="12360" grpId="0"/>
      <p:bldP spid="12361" grpId="0"/>
      <p:bldP spid="12362" grpId="0"/>
      <p:bldP spid="12368" grpId="0" autoUpdateAnimBg="0"/>
      <p:bldP spid="12369" grpId="0" autoUpdateAnimBg="0"/>
      <p:bldP spid="12370" grpId="0" autoUpdateAnimBg="0"/>
      <p:bldP spid="26" grpId="0"/>
      <p:bldP spid="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42CA3EE-5C29-FF15-8B8A-D23D7564739A}"/>
              </a:ext>
            </a:extLst>
          </p:cNvPr>
          <p:cNvGrpSpPr/>
          <p:nvPr/>
        </p:nvGrpSpPr>
        <p:grpSpPr>
          <a:xfrm>
            <a:off x="613931" y="517521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2B29079-7FF9-DA22-96B4-D049793D7653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E2B29079-7FF9-DA22-96B4-D049793D765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1E81CBE8-82CA-53B9-7220-DD5F206920F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C8C3D06A-41A1-3AB9-CAFA-44330F84648F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D3AE9D60-3F23-B5C5-BD97-1B0AD9680DC5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1DE56B11-579C-6D6C-515D-CD11B33BD78F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13371" name="Rectangle 59"/>
          <p:cNvSpPr>
            <a:spLocks noChangeArrowheads="1"/>
          </p:cNvSpPr>
          <p:nvPr/>
        </p:nvSpPr>
        <p:spPr bwMode="auto">
          <a:xfrm>
            <a:off x="4869911" y="4981373"/>
            <a:ext cx="1371600" cy="521419"/>
          </a:xfrm>
          <a:prstGeom prst="rect">
            <a:avLst/>
          </a:prstGeom>
          <a:noFill/>
          <a:ln w="9525">
            <a:solidFill>
              <a:srgbClr val="04926A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E1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72" name="Text Box 60"/>
          <p:cNvSpPr txBox="1">
            <a:spLocks noChangeArrowheads="1"/>
          </p:cNvSpPr>
          <p:nvPr/>
        </p:nvSpPr>
        <p:spPr bwMode="auto">
          <a:xfrm>
            <a:off x="2173456" y="1351810"/>
            <a:ext cx="428810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螺旋线的参数方程还可以写为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73" name="Object 61"/>
              <p:cNvSpPr txBox="1"/>
              <p:nvPr/>
            </p:nvSpPr>
            <p:spPr bwMode="auto">
              <a:xfrm>
                <a:off x="2173456" y="1864325"/>
                <a:ext cx="2232025" cy="138431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cos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func>
                                <m:func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altLang="en-US" sz="2200" i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sin</m:t>
                                  </m:r>
                                </m:fName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func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73" name="Object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73456" y="1864325"/>
                <a:ext cx="2232025" cy="138431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75" name="Text Box 63"/>
          <p:cNvSpPr txBox="1">
            <a:spLocks noChangeArrowheads="1"/>
          </p:cNvSpPr>
          <p:nvPr/>
        </p:nvSpPr>
        <p:spPr bwMode="auto">
          <a:xfrm>
            <a:off x="2173456" y="3287377"/>
            <a:ext cx="26311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螺旋线的重要</a:t>
            </a:r>
            <a:r>
              <a:rPr lang="zh-CN" altLang="en-US" sz="2200" dirty="0">
                <a:solidFill>
                  <a:srgbClr val="04926A"/>
                </a:solidFill>
                <a:ea typeface="黑体" panose="02010609060101010101" pitchFamily="49" charset="-122"/>
              </a:rPr>
              <a:t>性质</a:t>
            </a:r>
            <a:r>
              <a:rPr lang="zh-CN" altLang="en-US" sz="2200" dirty="0"/>
              <a:t>：</a:t>
            </a:r>
          </a:p>
        </p:txBody>
      </p:sp>
      <p:sp>
        <p:nvSpPr>
          <p:cNvPr id="13378" name="Text Box 66"/>
          <p:cNvSpPr txBox="1">
            <a:spLocks noChangeArrowheads="1"/>
          </p:cNvSpPr>
          <p:nvPr/>
        </p:nvSpPr>
        <p:spPr bwMode="auto">
          <a:xfrm>
            <a:off x="2161259" y="3881520"/>
            <a:ext cx="6172200" cy="9387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上升的高度与转过的角度成正比．</a:t>
            </a:r>
          </a:p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即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76" name="Object 64"/>
              <p:cNvSpPr txBox="1"/>
              <p:nvPr/>
            </p:nvSpPr>
            <p:spPr bwMode="auto">
              <a:xfrm>
                <a:off x="2653319" y="4355626"/>
                <a:ext cx="2337781" cy="52141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: 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76" name="Object 6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53319" y="4355626"/>
                <a:ext cx="2337781" cy="52141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377" name="Object 65"/>
              <p:cNvSpPr txBox="1"/>
              <p:nvPr/>
            </p:nvSpPr>
            <p:spPr bwMode="auto">
              <a:xfrm>
                <a:off x="4916094" y="4361720"/>
                <a:ext cx="2751531" cy="53103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77" name="Object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16094" y="4361720"/>
                <a:ext cx="2751531" cy="53103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79" name="Rectangle 67"/>
          <p:cNvSpPr>
            <a:spLocks noChangeArrowheads="1"/>
          </p:cNvSpPr>
          <p:nvPr/>
        </p:nvSpPr>
        <p:spPr bwMode="auto">
          <a:xfrm>
            <a:off x="3201232" y="5013049"/>
            <a:ext cx="160332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200" dirty="0"/>
              <a:t>上升的高度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380" name="Object 68"/>
              <p:cNvSpPr txBox="1"/>
              <p:nvPr/>
            </p:nvSpPr>
            <p:spPr bwMode="auto">
              <a:xfrm>
                <a:off x="4901217" y="4997338"/>
                <a:ext cx="1560345" cy="361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𝑏</m:t>
                      </m:r>
                      <m:r>
                        <m:rPr>
                          <m:sty m:val="p"/>
                        </m:rPr>
                        <a:rPr lang="zh-CN" altLang="en-US" sz="22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3380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01217" y="4997338"/>
                <a:ext cx="1560345" cy="361350"/>
              </a:xfrm>
              <a:prstGeom prst="rect">
                <a:avLst/>
              </a:prstGeom>
              <a:blipFill>
                <a:blip r:embed="rId6"/>
                <a:stretch>
                  <a:fillRect l="-391" b="-1694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381" name="Text Box 69"/>
          <p:cNvSpPr txBox="1">
            <a:spLocks noChangeArrowheads="1"/>
          </p:cNvSpPr>
          <p:nvPr/>
        </p:nvSpPr>
        <p:spPr bwMode="auto">
          <a:xfrm>
            <a:off x="6285777" y="5013048"/>
            <a:ext cx="78155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>
                <a:solidFill>
                  <a:srgbClr val="04926A"/>
                </a:solidFill>
              </a:rPr>
              <a:t>螺距</a:t>
            </a:r>
          </a:p>
        </p:txBody>
      </p:sp>
      <p:pic>
        <p:nvPicPr>
          <p:cNvPr id="13382" name="Picture 7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9549" y="1530004"/>
            <a:ext cx="1332080" cy="2820875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3383" name="Group 71"/>
          <p:cNvGrpSpPr>
            <a:grpSpLocks/>
          </p:cNvGrpSpPr>
          <p:nvPr/>
        </p:nvGrpSpPr>
        <p:grpSpPr bwMode="auto">
          <a:xfrm>
            <a:off x="2193315" y="5006979"/>
            <a:ext cx="1571775" cy="673517"/>
            <a:chOff x="1138" y="3162"/>
            <a:chExt cx="689" cy="4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84" name="Object 72"/>
                <p:cNvSpPr txBox="1"/>
                <p:nvPr/>
              </p:nvSpPr>
              <p:spPr bwMode="auto">
                <a:xfrm>
                  <a:off x="1138" y="3162"/>
                  <a:ext cx="329" cy="38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3384" name="Object 7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38" y="3162"/>
                  <a:ext cx="329" cy="38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385" name="Object 73"/>
                <p:cNvSpPr txBox="1"/>
                <p:nvPr/>
              </p:nvSpPr>
              <p:spPr bwMode="auto">
                <a:xfrm>
                  <a:off x="1200" y="3163"/>
                  <a:ext cx="627" cy="42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m:rPr>
                            <m:sty m:val="p"/>
                          </m:rPr>
                          <a:rPr lang="zh-CN" altLang="en-US" sz="2200" i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a:rPr lang="zh-CN" altLang="en-US" sz="22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3385" name="Object 7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200" y="3163"/>
                  <a:ext cx="627" cy="420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CE5674F-93EF-5B80-8EB7-D4BE0260DE8C}"/>
                  </a:ext>
                </a:extLst>
              </p:cNvPr>
              <p:cNvSpPr txBox="1"/>
              <p:nvPr/>
            </p:nvSpPr>
            <p:spPr bwMode="auto">
              <a:xfrm>
                <a:off x="4096234" y="2120042"/>
                <a:ext cx="2476421" cy="6727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22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, 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num>
                            <m:den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DCE5674F-93EF-5B80-8EB7-D4BE0260D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096234" y="2120042"/>
                <a:ext cx="2476421" cy="67274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0381102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3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"/>
                                        <p:tgtEl>
                                          <p:spTgt spid="13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75"/>
                                        <p:tgtEl>
                                          <p:spTgt spid="1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3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700"/>
                            </p:stCondLst>
                            <p:childTnLst>
                              <p:par>
                                <p:cTn id="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3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1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72" grpId="0"/>
      <p:bldP spid="13373" grpId="0"/>
      <p:bldP spid="13375" grpId="0" autoUpdateAnimBg="0"/>
      <p:bldP spid="13378" grpId="0" autoUpdateAnimBg="0"/>
      <p:bldP spid="13376" grpId="0"/>
      <p:bldP spid="13377" grpId="0"/>
      <p:bldP spid="13379" grpId="0" autoUpdateAnimBg="0"/>
      <p:bldP spid="13380" grpId="0"/>
      <p:bldP spid="13381" grpId="0" autoUpdateAnimBg="0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CB6E08C2-3C31-022A-4F76-7F85B89E3294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5E773EA-B224-B851-2D98-7D57BF3ED92F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35E773EA-B224-B851-2D98-7D57BF3ED92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4117CF10-2335-1CD4-CD35-7790247E478C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2C6ED893-A5AD-6681-A8B9-544230179A13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EE46CF3-5123-2A37-CCDF-348B11A85323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41CCDF09-2707-1AB2-18F6-B2D0E9D64A58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403" name="Object 43"/>
              <p:cNvSpPr txBox="1"/>
              <p:nvPr/>
            </p:nvSpPr>
            <p:spPr bwMode="auto">
              <a:xfrm>
                <a:off x="2034277" y="4010110"/>
                <a:ext cx="3699773" cy="5877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cos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403" name="Object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4277" y="4010110"/>
                <a:ext cx="3699773" cy="587728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3" name="Object 33"/>
              <p:cNvSpPr txBox="1"/>
              <p:nvPr/>
            </p:nvSpPr>
            <p:spPr bwMode="auto">
              <a:xfrm>
                <a:off x="3793135" y="670715"/>
                <a:ext cx="4436703" cy="169659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𝜑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l-GR" altLang="zh-CN" sz="280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𝛹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) ,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) ,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𝛼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93" name="Object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93135" y="670715"/>
                <a:ext cx="4436703" cy="169659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4" name="Text Box 34"/>
              <p:cNvSpPr txBox="1">
                <a:spLocks noChangeArrowheads="1"/>
              </p:cNvSpPr>
              <p:nvPr/>
            </p:nvSpPr>
            <p:spPr bwMode="auto">
              <a:xfrm>
                <a:off x="8063881" y="1171015"/>
                <a:ext cx="16207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绕 </a:t>
                </a:r>
                <a14:m>
                  <m:oMath xmlns:m="http://schemas.openxmlformats.org/officeDocument/2006/math">
                    <m:r>
                      <a:rPr kumimoji="1" lang="en-US" altLang="zh-CN" sz="280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轴旋</a:t>
                </a:r>
              </a:p>
            </p:txBody>
          </p:sp>
        </mc:Choice>
        <mc:Fallback xmlns="">
          <p:sp>
            <p:nvSpPr>
              <p:cNvPr id="15394" name="Text 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63881" y="1171015"/>
                <a:ext cx="1620700" cy="523220"/>
              </a:xfrm>
              <a:prstGeom prst="rect">
                <a:avLst/>
              </a:prstGeom>
              <a:blipFill>
                <a:blip r:embed="rId11"/>
                <a:stretch>
                  <a:fillRect l="-7895" t="-15116" r="-6015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395" name="Text Box 35"/>
          <p:cNvSpPr txBox="1">
            <a:spLocks noChangeArrowheads="1"/>
          </p:cNvSpPr>
          <p:nvPr/>
        </p:nvSpPr>
        <p:spPr bwMode="auto">
          <a:xfrm>
            <a:off x="1995207" y="2245423"/>
            <a:ext cx="359585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转时的旋转曲面方程</a:t>
            </a:r>
            <a:r>
              <a:rPr kumimoji="1" lang="en-US" altLang="zh-C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5396" name="Text Box 36"/>
          <p:cNvSpPr txBox="1">
            <a:spLocks noChangeArrowheads="1"/>
          </p:cNvSpPr>
          <p:nvPr/>
        </p:nvSpPr>
        <p:spPr bwMode="auto">
          <a:xfrm>
            <a:off x="1270671" y="2864923"/>
            <a:ext cx="543739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97" name="Object 37"/>
              <p:cNvSpPr txBox="1"/>
              <p:nvPr/>
            </p:nvSpPr>
            <p:spPr bwMode="auto">
              <a:xfrm>
                <a:off x="2835019" y="2932705"/>
                <a:ext cx="3506250" cy="5614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kumimoji="1" lang="en-US" altLang="zh-CN" sz="22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el-GR" altLang="zh-CN" sz="2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𝛹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))∈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𝛤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397" name="Object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5019" y="2932705"/>
                <a:ext cx="3506250" cy="561447"/>
              </a:xfrm>
              <a:prstGeom prst="rect">
                <a:avLst/>
              </a:prstGeom>
              <a:blipFill>
                <a:blip r:embed="rId12"/>
                <a:stretch>
                  <a:fillRect l="-17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8" name="Text Box 38"/>
              <p:cNvSpPr txBox="1">
                <a:spLocks noChangeArrowheads="1"/>
              </p:cNvSpPr>
              <p:nvPr/>
            </p:nvSpPr>
            <p:spPr bwMode="auto">
              <a:xfrm>
                <a:off x="5941447" y="2926667"/>
                <a:ext cx="2577822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点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</m:ctrlPr>
                      </m:sSubPr>
                      <m:e>
                        <m:r>
                          <a:rPr lang="en-US" altLang="zh-CN" sz="2200" b="0" i="1" smtClean="0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𝑀</m:t>
                        </m:r>
                      </m:e>
                      <m:sub>
                        <m:r>
                          <a:rPr lang="en-US" altLang="zh-CN" sz="2200" i="1">
                            <a:latin typeface="Cambria Math" panose="02040503050406030204" pitchFamily="18" charset="0"/>
                            <a:ea typeface="黑体" panose="02010609060101010101" pitchFamily="49" charset="-122"/>
                          </a:rPr>
                          <m:t>1</m:t>
                        </m:r>
                      </m:sub>
                    </m:sSub>
                  </m:oMath>
                </a14:m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绕</a:t>
                </a:r>
                <a:r>
                  <a:rPr kumimoji="1" lang="zh-CN" altLang="en-US" sz="22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zh-CN" sz="22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</m:oMath>
                </a14:m>
                <a:r>
                  <a:rPr kumimoji="1"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轴旋转，</a:t>
                </a:r>
                <a:r>
                  <a:rPr kumimoji="1" lang="en-US" altLang="zh-CN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5398" name="Text 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41447" y="2926667"/>
                <a:ext cx="2577822" cy="430887"/>
              </a:xfrm>
              <a:prstGeom prst="rect">
                <a:avLst/>
              </a:prstGeom>
              <a:blipFill>
                <a:blip r:embed="rId13"/>
                <a:stretch>
                  <a:fillRect l="-3073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99" name="Text Box 39"/>
              <p:cNvSpPr txBox="1">
                <a:spLocks noChangeArrowheads="1"/>
              </p:cNvSpPr>
              <p:nvPr/>
            </p:nvSpPr>
            <p:spPr bwMode="auto">
              <a:xfrm>
                <a:off x="1995207" y="3456818"/>
                <a:ext cx="2448106" cy="43088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eaLnBrk="0" hangingPunct="0"/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转过角度</a:t>
                </a:r>
                <a14:m>
                  <m:oMath xmlns:m="http://schemas.openxmlformats.org/officeDocument/2006/math">
                    <m:r>
                      <a:rPr lang="zh-CN" altLang="en-US" sz="2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kumimoji="1"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后到点 </a:t>
                </a:r>
                <a:endParaRPr kumimoji="1" lang="zh-CN" alt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399" name="Text 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5207" y="3456818"/>
                <a:ext cx="2448106" cy="430887"/>
              </a:xfrm>
              <a:prstGeom prst="rect">
                <a:avLst/>
              </a:prstGeom>
              <a:blipFill>
                <a:blip r:embed="rId14"/>
                <a:stretch>
                  <a:fillRect l="-3234" t="-14085" b="-2394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0" name="Object 40"/>
              <p:cNvSpPr txBox="1"/>
              <p:nvPr/>
            </p:nvSpPr>
            <p:spPr bwMode="auto">
              <a:xfrm>
                <a:off x="4151760" y="3450532"/>
                <a:ext cx="2025999" cy="47910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400" name="Object 4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151760" y="3450532"/>
                <a:ext cx="2025999" cy="479102"/>
              </a:xfrm>
              <a:prstGeom prst="rect">
                <a:avLst/>
              </a:prstGeom>
              <a:blipFill>
                <a:blip r:embed="rId15"/>
                <a:stretch>
                  <a:fillRect l="-301"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01" name="Text Box 41"/>
          <p:cNvSpPr txBox="1">
            <a:spLocks noChangeArrowheads="1"/>
          </p:cNvSpPr>
          <p:nvPr/>
        </p:nvSpPr>
        <p:spPr bwMode="auto">
          <a:xfrm flipH="1">
            <a:off x="5419913" y="3468640"/>
            <a:ext cx="589394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则</a:t>
            </a:r>
          </a:p>
        </p:txBody>
      </p:sp>
      <p:sp>
        <p:nvSpPr>
          <p:cNvPr id="15402" name="AutoShape 42"/>
          <p:cNvSpPr>
            <a:spLocks/>
          </p:cNvSpPr>
          <p:nvPr/>
        </p:nvSpPr>
        <p:spPr bwMode="auto">
          <a:xfrm>
            <a:off x="1899140" y="4069082"/>
            <a:ext cx="179388" cy="1447800"/>
          </a:xfrm>
          <a:prstGeom prst="leftBrace">
            <a:avLst>
              <a:gd name="adj1" fmla="val 67256"/>
              <a:gd name="adj2" fmla="val 50000"/>
            </a:avLst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404" name="Object 44"/>
              <p:cNvSpPr txBox="1"/>
              <p:nvPr/>
            </p:nvSpPr>
            <p:spPr bwMode="auto">
              <a:xfrm>
                <a:off x="2034277" y="4526067"/>
                <a:ext cx="3556786" cy="5877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200" dirty="0">
                                  <a:latin typeface="Cambria Math" panose="02040503050406030204" pitchFamily="18" charset="0"/>
                                  <a:ea typeface="黑体" panose="02010609060101010101" pitchFamily="49" charset="-122"/>
                                </a:rPr>
                                <m:t>𝜑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)+</m:t>
                          </m:r>
                          <m:sSup>
                            <m:sSup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l-GR" altLang="zh-CN" sz="22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𝛹</m:t>
                              </m:r>
                            </m:e>
                            <m: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func>
                        <m:func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CN" altLang="en-US" sz="2200" i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sin</m:t>
                          </m:r>
                        </m:fName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func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404" name="Object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4277" y="4526067"/>
                <a:ext cx="3556786" cy="587728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5" name="Object 45"/>
              <p:cNvSpPr txBox="1"/>
              <p:nvPr/>
            </p:nvSpPr>
            <p:spPr bwMode="auto">
              <a:xfrm>
                <a:off x="2034277" y="5030787"/>
                <a:ext cx="1321368" cy="43088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405" name="Object 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34277" y="5030787"/>
                <a:ext cx="1321368" cy="430887"/>
              </a:xfrm>
              <a:prstGeom prst="rect">
                <a:avLst/>
              </a:prstGeom>
              <a:blipFill>
                <a:blip r:embed="rId17"/>
                <a:stretch>
                  <a:fillRect b="-1831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406" name="Object 46"/>
              <p:cNvSpPr txBox="1"/>
              <p:nvPr/>
            </p:nvSpPr>
            <p:spPr bwMode="auto">
              <a:xfrm>
                <a:off x="5463364" y="4198754"/>
                <a:ext cx="2132011" cy="10461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𝛼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𝛽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2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2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5406" name="Object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63364" y="4198754"/>
                <a:ext cx="2132011" cy="1046163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407" name="Text Box 47"/>
          <p:cNvSpPr txBox="1">
            <a:spLocks noChangeArrowheads="1"/>
          </p:cNvSpPr>
          <p:nvPr/>
        </p:nvSpPr>
        <p:spPr bwMode="auto">
          <a:xfrm>
            <a:off x="1995207" y="5619864"/>
            <a:ext cx="4346062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kumimoji="1"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这就是旋转曲面满足的参数方程 </a:t>
            </a:r>
            <a:r>
              <a:rPr kumimoji="1" lang="en-US" altLang="zh-C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  <p:sp>
        <p:nvSpPr>
          <p:cNvPr id="15427" name="Rectangle 67"/>
          <p:cNvSpPr>
            <a:spLocks noChangeArrowheads="1"/>
          </p:cNvSpPr>
          <p:nvPr/>
        </p:nvSpPr>
        <p:spPr bwMode="auto">
          <a:xfrm>
            <a:off x="1057419" y="1139218"/>
            <a:ext cx="3048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en-US" altLang="zh-CN" sz="2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kumimoji="1"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求空间曲线</a:t>
            </a:r>
            <a:endParaRPr kumimoji="1" lang="zh-CN" altLang="en-US" sz="2800" dirty="0">
              <a:latin typeface="Times New Roman" panose="02020603050405020304" pitchFamily="18" charset="0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  <p:sp>
        <p:nvSpPr>
          <p:cNvPr id="15442" name="Text Box 82"/>
          <p:cNvSpPr txBox="1">
            <a:spLocks noChangeArrowheads="1"/>
          </p:cNvSpPr>
          <p:nvPr/>
        </p:nvSpPr>
        <p:spPr bwMode="auto">
          <a:xfrm>
            <a:off x="1995207" y="2939885"/>
            <a:ext cx="129540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任取点</a:t>
            </a:r>
          </a:p>
        </p:txBody>
      </p:sp>
    </p:spTree>
    <p:extLst>
      <p:ext uri="{BB962C8B-B14F-4D97-AF65-F5344CB8AC3E}">
        <p14:creationId xmlns:p14="http://schemas.microsoft.com/office/powerpoint/2010/main" val="324800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5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5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5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539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539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53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54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5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5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5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5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5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403" grpId="0"/>
      <p:bldP spid="15393" grpId="0"/>
      <p:bldP spid="15394" grpId="0"/>
      <p:bldP spid="15395" grpId="0"/>
      <p:bldP spid="15396" grpId="0" build="p" autoUpdateAnimBg="0"/>
      <p:bldP spid="15397" grpId="0"/>
      <p:bldP spid="15398" grpId="0" build="p" autoUpdateAnimBg="0"/>
      <p:bldP spid="15399" grpId="0" build="p" autoUpdateAnimBg="0"/>
      <p:bldP spid="15400" grpId="0"/>
      <p:bldP spid="15401" grpId="0" build="p" autoUpdateAnimBg="0"/>
      <p:bldP spid="15404" grpId="0"/>
      <p:bldP spid="15405" grpId="0"/>
      <p:bldP spid="15406" grpId="0"/>
      <p:bldP spid="15407" grpId="0" build="p" autoUpdateAnimBg="0"/>
      <p:bldP spid="15427" grpId="0"/>
      <p:bldP spid="1544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40" name="Rectangle 56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2176395" y="888077"/>
            <a:ext cx="944880" cy="6096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zh-CN" altLang="en-US" sz="2800" b="0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直线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45" name="Text Box 61"/>
              <p:cNvSpPr txBox="1">
                <a:spLocks noChangeArrowheads="1"/>
              </p:cNvSpPr>
              <p:nvPr/>
            </p:nvSpPr>
            <p:spPr bwMode="auto">
              <a:xfrm>
                <a:off x="4565733" y="946949"/>
                <a:ext cx="5064858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绕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轴旋转所得旋转曲面的参数 </a:t>
                </a:r>
              </a:p>
            </p:txBody>
          </p:sp>
        </mc:Choice>
        <mc:Fallback xmlns="">
          <p:sp>
            <p:nvSpPr>
              <p:cNvPr id="16445" name="Text Box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65733" y="946949"/>
                <a:ext cx="5064858" cy="523220"/>
              </a:xfrm>
              <a:prstGeom prst="rect">
                <a:avLst/>
              </a:prstGeom>
              <a:blipFill>
                <a:blip r:embed="rId2"/>
                <a:stretch>
                  <a:fillRect l="-2527" t="-15116" r="-241" b="-2790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51" name="Text Box 67"/>
              <p:cNvSpPr txBox="1">
                <a:spLocks noChangeArrowheads="1"/>
              </p:cNvSpPr>
              <p:nvPr/>
            </p:nvSpPr>
            <p:spPr bwMode="auto">
              <a:xfrm>
                <a:off x="1226238" y="3711606"/>
                <a:ext cx="9215339" cy="9541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 eaLnBrk="0" hangingPunct="0"/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消去</a:t>
                </a:r>
                <a14:m>
                  <m:oMath xmlns:m="http://schemas.openxmlformats.org/officeDocument/2006/math"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𝑡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和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zh-CN" sz="2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  <a:sym typeface="Symbol" panose="05050102010706020507" pitchFamily="18" charset="2"/>
                  </a:rPr>
                  <a:t>得</a:t>
                </a:r>
                <a:r>
                  <a:rPr kumimoji="1"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旋转曲面的直角坐标</a:t>
                </a:r>
                <a:r>
                  <a:rPr lang="zh-CN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方程为</a:t>
                </a:r>
              </a:p>
              <a:p>
                <a:pPr eaLnBrk="0" hangingPunct="0"/>
                <a:endParaRPr kumimoji="1" lang="zh-CN" altLang="en-US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451" name="Text Box 6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26238" y="3711606"/>
                <a:ext cx="9215339" cy="954107"/>
              </a:xfrm>
              <a:prstGeom prst="rect">
                <a:avLst/>
              </a:prstGeom>
              <a:blipFill>
                <a:blip r:embed="rId3"/>
                <a:stretch>
                  <a:fillRect l="-1323" t="-89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52" name="Object 68"/>
              <p:cNvSpPr txBox="1"/>
              <p:nvPr/>
            </p:nvSpPr>
            <p:spPr bwMode="auto">
              <a:xfrm>
                <a:off x="2309586" y="4227117"/>
                <a:ext cx="6398985" cy="128904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sz="2800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p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452" name="Object 6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9586" y="4227117"/>
                <a:ext cx="6398985" cy="12890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61" name="Object 77"/>
              <p:cNvSpPr txBox="1"/>
              <p:nvPr/>
            </p:nvSpPr>
            <p:spPr bwMode="auto">
              <a:xfrm>
                <a:off x="3059680" y="439609"/>
                <a:ext cx="1819562" cy="14820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80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zh-CN" altLang="en-US" sz="280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461" name="Object 7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59680" y="439609"/>
                <a:ext cx="1819562" cy="14820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62" name="Text Box 78"/>
          <p:cNvSpPr txBox="1">
            <a:spLocks noChangeArrowheads="1"/>
          </p:cNvSpPr>
          <p:nvPr/>
        </p:nvSpPr>
        <p:spPr bwMode="auto">
          <a:xfrm>
            <a:off x="1226238" y="2524125"/>
            <a:ext cx="15240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方程为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65" name="Object 81"/>
              <p:cNvSpPr txBox="1"/>
              <p:nvPr/>
            </p:nvSpPr>
            <p:spPr bwMode="auto">
              <a:xfrm>
                <a:off x="2317297" y="1921669"/>
                <a:ext cx="4321628" cy="15970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sSup>
                                      <m:sSupPr>
                                        <m:ctrlP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𝑡</m:t>
                                        </m:r>
                                      </m:e>
                                      <m:sup>
                                        <m:r>
                                          <a:rPr lang="zh-CN" altLang="en-US" sz="2800" i="1">
                                            <a:solidFill>
                                              <a:srgbClr val="0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+1</m:t>
                                    </m:r>
                                  </m:e>
                                </m:rad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</m:func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=2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, 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−∞&lt;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&lt;+∞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465" name="Object 8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17297" y="1921669"/>
                <a:ext cx="4321628" cy="1597025"/>
              </a:xfrm>
              <a:prstGeom prst="rect">
                <a:avLst/>
              </a:prstGeom>
              <a:blipFill>
                <a:blip r:embed="rId6"/>
                <a:stretch>
                  <a:fillRect r="-41749" b="-190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组合 9">
            <a:extLst>
              <a:ext uri="{FF2B5EF4-FFF2-40B4-BE49-F238E27FC236}">
                <a16:creationId xmlns:a16="http://schemas.microsoft.com/office/drawing/2014/main" id="{23E26833-2BD4-920B-5CAB-63DF99F714CF}"/>
              </a:ext>
            </a:extLst>
          </p:cNvPr>
          <p:cNvGrpSpPr/>
          <p:nvPr/>
        </p:nvGrpSpPr>
        <p:grpSpPr>
          <a:xfrm>
            <a:off x="1226238" y="946949"/>
            <a:ext cx="944880" cy="449580"/>
            <a:chOff x="1553" y="3802"/>
            <a:chExt cx="1488" cy="708"/>
          </a:xfrm>
        </p:grpSpPr>
        <p:sp>
          <p:nvSpPr>
            <p:cNvPr id="11" name="圆角矩形 21">
              <a:extLst>
                <a:ext uri="{FF2B5EF4-FFF2-40B4-BE49-F238E27FC236}">
                  <a16:creationId xmlns:a16="http://schemas.microsoft.com/office/drawing/2014/main" id="{8F79DC8B-CDC3-5BE3-9181-F23F490AE8E1}"/>
                </a:ext>
              </a:extLst>
            </p:cNvPr>
            <p:cNvSpPr/>
            <p:nvPr/>
          </p:nvSpPr>
          <p:spPr>
            <a:xfrm>
              <a:off x="1553" y="3803"/>
              <a:ext cx="1488" cy="707"/>
            </a:xfrm>
            <a:prstGeom prst="roundRect">
              <a:avLst/>
            </a:prstGeom>
            <a:solidFill>
              <a:srgbClr val="04926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Text Box 28">
              <a:extLst>
                <a:ext uri="{FF2B5EF4-FFF2-40B4-BE49-F238E27FC236}">
                  <a16:creationId xmlns:a16="http://schemas.microsoft.com/office/drawing/2014/main" id="{B585C32A-EBE2-506E-AE41-DB1DB463A8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6" y="3802"/>
              <a:ext cx="1276" cy="6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0" tIns="0" bIns="0">
              <a:spAutoFit/>
            </a:bodyPr>
            <a:lstStyle>
              <a:lvl1pPr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 marL="742950" indent="-28575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 marL="11430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 marL="16002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 marL="2057400" indent="-228600">
                <a:lnSpc>
                  <a:spcPct val="85000"/>
                </a:lnSpc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marL="25146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marL="29718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marL="34290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marL="3886200" indent="-228600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 kumimoji="1" sz="2800" b="1">
                  <a:solidFill>
                    <a:schemeClr val="tx2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defRPr/>
              </a:pPr>
              <a:r>
                <a:rPr kumimoji="1" lang="zh-CN" altLang="en-US" i="0" u="none" strike="noStrike" kern="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例如</a:t>
              </a:r>
              <a:endParaRPr kumimoji="1" lang="zh-CN" altLang="en-US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微软雅黑" panose="020B0503020204020204" charset="-122"/>
              </a:endParaRPr>
            </a:p>
          </p:txBody>
        </p:sp>
      </p:grpSp>
      <p:pic>
        <p:nvPicPr>
          <p:cNvPr id="3" name="图片 2" descr="钟表的特写&#10;&#10;低可信度描述已自动生成">
            <a:extLst>
              <a:ext uri="{FF2B5EF4-FFF2-40B4-BE49-F238E27FC236}">
                <a16:creationId xmlns:a16="http://schemas.microsoft.com/office/drawing/2014/main" id="{9E0312F0-03A9-8F9F-02E6-914492EA81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6593" y="1811610"/>
            <a:ext cx="2347652" cy="3704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627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4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440" grpId="0" animBg="1"/>
      <p:bldP spid="16445" grpId="0"/>
      <p:bldP spid="16451" grpId="0"/>
      <p:bldP spid="16452" grpId="0"/>
      <p:bldP spid="16461" grpId="0"/>
      <p:bldP spid="16462" grpId="0"/>
      <p:bldP spid="1646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23DA91D0-7854-C4A5-98A4-7B993B6640E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3" name="PA-102232">
              <a:extLst>
                <a:ext uri="{FF2B5EF4-FFF2-40B4-BE49-F238E27FC236}">
                  <a16:creationId xmlns:a16="http://schemas.microsoft.com/office/drawing/2014/main" id="{01259578-EA90-72DB-A007-5B6EAF4CB46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6B4880A-85CF-D462-B774-70955C0B78DE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5" name="Rectangle 1">
                <a:extLst>
                  <a:ext uri="{FF2B5EF4-FFF2-40B4-BE49-F238E27FC236}">
                    <a16:creationId xmlns:a16="http://schemas.microsoft.com/office/drawing/2014/main" id="{6BD7B9B3-7C36-07CF-BC43-AEEEE867C330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E0FBAD1C-FE05-06F8-9006-FC47D69B4FB0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D838CF57-D7C1-98C8-68AB-2C1789964E49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7588" name="Text Box 4"/>
              <p:cNvSpPr txBox="1">
                <a:spLocks noChangeArrowheads="1"/>
              </p:cNvSpPr>
              <p:nvPr/>
            </p:nvSpPr>
            <p:spPr bwMode="auto">
              <a:xfrm>
                <a:off x="1968354" y="2795153"/>
                <a:ext cx="86868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eaLnBrk="0" hangingPunct="0"/>
                <a:r>
                  <a:rPr kumimoji="1" lang="zh-CN" altLang="en-US" sz="2800" dirty="0"/>
                  <a:t>绕</a:t>
                </a:r>
                <a14:m>
                  <m:oMath xmlns:m="http://schemas.openxmlformats.org/officeDocument/2006/math">
                    <m:r>
                      <a:rPr kumimoji="1" lang="en-US" altLang="zh-CN" sz="2800" b="0" i="0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 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  <m:r>
                      <a:rPr kumimoji="1" lang="en-US" altLang="zh-CN" sz="2800" b="0" i="1" dirty="0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 </m:t>
                    </m:r>
                  </m:oMath>
                </a14:m>
                <a:r>
                  <a:rPr kumimoji="1" lang="zh-CN" altLang="en-US" sz="2800" dirty="0"/>
                  <a:t>轴旋转所得旋转曲面（即球面）的参数方程为 </a:t>
                </a:r>
              </a:p>
            </p:txBody>
          </p:sp>
        </mc:Choice>
        <mc:Fallback xmlns="">
          <p:sp>
            <p:nvSpPr>
              <p:cNvPr id="67588" name="Text 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8354" y="2795153"/>
                <a:ext cx="8686800" cy="523220"/>
              </a:xfrm>
              <a:prstGeom prst="rect">
                <a:avLst/>
              </a:prstGeom>
              <a:blipFill>
                <a:blip r:embed="rId3"/>
                <a:stretch>
                  <a:fillRect l="-1474" t="-15294" b="-30588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589" name="Rectangle 5"/>
              <p:cNvSpPr>
                <a:spLocks noChangeArrowheads="1"/>
              </p:cNvSpPr>
              <p:nvPr/>
            </p:nvSpPr>
            <p:spPr bwMode="auto">
              <a:xfrm>
                <a:off x="1968354" y="1577865"/>
                <a:ext cx="4114800" cy="60960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>
                <a:lvl1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algn="ctr"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4572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9144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13716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1828800" algn="ctr" fontAlgn="base">
                  <a:spcBef>
                    <a:spcPct val="0"/>
                  </a:spcBef>
                  <a:spcAft>
                    <a:spcPct val="0"/>
                  </a:spcAft>
                  <a:defRPr sz="4400">
                    <a:solidFill>
                      <a:schemeClr val="tx2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l"/>
                <a:r>
                  <a:rPr lang="zh-CN" altLang="en-US" sz="2800" b="1" dirty="0">
                    <a:solidFill>
                      <a:srgbClr val="04926A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rPr>
                  <a:t>又如</a:t>
                </a:r>
                <a:r>
                  <a:rPr kumimoji="1" lang="zh-CN" altLang="en-US" sz="2800" dirty="0">
                    <a:solidFill>
                      <a:schemeClr val="tx1"/>
                    </a:solidFill>
                    <a:latin typeface="Cambria Math" panose="02040503050406030204" pitchFamily="18" charset="0"/>
                    <a:ea typeface="黑体" panose="02010609060101010101" pitchFamily="49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𝑂𝑧</m:t>
                    </m:r>
                  </m:oMath>
                </a14:m>
                <a:r>
                  <a:rPr lang="zh-CN" altLang="en-US" sz="28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黑体" panose="02010609060101010101" pitchFamily="49" charset="-122"/>
                  </a:rPr>
                  <a:t>面上的半圆周</a:t>
                </a:r>
              </a:p>
            </p:txBody>
          </p:sp>
        </mc:Choice>
        <mc:Fallback xmlns="">
          <p:sp>
            <p:nvSpPr>
              <p:cNvPr id="67589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8354" y="1577865"/>
                <a:ext cx="4114800" cy="609600"/>
              </a:xfrm>
              <a:prstGeom prst="rect">
                <a:avLst/>
              </a:prstGeom>
              <a:blipFill>
                <a:blip r:embed="rId4"/>
                <a:stretch>
                  <a:fillRect l="-3111" t="-6000" b="-1700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12" name="Object 28"/>
              <p:cNvSpPr txBox="1"/>
              <p:nvPr/>
            </p:nvSpPr>
            <p:spPr bwMode="auto">
              <a:xfrm>
                <a:off x="5960441" y="1158290"/>
                <a:ext cx="4402759" cy="16063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𝜑</m:t>
                                    </m:r>
                                  </m:e>
                                </m:func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=0,        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func>
                                  <m:funcPr>
                                    <m:ctrlPr>
                                      <a:rPr lang="zh-CN" altLang="en-US" sz="280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𝜑</m:t>
                                    </m:r>
                                    <m:r>
                                      <a:rPr kumimoji="1" lang="en-US" altLang="zh-CN" sz="2800" b="0" i="1" dirty="0" smtClean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,</m:t>
                                    </m:r>
                                  </m:e>
                                </m:func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  (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kumimoji="1" lang="en-US" altLang="zh-CN" sz="2800" dirty="0">
                          <a:latin typeface="Cambria Math" panose="02040503050406030204" pitchFamily="18" charset="0"/>
                          <a:ea typeface="黑体" panose="02010609060101010101" pitchFamily="49" charset="-122"/>
                        </a:rPr>
                        <m:t>𝜑</m:t>
                      </m:r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m:rPr>
                          <m:sty m:val="p"/>
                        </m:rPr>
                        <a:rPr lang="zh-CN" altLang="en-US" sz="2800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612" name="Object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960441" y="1158290"/>
                <a:ext cx="4402759" cy="160631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613" name="Object 29"/>
              <p:cNvSpPr txBox="1"/>
              <p:nvPr/>
            </p:nvSpPr>
            <p:spPr bwMode="auto">
              <a:xfrm>
                <a:off x="1968353" y="3603796"/>
                <a:ext cx="5584190" cy="151814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𝜑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𝜑</m:t>
                                    </m:r>
                                  </m:e>
                                </m:func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fName>
                                  <m:e>
                                    <m: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</m:func>
                              </m:e>
                            </m:mr>
                            <m:mr>
                              <m:e>
                                <m:r>
                                  <a:rPr lang="en-US" altLang="zh-CN" sz="2800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func>
                                  <m:funcPr>
                                    <m:ctrlPr>
                                      <a:rPr lang="zh-CN" altLang="en-US" sz="2800" i="1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zh-CN" altLang="en-US" sz="2800" i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cos</m:t>
                                    </m:r>
                                  </m:fName>
                                  <m:e>
                                    <m:r>
                                      <a:rPr kumimoji="1" lang="en-US" altLang="zh-CN" sz="2800" dirty="0">
                                        <a:latin typeface="Cambria Math" panose="02040503050406030204" pitchFamily="18" charset="0"/>
                                        <a:ea typeface="黑体" panose="02010609060101010101" pitchFamily="49" charset="-122"/>
                                      </a:rPr>
                                      <m:t>𝜑</m:t>
                                    </m:r>
                                    <m:r>
                                      <a:rPr lang="en-US" altLang="zh-CN" sz="2800" b="0" i="1" smtClean="0">
                                        <a:solidFill>
                                          <a:srgbClr val="0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</m:e>
                                </m:func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       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kumimoji="1" lang="en-US" altLang="zh-CN" sz="2800" dirty="0">
                                    <a:latin typeface="Cambria Math" panose="02040503050406030204" pitchFamily="18" charset="0"/>
                                    <a:ea typeface="黑体" panose="02010609060101010101" pitchFamily="49" charset="-122"/>
                                  </a:rPr>
                                  <m:t>𝜑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  <m:m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dirty="0">
                                    <a:latin typeface="宋体" panose="02010600030101010101" pitchFamily="2" charset="-122"/>
                                    <a:ea typeface="宋体" panose="02010600030101010101" pitchFamily="2" charset="-122"/>
                                  </a:rPr>
                                  <m:t>≤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67613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68353" y="3603796"/>
                <a:ext cx="5584190" cy="151814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EB1AB680-80C4-FE49-F070-71D6DAA8931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61820" y="3318373"/>
            <a:ext cx="2479529" cy="2569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391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7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7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7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588" grpId="0"/>
      <p:bldP spid="67589" grpId="0"/>
      <p:bldP spid="67612" grpId="0"/>
      <p:bldP spid="676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30B34ADD-9D7D-719E-F1E9-C0C33435E928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D62FB878-9C7E-6737-CCFB-47BE4E89AA4E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07974833-4C57-7BFD-1C24-27A0B5CBA76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3D94C44A-DD28-1D25-BEFD-C98F36DCA1A7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D0628C64-5AED-8F48-271C-DABEDFC64BF5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A6A46E85-50D2-85B3-5E54-ED8CC533B809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339" name="Object 3"/>
              <p:cNvSpPr txBox="1"/>
              <p:nvPr/>
            </p:nvSpPr>
            <p:spPr bwMode="auto">
              <a:xfrm>
                <a:off x="6282596" y="1924198"/>
                <a:ext cx="2413729" cy="110458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)=0,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339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282596" y="1924198"/>
                <a:ext cx="2413729" cy="110458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2" name="Text Box 6"/>
              <p:cNvSpPr txBox="1">
                <a:spLocks noChangeArrowheads="1"/>
              </p:cNvSpPr>
              <p:nvPr/>
            </p:nvSpPr>
            <p:spPr bwMode="auto">
              <a:xfrm>
                <a:off x="2455982" y="3092759"/>
                <a:ext cx="495300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消去变量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/>
                  <a:t>后得：</a:t>
                </a:r>
              </a:p>
            </p:txBody>
          </p:sp>
        </mc:Choice>
        <mc:Fallback xmlns="">
          <p:sp>
            <p:nvSpPr>
              <p:cNvPr id="1434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5982" y="3092759"/>
                <a:ext cx="4953000" cy="523220"/>
              </a:xfrm>
              <a:prstGeom prst="rect">
                <a:avLst/>
              </a:prstGeom>
              <a:blipFill>
                <a:blip r:embed="rId4"/>
                <a:stretch>
                  <a:fillRect l="-2586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43" name="Object 7"/>
              <p:cNvSpPr txBox="1"/>
              <p:nvPr/>
            </p:nvSpPr>
            <p:spPr bwMode="auto">
              <a:xfrm>
                <a:off x="5409714" y="3077604"/>
                <a:ext cx="1999268" cy="40481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)=0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434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09714" y="3077604"/>
                <a:ext cx="1999268" cy="404813"/>
              </a:xfrm>
              <a:prstGeom prst="rect">
                <a:avLst/>
              </a:prstGeom>
              <a:blipFill>
                <a:blip r:embed="rId5"/>
                <a:stretch>
                  <a:fillRect b="-1969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344" name="Line 8"/>
          <p:cNvSpPr>
            <a:spLocks noChangeShapeType="1"/>
          </p:cNvSpPr>
          <p:nvPr/>
        </p:nvSpPr>
        <p:spPr bwMode="auto">
          <a:xfrm>
            <a:off x="5503982" y="3694298"/>
            <a:ext cx="1905000" cy="0"/>
          </a:xfrm>
          <a:prstGeom prst="line">
            <a:avLst/>
          </a:prstGeom>
          <a:noFill/>
          <a:ln w="28575">
            <a:solidFill>
              <a:srgbClr val="04926A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347" name="Group 11"/>
          <p:cNvGrpSpPr>
            <a:grpSpLocks/>
          </p:cNvGrpSpPr>
          <p:nvPr/>
        </p:nvGrpSpPr>
        <p:grpSpPr bwMode="auto">
          <a:xfrm>
            <a:off x="5410200" y="3637814"/>
            <a:ext cx="4495800" cy="550863"/>
            <a:chOff x="4311" y="2383"/>
            <a:chExt cx="2832" cy="347"/>
          </a:xfrm>
        </p:grpSpPr>
        <p:sp>
          <p:nvSpPr>
            <p:cNvPr id="14345" name="Text Box 9"/>
            <p:cNvSpPr txBox="1">
              <a:spLocks noChangeArrowheads="1"/>
            </p:cNvSpPr>
            <p:nvPr/>
          </p:nvSpPr>
          <p:spPr bwMode="auto">
            <a:xfrm>
              <a:off x="4311" y="2400"/>
              <a:ext cx="2832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800" dirty="0"/>
                <a:t>曲线关于    的</a:t>
              </a:r>
              <a:r>
                <a:rPr lang="zh-CN" altLang="en-US" sz="2800" dirty="0">
                  <a:solidFill>
                    <a:srgbClr val="04926A"/>
                  </a:solidFill>
                  <a:ea typeface="黑体" panose="02010609060101010101" pitchFamily="49" charset="-122"/>
                </a:rPr>
                <a:t>投影柱面</a:t>
              </a:r>
              <a:endParaRPr lang="zh-CN" altLang="en-US" sz="2800" dirty="0">
                <a:solidFill>
                  <a:srgbClr val="04926A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346" name="Object 10"/>
                <p:cNvSpPr txBox="1"/>
                <p:nvPr/>
              </p:nvSpPr>
              <p:spPr bwMode="auto">
                <a:xfrm>
                  <a:off x="5229" y="2383"/>
                  <a:ext cx="892" cy="32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zh-CN" sz="2800" i="1" dirty="0">
                            <a:latin typeface="Cambria Math" panose="02040503050406030204" pitchFamily="18" charset="0"/>
                            <a:ea typeface="黑体" panose="02010609060101010101" pitchFamily="49" charset="-122"/>
                            <a:cs typeface="黑体" panose="02010609060101010101" pitchFamily="49" charset="-122"/>
                            <a:sym typeface="+mn-ea"/>
                          </a:rPr>
                          <m:t>𝑂</m:t>
                        </m:r>
                        <m:r>
                          <a:rPr lang="zh-CN" altLang="en-US" sz="28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 xmlns="">
            <p:sp>
              <p:nvSpPr>
                <p:cNvPr id="14346" name="Object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5229" y="2383"/>
                  <a:ext cx="892" cy="327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4353" name="Rectangle 17"/>
          <p:cNvSpPr>
            <a:spLocks noChangeArrowheads="1"/>
          </p:cNvSpPr>
          <p:nvPr/>
        </p:nvSpPr>
        <p:spPr bwMode="auto">
          <a:xfrm>
            <a:off x="2455982" y="2131781"/>
            <a:ext cx="41227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/>
              <a:t>设空间曲线的一般方程：</a:t>
            </a:r>
          </a:p>
        </p:txBody>
      </p:sp>
      <p:sp>
        <p:nvSpPr>
          <p:cNvPr id="14355" name="Text Box 19"/>
          <p:cNvSpPr txBox="1">
            <a:spLocks noChangeArrowheads="1"/>
          </p:cNvSpPr>
          <p:nvPr/>
        </p:nvSpPr>
        <p:spPr bwMode="auto">
          <a:xfrm>
            <a:off x="2455982" y="4966457"/>
            <a:ext cx="7467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以此空间曲线为准线，垂直于所投影的坐标面</a:t>
            </a:r>
            <a:r>
              <a:rPr lang="en-US" altLang="zh-CN" sz="2800" dirty="0"/>
              <a:t>.</a:t>
            </a:r>
          </a:p>
        </p:txBody>
      </p:sp>
      <p:sp>
        <p:nvSpPr>
          <p:cNvPr id="14356" name="Rectangle 20"/>
          <p:cNvSpPr>
            <a:spLocks noChangeArrowheads="1"/>
          </p:cNvSpPr>
          <p:nvPr/>
        </p:nvSpPr>
        <p:spPr bwMode="auto">
          <a:xfrm>
            <a:off x="2455982" y="4417556"/>
            <a:ext cx="30543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/>
            <a:r>
              <a:rPr lang="zh-CN" altLang="en-US" sz="2800" dirty="0">
                <a:ea typeface="黑体" panose="02010609060101010101" pitchFamily="49" charset="-122"/>
              </a:rPr>
              <a:t>投影柱面的</a:t>
            </a:r>
            <a:r>
              <a:rPr lang="zh-CN" altLang="en-US" sz="2800" dirty="0">
                <a:solidFill>
                  <a:srgbClr val="04926A"/>
                </a:solidFill>
                <a:ea typeface="黑体" panose="02010609060101010101" pitchFamily="49" charset="-122"/>
              </a:rPr>
              <a:t>特征</a:t>
            </a:r>
            <a:r>
              <a:rPr lang="zh-CN" altLang="en-US" sz="2800" dirty="0">
                <a:ea typeface="黑体" panose="02010609060101010101" pitchFamily="49" charset="-122"/>
              </a:rPr>
              <a:t>：</a:t>
            </a:r>
          </a:p>
        </p:txBody>
      </p:sp>
      <p:sp>
        <p:nvSpPr>
          <p:cNvPr id="14357" name="Rectangle 21"/>
          <p:cNvSpPr>
            <a:spLocks noGrp="1" noChangeArrowheads="1"/>
          </p:cNvSpPr>
          <p:nvPr>
            <p:ph type="title"/>
          </p:nvPr>
        </p:nvSpPr>
        <p:spPr>
          <a:xfrm>
            <a:off x="1695646" y="1037150"/>
            <a:ext cx="5962454" cy="60379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三、空间曲线在坐标面上的投影</a:t>
            </a:r>
          </a:p>
        </p:txBody>
      </p:sp>
    </p:spTree>
    <p:extLst>
      <p:ext uri="{BB962C8B-B14F-4D97-AF65-F5344CB8AC3E}">
        <p14:creationId xmlns:p14="http://schemas.microsoft.com/office/powerpoint/2010/main" val="1700316372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4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43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9" grpId="0"/>
      <p:bldP spid="14342" grpId="0" autoUpdateAnimBg="0"/>
      <p:bldP spid="14343" grpId="0"/>
      <p:bldP spid="14353" grpId="0" autoUpdateAnimBg="0"/>
      <p:bldP spid="14355" grpId="0" autoUpdateAnimBg="0"/>
      <p:bldP spid="14356" grpId="0" autoUpdateAnimBg="0"/>
      <p:bldP spid="1435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827130DD-3D1E-10F5-E289-346CD3E2A981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AE3C8893-43E9-7F19-6F5F-5D468BFDA024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452004AA-33C3-FFE4-A89D-5FDB714FAF44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39A420BA-C383-4BDF-4D12-1979773AF953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E6DD686B-BBE8-B22D-9E3D-E604119DD533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A7556659-73CD-8565-B51B-4CE0E27D4E7B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pic>
        <p:nvPicPr>
          <p:cNvPr id="35842" name="Picture 10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2639" y="1702188"/>
            <a:ext cx="2041157" cy="3314700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843" name="Picture 10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0681" y="1671252"/>
            <a:ext cx="2060207" cy="3345635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5844" name="AutoShape 1028" descr="浅色横线"/>
          <p:cNvSpPr>
            <a:spLocks noChangeArrowheads="1"/>
          </p:cNvSpPr>
          <p:nvPr/>
        </p:nvSpPr>
        <p:spPr bwMode="auto">
          <a:xfrm>
            <a:off x="4358639" y="2768988"/>
            <a:ext cx="457200" cy="38100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845" name="AutoShape 1029" descr="浅色横线"/>
          <p:cNvSpPr>
            <a:spLocks noChangeArrowheads="1"/>
          </p:cNvSpPr>
          <p:nvPr/>
        </p:nvSpPr>
        <p:spPr bwMode="auto">
          <a:xfrm>
            <a:off x="7178039" y="2768988"/>
            <a:ext cx="457200" cy="381000"/>
          </a:xfrm>
          <a:prstGeom prst="rightArrow">
            <a:avLst>
              <a:gd name="adj1" fmla="val 50000"/>
              <a:gd name="adj2" fmla="val 30000"/>
            </a:avLst>
          </a:prstGeom>
          <a:solidFill>
            <a:srgbClr val="04926A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35846" name="Group 1030"/>
          <p:cNvGrpSpPr>
            <a:grpSpLocks/>
          </p:cNvGrpSpPr>
          <p:nvPr/>
        </p:nvGrpSpPr>
        <p:grpSpPr bwMode="auto">
          <a:xfrm>
            <a:off x="7711439" y="2464189"/>
            <a:ext cx="1981200" cy="1033463"/>
            <a:chOff x="4176" y="1728"/>
            <a:chExt cx="1248" cy="651"/>
          </a:xfrm>
        </p:grpSpPr>
        <p:pic>
          <p:nvPicPr>
            <p:cNvPr id="35847" name="Picture 103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1728"/>
              <a:ext cx="1248" cy="651"/>
            </a:xfrm>
            <a:prstGeom prst="rect">
              <a:avLst/>
            </a:prstGeom>
            <a:noFill/>
            <a:ln w="12700">
              <a:solidFill>
                <a:srgbClr val="04926A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35848" name="Oval 1032"/>
            <p:cNvSpPr>
              <a:spLocks noChangeArrowheads="1"/>
            </p:cNvSpPr>
            <p:nvPr/>
          </p:nvSpPr>
          <p:spPr bwMode="auto">
            <a:xfrm>
              <a:off x="4416" y="1812"/>
              <a:ext cx="816" cy="432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35849" name="Text Box 1033"/>
          <p:cNvSpPr txBox="1">
            <a:spLocks noChangeArrowheads="1"/>
          </p:cNvSpPr>
          <p:nvPr/>
        </p:nvSpPr>
        <p:spPr bwMode="auto">
          <a:xfrm>
            <a:off x="2072639" y="880719"/>
            <a:ext cx="5943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如图</a:t>
            </a:r>
            <a:r>
              <a:rPr lang="en-US" altLang="zh-CN" sz="2800" dirty="0"/>
              <a:t>:</a:t>
            </a:r>
            <a:r>
              <a:rPr lang="zh-CN" altLang="en-US" sz="2800" dirty="0"/>
              <a:t>投影曲线的研究过程</a:t>
            </a:r>
            <a:r>
              <a:rPr lang="en-US" altLang="zh-CN" sz="2800" b="1" dirty="0"/>
              <a:t>.</a:t>
            </a:r>
          </a:p>
        </p:txBody>
      </p:sp>
      <p:sp>
        <p:nvSpPr>
          <p:cNvPr id="35850" name="Text Box 1034"/>
          <p:cNvSpPr txBox="1">
            <a:spLocks noChangeArrowheads="1"/>
          </p:cNvSpPr>
          <p:nvPr/>
        </p:nvSpPr>
        <p:spPr bwMode="auto">
          <a:xfrm>
            <a:off x="2241282" y="5149064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空间曲线</a:t>
            </a:r>
          </a:p>
        </p:txBody>
      </p:sp>
      <p:sp>
        <p:nvSpPr>
          <p:cNvPr id="35851" name="Text Box 1035"/>
          <p:cNvSpPr txBox="1">
            <a:spLocks noChangeArrowheads="1"/>
          </p:cNvSpPr>
          <p:nvPr/>
        </p:nvSpPr>
        <p:spPr bwMode="auto">
          <a:xfrm>
            <a:off x="7863839" y="5149064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投影曲线</a:t>
            </a:r>
          </a:p>
        </p:txBody>
      </p:sp>
      <p:sp>
        <p:nvSpPr>
          <p:cNvPr id="35852" name="Text Box 1036"/>
          <p:cNvSpPr txBox="1">
            <a:spLocks noChangeArrowheads="1"/>
          </p:cNvSpPr>
          <p:nvPr/>
        </p:nvSpPr>
        <p:spPr bwMode="auto">
          <a:xfrm>
            <a:off x="5196839" y="5149064"/>
            <a:ext cx="182880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/>
              <a:t>投影柱面</a:t>
            </a:r>
          </a:p>
        </p:txBody>
      </p:sp>
    </p:spTree>
    <p:extLst>
      <p:ext uri="{BB962C8B-B14F-4D97-AF65-F5344CB8AC3E}">
        <p14:creationId xmlns:p14="http://schemas.microsoft.com/office/powerpoint/2010/main" val="242742780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8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5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35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58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"/>
                                        <p:tgtEl>
                                          <p:spTgt spid="358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"/>
                                        <p:tgtEl>
                                          <p:spTgt spid="358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9" grpId="0"/>
      <p:bldP spid="35850" grpId="0" autoUpdateAnimBg="0"/>
      <p:bldP spid="35851" grpId="0" autoUpdateAnimBg="0"/>
      <p:bldP spid="35852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D117D337-D11B-C88D-920B-7F67E17AEB1A}"/>
              </a:ext>
            </a:extLst>
          </p:cNvPr>
          <p:cNvGrpSpPr/>
          <p:nvPr/>
        </p:nvGrpSpPr>
        <p:grpSpPr>
          <a:xfrm>
            <a:off x="510540" y="494665"/>
            <a:ext cx="11149330" cy="5612765"/>
            <a:chOff x="838" y="906"/>
            <a:chExt cx="17558" cy="8839"/>
          </a:xfrm>
        </p:grpSpPr>
        <p:sp>
          <p:nvSpPr>
            <p:cNvPr id="4" name="PA-102232">
              <a:extLst>
                <a:ext uri="{FF2B5EF4-FFF2-40B4-BE49-F238E27FC236}">
                  <a16:creationId xmlns:a16="http://schemas.microsoft.com/office/drawing/2014/main" id="{6BF7FE91-C415-C056-DB30-4D75149BFDA7}"/>
                </a:ext>
              </a:extLst>
            </p:cNvPr>
            <p:cNvSpPr/>
            <p:nvPr>
              <p:custDataLst>
                <p:tags r:id="rId1"/>
              </p:custDataLst>
            </p:nvPr>
          </p:nvSpPr>
          <p:spPr>
            <a:xfrm>
              <a:off x="872" y="906"/>
              <a:ext cx="17524" cy="882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393700" dist="88900" algn="ctr" rotWithShape="0">
                <a:schemeClr val="bg1">
                  <a:lumMod val="7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solidFill>
                  <a:srgbClr val="006BB6"/>
                </a:solidFill>
                <a:cs typeface="+mn-ea"/>
                <a:sym typeface="+mn-lt"/>
              </a:endParaRPr>
            </a:p>
          </p:txBody>
        </p: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id="{86E5B8E6-0ACF-EB93-B3ED-F5AAA70FE797}"/>
                </a:ext>
              </a:extLst>
            </p:cNvPr>
            <p:cNvGrpSpPr/>
            <p:nvPr/>
          </p:nvGrpSpPr>
          <p:grpSpPr>
            <a:xfrm>
              <a:off x="838" y="9635"/>
              <a:ext cx="17558" cy="110"/>
              <a:chOff x="838" y="9635"/>
              <a:chExt cx="17558" cy="110"/>
            </a:xfrm>
          </p:grpSpPr>
          <p:sp>
            <p:nvSpPr>
              <p:cNvPr id="6" name="Rectangle 1">
                <a:extLst>
                  <a:ext uri="{FF2B5EF4-FFF2-40B4-BE49-F238E27FC236}">
                    <a16:creationId xmlns:a16="http://schemas.microsoft.com/office/drawing/2014/main" id="{47C5547B-00F5-0488-04CF-002E44428289}"/>
                  </a:ext>
                </a:extLst>
              </p:cNvPr>
              <p:cNvSpPr/>
              <p:nvPr/>
            </p:nvSpPr>
            <p:spPr>
              <a:xfrm>
                <a:off x="5321" y="9650"/>
                <a:ext cx="4286" cy="83"/>
              </a:xfrm>
              <a:prstGeom prst="rect">
                <a:avLst/>
              </a:prstGeom>
              <a:solidFill>
                <a:schemeClr val="bg1"/>
              </a:solidFill>
              <a:ln w="3175" cap="flat" cmpd="sng" algn="ctr">
                <a:solidFill>
                  <a:srgbClr val="04926A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" name="Rectangle 1">
                <a:extLst>
                  <a:ext uri="{FF2B5EF4-FFF2-40B4-BE49-F238E27FC236}">
                    <a16:creationId xmlns:a16="http://schemas.microsoft.com/office/drawing/2014/main" id="{DA89A3FB-0CCE-9A39-2B57-DD79996E0C9C}"/>
                  </a:ext>
                </a:extLst>
              </p:cNvPr>
              <p:cNvSpPr/>
              <p:nvPr/>
            </p:nvSpPr>
            <p:spPr>
              <a:xfrm>
                <a:off x="838" y="9650"/>
                <a:ext cx="4483" cy="83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8" name="Rectangle 1">
                <a:extLst>
                  <a:ext uri="{FF2B5EF4-FFF2-40B4-BE49-F238E27FC236}">
                    <a16:creationId xmlns:a16="http://schemas.microsoft.com/office/drawing/2014/main" id="{FC5EB335-0A5B-62B4-813A-D301B5043F4E}"/>
                  </a:ext>
                </a:extLst>
              </p:cNvPr>
              <p:cNvSpPr/>
              <p:nvPr/>
            </p:nvSpPr>
            <p:spPr>
              <a:xfrm>
                <a:off x="9602" y="9635"/>
                <a:ext cx="8794" cy="111"/>
              </a:xfrm>
              <a:prstGeom prst="rect">
                <a:avLst/>
              </a:prstGeom>
              <a:solidFill>
                <a:srgbClr val="04926A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2187575" y="2925225"/>
            <a:ext cx="8001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dirty="0"/>
              <a:t>类似地：可定义空间曲线在其他坐标面上的投影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363" name="Object 3"/>
              <p:cNvSpPr txBox="1"/>
              <p:nvPr/>
            </p:nvSpPr>
            <p:spPr bwMode="auto">
              <a:xfrm>
                <a:off x="2748756" y="4396064"/>
                <a:ext cx="19050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)=0,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6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48756" y="4396064"/>
                <a:ext cx="1905000" cy="1041400"/>
              </a:xfrm>
              <a:prstGeom prst="rect">
                <a:avLst/>
              </a:prstGeom>
              <a:blipFill>
                <a:blip r:embed="rId3"/>
                <a:stretch>
                  <a:fillRect r="-70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4" name="Object 4"/>
              <p:cNvSpPr txBox="1"/>
              <p:nvPr/>
            </p:nvSpPr>
            <p:spPr bwMode="auto">
              <a:xfrm>
                <a:off x="6405565" y="4396064"/>
                <a:ext cx="18796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)=0,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64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05565" y="4396064"/>
                <a:ext cx="1879600" cy="1041400"/>
              </a:xfrm>
              <a:prstGeom prst="rect">
                <a:avLst/>
              </a:prstGeom>
              <a:blipFill>
                <a:blip r:embed="rId4"/>
                <a:stretch>
                  <a:fillRect r="-681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5" name="Rectangle 5"/>
              <p:cNvSpPr>
                <a:spLocks noChangeArrowheads="1"/>
              </p:cNvSpPr>
              <p:nvPr/>
            </p:nvSpPr>
            <p:spPr bwMode="auto">
              <a:xfrm>
                <a:off x="2187575" y="3657389"/>
                <a:ext cx="374018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</m:t>
                    </m:r>
                    <m:r>
                      <a:rPr lang="zh-CN" altLang="en-US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/>
                  <a:t>面上的</a:t>
                </a:r>
                <a:r>
                  <a:rPr lang="zh-CN" altLang="en-US" sz="2800" dirty="0">
                    <a:solidFill>
                      <a:srgbClr val="04926A"/>
                    </a:solidFill>
                    <a:ea typeface="黑体" panose="02010609060101010101" pitchFamily="49" charset="-122"/>
                  </a:rPr>
                  <a:t>投影曲线</a:t>
                </a:r>
                <a:r>
                  <a:rPr lang="zh-CN" altLang="en-US" sz="2800" dirty="0">
                    <a:solidFill>
                      <a:srgbClr val="04926A"/>
                    </a:solidFill>
                  </a:rPr>
                  <a:t>，</a:t>
                </a:r>
                <a:endParaRPr lang="en-US" altLang="zh-CN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5365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7575" y="3657389"/>
                <a:ext cx="3740184" cy="523220"/>
              </a:xfrm>
              <a:prstGeom prst="rect">
                <a:avLst/>
              </a:prstGeom>
              <a:blipFill>
                <a:blip r:embed="rId5"/>
                <a:stretch>
                  <a:fillRect t="-15116" r="-816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68" name="Rectangle 8"/>
              <p:cNvSpPr>
                <a:spLocks noChangeArrowheads="1"/>
              </p:cNvSpPr>
              <p:nvPr/>
            </p:nvSpPr>
            <p:spPr bwMode="auto">
              <a:xfrm>
                <a:off x="5591175" y="3642149"/>
                <a:ext cx="3667125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r>
                      <a:rPr lang="zh-CN" altLang="en-US" sz="2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</m:t>
                    </m:r>
                    <m:r>
                      <a:rPr lang="zh-CN" altLang="en-US" sz="28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800" dirty="0"/>
                  <a:t>面上的</a:t>
                </a:r>
                <a:r>
                  <a:rPr lang="zh-CN" altLang="en-US" sz="2800" dirty="0">
                    <a:solidFill>
                      <a:srgbClr val="04926A"/>
                    </a:solidFill>
                    <a:ea typeface="黑体" panose="02010609060101010101" pitchFamily="49" charset="-122"/>
                  </a:rPr>
                  <a:t>投影曲线</a:t>
                </a:r>
                <a:r>
                  <a:rPr lang="zh-CN" altLang="en-US" sz="2800" dirty="0">
                    <a:solidFill>
                      <a:srgbClr val="04926A"/>
                    </a:solidFill>
                  </a:rPr>
                  <a:t>，</a:t>
                </a:r>
                <a:endParaRPr lang="en-US" altLang="zh-CN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5368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591175" y="3642149"/>
                <a:ext cx="3667125" cy="523220"/>
              </a:xfrm>
              <a:prstGeom prst="rect">
                <a:avLst/>
              </a:prstGeom>
              <a:blipFill>
                <a:blip r:embed="rId6"/>
                <a:stretch>
                  <a:fillRect t="-13953" r="-2492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1" name="Object 11"/>
              <p:cNvSpPr txBox="1"/>
              <p:nvPr/>
            </p:nvSpPr>
            <p:spPr bwMode="auto">
              <a:xfrm>
                <a:off x="3883059" y="1739185"/>
                <a:ext cx="2044700" cy="10414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)=0,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5371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83059" y="1739185"/>
                <a:ext cx="2044700" cy="1041400"/>
              </a:xfrm>
              <a:prstGeom prst="rect">
                <a:avLst/>
              </a:prstGeom>
              <a:blipFill>
                <a:blip r:embed="rId7"/>
                <a:stretch>
                  <a:fillRect r="-238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373" name="Text Box 13"/>
              <p:cNvSpPr txBox="1">
                <a:spLocks noChangeArrowheads="1"/>
              </p:cNvSpPr>
              <p:nvPr/>
            </p:nvSpPr>
            <p:spPr bwMode="auto">
              <a:xfrm>
                <a:off x="2187575" y="1085256"/>
                <a:ext cx="606425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/>
                  <a:t>空间曲线在</a:t>
                </a:r>
                <a14:m>
                  <m:oMath xmlns:m="http://schemas.openxmlformats.org/officeDocument/2006/math">
                    <m:r>
                      <a:rPr kumimoji="1" lang="en-US" altLang="zh-CN" sz="2800" i="1" smtClean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</a:rPr>
                      <m:t>𝑥</m:t>
                    </m:r>
                    <m:r>
                      <a:rPr kumimoji="1" lang="en-US" altLang="zh-CN" sz="28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𝑂𝑦</m:t>
                    </m:r>
                  </m:oMath>
                </a14:m>
                <a:r>
                  <a:rPr lang="zh-CN" altLang="en-US" sz="2800" dirty="0"/>
                  <a:t>面上的</a:t>
                </a:r>
                <a:r>
                  <a:rPr lang="zh-CN" altLang="en-US" sz="2800" dirty="0">
                    <a:solidFill>
                      <a:srgbClr val="04926A"/>
                    </a:solidFill>
                    <a:ea typeface="黑体" panose="02010609060101010101" pitchFamily="49" charset="-122"/>
                  </a:rPr>
                  <a:t>投影曲线</a:t>
                </a:r>
                <a:endParaRPr lang="zh-CN" altLang="en-US" sz="2800" dirty="0">
                  <a:solidFill>
                    <a:srgbClr val="04926A"/>
                  </a:solidFill>
                </a:endParaRPr>
              </a:p>
            </p:txBody>
          </p:sp>
        </mc:Choice>
        <mc:Fallback xmlns="">
          <p:sp>
            <p:nvSpPr>
              <p:cNvPr id="15373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87575" y="1085256"/>
                <a:ext cx="6064250" cy="523220"/>
              </a:xfrm>
              <a:prstGeom prst="rect">
                <a:avLst/>
              </a:prstGeom>
              <a:blipFill>
                <a:blip r:embed="rId8"/>
                <a:stretch>
                  <a:fillRect l="-2111" t="-13953" b="-2907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2532777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5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5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5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5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5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2" grpId="0" autoUpdateAnimBg="0"/>
      <p:bldP spid="15363" grpId="0"/>
      <p:bldP spid="15364" grpId="0"/>
      <p:bldP spid="15365" grpId="0"/>
      <p:bldP spid="15368" grpId="0"/>
      <p:bldP spid="15371" grpId="0"/>
      <p:bldP spid="1537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EBE55843-B2B0-8A4F-E162-303F00DBE7ED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0C76935-9CBB-1307-E99A-641D1EA70CE5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A0C76935-9CBB-1307-E99A-641D1EA70CE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6F864ABA-8526-A5E0-DAC9-C1CF827AA53F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857879C3-AC88-39E2-EBD5-04A288D7AC0E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3A0C1ACE-C7E8-C36C-8333-08185B4B15FF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987DA272-89C0-1497-7B51-161F06A701BF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1934308" y="1409918"/>
            <a:ext cx="91821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en-US" altLang="zh-CN" sz="2800" b="1" dirty="0"/>
              <a:t>  </a:t>
            </a:r>
            <a:r>
              <a:rPr lang="zh-CN" altLang="en-US" sz="2800" dirty="0"/>
              <a:t>求曲线                 在坐标面上的投影</a:t>
            </a:r>
            <a:r>
              <a:rPr lang="en-US" altLang="zh-CN" sz="2800" b="1" dirty="0"/>
              <a:t>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0" name="Object 16"/>
              <p:cNvSpPr txBox="1"/>
              <p:nvPr/>
            </p:nvSpPr>
            <p:spPr bwMode="auto">
              <a:xfrm>
                <a:off x="3942657" y="658166"/>
                <a:ext cx="3028950" cy="21491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80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𝑧</m:t>
                                  </m:r>
                                </m:e>
                                <m:sup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US" altLang="zh-CN" sz="2800" b="0" i="1" smtClean="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16400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942657" y="658166"/>
                <a:ext cx="3028950" cy="21491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1934308" y="2985585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402" name="Rectangle 18"/>
              <p:cNvSpPr>
                <a:spLocks noChangeArrowheads="1"/>
              </p:cNvSpPr>
              <p:nvPr/>
            </p:nvSpPr>
            <p:spPr bwMode="auto">
              <a:xfrm>
                <a:off x="2720983" y="3026880"/>
                <a:ext cx="2803525" cy="45313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r>
                  <a:rPr lang="zh-CN" altLang="en-US" sz="2200" dirty="0"/>
                  <a:t>（</a:t>
                </a:r>
                <a:r>
                  <a:rPr lang="en-US" altLang="zh-CN" sz="2200" dirty="0"/>
                  <a:t>1</a:t>
                </a:r>
                <a:r>
                  <a:rPr lang="zh-CN" altLang="en-US" sz="2200" dirty="0"/>
                  <a:t>）</a:t>
                </a:r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消去变量</a:t>
                </a:r>
                <a14:m>
                  <m:oMath xmlns:m="http://schemas.openxmlformats.org/officeDocument/2006/math">
                    <m:r>
                      <a:rPr kumimoji="1" lang="en-US" altLang="zh-CN" sz="2400" i="1" dirty="0">
                        <a:latin typeface="Cambria Math" panose="02040503050406030204" pitchFamily="18" charset="0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rPr>
                      <m:t>𝑧</m:t>
                    </m:r>
                  </m:oMath>
                </a14:m>
                <a:r>
                  <a:rPr lang="zh-CN" altLang="en-US" sz="2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后得</a:t>
                </a:r>
              </a:p>
            </p:txBody>
          </p:sp>
        </mc:Choice>
        <mc:Fallback xmlns="">
          <p:sp>
            <p:nvSpPr>
              <p:cNvPr id="16402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20983" y="3026880"/>
                <a:ext cx="2803525" cy="453137"/>
              </a:xfrm>
              <a:prstGeom prst="rect">
                <a:avLst/>
              </a:prstGeom>
              <a:blipFill>
                <a:blip r:embed="rId4"/>
                <a:stretch>
                  <a:fillRect l="-2826" t="-9459" b="-2162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403" name="Object 19"/>
              <p:cNvSpPr txBox="1"/>
              <p:nvPr/>
            </p:nvSpPr>
            <p:spPr bwMode="auto">
              <a:xfrm>
                <a:off x="3810001" y="3488500"/>
                <a:ext cx="1828800" cy="8471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3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10001" y="3488500"/>
                <a:ext cx="1828800" cy="8471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6404" name="Group 20"/>
          <p:cNvGrpSpPr>
            <a:grpSpLocks/>
          </p:cNvGrpSpPr>
          <p:nvPr/>
        </p:nvGrpSpPr>
        <p:grpSpPr bwMode="auto">
          <a:xfrm>
            <a:off x="3371851" y="4338419"/>
            <a:ext cx="3429000" cy="561975"/>
            <a:chOff x="1717" y="2084"/>
            <a:chExt cx="2160" cy="354"/>
          </a:xfrm>
        </p:grpSpPr>
        <p:sp>
          <p:nvSpPr>
            <p:cNvPr id="16405" name="Text Box 21"/>
            <p:cNvSpPr txBox="1">
              <a:spLocks noChangeArrowheads="1"/>
            </p:cNvSpPr>
            <p:nvPr/>
          </p:nvSpPr>
          <p:spPr bwMode="auto">
            <a:xfrm>
              <a:off x="1717" y="2084"/>
              <a:ext cx="2160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zh-CN" altLang="en-US" sz="2200" dirty="0"/>
                <a:t>在    面上的投影为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406" name="Object 22"/>
                <p:cNvSpPr txBox="1"/>
                <p:nvPr/>
              </p:nvSpPr>
              <p:spPr bwMode="auto">
                <a:xfrm>
                  <a:off x="1925" y="2084"/>
                  <a:ext cx="415" cy="35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rm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zh-CN" altLang="en-US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zh-CN" sz="22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zh-CN" altLang="en-US" sz="2200" b="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oMath>
                    </m:oMathPara>
                  </a14:m>
                  <a:endParaRPr lang="zh-CN" altLang="en-US" sz="2200" dirty="0"/>
                </a:p>
              </p:txBody>
            </p:sp>
          </mc:Choice>
          <mc:Fallback xmlns="">
            <p:sp>
              <p:nvSpPr>
                <p:cNvPr id="16406" name="Object 2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925" y="2084"/>
                  <a:ext cx="415" cy="354"/>
                </a:xfrm>
                <a:prstGeom prst="rect">
                  <a:avLst/>
                </a:prstGeom>
                <a:blipFill>
                  <a:blip r:embed="rId6"/>
                  <a:stretch>
                    <a:fillRect r="-4630"/>
                  </a:stretch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407" name="Object 23"/>
              <p:cNvSpPr txBox="1"/>
              <p:nvPr/>
            </p:nvSpPr>
            <p:spPr bwMode="auto">
              <a:xfrm>
                <a:off x="3764757" y="4871822"/>
                <a:ext cx="1968500" cy="124322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6407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4757" y="4871822"/>
                <a:ext cx="1968500" cy="1243228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408" name="Picture 2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650" y="3124775"/>
            <a:ext cx="2647950" cy="2857500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594746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6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6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6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6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6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6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99" grpId="0"/>
      <p:bldP spid="16400" grpId="0"/>
      <p:bldP spid="16401" grpId="0" autoUpdateAnimBg="0"/>
      <p:bldP spid="16402" grpId="0" autoUpdateAnimBg="0"/>
      <p:bldP spid="16403" grpId="0"/>
      <p:bldP spid="1640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03F673A8-9039-5E85-8576-C96E643DD79C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BF8C00E0-0E80-13A1-76E1-D3F17057F0B1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BF8C00E0-0E80-13A1-76E1-D3F17057F0B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DB5E0B35-D5B2-B5DF-A5E3-5AB6FB071283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75D3DB0B-DD65-F9A0-2E5A-790D2F43783D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90937E64-48C5-3817-9928-B43F613C022C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B35ACAAB-210B-1CDB-FFE4-13C33C9C68F6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421" name="Rectangle 13"/>
              <p:cNvSpPr>
                <a:spLocks noChangeArrowheads="1"/>
              </p:cNvSpPr>
              <p:nvPr/>
            </p:nvSpPr>
            <p:spPr bwMode="auto">
              <a:xfrm>
                <a:off x="3724801" y="1865368"/>
                <a:ext cx="4019024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所以在</a:t>
                </a:r>
                <a14:m>
                  <m:oMath xmlns:m="http://schemas.openxmlformats.org/officeDocument/2006/math">
                    <m:r>
                      <a:rPr lang="zh-CN" alt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zh-CN" alt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200" dirty="0"/>
                  <a:t>面上的投影为线段</a:t>
                </a:r>
                <a:r>
                  <a:rPr lang="en-US" altLang="zh-CN" sz="2200" dirty="0"/>
                  <a:t>.</a:t>
                </a:r>
                <a:endParaRPr lang="en-US" altLang="zh-CN" sz="2200" dirty="0">
                  <a:solidFill>
                    <a:srgbClr val="CC3399"/>
                  </a:solidFill>
                </a:endParaRPr>
              </a:p>
            </p:txBody>
          </p:sp>
        </mc:Choice>
        <mc:Fallback xmlns="">
          <p:sp>
            <p:nvSpPr>
              <p:cNvPr id="17421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24801" y="1865368"/>
                <a:ext cx="4019024" cy="430887"/>
              </a:xfrm>
              <a:prstGeom prst="rect">
                <a:avLst/>
              </a:prstGeom>
              <a:blipFill>
                <a:blip r:embed="rId4"/>
                <a:stretch>
                  <a:fillRect l="-1973" t="-14085" b="-225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3" name="Object 15"/>
              <p:cNvSpPr txBox="1"/>
              <p:nvPr/>
            </p:nvSpPr>
            <p:spPr bwMode="auto">
              <a:xfrm>
                <a:off x="4259775" y="2425700"/>
                <a:ext cx="3124200" cy="13843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,  |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3" name="Object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9775" y="2425700"/>
                <a:ext cx="3124200" cy="13843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5" name="Rectangle 17"/>
              <p:cNvSpPr>
                <a:spLocks noChangeArrowheads="1"/>
              </p:cNvSpPr>
              <p:nvPr/>
            </p:nvSpPr>
            <p:spPr bwMode="auto">
              <a:xfrm>
                <a:off x="3015175" y="3819525"/>
                <a:ext cx="4976300" cy="43088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200" dirty="0"/>
                  <a:t>（</a:t>
                </a:r>
                <a:r>
                  <a:rPr lang="en-US" altLang="zh-CN" sz="2200" dirty="0"/>
                  <a:t>3</a:t>
                </a:r>
                <a:r>
                  <a:rPr lang="zh-CN" altLang="en-US" sz="2200" dirty="0"/>
                  <a:t>）同理在</a:t>
                </a:r>
                <a14:m>
                  <m:oMath xmlns:m="http://schemas.openxmlformats.org/officeDocument/2006/math">
                    <m:r>
                      <a:rPr lang="zh-CN" altLang="en-US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22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zh-CN" altLang="en-US" sz="2200" b="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zh-CN" altLang="en-US" sz="2200" dirty="0"/>
                  <a:t>面上的投影也为线段</a:t>
                </a:r>
                <a:r>
                  <a:rPr lang="en-US" altLang="zh-CN" sz="2200" dirty="0"/>
                  <a:t>.</a:t>
                </a:r>
                <a:endParaRPr lang="en-US" altLang="zh-CN" sz="2200" dirty="0">
                  <a:solidFill>
                    <a:srgbClr val="CC3399"/>
                  </a:solidFill>
                </a:endParaRPr>
              </a:p>
            </p:txBody>
          </p:sp>
        </mc:Choice>
        <mc:Fallback xmlns="">
          <p:sp>
            <p:nvSpPr>
              <p:cNvPr id="17425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5175" y="3819525"/>
                <a:ext cx="4976300" cy="430887"/>
              </a:xfrm>
              <a:prstGeom prst="rect">
                <a:avLst/>
              </a:prstGeom>
              <a:blipFill>
                <a:blip r:embed="rId6"/>
                <a:stretch>
                  <a:fillRect l="-1593" t="-14286" b="-242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427" name="Object 19"/>
              <p:cNvSpPr txBox="1"/>
              <p:nvPr/>
            </p:nvSpPr>
            <p:spPr bwMode="auto">
              <a:xfrm>
                <a:off x="4259775" y="4492622"/>
                <a:ext cx="3124200" cy="128106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,  |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17427" name="Object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59775" y="4492622"/>
                <a:ext cx="3124200" cy="128106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Object 19">
                <a:extLst>
                  <a:ext uri="{FF2B5EF4-FFF2-40B4-BE49-F238E27FC236}">
                    <a16:creationId xmlns:a16="http://schemas.microsoft.com/office/drawing/2014/main" id="{65F8BA6F-6032-489A-E2BD-A8D6D9865716}"/>
                  </a:ext>
                </a:extLst>
              </p:cNvPr>
              <p:cNvSpPr txBox="1"/>
              <p:nvPr/>
            </p:nvSpPr>
            <p:spPr bwMode="auto">
              <a:xfrm>
                <a:off x="3015175" y="955315"/>
                <a:ext cx="4111114" cy="84716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zh-CN" altLang="en-US" sz="2200" dirty="0"/>
                        <m:t>（</m:t>
                      </m:r>
                      <m:r>
                        <m:rPr>
                          <m:nor/>
                        </m:rPr>
                        <a:rPr lang="en-US" altLang="zh-CN" sz="2200" dirty="0"/>
                        <m:t>2</m:t>
                      </m:r>
                      <m:r>
                        <m:rPr>
                          <m:nor/>
                        </m:rPr>
                        <a:rPr lang="zh-CN" altLang="en-US" sz="2200" dirty="0"/>
                        <m:t>）因为曲线在平面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m:rPr>
                          <m:nor/>
                        </m:rPr>
                        <a:rPr lang="zh-CN" altLang="en-US" sz="2200" dirty="0"/>
                        <m:t>上，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2" name="Object 19">
                <a:extLst>
                  <a:ext uri="{FF2B5EF4-FFF2-40B4-BE49-F238E27FC236}">
                    <a16:creationId xmlns:a16="http://schemas.microsoft.com/office/drawing/2014/main" id="{65F8BA6F-6032-489A-E2BD-A8D6D9865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15175" y="955315"/>
                <a:ext cx="4111114" cy="8471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54499314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7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21" grpId="0"/>
      <p:bldP spid="17423" grpId="0"/>
      <p:bldP spid="17425" grpId="0"/>
      <p:bldP spid="17427" grpId="0"/>
      <p:bldP spid="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57A906FE-DD28-8A0D-01AE-17EF8D0C8823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391F264-CDA0-AC06-1DAC-9B8A5EEB6EE9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F391F264-CDA0-AC06-1DAC-9B8A5EEB6EE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69294AF2-EFFD-2582-C7F1-35DBFB415DA3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265C0571-D3BD-99A0-9089-2DC3477612EA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273ADD87-A0EE-8D2C-BDC9-1CC51BB7E46B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BD2881B4-EEF4-D7F0-7171-951A668300B8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541" y="1676400"/>
            <a:ext cx="1752600" cy="1866900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2524523" y="871886"/>
            <a:ext cx="7162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空间立体或曲面在坐标面上的投影</a:t>
            </a:r>
            <a:r>
              <a:rPr lang="en-US" altLang="zh-CN" sz="2800" dirty="0">
                <a:solidFill>
                  <a:srgbClr val="04926A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.</a:t>
            </a:r>
          </a:p>
        </p:txBody>
      </p:sp>
      <p:pic>
        <p:nvPicPr>
          <p:cNvPr id="3686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4114801"/>
            <a:ext cx="2057400" cy="1719263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6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8541" y="4132263"/>
            <a:ext cx="2057400" cy="1701800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87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2800" y="1676401"/>
            <a:ext cx="1727200" cy="1878013"/>
          </a:xfrm>
          <a:prstGeom prst="rect">
            <a:avLst/>
          </a:prstGeom>
          <a:noFill/>
          <a:ln w="12700">
            <a:solidFill>
              <a:srgbClr val="04926A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6871" name="Text Box 7"/>
          <p:cNvSpPr txBox="1">
            <a:spLocks noChangeArrowheads="1"/>
          </p:cNvSpPr>
          <p:nvPr/>
        </p:nvSpPr>
        <p:spPr bwMode="auto">
          <a:xfrm>
            <a:off x="2524523" y="1828800"/>
            <a:ext cx="615553" cy="1524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空间立体</a:t>
            </a:r>
          </a:p>
        </p:txBody>
      </p:sp>
      <p:sp>
        <p:nvSpPr>
          <p:cNvPr id="36872" name="Text Box 8"/>
          <p:cNvSpPr txBox="1">
            <a:spLocks noChangeArrowheads="1"/>
          </p:cNvSpPr>
          <p:nvPr/>
        </p:nvSpPr>
        <p:spPr bwMode="auto">
          <a:xfrm>
            <a:off x="2524523" y="4495800"/>
            <a:ext cx="615553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ea typeface="黑体" panose="02010609060101010101" pitchFamily="49" charset="-122"/>
              </a:rPr>
              <a:t>曲面</a:t>
            </a:r>
          </a:p>
        </p:txBody>
      </p:sp>
      <p:sp>
        <p:nvSpPr>
          <p:cNvPr id="36873" name="AutoShape 9" descr="浅色横线"/>
          <p:cNvSpPr>
            <a:spLocks noChangeArrowheads="1"/>
          </p:cNvSpPr>
          <p:nvPr/>
        </p:nvSpPr>
        <p:spPr bwMode="auto">
          <a:xfrm>
            <a:off x="5700141" y="4767263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rgbClr val="04926A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874" name="AutoShape 10" descr="浅色横线"/>
          <p:cNvSpPr>
            <a:spLocks noChangeArrowheads="1"/>
          </p:cNvSpPr>
          <p:nvPr/>
        </p:nvSpPr>
        <p:spPr bwMode="auto">
          <a:xfrm>
            <a:off x="5700141" y="2362200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rgbClr val="04926A"/>
          </a:solidFill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5385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8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36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6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68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6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6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68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8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6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867" grpId="0"/>
      <p:bldP spid="36871" grpId="0" autoUpdateAnimBg="0"/>
      <p:bldP spid="36872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7BB84971-1EF9-BA12-C065-AD0C085C7A3B}"/>
              </a:ext>
            </a:extLst>
          </p:cNvPr>
          <p:cNvGrpSpPr/>
          <p:nvPr/>
        </p:nvGrpSpPr>
        <p:grpSpPr>
          <a:xfrm>
            <a:off x="687324" y="535820"/>
            <a:ext cx="10817987" cy="5803091"/>
            <a:chOff x="687324" y="535820"/>
            <a:chExt cx="10817987" cy="580309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AA5343E-92AE-7234-66F9-00F8AC0AC554}"/>
                    </a:ext>
                  </a:extLst>
                </p:cNvPr>
                <p:cNvSpPr/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5" name="矩形 4">
                  <a:extLst>
                    <a:ext uri="{FF2B5EF4-FFF2-40B4-BE49-F238E27FC236}">
                      <a16:creationId xmlns:a16="http://schemas.microsoft.com/office/drawing/2014/main" id="{6AA5343E-92AE-7234-66F9-00F8AC0AC55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536260"/>
                  <a:ext cx="10817352" cy="57998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2A60F4D5-A184-6262-8954-A0614F33D602}"/>
                </a:ext>
              </a:extLst>
            </p:cNvPr>
            <p:cNvSpPr/>
            <p:nvPr/>
          </p:nvSpPr>
          <p:spPr>
            <a:xfrm>
              <a:off x="687324" y="536434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79304D7F-51FF-8FF3-7678-073F71D049E3}"/>
                </a:ext>
              </a:extLst>
            </p:cNvPr>
            <p:cNvSpPr/>
            <p:nvPr/>
          </p:nvSpPr>
          <p:spPr>
            <a:xfrm flipH="1">
              <a:off x="10823530" y="535820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532559E5-6742-D4E5-BE37-65B92DDADA78}"/>
                </a:ext>
              </a:extLst>
            </p:cNvPr>
            <p:cNvSpPr/>
            <p:nvPr/>
          </p:nvSpPr>
          <p:spPr>
            <a:xfrm flipV="1">
              <a:off x="687324" y="5665394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9" name="半闭框 8">
              <a:extLst>
                <a:ext uri="{FF2B5EF4-FFF2-40B4-BE49-F238E27FC236}">
                  <a16:creationId xmlns:a16="http://schemas.microsoft.com/office/drawing/2014/main" id="{498F4A37-55D2-8235-1D10-DA57DAB3ECE3}"/>
                </a:ext>
              </a:extLst>
            </p:cNvPr>
            <p:cNvSpPr/>
            <p:nvPr/>
          </p:nvSpPr>
          <p:spPr>
            <a:xfrm flipH="1" flipV="1">
              <a:off x="10823530" y="5642774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7890" name="Text Box 2"/>
          <p:cNvSpPr txBox="1">
            <a:spLocks noChangeArrowheads="1"/>
          </p:cNvSpPr>
          <p:nvPr/>
        </p:nvSpPr>
        <p:spPr bwMode="auto">
          <a:xfrm>
            <a:off x="1824397" y="932701"/>
            <a:ext cx="84260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1" name="Object 3"/>
              <p:cNvSpPr txBox="1"/>
              <p:nvPr/>
            </p:nvSpPr>
            <p:spPr bwMode="auto">
              <a:xfrm>
                <a:off x="2712389" y="807551"/>
                <a:ext cx="7203136" cy="195965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>
                  <a:lnSpc>
                    <a:spcPct val="12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设一个立体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由上半球面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4−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3(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锥面所围成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求它在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</m:oMath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37891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12389" y="807551"/>
                <a:ext cx="7203136" cy="195965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892" name="Text Box 4"/>
          <p:cNvSpPr txBox="1">
            <a:spLocks noChangeArrowheads="1"/>
          </p:cNvSpPr>
          <p:nvPr/>
        </p:nvSpPr>
        <p:spPr bwMode="auto">
          <a:xfrm>
            <a:off x="1805347" y="2930188"/>
            <a:ext cx="762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b="1" dirty="0">
                <a:solidFill>
                  <a:srgbClr val="04926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解</a:t>
            </a:r>
          </a:p>
        </p:txBody>
      </p:sp>
      <p:sp>
        <p:nvSpPr>
          <p:cNvPr id="37893" name="Text Box 5"/>
          <p:cNvSpPr txBox="1">
            <a:spLocks noChangeArrowheads="1"/>
          </p:cNvSpPr>
          <p:nvPr/>
        </p:nvSpPr>
        <p:spPr bwMode="auto">
          <a:xfrm>
            <a:off x="2666999" y="2958324"/>
            <a:ext cx="502920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半球面和锥面的交线为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894" name="Object 6"/>
              <p:cNvSpPr txBox="1"/>
              <p:nvPr/>
            </p:nvSpPr>
            <p:spPr bwMode="auto">
              <a:xfrm>
                <a:off x="2667000" y="3429000"/>
                <a:ext cx="3077626" cy="12701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: 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4−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rad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ad>
                                <m:radPr>
                                  <m:degHide m:val="on"/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3(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sSup>
                                    <m:sSupPr>
                                      <m:ctrlP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zh-CN" altLang="en-US" sz="2200" i="1">
                                          <a:solidFill>
                                            <a:srgbClr val="00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</m:rad>
                              <m: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894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7000" y="3429000"/>
                <a:ext cx="3077626" cy="127012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895" name="Object 7"/>
              <p:cNvSpPr txBox="1"/>
              <p:nvPr/>
            </p:nvSpPr>
            <p:spPr bwMode="auto">
              <a:xfrm>
                <a:off x="2666999" y="4701880"/>
                <a:ext cx="3962401" cy="48239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消去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得投影柱面</m:t>
                      </m:r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=1,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7895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666999" y="4701880"/>
                <a:ext cx="3962401" cy="482399"/>
              </a:xfrm>
              <a:prstGeom prst="rect">
                <a:avLst/>
              </a:prstGeom>
              <a:blipFill>
                <a:blip r:embed="rId5"/>
                <a:stretch>
                  <a:fillRect l="-922" b="-126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图片 9" descr="图表, 图示&#10;&#10;描述已自动生成">
            <a:extLst>
              <a:ext uri="{FF2B5EF4-FFF2-40B4-BE49-F238E27FC236}">
                <a16:creationId xmlns:a16="http://schemas.microsoft.com/office/drawing/2014/main" id="{7F8CF69F-4CEF-6EA2-6B78-50F634F9623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7780" y="2405697"/>
            <a:ext cx="3242872" cy="315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57639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"/>
                                        <p:tgtEl>
                                          <p:spTgt spid="3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75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7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890" grpId="0"/>
      <p:bldP spid="37891" grpId="0"/>
      <p:bldP spid="37892" grpId="0" autoUpdateAnimBg="0"/>
      <p:bldP spid="37893" grpId="0" autoUpdateAnimBg="0"/>
      <p:bldP spid="37894" grpId="0"/>
      <p:bldP spid="3789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4FC8C12-6E98-F34B-E4C8-987361D8DB2A}"/>
              </a:ext>
            </a:extLst>
          </p:cNvPr>
          <p:cNvGrpSpPr/>
          <p:nvPr/>
        </p:nvGrpSpPr>
        <p:grpSpPr>
          <a:xfrm>
            <a:off x="687324" y="1533525"/>
            <a:ext cx="10817987" cy="3552825"/>
            <a:chOff x="687324" y="828675"/>
            <a:chExt cx="10817987" cy="355282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72CD6CE8-BD6E-E72E-BBA5-69C1633C360C}"/>
                    </a:ext>
                  </a:extLst>
                </p:cNvPr>
                <p:cNvSpPr/>
                <p:nvPr/>
              </p:nvSpPr>
              <p:spPr>
                <a:xfrm>
                  <a:off x="687959" y="828675"/>
                  <a:ext cx="10817352" cy="355282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en-US" altLang="zh-CN" dirty="0">
                            <a:latin typeface="Cambria Math" panose="02040503050406030204" charset="0"/>
                            <a:ea typeface="黑体" panose="02010609060101010101" pitchFamily="49" charset="-122"/>
                            <a:cs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/>
                </a:p>
              </p:txBody>
            </p:sp>
          </mc:Choice>
          <mc:Fallback xmlns="">
            <p:sp>
              <p:nvSpPr>
                <p:cNvPr id="4" name="矩形 3">
                  <a:extLst>
                    <a:ext uri="{FF2B5EF4-FFF2-40B4-BE49-F238E27FC236}">
                      <a16:creationId xmlns:a16="http://schemas.microsoft.com/office/drawing/2014/main" id="{72CD6CE8-BD6E-E72E-BBA5-69C1633C360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7959" y="828675"/>
                  <a:ext cx="10817352" cy="3552825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>
                  <a:noFill/>
                </a:ln>
                <a:effectLst>
                  <a:outerShdw blurRad="63500" sx="102000" sy="102000" algn="ctr" rotWithShape="0">
                    <a:prstClr val="black">
                      <a:alpha val="9000"/>
                    </a:prstClr>
                  </a:outerShdw>
                </a:effec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" name="半闭框 4">
              <a:extLst>
                <a:ext uri="{FF2B5EF4-FFF2-40B4-BE49-F238E27FC236}">
                  <a16:creationId xmlns:a16="http://schemas.microsoft.com/office/drawing/2014/main" id="{4FA38CA1-30D6-D52A-624C-F006EC3E169C}"/>
                </a:ext>
              </a:extLst>
            </p:cNvPr>
            <p:cNvSpPr/>
            <p:nvPr/>
          </p:nvSpPr>
          <p:spPr>
            <a:xfrm>
              <a:off x="687324" y="828675"/>
              <a:ext cx="681355" cy="73917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6" name="半闭框 5">
              <a:extLst>
                <a:ext uri="{FF2B5EF4-FFF2-40B4-BE49-F238E27FC236}">
                  <a16:creationId xmlns:a16="http://schemas.microsoft.com/office/drawing/2014/main" id="{18EDC6D9-E34F-6124-FD7C-C58F355D2A6F}"/>
                </a:ext>
              </a:extLst>
            </p:cNvPr>
            <p:cNvSpPr/>
            <p:nvPr/>
          </p:nvSpPr>
          <p:spPr>
            <a:xfrm flipH="1">
              <a:off x="10823530" y="828675"/>
              <a:ext cx="681146" cy="739134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7" name="半闭框 6">
              <a:extLst>
                <a:ext uri="{FF2B5EF4-FFF2-40B4-BE49-F238E27FC236}">
                  <a16:creationId xmlns:a16="http://schemas.microsoft.com/office/drawing/2014/main" id="{A948AAB5-5B98-E745-7710-E1B99BBBE261}"/>
                </a:ext>
              </a:extLst>
            </p:cNvPr>
            <p:cNvSpPr/>
            <p:nvPr/>
          </p:nvSpPr>
          <p:spPr>
            <a:xfrm flipV="1">
              <a:off x="687324" y="3707983"/>
              <a:ext cx="681355" cy="673517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200">
                <a:solidFill>
                  <a:schemeClr val="tx1"/>
                </a:solidFill>
              </a:endParaRPr>
            </a:p>
          </p:txBody>
        </p:sp>
        <p:sp>
          <p:nvSpPr>
            <p:cNvPr id="8" name="半闭框 7">
              <a:extLst>
                <a:ext uri="{FF2B5EF4-FFF2-40B4-BE49-F238E27FC236}">
                  <a16:creationId xmlns:a16="http://schemas.microsoft.com/office/drawing/2014/main" id="{7E2DC79E-BFD9-30C0-915E-ED4759C1A001}"/>
                </a:ext>
              </a:extLst>
            </p:cNvPr>
            <p:cNvSpPr/>
            <p:nvPr/>
          </p:nvSpPr>
          <p:spPr>
            <a:xfrm flipH="1" flipV="1">
              <a:off x="10823530" y="3688117"/>
              <a:ext cx="681146" cy="693383"/>
            </a:xfrm>
            <a:prstGeom prst="halfFrame">
              <a:avLst>
                <a:gd name="adj1" fmla="val 7739"/>
                <a:gd name="adj2" fmla="val 6987"/>
              </a:avLst>
            </a:prstGeom>
            <a:gradFill flip="none" rotWithShape="1">
              <a:gsLst>
                <a:gs pos="0">
                  <a:schemeClr val="bg1"/>
                </a:gs>
                <a:gs pos="46000">
                  <a:srgbClr val="039463"/>
                </a:gs>
                <a:gs pos="100000">
                  <a:schemeClr val="bg1"/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914" name="Object 1026"/>
              <p:cNvSpPr txBox="1"/>
              <p:nvPr/>
            </p:nvSpPr>
            <p:spPr bwMode="auto">
              <a:xfrm>
                <a:off x="2709205" y="2080441"/>
                <a:ext cx="4237506" cy="5175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则交线</m:t>
                      </m:r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在</m:t>
                      </m:r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914" name="Object 10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9205" y="2080441"/>
                <a:ext cx="4237506" cy="517511"/>
              </a:xfrm>
              <a:prstGeom prst="rect">
                <a:avLst/>
              </a:prstGeom>
              <a:blipFill>
                <a:blip r:embed="rId3"/>
                <a:stretch>
                  <a:fillRect l="-100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15" name="Object 1027"/>
              <p:cNvSpPr txBox="1"/>
              <p:nvPr/>
            </p:nvSpPr>
            <p:spPr bwMode="auto">
              <a:xfrm>
                <a:off x="3075697" y="2654470"/>
                <a:ext cx="2039228" cy="896939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d>
                        <m:dPr>
                          <m:begChr m:val="{"/>
                          <m:endChr m:val=""/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CN" altLang="en-US" sz="22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CN" alt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zh-CN" altLang="en-US" sz="22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zh-CN" altLang="en-US" sz="22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sz="22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p>
                                  <m:r>
                                    <a:rPr lang="zh-CN" altLang="en-US" sz="2200" b="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zh-CN" alt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=1,</m:t>
                              </m:r>
                            </m:e>
                            <m:e>
                              <m:r>
                                <a:rPr lang="zh-CN" alt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CN" alt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zh-CN" altLang="en-US" sz="2200" b="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=0.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915" name="Object 102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75697" y="2654470"/>
                <a:ext cx="2039228" cy="89693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916" name="Text Box 1028"/>
          <p:cNvSpPr txBox="1">
            <a:spLocks noChangeArrowheads="1"/>
          </p:cNvSpPr>
          <p:nvPr/>
        </p:nvSpPr>
        <p:spPr bwMode="auto">
          <a:xfrm>
            <a:off x="4970364" y="2912425"/>
            <a:ext cx="1125636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FF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zh-CN" altLang="en-US" sz="2200" dirty="0"/>
              <a:t>一个圆，</a:t>
            </a:r>
            <a:endParaRPr lang="en-US" altLang="zh-CN" sz="2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917" name="Object 1029"/>
              <p:cNvSpPr txBox="1"/>
              <p:nvPr/>
            </p:nvSpPr>
            <p:spPr bwMode="auto">
              <a:xfrm>
                <a:off x="2709205" y="3730812"/>
                <a:ext cx="4358345" cy="4838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∴</m:t>
                      </m:r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所求立体在</m:t>
                      </m:r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𝑥𝑂𝑦</m:t>
                      </m:r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面上的投影为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917" name="Object 10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09205" y="3730812"/>
                <a:ext cx="4358345" cy="483850"/>
              </a:xfrm>
              <a:prstGeom prst="rect">
                <a:avLst/>
              </a:prstGeom>
              <a:blipFill>
                <a:blip r:embed="rId5"/>
                <a:stretch>
                  <a:fillRect b="-63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918" name="Object 1030"/>
              <p:cNvSpPr txBox="1"/>
              <p:nvPr/>
            </p:nvSpPr>
            <p:spPr bwMode="auto">
              <a:xfrm>
                <a:off x="3190839" y="4217415"/>
                <a:ext cx="1952661" cy="5175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 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zh-CN" alt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p>
                        <m:sSupPr>
                          <m:ctrlPr>
                            <a:rPr lang="zh-CN" altLang="en-US" sz="22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zh-CN" alt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p>
                          <m:r>
                            <a:rPr lang="zh-CN" altLang="en-US" sz="2200" b="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m:rPr>
                          <m:nor/>
                        </m:rPr>
                        <a:rPr lang="en-US" altLang="zh-CN" sz="22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≤</m:t>
                      </m:r>
                      <m:r>
                        <a:rPr lang="zh-CN" altLang="en-US" sz="2200" b="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1.</m:t>
                      </m:r>
                    </m:oMath>
                  </m:oMathPara>
                </a14:m>
                <a:endParaRPr lang="zh-CN" altLang="en-US" sz="2200" dirty="0"/>
              </a:p>
            </p:txBody>
          </p:sp>
        </mc:Choice>
        <mc:Fallback xmlns="">
          <p:sp>
            <p:nvSpPr>
              <p:cNvPr id="38918" name="Object 103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190839" y="4217415"/>
                <a:ext cx="1952661" cy="51751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图片 1" descr="图表, 图示&#10;&#10;描述已自动生成">
            <a:extLst>
              <a:ext uri="{FF2B5EF4-FFF2-40B4-BE49-F238E27FC236}">
                <a16:creationId xmlns:a16="http://schemas.microsoft.com/office/drawing/2014/main" id="{35766E3C-A088-E052-3E52-D812E834811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8274" y="1849595"/>
            <a:ext cx="3242872" cy="315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7325668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8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8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8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  <p:bldP spid="38915" grpId="0"/>
      <p:bldP spid="38916" grpId="0" autoUpdateAnimBg="0"/>
      <p:bldP spid="38917" grpId="0"/>
      <p:bldP spid="3891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894862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9"/>
</p:tagLst>
</file>

<file path=ppt/theme/theme1.xml><?xml version="1.0" encoding="utf-8"?>
<a:theme xmlns:a="http://schemas.openxmlformats.org/drawingml/2006/main" name="Office 主题​​">
  <a:themeElements>
    <a:clrScheme name="蓝色暖调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自定义 3">
      <a:majorFont>
        <a:latin typeface="微软雅黑"/>
        <a:ea typeface="微软雅黑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</a:extLst>
      </a:spPr>
      <a:bodyPr>
        <a:spAutoFit/>
      </a:bodyPr>
      <a:lstStyle>
        <a:defPPr eaLnBrk="1" hangingPunct="1">
          <a:spcBef>
            <a:spcPct val="50000"/>
          </a:spcBef>
          <a:defRPr sz="2800" b="1" dirty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Cambria Math"/>
        <a:font script="Hebr" typeface="Cambria Math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mbria Math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 flip="none" rotWithShape="1">
          <a:gsLst>
            <a:gs pos="100000">
              <a:srgbClr val="007434">
                <a:alpha val="31000"/>
              </a:srgbClr>
            </a:gs>
            <a:gs pos="4000">
              <a:schemeClr val="bg1">
                <a:alpha val="0"/>
              </a:schemeClr>
            </a:gs>
          </a:gsLst>
          <a:lin ang="15600000" scaled="0"/>
          <a:tileRect/>
        </a:gradFill>
        <a:ln>
          <a:noFill/>
        </a:ln>
      </a:spPr>
      <a:bodyPr rtlCol="0" anchor="ctr"/>
      <a:lstStyle>
        <a:defPPr algn="ctr">
          <a:defRPr>
            <a:latin typeface="字魂36号-正文宋楷" panose="00000500000000000000" pitchFamily="2" charset="-122"/>
            <a:ea typeface="字魂36号-正文宋楷" panose="00000500000000000000" pitchFamily="2" charset="-122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1971</TotalTime>
  <Words>913</Words>
  <Application>Microsoft Office PowerPoint</Application>
  <PresentationFormat>宽屏</PresentationFormat>
  <Paragraphs>161</Paragraphs>
  <Slides>22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5" baseType="lpstr">
      <vt:lpstr>等线</vt:lpstr>
      <vt:lpstr>黑体</vt:lpstr>
      <vt:lpstr>华文中宋</vt:lpstr>
      <vt:lpstr>宋体</vt:lpstr>
      <vt:lpstr>微软雅黑</vt:lpstr>
      <vt:lpstr>字魂36号-正文宋楷</vt:lpstr>
      <vt:lpstr>Arial</vt:lpstr>
      <vt:lpstr>Calibri</vt:lpstr>
      <vt:lpstr>Calibri Light</vt:lpstr>
      <vt:lpstr>Cambria Math</vt:lpstr>
      <vt:lpstr>Times New Roman</vt:lpstr>
      <vt:lpstr>Office 主题​​</vt:lpstr>
      <vt:lpstr>Office 主题</vt:lpstr>
      <vt:lpstr>PowerPoint 演示文稿</vt:lpstr>
      <vt:lpstr>PowerPoint 演示文稿</vt:lpstr>
      <vt:lpstr>PowerPoint 演示文稿</vt:lpstr>
      <vt:lpstr>PowerPoint 演示文稿</vt:lpstr>
      <vt:lpstr>一、空间曲线的一般方程</vt:lpstr>
      <vt:lpstr>PowerPoint 演示文稿</vt:lpstr>
      <vt:lpstr>PowerPoint 演示文稿</vt:lpstr>
      <vt:lpstr>二、空间曲线的参数方程</vt:lpstr>
      <vt:lpstr>PowerPoint 演示文稿</vt:lpstr>
      <vt:lpstr>PowerPoint 演示文稿</vt:lpstr>
      <vt:lpstr>PowerPoint 演示文稿</vt:lpstr>
      <vt:lpstr>直线</vt:lpstr>
      <vt:lpstr>PowerPoint 演示文稿</vt:lpstr>
      <vt:lpstr>三、空间曲线在坐标面上的投影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cui; 崔丽鸿</dc:creator>
  <cp:lastModifiedBy>yang fan</cp:lastModifiedBy>
  <cp:revision>129</cp:revision>
  <dcterms:created xsi:type="dcterms:W3CDTF">2021-12-25T10:05:44Z</dcterms:created>
  <dcterms:modified xsi:type="dcterms:W3CDTF">2023-07-05T08:59:07Z</dcterms:modified>
</cp:coreProperties>
</file>