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2"/>
    <p:sldId id="679" r:id="rId3"/>
    <p:sldId id="664" r:id="rId4"/>
    <p:sldId id="665" r:id="rId5"/>
    <p:sldId id="264" r:id="rId6"/>
    <p:sldId id="800" r:id="rId7"/>
    <p:sldId id="783" r:id="rId8"/>
    <p:sldId id="801" r:id="rId9"/>
    <p:sldId id="802" r:id="rId10"/>
    <p:sldId id="784" r:id="rId11"/>
    <p:sldId id="803" r:id="rId12"/>
    <p:sldId id="804" r:id="rId13"/>
    <p:sldId id="364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50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3333CC"/>
    <a:srgbClr val="335AE6"/>
    <a:srgbClr val="EEF9FE"/>
    <a:srgbClr val="019B4E"/>
    <a:srgbClr val="1D9D79"/>
    <a:srgbClr val="BBBBBB"/>
    <a:srgbClr val="E3F0DB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60" autoAdjust="0"/>
    <p:restoredTop sz="97078" autoAdjust="0"/>
  </p:normalViewPr>
  <p:slideViewPr>
    <p:cSldViewPr snapToGrid="0" showGuides="1">
      <p:cViewPr>
        <p:scale>
          <a:sx n="100" d="100"/>
          <a:sy n="100" d="100"/>
        </p:scale>
        <p:origin x="474" y="336"/>
      </p:cViewPr>
      <p:guideLst>
        <p:guide pos="3839"/>
        <p:guide orient="horz" pos="25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367168" y="6572455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1011463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5790" y="6461760"/>
            <a:ext cx="42583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4261419" y="6615405"/>
            <a:ext cx="7956000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217369"/>
            <a:ext cx="9900000" cy="28338"/>
          </a:xfrm>
          <a:prstGeom prst="line">
            <a:avLst/>
          </a:prstGeom>
          <a:ln w="0"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387590" y="112357"/>
            <a:ext cx="15855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55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0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77" y="6949"/>
              <a:ext cx="3180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077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2335427" y="705836"/>
            <a:ext cx="760496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4EF04B-613F-D018-B7A9-23C9FD7BCF92}"/>
              </a:ext>
            </a:extLst>
          </p:cNvPr>
          <p:cNvGrpSpPr/>
          <p:nvPr/>
        </p:nvGrpSpPr>
        <p:grpSpPr>
          <a:xfrm>
            <a:off x="3949383" y="2527935"/>
            <a:ext cx="4377055" cy="901065"/>
            <a:chOff x="5061" y="3172"/>
            <a:chExt cx="6893" cy="1419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4F17D074-7FBE-B5B8-BA65-AD31854300E8}"/>
                </a:ext>
              </a:extLst>
            </p:cNvPr>
            <p:cNvSpPr/>
            <p:nvPr/>
          </p:nvSpPr>
          <p:spPr>
            <a:xfrm flipV="1">
              <a:off x="5061" y="3172"/>
              <a:ext cx="6893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17C37B-1329-71E7-F5B7-13B9CBAD8C10}"/>
                </a:ext>
              </a:extLst>
            </p:cNvPr>
            <p:cNvSpPr/>
            <p:nvPr/>
          </p:nvSpPr>
          <p:spPr>
            <a:xfrm>
              <a:off x="6108" y="3470"/>
              <a:ext cx="4249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概念和解法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40839C-8650-9BA8-0849-A9C28B188094}"/>
              </a:ext>
            </a:extLst>
          </p:cNvPr>
          <p:cNvGrpSpPr/>
          <p:nvPr/>
        </p:nvGrpSpPr>
        <p:grpSpPr>
          <a:xfrm>
            <a:off x="3949383" y="4067038"/>
            <a:ext cx="4377055" cy="901065"/>
            <a:chOff x="5061" y="5187"/>
            <a:chExt cx="6893" cy="1419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0E23C850-1E81-1882-C298-41BE7B747BF3}"/>
                </a:ext>
              </a:extLst>
            </p:cNvPr>
            <p:cNvSpPr/>
            <p:nvPr/>
          </p:nvSpPr>
          <p:spPr>
            <a:xfrm flipV="1">
              <a:off x="5061" y="5187"/>
              <a:ext cx="6893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D491C76-A6A9-F9C5-91AE-D01B8EC620E6}"/>
                </a:ext>
              </a:extLst>
            </p:cNvPr>
            <p:cNvSpPr/>
            <p:nvPr/>
          </p:nvSpPr>
          <p:spPr>
            <a:xfrm>
              <a:off x="6108" y="5485"/>
              <a:ext cx="2722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举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734694" y="1417955"/>
            <a:ext cx="11071225" cy="2505075"/>
          </a:xfrm>
          <a:prstGeom prst="rect">
            <a:avLst/>
          </a:prstGeom>
          <a:solidFill>
            <a:srgbClr val="03946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86080" y="2220595"/>
            <a:ext cx="1245870" cy="899795"/>
            <a:chOff x="608" y="3575"/>
            <a:chExt cx="1962" cy="1417"/>
          </a:xfrm>
        </p:grpSpPr>
        <p:sp>
          <p:nvSpPr>
            <p:cNvPr id="57" name="PA-102231"/>
            <p:cNvSpPr/>
            <p:nvPr>
              <p:custDataLst>
                <p:tags r:id="rId1"/>
              </p:custDataLst>
            </p:nvPr>
          </p:nvSpPr>
          <p:spPr>
            <a:xfrm>
              <a:off x="608" y="3575"/>
              <a:ext cx="1962" cy="1417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58" name="Rectangle 167"/>
            <p:cNvSpPr>
              <a:spLocks noChangeArrowheads="1"/>
            </p:cNvSpPr>
            <p:nvPr/>
          </p:nvSpPr>
          <p:spPr bwMode="auto">
            <a:xfrm>
              <a:off x="907" y="3945"/>
              <a:ext cx="1465" cy="67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定义</a:t>
              </a:r>
              <a:r>
                <a: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</a:p>
          </p:txBody>
        </p:sp>
      </p:grpSp>
      <p:sp>
        <p:nvSpPr>
          <p:cNvPr id="2" name="标题 1"/>
          <p:cNvSpPr>
            <a:spLocks noGrp="1"/>
          </p:cNvSpPr>
          <p:nvPr/>
        </p:nvSpPr>
        <p:spPr>
          <a:xfrm>
            <a:off x="734695" y="3533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 概念和解法</a:t>
            </a:r>
          </a:p>
        </p:txBody>
      </p:sp>
      <p:sp>
        <p:nvSpPr>
          <p:cNvPr id="4" name="Text Box 87"/>
          <p:cNvSpPr txBox="1">
            <a:spLocks noChangeArrowheads="1"/>
          </p:cNvSpPr>
          <p:nvPr/>
        </p:nvSpPr>
        <p:spPr bwMode="auto">
          <a:xfrm>
            <a:off x="1980565" y="1562752"/>
            <a:ext cx="962513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由若干个微分方程联立起来共同确定几个具有同一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94"/>
              <p:cNvSpPr txBox="1">
                <a:spLocks noChangeArrowheads="1"/>
              </p:cNvSpPr>
              <p:nvPr/>
            </p:nvSpPr>
            <p:spPr bwMode="auto">
              <a:xfrm>
                <a:off x="1980565" y="2149193"/>
                <a:ext cx="9477009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自变量的函数的方程组</a:t>
                </a:r>
                <a:r>
                  <a:rPr kumimoji="1" lang="en-US" altLang="zh-CN" sz="2800" dirty="0"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叫做微分方程组.</a:t>
                </a:r>
              </a:p>
            </p:txBody>
          </p:sp>
        </mc:Choice>
        <mc:Fallback xmlns="">
          <p:sp>
            <p:nvSpPr>
              <p:cNvPr id="25" name="Text 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0565" y="2149193"/>
                <a:ext cx="9477009" cy="521970"/>
              </a:xfrm>
              <a:prstGeom prst="rect">
                <a:avLst/>
              </a:prstGeom>
              <a:blipFill>
                <a:blip r:embed="rId4"/>
                <a:stretch>
                  <a:fillRect l="-1350" t="-17647" b="-31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105"/>
          <p:cNvSpPr txBox="1">
            <a:spLocks noChangeArrowheads="1"/>
          </p:cNvSpPr>
          <p:nvPr/>
        </p:nvSpPr>
        <p:spPr bwMode="auto">
          <a:xfrm>
            <a:off x="8406198" y="2157476"/>
            <a:ext cx="331722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如果微分方程组中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106"/>
              <p:cNvSpPr txBox="1">
                <a:spLocks noChangeArrowheads="1"/>
              </p:cNvSpPr>
              <p:nvPr/>
            </p:nvSpPr>
            <p:spPr bwMode="auto">
              <a:xfrm>
                <a:off x="1980565" y="2740117"/>
                <a:ext cx="7779236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的每一个微分方程都是常系数线性微分方程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Text 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0565" y="2740117"/>
                <a:ext cx="7779236" cy="521970"/>
              </a:xfrm>
              <a:prstGeom prst="rect">
                <a:avLst/>
              </a:prstGeom>
              <a:blipFill>
                <a:blip r:embed="rId5"/>
                <a:stretch>
                  <a:fillRect l="-1646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 Box 108"/>
          <p:cNvSpPr txBox="1">
            <a:spLocks noChangeArrowheads="1"/>
          </p:cNvSpPr>
          <p:nvPr/>
        </p:nvSpPr>
        <p:spPr bwMode="auto">
          <a:xfrm>
            <a:off x="8977970" y="2740117"/>
            <a:ext cx="285554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则称之为常系数</a:t>
            </a:r>
          </a:p>
        </p:txBody>
      </p:sp>
      <p:sp>
        <p:nvSpPr>
          <p:cNvPr id="63" name="矩形 62"/>
          <p:cNvSpPr/>
          <p:nvPr/>
        </p:nvSpPr>
        <p:spPr>
          <a:xfrm>
            <a:off x="1980565" y="3275124"/>
            <a:ext cx="2760980" cy="5219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线性微分方程组.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34695" y="4269740"/>
            <a:ext cx="974725" cy="449580"/>
            <a:chOff x="1553" y="3802"/>
            <a:chExt cx="1535" cy="708"/>
          </a:xfrm>
        </p:grpSpPr>
        <p:sp>
          <p:nvSpPr>
            <p:cNvPr id="7" name="圆角矩形 6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Box 28"/>
            <p:cNvSpPr txBox="1">
              <a:spLocks noChangeArrowheads="1"/>
            </p:cNvSpPr>
            <p:nvPr/>
          </p:nvSpPr>
          <p:spPr bwMode="auto">
            <a:xfrm>
              <a:off x="165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967230" y="4018280"/>
            <a:ext cx="3013710" cy="2335530"/>
            <a:chOff x="3098" y="6468"/>
            <a:chExt cx="4746" cy="36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对象 8"/>
                <p:cNvSpPr txBox="1"/>
                <p:nvPr/>
              </p:nvSpPr>
              <p:spPr>
                <a:xfrm>
                  <a:off x="3098" y="6468"/>
                  <a:ext cx="4747" cy="367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eqArr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&amp;</m:t>
                                </m:r>
                                <m:f>
                                  <m:f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+5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&amp;</m:t>
                                </m:r>
                                <m:f>
                                  <m:f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−3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.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800" dirty="0">
                    <a:latin typeface="Cambria" panose="02040503050406030204" charset="0"/>
                    <a:cs typeface="Cambria" panose="02040503050406030204" charset="0"/>
                  </a:endParaRPr>
                </a:p>
              </p:txBody>
            </p:sp>
          </mc:Choice>
          <mc:Fallback xmlns="">
            <p:sp>
              <p:nvSpPr>
                <p:cNvPr id="59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8" y="6468"/>
                  <a:ext cx="4747" cy="3679"/>
                </a:xfrm>
                <a:prstGeom prst="rect">
                  <a:avLst/>
                </a:prstGeom>
                <a:blipFill>
                  <a:blip r:embed="rId6"/>
                  <a:stretch>
                    <a:fillRect r="-5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3444" y="9276"/>
              <a:ext cx="757" cy="4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476875" y="4018280"/>
            <a:ext cx="2423160" cy="1930400"/>
            <a:chOff x="8625" y="6468"/>
            <a:chExt cx="3816" cy="30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对象 24"/>
                <p:cNvSpPr txBox="1"/>
                <p:nvPr/>
              </p:nvSpPr>
              <p:spPr>
                <a:xfrm>
                  <a:off x="8625" y="6468"/>
                  <a:ext cx="3816" cy="30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eqArr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&amp;</m:t>
                                </m:r>
                                <m:f>
                                  <m:f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8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d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28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&amp;</m:t>
                                </m:r>
                                <m:f>
                                  <m:f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8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d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28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.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0" name="对象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" y="6468"/>
                  <a:ext cx="3816" cy="3040"/>
                </a:xfrm>
                <a:prstGeom prst="rect">
                  <a:avLst/>
                </a:prstGeom>
                <a:blipFill>
                  <a:blip r:embed="rId7"/>
                  <a:stretch>
                    <a:fillRect b="-22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1414" y="7886"/>
              <a:ext cx="525" cy="7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2" grpId="0"/>
      <p:bldP spid="4" grpId="0" animBg="1"/>
      <p:bldP spid="25" grpId="0" animBg="1"/>
      <p:bldP spid="26" grpId="0" animBg="1"/>
      <p:bldP spid="39" grpId="0" animBg="1"/>
      <p:bldP spid="56" grpId="0" animBg="1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687070" y="535940"/>
            <a:ext cx="10817225" cy="5803265"/>
            <a:chOff x="1082" y="844"/>
            <a:chExt cx="17035" cy="9139"/>
          </a:xfrm>
        </p:grpSpPr>
        <p:sp>
          <p:nvSpPr>
            <p:cNvPr id="47" name="矩形 46"/>
            <p:cNvSpPr/>
            <p:nvPr/>
          </p:nvSpPr>
          <p:spPr>
            <a:xfrm>
              <a:off x="1082" y="846"/>
              <a:ext cx="17035" cy="9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半闭框 47"/>
            <p:cNvSpPr/>
            <p:nvPr/>
          </p:nvSpPr>
          <p:spPr>
            <a:xfrm>
              <a:off x="1082" y="845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7045" y="844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/>
            <p:cNvSpPr/>
            <p:nvPr/>
          </p:nvSpPr>
          <p:spPr>
            <a:xfrm flipV="1">
              <a:off x="1082" y="8922"/>
              <a:ext cx="1073" cy="1061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/>
            <p:cNvSpPr/>
            <p:nvPr/>
          </p:nvSpPr>
          <p:spPr>
            <a:xfrm flipH="1" flipV="1">
              <a:off x="17045" y="8891"/>
              <a:ext cx="1073" cy="1092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" name="Text Box 128"/>
          <p:cNvSpPr txBox="1">
            <a:spLocks noChangeArrowheads="1"/>
          </p:cNvSpPr>
          <p:nvPr/>
        </p:nvSpPr>
        <p:spPr bwMode="auto">
          <a:xfrm>
            <a:off x="1348301" y="1458207"/>
            <a:ext cx="1479550" cy="52197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87"/>
              <p:cNvSpPr txBox="1">
                <a:spLocks noChangeArrowheads="1"/>
              </p:cNvSpPr>
              <p:nvPr/>
            </p:nvSpPr>
            <p:spPr bwMode="auto">
              <a:xfrm>
                <a:off x="2565842" y="2319911"/>
                <a:ext cx="8982808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latin typeface="+mn-ea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从方程组中消去一些未知函数及其导数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得到只含有</a:t>
                </a:r>
              </a:p>
            </p:txBody>
          </p:sp>
        </mc:Choice>
        <mc:Fallback xmlns="">
          <p:sp>
            <p:nvSpPr>
              <p:cNvPr id="13" name="Text 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5842" y="2319911"/>
                <a:ext cx="8982808" cy="521970"/>
              </a:xfrm>
              <a:prstGeom prst="rect">
                <a:avLst/>
              </a:prstGeom>
              <a:blipFill>
                <a:blip r:embed="rId2"/>
                <a:stretch>
                  <a:fillRect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88"/>
              <p:cNvSpPr txBox="1">
                <a:spLocks noChangeArrowheads="1"/>
              </p:cNvSpPr>
              <p:nvPr/>
            </p:nvSpPr>
            <p:spPr bwMode="auto">
              <a:xfrm>
                <a:off x="2565841" y="3155278"/>
                <a:ext cx="7429059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 一个未知函数的高阶常系数线性微分方程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Text 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5841" y="3155278"/>
                <a:ext cx="7429059" cy="521970"/>
              </a:xfrm>
              <a:prstGeom prst="rect">
                <a:avLst/>
              </a:prstGeom>
              <a:blipFill>
                <a:blip r:embed="rId3"/>
                <a:stretch>
                  <a:fillRect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89"/>
              <p:cNvSpPr txBox="1">
                <a:spLocks noChangeArrowheads="1"/>
              </p:cNvSpPr>
              <p:nvPr/>
            </p:nvSpPr>
            <p:spPr bwMode="auto">
              <a:xfrm>
                <a:off x="2565841" y="3907137"/>
                <a:ext cx="8426741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latin typeface="+mn-ea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解此高阶微分方程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求出满足该方程的未知函数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Text 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5841" y="3907137"/>
                <a:ext cx="8426741" cy="521970"/>
              </a:xfrm>
              <a:prstGeom prst="rect">
                <a:avLst/>
              </a:prstGeom>
              <a:blipFill>
                <a:blip r:embed="rId4"/>
                <a:stretch>
                  <a:fillRect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90"/>
              <p:cNvSpPr txBox="1">
                <a:spLocks noChangeArrowheads="1"/>
              </p:cNvSpPr>
              <p:nvPr/>
            </p:nvSpPr>
            <p:spPr bwMode="auto">
              <a:xfrm>
                <a:off x="2565841" y="4708413"/>
                <a:ext cx="8526436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latin typeface="+mn-ea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把已求得的函数代入原方程组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求出其余的未知函数.</a:t>
                </a:r>
              </a:p>
            </p:txBody>
          </p:sp>
        </mc:Choice>
        <mc:Fallback xmlns="">
          <p:sp>
            <p:nvSpPr>
              <p:cNvPr id="16" name="Text 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5841" y="4708413"/>
                <a:ext cx="8526436" cy="521970"/>
              </a:xfrm>
              <a:prstGeom prst="rect">
                <a:avLst/>
              </a:prstGeom>
              <a:blipFill>
                <a:blip r:embed="rId5"/>
                <a:stretch>
                  <a:fillRect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 Box 28"/>
          <p:cNvSpPr txBox="1">
            <a:spLocks noChangeArrowheads="1"/>
          </p:cNvSpPr>
          <p:nvPr/>
        </p:nvSpPr>
        <p:spPr bwMode="auto">
          <a:xfrm>
            <a:off x="1555018" y="2356106"/>
            <a:ext cx="1158240" cy="4311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步骤</a:t>
            </a:r>
            <a:r>
              <a:rPr lang="en-US" altLang="zh-CN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1. </a:t>
            </a: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1555018" y="3938360"/>
            <a:ext cx="1158330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步骤</a:t>
            </a:r>
            <a:r>
              <a:rPr lang="en-US" altLang="zh-CN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2. </a:t>
            </a:r>
          </a:p>
        </p:txBody>
      </p: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1555018" y="4725244"/>
            <a:ext cx="1158330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步骤</a:t>
            </a:r>
            <a:r>
              <a:rPr lang="en-US" altLang="zh-CN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3.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  <p:bldP spid="15" grpId="0"/>
      <p:bldP spid="16" grpId="0"/>
      <p:bldP spid="138" grpId="0" animBg="1"/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712997" y="1321412"/>
            <a:ext cx="10817225" cy="4987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706374" y="1321435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52105" y="131191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706374" y="5636819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42580" y="5616953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Text Box 133"/>
          <p:cNvSpPr txBox="1">
            <a:spLocks noChangeArrowheads="1"/>
          </p:cNvSpPr>
          <p:nvPr/>
        </p:nvSpPr>
        <p:spPr bwMode="auto">
          <a:xfrm>
            <a:off x="2441046" y="2199481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50000"/>
              </a:spcBef>
              <a:buClrTx/>
              <a:buSzTx/>
              <a:buFontTx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</a:t>
            </a:r>
          </a:p>
        </p:txBody>
      </p:sp>
      <p:sp>
        <p:nvSpPr>
          <p:cNvPr id="34" name="AutoShape 112"/>
          <p:cNvSpPr/>
          <p:nvPr/>
        </p:nvSpPr>
        <p:spPr bwMode="auto">
          <a:xfrm>
            <a:off x="5722726" y="1703625"/>
            <a:ext cx="179388" cy="1447800"/>
          </a:xfrm>
          <a:prstGeom prst="leftBrace">
            <a:avLst>
              <a:gd name="adj1" fmla="val 67256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Box 115"/>
          <p:cNvSpPr txBox="1">
            <a:spLocks noChangeArrowheads="1"/>
          </p:cNvSpPr>
          <p:nvPr/>
        </p:nvSpPr>
        <p:spPr bwMode="auto">
          <a:xfrm>
            <a:off x="8454496" y="1720135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①</a:t>
            </a:r>
          </a:p>
        </p:txBody>
      </p:sp>
      <p:sp>
        <p:nvSpPr>
          <p:cNvPr id="38" name="Text Box 116"/>
          <p:cNvSpPr txBox="1">
            <a:spLocks noChangeArrowheads="1"/>
          </p:cNvSpPr>
          <p:nvPr/>
        </p:nvSpPr>
        <p:spPr bwMode="auto">
          <a:xfrm>
            <a:off x="8422111" y="2634853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②</a:t>
            </a:r>
          </a:p>
        </p:txBody>
      </p:sp>
      <p:sp>
        <p:nvSpPr>
          <p:cNvPr id="39" name="Text Box 117"/>
          <p:cNvSpPr txBox="1">
            <a:spLocks noChangeArrowheads="1"/>
          </p:cNvSpPr>
          <p:nvPr/>
        </p:nvSpPr>
        <p:spPr bwMode="auto">
          <a:xfrm>
            <a:off x="2441046" y="3567984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42" name="Text Box 118"/>
          <p:cNvSpPr txBox="1">
            <a:spLocks noChangeArrowheads="1"/>
          </p:cNvSpPr>
          <p:nvPr/>
        </p:nvSpPr>
        <p:spPr bwMode="auto">
          <a:xfrm>
            <a:off x="3307821" y="3621959"/>
            <a:ext cx="13004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由②式得</a:t>
            </a:r>
          </a:p>
        </p:txBody>
      </p:sp>
      <p:sp>
        <p:nvSpPr>
          <p:cNvPr id="44" name="Text Box 120"/>
          <p:cNvSpPr txBox="1">
            <a:spLocks noChangeArrowheads="1"/>
          </p:cNvSpPr>
          <p:nvPr/>
        </p:nvSpPr>
        <p:spPr bwMode="auto">
          <a:xfrm>
            <a:off x="8498311" y="3621960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③</a:t>
            </a:r>
          </a:p>
        </p:txBody>
      </p:sp>
      <p:sp>
        <p:nvSpPr>
          <p:cNvPr id="46" name="Text Box 121"/>
          <p:cNvSpPr txBox="1">
            <a:spLocks noChangeArrowheads="1"/>
          </p:cNvSpPr>
          <p:nvPr/>
        </p:nvSpPr>
        <p:spPr bwMode="auto">
          <a:xfrm>
            <a:off x="3307821" y="4421981"/>
            <a:ext cx="22783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代入①式, 化简得</a:t>
            </a:r>
          </a:p>
        </p:txBody>
      </p:sp>
      <p:sp>
        <p:nvSpPr>
          <p:cNvPr id="51" name="Text Box 123"/>
          <p:cNvSpPr txBox="1">
            <a:spLocks noChangeArrowheads="1"/>
          </p:cNvSpPr>
          <p:nvPr/>
        </p:nvSpPr>
        <p:spPr bwMode="auto">
          <a:xfrm>
            <a:off x="3307821" y="5129314"/>
            <a:ext cx="137033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特征方程 </a:t>
            </a:r>
          </a:p>
        </p:txBody>
      </p:sp>
      <p:sp>
        <p:nvSpPr>
          <p:cNvPr id="53" name="Text Box 125"/>
          <p:cNvSpPr txBox="1">
            <a:spLocks noChangeArrowheads="1"/>
          </p:cNvSpPr>
          <p:nvPr/>
        </p:nvSpPr>
        <p:spPr bwMode="auto">
          <a:xfrm>
            <a:off x="3307821" y="5758677"/>
            <a:ext cx="81153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通解 </a:t>
            </a:r>
          </a:p>
        </p:txBody>
      </p:sp>
      <p:sp>
        <p:nvSpPr>
          <p:cNvPr id="55" name="Text Box 127"/>
          <p:cNvSpPr txBox="1">
            <a:spLocks noChangeArrowheads="1"/>
          </p:cNvSpPr>
          <p:nvPr/>
        </p:nvSpPr>
        <p:spPr bwMode="auto">
          <a:xfrm>
            <a:off x="8498311" y="5768340"/>
            <a:ext cx="824865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④</a:t>
            </a:r>
          </a:p>
        </p:txBody>
      </p:sp>
      <p:sp>
        <p:nvSpPr>
          <p:cNvPr id="56" name="标题 1"/>
          <p:cNvSpPr>
            <a:spLocks noGrp="1"/>
          </p:cNvSpPr>
          <p:nvPr/>
        </p:nvSpPr>
        <p:spPr>
          <a:xfrm>
            <a:off x="1487805" y="613569"/>
            <a:ext cx="2120900" cy="538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 举例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307715" y="1865630"/>
            <a:ext cx="2159000" cy="768985"/>
            <a:chOff x="5209" y="2758"/>
            <a:chExt cx="3400" cy="12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2"/>
                <p:cNvSpPr txBox="1"/>
                <p:nvPr/>
              </p:nvSpPr>
              <p:spPr>
                <a:xfrm>
                  <a:off x="5209" y="3329"/>
                  <a:ext cx="3400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解微分方程组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2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9" y="3329"/>
                  <a:ext cx="3400" cy="64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6054" y="2758"/>
              <a:ext cx="603" cy="4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951220" y="1443355"/>
            <a:ext cx="2882265" cy="946150"/>
            <a:chOff x="9372" y="2093"/>
            <a:chExt cx="4539" cy="14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113"/>
                <p:cNvSpPr txBox="1"/>
                <p:nvPr/>
              </p:nvSpPr>
              <p:spPr bwMode="auto">
                <a:xfrm>
                  <a:off x="9372" y="2093"/>
                  <a:ext cx="4539" cy="14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=3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5" name="Object 1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72" y="2093"/>
                  <a:ext cx="4539" cy="14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11739" y="2279"/>
              <a:ext cx="386" cy="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977783" y="2389505"/>
            <a:ext cx="2982807" cy="946150"/>
            <a:chOff x="9372" y="3513"/>
            <a:chExt cx="5012" cy="14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bject 114"/>
                <p:cNvSpPr txBox="1"/>
                <p:nvPr/>
              </p:nvSpPr>
              <p:spPr bwMode="auto">
                <a:xfrm>
                  <a:off x="9372" y="3513"/>
                  <a:ext cx="5012" cy="14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6" name="Object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72" y="3513"/>
                  <a:ext cx="5012" cy="149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11059" y="4673"/>
              <a:ext cx="572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248804" y="3390900"/>
            <a:ext cx="3883025" cy="950595"/>
            <a:chOff x="7692" y="5160"/>
            <a:chExt cx="6115" cy="1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bject 119"/>
                <p:cNvSpPr txBox="1"/>
                <p:nvPr/>
              </p:nvSpPr>
              <p:spPr bwMode="auto">
                <a:xfrm>
                  <a:off x="8840" y="5160"/>
                  <a:ext cx="4967" cy="14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zh-CN" altLang="en-US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（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zh-CN" altLang="en-US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）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3" name="Object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40" y="5160"/>
                  <a:ext cx="4967" cy="149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7692" y="5554"/>
              <a:ext cx="185" cy="4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966989" y="4239260"/>
            <a:ext cx="3308562" cy="1010920"/>
            <a:chOff x="8898" y="6496"/>
            <a:chExt cx="5884" cy="15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bject 122"/>
                <p:cNvSpPr txBox="1"/>
                <p:nvPr/>
              </p:nvSpPr>
              <p:spPr bwMode="auto">
                <a:xfrm>
                  <a:off x="8898" y="6496"/>
                  <a:ext cx="4680" cy="15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func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4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4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4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4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0" name="Object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98" y="6496"/>
                  <a:ext cx="4680" cy="159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4226" y="7098"/>
              <a:ext cx="556" cy="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748020" y="5137785"/>
            <a:ext cx="2481580" cy="549910"/>
            <a:chOff x="9669" y="7911"/>
            <a:chExt cx="3908" cy="8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124"/>
                <p:cNvSpPr txBox="1"/>
                <p:nvPr/>
              </p:nvSpPr>
              <p:spPr bwMode="auto">
                <a:xfrm>
                  <a:off x="10003" y="7911"/>
                  <a:ext cx="3575" cy="8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𝑟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+1=0,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2" name="Object 1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003" y="7911"/>
                  <a:ext cx="3575" cy="86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9669" y="8164"/>
              <a:ext cx="154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669280" y="5758576"/>
            <a:ext cx="2882265" cy="550545"/>
            <a:chOff x="9545" y="8721"/>
            <a:chExt cx="4938" cy="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126"/>
                <p:cNvSpPr txBox="1"/>
                <p:nvPr/>
              </p:nvSpPr>
              <p:spPr bwMode="auto">
                <a:xfrm>
                  <a:off x="10003" y="8721"/>
                  <a:ext cx="4480" cy="8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5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3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en-US" altLang="zh-CN" sz="23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=(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3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3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3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3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4" name="Object 1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003" y="8721"/>
                  <a:ext cx="4480" cy="86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9545" y="9029"/>
              <a:ext cx="247" cy="2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  <p:bldP spid="37" grpId="0"/>
      <p:bldP spid="38" grpId="0"/>
      <p:bldP spid="39" grpId="0" bldLvl="0" animBg="1"/>
      <p:bldP spid="42" grpId="0" animBg="1"/>
      <p:bldP spid="44" grpId="0" animBg="1"/>
      <p:bldP spid="46" grpId="0" animBg="1"/>
      <p:bldP spid="51" grpId="0" animBg="1"/>
      <p:bldP spid="53" grpId="0" animBg="1"/>
      <p:bldP spid="55" grpId="0" animBg="1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87324" y="809625"/>
            <a:ext cx="10817225" cy="51873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809625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80962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32503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30516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415" name="Text Box 23"/>
          <p:cNvSpPr txBox="1">
            <a:spLocks noChangeArrowheads="1"/>
          </p:cNvSpPr>
          <p:nvPr/>
        </p:nvSpPr>
        <p:spPr bwMode="auto">
          <a:xfrm>
            <a:off x="2229485" y="2881948"/>
            <a:ext cx="19989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将④代入③, 得</a:t>
            </a:r>
            <a:endParaRPr kumimoji="1"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7" name="Text Box 25"/>
          <p:cNvSpPr txBox="1">
            <a:spLocks noChangeArrowheads="1"/>
          </p:cNvSpPr>
          <p:nvPr/>
        </p:nvSpPr>
        <p:spPr bwMode="auto">
          <a:xfrm>
            <a:off x="8332153" y="2881948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⑤</a:t>
            </a:r>
          </a:p>
        </p:txBody>
      </p:sp>
      <p:sp>
        <p:nvSpPr>
          <p:cNvPr id="59418" name="Text Box 26"/>
          <p:cNvSpPr txBox="1">
            <a:spLocks noChangeArrowheads="1"/>
          </p:cNvSpPr>
          <p:nvPr/>
        </p:nvSpPr>
        <p:spPr bwMode="auto">
          <a:xfrm>
            <a:off x="2229485" y="3805873"/>
            <a:ext cx="15798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原方程通解</a:t>
            </a:r>
          </a:p>
        </p:txBody>
      </p:sp>
      <p:grpSp>
        <p:nvGrpSpPr>
          <p:cNvPr id="59429" name="Group 37"/>
          <p:cNvGrpSpPr/>
          <p:nvPr/>
        </p:nvGrpSpPr>
        <p:grpSpPr bwMode="auto">
          <a:xfrm>
            <a:off x="4857116" y="4183698"/>
            <a:ext cx="4270376" cy="1357312"/>
            <a:chOff x="1458" y="2313"/>
            <a:chExt cx="2690" cy="8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19" name="Object 27"/>
                <p:cNvSpPr txBox="1"/>
                <p:nvPr/>
              </p:nvSpPr>
              <p:spPr bwMode="auto">
                <a:xfrm>
                  <a:off x="1584" y="2313"/>
                  <a:ext cx="1972" cy="3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=(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, 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9419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84" y="2313"/>
                  <a:ext cx="1972" cy="310"/>
                </a:xfrm>
                <a:prstGeom prst="rect">
                  <a:avLst/>
                </a:prstGeom>
                <a:blipFill>
                  <a:blip r:embed="rId3"/>
                  <a:stretch>
                    <a:fillRect b="-370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20" name="Object 28"/>
                <p:cNvSpPr txBox="1"/>
                <p:nvPr/>
              </p:nvSpPr>
              <p:spPr bwMode="auto">
                <a:xfrm>
                  <a:off x="1584" y="2635"/>
                  <a:ext cx="2564" cy="5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. 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9420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84" y="2635"/>
                  <a:ext cx="2564" cy="53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421" name="AutoShape 29"/>
            <p:cNvSpPr/>
            <p:nvPr/>
          </p:nvSpPr>
          <p:spPr bwMode="auto">
            <a:xfrm>
              <a:off x="1458" y="2448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423" name="Object 31"/>
              <p:cNvSpPr txBox="1"/>
              <p:nvPr/>
            </p:nvSpPr>
            <p:spPr bwMode="auto">
              <a:xfrm>
                <a:off x="2229485" y="1461135"/>
                <a:ext cx="25146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200" dirty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9423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9485" y="1461135"/>
                <a:ext cx="2514600" cy="850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24" name="Text Box 32"/>
          <p:cNvSpPr txBox="1">
            <a:spLocks noChangeArrowheads="1"/>
          </p:cNvSpPr>
          <p:nvPr/>
        </p:nvSpPr>
        <p:spPr bwMode="auto">
          <a:xfrm>
            <a:off x="4415472" y="1659573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25" name="Object 33"/>
              <p:cNvSpPr txBox="1"/>
              <p:nvPr/>
            </p:nvSpPr>
            <p:spPr bwMode="auto">
              <a:xfrm>
                <a:off x="5499100" y="1619885"/>
                <a:ext cx="298196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=(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</m:e>
                      </m:func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9425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9100" y="1619885"/>
                <a:ext cx="2981960" cy="53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26" name="Text Box 34"/>
          <p:cNvSpPr txBox="1">
            <a:spLocks noChangeArrowheads="1"/>
          </p:cNvSpPr>
          <p:nvPr/>
        </p:nvSpPr>
        <p:spPr bwMode="auto">
          <a:xfrm>
            <a:off x="8306753" y="1659573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④</a:t>
            </a:r>
          </a:p>
        </p:txBody>
      </p:sp>
      <p:sp>
        <p:nvSpPr>
          <p:cNvPr id="59427" name="Line 35"/>
          <p:cNvSpPr>
            <a:spLocks noChangeShapeType="1"/>
          </p:cNvSpPr>
          <p:nvPr/>
        </p:nvSpPr>
        <p:spPr bwMode="auto">
          <a:xfrm>
            <a:off x="1676400" y="2419985"/>
            <a:ext cx="8839200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580255" y="2724785"/>
            <a:ext cx="3973830" cy="887730"/>
            <a:chOff x="7213" y="4051"/>
            <a:chExt cx="6258" cy="13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16" name="Object 24"/>
                <p:cNvSpPr txBox="1"/>
                <p:nvPr/>
              </p:nvSpPr>
              <p:spPr bwMode="auto">
                <a:xfrm>
                  <a:off x="7471" y="4051"/>
                  <a:ext cx="6000" cy="139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9416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71" y="4051"/>
                  <a:ext cx="6000" cy="139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剪去单角的矩形 1"/>
            <p:cNvSpPr/>
            <p:nvPr/>
          </p:nvSpPr>
          <p:spPr>
            <a:xfrm>
              <a:off x="7213" y="4473"/>
              <a:ext cx="232" cy="463"/>
            </a:xfrm>
            <a:prstGeom prst="snip1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15" grpId="0" animBg="1"/>
      <p:bldP spid="59417" grpId="0" animBg="1"/>
      <p:bldP spid="594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3175" y="3810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31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0468" name="Text Box 52"/>
          <p:cNvSpPr txBox="1">
            <a:spLocks noChangeArrowheads="1"/>
          </p:cNvSpPr>
          <p:nvPr/>
        </p:nvSpPr>
        <p:spPr bwMode="auto">
          <a:xfrm>
            <a:off x="2865506" y="830749"/>
            <a:ext cx="22860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原方程通解</a:t>
            </a:r>
          </a:p>
        </p:txBody>
      </p:sp>
      <p:grpSp>
        <p:nvGrpSpPr>
          <p:cNvPr id="60488" name="Group 72"/>
          <p:cNvGrpSpPr/>
          <p:nvPr/>
        </p:nvGrpSpPr>
        <p:grpSpPr bwMode="auto">
          <a:xfrm>
            <a:off x="4732406" y="467846"/>
            <a:ext cx="3810000" cy="1219200"/>
            <a:chOff x="1872" y="240"/>
            <a:chExt cx="2608" cy="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69" name="Object 53"/>
                <p:cNvSpPr txBox="1"/>
                <p:nvPr/>
              </p:nvSpPr>
              <p:spPr bwMode="auto">
                <a:xfrm>
                  <a:off x="2018" y="240"/>
                  <a:ext cx="1913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=(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 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0469" name="Object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8" y="240"/>
                  <a:ext cx="1913" cy="336"/>
                </a:xfrm>
                <a:prstGeom prst="rect">
                  <a:avLst/>
                </a:prstGeom>
                <a:blipFill>
                  <a:blip r:embed="rId3"/>
                  <a:stretch>
                    <a:fillRect b="-1506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70" name="Object 54"/>
                <p:cNvSpPr txBox="1"/>
                <p:nvPr/>
              </p:nvSpPr>
              <p:spPr bwMode="auto">
                <a:xfrm>
                  <a:off x="2000" y="616"/>
                  <a:ext cx="2480" cy="5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+2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 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0470" name="Objec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00" y="616"/>
                  <a:ext cx="2480" cy="53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471" name="AutoShape 55"/>
            <p:cNvSpPr/>
            <p:nvPr/>
          </p:nvSpPr>
          <p:spPr bwMode="auto">
            <a:xfrm>
              <a:off x="1872" y="384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474" name="Text Box 58"/>
              <p:cNvSpPr txBox="1">
                <a:spLocks noChangeArrowheads="1"/>
              </p:cNvSpPr>
              <p:nvPr/>
            </p:nvSpPr>
            <p:spPr bwMode="auto">
              <a:xfrm>
                <a:off x="2318136" y="1786106"/>
                <a:ext cx="335194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hangingPunct="0"/>
                <a:r>
                  <a:rPr kumimoji="1" lang="zh-CN" altLang="en-US" sz="2800" noProof="0" dirty="0">
                    <a:ln>
                      <a:noFill/>
                    </a:ln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(1)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不能由①式求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, </a:t>
                </a:r>
              </a:p>
            </p:txBody>
          </p:sp>
        </mc:Choice>
        <mc:Fallback xmlns="">
          <p:sp>
            <p:nvSpPr>
              <p:cNvPr id="60474" name="Text 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8136" y="1786106"/>
                <a:ext cx="3351943" cy="523220"/>
              </a:xfrm>
              <a:prstGeom prst="rect">
                <a:avLst/>
              </a:prstGeom>
              <a:blipFill>
                <a:blip r:embed="rId5"/>
                <a:stretch>
                  <a:fillRect l="-3636" t="-16279" r="-545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5" name="Text Box 59"/>
          <p:cNvSpPr txBox="1">
            <a:spLocks noChangeArrowheads="1"/>
          </p:cNvSpPr>
          <p:nvPr/>
        </p:nvSpPr>
        <p:spPr bwMode="auto">
          <a:xfrm>
            <a:off x="5476017" y="1800394"/>
            <a:ext cx="46278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因为那将引入新的任意常数, </a:t>
            </a:r>
          </a:p>
        </p:txBody>
      </p:sp>
      <p:sp>
        <p:nvSpPr>
          <p:cNvPr id="60480" name="Text Box 64"/>
          <p:cNvSpPr txBox="1">
            <a:spLocks noChangeArrowheads="1"/>
          </p:cNvSpPr>
          <p:nvPr/>
        </p:nvSpPr>
        <p:spPr bwMode="auto">
          <a:xfrm>
            <a:off x="2318136" y="5205581"/>
            <a:ext cx="487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800" noProof="0" dirty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(3) 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若求方程组满足初值条件</a:t>
            </a:r>
          </a:p>
        </p:txBody>
      </p:sp>
      <p:sp>
        <p:nvSpPr>
          <p:cNvPr id="60486" name="Text Box 70"/>
          <p:cNvSpPr txBox="1">
            <a:spLocks noChangeArrowheads="1"/>
          </p:cNvSpPr>
          <p:nvPr/>
        </p:nvSpPr>
        <p:spPr bwMode="auto">
          <a:xfrm>
            <a:off x="2318136" y="3161030"/>
            <a:ext cx="830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由通解表达式可见, 其中任意常数间有确定的关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1574800" y="1720850"/>
            <a:ext cx="612775" cy="612775"/>
            <a:chOff x="1601" y="872"/>
            <a:chExt cx="965" cy="965"/>
          </a:xfrm>
        </p:grpSpPr>
        <p:sp>
          <p:nvSpPr>
            <p:cNvPr id="92" name="椭圆 91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93" name="文本框 92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94" name="椭圆 93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476500" y="2511425"/>
            <a:ext cx="8705850" cy="521970"/>
            <a:chOff x="3120" y="4235"/>
            <a:chExt cx="13710" cy="8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76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3732" y="4235"/>
                  <a:ext cx="13098" cy="8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0" hangingPunct="0"/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而它们与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en-US" altLang="zh-CN" sz="28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是不独立的(它们受②式制约). </a:t>
                  </a:r>
                </a:p>
              </p:txBody>
            </p:sp>
          </mc:Choice>
          <mc:Fallback xmlns="">
            <p:sp>
              <p:nvSpPr>
                <p:cNvPr id="60476" name="Text 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32" y="4235"/>
                  <a:ext cx="13098" cy="822"/>
                </a:xfrm>
                <a:prstGeom prst="rect">
                  <a:avLst/>
                </a:prstGeom>
                <a:blipFill>
                  <a:blip r:embed="rId6"/>
                  <a:stretch>
                    <a:fillRect l="-1466" t="-15116" b="-3139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3120" y="4290"/>
              <a:ext cx="401" cy="2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437130" y="3819525"/>
            <a:ext cx="9155430" cy="612140"/>
            <a:chOff x="3058" y="6175"/>
            <a:chExt cx="14418" cy="9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89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3676" y="6317"/>
                  <a:ext cx="13800" cy="8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0" hangingPunct="0">
                    <a:spcBef>
                      <a:spcPct val="50000"/>
                    </a:spcBef>
                  </a:pPr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系, 因此</a:t>
                  </a:r>
                  <a14:m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的表达式中</a:t>
                  </a:r>
                  <a:r>
                    <a:rPr kumimoji="1" lang="en-US" altLang="zh-CN" sz="28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, 2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en-US" altLang="zh-CN" sz="28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rPr>
                    <a:t>+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不能用另一任意常数</a:t>
                  </a:r>
                </a:p>
              </p:txBody>
            </p:sp>
          </mc:Choice>
          <mc:Fallback xmlns="">
            <p:sp>
              <p:nvSpPr>
                <p:cNvPr id="60489" name="Text 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76" y="6317"/>
                  <a:ext cx="13800" cy="822"/>
                </a:xfrm>
                <a:prstGeom prst="rect">
                  <a:avLst/>
                </a:prstGeom>
                <a:blipFill>
                  <a:blip r:embed="rId7"/>
                  <a:stretch>
                    <a:fillRect l="-1391" t="-15116" b="-3139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3058" y="6175"/>
              <a:ext cx="432" cy="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829560" y="4463415"/>
            <a:ext cx="5257800" cy="700405"/>
            <a:chOff x="3676" y="6969"/>
            <a:chExt cx="8280" cy="11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90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676" y="6969"/>
                  <a:ext cx="8280" cy="11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0" hangingPunct="0"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代替, 系数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800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也不能去掉.</a:t>
                  </a:r>
                </a:p>
              </p:txBody>
            </p:sp>
          </mc:Choice>
          <mc:Fallback xmlns="">
            <p:sp>
              <p:nvSpPr>
                <p:cNvPr id="60490" name="Text 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76" y="6969"/>
                  <a:ext cx="8280" cy="1103"/>
                </a:xfrm>
                <a:prstGeom prst="rect">
                  <a:avLst/>
                </a:prstGeom>
                <a:blipFill>
                  <a:blip r:embed="rId8"/>
                  <a:stretch>
                    <a:fillRect t="-870" b="-956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1044" y="7101"/>
              <a:ext cx="401" cy="1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915785" y="5239385"/>
            <a:ext cx="4782820" cy="508000"/>
            <a:chOff x="10111" y="7711"/>
            <a:chExt cx="7532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81" name="Object 65"/>
                <p:cNvSpPr txBox="1"/>
                <p:nvPr/>
              </p:nvSpPr>
              <p:spPr bwMode="auto">
                <a:xfrm>
                  <a:off x="10111" y="7711"/>
                  <a:ext cx="7532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, 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0481" name="Object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111" y="7711"/>
                  <a:ext cx="7532" cy="800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5940" y="8075"/>
              <a:ext cx="494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865120" y="5704840"/>
            <a:ext cx="7137400" cy="635635"/>
            <a:chOff x="3732" y="8924"/>
            <a:chExt cx="11240" cy="10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82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732" y="9103"/>
                  <a:ext cx="11240" cy="8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eaLnBrk="0" hangingPunct="0">
                    <a:buClrTx/>
                    <a:buSzTx/>
                    <a:buFontTx/>
                  </a:pPr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的特解, 只需代入通解确定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en-US" altLang="zh-CN" sz="2800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  <a:sym typeface="+mn-ea"/>
                    </a:rPr>
                    <a:t> 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即可.</a:t>
                  </a:r>
                </a:p>
              </p:txBody>
            </p:sp>
          </mc:Choice>
          <mc:Fallback xmlns="">
            <p:sp>
              <p:nvSpPr>
                <p:cNvPr id="60482" name="Text 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32" y="9103"/>
                  <a:ext cx="11240" cy="822"/>
                </a:xfrm>
                <a:prstGeom prst="rect">
                  <a:avLst/>
                </a:prstGeom>
                <a:blipFill>
                  <a:blip r:embed="rId10"/>
                  <a:stretch>
                    <a:fillRect l="-1708" t="-16279" b="-3139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1800" y="8924"/>
              <a:ext cx="696" cy="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6EA7817-76AC-5913-6D4E-699AFB4BBD29}"/>
              </a:ext>
            </a:extLst>
          </p:cNvPr>
          <p:cNvGrpSpPr/>
          <p:nvPr/>
        </p:nvGrpSpPr>
        <p:grpSpPr>
          <a:xfrm>
            <a:off x="173397" y="239357"/>
            <a:ext cx="11776668" cy="6414808"/>
            <a:chOff x="173397" y="239357"/>
            <a:chExt cx="11776668" cy="6414808"/>
          </a:xfrm>
        </p:grpSpPr>
        <p:sp>
          <p:nvSpPr>
            <p:cNvPr id="34" name="Rectangle 1">
              <a:extLst>
                <a:ext uri="{FF2B5EF4-FFF2-40B4-BE49-F238E27FC236}">
                  <a16:creationId xmlns:a16="http://schemas.microsoft.com/office/drawing/2014/main" id="{D490A58E-8ED5-DA1A-7D2D-6C99720025F8}"/>
                </a:ext>
              </a:extLst>
            </p:cNvPr>
            <p:cNvSpPr/>
            <p:nvPr/>
          </p:nvSpPr>
          <p:spPr>
            <a:xfrm>
              <a:off x="367168" y="6449446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44C54540-81B3-69C1-BDFD-093CC0111B74}"/>
                </a:ext>
              </a:extLst>
            </p:cNvPr>
            <p:cNvSpPr/>
            <p:nvPr/>
          </p:nvSpPr>
          <p:spPr>
            <a:xfrm rot="2659048">
              <a:off x="10114638" y="299138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5EDDE09-F5B5-00BD-B373-F05B4BA8AFBC}"/>
                </a:ext>
              </a:extLst>
            </p:cNvPr>
            <p:cNvSpPr/>
            <p:nvPr/>
          </p:nvSpPr>
          <p:spPr>
            <a:xfrm>
              <a:off x="605790" y="6347460"/>
              <a:ext cx="425831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常系数线性微分方程组解法举例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187DF2C-DBA8-8C03-BBC0-715560297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2603" y="6494719"/>
              <a:ext cx="7887462" cy="122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A9C01A98-4BAC-C13A-5BC4-3955EA3BB2B9}"/>
                </a:ext>
              </a:extLst>
            </p:cNvPr>
            <p:cNvCxnSpPr>
              <a:cxnSpLocks/>
            </p:cNvCxnSpPr>
            <p:nvPr/>
          </p:nvCxnSpPr>
          <p:spPr>
            <a:xfrm>
              <a:off x="173397" y="332165"/>
              <a:ext cx="9726603" cy="27842"/>
            </a:xfrm>
            <a:prstGeom prst="line">
              <a:avLst/>
            </a:prstGeom>
            <a:ln w="0"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01508B4-3244-A0A1-6066-EBFFED6F41E1}"/>
                </a:ext>
              </a:extLst>
            </p:cNvPr>
            <p:cNvSpPr/>
            <p:nvPr/>
          </p:nvSpPr>
          <p:spPr>
            <a:xfrm>
              <a:off x="10352754" y="239357"/>
              <a:ext cx="1585595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第七章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68" grpId="0"/>
      <p:bldP spid="60474" grpId="0"/>
      <p:bldP spid="60475" grpId="0" animBg="1"/>
      <p:bldP spid="60480" grpId="0"/>
      <p:bldP spid="604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709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8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半闭框 20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半闭框 1"/>
          <p:cNvSpPr/>
          <p:nvPr/>
        </p:nvSpPr>
        <p:spPr>
          <a:xfrm flipH="1" flipV="1">
            <a:off x="10715625" y="5662930"/>
            <a:ext cx="796290" cy="673735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2507937" y="1474350"/>
            <a:ext cx="31019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 </a:t>
            </a:r>
            <a:r>
              <a:rPr kumimoji="1"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解微分方程组 </a:t>
            </a:r>
          </a:p>
        </p:txBody>
      </p:sp>
      <p:sp>
        <p:nvSpPr>
          <p:cNvPr id="62470" name="AutoShape 6"/>
          <p:cNvSpPr/>
          <p:nvPr/>
        </p:nvSpPr>
        <p:spPr bwMode="auto">
          <a:xfrm>
            <a:off x="5669217" y="855185"/>
            <a:ext cx="193675" cy="1800225"/>
          </a:xfrm>
          <a:prstGeom prst="leftBrace">
            <a:avLst>
              <a:gd name="adj1" fmla="val 77459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71" name="Object 7"/>
              <p:cNvSpPr txBox="1"/>
              <p:nvPr/>
            </p:nvSpPr>
            <p:spPr bwMode="auto">
              <a:xfrm>
                <a:off x="5857875" y="788530"/>
                <a:ext cx="4302125" cy="929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800" i="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</m:den>
                      </m:f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247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7875" y="788530"/>
                <a:ext cx="4302125" cy="9290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72" name="Object 8"/>
              <p:cNvSpPr txBox="1"/>
              <p:nvPr/>
            </p:nvSpPr>
            <p:spPr bwMode="auto">
              <a:xfrm>
                <a:off x="5861050" y="1791830"/>
                <a:ext cx="3538855" cy="1115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fName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800" i="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en-US" altLang="zh-CN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</m:den>
                      </m:f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8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=0 .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247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1050" y="1791830"/>
                <a:ext cx="3538855" cy="11156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2507937" y="2923540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62475" name="Text Box 11"/>
          <p:cNvSpPr txBox="1">
            <a:spLocks noChangeArrowheads="1"/>
          </p:cNvSpPr>
          <p:nvPr/>
        </p:nvSpPr>
        <p:spPr bwMode="auto">
          <a:xfrm>
            <a:off x="4617402" y="2984520"/>
            <a:ext cx="21386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则方程组可表为</a:t>
            </a:r>
          </a:p>
        </p:txBody>
      </p:sp>
      <p:sp>
        <p:nvSpPr>
          <p:cNvPr id="62476" name="AutoShape 12"/>
          <p:cNvSpPr/>
          <p:nvPr/>
        </p:nvSpPr>
        <p:spPr bwMode="auto">
          <a:xfrm>
            <a:off x="4856307" y="3610631"/>
            <a:ext cx="142875" cy="911225"/>
          </a:xfrm>
          <a:prstGeom prst="leftBrace">
            <a:avLst>
              <a:gd name="adj1" fmla="val 53148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79" name="Text Box 15"/>
          <p:cNvSpPr txBox="1">
            <a:spLocks noChangeArrowheads="1"/>
          </p:cNvSpPr>
          <p:nvPr/>
        </p:nvSpPr>
        <p:spPr bwMode="auto">
          <a:xfrm>
            <a:off x="8145606" y="3560465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⑥</a:t>
            </a:r>
          </a:p>
        </p:txBody>
      </p:sp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8155131" y="4135140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⑦</a:t>
            </a:r>
          </a:p>
        </p:txBody>
      </p:sp>
      <p:sp>
        <p:nvSpPr>
          <p:cNvPr id="62481" name="Text Box 17"/>
          <p:cNvSpPr txBox="1">
            <a:spLocks noChangeArrowheads="1"/>
          </p:cNvSpPr>
          <p:nvPr/>
        </p:nvSpPr>
        <p:spPr bwMode="auto">
          <a:xfrm>
            <a:off x="3248607" y="4760989"/>
            <a:ext cx="45368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根据解线性方程组的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克拉默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法则, 有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7187565" y="5304155"/>
            <a:ext cx="2559685" cy="1139825"/>
            <a:chOff x="11019" y="7953"/>
            <a:chExt cx="4031" cy="17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83" name="Object 19"/>
                <p:cNvSpPr txBox="1"/>
                <p:nvPr/>
              </p:nvSpPr>
              <p:spPr bwMode="auto">
                <a:xfrm>
                  <a:off x="11019" y="8157"/>
                  <a:ext cx="1577" cy="7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2483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19" y="8157"/>
                  <a:ext cx="1577" cy="786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84" name="Object 20"/>
                <p:cNvSpPr txBox="1"/>
                <p:nvPr/>
              </p:nvSpPr>
              <p:spPr bwMode="auto">
                <a:xfrm>
                  <a:off x="11930" y="7953"/>
                  <a:ext cx="3120" cy="17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 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kumimoji="1" lang="en-US" altLang="zh-CN" sz="2200" i="1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zh-CN" sz="2200" i="0" dirty="0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D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zh-CN" sz="2200" dirty="0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</m:e>
                                  </m:func>
                                  <m:r>
                                    <a:rPr kumimoji="1" lang="en-US" altLang="zh-CN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e>
                                <m:e>
                                  <m:func>
                                    <m:funcPr>
                                      <m:ctrlPr>
                                        <a:rPr kumimoji="1" lang="en-US" altLang="zh-CN" sz="2200" i="1" dirty="0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kumimoji="1" lang="en-US" altLang="zh-CN" sz="2200" i="1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zh-CN" sz="2200" i="0" dirty="0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e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zh-CN" sz="2200" dirty="0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𝑡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kumimoji="1" lang="en-US" altLang="zh-CN" sz="2200" b="0" i="1" dirty="0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200" i="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2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         </m:t>
                                  </m:r>
                                </m:e>
                                <m:e>
                                  <m:r>
                                    <a:rPr kumimoji="1" lang="en-US" altLang="zh-CN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kumimoji="1" lang="en-US" altLang="zh-CN" sz="2200" b="0" i="0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   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2484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930" y="7953"/>
                  <a:ext cx="3120" cy="17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/>
          <p:cNvGrpSpPr/>
          <p:nvPr/>
        </p:nvGrpSpPr>
        <p:grpSpPr>
          <a:xfrm>
            <a:off x="3248660" y="2785110"/>
            <a:ext cx="2747645" cy="866140"/>
            <a:chOff x="4816" y="4066"/>
            <a:chExt cx="4327" cy="1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74" name="Object 10"/>
                <p:cNvSpPr txBox="1"/>
                <p:nvPr/>
              </p:nvSpPr>
              <p:spPr bwMode="auto">
                <a:xfrm>
                  <a:off x="4816" y="4066"/>
                  <a:ext cx="4327" cy="13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记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=</m:t>
                            </m:r>
                          </m:e>
                        </m:func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2474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16" y="4066"/>
                  <a:ext cx="4327" cy="13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5019" y="5044"/>
              <a:ext cx="402" cy="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75555" y="3408045"/>
            <a:ext cx="3360420" cy="630555"/>
            <a:chOff x="7693" y="4967"/>
            <a:chExt cx="5292" cy="9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77" name="Object 13"/>
                <p:cNvSpPr txBox="1"/>
                <p:nvPr/>
              </p:nvSpPr>
              <p:spPr bwMode="auto">
                <a:xfrm>
                  <a:off x="7693" y="5164"/>
                  <a:ext cx="5293" cy="7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1)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2477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93" y="5164"/>
                  <a:ext cx="5293" cy="797"/>
                </a:xfrm>
                <a:prstGeom prst="rect">
                  <a:avLst/>
                </a:prstGeom>
                <a:blipFill>
                  <a:blip r:embed="rId8"/>
                  <a:stretch>
                    <a:fillRect l="-1270" b="-120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11414" y="4967"/>
              <a:ext cx="263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76825" y="4130040"/>
            <a:ext cx="3215640" cy="505460"/>
            <a:chOff x="7695" y="6104"/>
            <a:chExt cx="5064" cy="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78" name="Object 14"/>
                <p:cNvSpPr txBox="1"/>
                <p:nvPr/>
              </p:nvSpPr>
              <p:spPr bwMode="auto">
                <a:xfrm>
                  <a:off x="7695" y="6104"/>
                  <a:ext cx="5064" cy="7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1)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=0 .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2478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95" y="6104"/>
                  <a:ext cx="5064" cy="797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1955" y="6697"/>
              <a:ext cx="510" cy="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505960" y="5304790"/>
            <a:ext cx="2593975" cy="1028700"/>
            <a:chOff x="6796" y="7954"/>
            <a:chExt cx="4085" cy="1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82" name="Object 18"/>
                <p:cNvSpPr txBox="1"/>
                <p:nvPr/>
              </p:nvSpPr>
              <p:spPr bwMode="auto">
                <a:xfrm>
                  <a:off x="7401" y="7954"/>
                  <a:ext cx="3480" cy="1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 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kumimoji="1" lang="en-US" altLang="zh-CN" sz="2200" i="1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zh-CN" sz="2200" i="0" dirty="0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D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zh-CN" sz="2200" dirty="0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</m:e>
                                  </m:func>
                                  <m:r>
                                    <a:rPr kumimoji="1" lang="en-US" altLang="zh-CN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200" i="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D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200" i="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200" b="0" i="0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         </m:t>
                                  </m:r>
                                </m:e>
                                <m:e>
                                  <m:func>
                                    <m:func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kumimoji="1" lang="en-US" altLang="zh-CN" sz="2200" i="1" dirty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zh-CN" sz="2200" i="0" dirty="0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D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zh-CN" sz="2200" dirty="0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kumimoji="1" lang="en-US" altLang="zh-CN" sz="2200" dirty="0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+</m:t>
                                      </m:r>
                                    </m:e>
                                  </m:func>
                                  <m:r>
                                    <a:rPr kumimoji="1" lang="en-US" altLang="zh-CN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2482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01" y="7954"/>
                  <a:ext cx="3480" cy="16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6796" y="8365"/>
              <a:ext cx="370" cy="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3" grpId="0" animBg="1"/>
      <p:bldP spid="62475" grpId="0" animBg="1"/>
      <p:bldP spid="62476" grpId="0" animBg="1"/>
      <p:bldP spid="62479" grpId="0" animBg="1"/>
      <p:bldP spid="62480" grpId="0" animBg="1"/>
      <p:bldP spid="6248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301240" y="5441950"/>
            <a:ext cx="7579995" cy="603250"/>
            <a:chOff x="2764" y="8490"/>
            <a:chExt cx="11937" cy="9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21" name="Object 33"/>
                <p:cNvSpPr txBox="1"/>
                <p:nvPr/>
              </p:nvSpPr>
              <p:spPr bwMode="auto">
                <a:xfrm>
                  <a:off x="3603" y="8490"/>
                  <a:ext cx="11098" cy="9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𝛼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</m:e>
                        </m:func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𝛼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</m:e>
                        </m:func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𝛽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𝛽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3521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3" y="8490"/>
                  <a:ext cx="11098" cy="950"/>
                </a:xfrm>
                <a:prstGeom prst="rect">
                  <a:avLst/>
                </a:prstGeom>
                <a:blipFill>
                  <a:blip r:embed="rId3"/>
                  <a:stretch>
                    <a:fillRect l="-1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2764" y="8659"/>
              <a:ext cx="340" cy="4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49" name="半闭框 48"/>
          <p:cNvSpPr/>
          <p:nvPr/>
        </p:nvSpPr>
        <p:spPr>
          <a:xfrm flipH="1">
            <a:off x="10823530" y="53709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8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半闭框 20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半闭框 1"/>
          <p:cNvSpPr/>
          <p:nvPr/>
        </p:nvSpPr>
        <p:spPr>
          <a:xfrm flipH="1" flipV="1">
            <a:off x="10715625" y="5662930"/>
            <a:ext cx="796290" cy="673735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3500" name="Text Box 12"/>
          <p:cNvSpPr txBox="1">
            <a:spLocks noChangeArrowheads="1"/>
          </p:cNvSpPr>
          <p:nvPr/>
        </p:nvSpPr>
        <p:spPr bwMode="auto">
          <a:xfrm>
            <a:off x="2776132" y="1089661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即</a:t>
            </a:r>
            <a:endParaRPr kumimoji="1"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01" name="Object 13"/>
              <p:cNvSpPr txBox="1"/>
              <p:nvPr/>
            </p:nvSpPr>
            <p:spPr bwMode="auto">
              <a:xfrm>
                <a:off x="4537710" y="1075055"/>
                <a:ext cx="3206750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</m:e>
                      </m:func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</m:e>
                      </m:func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1)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2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 .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350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7710" y="1075055"/>
                <a:ext cx="3206750" cy="571500"/>
              </a:xfrm>
              <a:prstGeom prst="rect">
                <a:avLst/>
              </a:prstGeom>
              <a:blipFill>
                <a:blip r:embed="rId4"/>
                <a:stretch>
                  <a:fillRect l="-11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02" name="Text Box 14"/>
          <p:cNvSpPr txBox="1">
            <a:spLocks noChangeArrowheads="1"/>
          </p:cNvSpPr>
          <p:nvPr/>
        </p:nvSpPr>
        <p:spPr bwMode="auto">
          <a:xfrm>
            <a:off x="2776132" y="1831023"/>
            <a:ext cx="164973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其特征方程 </a:t>
            </a:r>
          </a:p>
        </p:txBody>
      </p:sp>
      <p:sp>
        <p:nvSpPr>
          <p:cNvPr id="63504" name="Text Box 16"/>
          <p:cNvSpPr txBox="1">
            <a:spLocks noChangeArrowheads="1"/>
          </p:cNvSpPr>
          <p:nvPr/>
        </p:nvSpPr>
        <p:spPr bwMode="auto">
          <a:xfrm>
            <a:off x="2776132" y="2605088"/>
            <a:ext cx="10210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特征根</a:t>
            </a:r>
          </a:p>
        </p:txBody>
      </p:sp>
      <p:grpSp>
        <p:nvGrpSpPr>
          <p:cNvPr id="63507" name="Group 19"/>
          <p:cNvGrpSpPr/>
          <p:nvPr/>
        </p:nvGrpSpPr>
        <p:grpSpPr bwMode="auto">
          <a:xfrm>
            <a:off x="7017303" y="2478408"/>
            <a:ext cx="466726" cy="512763"/>
            <a:chOff x="2112" y="1645"/>
            <a:chExt cx="294" cy="323"/>
          </a:xfrm>
        </p:grpSpPr>
        <p:sp>
          <p:nvSpPr>
            <p:cNvPr id="63508" name="Text Box 20"/>
            <p:cNvSpPr txBox="1">
              <a:spLocks noChangeArrowheads="1"/>
            </p:cNvSpPr>
            <p:nvPr/>
          </p:nvSpPr>
          <p:spPr bwMode="auto">
            <a:xfrm>
              <a:off x="2112" y="1645"/>
              <a:ext cx="29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hangingPunct="0"/>
              <a:r>
                <a:rPr kumimoji="1" lang="zh-CN" altLang="en-US" sz="220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记</a:t>
              </a:r>
            </a:p>
          </p:txBody>
        </p:sp>
        <p:sp>
          <p:nvSpPr>
            <p:cNvPr id="63509" name="Line 21"/>
            <p:cNvSpPr>
              <a:spLocks noChangeShapeType="1"/>
            </p:cNvSpPr>
            <p:nvPr/>
          </p:nvSpPr>
          <p:spPr bwMode="auto">
            <a:xfrm>
              <a:off x="2153" y="192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10" name="Line 22"/>
            <p:cNvSpPr>
              <a:spLocks noChangeShapeType="1"/>
            </p:cNvSpPr>
            <p:nvPr/>
          </p:nvSpPr>
          <p:spPr bwMode="auto">
            <a:xfrm>
              <a:off x="2153" y="196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512" name="Group 24"/>
          <p:cNvGrpSpPr/>
          <p:nvPr/>
        </p:nvGrpSpPr>
        <p:grpSpPr bwMode="auto">
          <a:xfrm>
            <a:off x="7106838" y="3670303"/>
            <a:ext cx="466726" cy="512763"/>
            <a:chOff x="2112" y="1645"/>
            <a:chExt cx="294" cy="323"/>
          </a:xfrm>
        </p:grpSpPr>
        <p:sp>
          <p:nvSpPr>
            <p:cNvPr id="63513" name="Text Box 25"/>
            <p:cNvSpPr txBox="1">
              <a:spLocks noChangeArrowheads="1"/>
            </p:cNvSpPr>
            <p:nvPr/>
          </p:nvSpPr>
          <p:spPr bwMode="auto">
            <a:xfrm>
              <a:off x="2112" y="1645"/>
              <a:ext cx="29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hangingPunct="0"/>
              <a:r>
                <a:rPr kumimoji="1" lang="zh-CN" altLang="en-US" sz="220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记</a:t>
              </a:r>
              <a:endParaRPr kumimoji="1" lang="zh-CN" altLang="en-US" sz="22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3514" name="Line 26"/>
            <p:cNvSpPr>
              <a:spLocks noChangeShapeType="1"/>
            </p:cNvSpPr>
            <p:nvPr/>
          </p:nvSpPr>
          <p:spPr bwMode="auto">
            <a:xfrm>
              <a:off x="2153" y="192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15" name="Line 27"/>
            <p:cNvSpPr>
              <a:spLocks noChangeShapeType="1"/>
            </p:cNvSpPr>
            <p:nvPr/>
          </p:nvSpPr>
          <p:spPr bwMode="auto">
            <a:xfrm>
              <a:off x="2153" y="196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3517" name="Text Box 29"/>
          <p:cNvSpPr txBox="1">
            <a:spLocks noChangeArrowheads="1"/>
          </p:cNvSpPr>
          <p:nvPr/>
        </p:nvSpPr>
        <p:spPr bwMode="auto">
          <a:xfrm>
            <a:off x="8859431" y="1125855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⑧</a:t>
            </a:r>
          </a:p>
        </p:txBody>
      </p:sp>
      <p:sp>
        <p:nvSpPr>
          <p:cNvPr id="63520" name="Text Box 32"/>
          <p:cNvSpPr txBox="1">
            <a:spLocks noChangeArrowheads="1"/>
          </p:cNvSpPr>
          <p:nvPr/>
        </p:nvSpPr>
        <p:spPr bwMode="auto">
          <a:xfrm>
            <a:off x="6657342" y="4719955"/>
            <a:ext cx="192913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故得⑧的通解 </a:t>
            </a:r>
          </a:p>
        </p:txBody>
      </p:sp>
      <p:sp>
        <p:nvSpPr>
          <p:cNvPr id="63522" name="Text Box 34"/>
          <p:cNvSpPr txBox="1">
            <a:spLocks noChangeArrowheads="1"/>
          </p:cNvSpPr>
          <p:nvPr/>
        </p:nvSpPr>
        <p:spPr bwMode="auto">
          <a:xfrm>
            <a:off x="8859431" y="5432425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⑨</a:t>
            </a:r>
            <a:endParaRPr kumimoji="1" lang="en-US" altLang="zh-CN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613999" y="1816735"/>
            <a:ext cx="2441575" cy="571500"/>
            <a:chOff x="6982" y="2741"/>
            <a:chExt cx="3845" cy="9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03" name="Object 15"/>
                <p:cNvSpPr txBox="1"/>
                <p:nvPr/>
              </p:nvSpPr>
              <p:spPr bwMode="auto">
                <a:xfrm>
                  <a:off x="6982" y="2741"/>
                  <a:ext cx="3653" cy="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4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−1=0 ,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3503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2" y="2741"/>
                  <a:ext cx="3653" cy="900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10565" y="2943"/>
              <a:ext cx="262" cy="2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351655" y="2349500"/>
            <a:ext cx="2672715" cy="927100"/>
            <a:chOff x="5993" y="3700"/>
            <a:chExt cx="4209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05" name="Object 17"/>
                <p:cNvSpPr txBox="1"/>
                <p:nvPr/>
              </p:nvSpPr>
              <p:spPr bwMode="auto">
                <a:xfrm>
                  <a:off x="6502" y="3700"/>
                  <a:ext cx="3700" cy="1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1,2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=±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3505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02" y="3700"/>
                  <a:ext cx="3700" cy="1460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5993" y="4364"/>
              <a:ext cx="293" cy="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514590" y="2707634"/>
            <a:ext cx="1470025" cy="477832"/>
            <a:chOff x="11354" y="4264"/>
            <a:chExt cx="2315" cy="7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11" name="Object 23"/>
                <p:cNvSpPr txBox="1"/>
                <p:nvPr/>
              </p:nvSpPr>
              <p:spPr bwMode="auto">
                <a:xfrm>
                  <a:off x="11354" y="4264"/>
                  <a:ext cx="1252" cy="7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±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𝛼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3511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54" y="4264"/>
                  <a:ext cx="1252" cy="752"/>
                </a:xfrm>
                <a:prstGeom prst="rect">
                  <a:avLst/>
                </a:prstGeom>
                <a:blipFill>
                  <a:blip r:embed="rId7"/>
                  <a:stretch>
                    <a:fillRect l="-230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圆角矩形 6"/>
            <p:cNvSpPr/>
            <p:nvPr/>
          </p:nvSpPr>
          <p:spPr>
            <a:xfrm>
              <a:off x="13330" y="4272"/>
              <a:ext cx="339" cy="32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204335" y="3505200"/>
            <a:ext cx="2985135" cy="927100"/>
            <a:chOff x="5761" y="5520"/>
            <a:chExt cx="4701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06" name="Object 18"/>
                <p:cNvSpPr txBox="1"/>
                <p:nvPr/>
              </p:nvSpPr>
              <p:spPr bwMode="auto">
                <a:xfrm>
                  <a:off x="6462" y="5520"/>
                  <a:ext cx="4000" cy="1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3,4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=± 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1" lang="en-US" altLang="zh-CN" sz="2200" dirty="0"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rad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3506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62" y="5520"/>
                  <a:ext cx="4000" cy="146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5761" y="6233"/>
              <a:ext cx="479" cy="4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578090" y="3846830"/>
            <a:ext cx="1386205" cy="508000"/>
            <a:chOff x="11394" y="6058"/>
            <a:chExt cx="2183" cy="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16" name="Object 28"/>
                <p:cNvSpPr txBox="1"/>
                <p:nvPr/>
              </p:nvSpPr>
              <p:spPr bwMode="auto">
                <a:xfrm>
                  <a:off x="11394" y="6058"/>
                  <a:ext cx="1650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± 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i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𝛽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3516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94" y="6058"/>
                  <a:ext cx="1650" cy="800"/>
                </a:xfrm>
                <a:prstGeom prst="rect">
                  <a:avLst/>
                </a:prstGeom>
                <a:blipFill>
                  <a:blip r:embed="rId9"/>
                  <a:stretch>
                    <a:fillRect l="-1744" b="-120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3345" y="6372"/>
              <a:ext cx="232" cy="2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409190" y="4711700"/>
            <a:ext cx="2310130" cy="520700"/>
            <a:chOff x="2934" y="7320"/>
            <a:chExt cx="3638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18" name="Object 30"/>
                <p:cNvSpPr txBox="1"/>
                <p:nvPr/>
              </p:nvSpPr>
              <p:spPr bwMode="auto">
                <a:xfrm>
                  <a:off x="3512" y="7320"/>
                  <a:ext cx="3060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令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𝐴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,</m:t>
                            </m:r>
                          </m:e>
                        </m:func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3518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2" y="7320"/>
                  <a:ext cx="3060" cy="820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2934" y="7593"/>
              <a:ext cx="216" cy="2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444365" y="4704080"/>
            <a:ext cx="2392045" cy="593090"/>
            <a:chOff x="6139" y="7308"/>
            <a:chExt cx="3767" cy="934"/>
          </a:xfrm>
        </p:grpSpPr>
        <p:sp>
          <p:nvSpPr>
            <p:cNvPr id="63519" name="Text Box 31"/>
            <p:cNvSpPr txBox="1">
              <a:spLocks noChangeArrowheads="1"/>
            </p:cNvSpPr>
            <p:nvPr/>
          </p:nvSpPr>
          <p:spPr bwMode="auto">
            <a:xfrm>
              <a:off x="6139" y="7308"/>
              <a:ext cx="3767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hangingPunct="0"/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代入⑧可得</a:t>
              </a:r>
              <a:r>
                <a:rPr kumimoji="1" lang="zh-CN" altLang="en-US" sz="2200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rPr>
                <a:t>A</a:t>
              </a:r>
              <a:r>
                <a: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rPr>
                <a:t>＝1, 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9252" y="8010"/>
              <a:ext cx="324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0" grpId="0"/>
      <p:bldP spid="63501" grpId="0"/>
      <p:bldP spid="63502" grpId="0" animBg="1"/>
      <p:bldP spid="63504" grpId="0" animBg="1"/>
      <p:bldP spid="63517" grpId="0"/>
      <p:bldP spid="63520" grpId="0" animBg="1"/>
      <p:bldP spid="635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709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8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半闭框 20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半闭框 1"/>
          <p:cNvSpPr/>
          <p:nvPr/>
        </p:nvSpPr>
        <p:spPr>
          <a:xfrm flipH="1" flipV="1">
            <a:off x="10715625" y="5662930"/>
            <a:ext cx="796290" cy="673735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6" name="Text Box 4"/>
              <p:cNvSpPr txBox="1">
                <a:spLocks noChangeArrowheads="1"/>
              </p:cNvSpPr>
              <p:nvPr/>
            </p:nvSpPr>
            <p:spPr bwMode="auto">
              <a:xfrm>
                <a:off x="2273300" y="2588746"/>
                <a:ext cx="22860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hangingPunct="0"/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下面来求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en-US" altLang="zh-CN" sz="22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451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3300" y="2588746"/>
                <a:ext cx="2286000" cy="430887"/>
              </a:xfrm>
              <a:prstGeom prst="rect">
                <a:avLst/>
              </a:prstGeom>
              <a:blipFill>
                <a:blip r:embed="rId3"/>
                <a:stretch>
                  <a:fillRect l="-3467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9366250" y="4655671"/>
            <a:ext cx="4622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⑩</a:t>
            </a:r>
          </a:p>
        </p:txBody>
      </p:sp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2273300" y="5307757"/>
            <a:ext cx="43053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hangingPunct="0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⑨,⑩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联立即为原方程的通解. </a:t>
            </a:r>
          </a:p>
        </p:txBody>
      </p:sp>
      <p:grpSp>
        <p:nvGrpSpPr>
          <p:cNvPr id="64529" name="Group 17"/>
          <p:cNvGrpSpPr/>
          <p:nvPr/>
        </p:nvGrpSpPr>
        <p:grpSpPr bwMode="auto">
          <a:xfrm>
            <a:off x="3806826" y="1140946"/>
            <a:ext cx="4276726" cy="1117600"/>
            <a:chOff x="1446" y="384"/>
            <a:chExt cx="2694" cy="704"/>
          </a:xfrm>
        </p:grpSpPr>
        <p:sp>
          <p:nvSpPr>
            <p:cNvPr id="64524" name="AutoShape 12"/>
            <p:cNvSpPr/>
            <p:nvPr/>
          </p:nvSpPr>
          <p:spPr bwMode="auto">
            <a:xfrm>
              <a:off x="1446" y="482"/>
              <a:ext cx="90" cy="574"/>
            </a:xfrm>
            <a:prstGeom prst="leftBrace">
              <a:avLst>
                <a:gd name="adj1" fmla="val 53148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525" name="Object 13"/>
                <p:cNvSpPr txBox="1"/>
                <p:nvPr/>
              </p:nvSpPr>
              <p:spPr bwMode="auto">
                <a:xfrm>
                  <a:off x="1616" y="384"/>
                  <a:ext cx="1784" cy="3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1)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 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4525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16" y="384"/>
                  <a:ext cx="1784" cy="328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526" name="Object 14"/>
                <p:cNvSpPr txBox="1"/>
                <p:nvPr/>
              </p:nvSpPr>
              <p:spPr bwMode="auto">
                <a:xfrm>
                  <a:off x="1616" y="760"/>
                  <a:ext cx="1736" cy="3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+(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1)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4526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16" y="760"/>
                  <a:ext cx="1736" cy="328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527" name="Text Box 15"/>
            <p:cNvSpPr txBox="1">
              <a:spLocks noChangeArrowheads="1"/>
            </p:cNvSpPr>
            <p:nvPr/>
          </p:nvSpPr>
          <p:spPr bwMode="auto">
            <a:xfrm>
              <a:off x="3840" y="384"/>
              <a:ext cx="29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0" hangingPunct="0">
                <a:buClrTx/>
                <a:buSzTx/>
                <a:buFontTx/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⑥</a:t>
              </a:r>
            </a:p>
          </p:txBody>
        </p:sp>
        <p:sp>
          <p:nvSpPr>
            <p:cNvPr id="64528" name="Text Box 16"/>
            <p:cNvSpPr txBox="1">
              <a:spLocks noChangeArrowheads="1"/>
            </p:cNvSpPr>
            <p:nvPr/>
          </p:nvSpPr>
          <p:spPr bwMode="auto">
            <a:xfrm>
              <a:off x="3846" y="748"/>
              <a:ext cx="29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0" hangingPunct="0">
                <a:buClrTx/>
                <a:buSzTx/>
                <a:buFontTx/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⑦</a:t>
              </a:r>
            </a:p>
          </p:txBody>
        </p:sp>
      </p:grpSp>
      <p:sp>
        <p:nvSpPr>
          <p:cNvPr id="64530" name="Line 18"/>
          <p:cNvSpPr>
            <a:spLocks noChangeShapeType="1"/>
          </p:cNvSpPr>
          <p:nvPr/>
        </p:nvSpPr>
        <p:spPr bwMode="auto">
          <a:xfrm>
            <a:off x="1638300" y="2360146"/>
            <a:ext cx="8915400" cy="0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90725" y="3249295"/>
            <a:ext cx="2188845" cy="431165"/>
            <a:chOff x="3135" y="5117"/>
            <a:chExt cx="3447" cy="679"/>
          </a:xfrm>
        </p:grpSpPr>
        <p:sp>
          <p:nvSpPr>
            <p:cNvPr id="64517" name="Text Box 5"/>
            <p:cNvSpPr txBox="1">
              <a:spLocks noChangeArrowheads="1"/>
            </p:cNvSpPr>
            <p:nvPr/>
          </p:nvSpPr>
          <p:spPr bwMode="auto">
            <a:xfrm>
              <a:off x="3580" y="5117"/>
              <a:ext cx="300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rPr>
                <a:t>D×</a:t>
              </a:r>
              <a:r>
                <a:rPr kumimoji="1" lang="en-US" altLang="zh-CN" sz="2200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⑦－⑥</a:t>
              </a:r>
              <a:r>
                <a:rPr kumimoji="1" lang="zh-CN" altLang="en-US" sz="2200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得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3135" y="5368"/>
              <a:ext cx="324" cy="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69840" y="3237230"/>
            <a:ext cx="2305050" cy="538480"/>
            <a:chOff x="7984" y="5098"/>
            <a:chExt cx="3630" cy="8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518" name="Object 6"/>
                <p:cNvSpPr txBox="1"/>
                <p:nvPr/>
              </p:nvSpPr>
              <p:spPr bwMode="auto">
                <a:xfrm>
                  <a:off x="7984" y="5098"/>
                  <a:ext cx="3630" cy="8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451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84" y="5098"/>
                  <a:ext cx="3630" cy="84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11013" y="5507"/>
              <a:ext cx="479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951355" y="3909695"/>
            <a:ext cx="3326765" cy="520700"/>
            <a:chOff x="3073" y="6157"/>
            <a:chExt cx="5239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519" name="Object 7"/>
                <p:cNvSpPr txBox="1"/>
                <p:nvPr/>
              </p:nvSpPr>
              <p:spPr bwMode="auto">
                <a:xfrm>
                  <a:off x="3580" y="6157"/>
                  <a:ext cx="4733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∴  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451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80" y="6157"/>
                  <a:ext cx="4733" cy="82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3073" y="6419"/>
              <a:ext cx="201" cy="3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19625" y="3899535"/>
            <a:ext cx="3393440" cy="533400"/>
            <a:chOff x="7275" y="6141"/>
            <a:chExt cx="5344" cy="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520" name="Object 8"/>
                <p:cNvSpPr txBox="1"/>
                <p:nvPr/>
              </p:nvSpPr>
              <p:spPr bwMode="auto">
                <a:xfrm>
                  <a:off x="7275" y="6141"/>
                  <a:ext cx="5320" cy="8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𝛼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𝛼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</m:e>
                        </m:func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𝛼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4520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75" y="6141"/>
                  <a:ext cx="5320" cy="84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2233" y="6450"/>
              <a:ext cx="386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619625" y="4646295"/>
            <a:ext cx="5125085" cy="568325"/>
            <a:chOff x="7151" y="7062"/>
            <a:chExt cx="8071" cy="8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521" name="Object 9"/>
                <p:cNvSpPr txBox="1"/>
                <p:nvPr/>
              </p:nvSpPr>
              <p:spPr bwMode="auto">
                <a:xfrm>
                  <a:off x="7592" y="7062"/>
                  <a:ext cx="7630" cy="8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𝛽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𝛽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𝛽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)−2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4521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92" y="7062"/>
                  <a:ext cx="7630" cy="8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7151" y="7330"/>
              <a:ext cx="309" cy="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nimBg="1"/>
      <p:bldP spid="64522" grpId="0" animBg="1"/>
      <p:bldP spid="645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FjMGUwZjZjNTMwOWVkMThkMTA2ZTEzN2IwYjkyMjMifQ=="/>
  <p:tag name="KSO_WPP_MARK_KEY" val="ad30aad8-3fb9-4028-9ae5-9feb100392a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732</Words>
  <Application>Microsoft Office PowerPoint</Application>
  <PresentationFormat>宽屏</PresentationFormat>
  <Paragraphs>132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纳 兰</cp:lastModifiedBy>
  <cp:revision>395</cp:revision>
  <dcterms:created xsi:type="dcterms:W3CDTF">2022-03-21T05:54:00Z</dcterms:created>
  <dcterms:modified xsi:type="dcterms:W3CDTF">2023-06-20T14:27:38Z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05DDB25683624C01A39EF487126834EB</vt:lpwstr>
  </property>
  <property fmtid="{D5CDD505-2E9C-101B-9397-08002B2CF9AE}" pid="3" name="KSOProductBuildVer">
    <vt:lpwstr>2052-11.1.0.11691</vt:lpwstr>
  </property>
</Properties>
</file>