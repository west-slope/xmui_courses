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2"/>
    <p:sldId id="679" r:id="rId3"/>
    <p:sldId id="664" r:id="rId4"/>
    <p:sldId id="665" r:id="rId5"/>
    <p:sldId id="264" r:id="rId6"/>
    <p:sldId id="683" r:id="rId7"/>
    <p:sldId id="684" r:id="rId8"/>
    <p:sldId id="685" r:id="rId9"/>
    <p:sldId id="686" r:id="rId10"/>
    <p:sldId id="687" r:id="rId11"/>
    <p:sldId id="688" r:id="rId12"/>
    <p:sldId id="682" r:id="rId13"/>
    <p:sldId id="690" r:id="rId14"/>
    <p:sldId id="691" r:id="rId15"/>
    <p:sldId id="364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3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6088AF"/>
    <a:srgbClr val="71926A"/>
    <a:srgbClr val="A9D18E"/>
    <a:srgbClr val="068983"/>
    <a:srgbClr val="00FF00"/>
    <a:srgbClr val="119670"/>
    <a:srgbClr val="6EBAB7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60" autoAdjust="0"/>
    <p:restoredTop sz="97078" autoAdjust="0"/>
  </p:normalViewPr>
  <p:slideViewPr>
    <p:cSldViewPr snapToGrid="0" showGuides="1">
      <p:cViewPr varScale="1">
        <p:scale>
          <a:sx n="73" d="100"/>
          <a:sy n="73" d="100"/>
        </p:scale>
        <p:origin x="60" y="144"/>
      </p:cViewPr>
      <p:guideLst>
        <p:guide pos="3839"/>
        <p:guide orient="horz" pos="23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1011463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85" y="6435090"/>
            <a:ext cx="273113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可分离变量的微分方程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387590" y="112357"/>
            <a:ext cx="15855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A683A5D-A231-A69A-EC3F-479129A8724D}"/>
              </a:ext>
            </a:extLst>
          </p:cNvPr>
          <p:cNvCxnSpPr/>
          <p:nvPr userDrawn="1"/>
        </p:nvCxnSpPr>
        <p:spPr>
          <a:xfrm>
            <a:off x="-10633" y="223288"/>
            <a:ext cx="9900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3F3C930-63B6-75C6-8215-0F581E86B96A}"/>
              </a:ext>
            </a:extLst>
          </p:cNvPr>
          <p:cNvCxnSpPr/>
          <p:nvPr userDrawn="1"/>
        </p:nvCxnSpPr>
        <p:spPr>
          <a:xfrm>
            <a:off x="3208751" y="6578227"/>
            <a:ext cx="9000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08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9" Type="http://schemas.openxmlformats.org/officeDocument/2006/relationships/image" Target="../media/image430.png"/><Relationship Id="rId1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png"/><Relationship Id="rId12" Type="http://schemas.openxmlformats.org/officeDocument/2006/relationships/image" Target="../media/image30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2.png"/><Relationship Id="rId9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31.jpe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31.jpe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86.png"/><Relationship Id="rId7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0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49" y="6949"/>
              <a:ext cx="3292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105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256352" y="705836"/>
            <a:ext cx="576311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可分离变量的微分方程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4EF04B-613F-D018-B7A9-23C9FD7BCF92}"/>
              </a:ext>
            </a:extLst>
          </p:cNvPr>
          <p:cNvGrpSpPr/>
          <p:nvPr/>
        </p:nvGrpSpPr>
        <p:grpSpPr>
          <a:xfrm>
            <a:off x="4219893" y="2636463"/>
            <a:ext cx="3836035" cy="901065"/>
            <a:chOff x="5061" y="3172"/>
            <a:chExt cx="6041" cy="1419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4F17D074-7FBE-B5B8-BA65-AD31854300E8}"/>
                </a:ext>
              </a:extLst>
            </p:cNvPr>
            <p:cNvSpPr/>
            <p:nvPr/>
          </p:nvSpPr>
          <p:spPr>
            <a:xfrm flipV="1">
              <a:off x="5061" y="3172"/>
              <a:ext cx="6041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17C37B-1329-71E7-F5B7-13B9CBAD8C10}"/>
                </a:ext>
              </a:extLst>
            </p:cNvPr>
            <p:cNvSpPr/>
            <p:nvPr/>
          </p:nvSpPr>
          <p:spPr>
            <a:xfrm>
              <a:off x="6108" y="3470"/>
              <a:ext cx="4249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概念及解法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40839C-8650-9BA8-0849-A9C28B188094}"/>
              </a:ext>
            </a:extLst>
          </p:cNvPr>
          <p:cNvGrpSpPr/>
          <p:nvPr/>
        </p:nvGrpSpPr>
        <p:grpSpPr>
          <a:xfrm>
            <a:off x="4219893" y="4006247"/>
            <a:ext cx="3836035" cy="901065"/>
            <a:chOff x="5061" y="5187"/>
            <a:chExt cx="6041" cy="1419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0E23C850-1E81-1882-C298-41BE7B747BF3}"/>
                </a:ext>
              </a:extLst>
            </p:cNvPr>
            <p:cNvSpPr/>
            <p:nvPr/>
          </p:nvSpPr>
          <p:spPr>
            <a:xfrm flipV="1">
              <a:off x="5061" y="5187"/>
              <a:ext cx="6041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D491C76-A6A9-F9C5-91AE-D01B8EC620E6}"/>
                </a:ext>
              </a:extLst>
            </p:cNvPr>
            <p:cNvSpPr/>
            <p:nvPr/>
          </p:nvSpPr>
          <p:spPr>
            <a:xfrm>
              <a:off x="6108" y="5485"/>
              <a:ext cx="3684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典型例题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40715" y="1188720"/>
            <a:ext cx="10942955" cy="3027680"/>
            <a:chOff x="1111" y="8358"/>
            <a:chExt cx="17233" cy="4768"/>
          </a:xfrm>
        </p:grpSpPr>
        <p:sp>
          <p:nvSpPr>
            <p:cNvPr id="55" name="Rectangle 1"/>
            <p:cNvSpPr/>
            <p:nvPr/>
          </p:nvSpPr>
          <p:spPr>
            <a:xfrm>
              <a:off x="1660" y="8358"/>
              <a:ext cx="16684" cy="4768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111" y="9990"/>
              <a:ext cx="1962" cy="1417"/>
              <a:chOff x="13276" y="1778820"/>
              <a:chExt cx="1882603" cy="900000"/>
            </a:xfrm>
          </p:grpSpPr>
          <p:sp>
            <p:nvSpPr>
              <p:cNvPr id="57" name="PA-102231"/>
              <p:cNvSpPr/>
              <p:nvPr>
                <p:custDataLst>
                  <p:tags r:id="rId1"/>
                </p:custDataLst>
              </p:nvPr>
            </p:nvSpPr>
            <p:spPr>
              <a:xfrm>
                <a:off x="13276" y="1778820"/>
                <a:ext cx="1882603" cy="90000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58" name="Rectangle 167"/>
              <p:cNvSpPr>
                <a:spLocks noChangeArrowheads="1"/>
              </p:cNvSpPr>
              <p:nvPr/>
            </p:nvSpPr>
            <p:spPr bwMode="auto">
              <a:xfrm>
                <a:off x="134497" y="2026615"/>
                <a:ext cx="1559241" cy="43062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1.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 bwMode="auto">
          <a:xfrm>
            <a:off x="2144176" y="1205546"/>
            <a:ext cx="4805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如果一个一阶微分方程能写成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 bwMode="auto">
              <a:xfrm>
                <a:off x="2136898" y="2414270"/>
                <a:ext cx="14351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的形式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6898" y="2414270"/>
                <a:ext cx="1435100" cy="521970"/>
              </a:xfrm>
              <a:prstGeom prst="rect">
                <a:avLst/>
              </a:prstGeom>
              <a:blipFill>
                <a:blip r:embed="rId3"/>
                <a:stretch>
                  <a:fillRect l="-8936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751455" y="1752600"/>
                <a:ext cx="32054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g </a:t>
                </a:r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kumimoji="1" lang="en-US" altLang="zh-CN" sz="2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455" y="1752600"/>
                <a:ext cx="3205462" cy="523220"/>
              </a:xfrm>
              <a:prstGeom prst="rect">
                <a:avLst/>
              </a:prstGeom>
              <a:blipFill>
                <a:blip r:embed="rId4"/>
                <a:stretch>
                  <a:fillRect l="-3802" t="-15294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440430" y="2414270"/>
                <a:ext cx="833882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就是说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能把微分方程写成一端只含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的函数和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430" y="2414270"/>
                <a:ext cx="8338820" cy="521970"/>
              </a:xfrm>
              <a:prstGeom prst="rect">
                <a:avLst/>
              </a:prstGeom>
              <a:blipFill>
                <a:blip r:embed="rId5"/>
                <a:stretch>
                  <a:fillRect l="-1462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134735" y="3055644"/>
            <a:ext cx="58267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那么原方程就称为</a:t>
            </a: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可分离变量的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136898" y="3073400"/>
                <a:ext cx="425577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另一端只含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的函数和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898" y="3073400"/>
                <a:ext cx="4255770" cy="521970"/>
              </a:xfrm>
              <a:prstGeom prst="rect">
                <a:avLst/>
              </a:prstGeom>
              <a:blipFill>
                <a:blip r:embed="rId6"/>
                <a:stretch>
                  <a:fillRect l="-3009" t="-16279" b="-26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2136898" y="3673475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微分方程</a:t>
            </a:r>
            <a:r>
              <a:rPr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958850" y="4611890"/>
            <a:ext cx="984250" cy="449580"/>
            <a:chOff x="1454" y="8251"/>
            <a:chExt cx="1550" cy="708"/>
          </a:xfrm>
        </p:grpSpPr>
        <p:sp>
          <p:nvSpPr>
            <p:cNvPr id="11" name="圆角矩形 10"/>
            <p:cNvSpPr/>
            <p:nvPr/>
          </p:nvSpPr>
          <p:spPr>
            <a:xfrm>
              <a:off x="1454" y="8252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28"/>
            <p:cNvSpPr txBox="1">
              <a:spLocks noChangeArrowheads="1"/>
            </p:cNvSpPr>
            <p:nvPr/>
          </p:nvSpPr>
          <p:spPr bwMode="auto">
            <a:xfrm>
              <a:off x="1566" y="8251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4" name="AutoShape 25"/>
          <p:cNvSpPr>
            <a:spLocks noChangeArrowheads="1"/>
          </p:cNvSpPr>
          <p:nvPr/>
        </p:nvSpPr>
        <p:spPr bwMode="auto">
          <a:xfrm>
            <a:off x="4146550" y="4679633"/>
            <a:ext cx="1296035" cy="295275"/>
          </a:xfrm>
          <a:prstGeom prst="rightArrow">
            <a:avLst>
              <a:gd name="adj1" fmla="val 50000"/>
              <a:gd name="adj2" fmla="val 100221"/>
            </a:avLst>
          </a:prstGeom>
          <a:solidFill>
            <a:srgbClr val="04926A"/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5666740" y="4539651"/>
                <a:ext cx="2059305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=</a:t>
                </a:r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m:rPr>
                        <m:sty m:val="p"/>
                      </m:rP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endParaRPr kumimoji="1" lang="en-US" altLang="zh-CN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740" y="4539651"/>
                <a:ext cx="2059305" cy="521970"/>
              </a:xfrm>
              <a:prstGeom prst="rect">
                <a:avLst/>
              </a:prstGeom>
              <a:blipFill>
                <a:blip r:embed="rId7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utoShape 25"/>
          <p:cNvSpPr>
            <a:spLocks noChangeArrowheads="1"/>
          </p:cNvSpPr>
          <p:nvPr/>
        </p:nvSpPr>
        <p:spPr bwMode="auto">
          <a:xfrm>
            <a:off x="4146550" y="5783898"/>
            <a:ext cx="1296035" cy="295275"/>
          </a:xfrm>
          <a:prstGeom prst="rightArrow">
            <a:avLst>
              <a:gd name="adj1" fmla="val 50000"/>
              <a:gd name="adj2" fmla="val 100221"/>
            </a:avLst>
          </a:prstGeom>
          <a:solidFill>
            <a:srgbClr val="04926A"/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64291" y="459105"/>
            <a:ext cx="4372610" cy="583565"/>
            <a:chOff x="1089" y="948"/>
            <a:chExt cx="6886" cy="919"/>
          </a:xfrm>
        </p:grpSpPr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1089" y="948"/>
              <a:ext cx="5715" cy="919"/>
            </a:xfrm>
            <a:prstGeom prst="rect">
              <a:avLst/>
            </a:prstGeom>
            <a:noFill/>
            <a:ln w="28575">
              <a:noFill/>
              <a:prstDash val="dashDot"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 fontAlgn="base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32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一、概念及解法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87" y="110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215515" y="4322445"/>
            <a:ext cx="2145030" cy="838200"/>
            <a:chOff x="4256" y="6318"/>
            <a:chExt cx="3378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对象 12"/>
                <p:cNvSpPr txBox="1"/>
                <p:nvPr/>
              </p:nvSpPr>
              <p:spPr>
                <a:xfrm>
                  <a:off x="4256" y="6318"/>
                  <a:ext cx="3379" cy="13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对象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6" y="6318"/>
                  <a:ext cx="3379" cy="1320"/>
                </a:xfrm>
                <a:prstGeom prst="rect">
                  <a:avLst/>
                </a:prstGeom>
                <a:blipFill>
                  <a:blip r:embed="rId8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本框 27"/>
            <p:cNvSpPr txBox="1"/>
            <p:nvPr/>
          </p:nvSpPr>
          <p:spPr>
            <a:xfrm>
              <a:off x="6355" y="7058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215515" y="5422265"/>
            <a:ext cx="2500630" cy="842645"/>
            <a:chOff x="4256" y="8050"/>
            <a:chExt cx="3938" cy="13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对象 39"/>
                <p:cNvSpPr txBox="1"/>
                <p:nvPr/>
              </p:nvSpPr>
              <p:spPr>
                <a:xfrm>
                  <a:off x="4256" y="8050"/>
                  <a:ext cx="3939" cy="13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0" name="对象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6" y="8050"/>
                  <a:ext cx="3939" cy="132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本框 29"/>
            <p:cNvSpPr txBox="1"/>
            <p:nvPr/>
          </p:nvSpPr>
          <p:spPr>
            <a:xfrm>
              <a:off x="6456" y="879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i="1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666740" y="5427944"/>
            <a:ext cx="3050540" cy="914400"/>
            <a:chOff x="9792" y="8017"/>
            <a:chExt cx="4804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对象 43"/>
                <p:cNvSpPr txBox="1"/>
                <p:nvPr/>
              </p:nvSpPr>
              <p:spPr>
                <a:xfrm>
                  <a:off x="9792" y="8017"/>
                  <a:ext cx="4804" cy="14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4" name="对象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" y="8017"/>
                  <a:ext cx="4804" cy="1440"/>
                </a:xfrm>
                <a:prstGeom prst="rect">
                  <a:avLst/>
                </a:prstGeom>
                <a:blipFill>
                  <a:blip r:embed="rId10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本框 31"/>
            <p:cNvSpPr txBox="1"/>
            <p:nvPr/>
          </p:nvSpPr>
          <p:spPr>
            <a:xfrm>
              <a:off x="13035" y="879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i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4" grpId="0"/>
      <p:bldP spid="34" grpId="1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10" grpId="0"/>
      <p:bldP spid="10" grpId="1"/>
      <p:bldP spid="14" grpId="0" bldLvl="0" animBg="1"/>
      <p:bldP spid="14" grpId="1" animBg="1"/>
      <p:bldP spid="16" grpId="0"/>
      <p:bldP spid="16" grpId="1"/>
      <p:bldP spid="23" grpId="0" bldLvl="0" animBg="1"/>
      <p:bldP spid="2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497837" y="473464"/>
            <a:ext cx="1615951" cy="583565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解法</a:t>
            </a:r>
          </a:p>
        </p:txBody>
      </p:sp>
      <p:sp>
        <p:nvSpPr>
          <p:cNvPr id="3" name="Text Box 46"/>
          <p:cNvSpPr txBox="1">
            <a:spLocks noChangeArrowheads="1"/>
          </p:cNvSpPr>
          <p:nvPr/>
        </p:nvSpPr>
        <p:spPr bwMode="auto">
          <a:xfrm>
            <a:off x="1497837" y="1121410"/>
            <a:ext cx="2819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步骤1 分离变量</a:t>
            </a:r>
            <a:endParaRPr lang="zh-CN" altLang="en-US" sz="2800" b="1" dirty="0">
              <a:solidFill>
                <a:srgbClr val="04926A"/>
              </a:solidFill>
              <a:uFillTx/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</a:endParaRPr>
          </a:p>
        </p:txBody>
      </p:sp>
      <p:sp>
        <p:nvSpPr>
          <p:cNvPr id="8" name="Text Box 46"/>
          <p:cNvSpPr txBox="1">
            <a:spLocks noChangeArrowheads="1"/>
          </p:cNvSpPr>
          <p:nvPr/>
        </p:nvSpPr>
        <p:spPr bwMode="auto">
          <a:xfrm>
            <a:off x="1497837" y="3607130"/>
            <a:ext cx="2819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步骤2 两边积分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497965" y="1752600"/>
            <a:ext cx="4061460" cy="838200"/>
            <a:chOff x="2679" y="2720"/>
            <a:chExt cx="6396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1"/>
                <p:cNvSpPr txBox="1"/>
                <p:nvPr/>
              </p:nvSpPr>
              <p:spPr>
                <a:xfrm>
                  <a:off x="2679" y="2720"/>
                  <a:ext cx="6396" cy="13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1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将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 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sz="2800" b="1" dirty="0">
                    <a:solidFill>
                      <a:srgbClr val="000000"/>
                    </a:solidFill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9" y="2720"/>
                  <a:ext cx="6396" cy="132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6900" y="339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78350" y="1990090"/>
            <a:ext cx="6830695" cy="556260"/>
            <a:chOff x="7530" y="3094"/>
            <a:chExt cx="10757" cy="8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19"/>
                <p:cNvSpPr txBox="1"/>
                <p:nvPr/>
              </p:nvSpPr>
              <p:spPr>
                <a:xfrm>
                  <a:off x="7530" y="3094"/>
                  <a:ext cx="10757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或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𝑁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𝑁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=0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6" name="对象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0" y="3094"/>
                  <a:ext cx="10757" cy="700"/>
                </a:xfrm>
                <a:prstGeom prst="rect">
                  <a:avLst/>
                </a:prstGeom>
                <a:blipFill>
                  <a:blip r:embed="rId3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/>
            <p:cNvSpPr txBox="1"/>
            <p:nvPr/>
          </p:nvSpPr>
          <p:spPr>
            <a:xfrm>
              <a:off x="16449" y="339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497965" y="2851150"/>
            <a:ext cx="4966335" cy="431800"/>
            <a:chOff x="2679" y="4450"/>
            <a:chExt cx="7821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6"/>
                <p:cNvSpPr txBox="1"/>
                <p:nvPr/>
              </p:nvSpPr>
              <p:spPr>
                <a:xfrm>
                  <a:off x="2679" y="4450"/>
                  <a:ext cx="7821" cy="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smtClean="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转化为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 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       </m:t>
                        </m:r>
                        <m:r>
                          <m:rPr>
                            <m:nor/>
                          </m:rP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9" y="4450"/>
                  <a:ext cx="7821" cy="680"/>
                </a:xfrm>
                <a:prstGeom prst="rect">
                  <a:avLst/>
                </a:prstGeom>
                <a:blipFill>
                  <a:blip r:embed="rId4"/>
                  <a:stretch>
                    <a:fillRect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8587" y="455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735580" y="4201160"/>
            <a:ext cx="4311015" cy="1064260"/>
            <a:chOff x="7119" y="6576"/>
            <a:chExt cx="6789" cy="1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21"/>
                <p:cNvSpPr txBox="1"/>
                <p:nvPr/>
              </p:nvSpPr>
              <p:spPr>
                <a:xfrm>
                  <a:off x="7119" y="6576"/>
                  <a:ext cx="6789" cy="167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nor/>
                              </m:rPr>
                              <a:rPr lang="en-US" altLang="zh-CN" sz="2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</m:nary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𝑓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0" name="对象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9" y="6576"/>
                  <a:ext cx="6789" cy="167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/>
            <p:cNvSpPr txBox="1"/>
            <p:nvPr/>
          </p:nvSpPr>
          <p:spPr>
            <a:xfrm>
              <a:off x="12016" y="693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497837" y="5190490"/>
            <a:ext cx="7320915" cy="444500"/>
            <a:chOff x="3430" y="8134"/>
            <a:chExt cx="11529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3"/>
                <p:cNvSpPr txBox="1"/>
                <p:nvPr/>
              </p:nvSpPr>
              <p:spPr>
                <a:xfrm>
                  <a:off x="3430" y="8134"/>
                  <a:ext cx="11529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则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)+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是微分方程的通解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，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0000"/>
                    </a:solidFill>
                    <a:uFillTx/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0" y="8134"/>
                  <a:ext cx="11529" cy="700"/>
                </a:xfrm>
                <a:prstGeom prst="rect">
                  <a:avLst/>
                </a:prstGeom>
                <a:blipFill>
                  <a:blip r:embed="rId6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12832" y="825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497837" y="5852795"/>
            <a:ext cx="8016875" cy="490220"/>
            <a:chOff x="3430" y="9177"/>
            <a:chExt cx="12625" cy="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2"/>
                <p:cNvSpPr txBox="1"/>
                <p:nvPr/>
              </p:nvSpPr>
              <p:spPr>
                <a:xfrm>
                  <a:off x="3430" y="9177"/>
                  <a:ext cx="12625" cy="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smtClean="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其中函数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和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d>
                          <m:dPr>
                            <m:ctrlPr>
                              <a:rPr kumimoji="1" lang="zh-CN" altLang="en-US" sz="2800" i="1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依次是</m:t>
                        </m:r>
                        <m:r>
                          <a:rPr lang="en-US" altLang="zh-CN" sz="2800" b="0" i="0" smtClean="0">
                            <a:solidFill>
                              <a:srgbClr val="000000"/>
                            </a:solidFill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和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的原函数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0" y="9177"/>
                  <a:ext cx="12625" cy="680"/>
                </a:xfrm>
                <a:prstGeom prst="rect">
                  <a:avLst/>
                </a:prstGeom>
                <a:blipFill>
                  <a:blip r:embed="rId7"/>
                  <a:stretch>
                    <a:fillRect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15042" y="936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ldLvl="0" animBg="1"/>
      <p:bldP spid="3" grpId="1" animBg="1"/>
      <p:bldP spid="8" grpId="0" bldLvl="0" animBg="1"/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070" y="1030605"/>
            <a:ext cx="10817225" cy="525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87070" y="1030605"/>
            <a:ext cx="10817225" cy="739140"/>
            <a:chOff x="1082" y="1623"/>
            <a:chExt cx="17035" cy="1164"/>
          </a:xfrm>
        </p:grpSpPr>
        <p:sp>
          <p:nvSpPr>
            <p:cNvPr id="48" name="半闭框 47"/>
            <p:cNvSpPr/>
            <p:nvPr/>
          </p:nvSpPr>
          <p:spPr>
            <a:xfrm>
              <a:off x="1082" y="1623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7045" y="1623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0" name="半闭框 39"/>
          <p:cNvSpPr/>
          <p:nvPr/>
        </p:nvSpPr>
        <p:spPr>
          <a:xfrm flipV="1">
            <a:off x="687324" y="5613088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593222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00654" y="325516"/>
            <a:ext cx="5976936" cy="583565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二、典型例题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/>
        </p:nvSpPr>
        <p:spPr>
          <a:xfrm>
            <a:off x="1008380" y="1304478"/>
            <a:ext cx="150876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017849" y="2162045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分离变量得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1725874" y="3065006"/>
            <a:ext cx="1752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两边积分</a:t>
            </a:r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1725874" y="3806686"/>
            <a:ext cx="1371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得</a:t>
            </a:r>
          </a:p>
        </p:txBody>
      </p:sp>
      <p:sp>
        <p:nvSpPr>
          <p:cNvPr id="50" name="Text Box 13"/>
          <p:cNvSpPr txBox="1">
            <a:spLocks noChangeArrowheads="1"/>
          </p:cNvSpPr>
          <p:nvPr/>
        </p:nvSpPr>
        <p:spPr bwMode="auto">
          <a:xfrm>
            <a:off x="1725874" y="4525833"/>
            <a:ext cx="6445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即</a:t>
            </a:r>
          </a:p>
        </p:txBody>
      </p:sp>
      <p:sp>
        <p:nvSpPr>
          <p:cNvPr id="57" name="Text Box 23"/>
          <p:cNvSpPr txBox="1">
            <a:spLocks noChangeArrowheads="1"/>
          </p:cNvSpPr>
          <p:nvPr/>
        </p:nvSpPr>
        <p:spPr bwMode="auto">
          <a:xfrm>
            <a:off x="4556760" y="3806686"/>
            <a:ext cx="75692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或</a:t>
            </a:r>
          </a:p>
        </p:txBody>
      </p:sp>
      <p:sp>
        <p:nvSpPr>
          <p:cNvPr id="58" name="Text Box 28"/>
          <p:cNvSpPr txBox="1">
            <a:spLocks noChangeArrowheads="1"/>
          </p:cNvSpPr>
          <p:nvPr/>
        </p:nvSpPr>
        <p:spPr bwMode="auto">
          <a:xfrm>
            <a:off x="7958154" y="2264422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9" name="Oval 31"/>
          <p:cNvSpPr>
            <a:spLocks noChangeArrowheads="1"/>
          </p:cNvSpPr>
          <p:nvPr/>
        </p:nvSpPr>
        <p:spPr bwMode="auto">
          <a:xfrm>
            <a:off x="3299460" y="2549337"/>
            <a:ext cx="378460" cy="324485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8" name="Rectangle 1"/>
          <p:cNvSpPr/>
          <p:nvPr/>
        </p:nvSpPr>
        <p:spPr>
          <a:xfrm>
            <a:off x="7033260" y="1854200"/>
            <a:ext cx="4055110" cy="1564640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39"/>
              <p:cNvSpPr txBox="1">
                <a:spLocks noChangeArrowheads="1"/>
              </p:cNvSpPr>
              <p:nvPr/>
            </p:nvSpPr>
            <p:spPr bwMode="auto">
              <a:xfrm>
                <a:off x="7156988" y="1961177"/>
                <a:ext cx="3949854" cy="953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说明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: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在求解过程中每一步不一定是同解变形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1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56988" y="1961177"/>
                <a:ext cx="3949854" cy="953135"/>
              </a:xfrm>
              <a:prstGeom prst="rect">
                <a:avLst/>
              </a:prstGeom>
              <a:blipFill>
                <a:blip r:embed="rId3"/>
                <a:stretch>
                  <a:fillRect l="-3086" t="-7051" b="-160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Box 40"/>
          <p:cNvSpPr txBox="1">
            <a:spLocks noChangeArrowheads="1"/>
          </p:cNvSpPr>
          <p:nvPr/>
        </p:nvSpPr>
        <p:spPr bwMode="auto">
          <a:xfrm>
            <a:off x="7138368" y="2886627"/>
            <a:ext cx="3616326" cy="43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因此可能增</a:t>
            </a: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、减解</a:t>
            </a: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lt"/>
            </a:endParaRPr>
          </a:p>
        </p:txBody>
      </p:sp>
      <p:sp>
        <p:nvSpPr>
          <p:cNvPr id="10" name="AutoShape 25"/>
          <p:cNvSpPr>
            <a:spLocks noChangeArrowheads="1"/>
          </p:cNvSpPr>
          <p:nvPr/>
        </p:nvSpPr>
        <p:spPr bwMode="auto">
          <a:xfrm rot="2700000">
            <a:off x="4730750" y="3649157"/>
            <a:ext cx="666750" cy="218440"/>
          </a:xfrm>
          <a:prstGeom prst="rightArrow">
            <a:avLst>
              <a:gd name="adj1" fmla="val 50000"/>
              <a:gd name="adj2" fmla="val 100221"/>
            </a:avLst>
          </a:prstGeom>
          <a:solidFill>
            <a:srgbClr val="04926A"/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AutoShape 25"/>
          <p:cNvSpPr>
            <a:spLocks noChangeArrowheads="1"/>
          </p:cNvSpPr>
          <p:nvPr/>
        </p:nvSpPr>
        <p:spPr bwMode="auto">
          <a:xfrm rot="6720000">
            <a:off x="4952365" y="4665792"/>
            <a:ext cx="1001395" cy="228600"/>
          </a:xfrm>
          <a:prstGeom prst="rightArrow">
            <a:avLst>
              <a:gd name="adj1" fmla="val 50000"/>
              <a:gd name="adj2" fmla="val 100221"/>
            </a:avLst>
          </a:prstGeom>
          <a:solidFill>
            <a:srgbClr val="04926A"/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740535" y="1098550"/>
            <a:ext cx="5933440" cy="914400"/>
            <a:chOff x="2741" y="1730"/>
            <a:chExt cx="9344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3"/>
                <p:cNvSpPr txBox="1"/>
                <p:nvPr/>
              </p:nvSpPr>
              <p:spPr bwMode="auto">
                <a:xfrm>
                  <a:off x="2741" y="1730"/>
                  <a:ext cx="9345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求微分方程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=3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的通解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41" y="1730"/>
                  <a:ext cx="9345" cy="144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/>
            <p:cNvSpPr txBox="1"/>
            <p:nvPr/>
          </p:nvSpPr>
          <p:spPr>
            <a:xfrm>
              <a:off x="10116" y="220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18815" y="2081977"/>
            <a:ext cx="2095500" cy="914400"/>
            <a:chOff x="5069" y="3342"/>
            <a:chExt cx="3300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6"/>
                <p:cNvSpPr txBox="1"/>
                <p:nvPr/>
              </p:nvSpPr>
              <p:spPr bwMode="auto">
                <a:xfrm>
                  <a:off x="5069" y="3342"/>
                  <a:ext cx="3300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=3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2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69" y="3342"/>
                  <a:ext cx="3300" cy="14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7637" y="3662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24530" y="2896990"/>
            <a:ext cx="2820670" cy="801370"/>
            <a:chOff x="5078" y="4734"/>
            <a:chExt cx="4442" cy="12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bject 8"/>
                <p:cNvSpPr txBox="1"/>
                <p:nvPr/>
              </p:nvSpPr>
              <p:spPr bwMode="auto">
                <a:xfrm>
                  <a:off x="5078" y="4734"/>
                  <a:ext cx="4442" cy="1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den>
                            </m:f>
                          </m:e>
                        </m:nary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e>
                        </m:nary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78" y="4734"/>
                  <a:ext cx="4442" cy="12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8578" y="513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522220" y="3780275"/>
            <a:ext cx="2159000" cy="482600"/>
            <a:chOff x="3972" y="6106"/>
            <a:chExt cx="3400" cy="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bject 10"/>
                <p:cNvSpPr txBox="1"/>
                <p:nvPr/>
              </p:nvSpPr>
              <p:spPr bwMode="auto">
                <a:xfrm>
                  <a:off x="3972" y="6106"/>
                  <a:ext cx="3400" cy="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5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72" y="6106"/>
                  <a:ext cx="3400" cy="760"/>
                </a:xfrm>
                <a:prstGeom prst="rect">
                  <a:avLst/>
                </a:prstGeom>
                <a:blipFill>
                  <a:blip r:embed="rId7"/>
                  <a:stretch>
                    <a:fillRect l="-56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6688" y="6218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522220" y="4486722"/>
            <a:ext cx="1935480" cy="508000"/>
            <a:chOff x="3972" y="7190"/>
            <a:chExt cx="3048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bject 14"/>
                <p:cNvSpPr txBox="1"/>
                <p:nvPr/>
              </p:nvSpPr>
              <p:spPr bwMode="auto">
                <a:xfrm>
                  <a:off x="3972" y="7190"/>
                  <a:ext cx="3048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=±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1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72" y="7190"/>
                  <a:ext cx="3048" cy="8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6532" y="741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034790" y="4486722"/>
            <a:ext cx="1916430" cy="508000"/>
            <a:chOff x="6354" y="7190"/>
            <a:chExt cx="3018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15"/>
                <p:cNvSpPr txBox="1"/>
                <p:nvPr/>
              </p:nvSpPr>
              <p:spPr bwMode="auto">
                <a:xfrm>
                  <a:off x="6354" y="7190"/>
                  <a:ext cx="3018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=±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sup>
                        </m:sSup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2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54" y="7190"/>
                  <a:ext cx="3018" cy="8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8773" y="733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725930" y="5183397"/>
            <a:ext cx="2421890" cy="495300"/>
            <a:chOff x="2718" y="8266"/>
            <a:chExt cx="3814" cy="7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18"/>
                <p:cNvSpPr txBox="1"/>
                <p:nvPr/>
              </p:nvSpPr>
              <p:spPr bwMode="auto">
                <a:xfrm>
                  <a:off x="2718" y="8266"/>
                  <a:ext cx="3440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令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 </m:t>
                        </m:r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    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=±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4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18" y="8266"/>
                  <a:ext cx="3440" cy="78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6044" y="827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982737" y="5180025"/>
            <a:ext cx="1803400" cy="508000"/>
            <a:chOff x="6532" y="8186"/>
            <a:chExt cx="2840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Object 16"/>
                <p:cNvSpPr txBox="1"/>
                <p:nvPr/>
              </p:nvSpPr>
              <p:spPr bwMode="auto">
                <a:xfrm>
                  <a:off x="6532" y="8186"/>
                  <a:ext cx="2840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sup>
                        </m:sSup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3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32" y="8186"/>
                  <a:ext cx="2840" cy="8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本框 29"/>
            <p:cNvSpPr txBox="1"/>
            <p:nvPr/>
          </p:nvSpPr>
          <p:spPr>
            <a:xfrm>
              <a:off x="8369" y="839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685290" y="5711002"/>
            <a:ext cx="5321300" cy="444500"/>
            <a:chOff x="2654" y="9057"/>
            <a:chExt cx="8380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对象 55"/>
                <p:cNvSpPr txBox="1"/>
                <p:nvPr/>
              </p:nvSpPr>
              <p:spPr>
                <a:xfrm>
                  <a:off x="2654" y="9057"/>
                  <a:ext cx="8380" cy="7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(</m:t>
                        </m:r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此式含分离变量时丢失的解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=0)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63" name="对象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" y="9057"/>
                  <a:ext cx="8380" cy="700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9628" y="917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601009" y="5226577"/>
            <a:ext cx="2336800" cy="438785"/>
            <a:chOff x="9025" y="8304"/>
            <a:chExt cx="3680" cy="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对象 56"/>
                <p:cNvSpPr txBox="1"/>
                <p:nvPr/>
              </p:nvSpPr>
              <p:spPr>
                <a:xfrm>
                  <a:off x="9025" y="8315"/>
                  <a:ext cx="3680" cy="68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为任意常数</m:t>
                        </m:r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)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4" name="对象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5" y="8315"/>
                  <a:ext cx="3680" cy="680"/>
                </a:xfrm>
                <a:prstGeom prst="rect">
                  <a:avLst/>
                </a:prstGeom>
                <a:blipFill>
                  <a:blip r:embed="rId13"/>
                  <a:stretch>
                    <a:fillRect l="-1828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文本框 36"/>
            <p:cNvSpPr txBox="1"/>
            <p:nvPr/>
          </p:nvSpPr>
          <p:spPr>
            <a:xfrm>
              <a:off x="12086" y="830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245100" y="3790435"/>
            <a:ext cx="2667000" cy="462280"/>
            <a:chOff x="8260" y="6122"/>
            <a:chExt cx="4200" cy="7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bject 12"/>
                <p:cNvSpPr txBox="1"/>
                <p:nvPr/>
              </p:nvSpPr>
              <p:spPr bwMode="auto">
                <a:xfrm>
                  <a:off x="8260" y="6122"/>
                  <a:ext cx="4200" cy="7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𝐶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6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60" y="6122"/>
                  <a:ext cx="4200" cy="728"/>
                </a:xfrm>
                <a:prstGeom prst="rect">
                  <a:avLst/>
                </a:prstGeom>
                <a:blipFill>
                  <a:blip r:embed="rId14"/>
                  <a:stretch>
                    <a:fillRect l="-228" b="-394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/>
          </p:nvSpPr>
          <p:spPr>
            <a:xfrm>
              <a:off x="11708" y="615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  <p:bldP spid="12" grpId="0"/>
      <p:bldP spid="12" grpId="1"/>
      <p:bldP spid="34" grpId="0"/>
      <p:bldP spid="34" grpId="1"/>
      <p:bldP spid="42" grpId="0"/>
      <p:bldP spid="42" grpId="1"/>
      <p:bldP spid="50" grpId="0"/>
      <p:bldP spid="50" grpId="1"/>
      <p:bldP spid="57" grpId="0"/>
      <p:bldP spid="57" grpId="1"/>
      <p:bldP spid="59" grpId="0" animBg="1"/>
      <p:bldP spid="59" grpId="1" animBg="1"/>
      <p:bldP spid="28" grpId="0" animBg="1"/>
      <p:bldP spid="28" grpId="1" animBg="1"/>
      <p:bldP spid="61" grpId="0"/>
      <p:bldP spid="61" grpId="1"/>
      <p:bldP spid="62" grpId="0"/>
      <p:bldP spid="62" grpId="1"/>
      <p:bldP spid="10" grpId="0" animBg="1"/>
      <p:bldP spid="10" grpId="1" animBg="1"/>
      <p:bldP spid="2" grpId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959" y="538974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/>
        </p:nvSpPr>
        <p:spPr>
          <a:xfrm>
            <a:off x="956572" y="751097"/>
            <a:ext cx="1066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例2</a:t>
            </a:r>
            <a:endParaRPr lang="en-US" altLang="zh-CN" sz="28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966620" y="2574611"/>
            <a:ext cx="11292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1854200" y="3838254"/>
            <a:ext cx="27419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对方程分离变量,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</a:p>
        </p:txBody>
      </p:sp>
      <p:sp>
        <p:nvSpPr>
          <p:cNvPr id="16418" name="Text Box 34"/>
          <p:cNvSpPr txBox="1">
            <a:spLocks noChangeArrowheads="1"/>
          </p:cNvSpPr>
          <p:nvPr/>
        </p:nvSpPr>
        <p:spPr bwMode="auto">
          <a:xfrm>
            <a:off x="4010660" y="3912867"/>
            <a:ext cx="20161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然后积分</a:t>
            </a:r>
          </a:p>
        </p:txBody>
      </p:sp>
      <p:sp>
        <p:nvSpPr>
          <p:cNvPr id="16428" name="AutoShape 44"/>
          <p:cNvSpPr/>
          <p:nvPr/>
        </p:nvSpPr>
        <p:spPr bwMode="auto">
          <a:xfrm>
            <a:off x="3565788" y="2674292"/>
            <a:ext cx="193675" cy="1066800"/>
          </a:xfrm>
          <a:prstGeom prst="leftBrace">
            <a:avLst>
              <a:gd name="adj1" fmla="val 4590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45" name="图片 44" descr="C:\Users\EDZ\Desktop\7-1.png7-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125843" y="4466359"/>
            <a:ext cx="1964055" cy="1620000"/>
          </a:xfrm>
          <a:prstGeom prst="rect">
            <a:avLst/>
          </a:prstGeom>
        </p:spPr>
      </p:pic>
      <p:sp>
        <p:nvSpPr>
          <p:cNvPr id="73" name="矩形标注 72"/>
          <p:cNvSpPr/>
          <p:nvPr/>
        </p:nvSpPr>
        <p:spPr>
          <a:xfrm>
            <a:off x="6245225" y="2091055"/>
            <a:ext cx="3066303" cy="411480"/>
          </a:xfrm>
          <a:prstGeom prst="wedgeRectCallout">
            <a:avLst>
              <a:gd name="adj1" fmla="val -50398"/>
              <a:gd name="adj2" fmla="val 117257"/>
            </a:avLst>
          </a:prstGeom>
          <a:solidFill>
            <a:srgbClr val="04926A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  </a:t>
            </a:r>
            <a:r>
              <a:rPr kumimoji="1" lang="en-US" altLang="zh-CN" sz="2200" i="1" dirty="0">
                <a:solidFill>
                  <a:schemeClr val="tx1"/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λ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前置负号？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673" y="2768600"/>
            <a:ext cx="2524125" cy="1570990"/>
          </a:xfrm>
          <a:prstGeom prst="rect">
            <a:avLst/>
          </a:prstGeom>
          <a:solidFill>
            <a:srgbClr val="04926A">
              <a:alpha val="4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854200" y="704850"/>
            <a:ext cx="9330055" cy="454025"/>
            <a:chOff x="2920" y="1110"/>
            <a:chExt cx="14693" cy="7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2920" y="1110"/>
                  <a:ext cx="13440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已知放射性元素铀的衰变速度与当时未衰变铀原子的含量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" y="1110"/>
                  <a:ext cx="13440" cy="640"/>
                </a:xfrm>
                <a:prstGeom prst="rect">
                  <a:avLst/>
                </a:prstGeom>
                <a:blipFill>
                  <a:blip r:embed="rId4"/>
                  <a:stretch>
                    <a:fillRect r="-4929" b="-75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文本框 3"/>
            <p:cNvSpPr txBox="1"/>
            <p:nvPr/>
          </p:nvSpPr>
          <p:spPr>
            <a:xfrm>
              <a:off x="17125" y="124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854200" y="1296035"/>
            <a:ext cx="1866265" cy="532130"/>
            <a:chOff x="2920" y="2041"/>
            <a:chExt cx="2939" cy="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4"/>
                <p:cNvSpPr txBox="1"/>
                <p:nvPr/>
              </p:nvSpPr>
              <p:spPr>
                <a:xfrm>
                  <a:off x="2920" y="2041"/>
                  <a:ext cx="2806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成正比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" y="2041"/>
                  <a:ext cx="2806" cy="640"/>
                </a:xfrm>
                <a:prstGeom prst="rect">
                  <a:avLst/>
                </a:prstGeom>
                <a:blipFill>
                  <a:blip r:embed="rId5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/>
            <p:cNvSpPr txBox="1"/>
            <p:nvPr/>
          </p:nvSpPr>
          <p:spPr>
            <a:xfrm>
              <a:off x="5371" y="229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361055" y="1286510"/>
            <a:ext cx="5458460" cy="444500"/>
            <a:chOff x="5293" y="2026"/>
            <a:chExt cx="8596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88" name="Object 4"/>
                <p:cNvSpPr txBox="1"/>
                <p:nvPr/>
              </p:nvSpPr>
              <p:spPr bwMode="auto">
                <a:xfrm>
                  <a:off x="5293" y="2026"/>
                  <a:ext cx="8596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已知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时铀的含量为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388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93" y="2026"/>
                  <a:ext cx="8596" cy="700"/>
                </a:xfrm>
                <a:prstGeom prst="rect">
                  <a:avLst/>
                </a:prstGeom>
                <a:blipFill>
                  <a:blip r:embed="rId6"/>
                  <a:stretch>
                    <a:fillRect b="-547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11585" y="212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541260" y="1286510"/>
            <a:ext cx="3996055" cy="444500"/>
            <a:chOff x="11876" y="2026"/>
            <a:chExt cx="6293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2"/>
                <p:cNvSpPr txBox="1"/>
                <p:nvPr/>
              </p:nvSpPr>
              <p:spPr>
                <a:xfrm>
                  <a:off x="11876" y="2026"/>
                  <a:ext cx="6293" cy="64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求在衰变过程中铀含量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76" y="2026"/>
                  <a:ext cx="6293" cy="648"/>
                </a:xfrm>
                <a:prstGeom prst="rect">
                  <a:avLst/>
                </a:prstGeom>
                <a:blipFill>
                  <a:blip r:embed="rId7"/>
                  <a:stretch>
                    <a:fillRect b="-4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7631" y="214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854200" y="1906270"/>
            <a:ext cx="4229100" cy="471805"/>
            <a:chOff x="2920" y="3002"/>
            <a:chExt cx="6660" cy="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3"/>
                <p:cNvSpPr txBox="1"/>
                <p:nvPr/>
              </p:nvSpPr>
              <p:spPr>
                <a:xfrm>
                  <a:off x="2920" y="3002"/>
                  <a:ext cx="6661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随时间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的变化规律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" y="3002"/>
                  <a:ext cx="6661" cy="70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8897" y="316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54200" y="2574611"/>
            <a:ext cx="1962785" cy="457835"/>
            <a:chOff x="2920" y="4070"/>
            <a:chExt cx="3091" cy="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5"/>
                <p:cNvSpPr txBox="1"/>
                <p:nvPr/>
              </p:nvSpPr>
              <p:spPr>
                <a:xfrm>
                  <a:off x="2920" y="4151"/>
                  <a:ext cx="3000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根据题意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有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2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" y="4151"/>
                  <a:ext cx="3000" cy="640"/>
                </a:xfrm>
                <a:prstGeom prst="rect">
                  <a:avLst/>
                </a:prstGeom>
                <a:blipFill>
                  <a:blip r:embed="rId9"/>
                  <a:stretch>
                    <a:fillRect l="-2236" b="-196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5523" y="407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854200" y="4506274"/>
            <a:ext cx="3187700" cy="431800"/>
            <a:chOff x="2920" y="7226"/>
            <a:chExt cx="5020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0" name="Object 16"/>
                <p:cNvSpPr txBox="1"/>
                <p:nvPr/>
              </p:nvSpPr>
              <p:spPr bwMode="auto">
                <a:xfrm>
                  <a:off x="2920" y="7226"/>
                  <a:ext cx="5020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得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400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20" y="7226"/>
                  <a:ext cx="5020" cy="680"/>
                </a:xfrm>
                <a:prstGeom prst="rect">
                  <a:avLst/>
                </a:prstGeom>
                <a:blipFill>
                  <a:blip r:embed="rId10"/>
                  <a:stretch>
                    <a:fillRect l="-1338" b="-1267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/>
            <p:cNvSpPr txBox="1"/>
            <p:nvPr/>
          </p:nvSpPr>
          <p:spPr>
            <a:xfrm>
              <a:off x="6611" y="730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607560" y="4506274"/>
            <a:ext cx="1968500" cy="457200"/>
            <a:chOff x="7256" y="7226"/>
            <a:chExt cx="3100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2" name="Object 18"/>
                <p:cNvSpPr txBox="1"/>
                <p:nvPr/>
              </p:nvSpPr>
              <p:spPr bwMode="auto">
                <a:xfrm>
                  <a:off x="7256" y="7226"/>
                  <a:ext cx="310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即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𝜆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402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6" y="7226"/>
                  <a:ext cx="3100" cy="720"/>
                </a:xfrm>
                <a:prstGeom prst="rect">
                  <a:avLst/>
                </a:prstGeom>
                <a:blipFill>
                  <a:blip r:embed="rId11"/>
                  <a:stretch>
                    <a:fillRect l="-1858" b="-8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本框 23"/>
            <p:cNvSpPr txBox="1"/>
            <p:nvPr/>
          </p:nvSpPr>
          <p:spPr>
            <a:xfrm>
              <a:off x="9214" y="7268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854200" y="5084124"/>
            <a:ext cx="2557145" cy="429260"/>
            <a:chOff x="2920" y="8136"/>
            <a:chExt cx="4027" cy="676"/>
          </a:xfrm>
        </p:grpSpPr>
        <p:sp>
          <p:nvSpPr>
            <p:cNvPr id="16403" name="Text Box 19"/>
            <p:cNvSpPr txBox="1">
              <a:spLocks noChangeArrowheads="1"/>
            </p:cNvSpPr>
            <p:nvPr/>
          </p:nvSpPr>
          <p:spPr bwMode="auto">
            <a:xfrm>
              <a:off x="2920" y="8136"/>
              <a:ext cx="4027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sym typeface="+mn-lt"/>
                </a:rPr>
                <a:t>利用初值条件, 得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459" y="823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029710" y="5087299"/>
            <a:ext cx="1322070" cy="444500"/>
            <a:chOff x="6346" y="8141"/>
            <a:chExt cx="2082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4" name="Object 20"/>
                <p:cNvSpPr txBox="1"/>
                <p:nvPr/>
              </p:nvSpPr>
              <p:spPr bwMode="auto">
                <a:xfrm>
                  <a:off x="6346" y="8141"/>
                  <a:ext cx="1820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404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46" y="8141"/>
                  <a:ext cx="1820" cy="700"/>
                </a:xfrm>
                <a:prstGeom prst="rect">
                  <a:avLst/>
                </a:prstGeom>
                <a:blipFill>
                  <a:blip r:embed="rId12"/>
                  <a:stretch>
                    <a:fillRect l="-526" b="-138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本框 27"/>
            <p:cNvSpPr txBox="1"/>
            <p:nvPr/>
          </p:nvSpPr>
          <p:spPr>
            <a:xfrm>
              <a:off x="7940" y="816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854200" y="5660069"/>
            <a:ext cx="3962400" cy="429260"/>
            <a:chOff x="2920" y="9043"/>
            <a:chExt cx="6240" cy="676"/>
          </a:xfrm>
        </p:grpSpPr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2920" y="9043"/>
              <a:ext cx="6240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sym typeface="+mn-lt"/>
                </a:rPr>
                <a:t>故所求铀的变化规律为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72" y="912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731385" y="5660069"/>
            <a:ext cx="2146300" cy="533400"/>
            <a:chOff x="7451" y="9043"/>
            <a:chExt cx="3380" cy="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6" name="Object 22"/>
                <p:cNvSpPr txBox="1"/>
                <p:nvPr/>
              </p:nvSpPr>
              <p:spPr bwMode="auto">
                <a:xfrm>
                  <a:off x="7451" y="9043"/>
                  <a:ext cx="3380" cy="8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𝜆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406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51" y="9043"/>
                  <a:ext cx="3380" cy="840"/>
                </a:xfrm>
                <a:prstGeom prst="rect">
                  <a:avLst/>
                </a:prstGeom>
                <a:blipFill>
                  <a:blip r:embed="rId13"/>
                  <a:stretch>
                    <a:fillRect l="-28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文本框 32"/>
            <p:cNvSpPr txBox="1"/>
            <p:nvPr/>
          </p:nvSpPr>
          <p:spPr>
            <a:xfrm>
              <a:off x="10245" y="914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870325" y="2500630"/>
            <a:ext cx="3086100" cy="914400"/>
            <a:chOff x="6095" y="3938"/>
            <a:chExt cx="4860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3" name="Object 9"/>
                <p:cNvSpPr txBox="1"/>
                <p:nvPr/>
              </p:nvSpPr>
              <p:spPr bwMode="auto">
                <a:xfrm>
                  <a:off x="6095" y="3938"/>
                  <a:ext cx="4860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num>
                          <m:den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</m:fName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</m:func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  (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&gt;0)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393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95" y="3938"/>
                  <a:ext cx="4860" cy="144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本框 35"/>
            <p:cNvSpPr txBox="1"/>
            <p:nvPr/>
          </p:nvSpPr>
          <p:spPr>
            <a:xfrm>
              <a:off x="9347" y="4474"/>
              <a:ext cx="4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872865" y="3423285"/>
            <a:ext cx="2354580" cy="495300"/>
            <a:chOff x="6099" y="5391"/>
            <a:chExt cx="3708" cy="780"/>
          </a:xfrm>
        </p:grpSpPr>
        <p:grpSp>
          <p:nvGrpSpPr>
            <p:cNvPr id="21" name="组合 20"/>
            <p:cNvGrpSpPr/>
            <p:nvPr/>
          </p:nvGrpSpPr>
          <p:grpSpPr>
            <a:xfrm>
              <a:off x="6099" y="5391"/>
              <a:ext cx="3708" cy="780"/>
              <a:chOff x="6099" y="5391"/>
              <a:chExt cx="3708" cy="7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394" name="Object 10"/>
                  <p:cNvSpPr txBox="1"/>
                  <p:nvPr/>
                </p:nvSpPr>
                <p:spPr bwMode="auto">
                  <a:xfrm>
                    <a:off x="6099" y="5391"/>
                    <a:ext cx="3708" cy="78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kumimoji="1" lang="en-US" altLang="zh-CN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i="1" baseline="-250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en-US" altLang="zh-CN" sz="2200" i="1" baseline="-160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kumimoji="1" lang="en-US" altLang="zh-CN" sz="2200" b="0" i="1" baseline="-25000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e>
                          </m:d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1" lang="en-US" altLang="zh-CN" sz="1900" i="1" dirty="0"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6394" name="Object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099" y="5391"/>
                    <a:ext cx="3708" cy="78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7494" t="-108642" b="-155556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文本框 19"/>
              <p:cNvSpPr txBox="1"/>
              <p:nvPr/>
            </p:nvSpPr>
            <p:spPr>
              <a:xfrm>
                <a:off x="8897" y="5455"/>
                <a:ext cx="488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9" name="文本框 38"/>
            <p:cNvSpPr txBox="1"/>
            <p:nvPr/>
          </p:nvSpPr>
          <p:spPr>
            <a:xfrm>
              <a:off x="9033" y="548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7017908" y="2740025"/>
            <a:ext cx="2670810" cy="1717040"/>
            <a:chOff x="11723" y="4240"/>
            <a:chExt cx="4206" cy="27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对象 7"/>
                <p:cNvSpPr txBox="1"/>
                <p:nvPr/>
              </p:nvSpPr>
              <p:spPr>
                <a:xfrm>
                  <a:off x="11723" y="4240"/>
                  <a:ext cx="4206" cy="270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其中：</m:t>
                        </m:r>
                      </m:oMath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den>
                        </m:f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为衰变速度</m:t>
                        </m:r>
                      </m:oMath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𝜆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为衰变系数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4" name="对象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23" y="4240"/>
                  <a:ext cx="4206" cy="270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本框 43"/>
            <p:cNvSpPr txBox="1"/>
            <p:nvPr/>
          </p:nvSpPr>
          <p:spPr>
            <a:xfrm>
              <a:off x="14911" y="629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1" animBg="1"/>
      <p:bldP spid="48" grpId="1" animBg="1"/>
      <p:bldP spid="49" grpId="1" animBg="1"/>
      <p:bldP spid="40" grpId="1" animBg="1"/>
      <p:bldP spid="41" grpId="1" animBg="1"/>
      <p:bldP spid="16386" grpId="0"/>
      <p:bldP spid="16386" grpId="1"/>
      <p:bldP spid="16391" grpId="0"/>
      <p:bldP spid="16391" grpId="1"/>
      <p:bldP spid="16396" grpId="0"/>
      <p:bldP spid="16396" grpId="1"/>
      <p:bldP spid="16418" grpId="0"/>
      <p:bldP spid="16418" grpId="1"/>
      <p:bldP spid="16428" grpId="0" animBg="1"/>
      <p:bldP spid="16428" grpId="1" animBg="1"/>
      <p:bldP spid="73" grpId="0" animBg="1"/>
      <p:bldP spid="73" grpId="1" animBg="1"/>
      <p:bldP spid="2" grpId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959" y="53626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96" name="Rectangle 148"/>
          <p:cNvSpPr>
            <a:spLocks noChangeArrowheads="1"/>
          </p:cNvSpPr>
          <p:nvPr/>
        </p:nvSpPr>
        <p:spPr bwMode="auto">
          <a:xfrm>
            <a:off x="970275" y="2665533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2290" name="Text Box 242"/>
          <p:cNvSpPr txBox="1">
            <a:spLocks noChangeArrowheads="1"/>
          </p:cNvSpPr>
          <p:nvPr/>
        </p:nvSpPr>
        <p:spPr bwMode="auto">
          <a:xfrm>
            <a:off x="970275" y="854420"/>
            <a:ext cx="114220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</a:p>
        </p:txBody>
      </p:sp>
      <p:sp>
        <p:nvSpPr>
          <p:cNvPr id="2297" name="Text Box 249"/>
          <p:cNvSpPr txBox="1">
            <a:spLocks noChangeArrowheads="1"/>
          </p:cNvSpPr>
          <p:nvPr/>
        </p:nvSpPr>
        <p:spPr bwMode="auto">
          <a:xfrm>
            <a:off x="1781646" y="3610294"/>
            <a:ext cx="23082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初值条件为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0" name="Text Box 252"/>
              <p:cNvSpPr txBox="1">
                <a:spLocks noChangeArrowheads="1"/>
              </p:cNvSpPr>
              <p:nvPr/>
            </p:nvSpPr>
            <p:spPr bwMode="auto">
              <a:xfrm>
                <a:off x="1781810" y="5391150"/>
                <a:ext cx="230759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两边积分</a:t>
                </a:r>
                <a14:m>
                  <m:oMath xmlns:m="http://schemas.openxmlformats.org/officeDocument/2006/math">
                    <m:r>
                      <a:rPr kumimoji="1" lang="zh-CN" altLang="en-US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得</a:t>
                </a:r>
              </a:p>
            </p:txBody>
          </p:sp>
        </mc:Choice>
        <mc:Fallback xmlns="">
          <p:sp>
            <p:nvSpPr>
              <p:cNvPr id="2300" name="Text Box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1810" y="5391150"/>
                <a:ext cx="2307590" cy="430887"/>
              </a:xfrm>
              <a:prstGeom prst="rect">
                <a:avLst/>
              </a:prstGeom>
              <a:blipFill>
                <a:blip r:embed="rId3"/>
                <a:stretch>
                  <a:fillRect l="-3430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1781810" y="854710"/>
            <a:ext cx="8829040" cy="459105"/>
            <a:chOff x="2826" y="1286"/>
            <a:chExt cx="13904" cy="7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2"/>
                <p:cNvSpPr txBox="1"/>
                <p:nvPr/>
              </p:nvSpPr>
              <p:spPr>
                <a:xfrm>
                  <a:off x="2826" y="1286"/>
                  <a:ext cx="13415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设降落伞从跳伞塔下落后所受空气阻力与速度成正比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" y="1286"/>
                  <a:ext cx="13415" cy="640"/>
                </a:xfrm>
                <a:prstGeom prst="rect">
                  <a:avLst/>
                </a:prstGeom>
                <a:blipFill>
                  <a:blip r:embed="rId5"/>
                  <a:stretch>
                    <a:fillRect b="-89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/>
            <p:cNvSpPr txBox="1"/>
            <p:nvPr/>
          </p:nvSpPr>
          <p:spPr>
            <a:xfrm>
              <a:off x="16242" y="142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781810" y="1415415"/>
            <a:ext cx="9919970" cy="444500"/>
            <a:chOff x="2826" y="2169"/>
            <a:chExt cx="15622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3"/>
                <p:cNvSpPr txBox="1"/>
                <p:nvPr/>
              </p:nvSpPr>
              <p:spPr>
                <a:xfrm>
                  <a:off x="2826" y="2169"/>
                  <a:ext cx="15622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并设降落伞离开跳伞塔时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速度为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求降落伞下落速度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" y="2169"/>
                  <a:ext cx="15622" cy="700"/>
                </a:xfrm>
                <a:prstGeom prst="rect">
                  <a:avLst/>
                </a:prstGeom>
                <a:blipFill>
                  <a:blip r:embed="rId6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17630" y="228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781810" y="2014220"/>
            <a:ext cx="4278630" cy="393700"/>
            <a:chOff x="2826" y="3112"/>
            <a:chExt cx="6738" cy="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4"/>
                <p:cNvSpPr txBox="1"/>
                <p:nvPr/>
              </p:nvSpPr>
              <p:spPr>
                <a:xfrm>
                  <a:off x="2826" y="3112"/>
                  <a:ext cx="6739" cy="6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与时间的函数关系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" y="3112"/>
                  <a:ext cx="6739" cy="620"/>
                </a:xfrm>
                <a:prstGeom prst="rect">
                  <a:avLst/>
                </a:prstGeom>
                <a:blipFill>
                  <a:blip r:embed="rId7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8922" y="314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781810" y="2720340"/>
            <a:ext cx="3768090" cy="429895"/>
            <a:chOff x="2826" y="4224"/>
            <a:chExt cx="6982" cy="677"/>
          </a:xfrm>
        </p:grpSpPr>
        <p:sp>
          <p:nvSpPr>
            <p:cNvPr id="2292" name="Text Box 244"/>
            <p:cNvSpPr txBox="1">
              <a:spLocks noChangeArrowheads="1"/>
            </p:cNvSpPr>
            <p:nvPr/>
          </p:nvSpPr>
          <p:spPr bwMode="auto">
            <a:xfrm>
              <a:off x="2826" y="4224"/>
              <a:ext cx="6982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ct val="50000"/>
                </a:spcBef>
                <a:buClrTx/>
                <a:buSzTx/>
                <a:buFontTx/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根据牛顿第二定律列方程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690" y="4292"/>
              <a:ext cx="4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80330" y="2502973"/>
            <a:ext cx="1367790" cy="1085850"/>
            <a:chOff x="8178" y="3991"/>
            <a:chExt cx="2154" cy="17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3" name="Object 245"/>
                <p:cNvSpPr txBox="1"/>
                <p:nvPr/>
              </p:nvSpPr>
              <p:spPr bwMode="auto">
                <a:xfrm>
                  <a:off x="8178" y="3991"/>
                  <a:ext cx="2154" cy="17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93" name="Object 2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78" y="3991"/>
                  <a:ext cx="2154" cy="17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9356" y="432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177075" y="2650928"/>
            <a:ext cx="1681480" cy="567055"/>
            <a:chOff x="9566" y="4224"/>
            <a:chExt cx="2648" cy="8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4" name="Object 246"/>
                <p:cNvSpPr txBox="1"/>
                <p:nvPr/>
              </p:nvSpPr>
              <p:spPr bwMode="auto">
                <a:xfrm>
                  <a:off x="9566" y="4252"/>
                  <a:ext cx="2648" cy="8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m:rPr>
                            <m:nor/>
                          </m:r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94" name="Object 2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566" y="4252"/>
                  <a:ext cx="2648" cy="8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/>
            <p:cNvSpPr txBox="1"/>
            <p:nvPr/>
          </p:nvSpPr>
          <p:spPr>
            <a:xfrm>
              <a:off x="11726" y="422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591355" y="3585546"/>
            <a:ext cx="1928495" cy="495300"/>
            <a:chOff x="5459" y="5634"/>
            <a:chExt cx="3037" cy="7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5"/>
                <p:cNvSpPr txBox="1"/>
                <p:nvPr/>
              </p:nvSpPr>
              <p:spPr>
                <a:xfrm>
                  <a:off x="5459" y="5634"/>
                  <a:ext cx="2968" cy="7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d>
                          <m:dPr>
                            <m:begChr m:val="|"/>
                            <m:endChr m:val="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200" baseline="-2500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  <m:r>
                              <a:rPr kumimoji="1" lang="en-US" altLang="zh-CN" sz="2200" baseline="-1400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=</m:t>
                            </m:r>
                            <m:r>
                              <a:rPr kumimoji="1" lang="en-US" altLang="zh-CN" sz="2200" b="0" i="0" baseline="-2500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e>
                        </m:d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16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9" y="5634"/>
                  <a:ext cx="2968" cy="780"/>
                </a:xfrm>
                <a:prstGeom prst="rect">
                  <a:avLst/>
                </a:prstGeom>
                <a:blipFill>
                  <a:blip r:embed="rId10"/>
                  <a:stretch>
                    <a:fillRect l="-13916" t="-108642" b="-1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8008" y="567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781810" y="4500880"/>
            <a:ext cx="2308225" cy="431165"/>
            <a:chOff x="2826" y="7028"/>
            <a:chExt cx="3635" cy="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8" name="Text Box 250"/>
                <p:cNvSpPr txBox="1">
                  <a:spLocks noChangeArrowheads="1"/>
                </p:cNvSpPr>
                <p:nvPr/>
              </p:nvSpPr>
              <p:spPr bwMode="auto">
                <a:xfrm>
                  <a:off x="2826" y="7028"/>
                  <a:ext cx="3635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1" lang="zh-CN" altLang="en-US" sz="22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分离变量</a:t>
                  </a:r>
                  <a14:m>
                    <m:oMath xmlns:m="http://schemas.openxmlformats.org/officeDocument/2006/math">
                      <m:r>
                        <a:rPr kumimoji="1" lang="zh-CN" altLang="en-US" sz="220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r>
                    <a:rPr kumimoji="1" lang="zh-CN" altLang="en-US" sz="22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得</a:t>
                  </a:r>
                </a:p>
              </p:txBody>
            </p:sp>
          </mc:Choice>
          <mc:Fallback xmlns="">
            <p:sp>
              <p:nvSpPr>
                <p:cNvPr id="2298" name="Text Box 2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26" y="7028"/>
                  <a:ext cx="3635" cy="679"/>
                </a:xfrm>
                <a:prstGeom prst="rect">
                  <a:avLst/>
                </a:prstGeom>
                <a:blipFill>
                  <a:blip r:embed="rId11"/>
                  <a:stretch>
                    <a:fillRect l="-3430" t="-12676" b="-2394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5714" y="707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622470" y="4260215"/>
            <a:ext cx="2554605" cy="914400"/>
            <a:chOff x="6030" y="6649"/>
            <a:chExt cx="4023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6"/>
                <p:cNvSpPr txBox="1"/>
                <p:nvPr/>
              </p:nvSpPr>
              <p:spPr>
                <a:xfrm>
                  <a:off x="6030" y="6649"/>
                  <a:ext cx="3828" cy="14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</m:den>
                        </m:f>
                        <m:r>
                          <a:rPr kumimoji="1" lang="zh-CN" altLang="en-US" sz="2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0" y="6649"/>
                  <a:ext cx="3828" cy="144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9565" y="6882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622470" y="5223846"/>
            <a:ext cx="3848100" cy="838200"/>
            <a:chOff x="6030" y="8214"/>
            <a:chExt cx="6060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7"/>
                <p:cNvSpPr txBox="1"/>
                <p:nvPr/>
              </p:nvSpPr>
              <p:spPr>
                <a:xfrm>
                  <a:off x="6030" y="8214"/>
                  <a:ext cx="6060" cy="13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</m:den>
                        </m:f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​​</m:t>
                        </m:r>
                        <m:r>
                          <m:rPr>
                            <m:nor/>
                          </m:r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0" y="8214"/>
                  <a:ext cx="6060" cy="13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11238" y="852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30" name="图片 29" descr="图示&#10;&#10;描述已自动生成">
            <a:extLst>
              <a:ext uri="{FF2B5EF4-FFF2-40B4-BE49-F238E27FC236}">
                <a16:creationId xmlns:a16="http://schemas.microsoft.com/office/drawing/2014/main" id="{120B9BC0-CA42-D5C6-3190-42FC0C5A9FC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600" y="2353859"/>
            <a:ext cx="1540361" cy="3037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6" grpId="0" animBg="1"/>
      <p:bldP spid="2196" grpId="1" animBg="1"/>
      <p:bldP spid="2290" grpId="0" bldLvl="0" animBg="1"/>
      <p:bldP spid="2290" grpId="1" animBg="1"/>
      <p:bldP spid="2297" grpId="0"/>
      <p:bldP spid="2297" grpId="1"/>
      <p:bldP spid="2300" grpId="0" animBg="1"/>
      <p:bldP spid="230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5715"/>
            <a:ext cx="12192000" cy="6863715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326" name="Text Box 14"/>
              <p:cNvSpPr txBox="1">
                <a:spLocks noChangeArrowheads="1"/>
              </p:cNvSpPr>
              <p:nvPr/>
            </p:nvSpPr>
            <p:spPr bwMode="auto">
              <a:xfrm>
                <a:off x="1612572" y="1906804"/>
                <a:ext cx="3460283" cy="429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利用初值条件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得</a:t>
                </a:r>
                <a:endParaRPr kumimoji="1" lang="zh-CN" alt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3326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2572" y="1906804"/>
                <a:ext cx="3460283" cy="429895"/>
              </a:xfrm>
              <a:prstGeom prst="rect">
                <a:avLst/>
              </a:prstGeom>
              <a:blipFill>
                <a:blip r:embed="rId2"/>
                <a:stretch>
                  <a:fillRect l="-2293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8" name="Text Box 16"/>
              <p:cNvSpPr txBox="1">
                <a:spLocks noChangeArrowheads="1"/>
              </p:cNvSpPr>
              <p:nvPr/>
            </p:nvSpPr>
            <p:spPr bwMode="auto">
              <a:xfrm>
                <a:off x="1612265" y="2767965"/>
                <a:ext cx="3921760" cy="429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代入上式后化简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得特解</a:t>
                </a:r>
              </a:p>
            </p:txBody>
          </p:sp>
        </mc:Choice>
        <mc:Fallback xmlns="">
          <p:sp>
            <p:nvSpPr>
              <p:cNvPr id="13328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2265" y="2767965"/>
                <a:ext cx="3921760" cy="429895"/>
              </a:xfrm>
              <a:prstGeom prst="rect">
                <a:avLst/>
              </a:prstGeom>
              <a:blipFill>
                <a:blip r:embed="rId3"/>
                <a:stretch>
                  <a:fillRect l="-2019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32" name="Line 20"/>
          <p:cNvSpPr>
            <a:spLocks noChangeShapeType="1"/>
          </p:cNvSpPr>
          <p:nvPr/>
        </p:nvSpPr>
        <p:spPr bwMode="auto">
          <a:xfrm>
            <a:off x="1649413" y="1492466"/>
            <a:ext cx="8893175" cy="0"/>
          </a:xfrm>
          <a:prstGeom prst="line">
            <a:avLst/>
          </a:prstGeom>
          <a:noFill/>
          <a:ln w="9525">
            <a:solidFill>
              <a:srgbClr val="11967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34" name="Text Box 22"/>
              <p:cNvSpPr txBox="1">
                <a:spLocks noChangeArrowheads="1"/>
              </p:cNvSpPr>
              <p:nvPr/>
            </p:nvSpPr>
            <p:spPr bwMode="auto">
              <a:xfrm>
                <a:off x="1612265" y="3629025"/>
                <a:ext cx="4164965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由此可以看出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随着时间的增加</a:t>
                </a:r>
                <a:r>
                  <a:rPr kumimoji="1" lang="en-US" altLang="zh-CN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,</a:t>
                </a:r>
                <a:endPara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334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2265" y="3629025"/>
                <a:ext cx="4164965" cy="429895"/>
              </a:xfrm>
              <a:prstGeom prst="rect">
                <a:avLst/>
              </a:prstGeom>
              <a:blipFill>
                <a:blip r:embed="rId4"/>
                <a:stretch>
                  <a:fillRect l="-1901" t="-12676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36" name="Text Box 24"/>
          <p:cNvSpPr txBox="1">
            <a:spLocks noChangeArrowheads="1"/>
          </p:cNvSpPr>
          <p:nvPr/>
        </p:nvSpPr>
        <p:spPr bwMode="auto">
          <a:xfrm>
            <a:off x="1611968" y="4498636"/>
            <a:ext cx="2754014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速度逐渐接近于常数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1612572" y="5351044"/>
            <a:ext cx="1944688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如图所示.</a:t>
            </a:r>
            <a:endParaRPr lang="en-US" altLang="zh-CN" sz="28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4"/>
              <p:cNvSpPr txBox="1"/>
              <p:nvPr/>
            </p:nvSpPr>
            <p:spPr>
              <a:xfrm>
                <a:off x="1612572" y="477521"/>
                <a:ext cx="5257800" cy="8382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den>
                      </m:f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r>
                        <m:rPr>
                          <m:nor/>
                        </m:rPr>
                        <a:rPr lang="en-US" altLang="zh-CN" sz="2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g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​​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num>
                        <m:den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den>
                      </m:f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 , 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𝑣</m:t>
                      </m:r>
                      <m:d>
                        <m:dPr>
                          <m:begChr m:val="|"/>
                          <m:endChr m:val="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aseline="-250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en-US" altLang="zh-CN" sz="2200" baseline="-140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sz="2200" baseline="-250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=0.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572" y="477521"/>
                <a:ext cx="52578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3847305" y="1702435"/>
            <a:ext cx="2451100" cy="838200"/>
            <a:chOff x="6369" y="2681"/>
            <a:chExt cx="3860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1"/>
                <p:cNvSpPr txBox="1"/>
                <p:nvPr/>
              </p:nvSpPr>
              <p:spPr>
                <a:xfrm>
                  <a:off x="6369" y="2681"/>
                  <a:ext cx="3860" cy="13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</m:den>
                        </m:f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m:rPr>
                            <m:nor/>
                          </m:r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) .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9" y="2681"/>
                  <a:ext cx="3860" cy="13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/>
            <p:cNvSpPr txBox="1"/>
            <p:nvPr/>
          </p:nvSpPr>
          <p:spPr>
            <a:xfrm>
              <a:off x="9607" y="300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734560" y="2585720"/>
            <a:ext cx="2974340" cy="730250"/>
            <a:chOff x="7456" y="4072"/>
            <a:chExt cx="4684" cy="1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对象 2"/>
                <p:cNvSpPr txBox="1"/>
                <p:nvPr/>
              </p:nvSpPr>
              <p:spPr>
                <a:xfrm>
                  <a:off x="7456" y="4072"/>
                  <a:ext cx="4684" cy="115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( 1−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− ​</m:t>
                                </m:r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𝑚</m:t>
                                    </m:r>
                                  </m:den>
                                </m:f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 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) .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5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6" y="4072"/>
                  <a:ext cx="4684" cy="115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/>
            <p:cNvSpPr txBox="1"/>
            <p:nvPr/>
          </p:nvSpPr>
          <p:spPr>
            <a:xfrm>
              <a:off x="11586" y="435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182457" y="4414938"/>
            <a:ext cx="1773555" cy="838200"/>
            <a:chOff x="7051" y="6902"/>
            <a:chExt cx="2793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对象 3"/>
                <p:cNvSpPr txBox="1"/>
                <p:nvPr/>
              </p:nvSpPr>
              <p:spPr>
                <a:xfrm>
                  <a:off x="7051" y="6902"/>
                  <a:ext cx="1140" cy="13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1" y="6902"/>
                  <a:ext cx="1140" cy="13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/>
            <p:cNvSpPr txBox="1"/>
            <p:nvPr/>
          </p:nvSpPr>
          <p:spPr>
            <a:xfrm>
              <a:off x="9356" y="7272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DF13660-D25A-51CB-C98B-9FF442D23408}"/>
              </a:ext>
            </a:extLst>
          </p:cNvPr>
          <p:cNvGrpSpPr/>
          <p:nvPr/>
        </p:nvGrpSpPr>
        <p:grpSpPr>
          <a:xfrm>
            <a:off x="212652" y="293115"/>
            <a:ext cx="11750631" cy="6267924"/>
            <a:chOff x="212652" y="293115"/>
            <a:chExt cx="11750631" cy="6267924"/>
          </a:xfrm>
        </p:grpSpPr>
        <p:sp>
          <p:nvSpPr>
            <p:cNvPr id="36" name="Rectangle 1">
              <a:extLst>
                <a:ext uri="{FF2B5EF4-FFF2-40B4-BE49-F238E27FC236}">
                  <a16:creationId xmlns:a16="http://schemas.microsoft.com/office/drawing/2014/main" id="{5F30ED75-3617-9602-054E-26F7691B77D8}"/>
                </a:ext>
              </a:extLst>
            </p:cNvPr>
            <p:cNvSpPr/>
            <p:nvPr/>
          </p:nvSpPr>
          <p:spPr>
            <a:xfrm>
              <a:off x="318764" y="6365572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1">
              <a:extLst>
                <a:ext uri="{FF2B5EF4-FFF2-40B4-BE49-F238E27FC236}">
                  <a16:creationId xmlns:a16="http://schemas.microsoft.com/office/drawing/2014/main" id="{26E2ACFD-3CA2-3031-CB85-1F91B2168C7E}"/>
                </a:ext>
              </a:extLst>
            </p:cNvPr>
            <p:cNvSpPr/>
            <p:nvPr/>
          </p:nvSpPr>
          <p:spPr>
            <a:xfrm rot="2659048">
              <a:off x="9955147" y="352896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FECCA8A-C3A8-E4EA-E205-1DFC2B993B44}"/>
                </a:ext>
              </a:extLst>
            </p:cNvPr>
            <p:cNvSpPr/>
            <p:nvPr/>
          </p:nvSpPr>
          <p:spPr>
            <a:xfrm>
              <a:off x="498151" y="6254334"/>
              <a:ext cx="2731135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可分离变量的微分方程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3281257-E27B-470B-1C2E-824F82160A93}"/>
                </a:ext>
              </a:extLst>
            </p:cNvPr>
            <p:cNvSpPr/>
            <p:nvPr/>
          </p:nvSpPr>
          <p:spPr>
            <a:xfrm>
              <a:off x="10228099" y="293115"/>
              <a:ext cx="1585595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第七章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C0D205E-66BC-EE75-5CC2-9A693E6BACA3}"/>
                </a:ext>
              </a:extLst>
            </p:cNvPr>
            <p:cNvCxnSpPr/>
            <p:nvPr/>
          </p:nvCxnSpPr>
          <p:spPr>
            <a:xfrm>
              <a:off x="212652" y="404046"/>
              <a:ext cx="946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5A3E949-785F-871B-D9B5-6DF29FD223ED}"/>
                </a:ext>
              </a:extLst>
            </p:cNvPr>
            <p:cNvCxnSpPr/>
            <p:nvPr/>
          </p:nvCxnSpPr>
          <p:spPr>
            <a:xfrm>
              <a:off x="3251283" y="6397471"/>
              <a:ext cx="87120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3329C606-851B-BF4B-CDFB-61AD9FF9A7E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639" y="3401173"/>
            <a:ext cx="2974340" cy="2588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6" grpId="0"/>
      <p:bldP spid="13326" grpId="1"/>
      <p:bldP spid="13328" grpId="0"/>
      <p:bldP spid="13328" grpId="1"/>
      <p:bldP spid="13334" grpId="0" animBg="1"/>
      <p:bldP spid="13334" grpId="1" animBg="1"/>
      <p:bldP spid="13336" grpId="0" animBg="1"/>
      <p:bldP spid="13336" grpId="1" animBg="1"/>
      <p:bldP spid="13338" grpId="0" animBg="1"/>
      <p:bldP spid="1333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959" y="538974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7346" name="Rectangle 2"/>
          <p:cNvSpPr>
            <a:spLocks noGrp="1" noChangeArrowheads="1"/>
          </p:cNvSpPr>
          <p:nvPr/>
        </p:nvSpPr>
        <p:spPr>
          <a:xfrm>
            <a:off x="734695" y="831215"/>
            <a:ext cx="1176020" cy="585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例4</a:t>
            </a:r>
            <a:endParaRPr kumimoji="1" lang="zh-CN" altLang="en-US" sz="2800" b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57372" name="Text Box 28"/>
          <p:cNvSpPr txBox="1">
            <a:spLocks noChangeArrowheads="1"/>
          </p:cNvSpPr>
          <p:nvPr/>
        </p:nvSpPr>
        <p:spPr bwMode="auto">
          <a:xfrm>
            <a:off x="734695" y="2741295"/>
            <a:ext cx="92710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7375" name="Text Box 31"/>
          <p:cNvSpPr txBox="1">
            <a:spLocks noChangeArrowheads="1"/>
          </p:cNvSpPr>
          <p:nvPr/>
        </p:nvSpPr>
        <p:spPr bwMode="auto">
          <a:xfrm>
            <a:off x="1529715" y="4933362"/>
            <a:ext cx="685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即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57380" name="Group 36"/>
          <p:cNvGrpSpPr/>
          <p:nvPr/>
        </p:nvGrpSpPr>
        <p:grpSpPr bwMode="auto">
          <a:xfrm>
            <a:off x="1320482" y="3936509"/>
            <a:ext cx="2990850" cy="679450"/>
            <a:chOff x="592" y="2352"/>
            <a:chExt cx="1884" cy="428"/>
          </a:xfrm>
        </p:grpSpPr>
        <p:sp>
          <p:nvSpPr>
            <p:cNvPr id="57381" name="Line 37"/>
            <p:cNvSpPr>
              <a:spLocks noChangeShapeType="1"/>
            </p:cNvSpPr>
            <p:nvPr/>
          </p:nvSpPr>
          <p:spPr bwMode="auto">
            <a:xfrm>
              <a:off x="2112" y="2352"/>
              <a:ext cx="364" cy="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7382" name="Line 38"/>
            <p:cNvSpPr>
              <a:spLocks noChangeShapeType="1"/>
            </p:cNvSpPr>
            <p:nvPr/>
          </p:nvSpPr>
          <p:spPr bwMode="auto">
            <a:xfrm flipH="1">
              <a:off x="1648" y="2352"/>
              <a:ext cx="672" cy="288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7383" name="Text Box 39"/>
            <p:cNvSpPr txBox="1">
              <a:spLocks noChangeArrowheads="1"/>
            </p:cNvSpPr>
            <p:nvPr/>
          </p:nvSpPr>
          <p:spPr bwMode="auto">
            <a:xfrm>
              <a:off x="592" y="2509"/>
              <a:ext cx="115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b="0" i="0" u="none" strike="noStrike" kern="1200" cap="none" spc="0" normalizeH="0" baseline="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lt"/>
                </a:rPr>
                <a:t>流量系数</a:t>
              </a: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endParaRPr>
            </a:p>
          </p:txBody>
        </p:sp>
      </p:grpSp>
      <p:grpSp>
        <p:nvGrpSpPr>
          <p:cNvPr id="57384" name="Group 40"/>
          <p:cNvGrpSpPr/>
          <p:nvPr/>
        </p:nvGrpSpPr>
        <p:grpSpPr bwMode="auto">
          <a:xfrm>
            <a:off x="3455669" y="3937961"/>
            <a:ext cx="2743200" cy="688975"/>
            <a:chOff x="1980" y="2352"/>
            <a:chExt cx="1728" cy="434"/>
          </a:xfrm>
        </p:grpSpPr>
        <p:sp>
          <p:nvSpPr>
            <p:cNvPr id="57385" name="Line 41"/>
            <p:cNvSpPr>
              <a:spLocks noChangeShapeType="1"/>
            </p:cNvSpPr>
            <p:nvPr/>
          </p:nvSpPr>
          <p:spPr bwMode="auto">
            <a:xfrm>
              <a:off x="2535" y="2352"/>
              <a:ext cx="204" cy="0"/>
            </a:xfrm>
            <a:prstGeom prst="line">
              <a:avLst/>
            </a:prstGeom>
            <a:noFill/>
            <a:ln w="19050">
              <a:solidFill>
                <a:srgbClr val="4A7B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7386" name="Line 42"/>
            <p:cNvSpPr>
              <a:spLocks noChangeShapeType="1"/>
            </p:cNvSpPr>
            <p:nvPr/>
          </p:nvSpPr>
          <p:spPr bwMode="auto">
            <a:xfrm>
              <a:off x="2631" y="2352"/>
              <a:ext cx="0" cy="204"/>
            </a:xfrm>
            <a:prstGeom prst="line">
              <a:avLst/>
            </a:prstGeom>
            <a:noFill/>
            <a:ln w="19050">
              <a:solidFill>
                <a:srgbClr val="6088A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7387" name="Text Box 43"/>
            <p:cNvSpPr txBox="1">
              <a:spLocks noChangeArrowheads="1"/>
            </p:cNvSpPr>
            <p:nvPr/>
          </p:nvSpPr>
          <p:spPr bwMode="auto">
            <a:xfrm>
              <a:off x="1980" y="2515"/>
              <a:ext cx="1728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b="0" i="0" u="none" strike="noStrike" kern="1200" cap="none" spc="0" normalizeH="0" baseline="0" dirty="0">
                  <a:solidFill>
                    <a:srgbClr val="4A7BA8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lt"/>
                </a:rPr>
                <a:t>孔口截面面积</a:t>
              </a:r>
            </a:p>
          </p:txBody>
        </p:sp>
      </p:grpSp>
      <p:grpSp>
        <p:nvGrpSpPr>
          <p:cNvPr id="57388" name="Group 44"/>
          <p:cNvGrpSpPr/>
          <p:nvPr/>
        </p:nvGrpSpPr>
        <p:grpSpPr bwMode="auto">
          <a:xfrm>
            <a:off x="4824094" y="3937962"/>
            <a:ext cx="3048000" cy="677863"/>
            <a:chOff x="2842" y="2352"/>
            <a:chExt cx="1920" cy="427"/>
          </a:xfrm>
        </p:grpSpPr>
        <p:sp>
          <p:nvSpPr>
            <p:cNvPr id="57389" name="Line 45"/>
            <p:cNvSpPr>
              <a:spLocks noChangeShapeType="1"/>
            </p:cNvSpPr>
            <p:nvPr/>
          </p:nvSpPr>
          <p:spPr bwMode="auto">
            <a:xfrm>
              <a:off x="2842" y="2352"/>
              <a:ext cx="192" cy="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7390" name="Line 46"/>
            <p:cNvSpPr>
              <a:spLocks noChangeShapeType="1"/>
            </p:cNvSpPr>
            <p:nvPr/>
          </p:nvSpPr>
          <p:spPr bwMode="auto">
            <a:xfrm>
              <a:off x="2922" y="2352"/>
              <a:ext cx="576" cy="24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7391" name="Text Box 47"/>
            <p:cNvSpPr txBox="1">
              <a:spLocks noChangeArrowheads="1"/>
            </p:cNvSpPr>
            <p:nvPr/>
          </p:nvSpPr>
          <p:spPr bwMode="auto">
            <a:xfrm>
              <a:off x="3514" y="2508"/>
              <a:ext cx="1248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zh-CN" altLang="en-US" sz="2200" b="0" i="0" u="none" strike="noStrike" kern="1200" cap="none" spc="0" normalizeH="0" baseline="0" dirty="0">
                  <a:solidFill>
                    <a:srgbClr val="A9D18E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lt"/>
                </a:rPr>
                <a:t>重力加速度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529715" y="826135"/>
            <a:ext cx="9764395" cy="444500"/>
            <a:chOff x="2449" y="1321"/>
            <a:chExt cx="15377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2449" y="1321"/>
                  <a:ext cx="14867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有高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的半球形容器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水从它的底部小孔流出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小孔横截面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9" y="1321"/>
                  <a:ext cx="14867" cy="7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17338" y="142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529715" y="1475740"/>
            <a:ext cx="6812280" cy="457200"/>
            <a:chOff x="2449" y="2344"/>
            <a:chExt cx="10728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47" name="Object 3"/>
                <p:cNvSpPr txBox="1"/>
                <p:nvPr/>
              </p:nvSpPr>
              <p:spPr bwMode="auto">
                <a:xfrm>
                  <a:off x="2449" y="2344"/>
                  <a:ext cx="10508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面积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=1​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cm</m:t>
                                </m:r>
                              </m:e>
                              <m:sup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.</m:t>
                            </m:r>
                          </m:e>
                        </m:func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开始时容器内盛满了水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734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9" y="2344"/>
                  <a:ext cx="10508" cy="7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12689" y="241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613650" y="1475740"/>
            <a:ext cx="4269105" cy="457200"/>
            <a:chOff x="12030" y="2344"/>
            <a:chExt cx="6723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2"/>
                <p:cNvSpPr txBox="1"/>
                <p:nvPr/>
              </p:nvSpPr>
              <p:spPr>
                <a:xfrm>
                  <a:off x="12030" y="2344"/>
                  <a:ext cx="6723" cy="6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求水从小孔流出过程中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0" y="2344"/>
                  <a:ext cx="6723" cy="660"/>
                </a:xfrm>
                <a:prstGeom prst="rect">
                  <a:avLst/>
                </a:prstGeom>
                <a:blipFill>
                  <a:blip r:embed="rId6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17826" y="248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29715" y="2138045"/>
            <a:ext cx="7480300" cy="444500"/>
            <a:chOff x="2449" y="3387"/>
            <a:chExt cx="11780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3"/>
                <p:cNvSpPr txBox="1"/>
                <p:nvPr/>
              </p:nvSpPr>
              <p:spPr>
                <a:xfrm>
                  <a:off x="2449" y="3387"/>
                  <a:ext cx="11780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容器里水面的高度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随时间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的变化规律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9" y="3387"/>
                  <a:ext cx="11780" cy="7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/>
            <p:cNvSpPr txBox="1"/>
            <p:nvPr/>
          </p:nvSpPr>
          <p:spPr>
            <a:xfrm>
              <a:off x="13355" y="350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529715" y="2769235"/>
            <a:ext cx="5010150" cy="419100"/>
            <a:chOff x="2449" y="4381"/>
            <a:chExt cx="7890" cy="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4"/>
                <p:cNvSpPr txBox="1"/>
                <p:nvPr/>
              </p:nvSpPr>
              <p:spPr>
                <a:xfrm>
                  <a:off x="2449" y="4381"/>
                  <a:ext cx="7891" cy="6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由力学知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水从孔口流出的流量为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9" y="4381"/>
                  <a:ext cx="7891" cy="660"/>
                </a:xfrm>
                <a:prstGeom prst="rect">
                  <a:avLst/>
                </a:prstGeom>
                <a:blipFill>
                  <a:blip r:embed="rId8"/>
                  <a:stretch>
                    <a:fillRect l="-852" b="-159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/>
            <p:cNvSpPr txBox="1"/>
            <p:nvPr/>
          </p:nvSpPr>
          <p:spPr>
            <a:xfrm>
              <a:off x="9277" y="441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338228" y="3398291"/>
            <a:ext cx="1167765" cy="914400"/>
            <a:chOff x="3827" y="5327"/>
            <a:chExt cx="1839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73" name="Object 29"/>
                <p:cNvSpPr txBox="1"/>
                <p:nvPr/>
              </p:nvSpPr>
              <p:spPr bwMode="auto">
                <a:xfrm>
                  <a:off x="3827" y="5327"/>
                  <a:ext cx="1800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𝑉</m:t>
                            </m:r>
                          </m:num>
                          <m:den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7373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27" y="5327"/>
                  <a:ext cx="1800" cy="14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/>
            <p:cNvSpPr txBox="1"/>
            <p:nvPr/>
          </p:nvSpPr>
          <p:spPr>
            <a:xfrm>
              <a:off x="5178" y="561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787776" y="3428374"/>
            <a:ext cx="1980565" cy="520700"/>
            <a:chOff x="5744" y="5465"/>
            <a:chExt cx="3119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74" name="Object 30"/>
                <p:cNvSpPr txBox="1"/>
                <p:nvPr/>
              </p:nvSpPr>
              <p:spPr bwMode="auto">
                <a:xfrm>
                  <a:off x="5744" y="5465"/>
                  <a:ext cx="2955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​​ </m:t>
                        </m:r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2​</m:t>
                            </m:r>
                            <m:r>
                              <m:rPr>
                                <m:nor/>
                              </m:rPr>
                              <a:rPr lang="en-US" altLang="zh-CN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  <m:r>
                              <a:rPr lang="en-US" altLang="zh-CN" sz="22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</m:rad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7374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44" y="5465"/>
                  <a:ext cx="2955" cy="8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本框 23"/>
            <p:cNvSpPr txBox="1"/>
            <p:nvPr/>
          </p:nvSpPr>
          <p:spPr>
            <a:xfrm>
              <a:off x="8375" y="570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153920" y="4888230"/>
            <a:ext cx="2527300" cy="520700"/>
            <a:chOff x="3432" y="7718"/>
            <a:chExt cx="3980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76" name="Object 32"/>
                <p:cNvSpPr txBox="1"/>
                <p:nvPr/>
              </p:nvSpPr>
              <p:spPr bwMode="auto">
                <a:xfrm>
                  <a:off x="3432" y="7718"/>
                  <a:ext cx="3980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𝑉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2​</m:t>
                            </m:r>
                            <m:r>
                              <m:rPr>
                                <m:nor/>
                              </m:rPr>
                              <a:rPr lang="en-US" altLang="zh-CN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  <m:r>
                              <a:rPr lang="en-US" altLang="zh-CN" sz="22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</m:rad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7376" name="Object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" y="7718"/>
                  <a:ext cx="3980" cy="8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/>
            <p:cNvSpPr txBox="1"/>
            <p:nvPr/>
          </p:nvSpPr>
          <p:spPr>
            <a:xfrm>
              <a:off x="6924" y="780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529715" y="5627370"/>
            <a:ext cx="6502400" cy="457200"/>
            <a:chOff x="2449" y="8882"/>
            <a:chExt cx="10240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对象 6"/>
                <p:cNvSpPr txBox="1"/>
                <p:nvPr/>
              </p:nvSpPr>
              <p:spPr>
                <a:xfrm>
                  <a:off x="2449" y="8882"/>
                  <a:ext cx="1024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其中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=0.62, 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</m:t>
                        </m:r>
                        <m:r>
                          <m:rPr>
                            <m:nor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cm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m:rPr>
                            <m:nor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, </m:t>
                        </m:r>
                        <m:r>
                          <m:rPr>
                            <m:nor/>
                          </m:r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=9.8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/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s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9" y="8882"/>
                  <a:ext cx="10240" cy="720"/>
                </a:xfrm>
                <a:prstGeom prst="rect">
                  <a:avLst/>
                </a:prstGeom>
                <a:blipFill>
                  <a:blip r:embed="rId12"/>
                  <a:stretch>
                    <a:fillRect l="-656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本框 27"/>
            <p:cNvSpPr txBox="1"/>
            <p:nvPr/>
          </p:nvSpPr>
          <p:spPr>
            <a:xfrm>
              <a:off x="11121" y="891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F8009F46-E048-ACAB-FBD3-30910C51E3A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706" y="2685721"/>
            <a:ext cx="3156042" cy="1855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46" grpId="1"/>
      <p:bldP spid="57372" grpId="0"/>
      <p:bldP spid="57372" grpId="1"/>
      <p:bldP spid="57375" grpId="0"/>
      <p:bldP spid="5737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496" name="Text Box 1088"/>
          <p:cNvSpPr txBox="1">
            <a:spLocks noChangeArrowheads="1"/>
          </p:cNvSpPr>
          <p:nvPr/>
        </p:nvSpPr>
        <p:spPr bwMode="auto">
          <a:xfrm>
            <a:off x="1642313" y="1461838"/>
            <a:ext cx="2743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对应下降体积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8501" name="Line 1093"/>
          <p:cNvSpPr>
            <a:spLocks noChangeShapeType="1"/>
          </p:cNvSpPr>
          <p:nvPr/>
        </p:nvSpPr>
        <p:spPr bwMode="auto">
          <a:xfrm>
            <a:off x="2900957" y="2540266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8503" name="Text Box 1095"/>
          <p:cNvSpPr txBox="1">
            <a:spLocks noChangeArrowheads="1"/>
          </p:cNvSpPr>
          <p:nvPr/>
        </p:nvSpPr>
        <p:spPr bwMode="auto">
          <a:xfrm>
            <a:off x="1642313" y="4068294"/>
            <a:ext cx="4267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因此得微分方程初值问题</a:t>
            </a:r>
          </a:p>
        </p:txBody>
      </p:sp>
      <p:sp>
        <p:nvSpPr>
          <p:cNvPr id="18540" name="AutoShape 1132"/>
          <p:cNvSpPr/>
          <p:nvPr/>
        </p:nvSpPr>
        <p:spPr bwMode="auto">
          <a:xfrm>
            <a:off x="2310390" y="490945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3" name="矩形标注 72"/>
          <p:cNvSpPr/>
          <p:nvPr/>
        </p:nvSpPr>
        <p:spPr>
          <a:xfrm>
            <a:off x="7044055" y="4975225"/>
            <a:ext cx="2804795" cy="603250"/>
          </a:xfrm>
          <a:prstGeom prst="wedgeRectCallout">
            <a:avLst>
              <a:gd name="adj1" fmla="val -68120"/>
              <a:gd name="adj2" fmla="val -31484"/>
            </a:avLst>
          </a:prstGeom>
          <a:solidFill>
            <a:srgbClr val="04926A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微小量分析法</a:t>
            </a:r>
            <a:endParaRPr kumimoji="1" lang="zh-CN" altLang="en-US" sz="280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642110" y="890270"/>
            <a:ext cx="7670800" cy="469265"/>
            <a:chOff x="2186" y="1422"/>
            <a:chExt cx="12080" cy="7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103"/>
                <p:cNvSpPr txBox="1"/>
                <p:nvPr/>
              </p:nvSpPr>
              <p:spPr bwMode="auto">
                <a:xfrm>
                  <a:off x="2186" y="1422"/>
                  <a:ext cx="12080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设在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, 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内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水面高度由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h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降到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 (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&lt;0),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4" name="Object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86" y="1422"/>
                  <a:ext cx="12080" cy="700"/>
                </a:xfrm>
                <a:prstGeom prst="rect">
                  <a:avLst/>
                </a:prstGeom>
                <a:blipFill>
                  <a:blip r:embed="rId3"/>
                  <a:stretch>
                    <a:fillRect l="-556" b="-164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12047" y="1482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10130" y="2121535"/>
            <a:ext cx="2057400" cy="478155"/>
            <a:chOff x="3238" y="3361"/>
            <a:chExt cx="3240" cy="7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98" name="Object 1090"/>
                <p:cNvSpPr txBox="1"/>
                <p:nvPr/>
              </p:nvSpPr>
              <p:spPr bwMode="auto">
                <a:xfrm>
                  <a:off x="3238" y="3394"/>
                  <a:ext cx="324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𝑉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π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𝑟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498" name="Object 10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38" y="3394"/>
                  <a:ext cx="3240" cy="720"/>
                </a:xfrm>
                <a:prstGeom prst="rect">
                  <a:avLst/>
                </a:prstGeom>
                <a:blipFill>
                  <a:blip r:embed="rId4"/>
                  <a:stretch>
                    <a:fillRect l="-59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5776" y="3361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161030" y="2750484"/>
            <a:ext cx="2451100" cy="571500"/>
            <a:chOff x="4578" y="4304"/>
            <a:chExt cx="3860" cy="9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99" name="Object 1091"/>
                <p:cNvSpPr txBox="1"/>
                <p:nvPr/>
              </p:nvSpPr>
              <p:spPr bwMode="auto">
                <a:xfrm>
                  <a:off x="4578" y="4304"/>
                  <a:ext cx="3860" cy="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−(1−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499" name="Object 10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78" y="4304"/>
                  <a:ext cx="3860" cy="9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7950" y="4458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321300" y="2760644"/>
            <a:ext cx="1638300" cy="495300"/>
            <a:chOff x="7980" y="4320"/>
            <a:chExt cx="2580" cy="7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00" name="Object 1092"/>
                <p:cNvSpPr txBox="1"/>
                <p:nvPr/>
              </p:nvSpPr>
              <p:spPr bwMode="auto">
                <a:xfrm>
                  <a:off x="7980" y="4320"/>
                  <a:ext cx="2580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500" name="Object 10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80" y="4320"/>
                  <a:ext cx="2580" cy="78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10240" y="4405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310130" y="3412490"/>
            <a:ext cx="3195955" cy="556260"/>
            <a:chOff x="3238" y="5394"/>
            <a:chExt cx="5033" cy="8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02" name="Object 1094"/>
                <p:cNvSpPr txBox="1"/>
                <p:nvPr/>
              </p:nvSpPr>
              <p:spPr bwMode="auto">
                <a:xfrm>
                  <a:off x="3238" y="5394"/>
                  <a:ext cx="482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𝑉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π</m:t>
                        </m:r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502" name="Object 10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38" y="5394"/>
                  <a:ext cx="4820" cy="720"/>
                </a:xfrm>
                <a:prstGeom prst="rect">
                  <a:avLst/>
                </a:prstGeom>
                <a:blipFill>
                  <a:blip r:embed="rId7"/>
                  <a:stretch>
                    <a:fillRect l="-39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本框 11"/>
            <p:cNvSpPr txBox="1"/>
            <p:nvPr/>
          </p:nvSpPr>
          <p:spPr>
            <a:xfrm>
              <a:off x="7980" y="5591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592070" y="4769485"/>
            <a:ext cx="4023995" cy="520700"/>
            <a:chOff x="3682" y="7531"/>
            <a:chExt cx="6337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04" name="Object 1096"/>
                <p:cNvSpPr txBox="1"/>
                <p:nvPr/>
              </p:nvSpPr>
              <p:spPr bwMode="auto">
                <a:xfrm>
                  <a:off x="3682" y="7531"/>
                  <a:ext cx="6337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𝑘𝑆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2​​</m:t>
                            </m:r>
                            <m:r>
                              <m:rPr>
                                <m:nor/>
                              </m:rPr>
                              <a:rPr lang="en-US" altLang="zh-CN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  <m:r>
                              <a:rPr lang="en-US" altLang="zh-CN" sz="22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π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504" name="Object 10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82" y="7531"/>
                  <a:ext cx="6337" cy="8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/>
            <p:cNvSpPr txBox="1"/>
            <p:nvPr/>
          </p:nvSpPr>
          <p:spPr>
            <a:xfrm>
              <a:off x="8773" y="7651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592070" y="5530850"/>
            <a:ext cx="2146935" cy="461645"/>
            <a:chOff x="3682" y="8730"/>
            <a:chExt cx="3381" cy="7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17" name="Object 1109"/>
                <p:cNvSpPr txBox="1"/>
                <p:nvPr/>
              </p:nvSpPr>
              <p:spPr bwMode="auto">
                <a:xfrm>
                  <a:off x="3682" y="8730"/>
                  <a:ext cx="3381" cy="6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​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d>
                          <m:dPr>
                            <m:begChr m:val="|"/>
                            <m:endChr m:val="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200" baseline="-250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  <m:r>
                              <a:rPr kumimoji="1" lang="en-US" altLang="zh-CN" sz="2200" baseline="-140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=</m:t>
                            </m:r>
                            <m:r>
                              <a:rPr kumimoji="1" lang="en-US" altLang="zh-CN" sz="2200" baseline="-250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e>
                        </m:d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517" name="Object 1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82" y="8730"/>
                  <a:ext cx="3381" cy="617"/>
                </a:xfrm>
                <a:prstGeom prst="rect">
                  <a:avLst/>
                </a:prstGeom>
                <a:blipFill>
                  <a:blip r:embed="rId9"/>
                  <a:stretch>
                    <a:fillRect l="-12216" t="-135385" b="-21846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5684" y="8778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pic>
        <p:nvPicPr>
          <p:cNvPr id="19" name="图片 18" descr="图示&#10;&#10;描述已自动生成">
            <a:extLst>
              <a:ext uri="{FF2B5EF4-FFF2-40B4-BE49-F238E27FC236}">
                <a16:creationId xmlns:a16="http://schemas.microsoft.com/office/drawing/2014/main" id="{6D8D3EAD-1EB5-2EFD-FE21-D366A904965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60" y="2427340"/>
            <a:ext cx="3156042" cy="1855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96" grpId="0"/>
      <p:bldP spid="18496" grpId="1"/>
      <p:bldP spid="18503" grpId="0"/>
      <p:bldP spid="18503" grpId="1"/>
      <p:bldP spid="18540" grpId="0" animBg="1"/>
      <p:bldP spid="18540" grpId="1" animBg="1"/>
      <p:bldP spid="73" grpId="0" animBg="1"/>
      <p:bldP spid="7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518" name="Text Box 1110"/>
          <p:cNvSpPr txBox="1">
            <a:spLocks noChangeArrowheads="1"/>
          </p:cNvSpPr>
          <p:nvPr/>
        </p:nvSpPr>
        <p:spPr bwMode="auto">
          <a:xfrm>
            <a:off x="3057934" y="2490246"/>
            <a:ext cx="3048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将方程分离变量</a:t>
            </a: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3057934" y="3842814"/>
            <a:ext cx="2667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两端积分,得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3057934" y="1191057"/>
                <a:ext cx="5740400" cy="5969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𝑘𝑆</m:t>
                      </m:r>
                      <m:rad>
                        <m:radPr>
                          <m:degHide m:val="on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2​​</m:t>
                          </m:r>
                          <m:r>
                            <m:rPr>
                              <m:nor/>
                            </m:rPr>
                            <a:rPr lang="en-US" altLang="zh-CN" sz="2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g</m:t>
                          </m:r>
                          <m:r>
                            <a:rPr lang="en-US" altLang="zh-CN" sz="2200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</m:rad>
                      <m:r>
                        <m:rPr>
                          <m:sty m:val="p"/>
                        </m:rP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​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r>
                        <m:rPr>
                          <m:sty m:val="p"/>
                        </m:rPr>
                        <a:rPr kumimoji="1" lang="en-US" altLang="zh-CN" sz="2200" i="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π</m:t>
                      </m:r>
                      <m:d>
                        <m:d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</m:e>
                            <m:sup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​​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​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d>
                        <m:dPr>
                          <m:begChr m:val="|"/>
                          <m:endChr m:val="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aseline="-250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en-US" altLang="zh-CN" sz="2200" baseline="-140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sz="2200" baseline="-250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=1.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934" y="1191057"/>
                <a:ext cx="5740400" cy="596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32" name="Line 20"/>
          <p:cNvSpPr>
            <a:spLocks noChangeShapeType="1"/>
          </p:cNvSpPr>
          <p:nvPr/>
        </p:nvSpPr>
        <p:spPr bwMode="auto">
          <a:xfrm>
            <a:off x="1649413" y="2084286"/>
            <a:ext cx="8893175" cy="0"/>
          </a:xfrm>
          <a:prstGeom prst="line">
            <a:avLst/>
          </a:prstGeom>
          <a:noFill/>
          <a:ln w="9525">
            <a:solidFill>
              <a:srgbClr val="11967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477510" y="2345055"/>
            <a:ext cx="4123055" cy="965200"/>
            <a:chOff x="8906" y="3693"/>
            <a:chExt cx="6493" cy="15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19" name="Object 1111"/>
                <p:cNvSpPr txBox="1"/>
                <p:nvPr/>
              </p:nvSpPr>
              <p:spPr bwMode="auto">
                <a:xfrm>
                  <a:off x="8906" y="3693"/>
                  <a:ext cx="6493" cy="1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π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𝑘𝑆</m:t>
                            </m:r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2​​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g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(2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519" name="Object 1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06" y="3693"/>
                  <a:ext cx="6493" cy="15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14136" y="3987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265420" y="3643630"/>
            <a:ext cx="4546600" cy="990600"/>
            <a:chOff x="8572" y="5738"/>
            <a:chExt cx="7160" cy="1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35"/>
                <p:cNvSpPr txBox="1"/>
                <p:nvPr/>
              </p:nvSpPr>
              <p:spPr bwMode="auto">
                <a:xfrm>
                  <a:off x="8572" y="5738"/>
                  <a:ext cx="7160" cy="15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π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𝑘𝑆</m:t>
                            </m:r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2​​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g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h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5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h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72" y="5738"/>
                  <a:ext cx="7160" cy="15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14136" y="6090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58160" y="5132070"/>
            <a:ext cx="3771900" cy="596900"/>
            <a:chOff x="5096" y="8082"/>
            <a:chExt cx="5940" cy="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2"/>
                <p:cNvSpPr txBox="1"/>
                <p:nvPr/>
              </p:nvSpPr>
              <p:spPr>
                <a:xfrm>
                  <a:off x="5096" y="8082"/>
                  <a:ext cx="5940" cy="9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利用初值条件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d>
                          <m:dPr>
                            <m:begChr m:val="|"/>
                            <m:endChr m:val="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200" baseline="-250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  <m:r>
                              <a:rPr kumimoji="1" lang="en-US" altLang="zh-CN" sz="2200" baseline="-140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=</m:t>
                            </m:r>
                            <m:r>
                              <a:rPr kumimoji="1" lang="en-US" altLang="zh-CN" sz="2200" baseline="-250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e>
                        </m:d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得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6" y="8082"/>
                  <a:ext cx="5940" cy="940"/>
                </a:xfrm>
                <a:prstGeom prst="rect">
                  <a:avLst/>
                </a:prstGeom>
                <a:blipFill>
                  <a:blip r:embed="rId5"/>
                  <a:stretch>
                    <a:fillRect l="-1133" t="-89796" b="-1112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/>
            <p:cNvSpPr txBox="1"/>
            <p:nvPr/>
          </p:nvSpPr>
          <p:spPr>
            <a:xfrm>
              <a:off x="10548" y="8180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632235" y="4959350"/>
            <a:ext cx="1463040" cy="990600"/>
            <a:chOff x="10571" y="7810"/>
            <a:chExt cx="2304" cy="1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41"/>
                <p:cNvSpPr txBox="1"/>
                <p:nvPr/>
              </p:nvSpPr>
              <p:spPr bwMode="auto">
                <a:xfrm>
                  <a:off x="10571" y="7810"/>
                  <a:ext cx="2304" cy="15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14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15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" name="Object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71" y="7810"/>
                  <a:ext cx="2304" cy="15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12387" y="8262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18" grpId="0"/>
      <p:bldP spid="18518" grpId="1"/>
      <p:bldP spid="16" grpId="0"/>
      <p:bldP spid="1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矩形标注 72"/>
          <p:cNvSpPr/>
          <p:nvPr/>
        </p:nvSpPr>
        <p:spPr>
          <a:xfrm>
            <a:off x="3004185" y="5301615"/>
            <a:ext cx="3338195" cy="490855"/>
          </a:xfrm>
          <a:prstGeom prst="wedgeRectCallout">
            <a:avLst>
              <a:gd name="adj1" fmla="val -48442"/>
              <a:gd name="adj2" fmla="val -113519"/>
            </a:avLst>
          </a:prstGeom>
          <a:solidFill>
            <a:srgbClr val="04926A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容器中水流完所需的时间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529080" y="920115"/>
            <a:ext cx="4813300" cy="1016000"/>
            <a:chOff x="2328" y="1289"/>
            <a:chExt cx="7580" cy="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1"/>
                <p:cNvSpPr txBox="1"/>
                <p:nvPr/>
              </p:nvSpPr>
              <p:spPr>
                <a:xfrm>
                  <a:off x="2328" y="1289"/>
                  <a:ext cx="7580" cy="16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∴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14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π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15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𝑘𝑆</m:t>
                            </m:r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g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(1−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10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7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7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" name="对象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8" y="1289"/>
                  <a:ext cx="7580" cy="1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/>
            <p:cNvSpPr txBox="1"/>
            <p:nvPr/>
          </p:nvSpPr>
          <p:spPr>
            <a:xfrm>
              <a:off x="8588" y="166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529080" y="2160905"/>
            <a:ext cx="8445500" cy="457200"/>
            <a:chOff x="2328" y="3243"/>
            <a:chExt cx="13300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4"/>
                <p:cNvSpPr txBox="1"/>
                <p:nvPr/>
              </p:nvSpPr>
              <p:spPr>
                <a:xfrm>
                  <a:off x="2328" y="3243"/>
                  <a:ext cx="1330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将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=0.62, 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−4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m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, </m:t>
                        </m:r>
                        <m:r>
                          <m:rPr>
                            <m:nor/>
                          </m:r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=0.98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/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代入上式并计算得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8" y="3243"/>
                  <a:ext cx="13300" cy="720"/>
                </a:xfrm>
                <a:prstGeom prst="rect">
                  <a:avLst/>
                </a:prstGeom>
                <a:blipFill>
                  <a:blip r:embed="rId4"/>
                  <a:stretch>
                    <a:fillRect l="-505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13314" y="331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934210" y="2842895"/>
            <a:ext cx="4521200" cy="889000"/>
            <a:chOff x="2966" y="4317"/>
            <a:chExt cx="7120" cy="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对象 27"/>
                <p:cNvSpPr txBox="1"/>
                <p:nvPr/>
              </p:nvSpPr>
              <p:spPr>
                <a:xfrm>
                  <a:off x="2966" y="4317"/>
                  <a:ext cx="7120" cy="14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=1.068×1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4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(1−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10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7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7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h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8" name="对象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6" y="4317"/>
                  <a:ext cx="7120" cy="14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9190" y="462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529080" y="3956685"/>
            <a:ext cx="6832600" cy="444500"/>
            <a:chOff x="2328" y="6071"/>
            <a:chExt cx="10760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5"/>
                <p:cNvSpPr txBox="1"/>
                <p:nvPr/>
              </p:nvSpPr>
              <p:spPr>
                <a:xfrm>
                  <a:off x="2328" y="6071"/>
                  <a:ext cx="10760" cy="7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即为容器里水面的高度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随时间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的变化规律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8" y="6071"/>
                  <a:ext cx="10760" cy="70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0564" y="613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529080" y="4625975"/>
            <a:ext cx="5715000" cy="457200"/>
            <a:chOff x="2328" y="7125"/>
            <a:chExt cx="9000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7"/>
                <p:cNvSpPr txBox="1"/>
                <p:nvPr/>
              </p:nvSpPr>
              <p:spPr>
                <a:xfrm>
                  <a:off x="2328" y="7125"/>
                  <a:ext cx="900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当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时</m:t>
                        </m:r>
                        <m:r>
                          <a:rPr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=1.068×1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s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=2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58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min</m:t>
                        </m:r>
                        <m: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8" y="7125"/>
                  <a:ext cx="9000" cy="720"/>
                </a:xfrm>
                <a:prstGeom prst="rect">
                  <a:avLst/>
                </a:prstGeom>
                <a:blipFill>
                  <a:blip r:embed="rId7"/>
                  <a:stretch>
                    <a:fillRect l="-747" b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10278" y="712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17" name="图片 16" descr="图示&#10;&#10;描述已自动生成">
            <a:extLst>
              <a:ext uri="{FF2B5EF4-FFF2-40B4-BE49-F238E27FC236}">
                <a16:creationId xmlns:a16="http://schemas.microsoft.com/office/drawing/2014/main" id="{723D4316-705F-F634-8A6E-DB55D9DB8DE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608" y="3397159"/>
            <a:ext cx="3156042" cy="1855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eb656470-4a4f-4713-a38d-44dd875fe0d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1046</Words>
  <Application>Microsoft Office PowerPoint</Application>
  <PresentationFormat>宽屏</PresentationFormat>
  <Paragraphs>153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434</cp:revision>
  <dcterms:created xsi:type="dcterms:W3CDTF">2022-03-21T05:54:00Z</dcterms:created>
  <dcterms:modified xsi:type="dcterms:W3CDTF">2023-07-05T07:45:22Z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