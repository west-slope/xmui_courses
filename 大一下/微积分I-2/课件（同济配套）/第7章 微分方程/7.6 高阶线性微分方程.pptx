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7" r:id="rId2"/>
    <p:sldId id="679" r:id="rId3"/>
    <p:sldId id="664" r:id="rId4"/>
    <p:sldId id="877" r:id="rId5"/>
    <p:sldId id="264" r:id="rId6"/>
    <p:sldId id="778" r:id="rId7"/>
    <p:sldId id="747" r:id="rId8"/>
    <p:sldId id="779" r:id="rId9"/>
    <p:sldId id="780" r:id="rId10"/>
    <p:sldId id="781" r:id="rId11"/>
    <p:sldId id="748" r:id="rId12"/>
    <p:sldId id="783" r:id="rId13"/>
    <p:sldId id="782" r:id="rId14"/>
    <p:sldId id="785" r:id="rId15"/>
    <p:sldId id="786" r:id="rId16"/>
    <p:sldId id="787" r:id="rId17"/>
    <p:sldId id="788" r:id="rId18"/>
    <p:sldId id="789" r:id="rId19"/>
    <p:sldId id="790" r:id="rId20"/>
    <p:sldId id="784" r:id="rId21"/>
    <p:sldId id="791" r:id="rId22"/>
    <p:sldId id="792" r:id="rId23"/>
    <p:sldId id="793" r:id="rId24"/>
    <p:sldId id="794" r:id="rId25"/>
    <p:sldId id="796" r:id="rId26"/>
    <p:sldId id="797" r:id="rId27"/>
    <p:sldId id="731" r:id="rId28"/>
    <p:sldId id="795" r:id="rId29"/>
    <p:sldId id="798" r:id="rId30"/>
    <p:sldId id="800" r:id="rId31"/>
    <p:sldId id="364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822" userDrawn="1">
          <p15:clr>
            <a:srgbClr val="A4A3A4"/>
          </p15:clr>
        </p15:guide>
        <p15:guide id="2" orient="horz" pos="23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04926A"/>
    <a:srgbClr val="4A7BA8"/>
    <a:srgbClr val="335AE6"/>
    <a:srgbClr val="EEF9FE"/>
    <a:srgbClr val="019B4E"/>
    <a:srgbClr val="1D9D79"/>
    <a:srgbClr val="BBBBBB"/>
    <a:srgbClr val="E3F0DB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60" autoAdjust="0"/>
    <p:restoredTop sz="97078" autoAdjust="0"/>
  </p:normalViewPr>
  <p:slideViewPr>
    <p:cSldViewPr snapToGrid="0" showGuides="1">
      <p:cViewPr varScale="1">
        <p:scale>
          <a:sx n="76" d="100"/>
          <a:sy n="76" d="100"/>
        </p:scale>
        <p:origin x="60" y="84"/>
      </p:cViewPr>
      <p:guideLst>
        <p:guide pos="1822"/>
        <p:guide orient="horz" pos="23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6537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10114638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7050" y="6461760"/>
            <a:ext cx="287020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高阶线性微分方程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387590" y="112357"/>
            <a:ext cx="158559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第七章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9F15E1A-2432-16D8-5033-A7525F06E329}"/>
              </a:ext>
            </a:extLst>
          </p:cNvPr>
          <p:cNvCxnSpPr/>
          <p:nvPr userDrawn="1"/>
        </p:nvCxnSpPr>
        <p:spPr>
          <a:xfrm>
            <a:off x="-9525" y="247650"/>
            <a:ext cx="9820275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0C3CCA9-9D2F-69A9-632F-454A78A15780}"/>
              </a:ext>
            </a:extLst>
          </p:cNvPr>
          <p:cNvCxnSpPr/>
          <p:nvPr userDrawn="1"/>
        </p:nvCxnSpPr>
        <p:spPr>
          <a:xfrm>
            <a:off x="2933700" y="6604635"/>
            <a:ext cx="92520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18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6.jpeg"/><Relationship Id="rId7" Type="http://schemas.openxmlformats.org/officeDocument/2006/relationships/image" Target="../media/image20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6.jpe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39.png"/><Relationship Id="rId5" Type="http://schemas.openxmlformats.org/officeDocument/2006/relationships/image" Target="../media/image203.png"/><Relationship Id="rId10" Type="http://schemas.openxmlformats.org/officeDocument/2006/relationships/image" Target="../media/image42.png"/><Relationship Id="rId4" Type="http://schemas.openxmlformats.org/officeDocument/2006/relationships/slide" Target="slide2.xml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Relationship Id="rId1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6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2.png"/><Relationship Id="rId7" Type="http://schemas.openxmlformats.org/officeDocument/2006/relationships/image" Target="../media/image6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70.png"/><Relationship Id="rId4" Type="http://schemas.openxmlformats.org/officeDocument/2006/relationships/image" Target="../media/image53.png"/><Relationship Id="rId9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.png"/><Relationship Id="rId5" Type="http://schemas.openxmlformats.org/officeDocument/2006/relationships/image" Target="../media/image67.png"/><Relationship Id="rId10" Type="http://schemas.openxmlformats.org/officeDocument/2006/relationships/image" Target="../media/image69.png"/><Relationship Id="rId4" Type="http://schemas.openxmlformats.org/officeDocument/2006/relationships/image" Target="../media/image66.png"/><Relationship Id="rId9" Type="http://schemas.openxmlformats.org/officeDocument/2006/relationships/image" Target="../media/image7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6.png"/><Relationship Id="rId3" Type="http://schemas.openxmlformats.org/officeDocument/2006/relationships/image" Target="../media/image82.png"/><Relationship Id="rId7" Type="http://schemas.openxmlformats.org/officeDocument/2006/relationships/image" Target="../media/image850.png"/><Relationship Id="rId12" Type="http://schemas.openxmlformats.org/officeDocument/2006/relationships/image" Target="../media/image9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8.png"/><Relationship Id="rId4" Type="http://schemas.openxmlformats.org/officeDocument/2006/relationships/image" Target="../media/image77.png"/><Relationship Id="rId9" Type="http://schemas.openxmlformats.org/officeDocument/2006/relationships/image" Target="../media/image84.png"/><Relationship Id="rId14" Type="http://schemas.openxmlformats.org/officeDocument/2006/relationships/image" Target="../media/image8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9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8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7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107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13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0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5" Type="http://schemas.openxmlformats.org/officeDocument/2006/relationships/image" Target="../media/image109.png"/><Relationship Id="rId4" Type="http://schemas.openxmlformats.org/officeDocument/2006/relationships/image" Target="../media/image1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12" Type="http://schemas.openxmlformats.org/officeDocument/2006/relationships/image" Target="../media/image1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7.png"/><Relationship Id="rId5" Type="http://schemas.openxmlformats.org/officeDocument/2006/relationships/image" Target="../media/image115.png"/><Relationship Id="rId10" Type="http://schemas.openxmlformats.org/officeDocument/2006/relationships/image" Target="../media/image126.png"/><Relationship Id="rId4" Type="http://schemas.openxmlformats.org/officeDocument/2006/relationships/image" Target="../media/image110.png"/><Relationship Id="rId9" Type="http://schemas.openxmlformats.org/officeDocument/2006/relationships/image" Target="../media/image125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0.png"/><Relationship Id="rId3" Type="http://schemas.openxmlformats.org/officeDocument/2006/relationships/image" Target="../media/image130.png"/><Relationship Id="rId7" Type="http://schemas.openxmlformats.org/officeDocument/2006/relationships/image" Target="../media/image122.png"/><Relationship Id="rId12" Type="http://schemas.openxmlformats.org/officeDocument/2006/relationships/image" Target="../media/image1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11" Type="http://schemas.openxmlformats.org/officeDocument/2006/relationships/image" Target="../media/image128.png"/><Relationship Id="rId5" Type="http://schemas.openxmlformats.org/officeDocument/2006/relationships/image" Target="../media/image132.png"/><Relationship Id="rId10" Type="http://schemas.openxmlformats.org/officeDocument/2006/relationships/image" Target="../media/image135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8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5" Type="http://schemas.openxmlformats.org/officeDocument/2006/relationships/image" Target="../media/image143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4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145.png"/><Relationship Id="rId5" Type="http://schemas.openxmlformats.org/officeDocument/2006/relationships/image" Target="../media/image141.png"/><Relationship Id="rId4" Type="http://schemas.openxmlformats.org/officeDocument/2006/relationships/image" Target="../media/image78.png"/><Relationship Id="rId9" Type="http://schemas.openxmlformats.org/officeDocument/2006/relationships/image" Target="../media/image15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0.png"/><Relationship Id="rId13" Type="http://schemas.openxmlformats.org/officeDocument/2006/relationships/image" Target="../media/image158.png"/><Relationship Id="rId3" Type="http://schemas.openxmlformats.org/officeDocument/2006/relationships/image" Target="../media/image151.png"/><Relationship Id="rId7" Type="http://schemas.openxmlformats.org/officeDocument/2006/relationships/image" Target="../media/image153.png"/><Relationship Id="rId12" Type="http://schemas.openxmlformats.org/officeDocument/2006/relationships/image" Target="../media/image1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5" Type="http://schemas.openxmlformats.org/officeDocument/2006/relationships/image" Target="../media/image1480.png"/><Relationship Id="rId10" Type="http://schemas.openxmlformats.org/officeDocument/2006/relationships/image" Target="../media/image156.png"/><Relationship Id="rId4" Type="http://schemas.openxmlformats.org/officeDocument/2006/relationships/image" Target="../media/image148.png"/><Relationship Id="rId9" Type="http://schemas.openxmlformats.org/officeDocument/2006/relationships/image" Target="../media/image15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59.png"/><Relationship Id="rId9" Type="http://schemas.openxmlformats.org/officeDocument/2006/relationships/image" Target="../media/image16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72.png"/><Relationship Id="rId7" Type="http://schemas.openxmlformats.org/officeDocument/2006/relationships/image" Target="../media/image175.png"/><Relationship Id="rId12" Type="http://schemas.openxmlformats.org/officeDocument/2006/relationships/image" Target="../media/image180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0.png"/><Relationship Id="rId10" Type="http://schemas.openxmlformats.org/officeDocument/2006/relationships/image" Target="../media/image178.png"/><Relationship Id="rId4" Type="http://schemas.openxmlformats.org/officeDocument/2006/relationships/image" Target="../media/image173.png"/><Relationship Id="rId9" Type="http://schemas.openxmlformats.org/officeDocument/2006/relationships/image" Target="../media/image17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3" Type="http://schemas.openxmlformats.org/officeDocument/2006/relationships/image" Target="../media/image181.png"/><Relationship Id="rId7" Type="http://schemas.openxmlformats.org/officeDocument/2006/relationships/image" Target="../media/image18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0.png"/><Relationship Id="rId5" Type="http://schemas.openxmlformats.org/officeDocument/2006/relationships/image" Target="../media/image183.png"/><Relationship Id="rId10" Type="http://schemas.openxmlformats.org/officeDocument/2006/relationships/image" Target="../media/image1860.png"/><Relationship Id="rId4" Type="http://schemas.openxmlformats.org/officeDocument/2006/relationships/image" Target="../media/image182.png"/><Relationship Id="rId9" Type="http://schemas.openxmlformats.org/officeDocument/2006/relationships/image" Target="../media/image18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3" Type="http://schemas.openxmlformats.org/officeDocument/2006/relationships/image" Target="../media/image187.png"/><Relationship Id="rId7" Type="http://schemas.openxmlformats.org/officeDocument/2006/relationships/image" Target="../media/image19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5" Type="http://schemas.openxmlformats.org/officeDocument/2006/relationships/image" Target="../media/image189.png"/><Relationship Id="rId10" Type="http://schemas.openxmlformats.org/officeDocument/2006/relationships/image" Target="../media/image194.png"/><Relationship Id="rId4" Type="http://schemas.openxmlformats.org/officeDocument/2006/relationships/image" Target="../media/image188.png"/><Relationship Id="rId9" Type="http://schemas.openxmlformats.org/officeDocument/2006/relationships/image" Target="../media/image19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image" Target="../media/image1950.png"/><Relationship Id="rId7" Type="http://schemas.openxmlformats.org/officeDocument/2006/relationships/image" Target="../media/image1980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8.png"/><Relationship Id="rId11" Type="http://schemas.openxmlformats.org/officeDocument/2006/relationships/image" Target="../media/image152.png"/><Relationship Id="rId5" Type="http://schemas.openxmlformats.org/officeDocument/2006/relationships/image" Target="../media/image197.png"/><Relationship Id="rId10" Type="http://schemas.openxmlformats.org/officeDocument/2006/relationships/image" Target="../media/image201.png"/><Relationship Id="rId4" Type="http://schemas.openxmlformats.org/officeDocument/2006/relationships/image" Target="../media/image196.png"/><Relationship Id="rId9" Type="http://schemas.openxmlformats.org/officeDocument/2006/relationships/image" Target="../media/image20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>
            <a:extLst>
              <a:ext uri="{FF2B5EF4-FFF2-40B4-BE49-F238E27FC236}">
                <a16:creationId xmlns:a16="http://schemas.microsoft.com/office/drawing/2014/main" id="{7E27F1AC-AD87-4217-935F-6A5D24FFC9D3}"/>
              </a:ext>
            </a:extLst>
          </p:cNvPr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3397C8-B2D9-4E67-AF1E-E82D608FF52A}"/>
              </a:ext>
            </a:extLst>
          </p:cNvPr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A78A399D-A9FF-4852-908C-0BB3167A460B}"/>
              </a:ext>
            </a:extLst>
          </p:cNvPr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0EBEB345-2912-4E4B-832E-6FF90E594A59}"/>
              </a:ext>
            </a:extLst>
          </p:cNvPr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533888-24AB-4B09-992C-9E7FBB903E1A}"/>
              </a:ext>
            </a:extLst>
          </p:cNvPr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  <p:extLst>
      <p:ext uri="{BB962C8B-B14F-4D97-AF65-F5344CB8AC3E}">
        <p14:creationId xmlns:p14="http://schemas.microsoft.com/office/powerpoint/2010/main" val="117059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604010" y="4450080"/>
            <a:ext cx="2087880" cy="1557020"/>
            <a:chOff x="3633" y="6990"/>
            <a:chExt cx="3288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1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实际问题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169" y="8068"/>
              <a:ext cx="2216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400" b="1" dirty="0">
                  <a:sym typeface="+mn-ea"/>
                </a:rPr>
                <a:t>函数关系</a:t>
              </a:r>
              <a:endParaRPr lang="zh-CN" altLang="en-US" sz="2400" b="1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137660" y="4450080"/>
            <a:ext cx="2795905" cy="1560474"/>
            <a:chOff x="7155" y="6949"/>
            <a:chExt cx="4403" cy="2457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36" y="6184"/>
              <a:ext cx="2041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8246" y="6949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285" y="7876"/>
              <a:ext cx="4144" cy="13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含有未知函数及其</a:t>
              </a:r>
            </a:p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导数的等式</a:t>
              </a:r>
              <a:endParaRPr lang="zh-CN" altLang="en-US" sz="2400" b="1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378065" y="4450080"/>
            <a:ext cx="2771775" cy="1558568"/>
            <a:chOff x="7484" y="6949"/>
            <a:chExt cx="4365" cy="2454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6" y="6200"/>
              <a:ext cx="2041" cy="43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077" y="6949"/>
              <a:ext cx="3299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微分方程求解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077" y="8020"/>
              <a:ext cx="3180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400" b="1" dirty="0">
                  <a:sym typeface="+mn-ea"/>
                </a:rPr>
                <a:t>找到未知函数</a:t>
              </a:r>
              <a:endParaRPr lang="zh-CN" altLang="en-US" sz="2400" b="1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3445510" y="884555"/>
            <a:ext cx="59334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kumimoji="1"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53060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66686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869721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7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C</a:t>
            </a:r>
            <a:r>
              <a:rPr kumimoji="1" lang="en-GB" altLang="zh-CN" sz="3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747135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目  录</a:t>
            </a:r>
            <a:endParaRPr kumimoji="1" lang="zh-CN" altLang="en-US" sz="40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07356" y="922003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295793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C7C089F8-CC2D-1861-5E21-18BBB5F858D0}"/>
              </a:ext>
            </a:extLst>
          </p:cNvPr>
          <p:cNvSpPr/>
          <p:nvPr/>
        </p:nvSpPr>
        <p:spPr>
          <a:xfrm>
            <a:off x="705485" y="2703195"/>
            <a:ext cx="43103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微分方程的基本概念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19E42B-419D-2F0A-4A66-E6FBAA7AC215}"/>
              </a:ext>
            </a:extLst>
          </p:cNvPr>
          <p:cNvSpPr/>
          <p:nvPr/>
        </p:nvSpPr>
        <p:spPr>
          <a:xfrm>
            <a:off x="705485" y="3399790"/>
            <a:ext cx="33134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齐次方程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8415B3-7AE5-8C08-DDD0-C706CBE57836}"/>
              </a:ext>
            </a:extLst>
          </p:cNvPr>
          <p:cNvSpPr/>
          <p:nvPr/>
        </p:nvSpPr>
        <p:spPr>
          <a:xfrm>
            <a:off x="5906135" y="2703195"/>
            <a:ext cx="53079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可分离变量的微分方程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BF91A5-9B7A-4196-A369-3AF9980F63C4}"/>
              </a:ext>
            </a:extLst>
          </p:cNvPr>
          <p:cNvSpPr/>
          <p:nvPr/>
        </p:nvSpPr>
        <p:spPr>
          <a:xfrm>
            <a:off x="5906046" y="3397754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一阶线性微分方程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5FB52C-0FA5-BA75-9D97-D89AFE822F96}"/>
              </a:ext>
            </a:extLst>
          </p:cNvPr>
          <p:cNvSpPr/>
          <p:nvPr/>
        </p:nvSpPr>
        <p:spPr>
          <a:xfrm>
            <a:off x="705172" y="414197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可降解的高阶微分方程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5164A2-8DFC-0516-B44F-BC507E5D016F}"/>
              </a:ext>
            </a:extLst>
          </p:cNvPr>
          <p:cNvSpPr/>
          <p:nvPr/>
        </p:nvSpPr>
        <p:spPr>
          <a:xfrm>
            <a:off x="705485" y="4850130"/>
            <a:ext cx="51663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常系数齐次线性微分方程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405AC9-3AE9-C8B8-E88A-9F06DB9030E3}"/>
              </a:ext>
            </a:extLst>
          </p:cNvPr>
          <p:cNvSpPr/>
          <p:nvPr/>
        </p:nvSpPr>
        <p:spPr>
          <a:xfrm>
            <a:off x="5906135" y="4142105"/>
            <a:ext cx="49669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   高阶线性微分方程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EB8BAB-CE62-50C6-9A12-0E5613FDBB6A}"/>
              </a:ext>
            </a:extLst>
          </p:cNvPr>
          <p:cNvSpPr/>
          <p:nvPr/>
        </p:nvSpPr>
        <p:spPr>
          <a:xfrm>
            <a:off x="5906135" y="4844415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常系数非齐次线性微分方程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48A421-A6B5-7F0E-D964-9CC10A098261}"/>
              </a:ext>
            </a:extLst>
          </p:cNvPr>
          <p:cNvSpPr/>
          <p:nvPr/>
        </p:nvSpPr>
        <p:spPr>
          <a:xfrm>
            <a:off x="579755" y="5603875"/>
            <a:ext cx="49060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欧拉方程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F7CE23B-A6EC-C2E3-19C2-76156EE39F30}"/>
              </a:ext>
            </a:extLst>
          </p:cNvPr>
          <p:cNvSpPr/>
          <p:nvPr/>
        </p:nvSpPr>
        <p:spPr>
          <a:xfrm>
            <a:off x="5768975" y="5603875"/>
            <a:ext cx="58032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常系数线性微分方程组解法举例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783745"/>
            <a:ext cx="11536045" cy="58214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666721" y="142455"/>
            <a:ext cx="4942379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高阶线性微分方程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409A5F7-B0FD-E26E-00F0-9A59A2EEA141}"/>
              </a:ext>
            </a:extLst>
          </p:cNvPr>
          <p:cNvGrpSpPr/>
          <p:nvPr/>
        </p:nvGrpSpPr>
        <p:grpSpPr>
          <a:xfrm>
            <a:off x="3480733" y="1359211"/>
            <a:ext cx="5314355" cy="901065"/>
            <a:chOff x="2834547" y="1410967"/>
            <a:chExt cx="5314355" cy="901065"/>
          </a:xfrm>
        </p:grpSpPr>
        <p:sp>
          <p:nvSpPr>
            <p:cNvPr id="2" name="矩形: 圆角 40">
              <a:extLst>
                <a:ext uri="{FF2B5EF4-FFF2-40B4-BE49-F238E27FC236}">
                  <a16:creationId xmlns:a16="http://schemas.microsoft.com/office/drawing/2014/main" id="{0044EBD3-069A-6835-D6DA-7ABC431C7DCD}"/>
                </a:ext>
              </a:extLst>
            </p:cNvPr>
            <p:cNvSpPr/>
            <p:nvPr/>
          </p:nvSpPr>
          <p:spPr>
            <a:xfrm flipV="1">
              <a:off x="2834547" y="1410967"/>
              <a:ext cx="5314355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AA5506F-7280-9193-1014-B8A80FBF06FC}"/>
                </a:ext>
              </a:extLst>
            </p:cNvPr>
            <p:cNvSpPr/>
            <p:nvPr/>
          </p:nvSpPr>
          <p:spPr>
            <a:xfrm>
              <a:off x="3096476" y="1600200"/>
              <a:ext cx="449353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一、二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阶线性微分方程举例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92287A-FDEB-2C07-FE82-BEC7E48951E5}"/>
              </a:ext>
            </a:extLst>
          </p:cNvPr>
          <p:cNvGrpSpPr/>
          <p:nvPr/>
        </p:nvGrpSpPr>
        <p:grpSpPr>
          <a:xfrm>
            <a:off x="3480733" y="3867357"/>
            <a:ext cx="5314354" cy="901065"/>
            <a:chOff x="2834548" y="3644897"/>
            <a:chExt cx="5314354" cy="901065"/>
          </a:xfrm>
        </p:grpSpPr>
        <p:sp>
          <p:nvSpPr>
            <p:cNvPr id="8" name="矩形: 圆角 40">
              <a:extLst>
                <a:ext uri="{FF2B5EF4-FFF2-40B4-BE49-F238E27FC236}">
                  <a16:creationId xmlns:a16="http://schemas.microsoft.com/office/drawing/2014/main" id="{54F6AD93-E083-C3B4-DDAA-3370685E36C8}"/>
                </a:ext>
              </a:extLst>
            </p:cNvPr>
            <p:cNvSpPr/>
            <p:nvPr/>
          </p:nvSpPr>
          <p:spPr>
            <a:xfrm flipV="1">
              <a:off x="2834548" y="3644897"/>
              <a:ext cx="531435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9F4853E-42EB-494C-1A8F-2573F6744E3B}"/>
                </a:ext>
              </a:extLst>
            </p:cNvPr>
            <p:cNvSpPr/>
            <p:nvPr/>
          </p:nvSpPr>
          <p:spPr>
            <a:xfrm>
              <a:off x="3057560" y="3834130"/>
              <a:ext cx="485261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</a:t>
              </a:r>
              <a:r>
                <a:rPr kumimoji="1" lang="zh-CN" altLang="en-US" sz="28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线性非齐次方程解的结构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851F542-9793-B910-FA79-627367400601}"/>
              </a:ext>
            </a:extLst>
          </p:cNvPr>
          <p:cNvGrpSpPr/>
          <p:nvPr/>
        </p:nvGrpSpPr>
        <p:grpSpPr>
          <a:xfrm>
            <a:off x="3480735" y="2613284"/>
            <a:ext cx="5314351" cy="901065"/>
            <a:chOff x="2834547" y="2527932"/>
            <a:chExt cx="5314351" cy="901065"/>
          </a:xfrm>
        </p:grpSpPr>
        <p:sp>
          <p:nvSpPr>
            <p:cNvPr id="10" name="矩形: 圆角 40">
              <a:extLst>
                <a:ext uri="{FF2B5EF4-FFF2-40B4-BE49-F238E27FC236}">
                  <a16:creationId xmlns:a16="http://schemas.microsoft.com/office/drawing/2014/main" id="{2C129FD0-9A4E-CEE4-94B0-177A1EA56D7F}"/>
                </a:ext>
              </a:extLst>
            </p:cNvPr>
            <p:cNvSpPr/>
            <p:nvPr/>
          </p:nvSpPr>
          <p:spPr>
            <a:xfrm flipV="1">
              <a:off x="2834547" y="2527932"/>
              <a:ext cx="5314351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C4C8B76-161B-F689-5C8D-2BE32774A082}"/>
                </a:ext>
              </a:extLst>
            </p:cNvPr>
            <p:cNvSpPr/>
            <p:nvPr/>
          </p:nvSpPr>
          <p:spPr>
            <a:xfrm>
              <a:off x="3048851" y="2717165"/>
              <a:ext cx="449353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kumimoji="1" lang="zh-CN" altLang="en-US" sz="28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线性齐次方程解的结构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ABAF98C-8AED-08DA-5D07-1597E9D695B3}"/>
              </a:ext>
            </a:extLst>
          </p:cNvPr>
          <p:cNvGrpSpPr/>
          <p:nvPr/>
        </p:nvGrpSpPr>
        <p:grpSpPr>
          <a:xfrm>
            <a:off x="3480734" y="5121430"/>
            <a:ext cx="5314353" cy="901065"/>
            <a:chOff x="2834547" y="4761861"/>
            <a:chExt cx="5314353" cy="901065"/>
          </a:xfrm>
        </p:grpSpPr>
        <p:sp>
          <p:nvSpPr>
            <p:cNvPr id="18" name="矩形: 圆角 40">
              <a:extLst>
                <a:ext uri="{FF2B5EF4-FFF2-40B4-BE49-F238E27FC236}">
                  <a16:creationId xmlns:a16="http://schemas.microsoft.com/office/drawing/2014/main" id="{56BD99E4-8310-953E-662F-2C1BA459093B}"/>
                </a:ext>
              </a:extLst>
            </p:cNvPr>
            <p:cNvSpPr/>
            <p:nvPr/>
          </p:nvSpPr>
          <p:spPr>
            <a:xfrm flipV="1">
              <a:off x="2834547" y="4761861"/>
              <a:ext cx="5314353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DA9A2F9-3A3E-CA92-B6AC-ABD31F51B13A}"/>
                </a:ext>
              </a:extLst>
            </p:cNvPr>
            <p:cNvSpPr/>
            <p:nvPr/>
          </p:nvSpPr>
          <p:spPr>
            <a:xfrm>
              <a:off x="3028715" y="4951095"/>
              <a:ext cx="269817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四、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常数变易法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687070" y="1128208"/>
            <a:ext cx="10817225" cy="51339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半闭框 58"/>
          <p:cNvSpPr/>
          <p:nvPr/>
        </p:nvSpPr>
        <p:spPr>
          <a:xfrm>
            <a:off x="687324" y="112494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60" name="半闭框 59"/>
          <p:cNvSpPr/>
          <p:nvPr/>
        </p:nvSpPr>
        <p:spPr>
          <a:xfrm flipH="1">
            <a:off x="10823530" y="1124944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61" name="半闭框 60"/>
          <p:cNvSpPr/>
          <p:nvPr/>
        </p:nvSpPr>
        <p:spPr>
          <a:xfrm flipV="1">
            <a:off x="687324" y="5587013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" name="半闭框 61"/>
          <p:cNvSpPr/>
          <p:nvPr/>
        </p:nvSpPr>
        <p:spPr>
          <a:xfrm flipH="1" flipV="1">
            <a:off x="10823530" y="5567147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1310017" y="415454"/>
            <a:ext cx="5976936" cy="583565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一、二阶线性微分方程举例</a:t>
            </a:r>
            <a:endParaRPr lang="zh-CN" altLang="en-US" sz="3200" b="1" i="0" u="none" strike="noStrike" kern="1200" cap="none" spc="0" normalizeH="0" baseline="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8"/>
          <p:cNvSpPr txBox="1">
            <a:spLocks noChangeArrowheads="1"/>
          </p:cNvSpPr>
          <p:nvPr/>
        </p:nvSpPr>
        <p:spPr bwMode="auto">
          <a:xfrm>
            <a:off x="2148217" y="1937132"/>
            <a:ext cx="7010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lt"/>
              </a:rPr>
              <a:t>当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重力与弹性力抵消时</a:t>
            </a:r>
            <a:r>
              <a:rPr kumimoji="1" lang="en-US" altLang="zh-CN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,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物体处于平衡状态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30"/>
              <p:cNvSpPr>
                <a:spLocks noChangeArrowheads="1"/>
              </p:cNvSpPr>
              <p:nvPr/>
            </p:nvSpPr>
            <p:spPr bwMode="auto">
              <a:xfrm>
                <a:off x="1310017" y="1308885"/>
                <a:ext cx="8361484" cy="60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800" b="1" i="0" u="none" strike="noStrike" kern="1200" cap="none" spc="0" normalizeH="0" baseline="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例1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 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sym typeface="+mn-lt"/>
                  </a:rPr>
                  <a:t>质量为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𝑚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sym typeface="+mn-lt"/>
                  </a:rPr>
                  <a:t>的物体自由悬挂在一端固定的弹簧上</a:t>
                </a:r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,</a:t>
                </a:r>
                <a:endParaRPr kumimoji="1" lang="zh-CN" altLang="en-US" sz="2800" b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sym typeface="+mn-lt"/>
                </a:endParaRPr>
              </a:p>
            </p:txBody>
          </p:sp>
        </mc:Choice>
        <mc:Fallback xmlns="">
          <p:sp>
            <p:nvSpPr>
              <p:cNvPr id="15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0017" y="1308885"/>
                <a:ext cx="8361484" cy="609600"/>
              </a:xfrm>
              <a:prstGeom prst="rect">
                <a:avLst/>
              </a:prstGeom>
              <a:blipFill>
                <a:blip r:embed="rId2"/>
                <a:stretch>
                  <a:fillRect l="-1531" t="-7000" b="-20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32"/>
          <p:cNvSpPr txBox="1">
            <a:spLocks noChangeArrowheads="1"/>
          </p:cNvSpPr>
          <p:nvPr/>
        </p:nvSpPr>
        <p:spPr bwMode="auto">
          <a:xfrm>
            <a:off x="2148217" y="3011325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力作用下作往复运动</a:t>
            </a:r>
            <a:r>
              <a:rPr kumimoji="1" lang="en-US" altLang="zh-CN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,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2" name="Text Box 56"/>
          <p:cNvSpPr txBox="1">
            <a:spLocks noChangeArrowheads="1"/>
          </p:cNvSpPr>
          <p:nvPr/>
        </p:nvSpPr>
        <p:spPr bwMode="auto">
          <a:xfrm>
            <a:off x="1310017" y="4093358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</a:p>
        </p:txBody>
      </p:sp>
      <p:sp>
        <p:nvSpPr>
          <p:cNvPr id="43" name="Text Box 65"/>
          <p:cNvSpPr txBox="1">
            <a:spLocks noChangeArrowheads="1"/>
          </p:cNvSpPr>
          <p:nvPr/>
        </p:nvSpPr>
        <p:spPr bwMode="auto">
          <a:xfrm>
            <a:off x="5561977" y="2985408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阻力的大小与运动速度</a:t>
            </a:r>
          </a:p>
        </p:txBody>
      </p:sp>
      <p:sp>
        <p:nvSpPr>
          <p:cNvPr id="44" name="Text Box 62"/>
          <p:cNvSpPr txBox="1">
            <a:spLocks noChangeArrowheads="1"/>
          </p:cNvSpPr>
          <p:nvPr/>
        </p:nvSpPr>
        <p:spPr bwMode="auto">
          <a:xfrm>
            <a:off x="2148217" y="2475657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下拉物体使它离开平衡位置后放开</a:t>
            </a:r>
            <a:r>
              <a:rPr kumimoji="1" lang="en-US" altLang="zh-CN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,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5" name="Text Box 63"/>
          <p:cNvSpPr txBox="1">
            <a:spLocks noChangeArrowheads="1"/>
          </p:cNvSpPr>
          <p:nvPr/>
        </p:nvSpPr>
        <p:spPr bwMode="auto">
          <a:xfrm>
            <a:off x="8902972" y="1895016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若用手向</a:t>
            </a:r>
          </a:p>
        </p:txBody>
      </p:sp>
      <p:sp>
        <p:nvSpPr>
          <p:cNvPr id="46" name="Text Box 74"/>
          <p:cNvSpPr txBox="1">
            <a:spLocks noChangeArrowheads="1"/>
          </p:cNvSpPr>
          <p:nvPr/>
        </p:nvSpPr>
        <p:spPr bwMode="auto">
          <a:xfrm>
            <a:off x="7611573" y="2446963"/>
            <a:ext cx="3028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物体在弹性力与阻</a:t>
            </a:r>
          </a:p>
        </p:txBody>
      </p:sp>
      <p:sp>
        <p:nvSpPr>
          <p:cNvPr id="47" name="Text Box 75"/>
          <p:cNvSpPr txBox="1">
            <a:spLocks noChangeArrowheads="1"/>
          </p:cNvSpPr>
          <p:nvPr/>
        </p:nvSpPr>
        <p:spPr bwMode="auto">
          <a:xfrm>
            <a:off x="2148217" y="4112930"/>
            <a:ext cx="5257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取平衡时物体的位置为坐标原点</a:t>
            </a:r>
            <a:r>
              <a:rPr kumimoji="1" lang="en-US" altLang="zh-CN" sz="22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,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8" name="Text Box 76"/>
          <p:cNvSpPr txBox="1">
            <a:spLocks noChangeArrowheads="1"/>
          </p:cNvSpPr>
          <p:nvPr/>
        </p:nvSpPr>
        <p:spPr bwMode="auto">
          <a:xfrm>
            <a:off x="2148217" y="4627429"/>
            <a:ext cx="230063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fontAlgn="base" latinLnBrk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建立坐标系如图.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77"/>
              <p:cNvSpPr txBox="1">
                <a:spLocks noChangeArrowheads="1"/>
              </p:cNvSpPr>
              <p:nvPr/>
            </p:nvSpPr>
            <p:spPr bwMode="auto">
              <a:xfrm>
                <a:off x="4240011" y="4645239"/>
                <a:ext cx="3139514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设时刻</a:t>
                </a:r>
                <a:r>
                  <a:rPr kumimoji="1" lang="zh-CN" altLang="en-US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 </a:t>
                </a:r>
                <a:r>
                  <a:rPr kumimoji="1" lang="en-US" altLang="zh-CN" sz="2200" b="0" i="1" u="none" strike="noStrike" kern="1200" cap="none" spc="0" normalizeH="0" baseline="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t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物位移为 </a:t>
                </a:r>
                <a14:m>
                  <m:oMath xmlns:m="http://schemas.openxmlformats.org/officeDocument/2006/math">
                    <m:r>
                      <a:rPr kumimoji="1" lang="en-US" altLang="zh-CN" sz="2200" i="1" dirty="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en-US" altLang="zh-CN" sz="2200" b="0" u="none" strike="noStrike" kern="1200" cap="none" spc="0" normalizeH="0" baseline="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(</a:t>
                </a:r>
                <a:r>
                  <a:rPr kumimoji="1" lang="en-US" altLang="zh-CN" sz="2200" b="0" i="1" u="none" strike="noStrike" kern="1200" cap="none" spc="0" normalizeH="0" baseline="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t </a:t>
                </a:r>
                <a:r>
                  <a:rPr kumimoji="1" lang="en-US" altLang="zh-CN" sz="2200" b="0" u="none" strike="noStrike" kern="1200" cap="none" spc="0" normalizeH="0" baseline="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).</a:t>
                </a:r>
                <a:endParaRPr kumimoji="1" lang="en-US" altLang="zh-CN" sz="2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49" name="Text 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0011" y="4645239"/>
                <a:ext cx="3139514" cy="430887"/>
              </a:xfrm>
              <a:prstGeom prst="rect">
                <a:avLst/>
              </a:prstGeom>
              <a:blipFill>
                <a:blip r:embed="rId3"/>
                <a:stretch>
                  <a:fillRect l="-2524" t="-14085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Box 78"/>
          <p:cNvSpPr txBox="1">
            <a:spLocks noChangeArrowheads="1"/>
          </p:cNvSpPr>
          <p:nvPr/>
        </p:nvSpPr>
        <p:spPr bwMode="auto">
          <a:xfrm>
            <a:off x="2104616" y="5141928"/>
            <a:ext cx="258275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(1)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自由振动情况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p:sp>
        <p:nvSpPr>
          <p:cNvPr id="51" name="Text Box 80"/>
          <p:cNvSpPr txBox="1">
            <a:spLocks noChangeArrowheads="1"/>
          </p:cNvSpPr>
          <p:nvPr/>
        </p:nvSpPr>
        <p:spPr bwMode="auto">
          <a:xfrm>
            <a:off x="2683123" y="5656428"/>
            <a:ext cx="2133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弹性恢复力</a:t>
            </a:r>
          </a:p>
        </p:txBody>
      </p:sp>
      <p:sp>
        <p:nvSpPr>
          <p:cNvPr id="52" name="Text Box 82"/>
          <p:cNvSpPr txBox="1">
            <a:spLocks noChangeArrowheads="1"/>
          </p:cNvSpPr>
          <p:nvPr/>
        </p:nvSpPr>
        <p:spPr bwMode="auto">
          <a:xfrm>
            <a:off x="4467553" y="5140658"/>
            <a:ext cx="2819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物体所受的力有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:</a:t>
            </a:r>
          </a:p>
        </p:txBody>
      </p:sp>
      <p:sp>
        <p:nvSpPr>
          <p:cNvPr id="53" name="Text Box 85"/>
          <p:cNvSpPr txBox="1">
            <a:spLocks noChangeArrowheads="1"/>
          </p:cNvSpPr>
          <p:nvPr/>
        </p:nvSpPr>
        <p:spPr bwMode="auto">
          <a:xfrm>
            <a:off x="5260535" y="5672967"/>
            <a:ext cx="159530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(胡克定律)</a:t>
            </a:r>
          </a:p>
        </p:txBody>
      </p:sp>
      <p:sp>
        <p:nvSpPr>
          <p:cNvPr id="55" name="Text Box 87"/>
          <p:cNvSpPr txBox="1">
            <a:spLocks noChangeArrowheads="1"/>
          </p:cNvSpPr>
          <p:nvPr/>
        </p:nvSpPr>
        <p:spPr bwMode="auto">
          <a:xfrm>
            <a:off x="2148217" y="3581827"/>
            <a:ext cx="30572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成正比</a:t>
            </a:r>
            <a:r>
              <a:rPr kumimoji="1" lang="en-US" altLang="zh-CN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,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方向相反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p:sp>
        <p:nvSpPr>
          <p:cNvPr id="56" name="Text Box 88"/>
          <p:cNvSpPr txBox="1">
            <a:spLocks noChangeArrowheads="1"/>
          </p:cNvSpPr>
          <p:nvPr/>
        </p:nvSpPr>
        <p:spPr bwMode="auto">
          <a:xfrm>
            <a:off x="4984454" y="3555738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建立位移满足的微分方程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4143915" y="5658122"/>
            <a:ext cx="2101215" cy="641985"/>
            <a:chOff x="5882" y="8883"/>
            <a:chExt cx="3309" cy="10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Object 86"/>
                <p:cNvSpPr txBox="1"/>
                <p:nvPr/>
              </p:nvSpPr>
              <p:spPr bwMode="auto">
                <a:xfrm>
                  <a:off x="5882" y="8883"/>
                  <a:ext cx="3309" cy="87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𝑐𝑥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54" name="Object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82" y="8883"/>
                  <a:ext cx="3309" cy="870"/>
                </a:xfrm>
                <a:prstGeom prst="rect">
                  <a:avLst/>
                </a:prstGeom>
                <a:blipFill>
                  <a:blip r:embed="rId4"/>
                  <a:stretch>
                    <a:fillRect l="-203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矩形 86"/>
            <p:cNvSpPr/>
            <p:nvPr/>
          </p:nvSpPr>
          <p:spPr>
            <a:xfrm>
              <a:off x="7537" y="9740"/>
              <a:ext cx="325" cy="1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pic>
        <p:nvPicPr>
          <p:cNvPr id="3" name="图片 2" descr="图示&#10;&#10;中度可信度描述已自动生成">
            <a:extLst>
              <a:ext uri="{FF2B5EF4-FFF2-40B4-BE49-F238E27FC236}">
                <a16:creationId xmlns:a16="http://schemas.microsoft.com/office/drawing/2014/main" id="{56B66230-9425-B37B-D785-8E784FA5C7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576" y="3180936"/>
            <a:ext cx="825077" cy="2690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4" grpId="0"/>
      <p:bldP spid="15" grpId="0"/>
      <p:bldP spid="16" grpId="0"/>
      <p:bldP spid="42" grpId="0"/>
      <p:bldP spid="43" grpId="0"/>
      <p:bldP spid="44" grpId="0"/>
      <p:bldP spid="45" grpId="0"/>
      <p:bldP spid="46" grpId="0" animBg="1"/>
      <p:bldP spid="47" grpId="0"/>
      <p:bldP spid="48" grpId="0" animBg="1"/>
      <p:bldP spid="49" grpId="0" animBg="1"/>
      <p:bldP spid="50" grpId="0" animBg="1"/>
      <p:bldP spid="51" grpId="0"/>
      <p:bldP spid="52" grpId="0"/>
      <p:bldP spid="53" grpId="0" animBg="1"/>
      <p:bldP spid="55" grpId="0" animBg="1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87892" y="543926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半闭框 3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半闭框 4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半闭框 5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半闭框 6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8643" name="Text Box 35"/>
          <p:cNvSpPr txBox="1">
            <a:spLocks noChangeArrowheads="1"/>
          </p:cNvSpPr>
          <p:nvPr/>
        </p:nvSpPr>
        <p:spPr bwMode="auto">
          <a:xfrm>
            <a:off x="3207283" y="1754835"/>
            <a:ext cx="324326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lt"/>
              </a:rPr>
              <a:t>据牛顿第二定律得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8659" name="Text Box 51"/>
          <p:cNvSpPr txBox="1">
            <a:spLocks noChangeArrowheads="1"/>
          </p:cNvSpPr>
          <p:nvPr/>
        </p:nvSpPr>
        <p:spPr bwMode="auto">
          <a:xfrm>
            <a:off x="5838312" y="2504813"/>
            <a:ext cx="43624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则得有阻尼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ea typeface="黑体" panose="02010609060101010101" pitchFamily="49" charset="-122"/>
                <a:sym typeface="+mn-lt"/>
              </a:rPr>
              <a:t>自由振动方程:</a:t>
            </a:r>
          </a:p>
        </p:txBody>
      </p:sp>
      <p:sp>
        <p:nvSpPr>
          <p:cNvPr id="68664" name="Text Box 56"/>
          <p:cNvSpPr txBox="1">
            <a:spLocks noChangeArrowheads="1"/>
          </p:cNvSpPr>
          <p:nvPr/>
        </p:nvSpPr>
        <p:spPr bwMode="auto">
          <a:xfrm>
            <a:off x="3207283" y="951892"/>
            <a:ext cx="7489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阻力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65" name="Object 57"/>
              <p:cNvSpPr txBox="1"/>
              <p:nvPr/>
            </p:nvSpPr>
            <p:spPr bwMode="auto">
              <a:xfrm>
                <a:off x="3824407" y="792810"/>
                <a:ext cx="25781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𝑅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𝜇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kumimoji="1"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8665" name="Object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4407" y="792810"/>
                <a:ext cx="2578100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668" name="Text Box 60"/>
          <p:cNvSpPr txBox="1">
            <a:spLocks noChangeArrowheads="1"/>
          </p:cNvSpPr>
          <p:nvPr/>
        </p:nvSpPr>
        <p:spPr bwMode="auto">
          <a:xfrm>
            <a:off x="2759393" y="4067127"/>
            <a:ext cx="24416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(2)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强迫振动情况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p:sp>
        <p:nvSpPr>
          <p:cNvPr id="68669" name="Text Box 61"/>
          <p:cNvSpPr txBox="1">
            <a:spLocks noChangeArrowheads="1"/>
          </p:cNvSpPr>
          <p:nvPr/>
        </p:nvSpPr>
        <p:spPr bwMode="auto">
          <a:xfrm>
            <a:off x="5002116" y="4067127"/>
            <a:ext cx="44165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若物体在</a:t>
            </a: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运动过程中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还受铅直外力</a:t>
            </a:r>
          </a:p>
        </p:txBody>
      </p:sp>
      <p:sp>
        <p:nvSpPr>
          <p:cNvPr id="68673" name="Text Box 65"/>
          <p:cNvSpPr txBox="1">
            <a:spLocks noChangeArrowheads="1"/>
          </p:cNvSpPr>
          <p:nvPr/>
        </p:nvSpPr>
        <p:spPr bwMode="auto">
          <a:xfrm>
            <a:off x="6915341" y="4681122"/>
            <a:ext cx="251703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则得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ea typeface="黑体" panose="02010609060101010101" pitchFamily="49" charset="-122"/>
                <a:sym typeface="+mn-lt"/>
              </a:rPr>
              <a:t>强迫振动方程: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25572" y="1519726"/>
            <a:ext cx="4726940" cy="843280"/>
            <a:chOff x="7060" y="2218"/>
            <a:chExt cx="7444" cy="13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644" name="Object 36"/>
                <p:cNvSpPr txBox="1"/>
                <p:nvPr/>
              </p:nvSpPr>
              <p:spPr bwMode="auto">
                <a:xfrm>
                  <a:off x="7060" y="2218"/>
                  <a:ext cx="6260" cy="13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𝑚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​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𝑐𝑥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𝜇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​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8644" name="Object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60" y="2218"/>
                  <a:ext cx="6260" cy="132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13886" y="2835"/>
              <a:ext cx="618" cy="2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195853" y="2354751"/>
            <a:ext cx="2451735" cy="702310"/>
            <a:chOff x="2391" y="3533"/>
            <a:chExt cx="3861" cy="11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658" name="Object 50"/>
                <p:cNvSpPr txBox="1"/>
                <p:nvPr/>
              </p:nvSpPr>
              <p:spPr bwMode="auto">
                <a:xfrm>
                  <a:off x="2391" y="3533"/>
                  <a:ext cx="3861" cy="11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令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𝜇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den>
                        </m:f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8658" name="Object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91" y="3533"/>
                  <a:ext cx="3861" cy="110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2409" y="3747"/>
              <a:ext cx="448" cy="3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686737" y="2349155"/>
            <a:ext cx="1480820" cy="702746"/>
            <a:chOff x="5739" y="3312"/>
            <a:chExt cx="2332" cy="16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657" name="Object 49"/>
                <p:cNvSpPr txBox="1"/>
                <p:nvPr/>
              </p:nvSpPr>
              <p:spPr bwMode="auto">
                <a:xfrm>
                  <a:off x="5739" y="3312"/>
                  <a:ext cx="2332" cy="16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𝑐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den>
                        </m:f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8657" name="Object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39" y="3312"/>
                  <a:ext cx="2332" cy="16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6549" y="4256"/>
              <a:ext cx="231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802307" y="3093891"/>
            <a:ext cx="4406900" cy="959485"/>
            <a:chOff x="5921" y="4697"/>
            <a:chExt cx="6940" cy="15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660" name="Object 52"/>
                <p:cNvSpPr txBox="1"/>
                <p:nvPr/>
              </p:nvSpPr>
              <p:spPr bwMode="auto">
                <a:xfrm>
                  <a:off x="5921" y="4697"/>
                  <a:ext cx="6940" cy="15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+2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  <m:f>
                          <m:f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8660" name="Object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1" y="4697"/>
                  <a:ext cx="6940" cy="151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6271" y="5214"/>
              <a:ext cx="401" cy="2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894055" y="4668472"/>
            <a:ext cx="3196590" cy="507600"/>
            <a:chOff x="3243" y="7269"/>
            <a:chExt cx="6451" cy="12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670" name="Object 62"/>
                <p:cNvSpPr txBox="1"/>
                <p:nvPr/>
              </p:nvSpPr>
              <p:spPr bwMode="auto">
                <a:xfrm>
                  <a:off x="3858" y="7269"/>
                  <a:ext cx="5836" cy="1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𝐹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𝐻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作用</m:t>
                        </m:r>
                        <m:r>
                          <a:rPr lang="en-US" altLang="zh-CN" sz="2200" i="1" smtClean="0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68670" name="Object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58" y="7269"/>
                  <a:ext cx="5836" cy="1261"/>
                </a:xfrm>
                <a:prstGeom prst="rect">
                  <a:avLst/>
                </a:prstGeom>
                <a:blipFill>
                  <a:blip r:embed="rId8"/>
                  <a:stretch>
                    <a:fillRect l="-21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3243" y="7531"/>
              <a:ext cx="402" cy="4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558172" y="4511838"/>
            <a:ext cx="1667964" cy="743585"/>
            <a:chOff x="7382" y="7101"/>
            <a:chExt cx="3355" cy="11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672" name="Object 64"/>
                <p:cNvSpPr txBox="1"/>
                <p:nvPr/>
              </p:nvSpPr>
              <p:spPr bwMode="auto">
                <a:xfrm>
                  <a:off x="7382" y="7101"/>
                  <a:ext cx="3355" cy="10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令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h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𝐻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den>
                        </m:f>
                        <m:r>
                          <a:rPr lang="en-US" altLang="zh-CN" sz="2200" i="1" smtClean="0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8672" name="Object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82" y="7101"/>
                  <a:ext cx="3355" cy="108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/>
            <p:cNvSpPr/>
            <p:nvPr/>
          </p:nvSpPr>
          <p:spPr>
            <a:xfrm>
              <a:off x="9777" y="8072"/>
              <a:ext cx="216" cy="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592282" y="5250767"/>
            <a:ext cx="5840095" cy="819904"/>
            <a:chOff x="4850" y="8186"/>
            <a:chExt cx="9197" cy="20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674" name="Object 66"/>
                <p:cNvSpPr txBox="1"/>
                <p:nvPr/>
              </p:nvSpPr>
              <p:spPr bwMode="auto">
                <a:xfrm>
                  <a:off x="5909" y="8186"/>
                  <a:ext cx="8138" cy="20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+2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  <m:f>
                          <m:f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zh-CN" altLang="en-US" sz="220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h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8674" name="Object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09" y="8186"/>
                  <a:ext cx="8138" cy="20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矩形 18"/>
            <p:cNvSpPr/>
            <p:nvPr/>
          </p:nvSpPr>
          <p:spPr>
            <a:xfrm>
              <a:off x="4850" y="8628"/>
              <a:ext cx="370" cy="4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8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8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43" grpId="0"/>
      <p:bldP spid="68659" grpId="0"/>
      <p:bldP spid="68664" grpId="0"/>
      <p:bldP spid="68665" grpId="0"/>
      <p:bldP spid="68668" grpId="0" animBg="1"/>
      <p:bldP spid="68669" grpId="0" animBg="1"/>
      <p:bldP spid="6867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0714" name="Text Box 58"/>
          <p:cNvSpPr txBox="1">
            <a:spLocks noChangeArrowheads="1"/>
          </p:cNvSpPr>
          <p:nvPr/>
        </p:nvSpPr>
        <p:spPr bwMode="auto">
          <a:xfrm>
            <a:off x="2479184" y="1942367"/>
            <a:ext cx="419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求电容器两极板间电压 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/>
        </p:nvSpPr>
        <p:spPr>
          <a:xfrm>
            <a:off x="1691417" y="686710"/>
            <a:ext cx="927958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例2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2494668" y="1297673"/>
            <a:ext cx="55454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联组成的电路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，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其中</a:t>
            </a:r>
            <a:r>
              <a:rPr kumimoji="1" lang="en-US" altLang="zh-CN" sz="2800" i="1" dirty="0"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R</a:t>
            </a: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,</a:t>
            </a:r>
            <a:r>
              <a:rPr kumimoji="1" lang="en-US" altLang="zh-CN" sz="2800" i="1" dirty="0"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L</a:t>
            </a: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,</a:t>
            </a:r>
            <a:r>
              <a:rPr kumimoji="1" lang="en-US" altLang="zh-CN" sz="2800" i="1" dirty="0"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C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为常数，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6477583" y="1942155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所满足的微分方程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.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629DD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664" name="Text Box 8"/>
              <p:cNvSpPr txBox="1">
                <a:spLocks noChangeArrowheads="1"/>
              </p:cNvSpPr>
              <p:nvPr/>
            </p:nvSpPr>
            <p:spPr bwMode="auto">
              <a:xfrm>
                <a:off x="1691417" y="2508714"/>
                <a:ext cx="3809364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800" b="1" i="0" u="none" strike="noStrike" kern="1200" cap="none" spc="0" normalizeH="0" baseline="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解   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设电路中电流为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𝑖</m:t>
                    </m:r>
                  </m:oMath>
                </a14:m>
                <a:r>
                  <a:rPr kumimoji="1" lang="en-US" altLang="zh-CN" sz="2200" b="0" u="none" strike="noStrike" kern="1200" cap="none" spc="0" normalizeH="0" baseline="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(</a:t>
                </a:r>
                <a:r>
                  <a:rPr kumimoji="1" lang="en-US" altLang="zh-CN" sz="2200" b="0" i="1" u="none" strike="noStrike" kern="1200" cap="none" spc="0" normalizeH="0" baseline="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t </a:t>
                </a:r>
                <a:r>
                  <a:rPr kumimoji="1" lang="en-US" altLang="zh-CN" sz="2200" b="0" u="none" strike="noStrike" kern="1200" cap="none" spc="0" normalizeH="0" baseline="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),</a:t>
                </a:r>
              </a:p>
            </p:txBody>
          </p:sp>
        </mc:Choice>
        <mc:Fallback xmlns="">
          <p:sp>
            <p:nvSpPr>
              <p:cNvPr id="70664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1417" y="2508714"/>
                <a:ext cx="3809364" cy="521970"/>
              </a:xfrm>
              <a:prstGeom prst="rect">
                <a:avLst/>
              </a:prstGeom>
              <a:blipFill>
                <a:blip r:embed="rId4"/>
                <a:stretch>
                  <a:fillRect l="-3200" t="-1294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698" name="Text Box 42"/>
          <p:cNvSpPr txBox="1">
            <a:spLocks noChangeArrowheads="1"/>
          </p:cNvSpPr>
          <p:nvPr/>
        </p:nvSpPr>
        <p:spPr bwMode="auto">
          <a:xfrm>
            <a:off x="2448704" y="3212628"/>
            <a:ext cx="341020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上的电量为</a:t>
            </a:r>
            <a:r>
              <a:rPr kumimoji="1" lang="en-US" altLang="zh-CN" sz="2200" i="1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q</a:t>
            </a:r>
            <a:r>
              <a:rPr kumimoji="1" lang="en-US" altLang="zh-CN" sz="2200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(</a:t>
            </a:r>
            <a:r>
              <a:rPr kumimoji="1" lang="en-US" altLang="zh-CN" sz="2200" i="1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t </a:t>
            </a:r>
            <a:r>
              <a:rPr kumimoji="1" lang="en-US" altLang="zh-CN" sz="2200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) </a:t>
            </a:r>
            <a:r>
              <a:rPr kumimoji="1" lang="en-US" altLang="zh-CN" sz="2200" b="0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,</a:t>
            </a:r>
            <a:endParaRPr kumimoji="1" lang="en-US" altLang="zh-CN" sz="22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70700" name="Text Box 44"/>
          <p:cNvSpPr txBox="1">
            <a:spLocks noChangeArrowheads="1"/>
          </p:cNvSpPr>
          <p:nvPr/>
        </p:nvSpPr>
        <p:spPr bwMode="auto">
          <a:xfrm>
            <a:off x="4637483" y="3212628"/>
            <a:ext cx="2590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自感电动势为</a:t>
            </a:r>
          </a:p>
        </p:txBody>
      </p:sp>
      <p:sp>
        <p:nvSpPr>
          <p:cNvPr id="70703" name="Text Box 47"/>
          <p:cNvSpPr txBox="1">
            <a:spLocks noChangeArrowheads="1"/>
          </p:cNvSpPr>
          <p:nvPr/>
        </p:nvSpPr>
        <p:spPr bwMode="auto">
          <a:xfrm>
            <a:off x="2463944" y="3792231"/>
            <a:ext cx="1752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由电学知</a:t>
            </a:r>
          </a:p>
        </p:txBody>
      </p:sp>
      <p:sp>
        <p:nvSpPr>
          <p:cNvPr id="70707" name="Text Box 51"/>
          <p:cNvSpPr txBox="1">
            <a:spLocks noChangeArrowheads="1"/>
          </p:cNvSpPr>
          <p:nvPr/>
        </p:nvSpPr>
        <p:spPr bwMode="auto">
          <a:xfrm>
            <a:off x="2479184" y="4415585"/>
            <a:ext cx="3124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根据回路电压定律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:</a:t>
            </a:r>
          </a:p>
        </p:txBody>
      </p:sp>
      <p:sp>
        <p:nvSpPr>
          <p:cNvPr id="70727" name="Text Box 71"/>
          <p:cNvSpPr txBox="1">
            <a:spLocks noChangeArrowheads="1"/>
          </p:cNvSpPr>
          <p:nvPr/>
        </p:nvSpPr>
        <p:spPr bwMode="auto">
          <a:xfrm>
            <a:off x="2524904" y="659236"/>
            <a:ext cx="7348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设有一个电阻 </a:t>
            </a:r>
            <a:r>
              <a:rPr kumimoji="1" lang="en-US" altLang="zh-CN" sz="2800" b="0" i="1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R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、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自感</a:t>
            </a:r>
            <a:r>
              <a:rPr kumimoji="1" lang="en-US" altLang="zh-CN" sz="2800" b="0" i="1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L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、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电容</a:t>
            </a:r>
            <a:r>
              <a:rPr kumimoji="1" lang="en-US" altLang="zh-CN" sz="2800" b="0" i="1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C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和电源 </a:t>
            </a:r>
            <a:r>
              <a:rPr kumimoji="1" lang="en-US" altLang="zh-CN" sz="2800" b="0" i="1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E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串</a:t>
            </a:r>
          </a:p>
        </p:txBody>
      </p:sp>
      <p:sp>
        <p:nvSpPr>
          <p:cNvPr id="70730" name="Text Box 74"/>
          <p:cNvSpPr txBox="1">
            <a:spLocks noChangeArrowheads="1"/>
          </p:cNvSpPr>
          <p:nvPr/>
        </p:nvSpPr>
        <p:spPr bwMode="auto">
          <a:xfrm>
            <a:off x="5119816" y="2579592"/>
            <a:ext cx="7489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极板</a:t>
            </a:r>
          </a:p>
        </p:txBody>
      </p:sp>
      <p:sp>
        <p:nvSpPr>
          <p:cNvPr id="70749" name="Rectangle 93"/>
          <p:cNvSpPr>
            <a:spLocks noChangeArrowheads="1"/>
          </p:cNvSpPr>
          <p:nvPr/>
        </p:nvSpPr>
        <p:spPr bwMode="auto">
          <a:xfrm>
            <a:off x="3806897" y="4974762"/>
            <a:ext cx="5269617" cy="430888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在闭合</a:t>
            </a: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回路中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所有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支路上的电压降为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0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789900" y="1311008"/>
            <a:ext cx="2780030" cy="520700"/>
            <a:chOff x="11732" y="1957"/>
            <a:chExt cx="4378" cy="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661" name="Object 5"/>
                <p:cNvSpPr txBox="1"/>
                <p:nvPr/>
              </p:nvSpPr>
              <p:spPr bwMode="auto">
                <a:xfrm>
                  <a:off x="11732" y="1957"/>
                  <a:ext cx="4172" cy="8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𝐸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kumimoji="1" lang="en-US" altLang="zh-CN" sz="2800" b="0" i="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0661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732" y="1957"/>
                  <a:ext cx="4172" cy="8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15724" y="2279"/>
              <a:ext cx="386" cy="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078486" y="1924269"/>
            <a:ext cx="798195" cy="701040"/>
            <a:chOff x="9125" y="2627"/>
            <a:chExt cx="1257" cy="11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663" name="Object 7"/>
                <p:cNvSpPr txBox="1"/>
                <p:nvPr/>
              </p:nvSpPr>
              <p:spPr bwMode="auto">
                <a:xfrm>
                  <a:off x="9125" y="2627"/>
                  <a:ext cx="1257" cy="11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0663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125" y="2627"/>
                  <a:ext cx="1257" cy="110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9854" y="3330"/>
              <a:ext cx="170" cy="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702" name="Object 46"/>
              <p:cNvSpPr txBox="1"/>
              <p:nvPr/>
            </p:nvSpPr>
            <p:spPr bwMode="auto">
              <a:xfrm>
                <a:off x="6340867" y="3229808"/>
                <a:ext cx="662590" cy="395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fontAlgn="base">
                  <a:spcBef>
                    <a:spcPct val="50000"/>
                  </a:spcBef>
                  <a:buClrTx/>
                  <a:buSzTx/>
                  <a:buFontTx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𝐿</m:t>
                          </m:r>
                        </m:sub>
                      </m:sSub>
                      <m:r>
                        <a:rPr kumimoji="1" lang="en-US" altLang="zh-CN" sz="2200" i="1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en-US" altLang="zh-CN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0702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40867" y="3229808"/>
                <a:ext cx="662590" cy="395089"/>
              </a:xfrm>
              <a:prstGeom prst="rect">
                <a:avLst/>
              </a:prstGeom>
              <a:blipFill>
                <a:blip r:embed="rId8"/>
                <a:stretch>
                  <a:fillRect l="-917" b="-123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7136950" y="3110519"/>
            <a:ext cx="168501" cy="82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326975" y="3620150"/>
            <a:ext cx="2313940" cy="783430"/>
            <a:chOff x="4232" y="5288"/>
            <a:chExt cx="3644" cy="14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704" name="Object 48"/>
                <p:cNvSpPr txBox="1"/>
                <p:nvPr/>
              </p:nvSpPr>
              <p:spPr bwMode="auto">
                <a:xfrm>
                  <a:off x="4732" y="5288"/>
                  <a:ext cx="3145" cy="14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𝑖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𝑞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0704" name="Object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32" y="5288"/>
                  <a:ext cx="3145" cy="143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4232" y="6079"/>
              <a:ext cx="200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618332" y="3641171"/>
            <a:ext cx="1622425" cy="690880"/>
            <a:chOff x="7001" y="5585"/>
            <a:chExt cx="2555" cy="10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705" name="Object 49"/>
                <p:cNvSpPr txBox="1"/>
                <p:nvPr/>
              </p:nvSpPr>
              <p:spPr bwMode="auto">
                <a:xfrm>
                  <a:off x="7001" y="5661"/>
                  <a:ext cx="2555" cy="10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𝑞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den>
                        </m:f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0705" name="Object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01" y="5661"/>
                  <a:ext cx="2555" cy="101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7769" y="5585"/>
              <a:ext cx="185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711707" y="3624026"/>
            <a:ext cx="1708785" cy="682625"/>
            <a:chOff x="8860" y="5558"/>
            <a:chExt cx="2691" cy="10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706" name="Object 50"/>
                <p:cNvSpPr txBox="1"/>
                <p:nvPr/>
              </p:nvSpPr>
              <p:spPr bwMode="auto">
                <a:xfrm>
                  <a:off x="8860" y="5558"/>
                  <a:ext cx="2691" cy="10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𝐿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𝐿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𝑖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​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0706" name="Object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860" y="5558"/>
                  <a:ext cx="2691" cy="1075"/>
                </a:xfrm>
                <a:prstGeom prst="rect">
                  <a:avLst/>
                </a:prstGeom>
                <a:blipFill>
                  <a:blip r:embed="rId11"/>
                  <a:stretch>
                    <a:fillRect b="-89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10318" y="5569"/>
              <a:ext cx="478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120268" y="5478995"/>
            <a:ext cx="4089400" cy="819153"/>
            <a:chOff x="5637" y="8457"/>
            <a:chExt cx="6440" cy="16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658" name="Object 2"/>
                <p:cNvSpPr txBox="1"/>
                <p:nvPr/>
              </p:nvSpPr>
              <p:spPr bwMode="auto">
                <a:xfrm>
                  <a:off x="6028" y="8457"/>
                  <a:ext cx="6049" cy="16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𝐸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𝐿</m:t>
                        </m:r>
                        <m:f>
                          <m:f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𝑖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 smtClean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​</m:t>
                            </m:r>
                            <m:r>
                              <a:rPr kumimoji="1" lang="en-US" altLang="zh-CN" sz="2200" i="1" dirty="0" smtClean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𝑞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den>
                        </m:f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𝑅𝑖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0658" name="Object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28" y="8457"/>
                  <a:ext cx="6049" cy="162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5637" y="8967"/>
              <a:ext cx="139" cy="40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pic>
        <p:nvPicPr>
          <p:cNvPr id="17" name="图片 16" descr="图示&#10;&#10;描述已自动生成">
            <a:extLst>
              <a:ext uri="{FF2B5EF4-FFF2-40B4-BE49-F238E27FC236}">
                <a16:creationId xmlns:a16="http://schemas.microsoft.com/office/drawing/2014/main" id="{CB65CDEA-7571-37E5-72C1-854093801DA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829" y="2618468"/>
            <a:ext cx="2507229" cy="18035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0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0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0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14" grpId="0"/>
      <p:bldP spid="70659" grpId="0"/>
      <p:bldP spid="70660" grpId="0"/>
      <p:bldP spid="70662" grpId="0"/>
      <p:bldP spid="70664" grpId="0"/>
      <p:bldP spid="70698" grpId="0"/>
      <p:bldP spid="70700" grpId="0"/>
      <p:bldP spid="70703" grpId="0"/>
      <p:bldP spid="70707" grpId="0"/>
      <p:bldP spid="70727" grpId="0"/>
      <p:bldP spid="70730" grpId="0" animBg="1"/>
      <p:bldP spid="70749" grpId="0" animBg="1"/>
      <p:bldP spid="7070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22290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48" name="半闭框 47"/>
          <p:cNvSpPr/>
          <p:nvPr/>
        </p:nvSpPr>
        <p:spPr>
          <a:xfrm>
            <a:off x="687324" y="523182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22568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71726" name="Line 46"/>
          <p:cNvSpPr>
            <a:spLocks noChangeShapeType="1"/>
          </p:cNvSpPr>
          <p:nvPr/>
        </p:nvSpPr>
        <p:spPr bwMode="auto">
          <a:xfrm>
            <a:off x="3375660" y="2219574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71728" name="Text Box 48"/>
          <p:cNvSpPr txBox="1">
            <a:spLocks noChangeArrowheads="1"/>
          </p:cNvSpPr>
          <p:nvPr/>
        </p:nvSpPr>
        <p:spPr bwMode="auto">
          <a:xfrm>
            <a:off x="1684020" y="3131186"/>
            <a:ext cx="3886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串联电路的振荡方程:</a:t>
            </a:r>
          </a:p>
        </p:txBody>
      </p:sp>
      <p:sp>
        <p:nvSpPr>
          <p:cNvPr id="71729" name="Text Box 49"/>
          <p:cNvSpPr txBox="1">
            <a:spLocks noChangeArrowheads="1"/>
          </p:cNvSpPr>
          <p:nvPr/>
        </p:nvSpPr>
        <p:spPr bwMode="auto">
          <a:xfrm>
            <a:off x="1684020" y="4623753"/>
            <a:ext cx="6858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如果电容器充电后撤去电源 </a:t>
            </a:r>
            <a:r>
              <a:rPr kumimoji="1" lang="en-US" altLang="zh-CN" sz="2200" b="0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(</a:t>
            </a:r>
            <a:r>
              <a:rPr kumimoji="1" lang="en-US" altLang="zh-CN" sz="2200" b="0" i="1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 E </a:t>
            </a:r>
            <a:r>
              <a:rPr kumimoji="1" lang="en-US" altLang="zh-CN" sz="2200" b="0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=</a:t>
            </a:r>
            <a:r>
              <a:rPr kumimoji="1" lang="en-US" altLang="zh-CN" sz="2200" b="0" i="1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 </a:t>
            </a:r>
            <a:r>
              <a:rPr kumimoji="1" lang="en-US" altLang="zh-CN" sz="2200" b="0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0 </a:t>
            </a:r>
            <a:r>
              <a:rPr kumimoji="1" lang="en-US" altLang="zh-CN" sz="2200" b="0" u="none" strike="noStrike" kern="1200" cap="none" spc="0" normalizeH="0" baseline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) ,</a:t>
            </a:r>
            <a:r>
              <a:rPr kumimoji="1" lang="en-US" altLang="zh-CN" sz="22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则得</a:t>
            </a:r>
          </a:p>
        </p:txBody>
      </p:sp>
      <p:sp>
        <p:nvSpPr>
          <p:cNvPr id="71782" name="Text Box 102"/>
          <p:cNvSpPr txBox="1">
            <a:spLocks noChangeArrowheads="1"/>
          </p:cNvSpPr>
          <p:nvPr/>
        </p:nvSpPr>
        <p:spPr bwMode="auto">
          <a:xfrm>
            <a:off x="1684020" y="770573"/>
            <a:ext cx="131318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化为关于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83" name="Object 103"/>
              <p:cNvSpPr txBox="1"/>
              <p:nvPr/>
            </p:nvSpPr>
            <p:spPr bwMode="auto">
              <a:xfrm>
                <a:off x="2888442" y="767466"/>
                <a:ext cx="659765" cy="4750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1" lang="en-US" altLang="zh-CN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1783" name="Object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8442" y="767466"/>
                <a:ext cx="659765" cy="4750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84" name="Text Box 104"/>
          <p:cNvSpPr txBox="1">
            <a:spLocks noChangeArrowheads="1"/>
          </p:cNvSpPr>
          <p:nvPr/>
        </p:nvSpPr>
        <p:spPr bwMode="auto">
          <a:xfrm>
            <a:off x="3232427" y="770573"/>
            <a:ext cx="117211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的方程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:</a:t>
            </a:r>
          </a:p>
        </p:txBody>
      </p:sp>
      <p:sp>
        <p:nvSpPr>
          <p:cNvPr id="71786" name="Text Box 106"/>
          <p:cNvSpPr txBox="1">
            <a:spLocks noChangeArrowheads="1"/>
          </p:cNvSpPr>
          <p:nvPr/>
        </p:nvSpPr>
        <p:spPr bwMode="auto">
          <a:xfrm>
            <a:off x="6316345" y="747965"/>
            <a:ext cx="88998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故有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308422" y="601980"/>
            <a:ext cx="2111834" cy="666750"/>
            <a:chOff x="6931" y="978"/>
            <a:chExt cx="4289" cy="10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785" name="Object 105"/>
                <p:cNvSpPr txBox="1"/>
                <p:nvPr/>
              </p:nvSpPr>
              <p:spPr bwMode="auto">
                <a:xfrm>
                  <a:off x="6931" y="978"/>
                  <a:ext cx="4289" cy="10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注意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𝑖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𝐶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kumimoji="1" lang="en-US" altLang="zh-CN" sz="2200" b="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b="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en-US" altLang="zh-CN" sz="2200" b="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1785" name="Object 1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31" y="978"/>
                  <a:ext cx="4289" cy="1050"/>
                </a:xfrm>
                <a:prstGeom prst="rect">
                  <a:avLst/>
                </a:prstGeom>
                <a:blipFill>
                  <a:blip r:embed="rId5"/>
                  <a:stretch>
                    <a:fillRect b="-275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10086" y="1146"/>
              <a:ext cx="448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3470" y="1309370"/>
            <a:ext cx="1991995" cy="1052830"/>
            <a:chOff x="3722" y="2062"/>
            <a:chExt cx="3137" cy="16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769" name="Object 89"/>
                <p:cNvSpPr txBox="1"/>
                <p:nvPr/>
              </p:nvSpPr>
              <p:spPr bwMode="auto">
                <a:xfrm>
                  <a:off x="4203" y="2062"/>
                  <a:ext cx="2656" cy="165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𝐿𝐶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1769" name="Object 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3" y="2062"/>
                  <a:ext cx="2656" cy="165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3722" y="2799"/>
              <a:ext cx="232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695065" y="1366520"/>
            <a:ext cx="1574800" cy="702945"/>
            <a:chOff x="5819" y="2152"/>
            <a:chExt cx="2480" cy="1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770" name="Object 90"/>
                <p:cNvSpPr txBox="1"/>
                <p:nvPr/>
              </p:nvSpPr>
              <p:spPr bwMode="auto">
                <a:xfrm>
                  <a:off x="5819" y="2152"/>
                  <a:ext cx="2480" cy="11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𝑅𝐶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1770" name="Object 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19" y="2152"/>
                  <a:ext cx="2480" cy="110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7352" y="2366"/>
              <a:ext cx="278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829661" y="1536713"/>
            <a:ext cx="1143148" cy="500340"/>
            <a:chOff x="7662" y="2433"/>
            <a:chExt cx="2795" cy="9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771" name="Object 91"/>
                <p:cNvSpPr txBox="1"/>
                <p:nvPr/>
              </p:nvSpPr>
              <p:spPr bwMode="auto">
                <a:xfrm>
                  <a:off x="7662" y="2433"/>
                  <a:ext cx="1269" cy="9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1771" name="Object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62" y="2433"/>
                  <a:ext cx="1269" cy="934"/>
                </a:xfrm>
                <a:prstGeom prst="rect">
                  <a:avLst/>
                </a:prstGeom>
                <a:blipFill>
                  <a:blip r:embed="rId8"/>
                  <a:stretch>
                    <a:fillRect r="-2705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9947" y="3061"/>
              <a:ext cx="510" cy="1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392420" y="1509395"/>
            <a:ext cx="3836670" cy="622935"/>
            <a:chOff x="8492" y="2377"/>
            <a:chExt cx="6042" cy="9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772" name="Object 92"/>
                <p:cNvSpPr txBox="1"/>
                <p:nvPr/>
              </p:nvSpPr>
              <p:spPr bwMode="auto">
                <a:xfrm>
                  <a:off x="8492" y="2377"/>
                  <a:ext cx="3144" cy="9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1772" name="Object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92" y="2377"/>
                  <a:ext cx="3144" cy="98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13978" y="2706"/>
              <a:ext cx="556" cy="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438525" y="2170430"/>
            <a:ext cx="3750310" cy="861695"/>
            <a:chOff x="5415" y="3418"/>
            <a:chExt cx="5906" cy="13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725" name="Object 45"/>
                <p:cNvSpPr txBox="1"/>
                <p:nvPr/>
              </p:nvSpPr>
              <p:spPr bwMode="auto">
                <a:xfrm>
                  <a:off x="5415" y="3418"/>
                  <a:ext cx="5906" cy="135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令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𝛽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𝑅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𝐿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𝐿𝐶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1725" name="Object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5" y="3418"/>
                  <a:ext cx="5906" cy="135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9020" y="3679"/>
              <a:ext cx="448" cy="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265045" y="3607435"/>
            <a:ext cx="6334760" cy="1103630"/>
            <a:chOff x="3567" y="5681"/>
            <a:chExt cx="9976" cy="17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727" name="Object 47"/>
                <p:cNvSpPr txBox="1"/>
                <p:nvPr/>
              </p:nvSpPr>
              <p:spPr bwMode="auto">
                <a:xfrm>
                  <a:off x="4203" y="5681"/>
                  <a:ext cx="9340" cy="17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+2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𝛽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𝐿𝐶</m:t>
                            </m:r>
                          </m:den>
                        </m:f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1727" name="Object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3" y="5681"/>
                  <a:ext cx="9340" cy="173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3567" y="6367"/>
              <a:ext cx="371" cy="4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422525" y="5181078"/>
            <a:ext cx="5953125" cy="968340"/>
            <a:chOff x="3815" y="8412"/>
            <a:chExt cx="9375" cy="30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730" name="Object 50"/>
                <p:cNvSpPr txBox="1"/>
                <p:nvPr/>
              </p:nvSpPr>
              <p:spPr bwMode="auto">
                <a:xfrm>
                  <a:off x="4203" y="8412"/>
                  <a:ext cx="8987" cy="30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+2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𝛽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​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200" i="1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1730" name="Object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3" y="8412"/>
                  <a:ext cx="8987" cy="306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/>
            <p:cNvSpPr/>
            <p:nvPr/>
          </p:nvSpPr>
          <p:spPr>
            <a:xfrm>
              <a:off x="3815" y="8622"/>
              <a:ext cx="309" cy="3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pic>
        <p:nvPicPr>
          <p:cNvPr id="19" name="图片 18" descr="图示&#10;&#10;描述已自动生成">
            <a:extLst>
              <a:ext uri="{FF2B5EF4-FFF2-40B4-BE49-F238E27FC236}">
                <a16:creationId xmlns:a16="http://schemas.microsoft.com/office/drawing/2014/main" id="{0B05E4E5-A628-F5F9-1FE3-B82FCA1E9D5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415" y="2475306"/>
            <a:ext cx="2507229" cy="18035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1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1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8" grpId="0"/>
      <p:bldP spid="71729" grpId="0"/>
      <p:bldP spid="71782" grpId="0"/>
      <p:bldP spid="71783" grpId="0"/>
      <p:bldP spid="71784" grpId="0"/>
      <p:bldP spid="7178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635" y="-4445"/>
            <a:ext cx="12192000" cy="6862445"/>
            <a:chOff x="0" y="-14"/>
            <a:chExt cx="19200" cy="10807"/>
          </a:xfrm>
        </p:grpSpPr>
        <p:sp>
          <p:nvSpPr>
            <p:cNvPr id="16" name="Rectangle 1"/>
            <p:cNvSpPr/>
            <p:nvPr/>
          </p:nvSpPr>
          <p:spPr>
            <a:xfrm>
              <a:off x="0" y="-14"/>
              <a:ext cx="19200" cy="1080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54" y="310"/>
              <a:ext cx="18493" cy="10167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826" name="Rectangle 2"/>
              <p:cNvSpPr>
                <a:spLocks noGrp="1" noChangeArrowheads="1"/>
              </p:cNvSpPr>
              <p:nvPr/>
            </p:nvSpPr>
            <p:spPr>
              <a:xfrm>
                <a:off x="2599690" y="1745256"/>
                <a:ext cx="5410200" cy="6096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800" b="1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kumimoji="1" lang="en-US" altLang="zh-CN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kumimoji="1" lang="zh-CN" altLang="en-US" b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阶线性微分方程的一般形式为</a:t>
                </a:r>
              </a:p>
            </p:txBody>
          </p:sp>
        </mc:Choice>
        <mc:Fallback xmlns="">
          <p:sp>
            <p:nvSpPr>
              <p:cNvPr id="7782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690" y="1745256"/>
                <a:ext cx="5410200" cy="609600"/>
              </a:xfrm>
              <a:prstGeom prst="rect">
                <a:avLst/>
              </a:prstGeom>
              <a:blipFill>
                <a:blip r:embed="rId3"/>
                <a:stretch>
                  <a:fillRect t="-8000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2599690" y="460375"/>
            <a:ext cx="21386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方程的共性 </a:t>
            </a:r>
          </a:p>
        </p:txBody>
      </p:sp>
      <p:sp>
        <p:nvSpPr>
          <p:cNvPr id="77832" name="Text Box 8"/>
          <p:cNvSpPr txBox="1">
            <a:spLocks noChangeArrowheads="1"/>
          </p:cNvSpPr>
          <p:nvPr/>
        </p:nvSpPr>
        <p:spPr bwMode="auto">
          <a:xfrm>
            <a:off x="7089629" y="1106928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为二阶线性微分方程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  </a:t>
            </a:r>
          </a:p>
        </p:txBody>
      </p:sp>
      <p:sp>
        <p:nvSpPr>
          <p:cNvPr id="77834" name="AutoShape 10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785450" y="451618"/>
            <a:ext cx="785348" cy="613778"/>
          </a:xfrm>
          <a:prstGeom prst="actionButtonBlank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例</a:t>
            </a:r>
            <a:r>
              <a:rPr lang="en-US" altLang="zh-CN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2</a:t>
            </a:r>
          </a:p>
        </p:txBody>
      </p:sp>
      <p:sp>
        <p:nvSpPr>
          <p:cNvPr id="77837" name="Text Box 13"/>
          <p:cNvSpPr txBox="1">
            <a:spLocks noChangeArrowheads="1"/>
          </p:cNvSpPr>
          <p:nvPr/>
        </p:nvSpPr>
        <p:spPr bwMode="auto">
          <a:xfrm>
            <a:off x="4564000" y="460375"/>
            <a:ext cx="37388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—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可归结为同一形式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:</a:t>
            </a:r>
          </a:p>
        </p:txBody>
      </p:sp>
      <p:sp>
        <p:nvSpPr>
          <p:cNvPr id="77840" name="Text Box 16"/>
          <p:cNvSpPr txBox="1">
            <a:spLocks noChangeArrowheads="1"/>
          </p:cNvSpPr>
          <p:nvPr/>
        </p:nvSpPr>
        <p:spPr bwMode="auto">
          <a:xfrm>
            <a:off x="5292090" y="2985821"/>
            <a:ext cx="35958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时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称为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非齐次方程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; </a:t>
            </a:r>
          </a:p>
        </p:txBody>
      </p:sp>
      <p:sp>
        <p:nvSpPr>
          <p:cNvPr id="77842" name="Text Box 18"/>
          <p:cNvSpPr txBox="1">
            <a:spLocks noChangeArrowheads="1"/>
          </p:cNvSpPr>
          <p:nvPr/>
        </p:nvSpPr>
        <p:spPr bwMode="auto">
          <a:xfrm>
            <a:off x="5338266" y="3651013"/>
            <a:ext cx="30572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时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称为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齐次方程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p:sp>
        <p:nvSpPr>
          <p:cNvPr id="77843" name="AutoShape 19"/>
          <p:cNvSpPr/>
          <p:nvPr/>
        </p:nvSpPr>
        <p:spPr bwMode="auto">
          <a:xfrm>
            <a:off x="3199130" y="3117215"/>
            <a:ext cx="241300" cy="965200"/>
          </a:xfrm>
          <a:prstGeom prst="leftBrace">
            <a:avLst>
              <a:gd name="adj1" fmla="val 36066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77844" name="Text Box 20"/>
          <p:cNvSpPr txBox="1">
            <a:spLocks noChangeArrowheads="1"/>
          </p:cNvSpPr>
          <p:nvPr/>
        </p:nvSpPr>
        <p:spPr bwMode="auto">
          <a:xfrm>
            <a:off x="1034904" y="4345990"/>
            <a:ext cx="395067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复习: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  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一阶线性方程</a:t>
            </a:r>
          </a:p>
        </p:txBody>
      </p:sp>
      <p:sp>
        <p:nvSpPr>
          <p:cNvPr id="77846" name="Text Box 22"/>
          <p:cNvSpPr txBox="1">
            <a:spLocks noChangeArrowheads="1"/>
          </p:cNvSpPr>
          <p:nvPr/>
        </p:nvSpPr>
        <p:spPr bwMode="auto">
          <a:xfrm>
            <a:off x="2663190" y="5003532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通解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:</a:t>
            </a:r>
          </a:p>
        </p:txBody>
      </p:sp>
      <p:sp>
        <p:nvSpPr>
          <p:cNvPr id="77849" name="Line 25"/>
          <p:cNvSpPr>
            <a:spLocks noChangeShapeType="1"/>
          </p:cNvSpPr>
          <p:nvPr/>
        </p:nvSpPr>
        <p:spPr bwMode="auto">
          <a:xfrm>
            <a:off x="6426201" y="5691969"/>
            <a:ext cx="46609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77851" name="Line 27"/>
          <p:cNvSpPr>
            <a:spLocks noChangeShapeType="1"/>
          </p:cNvSpPr>
          <p:nvPr/>
        </p:nvSpPr>
        <p:spPr bwMode="auto">
          <a:xfrm>
            <a:off x="3666490" y="5704117"/>
            <a:ext cx="2550411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77852" name="Text Box 28"/>
          <p:cNvSpPr txBox="1">
            <a:spLocks noChangeArrowheads="1"/>
          </p:cNvSpPr>
          <p:nvPr/>
        </p:nvSpPr>
        <p:spPr bwMode="auto">
          <a:xfrm>
            <a:off x="3430741" y="5768048"/>
            <a:ext cx="2895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齐次方程通解</a:t>
            </a:r>
            <a:r>
              <a:rPr kumimoji="1" lang="en-US" altLang="zh-CN" sz="2800" b="0" i="1" u="none" strike="noStrike" kern="1200" cap="none" spc="0" normalizeH="0" baseline="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Y</a:t>
            </a:r>
            <a:endParaRPr kumimoji="1" lang="en-US" altLang="zh-CN" sz="2800" b="0" i="1" u="none" strike="noStrike" kern="1200" cap="none" spc="0" normalizeH="0" baseline="0" noProof="0" dirty="0">
              <a:ln>
                <a:noFill/>
              </a:ln>
              <a:solidFill>
                <a:srgbClr val="04926A"/>
              </a:solidFill>
              <a:effectLst/>
              <a:uLnTx/>
              <a:uFillTx/>
              <a:latin typeface="Cambria Math" panose="02040503050406030204" charset="0"/>
              <a:ea typeface="黑体" panose="02010609060101010101" pitchFamily="49" charset="-122"/>
              <a:cs typeface="Cambria Math" panose="02040503050406030204" charset="0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7285990" y="5694680"/>
            <a:ext cx="3801110" cy="571500"/>
            <a:chOff x="10934" y="8973"/>
            <a:chExt cx="5986" cy="900"/>
          </a:xfrm>
        </p:grpSpPr>
        <p:sp>
          <p:nvSpPr>
            <p:cNvPr id="77850" name="Text Box 26"/>
            <p:cNvSpPr txBox="1">
              <a:spLocks noChangeArrowheads="1"/>
            </p:cNvSpPr>
            <p:nvPr/>
          </p:nvSpPr>
          <p:spPr bwMode="auto">
            <a:xfrm>
              <a:off x="10934" y="9005"/>
              <a:ext cx="4440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非齐次方程特解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53" name="Object 29"/>
                <p:cNvSpPr txBox="1"/>
                <p:nvPr/>
              </p:nvSpPr>
              <p:spPr bwMode="auto">
                <a:xfrm>
                  <a:off x="15127" y="8973"/>
                  <a:ext cx="1793" cy="9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base">
                    <a:spcBef>
                      <a:spcPct val="50000"/>
                    </a:spcBef>
                    <a:buClrTx/>
                    <a:buSzTx/>
                    <a:buFontTx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i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7853" name="Object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127" y="8973"/>
                  <a:ext cx="1793" cy="9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856" name="Group 32"/>
          <p:cNvGrpSpPr/>
          <p:nvPr/>
        </p:nvGrpSpPr>
        <p:grpSpPr bwMode="auto">
          <a:xfrm>
            <a:off x="3423139" y="2998837"/>
            <a:ext cx="2082800" cy="620713"/>
            <a:chOff x="1200" y="1929"/>
            <a:chExt cx="1312" cy="3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9" name="Object 15"/>
                <p:cNvSpPr txBox="1"/>
                <p:nvPr/>
              </p:nvSpPr>
              <p:spPr bwMode="auto">
                <a:xfrm>
                  <a:off x="1200" y="1929"/>
                  <a:ext cx="1312" cy="3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黑体" panose="02010609060101010101" pitchFamily="49" charset="-122"/>
                      <a:ea typeface="黑体" panose="02010609060101010101" pitchFamily="49" charset="-122"/>
                      <a:cs typeface="+mn-ea"/>
                    </a:rPr>
                    <a:t>当</a:t>
                  </a:r>
                  <a14:m>
                    <m:oMath xmlns:m="http://schemas.openxmlformats.org/officeDocument/2006/math"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)≡0</m:t>
                      </m:r>
                    </m:oMath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7839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00" y="1929"/>
                  <a:ext cx="1312" cy="391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854" name="Line 30"/>
            <p:cNvSpPr>
              <a:spLocks noChangeShapeType="1"/>
            </p:cNvSpPr>
            <p:nvPr/>
          </p:nvSpPr>
          <p:spPr bwMode="auto">
            <a:xfrm flipH="1">
              <a:off x="2046" y="2008"/>
              <a:ext cx="4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sp>
        <p:nvSpPr>
          <p:cNvPr id="77857" name="Line 33"/>
          <p:cNvSpPr>
            <a:spLocks noChangeShapeType="1"/>
          </p:cNvSpPr>
          <p:nvPr/>
        </p:nvSpPr>
        <p:spPr bwMode="auto">
          <a:xfrm>
            <a:off x="2404110" y="4246929"/>
            <a:ext cx="3691890" cy="0"/>
          </a:xfrm>
          <a:prstGeom prst="line">
            <a:avLst/>
          </a:prstGeom>
          <a:noFill/>
          <a:ln w="9525">
            <a:solidFill>
              <a:srgbClr val="1D9D7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" name="AutoShape 10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942064" y="488897"/>
            <a:ext cx="856239" cy="521969"/>
          </a:xfrm>
          <a:prstGeom prst="actionButtonBlank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例1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296160" y="1081796"/>
            <a:ext cx="5276850" cy="748030"/>
            <a:chOff x="3736" y="1846"/>
            <a:chExt cx="8310" cy="11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6" name="Object 12"/>
                <p:cNvSpPr txBox="1"/>
                <p:nvPr/>
              </p:nvSpPr>
              <p:spPr bwMode="auto">
                <a:xfrm>
                  <a:off x="4214" y="1846"/>
                  <a:ext cx="7832" cy="11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𝑞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i="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i="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7836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4" y="1846"/>
                  <a:ext cx="7832" cy="117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3736" y="2097"/>
              <a:ext cx="387" cy="2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257425" y="2414905"/>
            <a:ext cx="9054465" cy="830580"/>
            <a:chOff x="3675" y="3483"/>
            <a:chExt cx="14259" cy="1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8" name="Object 14"/>
                <p:cNvSpPr txBox="1"/>
                <p:nvPr/>
              </p:nvSpPr>
              <p:spPr bwMode="auto">
                <a:xfrm>
                  <a:off x="4214" y="3483"/>
                  <a:ext cx="13721" cy="130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−1)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+⋯+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7838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4" y="3483"/>
                  <a:ext cx="13721" cy="1309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3675" y="3703"/>
              <a:ext cx="231" cy="3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452495" y="3682365"/>
            <a:ext cx="2660650" cy="935990"/>
            <a:chOff x="5557" y="5519"/>
            <a:chExt cx="4190" cy="14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41" name="Object 17"/>
                <p:cNvSpPr txBox="1"/>
                <p:nvPr/>
              </p:nvSpPr>
              <p:spPr bwMode="auto">
                <a:xfrm>
                  <a:off x="5557" y="5519"/>
                  <a:ext cx="4190" cy="14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黑体" panose="02010609060101010101" pitchFamily="49" charset="-122"/>
                      <a:ea typeface="黑体" panose="02010609060101010101" pitchFamily="49" charset="-122"/>
                      <a:cs typeface="+mn-ea"/>
                    </a:rPr>
                    <a:t>当</a:t>
                  </a:r>
                  <a14:m>
                    <m:oMath xmlns:m="http://schemas.openxmlformats.org/officeDocument/2006/math"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)≡0</m:t>
                      </m:r>
                    </m:oMath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7841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57" y="5519"/>
                  <a:ext cx="4190" cy="1474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7104" y="6206"/>
              <a:ext cx="262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850765" y="4324985"/>
            <a:ext cx="3860800" cy="601345"/>
            <a:chOff x="7759" y="6596"/>
            <a:chExt cx="6080" cy="9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45" name="Object 21"/>
                <p:cNvSpPr txBox="1"/>
                <p:nvPr/>
              </p:nvSpPr>
              <p:spPr bwMode="auto">
                <a:xfrm>
                  <a:off x="7759" y="6596"/>
                  <a:ext cx="6080" cy="94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​​(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)​​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​​(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7845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59" y="6596"/>
                  <a:ext cx="6080" cy="94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12294" y="6746"/>
              <a:ext cx="571" cy="2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592250" y="4974700"/>
            <a:ext cx="3497617" cy="628030"/>
            <a:chOff x="5251" y="7606"/>
            <a:chExt cx="3661" cy="14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48" name="Object 24"/>
                <p:cNvSpPr txBox="1"/>
                <p:nvPr/>
              </p:nvSpPr>
              <p:spPr bwMode="auto">
                <a:xfrm>
                  <a:off x="5251" y="7606"/>
                  <a:ext cx="3661" cy="14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𝐶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𝑃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nary>
                          </m:sup>
                        </m:sSup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7848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51" y="7606"/>
                  <a:ext cx="3661" cy="14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6517" y="7735"/>
              <a:ext cx="231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164831" y="4768754"/>
            <a:ext cx="5301615" cy="1150869"/>
            <a:chOff x="9411" y="7370"/>
            <a:chExt cx="8349" cy="20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47" name="Object 23"/>
                <p:cNvSpPr txBox="1"/>
                <p:nvPr/>
              </p:nvSpPr>
              <p:spPr bwMode="auto">
                <a:xfrm>
                  <a:off x="9411" y="7370"/>
                  <a:ext cx="8349" cy="20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𝑃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nary>
                          </m:sup>
                        </m:sSup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𝑄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nary>
                                  <m:naryPr>
                                    <m:subHide m:val="on"/>
                                    <m:supHide m:val="on"/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𝑃</m:t>
                                    </m:r>
                                    <m: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(</m:t>
                                    </m:r>
                                    <m: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e>
                                </m:nary>
                              </m:sup>
                            </m:sSup>
                            <m:r>
                              <m:rPr>
                                <m:sty m:val="p"/>
                              </m:rPr>
                              <a:rPr kumimoji="1" lang="en-US" altLang="zh-CN" sz="28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nary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7847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411" y="7370"/>
                  <a:ext cx="8349" cy="206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10039" y="7627"/>
              <a:ext cx="324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51FBA25-2E59-EAE6-C3DC-40EDC0CFFC02}"/>
              </a:ext>
            </a:extLst>
          </p:cNvPr>
          <p:cNvGrpSpPr/>
          <p:nvPr/>
        </p:nvGrpSpPr>
        <p:grpSpPr>
          <a:xfrm>
            <a:off x="238125" y="245707"/>
            <a:ext cx="11735060" cy="6360833"/>
            <a:chOff x="238125" y="245707"/>
            <a:chExt cx="11735060" cy="6360833"/>
          </a:xfrm>
        </p:grpSpPr>
        <p:sp>
          <p:nvSpPr>
            <p:cNvPr id="51" name="Rectangle 1">
              <a:extLst>
                <a:ext uri="{FF2B5EF4-FFF2-40B4-BE49-F238E27FC236}">
                  <a16:creationId xmlns:a16="http://schemas.microsoft.com/office/drawing/2014/main" id="{12DC45F8-6D61-5E2A-2C87-1AB0B945556D}"/>
                </a:ext>
              </a:extLst>
            </p:cNvPr>
            <p:cNvSpPr/>
            <p:nvPr/>
          </p:nvSpPr>
          <p:spPr>
            <a:xfrm>
              <a:off x="297498" y="6403453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1">
              <a:extLst>
                <a:ext uri="{FF2B5EF4-FFF2-40B4-BE49-F238E27FC236}">
                  <a16:creationId xmlns:a16="http://schemas.microsoft.com/office/drawing/2014/main" id="{E9B14003-61DF-E90D-7700-D0CE18B2504C}"/>
                </a:ext>
              </a:extLst>
            </p:cNvPr>
            <p:cNvSpPr/>
            <p:nvPr/>
          </p:nvSpPr>
          <p:spPr>
            <a:xfrm rot="2659048">
              <a:off x="10114638" y="305488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39371FFC-0BB4-1E8D-A7B5-FEE2910993CC}"/>
                </a:ext>
              </a:extLst>
            </p:cNvPr>
            <p:cNvSpPr/>
            <p:nvPr/>
          </p:nvSpPr>
          <p:spPr>
            <a:xfrm>
              <a:off x="527050" y="6299835"/>
              <a:ext cx="28702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第六节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高阶线性微分方程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1405A36B-D294-6DF8-5CFB-1EF0A34256D5}"/>
                </a:ext>
              </a:extLst>
            </p:cNvPr>
            <p:cNvSpPr/>
            <p:nvPr/>
          </p:nvSpPr>
          <p:spPr>
            <a:xfrm>
              <a:off x="10387590" y="245707"/>
              <a:ext cx="1585595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第七章 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微分方程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B45F66D4-1F22-7D1B-0623-CA5BB4A35DC1}"/>
                </a:ext>
              </a:extLst>
            </p:cNvPr>
            <p:cNvCxnSpPr/>
            <p:nvPr/>
          </p:nvCxnSpPr>
          <p:spPr>
            <a:xfrm>
              <a:off x="238125" y="381000"/>
              <a:ext cx="9612000" cy="0"/>
            </a:xfrm>
            <a:prstGeom prst="line">
              <a:avLst/>
            </a:prstGeom>
            <a:ln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5DD10C3A-ACCE-8F83-B259-0C0D1F969D79}"/>
                </a:ext>
              </a:extLst>
            </p:cNvPr>
            <p:cNvCxnSpPr/>
            <p:nvPr/>
          </p:nvCxnSpPr>
          <p:spPr>
            <a:xfrm>
              <a:off x="2943225" y="6442710"/>
              <a:ext cx="90000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7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7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7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7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7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/>
      <p:bldP spid="77827" grpId="0"/>
      <p:bldP spid="77832" grpId="0" animBg="1"/>
      <p:bldP spid="77834" grpId="0"/>
      <p:bldP spid="77837" grpId="0" animBg="1"/>
      <p:bldP spid="77840" grpId="0" animBg="1"/>
      <p:bldP spid="77842" grpId="0" animBg="1"/>
      <p:bldP spid="77843" grpId="0" animBg="1"/>
      <p:bldP spid="77844" grpId="0"/>
      <p:bldP spid="77846" grpId="0"/>
      <p:bldP spid="77849" grpId="0" animBg="1"/>
      <p:bldP spid="77851" grpId="0" animBg="1"/>
      <p:bldP spid="7785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129435" y="4924427"/>
            <a:ext cx="3161030" cy="444500"/>
            <a:chOff x="6224" y="7393"/>
            <a:chExt cx="4978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539" name="Object 3"/>
                <p:cNvSpPr txBox="1"/>
                <p:nvPr/>
              </p:nvSpPr>
              <p:spPr bwMode="auto">
                <a:xfrm>
                  <a:off x="6262" y="7393"/>
                  <a:ext cx="4940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2 </m:t>
                                </m:r>
                              </m:sub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65539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62" y="7393"/>
                  <a:ext cx="4940" cy="700"/>
                </a:xfrm>
                <a:prstGeom prst="rect">
                  <a:avLst/>
                </a:prstGeom>
                <a:blipFill>
                  <a:blip r:embed="rId2"/>
                  <a:stretch>
                    <a:fillRect b="-123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矩形 28"/>
            <p:cNvSpPr/>
            <p:nvPr/>
          </p:nvSpPr>
          <p:spPr>
            <a:xfrm>
              <a:off x="6224" y="7577"/>
              <a:ext cx="119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152295" y="4361180"/>
            <a:ext cx="3098800" cy="444500"/>
            <a:chOff x="6265" y="6549"/>
            <a:chExt cx="4880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538" name="Object 2"/>
                <p:cNvSpPr txBox="1"/>
                <p:nvPr/>
              </p:nvSpPr>
              <p:spPr bwMode="auto">
                <a:xfrm>
                  <a:off x="6265" y="6549"/>
                  <a:ext cx="4880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4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4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4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4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4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4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4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kumimoji="1" lang="en-US" altLang="zh-CN" sz="24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4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4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kumimoji="1" lang="en-US" altLang="zh-CN" sz="24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kumimoji="1" lang="en-US" altLang="zh-CN" sz="24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4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4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kumimoji="1" lang="en-US" altLang="zh-CN" sz="24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4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4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2 </m:t>
                                </m:r>
                              </m:sub>
                              <m:sup>
                                <m:r>
                                  <a:rPr kumimoji="1" lang="en-US" altLang="zh-CN" sz="24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5538" name="Object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65" y="6549"/>
                  <a:ext cx="4880" cy="700"/>
                </a:xfrm>
                <a:prstGeom prst="rect">
                  <a:avLst/>
                </a:prstGeom>
                <a:blipFill>
                  <a:blip r:embed="rId3"/>
                  <a:stretch>
                    <a:fillRect b="-123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矩形 24"/>
            <p:cNvSpPr/>
            <p:nvPr/>
          </p:nvSpPr>
          <p:spPr>
            <a:xfrm>
              <a:off x="7151" y="7037"/>
              <a:ext cx="232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65542" name="Rectangle 6"/>
          <p:cNvSpPr>
            <a:spLocks noGrp="1" noChangeArrowheads="1"/>
          </p:cNvSpPr>
          <p:nvPr/>
        </p:nvSpPr>
        <p:spPr>
          <a:xfrm>
            <a:off x="993140" y="387350"/>
            <a:ext cx="580517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ase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defRPr/>
            </a:pP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二、线性齐次方程的解的结构</a:t>
            </a:r>
          </a:p>
        </p:txBody>
      </p:sp>
      <p:sp>
        <p:nvSpPr>
          <p:cNvPr id="65545" name="Text Box 9"/>
          <p:cNvSpPr txBox="1">
            <a:spLocks noChangeArrowheads="1"/>
          </p:cNvSpPr>
          <p:nvPr/>
        </p:nvSpPr>
        <p:spPr bwMode="auto">
          <a:xfrm>
            <a:off x="5553105" y="1180149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是二阶线性齐次方程</a:t>
            </a:r>
          </a:p>
        </p:txBody>
      </p:sp>
      <p:sp>
        <p:nvSpPr>
          <p:cNvPr id="65547" name="Text Box 11"/>
          <p:cNvSpPr txBox="1">
            <a:spLocks noChangeArrowheads="1"/>
          </p:cNvSpPr>
          <p:nvPr/>
        </p:nvSpPr>
        <p:spPr bwMode="auto">
          <a:xfrm>
            <a:off x="2354580" y="2493486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的两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个解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5549" name="Text Box 13"/>
          <p:cNvSpPr txBox="1">
            <a:spLocks noChangeArrowheads="1"/>
          </p:cNvSpPr>
          <p:nvPr/>
        </p:nvSpPr>
        <p:spPr bwMode="auto">
          <a:xfrm>
            <a:off x="2354580" y="311785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也是该方程的解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p:sp>
        <p:nvSpPr>
          <p:cNvPr id="65550" name="Text Box 14"/>
          <p:cNvSpPr txBox="1">
            <a:spLocks noChangeArrowheads="1"/>
          </p:cNvSpPr>
          <p:nvPr/>
        </p:nvSpPr>
        <p:spPr bwMode="auto">
          <a:xfrm>
            <a:off x="1012190" y="3691949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证</a:t>
            </a:r>
          </a:p>
        </p:txBody>
      </p:sp>
      <p:sp>
        <p:nvSpPr>
          <p:cNvPr id="65552" name="Text Box 16"/>
          <p:cNvSpPr txBox="1">
            <a:spLocks noChangeArrowheads="1"/>
          </p:cNvSpPr>
          <p:nvPr/>
        </p:nvSpPr>
        <p:spPr bwMode="auto">
          <a:xfrm>
            <a:off x="5553105" y="3743960"/>
            <a:ext cx="30480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代入</a:t>
            </a: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方程左边</a:t>
            </a:r>
            <a:r>
              <a:rPr kumimoji="1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得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5559" name="Text Box 23"/>
          <p:cNvSpPr txBox="1">
            <a:spLocks noChangeArrowheads="1"/>
          </p:cNvSpPr>
          <p:nvPr/>
        </p:nvSpPr>
        <p:spPr bwMode="auto">
          <a:xfrm>
            <a:off x="4942840" y="3102611"/>
            <a:ext cx="21386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(叠加原理)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</a:p>
        </p:txBody>
      </p:sp>
      <p:sp>
        <p:nvSpPr>
          <p:cNvPr id="65561" name="Text Box 25"/>
          <p:cNvSpPr txBox="1">
            <a:spLocks noChangeArrowheads="1"/>
          </p:cNvSpPr>
          <p:nvPr/>
        </p:nvSpPr>
        <p:spPr bwMode="auto">
          <a:xfrm>
            <a:off x="7337425" y="2451101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84580" y="1257300"/>
            <a:ext cx="1238885" cy="449580"/>
            <a:chOff x="1553" y="3802"/>
            <a:chExt cx="1951" cy="708"/>
          </a:xfrm>
        </p:grpSpPr>
        <p:sp>
          <p:nvSpPr>
            <p:cNvPr id="4" name="圆角矩形 3"/>
            <p:cNvSpPr/>
            <p:nvPr/>
          </p:nvSpPr>
          <p:spPr>
            <a:xfrm>
              <a:off x="1553" y="3803"/>
              <a:ext cx="1701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Text Box 28"/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 </a:t>
              </a: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8211850" y="6009005"/>
            <a:ext cx="741680" cy="429895"/>
          </a:xfrm>
          <a:prstGeom prst="rect">
            <a:avLst/>
          </a:prstGeom>
          <a:solidFill>
            <a:srgbClr val="04926A">
              <a:alpha val="42000"/>
            </a:srgbClr>
          </a:solidFill>
        </p:spPr>
        <p:txBody>
          <a:bodyPr wrap="none" rtlCol="0" anchor="t">
            <a:spAutoFit/>
          </a:bodyPr>
          <a:lstStyle/>
          <a:p>
            <a:pPr algn="ctr"/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证毕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361565" y="1189674"/>
            <a:ext cx="4965700" cy="778510"/>
            <a:chOff x="3668" y="1873"/>
            <a:chExt cx="7820" cy="12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544" name="Object 8"/>
                <p:cNvSpPr txBox="1"/>
                <p:nvPr/>
              </p:nvSpPr>
              <p:spPr bwMode="auto">
                <a:xfrm>
                  <a:off x="3668" y="1873"/>
                  <a:ext cx="7820" cy="12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若函数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5544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68" y="1873"/>
                  <a:ext cx="7820" cy="122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5112" y="2696"/>
              <a:ext cx="541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265805" y="1860197"/>
            <a:ext cx="4557395" cy="542055"/>
            <a:chOff x="5143" y="2793"/>
            <a:chExt cx="7177" cy="13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546" name="Object 10"/>
                <p:cNvSpPr txBox="1"/>
                <p:nvPr/>
              </p:nvSpPr>
              <p:spPr bwMode="auto">
                <a:xfrm>
                  <a:off x="5600" y="2793"/>
                  <a:ext cx="6720" cy="135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5546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00" y="2793"/>
                  <a:ext cx="6720" cy="13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5143" y="3129"/>
              <a:ext cx="324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046220" y="2423795"/>
            <a:ext cx="4215765" cy="705485"/>
            <a:chOff x="6372" y="3577"/>
            <a:chExt cx="6639" cy="11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560" name="Object 24"/>
                <p:cNvSpPr txBox="1"/>
                <p:nvPr/>
              </p:nvSpPr>
              <p:spPr bwMode="auto">
                <a:xfrm>
                  <a:off x="6372" y="3728"/>
                  <a:ext cx="6639" cy="9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则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5560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372" y="3728"/>
                  <a:ext cx="6639" cy="96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12171" y="3577"/>
              <a:ext cx="386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097520" y="2530475"/>
            <a:ext cx="3299460" cy="756285"/>
            <a:chOff x="12752" y="3745"/>
            <a:chExt cx="5196" cy="11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562" name="Object 26"/>
                <p:cNvSpPr txBox="1"/>
                <p:nvPr/>
              </p:nvSpPr>
              <p:spPr bwMode="auto">
                <a:xfrm>
                  <a:off x="12752" y="3745"/>
                  <a:ext cx="5175" cy="11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zh-CN" altLang="en-US" sz="28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为任意常数</m:t>
                        </m:r>
                        <m:r>
                          <a:rPr kumimoji="1" lang="zh-CN" altLang="en-US" sz="28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) 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5562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752" y="3745"/>
                  <a:ext cx="5175" cy="119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17500" y="4025"/>
              <a:ext cx="448" cy="2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176779" y="3742648"/>
            <a:ext cx="4371495" cy="536964"/>
            <a:chOff x="3428" y="5648"/>
            <a:chExt cx="6422" cy="5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551" name="Object 15"/>
                <p:cNvSpPr txBox="1"/>
                <p:nvPr/>
              </p:nvSpPr>
              <p:spPr bwMode="auto">
                <a:xfrm>
                  <a:off x="3731" y="5648"/>
                  <a:ext cx="6119" cy="5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7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3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将</m:t>
                        </m:r>
                        <m:r>
                          <a:rPr kumimoji="1" lang="zh-CN" altLang="en-US" sz="23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3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3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3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3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3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3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3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3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3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5551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31" y="5648"/>
                  <a:ext cx="6119" cy="549"/>
                </a:xfrm>
                <a:prstGeom prst="rect">
                  <a:avLst/>
                </a:prstGeom>
                <a:blipFill>
                  <a:blip r:embed="rId8"/>
                  <a:stretch>
                    <a:fillRect l="-102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3428" y="5863"/>
              <a:ext cx="119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304415" y="4358960"/>
            <a:ext cx="2005965" cy="444500"/>
            <a:chOff x="2999" y="6549"/>
            <a:chExt cx="3159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553" name="Object 17"/>
                <p:cNvSpPr txBox="1"/>
                <p:nvPr/>
              </p:nvSpPr>
              <p:spPr bwMode="auto">
                <a:xfrm>
                  <a:off x="2999" y="6549"/>
                  <a:ext cx="3159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″</m:t>
                                </m:r>
                              </m:sup>
                            </m:sSub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″</m:t>
                                </m:r>
                              </m:sup>
                            </m:sSubSup>
                            <m:r>
                              <m:rPr>
                                <m:nor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65553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99" y="6549"/>
                  <a:ext cx="3159" cy="700"/>
                </a:xfrm>
                <a:prstGeom prst="rect">
                  <a:avLst/>
                </a:prstGeom>
                <a:blipFill>
                  <a:blip r:embed="rId9"/>
                  <a:stretch>
                    <a:fillRect b="-547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3320" y="6790"/>
              <a:ext cx="371" cy="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274600" y="5495925"/>
            <a:ext cx="5006340" cy="544195"/>
            <a:chOff x="3289" y="8435"/>
            <a:chExt cx="7884" cy="8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557" name="Object 21"/>
                <p:cNvSpPr txBox="1"/>
                <p:nvPr/>
              </p:nvSpPr>
              <p:spPr bwMode="auto">
                <a:xfrm>
                  <a:off x="4660" y="8435"/>
                  <a:ext cx="6513" cy="85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[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]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5557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60" y="8435"/>
                  <a:ext cx="6513" cy="85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矩形 31"/>
            <p:cNvSpPr/>
            <p:nvPr/>
          </p:nvSpPr>
          <p:spPr>
            <a:xfrm>
              <a:off x="3289" y="8489"/>
              <a:ext cx="340" cy="2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335050" y="5996940"/>
            <a:ext cx="4613275" cy="444500"/>
            <a:chOff x="4973" y="9010"/>
            <a:chExt cx="7265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558" name="Object 22"/>
                <p:cNvSpPr txBox="1"/>
                <p:nvPr/>
              </p:nvSpPr>
              <p:spPr bwMode="auto">
                <a:xfrm>
                  <a:off x="6262" y="9010"/>
                  <a:ext cx="5976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[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]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5558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62" y="9010"/>
                  <a:ext cx="5976" cy="700"/>
                </a:xfrm>
                <a:prstGeom prst="rect">
                  <a:avLst/>
                </a:prstGeom>
                <a:blipFill>
                  <a:blip r:embed="rId14"/>
                  <a:stretch>
                    <a:fillRect b="-1506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矩形 33"/>
            <p:cNvSpPr/>
            <p:nvPr/>
          </p:nvSpPr>
          <p:spPr>
            <a:xfrm>
              <a:off x="4973" y="9215"/>
              <a:ext cx="216" cy="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7529860" y="5881370"/>
            <a:ext cx="932180" cy="487680"/>
            <a:chOff x="10471" y="8828"/>
            <a:chExt cx="1468" cy="7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540" name="Object 4"/>
                <p:cNvSpPr txBox="1"/>
                <p:nvPr/>
              </p:nvSpPr>
              <p:spPr bwMode="auto">
                <a:xfrm>
                  <a:off x="10471" y="9029"/>
                  <a:ext cx="1026" cy="56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5540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71" y="9029"/>
                  <a:ext cx="1026" cy="567"/>
                </a:xfrm>
                <a:prstGeom prst="rect">
                  <a:avLst/>
                </a:prstGeom>
                <a:blipFill>
                  <a:blip r:embed="rId15"/>
                  <a:stretch>
                    <a:fillRect b="-1525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矩形 35"/>
            <p:cNvSpPr/>
            <p:nvPr/>
          </p:nvSpPr>
          <p:spPr>
            <a:xfrm>
              <a:off x="11677" y="8828"/>
              <a:ext cx="262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5" grpId="0"/>
      <p:bldP spid="65547" grpId="0"/>
      <p:bldP spid="65549" grpId="0"/>
      <p:bldP spid="65550" grpId="0"/>
      <p:bldP spid="65552" grpId="0"/>
      <p:bldP spid="65559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38029" y="720725"/>
            <a:ext cx="11149330" cy="5428615"/>
            <a:chOff x="838" y="1134"/>
            <a:chExt cx="17558" cy="8549"/>
          </a:xfrm>
        </p:grpSpPr>
        <p:sp>
          <p:nvSpPr>
            <p:cNvPr id="56" name="PA-102232"/>
            <p:cNvSpPr/>
            <p:nvPr>
              <p:custDataLst>
                <p:tags r:id="rId1"/>
              </p:custDataLst>
            </p:nvPr>
          </p:nvSpPr>
          <p:spPr>
            <a:xfrm>
              <a:off x="838" y="1134"/>
              <a:ext cx="17524" cy="85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sp>
          <p:nvSpPr>
            <p:cNvPr id="57" name="Rectangle 1"/>
            <p:cNvSpPr/>
            <p:nvPr/>
          </p:nvSpPr>
          <p:spPr>
            <a:xfrm>
              <a:off x="9602" y="9583"/>
              <a:ext cx="8794" cy="101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/>
            <p:cNvSpPr/>
            <p:nvPr/>
          </p:nvSpPr>
          <p:spPr>
            <a:xfrm>
              <a:off x="5321" y="9583"/>
              <a:ext cx="4286" cy="83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0492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/>
            <p:cNvSpPr/>
            <p:nvPr/>
          </p:nvSpPr>
          <p:spPr>
            <a:xfrm>
              <a:off x="838" y="9583"/>
              <a:ext cx="4483" cy="83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946" name="Text Box 34"/>
          <p:cNvSpPr txBox="1">
            <a:spLocks noChangeArrowheads="1"/>
          </p:cNvSpPr>
          <p:nvPr/>
        </p:nvSpPr>
        <p:spPr bwMode="auto">
          <a:xfrm>
            <a:off x="6087294" y="1048740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不一定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是所给二阶方程的通解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p:sp>
        <p:nvSpPr>
          <p:cNvPr id="38949" name="Text Box 37"/>
          <p:cNvSpPr txBox="1">
            <a:spLocks noChangeArrowheads="1"/>
          </p:cNvSpPr>
          <p:nvPr/>
        </p:nvSpPr>
        <p:spPr bwMode="auto">
          <a:xfrm>
            <a:off x="3450737" y="1909164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是某二阶齐次方程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的解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8951" name="Text Box 39"/>
          <p:cNvSpPr txBox="1">
            <a:spLocks noChangeArrowheads="1"/>
          </p:cNvSpPr>
          <p:nvPr/>
        </p:nvSpPr>
        <p:spPr bwMode="auto">
          <a:xfrm>
            <a:off x="5016647" y="2562864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也是齐次方程的解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</a:p>
        </p:txBody>
      </p:sp>
      <p:sp>
        <p:nvSpPr>
          <p:cNvPr id="38954" name="Text Box 42"/>
          <p:cNvSpPr txBox="1">
            <a:spLocks noChangeArrowheads="1"/>
          </p:cNvSpPr>
          <p:nvPr/>
        </p:nvSpPr>
        <p:spPr bwMode="auto">
          <a:xfrm>
            <a:off x="5016647" y="3873123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并不是通解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8955" name="Text Box 43"/>
          <p:cNvSpPr txBox="1">
            <a:spLocks noChangeArrowheads="1"/>
          </p:cNvSpPr>
          <p:nvPr/>
        </p:nvSpPr>
        <p:spPr bwMode="auto">
          <a:xfrm>
            <a:off x="2521097" y="3216565"/>
            <a:ext cx="1071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但是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8957" name="Text Box 45"/>
          <p:cNvSpPr txBox="1">
            <a:spLocks noChangeArrowheads="1"/>
          </p:cNvSpPr>
          <p:nvPr/>
        </p:nvSpPr>
        <p:spPr bwMode="auto">
          <a:xfrm>
            <a:off x="7154692" y="1900592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</a:t>
            </a:r>
          </a:p>
        </p:txBody>
      </p:sp>
      <p:sp>
        <p:nvSpPr>
          <p:cNvPr id="38958" name="Text Box 46"/>
          <p:cNvSpPr txBox="1">
            <a:spLocks noChangeArrowheads="1"/>
          </p:cNvSpPr>
          <p:nvPr/>
        </p:nvSpPr>
        <p:spPr bwMode="auto">
          <a:xfrm>
            <a:off x="2521097" y="4526823"/>
            <a:ext cx="43140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为解决通解的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判别问题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 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8961" name="Text Box 49"/>
          <p:cNvSpPr txBox="1">
            <a:spLocks noChangeArrowheads="1"/>
          </p:cNvSpPr>
          <p:nvPr/>
        </p:nvSpPr>
        <p:spPr bwMode="auto">
          <a:xfrm>
            <a:off x="4362353" y="5368345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8962" name="Text Box 50"/>
          <p:cNvSpPr txBox="1">
            <a:spLocks noChangeArrowheads="1"/>
          </p:cNvSpPr>
          <p:nvPr/>
        </p:nvSpPr>
        <p:spPr bwMode="auto">
          <a:xfrm>
            <a:off x="6210300" y="4500062"/>
            <a:ext cx="4540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下面引入函数的线性相关与 </a:t>
            </a:r>
          </a:p>
        </p:txBody>
      </p:sp>
      <p:sp>
        <p:nvSpPr>
          <p:cNvPr id="38963" name="Text Box 51"/>
          <p:cNvSpPr txBox="1">
            <a:spLocks noChangeArrowheads="1"/>
          </p:cNvSpPr>
          <p:nvPr/>
        </p:nvSpPr>
        <p:spPr bwMode="auto">
          <a:xfrm>
            <a:off x="2521097" y="5180526"/>
            <a:ext cx="2495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线性无关概念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 </a:t>
            </a:r>
          </a:p>
        </p:txBody>
      </p:sp>
      <p:grpSp>
        <p:nvGrpSpPr>
          <p:cNvPr id="91" name="组合 90"/>
          <p:cNvGrpSpPr/>
          <p:nvPr/>
        </p:nvGrpSpPr>
        <p:grpSpPr>
          <a:xfrm>
            <a:off x="1256030" y="1034660"/>
            <a:ext cx="612775" cy="612775"/>
            <a:chOff x="1594" y="872"/>
            <a:chExt cx="965" cy="965"/>
          </a:xfrm>
        </p:grpSpPr>
        <p:sp>
          <p:nvSpPr>
            <p:cNvPr id="92" name="椭圆 91"/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93" name="文本框 92"/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</a:p>
          </p:txBody>
        </p:sp>
        <p:sp>
          <p:nvSpPr>
            <p:cNvPr id="94" name="椭圆 93"/>
            <p:cNvSpPr/>
            <p:nvPr/>
          </p:nvSpPr>
          <p:spPr>
            <a:xfrm>
              <a:off x="1594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299845" y="1963256"/>
            <a:ext cx="987425" cy="533281"/>
            <a:chOff x="1553" y="3803"/>
            <a:chExt cx="1555" cy="707"/>
          </a:xfrm>
        </p:grpSpPr>
        <p:sp>
          <p:nvSpPr>
            <p:cNvPr id="58" name="圆角矩形 57"/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Text Box 28"/>
            <p:cNvSpPr txBox="1">
              <a:spLocks noChangeArrowheads="1"/>
            </p:cNvSpPr>
            <p:nvPr/>
          </p:nvSpPr>
          <p:spPr bwMode="auto">
            <a:xfrm>
              <a:off x="1670" y="3853"/>
              <a:ext cx="1438" cy="5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534285" y="811830"/>
            <a:ext cx="4006850" cy="1003300"/>
            <a:chOff x="3123" y="1723"/>
            <a:chExt cx="6310" cy="15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56" name="Object 44"/>
                <p:cNvSpPr txBox="1"/>
                <p:nvPr/>
              </p:nvSpPr>
              <p:spPr bwMode="auto">
                <a:xfrm>
                  <a:off x="3123" y="2085"/>
                  <a:ext cx="6310" cy="12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8956" name="Object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23" y="2085"/>
                  <a:ext cx="6310" cy="1218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4556" y="1723"/>
              <a:ext cx="324" cy="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943735" y="1910080"/>
            <a:ext cx="2160270" cy="620395"/>
            <a:chOff x="3861" y="3063"/>
            <a:chExt cx="3402" cy="9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48" name="Object 36"/>
                <p:cNvSpPr txBox="1"/>
                <p:nvPr/>
              </p:nvSpPr>
              <p:spPr bwMode="auto">
                <a:xfrm>
                  <a:off x="4783" y="3063"/>
                  <a:ext cx="2480" cy="9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8948" name="Object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83" y="3063"/>
                  <a:ext cx="2480" cy="900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3861" y="3808"/>
              <a:ext cx="201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179320" y="2569453"/>
            <a:ext cx="3307080" cy="444500"/>
            <a:chOff x="4232" y="3934"/>
            <a:chExt cx="5208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50" name="Object 38"/>
                <p:cNvSpPr txBox="1"/>
                <p:nvPr/>
              </p:nvSpPr>
              <p:spPr bwMode="auto">
                <a:xfrm>
                  <a:off x="4783" y="3934"/>
                  <a:ext cx="4657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)=2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8950" name="Object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83" y="3934"/>
                  <a:ext cx="4657" cy="700"/>
                </a:xfrm>
                <a:prstGeom prst="rect">
                  <a:avLst/>
                </a:prstGeom>
                <a:blipFill>
                  <a:blip r:embed="rId6"/>
                  <a:stretch>
                    <a:fillRect b="-684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4232" y="4272"/>
              <a:ext cx="448" cy="3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411855" y="3213735"/>
            <a:ext cx="6539865" cy="668020"/>
            <a:chOff x="4616" y="4692"/>
            <a:chExt cx="10299" cy="10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53" name="Object 41"/>
                <p:cNvSpPr txBox="1"/>
                <p:nvPr/>
              </p:nvSpPr>
              <p:spPr bwMode="auto">
                <a:xfrm>
                  <a:off x="4616" y="4692"/>
                  <a:ext cx="10299" cy="10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)=(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+2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8953" name="Object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16" y="4692"/>
                  <a:ext cx="10299" cy="105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14272" y="5307"/>
              <a:ext cx="494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8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8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46" grpId="0"/>
      <p:bldP spid="38949" grpId="0"/>
      <p:bldP spid="38949" grpId="1"/>
      <p:bldP spid="38951" grpId="0"/>
      <p:bldP spid="38954" grpId="0"/>
      <p:bldP spid="38955" grpId="0"/>
      <p:bldP spid="38957" grpId="0" animBg="1"/>
      <p:bldP spid="38958" grpId="0" animBg="1"/>
      <p:bldP spid="38962" grpId="0" animBg="1"/>
      <p:bldP spid="3896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1041400" y="574040"/>
            <a:ext cx="10579100" cy="2548572"/>
          </a:xfrm>
          <a:prstGeom prst="rect">
            <a:avLst/>
          </a:prstGeom>
          <a:solidFill>
            <a:srgbClr val="03946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78485" y="1456055"/>
            <a:ext cx="1068070" cy="899795"/>
            <a:chOff x="991" y="2153"/>
            <a:chExt cx="1682" cy="1417"/>
          </a:xfrm>
        </p:grpSpPr>
        <p:sp>
          <p:nvSpPr>
            <p:cNvPr id="2" name="PA-102231"/>
            <p:cNvSpPr/>
            <p:nvPr>
              <p:custDataLst>
                <p:tags r:id="rId1"/>
              </p:custDataLst>
            </p:nvPr>
          </p:nvSpPr>
          <p:spPr>
            <a:xfrm>
              <a:off x="991" y="2153"/>
              <a:ext cx="1682" cy="1417"/>
            </a:xfrm>
            <a:prstGeom prst="rect">
              <a:avLst/>
            </a:prstGeom>
            <a:solidFill>
              <a:schemeClr val="bg1"/>
            </a:solidFill>
            <a:ln w="19050">
              <a:gradFill>
                <a:gsLst>
                  <a:gs pos="5000">
                    <a:srgbClr val="17A45E"/>
                  </a:gs>
                  <a:gs pos="56000">
                    <a:srgbClr val="039267"/>
                  </a:gs>
                  <a:gs pos="100000">
                    <a:srgbClr val="068983"/>
                  </a:gs>
                </a:gsLst>
                <a:lin ang="10800000" scaled="0"/>
              </a:gradFill>
            </a:ln>
            <a:effectLst>
              <a:outerShdw blurRad="203200" dist="63500" dir="3000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n>
                  <a:solidFill>
                    <a:schemeClr val="bg1">
                      <a:lumMod val="95000"/>
                    </a:schemeClr>
                  </a:solidFill>
                </a:ln>
                <a:cs typeface="+mn-ea"/>
                <a:sym typeface="+mn-lt"/>
              </a:endParaRPr>
            </a:p>
          </p:txBody>
        </p:sp>
        <p:sp>
          <p:nvSpPr>
            <p:cNvPr id="5" name="Rectangle 167"/>
            <p:cNvSpPr>
              <a:spLocks noChangeArrowheads="1"/>
            </p:cNvSpPr>
            <p:nvPr/>
          </p:nvSpPr>
          <p:spPr bwMode="auto">
            <a:xfrm>
              <a:off x="1279" y="2505"/>
              <a:ext cx="1120" cy="67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定义</a:t>
              </a:r>
              <a:endPara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5940185" y="688102"/>
            <a:ext cx="51535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是定义在区间 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I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上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</a:t>
            </a:r>
            <a:r>
              <a:rPr kumimoji="1"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n </a:t>
            </a:r>
            <a:r>
              <a:rPr kumimoji="1" lang="zh-CN" altLang="en-US" sz="28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个函数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,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9236" name="Text Box 20"/>
          <p:cNvSpPr txBox="1">
            <a:spLocks noChangeArrowheads="1"/>
          </p:cNvSpPr>
          <p:nvPr/>
        </p:nvSpPr>
        <p:spPr bwMode="auto">
          <a:xfrm>
            <a:off x="7923212" y="1274188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使得</a:t>
            </a:r>
          </a:p>
        </p:txBody>
      </p:sp>
      <p:sp>
        <p:nvSpPr>
          <p:cNvPr id="9241" name="Text Box 25"/>
          <p:cNvSpPr txBox="1">
            <a:spLocks noChangeArrowheads="1"/>
          </p:cNvSpPr>
          <p:nvPr/>
        </p:nvSpPr>
        <p:spPr bwMode="auto">
          <a:xfrm>
            <a:off x="1907181" y="2519994"/>
            <a:ext cx="518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则称这</a:t>
            </a:r>
            <a:r>
              <a:rPr kumimoji="1" lang="zh-CN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 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n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个函数在 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I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上</a:t>
            </a:r>
            <a:r>
              <a:rPr kumimoji="1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线性相关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7135454" y="2506663"/>
            <a:ext cx="3276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否则称为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线性无关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9262" name="Text Box 46"/>
          <p:cNvSpPr txBox="1">
            <a:spLocks noChangeArrowheads="1"/>
          </p:cNvSpPr>
          <p:nvPr/>
        </p:nvSpPr>
        <p:spPr bwMode="auto">
          <a:xfrm>
            <a:off x="1935709" y="5780405"/>
            <a:ext cx="624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则根据二次多项式至多只有两个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零点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9283" name="Text Box 67"/>
          <p:cNvSpPr txBox="1">
            <a:spLocks noChangeArrowheads="1"/>
          </p:cNvSpPr>
          <p:nvPr/>
        </p:nvSpPr>
        <p:spPr bwMode="auto">
          <a:xfrm>
            <a:off x="1907181" y="1272759"/>
            <a:ext cx="3962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若存在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不全为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0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的常数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624387" y="3307080"/>
            <a:ext cx="974725" cy="449580"/>
            <a:chOff x="1553" y="3802"/>
            <a:chExt cx="1535" cy="708"/>
          </a:xfrm>
        </p:grpSpPr>
        <p:sp>
          <p:nvSpPr>
            <p:cNvPr id="58" name="圆角矩形 57"/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650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906905" y="497840"/>
            <a:ext cx="4257675" cy="842010"/>
            <a:chOff x="2743" y="904"/>
            <a:chExt cx="6705" cy="13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1"/>
                <p:cNvSpPr txBox="1"/>
                <p:nvPr/>
              </p:nvSpPr>
              <p:spPr>
                <a:xfrm>
                  <a:off x="2743" y="1158"/>
                  <a:ext cx="6705" cy="1072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设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),⋯, 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3" y="1158"/>
                  <a:ext cx="6705" cy="10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4711" y="904"/>
              <a:ext cx="494" cy="1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364162" y="1292225"/>
            <a:ext cx="2797810" cy="690245"/>
            <a:chOff x="8205" y="1895"/>
            <a:chExt cx="4406" cy="10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35" name="Object 19"/>
                <p:cNvSpPr txBox="1"/>
                <p:nvPr/>
              </p:nvSpPr>
              <p:spPr bwMode="auto">
                <a:xfrm>
                  <a:off x="8205" y="1895"/>
                  <a:ext cx="4406" cy="10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⋯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9235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05" y="1895"/>
                  <a:ext cx="4406" cy="10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11955" y="2650"/>
              <a:ext cx="525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400175" y="1872615"/>
            <a:ext cx="8157210" cy="654050"/>
            <a:chOff x="2285" y="2949"/>
            <a:chExt cx="12846" cy="10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2"/>
                <p:cNvSpPr txBox="1"/>
                <p:nvPr/>
              </p:nvSpPr>
              <p:spPr>
                <a:xfrm>
                  <a:off x="3154" y="2949"/>
                  <a:ext cx="11977" cy="103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)+⋯+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)≡0,</m:t>
                        </m:r>
                        <m:r>
                          <a:rPr kumimoji="1" lang="en-US" altLang="zh-CN" sz="28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∈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𝐼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4" y="2949"/>
                  <a:ext cx="11977" cy="10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2285" y="3098"/>
              <a:ext cx="294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739265" y="3225800"/>
            <a:ext cx="8611870" cy="717550"/>
            <a:chOff x="2819" y="4720"/>
            <a:chExt cx="13562" cy="11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47" name="Object 31"/>
                <p:cNvSpPr txBox="1"/>
                <p:nvPr/>
              </p:nvSpPr>
              <p:spPr bwMode="auto">
                <a:xfrm>
                  <a:off x="2819" y="4720"/>
                  <a:ext cx="13562" cy="11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（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）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在任何区间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𝐼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上都线性相关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9247" name="Object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19" y="4720"/>
                  <a:ext cx="13562" cy="11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15044" y="5060"/>
              <a:ext cx="294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652395" y="3893820"/>
            <a:ext cx="6153785" cy="694055"/>
            <a:chOff x="4257" y="5692"/>
            <a:chExt cx="9691" cy="10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50" name="Object 34"/>
                <p:cNvSpPr txBox="1"/>
                <p:nvPr/>
              </p:nvSpPr>
              <p:spPr bwMode="auto">
                <a:xfrm>
                  <a:off x="4257" y="5692"/>
                  <a:ext cx="9691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∵∀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∈</m:t>
                        </m:r>
                        <m:r>
                          <a:rPr kumimoji="1" lang="en-US" altLang="zh-CN" sz="2800" b="1" i="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𝐑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都有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1−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≡0.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9250" name="Object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57" y="5692"/>
                  <a:ext cx="9691" cy="109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13561" y="6033"/>
              <a:ext cx="119" cy="3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616075" y="4532630"/>
            <a:ext cx="7448550" cy="763905"/>
            <a:chOff x="2625" y="6478"/>
            <a:chExt cx="11730" cy="1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54" name="Object 38"/>
                <p:cNvSpPr txBox="1"/>
                <p:nvPr/>
              </p:nvSpPr>
              <p:spPr bwMode="auto">
                <a:xfrm>
                  <a:off x="2802" y="6478"/>
                  <a:ext cx="11553" cy="1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（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）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 , 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在任何区间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𝐼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上都线性无关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9254" name="Object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02" y="6478"/>
                  <a:ext cx="11553" cy="120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/>
            <p:cNvSpPr/>
            <p:nvPr/>
          </p:nvSpPr>
          <p:spPr>
            <a:xfrm>
              <a:off x="2625" y="6944"/>
              <a:ext cx="263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02510" y="5172075"/>
            <a:ext cx="8283575" cy="807720"/>
            <a:chOff x="3706" y="7485"/>
            <a:chExt cx="13045" cy="1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61" name="Object 45"/>
                <p:cNvSpPr txBox="1"/>
                <p:nvPr/>
              </p:nvSpPr>
              <p:spPr bwMode="auto">
                <a:xfrm>
                  <a:off x="4257" y="7485"/>
                  <a:ext cx="12495" cy="12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∵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若存在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使得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≡0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9261" name="Object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57" y="7485"/>
                  <a:ext cx="12495" cy="127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矩形 18"/>
            <p:cNvSpPr/>
            <p:nvPr/>
          </p:nvSpPr>
          <p:spPr>
            <a:xfrm>
              <a:off x="3706" y="7778"/>
              <a:ext cx="371" cy="4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799429" y="5797550"/>
            <a:ext cx="3896360" cy="998220"/>
            <a:chOff x="11844" y="8470"/>
            <a:chExt cx="6136" cy="15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71" name="Object 55"/>
                <p:cNvSpPr txBox="1"/>
                <p:nvPr/>
              </p:nvSpPr>
              <p:spPr bwMode="auto">
                <a:xfrm>
                  <a:off x="11844" y="8470"/>
                  <a:ext cx="6136" cy="15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必有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9271" name="Object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844" y="8470"/>
                  <a:ext cx="6136" cy="157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/>
            <p:cNvSpPr/>
            <p:nvPr/>
          </p:nvSpPr>
          <p:spPr>
            <a:xfrm>
              <a:off x="12974" y="9323"/>
              <a:ext cx="309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9232" grpId="0"/>
      <p:bldP spid="9236" grpId="0"/>
      <p:bldP spid="9241" grpId="0"/>
      <p:bldP spid="9244" grpId="0"/>
      <p:bldP spid="9262" grpId="0"/>
      <p:bldP spid="928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1689432" y="5446971"/>
            <a:ext cx="8764876" cy="844964"/>
            <a:chOff x="2046000" y="-1001716"/>
            <a:chExt cx="8764876" cy="844964"/>
          </a:xfrm>
        </p:grpSpPr>
        <p:sp>
          <p:nvSpPr>
            <p:cNvPr id="12" name="矩形 11"/>
            <p:cNvSpPr/>
            <p:nvPr/>
          </p:nvSpPr>
          <p:spPr>
            <a:xfrm>
              <a:off x="2046000" y="-1001716"/>
              <a:ext cx="8764876" cy="648000"/>
            </a:xfrm>
            <a:prstGeom prst="rect">
              <a:avLst/>
            </a:prstGeom>
            <a:pattFill prst="ltDn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19050">
              <a:gradFill>
                <a:gsLst>
                  <a:gs pos="0">
                    <a:schemeClr val="bg1"/>
                  </a:gs>
                  <a:gs pos="20000">
                    <a:srgbClr val="A9D18E"/>
                  </a:gs>
                  <a:gs pos="100000">
                    <a:srgbClr val="04926A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2132506" y="-968907"/>
              <a:ext cx="790550" cy="812155"/>
              <a:chOff x="2942506" y="970045"/>
              <a:chExt cx="790550" cy="812155"/>
            </a:xfrm>
          </p:grpSpPr>
          <p:sp>
            <p:nvSpPr>
              <p:cNvPr id="14" name="文本框 13"/>
              <p:cNvSpPr txBox="1">
                <a:spLocks noChangeAspect="1"/>
              </p:cNvSpPr>
              <p:nvPr/>
            </p:nvSpPr>
            <p:spPr>
              <a:xfrm rot="900000">
                <a:off x="3334117" y="1190072"/>
                <a:ext cx="398939" cy="576000"/>
              </a:xfrm>
              <a:custGeom>
                <a:avLst/>
                <a:gdLst/>
                <a:ahLst/>
                <a:cxnLst/>
                <a:rect l="l" t="t" r="r" b="b"/>
                <a:pathLst>
                  <a:path w="562502" h="812155">
                    <a:moveTo>
                      <a:pt x="257655" y="620500"/>
                    </a:moveTo>
                    <a:cubicBezTo>
                      <a:pt x="319902" y="626389"/>
                      <a:pt x="353866" y="659088"/>
                      <a:pt x="359548" y="718598"/>
                    </a:cubicBezTo>
                    <a:cubicBezTo>
                      <a:pt x="353576" y="775122"/>
                      <a:pt x="319674" y="806308"/>
                      <a:pt x="257842" y="812155"/>
                    </a:cubicBezTo>
                    <a:cubicBezTo>
                      <a:pt x="195968" y="806349"/>
                      <a:pt x="162066" y="775101"/>
                      <a:pt x="156136" y="718411"/>
                    </a:cubicBezTo>
                    <a:cubicBezTo>
                      <a:pt x="161776" y="659026"/>
                      <a:pt x="195615" y="626389"/>
                      <a:pt x="257655" y="620500"/>
                    </a:cubicBezTo>
                    <a:close/>
                    <a:moveTo>
                      <a:pt x="284590" y="0"/>
                    </a:moveTo>
                    <a:cubicBezTo>
                      <a:pt x="464364" y="5433"/>
                      <a:pt x="556967" y="70417"/>
                      <a:pt x="562400" y="194952"/>
                    </a:cubicBezTo>
                    <a:cubicBezTo>
                      <a:pt x="565095" y="272916"/>
                      <a:pt x="514895" y="336822"/>
                      <a:pt x="411800" y="386669"/>
                    </a:cubicBezTo>
                    <a:cubicBezTo>
                      <a:pt x="319736" y="427932"/>
                      <a:pt x="278908" y="492999"/>
                      <a:pt x="289318" y="581870"/>
                    </a:cubicBezTo>
                    <a:lnTo>
                      <a:pt x="223566" y="581870"/>
                    </a:lnTo>
                    <a:cubicBezTo>
                      <a:pt x="215065" y="491921"/>
                      <a:pt x="239968" y="417689"/>
                      <a:pt x="298275" y="359175"/>
                    </a:cubicBezTo>
                    <a:cubicBezTo>
                      <a:pt x="362264" y="292822"/>
                      <a:pt x="391646" y="234660"/>
                      <a:pt x="386420" y="184688"/>
                    </a:cubicBezTo>
                    <a:cubicBezTo>
                      <a:pt x="386420" y="98140"/>
                      <a:pt x="351005" y="54865"/>
                      <a:pt x="280173" y="54865"/>
                    </a:cubicBezTo>
                    <a:cubicBezTo>
                      <a:pt x="225225" y="49681"/>
                      <a:pt x="190390" y="97663"/>
                      <a:pt x="175668" y="198809"/>
                    </a:cubicBezTo>
                    <a:cubicBezTo>
                      <a:pt x="169821" y="248573"/>
                      <a:pt x="139962" y="273455"/>
                      <a:pt x="86092" y="273455"/>
                    </a:cubicBezTo>
                    <a:cubicBezTo>
                      <a:pt x="28697" y="273455"/>
                      <a:pt x="0" y="248407"/>
                      <a:pt x="0" y="198311"/>
                    </a:cubicBezTo>
                    <a:cubicBezTo>
                      <a:pt x="13478" y="74232"/>
                      <a:pt x="108341" y="8128"/>
                      <a:pt x="28459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20000">
                    <a:srgbClr val="C5E0B4"/>
                  </a:gs>
                  <a:gs pos="100000">
                    <a:srgbClr val="04926A"/>
                  </a:gs>
                </a:gsLst>
                <a:lin ang="0" scaled="0"/>
              </a:gradFill>
              <a:ln>
                <a:noFill/>
              </a:ln>
              <a:effectLst>
                <a:outerShdw dist="63500" dir="2700000" algn="tl" rotWithShape="0">
                  <a:srgbClr val="E3F0DB"/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endParaRPr lang="zh-CN" altLang="en-US" sz="8000" b="1" dirty="0">
                  <a:latin typeface="方正粗雅宋_GBK" panose="02000000000000000000" pitchFamily="2" charset="-122"/>
                  <a:ea typeface="方正粗雅宋_GBK" panose="02000000000000000000" pitchFamily="2" charset="-122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2942506" y="970045"/>
                <a:ext cx="562502" cy="812155"/>
              </a:xfrm>
              <a:custGeom>
                <a:avLst/>
                <a:gdLst/>
                <a:ahLst/>
                <a:cxnLst/>
                <a:rect l="l" t="t" r="r" b="b"/>
                <a:pathLst>
                  <a:path w="562502" h="812155">
                    <a:moveTo>
                      <a:pt x="257655" y="620500"/>
                    </a:moveTo>
                    <a:cubicBezTo>
                      <a:pt x="319902" y="626389"/>
                      <a:pt x="353866" y="659088"/>
                      <a:pt x="359548" y="718598"/>
                    </a:cubicBezTo>
                    <a:cubicBezTo>
                      <a:pt x="353576" y="775122"/>
                      <a:pt x="319674" y="806308"/>
                      <a:pt x="257842" y="812155"/>
                    </a:cubicBezTo>
                    <a:cubicBezTo>
                      <a:pt x="195968" y="806349"/>
                      <a:pt x="162066" y="775101"/>
                      <a:pt x="156136" y="718411"/>
                    </a:cubicBezTo>
                    <a:cubicBezTo>
                      <a:pt x="161776" y="659026"/>
                      <a:pt x="195615" y="626389"/>
                      <a:pt x="257655" y="620500"/>
                    </a:cubicBezTo>
                    <a:close/>
                    <a:moveTo>
                      <a:pt x="284590" y="0"/>
                    </a:moveTo>
                    <a:cubicBezTo>
                      <a:pt x="464364" y="5433"/>
                      <a:pt x="556967" y="70417"/>
                      <a:pt x="562400" y="194952"/>
                    </a:cubicBezTo>
                    <a:cubicBezTo>
                      <a:pt x="565095" y="272916"/>
                      <a:pt x="514895" y="336822"/>
                      <a:pt x="411800" y="386669"/>
                    </a:cubicBezTo>
                    <a:cubicBezTo>
                      <a:pt x="319736" y="427932"/>
                      <a:pt x="278908" y="492999"/>
                      <a:pt x="289318" y="581870"/>
                    </a:cubicBezTo>
                    <a:lnTo>
                      <a:pt x="223566" y="581870"/>
                    </a:lnTo>
                    <a:cubicBezTo>
                      <a:pt x="215065" y="491921"/>
                      <a:pt x="239968" y="417689"/>
                      <a:pt x="298275" y="359175"/>
                    </a:cubicBezTo>
                    <a:cubicBezTo>
                      <a:pt x="362264" y="292822"/>
                      <a:pt x="391646" y="234660"/>
                      <a:pt x="386420" y="184688"/>
                    </a:cubicBezTo>
                    <a:cubicBezTo>
                      <a:pt x="386420" y="98140"/>
                      <a:pt x="351005" y="54865"/>
                      <a:pt x="280173" y="54865"/>
                    </a:cubicBezTo>
                    <a:cubicBezTo>
                      <a:pt x="225225" y="49681"/>
                      <a:pt x="190390" y="97663"/>
                      <a:pt x="175668" y="198809"/>
                    </a:cubicBezTo>
                    <a:cubicBezTo>
                      <a:pt x="169821" y="248573"/>
                      <a:pt x="139962" y="273455"/>
                      <a:pt x="86092" y="273455"/>
                    </a:cubicBezTo>
                    <a:cubicBezTo>
                      <a:pt x="28697" y="273455"/>
                      <a:pt x="0" y="248407"/>
                      <a:pt x="0" y="198311"/>
                    </a:cubicBezTo>
                    <a:cubicBezTo>
                      <a:pt x="13478" y="74232"/>
                      <a:pt x="108341" y="8128"/>
                      <a:pt x="28459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20000">
                    <a:srgbClr val="C5E0B4"/>
                  </a:gs>
                  <a:gs pos="100000">
                    <a:srgbClr val="04926A"/>
                  </a:gs>
                </a:gsLst>
                <a:lin ang="0" scaled="0"/>
              </a:gradFill>
              <a:ln>
                <a:noFill/>
              </a:ln>
              <a:effectLst>
                <a:outerShdw dist="63500" dir="2700000" algn="tl" rotWithShape="0">
                  <a:srgbClr val="E3F0DB"/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endParaRPr lang="zh-CN" altLang="en-US" sz="8000" b="1" dirty="0">
                  <a:latin typeface="方正粗雅宋_GBK" panose="02000000000000000000" pitchFamily="2" charset="-122"/>
                  <a:ea typeface="方正粗雅宋_GBK" panose="02000000000000000000" pitchFamily="2" charset="-122"/>
                </a:endParaRPr>
              </a:p>
            </p:txBody>
          </p:sp>
        </p:grpSp>
        <p:sp>
          <p:nvSpPr>
            <p:cNvPr id="17" name="矩形 16"/>
            <p:cNvSpPr/>
            <p:nvPr/>
          </p:nvSpPr>
          <p:spPr>
            <a:xfrm>
              <a:off x="3238833" y="-955741"/>
              <a:ext cx="5358765" cy="4962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eaLnBrk="0" fontAlgn="base" hangingPunct="0">
                <a:lnSpc>
                  <a:spcPct val="150000"/>
                </a:lnSpc>
                <a:spcAft>
                  <a:spcPct val="0"/>
                </a:spcAft>
                <a:defRPr/>
              </a:pPr>
              <a:r>
                <a:rPr lang="zh-CN" altLang="en-US" sz="2000" b="1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思考 </a:t>
              </a:r>
              <a:endPara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1285875" y="343398"/>
            <a:ext cx="8610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b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两个函数在区间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lt"/>
              </a:rPr>
              <a:t>I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lt"/>
              </a:rPr>
              <a:t> </a:t>
            </a:r>
            <a:r>
              <a:rPr kumimoji="1" lang="zh-CN" altLang="en-US" b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上线性相关与线性无关的充要条件: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3238001" y="992854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线性相关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4917440" y="1221740"/>
            <a:ext cx="1008380" cy="152400"/>
            <a:chOff x="7444" y="2184"/>
            <a:chExt cx="1588" cy="240"/>
          </a:xfrm>
        </p:grpSpPr>
        <p:sp>
          <p:nvSpPr>
            <p:cNvPr id="10245" name="Line 5"/>
            <p:cNvSpPr>
              <a:spLocks noChangeShapeType="1"/>
            </p:cNvSpPr>
            <p:nvPr/>
          </p:nvSpPr>
          <p:spPr bwMode="auto">
            <a:xfrm>
              <a:off x="7444" y="2184"/>
              <a:ext cx="15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0246" name="Line 6"/>
            <p:cNvSpPr>
              <a:spLocks noChangeShapeType="1"/>
            </p:cNvSpPr>
            <p:nvPr/>
          </p:nvSpPr>
          <p:spPr bwMode="auto">
            <a:xfrm flipH="1">
              <a:off x="7444" y="2424"/>
              <a:ext cx="15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6067425" y="978567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存在不全为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0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9487218" y="1003966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使</a:t>
            </a:r>
          </a:p>
        </p:txBody>
      </p:sp>
      <p:grpSp>
        <p:nvGrpSpPr>
          <p:cNvPr id="10254" name="Group 14"/>
          <p:cNvGrpSpPr/>
          <p:nvPr/>
        </p:nvGrpSpPr>
        <p:grpSpPr bwMode="auto">
          <a:xfrm>
            <a:off x="4917599" y="2587602"/>
            <a:ext cx="1008063" cy="152400"/>
            <a:chOff x="2352" y="1824"/>
            <a:chExt cx="720" cy="96"/>
          </a:xfrm>
        </p:grpSpPr>
        <p:sp>
          <p:nvSpPr>
            <p:cNvPr id="10251" name="Line 11"/>
            <p:cNvSpPr>
              <a:spLocks noChangeShapeType="1"/>
            </p:cNvSpPr>
            <p:nvPr/>
          </p:nvSpPr>
          <p:spPr bwMode="auto">
            <a:xfrm>
              <a:off x="2352" y="18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0252" name="Line 12"/>
            <p:cNvSpPr>
              <a:spLocks noChangeShapeType="1"/>
            </p:cNvSpPr>
            <p:nvPr/>
          </p:nvSpPr>
          <p:spPr bwMode="auto">
            <a:xfrm flipH="1">
              <a:off x="2352" y="192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3238001" y="3347380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线性无关</a:t>
            </a:r>
          </a:p>
        </p:txBody>
      </p:sp>
      <p:grpSp>
        <p:nvGrpSpPr>
          <p:cNvPr id="10262" name="Group 22"/>
          <p:cNvGrpSpPr/>
          <p:nvPr/>
        </p:nvGrpSpPr>
        <p:grpSpPr bwMode="auto">
          <a:xfrm>
            <a:off x="4917599" y="3539467"/>
            <a:ext cx="1008063" cy="152400"/>
            <a:chOff x="2352" y="1824"/>
            <a:chExt cx="720" cy="96"/>
          </a:xfrm>
        </p:grpSpPr>
        <p:sp>
          <p:nvSpPr>
            <p:cNvPr id="10263" name="Line 23"/>
            <p:cNvSpPr>
              <a:spLocks noChangeShapeType="1"/>
            </p:cNvSpPr>
            <p:nvPr/>
          </p:nvSpPr>
          <p:spPr bwMode="auto">
            <a:xfrm>
              <a:off x="2352" y="18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0264" name="Line 24"/>
            <p:cNvSpPr>
              <a:spLocks noChangeShapeType="1"/>
            </p:cNvSpPr>
            <p:nvPr/>
          </p:nvSpPr>
          <p:spPr bwMode="auto">
            <a:xfrm flipH="1">
              <a:off x="2352" y="192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10270" name="Group 30"/>
          <p:cNvGrpSpPr/>
          <p:nvPr/>
        </p:nvGrpSpPr>
        <p:grpSpPr bwMode="auto">
          <a:xfrm>
            <a:off x="6998471" y="3347947"/>
            <a:ext cx="511175" cy="550863"/>
            <a:chOff x="3758" y="2498"/>
            <a:chExt cx="322" cy="3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68" name="Object 28"/>
                <p:cNvSpPr txBox="1"/>
                <p:nvPr/>
              </p:nvSpPr>
              <p:spPr bwMode="auto">
                <a:xfrm>
                  <a:off x="3758" y="2498"/>
                  <a:ext cx="322" cy="34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≡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268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58" y="2498"/>
                  <a:ext cx="322" cy="347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67" name="Line 27"/>
            <p:cNvSpPr>
              <a:spLocks noChangeShapeType="1"/>
            </p:cNvSpPr>
            <p:nvPr/>
          </p:nvSpPr>
          <p:spPr bwMode="auto">
            <a:xfrm>
              <a:off x="3840" y="2512"/>
              <a:ext cx="96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sp>
        <p:nvSpPr>
          <p:cNvPr id="10269" name="Text Box 29"/>
          <p:cNvSpPr txBox="1">
            <a:spLocks noChangeArrowheads="1"/>
          </p:cNvSpPr>
          <p:nvPr/>
        </p:nvSpPr>
        <p:spPr bwMode="auto">
          <a:xfrm>
            <a:off x="7374391" y="3372145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常数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10280" name="Group 40"/>
          <p:cNvGrpSpPr/>
          <p:nvPr/>
        </p:nvGrpSpPr>
        <p:grpSpPr bwMode="auto">
          <a:xfrm>
            <a:off x="4917599" y="4705698"/>
            <a:ext cx="1008062" cy="152400"/>
            <a:chOff x="2352" y="1824"/>
            <a:chExt cx="720" cy="96"/>
          </a:xfrm>
        </p:grpSpPr>
        <p:sp>
          <p:nvSpPr>
            <p:cNvPr id="10281" name="Line 41"/>
            <p:cNvSpPr>
              <a:spLocks noChangeShapeType="1"/>
            </p:cNvSpPr>
            <p:nvPr/>
          </p:nvSpPr>
          <p:spPr bwMode="auto">
            <a:xfrm>
              <a:off x="2352" y="18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0282" name="Line 42"/>
            <p:cNvSpPr>
              <a:spLocks noChangeShapeType="1"/>
            </p:cNvSpPr>
            <p:nvPr/>
          </p:nvSpPr>
          <p:spPr bwMode="auto">
            <a:xfrm flipH="1">
              <a:off x="2352" y="192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sp>
        <p:nvSpPr>
          <p:cNvPr id="10284" name="Text Box 44"/>
          <p:cNvSpPr txBox="1">
            <a:spLocks noChangeArrowheads="1"/>
          </p:cNvSpPr>
          <p:nvPr/>
        </p:nvSpPr>
        <p:spPr bwMode="auto">
          <a:xfrm>
            <a:off x="9329405" y="4567610"/>
            <a:ext cx="16148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lt"/>
              </a:rPr>
              <a:t>(证明略)</a:t>
            </a:r>
          </a:p>
        </p:txBody>
      </p:sp>
      <p:sp>
        <p:nvSpPr>
          <p:cNvPr id="10286" name="Text Box 46"/>
          <p:cNvSpPr txBox="1">
            <a:spLocks noChangeArrowheads="1"/>
          </p:cNvSpPr>
          <p:nvPr/>
        </p:nvSpPr>
        <p:spPr bwMode="auto">
          <a:xfrm>
            <a:off x="3904258" y="4014160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线性无关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958850" y="982980"/>
            <a:ext cx="2568575" cy="666750"/>
            <a:chOff x="1390" y="1808"/>
            <a:chExt cx="4045" cy="10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43" name="Object 3"/>
                <p:cNvSpPr txBox="1"/>
                <p:nvPr/>
              </p:nvSpPr>
              <p:spPr bwMode="auto">
                <a:xfrm>
                  <a:off x="1905" y="1808"/>
                  <a:ext cx="3530" cy="10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243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05" y="1808"/>
                  <a:ext cx="3530" cy="10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1390" y="2156"/>
              <a:ext cx="200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48" name="Object 8"/>
              <p:cNvSpPr txBox="1"/>
              <p:nvPr/>
            </p:nvSpPr>
            <p:spPr bwMode="auto">
              <a:xfrm>
                <a:off x="8440670" y="991099"/>
                <a:ext cx="1363345" cy="6489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800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en-US" altLang="zh-CN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24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40670" y="991099"/>
                <a:ext cx="1363345" cy="6489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/>
          <p:cNvGrpSpPr/>
          <p:nvPr/>
        </p:nvGrpSpPr>
        <p:grpSpPr>
          <a:xfrm>
            <a:off x="5614035" y="1550616"/>
            <a:ext cx="4309745" cy="576580"/>
            <a:chOff x="8541" y="2628"/>
            <a:chExt cx="6787" cy="9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50" name="Object 10"/>
                <p:cNvSpPr txBox="1"/>
                <p:nvPr/>
              </p:nvSpPr>
              <p:spPr bwMode="auto">
                <a:xfrm>
                  <a:off x="9236" y="2628"/>
                  <a:ext cx="6092" cy="9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)≡0.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250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36" y="2628"/>
                  <a:ext cx="6092" cy="9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8541" y="2897"/>
              <a:ext cx="263" cy="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067425" y="2103066"/>
            <a:ext cx="2762250" cy="1014730"/>
            <a:chOff x="9255" y="3338"/>
            <a:chExt cx="4350" cy="15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55" name="Object 15"/>
                <p:cNvSpPr txBox="1"/>
                <p:nvPr/>
              </p:nvSpPr>
              <p:spPr bwMode="auto">
                <a:xfrm>
                  <a:off x="9255" y="3338"/>
                  <a:ext cx="4350" cy="15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≡−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255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55" y="3338"/>
                  <a:ext cx="4350" cy="1599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圆角矩形 14"/>
            <p:cNvSpPr/>
            <p:nvPr/>
          </p:nvSpPr>
          <p:spPr>
            <a:xfrm>
              <a:off x="12727" y="3947"/>
              <a:ext cx="556" cy="433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285875" y="3024451"/>
            <a:ext cx="2241550" cy="925195"/>
            <a:chOff x="1905" y="4689"/>
            <a:chExt cx="3530" cy="14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Object 3"/>
                <p:cNvSpPr txBox="1"/>
                <p:nvPr/>
              </p:nvSpPr>
              <p:spPr bwMode="auto">
                <a:xfrm>
                  <a:off x="1905" y="5096"/>
                  <a:ext cx="3530" cy="10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05" y="5096"/>
                  <a:ext cx="3530" cy="105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矩形 18"/>
            <p:cNvSpPr/>
            <p:nvPr/>
          </p:nvSpPr>
          <p:spPr>
            <a:xfrm>
              <a:off x="2903" y="4689"/>
              <a:ext cx="448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067425" y="3120336"/>
            <a:ext cx="1085850" cy="1090930"/>
            <a:chOff x="9255" y="4840"/>
            <a:chExt cx="1710" cy="17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65" name="Object 25"/>
                <p:cNvSpPr txBox="1"/>
                <p:nvPr/>
              </p:nvSpPr>
              <p:spPr bwMode="auto">
                <a:xfrm>
                  <a:off x="9255" y="4840"/>
                  <a:ext cx="1607" cy="17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265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55" y="4840"/>
                  <a:ext cx="1607" cy="1718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/>
            <p:cNvSpPr/>
            <p:nvPr/>
          </p:nvSpPr>
          <p:spPr>
            <a:xfrm>
              <a:off x="10827" y="6048"/>
              <a:ext cx="139" cy="1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115695" y="4015484"/>
            <a:ext cx="3161030" cy="618490"/>
            <a:chOff x="1637" y="6172"/>
            <a:chExt cx="4978" cy="9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85" name="Object 45"/>
                <p:cNvSpPr txBox="1"/>
                <p:nvPr/>
              </p:nvSpPr>
              <p:spPr bwMode="auto">
                <a:xfrm>
                  <a:off x="1905" y="6172"/>
                  <a:ext cx="4710" cy="9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可微函数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285" name="Object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05" y="6172"/>
                  <a:ext cx="4710" cy="97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矩形 22"/>
            <p:cNvSpPr/>
            <p:nvPr/>
          </p:nvSpPr>
          <p:spPr>
            <a:xfrm>
              <a:off x="1637" y="6465"/>
              <a:ext cx="185" cy="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968611" y="4331335"/>
            <a:ext cx="4042410" cy="1048385"/>
            <a:chOff x="9121" y="6681"/>
            <a:chExt cx="6785" cy="165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83" name="Object 43"/>
                <p:cNvSpPr txBox="1"/>
                <p:nvPr/>
              </p:nvSpPr>
              <p:spPr bwMode="auto">
                <a:xfrm>
                  <a:off x="9121" y="6733"/>
                  <a:ext cx="6785" cy="15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 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zh-CN" sz="28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kumimoji="1" lang="en-US" altLang="zh-CN" sz="28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e>
                                  <m:sSubSup>
                                    <m:sSubSup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zh-CN" sz="28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kumimoji="1" lang="en-US" altLang="zh-CN" sz="28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mr>
                            </m:m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 </m:t>
                            </m:r>
                          </m:e>
                        </m:d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≠0.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0283" name="Object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121" y="6733"/>
                  <a:ext cx="6785" cy="15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矩形 24"/>
            <p:cNvSpPr/>
            <p:nvPr/>
          </p:nvSpPr>
          <p:spPr>
            <a:xfrm>
              <a:off x="11090" y="6681"/>
              <a:ext cx="154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618230" y="5571627"/>
            <a:ext cx="4521200" cy="755015"/>
            <a:chOff x="4678" y="8489"/>
            <a:chExt cx="7120" cy="11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对象 1"/>
                <p:cNvSpPr txBox="1"/>
                <p:nvPr/>
              </p:nvSpPr>
              <p:spPr>
                <a:xfrm>
                  <a:off x="4678" y="8489"/>
                  <a:ext cx="7120" cy="72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0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若</m:t>
                        </m:r>
                        <m:sSub>
                          <m:sSubPr>
                            <m:ctrlPr>
                              <a:rPr kumimoji="1" lang="en-US" altLang="zh-CN" sz="20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0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0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0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), </m:t>
                        </m:r>
                        <m:sSub>
                          <m:sSubPr>
                            <m:ctrlPr>
                              <a:rPr kumimoji="1" lang="en-US" altLang="zh-CN" sz="20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0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0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0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zh-CN" altLang="en-US" sz="20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中有一个恒为</m:t>
                        </m:r>
                        <m:r>
                          <a:rPr kumimoji="1" lang="en-US" altLang="zh-CN" sz="20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  <m:r>
                          <a:rPr kumimoji="1" lang="en-US" altLang="zh-CN" sz="20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0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8" y="8489"/>
                  <a:ext cx="7120" cy="720"/>
                </a:xfrm>
                <a:prstGeom prst="rect">
                  <a:avLst/>
                </a:prstGeom>
                <a:blipFill>
                  <a:blip r:embed="rId12"/>
                  <a:stretch>
                    <a:fillRect l="-675" b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矩形 26"/>
            <p:cNvSpPr/>
            <p:nvPr/>
          </p:nvSpPr>
          <p:spPr>
            <a:xfrm>
              <a:off x="6688" y="9137"/>
              <a:ext cx="386" cy="5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087235" y="5577977"/>
            <a:ext cx="3213100" cy="689610"/>
            <a:chOff x="10141" y="8499"/>
            <a:chExt cx="5060" cy="10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75" name="Object 35"/>
                <p:cNvSpPr txBox="1"/>
                <p:nvPr/>
              </p:nvSpPr>
              <p:spPr bwMode="auto">
                <a:xfrm>
                  <a:off x="10141" y="8499"/>
                  <a:ext cx="5060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0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则</m:t>
                        </m:r>
                        <m:sSub>
                          <m:sSubPr>
                            <m:ctrlPr>
                              <a:rPr kumimoji="1" lang="en-US" altLang="zh-CN" sz="20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0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0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0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), </m:t>
                        </m:r>
                        <m:sSub>
                          <m:sSubPr>
                            <m:ctrlPr>
                              <a:rPr kumimoji="1" lang="en-US" altLang="zh-CN" sz="20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0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0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0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0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zh-CN" altLang="en-US" sz="20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必线性</m:t>
                        </m:r>
                      </m:oMath>
                    </m:oMathPara>
                  </a14:m>
                  <a:endParaRPr kumimoji="1" lang="zh-CN" altLang="en-US" sz="20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275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141" y="8499"/>
                  <a:ext cx="5060" cy="700"/>
                </a:xfrm>
                <a:prstGeom prst="rect">
                  <a:avLst/>
                </a:prstGeom>
                <a:blipFill>
                  <a:blip r:embed="rId13"/>
                  <a:stretch>
                    <a:fillRect l="-1139" b="-547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矩形 28"/>
            <p:cNvSpPr/>
            <p:nvPr/>
          </p:nvSpPr>
          <p:spPr>
            <a:xfrm>
              <a:off x="12295" y="9338"/>
              <a:ext cx="355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10278" name="Text Box 38"/>
          <p:cNvSpPr txBox="1">
            <a:spLocks noChangeArrowheads="1"/>
          </p:cNvSpPr>
          <p:nvPr/>
        </p:nvSpPr>
        <p:spPr bwMode="auto">
          <a:xfrm>
            <a:off x="9540087" y="5558179"/>
            <a:ext cx="8948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i="0" u="none" strike="noStrike" kern="1200" cap="none" spc="0" normalizeH="0" baseline="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lt"/>
              </a:rPr>
              <a:t>相关</a:t>
            </a:r>
          </a:p>
        </p:txBody>
      </p:sp>
      <p:sp>
        <p:nvSpPr>
          <p:cNvPr id="10277" name="Line 37"/>
          <p:cNvSpPr>
            <a:spLocks noChangeShapeType="1"/>
          </p:cNvSpPr>
          <p:nvPr/>
        </p:nvSpPr>
        <p:spPr bwMode="auto">
          <a:xfrm>
            <a:off x="9608988" y="5933516"/>
            <a:ext cx="5865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4" grpId="0"/>
      <p:bldP spid="10247" grpId="0"/>
      <p:bldP spid="10249" grpId="0"/>
      <p:bldP spid="10261" grpId="0"/>
      <p:bldP spid="10269" grpId="0"/>
      <p:bldP spid="10284" grpId="0"/>
      <p:bldP spid="10286" grpId="0"/>
      <p:bldP spid="10248" grpId="0"/>
      <p:bldP spid="10278" grpId="0"/>
      <p:bldP spid="1027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1"/>
              <p:cNvSpPr txBox="1"/>
              <p:nvPr/>
            </p:nvSpPr>
            <p:spPr>
              <a:xfrm>
                <a:off x="2244279" y="2521585"/>
                <a:ext cx="1924050" cy="103759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tan</m:t>
                          </m:r>
                        </m:fName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kumimoji="1" lang="en-US" altLang="zh-CN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279" y="2521585"/>
                <a:ext cx="1924050" cy="10375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4654706" y="1913255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有特解</a:t>
            </a:r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9308644" y="1913095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且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5122722" y="2626741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故方程的通解为</a:t>
            </a:r>
          </a:p>
        </p:txBody>
      </p: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10114091" y="1168400"/>
            <a:ext cx="14274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(自证)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93" name="Text Box 29"/>
              <p:cNvSpPr txBox="1">
                <a:spLocks noChangeArrowheads="1"/>
              </p:cNvSpPr>
              <p:nvPr/>
            </p:nvSpPr>
            <p:spPr bwMode="auto">
              <a:xfrm>
                <a:off x="4522330" y="3999023"/>
                <a:ext cx="273158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是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阶齐次方程 </a:t>
                </a:r>
              </a:p>
            </p:txBody>
          </p:sp>
        </mc:Choice>
        <mc:Fallback xmlns="">
          <p:sp>
            <p:nvSpPr>
              <p:cNvPr id="11293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2330" y="3999023"/>
                <a:ext cx="2731582" cy="523220"/>
              </a:xfrm>
              <a:prstGeom prst="rect">
                <a:avLst/>
              </a:prstGeom>
              <a:blipFill>
                <a:blip r:embed="rId3"/>
                <a:stretch>
                  <a:fillRect l="-4688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96" name="Text Box 32"/>
          <p:cNvSpPr txBox="1">
            <a:spLocks noChangeArrowheads="1"/>
          </p:cNvSpPr>
          <p:nvPr/>
        </p:nvSpPr>
        <p:spPr bwMode="auto">
          <a:xfrm>
            <a:off x="5099853" y="5322702"/>
            <a:ext cx="2673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则方程的通解为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2"/>
              <p:cNvSpPr txBox="1"/>
              <p:nvPr/>
            </p:nvSpPr>
            <p:spPr>
              <a:xfrm>
                <a:off x="3904169" y="2665095"/>
                <a:ext cx="2009775" cy="55054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≠</m:t>
                      </m:r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ea"/>
                        </a:rPr>
                        <m:t>常数</m:t>
                      </m:r>
                      <m:r>
                        <a:rPr lang="en-US" altLang="zh-CN" sz="2800" i="1" smtClean="0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169" y="2665095"/>
                <a:ext cx="2009775" cy="5505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911860" y="481330"/>
            <a:ext cx="1238885" cy="449580"/>
            <a:chOff x="1553" y="3802"/>
            <a:chExt cx="1951" cy="708"/>
          </a:xfrm>
        </p:grpSpPr>
        <p:sp>
          <p:nvSpPr>
            <p:cNvPr id="4" name="圆角矩形 3"/>
            <p:cNvSpPr/>
            <p:nvPr/>
          </p:nvSpPr>
          <p:spPr>
            <a:xfrm>
              <a:off x="1553" y="3803"/>
              <a:ext cx="175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28"/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 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911860" y="1993265"/>
            <a:ext cx="974725" cy="449580"/>
            <a:chOff x="1553" y="3802"/>
            <a:chExt cx="1535" cy="708"/>
          </a:xfrm>
        </p:grpSpPr>
        <p:sp>
          <p:nvSpPr>
            <p:cNvPr id="58" name="圆角矩形 57"/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650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911860" y="3991610"/>
            <a:ext cx="1082040" cy="449580"/>
            <a:chOff x="1553" y="3802"/>
            <a:chExt cx="1704" cy="708"/>
          </a:xfrm>
        </p:grpSpPr>
        <p:sp>
          <p:nvSpPr>
            <p:cNvPr id="9" name="圆角矩形 8"/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28"/>
            <p:cNvSpPr txBox="1">
              <a:spLocks noChangeArrowheads="1"/>
            </p:cNvSpPr>
            <p:nvPr/>
          </p:nvSpPr>
          <p:spPr bwMode="auto">
            <a:xfrm>
              <a:off x="1650" y="3802"/>
              <a:ext cx="1607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推论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 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206179" y="432435"/>
            <a:ext cx="9229725" cy="660400"/>
            <a:chOff x="3570" y="1017"/>
            <a:chExt cx="14535" cy="10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67" name="Object 3"/>
                <p:cNvSpPr txBox="1"/>
                <p:nvPr/>
              </p:nvSpPr>
              <p:spPr bwMode="auto">
                <a:xfrm>
                  <a:off x="3570" y="1017"/>
                  <a:ext cx="14535" cy="10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b="1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若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是二阶线性齐次方程的两个线性无关特解</m:t>
                        </m:r>
                        <m:r>
                          <a:rPr kumimoji="1" lang="en-US" altLang="zh-CN" sz="28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1267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70" y="1017"/>
                  <a:ext cx="14535" cy="104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17485" y="1399"/>
              <a:ext cx="201" cy="2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-285939" y="1205865"/>
            <a:ext cx="10754360" cy="812165"/>
            <a:chOff x="1204" y="2159"/>
            <a:chExt cx="16936" cy="12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0" name="Object 6"/>
                <p:cNvSpPr txBox="1"/>
                <p:nvPr/>
              </p:nvSpPr>
              <p:spPr bwMode="auto">
                <a:xfrm>
                  <a:off x="2947" y="2159"/>
                  <a:ext cx="15193" cy="12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则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)(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为任意常数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)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是该方程的通解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270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47" y="2159"/>
                  <a:ext cx="15193" cy="127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1204" y="2511"/>
              <a:ext cx="278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206179" y="1913255"/>
            <a:ext cx="2755900" cy="590550"/>
            <a:chOff x="3570" y="3213"/>
            <a:chExt cx="4340" cy="9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3" name="Object 9"/>
                <p:cNvSpPr txBox="1"/>
                <p:nvPr/>
              </p:nvSpPr>
              <p:spPr bwMode="auto">
                <a:xfrm>
                  <a:off x="3570" y="3213"/>
                  <a:ext cx="4341" cy="9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方程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273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70" y="3213"/>
                  <a:ext cx="4341" cy="931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4154" y="3916"/>
              <a:ext cx="356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767238" y="1913255"/>
            <a:ext cx="2024380" cy="568960"/>
            <a:chOff x="9474" y="3213"/>
            <a:chExt cx="3188" cy="8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5" name="Object 11"/>
                <p:cNvSpPr txBox="1"/>
                <p:nvPr/>
              </p:nvSpPr>
              <p:spPr bwMode="auto">
                <a:xfrm>
                  <a:off x="9474" y="3213"/>
                  <a:ext cx="3189" cy="8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275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474" y="3213"/>
                  <a:ext cx="3189" cy="89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矩形 18"/>
            <p:cNvSpPr/>
            <p:nvPr/>
          </p:nvSpPr>
          <p:spPr>
            <a:xfrm>
              <a:off x="10735" y="3299"/>
              <a:ext cx="247" cy="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579528" y="1913255"/>
            <a:ext cx="2072640" cy="624840"/>
            <a:chOff x="12328" y="3213"/>
            <a:chExt cx="3264" cy="9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6" name="Object 12"/>
                <p:cNvSpPr txBox="1"/>
                <p:nvPr/>
              </p:nvSpPr>
              <p:spPr bwMode="auto">
                <a:xfrm>
                  <a:off x="12328" y="3213"/>
                  <a:ext cx="3265" cy="9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276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328" y="3213"/>
                  <a:ext cx="3265" cy="98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/>
            <p:cNvSpPr/>
            <p:nvPr/>
          </p:nvSpPr>
          <p:spPr>
            <a:xfrm>
              <a:off x="14921" y="3886"/>
              <a:ext cx="216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528249" y="3290570"/>
            <a:ext cx="4921250" cy="579120"/>
            <a:chOff x="5652" y="5182"/>
            <a:chExt cx="7750" cy="9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84" name="Object 20"/>
                <p:cNvSpPr txBox="1"/>
                <p:nvPr/>
              </p:nvSpPr>
              <p:spPr bwMode="auto">
                <a:xfrm>
                  <a:off x="5652" y="5182"/>
                  <a:ext cx="7751" cy="9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284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52" y="5182"/>
                  <a:ext cx="7751" cy="912"/>
                </a:xfrm>
                <a:prstGeom prst="rect">
                  <a:avLst/>
                </a:prstGeom>
                <a:blipFill rotWithShape="1">
                  <a:blip r:embed="rId10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矩形 22"/>
            <p:cNvSpPr/>
            <p:nvPr/>
          </p:nvSpPr>
          <p:spPr>
            <a:xfrm>
              <a:off x="11461" y="5507"/>
              <a:ext cx="262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206179" y="3958590"/>
            <a:ext cx="2517140" cy="974090"/>
            <a:chOff x="3570" y="6234"/>
            <a:chExt cx="3964" cy="15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92" name="Object 28"/>
                <p:cNvSpPr txBox="1"/>
                <p:nvPr/>
              </p:nvSpPr>
              <p:spPr bwMode="auto">
                <a:xfrm>
                  <a:off x="3570" y="6234"/>
                  <a:ext cx="3965" cy="153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若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⋯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292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70" y="6234"/>
                  <a:ext cx="3965" cy="153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矩形 24"/>
            <p:cNvSpPr/>
            <p:nvPr/>
          </p:nvSpPr>
          <p:spPr>
            <a:xfrm>
              <a:off x="4633" y="6280"/>
              <a:ext cx="247" cy="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939479" y="4677410"/>
            <a:ext cx="8458200" cy="563880"/>
            <a:chOff x="3150" y="7166"/>
            <a:chExt cx="13320" cy="8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94" name="Object 30"/>
                <p:cNvSpPr txBox="1"/>
                <p:nvPr/>
              </p:nvSpPr>
              <p:spPr bwMode="auto">
                <a:xfrm>
                  <a:off x="3570" y="7166"/>
                  <a:ext cx="12901" cy="8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−1)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+⋯+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294" name="Object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70" y="7166"/>
                  <a:ext cx="12901" cy="889"/>
                </a:xfrm>
                <a:prstGeom prst="rect">
                  <a:avLst/>
                </a:prstGeom>
                <a:blipFill rotWithShape="1">
                  <a:blip r:embed="rId1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矩形 26"/>
            <p:cNvSpPr/>
            <p:nvPr/>
          </p:nvSpPr>
          <p:spPr>
            <a:xfrm>
              <a:off x="3150" y="7593"/>
              <a:ext cx="217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008694" y="5355590"/>
            <a:ext cx="3467735" cy="523240"/>
            <a:chOff x="3259" y="8154"/>
            <a:chExt cx="5461" cy="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95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3570" y="8154"/>
                  <a:ext cx="5150" cy="8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kumimoji="1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  <a:sym typeface="+mn-lt"/>
                    </a:rPr>
                    <a:t>的</a:t>
                  </a:r>
                  <a14:m>
                    <m:oMath xmlns:m="http://schemas.openxmlformats.org/officeDocument/2006/math"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𝑛</m:t>
                      </m:r>
                    </m:oMath>
                  </a14:m>
                  <a:r>
                    <a:rPr kumimoji="1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  <a:sym typeface="+mn-lt"/>
                    </a:rPr>
                    <a:t>个</a:t>
                  </a:r>
                  <a:r>
                    <a:rPr kumimoji="1" lang="zh-CN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  <a:sym typeface="+mn-lt"/>
                    </a:rPr>
                    <a:t>线性无关解</a:t>
                  </a:r>
                  <a:r>
                    <a:rPr kumimoji="1" lang="en-US" altLang="zh-CN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黑体" panose="02010609060101010101" pitchFamily="49" charset="-122"/>
                      <a:ea typeface="黑体" panose="02010609060101010101" pitchFamily="49" charset="-122"/>
                      <a:cs typeface="+mn-ea"/>
                      <a:sym typeface="+mn-lt"/>
                    </a:rPr>
                    <a:t>, </a:t>
                  </a:r>
                  <a:endPara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1295" name="Text 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70" y="8154"/>
                  <a:ext cx="5150" cy="824"/>
                </a:xfrm>
                <a:prstGeom prst="rect">
                  <a:avLst/>
                </a:prstGeom>
                <a:blipFill>
                  <a:blip r:embed="rId13"/>
                  <a:stretch>
                    <a:fillRect l="-3918" t="-15294" r="-2985" b="-3058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矩形 28"/>
            <p:cNvSpPr/>
            <p:nvPr/>
          </p:nvSpPr>
          <p:spPr>
            <a:xfrm>
              <a:off x="3259" y="8535"/>
              <a:ext cx="355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2209165" y="5763260"/>
            <a:ext cx="6879590" cy="742950"/>
            <a:chOff x="2919" y="9076"/>
            <a:chExt cx="10834" cy="11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97" name="Object 33"/>
                <p:cNvSpPr txBox="1"/>
                <p:nvPr/>
              </p:nvSpPr>
              <p:spPr bwMode="auto">
                <a:xfrm>
                  <a:off x="2958" y="9398"/>
                  <a:ext cx="10795" cy="8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+⋯+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  (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</m:sSub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为任意常数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).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1297" name="Object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58" y="9398"/>
                  <a:ext cx="10795" cy="84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矩形 30"/>
            <p:cNvSpPr/>
            <p:nvPr/>
          </p:nvSpPr>
          <p:spPr>
            <a:xfrm>
              <a:off x="2919" y="9076"/>
              <a:ext cx="463" cy="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274" grpId="0"/>
      <p:bldP spid="11277" grpId="0"/>
      <p:bldP spid="11283" grpId="0"/>
      <p:bldP spid="11289" grpId="0" animBg="1"/>
      <p:bldP spid="11293" grpId="0" animBg="1"/>
      <p:bldP spid="11296" grpId="0" animBg="1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32130" y="720725"/>
            <a:ext cx="11149330" cy="5428615"/>
            <a:chOff x="838" y="1134"/>
            <a:chExt cx="17558" cy="8549"/>
          </a:xfrm>
        </p:grpSpPr>
        <p:sp>
          <p:nvSpPr>
            <p:cNvPr id="56" name="PA-102232"/>
            <p:cNvSpPr/>
            <p:nvPr>
              <p:custDataLst>
                <p:tags r:id="rId1"/>
              </p:custDataLst>
            </p:nvPr>
          </p:nvSpPr>
          <p:spPr>
            <a:xfrm>
              <a:off x="838" y="1134"/>
              <a:ext cx="17524" cy="85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sp>
          <p:nvSpPr>
            <p:cNvPr id="57" name="Rectangle 1"/>
            <p:cNvSpPr/>
            <p:nvPr/>
          </p:nvSpPr>
          <p:spPr>
            <a:xfrm>
              <a:off x="9602" y="9583"/>
              <a:ext cx="8794" cy="101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/>
            <p:cNvSpPr/>
            <p:nvPr/>
          </p:nvSpPr>
          <p:spPr>
            <a:xfrm>
              <a:off x="5321" y="9583"/>
              <a:ext cx="4286" cy="83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0492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/>
            <p:cNvSpPr/>
            <p:nvPr/>
          </p:nvSpPr>
          <p:spPr>
            <a:xfrm>
              <a:off x="838" y="9583"/>
              <a:ext cx="4483" cy="83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290" name="Rectangle 2"/>
          <p:cNvSpPr>
            <a:spLocks noGrp="1" noChangeArrowheads="1"/>
          </p:cNvSpPr>
          <p:nvPr/>
        </p:nvSpPr>
        <p:spPr>
          <a:xfrm>
            <a:off x="1793875" y="1061674"/>
            <a:ext cx="6477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三、线性非齐次方程解的结构</a:t>
            </a:r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 </a:t>
            </a:r>
            <a:endParaRPr lang="zh-CN" altLang="en-US" dirty="0">
              <a:solidFill>
                <a:srgbClr val="0000FF"/>
              </a:solidFill>
              <a:latin typeface="+mj-ea"/>
              <a:cs typeface="+mn-ea"/>
              <a:sym typeface="+mn-lt"/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4517389" y="1966574"/>
            <a:ext cx="39858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是二阶非齐次线性方程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3223895" y="3577047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的一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个特解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6" name="Text Box 8"/>
              <p:cNvSpPr txBox="1">
                <a:spLocks noChangeArrowheads="1"/>
              </p:cNvSpPr>
              <p:nvPr/>
            </p:nvSpPr>
            <p:spPr bwMode="auto">
              <a:xfrm>
                <a:off x="5222901" y="3612606"/>
                <a:ext cx="48006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b="0" i="1" u="none" strike="noStrike" kern="1200" cap="none" spc="0" normalizeH="0" baseline="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Y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是相应齐次方程</a:t>
                </a:r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lt"/>
                  </a:rPr>
                  <a:t>的通解</a:t>
                </a: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,</a:t>
                </a:r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229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2901" y="3612606"/>
                <a:ext cx="4800600" cy="521970"/>
              </a:xfrm>
              <a:prstGeom prst="rect">
                <a:avLst/>
              </a:prstGeom>
              <a:blipFill>
                <a:blip r:embed="rId4"/>
                <a:stretch>
                  <a:fillRect l="-2668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9725051" y="3585394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</a:t>
            </a:r>
          </a:p>
        </p:txBody>
      </p: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3223895" y="5022102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是非齐次方程的通解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p:sp>
        <p:nvSpPr>
          <p:cNvPr id="12338" name="Text Box 50"/>
          <p:cNvSpPr txBox="1">
            <a:spLocks noChangeArrowheads="1"/>
          </p:cNvSpPr>
          <p:nvPr/>
        </p:nvSpPr>
        <p:spPr bwMode="auto">
          <a:xfrm>
            <a:off x="8279655" y="4406608"/>
            <a:ext cx="5384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②</a:t>
            </a:r>
          </a:p>
        </p:txBody>
      </p:sp>
      <p:sp>
        <p:nvSpPr>
          <p:cNvPr id="12339" name="Text Box 51"/>
          <p:cNvSpPr txBox="1">
            <a:spLocks noChangeArrowheads="1"/>
          </p:cNvSpPr>
          <p:nvPr/>
        </p:nvSpPr>
        <p:spPr bwMode="auto">
          <a:xfrm>
            <a:off x="8279655" y="2764190"/>
            <a:ext cx="5384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①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17674" y="2034519"/>
            <a:ext cx="1238885" cy="449580"/>
            <a:chOff x="1553" y="3802"/>
            <a:chExt cx="1951" cy="708"/>
          </a:xfrm>
        </p:grpSpPr>
        <p:sp>
          <p:nvSpPr>
            <p:cNvPr id="5" name="圆角矩形 4"/>
            <p:cNvSpPr/>
            <p:nvPr/>
          </p:nvSpPr>
          <p:spPr>
            <a:xfrm>
              <a:off x="1553" y="3803"/>
              <a:ext cx="175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28"/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 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223895" y="1970384"/>
            <a:ext cx="1944370" cy="654685"/>
            <a:chOff x="4797" y="3546"/>
            <a:chExt cx="3062" cy="10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1"/>
                <p:cNvSpPr txBox="1"/>
                <p:nvPr/>
              </p:nvSpPr>
              <p:spPr>
                <a:xfrm>
                  <a:off x="4797" y="3573"/>
                  <a:ext cx="3063" cy="100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设</m:t>
                        </m:r>
                        <m:sSup>
                          <m:sSupPr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7" y="3573"/>
                  <a:ext cx="3063" cy="100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5977" y="3546"/>
              <a:ext cx="185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267075" y="2757805"/>
            <a:ext cx="4791710" cy="419100"/>
            <a:chOff x="4865" y="4383"/>
            <a:chExt cx="7546" cy="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8" name="Object 10"/>
                <p:cNvSpPr txBox="1"/>
                <p:nvPr/>
              </p:nvSpPr>
              <p:spPr bwMode="auto">
                <a:xfrm>
                  <a:off x="4909" y="4383"/>
                  <a:ext cx="7502" cy="6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298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09" y="4383"/>
                  <a:ext cx="7502" cy="660"/>
                </a:xfrm>
                <a:prstGeom prst="rect">
                  <a:avLst/>
                </a:prstGeom>
                <a:blipFill>
                  <a:blip r:embed="rId6"/>
                  <a:stretch>
                    <a:fillRect b="-1304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4865" y="4797"/>
              <a:ext cx="340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954270" y="4377055"/>
            <a:ext cx="3666490" cy="469900"/>
            <a:chOff x="7522" y="6633"/>
            <a:chExt cx="5774" cy="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5" name="Object 7"/>
                <p:cNvSpPr txBox="1"/>
                <p:nvPr/>
              </p:nvSpPr>
              <p:spPr bwMode="auto">
                <a:xfrm>
                  <a:off x="8046" y="6633"/>
                  <a:ext cx="5250" cy="7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𝑌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295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46" y="6633"/>
                  <a:ext cx="5250" cy="740"/>
                </a:xfrm>
                <a:prstGeom prst="rect">
                  <a:avLst/>
                </a:prstGeom>
                <a:blipFill>
                  <a:blip r:embed="rId7"/>
                  <a:stretch>
                    <a:fillRect b="-129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7522" y="6882"/>
              <a:ext cx="123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2" grpId="0"/>
      <p:bldP spid="12294" grpId="0"/>
      <p:bldP spid="12296" grpId="0"/>
      <p:bldP spid="12300" grpId="0"/>
      <p:bldP spid="12301" grpId="0"/>
      <p:bldP spid="12338" grpId="0" animBg="1"/>
      <p:bldP spid="123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32130" y="720090"/>
            <a:ext cx="11149330" cy="5428615"/>
            <a:chOff x="838" y="1134"/>
            <a:chExt cx="17558" cy="8549"/>
          </a:xfrm>
        </p:grpSpPr>
        <p:sp>
          <p:nvSpPr>
            <p:cNvPr id="56" name="PA-102232"/>
            <p:cNvSpPr/>
            <p:nvPr>
              <p:custDataLst>
                <p:tags r:id="rId1"/>
              </p:custDataLst>
            </p:nvPr>
          </p:nvSpPr>
          <p:spPr>
            <a:xfrm>
              <a:off x="838" y="1134"/>
              <a:ext cx="17524" cy="85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sp>
          <p:nvSpPr>
            <p:cNvPr id="57" name="Rectangle 1"/>
            <p:cNvSpPr/>
            <p:nvPr/>
          </p:nvSpPr>
          <p:spPr>
            <a:xfrm>
              <a:off x="9602" y="9583"/>
              <a:ext cx="8794" cy="101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/>
            <p:cNvSpPr/>
            <p:nvPr/>
          </p:nvSpPr>
          <p:spPr>
            <a:xfrm>
              <a:off x="5321" y="9583"/>
              <a:ext cx="4286" cy="83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0492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/>
            <p:cNvSpPr/>
            <p:nvPr/>
          </p:nvSpPr>
          <p:spPr>
            <a:xfrm>
              <a:off x="838" y="9583"/>
              <a:ext cx="4483" cy="83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377078" y="2064385"/>
            <a:ext cx="2693670" cy="406400"/>
            <a:chOff x="9242" y="3596"/>
            <a:chExt cx="4242" cy="6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19"/>
                <p:cNvSpPr txBox="1"/>
                <p:nvPr/>
              </p:nvSpPr>
              <p:spPr bwMode="auto">
                <a:xfrm>
                  <a:off x="9242" y="3596"/>
                  <a:ext cx="3760" cy="6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𝑌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6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42" y="3596"/>
                  <a:ext cx="3760" cy="640"/>
                </a:xfrm>
                <a:prstGeom prst="rect">
                  <a:avLst/>
                </a:prstGeom>
                <a:blipFill>
                  <a:blip r:embed="rId4"/>
                  <a:stretch>
                    <a:fillRect b="-2727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13268" y="3793"/>
              <a:ext cx="216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407605" y="1993265"/>
            <a:ext cx="2540000" cy="494030"/>
            <a:chOff x="6299" y="3484"/>
            <a:chExt cx="4000" cy="7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18"/>
                <p:cNvSpPr txBox="1"/>
                <p:nvPr/>
              </p:nvSpPr>
              <p:spPr bwMode="auto">
                <a:xfrm>
                  <a:off x="6299" y="3602"/>
                  <a:ext cx="4000" cy="6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)(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∗′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2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99" y="3602"/>
                  <a:ext cx="4000" cy="660"/>
                </a:xfrm>
                <a:prstGeom prst="rect">
                  <a:avLst/>
                </a:prstGeom>
                <a:blipFill>
                  <a:blip r:embed="rId5"/>
                  <a:stretch>
                    <a:fillRect b="-2173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9005" y="3484"/>
              <a:ext cx="262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42009" name="Text Box 25"/>
          <p:cNvSpPr txBox="1">
            <a:spLocks noChangeArrowheads="1"/>
          </p:cNvSpPr>
          <p:nvPr/>
        </p:nvSpPr>
        <p:spPr bwMode="auto">
          <a:xfrm>
            <a:off x="5645558" y="4087798"/>
            <a:ext cx="254952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是非齐次方程的解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2010" name="Text Box 26"/>
          <p:cNvSpPr txBox="1">
            <a:spLocks noChangeArrowheads="1"/>
          </p:cNvSpPr>
          <p:nvPr/>
        </p:nvSpPr>
        <p:spPr bwMode="auto">
          <a:xfrm>
            <a:off x="8054981" y="4086059"/>
            <a:ext cx="19812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又</a:t>
            </a:r>
            <a:r>
              <a:rPr kumimoji="1" lang="en-US" altLang="zh-CN" sz="2200" b="0" i="1" u="none" strike="noStrike" kern="1200" cap="none" spc="0" normalizeH="0" baseline="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Y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中含有</a:t>
            </a:r>
          </a:p>
        </p:txBody>
      </p:sp>
      <p:sp>
        <p:nvSpPr>
          <p:cNvPr id="42011" name="Text Box 27"/>
          <p:cNvSpPr txBox="1">
            <a:spLocks noChangeArrowheads="1"/>
          </p:cNvSpPr>
          <p:nvPr/>
        </p:nvSpPr>
        <p:spPr bwMode="auto">
          <a:xfrm>
            <a:off x="3100180" y="4763484"/>
            <a:ext cx="32766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两个独立</a:t>
            </a: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任意常数</a:t>
            </a:r>
            <a:r>
              <a:rPr kumimoji="1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2030" name="Text Box 46"/>
          <p:cNvSpPr txBox="1">
            <a:spLocks noChangeArrowheads="1"/>
          </p:cNvSpPr>
          <p:nvPr/>
        </p:nvSpPr>
        <p:spPr bwMode="auto">
          <a:xfrm>
            <a:off x="5479599" y="4769689"/>
            <a:ext cx="25495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因而②也是通解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2486342" y="1348712"/>
            <a:ext cx="7359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证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5524854" y="1392495"/>
            <a:ext cx="4156319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代入方程①左端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得</a:t>
            </a:r>
          </a:p>
        </p:txBody>
      </p:sp>
      <p:sp>
        <p:nvSpPr>
          <p:cNvPr id="27" name="Line 47"/>
          <p:cNvSpPr>
            <a:spLocks noChangeShapeType="1"/>
          </p:cNvSpPr>
          <p:nvPr/>
        </p:nvSpPr>
        <p:spPr bwMode="auto">
          <a:xfrm>
            <a:off x="3834765" y="2496069"/>
            <a:ext cx="461327" cy="0"/>
          </a:xfrm>
          <a:prstGeom prst="line">
            <a:avLst/>
          </a:prstGeom>
          <a:noFill/>
          <a:ln w="28575">
            <a:solidFill>
              <a:srgbClr val="019B4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8" name="Line 48"/>
          <p:cNvSpPr>
            <a:spLocks noChangeShapeType="1"/>
          </p:cNvSpPr>
          <p:nvPr/>
        </p:nvSpPr>
        <p:spPr bwMode="auto">
          <a:xfrm>
            <a:off x="5932514" y="2477019"/>
            <a:ext cx="408037" cy="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9" name="Line 49"/>
          <p:cNvSpPr>
            <a:spLocks noChangeShapeType="1"/>
          </p:cNvSpPr>
          <p:nvPr/>
        </p:nvSpPr>
        <p:spPr bwMode="auto">
          <a:xfrm flipV="1">
            <a:off x="7759741" y="2477019"/>
            <a:ext cx="435342" cy="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84141" y="4779322"/>
            <a:ext cx="741680" cy="429895"/>
          </a:xfrm>
          <a:prstGeom prst="rect">
            <a:avLst/>
          </a:prstGeom>
          <a:solidFill>
            <a:srgbClr val="04926A">
              <a:alpha val="42000"/>
            </a:srgbClr>
          </a:solidFill>
        </p:spPr>
        <p:txBody>
          <a:bodyPr wrap="none" rtlCol="0" anchor="t">
            <a:spAutoFit/>
          </a:bodyPr>
          <a:lstStyle/>
          <a:p>
            <a:pPr algn="ctr"/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证毕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100070" y="1169325"/>
            <a:ext cx="2997200" cy="653415"/>
            <a:chOff x="4372" y="2217"/>
            <a:chExt cx="4720" cy="10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bject 15"/>
                <p:cNvSpPr txBox="1"/>
                <p:nvPr/>
              </p:nvSpPr>
              <p:spPr bwMode="auto">
                <a:xfrm>
                  <a:off x="4372" y="2566"/>
                  <a:ext cx="4720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将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𝑌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9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72" y="2566"/>
                  <a:ext cx="4720" cy="680"/>
                </a:xfrm>
                <a:prstGeom prst="rect">
                  <a:avLst/>
                </a:prstGeom>
                <a:blipFill>
                  <a:blip r:embed="rId6"/>
                  <a:stretch>
                    <a:fillRect l="-1426" b="-183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6132" y="2217"/>
              <a:ext cx="247" cy="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775585" y="2065655"/>
            <a:ext cx="1937385" cy="419100"/>
            <a:chOff x="3861" y="3598"/>
            <a:chExt cx="3051" cy="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bject 17"/>
                <p:cNvSpPr txBox="1"/>
                <p:nvPr/>
              </p:nvSpPr>
              <p:spPr bwMode="auto">
                <a:xfrm>
                  <a:off x="4372" y="3598"/>
                  <a:ext cx="2540" cy="6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72" y="3598"/>
                  <a:ext cx="2540" cy="660"/>
                </a:xfrm>
                <a:prstGeom prst="rect">
                  <a:avLst/>
                </a:prstGeom>
                <a:blipFill>
                  <a:blip r:embed="rId7"/>
                  <a:stretch>
                    <a:fillRect l="-2652" b="-2173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3861" y="3793"/>
              <a:ext cx="355" cy="2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608580" y="2743398"/>
            <a:ext cx="4644390" cy="419100"/>
            <a:chOff x="3598" y="4666"/>
            <a:chExt cx="7314" cy="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20"/>
                <p:cNvSpPr txBox="1"/>
                <p:nvPr/>
              </p:nvSpPr>
              <p:spPr bwMode="auto">
                <a:xfrm>
                  <a:off x="4372" y="4666"/>
                  <a:ext cx="6540" cy="6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=(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3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72" y="4666"/>
                  <a:ext cx="6540" cy="660"/>
                </a:xfrm>
                <a:prstGeom prst="rect">
                  <a:avLst/>
                </a:prstGeom>
                <a:blipFill>
                  <a:blip r:embed="rId8"/>
                  <a:stretch>
                    <a:fillRect b="-2173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3598" y="4905"/>
              <a:ext cx="433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548120" y="2758003"/>
            <a:ext cx="3683000" cy="419100"/>
            <a:chOff x="10627" y="4689"/>
            <a:chExt cx="5800" cy="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21"/>
                <p:cNvSpPr txBox="1"/>
                <p:nvPr/>
              </p:nvSpPr>
              <p:spPr bwMode="auto">
                <a:xfrm>
                  <a:off x="10627" y="4689"/>
                  <a:ext cx="5800" cy="6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+(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𝑌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4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7" y="4689"/>
                  <a:ext cx="5800" cy="660"/>
                </a:xfrm>
                <a:prstGeom prst="rect">
                  <a:avLst/>
                </a:prstGeom>
                <a:blipFill>
                  <a:blip r:embed="rId9"/>
                  <a:stretch>
                    <a:fillRect b="-2173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/>
            <p:cNvSpPr/>
            <p:nvPr/>
          </p:nvSpPr>
          <p:spPr>
            <a:xfrm>
              <a:off x="15940" y="4951"/>
              <a:ext cx="371" cy="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2667635" y="3434080"/>
            <a:ext cx="3188335" cy="393700"/>
            <a:chOff x="3691" y="5483"/>
            <a:chExt cx="5021" cy="6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22"/>
                <p:cNvSpPr txBox="1"/>
                <p:nvPr/>
              </p:nvSpPr>
              <p:spPr bwMode="auto">
                <a:xfrm>
                  <a:off x="4372" y="5483"/>
                  <a:ext cx="4340" cy="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)+0=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5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72" y="5483"/>
                  <a:ext cx="4340" cy="620"/>
                </a:xfrm>
                <a:prstGeom prst="rect">
                  <a:avLst/>
                </a:prstGeom>
                <a:blipFill>
                  <a:blip r:embed="rId10"/>
                  <a:stretch>
                    <a:fillRect b="-2923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矩形 30"/>
            <p:cNvSpPr/>
            <p:nvPr/>
          </p:nvSpPr>
          <p:spPr>
            <a:xfrm>
              <a:off x="3691" y="5847"/>
              <a:ext cx="155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854325" y="4079543"/>
            <a:ext cx="3325495" cy="434340"/>
            <a:chOff x="3985" y="6362"/>
            <a:chExt cx="5237" cy="6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008" name="Object 24"/>
                <p:cNvSpPr txBox="1"/>
                <p:nvPr/>
              </p:nvSpPr>
              <p:spPr bwMode="auto">
                <a:xfrm>
                  <a:off x="4372" y="6362"/>
                  <a:ext cx="4850" cy="6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故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𝑌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2008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72" y="6362"/>
                  <a:ext cx="4850" cy="685"/>
                </a:xfrm>
                <a:prstGeom prst="rect">
                  <a:avLst/>
                </a:prstGeom>
                <a:blipFill>
                  <a:blip r:embed="rId11"/>
                  <a:stretch>
                    <a:fillRect l="-1386" b="-1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矩形 32"/>
            <p:cNvSpPr/>
            <p:nvPr/>
          </p:nvSpPr>
          <p:spPr>
            <a:xfrm>
              <a:off x="3985" y="6465"/>
              <a:ext cx="154" cy="2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9" grpId="0"/>
      <p:bldP spid="42010" grpId="0"/>
      <p:bldP spid="42011" grpId="0"/>
      <p:bldP spid="42030" grpId="0"/>
      <p:bldP spid="18" grpId="0"/>
      <p:bldP spid="20" grpId="0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32130" y="720090"/>
            <a:ext cx="11149330" cy="5428615"/>
            <a:chOff x="838" y="1134"/>
            <a:chExt cx="17558" cy="8549"/>
          </a:xfrm>
        </p:grpSpPr>
        <p:sp>
          <p:nvSpPr>
            <p:cNvPr id="56" name="PA-102232"/>
            <p:cNvSpPr/>
            <p:nvPr>
              <p:custDataLst>
                <p:tags r:id="rId1"/>
              </p:custDataLst>
            </p:nvPr>
          </p:nvSpPr>
          <p:spPr>
            <a:xfrm>
              <a:off x="838" y="1134"/>
              <a:ext cx="17524" cy="85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sp>
          <p:nvSpPr>
            <p:cNvPr id="57" name="Rectangle 1"/>
            <p:cNvSpPr/>
            <p:nvPr/>
          </p:nvSpPr>
          <p:spPr>
            <a:xfrm>
              <a:off x="9602" y="9583"/>
              <a:ext cx="8794" cy="101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/>
            <p:cNvSpPr/>
            <p:nvPr/>
          </p:nvSpPr>
          <p:spPr>
            <a:xfrm>
              <a:off x="5321" y="9583"/>
              <a:ext cx="4286" cy="83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0492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/>
            <p:cNvSpPr/>
            <p:nvPr/>
          </p:nvSpPr>
          <p:spPr>
            <a:xfrm>
              <a:off x="838" y="9583"/>
              <a:ext cx="4483" cy="83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2024" name="Text Box 40"/>
          <p:cNvSpPr txBox="1">
            <a:spLocks noChangeArrowheads="1"/>
          </p:cNvSpPr>
          <p:nvPr/>
        </p:nvSpPr>
        <p:spPr bwMode="auto">
          <a:xfrm>
            <a:off x="3422601" y="2598453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对应齐次方程</a:t>
            </a:r>
          </a:p>
        </p:txBody>
      </p:sp>
      <p:sp>
        <p:nvSpPr>
          <p:cNvPr id="42026" name="Text Box 42"/>
          <p:cNvSpPr txBox="1">
            <a:spLocks noChangeArrowheads="1"/>
          </p:cNvSpPr>
          <p:nvPr/>
        </p:nvSpPr>
        <p:spPr bwMode="auto">
          <a:xfrm>
            <a:off x="7428498" y="2604485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有通解</a:t>
            </a:r>
          </a:p>
        </p:txBody>
      </p:sp>
      <p:sp>
        <p:nvSpPr>
          <p:cNvPr id="42027" name="Text Box 43"/>
          <p:cNvSpPr txBox="1">
            <a:spLocks noChangeArrowheads="1"/>
          </p:cNvSpPr>
          <p:nvPr/>
        </p:nvSpPr>
        <p:spPr bwMode="auto">
          <a:xfrm>
            <a:off x="3422601" y="4046570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因此该方程的通解为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271395" y="1798320"/>
            <a:ext cx="974725" cy="449580"/>
            <a:chOff x="1553" y="3802"/>
            <a:chExt cx="1535" cy="708"/>
          </a:xfrm>
        </p:grpSpPr>
        <p:sp>
          <p:nvSpPr>
            <p:cNvPr id="58" name="圆角矩形 57"/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Text Box 28"/>
            <p:cNvSpPr txBox="1">
              <a:spLocks noChangeArrowheads="1"/>
            </p:cNvSpPr>
            <p:nvPr/>
          </p:nvSpPr>
          <p:spPr bwMode="auto">
            <a:xfrm>
              <a:off x="1650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422650" y="1534160"/>
            <a:ext cx="2590800" cy="828675"/>
            <a:chOff x="4970" y="2341"/>
            <a:chExt cx="4080" cy="13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1"/>
                <p:cNvSpPr txBox="1"/>
                <p:nvPr/>
              </p:nvSpPr>
              <p:spPr>
                <a:xfrm>
                  <a:off x="4970" y="2696"/>
                  <a:ext cx="4080" cy="95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方程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0" y="2696"/>
                  <a:ext cx="4080" cy="95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6039" y="2341"/>
              <a:ext cx="309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888355" y="1524000"/>
            <a:ext cx="2428875" cy="839470"/>
            <a:chOff x="8853" y="2325"/>
            <a:chExt cx="3825" cy="13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021" name="Object 37"/>
                <p:cNvSpPr txBox="1"/>
                <p:nvPr/>
              </p:nvSpPr>
              <p:spPr bwMode="auto">
                <a:xfrm>
                  <a:off x="8853" y="2696"/>
                  <a:ext cx="3825" cy="9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有特解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2021" name="Object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853" y="2696"/>
                  <a:ext cx="3825" cy="95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9036" y="2325"/>
              <a:ext cx="447" cy="2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677535" y="2427605"/>
            <a:ext cx="1874520" cy="777875"/>
            <a:chOff x="8521" y="3793"/>
            <a:chExt cx="2952" cy="12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025" name="Object 41"/>
                <p:cNvSpPr txBox="1"/>
                <p:nvPr/>
              </p:nvSpPr>
              <p:spPr bwMode="auto">
                <a:xfrm>
                  <a:off x="8521" y="4047"/>
                  <a:ext cx="2952" cy="9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2025" name="Object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21" y="4047"/>
                  <a:ext cx="2952" cy="97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9344" y="3793"/>
              <a:ext cx="217" cy="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082540" y="3380105"/>
            <a:ext cx="4839970" cy="805180"/>
            <a:chOff x="7584" y="5188"/>
            <a:chExt cx="7622" cy="12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022" name="Object 38"/>
                <p:cNvSpPr txBox="1"/>
                <p:nvPr/>
              </p:nvSpPr>
              <p:spPr bwMode="auto">
                <a:xfrm>
                  <a:off x="8582" y="5188"/>
                  <a:ext cx="6624" cy="1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𝑌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2022" name="Object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82" y="5188"/>
                  <a:ext cx="6624" cy="1269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7584" y="5477"/>
              <a:ext cx="679" cy="3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445125" y="4717415"/>
            <a:ext cx="4983480" cy="807720"/>
            <a:chOff x="8155" y="7114"/>
            <a:chExt cx="7848" cy="1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028" name="Object 44"/>
                <p:cNvSpPr txBox="1"/>
                <p:nvPr/>
              </p:nvSpPr>
              <p:spPr bwMode="auto">
                <a:xfrm>
                  <a:off x="8582" y="7114"/>
                  <a:ext cx="7421" cy="12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2028" name="Object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82" y="7114"/>
                  <a:ext cx="7421" cy="127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8155" y="7330"/>
              <a:ext cx="263" cy="1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24" grpId="0"/>
      <p:bldP spid="42026" grpId="0"/>
      <p:bldP spid="420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635" y="3810"/>
            <a:ext cx="12192000" cy="6858000"/>
            <a:chOff x="0" y="0"/>
            <a:chExt cx="19200" cy="10800"/>
          </a:xfrm>
        </p:grpSpPr>
        <p:sp>
          <p:nvSpPr>
            <p:cNvPr id="16" name="Rectangle 1"/>
            <p:cNvSpPr/>
            <p:nvPr/>
          </p:nvSpPr>
          <p:spPr>
            <a:xfrm>
              <a:off x="0" y="0"/>
              <a:ext cx="19200" cy="108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54" y="310"/>
              <a:ext cx="18493" cy="10167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cs typeface="+mn-ea"/>
                <a:sym typeface="+mn-lt"/>
              </a:endParaRPr>
            </a:p>
          </p:txBody>
        </p:sp>
      </p:grpSp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5098352" y="732863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分别是方程</a:t>
            </a:r>
          </a:p>
        </p:txBody>
      </p:sp>
      <p:sp>
        <p:nvSpPr>
          <p:cNvPr id="13330" name="Text Box 18"/>
          <p:cNvSpPr txBox="1">
            <a:spLocks noChangeArrowheads="1"/>
          </p:cNvSpPr>
          <p:nvPr/>
        </p:nvSpPr>
        <p:spPr bwMode="auto">
          <a:xfrm>
            <a:off x="2865406" y="3291216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的特解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3368" name="Text Box 56"/>
          <p:cNvSpPr txBox="1">
            <a:spLocks noChangeArrowheads="1"/>
          </p:cNvSpPr>
          <p:nvPr/>
        </p:nvSpPr>
        <p:spPr bwMode="auto">
          <a:xfrm>
            <a:off x="2878397" y="4769174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的特解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69" name="Text Box 57"/>
              <p:cNvSpPr txBox="1">
                <a:spLocks noChangeArrowheads="1"/>
              </p:cNvSpPr>
              <p:nvPr/>
            </p:nvSpPr>
            <p:spPr bwMode="auto">
              <a:xfrm>
                <a:off x="2878397" y="5501233"/>
                <a:ext cx="739952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定理3</a:t>
                </a: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,</a:t>
                </a:r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定理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4均可推广到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阶线性非齐次方程. </a:t>
                </a:r>
              </a:p>
            </p:txBody>
          </p:sp>
        </mc:Choice>
        <mc:Fallback xmlns="">
          <p:sp>
            <p:nvSpPr>
              <p:cNvPr id="13369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8397" y="5501233"/>
                <a:ext cx="7399526" cy="523220"/>
              </a:xfrm>
              <a:prstGeom prst="rect">
                <a:avLst/>
              </a:prstGeom>
              <a:blipFill>
                <a:blip r:embed="rId2"/>
                <a:stretch>
                  <a:fillRect l="-1647" t="-13953" r="-824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对象 2"/>
          <p:cNvSpPr txBox="1"/>
          <p:nvPr/>
        </p:nvSpPr>
        <p:spPr>
          <a:xfrm>
            <a:off x="6227802" y="3388953"/>
            <a:ext cx="914400" cy="3365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/>
          </a:p>
        </p:txBody>
      </p:sp>
      <p:sp>
        <p:nvSpPr>
          <p:cNvPr id="7" name="文本框 6"/>
          <p:cNvSpPr txBox="1"/>
          <p:nvPr/>
        </p:nvSpPr>
        <p:spPr bwMode="auto">
          <a:xfrm>
            <a:off x="2902236" y="1987561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与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443615" y="800512"/>
            <a:ext cx="1238885" cy="449580"/>
            <a:chOff x="1553" y="3802"/>
            <a:chExt cx="1951" cy="708"/>
          </a:xfrm>
        </p:grpSpPr>
        <p:sp>
          <p:nvSpPr>
            <p:cNvPr id="6" name="圆角矩形 5"/>
            <p:cNvSpPr/>
            <p:nvPr/>
          </p:nvSpPr>
          <p:spPr>
            <a:xfrm>
              <a:off x="1553" y="3803"/>
              <a:ext cx="175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28"/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 </a:t>
              </a: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1463777" y="5456456"/>
            <a:ext cx="612775" cy="612775"/>
            <a:chOff x="1601" y="872"/>
            <a:chExt cx="965" cy="965"/>
          </a:xfrm>
        </p:grpSpPr>
        <p:sp>
          <p:nvSpPr>
            <p:cNvPr id="92" name="椭圆 91"/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93" name="文本框 92"/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</a:p>
          </p:txBody>
        </p:sp>
        <p:sp>
          <p:nvSpPr>
            <p:cNvPr id="94" name="椭圆 93"/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862866" y="674147"/>
            <a:ext cx="2974340" cy="822960"/>
            <a:chOff x="4302" y="1201"/>
            <a:chExt cx="4684" cy="12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28" name="Object 16"/>
                <p:cNvSpPr txBox="1"/>
                <p:nvPr/>
              </p:nvSpPr>
              <p:spPr bwMode="auto">
                <a:xfrm>
                  <a:off x="4302" y="1309"/>
                  <a:ext cx="4685" cy="11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设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328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02" y="1309"/>
                  <a:ext cx="4685" cy="118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4771" y="1201"/>
              <a:ext cx="433" cy="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026696" y="1549093"/>
            <a:ext cx="5226050" cy="589915"/>
            <a:chOff x="3860" y="2455"/>
            <a:chExt cx="8230" cy="9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33" name="Object 21"/>
                <p:cNvSpPr txBox="1"/>
                <p:nvPr/>
              </p:nvSpPr>
              <p:spPr bwMode="auto">
                <a:xfrm>
                  <a:off x="4538" y="2455"/>
                  <a:ext cx="7552" cy="9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3333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38" y="2455"/>
                  <a:ext cx="7552" cy="92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3860" y="2607"/>
              <a:ext cx="324" cy="1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899061" y="2432378"/>
            <a:ext cx="5331460" cy="685800"/>
            <a:chOff x="3659" y="3846"/>
            <a:chExt cx="8396" cy="10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1"/>
                <p:cNvSpPr txBox="1"/>
                <p:nvPr/>
              </p:nvSpPr>
              <p:spPr>
                <a:xfrm>
                  <a:off x="4524" y="3846"/>
                  <a:ext cx="7531" cy="108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" y="3846"/>
                  <a:ext cx="7531" cy="108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3659" y="3858"/>
              <a:ext cx="309" cy="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100531" y="3290018"/>
            <a:ext cx="4293870" cy="778510"/>
            <a:chOff x="4302" y="4713"/>
            <a:chExt cx="6762" cy="12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34" name="Object 22"/>
                <p:cNvSpPr txBox="1"/>
                <p:nvPr/>
              </p:nvSpPr>
              <p:spPr bwMode="auto">
                <a:xfrm>
                  <a:off x="4302" y="4713"/>
                  <a:ext cx="6762" cy="12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则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是方程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3334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02" y="4713"/>
                  <a:ext cx="6762" cy="1226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7196" y="5572"/>
              <a:ext cx="510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572671" y="3920818"/>
            <a:ext cx="6447155" cy="962025"/>
            <a:chOff x="3845" y="6190"/>
            <a:chExt cx="10153" cy="15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36" name="Object 24"/>
                <p:cNvSpPr txBox="1"/>
                <p:nvPr/>
              </p:nvSpPr>
              <p:spPr bwMode="auto">
                <a:xfrm>
                  <a:off x="4380" y="6468"/>
                  <a:ext cx="9618" cy="1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3336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80" y="6468"/>
                  <a:ext cx="9618" cy="12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3845" y="6190"/>
              <a:ext cx="200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34" name="矩形标注 72">
            <a:extLst>
              <a:ext uri="{FF2B5EF4-FFF2-40B4-BE49-F238E27FC236}">
                <a16:creationId xmlns:a16="http://schemas.microsoft.com/office/drawing/2014/main" id="{4042FC79-1A8E-D6E1-60C7-B55BACE93766}"/>
              </a:ext>
            </a:extLst>
          </p:cNvPr>
          <p:cNvSpPr/>
          <p:nvPr/>
        </p:nvSpPr>
        <p:spPr>
          <a:xfrm>
            <a:off x="8337324" y="1743403"/>
            <a:ext cx="2316480" cy="904564"/>
          </a:xfrm>
          <a:prstGeom prst="wedgeRectCallout">
            <a:avLst>
              <a:gd name="adj1" fmla="val -60352"/>
              <a:gd name="adj2" fmla="val 116157"/>
            </a:avLst>
          </a:prstGeom>
          <a:solidFill>
            <a:srgbClr val="04926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非齐次方程之解的叠加原理 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5EBD6F25-09B6-74C4-D0F1-720ADFC01510}"/>
              </a:ext>
            </a:extLst>
          </p:cNvPr>
          <p:cNvGrpSpPr/>
          <p:nvPr/>
        </p:nvGrpSpPr>
        <p:grpSpPr>
          <a:xfrm>
            <a:off x="238125" y="245707"/>
            <a:ext cx="11735060" cy="6360833"/>
            <a:chOff x="238125" y="245707"/>
            <a:chExt cx="11735060" cy="6360833"/>
          </a:xfrm>
        </p:grpSpPr>
        <p:sp>
          <p:nvSpPr>
            <p:cNvPr id="49" name="Rectangle 1">
              <a:extLst>
                <a:ext uri="{FF2B5EF4-FFF2-40B4-BE49-F238E27FC236}">
                  <a16:creationId xmlns:a16="http://schemas.microsoft.com/office/drawing/2014/main" id="{AF315760-8872-D610-D738-2D98E685480C}"/>
                </a:ext>
              </a:extLst>
            </p:cNvPr>
            <p:cNvSpPr/>
            <p:nvPr/>
          </p:nvSpPr>
          <p:spPr>
            <a:xfrm>
              <a:off x="297498" y="6403453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 1">
              <a:extLst>
                <a:ext uri="{FF2B5EF4-FFF2-40B4-BE49-F238E27FC236}">
                  <a16:creationId xmlns:a16="http://schemas.microsoft.com/office/drawing/2014/main" id="{3D372C97-4116-02BA-8E5D-8C3EA6905E37}"/>
                </a:ext>
              </a:extLst>
            </p:cNvPr>
            <p:cNvSpPr/>
            <p:nvPr/>
          </p:nvSpPr>
          <p:spPr>
            <a:xfrm rot="2659048">
              <a:off x="10114638" y="305488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83A3FE54-231E-5349-F167-B98F12152B3C}"/>
                </a:ext>
              </a:extLst>
            </p:cNvPr>
            <p:cNvSpPr/>
            <p:nvPr/>
          </p:nvSpPr>
          <p:spPr>
            <a:xfrm>
              <a:off x="527050" y="6299835"/>
              <a:ext cx="28702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第六节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高阶线性微分方程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92C364B8-8454-D01F-B2BB-0351F673C95E}"/>
                </a:ext>
              </a:extLst>
            </p:cNvPr>
            <p:cNvSpPr/>
            <p:nvPr/>
          </p:nvSpPr>
          <p:spPr>
            <a:xfrm>
              <a:off x="10387590" y="245707"/>
              <a:ext cx="1585595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第七章 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微分方程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666E57F5-BA8C-A55A-AC03-61CC777CE09A}"/>
                </a:ext>
              </a:extLst>
            </p:cNvPr>
            <p:cNvCxnSpPr/>
            <p:nvPr/>
          </p:nvCxnSpPr>
          <p:spPr>
            <a:xfrm>
              <a:off x="238125" y="381000"/>
              <a:ext cx="9612000" cy="0"/>
            </a:xfrm>
            <a:prstGeom prst="line">
              <a:avLst/>
            </a:prstGeom>
            <a:ln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C0EA51D1-4EF4-0CF9-BF74-520A5A03A0C4}"/>
                </a:ext>
              </a:extLst>
            </p:cNvPr>
            <p:cNvCxnSpPr/>
            <p:nvPr/>
          </p:nvCxnSpPr>
          <p:spPr>
            <a:xfrm>
              <a:off x="2943225" y="6442710"/>
              <a:ext cx="90000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9" grpId="0"/>
      <p:bldP spid="13330" grpId="0"/>
      <p:bldP spid="13368" grpId="0" animBg="1"/>
      <p:bldP spid="13369" grpId="0" animBg="1"/>
      <p:bldP spid="7" grpId="0"/>
      <p:bldP spid="3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6641921" y="1943534"/>
            <a:ext cx="500034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是对应齐次方程的</a:t>
            </a:r>
            <a:r>
              <a:rPr kumimoji="1"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n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个线性</a:t>
            </a:r>
          </a:p>
        </p:txBody>
      </p:sp>
      <p:sp>
        <p:nvSpPr>
          <p:cNvPr id="43023" name="Text Box 15"/>
          <p:cNvSpPr txBox="1">
            <a:spLocks noChangeArrowheads="1"/>
          </p:cNvSpPr>
          <p:nvPr/>
        </p:nvSpPr>
        <p:spPr bwMode="auto">
          <a:xfrm>
            <a:off x="2686050" y="255936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无关特解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3024" name="Text Box 16"/>
          <p:cNvSpPr txBox="1">
            <a:spLocks noChangeArrowheads="1"/>
          </p:cNvSpPr>
          <p:nvPr/>
        </p:nvSpPr>
        <p:spPr bwMode="auto">
          <a:xfrm>
            <a:off x="2686050" y="508712"/>
            <a:ext cx="493894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给定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n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lt"/>
              </a:rPr>
              <a:t>阶非齐次线性方程</a:t>
            </a:r>
          </a:p>
        </p:txBody>
      </p:sp>
      <p:sp>
        <p:nvSpPr>
          <p:cNvPr id="43028" name="Text Box 20"/>
          <p:cNvSpPr txBox="1">
            <a:spLocks noChangeArrowheads="1"/>
          </p:cNvSpPr>
          <p:nvPr/>
        </p:nvSpPr>
        <p:spPr bwMode="auto">
          <a:xfrm>
            <a:off x="5278122" y="255936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是非齐次方程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的特解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3029" name="Text Box 21"/>
          <p:cNvSpPr txBox="1">
            <a:spLocks noChangeArrowheads="1"/>
          </p:cNvSpPr>
          <p:nvPr/>
        </p:nvSpPr>
        <p:spPr bwMode="auto">
          <a:xfrm>
            <a:off x="8707122" y="2545081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则非齐次方程</a:t>
            </a:r>
          </a:p>
        </p:txBody>
      </p:sp>
      <p:sp>
        <p:nvSpPr>
          <p:cNvPr id="43030" name="Text Box 22"/>
          <p:cNvSpPr txBox="1">
            <a:spLocks noChangeArrowheads="1"/>
          </p:cNvSpPr>
          <p:nvPr/>
        </p:nvSpPr>
        <p:spPr bwMode="auto">
          <a:xfrm>
            <a:off x="2686050" y="3224373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的通解为</a:t>
            </a:r>
          </a:p>
        </p:txBody>
      </p:sp>
      <p:sp>
        <p:nvSpPr>
          <p:cNvPr id="43032" name="Line 24"/>
          <p:cNvSpPr>
            <a:spLocks noChangeShapeType="1"/>
          </p:cNvSpPr>
          <p:nvPr/>
        </p:nvSpPr>
        <p:spPr bwMode="auto">
          <a:xfrm>
            <a:off x="3435806" y="4471254"/>
            <a:ext cx="5238294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88059" y="549275"/>
            <a:ext cx="1238885" cy="449580"/>
            <a:chOff x="1553" y="3802"/>
            <a:chExt cx="1951" cy="708"/>
          </a:xfrm>
        </p:grpSpPr>
        <p:sp>
          <p:nvSpPr>
            <p:cNvPr id="6" name="圆角矩形 5"/>
            <p:cNvSpPr/>
            <p:nvPr/>
          </p:nvSpPr>
          <p:spPr>
            <a:xfrm>
              <a:off x="1553" y="3803"/>
              <a:ext cx="175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28"/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5 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366010" y="1167130"/>
            <a:ext cx="6983095" cy="818515"/>
            <a:chOff x="3506" y="1898"/>
            <a:chExt cx="10997" cy="12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25" name="Object 17"/>
                <p:cNvSpPr txBox="1"/>
                <p:nvPr/>
              </p:nvSpPr>
              <p:spPr bwMode="auto">
                <a:xfrm>
                  <a:off x="4010" y="1898"/>
                  <a:ext cx="10493" cy="12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−1)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+⋯+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3025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10" y="1898"/>
                  <a:ext cx="10493" cy="128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3506" y="2588"/>
              <a:ext cx="309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355850" y="1880986"/>
            <a:ext cx="4604385" cy="810260"/>
            <a:chOff x="3490" y="3142"/>
            <a:chExt cx="7251" cy="12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19" name="Object 11"/>
                <p:cNvSpPr txBox="1"/>
                <p:nvPr/>
              </p:nvSpPr>
              <p:spPr bwMode="auto">
                <a:xfrm>
                  <a:off x="4010" y="3142"/>
                  <a:ext cx="6731" cy="12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设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), ⋯, 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3019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10" y="3142"/>
                  <a:ext cx="6731" cy="127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3490" y="3438"/>
              <a:ext cx="325" cy="3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321175" y="2549525"/>
            <a:ext cx="2018030" cy="664210"/>
            <a:chOff x="6585" y="4075"/>
            <a:chExt cx="3178" cy="10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27" name="Object 19"/>
                <p:cNvSpPr txBox="1"/>
                <p:nvPr/>
              </p:nvSpPr>
              <p:spPr bwMode="auto">
                <a:xfrm>
                  <a:off x="6585" y="4075"/>
                  <a:ext cx="3178" cy="8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3027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85" y="4075"/>
                  <a:ext cx="3178" cy="80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7367" y="4859"/>
              <a:ext cx="402" cy="2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395220" y="3836254"/>
            <a:ext cx="7917180" cy="750766"/>
            <a:chOff x="3552" y="5680"/>
            <a:chExt cx="12468" cy="17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22" name="Object 14"/>
                <p:cNvSpPr txBox="1"/>
                <p:nvPr/>
              </p:nvSpPr>
              <p:spPr bwMode="auto">
                <a:xfrm>
                  <a:off x="4010" y="5680"/>
                  <a:ext cx="12010" cy="17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)+⋯+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3022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10" y="5680"/>
                  <a:ext cx="12010" cy="179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3552" y="5925"/>
              <a:ext cx="247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512060" y="4719320"/>
            <a:ext cx="3980815" cy="730250"/>
            <a:chOff x="3259" y="6772"/>
            <a:chExt cx="6269" cy="11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26" name="Object 18"/>
                <p:cNvSpPr txBox="1"/>
                <p:nvPr/>
              </p:nvSpPr>
              <p:spPr bwMode="auto">
                <a:xfrm>
                  <a:off x="4010" y="6772"/>
                  <a:ext cx="5518" cy="11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𝑌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3026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10" y="6772"/>
                  <a:ext cx="5518" cy="1151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3259" y="6944"/>
              <a:ext cx="540" cy="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34" name="AutoShape 7">
            <a:extLst>
              <a:ext uri="{FF2B5EF4-FFF2-40B4-BE49-F238E27FC236}">
                <a16:creationId xmlns:a16="http://schemas.microsoft.com/office/drawing/2014/main" id="{92169C14-70DA-1B2C-1DB4-C860B6A52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555" y="5820727"/>
            <a:ext cx="2283460" cy="541969"/>
          </a:xfrm>
          <a:prstGeom prst="wedgeRectCallout">
            <a:avLst>
              <a:gd name="adj1" fmla="val -12054"/>
              <a:gd name="adj2" fmla="val -163270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齐次方程通解</a:t>
            </a:r>
            <a:endParaRPr kumimoji="1" lang="zh-CN" altLang="en-US" sz="2800" i="1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5" name="AutoShape 7">
            <a:extLst>
              <a:ext uri="{FF2B5EF4-FFF2-40B4-BE49-F238E27FC236}">
                <a16:creationId xmlns:a16="http://schemas.microsoft.com/office/drawing/2014/main" id="{1E44764E-DF9D-9EB0-857D-B3FADF262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860" y="5820727"/>
            <a:ext cx="2727325" cy="541969"/>
          </a:xfrm>
          <a:prstGeom prst="wedgeRectCallout">
            <a:avLst>
              <a:gd name="adj1" fmla="val -63042"/>
              <a:gd name="adj2" fmla="val -166915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非齐次方程特解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1" grpId="0"/>
      <p:bldP spid="43023" grpId="0"/>
      <p:bldP spid="43024" grpId="0"/>
      <p:bldP spid="43028" grpId="0"/>
      <p:bldP spid="43029" grpId="0"/>
      <p:bldP spid="43030" grpId="0"/>
      <p:bldP spid="34" grpId="0" bldLvl="0" animBg="1"/>
      <p:bldP spid="34" grpId="1" animBg="1"/>
      <p:bldP spid="35" grpId="0" bldLvl="0" animBg="1"/>
      <p:bldP spid="3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262630" y="1953260"/>
            <a:ext cx="3940810" cy="575945"/>
            <a:chOff x="3938" y="3076"/>
            <a:chExt cx="6206" cy="9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51" name="Object 19"/>
                <p:cNvSpPr txBox="1"/>
                <p:nvPr/>
              </p:nvSpPr>
              <p:spPr bwMode="auto">
                <a:xfrm>
                  <a:off x="4428" y="3076"/>
                  <a:ext cx="5716" cy="9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A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8451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28" y="3076"/>
                  <a:ext cx="5716" cy="90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3938" y="3453"/>
              <a:ext cx="201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18479" name="Text Box 47"/>
          <p:cNvSpPr txBox="1">
            <a:spLocks noChangeArrowheads="1"/>
          </p:cNvSpPr>
          <p:nvPr/>
        </p:nvSpPr>
        <p:spPr bwMode="auto">
          <a:xfrm>
            <a:off x="2552700" y="1403677"/>
            <a:ext cx="6324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常数</a:t>
            </a: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，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则该方程的通解是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( </a:t>
            </a:r>
            <a:r>
              <a:rPr kumimoji="1" lang="en-US" altLang="zh-CN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 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8" name="Object 6"/>
              <p:cNvSpPr txBox="1"/>
              <p:nvPr/>
            </p:nvSpPr>
            <p:spPr bwMode="auto">
              <a:xfrm>
                <a:off x="5102225" y="347980"/>
                <a:ext cx="1948180" cy="6483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800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800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en-US" altLang="zh-CN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43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2225" y="347980"/>
                <a:ext cx="1948180" cy="6483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2562860" y="387677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设线性无关函数</a:t>
            </a:r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6499225" y="387995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都是二阶非齐次线</a:t>
            </a:r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9340215" y="400623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47" name="Object 15"/>
              <p:cNvSpPr txBox="1"/>
              <p:nvPr/>
            </p:nvSpPr>
            <p:spPr bwMode="auto">
              <a:xfrm>
                <a:off x="2628265" y="932180"/>
                <a:ext cx="4756785" cy="5177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𝑃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𝑄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447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8265" y="932180"/>
                <a:ext cx="4756785" cy="5177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7112000" y="9233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的解</a:t>
            </a:r>
            <a:r>
              <a:rPr kumimoji="1" lang="zh-CN" altLang="en-US" sz="2800" noProof="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，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8911590" y="93219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是任意</a:t>
            </a:r>
          </a:p>
        </p:txBody>
      </p:sp>
      <p:sp>
        <p:nvSpPr>
          <p:cNvPr id="18457" name="Text Box 25"/>
          <p:cNvSpPr txBox="1">
            <a:spLocks noChangeArrowheads="1"/>
          </p:cNvSpPr>
          <p:nvPr/>
        </p:nvSpPr>
        <p:spPr bwMode="auto">
          <a:xfrm>
            <a:off x="1866582" y="4241931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提示</a:t>
            </a:r>
            <a:r>
              <a:rPr lang="en-US" altLang="zh-CN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:</a:t>
            </a:r>
            <a:endParaRPr lang="zh-CN" altLang="en-US" sz="2800" b="1" i="0" u="none" strike="noStrike" kern="1200" cap="none" spc="0" normalizeH="0" baseline="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8459" name="Text Box 27"/>
          <p:cNvSpPr txBox="1">
            <a:spLocks noChangeArrowheads="1"/>
          </p:cNvSpPr>
          <p:nvPr/>
        </p:nvSpPr>
        <p:spPr bwMode="auto">
          <a:xfrm>
            <a:off x="5146040" y="5343217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都是对应齐次方程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的解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8461" name="Text Box 29"/>
          <p:cNvSpPr txBox="1">
            <a:spLocks noChangeArrowheads="1"/>
          </p:cNvSpPr>
          <p:nvPr/>
        </p:nvSpPr>
        <p:spPr bwMode="auto">
          <a:xfrm>
            <a:off x="2552700" y="5861377"/>
            <a:ext cx="5638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二者线性无关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(反证法可证)</a:t>
            </a:r>
          </a:p>
        </p:txBody>
      </p:sp>
      <p:grpSp>
        <p:nvGrpSpPr>
          <p:cNvPr id="18484" name="Group 52"/>
          <p:cNvGrpSpPr/>
          <p:nvPr/>
        </p:nvGrpSpPr>
        <p:grpSpPr bwMode="auto">
          <a:xfrm>
            <a:off x="3710323" y="2025055"/>
            <a:ext cx="406700" cy="384454"/>
            <a:chOff x="233" y="1242"/>
            <a:chExt cx="324" cy="308"/>
          </a:xfrm>
        </p:grpSpPr>
        <p:sp>
          <p:nvSpPr>
            <p:cNvPr id="18469" name="Line 37"/>
            <p:cNvSpPr>
              <a:spLocks noChangeShapeType="1"/>
            </p:cNvSpPr>
            <p:nvPr/>
          </p:nvSpPr>
          <p:spPr bwMode="auto">
            <a:xfrm flipH="1">
              <a:off x="240" y="1248"/>
              <a:ext cx="317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8470" name="Line 38"/>
            <p:cNvSpPr>
              <a:spLocks noChangeShapeType="1"/>
            </p:cNvSpPr>
            <p:nvPr/>
          </p:nvSpPr>
          <p:spPr bwMode="auto">
            <a:xfrm>
              <a:off x="233" y="1242"/>
              <a:ext cx="317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sp>
        <p:nvSpPr>
          <p:cNvPr id="6" name="Text Box 44"/>
          <p:cNvSpPr txBox="1">
            <a:spLocks noChangeArrowheads="1"/>
          </p:cNvSpPr>
          <p:nvPr/>
        </p:nvSpPr>
        <p:spPr bwMode="auto">
          <a:xfrm>
            <a:off x="1693463" y="410364"/>
            <a:ext cx="7649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en-US" altLang="zh-CN" sz="28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052435" y="922020"/>
            <a:ext cx="990600" cy="635000"/>
            <a:chOff x="12771" y="1672"/>
            <a:chExt cx="1560" cy="1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49" name="Object 17"/>
                <p:cNvSpPr txBox="1"/>
                <p:nvPr/>
              </p:nvSpPr>
              <p:spPr bwMode="auto">
                <a:xfrm>
                  <a:off x="12771" y="1672"/>
                  <a:ext cx="1560" cy="1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49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771" y="1672"/>
                  <a:ext cx="1560" cy="1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13824" y="2449"/>
              <a:ext cx="154" cy="1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096260" y="2539712"/>
            <a:ext cx="5564505" cy="601825"/>
            <a:chOff x="3676" y="3293"/>
            <a:chExt cx="8763" cy="16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52" name="Object 20"/>
                <p:cNvSpPr txBox="1"/>
                <p:nvPr/>
              </p:nvSpPr>
              <p:spPr bwMode="auto">
                <a:xfrm>
                  <a:off x="4428" y="3293"/>
                  <a:ext cx="8011" cy="16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B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+(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8452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28" y="3293"/>
                  <a:ext cx="8011" cy="167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3676" y="4395"/>
              <a:ext cx="278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242945" y="3076575"/>
            <a:ext cx="6547485" cy="647700"/>
            <a:chOff x="3907" y="4865"/>
            <a:chExt cx="10311" cy="10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53" name="Object 21"/>
                <p:cNvSpPr txBox="1"/>
                <p:nvPr/>
              </p:nvSpPr>
              <p:spPr bwMode="auto">
                <a:xfrm>
                  <a:off x="4428" y="4865"/>
                  <a:ext cx="9791" cy="10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</m:t>
                            </m:r>
                          </m:e>
                        </m:d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−(1−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53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28" y="4865"/>
                  <a:ext cx="9791" cy="10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3907" y="5260"/>
              <a:ext cx="263" cy="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272790" y="3639820"/>
            <a:ext cx="6628130" cy="768350"/>
            <a:chOff x="3954" y="5732"/>
            <a:chExt cx="10438" cy="12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54" name="Object 22"/>
                <p:cNvSpPr txBox="1"/>
                <p:nvPr/>
              </p:nvSpPr>
              <p:spPr bwMode="auto">
                <a:xfrm>
                  <a:off x="4428" y="5732"/>
                  <a:ext cx="9965" cy="12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+(1−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54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28" y="5732"/>
                  <a:ext cx="9965" cy="121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3954" y="6064"/>
              <a:ext cx="216" cy="2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194050" y="4208780"/>
            <a:ext cx="6132830" cy="474345"/>
            <a:chOff x="3830" y="6628"/>
            <a:chExt cx="9658" cy="7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66" name="Object 34"/>
                <p:cNvSpPr txBox="1"/>
                <p:nvPr/>
              </p:nvSpPr>
              <p:spPr bwMode="auto">
                <a:xfrm>
                  <a:off x="4428" y="6628"/>
                  <a:ext cx="9060" cy="74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C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)−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66" name="Object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28" y="6628"/>
                  <a:ext cx="9060" cy="74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3830" y="6913"/>
              <a:ext cx="309" cy="1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42945" y="4791710"/>
            <a:ext cx="6551930" cy="521970"/>
            <a:chOff x="3907" y="7546"/>
            <a:chExt cx="10318" cy="11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91" name="Object 59"/>
                <p:cNvSpPr txBox="1"/>
                <p:nvPr/>
              </p:nvSpPr>
              <p:spPr bwMode="auto">
                <a:xfrm>
                  <a:off x="4428" y="7546"/>
                  <a:ext cx="9797" cy="11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91" name="Object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28" y="7546"/>
                  <a:ext cx="9797" cy="116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3907" y="7824"/>
              <a:ext cx="278" cy="2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552700" y="5282565"/>
            <a:ext cx="2895600" cy="444500"/>
            <a:chOff x="5174" y="8179"/>
            <a:chExt cx="4560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58" name="Object 26"/>
                <p:cNvSpPr txBox="1"/>
                <p:nvPr/>
              </p:nvSpPr>
              <p:spPr bwMode="auto">
                <a:xfrm>
                  <a:off x="5190" y="8179"/>
                  <a:ext cx="4544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58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90" y="8179"/>
                  <a:ext cx="4544" cy="700"/>
                </a:xfrm>
                <a:prstGeom prst="rect">
                  <a:avLst/>
                </a:prstGeom>
                <a:blipFill>
                  <a:blip r:embed="rId12"/>
                  <a:stretch>
                    <a:fillRect b="-694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/>
            <p:cNvSpPr/>
            <p:nvPr/>
          </p:nvSpPr>
          <p:spPr>
            <a:xfrm>
              <a:off x="5174" y="8504"/>
              <a:ext cx="119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48500" y="1473200"/>
            <a:ext cx="451485" cy="459740"/>
            <a:chOff x="9860" y="2480"/>
            <a:chExt cx="711" cy="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55" name="Object 23"/>
                <p:cNvSpPr txBox="1"/>
                <p:nvPr/>
              </p:nvSpPr>
              <p:spPr bwMode="auto">
                <a:xfrm>
                  <a:off x="9860" y="2480"/>
                  <a:ext cx="711" cy="724"/>
                </a:xfrm>
                <a:prstGeom prst="rect">
                  <a:avLst/>
                </a:prstGeom>
                <a:solidFill>
                  <a:srgbClr val="04926A">
                    <a:alpha val="42000"/>
                  </a:srgbClr>
                </a:solidFill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455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860" y="2480"/>
                  <a:ext cx="711" cy="724"/>
                </a:xfrm>
                <a:prstGeom prst="rect">
                  <a:avLst/>
                </a:prstGeom>
                <a:blipFill>
                  <a:blip r:embed="rId13"/>
                  <a:stretch>
                    <a:fillRect l="-270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矩形 18"/>
            <p:cNvSpPr/>
            <p:nvPr/>
          </p:nvSpPr>
          <p:spPr>
            <a:xfrm>
              <a:off x="10086" y="2727"/>
              <a:ext cx="139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488" name="Group 56"/>
          <p:cNvGrpSpPr/>
          <p:nvPr/>
        </p:nvGrpSpPr>
        <p:grpSpPr bwMode="auto">
          <a:xfrm>
            <a:off x="3702685" y="2614963"/>
            <a:ext cx="418251" cy="406376"/>
            <a:chOff x="548" y="1242"/>
            <a:chExt cx="317" cy="308"/>
          </a:xfrm>
        </p:grpSpPr>
        <p:sp>
          <p:nvSpPr>
            <p:cNvPr id="18489" name="Line 57"/>
            <p:cNvSpPr>
              <a:spLocks noChangeShapeType="1"/>
            </p:cNvSpPr>
            <p:nvPr/>
          </p:nvSpPr>
          <p:spPr bwMode="auto">
            <a:xfrm flipH="1">
              <a:off x="548" y="1248"/>
              <a:ext cx="317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8490" name="Line 58"/>
            <p:cNvSpPr>
              <a:spLocks noChangeShapeType="1"/>
            </p:cNvSpPr>
            <p:nvPr/>
          </p:nvSpPr>
          <p:spPr bwMode="auto">
            <a:xfrm>
              <a:off x="548" y="1242"/>
              <a:ext cx="317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79" grpId="0"/>
      <p:bldP spid="18438" grpId="0"/>
      <p:bldP spid="18444" grpId="0"/>
      <p:bldP spid="18445" grpId="0"/>
      <p:bldP spid="18446" grpId="0"/>
      <p:bldP spid="18447" grpId="0"/>
      <p:bldP spid="18448" grpId="0"/>
      <p:bldP spid="18450" grpId="0"/>
      <p:bldP spid="18457" grpId="0"/>
      <p:bldP spid="18459" grpId="0"/>
      <p:bldP spid="18461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324" y="536895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CN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CN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US" altLang="zh-CN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CN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24" y="536895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3434080" y="3105150"/>
            <a:ext cx="3598545" cy="1109980"/>
            <a:chOff x="3428" y="4750"/>
            <a:chExt cx="5667" cy="17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833" name="Object 17"/>
                <p:cNvSpPr txBox="1"/>
                <p:nvPr/>
              </p:nvSpPr>
              <p:spPr bwMode="auto">
                <a:xfrm>
                  <a:off x="3751" y="4750"/>
                  <a:ext cx="5345" cy="17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≠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4833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51" y="4750"/>
                  <a:ext cx="5345" cy="1748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3428" y="5338"/>
              <a:ext cx="356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2237106" y="754381"/>
            <a:ext cx="2682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已知微分方程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629DD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0" name="Object 4"/>
              <p:cNvSpPr txBox="1"/>
              <p:nvPr/>
            </p:nvSpPr>
            <p:spPr bwMode="auto">
              <a:xfrm>
                <a:off x="4642485" y="743585"/>
                <a:ext cx="4734560" cy="7213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𝑝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𝑞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482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2485" y="743585"/>
                <a:ext cx="4734560" cy="7213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9698228" y="772161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个解</a:t>
            </a:r>
          </a:p>
        </p:txBody>
      </p:sp>
      <p:sp>
        <p:nvSpPr>
          <p:cNvPr id="34824" name="Text Box 8"/>
          <p:cNvSpPr txBox="1">
            <a:spLocks noChangeArrowheads="1"/>
          </p:cNvSpPr>
          <p:nvPr/>
        </p:nvSpPr>
        <p:spPr bwMode="auto">
          <a:xfrm>
            <a:off x="6384925" y="1337946"/>
            <a:ext cx="3810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求此方程满足初值条件</a:t>
            </a:r>
          </a:p>
        </p:txBody>
      </p:sp>
      <p:sp>
        <p:nvSpPr>
          <p:cNvPr id="34826" name="Text Box 10"/>
          <p:cNvSpPr txBox="1">
            <a:spLocks noChangeArrowheads="1"/>
          </p:cNvSpPr>
          <p:nvPr/>
        </p:nvSpPr>
        <p:spPr bwMode="auto">
          <a:xfrm>
            <a:off x="5512435" y="1938338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的特解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p:sp>
        <p:nvSpPr>
          <p:cNvPr id="34827" name="Text Box 11"/>
          <p:cNvSpPr txBox="1">
            <a:spLocks noChangeArrowheads="1"/>
          </p:cNvSpPr>
          <p:nvPr/>
        </p:nvSpPr>
        <p:spPr bwMode="auto">
          <a:xfrm>
            <a:off x="1492118" y="2557780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 </a:t>
            </a:r>
          </a:p>
        </p:txBody>
      </p:sp>
      <p:sp>
        <p:nvSpPr>
          <p:cNvPr id="34829" name="Text Box 13"/>
          <p:cNvSpPr txBox="1">
            <a:spLocks noChangeArrowheads="1"/>
          </p:cNvSpPr>
          <p:nvPr/>
        </p:nvSpPr>
        <p:spPr bwMode="auto">
          <a:xfrm>
            <a:off x="4610100" y="2565718"/>
            <a:ext cx="37338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是对应齐次方程</a:t>
            </a: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的解</a:t>
            </a:r>
            <a:r>
              <a:rPr kumimoji="1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4832" name="Text Box 16"/>
          <p:cNvSpPr txBox="1">
            <a:spLocks noChangeArrowheads="1"/>
          </p:cNvSpPr>
          <p:nvPr/>
        </p:nvSpPr>
        <p:spPr bwMode="auto">
          <a:xfrm>
            <a:off x="7254240" y="2565401"/>
            <a:ext cx="6858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且</a:t>
            </a:r>
          </a:p>
        </p:txBody>
      </p:sp>
      <p:sp>
        <p:nvSpPr>
          <p:cNvPr id="34834" name="Text Box 18"/>
          <p:cNvSpPr txBox="1">
            <a:spLocks noChangeArrowheads="1"/>
          </p:cNvSpPr>
          <p:nvPr/>
        </p:nvSpPr>
        <p:spPr bwMode="auto">
          <a:xfrm>
            <a:off x="6096000" y="3293428"/>
            <a:ext cx="14478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常数</a:t>
            </a:r>
          </a:p>
        </p:txBody>
      </p:sp>
      <p:sp>
        <p:nvSpPr>
          <p:cNvPr id="34835" name="Text Box 19"/>
          <p:cNvSpPr txBox="1">
            <a:spLocks noChangeArrowheads="1"/>
          </p:cNvSpPr>
          <p:nvPr/>
        </p:nvSpPr>
        <p:spPr bwMode="auto">
          <a:xfrm>
            <a:off x="2480945" y="3981450"/>
            <a:ext cx="2240915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因而线性无关</a:t>
            </a:r>
            <a:r>
              <a:rPr kumimoji="1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4836" name="Text Box 20"/>
          <p:cNvSpPr txBox="1">
            <a:spLocks noChangeArrowheads="1"/>
          </p:cNvSpPr>
          <p:nvPr/>
        </p:nvSpPr>
        <p:spPr bwMode="auto">
          <a:xfrm>
            <a:off x="4330700" y="3981450"/>
            <a:ext cx="28956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故原方程通解为</a:t>
            </a:r>
          </a:p>
        </p:txBody>
      </p:sp>
      <p:sp>
        <p:nvSpPr>
          <p:cNvPr id="34839" name="Text Box 23"/>
          <p:cNvSpPr txBox="1">
            <a:spLocks noChangeArrowheads="1"/>
          </p:cNvSpPr>
          <p:nvPr/>
        </p:nvSpPr>
        <p:spPr bwMode="auto">
          <a:xfrm>
            <a:off x="2480945" y="5039361"/>
            <a:ext cx="25908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代入初值条件</a:t>
            </a:r>
          </a:p>
        </p:txBody>
      </p:sp>
      <p:sp>
        <p:nvSpPr>
          <p:cNvPr id="34849" name="Text Box 33"/>
          <p:cNvSpPr txBox="1">
            <a:spLocks noChangeArrowheads="1"/>
          </p:cNvSpPr>
          <p:nvPr/>
        </p:nvSpPr>
        <p:spPr bwMode="auto">
          <a:xfrm>
            <a:off x="2480945" y="5582921"/>
            <a:ext cx="18592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故所求特解为</a:t>
            </a:r>
          </a:p>
        </p:txBody>
      </p:sp>
      <p:sp>
        <p:nvSpPr>
          <p:cNvPr id="34850" name="Text Box 34"/>
          <p:cNvSpPr txBox="1">
            <a:spLocks noChangeArrowheads="1"/>
          </p:cNvSpPr>
          <p:nvPr/>
        </p:nvSpPr>
        <p:spPr bwMode="auto">
          <a:xfrm>
            <a:off x="8978265" y="754381"/>
            <a:ext cx="10823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有三 </a:t>
            </a:r>
          </a:p>
        </p:txBody>
      </p:sp>
      <p:sp>
        <p:nvSpPr>
          <p:cNvPr id="6" name="Text Box 44"/>
          <p:cNvSpPr txBox="1">
            <a:spLocks noChangeArrowheads="1"/>
          </p:cNvSpPr>
          <p:nvPr/>
        </p:nvSpPr>
        <p:spPr bwMode="auto">
          <a:xfrm>
            <a:off x="1482907" y="777250"/>
            <a:ext cx="8675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endParaRPr kumimoji="1" lang="en-US" altLang="zh-CN" sz="28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79040" y="1343660"/>
            <a:ext cx="4267200" cy="655320"/>
            <a:chOff x="4884" y="2096"/>
            <a:chExt cx="6720" cy="10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823" name="Object 7"/>
                <p:cNvSpPr txBox="1"/>
                <p:nvPr/>
              </p:nvSpPr>
              <p:spPr bwMode="auto">
                <a:xfrm>
                  <a:off x="4884" y="2096"/>
                  <a:ext cx="6720" cy="10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8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8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4823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84" y="2096"/>
                  <a:ext cx="6720" cy="103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7800" y="2897"/>
              <a:ext cx="355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272030" y="1940560"/>
            <a:ext cx="3740785" cy="655320"/>
            <a:chOff x="3398" y="3056"/>
            <a:chExt cx="5891" cy="10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825" name="Object 9"/>
                <p:cNvSpPr txBox="1"/>
                <p:nvPr/>
              </p:nvSpPr>
              <p:spPr bwMode="auto">
                <a:xfrm>
                  <a:off x="3751" y="3056"/>
                  <a:ext cx="5539" cy="10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(0)=1,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(0)=3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4825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51" y="3056"/>
                  <a:ext cx="5539" cy="10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3398" y="3453"/>
              <a:ext cx="247" cy="3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496185" y="2550795"/>
            <a:ext cx="2448560" cy="429260"/>
            <a:chOff x="3751" y="4017"/>
            <a:chExt cx="3856" cy="6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751" y="4017"/>
                  <a:ext cx="3857" cy="6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1" lang="zh-CN" altLang="en-US" sz="2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黑体" panose="02010609060101010101" pitchFamily="49" charset="-122"/>
                      <a:ea typeface="黑体" panose="02010609060101010101" pitchFamily="49" charset="-122"/>
                      <a:cs typeface="+mn-ea"/>
                      <a:sym typeface="+mn-lt"/>
                    </a:rPr>
                    <a:t>与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3" name="Text 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51" y="4017"/>
                  <a:ext cx="3857" cy="677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4989" y="4117"/>
              <a:ext cx="463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075815" y="4488180"/>
            <a:ext cx="6003925" cy="520700"/>
            <a:chOff x="3089" y="7108"/>
            <a:chExt cx="9455" cy="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837" name="Object 21"/>
                <p:cNvSpPr txBox="1"/>
                <p:nvPr/>
              </p:nvSpPr>
              <p:spPr bwMode="auto">
                <a:xfrm>
                  <a:off x="5584" y="7108"/>
                  <a:ext cx="6960" cy="8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4837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84" y="7108"/>
                  <a:ext cx="6960" cy="820"/>
                </a:xfrm>
                <a:prstGeom prst="rect">
                  <a:avLst/>
                </a:prstGeom>
                <a:blipFill>
                  <a:blip r:embed="rId10"/>
                  <a:stretch>
                    <a:fillRect l="-13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3089" y="7114"/>
              <a:ext cx="309" cy="3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225925" y="5039360"/>
            <a:ext cx="2730500" cy="499110"/>
            <a:chOff x="6655" y="7836"/>
            <a:chExt cx="4300" cy="7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840" name="Object 24"/>
                <p:cNvSpPr txBox="1"/>
                <p:nvPr/>
              </p:nvSpPr>
              <p:spPr bwMode="auto">
                <a:xfrm>
                  <a:off x="6655" y="7836"/>
                  <a:ext cx="4300" cy="6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(0)=1, 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(0)=3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4840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55" y="7836"/>
                  <a:ext cx="4300" cy="660"/>
                </a:xfrm>
                <a:prstGeom prst="rect">
                  <a:avLst/>
                </a:prstGeom>
                <a:blipFill>
                  <a:blip r:embed="rId11"/>
                  <a:stretch>
                    <a:fillRect l="-223" b="-235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10024" y="8504"/>
              <a:ext cx="278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746240" y="5038090"/>
            <a:ext cx="3051810" cy="457200"/>
            <a:chOff x="10331" y="7804"/>
            <a:chExt cx="4806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842" name="Object 26"/>
                <p:cNvSpPr txBox="1"/>
                <p:nvPr/>
              </p:nvSpPr>
              <p:spPr bwMode="auto">
                <a:xfrm>
                  <a:off x="10331" y="7804"/>
                  <a:ext cx="4480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得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=−1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=2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4842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31" y="7804"/>
                  <a:ext cx="4480" cy="720"/>
                </a:xfrm>
                <a:prstGeom prst="rect">
                  <a:avLst/>
                </a:prstGeom>
                <a:blipFill>
                  <a:blip r:embed="rId12"/>
                  <a:stretch>
                    <a:fillRect l="-1502" b="-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14782" y="7963"/>
              <a:ext cx="355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244340" y="5582920"/>
            <a:ext cx="2139950" cy="508000"/>
            <a:chOff x="6684" y="8652"/>
            <a:chExt cx="3370" cy="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843" name="Object 27"/>
                <p:cNvSpPr txBox="1"/>
                <p:nvPr/>
              </p:nvSpPr>
              <p:spPr bwMode="auto">
                <a:xfrm>
                  <a:off x="6684" y="8652"/>
                  <a:ext cx="3220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=2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4843" name="Object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84" y="8652"/>
                  <a:ext cx="3220" cy="800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9746" y="9091"/>
              <a:ext cx="309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4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/>
      <p:bldP spid="34820" grpId="0"/>
      <p:bldP spid="34821" grpId="0"/>
      <p:bldP spid="34824" grpId="0" animBg="1"/>
      <p:bldP spid="34826" grpId="0" animBg="1"/>
      <p:bldP spid="34827" grpId="0" animBg="1"/>
      <p:bldP spid="34829" grpId="0" animBg="1"/>
      <p:bldP spid="34832" grpId="0" animBg="1"/>
      <p:bldP spid="34834" grpId="0" animBg="1"/>
      <p:bldP spid="34835" grpId="0" animBg="1"/>
      <p:bldP spid="34836" grpId="0" animBg="1"/>
      <p:bldP spid="34839" grpId="0" animBg="1"/>
      <p:bldP spid="34849" grpId="0"/>
      <p:bldP spid="34850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/>
        </p:nvSpPr>
        <p:spPr>
          <a:xfrm>
            <a:off x="829097" y="512729"/>
            <a:ext cx="3276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*四、常数变易法</a:t>
            </a:r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1020233" y="1419239"/>
            <a:ext cx="11849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回顾</a:t>
            </a:r>
            <a:r>
              <a:rPr lang="en-US" altLang="zh-CN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: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1020233" y="3580112"/>
            <a:ext cx="20826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常数变易法</a:t>
            </a:r>
            <a:r>
              <a:rPr lang="en-US" altLang="zh-CN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:</a:t>
            </a:r>
            <a:endParaRPr lang="zh-CN" altLang="en-US" sz="2800" b="1" i="0" u="none" strike="noStrike" kern="1200" cap="none" spc="0" normalizeH="0" baseline="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2132117" y="2897230"/>
            <a:ext cx="37753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对应齐次方程的通解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: </a:t>
            </a:r>
          </a:p>
        </p:txBody>
      </p:sp>
      <p:sp>
        <p:nvSpPr>
          <p:cNvPr id="80905" name="Text Box 9"/>
          <p:cNvSpPr txBox="1">
            <a:spLocks noChangeArrowheads="1"/>
          </p:cNvSpPr>
          <p:nvPr/>
        </p:nvSpPr>
        <p:spPr bwMode="auto">
          <a:xfrm>
            <a:off x="2132117" y="4233369"/>
            <a:ext cx="35958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设非齐次方程的解为 </a:t>
            </a:r>
          </a:p>
        </p:txBody>
      </p:sp>
      <p:sp>
        <p:nvSpPr>
          <p:cNvPr id="80909" name="Text Box 13"/>
          <p:cNvSpPr txBox="1">
            <a:spLocks noChangeArrowheads="1"/>
          </p:cNvSpPr>
          <p:nvPr/>
        </p:nvSpPr>
        <p:spPr bwMode="auto">
          <a:xfrm>
            <a:off x="2132117" y="5048402"/>
            <a:ext cx="95205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这</a:t>
            </a: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一方法也适用于高阶线性方程</a:t>
            </a:r>
            <a:r>
              <a:rPr kumimoji="1"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下面就二阶线性方程讨论 </a:t>
            </a:r>
          </a:p>
        </p:txBody>
      </p:sp>
      <p:sp>
        <p:nvSpPr>
          <p:cNvPr id="80913" name="Line 17"/>
          <p:cNvSpPr>
            <a:spLocks noChangeShapeType="1"/>
          </p:cNvSpPr>
          <p:nvPr/>
        </p:nvSpPr>
        <p:spPr bwMode="auto">
          <a:xfrm flipV="1">
            <a:off x="2117725" y="4899656"/>
            <a:ext cx="9134475" cy="0"/>
          </a:xfrm>
          <a:prstGeom prst="line">
            <a:avLst/>
          </a:prstGeom>
          <a:noFill/>
          <a:ln w="9525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132330" y="1432560"/>
            <a:ext cx="4180205" cy="406400"/>
            <a:chOff x="3518" y="2276"/>
            <a:chExt cx="6583" cy="6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901" name="Object 5"/>
                <p:cNvSpPr txBox="1"/>
                <p:nvPr/>
              </p:nvSpPr>
              <p:spPr bwMode="auto">
                <a:xfrm>
                  <a:off x="3518" y="2276"/>
                  <a:ext cx="6200" cy="6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一阶非齐次线性微分方程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80901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8" y="2276"/>
                  <a:ext cx="6200" cy="640"/>
                </a:xfrm>
                <a:prstGeom prst="rect">
                  <a:avLst/>
                </a:prstGeom>
                <a:blipFill>
                  <a:blip r:embed="rId3"/>
                  <a:stretch>
                    <a:fillRect r="-1084" b="-746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9823" y="2681"/>
              <a:ext cx="278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663700" y="2137410"/>
            <a:ext cx="3938270" cy="514350"/>
            <a:chOff x="2780" y="3286"/>
            <a:chExt cx="6202" cy="8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对象 1"/>
                <p:cNvSpPr txBox="1"/>
                <p:nvPr/>
              </p:nvSpPr>
              <p:spPr>
                <a:xfrm>
                  <a:off x="3518" y="3286"/>
                  <a:ext cx="5465" cy="81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8" y="3286"/>
                  <a:ext cx="5465" cy="8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2780" y="3530"/>
              <a:ext cx="355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607050" y="2861945"/>
            <a:ext cx="2166620" cy="431800"/>
            <a:chOff x="8990" y="4187"/>
            <a:chExt cx="3412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903" name="Object 7"/>
                <p:cNvSpPr txBox="1"/>
                <p:nvPr/>
              </p:nvSpPr>
              <p:spPr bwMode="auto">
                <a:xfrm>
                  <a:off x="8990" y="4187"/>
                  <a:ext cx="3412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𝐶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0903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90" y="4187"/>
                  <a:ext cx="3412" cy="680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12017" y="4395"/>
              <a:ext cx="123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062980" y="2085975"/>
            <a:ext cx="3421380" cy="645160"/>
            <a:chOff x="8127" y="3172"/>
            <a:chExt cx="5388" cy="10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904" name="Object 8"/>
                <p:cNvSpPr txBox="1"/>
                <p:nvPr/>
              </p:nvSpPr>
              <p:spPr bwMode="auto">
                <a:xfrm>
                  <a:off x="8127" y="3172"/>
                  <a:ext cx="5389" cy="101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)=</m:t>
                        </m:r>
                        <m:sSup>
                          <m:sSupPr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𝑝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nary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0904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27" y="3172"/>
                  <a:ext cx="5389" cy="101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12897" y="3499"/>
              <a:ext cx="464" cy="2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414645" y="3993515"/>
            <a:ext cx="2650490" cy="914400"/>
            <a:chOff x="8687" y="5909"/>
            <a:chExt cx="4174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906" name="Object 10"/>
                <p:cNvSpPr txBox="1"/>
                <p:nvPr/>
              </p:nvSpPr>
              <p:spPr bwMode="auto">
                <a:xfrm>
                  <a:off x="8687" y="6277"/>
                  <a:ext cx="4174" cy="10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𝑢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0906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87" y="6277"/>
                  <a:ext cx="4174" cy="107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9391" y="5909"/>
              <a:ext cx="448" cy="2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758430" y="4032885"/>
            <a:ext cx="3573780" cy="829945"/>
            <a:chOff x="12378" y="5971"/>
            <a:chExt cx="5628" cy="13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908" name="Object 12"/>
                <p:cNvSpPr txBox="1"/>
                <p:nvPr/>
              </p:nvSpPr>
              <p:spPr bwMode="auto">
                <a:xfrm>
                  <a:off x="12378" y="6337"/>
                  <a:ext cx="5628" cy="9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代入原方程确定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𝑢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0908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378" y="6337"/>
                  <a:ext cx="5628" cy="94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14504" y="5971"/>
              <a:ext cx="355" cy="3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016760" y="5726430"/>
            <a:ext cx="4719320" cy="577215"/>
            <a:chOff x="3336" y="9038"/>
            <a:chExt cx="7432" cy="9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910" name="Object 14"/>
                <p:cNvSpPr txBox="1"/>
                <p:nvPr/>
              </p:nvSpPr>
              <p:spPr bwMode="auto">
                <a:xfrm>
                  <a:off x="3518" y="9038"/>
                  <a:ext cx="7250" cy="90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0910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8" y="9038"/>
                  <a:ext cx="7250" cy="90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3336" y="9076"/>
              <a:ext cx="201" cy="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/>
      <p:bldP spid="80899" grpId="1" animBg="1"/>
      <p:bldP spid="80900" grpId="0" animBg="1"/>
      <p:bldP spid="80902" grpId="0" animBg="1"/>
      <p:bldP spid="80905" grpId="0" animBg="1"/>
      <p:bldP spid="8090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32130" y="720090"/>
            <a:ext cx="11149330" cy="5428615"/>
            <a:chOff x="838" y="1134"/>
            <a:chExt cx="17558" cy="8549"/>
          </a:xfrm>
        </p:grpSpPr>
        <p:sp>
          <p:nvSpPr>
            <p:cNvPr id="56" name="PA-102232"/>
            <p:cNvSpPr/>
            <p:nvPr>
              <p:custDataLst>
                <p:tags r:id="rId1"/>
              </p:custDataLst>
            </p:nvPr>
          </p:nvSpPr>
          <p:spPr>
            <a:xfrm>
              <a:off x="838" y="1134"/>
              <a:ext cx="17524" cy="85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sp>
          <p:nvSpPr>
            <p:cNvPr id="57" name="Rectangle 1"/>
            <p:cNvSpPr/>
            <p:nvPr/>
          </p:nvSpPr>
          <p:spPr>
            <a:xfrm>
              <a:off x="9602" y="9583"/>
              <a:ext cx="8794" cy="101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/>
            <p:cNvSpPr/>
            <p:nvPr/>
          </p:nvSpPr>
          <p:spPr>
            <a:xfrm>
              <a:off x="5321" y="9583"/>
              <a:ext cx="4286" cy="83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0492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/>
            <p:cNvSpPr/>
            <p:nvPr/>
          </p:nvSpPr>
          <p:spPr>
            <a:xfrm>
              <a:off x="838" y="9583"/>
              <a:ext cx="4483" cy="83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1523751" y="1183030"/>
            <a:ext cx="8153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已知齐次方程的通解求非齐次方程的通解</a:t>
            </a:r>
          </a:p>
        </p:txBody>
      </p:sp>
      <p:sp>
        <p:nvSpPr>
          <p:cNvPr id="74758" name="Text Box 6"/>
          <p:cNvSpPr txBox="1">
            <a:spLocks noChangeArrowheads="1"/>
          </p:cNvSpPr>
          <p:nvPr/>
        </p:nvSpPr>
        <p:spPr bwMode="auto">
          <a:xfrm>
            <a:off x="1956821" y="1885310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设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60" name="Text Box 8"/>
          <p:cNvSpPr txBox="1">
            <a:spLocks noChangeArrowheads="1"/>
          </p:cNvSpPr>
          <p:nvPr/>
        </p:nvSpPr>
        <p:spPr bwMode="auto">
          <a:xfrm>
            <a:off x="5862457" y="1866248"/>
            <a:ext cx="27393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是齐次方程</a:t>
            </a:r>
          </a:p>
        </p:txBody>
      </p:sp>
      <p:sp>
        <p:nvSpPr>
          <p:cNvPr id="74762" name="Text Box 10"/>
          <p:cNvSpPr txBox="1">
            <a:spLocks noChangeArrowheads="1"/>
          </p:cNvSpPr>
          <p:nvPr/>
        </p:nvSpPr>
        <p:spPr bwMode="auto">
          <a:xfrm>
            <a:off x="3097213" y="3209797"/>
            <a:ext cx="6731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令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764" name="Text Box 12"/>
              <p:cNvSpPr txBox="1">
                <a:spLocks noChangeArrowheads="1"/>
              </p:cNvSpPr>
              <p:nvPr/>
            </p:nvSpPr>
            <p:spPr bwMode="auto">
              <a:xfrm>
                <a:off x="6912168" y="3196115"/>
                <a:ext cx="4038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(其中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𝑣</m:t>
                        </m:r>
                      </m:e>
                      <m: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,</a:t>
                </a:r>
                <a:r>
                  <a:rPr kumimoji="1" lang="en-US" altLang="zh-CN" sz="2800" dirty="0">
                    <a:ea typeface="黑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𝑣</m:t>
                        </m:r>
                      </m:e>
                      <m: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是待定函数)</a:t>
                </a:r>
              </a:p>
            </p:txBody>
          </p:sp>
        </mc:Choice>
        <mc:Fallback xmlns="">
          <p:sp>
            <p:nvSpPr>
              <p:cNvPr id="74764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12168" y="3196115"/>
                <a:ext cx="4038600" cy="523220"/>
              </a:xfrm>
              <a:prstGeom prst="rect">
                <a:avLst/>
              </a:prstGeom>
              <a:blipFill>
                <a:blip r:embed="rId4"/>
                <a:stretch>
                  <a:fillRect l="-3172" t="-16279" r="-1511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765" name="Text Box 13"/>
          <p:cNvSpPr txBox="1">
            <a:spLocks noChangeArrowheads="1"/>
          </p:cNvSpPr>
          <p:nvPr/>
        </p:nvSpPr>
        <p:spPr bwMode="auto">
          <a:xfrm>
            <a:off x="1963171" y="3880424"/>
            <a:ext cx="32639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是非齐次方程</a:t>
            </a:r>
          </a:p>
        </p:txBody>
      </p:sp>
      <p:sp>
        <p:nvSpPr>
          <p:cNvPr id="74768" name="Text Box 16"/>
          <p:cNvSpPr txBox="1">
            <a:spLocks noChangeArrowheads="1"/>
          </p:cNvSpPr>
          <p:nvPr/>
        </p:nvSpPr>
        <p:spPr bwMode="auto">
          <a:xfrm>
            <a:off x="1963171" y="5179708"/>
            <a:ext cx="152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的解</a:t>
            </a:r>
            <a:r>
              <a:rPr kumimoji="1" lang="en-US" altLang="zh-CN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,</a:t>
            </a:r>
            <a:endParaRPr kumimoji="1" lang="zh-CN" altLang="en-US" sz="28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74769" name="Text Box 17"/>
          <p:cNvSpPr txBox="1">
            <a:spLocks noChangeArrowheads="1"/>
          </p:cNvSpPr>
          <p:nvPr/>
        </p:nvSpPr>
        <p:spPr bwMode="auto">
          <a:xfrm>
            <a:off x="1956822" y="3209802"/>
            <a:ext cx="12975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的通解</a:t>
            </a:r>
            <a:r>
              <a:rPr kumimoji="1"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endParaRPr kumimoji="1" lang="zh-CN" altLang="en-US" sz="28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770" name="Text Box 18"/>
              <p:cNvSpPr txBox="1">
                <a:spLocks noChangeArrowheads="1"/>
              </p:cNvSpPr>
              <p:nvPr/>
            </p:nvSpPr>
            <p:spPr bwMode="auto">
              <a:xfrm>
                <a:off x="2718821" y="5183699"/>
                <a:ext cx="4572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下面来求待定函数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𝑣</m:t>
                        </m:r>
                      </m:e>
                      <m: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 </a:t>
                </a:r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𝑣</m:t>
                        </m:r>
                      </m:e>
                      <m: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 .</a:t>
                </a:r>
              </a:p>
            </p:txBody>
          </p:sp>
        </mc:Choice>
        <mc:Fallback xmlns="">
          <p:sp>
            <p:nvSpPr>
              <p:cNvPr id="7477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8821" y="5183699"/>
                <a:ext cx="4572000" cy="523220"/>
              </a:xfrm>
              <a:prstGeom prst="rect">
                <a:avLst/>
              </a:prstGeom>
              <a:blipFill>
                <a:blip r:embed="rId5"/>
                <a:stretch>
                  <a:fillRect l="-2667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2337821" y="1798955"/>
            <a:ext cx="3859530" cy="731520"/>
            <a:chOff x="3370" y="2573"/>
            <a:chExt cx="6078" cy="11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759" name="Object 7"/>
                <p:cNvSpPr txBox="1"/>
                <p:nvPr/>
              </p:nvSpPr>
              <p:spPr bwMode="auto">
                <a:xfrm>
                  <a:off x="3370" y="2708"/>
                  <a:ext cx="6078" cy="10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𝑌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4759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70" y="2708"/>
                  <a:ext cx="6078" cy="101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7151" y="2573"/>
              <a:ext cx="386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718821" y="2520950"/>
            <a:ext cx="4659630" cy="460375"/>
            <a:chOff x="4077" y="3710"/>
            <a:chExt cx="7338" cy="7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761" name="Object 9"/>
                <p:cNvSpPr txBox="1"/>
                <p:nvPr/>
              </p:nvSpPr>
              <p:spPr bwMode="auto">
                <a:xfrm>
                  <a:off x="4320" y="3710"/>
                  <a:ext cx="7095" cy="7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4761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20" y="3710"/>
                  <a:ext cx="7095" cy="725"/>
                </a:xfrm>
                <a:prstGeom prst="rect">
                  <a:avLst/>
                </a:prstGeom>
                <a:blipFill>
                  <a:blip r:embed="rId7"/>
                  <a:stretch>
                    <a:fillRect b="-2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4077" y="3932"/>
              <a:ext cx="155" cy="2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487171" y="3173607"/>
            <a:ext cx="4177665" cy="699770"/>
            <a:chOff x="5226" y="4872"/>
            <a:chExt cx="6579" cy="1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763" name="Object 11"/>
                <p:cNvSpPr txBox="1"/>
                <p:nvPr/>
              </p:nvSpPr>
              <p:spPr bwMode="auto">
                <a:xfrm>
                  <a:off x="5226" y="4872"/>
                  <a:ext cx="6579" cy="11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4763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26" y="4872"/>
                  <a:ext cx="6579" cy="110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6997" y="4967"/>
              <a:ext cx="432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835661" y="4230944"/>
            <a:ext cx="5901690" cy="919480"/>
            <a:chOff x="4154" y="6790"/>
            <a:chExt cx="9294" cy="14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767" name="Object 15"/>
                <p:cNvSpPr txBox="1"/>
                <p:nvPr/>
              </p:nvSpPr>
              <p:spPr bwMode="auto">
                <a:xfrm>
                  <a:off x="4213" y="7225"/>
                  <a:ext cx="9235" cy="10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4767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3" y="7225"/>
                  <a:ext cx="9235" cy="1013"/>
                </a:xfrm>
                <a:prstGeom prst="rect">
                  <a:avLst/>
                </a:prstGeom>
                <a:blipFill>
                  <a:blip r:embed="rId9"/>
                  <a:stretch>
                    <a:fillRect l="-20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4154" y="6790"/>
              <a:ext cx="248" cy="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7" grpId="0" animBg="1"/>
      <p:bldP spid="74758" grpId="0" animBg="1"/>
      <p:bldP spid="74760" grpId="0" animBg="1"/>
      <p:bldP spid="74762" grpId="0" animBg="1"/>
      <p:bldP spid="74764" grpId="0" animBg="1"/>
      <p:bldP spid="74765" grpId="0" animBg="1"/>
      <p:bldP spid="74768" grpId="0" animBg="1"/>
      <p:bldP spid="74769" grpId="0" animBg="1"/>
      <p:bldP spid="7477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5780" name="Object 4"/>
              <p:cNvSpPr txBox="1"/>
              <p:nvPr/>
            </p:nvSpPr>
            <p:spPr bwMode="auto">
              <a:xfrm>
                <a:off x="1684655" y="939165"/>
                <a:ext cx="3923030" cy="5537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)+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578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4655" y="939165"/>
                <a:ext cx="3923030" cy="553720"/>
              </a:xfrm>
              <a:prstGeom prst="rect">
                <a:avLst/>
              </a:prstGeom>
              <a:blipFill>
                <a:blip r:embed="rId3"/>
                <a:stretch>
                  <a:fillRect l="-1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781" name="Object 5"/>
              <p:cNvSpPr txBox="1"/>
              <p:nvPr/>
            </p:nvSpPr>
            <p:spPr bwMode="auto">
              <a:xfrm>
                <a:off x="5304155" y="924878"/>
                <a:ext cx="4364355" cy="4470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p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𝑃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sSup>
                        <m:s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𝑄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578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4155" y="924878"/>
                <a:ext cx="4364355" cy="447040"/>
              </a:xfrm>
              <a:prstGeom prst="rect">
                <a:avLst/>
              </a:prstGeom>
              <a:blipFill>
                <a:blip r:embed="rId4"/>
                <a:stretch>
                  <a:fillRect l="-140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782" name="Line 6"/>
          <p:cNvSpPr>
            <a:spLocks noChangeShapeType="1"/>
          </p:cNvSpPr>
          <p:nvPr/>
        </p:nvSpPr>
        <p:spPr bwMode="auto">
          <a:xfrm>
            <a:off x="1587500" y="1556385"/>
            <a:ext cx="8928100" cy="0"/>
          </a:xfrm>
          <a:prstGeom prst="line">
            <a:avLst/>
          </a:prstGeom>
          <a:noFill/>
          <a:ln w="9525">
            <a:solidFill>
              <a:srgbClr val="1D9D7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785" name="Text Box 9"/>
              <p:cNvSpPr txBox="1">
                <a:spLocks noChangeArrowheads="1"/>
              </p:cNvSpPr>
              <p:nvPr/>
            </p:nvSpPr>
            <p:spPr bwMode="auto">
              <a:xfrm>
                <a:off x="1684655" y="2488565"/>
                <a:ext cx="7315200" cy="429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由于有两个待定函数</a:t>
                </a:r>
                <a14:m>
                  <m:oMath xmlns:m="http://schemas.openxmlformats.org/officeDocument/2006/math">
                    <m:r>
                      <a:rPr kumimoji="1" lang="en-US" altLang="zh-CN" sz="2200" dirty="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所以需要两个等式</a:t>
                </a:r>
                <a14:m>
                  <m:oMath xmlns:m="http://schemas.openxmlformats.org/officeDocument/2006/math">
                    <m:r>
                      <a:rPr kumimoji="1" lang="en-US" altLang="zh-CN" sz="2200" dirty="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2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7578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4655" y="2488565"/>
                <a:ext cx="7315200" cy="429895"/>
              </a:xfrm>
              <a:prstGeom prst="rect">
                <a:avLst/>
              </a:prstGeom>
              <a:blipFill>
                <a:blip r:embed="rId5"/>
                <a:stretch>
                  <a:fillRect l="-1083" t="-14085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786" name="Text Box 10"/>
          <p:cNvSpPr txBox="1">
            <a:spLocks noChangeArrowheads="1"/>
          </p:cNvSpPr>
          <p:nvPr/>
        </p:nvSpPr>
        <p:spPr bwMode="auto">
          <a:xfrm>
            <a:off x="6690995" y="2488565"/>
            <a:ext cx="19050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为此再令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787" name="Text Box 11"/>
              <p:cNvSpPr txBox="1">
                <a:spLocks noChangeArrowheads="1"/>
              </p:cNvSpPr>
              <p:nvPr/>
            </p:nvSpPr>
            <p:spPr bwMode="auto">
              <a:xfrm>
                <a:off x="1684655" y="3187065"/>
                <a:ext cx="21336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𝑣</m:t>
                        </m:r>
                      </m:e>
                      <m: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𝑣</m:t>
                        </m:r>
                      </m:e>
                      <m: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2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满足</a:t>
                </a:r>
                <a:endParaRPr kumimoji="1" lang="zh-CN" altLang="en-US" sz="22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75787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4655" y="3187065"/>
                <a:ext cx="2133600" cy="430887"/>
              </a:xfrm>
              <a:prstGeom prst="rect">
                <a:avLst/>
              </a:prstGeom>
              <a:blipFill>
                <a:blip r:embed="rId6"/>
                <a:stretch>
                  <a:fillRect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789" name="Text Box 13"/>
          <p:cNvSpPr txBox="1">
            <a:spLocks noChangeArrowheads="1"/>
          </p:cNvSpPr>
          <p:nvPr/>
        </p:nvSpPr>
        <p:spPr bwMode="auto">
          <a:xfrm>
            <a:off x="1684655" y="3970020"/>
            <a:ext cx="12192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于是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792" name="Text Box 16"/>
              <p:cNvSpPr txBox="1">
                <a:spLocks noChangeArrowheads="1"/>
              </p:cNvSpPr>
              <p:nvPr/>
            </p:nvSpPr>
            <p:spPr bwMode="auto">
              <a:xfrm>
                <a:off x="1684655" y="4695825"/>
                <a:ext cx="3657600" cy="429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代入非齐次方程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200" dirty="0" smtClean="0">
                        <a:solidFill>
                          <a:prstClr val="black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ea"/>
                      </a:rPr>
                      <m:t>,</m:t>
                    </m:r>
                  </m:oMath>
                </a14:m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得</a:t>
                </a:r>
              </a:p>
            </p:txBody>
          </p:sp>
        </mc:Choice>
        <mc:Fallback xmlns="">
          <p:sp>
            <p:nvSpPr>
              <p:cNvPr id="75792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4655" y="4695825"/>
                <a:ext cx="3657600" cy="429895"/>
              </a:xfrm>
              <a:prstGeom prst="rect">
                <a:avLst/>
              </a:prstGeom>
              <a:blipFill>
                <a:blip r:embed="rId7"/>
                <a:stretch>
                  <a:fillRect l="-2167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1390650" y="1701165"/>
            <a:ext cx="5300345" cy="764540"/>
            <a:chOff x="2270" y="2574"/>
            <a:chExt cx="8347" cy="12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783" name="Object 7"/>
                <p:cNvSpPr txBox="1"/>
                <p:nvPr/>
              </p:nvSpPr>
              <p:spPr bwMode="auto">
                <a:xfrm>
                  <a:off x="2733" y="2574"/>
                  <a:ext cx="7884" cy="12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5783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33" y="2574"/>
                  <a:ext cx="7884" cy="1205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2270" y="2758"/>
              <a:ext cx="278" cy="40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607753" y="1692094"/>
            <a:ext cx="4149725" cy="623457"/>
            <a:chOff x="8843" y="2559"/>
            <a:chExt cx="8160" cy="11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784" name="Object 8"/>
                <p:cNvSpPr txBox="1"/>
                <p:nvPr/>
              </p:nvSpPr>
              <p:spPr bwMode="auto">
                <a:xfrm>
                  <a:off x="8843" y="2559"/>
                  <a:ext cx="8160" cy="119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5784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843" y="2559"/>
                  <a:ext cx="8160" cy="11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15446" y="3005"/>
              <a:ext cx="587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021965" y="3200400"/>
            <a:ext cx="3106420" cy="488950"/>
            <a:chOff x="4839" y="4875"/>
            <a:chExt cx="4892" cy="7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788" name="Object 12"/>
                <p:cNvSpPr txBox="1"/>
                <p:nvPr/>
              </p:nvSpPr>
              <p:spPr bwMode="auto">
                <a:xfrm>
                  <a:off x="4839" y="4875"/>
                  <a:ext cx="4628" cy="77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=0 .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5788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39" y="4875"/>
                  <a:ext cx="4628" cy="77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9329" y="5029"/>
              <a:ext cx="402" cy="2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53945" y="3954780"/>
            <a:ext cx="3519170" cy="735965"/>
            <a:chOff x="3787" y="6078"/>
            <a:chExt cx="5542" cy="11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790" name="Object 14"/>
                <p:cNvSpPr txBox="1"/>
                <p:nvPr/>
              </p:nvSpPr>
              <p:spPr bwMode="auto">
                <a:xfrm>
                  <a:off x="3787" y="6078"/>
                  <a:ext cx="5542" cy="77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5790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87" y="6078"/>
                  <a:ext cx="5542" cy="770"/>
                </a:xfrm>
                <a:prstGeom prst="rect">
                  <a:avLst/>
                </a:prstGeom>
                <a:blipFill>
                  <a:blip r:embed="rId11"/>
                  <a:stretch>
                    <a:fillRect l="-17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8032" y="6882"/>
              <a:ext cx="401" cy="3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591527" y="3954780"/>
            <a:ext cx="5181600" cy="488950"/>
            <a:chOff x="7232" y="6078"/>
            <a:chExt cx="9034" cy="7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791" name="Object 15"/>
                <p:cNvSpPr txBox="1"/>
                <p:nvPr/>
              </p:nvSpPr>
              <p:spPr bwMode="auto">
                <a:xfrm>
                  <a:off x="7232" y="6078"/>
                  <a:ext cx="9034" cy="77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bSup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5791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32" y="6078"/>
                  <a:ext cx="9034" cy="770"/>
                </a:xfrm>
                <a:prstGeom prst="rect">
                  <a:avLst/>
                </a:prstGeom>
                <a:blipFill>
                  <a:blip r:embed="rId12"/>
                  <a:stretch>
                    <a:fillRect l="-11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14998" y="6233"/>
              <a:ext cx="340" cy="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214120" y="5356860"/>
            <a:ext cx="9898380" cy="779145"/>
            <a:chOff x="1992" y="8331"/>
            <a:chExt cx="15588" cy="1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793" name="Object 17"/>
                <p:cNvSpPr txBox="1"/>
                <p:nvPr/>
              </p:nvSpPr>
              <p:spPr bwMode="auto">
                <a:xfrm>
                  <a:off x="2733" y="8331"/>
                  <a:ext cx="14847" cy="1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⋅</m:t>
                        </m:r>
                        <m:d>
                          <m:d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⋅</m:t>
                        </m:r>
                        <m:d>
                          <m:d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2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5793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33" y="8331"/>
                  <a:ext cx="14847" cy="122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1992" y="8350"/>
              <a:ext cx="232" cy="5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5" grpId="0" animBg="1"/>
      <p:bldP spid="75786" grpId="0" animBg="1"/>
      <p:bldP spid="75787" grpId="0" animBg="1"/>
      <p:bldP spid="75789" grpId="0" animBg="1"/>
      <p:bldP spid="7579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Line 4"/>
          <p:cNvSpPr>
            <a:spLocks noChangeShapeType="1"/>
          </p:cNvSpPr>
          <p:nvPr/>
        </p:nvSpPr>
        <p:spPr bwMode="auto">
          <a:xfrm>
            <a:off x="1639888" y="1899920"/>
            <a:ext cx="8915400" cy="0"/>
          </a:xfrm>
          <a:prstGeom prst="line">
            <a:avLst/>
          </a:prstGeom>
          <a:noFill/>
          <a:ln w="9525">
            <a:solidFill>
              <a:srgbClr val="1D9D7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5" name="Object 5"/>
              <p:cNvSpPr txBox="1"/>
              <p:nvPr/>
            </p:nvSpPr>
            <p:spPr bwMode="auto">
              <a:xfrm>
                <a:off x="4642485" y="756920"/>
                <a:ext cx="3168015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</m:oMath>
                  </m:oMathPara>
                </a14:m>
                <a:endParaRPr kumimoji="1" lang="en-US" altLang="zh-CN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680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2485" y="756920"/>
                <a:ext cx="3168015" cy="4889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806" name="Object 6"/>
              <p:cNvSpPr txBox="1"/>
              <p:nvPr/>
            </p:nvSpPr>
            <p:spPr bwMode="auto">
              <a:xfrm>
                <a:off x="1616075" y="1382395"/>
                <a:ext cx="9511030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bSup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 +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bSup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𝑃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⋅(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)+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𝑄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⋅(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kumimoji="1" lang="en-US" altLang="zh-CN" sz="2200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en-US" altLang="zh-CN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680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6075" y="1382395"/>
                <a:ext cx="9511030" cy="488950"/>
              </a:xfrm>
              <a:prstGeom prst="rect">
                <a:avLst/>
              </a:prstGeom>
              <a:blipFill>
                <a:blip r:embed="rId4"/>
                <a:stretch>
                  <a:fillRect b="-5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07" name="Text Box 7"/>
          <p:cNvSpPr txBox="1">
            <a:spLocks noChangeArrowheads="1"/>
          </p:cNvSpPr>
          <p:nvPr/>
        </p:nvSpPr>
        <p:spPr bwMode="auto">
          <a:xfrm>
            <a:off x="1616075" y="2054225"/>
            <a:ext cx="25146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上式整理得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9" name="Text Box 9"/>
              <p:cNvSpPr txBox="1">
                <a:spLocks noChangeArrowheads="1"/>
              </p:cNvSpPr>
              <p:nvPr/>
            </p:nvSpPr>
            <p:spPr bwMode="auto">
              <a:xfrm>
                <a:off x="1616075" y="3310890"/>
                <a:ext cx="6705600" cy="429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由于 </a:t>
                </a:r>
                <a:r>
                  <a:rPr lang="en-US" altLang="zh-CN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dirty="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en-US" altLang="zh-CN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是齐次方程</a:t>
                </a:r>
                <a:r>
                  <a:rPr kumimoji="1" lang="zh-CN" altLang="en-US" sz="22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的解</a:t>
                </a:r>
                <a:r>
                  <a:rPr kumimoji="1" lang="en-US" altLang="zh-CN" sz="22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,</a:t>
                </a:r>
                <a:r>
                  <a:rPr kumimoji="1" lang="zh-CN" altLang="en-US" sz="22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故</a:t>
                </a: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上式即为</a:t>
                </a:r>
              </a:p>
            </p:txBody>
          </p:sp>
        </mc:Choice>
        <mc:Fallback xmlns="">
          <p:sp>
            <p:nvSpPr>
              <p:cNvPr id="7680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6075" y="3310890"/>
                <a:ext cx="6705600" cy="429895"/>
              </a:xfrm>
              <a:prstGeom prst="rect">
                <a:avLst/>
              </a:prstGeom>
              <a:blipFill>
                <a:blip r:embed="rId5"/>
                <a:stretch>
                  <a:fillRect l="-1182" t="-14085" b="-295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811" name="Text Box 11"/>
              <p:cNvSpPr txBox="1">
                <a:spLocks noChangeArrowheads="1"/>
              </p:cNvSpPr>
              <p:nvPr/>
            </p:nvSpPr>
            <p:spPr bwMode="auto">
              <a:xfrm>
                <a:off x="1616075" y="4618355"/>
                <a:ext cx="6299200" cy="429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于是便得到一个关于</a:t>
                </a: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dirty="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2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en-US" altLang="zh-CN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的方程组</a:t>
                </a:r>
              </a:p>
            </p:txBody>
          </p:sp>
        </mc:Choice>
        <mc:Fallback xmlns="">
          <p:sp>
            <p:nvSpPr>
              <p:cNvPr id="76811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6075" y="4618355"/>
                <a:ext cx="6299200" cy="429895"/>
              </a:xfrm>
              <a:prstGeom prst="rect">
                <a:avLst/>
              </a:prstGeom>
              <a:blipFill>
                <a:blip r:embed="rId6"/>
                <a:stretch>
                  <a:fillRect l="-1258" t="-14286" b="-3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1616075" y="2673350"/>
            <a:ext cx="9229090" cy="608965"/>
            <a:chOff x="2583" y="4210"/>
            <a:chExt cx="14534" cy="9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808" name="Object 8"/>
                <p:cNvSpPr txBox="1"/>
                <p:nvPr/>
              </p:nvSpPr>
              <p:spPr bwMode="auto">
                <a:xfrm>
                  <a:off x="2583" y="4210"/>
                  <a:ext cx="14534" cy="95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+</m:t>
                        </m:r>
                        <m:sSubSup>
                          <m:sSubSup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 +(</m:t>
                        </m:r>
                        <m:sSubSup>
                          <m:sSubSup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″</m:t>
                            </m:r>
                          </m:sup>
                        </m:sSubSup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+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𝑃</m:t>
                        </m:r>
                        <m:sSubSup>
                          <m:sSubSup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+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𝑄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)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+(</m:t>
                        </m:r>
                        <m:sSubSup>
                          <m:sSubSup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″</m:t>
                            </m:r>
                          </m:sup>
                        </m:sSubSup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+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𝑃</m:t>
                        </m:r>
                        <m:sSubSup>
                          <m:sSubSup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+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𝑄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)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=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𝑓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lang="zh-CN" altLang="en-US" sz="2200" i="1" dirty="0">
                    <a:solidFill>
                      <a:srgbClr val="000000"/>
                    </a:solidFill>
                    <a:latin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6808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83" y="4210"/>
                  <a:ext cx="14534" cy="95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2764" y="4473"/>
              <a:ext cx="263" cy="3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315460" y="3890645"/>
            <a:ext cx="2945130" cy="478790"/>
            <a:chOff x="6796" y="6127"/>
            <a:chExt cx="4638" cy="7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810" name="Object 10"/>
                <p:cNvSpPr txBox="1"/>
                <p:nvPr/>
              </p:nvSpPr>
              <p:spPr bwMode="auto">
                <a:xfrm>
                  <a:off x="7311" y="6127"/>
                  <a:ext cx="4123" cy="7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6810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11" y="6127"/>
                  <a:ext cx="4123" cy="754"/>
                </a:xfrm>
                <a:prstGeom prst="rect">
                  <a:avLst/>
                </a:prstGeom>
                <a:blipFill>
                  <a:blip r:embed="rId8"/>
                  <a:stretch>
                    <a:fillRect b="-63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6796" y="6357"/>
              <a:ext cx="247" cy="2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812" name="Object 12"/>
              <p:cNvSpPr txBox="1"/>
              <p:nvPr/>
            </p:nvSpPr>
            <p:spPr bwMode="auto">
              <a:xfrm>
                <a:off x="4642485" y="4900930"/>
                <a:ext cx="2416175" cy="12331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50000"/>
                  </a:lnSpc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=0 </m:t>
                                </m:r>
                                <m:r>
                                  <a:rPr kumimoji="1" lang="en-US" altLang="zh-CN" sz="2200" dirty="0" smtClean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𝑓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 .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zh-CN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68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2485" y="4900930"/>
                <a:ext cx="2416175" cy="12331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7" grpId="0" animBg="1"/>
      <p:bldP spid="76809" grpId="0" animBg="1"/>
      <p:bldP spid="76811" grpId="0" animBg="1"/>
      <p:bldP spid="768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Line 4"/>
          <p:cNvSpPr>
            <a:spLocks noChangeShapeType="1"/>
          </p:cNvSpPr>
          <p:nvPr/>
        </p:nvSpPr>
        <p:spPr bwMode="auto">
          <a:xfrm>
            <a:off x="1937096" y="1555750"/>
            <a:ext cx="8915400" cy="0"/>
          </a:xfrm>
          <a:prstGeom prst="line">
            <a:avLst/>
          </a:prstGeom>
          <a:noFill/>
          <a:ln w="9525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829" name="Object 5"/>
              <p:cNvSpPr txBox="1"/>
              <p:nvPr/>
            </p:nvSpPr>
            <p:spPr bwMode="auto">
              <a:xfrm>
                <a:off x="5150196" y="610374"/>
                <a:ext cx="2300288" cy="10937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zh-CN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782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50196" y="610374"/>
                <a:ext cx="2300288" cy="10937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30" name="Text Box 6"/>
          <p:cNvSpPr txBox="1">
            <a:spLocks noChangeArrowheads="1"/>
          </p:cNvSpPr>
          <p:nvPr/>
        </p:nvSpPr>
        <p:spPr bwMode="auto">
          <a:xfrm>
            <a:off x="1972945" y="1743710"/>
            <a:ext cx="3886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因为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2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线性无关</a:t>
            </a:r>
            <a:r>
              <a:rPr kumimoji="1" lang="en-US" altLang="zh-CN" sz="22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,</a:t>
            </a:r>
            <a:endParaRPr kumimoji="1" lang="zh-CN" altLang="en-US" sz="2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77831" name="Text Box 7"/>
          <p:cNvSpPr txBox="1">
            <a:spLocks noChangeArrowheads="1"/>
          </p:cNvSpPr>
          <p:nvPr/>
        </p:nvSpPr>
        <p:spPr bwMode="auto">
          <a:xfrm>
            <a:off x="4563745" y="1733233"/>
            <a:ext cx="51816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所以上述方程组的系数行列式</a:t>
            </a:r>
          </a:p>
        </p:txBody>
      </p:sp>
      <p:sp>
        <p:nvSpPr>
          <p:cNvPr id="77833" name="Text Box 9"/>
          <p:cNvSpPr txBox="1">
            <a:spLocks noChangeArrowheads="1"/>
          </p:cNvSpPr>
          <p:nvPr/>
        </p:nvSpPr>
        <p:spPr bwMode="auto">
          <a:xfrm>
            <a:off x="1952336" y="3479086"/>
            <a:ext cx="25146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解得其解为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835" name="Text Box 11"/>
          <p:cNvSpPr txBox="1">
            <a:spLocks noChangeArrowheads="1"/>
          </p:cNvSpPr>
          <p:nvPr/>
        </p:nvSpPr>
        <p:spPr bwMode="auto">
          <a:xfrm>
            <a:off x="1952336" y="4485918"/>
            <a:ext cx="25146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两边积分得</a:t>
            </a:r>
          </a:p>
        </p:txBody>
      </p:sp>
      <p:sp>
        <p:nvSpPr>
          <p:cNvPr id="77837" name="Text Box 13"/>
          <p:cNvSpPr txBox="1">
            <a:spLocks noChangeArrowheads="1"/>
          </p:cNvSpPr>
          <p:nvPr/>
        </p:nvSpPr>
        <p:spPr bwMode="auto">
          <a:xfrm>
            <a:off x="1952336" y="5534344"/>
            <a:ext cx="25908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于是通解为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3775075" y="2413000"/>
            <a:ext cx="3697605" cy="1093470"/>
            <a:chOff x="5545" y="3840"/>
            <a:chExt cx="5823" cy="17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2" name="Object 8"/>
                <p:cNvSpPr txBox="1"/>
                <p:nvPr/>
              </p:nvSpPr>
              <p:spPr bwMode="auto">
                <a:xfrm>
                  <a:off x="6456" y="3840"/>
                  <a:ext cx="4913" cy="17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𝑊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US" altLang="zh-CN" sz="22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2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sz="22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US" altLang="zh-CN" sz="22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2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sz="22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kumimoji="1" lang="en-US" altLang="zh-CN" sz="22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zh-CN" sz="22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sz="22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kumimoji="1" lang="en-US" altLang="zh-CN" sz="22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  <m:e>
                                  <m:sSubSup>
                                    <m:sSubSupPr>
                                      <m:ctrlPr>
                                        <a:rPr kumimoji="1" lang="en-US" altLang="zh-CN" sz="22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zh-CN" sz="22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sz="22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kumimoji="1" lang="en-US" altLang="zh-CN" sz="22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≠0 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7832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56" y="3840"/>
                  <a:ext cx="4913" cy="172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5545" y="4349"/>
              <a:ext cx="664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775075" y="3296523"/>
            <a:ext cx="3098800" cy="892810"/>
            <a:chOff x="5545" y="5057"/>
            <a:chExt cx="4880" cy="14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4" name="Object 10"/>
                <p:cNvSpPr txBox="1"/>
                <p:nvPr/>
              </p:nvSpPr>
              <p:spPr bwMode="auto">
                <a:xfrm>
                  <a:off x="5545" y="5057"/>
                  <a:ext cx="4845" cy="14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7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zh-CN" sz="23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</m:t>
                        </m:r>
                        <m:f>
                          <m:f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3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3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3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𝑓</m:t>
                            </m:r>
                          </m:num>
                          <m:den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𝑊</m:t>
                            </m:r>
                          </m:den>
                        </m:f>
                        <m:r>
                          <a:rPr kumimoji="1" lang="en-US" altLang="zh-CN" sz="23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  <m:sSubSup>
                          <m:sSubSup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3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3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3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𝑓</m:t>
                            </m:r>
                          </m:num>
                          <m:den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𝑊</m:t>
                            </m:r>
                          </m:den>
                        </m:f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3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7834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45" y="5057"/>
                  <a:ext cx="4845" cy="140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10117" y="5569"/>
              <a:ext cx="309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775075" y="4248110"/>
            <a:ext cx="6803390" cy="980440"/>
            <a:chOff x="5545" y="6405"/>
            <a:chExt cx="10714" cy="15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6" name="Object 12"/>
                <p:cNvSpPr txBox="1"/>
                <p:nvPr/>
              </p:nvSpPr>
              <p:spPr bwMode="auto">
                <a:xfrm>
                  <a:off x="5545" y="6405"/>
                  <a:ext cx="10714" cy="15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200" dirty="0"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200" dirty="0"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𝑊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𝑊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7836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45" y="6405"/>
                  <a:ext cx="10714" cy="154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14782" y="6929"/>
              <a:ext cx="463" cy="2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843655" y="5337811"/>
            <a:ext cx="5808345" cy="927100"/>
            <a:chOff x="5653" y="7909"/>
            <a:chExt cx="9147" cy="14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8" name="Object 14"/>
                <p:cNvSpPr txBox="1"/>
                <p:nvPr/>
              </p:nvSpPr>
              <p:spPr bwMode="auto">
                <a:xfrm>
                  <a:off x="5653" y="7909"/>
                  <a:ext cx="9147" cy="14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𝑊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𝑊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7838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53" y="7909"/>
                  <a:ext cx="9147" cy="140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8680" y="9107"/>
              <a:ext cx="294" cy="2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22" name="AutoShape 7">
            <a:extLst>
              <a:ext uri="{FF2B5EF4-FFF2-40B4-BE49-F238E27FC236}">
                <a16:creationId xmlns:a16="http://schemas.microsoft.com/office/drawing/2014/main" id="{1FA87D2B-6AD7-0C85-6DB1-784A73C19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3315" y="3335638"/>
            <a:ext cx="2727325" cy="541969"/>
          </a:xfrm>
          <a:prstGeom prst="wedgeRectCallout">
            <a:avLst>
              <a:gd name="adj1" fmla="val -72821"/>
              <a:gd name="adj2" fmla="val -134109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朗斯基行列式</a:t>
            </a:r>
            <a:endParaRPr kumimoji="1" lang="zh-CN" altLang="en-US" sz="2200" b="1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0" grpId="0" animBg="1"/>
      <p:bldP spid="77831" grpId="0" animBg="1"/>
      <p:bldP spid="77833" grpId="0" animBg="1"/>
      <p:bldP spid="77835" grpId="0" animBg="1"/>
      <p:bldP spid="77837" grpId="0" animBg="1"/>
      <p:bldP spid="22" grpId="0" bldLvl="0" animBg="1"/>
      <p:bldP spid="2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1" name="Object 3"/>
              <p:cNvSpPr txBox="1"/>
              <p:nvPr/>
            </p:nvSpPr>
            <p:spPr bwMode="auto">
              <a:xfrm>
                <a:off x="4130040" y="722630"/>
                <a:ext cx="3931285" cy="7194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−1)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</m:oMath>
                  </m:oMathPara>
                </a14:m>
                <a:endParaRPr kumimoji="1" lang="en-US" altLang="zh-CN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397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0040" y="722630"/>
                <a:ext cx="3931285" cy="7194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7917657" y="695327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的通解为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3" name="Object 5"/>
              <p:cNvSpPr txBox="1"/>
              <p:nvPr/>
            </p:nvSpPr>
            <p:spPr bwMode="auto">
              <a:xfrm>
                <a:off x="2000803" y="1377315"/>
                <a:ext cx="2889885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𝑌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p>
                      </m:sSup>
                      <m:r>
                        <a:rPr kumimoji="1" lang="en-US" altLang="zh-CN" sz="2800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en-US" altLang="zh-CN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397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0803" y="1377315"/>
                <a:ext cx="2889885" cy="533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974" name="Text Box 6"/>
          <p:cNvSpPr txBox="1">
            <a:spLocks noChangeArrowheads="1"/>
          </p:cNvSpPr>
          <p:nvPr/>
        </p:nvSpPr>
        <p:spPr bwMode="auto">
          <a:xfrm>
            <a:off x="9594057" y="1354618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的通解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p:sp>
        <p:nvSpPr>
          <p:cNvPr id="83975" name="Text Box 7"/>
          <p:cNvSpPr txBox="1">
            <a:spLocks noChangeArrowheads="1"/>
          </p:cNvSpPr>
          <p:nvPr/>
        </p:nvSpPr>
        <p:spPr bwMode="auto">
          <a:xfrm>
            <a:off x="1967707" y="2058921"/>
            <a:ext cx="5863701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将所给方程化为标准形式: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83977" name="Text Box 9"/>
          <p:cNvSpPr txBox="1">
            <a:spLocks noChangeArrowheads="1"/>
          </p:cNvSpPr>
          <p:nvPr/>
        </p:nvSpPr>
        <p:spPr bwMode="auto">
          <a:xfrm>
            <a:off x="1967707" y="757240"/>
            <a:ext cx="2317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已知齐次方程</a:t>
            </a:r>
          </a:p>
        </p:txBody>
      </p:sp>
      <p:sp>
        <p:nvSpPr>
          <p:cNvPr id="83978" name="Text Box 10"/>
          <p:cNvSpPr txBox="1">
            <a:spLocks noChangeArrowheads="1"/>
          </p:cNvSpPr>
          <p:nvPr/>
        </p:nvSpPr>
        <p:spPr bwMode="auto">
          <a:xfrm>
            <a:off x="4480748" y="1357150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9" name="Object 11"/>
              <p:cNvSpPr txBox="1"/>
              <p:nvPr/>
            </p:nvSpPr>
            <p:spPr bwMode="auto">
              <a:xfrm>
                <a:off x="4882514" y="1341120"/>
                <a:ext cx="5150485" cy="5194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−1)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=(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CN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397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2514" y="1341120"/>
                <a:ext cx="5150485" cy="5194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981" name="Text Box 13"/>
          <p:cNvSpPr txBox="1">
            <a:spLocks noChangeArrowheads="1"/>
          </p:cNvSpPr>
          <p:nvPr/>
        </p:nvSpPr>
        <p:spPr bwMode="auto">
          <a:xfrm>
            <a:off x="5063968" y="2643036"/>
            <a:ext cx="18592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建立方程组: </a:t>
            </a:r>
          </a:p>
        </p:txBody>
      </p:sp>
      <p:sp>
        <p:nvSpPr>
          <p:cNvPr id="83989" name="AutoShape 21"/>
          <p:cNvSpPr/>
          <p:nvPr/>
        </p:nvSpPr>
        <p:spPr bwMode="auto">
          <a:xfrm>
            <a:off x="3209132" y="3168649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83991" name="Text Box 23"/>
          <p:cNvSpPr txBox="1">
            <a:spLocks noChangeArrowheads="1"/>
          </p:cNvSpPr>
          <p:nvPr/>
        </p:nvSpPr>
        <p:spPr bwMode="auto">
          <a:xfrm>
            <a:off x="5301457" y="4125912"/>
            <a:ext cx="10210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0" fontAlgn="base" latinLnBrk="0" hangingPunct="0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积分得</a:t>
            </a:r>
          </a:p>
        </p:txBody>
      </p:sp>
      <p:sp>
        <p:nvSpPr>
          <p:cNvPr id="83993" name="Text Box 25"/>
          <p:cNvSpPr txBox="1">
            <a:spLocks noChangeArrowheads="1"/>
          </p:cNvSpPr>
          <p:nvPr/>
        </p:nvSpPr>
        <p:spPr bwMode="auto">
          <a:xfrm>
            <a:off x="1967707" y="5214937"/>
            <a:ext cx="18592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故所求通解为</a:t>
            </a: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4827" name="Text Box 11"/>
          <p:cNvSpPr txBox="1">
            <a:spLocks noChangeArrowheads="1"/>
          </p:cNvSpPr>
          <p:nvPr/>
        </p:nvSpPr>
        <p:spPr bwMode="auto">
          <a:xfrm>
            <a:off x="1165778" y="2038986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</a:p>
        </p:txBody>
      </p:sp>
      <p:sp>
        <p:nvSpPr>
          <p:cNvPr id="6" name="Text Box 44"/>
          <p:cNvSpPr txBox="1">
            <a:spLocks noChangeArrowheads="1"/>
          </p:cNvSpPr>
          <p:nvPr/>
        </p:nvSpPr>
        <p:spPr bwMode="auto">
          <a:xfrm>
            <a:off x="1165778" y="770409"/>
            <a:ext cx="7649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kumimoji="1" lang="en-US" altLang="zh-CN" sz="28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263515" y="1868170"/>
            <a:ext cx="4203700" cy="829310"/>
            <a:chOff x="8489" y="3042"/>
            <a:chExt cx="6620" cy="13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976" name="Object 8"/>
                <p:cNvSpPr txBox="1"/>
                <p:nvPr/>
              </p:nvSpPr>
              <p:spPr bwMode="auto">
                <a:xfrm>
                  <a:off x="8489" y="3042"/>
                  <a:ext cx="6620" cy="13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−1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−1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−1.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3976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89" y="3042"/>
                  <a:ext cx="6620" cy="1307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圆角矩形 1"/>
            <p:cNvSpPr/>
            <p:nvPr/>
          </p:nvSpPr>
          <p:spPr>
            <a:xfrm>
              <a:off x="14720" y="3654"/>
              <a:ext cx="262" cy="18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657985" y="2633980"/>
            <a:ext cx="3865880" cy="528320"/>
            <a:chOff x="2811" y="4068"/>
            <a:chExt cx="6088" cy="8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980" name="Object 12"/>
                <p:cNvSpPr txBox="1"/>
                <p:nvPr/>
              </p:nvSpPr>
              <p:spPr bwMode="auto">
                <a:xfrm>
                  <a:off x="3299" y="4068"/>
                  <a:ext cx="5600" cy="8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令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3980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99" y="4068"/>
                  <a:ext cx="5600" cy="832"/>
                </a:xfrm>
                <a:prstGeom prst="rect">
                  <a:avLst/>
                </a:prstGeom>
                <a:blipFill>
                  <a:blip r:embed="rId6"/>
                  <a:stretch>
                    <a:fillRect l="-137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2811" y="4195"/>
              <a:ext cx="293" cy="3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406140" y="3099435"/>
            <a:ext cx="2447290" cy="552450"/>
            <a:chOff x="5564" y="4801"/>
            <a:chExt cx="3854" cy="8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987" name="Object 19"/>
                <p:cNvSpPr txBox="1"/>
                <p:nvPr/>
              </p:nvSpPr>
              <p:spPr bwMode="auto">
                <a:xfrm>
                  <a:off x="5564" y="4801"/>
                  <a:ext cx="3855" cy="8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3987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64" y="4801"/>
                  <a:ext cx="3855" cy="87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8989" y="5013"/>
              <a:ext cx="325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406140" y="3613150"/>
            <a:ext cx="2690495" cy="565150"/>
            <a:chOff x="5564" y="5610"/>
            <a:chExt cx="4237" cy="8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988" name="Object 20"/>
                <p:cNvSpPr txBox="1"/>
                <p:nvPr/>
              </p:nvSpPr>
              <p:spPr bwMode="auto">
                <a:xfrm>
                  <a:off x="5564" y="5610"/>
                  <a:ext cx="4119" cy="8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−1.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3988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64" y="5610"/>
                  <a:ext cx="4119" cy="891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9477" y="5888"/>
              <a:ext cx="325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638300" y="4130675"/>
            <a:ext cx="4037965" cy="528320"/>
            <a:chOff x="2780" y="6265"/>
            <a:chExt cx="6359" cy="8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990" name="Object 22"/>
                <p:cNvSpPr txBox="1"/>
                <p:nvPr/>
              </p:nvSpPr>
              <p:spPr bwMode="auto">
                <a:xfrm>
                  <a:off x="3299" y="6265"/>
                  <a:ext cx="5840" cy="8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解得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=−1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  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3990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99" y="6265"/>
                  <a:ext cx="5840" cy="833"/>
                </a:xfrm>
                <a:prstGeom prst="rect">
                  <a:avLst/>
                </a:prstGeom>
                <a:blipFill>
                  <a:blip r:embed="rId9"/>
                  <a:stretch>
                    <a:fillRect l="-115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2780" y="6697"/>
              <a:ext cx="370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353945" y="4636135"/>
            <a:ext cx="5111750" cy="466090"/>
            <a:chOff x="3907" y="7061"/>
            <a:chExt cx="8050" cy="7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992" name="Object 24"/>
                <p:cNvSpPr txBox="1"/>
                <p:nvPr/>
              </p:nvSpPr>
              <p:spPr bwMode="auto">
                <a:xfrm>
                  <a:off x="4317" y="7061"/>
                  <a:ext cx="7640" cy="73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+1)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3992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17" y="7061"/>
                  <a:ext cx="7640" cy="735"/>
                </a:xfrm>
                <a:prstGeom prst="rect">
                  <a:avLst/>
                </a:prstGeom>
                <a:blipFill>
                  <a:blip r:embed="rId10"/>
                  <a:stretch>
                    <a:fillRect b="-1052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3907" y="7268"/>
              <a:ext cx="232" cy="2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789467" y="5216525"/>
            <a:ext cx="4267200" cy="528320"/>
            <a:chOff x="6524" y="7895"/>
            <a:chExt cx="6720" cy="8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994" name="Object 26"/>
                <p:cNvSpPr txBox="1"/>
                <p:nvPr/>
              </p:nvSpPr>
              <p:spPr bwMode="auto">
                <a:xfrm>
                  <a:off x="6524" y="7895"/>
                  <a:ext cx="6720" cy="8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−(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+1)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3994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24" y="7895"/>
                  <a:ext cx="6720" cy="833"/>
                </a:xfrm>
                <a:prstGeom prst="rect">
                  <a:avLst/>
                </a:prstGeom>
                <a:blipFill rotWithShape="1">
                  <a:blip r:embed="rId1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12526" y="8149"/>
              <a:ext cx="417" cy="1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697392" y="5748020"/>
            <a:ext cx="3683000" cy="466090"/>
            <a:chOff x="6379" y="8732"/>
            <a:chExt cx="5800" cy="7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995" name="Object 27"/>
                <p:cNvSpPr txBox="1"/>
                <p:nvPr/>
              </p:nvSpPr>
              <p:spPr bwMode="auto">
                <a:xfrm>
                  <a:off x="6899" y="8732"/>
                  <a:ext cx="5280" cy="73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−(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+1).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3995" name="Object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99" y="8732"/>
                  <a:ext cx="5280" cy="735"/>
                </a:xfrm>
                <a:prstGeom prst="rect">
                  <a:avLst/>
                </a:prstGeom>
                <a:blipFill rotWithShape="1">
                  <a:blip r:embed="rId1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/>
            <p:cNvSpPr/>
            <p:nvPr/>
          </p:nvSpPr>
          <p:spPr>
            <a:xfrm>
              <a:off x="6379" y="8859"/>
              <a:ext cx="154" cy="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5" grpId="0"/>
      <p:bldP spid="83981" grpId="0" animBg="1"/>
      <p:bldP spid="83989" grpId="0" animBg="1"/>
      <p:bldP spid="83991" grpId="0" animBg="1"/>
      <p:bldP spid="83993" grpId="0" animBg="1"/>
      <p:bldP spid="348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1384300" y="885825"/>
            <a:ext cx="66230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已知齐次方程的一个特解求通解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877" name="Text Box 5"/>
              <p:cNvSpPr txBox="1">
                <a:spLocks noChangeArrowheads="1"/>
              </p:cNvSpPr>
              <p:nvPr/>
            </p:nvSpPr>
            <p:spPr bwMode="auto">
              <a:xfrm>
                <a:off x="1797050" y="1647825"/>
                <a:ext cx="3733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设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是齐次方程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877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7050" y="1647825"/>
                <a:ext cx="3733800" cy="523220"/>
              </a:xfrm>
              <a:prstGeom prst="rect">
                <a:avLst/>
              </a:prstGeom>
              <a:blipFill>
                <a:blip r:embed="rId3"/>
                <a:stretch>
                  <a:fillRect l="-3431" t="-15116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879" name="Text Box 7"/>
          <p:cNvSpPr txBox="1">
            <a:spLocks noChangeArrowheads="1"/>
          </p:cNvSpPr>
          <p:nvPr/>
        </p:nvSpPr>
        <p:spPr bwMode="auto">
          <a:xfrm>
            <a:off x="8885872" y="1635125"/>
            <a:ext cx="182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的一个非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880" name="Text Box 8"/>
              <p:cNvSpPr txBox="1">
                <a:spLocks noChangeArrowheads="1"/>
              </p:cNvSpPr>
              <p:nvPr/>
            </p:nvSpPr>
            <p:spPr bwMode="auto">
              <a:xfrm>
                <a:off x="1797050" y="2333625"/>
                <a:ext cx="1828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零特解</a:t>
                </a:r>
                <a14:m>
                  <m:oMath xmlns:m="http://schemas.openxmlformats.org/officeDocument/2006/math">
                    <m:r>
                      <a:rPr kumimoji="1" lang="en-US" altLang="zh-CN" sz="2800" dirty="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880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7050" y="2333625"/>
                <a:ext cx="1828800" cy="523220"/>
              </a:xfrm>
              <a:prstGeom prst="rect">
                <a:avLst/>
              </a:prstGeom>
              <a:blipFill>
                <a:blip r:embed="rId4"/>
                <a:stretch>
                  <a:fillRect l="-7000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881" name="Text Box 9"/>
          <p:cNvSpPr txBox="1">
            <a:spLocks noChangeArrowheads="1"/>
          </p:cNvSpPr>
          <p:nvPr/>
        </p:nvSpPr>
        <p:spPr bwMode="auto">
          <a:xfrm>
            <a:off x="3002280" y="2324100"/>
            <a:ext cx="3657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现在来求非齐次方程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83" name="Text Box 11"/>
          <p:cNvSpPr txBox="1">
            <a:spLocks noChangeArrowheads="1"/>
          </p:cNvSpPr>
          <p:nvPr/>
        </p:nvSpPr>
        <p:spPr bwMode="auto">
          <a:xfrm>
            <a:off x="1797050" y="2957969"/>
            <a:ext cx="1727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的通解.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884" name="Text Box 12"/>
              <p:cNvSpPr txBox="1">
                <a:spLocks noChangeArrowheads="1"/>
              </p:cNvSpPr>
              <p:nvPr/>
            </p:nvSpPr>
            <p:spPr bwMode="auto">
              <a:xfrm>
                <a:off x="1797050" y="3543300"/>
                <a:ext cx="6705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设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=</a:t>
                </a:r>
                <a:r>
                  <a:rPr kumimoji="1" lang="en-US" altLang="zh-CN" sz="2800" dirty="0">
                    <a:ea typeface="黑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𝑢</m:t>
                    </m:r>
                  </m:oMath>
                </a14:m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是上述非齐次方程的解</a:t>
                </a:r>
                <a14:m>
                  <m:oMath xmlns:m="http://schemas.openxmlformats.org/officeDocument/2006/math">
                    <m:r>
                      <a:rPr kumimoji="1" lang="en-US" altLang="zh-CN" sz="2800" dirty="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8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79884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7050" y="3543300"/>
                <a:ext cx="6705600" cy="523220"/>
              </a:xfrm>
              <a:prstGeom prst="rect">
                <a:avLst/>
              </a:prstGeom>
              <a:blipFill>
                <a:blip r:embed="rId5"/>
                <a:stretch>
                  <a:fillRect l="-1909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885" name="Text Box 13"/>
          <p:cNvSpPr txBox="1">
            <a:spLocks noChangeArrowheads="1"/>
          </p:cNvSpPr>
          <p:nvPr/>
        </p:nvSpPr>
        <p:spPr bwMode="auto">
          <a:xfrm>
            <a:off x="7436939" y="3508464"/>
            <a:ext cx="2133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求导得</a:t>
            </a:r>
          </a:p>
        </p:txBody>
      </p:sp>
      <p:sp>
        <p:nvSpPr>
          <p:cNvPr id="79888" name="Text Box 16"/>
          <p:cNvSpPr txBox="1">
            <a:spLocks noChangeArrowheads="1"/>
          </p:cNvSpPr>
          <p:nvPr/>
        </p:nvSpPr>
        <p:spPr bwMode="auto">
          <a:xfrm>
            <a:off x="1797050" y="4806950"/>
            <a:ext cx="480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代入非齐次方程并化简得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975859" y="1421130"/>
            <a:ext cx="4702494" cy="885190"/>
            <a:chOff x="6627" y="2063"/>
            <a:chExt cx="6331" cy="13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878" name="Object 6"/>
                <p:cNvSpPr txBox="1"/>
                <p:nvPr/>
              </p:nvSpPr>
              <p:spPr bwMode="auto">
                <a:xfrm>
                  <a:off x="6627" y="2432"/>
                  <a:ext cx="6331" cy="10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987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27" y="2432"/>
                  <a:ext cx="6331" cy="1025"/>
                </a:xfrm>
                <a:prstGeom prst="rect">
                  <a:avLst/>
                </a:prstGeom>
                <a:blipFill>
                  <a:blip r:embed="rId6"/>
                  <a:stretch>
                    <a:fillRect l="-30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11646" y="2063"/>
              <a:ext cx="119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289992" y="2307498"/>
            <a:ext cx="4864735" cy="460375"/>
            <a:chOff x="10190" y="3530"/>
            <a:chExt cx="7661" cy="7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882" name="Object 10"/>
                <p:cNvSpPr txBox="1"/>
                <p:nvPr/>
              </p:nvSpPr>
              <p:spPr bwMode="auto">
                <a:xfrm>
                  <a:off x="10190" y="3530"/>
                  <a:ext cx="7661" cy="7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9882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190" y="3530"/>
                  <a:ext cx="7661" cy="725"/>
                </a:xfrm>
                <a:prstGeom prst="rect">
                  <a:avLst/>
                </a:prstGeom>
                <a:blipFill>
                  <a:blip r:embed="rId7"/>
                  <a:stretch>
                    <a:fillRect b="-2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17129" y="3685"/>
              <a:ext cx="279" cy="2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824672" y="4124325"/>
            <a:ext cx="3194050" cy="488950"/>
            <a:chOff x="3229" y="6335"/>
            <a:chExt cx="5030" cy="7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886" name="Object 14"/>
                <p:cNvSpPr txBox="1"/>
                <p:nvPr/>
              </p:nvSpPr>
              <p:spPr bwMode="auto">
                <a:xfrm>
                  <a:off x="3229" y="6335"/>
                  <a:ext cx="5030" cy="77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𝑢</m:t>
                        </m:r>
                        <m:r>
                          <a:rPr kumimoji="1" lang="en-US" altLang="zh-CN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9886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29" y="6335"/>
                  <a:ext cx="5030" cy="77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4139" y="6635"/>
              <a:ext cx="278" cy="3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575016" y="4124325"/>
            <a:ext cx="5504180" cy="488950"/>
            <a:chOff x="7303" y="6335"/>
            <a:chExt cx="8668" cy="7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887" name="Object 15"/>
                <p:cNvSpPr txBox="1"/>
                <p:nvPr/>
              </p:nvSpPr>
              <p:spPr bwMode="auto">
                <a:xfrm>
                  <a:off x="7303" y="6335"/>
                  <a:ext cx="7081" cy="77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+2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b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𝑢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9887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03" y="6335"/>
                  <a:ext cx="7081" cy="77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15322" y="6573"/>
              <a:ext cx="649" cy="3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700655" y="5422900"/>
            <a:ext cx="8960485" cy="488950"/>
            <a:chOff x="4093" y="8380"/>
            <a:chExt cx="14111" cy="7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889" name="Object 17"/>
                <p:cNvSpPr txBox="1"/>
                <p:nvPr/>
              </p:nvSpPr>
              <p:spPr bwMode="auto">
                <a:xfrm>
                  <a:off x="4568" y="8380"/>
                  <a:ext cx="13636" cy="77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+(2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+(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b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sSubSup>
                          <m:sSub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𝑢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9889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8380"/>
                  <a:ext cx="13636" cy="770"/>
                </a:xfrm>
                <a:prstGeom prst="rect">
                  <a:avLst/>
                </a:prstGeom>
                <a:blipFill>
                  <a:blip r:embed="rId10"/>
                  <a:stretch>
                    <a:fillRect l="-70" b="-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4093" y="8659"/>
              <a:ext cx="216" cy="2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animBg="1"/>
      <p:bldP spid="79877" grpId="0" animBg="1"/>
      <p:bldP spid="79879" grpId="0" animBg="1"/>
      <p:bldP spid="79880" grpId="0" animBg="1"/>
      <p:bldP spid="79881" grpId="0" animBg="1"/>
      <p:bldP spid="79883" grpId="0" animBg="1"/>
      <p:bldP spid="79884" grpId="0" animBg="1"/>
      <p:bldP spid="79885" grpId="0" animBg="1"/>
      <p:bldP spid="7988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0900" name="Object 4"/>
              <p:cNvSpPr txBox="1"/>
              <p:nvPr/>
            </p:nvSpPr>
            <p:spPr bwMode="auto">
              <a:xfrm>
                <a:off x="3030538" y="693737"/>
                <a:ext cx="5956300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p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+(2</m:t>
                      </m:r>
                      <m:sSubSup>
                        <m:sSub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𝑃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sSup>
                        <m:s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+(</m:t>
                      </m:r>
                      <m:sSubSup>
                        <m:sSub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bSup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𝑃</m:t>
                      </m:r>
                      <m:sSubSup>
                        <m:sSub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𝑄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</m:oMath>
                  </m:oMathPara>
                </a14:m>
                <a:endParaRPr kumimoji="1" lang="en-US" altLang="zh-CN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090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0538" y="693737"/>
                <a:ext cx="5956300" cy="488950"/>
              </a:xfrm>
              <a:prstGeom prst="rect">
                <a:avLst/>
              </a:prstGeom>
              <a:blipFill>
                <a:blip r:embed="rId3"/>
                <a:stretch>
                  <a:fillRect l="-102" b="-5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01" name="Line 5"/>
          <p:cNvSpPr>
            <a:spLocks noChangeShapeType="1"/>
          </p:cNvSpPr>
          <p:nvPr/>
        </p:nvSpPr>
        <p:spPr bwMode="auto">
          <a:xfrm>
            <a:off x="1638300" y="1227137"/>
            <a:ext cx="8915400" cy="0"/>
          </a:xfrm>
          <a:prstGeom prst="line">
            <a:avLst/>
          </a:prstGeom>
          <a:noFill/>
          <a:ln w="9525">
            <a:solidFill>
              <a:srgbClr val="1D9D7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>
              <a:latin typeface="+mn-ea"/>
            </a:endParaRPr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4587875" y="1300322"/>
            <a:ext cx="22860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故上式变为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905" name="Text Box 9"/>
              <p:cNvSpPr txBox="1">
                <a:spLocks noChangeArrowheads="1"/>
              </p:cNvSpPr>
              <p:nvPr/>
            </p:nvSpPr>
            <p:spPr bwMode="auto">
              <a:xfrm>
                <a:off x="1689100" y="2459037"/>
                <a:ext cx="65532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令</a:t>
                </a:r>
                <a:r>
                  <a:rPr lang="zh-CN" altLang="en-US" sz="2200" dirty="0">
                    <a:latin typeface="+mn-ea"/>
                  </a:rPr>
                  <a:t> </a:t>
                </a:r>
                <a:r>
                  <a: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z = 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𝑢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, </a:t>
                </a: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Symbol" panose="05050102010706020507" pitchFamily="18" charset="2"/>
                  </a:rPr>
                  <a:t>则上式即化为一阶线性方程</a:t>
                </a:r>
              </a:p>
            </p:txBody>
          </p:sp>
        </mc:Choice>
        <mc:Fallback xmlns="">
          <p:sp>
            <p:nvSpPr>
              <p:cNvPr id="8090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9100" y="2459037"/>
                <a:ext cx="6553200" cy="430887"/>
              </a:xfrm>
              <a:prstGeom prst="rect">
                <a:avLst/>
              </a:prstGeom>
              <a:blipFill>
                <a:blip r:embed="rId4"/>
                <a:stretch>
                  <a:fillRect l="-1209" t="-12676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07" name="Text Box 11"/>
          <p:cNvSpPr txBox="1">
            <a:spLocks noChangeArrowheads="1"/>
          </p:cNvSpPr>
          <p:nvPr/>
        </p:nvSpPr>
        <p:spPr bwMode="auto">
          <a:xfrm>
            <a:off x="1689100" y="3706812"/>
            <a:ext cx="49530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设该一阶线性方程的通解为</a:t>
            </a:r>
          </a:p>
        </p:txBody>
      </p:sp>
      <p:sp>
        <p:nvSpPr>
          <p:cNvPr id="80910" name="Text Box 14"/>
          <p:cNvSpPr txBox="1">
            <a:spLocks noChangeArrowheads="1"/>
          </p:cNvSpPr>
          <p:nvPr/>
        </p:nvSpPr>
        <p:spPr bwMode="auto">
          <a:xfrm>
            <a:off x="1689100" y="4848224"/>
            <a:ext cx="15240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积分得</a:t>
            </a:r>
          </a:p>
        </p:txBody>
      </p:sp>
      <p:sp>
        <p:nvSpPr>
          <p:cNvPr id="80912" name="Text Box 16"/>
          <p:cNvSpPr txBox="1">
            <a:spLocks noChangeArrowheads="1"/>
          </p:cNvSpPr>
          <p:nvPr/>
        </p:nvSpPr>
        <p:spPr bwMode="auto">
          <a:xfrm>
            <a:off x="1689100" y="5529262"/>
            <a:ext cx="30988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于是所求通解为</a:t>
            </a:r>
            <a:endParaRPr lang="zh-CN" altLang="en-US" sz="2200">
              <a:latin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72870" y="1328420"/>
            <a:ext cx="3510410" cy="431165"/>
            <a:chOff x="2162" y="2092"/>
            <a:chExt cx="7913" cy="6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90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875" y="2092"/>
                  <a:ext cx="7200" cy="6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zh-CN" altLang="en-US" sz="22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黑体" panose="02010609060101010101" pitchFamily="49" charset="-122"/>
                      <a:ea typeface="黑体" panose="02010609060101010101" pitchFamily="49" charset="-122"/>
                      <a:cs typeface="+mn-ea"/>
                    </a:rPr>
                    <a:t>因为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1" lang="zh-CN" altLang="en-US" sz="22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黑体" panose="02010609060101010101" pitchFamily="49" charset="-122"/>
                      <a:ea typeface="黑体" panose="02010609060101010101" pitchFamily="49" charset="-122"/>
                      <a:cs typeface="+mn-ea"/>
                    </a:rPr>
                    <a:t>是齐次方程的解</a:t>
                  </a:r>
                  <a14:m>
                    <m:oMath xmlns:m="http://schemas.openxmlformats.org/officeDocument/2006/math">
                      <m:r>
                        <a:rPr kumimoji="1" lang="en-US" altLang="zh-CN" sz="2200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a14:m>
                  <a:endPara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80902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75" y="2092"/>
                  <a:ext cx="7200" cy="679"/>
                </a:xfrm>
                <a:prstGeom prst="rect">
                  <a:avLst/>
                </a:prstGeom>
                <a:blipFill>
                  <a:blip r:embed="rId5"/>
                  <a:stretch>
                    <a:fillRect l="-2481" t="-14085" b="-2253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2162" y="2511"/>
              <a:ext cx="232" cy="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422650" y="1864995"/>
            <a:ext cx="3956050" cy="488950"/>
            <a:chOff x="5390" y="2937"/>
            <a:chExt cx="6230" cy="7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904" name="Object 8"/>
                <p:cNvSpPr txBox="1"/>
                <p:nvPr/>
              </p:nvSpPr>
              <p:spPr bwMode="auto">
                <a:xfrm>
                  <a:off x="5915" y="2937"/>
                  <a:ext cx="5705" cy="77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+(2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0904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15" y="2937"/>
                  <a:ext cx="5705" cy="770"/>
                </a:xfrm>
                <a:prstGeom prst="rect">
                  <a:avLst/>
                </a:prstGeom>
                <a:blipFill>
                  <a:blip r:embed="rId6"/>
                  <a:stretch>
                    <a:fillRect l="-168" b="-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5390" y="3206"/>
              <a:ext cx="417" cy="3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363595" y="3065145"/>
            <a:ext cx="3700780" cy="488950"/>
            <a:chOff x="5297" y="4827"/>
            <a:chExt cx="5828" cy="7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906" name="Object 10"/>
                <p:cNvSpPr txBox="1"/>
                <p:nvPr/>
              </p:nvSpPr>
              <p:spPr bwMode="auto">
                <a:xfrm>
                  <a:off x="5915" y="4827"/>
                  <a:ext cx="5210" cy="77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+(2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𝑃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0906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15" y="4827"/>
                  <a:ext cx="5210" cy="770"/>
                </a:xfrm>
                <a:prstGeom prst="rect">
                  <a:avLst/>
                </a:prstGeom>
                <a:blipFill>
                  <a:blip r:embed="rId7"/>
                  <a:stretch>
                    <a:fillRect l="-184" b="-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5297" y="5090"/>
              <a:ext cx="325" cy="3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422650" y="4206875"/>
            <a:ext cx="3123565" cy="516890"/>
            <a:chOff x="5390" y="6625"/>
            <a:chExt cx="4919" cy="8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909" name="Object 13"/>
                <p:cNvSpPr txBox="1"/>
                <p:nvPr/>
              </p:nvSpPr>
              <p:spPr bwMode="auto">
                <a:xfrm>
                  <a:off x="5915" y="6625"/>
                  <a:ext cx="4395" cy="8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𝑍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0909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15" y="6625"/>
                  <a:ext cx="4395" cy="81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5390" y="6882"/>
              <a:ext cx="186" cy="4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373755" y="4834255"/>
            <a:ext cx="3863340" cy="516890"/>
            <a:chOff x="5313" y="7613"/>
            <a:chExt cx="6084" cy="8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911" name="Object 15"/>
                <p:cNvSpPr txBox="1"/>
                <p:nvPr/>
              </p:nvSpPr>
              <p:spPr bwMode="auto">
                <a:xfrm>
                  <a:off x="5915" y="7613"/>
                  <a:ext cx="5482" cy="8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𝑢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𝑈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0911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15" y="7613"/>
                  <a:ext cx="5482" cy="81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5313" y="7871"/>
              <a:ext cx="340" cy="3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756025" y="5524500"/>
            <a:ext cx="5610225" cy="517525"/>
            <a:chOff x="5915" y="8700"/>
            <a:chExt cx="8835" cy="8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913" name="Object 17"/>
                <p:cNvSpPr txBox="1"/>
                <p:nvPr/>
              </p:nvSpPr>
              <p:spPr bwMode="auto">
                <a:xfrm>
                  <a:off x="5915" y="8700"/>
                  <a:ext cx="8835" cy="8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𝑈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0913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15" y="8700"/>
                  <a:ext cx="8835" cy="815"/>
                </a:xfrm>
                <a:prstGeom prst="rect">
                  <a:avLst/>
                </a:prstGeom>
                <a:blipFill>
                  <a:blip r:embed="rId10"/>
                  <a:stretch>
                    <a:fillRect l="-10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14303" y="8813"/>
              <a:ext cx="340" cy="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3" grpId="0" bldLvl="0" animBg="1"/>
      <p:bldP spid="80905" grpId="0" animBg="1"/>
      <p:bldP spid="80907" grpId="0" animBg="1"/>
      <p:bldP spid="80910" grpId="0" animBg="1"/>
      <p:bldP spid="809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86028" name="Text Box 12"/>
          <p:cNvSpPr txBox="1">
            <a:spLocks noChangeArrowheads="1"/>
          </p:cNvSpPr>
          <p:nvPr/>
        </p:nvSpPr>
        <p:spPr bwMode="auto">
          <a:xfrm>
            <a:off x="2325957" y="2860481"/>
            <a:ext cx="45720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代入非齐次方程后化简得</a:t>
            </a:r>
          </a:p>
        </p:txBody>
      </p:sp>
      <p:sp>
        <p:nvSpPr>
          <p:cNvPr id="34827" name="Text Box 11"/>
          <p:cNvSpPr txBox="1">
            <a:spLocks noChangeArrowheads="1"/>
          </p:cNvSpPr>
          <p:nvPr/>
        </p:nvSpPr>
        <p:spPr bwMode="auto">
          <a:xfrm>
            <a:off x="1416603" y="2265847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</a:p>
        </p:txBody>
      </p:sp>
      <p:sp>
        <p:nvSpPr>
          <p:cNvPr id="6" name="Text Box 44"/>
          <p:cNvSpPr txBox="1">
            <a:spLocks noChangeArrowheads="1"/>
          </p:cNvSpPr>
          <p:nvPr/>
        </p:nvSpPr>
        <p:spPr bwMode="auto">
          <a:xfrm>
            <a:off x="1416603" y="807239"/>
            <a:ext cx="75755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kumimoji="1" lang="en-US" altLang="zh-CN" sz="28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26005" y="584835"/>
            <a:ext cx="8827770" cy="1131570"/>
            <a:chOff x="3583" y="1121"/>
            <a:chExt cx="13902" cy="17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019" name="Object 3"/>
                <p:cNvSpPr txBox="1"/>
                <p:nvPr/>
              </p:nvSpPr>
              <p:spPr bwMode="auto">
                <a:xfrm>
                  <a:off x="3583" y="1423"/>
                  <a:ext cx="13903" cy="14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已知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是齐次方程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−2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 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的解</m:t>
                        </m:r>
                        <m:r>
                          <a:rPr kumimoji="1" lang="en-US" altLang="zh-CN" sz="2800" b="0" i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求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86019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83" y="1423"/>
                  <a:ext cx="13903" cy="148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5498" y="1121"/>
              <a:ext cx="186" cy="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090420" y="1350645"/>
            <a:ext cx="6797675" cy="1198245"/>
            <a:chOff x="3212" y="2147"/>
            <a:chExt cx="10705" cy="1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bject 3"/>
                <p:cNvSpPr txBox="1"/>
                <p:nvPr/>
              </p:nvSpPr>
              <p:spPr bwMode="auto">
                <a:xfrm>
                  <a:off x="3583" y="2147"/>
                  <a:ext cx="10334" cy="18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非齐次方程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−2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的通解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7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83" y="2147"/>
                  <a:ext cx="10334" cy="1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3212" y="2943"/>
              <a:ext cx="294" cy="1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326005" y="2159635"/>
            <a:ext cx="1600200" cy="598805"/>
            <a:chOff x="3583" y="3561"/>
            <a:chExt cx="2520" cy="9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023" name="Object 7"/>
                <p:cNvSpPr txBox="1"/>
                <p:nvPr/>
              </p:nvSpPr>
              <p:spPr bwMode="auto">
                <a:xfrm>
                  <a:off x="3583" y="3784"/>
                  <a:ext cx="2520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令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𝑢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6023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83" y="3784"/>
                  <a:ext cx="2520" cy="720"/>
                </a:xfrm>
                <a:prstGeom prst="rect">
                  <a:avLst/>
                </a:prstGeom>
                <a:blipFill>
                  <a:blip r:embed="rId4"/>
                  <a:stretch>
                    <a:fillRect l="-3053" b="-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4170" y="3561"/>
              <a:ext cx="309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702050" y="2150110"/>
            <a:ext cx="2552700" cy="650875"/>
            <a:chOff x="5750" y="3546"/>
            <a:chExt cx="4020" cy="1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7"/>
                <p:cNvSpPr txBox="1"/>
                <p:nvPr/>
              </p:nvSpPr>
              <p:spPr bwMode="auto">
                <a:xfrm>
                  <a:off x="5750" y="3851"/>
                  <a:ext cx="4020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则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𝑢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8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50" y="3851"/>
                  <a:ext cx="4020" cy="720"/>
                </a:xfrm>
                <a:prstGeom prst="rect">
                  <a:avLst/>
                </a:prstGeom>
                <a:blipFill>
                  <a:blip r:embed="rId5"/>
                  <a:stretch>
                    <a:fillRect l="-1671" b="-12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7012" y="3546"/>
              <a:ext cx="386" cy="4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044565" y="2334895"/>
            <a:ext cx="3519805" cy="457200"/>
            <a:chOff x="9439" y="3837"/>
            <a:chExt cx="5543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bject 7"/>
                <p:cNvSpPr txBox="1"/>
                <p:nvPr/>
              </p:nvSpPr>
              <p:spPr bwMode="auto">
                <a:xfrm>
                  <a:off x="9439" y="3837"/>
                  <a:ext cx="4980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+2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𝑢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9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439" y="3837"/>
                  <a:ext cx="4980" cy="720"/>
                </a:xfrm>
                <a:prstGeom prst="rect">
                  <a:avLst/>
                </a:prstGeom>
                <a:blipFill>
                  <a:blip r:embed="rId6"/>
                  <a:stretch>
                    <a:fillRect l="-386" b="-12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14565" y="4164"/>
              <a:ext cx="417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159760" y="3313430"/>
            <a:ext cx="2103120" cy="829945"/>
            <a:chOff x="4896" y="5238"/>
            <a:chExt cx="3312" cy="13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029" name="Object 13"/>
                <p:cNvSpPr txBox="1"/>
                <p:nvPr/>
              </p:nvSpPr>
              <p:spPr bwMode="auto">
                <a:xfrm>
                  <a:off x="5107" y="5238"/>
                  <a:ext cx="3101" cy="13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6029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07" y="5238"/>
                  <a:ext cx="3101" cy="130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4896" y="5677"/>
              <a:ext cx="278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021840" y="3852208"/>
            <a:ext cx="4556462" cy="864891"/>
            <a:chOff x="3104" y="6342"/>
            <a:chExt cx="6158" cy="9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1"/>
                <p:cNvSpPr txBox="1"/>
                <p:nvPr/>
              </p:nvSpPr>
              <p:spPr>
                <a:xfrm>
                  <a:off x="3562" y="6587"/>
                  <a:ext cx="5700" cy="66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积分得</m:t>
                        </m:r>
                        <m:r>
                          <a:rPr kumimoji="1" lang="en-US" altLang="zh-CN" sz="2200" b="0" i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𝐶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|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|,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2" y="6587"/>
                  <a:ext cx="5700" cy="660"/>
                </a:xfrm>
                <a:prstGeom prst="rect">
                  <a:avLst/>
                </a:prstGeom>
                <a:blipFill>
                  <a:blip r:embed="rId8"/>
                  <a:stretch>
                    <a:fillRect l="-10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/>
            <p:cNvSpPr/>
            <p:nvPr/>
          </p:nvSpPr>
          <p:spPr>
            <a:xfrm>
              <a:off x="3104" y="6342"/>
              <a:ext cx="247" cy="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034010" y="4641850"/>
            <a:ext cx="5829935" cy="444500"/>
            <a:chOff x="3042" y="7070"/>
            <a:chExt cx="9181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对象 30"/>
                <p:cNvSpPr txBox="1"/>
                <p:nvPr/>
              </p:nvSpPr>
              <p:spPr>
                <a:xfrm>
                  <a:off x="3583" y="7070"/>
                  <a:ext cx="8640" cy="7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再积分得</m:t>
                        </m:r>
                        <m:r>
                          <a:rPr kumimoji="1" lang="en-US" altLang="zh-CN" sz="2200" b="0" i="1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,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𝑢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𝐶𝑥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|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|−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1" name="对象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3" y="7070"/>
                  <a:ext cx="8640" cy="700"/>
                </a:xfrm>
                <a:prstGeom prst="rect">
                  <a:avLst/>
                </a:prstGeom>
                <a:blipFill>
                  <a:blip r:embed="rId9"/>
                  <a:stretch>
                    <a:fillRect l="-778" b="-1506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矩形 18"/>
            <p:cNvSpPr/>
            <p:nvPr/>
          </p:nvSpPr>
          <p:spPr>
            <a:xfrm>
              <a:off x="3042" y="7129"/>
              <a:ext cx="325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063855" y="5187950"/>
            <a:ext cx="6206490" cy="431800"/>
            <a:chOff x="3089" y="7930"/>
            <a:chExt cx="9774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对象 31"/>
                <p:cNvSpPr txBox="1"/>
                <p:nvPr/>
              </p:nvSpPr>
              <p:spPr>
                <a:xfrm>
                  <a:off x="3583" y="7930"/>
                  <a:ext cx="9280" cy="68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即</m:t>
                        </m:r>
                        <m:r>
                          <a:rPr kumimoji="1" lang="en-US" altLang="zh-CN" sz="2200" b="0" i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,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𝑢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|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|,</m:t>
                        </m:r>
                        <m:r>
                          <a:rPr kumimoji="1" lang="en-US" altLang="zh-CN" sz="22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𝐶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−1).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2" name="对象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3" y="7930"/>
                  <a:ext cx="9280" cy="680"/>
                </a:xfrm>
                <a:prstGeom prst="rect">
                  <a:avLst/>
                </a:prstGeom>
                <a:blipFill>
                  <a:blip r:embed="rId10"/>
                  <a:stretch>
                    <a:fillRect l="-620" b="-183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/>
            <p:cNvSpPr/>
            <p:nvPr/>
          </p:nvSpPr>
          <p:spPr>
            <a:xfrm>
              <a:off x="3089" y="7994"/>
              <a:ext cx="154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076555" y="5728970"/>
            <a:ext cx="7501890" cy="473710"/>
            <a:chOff x="3109" y="8782"/>
            <a:chExt cx="11814" cy="7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对象 32"/>
                <p:cNvSpPr txBox="1"/>
                <p:nvPr/>
              </p:nvSpPr>
              <p:spPr>
                <a:xfrm>
                  <a:off x="3583" y="8788"/>
                  <a:ext cx="11340" cy="74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于是所求通解为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𝑢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sup>
                        </m:sSup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|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|.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3" name="对象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3" y="8788"/>
                  <a:ext cx="11340" cy="740"/>
                </a:xfrm>
                <a:prstGeom prst="rect">
                  <a:avLst/>
                </a:prstGeom>
                <a:blipFill>
                  <a:blip r:embed="rId11"/>
                  <a:stretch>
                    <a:fillRect l="-593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矩形 22"/>
            <p:cNvSpPr/>
            <p:nvPr/>
          </p:nvSpPr>
          <p:spPr>
            <a:xfrm>
              <a:off x="3109" y="8782"/>
              <a:ext cx="119" cy="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8" grpId="0"/>
      <p:bldP spid="34827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FjMGUwZjZjNTMwOWVkMThkMTA2ZTEzN2IwYjkyMjMifQ=="/>
  <p:tag name="KSO_WPP_MARK_KEY" val="ad30aad8-3fb9-4028-9ae5-9feb100392a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3293</Words>
  <Application>Microsoft Office PowerPoint</Application>
  <PresentationFormat>宽屏</PresentationFormat>
  <Paragraphs>438</Paragraphs>
  <Slides>31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4" baseType="lpstr">
      <vt:lpstr>方正粗雅宋_GBK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Calisto MT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488</cp:revision>
  <dcterms:created xsi:type="dcterms:W3CDTF">2022-03-21T05:54:00Z</dcterms:created>
  <dcterms:modified xsi:type="dcterms:W3CDTF">2023-07-05T08:29:40Z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2052-11.1.0.11691</vt:lpwstr>
  </property>
</Properties>
</file>