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8"/>
  </p:notesMasterIdLst>
  <p:sldIdLst>
    <p:sldId id="257" r:id="rId3"/>
    <p:sldId id="922" r:id="rId4"/>
    <p:sldId id="664" r:id="rId5"/>
    <p:sldId id="817" r:id="rId6"/>
    <p:sldId id="891" r:id="rId7"/>
    <p:sldId id="893" r:id="rId8"/>
    <p:sldId id="894" r:id="rId9"/>
    <p:sldId id="895" r:id="rId10"/>
    <p:sldId id="897" r:id="rId11"/>
    <p:sldId id="898" r:id="rId12"/>
    <p:sldId id="899" r:id="rId13"/>
    <p:sldId id="900" r:id="rId14"/>
    <p:sldId id="901" r:id="rId15"/>
    <p:sldId id="896" r:id="rId16"/>
    <p:sldId id="364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41A41-C3E3-49DC-B8E2-5FB79F6BD7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E47AB0-E0D1-4C23-847C-8B6B1533DD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351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245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024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636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4895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067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549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1430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8178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554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571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"/>
          <p:cNvSpPr/>
          <p:nvPr userDrawn="1"/>
        </p:nvSpPr>
        <p:spPr>
          <a:xfrm rot="2659048">
            <a:off x="8885680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6828" y="6435405"/>
            <a:ext cx="17267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第十节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最小二乘法</a:t>
            </a:r>
          </a:p>
        </p:txBody>
      </p:sp>
      <p:sp>
        <p:nvSpPr>
          <p:cNvPr id="14" name="矩形 13"/>
          <p:cNvSpPr/>
          <p:nvPr/>
        </p:nvSpPr>
        <p:spPr>
          <a:xfrm>
            <a:off x="9140852" y="112357"/>
            <a:ext cx="28568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第九章   </a:t>
            </a:r>
            <a:r>
              <a: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多元函数微分法及其应用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28B7B72-FE5F-FE65-4D2C-E3DB1DB54AC9}"/>
              </a:ext>
            </a:extLst>
          </p:cNvPr>
          <p:cNvCxnSpPr/>
          <p:nvPr userDrawn="1"/>
        </p:nvCxnSpPr>
        <p:spPr>
          <a:xfrm>
            <a:off x="0" y="251555"/>
            <a:ext cx="8665828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D686EB1-B307-14DE-BA1D-E20FC7BCEDB0}"/>
              </a:ext>
            </a:extLst>
          </p:cNvPr>
          <p:cNvCxnSpPr/>
          <p:nvPr userDrawn="1"/>
        </p:nvCxnSpPr>
        <p:spPr>
          <a:xfrm>
            <a:off x="2364962" y="6589556"/>
            <a:ext cx="9828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887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5205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71891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817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8614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0360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5274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0616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8329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8486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46927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4942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"/>
          <p:cNvSpPr/>
          <p:nvPr userDrawn="1"/>
        </p:nvSpPr>
        <p:spPr>
          <a:xfrm rot="2659048">
            <a:off x="8965288" y="200713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6828" y="6435405"/>
            <a:ext cx="24449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  </a:t>
            </a:r>
            <a:r>
              <a: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多元函数的基本概念</a:t>
            </a:r>
          </a:p>
        </p:txBody>
      </p:sp>
      <p:sp>
        <p:nvSpPr>
          <p:cNvPr id="14" name="矩形 13"/>
          <p:cNvSpPr/>
          <p:nvPr/>
        </p:nvSpPr>
        <p:spPr>
          <a:xfrm>
            <a:off x="9191625" y="112357"/>
            <a:ext cx="28039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第九章  </a:t>
            </a:r>
            <a:r>
              <a: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多元函数微分法及其应用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203D1AC-6C33-1DD5-F2DD-50C6A6EBDF02}"/>
              </a:ext>
            </a:extLst>
          </p:cNvPr>
          <p:cNvCxnSpPr/>
          <p:nvPr userDrawn="1"/>
        </p:nvCxnSpPr>
        <p:spPr>
          <a:xfrm>
            <a:off x="3000375" y="6587066"/>
            <a:ext cx="919162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0B3776D-EAA9-04CB-2F71-2AD67D158494}"/>
              </a:ext>
            </a:extLst>
          </p:cNvPr>
          <p:cNvCxnSpPr/>
          <p:nvPr userDrawn="1"/>
        </p:nvCxnSpPr>
        <p:spPr>
          <a:xfrm>
            <a:off x="0" y="266245"/>
            <a:ext cx="8784000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6413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13822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765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10" Type="http://schemas.openxmlformats.org/officeDocument/2006/relationships/image" Target="../media/image17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8" Type="http://schemas.openxmlformats.org/officeDocument/2006/relationships/image" Target="../media/image34.png"/><Relationship Id="rId3" Type="http://schemas.openxmlformats.org/officeDocument/2006/relationships/image" Target="../media/image22.png"/><Relationship Id="rId21" Type="http://schemas.openxmlformats.org/officeDocument/2006/relationships/image" Target="../media/image37.png"/><Relationship Id="rId7" Type="http://schemas.openxmlformats.org/officeDocument/2006/relationships/image" Target="../media/image26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1.png"/><Relationship Id="rId10" Type="http://schemas.openxmlformats.org/officeDocument/2006/relationships/image" Target="../media/image29.png"/><Relationship Id="rId19" Type="http://schemas.openxmlformats.org/officeDocument/2006/relationships/image" Target="../media/image35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7" Type="http://schemas.openxmlformats.org/officeDocument/2006/relationships/image" Target="../media/image38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0.png"/><Relationship Id="rId5" Type="http://schemas.openxmlformats.org/officeDocument/2006/relationships/image" Target="../media/image360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3" Type="http://schemas.openxmlformats.org/officeDocument/2006/relationships/image" Target="../media/image71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19" Type="http://schemas.openxmlformats.org/officeDocument/2006/relationships/image" Target="../media/image5.jpe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2.png"/><Relationship Id="rId3" Type="http://schemas.openxmlformats.org/officeDocument/2006/relationships/image" Target="../media/image62.png"/><Relationship Id="rId12" Type="http://schemas.openxmlformats.org/officeDocument/2006/relationships/image" Target="../media/image7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11" Type="http://schemas.openxmlformats.org/officeDocument/2006/relationships/image" Target="../media/image69.png"/><Relationship Id="rId10" Type="http://schemas.openxmlformats.org/officeDocument/2006/relationships/image" Target="../media/image68.png"/><Relationship Id="rId4" Type="http://schemas.openxmlformats.org/officeDocument/2006/relationships/image" Target="../media/image620.png"/><Relationship Id="rId9" Type="http://schemas.openxmlformats.org/officeDocument/2006/relationships/image" Target="../media/image6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1.png"/><Relationship Id="rId3" Type="http://schemas.openxmlformats.org/officeDocument/2006/relationships/image" Target="../media/image71.png"/><Relationship Id="rId7" Type="http://schemas.openxmlformats.org/officeDocument/2006/relationships/image" Target="../media/image76.png"/><Relationship Id="rId12" Type="http://schemas.openxmlformats.org/officeDocument/2006/relationships/image" Target="../media/image8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5.png"/><Relationship Id="rId11" Type="http://schemas.openxmlformats.org/officeDocument/2006/relationships/image" Target="../media/image79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18" Type="http://schemas.openxmlformats.org/officeDocument/2006/relationships/image" Target="../media/image9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17" Type="http://schemas.openxmlformats.org/officeDocument/2006/relationships/image" Target="../media/image9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9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9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12" Type="http://schemas.openxmlformats.org/officeDocument/2006/relationships/image" Target="../media/image10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2.png"/><Relationship Id="rId11" Type="http://schemas.openxmlformats.org/officeDocument/2006/relationships/image" Target="../media/image107.png"/><Relationship Id="rId5" Type="http://schemas.openxmlformats.org/officeDocument/2006/relationships/image" Target="../media/image101.png"/><Relationship Id="rId10" Type="http://schemas.openxmlformats.org/officeDocument/2006/relationships/image" Target="../media/image106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369185"/>
            <a:ext cx="11083290" cy="450405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499995"/>
            <a:ext cx="10923270" cy="43732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640330"/>
            <a:ext cx="10746105" cy="423291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4914237" y="316043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1735983" y="3843270"/>
            <a:ext cx="8388000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1765935" y="4450080"/>
            <a:ext cx="2087880" cy="1556385"/>
            <a:chOff x="3633" y="6990"/>
            <a:chExt cx="3288" cy="2451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4056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一元函数</a:t>
              </a:r>
            </a:p>
          </p:txBody>
        </p:sp>
        <p:sp>
          <p:nvSpPr>
            <p:cNvPr id="52" name="矩形 51"/>
            <p:cNvSpPr/>
            <p:nvPr/>
          </p:nvSpPr>
          <p:spPr>
            <a:xfrm>
              <a:off x="4131" y="8233"/>
              <a:ext cx="2269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微分学</a:t>
              </a:r>
            </a:p>
          </p:txBody>
        </p:sp>
      </p:grpSp>
      <p:sp>
        <p:nvSpPr>
          <p:cNvPr id="5" name="右箭头 4"/>
          <p:cNvSpPr/>
          <p:nvPr/>
        </p:nvSpPr>
        <p:spPr>
          <a:xfrm>
            <a:off x="3825875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6962140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61B6C4-35F1-7875-98C1-A82818FC227F}"/>
              </a:ext>
            </a:extLst>
          </p:cNvPr>
          <p:cNvSpPr/>
          <p:nvPr/>
        </p:nvSpPr>
        <p:spPr>
          <a:xfrm>
            <a:off x="1801178" y="884555"/>
            <a:ext cx="858964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第九章   </a:t>
            </a:r>
            <a:r>
              <a:rPr lang="zh-CN" altLang="en-US" sz="4400" b="1" baseline="0" dirty="0">
                <a:solidFill>
                  <a:schemeClr val="bg1"/>
                </a:solidFill>
                <a:latin typeface="+mj-ea"/>
                <a:ea typeface="+mj-ea"/>
              </a:rPr>
              <a:t>多元函数微分法及其应用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B066930-DF94-DF6F-9EC0-A1295840C882}"/>
              </a:ext>
            </a:extLst>
          </p:cNvPr>
          <p:cNvGrpSpPr/>
          <p:nvPr/>
        </p:nvGrpSpPr>
        <p:grpSpPr>
          <a:xfrm>
            <a:off x="4730442" y="4450080"/>
            <a:ext cx="2087880" cy="1556385"/>
            <a:chOff x="3633" y="6990"/>
            <a:chExt cx="3288" cy="2451"/>
          </a:xfrm>
        </p:grpSpPr>
        <p:sp>
          <p:nvSpPr>
            <p:cNvPr id="9" name="矩形: 圆角 40">
              <a:extLst>
                <a:ext uri="{FF2B5EF4-FFF2-40B4-BE49-F238E27FC236}">
                  <a16:creationId xmlns:a16="http://schemas.microsoft.com/office/drawing/2014/main" id="{2EB9713E-EEE0-DC80-43B7-769012092E62}"/>
                </a:ext>
              </a:extLst>
            </p:cNvPr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EF3844B-AAC9-5582-BC84-02299D166C65}"/>
                </a:ext>
              </a:extLst>
            </p:cNvPr>
            <p:cNvSpPr/>
            <p:nvPr/>
          </p:nvSpPr>
          <p:spPr>
            <a:xfrm>
              <a:off x="4056" y="6990"/>
              <a:ext cx="2441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多元函数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533C61B-C6F5-3F38-0087-496DEA7A139A}"/>
                </a:ext>
              </a:extLst>
            </p:cNvPr>
            <p:cNvSpPr/>
            <p:nvPr/>
          </p:nvSpPr>
          <p:spPr>
            <a:xfrm>
              <a:off x="4131" y="8233"/>
              <a:ext cx="2250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微分学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DA8E5B8-DE15-F373-0143-9F49B2503382}"/>
              </a:ext>
            </a:extLst>
          </p:cNvPr>
          <p:cNvGrpSpPr/>
          <p:nvPr/>
        </p:nvGrpSpPr>
        <p:grpSpPr>
          <a:xfrm>
            <a:off x="7938154" y="4469765"/>
            <a:ext cx="2087880" cy="1556385"/>
            <a:chOff x="3633" y="6990"/>
            <a:chExt cx="3288" cy="2451"/>
          </a:xfrm>
        </p:grpSpPr>
        <p:sp>
          <p:nvSpPr>
            <p:cNvPr id="17" name="矩形: 圆角 40">
              <a:extLst>
                <a:ext uri="{FF2B5EF4-FFF2-40B4-BE49-F238E27FC236}">
                  <a16:creationId xmlns:a16="http://schemas.microsoft.com/office/drawing/2014/main" id="{57FF1588-584F-6CCF-8E4D-ACAA5D847F7B}"/>
                </a:ext>
              </a:extLst>
            </p:cNvPr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7CE5D6D-1331-95F7-B14D-69F1DEC4A353}"/>
                </a:ext>
              </a:extLst>
            </p:cNvPr>
            <p:cNvSpPr/>
            <p:nvPr/>
          </p:nvSpPr>
          <p:spPr>
            <a:xfrm>
              <a:off x="4056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注意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4BA4533-8480-3426-1642-FAFD9FB15DB4}"/>
                </a:ext>
              </a:extLst>
            </p:cNvPr>
            <p:cNvSpPr/>
            <p:nvPr/>
          </p:nvSpPr>
          <p:spPr>
            <a:xfrm>
              <a:off x="4157" y="7955"/>
              <a:ext cx="2240" cy="13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善于类比</a:t>
              </a:r>
            </a:p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区别异同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36号-正文宋楷" panose="00000500000000000000" pitchFamily="2" charset="-122"/>
              <a:ea typeface="字魂36号-正文宋楷" panose="00000500000000000000" pitchFamily="2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BB6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876000" y="638872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GB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C</a:t>
            </a:r>
            <a:r>
              <a:rPr kumimoji="1" lang="en-GB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ONTENTS</a:t>
            </a:r>
          </a:p>
        </p:txBody>
      </p:sp>
      <p:sp>
        <p:nvSpPr>
          <p:cNvPr id="2" name="矩形 1"/>
          <p:cNvSpPr/>
          <p:nvPr/>
        </p:nvSpPr>
        <p:spPr>
          <a:xfrm>
            <a:off x="1769401" y="516286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目  录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335798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F3975876-371D-E943-BDE0-7053794AE009}"/>
              </a:ext>
            </a:extLst>
          </p:cNvPr>
          <p:cNvSpPr/>
          <p:nvPr/>
        </p:nvSpPr>
        <p:spPr>
          <a:xfrm>
            <a:off x="945202" y="2378656"/>
            <a:ext cx="41520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多元函数的基本概念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1657142-156F-BC40-A369-9AC5D1511533}"/>
              </a:ext>
            </a:extLst>
          </p:cNvPr>
          <p:cNvSpPr/>
          <p:nvPr/>
        </p:nvSpPr>
        <p:spPr>
          <a:xfrm>
            <a:off x="945202" y="3144845"/>
            <a:ext cx="23054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全微分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6321BC7-FF39-1E4C-A373-3F26FDA536D1}"/>
              </a:ext>
            </a:extLst>
          </p:cNvPr>
          <p:cNvSpPr/>
          <p:nvPr/>
        </p:nvSpPr>
        <p:spPr>
          <a:xfrm>
            <a:off x="6146076" y="2378656"/>
            <a:ext cx="23054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偏导数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C3F917-6EB5-AF43-9C27-AC487099C634}"/>
              </a:ext>
            </a:extLst>
          </p:cNvPr>
          <p:cNvSpPr/>
          <p:nvPr/>
        </p:nvSpPr>
        <p:spPr>
          <a:xfrm>
            <a:off x="6146076" y="3144845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多元复合函数的求导法则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2BE5E46-5684-754B-A1A9-127A41F07D2F}"/>
              </a:ext>
            </a:extLst>
          </p:cNvPr>
          <p:cNvSpPr/>
          <p:nvPr/>
        </p:nvSpPr>
        <p:spPr>
          <a:xfrm>
            <a:off x="945202" y="3911034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第五节   隐函数的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求导公式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1DB2DEE-225F-E442-8E1E-33456E4415A2}"/>
              </a:ext>
            </a:extLst>
          </p:cNvPr>
          <p:cNvSpPr/>
          <p:nvPr/>
        </p:nvSpPr>
        <p:spPr>
          <a:xfrm>
            <a:off x="945202" y="4675933"/>
            <a:ext cx="3691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方向导数与梯度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624D60B-0ECD-E147-8CE1-4C5B182862BE}"/>
              </a:ext>
            </a:extLst>
          </p:cNvPr>
          <p:cNvSpPr/>
          <p:nvPr/>
        </p:nvSpPr>
        <p:spPr>
          <a:xfrm>
            <a:off x="6146076" y="3909744"/>
            <a:ext cx="50754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第六节  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多元函数微分学的几何应用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98B4882-32F6-3E47-B43D-2E381BD7331B}"/>
              </a:ext>
            </a:extLst>
          </p:cNvPr>
          <p:cNvSpPr/>
          <p:nvPr/>
        </p:nvSpPr>
        <p:spPr>
          <a:xfrm>
            <a:off x="6146076" y="4675933"/>
            <a:ext cx="56013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第八节  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多元函数的极值及其求法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E00EF9C-1D20-A540-B9A1-9EA25E112FAE}"/>
              </a:ext>
            </a:extLst>
          </p:cNvPr>
          <p:cNvSpPr/>
          <p:nvPr/>
        </p:nvSpPr>
        <p:spPr>
          <a:xfrm>
            <a:off x="945202" y="5440831"/>
            <a:ext cx="49060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第九节   二元函数的泰勒公式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AA557CA-A43B-FE4D-AEC3-A535128611AD}"/>
              </a:ext>
            </a:extLst>
          </p:cNvPr>
          <p:cNvSpPr/>
          <p:nvPr/>
        </p:nvSpPr>
        <p:spPr>
          <a:xfrm>
            <a:off x="6146076" y="5440831"/>
            <a:ext cx="54819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第十节   最小二乘法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D33FE86-2C45-A742-9192-7C8D8D21CA39}"/>
              </a:ext>
            </a:extLst>
          </p:cNvPr>
          <p:cNvSpPr/>
          <p:nvPr/>
        </p:nvSpPr>
        <p:spPr>
          <a:xfrm>
            <a:off x="5157282" y="691154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第</a:t>
            </a:r>
            <a:r>
              <a:rPr lang="zh-CN" altLang="en-US" sz="44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九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章</a:t>
            </a:r>
            <a:endParaRPr kumimoji="1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37199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1731523"/>
            <a:ext cx="11536045" cy="35895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4240364" y="686345"/>
            <a:ext cx="3711272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第十节  最小二乘法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D34347B-81A6-0347-BD4A-2EACEBD634F5}"/>
              </a:ext>
            </a:extLst>
          </p:cNvPr>
          <p:cNvGrpSpPr/>
          <p:nvPr/>
        </p:nvGrpSpPr>
        <p:grpSpPr>
          <a:xfrm>
            <a:off x="4447790" y="2320980"/>
            <a:ext cx="3296421" cy="901065"/>
            <a:chOff x="3376753" y="2320980"/>
            <a:chExt cx="3296421" cy="901065"/>
          </a:xfrm>
        </p:grpSpPr>
        <p:sp>
          <p:nvSpPr>
            <p:cNvPr id="4" name="矩形: 圆角 40">
              <a:extLst>
                <a:ext uri="{FF2B5EF4-FFF2-40B4-BE49-F238E27FC236}">
                  <a16:creationId xmlns:a16="http://schemas.microsoft.com/office/drawing/2014/main" id="{0AFCECA3-3830-4C31-F876-EF09B7116080}"/>
                </a:ext>
              </a:extLst>
            </p:cNvPr>
            <p:cNvSpPr/>
            <p:nvPr/>
          </p:nvSpPr>
          <p:spPr>
            <a:xfrm flipV="1">
              <a:off x="3376753" y="2320980"/>
              <a:ext cx="3296421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FF17138-8605-1774-D008-6AE81E15D8D9}"/>
                </a:ext>
              </a:extLst>
            </p:cNvPr>
            <p:cNvSpPr/>
            <p:nvPr/>
          </p:nvSpPr>
          <p:spPr>
            <a:xfrm>
              <a:off x="3616931" y="2510213"/>
              <a:ext cx="269817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</a:t>
              </a:r>
              <a:r>
                <a:rPr kumimoji="1" lang="zh-CN" altLang="en-US" sz="2800" b="1" i="0" u="none" strike="noStrike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最小二乘法</a:t>
              </a:r>
              <a:endParaRPr lang="zh-CN" altLang="en-US" sz="2800" dirty="0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BDF168EE-76EF-B44F-A1CC-87461AD5DCCA}"/>
              </a:ext>
            </a:extLst>
          </p:cNvPr>
          <p:cNvGrpSpPr/>
          <p:nvPr/>
        </p:nvGrpSpPr>
        <p:grpSpPr>
          <a:xfrm>
            <a:off x="4447790" y="3756602"/>
            <a:ext cx="3296421" cy="901065"/>
            <a:chOff x="3376753" y="3756602"/>
            <a:chExt cx="3296421" cy="901065"/>
          </a:xfrm>
        </p:grpSpPr>
        <p:sp>
          <p:nvSpPr>
            <p:cNvPr id="22" name="矩形: 圆角 40">
              <a:extLst>
                <a:ext uri="{FF2B5EF4-FFF2-40B4-BE49-F238E27FC236}">
                  <a16:creationId xmlns:a16="http://schemas.microsoft.com/office/drawing/2014/main" id="{2AFCDF72-0B32-3B23-3BEA-A6D0061312B5}"/>
                </a:ext>
              </a:extLst>
            </p:cNvPr>
            <p:cNvSpPr/>
            <p:nvPr/>
          </p:nvSpPr>
          <p:spPr>
            <a:xfrm flipV="1">
              <a:off x="3376753" y="3756602"/>
              <a:ext cx="3296421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9FFA758-C763-F6DD-43E6-7491515A6524}"/>
                </a:ext>
              </a:extLst>
            </p:cNvPr>
            <p:cNvSpPr/>
            <p:nvPr/>
          </p:nvSpPr>
          <p:spPr>
            <a:xfrm>
              <a:off x="3616931" y="3945835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</a:t>
              </a:r>
              <a:r>
                <a:rPr kumimoji="1" lang="zh-CN" altLang="en-US" sz="2800" b="1" i="0" u="none" strike="noStrike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举例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448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Box 136">
            <a:extLst>
              <a:ext uri="{FF2B5EF4-FFF2-40B4-BE49-F238E27FC236}">
                <a16:creationId xmlns:a16="http://schemas.microsoft.com/office/drawing/2014/main" id="{3DCF5EA7-48D4-08DA-0013-3CC1F3195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8104" y="706261"/>
            <a:ext cx="317907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一、最小二乘法 </a:t>
            </a:r>
          </a:p>
        </p:txBody>
      </p:sp>
      <p:sp>
        <p:nvSpPr>
          <p:cNvPr id="48" name="Text Box 3">
            <a:extLst>
              <a:ext uri="{FF2B5EF4-FFF2-40B4-BE49-F238E27FC236}">
                <a16:creationId xmlns:a16="http://schemas.microsoft.com/office/drawing/2014/main" id="{4710CE3C-6FE1-604F-CDA5-CB46A5EFB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9577" y="1494911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问题的提出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:</a:t>
            </a:r>
          </a:p>
        </p:txBody>
      </p:sp>
      <p:sp>
        <p:nvSpPr>
          <p:cNvPr id="49" name="Text Box 78">
            <a:extLst>
              <a:ext uri="{FF2B5EF4-FFF2-40B4-BE49-F238E27FC236}">
                <a16:creationId xmlns:a16="http://schemas.microsoft.com/office/drawing/2014/main" id="{88D77DB5-E4C3-6DEB-C1A1-91ED0F812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1521" y="1494912"/>
            <a:ext cx="3168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已知一组实验数据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Box 81">
                <a:extLst>
                  <a:ext uri="{FF2B5EF4-FFF2-40B4-BE49-F238E27FC236}">
                    <a16:creationId xmlns:a16="http://schemas.microsoft.com/office/drawing/2014/main" id="{66BE5874-64BD-28DD-5AEE-235BC982A6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0301" y="2062441"/>
                <a:ext cx="53340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求它们的近似函数关系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𝑦</m:t>
                    </m:r>
                    <m:r>
                      <a:rPr kumimoji="1" lang="en-US" altLang="zh-CN" sz="2800" b="0" i="0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=</m:t>
                    </m:r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𝑓</m:t>
                    </m:r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(</m:t>
                    </m:r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𝑥</m:t>
                    </m:r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)</m:t>
                    </m:r>
                  </m:oMath>
                </a14:m>
                <a:r>
                  <a:rPr kumimoji="1" lang="en-US" altLang="zh-CN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50" name="Text Box 81">
                <a:extLst>
                  <a:ext uri="{FF2B5EF4-FFF2-40B4-BE49-F238E27FC236}">
                    <a16:creationId xmlns:a16="http://schemas.microsoft.com/office/drawing/2014/main" id="{66BE5874-64BD-28DD-5AEE-235BC982A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60301" y="2062441"/>
                <a:ext cx="5334000" cy="523220"/>
              </a:xfrm>
              <a:prstGeom prst="rect">
                <a:avLst/>
              </a:prstGeom>
              <a:blipFill>
                <a:blip r:embed="rId3"/>
                <a:stretch>
                  <a:fillRect l="-2286" t="-15116" r="-1486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Object 88">
                <a:extLst>
                  <a:ext uri="{FF2B5EF4-FFF2-40B4-BE49-F238E27FC236}">
                    <a16:creationId xmlns:a16="http://schemas.microsoft.com/office/drawing/2014/main" id="{1940C39E-0917-9AD4-E63C-B88A737ADB50}"/>
                  </a:ext>
                </a:extLst>
              </p:cNvPr>
              <p:cNvSpPr txBox="1"/>
              <p:nvPr/>
            </p:nvSpPr>
            <p:spPr bwMode="auto">
              <a:xfrm>
                <a:off x="6918865" y="1477133"/>
                <a:ext cx="4469859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kumimoji="1" lang="zh-CN" alt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𝑘</m:t>
                        </m:r>
                      </m:sub>
                    </m:sSub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kumimoji="1" lang="zh-CN" alt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</m:e>
                      <m:sub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𝑘</m:t>
                        </m:r>
                      </m:sub>
                    </m:sSub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) (</m:t>
                    </m:r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𝑘</m:t>
                    </m:r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=0,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1,⋯,</m:t>
                    </m:r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𝑛</m:t>
                    </m:r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),</m:t>
                    </m:r>
                  </m:oMath>
                </a14:m>
                <a:endParaRPr kumimoji="1" lang="zh-CN" altLang="en-US" sz="28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1" name="Object 88">
                <a:extLst>
                  <a:ext uri="{FF2B5EF4-FFF2-40B4-BE49-F238E27FC236}">
                    <a16:creationId xmlns:a16="http://schemas.microsoft.com/office/drawing/2014/main" id="{1940C39E-0917-9AD4-E63C-B88A737AD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18865" y="1477133"/>
                <a:ext cx="4469859" cy="444500"/>
              </a:xfrm>
              <a:prstGeom prst="rect">
                <a:avLst/>
              </a:prstGeom>
              <a:blipFill>
                <a:blip r:embed="rId4"/>
                <a:stretch>
                  <a:fillRect b="-41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Text Box 102">
            <a:extLst>
              <a:ext uri="{FF2B5EF4-FFF2-40B4-BE49-F238E27FC236}">
                <a16:creationId xmlns:a16="http://schemas.microsoft.com/office/drawing/2014/main" id="{FED4ECAE-1C6F-289F-BF53-ACE11DA72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9577" y="2642373"/>
            <a:ext cx="3216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需要解决两个问题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: </a:t>
            </a:r>
          </a:p>
        </p:txBody>
      </p:sp>
      <p:sp>
        <p:nvSpPr>
          <p:cNvPr id="72" name="Text Box 104">
            <a:extLst>
              <a:ext uri="{FF2B5EF4-FFF2-40B4-BE49-F238E27FC236}">
                <a16:creationId xmlns:a16="http://schemas.microsoft.com/office/drawing/2014/main" id="{FB93F126-B00A-1682-4AF4-F3C095EB4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5776" y="3219573"/>
            <a:ext cx="3740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 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确定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近似函数的类型</a:t>
            </a:r>
          </a:p>
        </p:txBody>
      </p:sp>
      <p:sp>
        <p:nvSpPr>
          <p:cNvPr id="73" name="Text Box 105">
            <a:extLst>
              <a:ext uri="{FF2B5EF4-FFF2-40B4-BE49-F238E27FC236}">
                <a16:creationId xmlns:a16="http://schemas.microsoft.com/office/drawing/2014/main" id="{62596720-9610-D4E7-D8E6-C539627403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3090" y="3796773"/>
            <a:ext cx="3952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根据数据点的分布规律</a:t>
            </a:r>
          </a:p>
        </p:txBody>
      </p:sp>
      <p:sp>
        <p:nvSpPr>
          <p:cNvPr id="75" name="Text Box 118">
            <a:extLst>
              <a:ext uri="{FF2B5EF4-FFF2-40B4-BE49-F238E27FC236}">
                <a16:creationId xmlns:a16="http://schemas.microsoft.com/office/drawing/2014/main" id="{5828FACD-2A78-5C37-37CB-396E530AE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3090" y="4428807"/>
            <a:ext cx="3597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根据问题的实际背景</a:t>
            </a:r>
          </a:p>
        </p:txBody>
      </p:sp>
      <p:sp>
        <p:nvSpPr>
          <p:cNvPr id="76" name="Text Box 119">
            <a:extLst>
              <a:ext uri="{FF2B5EF4-FFF2-40B4-BE49-F238E27FC236}">
                <a16:creationId xmlns:a16="http://schemas.microsoft.com/office/drawing/2014/main" id="{D12E56D7-1DAD-F002-3A50-115BF9478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5776" y="5054283"/>
            <a:ext cx="3829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 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确定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近似函数的标准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Object 120">
                <a:extLst>
                  <a:ext uri="{FF2B5EF4-FFF2-40B4-BE49-F238E27FC236}">
                    <a16:creationId xmlns:a16="http://schemas.microsoft.com/office/drawing/2014/main" id="{C931CEBE-058B-20D8-69A8-CF7F416573A7}"/>
                  </a:ext>
                </a:extLst>
              </p:cNvPr>
              <p:cNvSpPr txBox="1"/>
              <p:nvPr/>
            </p:nvSpPr>
            <p:spPr bwMode="auto">
              <a:xfrm>
                <a:off x="6581269" y="5510374"/>
                <a:ext cx="2164286" cy="5322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7" name="Object 120">
                <a:extLst>
                  <a:ext uri="{FF2B5EF4-FFF2-40B4-BE49-F238E27FC236}">
                    <a16:creationId xmlns:a16="http://schemas.microsoft.com/office/drawing/2014/main" id="{C931CEBE-058B-20D8-69A8-CF7F41657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81269" y="5510374"/>
                <a:ext cx="2164286" cy="53229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 Box 121">
                <a:extLst>
                  <a:ext uri="{FF2B5EF4-FFF2-40B4-BE49-F238E27FC236}">
                    <a16:creationId xmlns:a16="http://schemas.microsoft.com/office/drawing/2014/main" id="{208D752D-1321-3C43-CEA9-B6610A63F2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3090" y="5557520"/>
                <a:ext cx="303480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fontAlgn="base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实验数据有误差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78" name="Text Box 121">
                <a:extLst>
                  <a:ext uri="{FF2B5EF4-FFF2-40B4-BE49-F238E27FC236}">
                    <a16:creationId xmlns:a16="http://schemas.microsoft.com/office/drawing/2014/main" id="{208D752D-1321-3C43-CEA9-B6610A63F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3090" y="5557520"/>
                <a:ext cx="3034805" cy="523220"/>
              </a:xfrm>
              <a:prstGeom prst="rect">
                <a:avLst/>
              </a:prstGeom>
              <a:blipFill>
                <a:blip r:embed="rId9"/>
                <a:stretch>
                  <a:fillRect l="-4829" t="-17647" b="-40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Text Box 122">
            <a:extLst>
              <a:ext uri="{FF2B5EF4-FFF2-40B4-BE49-F238E27FC236}">
                <a16:creationId xmlns:a16="http://schemas.microsoft.com/office/drawing/2014/main" id="{C81A6E8D-F615-8BBA-365E-6BCC703CA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3666" y="5565910"/>
            <a:ext cx="1606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不能要求</a:t>
            </a:r>
          </a:p>
        </p:txBody>
      </p:sp>
    </p:spTree>
    <p:extLst>
      <p:ext uri="{BB962C8B-B14F-4D97-AF65-F5344CB8AC3E}">
        <p14:creationId xmlns:p14="http://schemas.microsoft.com/office/powerpoint/2010/main" val="147365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 build="p" autoUpdateAnimBg="0"/>
      <p:bldP spid="49" grpId="0" build="p" autoUpdateAnimBg="0" advAuto="0"/>
      <p:bldP spid="50" grpId="0" build="p" autoUpdateAnimBg="0"/>
      <p:bldP spid="51" grpId="0"/>
      <p:bldP spid="71" grpId="0" build="p" autoUpdateAnimBg="0"/>
      <p:bldP spid="72" grpId="0" build="p" autoUpdateAnimBg="0"/>
      <p:bldP spid="73" grpId="0" build="p" autoUpdateAnimBg="0"/>
      <p:bldP spid="75" grpId="0" build="p" autoUpdateAnimBg="0"/>
      <p:bldP spid="76" grpId="0" build="p" autoUpdateAnimBg="0"/>
      <p:bldP spid="77" grpId="0"/>
      <p:bldP spid="78" grpId="0" build="p" autoUpdateAnimBg="0"/>
      <p:bldP spid="79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30">
            <a:extLst>
              <a:ext uri="{FF2B5EF4-FFF2-40B4-BE49-F238E27FC236}">
                <a16:creationId xmlns:a16="http://schemas.microsoft.com/office/drawing/2014/main" id="{3F20303C-150D-E144-1212-C2884EB81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256" y="590551"/>
            <a:ext cx="1108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偏差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31">
                <a:extLst>
                  <a:ext uri="{FF2B5EF4-FFF2-40B4-BE49-F238E27FC236}">
                    <a16:creationId xmlns:a16="http://schemas.microsoft.com/office/drawing/2014/main" id="{612AD8EA-0627-ED69-028F-9B92D47AC117}"/>
                  </a:ext>
                </a:extLst>
              </p:cNvPr>
              <p:cNvSpPr txBox="1"/>
              <p:nvPr/>
            </p:nvSpPr>
            <p:spPr bwMode="auto">
              <a:xfrm>
                <a:off x="2643982" y="566738"/>
                <a:ext cx="2530474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31">
                <a:extLst>
                  <a:ext uri="{FF2B5EF4-FFF2-40B4-BE49-F238E27FC236}">
                    <a16:creationId xmlns:a16="http://schemas.microsoft.com/office/drawing/2014/main" id="{612AD8EA-0627-ED69-028F-9B92D47AC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43982" y="566738"/>
                <a:ext cx="2530474" cy="444500"/>
              </a:xfrm>
              <a:prstGeom prst="rect">
                <a:avLst/>
              </a:prstGeom>
              <a:blipFill>
                <a:blip r:embed="rId6"/>
                <a:stretch>
                  <a:fillRect b="-547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32">
                <a:extLst>
                  <a:ext uri="{FF2B5EF4-FFF2-40B4-BE49-F238E27FC236}">
                    <a16:creationId xmlns:a16="http://schemas.microsoft.com/office/drawing/2014/main" id="{D7E6610C-28A0-B325-2DDC-39284CC41F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14901" y="571502"/>
                <a:ext cx="169469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有正有负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25" name="Text Box 32">
                <a:extLst>
                  <a:ext uri="{FF2B5EF4-FFF2-40B4-BE49-F238E27FC236}">
                    <a16:creationId xmlns:a16="http://schemas.microsoft.com/office/drawing/2014/main" id="{D7E6610C-28A0-B325-2DDC-39284CC41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14901" y="571502"/>
                <a:ext cx="1694695" cy="523220"/>
              </a:xfrm>
              <a:prstGeom prst="rect">
                <a:avLst/>
              </a:prstGeom>
              <a:blipFill>
                <a:blip r:embed="rId7"/>
                <a:stretch>
                  <a:fillRect l="-7194" t="-16279" r="-2158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33">
                <a:extLst>
                  <a:ext uri="{FF2B5EF4-FFF2-40B4-BE49-F238E27FC236}">
                    <a16:creationId xmlns:a16="http://schemas.microsoft.com/office/drawing/2014/main" id="{3E7F39BF-BBBF-6CB1-0468-DAB3A5DFEB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5950" y="1204913"/>
                <a:ext cx="3490058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值都较小且便于计算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26" name="Text Box 33">
                <a:extLst>
                  <a:ext uri="{FF2B5EF4-FFF2-40B4-BE49-F238E27FC236}">
                    <a16:creationId xmlns:a16="http://schemas.microsoft.com/office/drawing/2014/main" id="{3E7F39BF-BBBF-6CB1-0468-DAB3A5DFE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85950" y="1204913"/>
                <a:ext cx="3490058" cy="523220"/>
              </a:xfrm>
              <a:prstGeom prst="rect">
                <a:avLst/>
              </a:prstGeom>
              <a:blipFill>
                <a:blip r:embed="rId8"/>
                <a:stretch>
                  <a:fillRect l="-3490" t="-16471" r="-524" b="-294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Box 34">
            <a:extLst>
              <a:ext uri="{FF2B5EF4-FFF2-40B4-BE49-F238E27FC236}">
                <a16:creationId xmlns:a16="http://schemas.microsoft.com/office/drawing/2014/main" id="{208A1641-3006-D9B6-64C4-B921E346D4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9387" y="1190626"/>
            <a:ext cx="2698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可由偏差平方和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35">
                <a:extLst>
                  <a:ext uri="{FF2B5EF4-FFF2-40B4-BE49-F238E27FC236}">
                    <a16:creationId xmlns:a16="http://schemas.microsoft.com/office/drawing/2014/main" id="{7E1E2FBA-9731-C5C0-02F9-861D7CFFBA65}"/>
                  </a:ext>
                </a:extLst>
              </p:cNvPr>
              <p:cNvSpPr txBox="1"/>
              <p:nvPr/>
            </p:nvSpPr>
            <p:spPr bwMode="auto">
              <a:xfrm>
                <a:off x="3421856" y="1791166"/>
                <a:ext cx="3930650" cy="132192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=0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  <m:e>
                          <m:r>
                            <a:rPr kumimoji="1" lang="en-US" altLang="zh-CN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[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]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Object 35">
                <a:extLst>
                  <a:ext uri="{FF2B5EF4-FFF2-40B4-BE49-F238E27FC236}">
                    <a16:creationId xmlns:a16="http://schemas.microsoft.com/office/drawing/2014/main" id="{7E1E2FBA-9731-C5C0-02F9-861D7CFFB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21856" y="1791166"/>
                <a:ext cx="3930650" cy="13219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 Box 36">
            <a:extLst>
              <a:ext uri="{FF2B5EF4-FFF2-40B4-BE49-F238E27FC236}">
                <a16:creationId xmlns:a16="http://schemas.microsoft.com/office/drawing/2014/main" id="{2C7DDC54-4490-7D7A-D37F-D810C0676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362" y="563564"/>
            <a:ext cx="3384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为使所有偏差的绝对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Box 37">
                <a:extLst>
                  <a:ext uri="{FF2B5EF4-FFF2-40B4-BE49-F238E27FC236}">
                    <a16:creationId xmlns:a16="http://schemas.microsoft.com/office/drawing/2014/main" id="{78C08A55-1F2D-792A-6A11-5B9B38F9E6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5950" y="3136900"/>
                <a:ext cx="4303358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最小来确定近似函数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𝑓</m:t>
                    </m:r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en-US" altLang="zh-CN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en-US" altLang="zh-CN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.</a:t>
                </a:r>
              </a:p>
            </p:txBody>
          </p:sp>
        </mc:Choice>
        <mc:Fallback xmlns="">
          <p:sp>
            <p:nvSpPr>
              <p:cNvPr id="30" name="Text Box 37">
                <a:extLst>
                  <a:ext uri="{FF2B5EF4-FFF2-40B4-BE49-F238E27FC236}">
                    <a16:creationId xmlns:a16="http://schemas.microsoft.com/office/drawing/2014/main" id="{78C08A55-1F2D-792A-6A11-5B9B38F9E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85950" y="3136900"/>
                <a:ext cx="4303358" cy="523220"/>
              </a:xfrm>
              <a:prstGeom prst="rect">
                <a:avLst/>
              </a:prstGeom>
              <a:blipFill>
                <a:blip r:embed="rId10"/>
                <a:stretch>
                  <a:fillRect l="-2833" t="-16471" r="-2125" b="-341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9">
                <a:extLst>
                  <a:ext uri="{FF2B5EF4-FFF2-40B4-BE49-F238E27FC236}">
                    <a16:creationId xmlns:a16="http://schemas.microsoft.com/office/drawing/2014/main" id="{3EC90B95-342E-75C5-6042-200345A31C1C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885950" y="3805237"/>
                <a:ext cx="3276600" cy="609600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kumimoji="1" lang="zh-CN" altLang="en-US" sz="2800" b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最小二乘法原理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endParaRPr kumimoji="1" lang="en-US" altLang="zh-CN" sz="28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31" name="Rectangle 39">
                <a:extLst>
                  <a:ext uri="{FF2B5EF4-FFF2-40B4-BE49-F238E27FC236}">
                    <a16:creationId xmlns:a16="http://schemas.microsoft.com/office/drawing/2014/main" id="{3EC90B95-342E-75C5-6042-200345A31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950" y="3805237"/>
                <a:ext cx="3276600" cy="609600"/>
              </a:xfrm>
              <a:prstGeom prst="rect">
                <a:avLst/>
              </a:prstGeom>
              <a:blipFill>
                <a:blip r:embed="rId11"/>
                <a:stretch>
                  <a:fillRect l="-3717" t="-20000" b="-3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 Box 40">
            <a:extLst>
              <a:ext uri="{FF2B5EF4-FFF2-40B4-BE49-F238E27FC236}">
                <a16:creationId xmlns:a16="http://schemas.microsoft.com/office/drawing/2014/main" id="{3B5D11FB-98EF-9DDD-CA94-087641E73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4379912"/>
            <a:ext cx="350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设有一列实验数据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41">
                <a:extLst>
                  <a:ext uri="{FF2B5EF4-FFF2-40B4-BE49-F238E27FC236}">
                    <a16:creationId xmlns:a16="http://schemas.microsoft.com/office/drawing/2014/main" id="{854142A5-FE9A-0B81-F8A6-42754B74BC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5950" y="5023129"/>
                <a:ext cx="32766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分布在某条曲线上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33" name="Text Box 41">
                <a:extLst>
                  <a:ext uri="{FF2B5EF4-FFF2-40B4-BE49-F238E27FC236}">
                    <a16:creationId xmlns:a16="http://schemas.microsoft.com/office/drawing/2014/main" id="{854142A5-FE9A-0B81-F8A6-42754B74B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85950" y="5023129"/>
                <a:ext cx="3276600" cy="519113"/>
              </a:xfrm>
              <a:prstGeom prst="rect">
                <a:avLst/>
              </a:prstGeom>
              <a:blipFill>
                <a:blip r:embed="rId12"/>
                <a:stretch>
                  <a:fillRect l="-3717" t="-15294" b="-294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 Box 42">
            <a:extLst>
              <a:ext uri="{FF2B5EF4-FFF2-40B4-BE49-F238E27FC236}">
                <a16:creationId xmlns:a16="http://schemas.microsoft.com/office/drawing/2014/main" id="{4CC6CF52-1C05-29DC-1D93-1709FF197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224" y="5023129"/>
            <a:ext cx="556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通过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偏差平方和最小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求该曲线的方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Box 43">
                <a:extLst>
                  <a:ext uri="{FF2B5EF4-FFF2-40B4-BE49-F238E27FC236}">
                    <a16:creationId xmlns:a16="http://schemas.microsoft.com/office/drawing/2014/main" id="{3FB580A9-BC37-8E9D-F718-4F73EA057A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5950" y="5644492"/>
                <a:ext cx="32766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法称为</a:t>
                </a:r>
                <a:r>
                  <a:rPr kumimoji="1" lang="zh-CN" altLang="en-US" sz="2800" b="1" dirty="0">
                    <a:solidFill>
                      <a:srgbClr val="04926A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最小二乘法</a:t>
                </a:r>
                <a14:m>
                  <m:oMath xmlns:m="http://schemas.openxmlformats.org/officeDocument/2006/math">
                    <m:r>
                      <a:rPr kumimoji="1" lang="zh-CN" altLang="en-US" sz="2800" b="1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800" b="1" dirty="0">
                  <a:solidFill>
                    <a:srgbClr val="04926A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5" name="Text Box 43">
                <a:extLst>
                  <a:ext uri="{FF2B5EF4-FFF2-40B4-BE49-F238E27FC236}">
                    <a16:creationId xmlns:a16="http://schemas.microsoft.com/office/drawing/2014/main" id="{3FB580A9-BC37-8E9D-F718-4F73EA057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85950" y="5644492"/>
                <a:ext cx="3276600" cy="519113"/>
              </a:xfrm>
              <a:prstGeom prst="rect">
                <a:avLst/>
              </a:prstGeom>
              <a:blipFill>
                <a:blip r:embed="rId13"/>
                <a:stretch>
                  <a:fillRect l="-3717" t="-16471" b="-294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 Box 44">
            <a:extLst>
              <a:ext uri="{FF2B5EF4-FFF2-40B4-BE49-F238E27FC236}">
                <a16:creationId xmlns:a16="http://schemas.microsoft.com/office/drawing/2014/main" id="{17097B1B-10DC-3550-D903-0EC6DAA565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224" y="5644492"/>
            <a:ext cx="510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找出的函数关系称为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经验公式 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45">
                <a:extLst>
                  <a:ext uri="{FF2B5EF4-FFF2-40B4-BE49-F238E27FC236}">
                    <a16:creationId xmlns:a16="http://schemas.microsoft.com/office/drawing/2014/main" id="{4386FD70-6118-665E-A3DF-CDC8913AACE1}"/>
                  </a:ext>
                </a:extLst>
              </p:cNvPr>
              <p:cNvSpPr txBox="1"/>
              <p:nvPr/>
            </p:nvSpPr>
            <p:spPr bwMode="auto">
              <a:xfrm>
                <a:off x="4876795" y="4360208"/>
                <a:ext cx="3841747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) (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=0,1,⋯,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Object 45">
                <a:extLst>
                  <a:ext uri="{FF2B5EF4-FFF2-40B4-BE49-F238E27FC236}">
                    <a16:creationId xmlns:a16="http://schemas.microsoft.com/office/drawing/2014/main" id="{4386FD70-6118-665E-A3DF-CDC8913AA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76795" y="4360208"/>
                <a:ext cx="3841747" cy="444500"/>
              </a:xfrm>
              <a:prstGeom prst="rect">
                <a:avLst/>
              </a:prstGeom>
              <a:blipFill>
                <a:blip r:embed="rId14"/>
                <a:stretch>
                  <a:fillRect b="-547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 Box 46">
            <a:extLst>
              <a:ext uri="{FF2B5EF4-FFF2-40B4-BE49-F238E27FC236}">
                <a16:creationId xmlns:a16="http://schemas.microsoft.com/office/drawing/2014/main" id="{3F56C998-81E0-AC63-0684-7D6AAE64F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1996" y="4360862"/>
            <a:ext cx="17107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它们大体 </a:t>
            </a:r>
          </a:p>
        </p:txBody>
      </p:sp>
    </p:spTree>
    <p:extLst>
      <p:ext uri="{BB962C8B-B14F-4D97-AF65-F5344CB8AC3E}">
        <p14:creationId xmlns:p14="http://schemas.microsoft.com/office/powerpoint/2010/main" val="2993343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 autoUpdateAnimBg="0"/>
      <p:bldP spid="24" grpId="0"/>
      <p:bldP spid="25" grpId="0" build="p" autoUpdateAnimBg="0" advAuto="0"/>
      <p:bldP spid="26" grpId="0" build="p" autoUpdateAnimBg="0" advAuto="0"/>
      <p:bldP spid="27" grpId="0" build="p" autoUpdateAnimBg="0"/>
      <p:bldP spid="28" grpId="0"/>
      <p:bldP spid="29" grpId="0" build="p" autoUpdateAnimBg="0"/>
      <p:bldP spid="30" grpId="0" build="p" autoUpdateAnimBg="0"/>
      <p:bldP spid="31" grpId="0" build="p" autoUpdateAnimBg="0"/>
      <p:bldP spid="32" grpId="0" build="p" autoUpdateAnimBg="0"/>
      <p:bldP spid="33" grpId="0" build="p" autoUpdateAnimBg="0" advAuto="0"/>
      <p:bldP spid="34" grpId="0" autoUpdateAnimBg="0"/>
      <p:bldP spid="35" grpId="0" autoUpdateAnimBg="0"/>
      <p:bldP spid="36" grpId="0" autoUpdateAnimBg="0"/>
      <p:bldP spid="37" grpId="0"/>
      <p:bldP spid="38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22">
            <a:extLst>
              <a:ext uri="{FF2B5EF4-FFF2-40B4-BE49-F238E27FC236}">
                <a16:creationId xmlns:a16="http://schemas.microsoft.com/office/drawing/2014/main" id="{89545B1B-93D0-2415-3114-3ED9EE390BAA}"/>
              </a:ext>
            </a:extLst>
          </p:cNvPr>
          <p:cNvSpPr txBox="1">
            <a:spLocks noChangeArrowheads="1"/>
          </p:cNvSpPr>
          <p:nvPr/>
        </p:nvSpPr>
        <p:spPr>
          <a:xfrm>
            <a:off x="1792969" y="541637"/>
            <a:ext cx="5943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ea typeface="黑体" panose="02010609060101010101" pitchFamily="49" charset="-122"/>
              </a:rPr>
              <a:t>特别</a:t>
            </a:r>
            <a:r>
              <a:rPr lang="en-US" altLang="zh-CN" sz="2800" dirty="0">
                <a:ea typeface="黑体" panose="02010609060101010101" pitchFamily="49" charset="-122"/>
              </a:rPr>
              <a:t>, </a:t>
            </a:r>
            <a:r>
              <a:rPr lang="zh-CN" altLang="en-US" sz="2800" dirty="0">
                <a:ea typeface="黑体" panose="02010609060101010101" pitchFamily="49" charset="-122"/>
              </a:rPr>
              <a:t>当数据点分布近似一条直线时</a:t>
            </a:r>
            <a:r>
              <a:rPr lang="en-US" altLang="zh-CN" sz="2800" dirty="0">
                <a:ea typeface="黑体" panose="02010609060101010101" pitchFamily="49" charset="-122"/>
              </a:rPr>
              <a:t>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 Box 24">
                <a:extLst>
                  <a:ext uri="{FF2B5EF4-FFF2-40B4-BE49-F238E27FC236}">
                    <a16:creationId xmlns:a16="http://schemas.microsoft.com/office/drawing/2014/main" id="{BF483C8B-5186-BD71-28CE-A3C7F5E399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43200" y="565326"/>
                <a:ext cx="26670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问题为确定</a:t>
                </a:r>
                <a14:m>
                  <m:oMath xmlns:m="http://schemas.openxmlformats.org/officeDocument/2006/math">
                    <m:r>
                      <a:rPr kumimoji="1" lang="en-US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𝑎</m:t>
                    </m:r>
                    <m:r>
                      <a:rPr kumimoji="1" lang="en-US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,</m:t>
                    </m:r>
                    <m:r>
                      <a:rPr kumimoji="1" lang="en-US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𝑏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40" name="Text Box 24">
                <a:extLst>
                  <a:ext uri="{FF2B5EF4-FFF2-40B4-BE49-F238E27FC236}">
                    <a16:creationId xmlns:a16="http://schemas.microsoft.com/office/drawing/2014/main" id="{BF483C8B-5186-BD71-28CE-A3C7F5E39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43200" y="565326"/>
                <a:ext cx="2667000" cy="523220"/>
              </a:xfrm>
              <a:prstGeom prst="rect">
                <a:avLst/>
              </a:prstGeom>
              <a:blipFill>
                <a:blip r:embed="rId3"/>
                <a:stretch>
                  <a:fillRect l="-4805" t="-16279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 Box 25">
            <a:extLst>
              <a:ext uri="{FF2B5EF4-FFF2-40B4-BE49-F238E27FC236}">
                <a16:creationId xmlns:a16="http://schemas.microsoft.com/office/drawing/2014/main" id="{59E2CB47-E95A-0F6E-DF64-D46D52AD1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7848" y="3039382"/>
            <a:ext cx="53773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bject 32">
                <a:extLst>
                  <a:ext uri="{FF2B5EF4-FFF2-40B4-BE49-F238E27FC236}">
                    <a16:creationId xmlns:a16="http://schemas.microsoft.com/office/drawing/2014/main" id="{BFC5D69D-443A-D6EC-CCF2-337A44B12D84}"/>
                  </a:ext>
                </a:extLst>
              </p:cNvPr>
              <p:cNvSpPr txBox="1"/>
              <p:nvPr/>
            </p:nvSpPr>
            <p:spPr bwMode="auto">
              <a:xfrm>
                <a:off x="3890593" y="1488181"/>
                <a:ext cx="3088737" cy="9572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=0</m:t>
                          </m:r>
                        </m:sub>
                        <m:sup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  <m:e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𝑎</m:t>
                      </m:r>
                      <m:sSub>
                        <m:sSubPr>
                          <m:ctrlP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sub>
                      </m:sSub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𝑏</m:t>
                      </m:r>
                      <m:sSup>
                        <m:sSupPr>
                          <m:ctrlP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p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min</m:t>
                      </m:r>
                    </m:oMath>
                  </m:oMathPara>
                </a14:m>
                <a:endParaRPr kumimoji="1" lang="zh-CN" altLang="en-US" sz="2000" i="1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2" name="Object 32">
                <a:extLst>
                  <a:ext uri="{FF2B5EF4-FFF2-40B4-BE49-F238E27FC236}">
                    <a16:creationId xmlns:a16="http://schemas.microsoft.com/office/drawing/2014/main" id="{BFC5D69D-443A-D6EC-CCF2-337A44B12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90593" y="1488181"/>
                <a:ext cx="3088737" cy="9572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bject 33">
                <a:extLst>
                  <a:ext uri="{FF2B5EF4-FFF2-40B4-BE49-F238E27FC236}">
                    <a16:creationId xmlns:a16="http://schemas.microsoft.com/office/drawing/2014/main" id="{6EE2EA1F-FF2F-6A72-7C7A-F881CFA007B4}"/>
                  </a:ext>
                </a:extLst>
              </p:cNvPr>
              <p:cNvSpPr txBox="1"/>
              <p:nvPr/>
            </p:nvSpPr>
            <p:spPr bwMode="auto">
              <a:xfrm>
                <a:off x="2741794" y="1762567"/>
                <a:ext cx="1314668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𝑀</m:t>
                      </m:r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𝑎</m:t>
                      </m:r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𝑏</m:t>
                      </m:r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</m:oMath>
                  </m:oMathPara>
                </a14:m>
                <a:endParaRPr kumimoji="1" lang="zh-CN" altLang="en-US" sz="2000" i="1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3" name="Object 33">
                <a:extLst>
                  <a:ext uri="{FF2B5EF4-FFF2-40B4-BE49-F238E27FC236}">
                    <a16:creationId xmlns:a16="http://schemas.microsoft.com/office/drawing/2014/main" id="{6EE2EA1F-FF2F-6A72-7C7A-F881CFA00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1794" y="1762567"/>
                <a:ext cx="1314668" cy="406400"/>
              </a:xfrm>
              <a:prstGeom prst="rect">
                <a:avLst/>
              </a:prstGeom>
              <a:blipFill>
                <a:blip r:embed="rId5"/>
                <a:stretch>
                  <a:fillRect b="-1641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AutoShape 34">
            <a:extLst>
              <a:ext uri="{FF2B5EF4-FFF2-40B4-BE49-F238E27FC236}">
                <a16:creationId xmlns:a16="http://schemas.microsoft.com/office/drawing/2014/main" id="{771C6C39-D80E-5FAC-0683-26ADE935D36D}"/>
              </a:ext>
            </a:extLst>
          </p:cNvPr>
          <p:cNvSpPr>
            <a:spLocks/>
          </p:cNvSpPr>
          <p:nvPr/>
        </p:nvSpPr>
        <p:spPr bwMode="auto">
          <a:xfrm>
            <a:off x="2447019" y="2561544"/>
            <a:ext cx="190499" cy="1512887"/>
          </a:xfrm>
          <a:prstGeom prst="leftBrace">
            <a:avLst>
              <a:gd name="adj1" fmla="val 72986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bject 35">
                <a:extLst>
                  <a:ext uri="{FF2B5EF4-FFF2-40B4-BE49-F238E27FC236}">
                    <a16:creationId xmlns:a16="http://schemas.microsoft.com/office/drawing/2014/main" id="{A3239631-5444-FA40-01B3-25F9F869902E}"/>
                  </a:ext>
                </a:extLst>
              </p:cNvPr>
              <p:cNvSpPr txBox="1"/>
              <p:nvPr/>
            </p:nvSpPr>
            <p:spPr bwMode="auto">
              <a:xfrm>
                <a:off x="2659744" y="2485344"/>
                <a:ext cx="889000" cy="811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𝑀</m:t>
                          </m:r>
                        </m:num>
                        <m:den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𝑎</m:t>
                          </m:r>
                        </m:den>
                      </m:f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000" i="1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5" name="Object 35">
                <a:extLst>
                  <a:ext uri="{FF2B5EF4-FFF2-40B4-BE49-F238E27FC236}">
                    <a16:creationId xmlns:a16="http://schemas.microsoft.com/office/drawing/2014/main" id="{A3239631-5444-FA40-01B3-25F9F8699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9744" y="2485344"/>
                <a:ext cx="889000" cy="8112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bject 36">
                <a:extLst>
                  <a:ext uri="{FF2B5EF4-FFF2-40B4-BE49-F238E27FC236}">
                    <a16:creationId xmlns:a16="http://schemas.microsoft.com/office/drawing/2014/main" id="{40F7387E-334D-D6CD-90B6-89102EB5CF2E}"/>
                  </a:ext>
                </a:extLst>
              </p:cNvPr>
              <p:cNvSpPr txBox="1"/>
              <p:nvPr/>
            </p:nvSpPr>
            <p:spPr bwMode="auto">
              <a:xfrm>
                <a:off x="3306393" y="2378980"/>
                <a:ext cx="3312570" cy="9683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−2</m:t>
                      </m:r>
                      <m:nary>
                        <m:naryPr>
                          <m:chr m:val="∑"/>
                          <m:ctrlP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=0</m:t>
                          </m:r>
                        </m:sub>
                        <m:sup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  <m:e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𝑎</m:t>
                      </m:r>
                      <m:sSub>
                        <m:sSubPr>
                          <m:ctrlP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sub>
                      </m:sSub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𝑏</m:t>
                      </m:r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sSub>
                        <m:sSubPr>
                          <m:ctrlP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sub>
                      </m:sSub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</m:t>
                      </m:r>
                    </m:oMath>
                  </m:oMathPara>
                </a14:m>
                <a:endParaRPr kumimoji="1" lang="zh-CN" altLang="en-US" sz="2000" i="1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6" name="Object 36">
                <a:extLst>
                  <a:ext uri="{FF2B5EF4-FFF2-40B4-BE49-F238E27FC236}">
                    <a16:creationId xmlns:a16="http://schemas.microsoft.com/office/drawing/2014/main" id="{40F7387E-334D-D6CD-90B6-89102EB5C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06393" y="2378980"/>
                <a:ext cx="3312570" cy="9683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37">
                <a:extLst>
                  <a:ext uri="{FF2B5EF4-FFF2-40B4-BE49-F238E27FC236}">
                    <a16:creationId xmlns:a16="http://schemas.microsoft.com/office/drawing/2014/main" id="{F1DF2647-E0BA-C013-3845-AE7E02EE6A18}"/>
                  </a:ext>
                </a:extLst>
              </p:cNvPr>
              <p:cNvSpPr txBox="1"/>
              <p:nvPr/>
            </p:nvSpPr>
            <p:spPr bwMode="auto">
              <a:xfrm>
                <a:off x="2735944" y="3399744"/>
                <a:ext cx="8890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𝑀</m:t>
                          </m:r>
                        </m:num>
                        <m:den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𝑏</m:t>
                          </m:r>
                        </m:den>
                      </m:f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000" i="1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7" name="Object 37">
                <a:extLst>
                  <a:ext uri="{FF2B5EF4-FFF2-40B4-BE49-F238E27FC236}">
                    <a16:creationId xmlns:a16="http://schemas.microsoft.com/office/drawing/2014/main" id="{F1DF2647-E0BA-C013-3845-AE7E02EE6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35944" y="3399744"/>
                <a:ext cx="889000" cy="9271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38">
                <a:extLst>
                  <a:ext uri="{FF2B5EF4-FFF2-40B4-BE49-F238E27FC236}">
                    <a16:creationId xmlns:a16="http://schemas.microsoft.com/office/drawing/2014/main" id="{128D0186-2FD5-D40B-FE25-9D1628E032D3}"/>
                  </a:ext>
                </a:extLst>
              </p:cNvPr>
              <p:cNvSpPr txBox="1"/>
              <p:nvPr/>
            </p:nvSpPr>
            <p:spPr bwMode="auto">
              <a:xfrm>
                <a:off x="3393170" y="3290206"/>
                <a:ext cx="3490913" cy="1003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−2</m:t>
                      </m:r>
                      <m:nary>
                        <m:naryPr>
                          <m:chr m:val="∑"/>
                          <m:ctrlP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=0</m:t>
                          </m:r>
                        </m:sub>
                        <m:sup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  <m:e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𝑎</m:t>
                      </m:r>
                      <m:sSub>
                        <m:sSubPr>
                          <m:ctrlP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sub>
                      </m:sSub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𝑏</m:t>
                      </m:r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</m:t>
                      </m:r>
                    </m:oMath>
                  </m:oMathPara>
                </a14:m>
                <a:endParaRPr kumimoji="1" lang="zh-CN" altLang="en-US" sz="2000" i="1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8" name="Object 38">
                <a:extLst>
                  <a:ext uri="{FF2B5EF4-FFF2-40B4-BE49-F238E27FC236}">
                    <a16:creationId xmlns:a16="http://schemas.microsoft.com/office/drawing/2014/main" id="{128D0186-2FD5-D40B-FE25-9D1628E03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93170" y="3290206"/>
                <a:ext cx="3490913" cy="10033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bject 43">
                <a:extLst>
                  <a:ext uri="{FF2B5EF4-FFF2-40B4-BE49-F238E27FC236}">
                    <a16:creationId xmlns:a16="http://schemas.microsoft.com/office/drawing/2014/main" id="{0ECA6AAE-EF87-A85A-2941-CA7C88EDD605}"/>
                  </a:ext>
                </a:extLst>
              </p:cNvPr>
              <p:cNvSpPr txBox="1"/>
              <p:nvPr/>
            </p:nvSpPr>
            <p:spPr bwMode="auto">
              <a:xfrm>
                <a:off x="2238263" y="1053518"/>
                <a:ext cx="1947862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𝑎𝑥</m:t>
                      </m:r>
                      <m:r>
                        <a:rPr kumimoji="1" lang="zh-CN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𝑏</m:t>
                      </m:r>
                    </m:oMath>
                  </m:oMathPara>
                </a14:m>
                <a:endParaRPr kumimoji="1" lang="zh-CN" altLang="en-US" sz="2800" i="1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9" name="Object 43">
                <a:extLst>
                  <a:ext uri="{FF2B5EF4-FFF2-40B4-BE49-F238E27FC236}">
                    <a16:creationId xmlns:a16="http://schemas.microsoft.com/office/drawing/2014/main" id="{0ECA6AAE-EF87-A85A-2941-CA7C88EDD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38263" y="1053518"/>
                <a:ext cx="1947862" cy="406400"/>
              </a:xfrm>
              <a:prstGeom prst="rect">
                <a:avLst/>
              </a:prstGeom>
              <a:blipFill>
                <a:blip r:embed="rId10"/>
                <a:stretch>
                  <a:fillRect b="-166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Box 44">
                <a:extLst>
                  <a:ext uri="{FF2B5EF4-FFF2-40B4-BE49-F238E27FC236}">
                    <a16:creationId xmlns:a16="http://schemas.microsoft.com/office/drawing/2014/main" id="{8ECF1122-EAC3-135D-2085-BA6AAD99AD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3720" y="1072359"/>
                <a:ext cx="993775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满足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50" name="Text Box 44">
                <a:extLst>
                  <a:ext uri="{FF2B5EF4-FFF2-40B4-BE49-F238E27FC236}">
                    <a16:creationId xmlns:a16="http://schemas.microsoft.com/office/drawing/2014/main" id="{8ECF1122-EAC3-135D-2085-BA6AAD99A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83720" y="1072359"/>
                <a:ext cx="993775" cy="519113"/>
              </a:xfrm>
              <a:prstGeom prst="rect">
                <a:avLst/>
              </a:prstGeom>
              <a:blipFill>
                <a:blip r:embed="rId11"/>
                <a:stretch>
                  <a:fillRect l="-12195" t="-16471" r="-2439" b="-294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 Box 45">
            <a:extLst>
              <a:ext uri="{FF2B5EF4-FFF2-40B4-BE49-F238E27FC236}">
                <a16:creationId xmlns:a16="http://schemas.microsoft.com/office/drawing/2014/main" id="{3EDFC4E7-66D2-1B70-70C2-F113E39E4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9319" y="1072359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使</a:t>
            </a:r>
          </a:p>
        </p:txBody>
      </p:sp>
      <p:sp>
        <p:nvSpPr>
          <p:cNvPr id="72" name="Text Box 66">
            <a:extLst>
              <a:ext uri="{FF2B5EF4-FFF2-40B4-BE49-F238E27FC236}">
                <a16:creationId xmlns:a16="http://schemas.microsoft.com/office/drawing/2014/main" id="{2757B768-B0DF-B727-A84F-F1E444378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969" y="5122182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得</a:t>
            </a:r>
          </a:p>
        </p:txBody>
      </p:sp>
      <p:sp>
        <p:nvSpPr>
          <p:cNvPr id="73" name="AutoShape 67">
            <a:extLst>
              <a:ext uri="{FF2B5EF4-FFF2-40B4-BE49-F238E27FC236}">
                <a16:creationId xmlns:a16="http://schemas.microsoft.com/office/drawing/2014/main" id="{9449C015-F3E5-6FD6-7E89-4914C09D1F96}"/>
              </a:ext>
            </a:extLst>
          </p:cNvPr>
          <p:cNvSpPr>
            <a:spLocks/>
          </p:cNvSpPr>
          <p:nvPr/>
        </p:nvSpPr>
        <p:spPr bwMode="auto">
          <a:xfrm>
            <a:off x="2459719" y="4587194"/>
            <a:ext cx="190500" cy="1668462"/>
          </a:xfrm>
          <a:prstGeom prst="leftBrace">
            <a:avLst>
              <a:gd name="adj1" fmla="val 72986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Object 69">
                <a:extLst>
                  <a:ext uri="{FF2B5EF4-FFF2-40B4-BE49-F238E27FC236}">
                    <a16:creationId xmlns:a16="http://schemas.microsoft.com/office/drawing/2014/main" id="{E09C7DA6-08E1-87A2-7E5A-426BA5366A3C}"/>
                  </a:ext>
                </a:extLst>
              </p:cNvPr>
              <p:cNvSpPr txBox="1"/>
              <p:nvPr/>
            </p:nvSpPr>
            <p:spPr bwMode="auto">
              <a:xfrm>
                <a:off x="2675619" y="4426856"/>
                <a:ext cx="1460500" cy="1003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  <m: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=0</m:t>
                              </m:r>
                            </m:sub>
                            <m:sup>
                              <m: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kumimoji="1" lang="zh-CN" altLang="en-US" sz="2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zh-CN" altLang="en-US" sz="2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zh-CN" altLang="en-US" sz="2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kumimoji="1" lang="zh-CN" altLang="en-US" sz="2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d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𝑎</m:t>
                      </m:r>
                    </m:oMath>
                  </m:oMathPara>
                </a14:m>
                <a:endParaRPr kumimoji="1" lang="zh-CN" altLang="en-US" sz="2000" i="1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4" name="Object 69">
                <a:extLst>
                  <a:ext uri="{FF2B5EF4-FFF2-40B4-BE49-F238E27FC236}">
                    <a16:creationId xmlns:a16="http://schemas.microsoft.com/office/drawing/2014/main" id="{E09C7DA6-08E1-87A2-7E5A-426BA5366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75619" y="4426856"/>
                <a:ext cx="1460500" cy="10033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Object 70">
                <a:extLst>
                  <a:ext uri="{FF2B5EF4-FFF2-40B4-BE49-F238E27FC236}">
                    <a16:creationId xmlns:a16="http://schemas.microsoft.com/office/drawing/2014/main" id="{8B70B573-BCB1-0A1D-44BE-E64F348B672A}"/>
                  </a:ext>
                </a:extLst>
              </p:cNvPr>
              <p:cNvSpPr txBox="1"/>
              <p:nvPr/>
            </p:nvSpPr>
            <p:spPr bwMode="auto">
              <a:xfrm>
                <a:off x="3882119" y="4445906"/>
                <a:ext cx="1701800" cy="1003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d>
                        <m:dPr>
                          <m:ctrlPr>
                            <a:rPr kumimoji="1"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  <m: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=0</m:t>
                              </m:r>
                            </m:sub>
                            <m:sup>
                              <m: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kumimoji="1" lang="zh-CN" altLang="en-US" sz="2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zh-CN" altLang="en-US" sz="2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kumimoji="1" lang="en-US" altLang="zh-CN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𝑏</m:t>
                      </m:r>
                    </m:oMath>
                  </m:oMathPara>
                </a14:m>
                <a:endParaRPr kumimoji="1" lang="zh-CN" altLang="en-US" sz="2000" i="1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5" name="Object 70">
                <a:extLst>
                  <a:ext uri="{FF2B5EF4-FFF2-40B4-BE49-F238E27FC236}">
                    <a16:creationId xmlns:a16="http://schemas.microsoft.com/office/drawing/2014/main" id="{8B70B573-BCB1-0A1D-44BE-E64F348B6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82119" y="4445906"/>
                <a:ext cx="1701800" cy="10033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Object 71">
                <a:extLst>
                  <a:ext uri="{FF2B5EF4-FFF2-40B4-BE49-F238E27FC236}">
                    <a16:creationId xmlns:a16="http://schemas.microsoft.com/office/drawing/2014/main" id="{09D84E50-367C-C475-9D34-6B326BBE9CCB}"/>
                  </a:ext>
                </a:extLst>
              </p:cNvPr>
              <p:cNvSpPr txBox="1"/>
              <p:nvPr/>
            </p:nvSpPr>
            <p:spPr bwMode="auto">
              <a:xfrm>
                <a:off x="5333094" y="4436381"/>
                <a:ext cx="1498600" cy="1003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=0</m:t>
                          </m:r>
                        </m:sub>
                        <m:sup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2000" i="1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6" name="Object 71">
                <a:extLst>
                  <a:ext uri="{FF2B5EF4-FFF2-40B4-BE49-F238E27FC236}">
                    <a16:creationId xmlns:a16="http://schemas.microsoft.com/office/drawing/2014/main" id="{09D84E50-367C-C475-9D34-6B326BBE9C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3094" y="4436381"/>
                <a:ext cx="1498600" cy="10033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Object 72">
                <a:extLst>
                  <a:ext uri="{FF2B5EF4-FFF2-40B4-BE49-F238E27FC236}">
                    <a16:creationId xmlns:a16="http://schemas.microsoft.com/office/drawing/2014/main" id="{2E5ACEC1-CEAB-0404-FF46-68D0554DBBA4}"/>
                  </a:ext>
                </a:extLst>
              </p:cNvPr>
              <p:cNvSpPr txBox="1"/>
              <p:nvPr/>
            </p:nvSpPr>
            <p:spPr bwMode="auto">
              <a:xfrm>
                <a:off x="2675620" y="5417457"/>
                <a:ext cx="1355187" cy="1003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  <m: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=0</m:t>
                              </m:r>
                            </m:sub>
                            <m:sup>
                              <m: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kumimoji="1" lang="zh-CN" altLang="en-US" sz="2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zh-CN" altLang="en-US" sz="2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𝑎</m:t>
                      </m:r>
                    </m:oMath>
                  </m:oMathPara>
                </a14:m>
                <a:endParaRPr kumimoji="1" lang="zh-CN" altLang="en-US" sz="2000" i="1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7" name="Object 72">
                <a:extLst>
                  <a:ext uri="{FF2B5EF4-FFF2-40B4-BE49-F238E27FC236}">
                    <a16:creationId xmlns:a16="http://schemas.microsoft.com/office/drawing/2014/main" id="{2E5ACEC1-CEAB-0404-FF46-68D0554DB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75620" y="5417457"/>
                <a:ext cx="1355187" cy="10033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Object 73">
                <a:extLst>
                  <a:ext uri="{FF2B5EF4-FFF2-40B4-BE49-F238E27FC236}">
                    <a16:creationId xmlns:a16="http://schemas.microsoft.com/office/drawing/2014/main" id="{4321E78F-8C86-D542-6D31-58E6253E0E03}"/>
                  </a:ext>
                </a:extLst>
              </p:cNvPr>
              <p:cNvSpPr txBox="1"/>
              <p:nvPr/>
            </p:nvSpPr>
            <p:spPr bwMode="auto">
              <a:xfrm>
                <a:off x="3855646" y="5696646"/>
                <a:ext cx="1584863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+(</m:t>
                      </m:r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+1)</m:t>
                      </m:r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𝑏</m:t>
                      </m:r>
                    </m:oMath>
                  </m:oMathPara>
                </a14:m>
                <a:endParaRPr kumimoji="1" lang="zh-CN" altLang="en-US" sz="2000" i="1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8" name="Object 73">
                <a:extLst>
                  <a:ext uri="{FF2B5EF4-FFF2-40B4-BE49-F238E27FC236}">
                    <a16:creationId xmlns:a16="http://schemas.microsoft.com/office/drawing/2014/main" id="{4321E78F-8C86-D542-6D31-58E6253E0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55646" y="5696646"/>
                <a:ext cx="1584863" cy="406400"/>
              </a:xfrm>
              <a:prstGeom prst="rect">
                <a:avLst/>
              </a:prstGeom>
              <a:blipFill>
                <a:blip r:embed="rId19"/>
                <a:stretch>
                  <a:fillRect b="-1641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Object 74">
                <a:extLst>
                  <a:ext uri="{FF2B5EF4-FFF2-40B4-BE49-F238E27FC236}">
                    <a16:creationId xmlns:a16="http://schemas.microsoft.com/office/drawing/2014/main" id="{85D8E41E-4FE3-13CC-18F2-AB34F9AE89CC}"/>
                  </a:ext>
                </a:extLst>
              </p:cNvPr>
              <p:cNvSpPr txBox="1"/>
              <p:nvPr/>
            </p:nvSpPr>
            <p:spPr bwMode="auto">
              <a:xfrm>
                <a:off x="5030934" y="5417456"/>
                <a:ext cx="1150424" cy="1003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=0</m:t>
                          </m:r>
                        </m:sub>
                        <m:sup>
                          <m:r>
                            <a:rPr kumimoji="1" lang="zh-CN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zh-CN" alt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2000" i="1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9" name="Object 74">
                <a:extLst>
                  <a:ext uri="{FF2B5EF4-FFF2-40B4-BE49-F238E27FC236}">
                    <a16:creationId xmlns:a16="http://schemas.microsoft.com/office/drawing/2014/main" id="{85D8E41E-4FE3-13CC-18F2-AB34F9AE8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30934" y="5417456"/>
                <a:ext cx="1150424" cy="100330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 Box 75">
                <a:extLst>
                  <a:ext uri="{FF2B5EF4-FFF2-40B4-BE49-F238E27FC236}">
                    <a16:creationId xmlns:a16="http://schemas.microsoft.com/office/drawing/2014/main" id="{27B401E3-6EBC-A5E3-674F-CD66F8C6A9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58586" y="5223781"/>
                <a:ext cx="2673350" cy="1031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解此线性方程组</a:t>
                </a:r>
              </a:p>
              <a:p>
                <a:pPr lvl="0"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即得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kumimoji="1" lang="en-US" altLang="zh-CN" sz="2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80" name="Text Box 75">
                <a:extLst>
                  <a:ext uri="{FF2B5EF4-FFF2-40B4-BE49-F238E27FC236}">
                    <a16:creationId xmlns:a16="http://schemas.microsoft.com/office/drawing/2014/main" id="{27B401E3-6EBC-A5E3-674F-CD66F8C6A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58586" y="5223781"/>
                <a:ext cx="2673350" cy="1031875"/>
              </a:xfrm>
              <a:prstGeom prst="rect">
                <a:avLst/>
              </a:prstGeom>
              <a:blipFill>
                <a:blip r:embed="rId21"/>
                <a:stretch>
                  <a:fillRect l="-4795" t="-8284" r="-4566" b="-1479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Object 78">
            <a:extLst>
              <a:ext uri="{FF2B5EF4-FFF2-40B4-BE49-F238E27FC236}">
                <a16:creationId xmlns:a16="http://schemas.microsoft.com/office/drawing/2014/main" id="{EA0E21C7-942C-5326-3B24-A70B09236CE1}"/>
              </a:ext>
            </a:extLst>
          </p:cNvPr>
          <p:cNvSpPr txBox="1"/>
          <p:nvPr/>
        </p:nvSpPr>
        <p:spPr bwMode="auto">
          <a:xfrm>
            <a:off x="5964919" y="3296556"/>
            <a:ext cx="203200" cy="4318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83" name="AutoShape 7">
            <a:extLst>
              <a:ext uri="{FF2B5EF4-FFF2-40B4-BE49-F238E27FC236}">
                <a16:creationId xmlns:a16="http://schemas.microsoft.com/office/drawing/2014/main" id="{38C3F404-99F8-26C8-09F7-703DC6237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3720" y="4447472"/>
            <a:ext cx="2304000" cy="457200"/>
          </a:xfrm>
          <a:prstGeom prst="wedgeRectCallout">
            <a:avLst>
              <a:gd name="adj1" fmla="val -65790"/>
              <a:gd name="adj2" fmla="val 46112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charset="0"/>
                <a:ea typeface="黑体" panose="02010609060101010101" pitchFamily="49" charset="-122"/>
                <a:sym typeface="+mn-ea"/>
              </a:rPr>
              <a:t>称为法方程组</a:t>
            </a:r>
            <a:endParaRPr lang="zh-CN" altLang="en-US" sz="2800" b="1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0730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 autoUpdateAnimBg="0"/>
      <p:bldP spid="41" grpId="0" autoUpdateAnimBg="0"/>
      <p:bldP spid="42" grpId="0"/>
      <p:bldP spid="43" grpId="0"/>
      <p:bldP spid="45" grpId="0"/>
      <p:bldP spid="46" grpId="0"/>
      <p:bldP spid="47" grpId="0"/>
      <p:bldP spid="48" grpId="0"/>
      <p:bldP spid="49" grpId="0"/>
      <p:bldP spid="50" grpId="0" build="p" autoUpdateAnimBg="0" advAuto="0"/>
      <p:bldP spid="51" grpId="0" autoUpdateAnimBg="0"/>
      <p:bldP spid="72" grpId="0"/>
      <p:bldP spid="73" grpId="0" animBg="1"/>
      <p:bldP spid="74" grpId="0"/>
      <p:bldP spid="75" grpId="0"/>
      <p:bldP spid="76" grpId="0"/>
      <p:bldP spid="77" grpId="0"/>
      <p:bldP spid="78" grpId="0"/>
      <p:bldP spid="79" grpId="0"/>
      <p:bldP spid="80" grpId="0" uiExpand="1" build="p" autoUpdateAnimBg="0"/>
      <p:bldP spid="8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295DF127-432B-446A-CD90-8833C4453070}"/>
              </a:ext>
            </a:extLst>
          </p:cNvPr>
          <p:cNvGrpSpPr/>
          <p:nvPr/>
        </p:nvGrpSpPr>
        <p:grpSpPr>
          <a:xfrm>
            <a:off x="878304" y="1585564"/>
            <a:ext cx="10482627" cy="4399069"/>
            <a:chOff x="1022683" y="1195039"/>
            <a:chExt cx="10482627" cy="43990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4A1C227F-A9DF-F321-5DCE-B8701055F6BF}"/>
                    </a:ext>
                  </a:extLst>
                </p:cNvPr>
                <p:cNvSpPr/>
                <p:nvPr/>
              </p:nvSpPr>
              <p:spPr>
                <a:xfrm>
                  <a:off x="1022683" y="1195480"/>
                  <a:ext cx="10482627" cy="439862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4A1C227F-A9DF-F321-5DCE-B8701055F6B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2683" y="1195480"/>
                  <a:ext cx="10482627" cy="439862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半闭框 19">
              <a:extLst>
                <a:ext uri="{FF2B5EF4-FFF2-40B4-BE49-F238E27FC236}">
                  <a16:creationId xmlns:a16="http://schemas.microsoft.com/office/drawing/2014/main" id="{F9C43C5F-36C5-D81F-2202-37219558E763}"/>
                </a:ext>
              </a:extLst>
            </p:cNvPr>
            <p:cNvSpPr/>
            <p:nvPr/>
          </p:nvSpPr>
          <p:spPr>
            <a:xfrm>
              <a:off x="1022683" y="1195653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半闭框 20">
              <a:extLst>
                <a:ext uri="{FF2B5EF4-FFF2-40B4-BE49-F238E27FC236}">
                  <a16:creationId xmlns:a16="http://schemas.microsoft.com/office/drawing/2014/main" id="{297D99D5-7C1C-7F74-A09A-91CCC5801CCB}"/>
                </a:ext>
              </a:extLst>
            </p:cNvPr>
            <p:cNvSpPr/>
            <p:nvPr/>
          </p:nvSpPr>
          <p:spPr>
            <a:xfrm flipH="1">
              <a:off x="10823530" y="1195039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半闭框 21">
              <a:extLst>
                <a:ext uri="{FF2B5EF4-FFF2-40B4-BE49-F238E27FC236}">
                  <a16:creationId xmlns:a16="http://schemas.microsoft.com/office/drawing/2014/main" id="{E8BA5B84-3359-5BEE-1BFD-09F1F2A268B0}"/>
                </a:ext>
              </a:extLst>
            </p:cNvPr>
            <p:cNvSpPr/>
            <p:nvPr/>
          </p:nvSpPr>
          <p:spPr>
            <a:xfrm flipV="1">
              <a:off x="1022683" y="4920591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23" name="半闭框 22">
              <a:extLst>
                <a:ext uri="{FF2B5EF4-FFF2-40B4-BE49-F238E27FC236}">
                  <a16:creationId xmlns:a16="http://schemas.microsoft.com/office/drawing/2014/main" id="{F0C7C9B9-58CB-CBD6-B5EF-B06B5090AC89}"/>
                </a:ext>
              </a:extLst>
            </p:cNvPr>
            <p:cNvSpPr/>
            <p:nvPr/>
          </p:nvSpPr>
          <p:spPr>
            <a:xfrm flipH="1" flipV="1">
              <a:off x="10823530" y="4900725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Rectangle 1026">
            <a:extLst>
              <a:ext uri="{FF2B5EF4-FFF2-40B4-BE49-F238E27FC236}">
                <a16:creationId xmlns:a16="http://schemas.microsoft.com/office/drawing/2014/main" id="{6F48A7A3-3528-77FF-0C90-D0209731EAF1}"/>
              </a:ext>
            </a:extLst>
          </p:cNvPr>
          <p:cNvSpPr txBox="1">
            <a:spLocks noChangeArrowheads="1"/>
          </p:cNvSpPr>
          <p:nvPr/>
        </p:nvSpPr>
        <p:spPr>
          <a:xfrm>
            <a:off x="1653055" y="2085612"/>
            <a:ext cx="12192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 </a:t>
            </a:r>
          </a:p>
        </p:txBody>
      </p:sp>
      <p:sp>
        <p:nvSpPr>
          <p:cNvPr id="3" name="Text Box 1027">
            <a:extLst>
              <a:ext uri="{FF2B5EF4-FFF2-40B4-BE49-F238E27FC236}">
                <a16:creationId xmlns:a16="http://schemas.microsoft.com/office/drawing/2014/main" id="{F8867B4F-D3B9-3313-8603-1B3FAAFE2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5634" y="2050687"/>
            <a:ext cx="775334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为了测定刀具的磨损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速度</a:t>
            </a:r>
            <a:r>
              <a:rPr lang="en-US" altLang="zh-CN" sz="2800" dirty="0">
                <a:ea typeface="黑体" panose="02010609060101010101" pitchFamily="49" charset="-122"/>
              </a:rPr>
              <a:t>,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每隔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小时测一次刀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1028">
                <a:extLst>
                  <a:ext uri="{FF2B5EF4-FFF2-40B4-BE49-F238E27FC236}">
                    <a16:creationId xmlns:a16="http://schemas.microsoft.com/office/drawing/2014/main" id="{E4740F94-4C7A-C9A1-7426-3FB49EDC7F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25634" y="2660287"/>
                <a:ext cx="462790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具的厚度</a:t>
                </a:r>
                <a:r>
                  <a:rPr lang="en-US" altLang="zh-CN" sz="2800" dirty="0">
                    <a:ea typeface="黑体" panose="02010609060101010101" pitchFamily="49" charset="-122"/>
                  </a:rPr>
                  <a:t>,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得实验数据如下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Text Box 1028">
                <a:extLst>
                  <a:ext uri="{FF2B5EF4-FFF2-40B4-BE49-F238E27FC236}">
                    <a16:creationId xmlns:a16="http://schemas.microsoft.com/office/drawing/2014/main" id="{E4740F94-4C7A-C9A1-7426-3FB49EDC7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5634" y="2660287"/>
                <a:ext cx="4627901" cy="523220"/>
              </a:xfrm>
              <a:prstGeom prst="rect">
                <a:avLst/>
              </a:prstGeom>
              <a:blipFill>
                <a:blip r:embed="rId4"/>
                <a:stretch>
                  <a:fillRect l="-2635" t="-16279" b="-337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1040">
            <a:extLst>
              <a:ext uri="{FF2B5EF4-FFF2-40B4-BE49-F238E27FC236}">
                <a16:creationId xmlns:a16="http://schemas.microsoft.com/office/drawing/2014/main" id="{D71B4286-1DE6-D094-94D0-911D7B1DE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5634" y="5016931"/>
            <a:ext cx="7162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找出一个能使上述数据大体适合的经验公式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  </a:t>
            </a:r>
          </a:p>
        </p:txBody>
      </p:sp>
      <p:grpSp>
        <p:nvGrpSpPr>
          <p:cNvPr id="7" name="Group 1186">
            <a:extLst>
              <a:ext uri="{FF2B5EF4-FFF2-40B4-BE49-F238E27FC236}">
                <a16:creationId xmlns:a16="http://schemas.microsoft.com/office/drawing/2014/main" id="{C98281A6-5222-E341-3E6C-9CC495BC1B9E}"/>
              </a:ext>
            </a:extLst>
          </p:cNvPr>
          <p:cNvGrpSpPr>
            <a:grpSpLocks/>
          </p:cNvGrpSpPr>
          <p:nvPr/>
        </p:nvGrpSpPr>
        <p:grpSpPr bwMode="auto">
          <a:xfrm>
            <a:off x="2525634" y="3233375"/>
            <a:ext cx="7705724" cy="1524001"/>
            <a:chOff x="-198" y="1033"/>
            <a:chExt cx="4854" cy="960"/>
          </a:xfrm>
        </p:grpSpPr>
        <p:sp>
          <p:nvSpPr>
            <p:cNvPr id="8" name="Line 1029">
              <a:extLst>
                <a:ext uri="{FF2B5EF4-FFF2-40B4-BE49-F238E27FC236}">
                  <a16:creationId xmlns:a16="http://schemas.microsoft.com/office/drawing/2014/main" id="{AEE24A4D-5F76-397A-8816-69916628A5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127" y="1312"/>
              <a:ext cx="46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" name="Text Box 1037">
              <a:extLst>
                <a:ext uri="{FF2B5EF4-FFF2-40B4-BE49-F238E27FC236}">
                  <a16:creationId xmlns:a16="http://schemas.microsoft.com/office/drawing/2014/main" id="{D8C826EE-676B-EA0F-EB73-09ED6407F0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661"/>
              <a:ext cx="350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27.0   26.8   26.5   26.3   26.1   25.7  25.3   24.8   </a:t>
              </a:r>
            </a:p>
          </p:txBody>
        </p:sp>
        <p:sp>
          <p:nvSpPr>
            <p:cNvPr id="10" name="Text Box 1038">
              <a:extLst>
                <a:ext uri="{FF2B5EF4-FFF2-40B4-BE49-F238E27FC236}">
                  <a16:creationId xmlns:a16="http://schemas.microsoft.com/office/drawing/2014/main" id="{202D84A0-218D-4251-C2D3-B15E4701F4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1360"/>
              <a:ext cx="3248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0        1        2        3        4        5       6       7 </a:t>
              </a:r>
            </a:p>
          </p:txBody>
        </p:sp>
        <p:sp>
          <p:nvSpPr>
            <p:cNvPr id="11" name="Text Box 1039">
              <a:extLst>
                <a:ext uri="{FF2B5EF4-FFF2-40B4-BE49-F238E27FC236}">
                  <a16:creationId xmlns:a16="http://schemas.microsoft.com/office/drawing/2014/main" id="{DBC69F98-2A41-794F-4BB0-BD8B467D0C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1033"/>
              <a:ext cx="3248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0        1        2        3        4        5       6      7</a:t>
              </a:r>
            </a:p>
          </p:txBody>
        </p:sp>
        <p:sp>
          <p:nvSpPr>
            <p:cNvPr id="12" name="Line 1033">
              <a:extLst>
                <a:ext uri="{FF2B5EF4-FFF2-40B4-BE49-F238E27FC236}">
                  <a16:creationId xmlns:a16="http://schemas.microsoft.com/office/drawing/2014/main" id="{CA58B22D-5570-46B7-3477-000F454B6D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127" y="1648"/>
              <a:ext cx="46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3" name="Line 1036">
              <a:extLst>
                <a:ext uri="{FF2B5EF4-FFF2-40B4-BE49-F238E27FC236}">
                  <a16:creationId xmlns:a16="http://schemas.microsoft.com/office/drawing/2014/main" id="{E68CAE74-C690-474D-C5C1-8F66A30AD5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081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bject 1174">
                  <a:extLst>
                    <a:ext uri="{FF2B5EF4-FFF2-40B4-BE49-F238E27FC236}">
                      <a16:creationId xmlns:a16="http://schemas.microsoft.com/office/drawing/2014/main" id="{B737D265-606A-D77C-7C1D-32C029448CCA}"/>
                    </a:ext>
                  </a:extLst>
                </p:cNvPr>
                <p:cNvSpPr txBox="1"/>
                <p:nvPr/>
              </p:nvSpPr>
              <p:spPr bwMode="auto">
                <a:xfrm>
                  <a:off x="-198" y="1704"/>
                  <a:ext cx="1408" cy="25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刀具</m:t>
                        </m:r>
                        <m:r>
                          <a:rPr lang="zh-CN" altLang="en-US" sz="2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厚度</m:t>
                        </m:r>
                        <m:sSub>
                          <m:sSubPr>
                            <m:ctrlPr>
                              <a:rPr lang="zh-CN" altLang="en-US" sz="22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mm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4" name="Object 1174">
                  <a:extLst>
                    <a:ext uri="{FF2B5EF4-FFF2-40B4-BE49-F238E27FC236}">
                      <a16:creationId xmlns:a16="http://schemas.microsoft.com/office/drawing/2014/main" id="{B737D265-606A-D77C-7C1D-32C029448C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-198" y="1704"/>
                  <a:ext cx="1408" cy="257"/>
                </a:xfrm>
                <a:prstGeom prst="rect">
                  <a:avLst/>
                </a:prstGeom>
                <a:blipFill>
                  <a:blip r:embed="rId5"/>
                  <a:stretch>
                    <a:fillRect l="-1635" b="-2388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Object 1175">
                  <a:extLst>
                    <a:ext uri="{FF2B5EF4-FFF2-40B4-BE49-F238E27FC236}">
                      <a16:creationId xmlns:a16="http://schemas.microsoft.com/office/drawing/2014/main" id="{884D3DEC-1F93-BAD9-ADBC-B3CFF3D85146}"/>
                    </a:ext>
                  </a:extLst>
                </p:cNvPr>
                <p:cNvSpPr txBox="1"/>
                <p:nvPr/>
              </p:nvSpPr>
              <p:spPr bwMode="auto">
                <a:xfrm>
                  <a:off x="371" y="1375"/>
                  <a:ext cx="841" cy="25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时间</m:t>
                        </m:r>
                        <m:sSub>
                          <m:sSub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zh-CN" altLang="en-US" sz="2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zh-CN" altLang="en-US" sz="2200" dirty="0">
                    <a:solidFill>
                      <a:srgbClr val="00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5" name="Object 1175">
                  <a:extLst>
                    <a:ext uri="{FF2B5EF4-FFF2-40B4-BE49-F238E27FC236}">
                      <a16:creationId xmlns:a16="http://schemas.microsoft.com/office/drawing/2014/main" id="{884D3DEC-1F93-BAD9-ADBC-B3CFF3D851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1" y="1375"/>
                  <a:ext cx="841" cy="257"/>
                </a:xfrm>
                <a:prstGeom prst="rect">
                  <a:avLst/>
                </a:prstGeom>
                <a:blipFill>
                  <a:blip r:embed="rId6"/>
                  <a:stretch>
                    <a:fillRect l="-3653" b="-2537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bject 1176">
                  <a:extLst>
                    <a:ext uri="{FF2B5EF4-FFF2-40B4-BE49-F238E27FC236}">
                      <a16:creationId xmlns:a16="http://schemas.microsoft.com/office/drawing/2014/main" id="{19C51CA0-1430-E87B-A0CE-CD6074E68EEB}"/>
                    </a:ext>
                  </a:extLst>
                </p:cNvPr>
                <p:cNvSpPr txBox="1"/>
                <p:nvPr/>
              </p:nvSpPr>
              <p:spPr bwMode="auto">
                <a:xfrm>
                  <a:off x="312" y="1048"/>
                  <a:ext cx="900" cy="2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r>
                    <a:rPr kumimoji="1" lang="zh-CN" altLang="en-US" sz="220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rPr>
                    <a:t>顺序</a:t>
                  </a:r>
                  <a14:m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编号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𝑖</m:t>
                      </m:r>
                    </m:oMath>
                  </a14:m>
                  <a:endParaRPr kumimoji="1"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6" name="Object 1176">
                  <a:extLst>
                    <a:ext uri="{FF2B5EF4-FFF2-40B4-BE49-F238E27FC236}">
                      <a16:creationId xmlns:a16="http://schemas.microsoft.com/office/drawing/2014/main" id="{19C51CA0-1430-E87B-A0CE-CD6074E68E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2" y="1048"/>
                  <a:ext cx="900" cy="264"/>
                </a:xfrm>
                <a:prstGeom prst="rect">
                  <a:avLst/>
                </a:prstGeom>
                <a:blipFill>
                  <a:blip r:embed="rId7"/>
                  <a:stretch>
                    <a:fillRect l="-5532" t="-14493" b="-2608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Text Box 136">
            <a:extLst>
              <a:ext uri="{FF2B5EF4-FFF2-40B4-BE49-F238E27FC236}">
                <a16:creationId xmlns:a16="http://schemas.microsoft.com/office/drawing/2014/main" id="{294A9852-C9ED-D829-3AB1-92B506B3C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176" y="720294"/>
            <a:ext cx="19479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二、举例 </a:t>
            </a:r>
          </a:p>
        </p:txBody>
      </p:sp>
    </p:spTree>
    <p:extLst>
      <p:ext uri="{BB962C8B-B14F-4D97-AF65-F5344CB8AC3E}">
        <p14:creationId xmlns:p14="http://schemas.microsoft.com/office/powerpoint/2010/main" val="2569451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ext Box 1041">
            <a:extLst>
              <a:ext uri="{FF2B5EF4-FFF2-40B4-BE49-F238E27FC236}">
                <a16:creationId xmlns:a16="http://schemas.microsoft.com/office/drawing/2014/main" id="{3B83BBB9-8F4D-C2D1-529B-DB85C5B0F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913" y="1007759"/>
            <a:ext cx="5080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</a:t>
            </a:r>
            <a:r>
              <a:rPr kumimoji="1" lang="en-US" altLang="zh-CN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通过在坐标纸上描点可看出它们</a:t>
            </a:r>
          </a:p>
        </p:txBody>
      </p:sp>
      <p:sp>
        <p:nvSpPr>
          <p:cNvPr id="3" name="Text Box 1044">
            <a:extLst>
              <a:ext uri="{FF2B5EF4-FFF2-40B4-BE49-F238E27FC236}">
                <a16:creationId xmlns:a16="http://schemas.microsoft.com/office/drawing/2014/main" id="{36BA16F3-C2E1-734E-C52A-7B37927E8E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1749" y="1700374"/>
            <a:ext cx="27545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大致在一条直线上</a:t>
            </a:r>
            <a:r>
              <a:rPr lang="en-US" altLang="zh-CN" sz="2400" dirty="0">
                <a:ea typeface="黑体" panose="02010609060101010101" pitchFamily="49" charset="-122"/>
              </a:rPr>
              <a:t>, 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Text Box 1046">
            <a:extLst>
              <a:ext uri="{FF2B5EF4-FFF2-40B4-BE49-F238E27FC236}">
                <a16:creationId xmlns:a16="http://schemas.microsoft.com/office/drawing/2014/main" id="{AE1D78D0-4CE8-F819-B3B2-E45156865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1749" y="2808515"/>
            <a:ext cx="150102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列表计算</a:t>
            </a:r>
            <a:r>
              <a:rPr kumimoji="1"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6" name="Text Box 1047">
            <a:extLst>
              <a:ext uri="{FF2B5EF4-FFF2-40B4-BE49-F238E27FC236}">
                <a16:creationId xmlns:a16="http://schemas.microsoft.com/office/drawing/2014/main" id="{5F1A747E-8BBA-F6A4-744D-714EE371A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2262" y="1709899"/>
            <a:ext cx="258565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故可设经验公式为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058">
                <a:extLst>
                  <a:ext uri="{FF2B5EF4-FFF2-40B4-BE49-F238E27FC236}">
                    <a16:creationId xmlns:a16="http://schemas.microsoft.com/office/drawing/2014/main" id="{5C636702-EEB1-32C7-6663-2DF2E5D1C865}"/>
                  </a:ext>
                </a:extLst>
              </p:cNvPr>
              <p:cNvSpPr txBox="1"/>
              <p:nvPr/>
            </p:nvSpPr>
            <p:spPr bwMode="auto">
              <a:xfrm>
                <a:off x="3560955" y="2244257"/>
                <a:ext cx="1525588" cy="4079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𝑎𝑥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𝑏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1058">
                <a:extLst>
                  <a:ext uri="{FF2B5EF4-FFF2-40B4-BE49-F238E27FC236}">
                    <a16:creationId xmlns:a16="http://schemas.microsoft.com/office/drawing/2014/main" id="{5C636702-EEB1-32C7-6663-2DF2E5D1C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0955" y="2244257"/>
                <a:ext cx="1525588" cy="407987"/>
              </a:xfrm>
              <a:prstGeom prst="rect">
                <a:avLst/>
              </a:prstGeom>
              <a:blipFill>
                <a:blip r:embed="rId4"/>
                <a:stretch>
                  <a:fillRect l="-400" b="-1641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15">
            <a:extLst>
              <a:ext uri="{FF2B5EF4-FFF2-40B4-BE49-F238E27FC236}">
                <a16:creationId xmlns:a16="http://schemas.microsoft.com/office/drawing/2014/main" id="{1D071D0C-13B4-9646-C890-59FDBE81DAD7}"/>
              </a:ext>
            </a:extLst>
          </p:cNvPr>
          <p:cNvGrpSpPr>
            <a:grpSpLocks/>
          </p:cNvGrpSpPr>
          <p:nvPr/>
        </p:nvGrpSpPr>
        <p:grpSpPr bwMode="auto">
          <a:xfrm>
            <a:off x="1378088" y="3416450"/>
            <a:ext cx="6064250" cy="2420938"/>
            <a:chOff x="482" y="216"/>
            <a:chExt cx="3820" cy="1525"/>
          </a:xfrm>
        </p:grpSpPr>
        <p:sp>
          <p:nvSpPr>
            <p:cNvPr id="11" name="Line 16">
              <a:extLst>
                <a:ext uri="{FF2B5EF4-FFF2-40B4-BE49-F238E27FC236}">
                  <a16:creationId xmlns:a16="http://schemas.microsoft.com/office/drawing/2014/main" id="{2C2367F6-17BC-0D28-4EFB-81A96976BA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528"/>
              <a:ext cx="35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" name="Line 17">
              <a:extLst>
                <a:ext uri="{FF2B5EF4-FFF2-40B4-BE49-F238E27FC236}">
                  <a16:creationId xmlns:a16="http://schemas.microsoft.com/office/drawing/2014/main" id="{19D4FD3A-5721-1607-D29D-2184101DCE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88"/>
              <a:ext cx="0" cy="14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2" name="Line 18">
              <a:extLst>
                <a:ext uri="{FF2B5EF4-FFF2-40B4-BE49-F238E27FC236}">
                  <a16:creationId xmlns:a16="http://schemas.microsoft.com/office/drawing/2014/main" id="{EAD74DF7-16F7-5C06-9725-CDAF4AA55B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88"/>
              <a:ext cx="0" cy="14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3" name="Line 19">
              <a:extLst>
                <a:ext uri="{FF2B5EF4-FFF2-40B4-BE49-F238E27FC236}">
                  <a16:creationId xmlns:a16="http://schemas.microsoft.com/office/drawing/2014/main" id="{F821D8D2-9D3E-60F8-0E93-3C4757100B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88"/>
              <a:ext cx="0" cy="14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4" name="Line 20">
              <a:extLst>
                <a:ext uri="{FF2B5EF4-FFF2-40B4-BE49-F238E27FC236}">
                  <a16:creationId xmlns:a16="http://schemas.microsoft.com/office/drawing/2014/main" id="{3445130D-1E04-E7A2-CD4E-B2833D77F5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88"/>
              <a:ext cx="0" cy="14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Object 21">
                  <a:extLst>
                    <a:ext uri="{FF2B5EF4-FFF2-40B4-BE49-F238E27FC236}">
                      <a16:creationId xmlns:a16="http://schemas.microsoft.com/office/drawing/2014/main" id="{52A532E6-8B0E-C865-B89F-77075C7B66BE}"/>
                    </a:ext>
                  </a:extLst>
                </p:cNvPr>
                <p:cNvSpPr txBox="1"/>
                <p:nvPr/>
              </p:nvSpPr>
              <p:spPr bwMode="auto">
                <a:xfrm>
                  <a:off x="1224" y="221"/>
                  <a:ext cx="224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5" name="Object 21">
                  <a:extLst>
                    <a:ext uri="{FF2B5EF4-FFF2-40B4-BE49-F238E27FC236}">
                      <a16:creationId xmlns:a16="http://schemas.microsoft.com/office/drawing/2014/main" id="{52A532E6-8B0E-C865-B89F-77075C7B66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24" y="221"/>
                  <a:ext cx="224" cy="29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Object 22">
                  <a:extLst>
                    <a:ext uri="{FF2B5EF4-FFF2-40B4-BE49-F238E27FC236}">
                      <a16:creationId xmlns:a16="http://schemas.microsoft.com/office/drawing/2014/main" id="{DFC8233D-6125-BF42-51A1-01686DF110C7}"/>
                    </a:ext>
                  </a:extLst>
                </p:cNvPr>
                <p:cNvSpPr txBox="1"/>
                <p:nvPr/>
              </p:nvSpPr>
              <p:spPr bwMode="auto">
                <a:xfrm>
                  <a:off x="616" y="565"/>
                  <a:ext cx="136" cy="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26" name="Object 22">
                  <a:extLst>
                    <a:ext uri="{FF2B5EF4-FFF2-40B4-BE49-F238E27FC236}">
                      <a16:creationId xmlns:a16="http://schemas.microsoft.com/office/drawing/2014/main" id="{DFC8233D-6125-BF42-51A1-01686DF110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6" y="565"/>
                  <a:ext cx="136" cy="200"/>
                </a:xfrm>
                <a:prstGeom prst="rect">
                  <a:avLst/>
                </a:prstGeom>
                <a:blipFill>
                  <a:blip r:embed="rId7"/>
                  <a:stretch>
                    <a:fillRect l="-2857" r="-60000" b="-2692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Object 23">
                  <a:extLst>
                    <a:ext uri="{FF2B5EF4-FFF2-40B4-BE49-F238E27FC236}">
                      <a16:creationId xmlns:a16="http://schemas.microsoft.com/office/drawing/2014/main" id="{304F124F-12FE-CBBD-EA07-45E5221D13BB}"/>
                    </a:ext>
                  </a:extLst>
                </p:cNvPr>
                <p:cNvSpPr txBox="1"/>
                <p:nvPr/>
              </p:nvSpPr>
              <p:spPr bwMode="auto">
                <a:xfrm>
                  <a:off x="653" y="844"/>
                  <a:ext cx="64" cy="2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27" name="Object 23">
                  <a:extLst>
                    <a:ext uri="{FF2B5EF4-FFF2-40B4-BE49-F238E27FC236}">
                      <a16:creationId xmlns:a16="http://schemas.microsoft.com/office/drawing/2014/main" id="{304F124F-12FE-CBBD-EA07-45E5221D13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53" y="844"/>
                  <a:ext cx="64" cy="224"/>
                </a:xfrm>
                <a:prstGeom prst="rect">
                  <a:avLst/>
                </a:prstGeom>
                <a:blipFill>
                  <a:blip r:embed="rId8"/>
                  <a:stretch>
                    <a:fillRect l="-50000" r="-131250" b="-1186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Object 24">
                  <a:extLst>
                    <a:ext uri="{FF2B5EF4-FFF2-40B4-BE49-F238E27FC236}">
                      <a16:creationId xmlns:a16="http://schemas.microsoft.com/office/drawing/2014/main" id="{5DDAA354-9D09-0BE0-84A0-99C4F8CBC55D}"/>
                    </a:ext>
                  </a:extLst>
                </p:cNvPr>
                <p:cNvSpPr txBox="1"/>
                <p:nvPr/>
              </p:nvSpPr>
              <p:spPr bwMode="auto">
                <a:xfrm>
                  <a:off x="482" y="1466"/>
                  <a:ext cx="429" cy="2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求和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8" name="Object 24">
                  <a:extLst>
                    <a:ext uri="{FF2B5EF4-FFF2-40B4-BE49-F238E27FC236}">
                      <a16:creationId xmlns:a16="http://schemas.microsoft.com/office/drawing/2014/main" id="{5DDAA354-9D09-0BE0-84A0-99C4F8CBC5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2" y="1466"/>
                  <a:ext cx="429" cy="275"/>
                </a:xfrm>
                <a:prstGeom prst="rect">
                  <a:avLst/>
                </a:prstGeom>
                <a:blipFill>
                  <a:blip r:embed="rId9"/>
                  <a:stretch>
                    <a:fillRect l="-5357" r="-14286" b="-694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Object 25">
                  <a:extLst>
                    <a:ext uri="{FF2B5EF4-FFF2-40B4-BE49-F238E27FC236}">
                      <a16:creationId xmlns:a16="http://schemas.microsoft.com/office/drawing/2014/main" id="{FFAFE5B6-CCCF-206C-0311-58080447407F}"/>
                    </a:ext>
                  </a:extLst>
                </p:cNvPr>
                <p:cNvSpPr txBox="1"/>
                <p:nvPr/>
              </p:nvSpPr>
              <p:spPr bwMode="auto">
                <a:xfrm>
                  <a:off x="648" y="225"/>
                  <a:ext cx="154" cy="2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𝑖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9" name="Object 25">
                  <a:extLst>
                    <a:ext uri="{FF2B5EF4-FFF2-40B4-BE49-F238E27FC236}">
                      <a16:creationId xmlns:a16="http://schemas.microsoft.com/office/drawing/2014/main" id="{FFAFE5B6-CCCF-206C-0311-5808044740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48" y="225"/>
                  <a:ext cx="154" cy="232"/>
                </a:xfrm>
                <a:prstGeom prst="rect">
                  <a:avLst/>
                </a:prstGeom>
                <a:blipFill>
                  <a:blip r:embed="rId10"/>
                  <a:stretch>
                    <a:fillRect r="-15000" b="-983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Object 26">
                  <a:extLst>
                    <a:ext uri="{FF2B5EF4-FFF2-40B4-BE49-F238E27FC236}">
                      <a16:creationId xmlns:a16="http://schemas.microsoft.com/office/drawing/2014/main" id="{BC9AEB32-0FF2-4537-4309-194ED67383D4}"/>
                    </a:ext>
                  </a:extLst>
                </p:cNvPr>
                <p:cNvSpPr txBox="1"/>
                <p:nvPr/>
              </p:nvSpPr>
              <p:spPr bwMode="auto">
                <a:xfrm>
                  <a:off x="2008" y="224"/>
                  <a:ext cx="318" cy="32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𝑖</m:t>
                            </m:r>
                          </m:sub>
                          <m:sup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0" name="Object 26">
                  <a:extLst>
                    <a:ext uri="{FF2B5EF4-FFF2-40B4-BE49-F238E27FC236}">
                      <a16:creationId xmlns:a16="http://schemas.microsoft.com/office/drawing/2014/main" id="{BC9AEB32-0FF2-4537-4309-194ED67383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08" y="224"/>
                  <a:ext cx="318" cy="32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bject 27">
                  <a:extLst>
                    <a:ext uri="{FF2B5EF4-FFF2-40B4-BE49-F238E27FC236}">
                      <a16:creationId xmlns:a16="http://schemas.microsoft.com/office/drawing/2014/main" id="{FD77D7AA-1075-545D-2910-E8C499BABCFD}"/>
                    </a:ext>
                  </a:extLst>
                </p:cNvPr>
                <p:cNvSpPr txBox="1"/>
                <p:nvPr/>
              </p:nvSpPr>
              <p:spPr bwMode="auto">
                <a:xfrm>
                  <a:off x="2736" y="216"/>
                  <a:ext cx="316" cy="2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1" name="Object 27">
                  <a:extLst>
                    <a:ext uri="{FF2B5EF4-FFF2-40B4-BE49-F238E27FC236}">
                      <a16:creationId xmlns:a16="http://schemas.microsoft.com/office/drawing/2014/main" id="{FD77D7AA-1075-545D-2910-E8C499BABC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36" y="216"/>
                  <a:ext cx="316" cy="280"/>
                </a:xfrm>
                <a:prstGeom prst="rect">
                  <a:avLst/>
                </a:prstGeom>
                <a:blipFill>
                  <a:blip r:embed="rId12"/>
                  <a:stretch>
                    <a:fillRect l="-1220" b="-684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Object 28">
                  <a:extLst>
                    <a:ext uri="{FF2B5EF4-FFF2-40B4-BE49-F238E27FC236}">
                      <a16:creationId xmlns:a16="http://schemas.microsoft.com/office/drawing/2014/main" id="{F703DF0D-B27B-0008-BEDF-A04573A0B233}"/>
                    </a:ext>
                  </a:extLst>
                </p:cNvPr>
                <p:cNvSpPr txBox="1"/>
                <p:nvPr/>
              </p:nvSpPr>
              <p:spPr bwMode="auto">
                <a:xfrm>
                  <a:off x="3512" y="224"/>
                  <a:ext cx="328" cy="2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2" name="Object 28">
                  <a:extLst>
                    <a:ext uri="{FF2B5EF4-FFF2-40B4-BE49-F238E27FC236}">
                      <a16:creationId xmlns:a16="http://schemas.microsoft.com/office/drawing/2014/main" id="{F703DF0D-B27B-0008-BEDF-A04573A0B2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12" y="224"/>
                  <a:ext cx="328" cy="280"/>
                </a:xfrm>
                <a:prstGeom prst="rect">
                  <a:avLst/>
                </a:prstGeom>
                <a:blipFill>
                  <a:blip r:embed="rId13"/>
                  <a:stretch>
                    <a:fillRect l="-1163" r="-9302" b="-684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Line 29">
              <a:extLst>
                <a:ext uri="{FF2B5EF4-FFF2-40B4-BE49-F238E27FC236}">
                  <a16:creationId xmlns:a16="http://schemas.microsoft.com/office/drawing/2014/main" id="{77818E80-4EB4-7C6D-FE91-DE13CB4F23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440"/>
              <a:ext cx="35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Object 30">
                  <a:extLst>
                    <a:ext uri="{FF2B5EF4-FFF2-40B4-BE49-F238E27FC236}">
                      <a16:creationId xmlns:a16="http://schemas.microsoft.com/office/drawing/2014/main" id="{B9C7E4FC-8516-435F-8E8C-0D4F4DA50055}"/>
                    </a:ext>
                  </a:extLst>
                </p:cNvPr>
                <p:cNvSpPr txBox="1"/>
                <p:nvPr/>
              </p:nvSpPr>
              <p:spPr bwMode="auto">
                <a:xfrm>
                  <a:off x="608" y="1136"/>
                  <a:ext cx="136" cy="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34" name="Object 30">
                  <a:extLst>
                    <a:ext uri="{FF2B5EF4-FFF2-40B4-BE49-F238E27FC236}">
                      <a16:creationId xmlns:a16="http://schemas.microsoft.com/office/drawing/2014/main" id="{B9C7E4FC-8516-435F-8E8C-0D4F4DA500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8" y="1136"/>
                  <a:ext cx="136" cy="200"/>
                </a:xfrm>
                <a:prstGeom prst="rect">
                  <a:avLst/>
                </a:prstGeom>
                <a:blipFill>
                  <a:blip r:embed="rId14"/>
                  <a:stretch>
                    <a:fillRect l="-2857" r="-60000" b="-2884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Text Box 31">
              <a:extLst>
                <a:ext uri="{FF2B5EF4-FFF2-40B4-BE49-F238E27FC236}">
                  <a16:creationId xmlns:a16="http://schemas.microsoft.com/office/drawing/2014/main" id="{B8B06B20-CAE9-AB0C-9AFE-4236C36E83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2" y="569"/>
              <a:ext cx="2880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0                0             27.0              </a:t>
              </a:r>
              <a:r>
                <a: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36" name="Text Box 32">
              <a:extLst>
                <a:ext uri="{FF2B5EF4-FFF2-40B4-BE49-F238E27FC236}">
                  <a16:creationId xmlns:a16="http://schemas.microsoft.com/office/drawing/2014/main" id="{DB11DDAE-6E3F-7140-EE9D-794F25AE5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0" y="1141"/>
              <a:ext cx="3072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7               49            24.8           137.6</a:t>
              </a:r>
            </a:p>
          </p:txBody>
        </p:sp>
        <p:sp>
          <p:nvSpPr>
            <p:cNvPr id="37" name="Text Box 33">
              <a:extLst>
                <a:ext uri="{FF2B5EF4-FFF2-40B4-BE49-F238E27FC236}">
                  <a16:creationId xmlns:a16="http://schemas.microsoft.com/office/drawing/2014/main" id="{719197B7-344A-C05D-9102-A12E260B5F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8" y="1461"/>
              <a:ext cx="3120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28             140           208.5         717.0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Object 34">
                  <a:extLst>
                    <a:ext uri="{FF2B5EF4-FFF2-40B4-BE49-F238E27FC236}">
                      <a16:creationId xmlns:a16="http://schemas.microsoft.com/office/drawing/2014/main" id="{8DBFF28B-8DF6-99BC-2B34-3AC13FA930D2}"/>
                    </a:ext>
                  </a:extLst>
                </p:cNvPr>
                <p:cNvSpPr txBox="1"/>
                <p:nvPr/>
              </p:nvSpPr>
              <p:spPr bwMode="auto">
                <a:xfrm>
                  <a:off x="1255" y="844"/>
                  <a:ext cx="64" cy="2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38" name="Object 34">
                  <a:extLst>
                    <a:ext uri="{FF2B5EF4-FFF2-40B4-BE49-F238E27FC236}">
                      <a16:creationId xmlns:a16="http://schemas.microsoft.com/office/drawing/2014/main" id="{8DBFF28B-8DF6-99BC-2B34-3AC13FA930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55" y="844"/>
                  <a:ext cx="64" cy="224"/>
                </a:xfrm>
                <a:prstGeom prst="rect">
                  <a:avLst/>
                </a:prstGeom>
                <a:blipFill>
                  <a:blip r:embed="rId15"/>
                  <a:stretch>
                    <a:fillRect l="-41176" r="-123529" b="-1186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Object 35">
                  <a:extLst>
                    <a:ext uri="{FF2B5EF4-FFF2-40B4-BE49-F238E27FC236}">
                      <a16:creationId xmlns:a16="http://schemas.microsoft.com/office/drawing/2014/main" id="{CC11249F-8C5F-A243-6934-307E049F6F1D}"/>
                    </a:ext>
                  </a:extLst>
                </p:cNvPr>
                <p:cNvSpPr txBox="1"/>
                <p:nvPr/>
              </p:nvSpPr>
              <p:spPr bwMode="auto">
                <a:xfrm>
                  <a:off x="2048" y="844"/>
                  <a:ext cx="64" cy="2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zh-CN" altLang="en-US" sz="2200"/>
                </a:p>
              </p:txBody>
            </p:sp>
          </mc:Choice>
          <mc:Fallback xmlns="">
            <p:sp>
              <p:nvSpPr>
                <p:cNvPr id="39" name="Object 35">
                  <a:extLst>
                    <a:ext uri="{FF2B5EF4-FFF2-40B4-BE49-F238E27FC236}">
                      <a16:creationId xmlns:a16="http://schemas.microsoft.com/office/drawing/2014/main" id="{CC11249F-8C5F-A243-6934-307E049F6F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48" y="844"/>
                  <a:ext cx="64" cy="224"/>
                </a:xfrm>
                <a:prstGeom prst="rect">
                  <a:avLst/>
                </a:prstGeom>
                <a:blipFill>
                  <a:blip r:embed="rId16"/>
                  <a:stretch>
                    <a:fillRect l="-41176" r="-123529" b="-1186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Object 36">
                  <a:extLst>
                    <a:ext uri="{FF2B5EF4-FFF2-40B4-BE49-F238E27FC236}">
                      <a16:creationId xmlns:a16="http://schemas.microsoft.com/office/drawing/2014/main" id="{7368579D-236E-468E-C53C-DB3DD29DA56E}"/>
                    </a:ext>
                  </a:extLst>
                </p:cNvPr>
                <p:cNvSpPr txBox="1"/>
                <p:nvPr/>
              </p:nvSpPr>
              <p:spPr bwMode="auto">
                <a:xfrm>
                  <a:off x="2824" y="844"/>
                  <a:ext cx="64" cy="2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42" name="Object 36">
                  <a:extLst>
                    <a:ext uri="{FF2B5EF4-FFF2-40B4-BE49-F238E27FC236}">
                      <a16:creationId xmlns:a16="http://schemas.microsoft.com/office/drawing/2014/main" id="{7368579D-236E-468E-C53C-DB3DD29DA5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24" y="844"/>
                  <a:ext cx="64" cy="224"/>
                </a:xfrm>
                <a:prstGeom prst="rect">
                  <a:avLst/>
                </a:prstGeom>
                <a:blipFill>
                  <a:blip r:embed="rId17"/>
                  <a:stretch>
                    <a:fillRect l="-41176" r="-123529" b="-1186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Object 37">
                  <a:extLst>
                    <a:ext uri="{FF2B5EF4-FFF2-40B4-BE49-F238E27FC236}">
                      <a16:creationId xmlns:a16="http://schemas.microsoft.com/office/drawing/2014/main" id="{1AA508CB-6D6E-9C17-AF20-7D6AF7B14870}"/>
                    </a:ext>
                  </a:extLst>
                </p:cNvPr>
                <p:cNvSpPr txBox="1"/>
                <p:nvPr/>
              </p:nvSpPr>
              <p:spPr bwMode="auto">
                <a:xfrm>
                  <a:off x="3640" y="844"/>
                  <a:ext cx="64" cy="2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43" name="Object 37">
                  <a:extLst>
                    <a:ext uri="{FF2B5EF4-FFF2-40B4-BE49-F238E27FC236}">
                      <a16:creationId xmlns:a16="http://schemas.microsoft.com/office/drawing/2014/main" id="{1AA508CB-6D6E-9C17-AF20-7D6AF7B148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40" y="844"/>
                  <a:ext cx="64" cy="224"/>
                </a:xfrm>
                <a:prstGeom prst="rect">
                  <a:avLst/>
                </a:prstGeom>
                <a:blipFill>
                  <a:blip r:embed="rId18"/>
                  <a:stretch>
                    <a:fillRect l="-41176" r="-123529" b="-1186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0" name="图片 9" descr="图表, 折线图, 散点图&#10;&#10;描述已自动生成">
            <a:extLst>
              <a:ext uri="{FF2B5EF4-FFF2-40B4-BE49-F238E27FC236}">
                <a16:creationId xmlns:a16="http://schemas.microsoft.com/office/drawing/2014/main" id="{F0897C20-497E-E84E-6DBD-BF8FDCE0038B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726" y="2289732"/>
            <a:ext cx="3419885" cy="325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1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295DF127-432B-446A-CD90-8833C4453070}"/>
              </a:ext>
            </a:extLst>
          </p:cNvPr>
          <p:cNvGrpSpPr/>
          <p:nvPr/>
        </p:nvGrpSpPr>
        <p:grpSpPr>
          <a:xfrm>
            <a:off x="878304" y="1332900"/>
            <a:ext cx="10482627" cy="4399069"/>
            <a:chOff x="1022683" y="1195039"/>
            <a:chExt cx="10482627" cy="43990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4A1C227F-A9DF-F321-5DCE-B8701055F6BF}"/>
                    </a:ext>
                  </a:extLst>
                </p:cNvPr>
                <p:cNvSpPr/>
                <p:nvPr/>
              </p:nvSpPr>
              <p:spPr>
                <a:xfrm>
                  <a:off x="1022683" y="1195480"/>
                  <a:ext cx="10482627" cy="439862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4A1C227F-A9DF-F321-5DCE-B8701055F6B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2683" y="1195480"/>
                  <a:ext cx="10482627" cy="439862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半闭框 19">
              <a:extLst>
                <a:ext uri="{FF2B5EF4-FFF2-40B4-BE49-F238E27FC236}">
                  <a16:creationId xmlns:a16="http://schemas.microsoft.com/office/drawing/2014/main" id="{F9C43C5F-36C5-D81F-2202-37219558E763}"/>
                </a:ext>
              </a:extLst>
            </p:cNvPr>
            <p:cNvSpPr/>
            <p:nvPr/>
          </p:nvSpPr>
          <p:spPr>
            <a:xfrm>
              <a:off x="1022683" y="1195653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半闭框 20">
              <a:extLst>
                <a:ext uri="{FF2B5EF4-FFF2-40B4-BE49-F238E27FC236}">
                  <a16:creationId xmlns:a16="http://schemas.microsoft.com/office/drawing/2014/main" id="{297D99D5-7C1C-7F74-A09A-91CCC5801CCB}"/>
                </a:ext>
              </a:extLst>
            </p:cNvPr>
            <p:cNvSpPr/>
            <p:nvPr/>
          </p:nvSpPr>
          <p:spPr>
            <a:xfrm flipH="1">
              <a:off x="10823530" y="1195039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半闭框 21">
              <a:extLst>
                <a:ext uri="{FF2B5EF4-FFF2-40B4-BE49-F238E27FC236}">
                  <a16:creationId xmlns:a16="http://schemas.microsoft.com/office/drawing/2014/main" id="{E8BA5B84-3359-5BEE-1BFD-09F1F2A268B0}"/>
                </a:ext>
              </a:extLst>
            </p:cNvPr>
            <p:cNvSpPr/>
            <p:nvPr/>
          </p:nvSpPr>
          <p:spPr>
            <a:xfrm flipV="1">
              <a:off x="1022683" y="4920591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23" name="半闭框 22">
              <a:extLst>
                <a:ext uri="{FF2B5EF4-FFF2-40B4-BE49-F238E27FC236}">
                  <a16:creationId xmlns:a16="http://schemas.microsoft.com/office/drawing/2014/main" id="{F0C7C9B9-58CB-CBD6-B5EF-B06B5090AC89}"/>
                </a:ext>
              </a:extLst>
            </p:cNvPr>
            <p:cNvSpPr/>
            <p:nvPr/>
          </p:nvSpPr>
          <p:spPr>
            <a:xfrm flipH="1" flipV="1">
              <a:off x="10823530" y="4900725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" name="Text Box 2">
            <a:extLst>
              <a:ext uri="{FF2B5EF4-FFF2-40B4-BE49-F238E27FC236}">
                <a16:creationId xmlns:a16="http://schemas.microsoft.com/office/drawing/2014/main" id="{4299A3F0-CBE1-9C4E-C07B-79BF64EDB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5205" y="2317429"/>
            <a:ext cx="159530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得法方程组</a:t>
            </a:r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EC31B5D9-18CC-AEF8-9187-9AAEC839DEFF}"/>
              </a:ext>
            </a:extLst>
          </p:cNvPr>
          <p:cNvSpPr>
            <a:spLocks/>
          </p:cNvSpPr>
          <p:nvPr/>
        </p:nvSpPr>
        <p:spPr bwMode="auto">
          <a:xfrm>
            <a:off x="4551290" y="2102613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4">
                <a:extLst>
                  <a:ext uri="{FF2B5EF4-FFF2-40B4-BE49-F238E27FC236}">
                    <a16:creationId xmlns:a16="http://schemas.microsoft.com/office/drawing/2014/main" id="{8ADFD027-AB6B-4D25-5B20-6DC1ACAB652C}"/>
                  </a:ext>
                </a:extLst>
              </p:cNvPr>
              <p:cNvSpPr txBox="1"/>
              <p:nvPr/>
            </p:nvSpPr>
            <p:spPr bwMode="auto">
              <a:xfrm>
                <a:off x="4721527" y="2033934"/>
                <a:ext cx="7874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140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𝑎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" name="Object 4">
                <a:extLst>
                  <a:ext uri="{FF2B5EF4-FFF2-40B4-BE49-F238E27FC236}">
                    <a16:creationId xmlns:a16="http://schemas.microsoft.com/office/drawing/2014/main" id="{8ADFD027-AB6B-4D25-5B20-6DC1ACAB6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1527" y="2033934"/>
                <a:ext cx="787400" cy="393700"/>
              </a:xfrm>
              <a:prstGeom prst="rect">
                <a:avLst/>
              </a:prstGeom>
              <a:blipFill>
                <a:blip r:embed="rId4"/>
                <a:stretch>
                  <a:fillRect l="-775" r="-2326" b="-468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5">
                <a:extLst>
                  <a:ext uri="{FF2B5EF4-FFF2-40B4-BE49-F238E27FC236}">
                    <a16:creationId xmlns:a16="http://schemas.microsoft.com/office/drawing/2014/main" id="{E2C66AC6-DD74-F69D-B942-ADA0F1F3AEB9}"/>
                  </a:ext>
                </a:extLst>
              </p:cNvPr>
              <p:cNvSpPr txBox="1"/>
              <p:nvPr/>
            </p:nvSpPr>
            <p:spPr bwMode="auto">
              <a:xfrm>
                <a:off x="5374238" y="2033934"/>
                <a:ext cx="863600" cy="330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+28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𝑏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Object 5">
                <a:extLst>
                  <a:ext uri="{FF2B5EF4-FFF2-40B4-BE49-F238E27FC236}">
                    <a16:creationId xmlns:a16="http://schemas.microsoft.com/office/drawing/2014/main" id="{E2C66AC6-DD74-F69D-B942-ADA0F1F3A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74238" y="2033934"/>
                <a:ext cx="863600" cy="330200"/>
              </a:xfrm>
              <a:prstGeom prst="rect">
                <a:avLst/>
              </a:prstGeom>
              <a:blipFill>
                <a:blip r:embed="rId5"/>
                <a:stretch>
                  <a:fillRect b="-259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6">
                <a:extLst>
                  <a:ext uri="{FF2B5EF4-FFF2-40B4-BE49-F238E27FC236}">
                    <a16:creationId xmlns:a16="http://schemas.microsoft.com/office/drawing/2014/main" id="{03275785-12DB-0865-34B4-963A62D8DF40}"/>
                  </a:ext>
                </a:extLst>
              </p:cNvPr>
              <p:cNvSpPr txBox="1"/>
              <p:nvPr/>
            </p:nvSpPr>
            <p:spPr bwMode="auto">
              <a:xfrm>
                <a:off x="4664377" y="2663590"/>
                <a:ext cx="7366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 28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𝑎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Object 6">
                <a:extLst>
                  <a:ext uri="{FF2B5EF4-FFF2-40B4-BE49-F238E27FC236}">
                    <a16:creationId xmlns:a16="http://schemas.microsoft.com/office/drawing/2014/main" id="{03275785-12DB-0865-34B4-963A62D8D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64377" y="2663590"/>
                <a:ext cx="736600" cy="393700"/>
              </a:xfrm>
              <a:prstGeom prst="rect">
                <a:avLst/>
              </a:prstGeom>
              <a:blipFill>
                <a:blip r:embed="rId6"/>
                <a:stretch>
                  <a:fillRect r="-826" b="-307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7">
                <a:extLst>
                  <a:ext uri="{FF2B5EF4-FFF2-40B4-BE49-F238E27FC236}">
                    <a16:creationId xmlns:a16="http://schemas.microsoft.com/office/drawing/2014/main" id="{2B008548-31BF-3404-047B-63ADDC0EBCB5}"/>
                  </a:ext>
                </a:extLst>
              </p:cNvPr>
              <p:cNvSpPr txBox="1"/>
              <p:nvPr/>
            </p:nvSpPr>
            <p:spPr bwMode="auto">
              <a:xfrm>
                <a:off x="5241890" y="2651346"/>
                <a:ext cx="20828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+8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𝑏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=208.5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Object 7">
                <a:extLst>
                  <a:ext uri="{FF2B5EF4-FFF2-40B4-BE49-F238E27FC236}">
                    <a16:creationId xmlns:a16="http://schemas.microsoft.com/office/drawing/2014/main" id="{2B008548-31BF-3404-047B-63ADDC0EBC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41890" y="2651346"/>
                <a:ext cx="2082800" cy="406400"/>
              </a:xfrm>
              <a:prstGeom prst="rect">
                <a:avLst/>
              </a:prstGeom>
              <a:blipFill>
                <a:blip r:embed="rId7"/>
                <a:stretch>
                  <a:fillRect b="-149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8">
                <a:extLst>
                  <a:ext uri="{FF2B5EF4-FFF2-40B4-BE49-F238E27FC236}">
                    <a16:creationId xmlns:a16="http://schemas.microsoft.com/office/drawing/2014/main" id="{F9C4D2C8-E69A-4122-67F7-28E984C24F82}"/>
                  </a:ext>
                </a:extLst>
              </p:cNvPr>
              <p:cNvSpPr txBox="1"/>
              <p:nvPr/>
            </p:nvSpPr>
            <p:spPr bwMode="auto">
              <a:xfrm>
                <a:off x="6109397" y="2033934"/>
                <a:ext cx="982911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=717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Object 8">
                <a:extLst>
                  <a:ext uri="{FF2B5EF4-FFF2-40B4-BE49-F238E27FC236}">
                    <a16:creationId xmlns:a16="http://schemas.microsoft.com/office/drawing/2014/main" id="{F9C4D2C8-E69A-4122-67F7-28E984C24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09397" y="2033934"/>
                <a:ext cx="982911" cy="406400"/>
              </a:xfrm>
              <a:prstGeom prst="rect">
                <a:avLst/>
              </a:prstGeom>
              <a:blipFill>
                <a:blip r:embed="rId8"/>
                <a:stretch>
                  <a:fillRect b="-15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 Box 9">
            <a:extLst>
              <a:ext uri="{FF2B5EF4-FFF2-40B4-BE49-F238E27FC236}">
                <a16:creationId xmlns:a16="http://schemas.microsoft.com/office/drawing/2014/main" id="{D63588FD-3662-F9AE-45D2-256DE9620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5205" y="3276529"/>
            <a:ext cx="81945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解得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10">
                <a:extLst>
                  <a:ext uri="{FF2B5EF4-FFF2-40B4-BE49-F238E27FC236}">
                    <a16:creationId xmlns:a16="http://schemas.microsoft.com/office/drawing/2014/main" id="{6E8E85E6-7669-3AC8-3048-18D42A828D36}"/>
                  </a:ext>
                </a:extLst>
              </p:cNvPr>
              <p:cNvSpPr txBox="1"/>
              <p:nvPr/>
            </p:nvSpPr>
            <p:spPr bwMode="auto">
              <a:xfrm>
                <a:off x="3541305" y="3278791"/>
                <a:ext cx="36957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𝑎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=−0.3036, 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𝑏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=27.125,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" name="Object 10">
                <a:extLst>
                  <a:ext uri="{FF2B5EF4-FFF2-40B4-BE49-F238E27FC236}">
                    <a16:creationId xmlns:a16="http://schemas.microsoft.com/office/drawing/2014/main" id="{6E8E85E6-7669-3AC8-3048-18D42A828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1305" y="3278791"/>
                <a:ext cx="3695700" cy="406400"/>
              </a:xfrm>
              <a:prstGeom prst="rect">
                <a:avLst/>
              </a:prstGeom>
              <a:blipFill>
                <a:blip r:embed="rId9"/>
                <a:stretch>
                  <a:fillRect b="-149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 Box 11">
            <a:extLst>
              <a:ext uri="{FF2B5EF4-FFF2-40B4-BE49-F238E27FC236}">
                <a16:creationId xmlns:a16="http://schemas.microsoft.com/office/drawing/2014/main" id="{2F5E233D-8BF4-C12A-790D-05B486824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1911" y="3254304"/>
            <a:ext cx="24416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故所求经验公式为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12">
                <a:extLst>
                  <a:ext uri="{FF2B5EF4-FFF2-40B4-BE49-F238E27FC236}">
                    <a16:creationId xmlns:a16="http://schemas.microsoft.com/office/drawing/2014/main" id="{62FE1254-A6DA-5139-0584-F980EDB9105E}"/>
                  </a:ext>
                </a:extLst>
              </p:cNvPr>
              <p:cNvSpPr txBox="1"/>
              <p:nvPr/>
            </p:nvSpPr>
            <p:spPr bwMode="auto">
              <a:xfrm>
                <a:off x="4721527" y="3840585"/>
                <a:ext cx="43434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)=−0.3036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+27.125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Object 12">
                <a:extLst>
                  <a:ext uri="{FF2B5EF4-FFF2-40B4-BE49-F238E27FC236}">
                    <a16:creationId xmlns:a16="http://schemas.microsoft.com/office/drawing/2014/main" id="{62FE1254-A6DA-5139-0584-F980EDB91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1527" y="3840585"/>
                <a:ext cx="4343400" cy="406400"/>
              </a:xfrm>
              <a:prstGeom prst="rect">
                <a:avLst/>
              </a:prstGeom>
              <a:blipFill>
                <a:blip r:embed="rId10"/>
                <a:stretch>
                  <a:fillRect l="-281" b="-2388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 Box 46">
            <a:extLst>
              <a:ext uri="{FF2B5EF4-FFF2-40B4-BE49-F238E27FC236}">
                <a16:creationId xmlns:a16="http://schemas.microsoft.com/office/drawing/2014/main" id="{054C3B7F-4F5C-8756-5870-6CF7C0292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5205" y="4411282"/>
            <a:ext cx="37176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为衡量上述经验公式的优劣</a:t>
            </a:r>
            <a:r>
              <a:rPr lang="en-US" altLang="zh-CN" sz="2400" dirty="0">
                <a:ea typeface="黑体" panose="02010609060101010101" pitchFamily="49" charset="-122"/>
              </a:rPr>
              <a:t>,</a:t>
            </a:r>
            <a:r>
              <a:rPr kumimoji="1"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35" name="Text Box 47">
            <a:extLst>
              <a:ext uri="{FF2B5EF4-FFF2-40B4-BE49-F238E27FC236}">
                <a16:creationId xmlns:a16="http://schemas.microsoft.com/office/drawing/2014/main" id="{5ED10237-7A64-725C-9065-E204125BBC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4756" y="4438521"/>
            <a:ext cx="259077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计算各点偏差如下</a:t>
            </a:r>
            <a:r>
              <a:rPr kumimoji="1"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63401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25" grpId="0"/>
      <p:bldP spid="26" grpId="0"/>
      <p:bldP spid="27" grpId="0"/>
      <p:bldP spid="28" grpId="0"/>
      <p:bldP spid="29" grpId="0"/>
      <p:bldP spid="30" grpId="0" build="p" autoUpdateAnimBg="0"/>
      <p:bldP spid="31" grpId="0"/>
      <p:bldP spid="32" grpId="0" build="p" autoUpdateAnimBg="0"/>
      <p:bldP spid="33" grpId="0"/>
      <p:bldP spid="34" grpId="0" build="p" autoUpdateAnimBg="0"/>
      <p:bldP spid="35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090">
                <a:extLst>
                  <a:ext uri="{FF2B5EF4-FFF2-40B4-BE49-F238E27FC236}">
                    <a16:creationId xmlns:a16="http://schemas.microsoft.com/office/drawing/2014/main" id="{24041939-5AFD-CFA5-7F7F-E0C79B6B5B9F}"/>
                  </a:ext>
                </a:extLst>
              </p:cNvPr>
              <p:cNvSpPr txBox="1"/>
              <p:nvPr/>
            </p:nvSpPr>
            <p:spPr bwMode="auto">
              <a:xfrm>
                <a:off x="3140464" y="3119977"/>
                <a:ext cx="4724400" cy="1003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𝑀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=0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7</m:t>
                          </m:r>
                        </m:sup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[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]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=0.108165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1090">
                <a:extLst>
                  <a:ext uri="{FF2B5EF4-FFF2-40B4-BE49-F238E27FC236}">
                    <a16:creationId xmlns:a16="http://schemas.microsoft.com/office/drawing/2014/main" id="{24041939-5AFD-CFA5-7F7F-E0C79B6B5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40464" y="3119977"/>
                <a:ext cx="4724400" cy="1003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 Box 1069">
            <a:extLst>
              <a:ext uri="{FF2B5EF4-FFF2-40B4-BE49-F238E27FC236}">
                <a16:creationId xmlns:a16="http://schemas.microsoft.com/office/drawing/2014/main" id="{CC6344BB-F49C-B842-AAC7-4D47E5E2E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9287" y="4004720"/>
            <a:ext cx="19543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称为均方误差</a:t>
            </a:r>
            <a:r>
              <a:rPr lang="en-US" altLang="zh-CN" sz="2400" dirty="0">
                <a:ea typeface="黑体" panose="02010609060101010101" pitchFamily="49" charset="-122"/>
              </a:rPr>
              <a:t>,</a:t>
            </a:r>
            <a:endParaRPr kumimoji="1" lang="en-US" altLang="zh-CN" sz="22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bject 1070">
                <a:extLst>
                  <a:ext uri="{FF2B5EF4-FFF2-40B4-BE49-F238E27FC236}">
                    <a16:creationId xmlns:a16="http://schemas.microsoft.com/office/drawing/2014/main" id="{9297D6D2-F1C4-0C12-DE0E-D86F0517DFF0}"/>
                  </a:ext>
                </a:extLst>
              </p:cNvPr>
              <p:cNvSpPr txBox="1"/>
              <p:nvPr/>
            </p:nvSpPr>
            <p:spPr bwMode="auto">
              <a:xfrm>
                <a:off x="1502600" y="4027607"/>
                <a:ext cx="876300" cy="11636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𝑀</m:t>
                          </m:r>
                        </m:e>
                      </m:rad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4" name="Object 1070">
                <a:extLst>
                  <a:ext uri="{FF2B5EF4-FFF2-40B4-BE49-F238E27FC236}">
                    <a16:creationId xmlns:a16="http://schemas.microsoft.com/office/drawing/2014/main" id="{9297D6D2-F1C4-0C12-DE0E-D86F0517D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02600" y="4027607"/>
                <a:ext cx="876300" cy="116363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 Box 1071">
            <a:extLst>
              <a:ext uri="{FF2B5EF4-FFF2-40B4-BE49-F238E27FC236}">
                <a16:creationId xmlns:a16="http://schemas.microsoft.com/office/drawing/2014/main" id="{E57E2EFB-AE12-B7E3-AAD5-B75528D4E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148" y="4616450"/>
            <a:ext cx="28405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6" name="Text Box 1073">
            <a:extLst>
              <a:ext uri="{FF2B5EF4-FFF2-40B4-BE49-F238E27FC236}">
                <a16:creationId xmlns:a16="http://schemas.microsoft.com/office/drawing/2014/main" id="{17F03572-64C8-DA54-28D8-EA1F8F42DD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6434" y="4051923"/>
            <a:ext cx="215956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对本题均方误差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bject 1074">
                <a:extLst>
                  <a:ext uri="{FF2B5EF4-FFF2-40B4-BE49-F238E27FC236}">
                    <a16:creationId xmlns:a16="http://schemas.microsoft.com/office/drawing/2014/main" id="{CEDE00E3-088D-2A65-35C1-E65910D1B46F}"/>
                  </a:ext>
                </a:extLst>
              </p:cNvPr>
              <p:cNvSpPr txBox="1"/>
              <p:nvPr/>
            </p:nvSpPr>
            <p:spPr bwMode="auto">
              <a:xfrm>
                <a:off x="3226566" y="4484598"/>
                <a:ext cx="1983017" cy="10922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kumimoji="1" lang="zh-CN" altLang="en-US" sz="2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𝑀</m:t>
                          </m:r>
                        </m:e>
                      </m:rad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2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0.329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7" name="Object 1074">
                <a:extLst>
                  <a:ext uri="{FF2B5EF4-FFF2-40B4-BE49-F238E27FC236}">
                    <a16:creationId xmlns:a16="http://schemas.microsoft.com/office/drawing/2014/main" id="{CEDE00E3-088D-2A65-35C1-E65910D1B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6566" y="4484598"/>
                <a:ext cx="1983017" cy="109220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 Box 1075">
            <a:extLst>
              <a:ext uri="{FF2B5EF4-FFF2-40B4-BE49-F238E27FC236}">
                <a16:creationId xmlns:a16="http://schemas.microsoft.com/office/drawing/2014/main" id="{6C9DF9A0-937A-7972-87EB-0E8857FC7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4886" y="5096154"/>
            <a:ext cx="512191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它在一定程度上反映了经验函数的好坏</a:t>
            </a:r>
            <a:r>
              <a:rPr kumimoji="1"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 </a:t>
            </a:r>
          </a:p>
        </p:txBody>
      </p:sp>
      <p:sp>
        <p:nvSpPr>
          <p:cNvPr id="60" name="Text Box 1091">
            <a:extLst>
              <a:ext uri="{FF2B5EF4-FFF2-40B4-BE49-F238E27FC236}">
                <a16:creationId xmlns:a16="http://schemas.microsoft.com/office/drawing/2014/main" id="{75A1BA60-C160-FAF5-74B7-CC92B83E1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5081" y="3417342"/>
            <a:ext cx="19812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偏差平方和为</a:t>
            </a:r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13D1A27B-26EF-1E92-6AF2-25CB1150016C}"/>
              </a:ext>
            </a:extLst>
          </p:cNvPr>
          <p:cNvGrpSpPr/>
          <p:nvPr/>
        </p:nvGrpSpPr>
        <p:grpSpPr>
          <a:xfrm>
            <a:off x="1574886" y="662301"/>
            <a:ext cx="8964000" cy="2441324"/>
            <a:chOff x="1490663" y="1143000"/>
            <a:chExt cx="8964000" cy="2441324"/>
          </a:xfrm>
        </p:grpSpPr>
        <p:sp>
          <p:nvSpPr>
            <p:cNvPr id="59" name="Line 1077">
              <a:extLst>
                <a:ext uri="{FF2B5EF4-FFF2-40B4-BE49-F238E27FC236}">
                  <a16:creationId xmlns:a16="http://schemas.microsoft.com/office/drawing/2014/main" id="{A6DFA36F-350D-7DA0-4E31-6493A30EF9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0663" y="1143000"/>
              <a:ext cx="896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4" name="Line 1052">
              <a:extLst>
                <a:ext uri="{FF2B5EF4-FFF2-40B4-BE49-F238E27FC236}">
                  <a16:creationId xmlns:a16="http://schemas.microsoft.com/office/drawing/2014/main" id="{EDD5C891-AC95-0F0E-9DC5-99ADCAED1A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0663" y="1606550"/>
              <a:ext cx="896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5" name="Text Box 1053">
              <a:extLst>
                <a:ext uri="{FF2B5EF4-FFF2-40B4-BE49-F238E27FC236}">
                  <a16:creationId xmlns:a16="http://schemas.microsoft.com/office/drawing/2014/main" id="{FB05BB38-90F5-1888-9CE0-CE5837DA49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002" y="1652588"/>
              <a:ext cx="6099178" cy="430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R="0" lvl="0" indent="0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27.0    26.8    26.5    26.3    26.1    25.7    25.3    24.8   </a:t>
              </a:r>
            </a:p>
          </p:txBody>
        </p:sp>
        <p:sp>
          <p:nvSpPr>
            <p:cNvPr id="66" name="Text Box 1055">
              <a:extLst>
                <a:ext uri="{FF2B5EF4-FFF2-40B4-BE49-F238E27FC236}">
                  <a16:creationId xmlns:a16="http://schemas.microsoft.com/office/drawing/2014/main" id="{44A419B1-7769-16B9-A1B8-9DA8649225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1977" y="1173163"/>
              <a:ext cx="5702303" cy="430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0        1         2          3        4         5         6         7</a:t>
              </a:r>
            </a:p>
          </p:txBody>
        </p:sp>
        <p:sp>
          <p:nvSpPr>
            <p:cNvPr id="67" name="Line 1056">
              <a:extLst>
                <a:ext uri="{FF2B5EF4-FFF2-40B4-BE49-F238E27FC236}">
                  <a16:creationId xmlns:a16="http://schemas.microsoft.com/office/drawing/2014/main" id="{EB611C48-5A30-7038-97F4-3052582A8B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0663" y="2093913"/>
              <a:ext cx="896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8" name="Line 1057">
              <a:extLst>
                <a:ext uri="{FF2B5EF4-FFF2-40B4-BE49-F238E27FC236}">
                  <a16:creationId xmlns:a16="http://schemas.microsoft.com/office/drawing/2014/main" id="{8C59F418-19E2-96EC-F022-8811E6D099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9702" y="1143000"/>
              <a:ext cx="0" cy="243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Object 1058">
                  <a:extLst>
                    <a:ext uri="{FF2B5EF4-FFF2-40B4-BE49-F238E27FC236}">
                      <a16:creationId xmlns:a16="http://schemas.microsoft.com/office/drawing/2014/main" id="{2E385B8B-BA2C-576D-4C35-FA606AA54AB2}"/>
                    </a:ext>
                  </a:extLst>
                </p:cNvPr>
                <p:cNvSpPr txBox="1"/>
                <p:nvPr/>
              </p:nvSpPr>
              <p:spPr bwMode="auto">
                <a:xfrm>
                  <a:off x="1590676" y="2267202"/>
                  <a:ext cx="2228851" cy="4746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算得的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𝑓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sSub>
                          <m:sSub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)/</m:t>
                        </m:r>
                        <m:r>
                          <m:rPr>
                            <m:sty m:val="p"/>
                          </m:rP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mm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9" name="Object 1058">
                  <a:extLst>
                    <a:ext uri="{FF2B5EF4-FFF2-40B4-BE49-F238E27FC236}">
                      <a16:creationId xmlns:a16="http://schemas.microsoft.com/office/drawing/2014/main" id="{2E385B8B-BA2C-576D-4C35-FA606AA54A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90676" y="2267202"/>
                  <a:ext cx="2228851" cy="474663"/>
                </a:xfrm>
                <a:prstGeom prst="rect">
                  <a:avLst/>
                </a:prstGeom>
                <a:blipFill>
                  <a:blip r:embed="rId10"/>
                  <a:stretch>
                    <a:fillRect l="-1918" b="-641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Object 1059">
                  <a:extLst>
                    <a:ext uri="{FF2B5EF4-FFF2-40B4-BE49-F238E27FC236}">
                      <a16:creationId xmlns:a16="http://schemas.microsoft.com/office/drawing/2014/main" id="{64E2F1B8-1D1B-90C3-402F-27B47CEE3A22}"/>
                    </a:ext>
                  </a:extLst>
                </p:cNvPr>
                <p:cNvSpPr txBox="1"/>
                <p:nvPr/>
              </p:nvSpPr>
              <p:spPr bwMode="auto">
                <a:xfrm>
                  <a:off x="1574801" y="1648077"/>
                  <a:ext cx="1909763" cy="4810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实测的</m:t>
                        </m:r>
                        <m:sSub>
                          <m:sSub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mm</m:t>
                        </m:r>
                      </m:oMath>
                    </m:oMathPara>
                  </a14:m>
                  <a:br>
                    <a:rPr kumimoji="1" lang="zh-CN" altLang="en-US" sz="220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rPr>
                  </a:br>
                  <a:endParaRPr kumimoji="1"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0" name="Object 1059">
                  <a:extLst>
                    <a:ext uri="{FF2B5EF4-FFF2-40B4-BE49-F238E27FC236}">
                      <a16:creationId xmlns:a16="http://schemas.microsoft.com/office/drawing/2014/main" id="{64E2F1B8-1D1B-90C3-402F-27B47CEE3A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74801" y="1648077"/>
                  <a:ext cx="1909763" cy="481013"/>
                </a:xfrm>
                <a:prstGeom prst="rect">
                  <a:avLst/>
                </a:prstGeom>
                <a:blipFill>
                  <a:blip r:embed="rId11"/>
                  <a:stretch>
                    <a:fillRect l="-2236" b="-506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Object 1060">
                  <a:extLst>
                    <a:ext uri="{FF2B5EF4-FFF2-40B4-BE49-F238E27FC236}">
                      <a16:creationId xmlns:a16="http://schemas.microsoft.com/office/drawing/2014/main" id="{D8350B91-97A9-4E3F-916C-2FEE078120F3}"/>
                    </a:ext>
                  </a:extLst>
                </p:cNvPr>
                <p:cNvSpPr txBox="1"/>
                <p:nvPr/>
              </p:nvSpPr>
              <p:spPr bwMode="auto">
                <a:xfrm>
                  <a:off x="1631951" y="1187450"/>
                  <a:ext cx="715963" cy="3746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zh-CN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kumimoji="1" lang="en-US" altLang="zh-CN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h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1" name="Object 1060">
                  <a:extLst>
                    <a:ext uri="{FF2B5EF4-FFF2-40B4-BE49-F238E27FC236}">
                      <a16:creationId xmlns:a16="http://schemas.microsoft.com/office/drawing/2014/main" id="{D8350B91-97A9-4E3F-916C-2FEE078120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31951" y="1187450"/>
                  <a:ext cx="715963" cy="374650"/>
                </a:xfrm>
                <a:prstGeom prst="rect">
                  <a:avLst/>
                </a:prstGeom>
                <a:blipFill>
                  <a:blip r:embed="rId12"/>
                  <a:stretch>
                    <a:fillRect b="-3606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2" name="Line 1062">
              <a:extLst>
                <a:ext uri="{FF2B5EF4-FFF2-40B4-BE49-F238E27FC236}">
                  <a16:creationId xmlns:a16="http://schemas.microsoft.com/office/drawing/2014/main" id="{56AE7A38-6A45-23DB-30EF-0E1BC3CA6D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0663" y="2860675"/>
              <a:ext cx="896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3" name="Text Box 1064">
              <a:extLst>
                <a:ext uri="{FF2B5EF4-FFF2-40B4-BE49-F238E27FC236}">
                  <a16:creationId xmlns:a16="http://schemas.microsoft.com/office/drawing/2014/main" id="{9B42E8AC-7C30-81FE-4757-55B819DFC1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5602" y="2119313"/>
              <a:ext cx="5737228" cy="430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27.125         26.518         25.911        25.303</a:t>
              </a:r>
            </a:p>
          </p:txBody>
        </p:sp>
        <p:sp>
          <p:nvSpPr>
            <p:cNvPr id="74" name="Text Box 1065">
              <a:extLst>
                <a:ext uri="{FF2B5EF4-FFF2-40B4-BE49-F238E27FC236}">
                  <a16:creationId xmlns:a16="http://schemas.microsoft.com/office/drawing/2014/main" id="{F6E5B277-CC75-7ED8-1962-3D28750E87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4283" y="2447925"/>
              <a:ext cx="5408615" cy="430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26.821         26.214         25.607        25.000 </a:t>
              </a:r>
            </a:p>
          </p:txBody>
        </p:sp>
        <p:sp>
          <p:nvSpPr>
            <p:cNvPr id="75" name="Text Box 1066">
              <a:extLst>
                <a:ext uri="{FF2B5EF4-FFF2-40B4-BE49-F238E27FC236}">
                  <a16:creationId xmlns:a16="http://schemas.microsoft.com/office/drawing/2014/main" id="{52977446-B586-DB54-C44E-1C964A7833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3852" y="2830513"/>
              <a:ext cx="5597528" cy="430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－</a:t>
              </a:r>
              <a:r>
                <a:rPr kumimoji="1" lang="en-US" altLang="zh-CN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0.125      </a:t>
              </a:r>
              <a:r>
                <a: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－</a:t>
              </a:r>
              <a:r>
                <a:rPr kumimoji="1" lang="en-US" altLang="zh-CN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0.018         0.189        </a:t>
              </a:r>
              <a:r>
                <a: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－</a:t>
              </a:r>
              <a:r>
                <a:rPr kumimoji="1" lang="en-US" altLang="zh-CN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0.003</a:t>
              </a:r>
            </a:p>
          </p:txBody>
        </p:sp>
        <p:sp>
          <p:nvSpPr>
            <p:cNvPr id="76" name="Text Box 1067">
              <a:extLst>
                <a:ext uri="{FF2B5EF4-FFF2-40B4-BE49-F238E27FC236}">
                  <a16:creationId xmlns:a16="http://schemas.microsoft.com/office/drawing/2014/main" id="{93C3A41F-EF0A-DAD7-BCC3-3441F0F1C8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220" y="3154111"/>
              <a:ext cx="5429253" cy="430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－</a:t>
              </a:r>
              <a:r>
                <a:rPr kumimoji="1" lang="en-US" altLang="zh-CN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0.021          0.086         0.093        </a:t>
              </a:r>
              <a:r>
                <a: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－</a:t>
              </a:r>
              <a:r>
                <a:rPr kumimoji="1" lang="en-US" altLang="zh-CN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0.200 </a:t>
              </a:r>
            </a:p>
          </p:txBody>
        </p:sp>
        <p:sp>
          <p:nvSpPr>
            <p:cNvPr id="77" name="Line 1076">
              <a:extLst>
                <a:ext uri="{FF2B5EF4-FFF2-40B4-BE49-F238E27FC236}">
                  <a16:creationId xmlns:a16="http://schemas.microsoft.com/office/drawing/2014/main" id="{79D6BAF5-8FAE-22EF-0DFA-D9CFD5E811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0663" y="3581400"/>
              <a:ext cx="896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8" name="Line 1078">
              <a:extLst>
                <a:ext uri="{FF2B5EF4-FFF2-40B4-BE49-F238E27FC236}">
                  <a16:creationId xmlns:a16="http://schemas.microsoft.com/office/drawing/2014/main" id="{C28FE66B-7FF7-F0CA-195D-A2BB97300E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0663" y="1143000"/>
              <a:ext cx="0" cy="2430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9" name="Line 1079">
              <a:extLst>
                <a:ext uri="{FF2B5EF4-FFF2-40B4-BE49-F238E27FC236}">
                  <a16:creationId xmlns:a16="http://schemas.microsoft.com/office/drawing/2014/main" id="{C2453076-3DFA-117D-0690-05822C8AEC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54663" y="1143000"/>
              <a:ext cx="0" cy="2430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Object 1093">
                  <a:extLst>
                    <a:ext uri="{FF2B5EF4-FFF2-40B4-BE49-F238E27FC236}">
                      <a16:creationId xmlns:a16="http://schemas.microsoft.com/office/drawing/2014/main" id="{4A5E670F-D197-1C64-08D9-7DDE3B2DAEF8}"/>
                    </a:ext>
                  </a:extLst>
                </p:cNvPr>
                <p:cNvSpPr txBox="1"/>
                <p:nvPr/>
              </p:nvSpPr>
              <p:spPr bwMode="auto">
                <a:xfrm>
                  <a:off x="1590676" y="3012910"/>
                  <a:ext cx="1511301" cy="4016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偏差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mm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3" name="Object 1093">
                  <a:extLst>
                    <a:ext uri="{FF2B5EF4-FFF2-40B4-BE49-F238E27FC236}">
                      <a16:creationId xmlns:a16="http://schemas.microsoft.com/office/drawing/2014/main" id="{4A5E670F-D197-1C64-08D9-7DDE3B2DAE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90676" y="3012910"/>
                  <a:ext cx="1511301" cy="401638"/>
                </a:xfrm>
                <a:prstGeom prst="rect">
                  <a:avLst/>
                </a:prstGeom>
                <a:blipFill>
                  <a:blip r:embed="rId13"/>
                  <a:stretch>
                    <a:fillRect l="-2823" b="-2575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14913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3" grpId="0" build="p" autoUpdateAnimBg="0"/>
      <p:bldP spid="54" grpId="0"/>
      <p:bldP spid="56" grpId="0" build="p" autoUpdateAnimBg="0"/>
      <p:bldP spid="57" grpId="0"/>
      <p:bldP spid="58" grpId="0" build="p" autoUpdateAnimBg="0"/>
      <p:bldP spid="60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92871C3-F494-73E8-3E28-89C5DBF104F6}"/>
              </a:ext>
            </a:extLst>
          </p:cNvPr>
          <p:cNvSpPr txBox="1">
            <a:spLocks noChangeArrowheads="1"/>
          </p:cNvSpPr>
          <p:nvPr/>
        </p:nvSpPr>
        <p:spPr>
          <a:xfrm>
            <a:off x="1668883" y="766017"/>
            <a:ext cx="9144752" cy="5334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9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9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  </a:t>
            </a:r>
            <a:r>
              <a:rPr kumimoji="1" lang="zh-CN" altLang="en-US" sz="29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在研究某单分子化学反应速度时</a:t>
            </a:r>
            <a:r>
              <a:rPr lang="en-US" altLang="zh-CN" sz="3200" dirty="0">
                <a:ea typeface="黑体" panose="02010609060101010101" pitchFamily="49" charset="-122"/>
              </a:rPr>
              <a:t>, </a:t>
            </a:r>
            <a:r>
              <a:rPr kumimoji="1" lang="zh-CN" altLang="en-US" sz="29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得到下列数据</a:t>
            </a:r>
            <a:r>
              <a:rPr kumimoji="1" lang="en-US" altLang="zh-CN" sz="29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: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3E933E3-B4DC-4415-F977-1F8B4998B61B}"/>
              </a:ext>
            </a:extLst>
          </p:cNvPr>
          <p:cNvGrpSpPr>
            <a:grpSpLocks/>
          </p:cNvGrpSpPr>
          <p:nvPr/>
        </p:nvGrpSpPr>
        <p:grpSpPr bwMode="auto">
          <a:xfrm>
            <a:off x="2483015" y="1299417"/>
            <a:ext cx="8124825" cy="1524000"/>
            <a:chOff x="450" y="576"/>
            <a:chExt cx="5118" cy="960"/>
          </a:xfrm>
        </p:grpSpPr>
        <p:sp>
          <p:nvSpPr>
            <p:cNvPr id="4" name="Line 4">
              <a:extLst>
                <a:ext uri="{FF2B5EF4-FFF2-40B4-BE49-F238E27FC236}">
                  <a16:creationId xmlns:a16="http://schemas.microsoft.com/office/drawing/2014/main" id="{E4552F4F-C4E4-E7E3-37BB-03E1476044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" y="855"/>
              <a:ext cx="49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D23E32D9-6370-D9D5-B6A0-FF9426D2B6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5" y="1204"/>
              <a:ext cx="464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57.6   41.9   31.0   22.7   16.6   12.2    8.9     6.5   </a:t>
              </a:r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FBF37B25-CDBE-B4D1-2DDF-2B10BD5F7E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9" y="903"/>
              <a:ext cx="4355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3        6        9      12       15      18      21      24</a:t>
              </a: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16965CB6-55A7-ED10-CC63-71EBC0D2BE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9" y="576"/>
              <a:ext cx="4176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1        2        3        4        5        6        7       8</a:t>
              </a:r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F3BF7CE9-5A3F-0A38-85A2-AB6E275EA2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" y="1191"/>
              <a:ext cx="49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35C09217-18B1-715A-B090-BF64F7F089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624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Object 10">
                  <a:extLst>
                    <a:ext uri="{FF2B5EF4-FFF2-40B4-BE49-F238E27FC236}">
                      <a16:creationId xmlns:a16="http://schemas.microsoft.com/office/drawing/2014/main" id="{9A776FD9-A110-170F-4823-1FB6B24F037B}"/>
                    </a:ext>
                  </a:extLst>
                </p:cNvPr>
                <p:cNvSpPr txBox="1"/>
                <p:nvPr/>
              </p:nvSpPr>
              <p:spPr bwMode="auto">
                <a:xfrm>
                  <a:off x="563" y="1223"/>
                  <a:ext cx="197" cy="2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21" name="Object 10">
                  <a:extLst>
                    <a:ext uri="{FF2B5EF4-FFF2-40B4-BE49-F238E27FC236}">
                      <a16:creationId xmlns:a16="http://schemas.microsoft.com/office/drawing/2014/main" id="{9A776FD9-A110-170F-4823-1FB6B24F03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3" y="1223"/>
                  <a:ext cx="197" cy="275"/>
                </a:xfrm>
                <a:prstGeom prst="rect">
                  <a:avLst/>
                </a:prstGeom>
                <a:blipFill>
                  <a:blip r:embed="rId4"/>
                  <a:stretch>
                    <a:fillRect l="-3922" r="-25490" b="-845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bject 11">
                  <a:extLst>
                    <a:ext uri="{FF2B5EF4-FFF2-40B4-BE49-F238E27FC236}">
                      <a16:creationId xmlns:a16="http://schemas.microsoft.com/office/drawing/2014/main" id="{247A418D-2294-1B96-B974-D1A10763FAC9}"/>
                    </a:ext>
                  </a:extLst>
                </p:cNvPr>
                <p:cNvSpPr txBox="1"/>
                <p:nvPr/>
              </p:nvSpPr>
              <p:spPr bwMode="auto">
                <a:xfrm>
                  <a:off x="563" y="886"/>
                  <a:ext cx="190" cy="27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22" name="Object 11">
                  <a:extLst>
                    <a:ext uri="{FF2B5EF4-FFF2-40B4-BE49-F238E27FC236}">
                      <a16:creationId xmlns:a16="http://schemas.microsoft.com/office/drawing/2014/main" id="{247A418D-2294-1B96-B974-D1A10763FA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3" y="886"/>
                  <a:ext cx="190" cy="272"/>
                </a:xfrm>
                <a:prstGeom prst="rect">
                  <a:avLst/>
                </a:prstGeom>
                <a:blipFill>
                  <a:blip r:embed="rId5"/>
                  <a:stretch>
                    <a:fillRect r="-22449" b="-140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Object 12">
                  <a:extLst>
                    <a:ext uri="{FF2B5EF4-FFF2-40B4-BE49-F238E27FC236}">
                      <a16:creationId xmlns:a16="http://schemas.microsoft.com/office/drawing/2014/main" id="{F9EFECE1-1F69-E474-A128-0DF2C1B323FB}"/>
                    </a:ext>
                  </a:extLst>
                </p:cNvPr>
                <p:cNvSpPr txBox="1"/>
                <p:nvPr/>
              </p:nvSpPr>
              <p:spPr bwMode="auto">
                <a:xfrm>
                  <a:off x="592" y="600"/>
                  <a:ext cx="168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23" name="Object 12">
                  <a:extLst>
                    <a:ext uri="{FF2B5EF4-FFF2-40B4-BE49-F238E27FC236}">
                      <a16:creationId xmlns:a16="http://schemas.microsoft.com/office/drawing/2014/main" id="{F9EFECE1-1F69-E474-A128-0DF2C1B323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2" y="600"/>
                  <a:ext cx="168" cy="192"/>
                </a:xfrm>
                <a:prstGeom prst="rect">
                  <a:avLst/>
                </a:prstGeom>
                <a:blipFill>
                  <a:blip r:embed="rId6"/>
                  <a:stretch>
                    <a:fillRect r="-4545" b="-32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Text Box 13">
            <a:extLst>
              <a:ext uri="{FF2B5EF4-FFF2-40B4-BE49-F238E27FC236}">
                <a16:creationId xmlns:a16="http://schemas.microsoft.com/office/drawing/2014/main" id="{7E48A6C4-81A3-F4AA-97A3-BD0F02A9B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332" y="2837705"/>
            <a:ext cx="5584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其中</a:t>
            </a:r>
            <a:r>
              <a:rPr kumimoji="1" lang="zh-CN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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表示从实验开始算起的时间</a:t>
            </a:r>
            <a:r>
              <a:rPr lang="en-US" altLang="zh-CN" sz="2800" dirty="0">
                <a:ea typeface="黑体" panose="02010609060101010101" pitchFamily="49" charset="-122"/>
              </a:rPr>
              <a:t>,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 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14">
                <a:extLst>
                  <a:ext uri="{FF2B5EF4-FFF2-40B4-BE49-F238E27FC236}">
                    <a16:creationId xmlns:a16="http://schemas.microsoft.com/office/drawing/2014/main" id="{2B24F223-19F9-32CE-E1BA-121B62BC49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39406" y="2823418"/>
                <a:ext cx="30618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表示时刻 </a:t>
                </a:r>
                <a:r>
                  <a:rPr kumimoji="1" lang="zh-CN" altLang="en-US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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 反应 </a:t>
                </a:r>
              </a:p>
            </p:txBody>
          </p:sp>
        </mc:Choice>
        <mc:Fallback xmlns="">
          <p:sp>
            <p:nvSpPr>
              <p:cNvPr id="25" name="Text Box 14">
                <a:extLst>
                  <a:ext uri="{FF2B5EF4-FFF2-40B4-BE49-F238E27FC236}">
                    <a16:creationId xmlns:a16="http://schemas.microsoft.com/office/drawing/2014/main" id="{2B24F223-19F9-32CE-E1BA-121B62BC4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39406" y="2823418"/>
                <a:ext cx="3061800" cy="523220"/>
              </a:xfrm>
              <a:prstGeom prst="rect">
                <a:avLst/>
              </a:prstGeom>
              <a:blipFill>
                <a:blip r:embed="rId7"/>
                <a:stretch>
                  <a:fillRect t="-15116" r="-199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 Box 15">
            <a:extLst>
              <a:ext uri="{FF2B5EF4-FFF2-40B4-BE49-F238E27FC236}">
                <a16:creationId xmlns:a16="http://schemas.microsoft.com/office/drawing/2014/main" id="{4954235D-3EE5-1DCF-7055-AC5EFFCC8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165" y="3371105"/>
            <a:ext cx="1428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物的量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. </a:t>
            </a:r>
          </a:p>
        </p:txBody>
      </p:sp>
      <p:sp>
        <p:nvSpPr>
          <p:cNvPr id="27" name="Text Box 16">
            <a:extLst>
              <a:ext uri="{FF2B5EF4-FFF2-40B4-BE49-F238E27FC236}">
                <a16:creationId xmlns:a16="http://schemas.microsoft.com/office/drawing/2014/main" id="{0B1CAA21-0BE0-86CF-D9D7-3D17B4464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2365" y="3366149"/>
            <a:ext cx="4806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试根据上述数据定出经验公式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17">
                <a:extLst>
                  <a:ext uri="{FF2B5EF4-FFF2-40B4-BE49-F238E27FC236}">
                    <a16:creationId xmlns:a16="http://schemas.microsoft.com/office/drawing/2014/main" id="{5A8A82E8-293A-5B98-2F85-8CF2A84F0CB5}"/>
                  </a:ext>
                </a:extLst>
              </p:cNvPr>
              <p:cNvSpPr txBox="1"/>
              <p:nvPr/>
            </p:nvSpPr>
            <p:spPr bwMode="auto">
              <a:xfrm>
                <a:off x="8337713" y="3308279"/>
                <a:ext cx="2078039" cy="5454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𝜏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).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Object 17">
                <a:extLst>
                  <a:ext uri="{FF2B5EF4-FFF2-40B4-BE49-F238E27FC236}">
                    <a16:creationId xmlns:a16="http://schemas.microsoft.com/office/drawing/2014/main" id="{5A8A82E8-293A-5B98-2F85-8CF2A84F0C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37713" y="3308279"/>
                <a:ext cx="2078039" cy="54542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 Box 19">
            <a:extLst>
              <a:ext uri="{FF2B5EF4-FFF2-40B4-BE49-F238E27FC236}">
                <a16:creationId xmlns:a16="http://schemas.microsoft.com/office/drawing/2014/main" id="{4E4431B2-A413-63FB-3AA3-CE3D20A60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8883" y="3966136"/>
            <a:ext cx="6463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31" name="Text Box 20">
            <a:extLst>
              <a:ext uri="{FF2B5EF4-FFF2-40B4-BE49-F238E27FC236}">
                <a16:creationId xmlns:a16="http://schemas.microsoft.com/office/drawing/2014/main" id="{8F0BB42F-3596-7A5D-8AB0-3D2B5BCA9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4437" y="3990200"/>
            <a:ext cx="512191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由化学反应速度的理论知</a:t>
            </a:r>
            <a:r>
              <a:rPr lang="en-US" altLang="zh-CN" sz="2200" dirty="0">
                <a:ea typeface="黑体" panose="02010609060101010101" pitchFamily="49" charset="-122"/>
              </a:rPr>
              <a:t>,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经验公式应取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21">
                <a:extLst>
                  <a:ext uri="{FF2B5EF4-FFF2-40B4-BE49-F238E27FC236}">
                    <a16:creationId xmlns:a16="http://schemas.microsoft.com/office/drawing/2014/main" id="{042E21A6-A381-2F50-C3EE-DFF7E96FE111}"/>
                  </a:ext>
                </a:extLst>
              </p:cNvPr>
              <p:cNvSpPr txBox="1"/>
              <p:nvPr/>
            </p:nvSpPr>
            <p:spPr bwMode="auto">
              <a:xfrm>
                <a:off x="7608799" y="3951643"/>
                <a:ext cx="1320800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𝑚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𝜏</m:t>
                          </m:r>
                        </m:sup>
                      </m:sSup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Object 21">
                <a:extLst>
                  <a:ext uri="{FF2B5EF4-FFF2-40B4-BE49-F238E27FC236}">
                    <a16:creationId xmlns:a16="http://schemas.microsoft.com/office/drawing/2014/main" id="{042E21A6-A381-2F50-C3EE-DFF7E96FE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08799" y="3951643"/>
                <a:ext cx="1320800" cy="508000"/>
              </a:xfrm>
              <a:prstGeom prst="rect">
                <a:avLst/>
              </a:prstGeom>
              <a:blipFill>
                <a:blip r:embed="rId9"/>
                <a:stretch>
                  <a:fillRect l="-46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22">
                <a:extLst>
                  <a:ext uri="{FF2B5EF4-FFF2-40B4-BE49-F238E27FC236}">
                    <a16:creationId xmlns:a16="http://schemas.microsoft.com/office/drawing/2014/main" id="{7D5BD14F-1FC1-954B-43C4-0ADFABC0E5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2658" y="4458038"/>
                <a:ext cx="2778838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𝑘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 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𝑚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为待定常数</a:t>
                </a:r>
                <a:r>
                  <a:rPr kumimoji="1"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.</a:t>
                </a:r>
                <a:endParaRPr kumimoji="1" lang="en-US" altLang="zh-CN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Text Box 22">
                <a:extLst>
                  <a:ext uri="{FF2B5EF4-FFF2-40B4-BE49-F238E27FC236}">
                    <a16:creationId xmlns:a16="http://schemas.microsoft.com/office/drawing/2014/main" id="{7D5BD14F-1FC1-954B-43C4-0ADFABC0E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2658" y="4458038"/>
                <a:ext cx="2778838" cy="430887"/>
              </a:xfrm>
              <a:prstGeom prst="rect">
                <a:avLst/>
              </a:prstGeom>
              <a:blipFill>
                <a:blip r:embed="rId10"/>
                <a:stretch>
                  <a:fillRect l="-2851" t="-12676" r="-877" b="-2957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 Box 23">
            <a:extLst>
              <a:ext uri="{FF2B5EF4-FFF2-40B4-BE49-F238E27FC236}">
                <a16:creationId xmlns:a16="http://schemas.microsoft.com/office/drawing/2014/main" id="{18952FAE-4E21-9D24-0D74-ABCD261E8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5626" y="4461407"/>
            <a:ext cx="187743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R="0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对其取对数得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24">
                <a:extLst>
                  <a:ext uri="{FF2B5EF4-FFF2-40B4-BE49-F238E27FC236}">
                    <a16:creationId xmlns:a16="http://schemas.microsoft.com/office/drawing/2014/main" id="{8C28E324-0D76-8754-4628-A94C275A1F3A}"/>
                  </a:ext>
                </a:extLst>
              </p:cNvPr>
              <p:cNvSpPr txBox="1"/>
              <p:nvPr/>
            </p:nvSpPr>
            <p:spPr bwMode="auto">
              <a:xfrm>
                <a:off x="2810037" y="4912651"/>
                <a:ext cx="23241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𝑚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𝜏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5" name="Object 24">
                <a:extLst>
                  <a:ext uri="{FF2B5EF4-FFF2-40B4-BE49-F238E27FC236}">
                    <a16:creationId xmlns:a16="http://schemas.microsoft.com/office/drawing/2014/main" id="{8C28E324-0D76-8754-4628-A94C275A1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037" y="4912651"/>
                <a:ext cx="2324100" cy="406400"/>
              </a:xfrm>
              <a:prstGeom prst="rect">
                <a:avLst/>
              </a:prstGeom>
              <a:blipFill>
                <a:blip r:embed="rId11"/>
                <a:stretch>
                  <a:fillRect l="-525" b="-1641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25">
                <a:extLst>
                  <a:ext uri="{FF2B5EF4-FFF2-40B4-BE49-F238E27FC236}">
                    <a16:creationId xmlns:a16="http://schemas.microsoft.com/office/drawing/2014/main" id="{8EE87F02-60E2-6BAA-A7E0-0458229E4F14}"/>
                  </a:ext>
                </a:extLst>
              </p:cNvPr>
              <p:cNvSpPr txBox="1"/>
              <p:nvPr/>
            </p:nvSpPr>
            <p:spPr bwMode="auto">
              <a:xfrm>
                <a:off x="3686337" y="5372524"/>
                <a:ext cx="53213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令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𝑌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𝑋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𝜏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𝑎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𝑚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𝑏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Object 25">
                <a:extLst>
                  <a:ext uri="{FF2B5EF4-FFF2-40B4-BE49-F238E27FC236}">
                    <a16:creationId xmlns:a16="http://schemas.microsoft.com/office/drawing/2014/main" id="{8EE87F02-60E2-6BAA-A7E0-0458229E4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86337" y="5372524"/>
                <a:ext cx="5321300" cy="444500"/>
              </a:xfrm>
              <a:prstGeom prst="rect">
                <a:avLst/>
              </a:prstGeom>
              <a:blipFill>
                <a:blip r:embed="rId12"/>
                <a:stretch>
                  <a:fillRect l="-916" b="-958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Line 26">
            <a:extLst>
              <a:ext uri="{FF2B5EF4-FFF2-40B4-BE49-F238E27FC236}">
                <a16:creationId xmlns:a16="http://schemas.microsoft.com/office/drawing/2014/main" id="{7474AAFA-1873-7C1E-6BDC-A3A5C23F05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33937" y="5332419"/>
            <a:ext cx="0" cy="50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27">
                <a:extLst>
                  <a:ext uri="{FF2B5EF4-FFF2-40B4-BE49-F238E27FC236}">
                    <a16:creationId xmlns:a16="http://schemas.microsoft.com/office/drawing/2014/main" id="{7BA04770-5694-41B2-EEF4-E283965AF066}"/>
                  </a:ext>
                </a:extLst>
              </p:cNvPr>
              <p:cNvSpPr txBox="1"/>
              <p:nvPr/>
            </p:nvSpPr>
            <p:spPr bwMode="auto">
              <a:xfrm>
                <a:off x="3076737" y="5801645"/>
                <a:ext cx="17018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𝑌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𝑎𝑋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𝑏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8" name="Object 27">
                <a:extLst>
                  <a:ext uri="{FF2B5EF4-FFF2-40B4-BE49-F238E27FC236}">
                    <a16:creationId xmlns:a16="http://schemas.microsoft.com/office/drawing/2014/main" id="{7BA04770-5694-41B2-EEF4-E283965AF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6737" y="5801645"/>
                <a:ext cx="1701800" cy="406400"/>
              </a:xfrm>
              <a:prstGeom prst="rect">
                <a:avLst/>
              </a:prstGeom>
              <a:blipFill>
                <a:blip r:embed="rId13"/>
                <a:stretch>
                  <a:fillRect l="-358" b="-30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 Box 28">
            <a:extLst>
              <a:ext uri="{FF2B5EF4-FFF2-40B4-BE49-F238E27FC236}">
                <a16:creationId xmlns:a16="http://schemas.microsoft.com/office/drawing/2014/main" id="{7600CD34-7C71-B497-C500-5346C413E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887" y="5792120"/>
            <a:ext cx="150233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(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线性函数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)</a:t>
            </a:r>
          </a:p>
        </p:txBody>
      </p:sp>
      <p:sp>
        <p:nvSpPr>
          <p:cNvPr id="42" name="Text Box 29">
            <a:extLst>
              <a:ext uri="{FF2B5EF4-FFF2-40B4-BE49-F238E27FC236}">
                <a16:creationId xmlns:a16="http://schemas.microsoft.com/office/drawing/2014/main" id="{9D8EE452-35EA-1C81-F9EE-95CEC0C02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3478" y="4899532"/>
            <a:ext cx="291297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200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书中取的是常用对数</a:t>
            </a:r>
            <a:r>
              <a:rPr kumimoji="1" lang="en-US" altLang="zh-CN" sz="2200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51265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4" grpId="0" build="p" autoUpdateAnimBg="0"/>
      <p:bldP spid="25" grpId="0" build="p" autoUpdateAnimBg="0"/>
      <p:bldP spid="26" grpId="0" build="p" autoUpdateAnimBg="0" advAuto="0"/>
      <p:bldP spid="27" grpId="0" build="p" autoUpdateAnimBg="0"/>
      <p:bldP spid="28" grpId="0"/>
      <p:bldP spid="30" grpId="0" build="p" autoUpdateAnimBg="0"/>
      <p:bldP spid="31" grpId="0" build="p" autoUpdateAnimBg="0"/>
      <p:bldP spid="32" grpId="0"/>
      <p:bldP spid="33" grpId="0" build="p" autoUpdateAnimBg="0"/>
      <p:bldP spid="34" grpId="0" build="p" autoUpdateAnimBg="0"/>
      <p:bldP spid="35" grpId="0"/>
      <p:bldP spid="36" grpId="0"/>
      <p:bldP spid="38" grpId="0"/>
      <p:bldP spid="39" grpId="0" build="p" autoUpdateAnimBg="0"/>
      <p:bldP spid="42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452037"/>
                <a:ext cx="10817352" cy="596079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452037"/>
                <a:ext cx="10817352" cy="59607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452037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452037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739313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719447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" name="Group 99">
            <a:extLst>
              <a:ext uri="{FF2B5EF4-FFF2-40B4-BE49-F238E27FC236}">
                <a16:creationId xmlns:a16="http://schemas.microsoft.com/office/drawing/2014/main" id="{AB72312A-0819-8736-0D99-EE8A8ED2768F}"/>
              </a:ext>
            </a:extLst>
          </p:cNvPr>
          <p:cNvGrpSpPr>
            <a:grpSpLocks/>
          </p:cNvGrpSpPr>
          <p:nvPr/>
        </p:nvGrpSpPr>
        <p:grpSpPr bwMode="auto">
          <a:xfrm>
            <a:off x="8077304" y="2675355"/>
            <a:ext cx="2197100" cy="1827213"/>
            <a:chOff x="4052" y="2926"/>
            <a:chExt cx="1384" cy="1151"/>
          </a:xfrm>
        </p:grpSpPr>
        <p:grpSp>
          <p:nvGrpSpPr>
            <p:cNvPr id="10" name="Group 92">
              <a:extLst>
                <a:ext uri="{FF2B5EF4-FFF2-40B4-BE49-F238E27FC236}">
                  <a16:creationId xmlns:a16="http://schemas.microsoft.com/office/drawing/2014/main" id="{D2764023-7033-5E25-4CA7-04CA1C17FA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3168"/>
              <a:ext cx="774" cy="606"/>
              <a:chOff x="4368" y="3168"/>
              <a:chExt cx="774" cy="606"/>
            </a:xfrm>
          </p:grpSpPr>
          <p:sp>
            <p:nvSpPr>
              <p:cNvPr id="18" name="Oval 66">
                <a:extLst>
                  <a:ext uri="{FF2B5EF4-FFF2-40B4-BE49-F238E27FC236}">
                    <a16:creationId xmlns:a16="http://schemas.microsoft.com/office/drawing/2014/main" id="{8863C037-2D61-1BEE-F2BF-73E2BCAD24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3168"/>
                <a:ext cx="42" cy="42"/>
              </a:xfrm>
              <a:prstGeom prst="ellips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9" name="Oval 67">
                <a:extLst>
                  <a:ext uri="{FF2B5EF4-FFF2-40B4-BE49-F238E27FC236}">
                    <a16:creationId xmlns:a16="http://schemas.microsoft.com/office/drawing/2014/main" id="{34626204-E1D1-4006-E697-0BD309ACA7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6" y="3342"/>
                <a:ext cx="42" cy="42"/>
              </a:xfrm>
              <a:prstGeom prst="ellips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20" name="Oval 68">
                <a:extLst>
                  <a:ext uri="{FF2B5EF4-FFF2-40B4-BE49-F238E27FC236}">
                    <a16:creationId xmlns:a16="http://schemas.microsoft.com/office/drawing/2014/main" id="{5DD71D95-461E-A8A9-6937-1DA1BF5BEE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8" y="3462"/>
                <a:ext cx="42" cy="42"/>
              </a:xfrm>
              <a:prstGeom prst="ellips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29" name="Oval 69">
                <a:extLst>
                  <a:ext uri="{FF2B5EF4-FFF2-40B4-BE49-F238E27FC236}">
                    <a16:creationId xmlns:a16="http://schemas.microsoft.com/office/drawing/2014/main" id="{D0612059-6958-25F1-6974-50E634E3C3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6" y="3552"/>
                <a:ext cx="42" cy="42"/>
              </a:xfrm>
              <a:prstGeom prst="ellips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43" name="Oval 70">
                <a:extLst>
                  <a:ext uri="{FF2B5EF4-FFF2-40B4-BE49-F238E27FC236}">
                    <a16:creationId xmlns:a16="http://schemas.microsoft.com/office/drawing/2014/main" id="{AC408D53-C7B0-E266-9E2B-B7E0BF4FEE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8" y="3618"/>
                <a:ext cx="42" cy="42"/>
              </a:xfrm>
              <a:prstGeom prst="ellips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44" name="Oval 71">
                <a:extLst>
                  <a:ext uri="{FF2B5EF4-FFF2-40B4-BE49-F238E27FC236}">
                    <a16:creationId xmlns:a16="http://schemas.microsoft.com/office/drawing/2014/main" id="{0928E60F-8619-F098-52DA-7B06EDB448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6" y="3666"/>
                <a:ext cx="42" cy="42"/>
              </a:xfrm>
              <a:prstGeom prst="ellips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45" name="Oval 72">
                <a:extLst>
                  <a:ext uri="{FF2B5EF4-FFF2-40B4-BE49-F238E27FC236}">
                    <a16:creationId xmlns:a16="http://schemas.microsoft.com/office/drawing/2014/main" id="{2963BAB8-C0FE-F39D-18FE-28673E7B9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8" y="3708"/>
                <a:ext cx="42" cy="42"/>
              </a:xfrm>
              <a:prstGeom prst="ellips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46" name="Oval 73">
                <a:extLst>
                  <a:ext uri="{FF2B5EF4-FFF2-40B4-BE49-F238E27FC236}">
                    <a16:creationId xmlns:a16="http://schemas.microsoft.com/office/drawing/2014/main" id="{CCA251EF-260C-7F19-79CB-3A24466B75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0" y="3732"/>
                <a:ext cx="42" cy="42"/>
              </a:xfrm>
              <a:prstGeom prst="ellips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p:grpSp>
        <p:grpSp>
          <p:nvGrpSpPr>
            <p:cNvPr id="12" name="Group 98">
              <a:extLst>
                <a:ext uri="{FF2B5EF4-FFF2-40B4-BE49-F238E27FC236}">
                  <a16:creationId xmlns:a16="http://schemas.microsoft.com/office/drawing/2014/main" id="{2EC1E87D-46B6-AB92-1574-1AD9E8ED54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52" y="2926"/>
              <a:ext cx="1384" cy="1151"/>
              <a:chOff x="4052" y="2926"/>
              <a:chExt cx="1384" cy="1151"/>
            </a:xfrm>
          </p:grpSpPr>
          <p:sp>
            <p:nvSpPr>
              <p:cNvPr id="13" name="Line 93">
                <a:extLst>
                  <a:ext uri="{FF2B5EF4-FFF2-40B4-BE49-F238E27FC236}">
                    <a16:creationId xmlns:a16="http://schemas.microsoft.com/office/drawing/2014/main" id="{66207F73-421C-228E-8FEC-CE4399CF5F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3828"/>
                <a:ext cx="11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4" name="Line 94">
                <a:extLst>
                  <a:ext uri="{FF2B5EF4-FFF2-40B4-BE49-F238E27FC236}">
                    <a16:creationId xmlns:a16="http://schemas.microsoft.com/office/drawing/2014/main" id="{15A4BAC9-755E-53E6-4FF6-F2681830B3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82" y="2976"/>
                <a:ext cx="0" cy="86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Object 95">
                    <a:extLst>
                      <a:ext uri="{FF2B5EF4-FFF2-40B4-BE49-F238E27FC236}">
                        <a16:creationId xmlns:a16="http://schemas.microsoft.com/office/drawing/2014/main" id="{7B44DB1A-AF75-1CC9-46E1-322D358236F1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5239" y="3782"/>
                    <a:ext cx="197" cy="22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oMath>
                      </m:oMathPara>
                    </a14:m>
                    <a:endParaRPr lang="zh-CN" altLang="en-US" sz="2200" dirty="0"/>
                  </a:p>
                </p:txBody>
              </p:sp>
            </mc:Choice>
            <mc:Fallback xmlns="">
              <p:sp>
                <p:nvSpPr>
                  <p:cNvPr id="15" name="Object 95">
                    <a:extLst>
                      <a:ext uri="{FF2B5EF4-FFF2-40B4-BE49-F238E27FC236}">
                        <a16:creationId xmlns:a16="http://schemas.microsoft.com/office/drawing/2014/main" id="{7B44DB1A-AF75-1CC9-46E1-322D358236F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239" y="3782"/>
                    <a:ext cx="197" cy="22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6897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Object 96">
                    <a:extLst>
                      <a:ext uri="{FF2B5EF4-FFF2-40B4-BE49-F238E27FC236}">
                        <a16:creationId xmlns:a16="http://schemas.microsoft.com/office/drawing/2014/main" id="{7FE83841-8371-6347-84BB-6C855FCF783C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113" y="3772"/>
                    <a:ext cx="197" cy="30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oMath>
                      </m:oMathPara>
                    </a14:m>
                    <a:endParaRPr lang="zh-CN" altLang="en-US" sz="2200" dirty="0"/>
                  </a:p>
                </p:txBody>
              </p:sp>
            </mc:Choice>
            <mc:Fallback xmlns="">
              <p:sp>
                <p:nvSpPr>
                  <p:cNvPr id="16" name="Object 96">
                    <a:extLst>
                      <a:ext uri="{FF2B5EF4-FFF2-40B4-BE49-F238E27FC236}">
                        <a16:creationId xmlns:a16="http://schemas.microsoft.com/office/drawing/2014/main" id="{7FE83841-8371-6347-84BB-6C855FCF78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13" y="3772"/>
                    <a:ext cx="197" cy="30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961" r="-21569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Object 97">
                    <a:extLst>
                      <a:ext uri="{FF2B5EF4-FFF2-40B4-BE49-F238E27FC236}">
                        <a16:creationId xmlns:a16="http://schemas.microsoft.com/office/drawing/2014/main" id="{E8D76129-18BA-7A94-1E63-FD1E76F2E96A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052" y="2926"/>
                    <a:ext cx="206" cy="27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zh-CN" altLang="en-US" sz="2200" dirty="0"/>
                  </a:p>
                </p:txBody>
              </p:sp>
            </mc:Choice>
            <mc:Fallback xmlns="">
              <p:sp>
                <p:nvSpPr>
                  <p:cNvPr id="17" name="Object 97">
                    <a:extLst>
                      <a:ext uri="{FF2B5EF4-FFF2-40B4-BE49-F238E27FC236}">
                        <a16:creationId xmlns:a16="http://schemas.microsoft.com/office/drawing/2014/main" id="{E8D76129-18BA-7A94-1E63-FD1E76F2E96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052" y="2926"/>
                    <a:ext cx="206" cy="27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852" r="-7407" b="-10000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2">
                <a:extLst>
                  <a:ext uri="{FF2B5EF4-FFF2-40B4-BE49-F238E27FC236}">
                    <a16:creationId xmlns:a16="http://schemas.microsoft.com/office/drawing/2014/main" id="{8D8DB511-64F9-E3FE-3125-88F17D233AE9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917804" y="500738"/>
                <a:ext cx="3416968" cy="46513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zh-CN" altLang="en-US" sz="2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因此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  <m:r>
                      <a:rPr kumimoji="1" lang="en-US" altLang="zh-CN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𝑏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应满足法方程组</a:t>
                </a:r>
                <a:r>
                  <a:rPr lang="en-US" altLang="zh-CN" sz="2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 </a:t>
                </a:r>
              </a:p>
            </p:txBody>
          </p:sp>
        </mc:Choice>
        <mc:Fallback xmlns="">
          <p:sp>
            <p:nvSpPr>
              <p:cNvPr id="50" name="Rectangle 2">
                <a:extLst>
                  <a:ext uri="{FF2B5EF4-FFF2-40B4-BE49-F238E27FC236}">
                    <a16:creationId xmlns:a16="http://schemas.microsoft.com/office/drawing/2014/main" id="{8D8DB511-64F9-E3FE-3125-88F17D233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804" y="500738"/>
                <a:ext cx="3416968" cy="465138"/>
              </a:xfrm>
              <a:prstGeom prst="rect">
                <a:avLst/>
              </a:prstGeom>
              <a:blipFill>
                <a:blip r:embed="rId7"/>
                <a:stretch>
                  <a:fillRect l="-2321" t="-21053"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AutoShape 4">
            <a:extLst>
              <a:ext uri="{FF2B5EF4-FFF2-40B4-BE49-F238E27FC236}">
                <a16:creationId xmlns:a16="http://schemas.microsoft.com/office/drawing/2014/main" id="{C5ADEA62-6525-E61E-1C79-1DE75CE98EF2}"/>
              </a:ext>
            </a:extLst>
          </p:cNvPr>
          <p:cNvSpPr>
            <a:spLocks/>
          </p:cNvSpPr>
          <p:nvPr/>
        </p:nvSpPr>
        <p:spPr bwMode="auto">
          <a:xfrm>
            <a:off x="2838553" y="990513"/>
            <a:ext cx="279147" cy="2094153"/>
          </a:xfrm>
          <a:prstGeom prst="leftBrace">
            <a:avLst>
              <a:gd name="adj1" fmla="val 72986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bject 5">
                <a:extLst>
                  <a:ext uri="{FF2B5EF4-FFF2-40B4-BE49-F238E27FC236}">
                    <a16:creationId xmlns:a16="http://schemas.microsoft.com/office/drawing/2014/main" id="{4399B034-D4AD-2E80-E4F2-77620A7D9B73}"/>
                  </a:ext>
                </a:extLst>
              </p:cNvPr>
              <p:cNvSpPr txBox="1"/>
              <p:nvPr/>
            </p:nvSpPr>
            <p:spPr bwMode="auto">
              <a:xfrm>
                <a:off x="3073503" y="830176"/>
                <a:ext cx="1511301" cy="12271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d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2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2" name="Object 5">
                <a:extLst>
                  <a:ext uri="{FF2B5EF4-FFF2-40B4-BE49-F238E27FC236}">
                    <a16:creationId xmlns:a16="http://schemas.microsoft.com/office/drawing/2014/main" id="{4399B034-D4AD-2E80-E4F2-77620A7D9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3503" y="830176"/>
                <a:ext cx="1511301" cy="12271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bject 6">
                <a:extLst>
                  <a:ext uri="{FF2B5EF4-FFF2-40B4-BE49-F238E27FC236}">
                    <a16:creationId xmlns:a16="http://schemas.microsoft.com/office/drawing/2014/main" id="{A7511130-357D-2E71-3278-AFF1F4FA2AB4}"/>
                  </a:ext>
                </a:extLst>
              </p:cNvPr>
              <p:cNvSpPr txBox="1"/>
              <p:nvPr/>
            </p:nvSpPr>
            <p:spPr bwMode="auto">
              <a:xfrm>
                <a:off x="4395306" y="842208"/>
                <a:ext cx="1843087" cy="12017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3" name="Object 6">
                <a:extLst>
                  <a:ext uri="{FF2B5EF4-FFF2-40B4-BE49-F238E27FC236}">
                    <a16:creationId xmlns:a16="http://schemas.microsoft.com/office/drawing/2014/main" id="{A7511130-357D-2E71-3278-AFF1F4FA2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95306" y="842208"/>
                <a:ext cx="1843087" cy="120177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bject 7">
                <a:extLst>
                  <a:ext uri="{FF2B5EF4-FFF2-40B4-BE49-F238E27FC236}">
                    <a16:creationId xmlns:a16="http://schemas.microsoft.com/office/drawing/2014/main" id="{E3C9E9C0-E924-2F24-FE66-EB49FB497218}"/>
                  </a:ext>
                </a:extLst>
              </p:cNvPr>
              <p:cNvSpPr txBox="1"/>
              <p:nvPr/>
            </p:nvSpPr>
            <p:spPr bwMode="auto">
              <a:xfrm>
                <a:off x="5992458" y="912758"/>
                <a:ext cx="1892344" cy="1003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8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" name="Object 7">
                <a:extLst>
                  <a:ext uri="{FF2B5EF4-FFF2-40B4-BE49-F238E27FC236}">
                    <a16:creationId xmlns:a16="http://schemas.microsoft.com/office/drawing/2014/main" id="{E3C9E9C0-E924-2F24-FE66-EB49FB497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92458" y="912758"/>
                <a:ext cx="1892344" cy="10033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Object 8">
                <a:extLst>
                  <a:ext uri="{FF2B5EF4-FFF2-40B4-BE49-F238E27FC236}">
                    <a16:creationId xmlns:a16="http://schemas.microsoft.com/office/drawing/2014/main" id="{24D51BA5-7469-9CC0-6593-EE51AA70DE89}"/>
                  </a:ext>
                </a:extLst>
              </p:cNvPr>
              <p:cNvSpPr txBox="1"/>
              <p:nvPr/>
            </p:nvSpPr>
            <p:spPr bwMode="auto">
              <a:xfrm>
                <a:off x="3073505" y="1981196"/>
                <a:ext cx="1646444" cy="12718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2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" name="Object 8">
                <a:extLst>
                  <a:ext uri="{FF2B5EF4-FFF2-40B4-BE49-F238E27FC236}">
                    <a16:creationId xmlns:a16="http://schemas.microsoft.com/office/drawing/2014/main" id="{24D51BA5-7469-9CC0-6593-EE51AA70D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3505" y="1981196"/>
                <a:ext cx="1646444" cy="127181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bject 9">
                <a:extLst>
                  <a:ext uri="{FF2B5EF4-FFF2-40B4-BE49-F238E27FC236}">
                    <a16:creationId xmlns:a16="http://schemas.microsoft.com/office/drawing/2014/main" id="{34651E60-AEA3-ED2B-F37D-0CD58F719FD0}"/>
                  </a:ext>
                </a:extLst>
              </p:cNvPr>
              <p:cNvSpPr txBox="1"/>
              <p:nvPr/>
            </p:nvSpPr>
            <p:spPr bwMode="auto">
              <a:xfrm>
                <a:off x="4408131" y="2359138"/>
                <a:ext cx="1511301" cy="46291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8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Object 9">
                <a:extLst>
                  <a:ext uri="{FF2B5EF4-FFF2-40B4-BE49-F238E27FC236}">
                    <a16:creationId xmlns:a16="http://schemas.microsoft.com/office/drawing/2014/main" id="{34651E60-AEA3-ED2B-F37D-0CD58F719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08131" y="2359138"/>
                <a:ext cx="1511301" cy="46291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bject 10">
                <a:extLst>
                  <a:ext uri="{FF2B5EF4-FFF2-40B4-BE49-F238E27FC236}">
                    <a16:creationId xmlns:a16="http://schemas.microsoft.com/office/drawing/2014/main" id="{DFD88809-D427-B90B-B00C-D263815A6B01}"/>
                  </a:ext>
                </a:extLst>
              </p:cNvPr>
              <p:cNvSpPr txBox="1"/>
              <p:nvPr/>
            </p:nvSpPr>
            <p:spPr bwMode="auto">
              <a:xfrm>
                <a:off x="6010379" y="2029271"/>
                <a:ext cx="2311400" cy="1003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8</m:t>
                          </m:r>
                        </m:sup>
                        <m:e>
                          <m:func>
                            <m:func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Object 10">
                <a:extLst>
                  <a:ext uri="{FF2B5EF4-FFF2-40B4-BE49-F238E27FC236}">
                    <a16:creationId xmlns:a16="http://schemas.microsoft.com/office/drawing/2014/main" id="{DFD88809-D427-B90B-B00C-D263815A6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10379" y="2029271"/>
                <a:ext cx="2311400" cy="10033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 Box 12">
            <a:extLst>
              <a:ext uri="{FF2B5EF4-FFF2-40B4-BE49-F238E27FC236}">
                <a16:creationId xmlns:a16="http://schemas.microsoft.com/office/drawing/2014/main" id="{6344B574-0666-E981-F844-03E8E2494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7804" y="3449054"/>
            <a:ext cx="138371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经计算得 </a:t>
            </a:r>
          </a:p>
        </p:txBody>
      </p:sp>
      <p:sp>
        <p:nvSpPr>
          <p:cNvPr id="59" name="AutoShape 13">
            <a:extLst>
              <a:ext uri="{FF2B5EF4-FFF2-40B4-BE49-F238E27FC236}">
                <a16:creationId xmlns:a16="http://schemas.microsoft.com/office/drawing/2014/main" id="{631349ED-76BB-5837-E1CD-934F2DF57ADF}"/>
              </a:ext>
            </a:extLst>
          </p:cNvPr>
          <p:cNvSpPr>
            <a:spLocks/>
          </p:cNvSpPr>
          <p:nvPr/>
        </p:nvSpPr>
        <p:spPr bwMode="auto">
          <a:xfrm>
            <a:off x="3197160" y="3261227"/>
            <a:ext cx="184150" cy="825500"/>
          </a:xfrm>
          <a:prstGeom prst="leftBrace">
            <a:avLst>
              <a:gd name="adj1" fmla="val 37356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Object 14">
                <a:extLst>
                  <a:ext uri="{FF2B5EF4-FFF2-40B4-BE49-F238E27FC236}">
                    <a16:creationId xmlns:a16="http://schemas.microsoft.com/office/drawing/2014/main" id="{F5F9F926-97DE-68FA-DD54-B10C3CB8B920}"/>
                  </a:ext>
                </a:extLst>
              </p:cNvPr>
              <p:cNvSpPr txBox="1"/>
              <p:nvPr/>
            </p:nvSpPr>
            <p:spPr bwMode="auto">
              <a:xfrm>
                <a:off x="3432110" y="3177004"/>
                <a:ext cx="35560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1836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+108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=280.994</m:t>
                      </m:r>
                    </m:oMath>
                  </m:oMathPara>
                </a14:m>
                <a:endParaRPr lang="zh-CN" altLang="en-US" sz="2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0" name="Object 14">
                <a:extLst>
                  <a:ext uri="{FF2B5EF4-FFF2-40B4-BE49-F238E27FC236}">
                    <a16:creationId xmlns:a16="http://schemas.microsoft.com/office/drawing/2014/main" id="{F5F9F926-97DE-68FA-DD54-B10C3CB8B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32110" y="3177004"/>
                <a:ext cx="3556000" cy="406400"/>
              </a:xfrm>
              <a:prstGeom prst="rect">
                <a:avLst/>
              </a:prstGeom>
              <a:blipFill>
                <a:blip r:embed="rId14"/>
                <a:stretch>
                  <a:fillRect l="-172" b="-149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Object 15">
                <a:extLst>
                  <a:ext uri="{FF2B5EF4-FFF2-40B4-BE49-F238E27FC236}">
                    <a16:creationId xmlns:a16="http://schemas.microsoft.com/office/drawing/2014/main" id="{586CCA1A-E932-A95B-4225-9DB3FB84226B}"/>
                  </a:ext>
                </a:extLst>
              </p:cNvPr>
              <p:cNvSpPr txBox="1"/>
              <p:nvPr/>
            </p:nvSpPr>
            <p:spPr bwMode="auto">
              <a:xfrm>
                <a:off x="3432110" y="3697704"/>
                <a:ext cx="31623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108</m:t>
                      </m:r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+8</m:t>
                      </m:r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=23.714</m:t>
                      </m:r>
                    </m:oMath>
                  </m:oMathPara>
                </a14:m>
                <a:endParaRPr lang="zh-CN" altLang="en-US" sz="2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" name="Object 15">
                <a:extLst>
                  <a:ext uri="{FF2B5EF4-FFF2-40B4-BE49-F238E27FC236}">
                    <a16:creationId xmlns:a16="http://schemas.microsoft.com/office/drawing/2014/main" id="{586CCA1A-E932-A95B-4225-9DB3FB842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32110" y="3697704"/>
                <a:ext cx="3162300" cy="406400"/>
              </a:xfrm>
              <a:prstGeom prst="rect">
                <a:avLst/>
              </a:prstGeom>
              <a:blipFill>
                <a:blip r:embed="rId15"/>
                <a:stretch>
                  <a:fillRect l="-193" b="-30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 Box 16">
            <a:extLst>
              <a:ext uri="{FF2B5EF4-FFF2-40B4-BE49-F238E27FC236}">
                <a16:creationId xmlns:a16="http://schemas.microsoft.com/office/drawing/2014/main" id="{878E82B1-D1D0-10AE-B0BF-2FA593B84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7805" y="4117507"/>
            <a:ext cx="89800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bject 17">
                <a:extLst>
                  <a:ext uri="{FF2B5EF4-FFF2-40B4-BE49-F238E27FC236}">
                    <a16:creationId xmlns:a16="http://schemas.microsoft.com/office/drawing/2014/main" id="{FC7F0C6A-F8C6-E525-8900-60FCA317344D}"/>
                  </a:ext>
                </a:extLst>
              </p:cNvPr>
              <p:cNvSpPr txBox="1"/>
              <p:nvPr/>
            </p:nvSpPr>
            <p:spPr bwMode="auto">
              <a:xfrm>
                <a:off x="3035404" y="4120182"/>
                <a:ext cx="33909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=−0.104,  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=4.364</m:t>
                      </m:r>
                    </m:oMath>
                  </m:oMathPara>
                </a14:m>
                <a:endParaRPr lang="zh-CN" altLang="en-US" sz="2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Object 17">
                <a:extLst>
                  <a:ext uri="{FF2B5EF4-FFF2-40B4-BE49-F238E27FC236}">
                    <a16:creationId xmlns:a16="http://schemas.microsoft.com/office/drawing/2014/main" id="{FC7F0C6A-F8C6-E525-8900-60FCA3173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35404" y="4120182"/>
                <a:ext cx="3390900" cy="406400"/>
              </a:xfrm>
              <a:prstGeom prst="rect">
                <a:avLst/>
              </a:prstGeom>
              <a:blipFill>
                <a:blip r:embed="rId16"/>
                <a:stretch>
                  <a:fillRect b="-149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Object 18">
                <a:extLst>
                  <a:ext uri="{FF2B5EF4-FFF2-40B4-BE49-F238E27FC236}">
                    <a16:creationId xmlns:a16="http://schemas.microsoft.com/office/drawing/2014/main" id="{BAD7D981-2C90-0558-5174-17292452AD59}"/>
                  </a:ext>
                </a:extLst>
              </p:cNvPr>
              <p:cNvSpPr txBox="1"/>
              <p:nvPr/>
            </p:nvSpPr>
            <p:spPr bwMode="auto">
              <a:xfrm>
                <a:off x="2406754" y="4493120"/>
                <a:ext cx="4406900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∴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=−0.104, 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sup>
                      </m:sSup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=78.57,</m:t>
                      </m:r>
                    </m:oMath>
                  </m:oMathPara>
                </a14:m>
                <a:endParaRPr lang="zh-CN" altLang="en-US" sz="2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Object 18">
                <a:extLst>
                  <a:ext uri="{FF2B5EF4-FFF2-40B4-BE49-F238E27FC236}">
                    <a16:creationId xmlns:a16="http://schemas.microsoft.com/office/drawing/2014/main" id="{BAD7D981-2C90-0558-5174-17292452A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06754" y="4493120"/>
                <a:ext cx="4406900" cy="5080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Freeform 64">
            <a:extLst>
              <a:ext uri="{FF2B5EF4-FFF2-40B4-BE49-F238E27FC236}">
                <a16:creationId xmlns:a16="http://schemas.microsoft.com/office/drawing/2014/main" id="{E6C615FE-F216-3132-D918-341D947E0A90}"/>
              </a:ext>
            </a:extLst>
          </p:cNvPr>
          <p:cNvSpPr>
            <a:spLocks/>
          </p:cNvSpPr>
          <p:nvPr/>
        </p:nvSpPr>
        <p:spPr bwMode="auto">
          <a:xfrm>
            <a:off x="8607529" y="3088104"/>
            <a:ext cx="1162050" cy="895350"/>
          </a:xfrm>
          <a:custGeom>
            <a:avLst/>
            <a:gdLst>
              <a:gd name="T0" fmla="*/ 12 w 732"/>
              <a:gd name="T1" fmla="*/ 18 h 564"/>
              <a:gd name="T2" fmla="*/ 24 w 732"/>
              <a:gd name="T3" fmla="*/ 42 h 564"/>
              <a:gd name="T4" fmla="*/ 42 w 732"/>
              <a:gd name="T5" fmla="*/ 66 h 564"/>
              <a:gd name="T6" fmla="*/ 54 w 732"/>
              <a:gd name="T7" fmla="*/ 90 h 564"/>
              <a:gd name="T8" fmla="*/ 66 w 732"/>
              <a:gd name="T9" fmla="*/ 114 h 564"/>
              <a:gd name="T10" fmla="*/ 84 w 732"/>
              <a:gd name="T11" fmla="*/ 132 h 564"/>
              <a:gd name="T12" fmla="*/ 96 w 732"/>
              <a:gd name="T13" fmla="*/ 156 h 564"/>
              <a:gd name="T14" fmla="*/ 108 w 732"/>
              <a:gd name="T15" fmla="*/ 174 h 564"/>
              <a:gd name="T16" fmla="*/ 126 w 732"/>
              <a:gd name="T17" fmla="*/ 192 h 564"/>
              <a:gd name="T18" fmla="*/ 138 w 732"/>
              <a:gd name="T19" fmla="*/ 210 h 564"/>
              <a:gd name="T20" fmla="*/ 150 w 732"/>
              <a:gd name="T21" fmla="*/ 228 h 564"/>
              <a:gd name="T22" fmla="*/ 168 w 732"/>
              <a:gd name="T23" fmla="*/ 246 h 564"/>
              <a:gd name="T24" fmla="*/ 180 w 732"/>
              <a:gd name="T25" fmla="*/ 264 h 564"/>
              <a:gd name="T26" fmla="*/ 192 w 732"/>
              <a:gd name="T27" fmla="*/ 276 h 564"/>
              <a:gd name="T28" fmla="*/ 210 w 732"/>
              <a:gd name="T29" fmla="*/ 294 h 564"/>
              <a:gd name="T30" fmla="*/ 222 w 732"/>
              <a:gd name="T31" fmla="*/ 306 h 564"/>
              <a:gd name="T32" fmla="*/ 234 w 732"/>
              <a:gd name="T33" fmla="*/ 318 h 564"/>
              <a:gd name="T34" fmla="*/ 252 w 732"/>
              <a:gd name="T35" fmla="*/ 330 h 564"/>
              <a:gd name="T36" fmla="*/ 264 w 732"/>
              <a:gd name="T37" fmla="*/ 342 h 564"/>
              <a:gd name="T38" fmla="*/ 276 w 732"/>
              <a:gd name="T39" fmla="*/ 354 h 564"/>
              <a:gd name="T40" fmla="*/ 294 w 732"/>
              <a:gd name="T41" fmla="*/ 366 h 564"/>
              <a:gd name="T42" fmla="*/ 306 w 732"/>
              <a:gd name="T43" fmla="*/ 378 h 564"/>
              <a:gd name="T44" fmla="*/ 318 w 732"/>
              <a:gd name="T45" fmla="*/ 390 h 564"/>
              <a:gd name="T46" fmla="*/ 336 w 732"/>
              <a:gd name="T47" fmla="*/ 396 h 564"/>
              <a:gd name="T48" fmla="*/ 348 w 732"/>
              <a:gd name="T49" fmla="*/ 408 h 564"/>
              <a:gd name="T50" fmla="*/ 360 w 732"/>
              <a:gd name="T51" fmla="*/ 420 h 564"/>
              <a:gd name="T52" fmla="*/ 378 w 732"/>
              <a:gd name="T53" fmla="*/ 426 h 564"/>
              <a:gd name="T54" fmla="*/ 390 w 732"/>
              <a:gd name="T55" fmla="*/ 438 h 564"/>
              <a:gd name="T56" fmla="*/ 402 w 732"/>
              <a:gd name="T57" fmla="*/ 444 h 564"/>
              <a:gd name="T58" fmla="*/ 420 w 732"/>
              <a:gd name="T59" fmla="*/ 450 h 564"/>
              <a:gd name="T60" fmla="*/ 432 w 732"/>
              <a:gd name="T61" fmla="*/ 456 h 564"/>
              <a:gd name="T62" fmla="*/ 444 w 732"/>
              <a:gd name="T63" fmla="*/ 468 h 564"/>
              <a:gd name="T64" fmla="*/ 462 w 732"/>
              <a:gd name="T65" fmla="*/ 474 h 564"/>
              <a:gd name="T66" fmla="*/ 474 w 732"/>
              <a:gd name="T67" fmla="*/ 480 h 564"/>
              <a:gd name="T68" fmla="*/ 486 w 732"/>
              <a:gd name="T69" fmla="*/ 486 h 564"/>
              <a:gd name="T70" fmla="*/ 498 w 732"/>
              <a:gd name="T71" fmla="*/ 492 h 564"/>
              <a:gd name="T72" fmla="*/ 516 w 732"/>
              <a:gd name="T73" fmla="*/ 498 h 564"/>
              <a:gd name="T74" fmla="*/ 528 w 732"/>
              <a:gd name="T75" fmla="*/ 504 h 564"/>
              <a:gd name="T76" fmla="*/ 540 w 732"/>
              <a:gd name="T77" fmla="*/ 510 h 564"/>
              <a:gd name="T78" fmla="*/ 558 w 732"/>
              <a:gd name="T79" fmla="*/ 516 h 564"/>
              <a:gd name="T80" fmla="*/ 570 w 732"/>
              <a:gd name="T81" fmla="*/ 522 h 564"/>
              <a:gd name="T82" fmla="*/ 582 w 732"/>
              <a:gd name="T83" fmla="*/ 522 h 564"/>
              <a:gd name="T84" fmla="*/ 600 w 732"/>
              <a:gd name="T85" fmla="*/ 528 h 564"/>
              <a:gd name="T86" fmla="*/ 612 w 732"/>
              <a:gd name="T87" fmla="*/ 534 h 564"/>
              <a:gd name="T88" fmla="*/ 624 w 732"/>
              <a:gd name="T89" fmla="*/ 534 h 564"/>
              <a:gd name="T90" fmla="*/ 642 w 732"/>
              <a:gd name="T91" fmla="*/ 540 h 564"/>
              <a:gd name="T92" fmla="*/ 654 w 732"/>
              <a:gd name="T93" fmla="*/ 546 h 564"/>
              <a:gd name="T94" fmla="*/ 666 w 732"/>
              <a:gd name="T95" fmla="*/ 546 h 564"/>
              <a:gd name="T96" fmla="*/ 684 w 732"/>
              <a:gd name="T97" fmla="*/ 552 h 564"/>
              <a:gd name="T98" fmla="*/ 696 w 732"/>
              <a:gd name="T99" fmla="*/ 558 h 564"/>
              <a:gd name="T100" fmla="*/ 708 w 732"/>
              <a:gd name="T101" fmla="*/ 558 h 564"/>
              <a:gd name="T102" fmla="*/ 726 w 732"/>
              <a:gd name="T103" fmla="*/ 564 h 5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732" h="564">
                <a:moveTo>
                  <a:pt x="0" y="0"/>
                </a:moveTo>
                <a:lnTo>
                  <a:pt x="6" y="6"/>
                </a:lnTo>
                <a:lnTo>
                  <a:pt x="12" y="12"/>
                </a:lnTo>
                <a:lnTo>
                  <a:pt x="12" y="18"/>
                </a:lnTo>
                <a:lnTo>
                  <a:pt x="18" y="24"/>
                </a:lnTo>
                <a:lnTo>
                  <a:pt x="18" y="30"/>
                </a:lnTo>
                <a:lnTo>
                  <a:pt x="24" y="36"/>
                </a:lnTo>
                <a:lnTo>
                  <a:pt x="24" y="42"/>
                </a:lnTo>
                <a:lnTo>
                  <a:pt x="30" y="48"/>
                </a:lnTo>
                <a:lnTo>
                  <a:pt x="36" y="54"/>
                </a:lnTo>
                <a:lnTo>
                  <a:pt x="36" y="60"/>
                </a:lnTo>
                <a:lnTo>
                  <a:pt x="42" y="66"/>
                </a:lnTo>
                <a:lnTo>
                  <a:pt x="42" y="72"/>
                </a:lnTo>
                <a:lnTo>
                  <a:pt x="48" y="78"/>
                </a:lnTo>
                <a:lnTo>
                  <a:pt x="54" y="84"/>
                </a:lnTo>
                <a:lnTo>
                  <a:pt x="54" y="90"/>
                </a:lnTo>
                <a:lnTo>
                  <a:pt x="60" y="96"/>
                </a:lnTo>
                <a:lnTo>
                  <a:pt x="60" y="102"/>
                </a:lnTo>
                <a:lnTo>
                  <a:pt x="66" y="108"/>
                </a:lnTo>
                <a:lnTo>
                  <a:pt x="66" y="114"/>
                </a:lnTo>
                <a:lnTo>
                  <a:pt x="72" y="120"/>
                </a:lnTo>
                <a:lnTo>
                  <a:pt x="78" y="126"/>
                </a:lnTo>
                <a:lnTo>
                  <a:pt x="78" y="132"/>
                </a:lnTo>
                <a:lnTo>
                  <a:pt x="84" y="132"/>
                </a:lnTo>
                <a:lnTo>
                  <a:pt x="84" y="138"/>
                </a:lnTo>
                <a:lnTo>
                  <a:pt x="90" y="144"/>
                </a:lnTo>
                <a:lnTo>
                  <a:pt x="96" y="150"/>
                </a:lnTo>
                <a:lnTo>
                  <a:pt x="96" y="156"/>
                </a:lnTo>
                <a:lnTo>
                  <a:pt x="102" y="162"/>
                </a:lnTo>
                <a:lnTo>
                  <a:pt x="102" y="162"/>
                </a:lnTo>
                <a:lnTo>
                  <a:pt x="108" y="168"/>
                </a:lnTo>
                <a:lnTo>
                  <a:pt x="108" y="174"/>
                </a:lnTo>
                <a:lnTo>
                  <a:pt x="114" y="180"/>
                </a:lnTo>
                <a:lnTo>
                  <a:pt x="120" y="186"/>
                </a:lnTo>
                <a:lnTo>
                  <a:pt x="120" y="186"/>
                </a:lnTo>
                <a:lnTo>
                  <a:pt x="126" y="192"/>
                </a:lnTo>
                <a:lnTo>
                  <a:pt x="126" y="198"/>
                </a:lnTo>
                <a:lnTo>
                  <a:pt x="132" y="204"/>
                </a:lnTo>
                <a:lnTo>
                  <a:pt x="132" y="204"/>
                </a:lnTo>
                <a:lnTo>
                  <a:pt x="138" y="210"/>
                </a:lnTo>
                <a:lnTo>
                  <a:pt x="144" y="216"/>
                </a:lnTo>
                <a:lnTo>
                  <a:pt x="144" y="222"/>
                </a:lnTo>
                <a:lnTo>
                  <a:pt x="150" y="222"/>
                </a:lnTo>
                <a:lnTo>
                  <a:pt x="150" y="228"/>
                </a:lnTo>
                <a:lnTo>
                  <a:pt x="156" y="234"/>
                </a:lnTo>
                <a:lnTo>
                  <a:pt x="162" y="240"/>
                </a:lnTo>
                <a:lnTo>
                  <a:pt x="162" y="240"/>
                </a:lnTo>
                <a:lnTo>
                  <a:pt x="168" y="246"/>
                </a:lnTo>
                <a:lnTo>
                  <a:pt x="168" y="252"/>
                </a:lnTo>
                <a:lnTo>
                  <a:pt x="174" y="252"/>
                </a:lnTo>
                <a:lnTo>
                  <a:pt x="174" y="258"/>
                </a:lnTo>
                <a:lnTo>
                  <a:pt x="180" y="264"/>
                </a:lnTo>
                <a:lnTo>
                  <a:pt x="186" y="264"/>
                </a:lnTo>
                <a:lnTo>
                  <a:pt x="186" y="270"/>
                </a:lnTo>
                <a:lnTo>
                  <a:pt x="192" y="270"/>
                </a:lnTo>
                <a:lnTo>
                  <a:pt x="192" y="276"/>
                </a:lnTo>
                <a:lnTo>
                  <a:pt x="198" y="282"/>
                </a:lnTo>
                <a:lnTo>
                  <a:pt x="204" y="282"/>
                </a:lnTo>
                <a:lnTo>
                  <a:pt x="204" y="288"/>
                </a:lnTo>
                <a:lnTo>
                  <a:pt x="210" y="294"/>
                </a:lnTo>
                <a:lnTo>
                  <a:pt x="210" y="294"/>
                </a:lnTo>
                <a:lnTo>
                  <a:pt x="216" y="300"/>
                </a:lnTo>
                <a:lnTo>
                  <a:pt x="216" y="300"/>
                </a:lnTo>
                <a:lnTo>
                  <a:pt x="222" y="306"/>
                </a:lnTo>
                <a:lnTo>
                  <a:pt x="228" y="306"/>
                </a:lnTo>
                <a:lnTo>
                  <a:pt x="228" y="312"/>
                </a:lnTo>
                <a:lnTo>
                  <a:pt x="234" y="318"/>
                </a:lnTo>
                <a:lnTo>
                  <a:pt x="234" y="318"/>
                </a:lnTo>
                <a:lnTo>
                  <a:pt x="240" y="324"/>
                </a:lnTo>
                <a:lnTo>
                  <a:pt x="240" y="324"/>
                </a:lnTo>
                <a:lnTo>
                  <a:pt x="246" y="330"/>
                </a:lnTo>
                <a:lnTo>
                  <a:pt x="252" y="330"/>
                </a:lnTo>
                <a:lnTo>
                  <a:pt x="252" y="336"/>
                </a:lnTo>
                <a:lnTo>
                  <a:pt x="258" y="336"/>
                </a:lnTo>
                <a:lnTo>
                  <a:pt x="258" y="342"/>
                </a:lnTo>
                <a:lnTo>
                  <a:pt x="264" y="342"/>
                </a:lnTo>
                <a:lnTo>
                  <a:pt x="270" y="348"/>
                </a:lnTo>
                <a:lnTo>
                  <a:pt x="270" y="348"/>
                </a:lnTo>
                <a:lnTo>
                  <a:pt x="276" y="354"/>
                </a:lnTo>
                <a:lnTo>
                  <a:pt x="276" y="354"/>
                </a:lnTo>
                <a:lnTo>
                  <a:pt x="282" y="360"/>
                </a:lnTo>
                <a:lnTo>
                  <a:pt x="282" y="360"/>
                </a:lnTo>
                <a:lnTo>
                  <a:pt x="288" y="366"/>
                </a:lnTo>
                <a:lnTo>
                  <a:pt x="294" y="366"/>
                </a:lnTo>
                <a:lnTo>
                  <a:pt x="294" y="372"/>
                </a:lnTo>
                <a:lnTo>
                  <a:pt x="300" y="372"/>
                </a:lnTo>
                <a:lnTo>
                  <a:pt x="300" y="378"/>
                </a:lnTo>
                <a:lnTo>
                  <a:pt x="306" y="378"/>
                </a:lnTo>
                <a:lnTo>
                  <a:pt x="312" y="378"/>
                </a:lnTo>
                <a:lnTo>
                  <a:pt x="312" y="384"/>
                </a:lnTo>
                <a:lnTo>
                  <a:pt x="318" y="384"/>
                </a:lnTo>
                <a:lnTo>
                  <a:pt x="318" y="390"/>
                </a:lnTo>
                <a:lnTo>
                  <a:pt x="324" y="390"/>
                </a:lnTo>
                <a:lnTo>
                  <a:pt x="324" y="396"/>
                </a:lnTo>
                <a:lnTo>
                  <a:pt x="330" y="396"/>
                </a:lnTo>
                <a:lnTo>
                  <a:pt x="336" y="396"/>
                </a:lnTo>
                <a:lnTo>
                  <a:pt x="336" y="402"/>
                </a:lnTo>
                <a:lnTo>
                  <a:pt x="342" y="402"/>
                </a:lnTo>
                <a:lnTo>
                  <a:pt x="342" y="408"/>
                </a:lnTo>
                <a:lnTo>
                  <a:pt x="348" y="408"/>
                </a:lnTo>
                <a:lnTo>
                  <a:pt x="348" y="408"/>
                </a:lnTo>
                <a:lnTo>
                  <a:pt x="354" y="414"/>
                </a:lnTo>
                <a:lnTo>
                  <a:pt x="360" y="414"/>
                </a:lnTo>
                <a:lnTo>
                  <a:pt x="360" y="420"/>
                </a:lnTo>
                <a:lnTo>
                  <a:pt x="366" y="420"/>
                </a:lnTo>
                <a:lnTo>
                  <a:pt x="366" y="420"/>
                </a:lnTo>
                <a:lnTo>
                  <a:pt x="372" y="426"/>
                </a:lnTo>
                <a:lnTo>
                  <a:pt x="378" y="426"/>
                </a:lnTo>
                <a:lnTo>
                  <a:pt x="378" y="426"/>
                </a:lnTo>
                <a:lnTo>
                  <a:pt x="384" y="432"/>
                </a:lnTo>
                <a:lnTo>
                  <a:pt x="384" y="432"/>
                </a:lnTo>
                <a:lnTo>
                  <a:pt x="390" y="438"/>
                </a:lnTo>
                <a:lnTo>
                  <a:pt x="390" y="438"/>
                </a:lnTo>
                <a:lnTo>
                  <a:pt x="396" y="438"/>
                </a:lnTo>
                <a:lnTo>
                  <a:pt x="402" y="444"/>
                </a:lnTo>
                <a:lnTo>
                  <a:pt x="402" y="444"/>
                </a:lnTo>
                <a:lnTo>
                  <a:pt x="408" y="444"/>
                </a:lnTo>
                <a:lnTo>
                  <a:pt x="408" y="450"/>
                </a:lnTo>
                <a:lnTo>
                  <a:pt x="414" y="450"/>
                </a:lnTo>
                <a:lnTo>
                  <a:pt x="420" y="450"/>
                </a:lnTo>
                <a:lnTo>
                  <a:pt x="420" y="456"/>
                </a:lnTo>
                <a:lnTo>
                  <a:pt x="426" y="456"/>
                </a:lnTo>
                <a:lnTo>
                  <a:pt x="426" y="456"/>
                </a:lnTo>
                <a:lnTo>
                  <a:pt x="432" y="456"/>
                </a:lnTo>
                <a:lnTo>
                  <a:pt x="432" y="462"/>
                </a:lnTo>
                <a:lnTo>
                  <a:pt x="438" y="462"/>
                </a:lnTo>
                <a:lnTo>
                  <a:pt x="444" y="462"/>
                </a:lnTo>
                <a:lnTo>
                  <a:pt x="444" y="468"/>
                </a:lnTo>
                <a:lnTo>
                  <a:pt x="450" y="468"/>
                </a:lnTo>
                <a:lnTo>
                  <a:pt x="450" y="468"/>
                </a:lnTo>
                <a:lnTo>
                  <a:pt x="456" y="474"/>
                </a:lnTo>
                <a:lnTo>
                  <a:pt x="462" y="474"/>
                </a:lnTo>
                <a:lnTo>
                  <a:pt x="462" y="474"/>
                </a:lnTo>
                <a:lnTo>
                  <a:pt x="468" y="474"/>
                </a:lnTo>
                <a:lnTo>
                  <a:pt x="468" y="480"/>
                </a:lnTo>
                <a:lnTo>
                  <a:pt x="474" y="480"/>
                </a:lnTo>
                <a:lnTo>
                  <a:pt x="474" y="480"/>
                </a:lnTo>
                <a:lnTo>
                  <a:pt x="480" y="480"/>
                </a:lnTo>
                <a:lnTo>
                  <a:pt x="486" y="486"/>
                </a:lnTo>
                <a:lnTo>
                  <a:pt x="486" y="486"/>
                </a:lnTo>
                <a:lnTo>
                  <a:pt x="492" y="486"/>
                </a:lnTo>
                <a:lnTo>
                  <a:pt x="492" y="486"/>
                </a:lnTo>
                <a:lnTo>
                  <a:pt x="498" y="492"/>
                </a:lnTo>
                <a:lnTo>
                  <a:pt x="498" y="492"/>
                </a:lnTo>
                <a:lnTo>
                  <a:pt x="504" y="492"/>
                </a:lnTo>
                <a:lnTo>
                  <a:pt x="510" y="492"/>
                </a:lnTo>
                <a:lnTo>
                  <a:pt x="510" y="498"/>
                </a:lnTo>
                <a:lnTo>
                  <a:pt x="516" y="498"/>
                </a:lnTo>
                <a:lnTo>
                  <a:pt x="516" y="498"/>
                </a:lnTo>
                <a:lnTo>
                  <a:pt x="522" y="498"/>
                </a:lnTo>
                <a:lnTo>
                  <a:pt x="528" y="504"/>
                </a:lnTo>
                <a:lnTo>
                  <a:pt x="528" y="504"/>
                </a:lnTo>
                <a:lnTo>
                  <a:pt x="534" y="504"/>
                </a:lnTo>
                <a:lnTo>
                  <a:pt x="534" y="504"/>
                </a:lnTo>
                <a:lnTo>
                  <a:pt x="540" y="510"/>
                </a:lnTo>
                <a:lnTo>
                  <a:pt x="540" y="510"/>
                </a:lnTo>
                <a:lnTo>
                  <a:pt x="546" y="510"/>
                </a:lnTo>
                <a:lnTo>
                  <a:pt x="552" y="510"/>
                </a:lnTo>
                <a:lnTo>
                  <a:pt x="552" y="510"/>
                </a:lnTo>
                <a:lnTo>
                  <a:pt x="558" y="516"/>
                </a:lnTo>
                <a:lnTo>
                  <a:pt x="558" y="516"/>
                </a:lnTo>
                <a:lnTo>
                  <a:pt x="564" y="516"/>
                </a:lnTo>
                <a:lnTo>
                  <a:pt x="570" y="516"/>
                </a:lnTo>
                <a:lnTo>
                  <a:pt x="570" y="522"/>
                </a:lnTo>
                <a:lnTo>
                  <a:pt x="576" y="522"/>
                </a:lnTo>
                <a:lnTo>
                  <a:pt x="576" y="522"/>
                </a:lnTo>
                <a:lnTo>
                  <a:pt x="582" y="522"/>
                </a:lnTo>
                <a:lnTo>
                  <a:pt x="582" y="522"/>
                </a:lnTo>
                <a:lnTo>
                  <a:pt x="588" y="522"/>
                </a:lnTo>
                <a:lnTo>
                  <a:pt x="594" y="528"/>
                </a:lnTo>
                <a:lnTo>
                  <a:pt x="594" y="528"/>
                </a:lnTo>
                <a:lnTo>
                  <a:pt x="600" y="528"/>
                </a:lnTo>
                <a:lnTo>
                  <a:pt x="600" y="528"/>
                </a:lnTo>
                <a:lnTo>
                  <a:pt x="606" y="528"/>
                </a:lnTo>
                <a:lnTo>
                  <a:pt x="606" y="534"/>
                </a:lnTo>
                <a:lnTo>
                  <a:pt x="612" y="534"/>
                </a:lnTo>
                <a:lnTo>
                  <a:pt x="618" y="534"/>
                </a:lnTo>
                <a:lnTo>
                  <a:pt x="618" y="534"/>
                </a:lnTo>
                <a:lnTo>
                  <a:pt x="624" y="534"/>
                </a:lnTo>
                <a:lnTo>
                  <a:pt x="624" y="534"/>
                </a:lnTo>
                <a:lnTo>
                  <a:pt x="630" y="540"/>
                </a:lnTo>
                <a:lnTo>
                  <a:pt x="636" y="540"/>
                </a:lnTo>
                <a:lnTo>
                  <a:pt x="636" y="540"/>
                </a:lnTo>
                <a:lnTo>
                  <a:pt x="642" y="540"/>
                </a:lnTo>
                <a:lnTo>
                  <a:pt x="642" y="540"/>
                </a:lnTo>
                <a:lnTo>
                  <a:pt x="648" y="540"/>
                </a:lnTo>
                <a:lnTo>
                  <a:pt x="648" y="546"/>
                </a:lnTo>
                <a:lnTo>
                  <a:pt x="654" y="546"/>
                </a:lnTo>
                <a:lnTo>
                  <a:pt x="660" y="546"/>
                </a:lnTo>
                <a:lnTo>
                  <a:pt x="660" y="546"/>
                </a:lnTo>
                <a:lnTo>
                  <a:pt x="666" y="546"/>
                </a:lnTo>
                <a:lnTo>
                  <a:pt x="666" y="546"/>
                </a:lnTo>
                <a:lnTo>
                  <a:pt x="672" y="552"/>
                </a:lnTo>
                <a:lnTo>
                  <a:pt x="678" y="552"/>
                </a:lnTo>
                <a:lnTo>
                  <a:pt x="678" y="552"/>
                </a:lnTo>
                <a:lnTo>
                  <a:pt x="684" y="552"/>
                </a:lnTo>
                <a:lnTo>
                  <a:pt x="684" y="552"/>
                </a:lnTo>
                <a:lnTo>
                  <a:pt x="690" y="552"/>
                </a:lnTo>
                <a:lnTo>
                  <a:pt x="690" y="552"/>
                </a:lnTo>
                <a:lnTo>
                  <a:pt x="696" y="558"/>
                </a:lnTo>
                <a:lnTo>
                  <a:pt x="702" y="558"/>
                </a:lnTo>
                <a:lnTo>
                  <a:pt x="702" y="558"/>
                </a:lnTo>
                <a:lnTo>
                  <a:pt x="708" y="558"/>
                </a:lnTo>
                <a:lnTo>
                  <a:pt x="708" y="558"/>
                </a:lnTo>
                <a:lnTo>
                  <a:pt x="714" y="558"/>
                </a:lnTo>
                <a:lnTo>
                  <a:pt x="714" y="558"/>
                </a:lnTo>
                <a:lnTo>
                  <a:pt x="720" y="564"/>
                </a:lnTo>
                <a:lnTo>
                  <a:pt x="726" y="564"/>
                </a:lnTo>
                <a:lnTo>
                  <a:pt x="726" y="564"/>
                </a:lnTo>
                <a:lnTo>
                  <a:pt x="732" y="564"/>
                </a:lnTo>
                <a:lnTo>
                  <a:pt x="732" y="564"/>
                </a:lnTo>
              </a:path>
            </a:pathLst>
          </a:custGeom>
          <a:noFill/>
          <a:ln w="19050">
            <a:solidFill>
              <a:srgbClr val="04926A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6" name="Text Box 100">
            <a:extLst>
              <a:ext uri="{FF2B5EF4-FFF2-40B4-BE49-F238E27FC236}">
                <a16:creationId xmlns:a16="http://schemas.microsoft.com/office/drawing/2014/main" id="{7E0CC3FE-8044-F766-90B4-4968B9BBF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5809" y="4494040"/>
            <a:ext cx="215956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所求经验公式为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Object 117">
                <a:extLst>
                  <a:ext uri="{FF2B5EF4-FFF2-40B4-BE49-F238E27FC236}">
                    <a16:creationId xmlns:a16="http://schemas.microsoft.com/office/drawing/2014/main" id="{C22AE65C-F272-53EB-E41B-D92B46A62711}"/>
                  </a:ext>
                </a:extLst>
              </p:cNvPr>
              <p:cNvSpPr txBox="1"/>
              <p:nvPr/>
            </p:nvSpPr>
            <p:spPr bwMode="auto">
              <a:xfrm>
                <a:off x="4980335" y="4917569"/>
                <a:ext cx="26162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=78.57</m:t>
                      </m:r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−0.104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𝜏</m:t>
                          </m:r>
                        </m:sup>
                      </m:sSup>
                    </m:oMath>
                  </m:oMathPara>
                </a14:m>
                <a:endParaRPr lang="zh-CN" altLang="en-US" sz="2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" name="Object 117">
                <a:extLst>
                  <a:ext uri="{FF2B5EF4-FFF2-40B4-BE49-F238E27FC236}">
                    <a16:creationId xmlns:a16="http://schemas.microsoft.com/office/drawing/2014/main" id="{C22AE65C-F272-53EB-E41B-D92B46A62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80335" y="4917569"/>
                <a:ext cx="2616200" cy="520700"/>
              </a:xfrm>
              <a:prstGeom prst="rect">
                <a:avLst/>
              </a:prstGeom>
              <a:blipFill>
                <a:blip r:embed="rId18"/>
                <a:stretch>
                  <a:fillRect l="-46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7156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2" grpId="0"/>
      <p:bldP spid="53" grpId="0"/>
      <p:bldP spid="54" grpId="0"/>
      <p:bldP spid="55" grpId="0"/>
      <p:bldP spid="56" grpId="0"/>
      <p:bldP spid="57" grpId="0"/>
      <p:bldP spid="58" grpId="0" build="p" autoUpdateAnimBg="0"/>
      <p:bldP spid="60" grpId="0"/>
      <p:bldP spid="61" grpId="0"/>
      <p:bldP spid="62" grpId="0" build="p" autoUpdateAnimBg="0"/>
      <p:bldP spid="63" grpId="0"/>
      <p:bldP spid="64" grpId="0"/>
      <p:bldP spid="66" grpId="0" build="p" autoUpdateAnimBg="0"/>
      <p:bldP spid="6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>
            <a:extLst>
              <a:ext uri="{FF2B5EF4-FFF2-40B4-BE49-F238E27FC236}">
                <a16:creationId xmlns:a16="http://schemas.microsoft.com/office/drawing/2014/main" id="{EA051788-489A-37F6-E925-3C89BC8F4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089" y="1187619"/>
            <a:ext cx="198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观测数据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17">
                <a:extLst>
                  <a:ext uri="{FF2B5EF4-FFF2-40B4-BE49-F238E27FC236}">
                    <a16:creationId xmlns:a16="http://schemas.microsoft.com/office/drawing/2014/main" id="{832351F0-F0B3-7B66-1BEF-485440B02A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42339" y="4210613"/>
                <a:ext cx="394235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用最小二乘法确定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  <m:r>
                      <a:rPr kumimoji="1" lang="en-US" altLang="zh-CN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𝑏</m:t>
                    </m:r>
                  </m:oMath>
                </a14:m>
                <a:endParaRPr kumimoji="1" lang="en-US" altLang="zh-CN" sz="28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Text Box 17">
                <a:extLst>
                  <a:ext uri="{FF2B5EF4-FFF2-40B4-BE49-F238E27FC236}">
                    <a16:creationId xmlns:a16="http://schemas.microsoft.com/office/drawing/2014/main" id="{832351F0-F0B3-7B66-1BEF-485440B02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42339" y="4210613"/>
                <a:ext cx="3942350" cy="523220"/>
              </a:xfrm>
              <a:prstGeom prst="rect">
                <a:avLst/>
              </a:prstGeom>
              <a:blipFill>
                <a:blip r:embed="rId3"/>
                <a:stretch>
                  <a:fillRect l="-3091" t="-16279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46">
            <a:extLst>
              <a:ext uri="{FF2B5EF4-FFF2-40B4-BE49-F238E27FC236}">
                <a16:creationId xmlns:a16="http://schemas.microsoft.com/office/drawing/2014/main" id="{6910FCE2-9E1A-8C6E-D92D-6637E0B41701}"/>
              </a:ext>
            </a:extLst>
          </p:cNvPr>
          <p:cNvSpPr txBox="1">
            <a:spLocks noChangeArrowheads="1"/>
          </p:cNvSpPr>
          <p:nvPr/>
        </p:nvSpPr>
        <p:spPr>
          <a:xfrm>
            <a:off x="1431089" y="669761"/>
            <a:ext cx="6705600" cy="5191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ea typeface="黑体" panose="02010609060101010101" pitchFamily="49" charset="-122"/>
              </a:rPr>
              <a:t>通过计算确定某些经验公式类型的方法</a:t>
            </a:r>
            <a:r>
              <a:rPr lang="en-US" altLang="zh-CN" sz="2800" b="1" dirty="0"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0" name="AutoShape 47">
            <a:extLst>
              <a:ext uri="{FF2B5EF4-FFF2-40B4-BE49-F238E27FC236}">
                <a16:creationId xmlns:a16="http://schemas.microsoft.com/office/drawing/2014/main" id="{8A30E851-4527-CE1D-1237-5F240342FFC5}"/>
              </a:ext>
            </a:extLst>
          </p:cNvPr>
          <p:cNvSpPr>
            <a:spLocks/>
          </p:cNvSpPr>
          <p:nvPr/>
        </p:nvSpPr>
        <p:spPr bwMode="auto">
          <a:xfrm>
            <a:off x="6872709" y="2697084"/>
            <a:ext cx="296107" cy="3513216"/>
          </a:xfrm>
          <a:prstGeom prst="rightBrace">
            <a:avLst>
              <a:gd name="adj1" fmla="val 88364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48">
                <a:extLst>
                  <a:ext uri="{FF2B5EF4-FFF2-40B4-BE49-F238E27FC236}">
                    <a16:creationId xmlns:a16="http://schemas.microsoft.com/office/drawing/2014/main" id="{8A8098EC-83E3-6BC3-3B6B-8DFC1446C5AC}"/>
                  </a:ext>
                </a:extLst>
              </p:cNvPr>
              <p:cNvSpPr txBox="1"/>
              <p:nvPr/>
            </p:nvSpPr>
            <p:spPr bwMode="auto">
              <a:xfrm>
                <a:off x="3050339" y="1162554"/>
                <a:ext cx="44577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) (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𝑖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=0,1,⋯,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48">
                <a:extLst>
                  <a:ext uri="{FF2B5EF4-FFF2-40B4-BE49-F238E27FC236}">
                    <a16:creationId xmlns:a16="http://schemas.microsoft.com/office/drawing/2014/main" id="{8A8098EC-83E3-6BC3-3B6B-8DFC1446C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50339" y="1162554"/>
                <a:ext cx="4457700" cy="444500"/>
              </a:xfrm>
              <a:prstGeom prst="rect">
                <a:avLst/>
              </a:prstGeom>
              <a:blipFill>
                <a:blip r:embed="rId4"/>
                <a:stretch>
                  <a:fillRect b="-547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49">
                <a:extLst>
                  <a:ext uri="{FF2B5EF4-FFF2-40B4-BE49-F238E27FC236}">
                    <a16:creationId xmlns:a16="http://schemas.microsoft.com/office/drawing/2014/main" id="{E6245C97-584E-5B8F-5759-9E2CB62A013E}"/>
                  </a:ext>
                </a:extLst>
              </p:cNvPr>
              <p:cNvSpPr txBox="1"/>
              <p:nvPr/>
            </p:nvSpPr>
            <p:spPr bwMode="auto">
              <a:xfrm>
                <a:off x="1431089" y="1721185"/>
                <a:ext cx="8210216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令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+1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+1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  (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𝑖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=1,2,⋯,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Object 49">
                <a:extLst>
                  <a:ext uri="{FF2B5EF4-FFF2-40B4-BE49-F238E27FC236}">
                    <a16:creationId xmlns:a16="http://schemas.microsoft.com/office/drawing/2014/main" id="{E6245C97-584E-5B8F-5759-9E2CB62A0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31089" y="1721185"/>
                <a:ext cx="8210216" cy="457200"/>
              </a:xfrm>
              <a:prstGeom prst="rect">
                <a:avLst/>
              </a:prstGeom>
              <a:blipFill>
                <a:blip r:embed="rId5"/>
                <a:stretch>
                  <a:fillRect b="-26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50">
                <a:extLst>
                  <a:ext uri="{FF2B5EF4-FFF2-40B4-BE49-F238E27FC236}">
                    <a16:creationId xmlns:a16="http://schemas.microsoft.com/office/drawing/2014/main" id="{4559D9B4-6DBD-F23E-81F6-A41FC6C67FBC}"/>
                  </a:ext>
                </a:extLst>
              </p:cNvPr>
              <p:cNvSpPr txBox="1"/>
              <p:nvPr/>
            </p:nvSpPr>
            <p:spPr bwMode="auto">
              <a:xfrm>
                <a:off x="2027989" y="2428375"/>
                <a:ext cx="2679700" cy="952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e>
                      </m:d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Δ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Δ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≈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定值</m:t>
                      </m:r>
                      <m:r>
                        <a:rPr kumimoji="1" lang="en-US" altLang="zh-CN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Object 50">
                <a:extLst>
                  <a:ext uri="{FF2B5EF4-FFF2-40B4-BE49-F238E27FC236}">
                    <a16:creationId xmlns:a16="http://schemas.microsoft.com/office/drawing/2014/main" id="{4559D9B4-6DBD-F23E-81F6-A41FC6C67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7989" y="2428375"/>
                <a:ext cx="2679700" cy="9525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51">
                <a:extLst>
                  <a:ext uri="{FF2B5EF4-FFF2-40B4-BE49-F238E27FC236}">
                    <a16:creationId xmlns:a16="http://schemas.microsoft.com/office/drawing/2014/main" id="{848D04E9-C53F-CC25-A645-39EF6C36BE52}"/>
                  </a:ext>
                </a:extLst>
              </p:cNvPr>
              <p:cNvSpPr txBox="1"/>
              <p:nvPr/>
            </p:nvSpPr>
            <p:spPr bwMode="auto">
              <a:xfrm>
                <a:off x="4440320" y="2584450"/>
                <a:ext cx="2692400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则考虑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𝑎𝑥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𝑏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51">
                <a:extLst>
                  <a:ext uri="{FF2B5EF4-FFF2-40B4-BE49-F238E27FC236}">
                    <a16:creationId xmlns:a16="http://schemas.microsoft.com/office/drawing/2014/main" id="{848D04E9-C53F-CC25-A645-39EF6C36B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40320" y="2584450"/>
                <a:ext cx="2692400" cy="457200"/>
              </a:xfrm>
              <a:prstGeom prst="rect">
                <a:avLst/>
              </a:prstGeom>
              <a:blipFill>
                <a:blip r:embed="rId7"/>
                <a:stretch>
                  <a:fillRect l="-1584" b="-4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52">
                <a:extLst>
                  <a:ext uri="{FF2B5EF4-FFF2-40B4-BE49-F238E27FC236}">
                    <a16:creationId xmlns:a16="http://schemas.microsoft.com/office/drawing/2014/main" id="{7688D150-78A7-B39E-71D1-E735C2CA7788}"/>
                  </a:ext>
                </a:extLst>
              </p:cNvPr>
              <p:cNvSpPr txBox="1"/>
              <p:nvPr/>
            </p:nvSpPr>
            <p:spPr bwMode="auto">
              <a:xfrm>
                <a:off x="2027989" y="3294566"/>
                <a:ext cx="3175000" cy="952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e>
                      </m:d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Δ</m:t>
                          </m:r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Δ</m:t>
                          </m:r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≈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定值</m:t>
                      </m:r>
                      <m:r>
                        <a:rPr kumimoji="1" lang="en-US" altLang="zh-CN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" name="Object 52">
                <a:extLst>
                  <a:ext uri="{FF2B5EF4-FFF2-40B4-BE49-F238E27FC236}">
                    <a16:creationId xmlns:a16="http://schemas.microsoft.com/office/drawing/2014/main" id="{7688D150-78A7-B39E-71D1-E735C2CA7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7989" y="3294566"/>
                <a:ext cx="3175000" cy="9525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53">
                <a:extLst>
                  <a:ext uri="{FF2B5EF4-FFF2-40B4-BE49-F238E27FC236}">
                    <a16:creationId xmlns:a16="http://schemas.microsoft.com/office/drawing/2014/main" id="{E62C2545-2416-B262-78E2-E72AD8825E8B}"/>
                  </a:ext>
                </a:extLst>
              </p:cNvPr>
              <p:cNvSpPr txBox="1"/>
              <p:nvPr/>
            </p:nvSpPr>
            <p:spPr bwMode="auto">
              <a:xfrm>
                <a:off x="4759825" y="3457662"/>
                <a:ext cx="23241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则考虑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𝑎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Object 53">
                <a:extLst>
                  <a:ext uri="{FF2B5EF4-FFF2-40B4-BE49-F238E27FC236}">
                    <a16:creationId xmlns:a16="http://schemas.microsoft.com/office/drawing/2014/main" id="{E62C2545-2416-B262-78E2-E72AD8825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59825" y="3457662"/>
                <a:ext cx="2324100" cy="520700"/>
              </a:xfrm>
              <a:prstGeom prst="rect">
                <a:avLst/>
              </a:prstGeom>
              <a:blipFill>
                <a:blip r:embed="rId9"/>
                <a:stretch>
                  <a:fillRect l="-183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54">
                <a:extLst>
                  <a:ext uri="{FF2B5EF4-FFF2-40B4-BE49-F238E27FC236}">
                    <a16:creationId xmlns:a16="http://schemas.microsoft.com/office/drawing/2014/main" id="{86365F06-FD61-45CA-771C-31BBE24D4F50}"/>
                  </a:ext>
                </a:extLst>
              </p:cNvPr>
              <p:cNvSpPr txBox="1"/>
              <p:nvPr/>
            </p:nvSpPr>
            <p:spPr bwMode="auto">
              <a:xfrm>
                <a:off x="2027989" y="4821662"/>
                <a:ext cx="3149600" cy="952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3</m:t>
                          </m:r>
                        </m:e>
                      </m:d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Δ</m:t>
                          </m:r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Δ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≈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定值</m:t>
                      </m:r>
                      <m:r>
                        <a:rPr kumimoji="1" lang="en-US" altLang="zh-CN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Object 54">
                <a:extLst>
                  <a:ext uri="{FF2B5EF4-FFF2-40B4-BE49-F238E27FC236}">
                    <a16:creationId xmlns:a16="http://schemas.microsoft.com/office/drawing/2014/main" id="{86365F06-FD61-45CA-771C-31BBE24D4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7989" y="4821662"/>
                <a:ext cx="3149600" cy="9525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55">
                <a:extLst>
                  <a:ext uri="{FF2B5EF4-FFF2-40B4-BE49-F238E27FC236}">
                    <a16:creationId xmlns:a16="http://schemas.microsoft.com/office/drawing/2014/main" id="{3D1AB2BB-09E7-8757-042F-B8B0F6E1B302}"/>
                  </a:ext>
                </a:extLst>
              </p:cNvPr>
              <p:cNvSpPr txBox="1"/>
              <p:nvPr/>
            </p:nvSpPr>
            <p:spPr bwMode="auto">
              <a:xfrm>
                <a:off x="4783889" y="5010826"/>
                <a:ext cx="24511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则考虑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𝑎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𝑏𝑥</m:t>
                          </m:r>
                        </m:sup>
                      </m:sSup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Object 55">
                <a:extLst>
                  <a:ext uri="{FF2B5EF4-FFF2-40B4-BE49-F238E27FC236}">
                    <a16:creationId xmlns:a16="http://schemas.microsoft.com/office/drawing/2014/main" id="{3D1AB2BB-09E7-8757-042F-B8B0F6E1B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83889" y="5010826"/>
                <a:ext cx="2451100" cy="520700"/>
              </a:xfrm>
              <a:prstGeom prst="rect">
                <a:avLst/>
              </a:prstGeom>
              <a:blipFill>
                <a:blip r:embed="rId11"/>
                <a:stretch>
                  <a:fillRect l="-17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57">
                <a:extLst>
                  <a:ext uri="{FF2B5EF4-FFF2-40B4-BE49-F238E27FC236}">
                    <a16:creationId xmlns:a16="http://schemas.microsoft.com/office/drawing/2014/main" id="{9DA12D95-D1B1-8062-889B-BB374B765B6E}"/>
                  </a:ext>
                </a:extLst>
              </p:cNvPr>
              <p:cNvSpPr txBox="1"/>
              <p:nvPr/>
            </p:nvSpPr>
            <p:spPr bwMode="auto">
              <a:xfrm>
                <a:off x="3504529" y="4229769"/>
                <a:ext cx="38100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转化为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  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𝑏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Object 57">
                <a:extLst>
                  <a:ext uri="{FF2B5EF4-FFF2-40B4-BE49-F238E27FC236}">
                    <a16:creationId xmlns:a16="http://schemas.microsoft.com/office/drawing/2014/main" id="{9DA12D95-D1B1-8062-889B-BB374B765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4529" y="4229769"/>
                <a:ext cx="3810000" cy="444500"/>
              </a:xfrm>
              <a:prstGeom prst="rect">
                <a:avLst/>
              </a:prstGeom>
              <a:blipFill>
                <a:blip r:embed="rId12"/>
                <a:stretch>
                  <a:fillRect l="-1120" b="-68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58">
                <a:extLst>
                  <a:ext uri="{FF2B5EF4-FFF2-40B4-BE49-F238E27FC236}">
                    <a16:creationId xmlns:a16="http://schemas.microsoft.com/office/drawing/2014/main" id="{6B466599-87F9-CEFA-F01A-B33876C6570D}"/>
                  </a:ext>
                </a:extLst>
              </p:cNvPr>
              <p:cNvSpPr txBox="1"/>
              <p:nvPr/>
            </p:nvSpPr>
            <p:spPr bwMode="auto">
              <a:xfrm>
                <a:off x="3504529" y="5796213"/>
                <a:ext cx="32893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转化为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  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𝑏𝑥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0" name="Object 58">
                <a:extLst>
                  <a:ext uri="{FF2B5EF4-FFF2-40B4-BE49-F238E27FC236}">
                    <a16:creationId xmlns:a16="http://schemas.microsoft.com/office/drawing/2014/main" id="{6B466599-87F9-CEFA-F01A-B33876C65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4529" y="5796213"/>
                <a:ext cx="3289300" cy="444500"/>
              </a:xfrm>
              <a:prstGeom prst="rect">
                <a:avLst/>
              </a:prstGeom>
              <a:blipFill>
                <a:blip r:embed="rId13"/>
                <a:stretch>
                  <a:fillRect l="-1299" b="-68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8958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" grpId="0"/>
      <p:bldP spid="19" grpId="0"/>
      <p:bldP spid="20" grpId="0" animBg="1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14672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2179</TotalTime>
  <Words>1035</Words>
  <Application>Microsoft Office PowerPoint</Application>
  <PresentationFormat>宽屏</PresentationFormat>
  <Paragraphs>198</Paragraphs>
  <Slides>15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等线</vt:lpstr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Calisto MT</vt:lpstr>
      <vt:lpstr>Cambria Math</vt:lpstr>
      <vt:lpstr>Times New Roman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EDZ</dc:creator>
  <cp:lastModifiedBy>yang fan</cp:lastModifiedBy>
  <cp:revision>52</cp:revision>
  <dcterms:created xsi:type="dcterms:W3CDTF">2022-09-13T06:18:22Z</dcterms:created>
  <dcterms:modified xsi:type="dcterms:W3CDTF">2023-07-06T04:02:32Z</dcterms:modified>
</cp:coreProperties>
</file>