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9" r:id="rId3"/>
    <p:sldId id="273" r:id="rId4"/>
    <p:sldId id="275" r:id="rId6"/>
    <p:sldId id="276" r:id="rId7"/>
    <p:sldId id="270" r:id="rId8"/>
    <p:sldId id="287" r:id="rId9"/>
    <p:sldId id="282" r:id="rId10"/>
    <p:sldId id="271" r:id="rId11"/>
    <p:sldId id="261" r:id="rId12"/>
    <p:sldId id="262" r:id="rId13"/>
    <p:sldId id="268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2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86"/>
    <p:restoredTop sz="81891"/>
  </p:normalViewPr>
  <p:slideViewPr>
    <p:cSldViewPr showGuides="1">
      <p:cViewPr varScale="1">
        <p:scale>
          <a:sx n="106" d="100"/>
          <a:sy n="106" d="100"/>
        </p:scale>
        <p:origin x="1448" y="176"/>
      </p:cViewPr>
      <p:guideLst>
        <p:guide orient="horz" pos="2134"/>
        <p:guide pos="28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FDD24-29D7-4EBD-9A50-D21EBD8200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2B18-DF04-4A30-88F0-9C245735E4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tif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634740" y="332740"/>
            <a:ext cx="5779135" cy="3763010"/>
          </a:xfrm>
        </p:spPr>
        <p:txBody>
          <a:bodyPr>
            <a:normAutofit/>
          </a:bodyPr>
          <a:lstStyle/>
          <a:p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在手机应用</a:t>
            </a: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商店下载“中国大学</a:t>
            </a:r>
            <a:r>
              <a:rPr kumimoji="1"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MOOC</a:t>
            </a: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</a:t>
            </a:r>
            <a:endParaRPr kumimoji="1"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486535"/>
            <a:ext cx="4611370" cy="4982845"/>
          </a:xfrm>
        </p:spPr>
        <p:txBody>
          <a:bodyPr>
            <a:noAutofit/>
          </a:bodyPr>
          <a:lstStyle/>
          <a:p>
            <a:r>
              <a:rPr kumimoji="1" lang="zh-CN" altLang="en-US"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也可以上网站注册</a:t>
            </a:r>
            <a:endParaRPr kumimoji="1" lang="zh-CN" altLang="en-US"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kumimoji="1" lang="zh-CN" altLang="en-US"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https://www.icourse163.org/</a:t>
            </a:r>
            <a:endParaRPr kumimoji="1" lang="zh-CN" altLang="en-US"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kumimoji="1" lang="en-US" altLang="zh-CN"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kumimoji="1" lang="en-US" altLang="zh-CN"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kumimoji="1" lang="zh-CN" altLang="en-US"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课程网址：</a:t>
            </a:r>
            <a:endParaRPr kumimoji="1" lang="zh-CN" altLang="en-US"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kumimoji="1" lang="en-US" altLang="zh-CN"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https://www.icourse163.org/spoc/learn/XMU-1460912187?tid=1476415457#/learn/announce</a:t>
            </a:r>
            <a:endParaRPr kumimoji="1" lang="en-US" altLang="zh-CN"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065" y="3284855"/>
            <a:ext cx="2919095" cy="2592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27855" y="332740"/>
            <a:ext cx="409448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如何认证学校云</a:t>
            </a:r>
            <a:endParaRPr lang="zh-CN" altLang="en-US" sz="4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4860290" y="4437380"/>
            <a:ext cx="3361055" cy="2032635"/>
          </a:xfrm>
          <a:prstGeom prst="wedgeRoundRectCallout">
            <a:avLst>
              <a:gd name="adj1" fmla="val -98176"/>
              <a:gd name="adj2" fmla="val 4359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第一步：</a:t>
            </a:r>
            <a:endParaRPr lang="zh-CN" altLang="en-US" sz="4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点击“我</a:t>
            </a:r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的”</a:t>
            </a:r>
            <a:endParaRPr lang="zh-CN" altLang="en-US" sz="4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图片 3" descr="14b3042126dc76d88a07869d0bb436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116840"/>
            <a:ext cx="3086100" cy="6858000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3851910" y="1412875"/>
            <a:ext cx="4055745" cy="2264410"/>
          </a:xfrm>
          <a:prstGeom prst="wedgeRoundRectCallout">
            <a:avLst>
              <a:gd name="adj1" fmla="val -69148"/>
              <a:gd name="adj2" fmla="val 13180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第二步：</a:t>
            </a:r>
            <a:endParaRPr lang="zh-CN" altLang="en-US" sz="4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4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进入学校云服务</a:t>
            </a:r>
            <a:endParaRPr lang="zh-CN" altLang="en-US" sz="4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2"/>
          <p:cNvPicPr>
            <a:picLocks noChangeAspect="1" noChangeArrowheads="1"/>
          </p:cNvPicPr>
          <p:nvPr/>
        </p:nvPicPr>
        <p:blipFill>
          <a:blip r:embed="rId1">
            <a:lum bright="-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4" b="39978"/>
          <a:stretch>
            <a:fillRect/>
          </a:stretch>
        </p:blipFill>
        <p:spPr bwMode="auto">
          <a:xfrm>
            <a:off x="5081270" y="709930"/>
            <a:ext cx="3783965" cy="46024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圆角矩形标注 6"/>
          <p:cNvSpPr/>
          <p:nvPr/>
        </p:nvSpPr>
        <p:spPr>
          <a:xfrm>
            <a:off x="535305" y="2296795"/>
            <a:ext cx="3987165" cy="2264410"/>
          </a:xfrm>
          <a:prstGeom prst="wedgeRoundRectCallout">
            <a:avLst>
              <a:gd name="adj1" fmla="val 61689"/>
              <a:gd name="adj2" fmla="val -26247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第三步：</a:t>
            </a:r>
            <a:endParaRPr lang="zh-CN" altLang="en-US" sz="4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4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输入学校、学号</a:t>
            </a:r>
            <a:endParaRPr lang="zh-CN" altLang="en-US" sz="4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2"/>
          <p:cNvPicPr>
            <a:picLocks noChangeAspect="1" noChangeArrowheads="1"/>
          </p:cNvPicPr>
          <p:nvPr/>
        </p:nvPicPr>
        <p:blipFill>
          <a:blip r:embed="rId1">
            <a:lum bright="-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645" y="793750"/>
            <a:ext cx="4145280" cy="42659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圆角矩形标注 1"/>
          <p:cNvSpPr/>
          <p:nvPr/>
        </p:nvSpPr>
        <p:spPr>
          <a:xfrm>
            <a:off x="100330" y="2531110"/>
            <a:ext cx="4561840" cy="2359025"/>
          </a:xfrm>
          <a:prstGeom prst="wedgeRoundRectCallout">
            <a:avLst>
              <a:gd name="adj1" fmla="val 54496"/>
              <a:gd name="adj2" fmla="val -41117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第四步：</a:t>
            </a:r>
            <a:endParaRPr lang="zh-CN" altLang="en-US" sz="4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4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输入姓名、认证码（身份证后六位）</a:t>
            </a:r>
            <a:endParaRPr lang="zh-CN" altLang="en-US" sz="4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标注 10"/>
          <p:cNvSpPr/>
          <p:nvPr/>
        </p:nvSpPr>
        <p:spPr>
          <a:xfrm>
            <a:off x="257810" y="71755"/>
            <a:ext cx="5119370" cy="6696710"/>
          </a:xfrm>
          <a:prstGeom prst="wedgeRoundRectCallout">
            <a:avLst>
              <a:gd name="adj1" fmla="val 56450"/>
              <a:gd name="adj2" fmla="val -12820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第五步：</a:t>
            </a:r>
            <a:endParaRPr lang="zh-CN" altLang="en-US" sz="4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→“帐号”</a:t>
            </a:r>
            <a:endParaRPr lang="zh-CN" altLang="en-US" sz="4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→“我的学校云”</a:t>
            </a:r>
            <a:endParaRPr lang="zh-CN" altLang="en-US" sz="4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→“校内课程”搜索“大学生</a:t>
            </a:r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心理健康”选课</a:t>
            </a:r>
            <a:endParaRPr lang="zh-CN" altLang="en-US" sz="4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 sz="4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 descr="a4bfde6a0a06c482edeb257fce7d80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645" y="0"/>
            <a:ext cx="3077845" cy="685800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5648325" y="3717290"/>
            <a:ext cx="3355975" cy="13569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efa66d82164cb95c02fe5de0baaaf53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890" y="-16510"/>
            <a:ext cx="307784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796280" y="3717290"/>
            <a:ext cx="1946910" cy="28765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标注 4"/>
          <p:cNvSpPr/>
          <p:nvPr>
            <p:custDataLst>
              <p:tags r:id="rId2"/>
            </p:custDataLst>
          </p:nvPr>
        </p:nvSpPr>
        <p:spPr>
          <a:xfrm>
            <a:off x="395605" y="5001895"/>
            <a:ext cx="4561840" cy="1577340"/>
          </a:xfrm>
          <a:prstGeom prst="wedgeRoundRectCallout">
            <a:avLst>
              <a:gd name="adj1" fmla="val 69376"/>
              <a:gd name="adj2" fmla="val -11183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</a:t>
            </a:r>
            <a:r>
              <a:rPr lang="zh-CN" altLang="en-US" sz="4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核对开课</a:t>
            </a:r>
            <a:r>
              <a:rPr lang="zh-CN" altLang="en-US" sz="4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时间</a:t>
            </a:r>
            <a:endParaRPr lang="zh-CN" altLang="en-US" sz="4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6873875" y="1844675"/>
            <a:ext cx="767080" cy="28702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标注 10"/>
          <p:cNvSpPr/>
          <p:nvPr/>
        </p:nvSpPr>
        <p:spPr>
          <a:xfrm>
            <a:off x="395605" y="1196975"/>
            <a:ext cx="5119370" cy="2960370"/>
          </a:xfrm>
          <a:prstGeom prst="wedgeRoundRectCallout">
            <a:avLst>
              <a:gd name="adj1" fmla="val 76258"/>
              <a:gd name="adj2" fmla="val -22050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（请注意一定要选左上角带</a:t>
            </a:r>
            <a:r>
              <a:rPr lang="en-US" altLang="zh-CN" sz="40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SPOC</a:t>
            </a:r>
            <a:r>
              <a:rPr lang="zh-CN" altLang="en-US" sz="40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标志</a:t>
            </a:r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的课，答题和学习也不要做错，否则</a:t>
            </a:r>
            <a:r>
              <a:rPr lang="zh-CN" altLang="en-US" sz="40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不计分</a:t>
            </a:r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4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954405" y="2710815"/>
            <a:ext cx="7221855" cy="1788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3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提醒：</a:t>
            </a:r>
            <a:r>
              <a:rPr kumimoji="1"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请于</a:t>
            </a:r>
            <a:r>
              <a:rPr kumimoji="1" lang="en-US" altLang="zh-CN" sz="3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kumimoji="1" lang="zh-CN" altLang="en-US" sz="3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1" lang="en-US" altLang="zh-CN" sz="3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kumimoji="1" lang="zh-CN" altLang="en-US" sz="3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日前</a:t>
            </a:r>
            <a:r>
              <a:rPr kumimoji="1"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完成慕课学习并取得合格（</a:t>
            </a:r>
            <a:r>
              <a:rPr kumimoji="1"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r>
              <a:rPr kumimoji="1"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分）以上成绩，否则将无法取得心理健康课学分！</a:t>
            </a:r>
            <a:endParaRPr kumimoji="1"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55040" y="549910"/>
            <a:ext cx="7221855" cy="1434465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180" y="-317"/>
            <a:ext cx="8229600" cy="1143000"/>
          </a:xfrm>
        </p:spPr>
        <p:txBody>
          <a:bodyPr/>
          <a:lstStyle/>
          <a:p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</a:rPr>
              <a:t>订阅课程提醒</a:t>
            </a:r>
            <a:endParaRPr kumimoji="1"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8190" y="1400810"/>
            <a:ext cx="4010025" cy="670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微信公众号订阅</a:t>
            </a:r>
            <a:endParaRPr kumimoji="1"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85" y="2329815"/>
            <a:ext cx="3515360" cy="35153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lum bright="-18000" contrast="36000"/>
          </a:blip>
          <a:srcRect b="39900"/>
          <a:stretch>
            <a:fillRect/>
          </a:stretch>
        </p:blipFill>
        <p:spPr>
          <a:xfrm>
            <a:off x="5010785" y="1143000"/>
            <a:ext cx="3931920" cy="51206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/>
          <p:cNvSpPr/>
          <p:nvPr/>
        </p:nvSpPr>
        <p:spPr>
          <a:xfrm>
            <a:off x="5148064" y="1988840"/>
            <a:ext cx="1872208" cy="792088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如何查询成绩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lum bright="-54000" contras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" y="2002155"/>
            <a:ext cx="9001125" cy="1490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成绩获取标准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9555" y="1273175"/>
            <a:ext cx="8229600" cy="112903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可在课程发布页查看成绩和证书获取标准。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例（这是在慕课上已有课程首页上显示的评分要求）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-60000" contrast="90000"/>
          </a:blip>
          <a:stretch>
            <a:fillRect/>
          </a:stretch>
        </p:blipFill>
        <p:spPr>
          <a:xfrm>
            <a:off x="1290320" y="2201545"/>
            <a:ext cx="6563360" cy="46183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如何获取合格成绩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104"/>
          </a:xfrm>
        </p:spPr>
        <p:txBody>
          <a:bodyPr>
            <a:normAutofit lnSpcReduction="20000"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看课程视频，听课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完成单元作业和测试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按时期末考试：测试开放时间有限制，详见网站通知！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期末考试上线时间：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日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-6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每人</a:t>
            </a:r>
            <a:r>
              <a:rPr lang="zh-CN" altLang="en-US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只有一次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参与期末测试的机会，切记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勿中途退出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！（期末测试成绩将记录退出时的成绩）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参与评论区讨论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WPS 文字</Application>
  <PresentationFormat>全屏显示(4:3)</PresentationFormat>
  <Paragraphs>56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微软雅黑</vt:lpstr>
      <vt:lpstr>Office 主题​​</vt:lpstr>
      <vt:lpstr>在手机应用商店下载“中国大学MOOC”APP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订阅课程提醒</vt:lpstr>
      <vt:lpstr>如何查询成绩</vt:lpstr>
      <vt:lpstr>成绩获取标准</vt:lpstr>
      <vt:lpstr>如何获取合格成绩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如何注册并认证</dc:title>
  <dc:creator>yyy</dc:creator>
  <cp:lastModifiedBy>张旭</cp:lastModifiedBy>
  <cp:revision>42</cp:revision>
  <dcterms:created xsi:type="dcterms:W3CDTF">2026-03-04T07:28:43Z</dcterms:created>
  <dcterms:modified xsi:type="dcterms:W3CDTF">2026-03-04T07:28:43Z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2052-12.1.24709.24709</vt:lpwstr>
  </property>
  <property fmtid="{D5CDD505-2E9C-101B-9397-08002B2CF9AE}" pid="3" name="ICV">
    <vt:lpwstr>AF781A8ADF75AA00571CD8656B46670C_42</vt:lpwstr>
  </property>
</Properties>
</file>