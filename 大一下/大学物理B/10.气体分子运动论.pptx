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ctiveX/activeX1.xml" ContentType="application/vnd.ms-office.activeX+xml"/>
  <Override PartName="/ppt/activeX/activeX1.bin" ContentType="application/vnd.ms-office.activeX"/>
  <Override PartName="/ppt/activeX/activeX2.xml" ContentType="application/vnd.ms-office.activeX+xml"/>
  <Override PartName="/ppt/activeX/activeX2.bin" ContentType="application/vnd.ms-office.activeX"/>
  <Override PartName="/ppt/activeX/activeX3.xml" ContentType="application/vnd.ms-office.activeX+xml"/>
  <Override PartName="/ppt/activeX/activeX3.bin" ContentType="application/vnd.ms-office.activeX"/>
  <Override PartName="/ppt/activeX/activeX4.xml" ContentType="application/vnd.ms-office.activeX+xml"/>
  <Override PartName="/ppt/activeX/activeX4.bin" ContentType="application/vnd.ms-office.activeX"/>
  <Override PartName="/ppt/activeX/activeX5.xml" ContentType="application/vnd.ms-office.activeX+xml"/>
  <Override PartName="/ppt/activeX/activeX5.bin" ContentType="application/vnd.ms-office.activeX"/>
  <Override PartName="/ppt/activeX/activeX6.xml" ContentType="application/vnd.ms-office.activeX+xml"/>
  <Override PartName="/ppt/activeX/activeX6.bin" ContentType="application/vnd.ms-office.activeX"/>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93"/>
  </p:notesMasterIdLst>
  <p:handoutMasterIdLst>
    <p:handoutMasterId r:id="rId94"/>
  </p:handoutMasterIdLst>
  <p:sldIdLst>
    <p:sldId id="491" r:id="rId2"/>
    <p:sldId id="508" r:id="rId3"/>
    <p:sldId id="509" r:id="rId4"/>
    <p:sldId id="510" r:id="rId5"/>
    <p:sldId id="502" r:id="rId6"/>
    <p:sldId id="503" r:id="rId7"/>
    <p:sldId id="504" r:id="rId8"/>
    <p:sldId id="506" r:id="rId9"/>
    <p:sldId id="507" r:id="rId10"/>
    <p:sldId id="511" r:id="rId11"/>
    <p:sldId id="512" r:id="rId12"/>
    <p:sldId id="505" r:id="rId13"/>
    <p:sldId id="516" r:id="rId14"/>
    <p:sldId id="513" r:id="rId15"/>
    <p:sldId id="514" r:id="rId16"/>
    <p:sldId id="517" r:id="rId17"/>
    <p:sldId id="518" r:id="rId18"/>
    <p:sldId id="515" r:id="rId19"/>
    <p:sldId id="519" r:id="rId20"/>
    <p:sldId id="520" r:id="rId21"/>
    <p:sldId id="521" r:id="rId22"/>
    <p:sldId id="522" r:id="rId23"/>
    <p:sldId id="524" r:id="rId24"/>
    <p:sldId id="526" r:id="rId25"/>
    <p:sldId id="527" r:id="rId26"/>
    <p:sldId id="525" r:id="rId27"/>
    <p:sldId id="529" r:id="rId28"/>
    <p:sldId id="530" r:id="rId29"/>
    <p:sldId id="531" r:id="rId30"/>
    <p:sldId id="528" r:id="rId31"/>
    <p:sldId id="532" r:id="rId32"/>
    <p:sldId id="533" r:id="rId33"/>
    <p:sldId id="535" r:id="rId34"/>
    <p:sldId id="534" r:id="rId35"/>
    <p:sldId id="537" r:id="rId36"/>
    <p:sldId id="538" r:id="rId37"/>
    <p:sldId id="539" r:id="rId38"/>
    <p:sldId id="540" r:id="rId39"/>
    <p:sldId id="592" r:id="rId40"/>
    <p:sldId id="541" r:id="rId41"/>
    <p:sldId id="542" r:id="rId42"/>
    <p:sldId id="536" r:id="rId43"/>
    <p:sldId id="544" r:id="rId44"/>
    <p:sldId id="543" r:id="rId45"/>
    <p:sldId id="547" r:id="rId46"/>
    <p:sldId id="548" r:id="rId47"/>
    <p:sldId id="550" r:id="rId48"/>
    <p:sldId id="546" r:id="rId49"/>
    <p:sldId id="549" r:id="rId50"/>
    <p:sldId id="551" r:id="rId51"/>
    <p:sldId id="545" r:id="rId52"/>
    <p:sldId id="553" r:id="rId53"/>
    <p:sldId id="554" r:id="rId54"/>
    <p:sldId id="555" r:id="rId55"/>
    <p:sldId id="556" r:id="rId56"/>
    <p:sldId id="557" r:id="rId57"/>
    <p:sldId id="559" r:id="rId58"/>
    <p:sldId id="552" r:id="rId59"/>
    <p:sldId id="558" r:id="rId60"/>
    <p:sldId id="561" r:id="rId61"/>
    <p:sldId id="593" r:id="rId62"/>
    <p:sldId id="562" r:id="rId63"/>
    <p:sldId id="566" r:id="rId64"/>
    <p:sldId id="572" r:id="rId65"/>
    <p:sldId id="573" r:id="rId66"/>
    <p:sldId id="565" r:id="rId67"/>
    <p:sldId id="560" r:id="rId68"/>
    <p:sldId id="571" r:id="rId69"/>
    <p:sldId id="569" r:id="rId70"/>
    <p:sldId id="564" r:id="rId71"/>
    <p:sldId id="567" r:id="rId72"/>
    <p:sldId id="568" r:id="rId73"/>
    <p:sldId id="563" r:id="rId74"/>
    <p:sldId id="574" r:id="rId75"/>
    <p:sldId id="575" r:id="rId76"/>
    <p:sldId id="576" r:id="rId77"/>
    <p:sldId id="577" r:id="rId78"/>
    <p:sldId id="578" r:id="rId79"/>
    <p:sldId id="579" r:id="rId80"/>
    <p:sldId id="580" r:id="rId81"/>
    <p:sldId id="581" r:id="rId82"/>
    <p:sldId id="582" r:id="rId83"/>
    <p:sldId id="583" r:id="rId84"/>
    <p:sldId id="584" r:id="rId85"/>
    <p:sldId id="585" r:id="rId86"/>
    <p:sldId id="586" r:id="rId87"/>
    <p:sldId id="587" r:id="rId88"/>
    <p:sldId id="588" r:id="rId89"/>
    <p:sldId id="589" r:id="rId90"/>
    <p:sldId id="590" r:id="rId91"/>
    <p:sldId id="594" r:id="rId92"/>
  </p:sldIdLst>
  <p:sldSz cx="9144000" cy="6858000" type="screen4x3"/>
  <p:notesSz cx="9979025" cy="6834188"/>
  <p:defaultTex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FF"/>
    <a:srgbClr val="9900FF"/>
    <a:srgbClr val="B2B2B2"/>
    <a:srgbClr val="FF33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91" autoAdjust="0"/>
    <p:restoredTop sz="94747" autoAdjust="0"/>
  </p:normalViewPr>
  <p:slideViewPr>
    <p:cSldViewPr>
      <p:cViewPr varScale="1">
        <p:scale>
          <a:sx n="214" d="100"/>
          <a:sy n="214" d="100"/>
        </p:scale>
        <p:origin x="2760"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128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activeX/activeX4.xml><?xml version="1.0" encoding="utf-8"?>
<ax:ocx xmlns:ax="http://schemas.microsoft.com/office/2006/activeX" xmlns:r="http://schemas.openxmlformats.org/officeDocument/2006/relationships" ax:classid="{D27CDB6E-AE6D-11CF-96B8-444553540000}" ax:persistence="persistStorage" r:id="rId1"/>
</file>

<file path=ppt/activeX/activeX5.xml><?xml version="1.0" encoding="utf-8"?>
<ax:ocx xmlns:ax="http://schemas.microsoft.com/office/2006/activeX" xmlns:r="http://schemas.openxmlformats.org/officeDocument/2006/relationships" ax:classid="{D27CDB6E-AE6D-11CF-96B8-444553540000}" ax:persistence="persistStorage" r:id="rId1"/>
</file>

<file path=ppt/activeX/activeX6.xml><?xml version="1.0" encoding="utf-8"?>
<ax:ocx xmlns:ax="http://schemas.microsoft.com/office/2006/activeX" xmlns:r="http://schemas.openxmlformats.org/officeDocument/2006/relationships" ax:classid="{D27CDB6E-AE6D-11CF-96B8-444553540000}" ax:persistence="persistStorage" r:id="rId1"/>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7746" name="Rectangle 2"/>
          <p:cNvSpPr>
            <a:spLocks noGrp="1" noChangeArrowheads="1"/>
          </p:cNvSpPr>
          <p:nvPr>
            <p:ph type="hdr" sz="quarter"/>
          </p:nvPr>
        </p:nvSpPr>
        <p:spPr bwMode="auto">
          <a:xfrm>
            <a:off x="1" y="0"/>
            <a:ext cx="4325403" cy="3413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en-US" altLang="zh-CN"/>
          </a:p>
        </p:txBody>
      </p:sp>
      <p:sp>
        <p:nvSpPr>
          <p:cNvPr id="287747" name="Rectangle 3"/>
          <p:cNvSpPr>
            <a:spLocks noGrp="1" noChangeArrowheads="1"/>
          </p:cNvSpPr>
          <p:nvPr>
            <p:ph type="dt" sz="quarter" idx="1"/>
          </p:nvPr>
        </p:nvSpPr>
        <p:spPr bwMode="auto">
          <a:xfrm>
            <a:off x="5653623" y="0"/>
            <a:ext cx="4323084" cy="3413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endParaRPr lang="en-US" altLang="zh-CN"/>
          </a:p>
        </p:txBody>
      </p:sp>
      <p:sp>
        <p:nvSpPr>
          <p:cNvPr id="287748" name="Rectangle 4"/>
          <p:cNvSpPr>
            <a:spLocks noGrp="1" noChangeArrowheads="1"/>
          </p:cNvSpPr>
          <p:nvPr>
            <p:ph type="ftr" sz="quarter" idx="2"/>
          </p:nvPr>
        </p:nvSpPr>
        <p:spPr bwMode="auto">
          <a:xfrm>
            <a:off x="1" y="6491718"/>
            <a:ext cx="4325403" cy="34138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en-US" altLang="zh-CN"/>
          </a:p>
        </p:txBody>
      </p:sp>
      <p:sp>
        <p:nvSpPr>
          <p:cNvPr id="287749" name="Rectangle 5"/>
          <p:cNvSpPr>
            <a:spLocks noGrp="1" noChangeArrowheads="1"/>
          </p:cNvSpPr>
          <p:nvPr>
            <p:ph type="sldNum" sz="quarter" idx="3"/>
          </p:nvPr>
        </p:nvSpPr>
        <p:spPr bwMode="auto">
          <a:xfrm>
            <a:off x="5653623" y="6491718"/>
            <a:ext cx="4323084" cy="34138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EFB30363-C109-4E6F-BE7E-0A8D04ED5052}"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1" y="0"/>
            <a:ext cx="4325403" cy="3413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en-US" altLang="zh-CN"/>
          </a:p>
        </p:txBody>
      </p:sp>
      <p:sp>
        <p:nvSpPr>
          <p:cNvPr id="26627" name="Rectangle 3"/>
          <p:cNvSpPr>
            <a:spLocks noGrp="1" noChangeArrowheads="1"/>
          </p:cNvSpPr>
          <p:nvPr>
            <p:ph type="dt" idx="1"/>
          </p:nvPr>
        </p:nvSpPr>
        <p:spPr bwMode="auto">
          <a:xfrm>
            <a:off x="5653623" y="0"/>
            <a:ext cx="4323084" cy="3413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endParaRPr lang="en-US" altLang="zh-CN"/>
          </a:p>
        </p:txBody>
      </p:sp>
      <p:sp>
        <p:nvSpPr>
          <p:cNvPr id="26628" name="Rectangle 4"/>
          <p:cNvSpPr>
            <a:spLocks noGrp="1" noRot="1" noChangeAspect="1" noChangeArrowheads="1" noTextEdit="1"/>
          </p:cNvSpPr>
          <p:nvPr>
            <p:ph type="sldImg" idx="2"/>
          </p:nvPr>
        </p:nvSpPr>
        <p:spPr bwMode="auto">
          <a:xfrm>
            <a:off x="3281363" y="512763"/>
            <a:ext cx="3417887" cy="2562225"/>
          </a:xfrm>
          <a:prstGeom prst="rect">
            <a:avLst/>
          </a:prstGeom>
          <a:noFill/>
          <a:ln w="9525">
            <a:solidFill>
              <a:srgbClr val="000000"/>
            </a:solidFill>
            <a:miter lim="800000"/>
            <a:headEnd/>
            <a:tailEnd/>
          </a:ln>
          <a:effectLst/>
        </p:spPr>
      </p:sp>
      <p:sp>
        <p:nvSpPr>
          <p:cNvPr id="26629" name="Rectangle 5"/>
          <p:cNvSpPr>
            <a:spLocks noGrp="1" noChangeArrowheads="1"/>
          </p:cNvSpPr>
          <p:nvPr>
            <p:ph type="body" sz="quarter" idx="3"/>
          </p:nvPr>
        </p:nvSpPr>
        <p:spPr bwMode="auto">
          <a:xfrm>
            <a:off x="999062" y="3246402"/>
            <a:ext cx="7983219" cy="30757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30" name="Rectangle 6"/>
          <p:cNvSpPr>
            <a:spLocks noGrp="1" noChangeArrowheads="1"/>
          </p:cNvSpPr>
          <p:nvPr>
            <p:ph type="ftr" sz="quarter" idx="4"/>
          </p:nvPr>
        </p:nvSpPr>
        <p:spPr bwMode="auto">
          <a:xfrm>
            <a:off x="1" y="6491718"/>
            <a:ext cx="4325403" cy="34138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en-US" altLang="zh-CN"/>
          </a:p>
        </p:txBody>
      </p:sp>
      <p:sp>
        <p:nvSpPr>
          <p:cNvPr id="26631" name="Rectangle 7"/>
          <p:cNvSpPr>
            <a:spLocks noGrp="1" noChangeArrowheads="1"/>
          </p:cNvSpPr>
          <p:nvPr>
            <p:ph type="sldNum" sz="quarter" idx="5"/>
          </p:nvPr>
        </p:nvSpPr>
        <p:spPr bwMode="auto">
          <a:xfrm>
            <a:off x="5653623" y="6491718"/>
            <a:ext cx="4323084" cy="34138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810CE2F5-A054-4D64-9FEC-977D675CC6CE}"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pitchFamily="2" charset="-122"/>
        <a:cs typeface="+mn-cs"/>
      </a:defRPr>
    </a:lvl1pPr>
    <a:lvl2pPr marL="457200" algn="l" rtl="0" fontAlgn="base">
      <a:spcBef>
        <a:spcPct val="30000"/>
      </a:spcBef>
      <a:spcAft>
        <a:spcPct val="0"/>
      </a:spcAft>
      <a:defRPr sz="1200" kern="1200">
        <a:solidFill>
          <a:schemeClr val="tx1"/>
        </a:solidFill>
        <a:latin typeface="Arial" charset="0"/>
        <a:ea typeface="宋体" pitchFamily="2" charset="-122"/>
        <a:cs typeface="+mn-cs"/>
      </a:defRPr>
    </a:lvl2pPr>
    <a:lvl3pPr marL="914400" algn="l" rtl="0" fontAlgn="base">
      <a:spcBef>
        <a:spcPct val="30000"/>
      </a:spcBef>
      <a:spcAft>
        <a:spcPct val="0"/>
      </a:spcAft>
      <a:defRPr sz="1200" kern="1200">
        <a:solidFill>
          <a:schemeClr val="tx1"/>
        </a:solidFill>
        <a:latin typeface="Arial" charset="0"/>
        <a:ea typeface="宋体" pitchFamily="2" charset="-122"/>
        <a:cs typeface="+mn-cs"/>
      </a:defRPr>
    </a:lvl3pPr>
    <a:lvl4pPr marL="1371600" algn="l" rtl="0" fontAlgn="base">
      <a:spcBef>
        <a:spcPct val="30000"/>
      </a:spcBef>
      <a:spcAft>
        <a:spcPct val="0"/>
      </a:spcAft>
      <a:defRPr sz="1200" kern="1200">
        <a:solidFill>
          <a:schemeClr val="tx1"/>
        </a:solidFill>
        <a:latin typeface="Arial" charset="0"/>
        <a:ea typeface="宋体" pitchFamily="2" charset="-122"/>
        <a:cs typeface="+mn-cs"/>
      </a:defRPr>
    </a:lvl4pPr>
    <a:lvl5pPr marL="1828800" algn="l" rtl="0" fontAlgn="base">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zh-CN" altLang="en-US"/>
              <a:t>单击此处编辑母版标题样式</a:t>
            </a:r>
            <a:endParaRPr kumimoji="0" lang="en-US"/>
          </a:p>
        </p:txBody>
      </p:sp>
      <p:sp>
        <p:nvSpPr>
          <p:cNvPr id="9" name="副标题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a:xfrm>
            <a:off x="6400800" y="6355080"/>
            <a:ext cx="2286000" cy="365760"/>
          </a:xfrm>
        </p:spPr>
        <p:txBody>
          <a:bodyPr/>
          <a:lstStyle>
            <a:lvl1pPr>
              <a:defRPr sz="1400"/>
            </a:lvl1pPr>
          </a:lstStyle>
          <a:p>
            <a:endParaRPr lang="en-US" altLang="zh-CN"/>
          </a:p>
        </p:txBody>
      </p:sp>
      <p:sp>
        <p:nvSpPr>
          <p:cNvPr id="17" name="页脚占位符 16"/>
          <p:cNvSpPr>
            <a:spLocks noGrp="1"/>
          </p:cNvSpPr>
          <p:nvPr>
            <p:ph type="ftr" sz="quarter" idx="11"/>
          </p:nvPr>
        </p:nvSpPr>
        <p:spPr>
          <a:xfrm>
            <a:off x="2898648" y="6355080"/>
            <a:ext cx="3474720" cy="365760"/>
          </a:xfrm>
        </p:spPr>
        <p:txBody>
          <a:bodyPr/>
          <a:lstStyle/>
          <a:p>
            <a:endParaRPr lang="en-US" altLang="zh-CN"/>
          </a:p>
        </p:txBody>
      </p:sp>
      <p:sp>
        <p:nvSpPr>
          <p:cNvPr id="29" name="灯片编号占位符 28"/>
          <p:cNvSpPr>
            <a:spLocks noGrp="1"/>
          </p:cNvSpPr>
          <p:nvPr>
            <p:ph type="sldNum" sz="quarter" idx="12"/>
          </p:nvPr>
        </p:nvSpPr>
        <p:spPr>
          <a:xfrm>
            <a:off x="1216152" y="6355080"/>
            <a:ext cx="1219200" cy="365760"/>
          </a:xfrm>
        </p:spPr>
        <p:txBody>
          <a:bodyPr/>
          <a:lstStyle/>
          <a:p>
            <a:fld id="{CCEDDCCD-52E2-4612-B8FF-F9E05E5FA3BA}" type="slidenum">
              <a:rPr lang="en-US" altLang="zh-CN" smtClean="0"/>
              <a:pPr/>
              <a:t>‹#›</a:t>
            </a:fld>
            <a:endParaRPr lang="en-US" altLang="zh-CN"/>
          </a:p>
        </p:txBody>
      </p:sp>
      <p:sp>
        <p:nvSpPr>
          <p:cNvPr id="21" name="矩形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AA7C946-1296-42DE-ACC7-8BF8327D6D74}" type="slidenum">
              <a:rPr lang="en-US" altLang="zh-CN" smtClean="0"/>
              <a:pPr/>
              <a:t>‹#›</a:t>
            </a:fld>
            <a:endParaRPr lang="en-US" altLang="zh-CN"/>
          </a:p>
        </p:txBody>
      </p:sp>
      <p:sp>
        <p:nvSpPr>
          <p:cNvPr id="8" name="内容占位符 7"/>
          <p:cNvSpPr>
            <a:spLocks noGrp="1"/>
          </p:cNvSpPr>
          <p:nvPr>
            <p:ph sz="quarter" idx="1"/>
          </p:nvPr>
        </p:nvSpPr>
        <p:spPr>
          <a:xfrm>
            <a:off x="457200" y="1219200"/>
            <a:ext cx="8229600" cy="493776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a:xfrm>
            <a:off x="6400800" y="6355080"/>
            <a:ext cx="2286000" cy="365760"/>
          </a:xfrm>
        </p:spPr>
        <p:txBody>
          <a:bodyPr/>
          <a:lstStyle/>
          <a:p>
            <a:endParaRPr lang="en-US" altLang="zh-CN"/>
          </a:p>
        </p:txBody>
      </p:sp>
      <p:sp>
        <p:nvSpPr>
          <p:cNvPr id="5" name="页脚占位符 4"/>
          <p:cNvSpPr>
            <a:spLocks noGrp="1"/>
          </p:cNvSpPr>
          <p:nvPr>
            <p:ph type="ftr" sz="quarter" idx="11"/>
          </p:nvPr>
        </p:nvSpPr>
        <p:spPr>
          <a:xfrm>
            <a:off x="2898648" y="6355080"/>
            <a:ext cx="3474720" cy="365760"/>
          </a:xfrm>
        </p:spPr>
        <p:txBody>
          <a:bodyPr/>
          <a:lstStyle/>
          <a:p>
            <a:endParaRPr lang="en-US" altLang="zh-CN"/>
          </a:p>
        </p:txBody>
      </p:sp>
      <p:sp>
        <p:nvSpPr>
          <p:cNvPr id="6" name="灯片编号占位符 5"/>
          <p:cNvSpPr>
            <a:spLocks noGrp="1"/>
          </p:cNvSpPr>
          <p:nvPr>
            <p:ph type="sldNum" sz="quarter" idx="12"/>
          </p:nvPr>
        </p:nvSpPr>
        <p:spPr>
          <a:xfrm>
            <a:off x="1069848" y="6355080"/>
            <a:ext cx="1520952" cy="365760"/>
          </a:xfrm>
        </p:spPr>
        <p:txBody>
          <a:bodyPr/>
          <a:lstStyle/>
          <a:p>
            <a:fld id="{8196966F-561F-4662-B5E5-3974F1C1091A}" type="slidenum">
              <a:rPr lang="en-US" altLang="zh-CN" smtClean="0"/>
              <a:pPr/>
              <a:t>‹#›</a:t>
            </a:fld>
            <a:endParaRPr lang="en-US" altLang="zh-CN"/>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CE9990AF-C5FC-4324-9071-B91EFDE1E649}" type="slidenum">
              <a:rPr lang="en-US" altLang="zh-CN" smtClean="0"/>
              <a:pPr/>
              <a:t>‹#›</a:t>
            </a:fld>
            <a:endParaRPr lang="en-US" altLang="zh-CN"/>
          </a:p>
        </p:txBody>
      </p:sp>
      <p:sp>
        <p:nvSpPr>
          <p:cNvPr id="9" name="内容占位符 8"/>
          <p:cNvSpPr>
            <a:spLocks noGrp="1"/>
          </p:cNvSpPr>
          <p:nvPr>
            <p:ph sz="quarter" idx="1"/>
          </p:nvPr>
        </p:nvSpPr>
        <p:spPr>
          <a:xfrm>
            <a:off x="457200" y="1219200"/>
            <a:ext cx="4041648" cy="493776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632198" y="1216152"/>
            <a:ext cx="4041648" cy="493776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nchor="ct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7" name="日期占位符 6"/>
          <p:cNvSpPr>
            <a:spLocks noGrp="1"/>
          </p:cNvSpPr>
          <p:nvPr>
            <p:ph type="dt" sz="half" idx="10"/>
          </p:nvPr>
        </p:nvSpPr>
        <p:spPr/>
        <p:txBody>
          <a:bodyPr/>
          <a:lstStyle/>
          <a:p>
            <a:endParaRPr lang="en-US" altLang="zh-CN"/>
          </a:p>
        </p:txBody>
      </p:sp>
      <p:sp>
        <p:nvSpPr>
          <p:cNvPr id="8" name="页脚占位符 7"/>
          <p:cNvSpPr>
            <a:spLocks noGrp="1"/>
          </p:cNvSpPr>
          <p:nvPr>
            <p:ph type="ftr" sz="quarter" idx="11"/>
          </p:nvPr>
        </p:nvSpPr>
        <p:spPr/>
        <p:txBody>
          <a:bodyPr/>
          <a:lstStyle/>
          <a:p>
            <a:endParaRPr lang="en-US" altLang="zh-CN"/>
          </a:p>
        </p:txBody>
      </p:sp>
      <p:sp>
        <p:nvSpPr>
          <p:cNvPr id="9" name="灯片编号占位符 8"/>
          <p:cNvSpPr>
            <a:spLocks noGrp="1"/>
          </p:cNvSpPr>
          <p:nvPr>
            <p:ph type="sldNum" sz="quarter" idx="12"/>
          </p:nvPr>
        </p:nvSpPr>
        <p:spPr/>
        <p:txBody>
          <a:bodyPr/>
          <a:lstStyle/>
          <a:p>
            <a:fld id="{7176684D-3BFF-4F14-B3CF-DD25C0A313DA}" type="slidenum">
              <a:rPr lang="en-US" altLang="zh-CN" smtClean="0"/>
              <a:pPr/>
              <a:t>‹#›</a:t>
            </a:fld>
            <a:endParaRPr lang="en-US" altLang="zh-CN"/>
          </a:p>
        </p:txBody>
      </p:sp>
      <p:sp>
        <p:nvSpPr>
          <p:cNvPr id="11" name="内容占位符 10"/>
          <p:cNvSpPr>
            <a:spLocks noGrp="1"/>
          </p:cNvSpPr>
          <p:nvPr>
            <p:ph sz="quarter" idx="2"/>
          </p:nvPr>
        </p:nvSpPr>
        <p:spPr>
          <a:xfrm>
            <a:off x="457200" y="2133600"/>
            <a:ext cx="4038600" cy="4038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quarter" idx="4"/>
          </p:nvPr>
        </p:nvSpPr>
        <p:spPr>
          <a:xfrm>
            <a:off x="4648200" y="2133600"/>
            <a:ext cx="4038600" cy="4038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endParaRPr lang="en-US" altLang="zh-CN"/>
          </a:p>
        </p:txBody>
      </p:sp>
      <p:sp>
        <p:nvSpPr>
          <p:cNvPr id="5" name="灯片编号占位符 4"/>
          <p:cNvSpPr>
            <a:spLocks noGrp="1"/>
          </p:cNvSpPr>
          <p:nvPr>
            <p:ph type="sldNum" sz="quarter" idx="12"/>
          </p:nvPr>
        </p:nvSpPr>
        <p:spPr/>
        <p:txBody>
          <a:bodyPr/>
          <a:lstStyle/>
          <a:p>
            <a:fld id="{EC9FAE07-4B19-4184-A1F3-BFACFE5751D7}" type="slidenum">
              <a:rPr lang="en-US" altLang="zh-CN" smtClean="0"/>
              <a:pPr/>
              <a:t>‹#›</a:t>
            </a:fld>
            <a:endParaRPr lang="en-US" altLang="zh-CN"/>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p>
            <a:fld id="{F14894C4-568D-44C6-9125-F9F9885AD16D}" type="slidenum">
              <a:rPr lang="en-US" altLang="zh-CN" smtClean="0"/>
              <a:pPr/>
              <a:t>‹#›</a:t>
            </a:fld>
            <a:endParaRPr lang="en-US" altLang="zh-CN"/>
          </a:p>
        </p:txBody>
      </p:sp>
      <p:sp>
        <p:nvSpPr>
          <p:cNvPr id="5" name="直接连接符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C26ACA81-54E9-43A2-8D8D-433233D02F32}" type="slidenum">
              <a:rPr lang="en-US" altLang="zh-CN" smtClean="0"/>
              <a:pPr/>
              <a:t>‹#›</a:t>
            </a:fld>
            <a:endParaRPr lang="en-US" altLang="zh-CN"/>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接连接符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内容占位符 11"/>
          <p:cNvSpPr>
            <a:spLocks noGrp="1"/>
          </p:cNvSpPr>
          <p:nvPr>
            <p:ph sz="quarter" idx="1"/>
          </p:nvPr>
        </p:nvSpPr>
        <p:spPr>
          <a:xfrm>
            <a:off x="304800" y="304800"/>
            <a:ext cx="5715000" cy="5715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1">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CN" altLang="en-US"/>
              <a:t>单击图标添加图片</a:t>
            </a:r>
            <a:endParaRPr kumimoji="0" lang="en-US" dirty="0"/>
          </a:p>
        </p:txBody>
      </p:sp>
      <p:sp>
        <p:nvSpPr>
          <p:cNvPr id="4" name="文本占位符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3BC4B65D-89D3-460B-8438-6B3D252F610C}" type="slidenum">
              <a:rPr lang="en-US" altLang="zh-CN" smtClean="0"/>
              <a:pPr/>
              <a:t>‹#›</a:t>
            </a:fld>
            <a:endParaRPr lang="en-US" altLang="zh-CN"/>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E9956A08-A16E-4BC0-97A0-2D5F1954E437}" type="slidenum">
              <a:rPr lang="en-US" altLang="zh-CN" smtClean="0"/>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3E4A7599-C8EC-435B-8A92-F34E43F8F42F}" type="slidenum">
              <a:rPr lang="en-US" altLang="zh-CN" smtClean="0"/>
              <a:pPr/>
              <a:t>‹#›</a:t>
            </a:fld>
            <a:endParaRPr lang="en-US" altLang="zh-CN"/>
          </a:p>
        </p:txBody>
      </p:sp>
      <p:sp>
        <p:nvSpPr>
          <p:cNvPr id="7" name="直接连接符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152400"/>
            <a:ext cx="8229600" cy="990600"/>
          </a:xfrm>
          <a:prstGeom prst="rect">
            <a:avLst/>
          </a:prstGeom>
        </p:spPr>
        <p:txBody>
          <a:bodyPr vert="horz" anchor="b" anchorCtr="0">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altLang="zh-CN"/>
          </a:p>
        </p:txBody>
      </p:sp>
      <p:sp>
        <p:nvSpPr>
          <p:cNvPr id="3" name="页脚占位符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ltLang="zh-CN"/>
          </a:p>
        </p:txBody>
      </p:sp>
      <p:sp>
        <p:nvSpPr>
          <p:cNvPr id="23" name="灯片编号占位符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91D456-8FE8-4ED6-9FC5-29B6A61FEDA1}" type="slidenum">
              <a:rPr lang="en-US" altLang="zh-CN" smtClean="0"/>
              <a:pPr/>
              <a:t>‹#›</a:t>
            </a:fld>
            <a:endParaRPr lang="en-US" altLang="zh-CN"/>
          </a:p>
        </p:txBody>
      </p:sp>
      <p:sp>
        <p:nvSpPr>
          <p:cNvPr id="28" name="直接连接符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接连接符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6.xml"/><Relationship Id="rId6" Type="http://schemas.openxmlformats.org/officeDocument/2006/relationships/oleObject" Target="../embeddings/oleObject4.bin"/><Relationship Id="rId5" Type="http://schemas.openxmlformats.org/officeDocument/2006/relationships/image" Target="../media/image4.e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3.emf"/><Relationship Id="rId3" Type="http://schemas.openxmlformats.org/officeDocument/2006/relationships/image" Target="../media/image8.gif"/><Relationship Id="rId7" Type="http://schemas.openxmlformats.org/officeDocument/2006/relationships/image" Target="../media/image10.emf"/><Relationship Id="rId12" Type="http://schemas.openxmlformats.org/officeDocument/2006/relationships/oleObject" Target="../embeddings/oleObject9.bin"/><Relationship Id="rId2" Type="http://schemas.openxmlformats.org/officeDocument/2006/relationships/image" Target="../media/image7.jpeg"/><Relationship Id="rId1" Type="http://schemas.openxmlformats.org/officeDocument/2006/relationships/slideLayout" Target="../slideLayouts/slideLayout6.xml"/><Relationship Id="rId6" Type="http://schemas.openxmlformats.org/officeDocument/2006/relationships/oleObject" Target="../embeddings/oleObject6.bin"/><Relationship Id="rId11" Type="http://schemas.openxmlformats.org/officeDocument/2006/relationships/image" Target="../media/image12.emf"/><Relationship Id="rId5" Type="http://schemas.openxmlformats.org/officeDocument/2006/relationships/image" Target="../media/image9.e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6.xml"/><Relationship Id="rId1" Type="http://schemas.openxmlformats.org/officeDocument/2006/relationships/control" Target="../activeX/activeX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6.xml"/><Relationship Id="rId1" Type="http://schemas.openxmlformats.org/officeDocument/2006/relationships/control" Target="../activeX/activeX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6.xml"/><Relationship Id="rId1" Type="http://schemas.openxmlformats.org/officeDocument/2006/relationships/control" Target="../activeX/activeX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6.xml"/><Relationship Id="rId1" Type="http://schemas.openxmlformats.org/officeDocument/2006/relationships/control" Target="../activeX/activeX4.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6.emf"/><Relationship Id="rId18" Type="http://schemas.openxmlformats.org/officeDocument/2006/relationships/oleObject" Target="../embeddings/oleObject18.bin"/><Relationship Id="rId3" Type="http://schemas.openxmlformats.org/officeDocument/2006/relationships/image" Target="../media/image21.emf"/><Relationship Id="rId7" Type="http://schemas.openxmlformats.org/officeDocument/2006/relationships/image" Target="../media/image23.emf"/><Relationship Id="rId12" Type="http://schemas.openxmlformats.org/officeDocument/2006/relationships/oleObject" Target="../embeddings/oleObject15.bin"/><Relationship Id="rId17" Type="http://schemas.openxmlformats.org/officeDocument/2006/relationships/image" Target="../media/image28.emf"/><Relationship Id="rId2" Type="http://schemas.openxmlformats.org/officeDocument/2006/relationships/oleObject" Target="../embeddings/oleObject10.bin"/><Relationship Id="rId16" Type="http://schemas.openxmlformats.org/officeDocument/2006/relationships/oleObject" Target="../embeddings/oleObject17.bin"/><Relationship Id="rId1" Type="http://schemas.openxmlformats.org/officeDocument/2006/relationships/slideLayout" Target="../slideLayouts/slideLayout6.xml"/><Relationship Id="rId6" Type="http://schemas.openxmlformats.org/officeDocument/2006/relationships/oleObject" Target="../embeddings/oleObject12.bin"/><Relationship Id="rId11" Type="http://schemas.openxmlformats.org/officeDocument/2006/relationships/image" Target="../media/image25.emf"/><Relationship Id="rId5" Type="http://schemas.openxmlformats.org/officeDocument/2006/relationships/image" Target="../media/image22.emf"/><Relationship Id="rId15" Type="http://schemas.openxmlformats.org/officeDocument/2006/relationships/image" Target="../media/image27.emf"/><Relationship Id="rId10" Type="http://schemas.openxmlformats.org/officeDocument/2006/relationships/oleObject" Target="../embeddings/oleObject14.bin"/><Relationship Id="rId19" Type="http://schemas.openxmlformats.org/officeDocument/2006/relationships/image" Target="../media/image29.emf"/><Relationship Id="rId4" Type="http://schemas.openxmlformats.org/officeDocument/2006/relationships/oleObject" Target="../embeddings/oleObject11.bin"/><Relationship Id="rId9" Type="http://schemas.openxmlformats.org/officeDocument/2006/relationships/image" Target="../media/image24.emf"/><Relationship Id="rId14"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6.emf"/><Relationship Id="rId18" Type="http://schemas.openxmlformats.org/officeDocument/2006/relationships/oleObject" Target="../embeddings/oleObject27.bin"/><Relationship Id="rId3" Type="http://schemas.openxmlformats.org/officeDocument/2006/relationships/image" Target="../media/image21.emf"/><Relationship Id="rId21" Type="http://schemas.openxmlformats.org/officeDocument/2006/relationships/image" Target="../media/image33.emf"/><Relationship Id="rId7" Type="http://schemas.openxmlformats.org/officeDocument/2006/relationships/image" Target="../media/image23.emf"/><Relationship Id="rId12" Type="http://schemas.openxmlformats.org/officeDocument/2006/relationships/oleObject" Target="../embeddings/oleObject24.bin"/><Relationship Id="rId17" Type="http://schemas.openxmlformats.org/officeDocument/2006/relationships/image" Target="../media/image31.emf"/><Relationship Id="rId2" Type="http://schemas.openxmlformats.org/officeDocument/2006/relationships/oleObject" Target="../embeddings/oleObject19.bin"/><Relationship Id="rId16" Type="http://schemas.openxmlformats.org/officeDocument/2006/relationships/oleObject" Target="../embeddings/oleObject26.bin"/><Relationship Id="rId20" Type="http://schemas.openxmlformats.org/officeDocument/2006/relationships/oleObject" Target="../embeddings/oleObject28.bin"/><Relationship Id="rId1" Type="http://schemas.openxmlformats.org/officeDocument/2006/relationships/slideLayout" Target="../slideLayouts/slideLayout6.xml"/><Relationship Id="rId6" Type="http://schemas.openxmlformats.org/officeDocument/2006/relationships/oleObject" Target="../embeddings/oleObject21.bin"/><Relationship Id="rId11" Type="http://schemas.openxmlformats.org/officeDocument/2006/relationships/image" Target="../media/image25.emf"/><Relationship Id="rId5" Type="http://schemas.openxmlformats.org/officeDocument/2006/relationships/image" Target="../media/image22.emf"/><Relationship Id="rId15" Type="http://schemas.openxmlformats.org/officeDocument/2006/relationships/image" Target="../media/image30.emf"/><Relationship Id="rId23" Type="http://schemas.openxmlformats.org/officeDocument/2006/relationships/image" Target="../media/image34.emf"/><Relationship Id="rId10" Type="http://schemas.openxmlformats.org/officeDocument/2006/relationships/oleObject" Target="../embeddings/oleObject23.bin"/><Relationship Id="rId19" Type="http://schemas.openxmlformats.org/officeDocument/2006/relationships/image" Target="../media/image32.emf"/><Relationship Id="rId4" Type="http://schemas.openxmlformats.org/officeDocument/2006/relationships/oleObject" Target="../embeddings/oleObject20.bin"/><Relationship Id="rId9" Type="http://schemas.openxmlformats.org/officeDocument/2006/relationships/image" Target="../media/image24.emf"/><Relationship Id="rId14" Type="http://schemas.openxmlformats.org/officeDocument/2006/relationships/oleObject" Target="../embeddings/oleObject25.bin"/><Relationship Id="rId22" Type="http://schemas.openxmlformats.org/officeDocument/2006/relationships/oleObject" Target="../embeddings/oleObject29.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40.emf"/><Relationship Id="rId18" Type="http://schemas.openxmlformats.org/officeDocument/2006/relationships/oleObject" Target="../embeddings/oleObject38.bin"/><Relationship Id="rId3" Type="http://schemas.openxmlformats.org/officeDocument/2006/relationships/image" Target="../media/image35.emf"/><Relationship Id="rId7" Type="http://schemas.openxmlformats.org/officeDocument/2006/relationships/image" Target="../media/image37.emf"/><Relationship Id="rId12" Type="http://schemas.openxmlformats.org/officeDocument/2006/relationships/oleObject" Target="../embeddings/oleObject35.bin"/><Relationship Id="rId17" Type="http://schemas.openxmlformats.org/officeDocument/2006/relationships/image" Target="../media/image42.emf"/><Relationship Id="rId2" Type="http://schemas.openxmlformats.org/officeDocument/2006/relationships/oleObject" Target="../embeddings/oleObject30.bin"/><Relationship Id="rId16" Type="http://schemas.openxmlformats.org/officeDocument/2006/relationships/oleObject" Target="../embeddings/oleObject37.bin"/><Relationship Id="rId1" Type="http://schemas.openxmlformats.org/officeDocument/2006/relationships/slideLayout" Target="../slideLayouts/slideLayout6.xml"/><Relationship Id="rId6" Type="http://schemas.openxmlformats.org/officeDocument/2006/relationships/oleObject" Target="../embeddings/oleObject32.bin"/><Relationship Id="rId11" Type="http://schemas.openxmlformats.org/officeDocument/2006/relationships/image" Target="../media/image39.emf"/><Relationship Id="rId5" Type="http://schemas.openxmlformats.org/officeDocument/2006/relationships/image" Target="../media/image36.emf"/><Relationship Id="rId15" Type="http://schemas.openxmlformats.org/officeDocument/2006/relationships/image" Target="../media/image41.emf"/><Relationship Id="rId10" Type="http://schemas.openxmlformats.org/officeDocument/2006/relationships/oleObject" Target="../embeddings/oleObject34.bin"/><Relationship Id="rId19" Type="http://schemas.openxmlformats.org/officeDocument/2006/relationships/image" Target="../media/image43.emf"/><Relationship Id="rId4" Type="http://schemas.openxmlformats.org/officeDocument/2006/relationships/oleObject" Target="../embeddings/oleObject31.bin"/><Relationship Id="rId9" Type="http://schemas.openxmlformats.org/officeDocument/2006/relationships/image" Target="../media/image38.emf"/><Relationship Id="rId14" Type="http://schemas.openxmlformats.org/officeDocument/2006/relationships/oleObject" Target="../embeddings/oleObject36.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44.emf"/><Relationship Id="rId7" Type="http://schemas.openxmlformats.org/officeDocument/2006/relationships/image" Target="../media/image46.emf"/><Relationship Id="rId2" Type="http://schemas.openxmlformats.org/officeDocument/2006/relationships/oleObject" Target="../embeddings/oleObject39.bin"/><Relationship Id="rId1" Type="http://schemas.openxmlformats.org/officeDocument/2006/relationships/slideLayout" Target="../slideLayouts/slideLayout6.xml"/><Relationship Id="rId6" Type="http://schemas.openxmlformats.org/officeDocument/2006/relationships/oleObject" Target="../embeddings/oleObject41.bin"/><Relationship Id="rId5" Type="http://schemas.openxmlformats.org/officeDocument/2006/relationships/image" Target="../media/image45.emf"/><Relationship Id="rId4" Type="http://schemas.openxmlformats.org/officeDocument/2006/relationships/oleObject" Target="../embeddings/oleObject40.bin"/><Relationship Id="rId9" Type="http://schemas.openxmlformats.org/officeDocument/2006/relationships/image" Target="../media/image47.emf"/></Relationships>
</file>

<file path=ppt/slides/_rels/slide19.xml.rels><?xml version="1.0" encoding="UTF-8" standalone="yes"?>
<Relationships xmlns="http://schemas.openxmlformats.org/package/2006/relationships"><Relationship Id="rId8" Type="http://schemas.openxmlformats.org/officeDocument/2006/relationships/image" Target="../media/image50.emf"/><Relationship Id="rId13" Type="http://schemas.openxmlformats.org/officeDocument/2006/relationships/oleObject" Target="../embeddings/oleObject48.bin"/><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51.emf"/><Relationship Id="rId2" Type="http://schemas.openxmlformats.org/officeDocument/2006/relationships/audio" Target="../media/audio1.wav"/><Relationship Id="rId1" Type="http://schemas.openxmlformats.org/officeDocument/2006/relationships/slideLayout" Target="../slideLayouts/slideLayout6.xml"/><Relationship Id="rId6" Type="http://schemas.openxmlformats.org/officeDocument/2006/relationships/image" Target="../media/image49.e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46.emf"/><Relationship Id="rId4" Type="http://schemas.openxmlformats.org/officeDocument/2006/relationships/image" Target="../media/image48.emf"/><Relationship Id="rId9" Type="http://schemas.openxmlformats.org/officeDocument/2006/relationships/oleObject" Target="../embeddings/oleObject46.bin"/><Relationship Id="rId14" Type="http://schemas.openxmlformats.org/officeDocument/2006/relationships/image" Target="../media/image52.emf"/></Relationships>
</file>

<file path=ppt/slides/_rels/slide20.xml.rels><?xml version="1.0" encoding="UTF-8" standalone="yes"?>
<Relationships xmlns="http://schemas.openxmlformats.org/package/2006/relationships"><Relationship Id="rId8" Type="http://schemas.openxmlformats.org/officeDocument/2006/relationships/image" Target="../media/image54.emf"/><Relationship Id="rId13"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56.emf"/><Relationship Id="rId17" Type="http://schemas.openxmlformats.org/officeDocument/2006/relationships/image" Target="../media/image58.emf"/><Relationship Id="rId2" Type="http://schemas.openxmlformats.org/officeDocument/2006/relationships/audio" Target="../media/audio1.wav"/><Relationship Id="rId16" Type="http://schemas.openxmlformats.org/officeDocument/2006/relationships/oleObject" Target="../embeddings/oleObject56.bin"/><Relationship Id="rId1" Type="http://schemas.openxmlformats.org/officeDocument/2006/relationships/slideLayout" Target="../slideLayouts/slideLayout6.xml"/><Relationship Id="rId6" Type="http://schemas.openxmlformats.org/officeDocument/2006/relationships/image" Target="../media/image49.e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oleObject" Target="../embeddings/oleObject55.bin"/><Relationship Id="rId10" Type="http://schemas.openxmlformats.org/officeDocument/2006/relationships/image" Target="../media/image55.emf"/><Relationship Id="rId4" Type="http://schemas.openxmlformats.org/officeDocument/2006/relationships/image" Target="../media/image53.emf"/><Relationship Id="rId9" Type="http://schemas.openxmlformats.org/officeDocument/2006/relationships/oleObject" Target="../embeddings/oleObject52.bin"/><Relationship Id="rId14" Type="http://schemas.openxmlformats.org/officeDocument/2006/relationships/image" Target="../media/image57.emf"/></Relationships>
</file>

<file path=ppt/slides/_rels/slide21.xml.rels><?xml version="1.0" encoding="UTF-8" standalone="yes"?>
<Relationships xmlns="http://schemas.openxmlformats.org/package/2006/relationships"><Relationship Id="rId3" Type="http://schemas.openxmlformats.org/officeDocument/2006/relationships/image" Target="../media/image59.emf"/><Relationship Id="rId7" Type="http://schemas.openxmlformats.org/officeDocument/2006/relationships/image" Target="../media/image61.emf"/><Relationship Id="rId2" Type="http://schemas.openxmlformats.org/officeDocument/2006/relationships/oleObject" Target="../embeddings/oleObject57.bin"/><Relationship Id="rId1" Type="http://schemas.openxmlformats.org/officeDocument/2006/relationships/slideLayout" Target="../slideLayouts/slideLayout6.xml"/><Relationship Id="rId6" Type="http://schemas.openxmlformats.org/officeDocument/2006/relationships/oleObject" Target="../embeddings/oleObject59.bin"/><Relationship Id="rId5" Type="http://schemas.openxmlformats.org/officeDocument/2006/relationships/image" Target="../media/image60.emf"/><Relationship Id="rId4" Type="http://schemas.openxmlformats.org/officeDocument/2006/relationships/oleObject" Target="../embeddings/oleObject58.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67.emf"/><Relationship Id="rId3" Type="http://schemas.openxmlformats.org/officeDocument/2006/relationships/image" Target="../media/image62.emf"/><Relationship Id="rId7" Type="http://schemas.openxmlformats.org/officeDocument/2006/relationships/image" Target="../media/image64.emf"/><Relationship Id="rId12" Type="http://schemas.openxmlformats.org/officeDocument/2006/relationships/oleObject" Target="../embeddings/oleObject65.bin"/><Relationship Id="rId17" Type="http://schemas.openxmlformats.org/officeDocument/2006/relationships/image" Target="../media/image69.emf"/><Relationship Id="rId2" Type="http://schemas.openxmlformats.org/officeDocument/2006/relationships/oleObject" Target="../embeddings/oleObject60.bin"/><Relationship Id="rId16" Type="http://schemas.openxmlformats.org/officeDocument/2006/relationships/oleObject" Target="../embeddings/oleObject67.bin"/><Relationship Id="rId1" Type="http://schemas.openxmlformats.org/officeDocument/2006/relationships/slideLayout" Target="../slideLayouts/slideLayout6.xml"/><Relationship Id="rId6" Type="http://schemas.openxmlformats.org/officeDocument/2006/relationships/oleObject" Target="../embeddings/oleObject62.bin"/><Relationship Id="rId11" Type="http://schemas.openxmlformats.org/officeDocument/2006/relationships/image" Target="../media/image66.emf"/><Relationship Id="rId5" Type="http://schemas.openxmlformats.org/officeDocument/2006/relationships/image" Target="../media/image63.emf"/><Relationship Id="rId15" Type="http://schemas.openxmlformats.org/officeDocument/2006/relationships/image" Target="../media/image68.e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65.emf"/><Relationship Id="rId14" Type="http://schemas.openxmlformats.org/officeDocument/2006/relationships/oleObject" Target="../embeddings/oleObject6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embeddings/oleObject68.bin"/><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oleObject" Target="../embeddings/oleObject69.bin"/><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png"/><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27.xml.rels><?xml version="1.0" encoding="UTF-8" standalone="yes"?>
<Relationships xmlns="http://schemas.openxmlformats.org/package/2006/relationships"><Relationship Id="rId3" Type="http://schemas.openxmlformats.org/officeDocument/2006/relationships/image" Target="../media/image75.emf"/><Relationship Id="rId7" Type="http://schemas.openxmlformats.org/officeDocument/2006/relationships/image" Target="../media/image77.emf"/><Relationship Id="rId2" Type="http://schemas.openxmlformats.org/officeDocument/2006/relationships/oleObject" Target="../embeddings/oleObject70.bin"/><Relationship Id="rId1" Type="http://schemas.openxmlformats.org/officeDocument/2006/relationships/slideLayout" Target="../slideLayouts/slideLayout6.xml"/><Relationship Id="rId6" Type="http://schemas.openxmlformats.org/officeDocument/2006/relationships/oleObject" Target="../embeddings/oleObject72.bin"/><Relationship Id="rId5" Type="http://schemas.openxmlformats.org/officeDocument/2006/relationships/image" Target="../media/image76.emf"/><Relationship Id="rId4" Type="http://schemas.openxmlformats.org/officeDocument/2006/relationships/oleObject" Target="../embeddings/oleObject71.bin"/></Relationships>
</file>

<file path=ppt/slides/_rels/slide28.xml.rels><?xml version="1.0" encoding="UTF-8" standalone="yes"?>
<Relationships xmlns="http://schemas.openxmlformats.org/package/2006/relationships"><Relationship Id="rId8" Type="http://schemas.openxmlformats.org/officeDocument/2006/relationships/image" Target="../media/image80.emf"/><Relationship Id="rId13" Type="http://schemas.openxmlformats.org/officeDocument/2006/relationships/oleObject" Target="../embeddings/oleObject78.bin"/><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82.emf"/><Relationship Id="rId2" Type="http://schemas.openxmlformats.org/officeDocument/2006/relationships/audio" Target="../media/audio1.wav"/><Relationship Id="rId16" Type="http://schemas.openxmlformats.org/officeDocument/2006/relationships/image" Target="../media/image84.emf"/><Relationship Id="rId1" Type="http://schemas.openxmlformats.org/officeDocument/2006/relationships/slideLayout" Target="../slideLayouts/slideLayout6.xml"/><Relationship Id="rId6" Type="http://schemas.openxmlformats.org/officeDocument/2006/relationships/image" Target="../media/image79.emf"/><Relationship Id="rId11" Type="http://schemas.openxmlformats.org/officeDocument/2006/relationships/oleObject" Target="../embeddings/oleObject77.bin"/><Relationship Id="rId5" Type="http://schemas.openxmlformats.org/officeDocument/2006/relationships/oleObject" Target="../embeddings/oleObject74.bin"/><Relationship Id="rId15" Type="http://schemas.openxmlformats.org/officeDocument/2006/relationships/oleObject" Target="../embeddings/oleObject79.bin"/><Relationship Id="rId10" Type="http://schemas.openxmlformats.org/officeDocument/2006/relationships/image" Target="../media/image81.emf"/><Relationship Id="rId4" Type="http://schemas.openxmlformats.org/officeDocument/2006/relationships/image" Target="../media/image78.emf"/><Relationship Id="rId9" Type="http://schemas.openxmlformats.org/officeDocument/2006/relationships/oleObject" Target="../embeddings/oleObject76.bin"/><Relationship Id="rId14" Type="http://schemas.openxmlformats.org/officeDocument/2006/relationships/image" Target="../media/image83.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audio" Target="../media/audio1.wav"/><Relationship Id="rId1" Type="http://schemas.openxmlformats.org/officeDocument/2006/relationships/slideLayout" Target="../slideLayouts/slideLayout6.xml"/><Relationship Id="rId6" Type="http://schemas.openxmlformats.org/officeDocument/2006/relationships/image" Target="../media/image86.emf"/><Relationship Id="rId5" Type="http://schemas.openxmlformats.org/officeDocument/2006/relationships/oleObject" Target="../embeddings/oleObject81.bin"/><Relationship Id="rId4" Type="http://schemas.openxmlformats.org/officeDocument/2006/relationships/image" Target="../media/image85.emf"/></Relationships>
</file>

<file path=ppt/slides/_rels/slide30.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oleObject" Target="../embeddings/oleObject82.bin"/><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88.emf"/><Relationship Id="rId7" Type="http://schemas.openxmlformats.org/officeDocument/2006/relationships/image" Target="../media/image90.emf"/><Relationship Id="rId2" Type="http://schemas.openxmlformats.org/officeDocument/2006/relationships/oleObject" Target="../embeddings/oleObject83.bin"/><Relationship Id="rId1" Type="http://schemas.openxmlformats.org/officeDocument/2006/relationships/slideLayout" Target="../slideLayouts/slideLayout6.xml"/><Relationship Id="rId6" Type="http://schemas.openxmlformats.org/officeDocument/2006/relationships/oleObject" Target="../embeddings/oleObject85.bin"/><Relationship Id="rId11" Type="http://schemas.openxmlformats.org/officeDocument/2006/relationships/image" Target="../media/image92.emf"/><Relationship Id="rId5" Type="http://schemas.openxmlformats.org/officeDocument/2006/relationships/image" Target="../media/image89.emf"/><Relationship Id="rId10" Type="http://schemas.openxmlformats.org/officeDocument/2006/relationships/oleObject" Target="../embeddings/oleObject87.bin"/><Relationship Id="rId4" Type="http://schemas.openxmlformats.org/officeDocument/2006/relationships/oleObject" Target="../embeddings/oleObject84.bin"/><Relationship Id="rId9" Type="http://schemas.openxmlformats.org/officeDocument/2006/relationships/image" Target="../media/image91.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image" Target="../media/image93.emf"/><Relationship Id="rId7" Type="http://schemas.openxmlformats.org/officeDocument/2006/relationships/image" Target="../media/image95.emf"/><Relationship Id="rId2" Type="http://schemas.openxmlformats.org/officeDocument/2006/relationships/oleObject" Target="../embeddings/oleObject88.bin"/><Relationship Id="rId1" Type="http://schemas.openxmlformats.org/officeDocument/2006/relationships/slideLayout" Target="../slideLayouts/slideLayout6.xml"/><Relationship Id="rId6" Type="http://schemas.openxmlformats.org/officeDocument/2006/relationships/oleObject" Target="../embeddings/oleObject90.bin"/><Relationship Id="rId11" Type="http://schemas.openxmlformats.org/officeDocument/2006/relationships/image" Target="../media/image97.emf"/><Relationship Id="rId5" Type="http://schemas.openxmlformats.org/officeDocument/2006/relationships/image" Target="../media/image94.emf"/><Relationship Id="rId10" Type="http://schemas.openxmlformats.org/officeDocument/2006/relationships/oleObject" Target="../embeddings/oleObject92.bin"/><Relationship Id="rId4" Type="http://schemas.openxmlformats.org/officeDocument/2006/relationships/oleObject" Target="../embeddings/oleObject89.bin"/><Relationship Id="rId9" Type="http://schemas.openxmlformats.org/officeDocument/2006/relationships/image" Target="../media/image96.emf"/></Relationships>
</file>

<file path=ppt/slides/_rels/slide35.xml.rels><?xml version="1.0" encoding="UTF-8" standalone="yes"?>
<Relationships xmlns="http://schemas.openxmlformats.org/package/2006/relationships"><Relationship Id="rId3" Type="http://schemas.openxmlformats.org/officeDocument/2006/relationships/image" Target="../media/image98.emf"/><Relationship Id="rId7" Type="http://schemas.openxmlformats.org/officeDocument/2006/relationships/image" Target="../media/image100.emf"/><Relationship Id="rId2" Type="http://schemas.openxmlformats.org/officeDocument/2006/relationships/oleObject" Target="../embeddings/oleObject93.bin"/><Relationship Id="rId1" Type="http://schemas.openxmlformats.org/officeDocument/2006/relationships/slideLayout" Target="../slideLayouts/slideLayout6.xml"/><Relationship Id="rId6" Type="http://schemas.openxmlformats.org/officeDocument/2006/relationships/oleObject" Target="../embeddings/oleObject95.bin"/><Relationship Id="rId5" Type="http://schemas.openxmlformats.org/officeDocument/2006/relationships/image" Target="../media/image99.emf"/><Relationship Id="rId4" Type="http://schemas.openxmlformats.org/officeDocument/2006/relationships/oleObject" Target="../embeddings/oleObject94.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06.emf"/><Relationship Id="rId3" Type="http://schemas.openxmlformats.org/officeDocument/2006/relationships/image" Target="../media/image101.emf"/><Relationship Id="rId7" Type="http://schemas.openxmlformats.org/officeDocument/2006/relationships/image" Target="../media/image103.emf"/><Relationship Id="rId12" Type="http://schemas.openxmlformats.org/officeDocument/2006/relationships/oleObject" Target="../embeddings/oleObject101.bin"/><Relationship Id="rId17" Type="http://schemas.openxmlformats.org/officeDocument/2006/relationships/image" Target="../media/image108.emf"/><Relationship Id="rId2" Type="http://schemas.openxmlformats.org/officeDocument/2006/relationships/oleObject" Target="../embeddings/oleObject96.bin"/><Relationship Id="rId16" Type="http://schemas.openxmlformats.org/officeDocument/2006/relationships/oleObject" Target="../embeddings/oleObject103.bin"/><Relationship Id="rId1" Type="http://schemas.openxmlformats.org/officeDocument/2006/relationships/slideLayout" Target="../slideLayouts/slideLayout6.xml"/><Relationship Id="rId6" Type="http://schemas.openxmlformats.org/officeDocument/2006/relationships/oleObject" Target="../embeddings/oleObject98.bin"/><Relationship Id="rId11" Type="http://schemas.openxmlformats.org/officeDocument/2006/relationships/image" Target="../media/image105.emf"/><Relationship Id="rId5" Type="http://schemas.openxmlformats.org/officeDocument/2006/relationships/image" Target="../media/image102.emf"/><Relationship Id="rId15" Type="http://schemas.openxmlformats.org/officeDocument/2006/relationships/image" Target="../media/image107.emf"/><Relationship Id="rId10" Type="http://schemas.openxmlformats.org/officeDocument/2006/relationships/oleObject" Target="../embeddings/oleObject100.bin"/><Relationship Id="rId4" Type="http://schemas.openxmlformats.org/officeDocument/2006/relationships/oleObject" Target="../embeddings/oleObject97.bin"/><Relationship Id="rId9" Type="http://schemas.openxmlformats.org/officeDocument/2006/relationships/image" Target="../media/image104.emf"/><Relationship Id="rId14" Type="http://schemas.openxmlformats.org/officeDocument/2006/relationships/oleObject" Target="../embeddings/oleObject102.bin"/></Relationships>
</file>

<file path=ppt/slides/_rels/slide37.xml.rels><?xml version="1.0" encoding="UTF-8" standalone="yes"?>
<Relationships xmlns="http://schemas.openxmlformats.org/package/2006/relationships"><Relationship Id="rId3" Type="http://schemas.openxmlformats.org/officeDocument/2006/relationships/image" Target="../media/image109.emf"/><Relationship Id="rId7" Type="http://schemas.openxmlformats.org/officeDocument/2006/relationships/image" Target="../media/image111.emf"/><Relationship Id="rId2" Type="http://schemas.openxmlformats.org/officeDocument/2006/relationships/oleObject" Target="../embeddings/oleObject104.bin"/><Relationship Id="rId1" Type="http://schemas.openxmlformats.org/officeDocument/2006/relationships/slideLayout" Target="../slideLayouts/slideLayout6.xml"/><Relationship Id="rId6" Type="http://schemas.openxmlformats.org/officeDocument/2006/relationships/oleObject" Target="../embeddings/oleObject106.bin"/><Relationship Id="rId5" Type="http://schemas.openxmlformats.org/officeDocument/2006/relationships/image" Target="../media/image110.emf"/><Relationship Id="rId4" Type="http://schemas.openxmlformats.org/officeDocument/2006/relationships/oleObject" Target="../embeddings/oleObject105.bin"/></Relationships>
</file>

<file path=ppt/slides/_rels/slide38.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oleObject" Target="../embeddings/oleObject107.bin"/><Relationship Id="rId1" Type="http://schemas.openxmlformats.org/officeDocument/2006/relationships/slideLayout" Target="../slideLayouts/slideLayout6.xml"/><Relationship Id="rId5" Type="http://schemas.openxmlformats.org/officeDocument/2006/relationships/image" Target="../media/image113.emf"/><Relationship Id="rId4" Type="http://schemas.openxmlformats.org/officeDocument/2006/relationships/oleObject" Target="../embeddings/oleObject10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12.bin"/><Relationship Id="rId3" Type="http://schemas.openxmlformats.org/officeDocument/2006/relationships/image" Target="../media/image114.emf"/><Relationship Id="rId7" Type="http://schemas.openxmlformats.org/officeDocument/2006/relationships/image" Target="../media/image116.emf"/><Relationship Id="rId2" Type="http://schemas.openxmlformats.org/officeDocument/2006/relationships/oleObject" Target="../embeddings/oleObject109.bin"/><Relationship Id="rId1" Type="http://schemas.openxmlformats.org/officeDocument/2006/relationships/slideLayout" Target="../slideLayouts/slideLayout6.xml"/><Relationship Id="rId6" Type="http://schemas.openxmlformats.org/officeDocument/2006/relationships/oleObject" Target="../embeddings/oleObject111.bin"/><Relationship Id="rId5" Type="http://schemas.openxmlformats.org/officeDocument/2006/relationships/image" Target="../media/image115.emf"/><Relationship Id="rId4" Type="http://schemas.openxmlformats.org/officeDocument/2006/relationships/oleObject" Target="../embeddings/oleObject110.bin"/><Relationship Id="rId9" Type="http://schemas.openxmlformats.org/officeDocument/2006/relationships/image" Target="../media/image117.e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16.bin"/><Relationship Id="rId3" Type="http://schemas.openxmlformats.org/officeDocument/2006/relationships/image" Target="../media/image118.emf"/><Relationship Id="rId7" Type="http://schemas.openxmlformats.org/officeDocument/2006/relationships/image" Target="../media/image120.emf"/><Relationship Id="rId2" Type="http://schemas.openxmlformats.org/officeDocument/2006/relationships/oleObject" Target="../embeddings/oleObject113.bin"/><Relationship Id="rId1" Type="http://schemas.openxmlformats.org/officeDocument/2006/relationships/slideLayout" Target="../slideLayouts/slideLayout6.xml"/><Relationship Id="rId6" Type="http://schemas.openxmlformats.org/officeDocument/2006/relationships/oleObject" Target="../embeddings/oleObject115.bin"/><Relationship Id="rId5" Type="http://schemas.openxmlformats.org/officeDocument/2006/relationships/image" Target="../media/image119.emf"/><Relationship Id="rId4" Type="http://schemas.openxmlformats.org/officeDocument/2006/relationships/oleObject" Target="../embeddings/oleObject114.bin"/><Relationship Id="rId9" Type="http://schemas.openxmlformats.org/officeDocument/2006/relationships/image" Target="../media/image121.emf"/></Relationships>
</file>

<file path=ppt/slides/_rels/slide42.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oleObject" Target="../embeddings/oleObject117.bin"/><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audio" Target="../media/audio1.wav"/><Relationship Id="rId1" Type="http://schemas.openxmlformats.org/officeDocument/2006/relationships/slideLayout" Target="../slideLayouts/slideLayout6.xml"/><Relationship Id="rId6" Type="http://schemas.openxmlformats.org/officeDocument/2006/relationships/image" Target="../media/image124.emf"/><Relationship Id="rId5" Type="http://schemas.openxmlformats.org/officeDocument/2006/relationships/oleObject" Target="../embeddings/oleObject119.bin"/><Relationship Id="rId4" Type="http://schemas.openxmlformats.org/officeDocument/2006/relationships/image" Target="../media/image123.emf"/></Relationships>
</file>

<file path=ppt/slides/_rels/slide44.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oleObject" Target="../embeddings/oleObject120.bin"/><Relationship Id="rId1" Type="http://schemas.openxmlformats.org/officeDocument/2006/relationships/slideLayout" Target="../slideLayouts/slideLayout6.xml"/><Relationship Id="rId5" Type="http://schemas.openxmlformats.org/officeDocument/2006/relationships/image" Target="../media/image126.emf"/><Relationship Id="rId4" Type="http://schemas.openxmlformats.org/officeDocument/2006/relationships/oleObject" Target="../embeddings/oleObject121.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25.bin"/><Relationship Id="rId3" Type="http://schemas.openxmlformats.org/officeDocument/2006/relationships/image" Target="../media/image127.emf"/><Relationship Id="rId7" Type="http://schemas.openxmlformats.org/officeDocument/2006/relationships/image" Target="../media/image129.emf"/><Relationship Id="rId2" Type="http://schemas.openxmlformats.org/officeDocument/2006/relationships/oleObject" Target="../embeddings/oleObject122.bin"/><Relationship Id="rId1" Type="http://schemas.openxmlformats.org/officeDocument/2006/relationships/slideLayout" Target="../slideLayouts/slideLayout6.xml"/><Relationship Id="rId6" Type="http://schemas.openxmlformats.org/officeDocument/2006/relationships/oleObject" Target="../embeddings/oleObject124.bin"/><Relationship Id="rId5" Type="http://schemas.openxmlformats.org/officeDocument/2006/relationships/image" Target="../media/image128.emf"/><Relationship Id="rId4" Type="http://schemas.openxmlformats.org/officeDocument/2006/relationships/oleObject" Target="../embeddings/oleObject123.bin"/><Relationship Id="rId9" Type="http://schemas.openxmlformats.org/officeDocument/2006/relationships/image" Target="../media/image130.emf"/></Relationships>
</file>

<file path=ppt/slides/_rels/slide46.xml.rels><?xml version="1.0" encoding="UTF-8" standalone="yes"?>
<Relationships xmlns="http://schemas.openxmlformats.org/package/2006/relationships"><Relationship Id="rId3" Type="http://schemas.openxmlformats.org/officeDocument/2006/relationships/image" Target="../media/image131.emf"/><Relationship Id="rId2" Type="http://schemas.openxmlformats.org/officeDocument/2006/relationships/oleObject" Target="../embeddings/oleObject126.bin"/><Relationship Id="rId1" Type="http://schemas.openxmlformats.org/officeDocument/2006/relationships/slideLayout" Target="../slideLayouts/slideLayout6.xml"/><Relationship Id="rId5" Type="http://schemas.openxmlformats.org/officeDocument/2006/relationships/image" Target="../media/image132.emf"/><Relationship Id="rId4" Type="http://schemas.openxmlformats.org/officeDocument/2006/relationships/oleObject" Target="../embeddings/oleObject127.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38.emf"/><Relationship Id="rId3" Type="http://schemas.openxmlformats.org/officeDocument/2006/relationships/image" Target="../media/image133.emf"/><Relationship Id="rId7" Type="http://schemas.openxmlformats.org/officeDocument/2006/relationships/image" Target="../media/image135.emf"/><Relationship Id="rId12" Type="http://schemas.openxmlformats.org/officeDocument/2006/relationships/oleObject" Target="../embeddings/oleObject133.bin"/><Relationship Id="rId2" Type="http://schemas.openxmlformats.org/officeDocument/2006/relationships/oleObject" Target="../embeddings/oleObject128.bin"/><Relationship Id="rId1" Type="http://schemas.openxmlformats.org/officeDocument/2006/relationships/slideLayout" Target="../slideLayouts/slideLayout6.xml"/><Relationship Id="rId6" Type="http://schemas.openxmlformats.org/officeDocument/2006/relationships/oleObject" Target="../embeddings/oleObject130.bin"/><Relationship Id="rId11" Type="http://schemas.openxmlformats.org/officeDocument/2006/relationships/image" Target="../media/image137.emf"/><Relationship Id="rId5" Type="http://schemas.openxmlformats.org/officeDocument/2006/relationships/image" Target="../media/image134.emf"/><Relationship Id="rId10" Type="http://schemas.openxmlformats.org/officeDocument/2006/relationships/oleObject" Target="../embeddings/oleObject132.bin"/><Relationship Id="rId4" Type="http://schemas.openxmlformats.org/officeDocument/2006/relationships/oleObject" Target="../embeddings/oleObject129.bin"/><Relationship Id="rId9" Type="http://schemas.openxmlformats.org/officeDocument/2006/relationships/image" Target="../media/image136.emf"/></Relationships>
</file>

<file path=ppt/slides/_rels/slide4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Layout" Target="../slideLayouts/slideLayout6.xml"/><Relationship Id="rId1" Type="http://schemas.openxmlformats.org/officeDocument/2006/relationships/control" Target="../activeX/activeX5.xml"/></Relationships>
</file>

<file path=ppt/slides/_rels/slide4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42.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143.emf"/><Relationship Id="rId7" Type="http://schemas.openxmlformats.org/officeDocument/2006/relationships/image" Target="../media/image145.emf"/><Relationship Id="rId2" Type="http://schemas.openxmlformats.org/officeDocument/2006/relationships/oleObject" Target="../embeddings/oleObject134.bin"/><Relationship Id="rId1" Type="http://schemas.openxmlformats.org/officeDocument/2006/relationships/slideLayout" Target="../slideLayouts/slideLayout6.xml"/><Relationship Id="rId6" Type="http://schemas.openxmlformats.org/officeDocument/2006/relationships/oleObject" Target="../embeddings/oleObject136.bin"/><Relationship Id="rId5" Type="http://schemas.openxmlformats.org/officeDocument/2006/relationships/image" Target="../media/image144.emf"/><Relationship Id="rId4" Type="http://schemas.openxmlformats.org/officeDocument/2006/relationships/oleObject" Target="../embeddings/oleObject135.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40.bin"/><Relationship Id="rId3" Type="http://schemas.openxmlformats.org/officeDocument/2006/relationships/image" Target="../media/image146.emf"/><Relationship Id="rId7" Type="http://schemas.openxmlformats.org/officeDocument/2006/relationships/image" Target="../media/image148.emf"/><Relationship Id="rId2" Type="http://schemas.openxmlformats.org/officeDocument/2006/relationships/oleObject" Target="../embeddings/oleObject137.bin"/><Relationship Id="rId1" Type="http://schemas.openxmlformats.org/officeDocument/2006/relationships/slideLayout" Target="../slideLayouts/slideLayout6.xml"/><Relationship Id="rId6" Type="http://schemas.openxmlformats.org/officeDocument/2006/relationships/oleObject" Target="../embeddings/oleObject139.bin"/><Relationship Id="rId11" Type="http://schemas.openxmlformats.org/officeDocument/2006/relationships/image" Target="../media/image150.emf"/><Relationship Id="rId5" Type="http://schemas.openxmlformats.org/officeDocument/2006/relationships/image" Target="../media/image147.emf"/><Relationship Id="rId10" Type="http://schemas.openxmlformats.org/officeDocument/2006/relationships/oleObject" Target="../embeddings/oleObject141.bin"/><Relationship Id="rId4" Type="http://schemas.openxmlformats.org/officeDocument/2006/relationships/oleObject" Target="../embeddings/oleObject138.bin"/><Relationship Id="rId9" Type="http://schemas.openxmlformats.org/officeDocument/2006/relationships/image" Target="../media/image149.e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45.bin"/><Relationship Id="rId3" Type="http://schemas.openxmlformats.org/officeDocument/2006/relationships/image" Target="../media/image151.emf"/><Relationship Id="rId7" Type="http://schemas.openxmlformats.org/officeDocument/2006/relationships/image" Target="../media/image153.emf"/><Relationship Id="rId2" Type="http://schemas.openxmlformats.org/officeDocument/2006/relationships/oleObject" Target="../embeddings/oleObject142.bin"/><Relationship Id="rId1" Type="http://schemas.openxmlformats.org/officeDocument/2006/relationships/slideLayout" Target="../slideLayouts/slideLayout6.xml"/><Relationship Id="rId6" Type="http://schemas.openxmlformats.org/officeDocument/2006/relationships/oleObject" Target="../embeddings/oleObject144.bin"/><Relationship Id="rId11" Type="http://schemas.openxmlformats.org/officeDocument/2006/relationships/image" Target="../media/image155.emf"/><Relationship Id="rId5" Type="http://schemas.openxmlformats.org/officeDocument/2006/relationships/image" Target="../media/image152.emf"/><Relationship Id="rId10" Type="http://schemas.openxmlformats.org/officeDocument/2006/relationships/oleObject" Target="../embeddings/oleObject146.bin"/><Relationship Id="rId4" Type="http://schemas.openxmlformats.org/officeDocument/2006/relationships/oleObject" Target="../embeddings/oleObject143.bin"/><Relationship Id="rId9" Type="http://schemas.openxmlformats.org/officeDocument/2006/relationships/image" Target="../media/image154.e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50.bin"/><Relationship Id="rId3" Type="http://schemas.openxmlformats.org/officeDocument/2006/relationships/image" Target="../media/image156.emf"/><Relationship Id="rId7" Type="http://schemas.openxmlformats.org/officeDocument/2006/relationships/image" Target="../media/image158.emf"/><Relationship Id="rId2" Type="http://schemas.openxmlformats.org/officeDocument/2006/relationships/oleObject" Target="../embeddings/oleObject147.bin"/><Relationship Id="rId1" Type="http://schemas.openxmlformats.org/officeDocument/2006/relationships/slideLayout" Target="../slideLayouts/slideLayout6.xml"/><Relationship Id="rId6" Type="http://schemas.openxmlformats.org/officeDocument/2006/relationships/oleObject" Target="../embeddings/oleObject149.bin"/><Relationship Id="rId11" Type="http://schemas.openxmlformats.org/officeDocument/2006/relationships/image" Target="../media/image160.emf"/><Relationship Id="rId5" Type="http://schemas.openxmlformats.org/officeDocument/2006/relationships/image" Target="../media/image157.emf"/><Relationship Id="rId10" Type="http://schemas.openxmlformats.org/officeDocument/2006/relationships/oleObject" Target="../embeddings/oleObject151.bin"/><Relationship Id="rId4" Type="http://schemas.openxmlformats.org/officeDocument/2006/relationships/oleObject" Target="../embeddings/oleObject148.bin"/><Relationship Id="rId9" Type="http://schemas.openxmlformats.org/officeDocument/2006/relationships/image" Target="../media/image159.e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55.bin"/><Relationship Id="rId3" Type="http://schemas.openxmlformats.org/officeDocument/2006/relationships/image" Target="../media/image161.emf"/><Relationship Id="rId7" Type="http://schemas.openxmlformats.org/officeDocument/2006/relationships/image" Target="../media/image163.emf"/><Relationship Id="rId2" Type="http://schemas.openxmlformats.org/officeDocument/2006/relationships/oleObject" Target="../embeddings/oleObject152.bin"/><Relationship Id="rId1" Type="http://schemas.openxmlformats.org/officeDocument/2006/relationships/slideLayout" Target="../slideLayouts/slideLayout6.xml"/><Relationship Id="rId6" Type="http://schemas.openxmlformats.org/officeDocument/2006/relationships/oleObject" Target="../embeddings/oleObject154.bin"/><Relationship Id="rId5" Type="http://schemas.openxmlformats.org/officeDocument/2006/relationships/image" Target="../media/image162.emf"/><Relationship Id="rId4" Type="http://schemas.openxmlformats.org/officeDocument/2006/relationships/oleObject" Target="../embeddings/oleObject153.bin"/><Relationship Id="rId9" Type="http://schemas.openxmlformats.org/officeDocument/2006/relationships/image" Target="../media/image164.emf"/></Relationships>
</file>

<file path=ppt/slides/_rels/slide59.xml.rels><?xml version="1.0" encoding="UTF-8" standalone="yes"?>
<Relationships xmlns="http://schemas.openxmlformats.org/package/2006/relationships"><Relationship Id="rId3" Type="http://schemas.openxmlformats.org/officeDocument/2006/relationships/image" Target="../media/image165.emf"/><Relationship Id="rId2" Type="http://schemas.openxmlformats.org/officeDocument/2006/relationships/oleObject" Target="../embeddings/oleObject156.bin"/><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166.emf"/><Relationship Id="rId2" Type="http://schemas.openxmlformats.org/officeDocument/2006/relationships/oleObject" Target="../embeddings/oleObject157.bin"/><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image" Target="../media/image167.jpeg"/><Relationship Id="rId1" Type="http://schemas.openxmlformats.org/officeDocument/2006/relationships/slideLayout" Target="../slideLayouts/slideLayout6.xml"/><Relationship Id="rId4" Type="http://schemas.openxmlformats.org/officeDocument/2006/relationships/image" Target="../media/image168.e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62.bin"/><Relationship Id="rId3" Type="http://schemas.openxmlformats.org/officeDocument/2006/relationships/image" Target="../media/image168.emf"/><Relationship Id="rId7" Type="http://schemas.openxmlformats.org/officeDocument/2006/relationships/image" Target="../media/image170.emf"/><Relationship Id="rId2" Type="http://schemas.openxmlformats.org/officeDocument/2006/relationships/oleObject" Target="../embeddings/oleObject159.bin"/><Relationship Id="rId1" Type="http://schemas.openxmlformats.org/officeDocument/2006/relationships/slideLayout" Target="../slideLayouts/slideLayout6.xml"/><Relationship Id="rId6" Type="http://schemas.openxmlformats.org/officeDocument/2006/relationships/oleObject" Target="../embeddings/oleObject161.bin"/><Relationship Id="rId11" Type="http://schemas.openxmlformats.org/officeDocument/2006/relationships/image" Target="../media/image172.emf"/><Relationship Id="rId5" Type="http://schemas.openxmlformats.org/officeDocument/2006/relationships/image" Target="../media/image169.emf"/><Relationship Id="rId10" Type="http://schemas.openxmlformats.org/officeDocument/2006/relationships/oleObject" Target="../embeddings/oleObject163.bin"/><Relationship Id="rId4" Type="http://schemas.openxmlformats.org/officeDocument/2006/relationships/oleObject" Target="../embeddings/oleObject160.bin"/><Relationship Id="rId9" Type="http://schemas.openxmlformats.org/officeDocument/2006/relationships/image" Target="../media/image171.e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67.bin"/><Relationship Id="rId3" Type="http://schemas.openxmlformats.org/officeDocument/2006/relationships/image" Target="../media/image173.emf"/><Relationship Id="rId7" Type="http://schemas.openxmlformats.org/officeDocument/2006/relationships/image" Target="../media/image171.emf"/><Relationship Id="rId2" Type="http://schemas.openxmlformats.org/officeDocument/2006/relationships/oleObject" Target="../embeddings/oleObject164.bin"/><Relationship Id="rId1" Type="http://schemas.openxmlformats.org/officeDocument/2006/relationships/slideLayout" Target="../slideLayouts/slideLayout6.xml"/><Relationship Id="rId6" Type="http://schemas.openxmlformats.org/officeDocument/2006/relationships/oleObject" Target="../embeddings/oleObject166.bin"/><Relationship Id="rId11" Type="http://schemas.openxmlformats.org/officeDocument/2006/relationships/image" Target="../media/image176.emf"/><Relationship Id="rId5" Type="http://schemas.openxmlformats.org/officeDocument/2006/relationships/image" Target="../media/image174.emf"/><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175.emf"/></Relationships>
</file>

<file path=ppt/slides/_rels/slide65.xml.rels><?xml version="1.0" encoding="UTF-8" standalone="yes"?>
<Relationships xmlns="http://schemas.openxmlformats.org/package/2006/relationships"><Relationship Id="rId2" Type="http://schemas.openxmlformats.org/officeDocument/2006/relationships/image" Target="../media/image177.jpe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78.emf"/><Relationship Id="rId2" Type="http://schemas.openxmlformats.org/officeDocument/2006/relationships/oleObject" Target="../embeddings/oleObject169.bin"/><Relationship Id="rId1" Type="http://schemas.openxmlformats.org/officeDocument/2006/relationships/slideLayout" Target="../slideLayouts/slideLayout6.xml"/><Relationship Id="rId5" Type="http://schemas.openxmlformats.org/officeDocument/2006/relationships/image" Target="../media/image180.png"/><Relationship Id="rId4" Type="http://schemas.openxmlformats.org/officeDocument/2006/relationships/image" Target="../media/image179.gif"/></Relationships>
</file>

<file path=ppt/slides/_rels/slide67.xml.rels><?xml version="1.0" encoding="UTF-8" standalone="yes"?>
<Relationships xmlns="http://schemas.openxmlformats.org/package/2006/relationships"><Relationship Id="rId8" Type="http://schemas.openxmlformats.org/officeDocument/2006/relationships/image" Target="../media/image183.emf"/><Relationship Id="rId3" Type="http://schemas.openxmlformats.org/officeDocument/2006/relationships/oleObject" Target="../embeddings/oleObject170.bin"/><Relationship Id="rId7" Type="http://schemas.openxmlformats.org/officeDocument/2006/relationships/oleObject" Target="../embeddings/oleObject172.bin"/><Relationship Id="rId2" Type="http://schemas.openxmlformats.org/officeDocument/2006/relationships/slideLayout" Target="../slideLayouts/slideLayout6.xml"/><Relationship Id="rId1" Type="http://schemas.openxmlformats.org/officeDocument/2006/relationships/control" Target="../activeX/activeX6.xml"/><Relationship Id="rId6" Type="http://schemas.openxmlformats.org/officeDocument/2006/relationships/image" Target="../media/image182.emf"/><Relationship Id="rId11" Type="http://schemas.openxmlformats.org/officeDocument/2006/relationships/image" Target="../media/image185.png"/><Relationship Id="rId5" Type="http://schemas.openxmlformats.org/officeDocument/2006/relationships/oleObject" Target="../embeddings/oleObject171.bin"/><Relationship Id="rId10" Type="http://schemas.openxmlformats.org/officeDocument/2006/relationships/image" Target="../media/image184.emf"/><Relationship Id="rId4" Type="http://schemas.openxmlformats.org/officeDocument/2006/relationships/image" Target="../media/image181.emf"/><Relationship Id="rId9" Type="http://schemas.openxmlformats.org/officeDocument/2006/relationships/oleObject" Target="../embeddings/oleObject173.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77.bin"/><Relationship Id="rId13" Type="http://schemas.openxmlformats.org/officeDocument/2006/relationships/image" Target="../media/image191.emf"/><Relationship Id="rId3" Type="http://schemas.openxmlformats.org/officeDocument/2006/relationships/image" Target="../media/image186.emf"/><Relationship Id="rId7" Type="http://schemas.openxmlformats.org/officeDocument/2006/relationships/image" Target="../media/image188.emf"/><Relationship Id="rId12" Type="http://schemas.openxmlformats.org/officeDocument/2006/relationships/oleObject" Target="../embeddings/oleObject179.bin"/><Relationship Id="rId2" Type="http://schemas.openxmlformats.org/officeDocument/2006/relationships/oleObject" Target="../embeddings/oleObject174.bin"/><Relationship Id="rId1" Type="http://schemas.openxmlformats.org/officeDocument/2006/relationships/slideLayout" Target="../slideLayouts/slideLayout6.xml"/><Relationship Id="rId6" Type="http://schemas.openxmlformats.org/officeDocument/2006/relationships/oleObject" Target="../embeddings/oleObject176.bin"/><Relationship Id="rId11" Type="http://schemas.openxmlformats.org/officeDocument/2006/relationships/image" Target="../media/image190.emf"/><Relationship Id="rId5" Type="http://schemas.openxmlformats.org/officeDocument/2006/relationships/image" Target="../media/image187.emf"/><Relationship Id="rId10" Type="http://schemas.openxmlformats.org/officeDocument/2006/relationships/oleObject" Target="../embeddings/oleObject178.bin"/><Relationship Id="rId4" Type="http://schemas.openxmlformats.org/officeDocument/2006/relationships/oleObject" Target="../embeddings/oleObject175.bin"/><Relationship Id="rId9" Type="http://schemas.openxmlformats.org/officeDocument/2006/relationships/image" Target="../media/image189.e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83.bin"/><Relationship Id="rId3" Type="http://schemas.openxmlformats.org/officeDocument/2006/relationships/image" Target="../media/image192.emf"/><Relationship Id="rId7" Type="http://schemas.openxmlformats.org/officeDocument/2006/relationships/image" Target="../media/image194.emf"/><Relationship Id="rId2" Type="http://schemas.openxmlformats.org/officeDocument/2006/relationships/oleObject" Target="../embeddings/oleObject180.bin"/><Relationship Id="rId1" Type="http://schemas.openxmlformats.org/officeDocument/2006/relationships/slideLayout" Target="../slideLayouts/slideLayout6.xml"/><Relationship Id="rId6" Type="http://schemas.openxmlformats.org/officeDocument/2006/relationships/oleObject" Target="../embeddings/oleObject182.bin"/><Relationship Id="rId11" Type="http://schemas.openxmlformats.org/officeDocument/2006/relationships/image" Target="../media/image196.emf"/><Relationship Id="rId5" Type="http://schemas.openxmlformats.org/officeDocument/2006/relationships/image" Target="../media/image193.emf"/><Relationship Id="rId10" Type="http://schemas.openxmlformats.org/officeDocument/2006/relationships/oleObject" Target="../embeddings/oleObject184.bin"/><Relationship Id="rId4" Type="http://schemas.openxmlformats.org/officeDocument/2006/relationships/oleObject" Target="../embeddings/oleObject181.bin"/><Relationship Id="rId9" Type="http://schemas.openxmlformats.org/officeDocument/2006/relationships/image" Target="../media/image195.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197.emf"/><Relationship Id="rId7" Type="http://schemas.openxmlformats.org/officeDocument/2006/relationships/image" Target="../media/image199.emf"/><Relationship Id="rId2" Type="http://schemas.openxmlformats.org/officeDocument/2006/relationships/oleObject" Target="../embeddings/oleObject185.bin"/><Relationship Id="rId1" Type="http://schemas.openxmlformats.org/officeDocument/2006/relationships/slideLayout" Target="../slideLayouts/slideLayout6.xml"/><Relationship Id="rId6" Type="http://schemas.openxmlformats.org/officeDocument/2006/relationships/oleObject" Target="../embeddings/oleObject187.bin"/><Relationship Id="rId5" Type="http://schemas.openxmlformats.org/officeDocument/2006/relationships/image" Target="../media/image198.emf"/><Relationship Id="rId4" Type="http://schemas.openxmlformats.org/officeDocument/2006/relationships/oleObject" Target="../embeddings/oleObject186.bin"/></Relationships>
</file>

<file path=ppt/slides/_rels/slide72.xml.rels><?xml version="1.0" encoding="UTF-8" standalone="yes"?>
<Relationships xmlns="http://schemas.openxmlformats.org/package/2006/relationships"><Relationship Id="rId3" Type="http://schemas.openxmlformats.org/officeDocument/2006/relationships/image" Target="../media/image200.emf"/><Relationship Id="rId2" Type="http://schemas.openxmlformats.org/officeDocument/2006/relationships/oleObject" Target="../embeddings/oleObject188.bin"/><Relationship Id="rId1" Type="http://schemas.openxmlformats.org/officeDocument/2006/relationships/slideLayout" Target="../slideLayouts/slideLayout6.xml"/><Relationship Id="rId5" Type="http://schemas.openxmlformats.org/officeDocument/2006/relationships/image" Target="../media/image201.emf"/><Relationship Id="rId4" Type="http://schemas.openxmlformats.org/officeDocument/2006/relationships/oleObject" Target="../embeddings/oleObject189.bin"/></Relationships>
</file>

<file path=ppt/slides/_rels/slide73.xml.rels><?xml version="1.0" encoding="UTF-8" standalone="yes"?>
<Relationships xmlns="http://schemas.openxmlformats.org/package/2006/relationships"><Relationship Id="rId3" Type="http://schemas.openxmlformats.org/officeDocument/2006/relationships/image" Target="../media/image202.emf"/><Relationship Id="rId2" Type="http://schemas.openxmlformats.org/officeDocument/2006/relationships/oleObject" Target="../embeddings/oleObject190.bin"/><Relationship Id="rId1" Type="http://schemas.openxmlformats.org/officeDocument/2006/relationships/slideLayout" Target="../slideLayouts/slideLayout6.xml"/><Relationship Id="rId5" Type="http://schemas.openxmlformats.org/officeDocument/2006/relationships/image" Target="../media/image203.emf"/><Relationship Id="rId4" Type="http://schemas.openxmlformats.org/officeDocument/2006/relationships/oleObject" Target="../embeddings/oleObject191.bin"/></Relationships>
</file>

<file path=ppt/slides/_rels/slide74.xml.rels><?xml version="1.0" encoding="UTF-8" standalone="yes"?>
<Relationships xmlns="http://schemas.openxmlformats.org/package/2006/relationships"><Relationship Id="rId3" Type="http://schemas.openxmlformats.org/officeDocument/2006/relationships/image" Target="../media/image204.emf"/><Relationship Id="rId2" Type="http://schemas.openxmlformats.org/officeDocument/2006/relationships/oleObject" Target="../embeddings/oleObject192.bin"/><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205.jpe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206.png"/><Relationship Id="rId7" Type="http://schemas.openxmlformats.org/officeDocument/2006/relationships/image" Target="../media/image208.emf"/><Relationship Id="rId2" Type="http://schemas.openxmlformats.org/officeDocument/2006/relationships/oleObject" Target="../embeddings/oleObject193.bin"/><Relationship Id="rId1" Type="http://schemas.openxmlformats.org/officeDocument/2006/relationships/slideLayout" Target="../slideLayouts/slideLayout6.xml"/><Relationship Id="rId6" Type="http://schemas.openxmlformats.org/officeDocument/2006/relationships/oleObject" Target="../embeddings/oleObject195.bin"/><Relationship Id="rId5" Type="http://schemas.openxmlformats.org/officeDocument/2006/relationships/image" Target="../media/image207.emf"/><Relationship Id="rId4" Type="http://schemas.openxmlformats.org/officeDocument/2006/relationships/oleObject" Target="../embeddings/oleObject194.bin"/></Relationships>
</file>

<file path=ppt/slides/_rels/slide77.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210.emf"/><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211.emf"/><Relationship Id="rId2" Type="http://schemas.openxmlformats.org/officeDocument/2006/relationships/oleObject" Target="../embeddings/oleObject196.bin"/><Relationship Id="rId1" Type="http://schemas.openxmlformats.org/officeDocument/2006/relationships/slideLayout" Target="../slideLayouts/slideLayout6.xml"/><Relationship Id="rId5" Type="http://schemas.openxmlformats.org/officeDocument/2006/relationships/image" Target="../media/image212.emf"/><Relationship Id="rId4" Type="http://schemas.openxmlformats.org/officeDocument/2006/relationships/oleObject" Target="../embeddings/oleObject197.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214.emf"/><Relationship Id="rId2" Type="http://schemas.openxmlformats.org/officeDocument/2006/relationships/image" Target="../media/image213.jpe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215.emf"/><Relationship Id="rId2" Type="http://schemas.openxmlformats.org/officeDocument/2006/relationships/oleObject" Target="../embeddings/oleObject198.bin"/><Relationship Id="rId1" Type="http://schemas.openxmlformats.org/officeDocument/2006/relationships/slideLayout" Target="../slideLayouts/slideLayout6.xml"/><Relationship Id="rId5" Type="http://schemas.openxmlformats.org/officeDocument/2006/relationships/image" Target="../media/image216.emf"/><Relationship Id="rId4" Type="http://schemas.openxmlformats.org/officeDocument/2006/relationships/oleObject" Target="../embeddings/oleObject199.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217.emf"/><Relationship Id="rId7" Type="http://schemas.openxmlformats.org/officeDocument/2006/relationships/image" Target="../media/image219.emf"/><Relationship Id="rId2" Type="http://schemas.openxmlformats.org/officeDocument/2006/relationships/oleObject" Target="../embeddings/oleObject200.bin"/><Relationship Id="rId1" Type="http://schemas.openxmlformats.org/officeDocument/2006/relationships/slideLayout" Target="../slideLayouts/slideLayout6.xml"/><Relationship Id="rId6" Type="http://schemas.openxmlformats.org/officeDocument/2006/relationships/oleObject" Target="../embeddings/oleObject202.bin"/><Relationship Id="rId5" Type="http://schemas.openxmlformats.org/officeDocument/2006/relationships/image" Target="../media/image218.emf"/><Relationship Id="rId4" Type="http://schemas.openxmlformats.org/officeDocument/2006/relationships/oleObject" Target="../embeddings/oleObject201.bin"/></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206.bin"/><Relationship Id="rId3" Type="http://schemas.openxmlformats.org/officeDocument/2006/relationships/image" Target="../media/image220.emf"/><Relationship Id="rId7" Type="http://schemas.openxmlformats.org/officeDocument/2006/relationships/image" Target="../media/image222.emf"/><Relationship Id="rId2" Type="http://schemas.openxmlformats.org/officeDocument/2006/relationships/oleObject" Target="../embeddings/oleObject203.bin"/><Relationship Id="rId1" Type="http://schemas.openxmlformats.org/officeDocument/2006/relationships/slideLayout" Target="../slideLayouts/slideLayout6.xml"/><Relationship Id="rId6" Type="http://schemas.openxmlformats.org/officeDocument/2006/relationships/oleObject" Target="../embeddings/oleObject205.bin"/><Relationship Id="rId5" Type="http://schemas.openxmlformats.org/officeDocument/2006/relationships/image" Target="../media/image221.emf"/><Relationship Id="rId4" Type="http://schemas.openxmlformats.org/officeDocument/2006/relationships/oleObject" Target="../embeddings/oleObject204.bin"/><Relationship Id="rId9" Type="http://schemas.openxmlformats.org/officeDocument/2006/relationships/image" Target="../media/image223.emf"/></Relationships>
</file>

<file path=ppt/slides/_rels/slide86.xml.rels><?xml version="1.0" encoding="UTF-8" standalone="yes"?>
<Relationships xmlns="http://schemas.openxmlformats.org/package/2006/relationships"><Relationship Id="rId3" Type="http://schemas.openxmlformats.org/officeDocument/2006/relationships/image" Target="../media/image224.emf"/><Relationship Id="rId7" Type="http://schemas.openxmlformats.org/officeDocument/2006/relationships/image" Target="../media/image226.emf"/><Relationship Id="rId2" Type="http://schemas.openxmlformats.org/officeDocument/2006/relationships/oleObject" Target="../embeddings/oleObject207.bin"/><Relationship Id="rId1" Type="http://schemas.openxmlformats.org/officeDocument/2006/relationships/slideLayout" Target="../slideLayouts/slideLayout6.xml"/><Relationship Id="rId6" Type="http://schemas.openxmlformats.org/officeDocument/2006/relationships/oleObject" Target="../embeddings/oleObject209.bin"/><Relationship Id="rId5" Type="http://schemas.openxmlformats.org/officeDocument/2006/relationships/image" Target="../media/image225.emf"/><Relationship Id="rId4" Type="http://schemas.openxmlformats.org/officeDocument/2006/relationships/oleObject" Target="../embeddings/oleObject208.bin"/></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213.bin"/><Relationship Id="rId3" Type="http://schemas.openxmlformats.org/officeDocument/2006/relationships/image" Target="../media/image227.emf"/><Relationship Id="rId7" Type="http://schemas.openxmlformats.org/officeDocument/2006/relationships/image" Target="../media/image229.emf"/><Relationship Id="rId2" Type="http://schemas.openxmlformats.org/officeDocument/2006/relationships/oleObject" Target="../embeddings/oleObject210.bin"/><Relationship Id="rId1" Type="http://schemas.openxmlformats.org/officeDocument/2006/relationships/slideLayout" Target="../slideLayouts/slideLayout6.xml"/><Relationship Id="rId6" Type="http://schemas.openxmlformats.org/officeDocument/2006/relationships/oleObject" Target="../embeddings/oleObject212.bin"/><Relationship Id="rId5" Type="http://schemas.openxmlformats.org/officeDocument/2006/relationships/image" Target="../media/image228.emf"/><Relationship Id="rId4" Type="http://schemas.openxmlformats.org/officeDocument/2006/relationships/oleObject" Target="../embeddings/oleObject211.bin"/><Relationship Id="rId9" Type="http://schemas.openxmlformats.org/officeDocument/2006/relationships/image" Target="../media/image230.e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217.bin"/><Relationship Id="rId3" Type="http://schemas.openxmlformats.org/officeDocument/2006/relationships/image" Target="../media/image231.emf"/><Relationship Id="rId7" Type="http://schemas.openxmlformats.org/officeDocument/2006/relationships/image" Target="../media/image233.emf"/><Relationship Id="rId2" Type="http://schemas.openxmlformats.org/officeDocument/2006/relationships/oleObject" Target="../embeddings/oleObject214.bin"/><Relationship Id="rId1" Type="http://schemas.openxmlformats.org/officeDocument/2006/relationships/slideLayout" Target="../slideLayouts/slideLayout6.xml"/><Relationship Id="rId6" Type="http://schemas.openxmlformats.org/officeDocument/2006/relationships/oleObject" Target="../embeddings/oleObject216.bin"/><Relationship Id="rId5" Type="http://schemas.openxmlformats.org/officeDocument/2006/relationships/image" Target="../media/image232.emf"/><Relationship Id="rId4" Type="http://schemas.openxmlformats.org/officeDocument/2006/relationships/oleObject" Target="../embeddings/oleObject215.bin"/><Relationship Id="rId9" Type="http://schemas.openxmlformats.org/officeDocument/2006/relationships/image" Target="../media/image234.emf"/></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221.bin"/><Relationship Id="rId13" Type="http://schemas.openxmlformats.org/officeDocument/2006/relationships/image" Target="../media/image240.emf"/><Relationship Id="rId3" Type="http://schemas.openxmlformats.org/officeDocument/2006/relationships/image" Target="../media/image235.emf"/><Relationship Id="rId7" Type="http://schemas.openxmlformats.org/officeDocument/2006/relationships/image" Target="../media/image237.emf"/><Relationship Id="rId12" Type="http://schemas.openxmlformats.org/officeDocument/2006/relationships/oleObject" Target="../embeddings/oleObject223.bin"/><Relationship Id="rId2" Type="http://schemas.openxmlformats.org/officeDocument/2006/relationships/oleObject" Target="../embeddings/oleObject218.bin"/><Relationship Id="rId1" Type="http://schemas.openxmlformats.org/officeDocument/2006/relationships/slideLayout" Target="../slideLayouts/slideLayout6.xml"/><Relationship Id="rId6" Type="http://schemas.openxmlformats.org/officeDocument/2006/relationships/oleObject" Target="../embeddings/oleObject220.bin"/><Relationship Id="rId11" Type="http://schemas.openxmlformats.org/officeDocument/2006/relationships/image" Target="../media/image239.emf"/><Relationship Id="rId5" Type="http://schemas.openxmlformats.org/officeDocument/2006/relationships/image" Target="../media/image236.emf"/><Relationship Id="rId10" Type="http://schemas.openxmlformats.org/officeDocument/2006/relationships/oleObject" Target="../embeddings/oleObject222.bin"/><Relationship Id="rId4" Type="http://schemas.openxmlformats.org/officeDocument/2006/relationships/oleObject" Target="../embeddings/oleObject219.bin"/><Relationship Id="rId9" Type="http://schemas.openxmlformats.org/officeDocument/2006/relationships/image" Target="../media/image238.e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r>
              <a:rPr lang="zh-CN" altLang="en-US"/>
              <a:t>第</a:t>
            </a:r>
            <a:r>
              <a:rPr lang="en-US" altLang="zh-CN"/>
              <a:t>10</a:t>
            </a:r>
            <a:r>
              <a:rPr lang="zh-CN" altLang="en-US"/>
              <a:t>章 气体分子运动论</a:t>
            </a:r>
          </a:p>
        </p:txBody>
      </p:sp>
      <p:sp>
        <p:nvSpPr>
          <p:cNvPr id="6" name="灯片编号占位符 5"/>
          <p:cNvSpPr>
            <a:spLocks noGrp="1"/>
          </p:cNvSpPr>
          <p:nvPr>
            <p:ph type="sldNum" sz="quarter" idx="12"/>
          </p:nvPr>
        </p:nvSpPr>
        <p:spPr/>
        <p:txBody>
          <a:bodyPr/>
          <a:lstStyle/>
          <a:p>
            <a:fld id="{97E6C3C5-9CA7-4D2A-86C7-5CBF5F5D6529}" type="slidenum">
              <a:rPr lang="en-US" altLang="zh-CN"/>
              <a:pPr/>
              <a:t>1</a:t>
            </a:fld>
            <a:endParaRPr lang="en-US" altLang="zh-CN"/>
          </a:p>
        </p:txBody>
      </p:sp>
      <p:sp>
        <p:nvSpPr>
          <p:cNvPr id="494595" name="Rectangle 3"/>
          <p:cNvSpPr>
            <a:spLocks noGrp="1" noChangeArrowheads="1"/>
          </p:cNvSpPr>
          <p:nvPr>
            <p:ph sz="quarter" idx="1"/>
          </p:nvPr>
        </p:nvSpPr>
        <p:spPr/>
        <p:txBody>
          <a:bodyPr/>
          <a:lstStyle/>
          <a:p>
            <a:r>
              <a:rPr lang="en-US" altLang="zh-CN"/>
              <a:t>10.1 </a:t>
            </a:r>
            <a:r>
              <a:rPr lang="zh-CN" altLang="en-US"/>
              <a:t>气体动理论的基本概念</a:t>
            </a:r>
          </a:p>
          <a:p>
            <a:r>
              <a:rPr lang="en-US" altLang="zh-CN"/>
              <a:t>10.2 </a:t>
            </a:r>
            <a:r>
              <a:rPr lang="zh-CN" altLang="en-US"/>
              <a:t>理想气体的压强与温度的微观解释</a:t>
            </a:r>
          </a:p>
          <a:p>
            <a:r>
              <a:rPr lang="en-US" altLang="zh-CN"/>
              <a:t>10.3 </a:t>
            </a:r>
            <a:r>
              <a:rPr lang="zh-CN" altLang="en-US"/>
              <a:t>能量均分原理（气体的内能）</a:t>
            </a:r>
          </a:p>
          <a:p>
            <a:r>
              <a:rPr lang="en-US" altLang="zh-CN"/>
              <a:t>10.4 </a:t>
            </a:r>
            <a:r>
              <a:rPr lang="zh-CN" altLang="en-US"/>
              <a:t>麦克斯韦速率分布</a:t>
            </a:r>
          </a:p>
          <a:p>
            <a:r>
              <a:rPr lang="en-US" altLang="zh-CN">
                <a:solidFill>
                  <a:srgbClr val="B2B2B2"/>
                </a:solidFill>
              </a:rPr>
              <a:t>10.5 </a:t>
            </a:r>
            <a:r>
              <a:rPr lang="zh-CN" altLang="en-US">
                <a:solidFill>
                  <a:srgbClr val="B2B2B2"/>
                </a:solidFill>
              </a:rPr>
              <a:t>真实气体范德瓦尔斯方程（简介）</a:t>
            </a:r>
          </a:p>
          <a:p>
            <a:r>
              <a:rPr lang="en-US" altLang="zh-CN"/>
              <a:t>10.6 </a:t>
            </a:r>
            <a:r>
              <a:rPr lang="zh-CN" altLang="en-US"/>
              <a:t>气体分子的平均自由程和碰撞频率</a:t>
            </a:r>
          </a:p>
          <a:p>
            <a:r>
              <a:rPr lang="en-US" altLang="zh-CN">
                <a:solidFill>
                  <a:srgbClr val="B2B2B2"/>
                </a:solidFill>
              </a:rPr>
              <a:t>10.7 </a:t>
            </a:r>
            <a:r>
              <a:rPr lang="zh-CN" altLang="en-US">
                <a:solidFill>
                  <a:srgbClr val="B2B2B2"/>
                </a:solidFill>
              </a:rPr>
              <a:t>气体的输运现象（简介）</a:t>
            </a:r>
          </a:p>
          <a:p>
            <a:r>
              <a:rPr lang="en-US" altLang="zh-CN"/>
              <a:t>10.8 </a:t>
            </a:r>
            <a:r>
              <a:rPr lang="zh-CN" altLang="en-US"/>
              <a:t>热力学第二定律的统计意义</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10" name="灯片编号占位符 4"/>
          <p:cNvSpPr>
            <a:spLocks noGrp="1"/>
          </p:cNvSpPr>
          <p:nvPr>
            <p:ph type="sldNum" sz="quarter" idx="12"/>
          </p:nvPr>
        </p:nvSpPr>
        <p:spPr/>
        <p:txBody>
          <a:bodyPr/>
          <a:lstStyle/>
          <a:p>
            <a:fld id="{62375209-BDC3-4412-B3CD-284B8C81D6D3}" type="slidenum">
              <a:rPr lang="en-US" altLang="zh-CN"/>
              <a:pPr/>
              <a:t>2</a:t>
            </a:fld>
            <a:endParaRPr lang="en-US" altLang="zh-CN"/>
          </a:p>
        </p:txBody>
      </p:sp>
      <p:sp>
        <p:nvSpPr>
          <p:cNvPr id="512003" name="Rectangle 3"/>
          <p:cNvSpPr>
            <a:spLocks noChangeArrowheads="1"/>
          </p:cNvSpPr>
          <p:nvPr/>
        </p:nvSpPr>
        <p:spPr bwMode="auto">
          <a:xfrm>
            <a:off x="50165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分子动理论的基本观点</a:t>
            </a:r>
          </a:p>
        </p:txBody>
      </p:sp>
      <p:sp>
        <p:nvSpPr>
          <p:cNvPr id="512004" name="Text Box 4"/>
          <p:cNvSpPr txBox="1">
            <a:spLocks noChangeArrowheads="1"/>
          </p:cNvSpPr>
          <p:nvPr/>
        </p:nvSpPr>
        <p:spPr bwMode="auto">
          <a:xfrm>
            <a:off x="533400" y="2133600"/>
            <a:ext cx="8208963" cy="2227263"/>
          </a:xfrm>
          <a:prstGeom prst="rect">
            <a:avLst/>
          </a:prstGeom>
          <a:noFill/>
          <a:ln w="9525">
            <a:noFill/>
            <a:miter lim="800000"/>
            <a:headEnd/>
            <a:tailEnd/>
          </a:ln>
          <a:effectLst/>
        </p:spPr>
        <p:txBody>
          <a:bodyPr>
            <a:spAutoFit/>
          </a:bodyPr>
          <a:lstStyle/>
          <a:p>
            <a:pPr>
              <a:spcBef>
                <a:spcPct val="50000"/>
              </a:spcBef>
            </a:pPr>
            <a:r>
              <a:rPr kumimoji="1" lang="zh-CN" altLang="en-US" sz="2800"/>
              <a:t>按照物质结构的理论，自然界所有的物质实体都是由分子组成，</a:t>
            </a:r>
            <a:r>
              <a:rPr kumimoji="1" lang="zh-CN" altLang="en-US" sz="2800">
                <a:solidFill>
                  <a:srgbClr val="0000CC"/>
                </a:solidFill>
              </a:rPr>
              <a:t>分子处于永不停息的、杂乱无章的运动之中</a:t>
            </a:r>
            <a:r>
              <a:rPr kumimoji="1" lang="zh-CN" altLang="en-US" sz="2800"/>
              <a:t>；分子与分子之间相隔一定的距离，且存在相互作用力。这样一种关于物质结构的理论称为</a:t>
            </a:r>
            <a:r>
              <a:rPr kumimoji="1" lang="zh-CN" altLang="en-US" sz="2800">
                <a:solidFill>
                  <a:srgbClr val="0000CC"/>
                </a:solidFill>
              </a:rPr>
              <a:t>“分子动理论”</a:t>
            </a:r>
            <a:r>
              <a:rPr kumimoji="1" lang="zh-CN" altLang="en-US" sz="2800"/>
              <a:t>。</a:t>
            </a:r>
          </a:p>
        </p:txBody>
      </p:sp>
      <p:grpSp>
        <p:nvGrpSpPr>
          <p:cNvPr id="512005" name="Group 5"/>
          <p:cNvGrpSpPr>
            <a:grpSpLocks/>
          </p:cNvGrpSpPr>
          <p:nvPr/>
        </p:nvGrpSpPr>
        <p:grpSpPr bwMode="auto">
          <a:xfrm>
            <a:off x="762000" y="5257800"/>
            <a:ext cx="7924800" cy="519113"/>
            <a:chOff x="480" y="3168"/>
            <a:chExt cx="4992" cy="327"/>
          </a:xfrm>
        </p:grpSpPr>
        <p:sp>
          <p:nvSpPr>
            <p:cNvPr id="512006" name="Text Box 6"/>
            <p:cNvSpPr txBox="1">
              <a:spLocks noChangeArrowheads="1"/>
            </p:cNvSpPr>
            <p:nvPr/>
          </p:nvSpPr>
          <p:spPr bwMode="auto">
            <a:xfrm>
              <a:off x="480" y="3168"/>
              <a:ext cx="1680"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0000CC"/>
                  </a:solidFill>
                </a:rPr>
                <a:t>分子热运动</a:t>
              </a:r>
              <a:r>
                <a:rPr kumimoji="1" lang="zh-CN" altLang="en-US" sz="2800"/>
                <a:t>：</a:t>
              </a:r>
            </a:p>
          </p:txBody>
        </p:sp>
        <p:sp>
          <p:nvSpPr>
            <p:cNvPr id="512007" name="Text Box 7"/>
            <p:cNvSpPr txBox="1">
              <a:spLocks noChangeArrowheads="1"/>
            </p:cNvSpPr>
            <p:nvPr/>
          </p:nvSpPr>
          <p:spPr bwMode="auto">
            <a:xfrm>
              <a:off x="2256" y="3168"/>
              <a:ext cx="3216" cy="327"/>
            </a:xfrm>
            <a:prstGeom prst="rect">
              <a:avLst/>
            </a:prstGeom>
            <a:noFill/>
            <a:ln w="9525">
              <a:noFill/>
              <a:miter lim="800000"/>
              <a:headEnd/>
              <a:tailEnd/>
            </a:ln>
            <a:effectLst/>
          </p:spPr>
          <p:txBody>
            <a:bodyPr>
              <a:spAutoFit/>
            </a:bodyPr>
            <a:lstStyle/>
            <a:p>
              <a:pPr>
                <a:spcBef>
                  <a:spcPct val="50000"/>
                </a:spcBef>
              </a:pPr>
              <a:r>
                <a:rPr kumimoji="1" lang="zh-CN" altLang="en-US" sz="2800" dirty="0"/>
                <a:t>大量分子的</a:t>
              </a:r>
              <a:r>
                <a:rPr kumimoji="1" lang="zh-CN" altLang="en-US" sz="2800" b="1" dirty="0">
                  <a:solidFill>
                    <a:srgbClr val="FF0000"/>
                  </a:solidFill>
                </a:rPr>
                <a:t>无规则</a:t>
              </a:r>
              <a:r>
                <a:rPr kumimoji="1" lang="zh-CN" altLang="en-US" sz="2800" dirty="0"/>
                <a:t>运动</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41" name="灯片编号占位符 4"/>
          <p:cNvSpPr>
            <a:spLocks noGrp="1"/>
          </p:cNvSpPr>
          <p:nvPr>
            <p:ph type="sldNum" sz="quarter" idx="12"/>
          </p:nvPr>
        </p:nvSpPr>
        <p:spPr/>
        <p:txBody>
          <a:bodyPr/>
          <a:lstStyle/>
          <a:p>
            <a:fld id="{BE3DF053-233F-4427-94E4-44A3E5C69A1A}" type="slidenum">
              <a:rPr lang="en-US" altLang="zh-CN"/>
              <a:pPr/>
              <a:t>3</a:t>
            </a:fld>
            <a:endParaRPr lang="en-US" altLang="zh-CN"/>
          </a:p>
        </p:txBody>
      </p:sp>
      <p:sp>
        <p:nvSpPr>
          <p:cNvPr id="513027" name="Rectangle 3"/>
          <p:cNvSpPr>
            <a:spLocks noChangeArrowheads="1"/>
          </p:cNvSpPr>
          <p:nvPr/>
        </p:nvSpPr>
        <p:spPr bwMode="auto">
          <a:xfrm>
            <a:off x="50165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分子动理论的基本观点</a:t>
            </a:r>
          </a:p>
        </p:txBody>
      </p:sp>
      <p:sp>
        <p:nvSpPr>
          <p:cNvPr id="513032" name="Text Box 8"/>
          <p:cNvSpPr txBox="1">
            <a:spLocks noChangeArrowheads="1"/>
          </p:cNvSpPr>
          <p:nvPr/>
        </p:nvSpPr>
        <p:spPr bwMode="auto">
          <a:xfrm>
            <a:off x="609600" y="1752600"/>
            <a:ext cx="7777163" cy="1004888"/>
          </a:xfrm>
          <a:prstGeom prst="rect">
            <a:avLst/>
          </a:prstGeom>
          <a:noFill/>
          <a:ln w="9525">
            <a:noFill/>
            <a:miter lim="800000"/>
            <a:headEnd/>
            <a:tailEnd/>
          </a:ln>
          <a:effectLst/>
        </p:spPr>
        <p:txBody>
          <a:bodyPr>
            <a:spAutoFit/>
          </a:bodyPr>
          <a:lstStyle/>
          <a:p>
            <a:pPr>
              <a:spcBef>
                <a:spcPct val="50000"/>
              </a:spcBef>
            </a:pPr>
            <a:r>
              <a:rPr lang="zh-CN" altLang="en-US" sz="2400"/>
              <a:t>阿伏伽德罗常量 </a:t>
            </a:r>
            <a:r>
              <a:rPr lang="en-US" altLang="zh-CN" sz="2400"/>
              <a:t>(</a:t>
            </a:r>
            <a:r>
              <a:rPr lang="en-US" altLang="zh-CN" sz="2400" i="1"/>
              <a:t>N</a:t>
            </a:r>
            <a:r>
              <a:rPr lang="en-US" altLang="zh-CN" sz="2400" baseline="-25000"/>
              <a:t>A</a:t>
            </a:r>
            <a:r>
              <a:rPr lang="en-US" altLang="zh-CN" sz="2400"/>
              <a:t>) </a:t>
            </a:r>
            <a:r>
              <a:rPr lang="zh-CN" altLang="en-US" sz="2400"/>
              <a:t>： </a:t>
            </a:r>
          </a:p>
          <a:p>
            <a:pPr>
              <a:spcBef>
                <a:spcPct val="50000"/>
              </a:spcBef>
            </a:pPr>
            <a:r>
              <a:rPr lang="zh-CN" altLang="en-US" sz="2400"/>
              <a:t>               </a:t>
            </a:r>
            <a:r>
              <a:rPr lang="en-US" altLang="zh-CN" sz="2400"/>
              <a:t>1 mol </a:t>
            </a:r>
            <a:r>
              <a:rPr lang="zh-CN" altLang="en-US" sz="2400"/>
              <a:t>的任何物质含有的分子数。</a:t>
            </a:r>
          </a:p>
        </p:txBody>
      </p:sp>
      <p:graphicFrame>
        <p:nvGraphicFramePr>
          <p:cNvPr id="513036" name="Object 12"/>
          <p:cNvGraphicFramePr>
            <a:graphicFrameLocks noChangeAspect="1"/>
          </p:cNvGraphicFramePr>
          <p:nvPr/>
        </p:nvGraphicFramePr>
        <p:xfrm>
          <a:off x="1828800" y="2895600"/>
          <a:ext cx="4205288" cy="457200"/>
        </p:xfrm>
        <a:graphic>
          <a:graphicData uri="http://schemas.openxmlformats.org/presentationml/2006/ole">
            <mc:AlternateContent xmlns:mc="http://schemas.openxmlformats.org/markup-compatibility/2006">
              <mc:Choice xmlns:v="urn:schemas-microsoft-com:vml" Requires="v">
                <p:oleObj name="公式" r:id="rId2" imgW="2108200" imgH="228600" progId="Equation.3">
                  <p:embed/>
                </p:oleObj>
              </mc:Choice>
              <mc:Fallback>
                <p:oleObj name="公式" r:id="rId2" imgW="2108200" imgH="228600" progId="Equation.3">
                  <p:embed/>
                  <p:pic>
                    <p:nvPicPr>
                      <p:cNvPr id="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895600"/>
                        <a:ext cx="420528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037" name="Rectangle 13"/>
          <p:cNvSpPr>
            <a:spLocks noChangeArrowheads="1"/>
          </p:cNvSpPr>
          <p:nvPr/>
        </p:nvSpPr>
        <p:spPr bwMode="auto">
          <a:xfrm>
            <a:off x="457200" y="3429000"/>
            <a:ext cx="3744913" cy="457200"/>
          </a:xfrm>
          <a:prstGeom prst="rect">
            <a:avLst/>
          </a:prstGeom>
          <a:noFill/>
          <a:ln w="9525">
            <a:noFill/>
            <a:miter lim="800000"/>
            <a:headEnd/>
            <a:tailEnd/>
          </a:ln>
          <a:effectLst/>
        </p:spPr>
        <p:txBody>
          <a:bodyPr anchor="ctr">
            <a:spAutoFit/>
          </a:bodyPr>
          <a:lstStyle/>
          <a:p>
            <a:pPr>
              <a:tabLst>
                <a:tab pos="3589338" algn="l"/>
              </a:tabLst>
            </a:pPr>
            <a:r>
              <a:rPr lang="zh-CN" altLang="en-US" sz="2400" dirty="0">
                <a:cs typeface="Times New Roman" pitchFamily="18" charset="0"/>
              </a:rPr>
              <a:t>单位体积内的分子数</a:t>
            </a:r>
            <a:endParaRPr lang="zh-CN" altLang="en-US" sz="2400" dirty="0"/>
          </a:p>
        </p:txBody>
      </p:sp>
      <p:graphicFrame>
        <p:nvGraphicFramePr>
          <p:cNvPr id="513073" name="Group 49"/>
          <p:cNvGraphicFramePr>
            <a:graphicFrameLocks noGrp="1"/>
          </p:cNvGraphicFramePr>
          <p:nvPr/>
        </p:nvGraphicFramePr>
        <p:xfrm>
          <a:off x="381000" y="3886200"/>
          <a:ext cx="8497888" cy="2447925"/>
        </p:xfrm>
        <a:graphic>
          <a:graphicData uri="http://schemas.openxmlformats.org/drawingml/2006/table">
            <a:tbl>
              <a:tblPr/>
              <a:tblGrid>
                <a:gridCol w="569913">
                  <a:extLst>
                    <a:ext uri="{9D8B030D-6E8A-4147-A177-3AD203B41FA5}">
                      <a16:colId xmlns:a16="http://schemas.microsoft.com/office/drawing/2014/main" val="20000"/>
                    </a:ext>
                  </a:extLst>
                </a:gridCol>
                <a:gridCol w="1998662">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1928813">
                  <a:extLst>
                    <a:ext uri="{9D8B030D-6E8A-4147-A177-3AD203B41FA5}">
                      <a16:colId xmlns:a16="http://schemas.microsoft.com/office/drawing/2014/main" val="20004"/>
                    </a:ext>
                  </a:extLst>
                </a:gridCol>
              </a:tblGrid>
              <a:tr h="10350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rPr>
                        <a:t>物质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密度</a:t>
                      </a:r>
                      <a:r>
                        <a:rPr kumimoji="0" lang="en-US" altLang="zh-CN" sz="2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ρ</a:t>
                      </a:r>
                      <a:endPar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/(kg·m</a:t>
                      </a:r>
                      <a:r>
                        <a:rPr kumimoji="0" lang="zh-CN" altLang="en-US"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摩尔质量</a:t>
                      </a:r>
                      <a:r>
                        <a:rPr kumimoji="0" lang="en-US" altLang="zh-CN" sz="2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endPar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/(kg·mol</a:t>
                      </a:r>
                      <a:r>
                        <a:rPr kumimoji="0" lang="zh-CN" altLang="en-US"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分子质量</a:t>
                      </a: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0</a:t>
                      </a:r>
                      <a:endPar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/kg</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分子数密度</a:t>
                      </a:r>
                      <a:r>
                        <a:rPr kumimoji="0" lang="en-US" altLang="zh-CN" sz="2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endPar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铁</a:t>
                      </a:r>
                      <a:endParaRPr kumimoji="0" lang="zh-CN" altLang="en-US"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7.8×10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56×10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9.3×10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-26</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8.4×10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28</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水</a:t>
                      </a:r>
                      <a:endParaRPr kumimoji="0" lang="zh-CN" altLang="en-US"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18×10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3.0×10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-26</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3.3×10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28</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8475">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zh-CN" altLang="en-US"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氮</a:t>
                      </a:r>
                      <a:endParaRPr kumimoji="0" lang="zh-CN" altLang="en-US"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1.15</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28×10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4.6×10</a:t>
                      </a:r>
                      <a:r>
                        <a:rPr kumimoji="0" lang="en-US" altLang="zh-CN" sz="22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-26</a:t>
                      </a:r>
                      <a:endParaRPr kumimoji="0" lang="en-US" altLang="zh-CN" sz="2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589338" algn="l"/>
                        </a:tabLst>
                      </a:pPr>
                      <a:r>
                        <a:rPr kumimoji="0" lang="en-US" altLang="zh-CN" sz="2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2.5×10</a:t>
                      </a:r>
                      <a:r>
                        <a:rPr kumimoji="0" lang="en-US" altLang="zh-CN" sz="22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25</a:t>
                      </a:r>
                      <a:endParaRPr kumimoji="0" lang="en-US" altLang="zh-CN" sz="2200" b="0"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25" name="灯片编号占位符 4"/>
          <p:cNvSpPr>
            <a:spLocks noGrp="1"/>
          </p:cNvSpPr>
          <p:nvPr>
            <p:ph type="sldNum" sz="quarter" idx="12"/>
          </p:nvPr>
        </p:nvSpPr>
        <p:spPr/>
        <p:txBody>
          <a:bodyPr/>
          <a:lstStyle/>
          <a:p>
            <a:fld id="{FA47A688-3555-4BD5-9B3B-B5A2C8D0D7AC}" type="slidenum">
              <a:rPr lang="en-US" altLang="zh-CN"/>
              <a:pPr/>
              <a:t>4</a:t>
            </a:fld>
            <a:endParaRPr lang="en-US" altLang="zh-CN"/>
          </a:p>
        </p:txBody>
      </p:sp>
      <p:sp>
        <p:nvSpPr>
          <p:cNvPr id="514051" name="Rectangle 3"/>
          <p:cNvSpPr>
            <a:spLocks noChangeArrowheads="1"/>
          </p:cNvSpPr>
          <p:nvPr/>
        </p:nvSpPr>
        <p:spPr bwMode="auto">
          <a:xfrm>
            <a:off x="50165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分子动理论的基本观点</a:t>
            </a:r>
          </a:p>
        </p:txBody>
      </p:sp>
      <p:sp>
        <p:nvSpPr>
          <p:cNvPr id="514052" name="Text Box 4"/>
          <p:cNvSpPr txBox="1">
            <a:spLocks noChangeArrowheads="1"/>
          </p:cNvSpPr>
          <p:nvPr/>
        </p:nvSpPr>
        <p:spPr bwMode="auto">
          <a:xfrm>
            <a:off x="304800" y="1671638"/>
            <a:ext cx="5943600" cy="457200"/>
          </a:xfrm>
          <a:prstGeom prst="rect">
            <a:avLst/>
          </a:prstGeom>
          <a:noFill/>
          <a:ln w="9525">
            <a:noFill/>
            <a:miter lim="800000"/>
            <a:headEnd/>
            <a:tailEnd/>
          </a:ln>
          <a:effectLst/>
        </p:spPr>
        <p:txBody>
          <a:bodyPr>
            <a:spAutoFit/>
          </a:bodyPr>
          <a:lstStyle/>
          <a:p>
            <a:pPr>
              <a:spcBef>
                <a:spcPct val="50000"/>
              </a:spcBef>
            </a:pPr>
            <a:r>
              <a:rPr lang="zh-CN" altLang="en-US" sz="2400" dirty="0"/>
              <a:t>（</a:t>
            </a:r>
            <a:r>
              <a:rPr lang="en-US" altLang="zh-CN" sz="2400" dirty="0"/>
              <a:t>1</a:t>
            </a:r>
            <a:r>
              <a:rPr lang="zh-CN" altLang="en-US" sz="2400" dirty="0"/>
              <a:t>）  分子与分子之间存在着一定的距离 </a:t>
            </a:r>
          </a:p>
        </p:txBody>
      </p:sp>
      <p:sp>
        <p:nvSpPr>
          <p:cNvPr id="514053" name="Text Box 5"/>
          <p:cNvSpPr txBox="1">
            <a:spLocks noChangeArrowheads="1"/>
          </p:cNvSpPr>
          <p:nvPr/>
        </p:nvSpPr>
        <p:spPr bwMode="auto">
          <a:xfrm>
            <a:off x="304800" y="2139157"/>
            <a:ext cx="5111750" cy="457200"/>
          </a:xfrm>
          <a:prstGeom prst="rect">
            <a:avLst/>
          </a:prstGeom>
          <a:noFill/>
          <a:ln w="9525" algn="ctr">
            <a:noFill/>
            <a:miter lim="800000"/>
            <a:headEnd/>
            <a:tailEnd/>
          </a:ln>
          <a:effectLst/>
        </p:spPr>
        <p:txBody>
          <a:bodyPr>
            <a:spAutoFit/>
          </a:bodyPr>
          <a:lstStyle/>
          <a:p>
            <a:pPr>
              <a:spcBef>
                <a:spcPct val="50000"/>
              </a:spcBef>
            </a:pPr>
            <a:r>
              <a:rPr lang="zh-CN" altLang="en-US" sz="2400"/>
              <a:t>（</a:t>
            </a:r>
            <a:r>
              <a:rPr lang="en-US" altLang="zh-CN" sz="2400"/>
              <a:t>2</a:t>
            </a:r>
            <a:r>
              <a:rPr lang="zh-CN" altLang="en-US" sz="2400"/>
              <a:t>）  分子间存在相互作用力 </a:t>
            </a:r>
          </a:p>
        </p:txBody>
      </p:sp>
      <p:grpSp>
        <p:nvGrpSpPr>
          <p:cNvPr id="514054" name="Group 6"/>
          <p:cNvGrpSpPr>
            <a:grpSpLocks/>
          </p:cNvGrpSpPr>
          <p:nvPr/>
        </p:nvGrpSpPr>
        <p:grpSpPr bwMode="auto">
          <a:xfrm>
            <a:off x="5105400" y="2133600"/>
            <a:ext cx="3657600" cy="3251200"/>
            <a:chOff x="3198" y="1162"/>
            <a:chExt cx="2449" cy="2177"/>
          </a:xfrm>
        </p:grpSpPr>
        <p:sp>
          <p:nvSpPr>
            <p:cNvPr id="514055" name="Rectangle 7"/>
            <p:cNvSpPr>
              <a:spLocks noChangeArrowheads="1"/>
            </p:cNvSpPr>
            <p:nvPr/>
          </p:nvSpPr>
          <p:spPr bwMode="auto">
            <a:xfrm>
              <a:off x="3198" y="1162"/>
              <a:ext cx="2404" cy="2177"/>
            </a:xfrm>
            <a:prstGeom prst="rect">
              <a:avLst/>
            </a:prstGeom>
            <a:solidFill>
              <a:srgbClr val="CC99FF">
                <a:alpha val="50000"/>
              </a:srgbClr>
            </a:solidFill>
            <a:ln w="9525">
              <a:solidFill>
                <a:schemeClr val="tx1"/>
              </a:solidFill>
              <a:miter lim="800000"/>
              <a:headEnd/>
              <a:tailEnd/>
            </a:ln>
            <a:effectLst/>
          </p:spPr>
          <p:txBody>
            <a:bodyPr wrap="none" anchor="ctr"/>
            <a:lstStyle/>
            <a:p>
              <a:endParaRPr lang="zh-CN" altLang="en-US"/>
            </a:p>
          </p:txBody>
        </p:sp>
        <p:grpSp>
          <p:nvGrpSpPr>
            <p:cNvPr id="514056" name="Group 8"/>
            <p:cNvGrpSpPr>
              <a:grpSpLocks/>
            </p:cNvGrpSpPr>
            <p:nvPr/>
          </p:nvGrpSpPr>
          <p:grpSpPr bwMode="auto">
            <a:xfrm>
              <a:off x="3333" y="1253"/>
              <a:ext cx="2314" cy="1901"/>
              <a:chOff x="3333" y="1253"/>
              <a:chExt cx="2314" cy="1901"/>
            </a:xfrm>
          </p:grpSpPr>
          <p:sp>
            <p:nvSpPr>
              <p:cNvPr id="514057" name="Line 9"/>
              <p:cNvSpPr>
                <a:spLocks noChangeShapeType="1"/>
              </p:cNvSpPr>
              <p:nvPr/>
            </p:nvSpPr>
            <p:spPr bwMode="auto">
              <a:xfrm>
                <a:off x="3560" y="2523"/>
                <a:ext cx="1860" cy="0"/>
              </a:xfrm>
              <a:prstGeom prst="line">
                <a:avLst/>
              </a:prstGeom>
              <a:noFill/>
              <a:ln w="9525">
                <a:solidFill>
                  <a:schemeClr val="tx1"/>
                </a:solidFill>
                <a:round/>
                <a:headEnd/>
                <a:tailEnd type="triangle" w="med" len="lg"/>
              </a:ln>
              <a:effectLst/>
            </p:spPr>
            <p:txBody>
              <a:bodyPr/>
              <a:lstStyle/>
              <a:p>
                <a:endParaRPr lang="zh-CN" altLang="en-US"/>
              </a:p>
            </p:txBody>
          </p:sp>
          <p:sp>
            <p:nvSpPr>
              <p:cNvPr id="514058" name="Line 10"/>
              <p:cNvSpPr>
                <a:spLocks noChangeShapeType="1"/>
              </p:cNvSpPr>
              <p:nvPr/>
            </p:nvSpPr>
            <p:spPr bwMode="auto">
              <a:xfrm flipV="1">
                <a:off x="3560" y="1389"/>
                <a:ext cx="0" cy="1724"/>
              </a:xfrm>
              <a:prstGeom prst="line">
                <a:avLst/>
              </a:prstGeom>
              <a:noFill/>
              <a:ln w="9525">
                <a:solidFill>
                  <a:schemeClr val="tx1"/>
                </a:solidFill>
                <a:round/>
                <a:headEnd/>
                <a:tailEnd type="triangle" w="med" len="lg"/>
              </a:ln>
              <a:effectLst/>
            </p:spPr>
            <p:txBody>
              <a:bodyPr/>
              <a:lstStyle/>
              <a:p>
                <a:endParaRPr lang="zh-CN" altLang="en-US"/>
              </a:p>
            </p:txBody>
          </p:sp>
          <p:sp>
            <p:nvSpPr>
              <p:cNvPr id="514059" name="Freeform 11"/>
              <p:cNvSpPr>
                <a:spLocks/>
              </p:cNvSpPr>
              <p:nvPr/>
            </p:nvSpPr>
            <p:spPr bwMode="auto">
              <a:xfrm>
                <a:off x="3651" y="1616"/>
                <a:ext cx="1423" cy="1538"/>
              </a:xfrm>
              <a:custGeom>
                <a:avLst/>
                <a:gdLst/>
                <a:ahLst/>
                <a:cxnLst>
                  <a:cxn ang="0">
                    <a:pos x="0" y="0"/>
                  </a:cxn>
                  <a:cxn ang="0">
                    <a:pos x="45" y="544"/>
                  </a:cxn>
                  <a:cxn ang="0">
                    <a:pos x="136" y="1134"/>
                  </a:cxn>
                  <a:cxn ang="0">
                    <a:pos x="290" y="1483"/>
                  </a:cxn>
                  <a:cxn ang="0">
                    <a:pos x="418" y="1465"/>
                  </a:cxn>
                  <a:cxn ang="0">
                    <a:pos x="564" y="1182"/>
                  </a:cxn>
                  <a:cxn ang="0">
                    <a:pos x="774" y="1017"/>
                  </a:cxn>
                  <a:cxn ang="0">
                    <a:pos x="1089" y="952"/>
                  </a:cxn>
                  <a:cxn ang="0">
                    <a:pos x="1423" y="935"/>
                  </a:cxn>
                </a:cxnLst>
                <a:rect l="0" t="0" r="r" b="b"/>
                <a:pathLst>
                  <a:path w="1423" h="1538">
                    <a:moveTo>
                      <a:pt x="0" y="0"/>
                    </a:moveTo>
                    <a:cubicBezTo>
                      <a:pt x="11" y="177"/>
                      <a:pt x="22" y="355"/>
                      <a:pt x="45" y="544"/>
                    </a:cubicBezTo>
                    <a:cubicBezTo>
                      <a:pt x="68" y="733"/>
                      <a:pt x="95" y="978"/>
                      <a:pt x="136" y="1134"/>
                    </a:cubicBezTo>
                    <a:cubicBezTo>
                      <a:pt x="177" y="1290"/>
                      <a:pt x="243" y="1428"/>
                      <a:pt x="290" y="1483"/>
                    </a:cubicBezTo>
                    <a:cubicBezTo>
                      <a:pt x="337" y="1538"/>
                      <a:pt x="372" y="1515"/>
                      <a:pt x="418" y="1465"/>
                    </a:cubicBezTo>
                    <a:cubicBezTo>
                      <a:pt x="464" y="1415"/>
                      <a:pt x="505" y="1257"/>
                      <a:pt x="564" y="1182"/>
                    </a:cubicBezTo>
                    <a:cubicBezTo>
                      <a:pt x="623" y="1107"/>
                      <a:pt x="687" y="1055"/>
                      <a:pt x="774" y="1017"/>
                    </a:cubicBezTo>
                    <a:cubicBezTo>
                      <a:pt x="861" y="979"/>
                      <a:pt x="981" y="966"/>
                      <a:pt x="1089" y="952"/>
                    </a:cubicBezTo>
                    <a:cubicBezTo>
                      <a:pt x="1197" y="938"/>
                      <a:pt x="1354" y="939"/>
                      <a:pt x="1423" y="935"/>
                    </a:cubicBezTo>
                  </a:path>
                </a:pathLst>
              </a:custGeom>
              <a:noFill/>
              <a:ln w="28575" cmpd="sng">
                <a:solidFill>
                  <a:srgbClr val="0000FF"/>
                </a:solidFill>
                <a:round/>
                <a:headEnd/>
                <a:tailEnd/>
              </a:ln>
              <a:effectLst/>
            </p:spPr>
            <p:txBody>
              <a:bodyPr/>
              <a:lstStyle/>
              <a:p>
                <a:endParaRPr lang="zh-CN" altLang="en-US"/>
              </a:p>
            </p:txBody>
          </p:sp>
          <p:sp>
            <p:nvSpPr>
              <p:cNvPr id="514060" name="Text Box 12"/>
              <p:cNvSpPr txBox="1">
                <a:spLocks noChangeArrowheads="1"/>
              </p:cNvSpPr>
              <p:nvPr/>
            </p:nvSpPr>
            <p:spPr bwMode="auto">
              <a:xfrm>
                <a:off x="5238" y="2478"/>
                <a:ext cx="409" cy="306"/>
              </a:xfrm>
              <a:prstGeom prst="rect">
                <a:avLst/>
              </a:prstGeom>
              <a:noFill/>
              <a:ln w="9525">
                <a:noFill/>
                <a:miter lim="800000"/>
                <a:headEnd/>
                <a:tailEnd/>
              </a:ln>
              <a:effectLst/>
            </p:spPr>
            <p:txBody>
              <a:bodyPr>
                <a:spAutoFit/>
              </a:bodyPr>
              <a:lstStyle/>
              <a:p>
                <a:pPr>
                  <a:spcBef>
                    <a:spcPct val="50000"/>
                  </a:spcBef>
                </a:pPr>
                <a:r>
                  <a:rPr lang="en-US" altLang="zh-CN" sz="2400" i="1"/>
                  <a:t>r</a:t>
                </a:r>
              </a:p>
            </p:txBody>
          </p:sp>
          <p:sp>
            <p:nvSpPr>
              <p:cNvPr id="514061" name="Text Box 13"/>
              <p:cNvSpPr txBox="1">
                <a:spLocks noChangeArrowheads="1"/>
              </p:cNvSpPr>
              <p:nvPr/>
            </p:nvSpPr>
            <p:spPr bwMode="auto">
              <a:xfrm>
                <a:off x="3714" y="2251"/>
                <a:ext cx="409" cy="307"/>
              </a:xfrm>
              <a:prstGeom prst="rect">
                <a:avLst/>
              </a:prstGeom>
              <a:noFill/>
              <a:ln w="9525">
                <a:noFill/>
                <a:miter lim="800000"/>
                <a:headEnd/>
                <a:tailEnd/>
              </a:ln>
              <a:effectLst/>
            </p:spPr>
            <p:txBody>
              <a:bodyPr>
                <a:spAutoFit/>
              </a:bodyPr>
              <a:lstStyle/>
              <a:p>
                <a:pPr>
                  <a:spcBef>
                    <a:spcPct val="50000"/>
                  </a:spcBef>
                </a:pPr>
                <a:r>
                  <a:rPr lang="en-US" altLang="zh-CN" sz="2400" i="1"/>
                  <a:t>r</a:t>
                </a:r>
                <a:r>
                  <a:rPr lang="en-US" altLang="zh-CN" sz="2400" baseline="-25000"/>
                  <a:t>0</a:t>
                </a:r>
              </a:p>
            </p:txBody>
          </p:sp>
          <p:sp>
            <p:nvSpPr>
              <p:cNvPr id="514062" name="Text Box 14"/>
              <p:cNvSpPr txBox="1">
                <a:spLocks noChangeArrowheads="1"/>
              </p:cNvSpPr>
              <p:nvPr/>
            </p:nvSpPr>
            <p:spPr bwMode="auto">
              <a:xfrm>
                <a:off x="3333" y="2432"/>
                <a:ext cx="364" cy="306"/>
              </a:xfrm>
              <a:prstGeom prst="rect">
                <a:avLst/>
              </a:prstGeom>
              <a:noFill/>
              <a:ln w="9525">
                <a:noFill/>
                <a:miter lim="800000"/>
                <a:headEnd/>
                <a:tailEnd/>
              </a:ln>
              <a:effectLst/>
            </p:spPr>
            <p:txBody>
              <a:bodyPr>
                <a:spAutoFit/>
              </a:bodyPr>
              <a:lstStyle/>
              <a:p>
                <a:pPr>
                  <a:spcBef>
                    <a:spcPct val="50000"/>
                  </a:spcBef>
                </a:pPr>
                <a:r>
                  <a:rPr lang="en-US" altLang="zh-CN" sz="2400" i="1"/>
                  <a:t>O</a:t>
                </a:r>
              </a:p>
            </p:txBody>
          </p:sp>
          <p:sp>
            <p:nvSpPr>
              <p:cNvPr id="514063" name="Text Box 15"/>
              <p:cNvSpPr txBox="1">
                <a:spLocks noChangeArrowheads="1"/>
              </p:cNvSpPr>
              <p:nvPr/>
            </p:nvSpPr>
            <p:spPr bwMode="auto">
              <a:xfrm>
                <a:off x="3606" y="1253"/>
                <a:ext cx="408" cy="306"/>
              </a:xfrm>
              <a:prstGeom prst="rect">
                <a:avLst/>
              </a:prstGeom>
              <a:noFill/>
              <a:ln w="9525">
                <a:noFill/>
                <a:miter lim="800000"/>
                <a:headEnd/>
                <a:tailEnd/>
              </a:ln>
              <a:effectLst/>
            </p:spPr>
            <p:txBody>
              <a:bodyPr>
                <a:spAutoFit/>
              </a:bodyPr>
              <a:lstStyle/>
              <a:p>
                <a:pPr>
                  <a:spcBef>
                    <a:spcPct val="50000"/>
                  </a:spcBef>
                </a:pPr>
                <a:r>
                  <a:rPr lang="en-US" altLang="zh-CN" sz="2400" i="1"/>
                  <a:t>F </a:t>
                </a:r>
              </a:p>
            </p:txBody>
          </p:sp>
        </p:grpSp>
      </p:grpSp>
      <p:graphicFrame>
        <p:nvGraphicFramePr>
          <p:cNvPr id="514064" name="Object 16"/>
          <p:cNvGraphicFramePr>
            <a:graphicFrameLocks noChangeAspect="1"/>
          </p:cNvGraphicFramePr>
          <p:nvPr/>
        </p:nvGraphicFramePr>
        <p:xfrm>
          <a:off x="6553200" y="2438400"/>
          <a:ext cx="1873250" cy="647700"/>
        </p:xfrm>
        <a:graphic>
          <a:graphicData uri="http://schemas.openxmlformats.org/presentationml/2006/ole">
            <mc:AlternateContent xmlns:mc="http://schemas.openxmlformats.org/markup-compatibility/2006">
              <mc:Choice xmlns:v="urn:schemas-microsoft-com:vml" Requires="v">
                <p:oleObj name="公式" r:id="rId2" imgW="698400" imgH="241200" progId="Equation.3">
                  <p:embed/>
                </p:oleObj>
              </mc:Choice>
              <mc:Fallback>
                <p:oleObj name="公式" r:id="rId2" imgW="698400" imgH="241200" progId="Equation.3">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438400"/>
                        <a:ext cx="187325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4065" name="Object 17"/>
          <p:cNvGraphicFramePr>
            <a:graphicFrameLocks noChangeAspect="1"/>
          </p:cNvGraphicFramePr>
          <p:nvPr/>
        </p:nvGraphicFramePr>
        <p:xfrm>
          <a:off x="5246688" y="5410200"/>
          <a:ext cx="1962150" cy="484188"/>
        </p:xfrm>
        <a:graphic>
          <a:graphicData uri="http://schemas.openxmlformats.org/presentationml/2006/ole">
            <mc:AlternateContent xmlns:mc="http://schemas.openxmlformats.org/markup-compatibility/2006">
              <mc:Choice xmlns:v="urn:schemas-microsoft-com:vml" Requires="v">
                <p:oleObj name="公式" r:id="rId4" imgW="927000" imgH="228600" progId="Equation.3">
                  <p:embed/>
                </p:oleObj>
              </mc:Choice>
              <mc:Fallback>
                <p:oleObj name="公式" r:id="rId4" imgW="927000" imgH="228600" progId="Equation.3">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6688" y="5410200"/>
                        <a:ext cx="196215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066" name="Text Box 18"/>
          <p:cNvSpPr txBox="1">
            <a:spLocks noChangeArrowheads="1"/>
          </p:cNvSpPr>
          <p:nvPr/>
        </p:nvSpPr>
        <p:spPr bwMode="auto">
          <a:xfrm>
            <a:off x="7451725" y="5423694"/>
            <a:ext cx="1368425" cy="457200"/>
          </a:xfrm>
          <a:prstGeom prst="rect">
            <a:avLst/>
          </a:prstGeom>
          <a:noFill/>
          <a:ln w="9525">
            <a:noFill/>
            <a:miter lim="800000"/>
            <a:headEnd/>
            <a:tailEnd/>
          </a:ln>
          <a:effectLst/>
        </p:spPr>
        <p:txBody>
          <a:bodyPr>
            <a:spAutoFit/>
          </a:bodyPr>
          <a:lstStyle/>
          <a:p>
            <a:pPr>
              <a:spcBef>
                <a:spcPct val="50000"/>
              </a:spcBef>
            </a:pPr>
            <a:r>
              <a:rPr lang="zh-CN" altLang="en-US" sz="2400"/>
              <a:t>引力</a:t>
            </a:r>
          </a:p>
        </p:txBody>
      </p:sp>
      <p:graphicFrame>
        <p:nvGraphicFramePr>
          <p:cNvPr id="514067" name="Object 19"/>
          <p:cNvGraphicFramePr>
            <a:graphicFrameLocks noChangeAspect="1"/>
          </p:cNvGraphicFramePr>
          <p:nvPr/>
        </p:nvGraphicFramePr>
        <p:xfrm>
          <a:off x="5176838" y="5827713"/>
          <a:ext cx="2101850" cy="517525"/>
        </p:xfrm>
        <a:graphic>
          <a:graphicData uri="http://schemas.openxmlformats.org/presentationml/2006/ole">
            <mc:AlternateContent xmlns:mc="http://schemas.openxmlformats.org/markup-compatibility/2006">
              <mc:Choice xmlns:v="urn:schemas-microsoft-com:vml" Requires="v">
                <p:oleObj name="公式" r:id="rId6" imgW="927000" imgH="228600" progId="Equation.3">
                  <p:embed/>
                </p:oleObj>
              </mc:Choice>
              <mc:Fallback>
                <p:oleObj name="公式" r:id="rId6" imgW="927000" imgH="228600" progId="Equation.3">
                  <p:embed/>
                  <p:pic>
                    <p:nvPicPr>
                      <p:cNvPr id="0"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6838" y="5827713"/>
                        <a:ext cx="210185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068" name="Text Box 20"/>
          <p:cNvSpPr txBox="1">
            <a:spLocks noChangeArrowheads="1"/>
          </p:cNvSpPr>
          <p:nvPr/>
        </p:nvSpPr>
        <p:spPr bwMode="auto">
          <a:xfrm>
            <a:off x="7451725" y="5857875"/>
            <a:ext cx="1368425" cy="457200"/>
          </a:xfrm>
          <a:prstGeom prst="rect">
            <a:avLst/>
          </a:prstGeom>
          <a:noFill/>
          <a:ln w="9525">
            <a:noFill/>
            <a:miter lim="800000"/>
            <a:headEnd/>
            <a:tailEnd/>
          </a:ln>
          <a:effectLst/>
        </p:spPr>
        <p:txBody>
          <a:bodyPr>
            <a:spAutoFit/>
          </a:bodyPr>
          <a:lstStyle/>
          <a:p>
            <a:pPr>
              <a:spcBef>
                <a:spcPct val="50000"/>
              </a:spcBef>
            </a:pPr>
            <a:r>
              <a:rPr lang="zh-CN" altLang="en-US" sz="2400"/>
              <a:t>斥力</a:t>
            </a:r>
          </a:p>
        </p:txBody>
      </p:sp>
      <p:sp>
        <p:nvSpPr>
          <p:cNvPr id="514069" name="Text Box 21"/>
          <p:cNvSpPr txBox="1">
            <a:spLocks noChangeArrowheads="1"/>
          </p:cNvSpPr>
          <p:nvPr/>
        </p:nvSpPr>
        <p:spPr bwMode="auto">
          <a:xfrm>
            <a:off x="311150" y="2606675"/>
            <a:ext cx="4465638" cy="822325"/>
          </a:xfrm>
          <a:prstGeom prst="rect">
            <a:avLst/>
          </a:prstGeom>
          <a:noFill/>
          <a:ln w="9525" algn="ctr">
            <a:noFill/>
            <a:miter lim="800000"/>
            <a:headEnd/>
            <a:tailEnd/>
          </a:ln>
          <a:effectLst/>
        </p:spPr>
        <p:txBody>
          <a:bodyPr>
            <a:spAutoFit/>
          </a:bodyPr>
          <a:lstStyle/>
          <a:p>
            <a:pPr>
              <a:spcBef>
                <a:spcPct val="50000"/>
              </a:spcBef>
            </a:pPr>
            <a:r>
              <a:rPr lang="zh-CN" altLang="en-US" sz="2400" dirty="0"/>
              <a:t>（</a:t>
            </a:r>
            <a:r>
              <a:rPr lang="en-US" altLang="zh-CN" sz="2400" dirty="0"/>
              <a:t>3</a:t>
            </a:r>
            <a:r>
              <a:rPr lang="zh-CN" altLang="en-US" sz="2400" dirty="0"/>
              <a:t>）  构成物质的分子处于永恒的、杂乱无章的运动之中。 </a:t>
            </a:r>
          </a:p>
        </p:txBody>
      </p:sp>
      <p:pic>
        <p:nvPicPr>
          <p:cNvPr id="514070" name="Picture 22" descr="10"/>
          <p:cNvPicPr>
            <a:picLocks noChangeAspect="1" noChangeArrowheads="1"/>
          </p:cNvPicPr>
          <p:nvPr/>
        </p:nvPicPr>
        <p:blipFill>
          <a:blip r:embed="rId8"/>
          <a:srcRect/>
          <a:stretch>
            <a:fillRect/>
          </a:stretch>
        </p:blipFill>
        <p:spPr bwMode="auto">
          <a:xfrm>
            <a:off x="611188" y="3509963"/>
            <a:ext cx="3889375" cy="281463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4052"/>
                                        </p:tgtEl>
                                        <p:attrNameLst>
                                          <p:attrName>style.visibility</p:attrName>
                                        </p:attrNameLst>
                                      </p:cBhvr>
                                      <p:to>
                                        <p:strVal val="visible"/>
                                      </p:to>
                                    </p:set>
                                    <p:animEffect transition="in" filter="wipe(left)">
                                      <p:cBhvr>
                                        <p:cTn id="7" dur="500"/>
                                        <p:tgtEl>
                                          <p:spTgt spid="5140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4053"/>
                                        </p:tgtEl>
                                        <p:attrNameLst>
                                          <p:attrName>style.visibility</p:attrName>
                                        </p:attrNameLst>
                                      </p:cBhvr>
                                      <p:to>
                                        <p:strVal val="visible"/>
                                      </p:to>
                                    </p:set>
                                    <p:animEffect transition="in" filter="wipe(left)">
                                      <p:cBhvr>
                                        <p:cTn id="12" dur="500"/>
                                        <p:tgtEl>
                                          <p:spTgt spid="5140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4054"/>
                                        </p:tgtEl>
                                        <p:attrNameLst>
                                          <p:attrName>style.visibility</p:attrName>
                                        </p:attrNameLst>
                                      </p:cBhvr>
                                      <p:to>
                                        <p:strVal val="visible"/>
                                      </p:to>
                                    </p:set>
                                    <p:animEffect transition="in" filter="blinds(horizontal)">
                                      <p:cBhvr>
                                        <p:cTn id="17" dur="500"/>
                                        <p:tgtEl>
                                          <p:spTgt spid="514054"/>
                                        </p:tgtEl>
                                      </p:cBhvr>
                                    </p:animEffect>
                                  </p:childTnLst>
                                </p:cTn>
                              </p:par>
                              <p:par>
                                <p:cTn id="18" presetID="3" presetClass="entr" presetSubtype="10" fill="hold" nodeType="withEffect">
                                  <p:stCondLst>
                                    <p:cond delay="0"/>
                                  </p:stCondLst>
                                  <p:childTnLst>
                                    <p:set>
                                      <p:cBhvr>
                                        <p:cTn id="19" dur="1" fill="hold">
                                          <p:stCondLst>
                                            <p:cond delay="0"/>
                                          </p:stCondLst>
                                        </p:cTn>
                                        <p:tgtEl>
                                          <p:spTgt spid="514064"/>
                                        </p:tgtEl>
                                        <p:attrNameLst>
                                          <p:attrName>style.visibility</p:attrName>
                                        </p:attrNameLst>
                                      </p:cBhvr>
                                      <p:to>
                                        <p:strVal val="visible"/>
                                      </p:to>
                                    </p:set>
                                    <p:animEffect transition="in" filter="blinds(horizontal)">
                                      <p:cBhvr>
                                        <p:cTn id="20" dur="500"/>
                                        <p:tgtEl>
                                          <p:spTgt spid="51406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14065"/>
                                        </p:tgtEl>
                                        <p:attrNameLst>
                                          <p:attrName>style.visibility</p:attrName>
                                        </p:attrNameLst>
                                      </p:cBhvr>
                                      <p:to>
                                        <p:strVal val="visible"/>
                                      </p:to>
                                    </p:set>
                                    <p:animEffect transition="in" filter="wipe(left)">
                                      <p:cBhvr>
                                        <p:cTn id="25" dur="500"/>
                                        <p:tgtEl>
                                          <p:spTgt spid="51406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14066"/>
                                        </p:tgtEl>
                                        <p:attrNameLst>
                                          <p:attrName>style.visibility</p:attrName>
                                        </p:attrNameLst>
                                      </p:cBhvr>
                                      <p:to>
                                        <p:strVal val="visible"/>
                                      </p:to>
                                    </p:set>
                                    <p:animEffect transition="in" filter="wipe(left)">
                                      <p:cBhvr>
                                        <p:cTn id="30" dur="500"/>
                                        <p:tgtEl>
                                          <p:spTgt spid="51406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14067"/>
                                        </p:tgtEl>
                                        <p:attrNameLst>
                                          <p:attrName>style.visibility</p:attrName>
                                        </p:attrNameLst>
                                      </p:cBhvr>
                                      <p:to>
                                        <p:strVal val="visible"/>
                                      </p:to>
                                    </p:set>
                                    <p:animEffect transition="in" filter="wipe(left)">
                                      <p:cBhvr>
                                        <p:cTn id="35" dur="500"/>
                                        <p:tgtEl>
                                          <p:spTgt spid="51406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14068"/>
                                        </p:tgtEl>
                                        <p:attrNameLst>
                                          <p:attrName>style.visibility</p:attrName>
                                        </p:attrNameLst>
                                      </p:cBhvr>
                                      <p:to>
                                        <p:strVal val="visible"/>
                                      </p:to>
                                    </p:set>
                                    <p:animEffect transition="in" filter="wipe(left)">
                                      <p:cBhvr>
                                        <p:cTn id="40" dur="500"/>
                                        <p:tgtEl>
                                          <p:spTgt spid="51406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14069"/>
                                        </p:tgtEl>
                                        <p:attrNameLst>
                                          <p:attrName>style.visibility</p:attrName>
                                        </p:attrNameLst>
                                      </p:cBhvr>
                                      <p:to>
                                        <p:strVal val="visible"/>
                                      </p:to>
                                    </p:set>
                                    <p:animEffect transition="in" filter="wipe(left)">
                                      <p:cBhvr>
                                        <p:cTn id="45" dur="500"/>
                                        <p:tgtEl>
                                          <p:spTgt spid="514069"/>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nodeType="clickEffect">
                                  <p:stCondLst>
                                    <p:cond delay="0"/>
                                  </p:stCondLst>
                                  <p:childTnLst>
                                    <p:set>
                                      <p:cBhvr>
                                        <p:cTn id="49" dur="1" fill="hold">
                                          <p:stCondLst>
                                            <p:cond delay="0"/>
                                          </p:stCondLst>
                                        </p:cTn>
                                        <p:tgtEl>
                                          <p:spTgt spid="514070"/>
                                        </p:tgtEl>
                                        <p:attrNameLst>
                                          <p:attrName>style.visibility</p:attrName>
                                        </p:attrNameLst>
                                      </p:cBhvr>
                                      <p:to>
                                        <p:strVal val="visible"/>
                                      </p:to>
                                    </p:set>
                                    <p:animEffect transition="in" filter="box(out)">
                                      <p:cBhvr>
                                        <p:cTn id="50" dur="500"/>
                                        <p:tgtEl>
                                          <p:spTgt spid="514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2" grpId="0"/>
      <p:bldP spid="514053" grpId="0"/>
      <p:bldP spid="514066" grpId="0"/>
      <p:bldP spid="514068" grpId="0"/>
      <p:bldP spid="51406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17" name="灯片编号占位符 4"/>
          <p:cNvSpPr>
            <a:spLocks noGrp="1"/>
          </p:cNvSpPr>
          <p:nvPr>
            <p:ph type="sldNum" sz="quarter" idx="12"/>
          </p:nvPr>
        </p:nvSpPr>
        <p:spPr/>
        <p:txBody>
          <a:bodyPr/>
          <a:lstStyle/>
          <a:p>
            <a:fld id="{8614B70B-389C-4830-9815-9385D4397BBC}" type="slidenum">
              <a:rPr lang="en-US" altLang="zh-CN"/>
              <a:pPr/>
              <a:t>5</a:t>
            </a:fld>
            <a:endParaRPr lang="en-US" altLang="zh-CN"/>
          </a:p>
        </p:txBody>
      </p:sp>
      <p:sp>
        <p:nvSpPr>
          <p:cNvPr id="505859" name="Rectangle 3"/>
          <p:cNvSpPr>
            <a:spLocks noChangeArrowheads="1"/>
          </p:cNvSpPr>
          <p:nvPr/>
        </p:nvSpPr>
        <p:spPr bwMode="auto">
          <a:xfrm>
            <a:off x="501650" y="1219200"/>
            <a:ext cx="38417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气体分子热运动的微观模型</a:t>
            </a:r>
          </a:p>
        </p:txBody>
      </p:sp>
      <p:pic>
        <p:nvPicPr>
          <p:cNvPr id="505860" name="Picture 4" descr="image47"/>
          <p:cNvPicPr>
            <a:picLocks noChangeAspect="1" noChangeArrowheads="1"/>
          </p:cNvPicPr>
          <p:nvPr/>
        </p:nvPicPr>
        <p:blipFill>
          <a:blip r:embed="rId2"/>
          <a:srcRect/>
          <a:stretch>
            <a:fillRect/>
          </a:stretch>
        </p:blipFill>
        <p:spPr bwMode="auto">
          <a:xfrm>
            <a:off x="5719763" y="3605212"/>
            <a:ext cx="2663825" cy="2663825"/>
          </a:xfrm>
          <a:prstGeom prst="rect">
            <a:avLst/>
          </a:prstGeom>
          <a:noFill/>
        </p:spPr>
      </p:pic>
      <p:sp>
        <p:nvSpPr>
          <p:cNvPr id="505861" name="Text Box 5"/>
          <p:cNvSpPr txBox="1">
            <a:spLocks noChangeArrowheads="1"/>
          </p:cNvSpPr>
          <p:nvPr/>
        </p:nvSpPr>
        <p:spPr bwMode="auto">
          <a:xfrm>
            <a:off x="533400" y="1700213"/>
            <a:ext cx="8156575" cy="433387"/>
          </a:xfrm>
          <a:prstGeom prst="rect">
            <a:avLst/>
          </a:prstGeom>
          <a:noFill/>
          <a:ln w="9525" algn="ctr">
            <a:noFill/>
            <a:miter lim="800000"/>
            <a:headEnd/>
            <a:tailEnd/>
          </a:ln>
          <a:effectLst/>
        </p:spPr>
        <p:txBody>
          <a:bodyPr>
            <a:spAutoFit/>
          </a:bodyPr>
          <a:lstStyle/>
          <a:p>
            <a:pPr marL="457200" indent="-457200" algn="just">
              <a:lnSpc>
                <a:spcPct val="80000"/>
              </a:lnSpc>
              <a:spcBef>
                <a:spcPct val="50000"/>
              </a:spcBef>
              <a:buFont typeface="Wingdings" pitchFamily="2" charset="2"/>
              <a:buNone/>
            </a:pPr>
            <a:r>
              <a:rPr kumimoji="1" lang="en-US" altLang="zh-CN" sz="2800" dirty="0"/>
              <a:t>1</a:t>
            </a:r>
            <a:r>
              <a:rPr kumimoji="1" lang="zh-CN" altLang="en-US" sz="2800" dirty="0"/>
              <a:t>）气体系统由大量的分子组成。</a:t>
            </a:r>
          </a:p>
        </p:txBody>
      </p:sp>
      <p:sp>
        <p:nvSpPr>
          <p:cNvPr id="505862" name="Text Box 6"/>
          <p:cNvSpPr txBox="1">
            <a:spLocks noChangeArrowheads="1"/>
          </p:cNvSpPr>
          <p:nvPr/>
        </p:nvSpPr>
        <p:spPr bwMode="auto">
          <a:xfrm>
            <a:off x="533400" y="2438400"/>
            <a:ext cx="8239125" cy="1158875"/>
          </a:xfrm>
          <a:prstGeom prst="rect">
            <a:avLst/>
          </a:prstGeom>
          <a:noFill/>
          <a:ln w="9525">
            <a:noFill/>
            <a:miter lim="800000"/>
            <a:headEnd/>
            <a:tailEnd/>
          </a:ln>
          <a:effectLst/>
        </p:spPr>
        <p:txBody>
          <a:bodyPr>
            <a:spAutoFit/>
          </a:bodyPr>
          <a:lstStyle/>
          <a:p>
            <a:pPr marL="457200" indent="-457200" algn="just">
              <a:lnSpc>
                <a:spcPct val="125000"/>
              </a:lnSpc>
              <a:spcBef>
                <a:spcPct val="50000"/>
              </a:spcBef>
              <a:buFont typeface="Wingdings" pitchFamily="2" charset="2"/>
              <a:buNone/>
            </a:pPr>
            <a:r>
              <a:rPr kumimoji="1" lang="en-US" altLang="zh-CN" sz="2800" dirty="0"/>
              <a:t>2</a:t>
            </a:r>
            <a:r>
              <a:rPr kumimoji="1" lang="zh-CN" altLang="en-US" sz="2800" dirty="0"/>
              <a:t>）每个分子都在作不停的运动──热运动。由于分子之间频繁的碰撞，分子的运动是杂乱无章的。 </a:t>
            </a:r>
          </a:p>
        </p:txBody>
      </p:sp>
      <p:sp>
        <p:nvSpPr>
          <p:cNvPr id="505863" name="Text Box 7"/>
          <p:cNvSpPr txBox="1">
            <a:spLocks noChangeArrowheads="1"/>
          </p:cNvSpPr>
          <p:nvPr/>
        </p:nvSpPr>
        <p:spPr bwMode="auto">
          <a:xfrm>
            <a:off x="533400" y="5105400"/>
            <a:ext cx="4824413" cy="1031875"/>
          </a:xfrm>
          <a:prstGeom prst="rect">
            <a:avLst/>
          </a:prstGeom>
          <a:noFill/>
          <a:ln w="9525" algn="ctr">
            <a:noFill/>
            <a:miter lim="800000"/>
            <a:headEnd/>
            <a:tailEnd/>
          </a:ln>
          <a:effectLst/>
        </p:spPr>
        <p:txBody>
          <a:bodyPr>
            <a:spAutoFit/>
          </a:bodyPr>
          <a:lstStyle/>
          <a:p>
            <a:pPr marL="457200" indent="-457200" algn="just">
              <a:lnSpc>
                <a:spcPct val="110000"/>
              </a:lnSpc>
              <a:spcBef>
                <a:spcPct val="50000"/>
              </a:spcBef>
              <a:buFont typeface="Wingdings" pitchFamily="2" charset="2"/>
              <a:buNone/>
            </a:pPr>
            <a:r>
              <a:rPr kumimoji="1" lang="en-US" altLang="zh-CN" sz="2800" dirty="0"/>
              <a:t>3</a:t>
            </a:r>
            <a:r>
              <a:rPr kumimoji="1" lang="zh-CN" altLang="en-US" sz="2800" dirty="0"/>
              <a:t>）气体分子之间的相互作用力很小（一般可忽略）。</a:t>
            </a:r>
          </a:p>
        </p:txBody>
      </p:sp>
      <p:pic>
        <p:nvPicPr>
          <p:cNvPr id="505864" name="Picture 8" descr="image47"/>
          <p:cNvPicPr>
            <a:picLocks noChangeAspect="1" noChangeArrowheads="1"/>
          </p:cNvPicPr>
          <p:nvPr/>
        </p:nvPicPr>
        <p:blipFill>
          <a:blip r:embed="rId3"/>
          <a:srcRect/>
          <a:stretch>
            <a:fillRect/>
          </a:stretch>
        </p:blipFill>
        <p:spPr bwMode="auto">
          <a:xfrm>
            <a:off x="5646738" y="3581400"/>
            <a:ext cx="2760662" cy="2760662"/>
          </a:xfrm>
          <a:prstGeom prst="rect">
            <a:avLst/>
          </a:prstGeom>
          <a:noFill/>
        </p:spPr>
      </p:pic>
      <p:grpSp>
        <p:nvGrpSpPr>
          <p:cNvPr id="505865" name="Group 9"/>
          <p:cNvGrpSpPr>
            <a:grpSpLocks/>
          </p:cNvGrpSpPr>
          <p:nvPr/>
        </p:nvGrpSpPr>
        <p:grpSpPr bwMode="auto">
          <a:xfrm>
            <a:off x="1524000" y="3581400"/>
            <a:ext cx="2351088" cy="1220788"/>
            <a:chOff x="1020" y="2477"/>
            <a:chExt cx="1481" cy="769"/>
          </a:xfrm>
        </p:grpSpPr>
        <p:graphicFrame>
          <p:nvGraphicFramePr>
            <p:cNvPr id="505866" name="Object 10"/>
            <p:cNvGraphicFramePr>
              <a:graphicFrameLocks noChangeAspect="1"/>
            </p:cNvGraphicFramePr>
            <p:nvPr/>
          </p:nvGraphicFramePr>
          <p:xfrm>
            <a:off x="1048" y="2477"/>
            <a:ext cx="1424" cy="351"/>
          </p:xfrm>
          <a:graphic>
            <a:graphicData uri="http://schemas.openxmlformats.org/presentationml/2006/ole">
              <mc:AlternateContent xmlns:mc="http://schemas.openxmlformats.org/markup-compatibility/2006">
                <mc:Choice xmlns:v="urn:schemas-microsoft-com:vml" Requires="v">
                  <p:oleObj name="Equation" r:id="rId4" imgW="876240" imgH="215640" progId="">
                    <p:embed/>
                  </p:oleObj>
                </mc:Choice>
                <mc:Fallback>
                  <p:oleObj name="Equation" r:id="rId4" imgW="876240" imgH="215640" progId="">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8" y="2477"/>
                          <a:ext cx="1424" cy="3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5867" name="Object 11"/>
            <p:cNvGraphicFramePr>
              <a:graphicFrameLocks noChangeAspect="1"/>
            </p:cNvGraphicFramePr>
            <p:nvPr/>
          </p:nvGraphicFramePr>
          <p:xfrm>
            <a:off x="1020" y="2886"/>
            <a:ext cx="1481" cy="360"/>
          </p:xfrm>
          <a:graphic>
            <a:graphicData uri="http://schemas.openxmlformats.org/presentationml/2006/ole">
              <mc:AlternateContent xmlns:mc="http://schemas.openxmlformats.org/markup-compatibility/2006">
                <mc:Choice xmlns:v="urn:schemas-microsoft-com:vml" Requires="v">
                  <p:oleObj name="Equation" r:id="rId6" imgW="888840" imgH="215640" progId="">
                    <p:embed/>
                  </p:oleObj>
                </mc:Choice>
                <mc:Fallback>
                  <p:oleObj name="Equation" r:id="rId6" imgW="888840" imgH="215640" progId="">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0" y="2886"/>
                          <a:ext cx="1481" cy="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05870" name="Object 14"/>
          <p:cNvGraphicFramePr>
            <a:graphicFrameLocks noChangeAspect="1"/>
          </p:cNvGraphicFramePr>
          <p:nvPr/>
        </p:nvGraphicFramePr>
        <p:xfrm>
          <a:off x="4648200" y="2041525"/>
          <a:ext cx="1671638" cy="488950"/>
        </p:xfrm>
        <a:graphic>
          <a:graphicData uri="http://schemas.openxmlformats.org/presentationml/2006/ole">
            <mc:AlternateContent xmlns:mc="http://schemas.openxmlformats.org/markup-compatibility/2006">
              <mc:Choice xmlns:v="urn:schemas-microsoft-com:vml" Requires="v">
                <p:oleObj name="Equation" r:id="rId8" imgW="736560" imgH="215640" progId="">
                  <p:embed/>
                </p:oleObj>
              </mc:Choice>
              <mc:Fallback>
                <p:oleObj name="Equation" r:id="rId8" imgW="736560" imgH="215640" progId="">
                  <p:embed/>
                  <p:pic>
                    <p:nvPicPr>
                      <p:cNvPr id="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8200" y="2041525"/>
                        <a:ext cx="167163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5871" name="Object 15"/>
          <p:cNvGraphicFramePr>
            <a:graphicFrameLocks noChangeAspect="1"/>
          </p:cNvGraphicFramePr>
          <p:nvPr/>
        </p:nvGraphicFramePr>
        <p:xfrm>
          <a:off x="6477000" y="2027238"/>
          <a:ext cx="2017713" cy="517525"/>
        </p:xfrm>
        <a:graphic>
          <a:graphicData uri="http://schemas.openxmlformats.org/presentationml/2006/ole">
            <mc:AlternateContent xmlns:mc="http://schemas.openxmlformats.org/markup-compatibility/2006">
              <mc:Choice xmlns:v="urn:schemas-microsoft-com:vml" Requires="v">
                <p:oleObj name="Equation" r:id="rId10" imgW="888840" imgH="228600" progId="">
                  <p:embed/>
                </p:oleObj>
              </mc:Choice>
              <mc:Fallback>
                <p:oleObj name="Equation" r:id="rId10" imgW="888840" imgH="228600" progId="">
                  <p:embed/>
                  <p:pic>
                    <p:nvPicPr>
                      <p:cNvPr id="0" name="Picture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77000" y="2027238"/>
                        <a:ext cx="2017713"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5872" name="Object 16"/>
          <p:cNvGraphicFramePr>
            <a:graphicFrameLocks noChangeAspect="1"/>
          </p:cNvGraphicFramePr>
          <p:nvPr/>
        </p:nvGraphicFramePr>
        <p:xfrm>
          <a:off x="1447800" y="2057400"/>
          <a:ext cx="2916238" cy="457200"/>
        </p:xfrm>
        <a:graphic>
          <a:graphicData uri="http://schemas.openxmlformats.org/presentationml/2006/ole">
            <mc:AlternateContent xmlns:mc="http://schemas.openxmlformats.org/markup-compatibility/2006">
              <mc:Choice xmlns:v="urn:schemas-microsoft-com:vml" Requires="v">
                <p:oleObj name="公式" r:id="rId12" imgW="1460160" imgH="228600" progId="Equation.3">
                  <p:embed/>
                </p:oleObj>
              </mc:Choice>
              <mc:Fallback>
                <p:oleObj name="公式" r:id="rId12" imgW="1460160" imgH="228600" progId="Equation.3">
                  <p:embed/>
                  <p:pic>
                    <p:nvPicPr>
                      <p:cNvPr id="0" name="Picture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47800" y="2057400"/>
                        <a:ext cx="291623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5861"/>
                                        </p:tgtEl>
                                        <p:attrNameLst>
                                          <p:attrName>style.visibility</p:attrName>
                                        </p:attrNameLst>
                                      </p:cBhvr>
                                      <p:to>
                                        <p:strVal val="visible"/>
                                      </p:to>
                                    </p:set>
                                    <p:anim calcmode="lin" valueType="num">
                                      <p:cBhvr additive="base">
                                        <p:cTn id="7" dur="500" fill="hold"/>
                                        <p:tgtEl>
                                          <p:spTgt spid="505861"/>
                                        </p:tgtEl>
                                        <p:attrNameLst>
                                          <p:attrName>ppt_x</p:attrName>
                                        </p:attrNameLst>
                                      </p:cBhvr>
                                      <p:tavLst>
                                        <p:tav tm="0">
                                          <p:val>
                                            <p:strVal val="0-#ppt_w/2"/>
                                          </p:val>
                                        </p:tav>
                                        <p:tav tm="100000">
                                          <p:val>
                                            <p:strVal val="#ppt_x"/>
                                          </p:val>
                                        </p:tav>
                                      </p:tavLst>
                                    </p:anim>
                                    <p:anim calcmode="lin" valueType="num">
                                      <p:cBhvr additive="base">
                                        <p:cTn id="8" dur="500" fill="hold"/>
                                        <p:tgtEl>
                                          <p:spTgt spid="5058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05872"/>
                                        </p:tgtEl>
                                        <p:attrNameLst>
                                          <p:attrName>style.visibility</p:attrName>
                                        </p:attrNameLst>
                                      </p:cBhvr>
                                      <p:to>
                                        <p:strVal val="visible"/>
                                      </p:to>
                                    </p:set>
                                    <p:animEffect transition="in" filter="wipe(up)">
                                      <p:cBhvr>
                                        <p:cTn id="13" dur="1000"/>
                                        <p:tgtEl>
                                          <p:spTgt spid="505872"/>
                                        </p:tgtEl>
                                      </p:cBhvr>
                                    </p:animEffect>
                                  </p:childTnLst>
                                </p:cTn>
                              </p:par>
                              <p:par>
                                <p:cTn id="14" presetID="22" presetClass="entr" presetSubtype="1" fill="hold" nodeType="withEffect">
                                  <p:stCondLst>
                                    <p:cond delay="0"/>
                                  </p:stCondLst>
                                  <p:childTnLst>
                                    <p:set>
                                      <p:cBhvr>
                                        <p:cTn id="15" dur="1" fill="hold">
                                          <p:stCondLst>
                                            <p:cond delay="0"/>
                                          </p:stCondLst>
                                        </p:cTn>
                                        <p:tgtEl>
                                          <p:spTgt spid="505870"/>
                                        </p:tgtEl>
                                        <p:attrNameLst>
                                          <p:attrName>style.visibility</p:attrName>
                                        </p:attrNameLst>
                                      </p:cBhvr>
                                      <p:to>
                                        <p:strVal val="visible"/>
                                      </p:to>
                                    </p:set>
                                    <p:animEffect transition="in" filter="wipe(up)">
                                      <p:cBhvr>
                                        <p:cTn id="16" dur="1000"/>
                                        <p:tgtEl>
                                          <p:spTgt spid="505870"/>
                                        </p:tgtEl>
                                      </p:cBhvr>
                                    </p:animEffect>
                                  </p:childTnLst>
                                </p:cTn>
                              </p:par>
                              <p:par>
                                <p:cTn id="17" presetID="22" presetClass="entr" presetSubtype="1" fill="hold" nodeType="withEffect">
                                  <p:stCondLst>
                                    <p:cond delay="0"/>
                                  </p:stCondLst>
                                  <p:childTnLst>
                                    <p:set>
                                      <p:cBhvr>
                                        <p:cTn id="18" dur="1" fill="hold">
                                          <p:stCondLst>
                                            <p:cond delay="0"/>
                                          </p:stCondLst>
                                        </p:cTn>
                                        <p:tgtEl>
                                          <p:spTgt spid="505871"/>
                                        </p:tgtEl>
                                        <p:attrNameLst>
                                          <p:attrName>style.visibility</p:attrName>
                                        </p:attrNameLst>
                                      </p:cBhvr>
                                      <p:to>
                                        <p:strVal val="visible"/>
                                      </p:to>
                                    </p:set>
                                    <p:animEffect transition="in" filter="wipe(up)">
                                      <p:cBhvr>
                                        <p:cTn id="19" dur="1000"/>
                                        <p:tgtEl>
                                          <p:spTgt spid="50587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505860"/>
                                        </p:tgtEl>
                                        <p:attrNameLst>
                                          <p:attrName>style.visibility</p:attrName>
                                        </p:attrNameLst>
                                      </p:cBhvr>
                                      <p:to>
                                        <p:strVal val="visible"/>
                                      </p:to>
                                    </p:set>
                                    <p:anim calcmode="lin" valueType="num">
                                      <p:cBhvr additive="base">
                                        <p:cTn id="24" dur="500" fill="hold"/>
                                        <p:tgtEl>
                                          <p:spTgt spid="505860"/>
                                        </p:tgtEl>
                                        <p:attrNameLst>
                                          <p:attrName>ppt_x</p:attrName>
                                        </p:attrNameLst>
                                      </p:cBhvr>
                                      <p:tavLst>
                                        <p:tav tm="0">
                                          <p:val>
                                            <p:strVal val="0-#ppt_w/2"/>
                                          </p:val>
                                        </p:tav>
                                        <p:tav tm="100000">
                                          <p:val>
                                            <p:strVal val="#ppt_x"/>
                                          </p:val>
                                        </p:tav>
                                      </p:tavLst>
                                    </p:anim>
                                    <p:anim calcmode="lin" valueType="num">
                                      <p:cBhvr additive="base">
                                        <p:cTn id="25" dur="500" fill="hold"/>
                                        <p:tgtEl>
                                          <p:spTgt spid="50586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505862"/>
                                        </p:tgtEl>
                                        <p:attrNameLst>
                                          <p:attrName>style.visibility</p:attrName>
                                        </p:attrNameLst>
                                      </p:cBhvr>
                                      <p:to>
                                        <p:strVal val="visible"/>
                                      </p:to>
                                    </p:set>
                                    <p:anim calcmode="lin" valueType="num">
                                      <p:cBhvr additive="base">
                                        <p:cTn id="30" dur="500" fill="hold"/>
                                        <p:tgtEl>
                                          <p:spTgt spid="505862"/>
                                        </p:tgtEl>
                                        <p:attrNameLst>
                                          <p:attrName>ppt_x</p:attrName>
                                        </p:attrNameLst>
                                      </p:cBhvr>
                                      <p:tavLst>
                                        <p:tav tm="0">
                                          <p:val>
                                            <p:strVal val="0-#ppt_w/2"/>
                                          </p:val>
                                        </p:tav>
                                        <p:tav tm="100000">
                                          <p:val>
                                            <p:strVal val="#ppt_x"/>
                                          </p:val>
                                        </p:tav>
                                      </p:tavLst>
                                    </p:anim>
                                    <p:anim calcmode="lin" valueType="num">
                                      <p:cBhvr additive="base">
                                        <p:cTn id="31" dur="500" fill="hold"/>
                                        <p:tgtEl>
                                          <p:spTgt spid="505862"/>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nodeType="clickEffect">
                                  <p:stCondLst>
                                    <p:cond delay="0"/>
                                  </p:stCondLst>
                                  <p:childTnLst>
                                    <p:set>
                                      <p:cBhvr>
                                        <p:cTn id="35" dur="1" fill="hold">
                                          <p:stCondLst>
                                            <p:cond delay="0"/>
                                          </p:stCondLst>
                                        </p:cTn>
                                        <p:tgtEl>
                                          <p:spTgt spid="505864"/>
                                        </p:tgtEl>
                                        <p:attrNameLst>
                                          <p:attrName>style.visibility</p:attrName>
                                        </p:attrNameLst>
                                      </p:cBhvr>
                                      <p:to>
                                        <p:strVal val="visible"/>
                                      </p:to>
                                    </p:set>
                                    <p:animEffect transition="in" filter="diamond(in)">
                                      <p:cBhvr>
                                        <p:cTn id="36" dur="1000"/>
                                        <p:tgtEl>
                                          <p:spTgt spid="505864"/>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nodeType="clickEffect">
                                  <p:stCondLst>
                                    <p:cond delay="0"/>
                                  </p:stCondLst>
                                  <p:childTnLst>
                                    <p:set>
                                      <p:cBhvr>
                                        <p:cTn id="40" dur="1" fill="hold">
                                          <p:stCondLst>
                                            <p:cond delay="0"/>
                                          </p:stCondLst>
                                        </p:cTn>
                                        <p:tgtEl>
                                          <p:spTgt spid="505865"/>
                                        </p:tgtEl>
                                        <p:attrNameLst>
                                          <p:attrName>style.visibility</p:attrName>
                                        </p:attrNameLst>
                                      </p:cBhvr>
                                      <p:to>
                                        <p:strVal val="visible"/>
                                      </p:to>
                                    </p:set>
                                    <p:animEffect transition="in" filter="checkerboard(across)">
                                      <p:cBhvr>
                                        <p:cTn id="41" dur="500"/>
                                        <p:tgtEl>
                                          <p:spTgt spid="505865"/>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505863"/>
                                        </p:tgtEl>
                                        <p:attrNameLst>
                                          <p:attrName>style.visibility</p:attrName>
                                        </p:attrNameLst>
                                      </p:cBhvr>
                                      <p:to>
                                        <p:strVal val="visible"/>
                                      </p:to>
                                    </p:set>
                                    <p:anim calcmode="lin" valueType="num">
                                      <p:cBhvr additive="base">
                                        <p:cTn id="46" dur="500" fill="hold"/>
                                        <p:tgtEl>
                                          <p:spTgt spid="505863"/>
                                        </p:tgtEl>
                                        <p:attrNameLst>
                                          <p:attrName>ppt_x</p:attrName>
                                        </p:attrNameLst>
                                      </p:cBhvr>
                                      <p:tavLst>
                                        <p:tav tm="0">
                                          <p:val>
                                            <p:strVal val="0-#ppt_w/2"/>
                                          </p:val>
                                        </p:tav>
                                        <p:tav tm="100000">
                                          <p:val>
                                            <p:strVal val="#ppt_x"/>
                                          </p:val>
                                        </p:tav>
                                      </p:tavLst>
                                    </p:anim>
                                    <p:anim calcmode="lin" valueType="num">
                                      <p:cBhvr additive="base">
                                        <p:cTn id="47" dur="500" fill="hold"/>
                                        <p:tgtEl>
                                          <p:spTgt spid="5058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61" grpId="0" autoUpdateAnimBg="0"/>
      <p:bldP spid="505862" grpId="0" autoUpdateAnimBg="0"/>
      <p:bldP spid="50586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5" name="灯片编号占位符 4"/>
          <p:cNvSpPr>
            <a:spLocks noGrp="1"/>
          </p:cNvSpPr>
          <p:nvPr>
            <p:ph type="sldNum" sz="quarter" idx="12"/>
          </p:nvPr>
        </p:nvSpPr>
        <p:spPr/>
        <p:txBody>
          <a:bodyPr/>
          <a:lstStyle/>
          <a:p>
            <a:fld id="{E292F1E3-D0BF-4B20-9313-21E4BD5AC48B}" type="slidenum">
              <a:rPr lang="en-US" altLang="zh-CN"/>
              <a:pPr/>
              <a:t>6</a:t>
            </a:fld>
            <a:endParaRPr lang="en-US" altLang="zh-CN"/>
          </a:p>
        </p:txBody>
      </p:sp>
    </p:spTree>
    <p:controls>
      <mc:AlternateContent xmlns:mc="http://schemas.openxmlformats.org/markup-compatibility/2006">
        <mc:Choice xmlns:v="urn:schemas-microsoft-com:vml" Requires="v">
          <p:control r:id="rId1" imgW="6828571" imgH="5040762"/>
        </mc:Choice>
        <mc:Fallback>
          <p:control r:id="rId1" imgW="6828571" imgH="5040762">
            <p:pic>
              <p:nvPicPr>
                <p:cNvPr id="2" name="ShockwaveFlash1"/>
                <p:cNvPicPr preferRelativeResize="0">
                  <a:picLocks noChangeAspect="1"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19200"/>
                  <a:ext cx="6827838" cy="5040313"/>
                </a:xfrm>
                <a:prstGeom prst="rect">
                  <a:avLst/>
                </a:prstGeom>
                <a:noFill/>
                <a:ln w="19050">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5" name="灯片编号占位符 4"/>
          <p:cNvSpPr>
            <a:spLocks noGrp="1"/>
          </p:cNvSpPr>
          <p:nvPr>
            <p:ph type="sldNum" sz="quarter" idx="12"/>
          </p:nvPr>
        </p:nvSpPr>
        <p:spPr/>
        <p:txBody>
          <a:bodyPr/>
          <a:lstStyle/>
          <a:p>
            <a:fld id="{009A0901-CA6C-4C94-B153-FCD6A0238869}" type="slidenum">
              <a:rPr lang="en-US" altLang="zh-CN"/>
              <a:pPr/>
              <a:t>7</a:t>
            </a:fld>
            <a:endParaRPr lang="en-US" altLang="zh-CN"/>
          </a:p>
        </p:txBody>
      </p:sp>
    </p:spTree>
    <p:controls>
      <mc:AlternateContent xmlns:mc="http://schemas.openxmlformats.org/markup-compatibility/2006">
        <mc:Choice xmlns:v="urn:schemas-microsoft-com:vml" Requires="v">
          <p:control r:id="rId1" imgW="4927720" imgH="5040762"/>
        </mc:Choice>
        <mc:Fallback>
          <p:control r:id="rId1" imgW="4927720" imgH="5040762">
            <p:pic>
              <p:nvPicPr>
                <p:cNvPr id="2" name="ShockwaveFlash1"/>
                <p:cNvPicPr preferRelativeResize="0">
                  <a:picLocks noChangeAspect="1"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2082800" y="1219200"/>
                  <a:ext cx="4927600" cy="5040313"/>
                </a:xfrm>
                <a:prstGeom prst="rect">
                  <a:avLst/>
                </a:prstGeom>
                <a:noFill/>
                <a:ln w="19050">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11" name="灯片编号占位符 4"/>
          <p:cNvSpPr>
            <a:spLocks noGrp="1"/>
          </p:cNvSpPr>
          <p:nvPr>
            <p:ph type="sldNum" sz="quarter" idx="12"/>
          </p:nvPr>
        </p:nvSpPr>
        <p:spPr/>
        <p:txBody>
          <a:bodyPr/>
          <a:lstStyle/>
          <a:p>
            <a:fld id="{0044B044-54E4-4209-9BDA-A65E7382E69D}" type="slidenum">
              <a:rPr lang="en-US" altLang="zh-CN"/>
              <a:pPr/>
              <a:t>8</a:t>
            </a:fld>
            <a:endParaRPr lang="en-US" altLang="zh-CN"/>
          </a:p>
        </p:txBody>
      </p:sp>
      <p:sp>
        <p:nvSpPr>
          <p:cNvPr id="509955" name="Rectangle 3"/>
          <p:cNvSpPr>
            <a:spLocks noChangeArrowheads="1"/>
          </p:cNvSpPr>
          <p:nvPr/>
        </p:nvSpPr>
        <p:spPr bwMode="auto">
          <a:xfrm>
            <a:off x="50165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t>分子热运动与统计规律</a:t>
            </a:r>
          </a:p>
        </p:txBody>
      </p:sp>
      <p:sp>
        <p:nvSpPr>
          <p:cNvPr id="509956" name="Text Box 4"/>
          <p:cNvSpPr txBox="1">
            <a:spLocks noChangeArrowheads="1"/>
          </p:cNvSpPr>
          <p:nvPr/>
        </p:nvSpPr>
        <p:spPr bwMode="auto">
          <a:xfrm>
            <a:off x="611188" y="1751013"/>
            <a:ext cx="8075612" cy="1073150"/>
          </a:xfrm>
          <a:prstGeom prst="rect">
            <a:avLst/>
          </a:prstGeom>
          <a:noFill/>
          <a:ln w="12700" cap="sq">
            <a:noFill/>
            <a:miter lim="800000"/>
            <a:headEnd type="none" w="sm" len="sm"/>
            <a:tailEnd type="none" w="sm" len="sm"/>
          </a:ln>
          <a:effectLst/>
        </p:spPr>
        <p:txBody>
          <a:bodyPr>
            <a:spAutoFit/>
          </a:bodyPr>
          <a:lstStyle/>
          <a:p>
            <a:pPr>
              <a:lnSpc>
                <a:spcPct val="115000"/>
              </a:lnSpc>
              <a:spcBef>
                <a:spcPct val="50000"/>
              </a:spcBef>
            </a:pPr>
            <a:r>
              <a:rPr kumimoji="1" lang="zh-CN" altLang="en-US" sz="2800"/>
              <a:t>气体分子动理论是从物质的微观分子</a:t>
            </a:r>
            <a:r>
              <a:rPr kumimoji="1" lang="zh-CN" altLang="en-US" sz="2800">
                <a:solidFill>
                  <a:srgbClr val="0000CC"/>
                </a:solidFill>
              </a:rPr>
              <a:t>热运动</a:t>
            </a:r>
            <a:r>
              <a:rPr kumimoji="1" lang="zh-CN" altLang="en-US" sz="2800"/>
              <a:t>出发，去研究气体</a:t>
            </a:r>
            <a:r>
              <a:rPr kumimoji="1" lang="zh-CN" altLang="en-US" sz="2800">
                <a:solidFill>
                  <a:srgbClr val="0000CC"/>
                </a:solidFill>
              </a:rPr>
              <a:t>热现象</a:t>
            </a:r>
            <a:r>
              <a:rPr kumimoji="1" lang="zh-CN" altLang="en-US" sz="2800"/>
              <a:t>的理论。</a:t>
            </a:r>
          </a:p>
        </p:txBody>
      </p:sp>
      <p:sp>
        <p:nvSpPr>
          <p:cNvPr id="509957" name="Text Box 5"/>
          <p:cNvSpPr txBox="1">
            <a:spLocks noChangeArrowheads="1"/>
          </p:cNvSpPr>
          <p:nvPr/>
        </p:nvSpPr>
        <p:spPr bwMode="auto">
          <a:xfrm>
            <a:off x="533400" y="3119438"/>
            <a:ext cx="8070850" cy="582612"/>
          </a:xfrm>
          <a:prstGeom prst="rect">
            <a:avLst/>
          </a:prstGeom>
          <a:noFill/>
          <a:ln w="12700" cap="sq" algn="ctr">
            <a:noFill/>
            <a:miter lim="800000"/>
            <a:headEnd type="none" w="sm" len="sm"/>
            <a:tailEnd type="none" w="sm" len="sm"/>
          </a:ln>
          <a:effectLst/>
        </p:spPr>
        <p:txBody>
          <a:bodyPr>
            <a:spAutoFit/>
          </a:bodyPr>
          <a:lstStyle/>
          <a:p>
            <a:pPr>
              <a:lnSpc>
                <a:spcPct val="115000"/>
              </a:lnSpc>
              <a:spcBef>
                <a:spcPct val="50000"/>
              </a:spcBef>
            </a:pPr>
            <a:r>
              <a:rPr kumimoji="1" lang="zh-CN" altLang="en-US" sz="2800">
                <a:solidFill>
                  <a:srgbClr val="0000CC"/>
                </a:solidFill>
              </a:rPr>
              <a:t>微观量</a:t>
            </a:r>
            <a:r>
              <a:rPr kumimoji="1" lang="zh-CN" altLang="en-US" sz="2800"/>
              <a:t>：分子的质量、速度、动量、能量等。</a:t>
            </a:r>
          </a:p>
        </p:txBody>
      </p:sp>
      <p:sp>
        <p:nvSpPr>
          <p:cNvPr id="509958" name="Text Box 6"/>
          <p:cNvSpPr txBox="1">
            <a:spLocks noChangeArrowheads="1"/>
          </p:cNvSpPr>
          <p:nvPr/>
        </p:nvSpPr>
        <p:spPr bwMode="auto">
          <a:xfrm>
            <a:off x="539750" y="4775200"/>
            <a:ext cx="8001000" cy="519113"/>
          </a:xfrm>
          <a:prstGeom prst="rect">
            <a:avLst/>
          </a:prstGeom>
          <a:noFill/>
          <a:ln w="12700" cap="sq" algn="ctr">
            <a:noFill/>
            <a:miter lim="800000"/>
            <a:headEnd type="none" w="sm" len="sm"/>
            <a:tailEnd type="none" w="sm" len="sm"/>
          </a:ln>
          <a:effectLst/>
        </p:spPr>
        <p:txBody>
          <a:bodyPr>
            <a:spAutoFit/>
          </a:bodyPr>
          <a:lstStyle/>
          <a:p>
            <a:pPr>
              <a:spcBef>
                <a:spcPct val="50000"/>
              </a:spcBef>
            </a:pPr>
            <a:r>
              <a:rPr kumimoji="1" lang="zh-CN" altLang="en-US" sz="2800">
                <a:solidFill>
                  <a:srgbClr val="0000CC"/>
                </a:solidFill>
              </a:rPr>
              <a:t>宏观量</a:t>
            </a:r>
            <a:r>
              <a:rPr kumimoji="1" lang="zh-CN" altLang="en-US" sz="2800"/>
              <a:t>： 温度、压强、体积等。</a:t>
            </a:r>
          </a:p>
        </p:txBody>
      </p:sp>
      <p:sp>
        <p:nvSpPr>
          <p:cNvPr id="509959" name="Rectangle 7"/>
          <p:cNvSpPr>
            <a:spLocks noChangeArrowheads="1"/>
          </p:cNvSpPr>
          <p:nvPr/>
        </p:nvSpPr>
        <p:spPr bwMode="auto">
          <a:xfrm>
            <a:off x="2051050" y="3840163"/>
            <a:ext cx="5873750" cy="519112"/>
          </a:xfrm>
          <a:prstGeom prst="rect">
            <a:avLst/>
          </a:prstGeom>
          <a:noFill/>
          <a:ln w="12700" cap="sq">
            <a:noFill/>
            <a:miter lim="800000"/>
            <a:headEnd type="none" w="sm" len="sm"/>
            <a:tailEnd type="none" w="sm" len="sm"/>
          </a:ln>
          <a:effectLst/>
        </p:spPr>
        <p:txBody>
          <a:bodyPr wrap="none">
            <a:spAutoFit/>
          </a:bodyPr>
          <a:lstStyle/>
          <a:p>
            <a:r>
              <a:rPr kumimoji="1" lang="zh-CN" altLang="en-US" sz="2800"/>
              <a:t>在宏观上不能直接进行测量和观察。</a:t>
            </a:r>
          </a:p>
        </p:txBody>
      </p:sp>
      <p:sp>
        <p:nvSpPr>
          <p:cNvPr id="509960" name="Rectangle 8"/>
          <p:cNvSpPr>
            <a:spLocks noChangeArrowheads="1"/>
          </p:cNvSpPr>
          <p:nvPr/>
        </p:nvSpPr>
        <p:spPr bwMode="auto">
          <a:xfrm>
            <a:off x="2051050" y="5424488"/>
            <a:ext cx="5873750" cy="519112"/>
          </a:xfrm>
          <a:prstGeom prst="rect">
            <a:avLst/>
          </a:prstGeom>
          <a:noFill/>
          <a:ln w="12700" cap="sq" algn="ctr">
            <a:noFill/>
            <a:miter lim="800000"/>
            <a:headEnd type="none" w="sm" len="sm"/>
            <a:tailEnd type="none" w="sm" len="sm"/>
          </a:ln>
          <a:effectLst/>
        </p:spPr>
        <p:txBody>
          <a:bodyPr wrap="none">
            <a:spAutoFit/>
          </a:bodyPr>
          <a:lstStyle/>
          <a:p>
            <a:r>
              <a:rPr kumimoji="1" lang="zh-CN" altLang="en-US" sz="2800"/>
              <a:t>在宏观上能够直接进行测量和观察。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509957"/>
                                        </p:tgtEl>
                                        <p:attrNameLst>
                                          <p:attrName>style.visibility</p:attrName>
                                        </p:attrNameLst>
                                      </p:cBhvr>
                                      <p:to>
                                        <p:strVal val="visible"/>
                                      </p:to>
                                    </p:set>
                                    <p:animEffect transition="in" filter="strips(upRight)">
                                      <p:cBhvr>
                                        <p:cTn id="7" dur="500"/>
                                        <p:tgtEl>
                                          <p:spTgt spid="50995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509959"/>
                                        </p:tgtEl>
                                        <p:attrNameLst>
                                          <p:attrName>style.visibility</p:attrName>
                                        </p:attrNameLst>
                                      </p:cBhvr>
                                      <p:to>
                                        <p:strVal val="visible"/>
                                      </p:to>
                                    </p:set>
                                    <p:animEffect transition="in" filter="strips(upRight)">
                                      <p:cBhvr>
                                        <p:cTn id="12" dur="500"/>
                                        <p:tgtEl>
                                          <p:spTgt spid="50995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509958"/>
                                        </p:tgtEl>
                                        <p:attrNameLst>
                                          <p:attrName>style.visibility</p:attrName>
                                        </p:attrNameLst>
                                      </p:cBhvr>
                                      <p:to>
                                        <p:strVal val="visible"/>
                                      </p:to>
                                    </p:set>
                                    <p:animEffect transition="in" filter="strips(upRight)">
                                      <p:cBhvr>
                                        <p:cTn id="17" dur="500"/>
                                        <p:tgtEl>
                                          <p:spTgt spid="50995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509960"/>
                                        </p:tgtEl>
                                        <p:attrNameLst>
                                          <p:attrName>style.visibility</p:attrName>
                                        </p:attrNameLst>
                                      </p:cBhvr>
                                      <p:to>
                                        <p:strVal val="visible"/>
                                      </p:to>
                                    </p:set>
                                    <p:animEffect transition="in" filter="strips(upRight)">
                                      <p:cBhvr>
                                        <p:cTn id="22" dur="500"/>
                                        <p:tgtEl>
                                          <p:spTgt spid="509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7" grpId="0" autoUpdateAnimBg="0"/>
      <p:bldP spid="509958" grpId="0" autoUpdateAnimBg="0"/>
      <p:bldP spid="509959" grpId="0" autoUpdateAnimBg="0"/>
      <p:bldP spid="50996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13" name="灯片编号占位符 4"/>
          <p:cNvSpPr>
            <a:spLocks noGrp="1"/>
          </p:cNvSpPr>
          <p:nvPr>
            <p:ph type="sldNum" sz="quarter" idx="12"/>
          </p:nvPr>
        </p:nvSpPr>
        <p:spPr/>
        <p:txBody>
          <a:bodyPr/>
          <a:lstStyle/>
          <a:p>
            <a:fld id="{1855957D-A7F4-4A43-822B-CE28EA631DAE}" type="slidenum">
              <a:rPr lang="en-US" altLang="zh-CN"/>
              <a:pPr/>
              <a:t>9</a:t>
            </a:fld>
            <a:endParaRPr lang="en-US" altLang="zh-CN"/>
          </a:p>
        </p:txBody>
      </p:sp>
      <p:sp>
        <p:nvSpPr>
          <p:cNvPr id="510979" name="Rectangle 3"/>
          <p:cNvSpPr>
            <a:spLocks noChangeArrowheads="1"/>
          </p:cNvSpPr>
          <p:nvPr/>
        </p:nvSpPr>
        <p:spPr bwMode="auto">
          <a:xfrm>
            <a:off x="50165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宏观量与微观量的关系</a:t>
            </a:r>
          </a:p>
        </p:txBody>
      </p:sp>
      <p:sp>
        <p:nvSpPr>
          <p:cNvPr id="510980" name="Text Box 4"/>
          <p:cNvSpPr txBox="1">
            <a:spLocks noChangeArrowheads="1"/>
          </p:cNvSpPr>
          <p:nvPr/>
        </p:nvSpPr>
        <p:spPr bwMode="auto">
          <a:xfrm>
            <a:off x="457200" y="1636712"/>
            <a:ext cx="8458200" cy="1563688"/>
          </a:xfrm>
          <a:prstGeom prst="rect">
            <a:avLst/>
          </a:prstGeom>
          <a:noFill/>
          <a:ln w="12700" cap="sq">
            <a:noFill/>
            <a:miter lim="800000"/>
            <a:headEnd type="none" w="sm" len="sm"/>
            <a:tailEnd type="none" w="sm" len="sm"/>
          </a:ln>
          <a:effectLst/>
        </p:spPr>
        <p:txBody>
          <a:bodyPr>
            <a:spAutoFit/>
          </a:bodyPr>
          <a:lstStyle/>
          <a:p>
            <a:pPr>
              <a:lnSpc>
                <a:spcPct val="115000"/>
              </a:lnSpc>
              <a:spcBef>
                <a:spcPct val="50000"/>
              </a:spcBef>
            </a:pPr>
            <a:r>
              <a:rPr kumimoji="1" lang="zh-CN" altLang="en-US" sz="2800" dirty="0"/>
              <a:t>宏观量与微观量的内在联系表现在大量分子杂乱无章的热运动遵从一定的统计规律性上。在实验中，所测量到的宏观量只是大量分子热运动的</a:t>
            </a:r>
            <a:r>
              <a:rPr kumimoji="1" lang="zh-CN" altLang="en-US" sz="2800" dirty="0">
                <a:solidFill>
                  <a:srgbClr val="0000CC"/>
                </a:solidFill>
              </a:rPr>
              <a:t>统计平均值</a:t>
            </a:r>
            <a:r>
              <a:rPr kumimoji="1" lang="zh-CN" altLang="en-US" sz="2800" dirty="0"/>
              <a:t>。</a:t>
            </a:r>
          </a:p>
        </p:txBody>
      </p:sp>
      <p:grpSp>
        <p:nvGrpSpPr>
          <p:cNvPr id="510987" name="Group 11"/>
          <p:cNvGrpSpPr>
            <a:grpSpLocks/>
          </p:cNvGrpSpPr>
          <p:nvPr/>
        </p:nvGrpSpPr>
        <p:grpSpPr bwMode="auto">
          <a:xfrm>
            <a:off x="1296988" y="3124200"/>
            <a:ext cx="2808287" cy="3168650"/>
            <a:chOff x="612" y="2160"/>
            <a:chExt cx="1769" cy="1996"/>
          </a:xfrm>
        </p:grpSpPr>
        <p:sp>
          <p:nvSpPr>
            <p:cNvPr id="510988" name="Rectangle 12"/>
            <p:cNvSpPr>
              <a:spLocks noChangeArrowheads="1"/>
            </p:cNvSpPr>
            <p:nvPr/>
          </p:nvSpPr>
          <p:spPr bwMode="auto">
            <a:xfrm>
              <a:off x="612" y="2160"/>
              <a:ext cx="1769" cy="1996"/>
            </a:xfrm>
            <a:prstGeom prst="rect">
              <a:avLst/>
            </a:prstGeom>
            <a:solidFill>
              <a:srgbClr val="FFFFFF"/>
            </a:solidFill>
            <a:ln w="9525">
              <a:solidFill>
                <a:srgbClr val="FFFFFF"/>
              </a:solidFill>
              <a:miter lim="800000"/>
              <a:headEnd/>
              <a:tailEnd/>
            </a:ln>
            <a:effectLst/>
          </p:spPr>
          <p:txBody>
            <a:bodyPr wrap="none" anchor="ctr"/>
            <a:lstStyle/>
            <a:p>
              <a:endParaRPr lang="zh-CN" altLang="en-US"/>
            </a:p>
          </p:txBody>
        </p:sp>
        <p:pic>
          <p:nvPicPr>
            <p:cNvPr id="510989" name="Picture 13" descr="029-1"/>
            <p:cNvPicPr>
              <a:picLocks noChangeAspect="1" noChangeArrowheads="1"/>
            </p:cNvPicPr>
            <p:nvPr/>
          </p:nvPicPr>
          <p:blipFill>
            <a:blip r:embed="rId2"/>
            <a:srcRect/>
            <a:stretch>
              <a:fillRect/>
            </a:stretch>
          </p:blipFill>
          <p:spPr bwMode="auto">
            <a:xfrm>
              <a:off x="839" y="2341"/>
              <a:ext cx="1344" cy="1691"/>
            </a:xfrm>
            <a:prstGeom prst="rect">
              <a:avLst/>
            </a:prstGeom>
            <a:noFill/>
            <a:ln w="9525">
              <a:noFill/>
              <a:miter lim="800000"/>
              <a:headEnd/>
              <a:tailEnd/>
            </a:ln>
          </p:spPr>
        </p:pic>
      </p:grpSp>
      <p:grpSp>
        <p:nvGrpSpPr>
          <p:cNvPr id="510990" name="Group 14"/>
          <p:cNvGrpSpPr>
            <a:grpSpLocks/>
          </p:cNvGrpSpPr>
          <p:nvPr/>
        </p:nvGrpSpPr>
        <p:grpSpPr bwMode="auto">
          <a:xfrm>
            <a:off x="5040313" y="3124200"/>
            <a:ext cx="2808287" cy="3168650"/>
            <a:chOff x="3107" y="2115"/>
            <a:chExt cx="1769" cy="1996"/>
          </a:xfrm>
        </p:grpSpPr>
        <p:sp>
          <p:nvSpPr>
            <p:cNvPr id="510991" name="Rectangle 15"/>
            <p:cNvSpPr>
              <a:spLocks noChangeArrowheads="1"/>
            </p:cNvSpPr>
            <p:nvPr/>
          </p:nvSpPr>
          <p:spPr bwMode="auto">
            <a:xfrm>
              <a:off x="3107" y="2115"/>
              <a:ext cx="1769" cy="1996"/>
            </a:xfrm>
            <a:prstGeom prst="rect">
              <a:avLst/>
            </a:prstGeom>
            <a:solidFill>
              <a:srgbClr val="FFFFFF"/>
            </a:solidFill>
            <a:ln w="9525">
              <a:solidFill>
                <a:srgbClr val="FFFFFF"/>
              </a:solidFill>
              <a:miter lim="800000"/>
              <a:headEnd/>
              <a:tailEnd/>
            </a:ln>
            <a:effectLst/>
          </p:spPr>
          <p:txBody>
            <a:bodyPr wrap="none" anchor="ctr"/>
            <a:lstStyle/>
            <a:p>
              <a:endParaRPr lang="zh-CN" altLang="en-US"/>
            </a:p>
          </p:txBody>
        </p:sp>
        <p:pic>
          <p:nvPicPr>
            <p:cNvPr id="510992" name="Picture 16" descr="029"/>
            <p:cNvPicPr>
              <a:picLocks noChangeAspect="1" noChangeArrowheads="1"/>
            </p:cNvPicPr>
            <p:nvPr/>
          </p:nvPicPr>
          <p:blipFill>
            <a:blip r:embed="rId3"/>
            <a:srcRect/>
            <a:stretch>
              <a:fillRect/>
            </a:stretch>
          </p:blipFill>
          <p:spPr bwMode="auto">
            <a:xfrm>
              <a:off x="3288" y="2296"/>
              <a:ext cx="1356" cy="1684"/>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0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10990"/>
                                        </p:tgtEl>
                                        <p:attrNameLst>
                                          <p:attrName>style.visibility</p:attrName>
                                        </p:attrNameLst>
                                      </p:cBhvr>
                                      <p:to>
                                        <p:strVal val="visible"/>
                                      </p:to>
                                    </p:set>
                                    <p:animEffect transition="in" filter="fade">
                                      <p:cBhvr>
                                        <p:cTn id="11" dur="1000"/>
                                        <p:tgtEl>
                                          <p:spTgt spid="510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5" name="灯片编号占位符 4"/>
          <p:cNvSpPr>
            <a:spLocks noGrp="1"/>
          </p:cNvSpPr>
          <p:nvPr>
            <p:ph type="sldNum" sz="quarter" idx="12"/>
          </p:nvPr>
        </p:nvSpPr>
        <p:spPr/>
        <p:txBody>
          <a:bodyPr/>
          <a:lstStyle/>
          <a:p>
            <a:fld id="{96CA5AA3-3A2F-4B7A-B21C-3FCF4FAAEF1E}" type="slidenum">
              <a:rPr lang="en-US" altLang="zh-CN"/>
              <a:pPr/>
              <a:t>10</a:t>
            </a:fld>
            <a:endParaRPr lang="en-US" altLang="zh-CN"/>
          </a:p>
        </p:txBody>
      </p:sp>
    </p:spTree>
    <p:controls>
      <mc:AlternateContent xmlns:mc="http://schemas.openxmlformats.org/markup-compatibility/2006">
        <mc:Choice xmlns:v="urn:schemas-microsoft-com:vml" Requires="v">
          <p:control r:id="rId1" imgW="5186360" imgH="5036763"/>
        </mc:Choice>
        <mc:Fallback>
          <p:control r:id="rId1" imgW="5186360" imgH="5036763">
            <p:pic>
              <p:nvPicPr>
                <p:cNvPr id="2" name="ShockwaveFlash1"/>
                <p:cNvPicPr preferRelativeResize="0">
                  <a:picLocks noChangeAspect="1"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1976438" y="1287463"/>
                  <a:ext cx="5186362" cy="5037137"/>
                </a:xfrm>
                <a:prstGeom prst="rect">
                  <a:avLst/>
                </a:prstGeom>
                <a:noFill/>
                <a:ln w="19050">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p:txBody>
          <a:bodyPr/>
          <a:lstStyle/>
          <a:p>
            <a:r>
              <a:rPr lang="en-US" altLang="zh-CN"/>
              <a:t>10.1 </a:t>
            </a:r>
            <a:r>
              <a:rPr lang="zh-CN" altLang="en-US"/>
              <a:t>气体动理论的基本概念</a:t>
            </a:r>
          </a:p>
        </p:txBody>
      </p:sp>
      <p:sp>
        <p:nvSpPr>
          <p:cNvPr id="7" name="灯片编号占位符 4"/>
          <p:cNvSpPr>
            <a:spLocks noGrp="1"/>
          </p:cNvSpPr>
          <p:nvPr>
            <p:ph type="sldNum" sz="quarter" idx="12"/>
          </p:nvPr>
        </p:nvSpPr>
        <p:spPr/>
        <p:txBody>
          <a:bodyPr/>
          <a:lstStyle/>
          <a:p>
            <a:fld id="{886B6E13-31C5-4BBD-A239-F2899A66DFF5}" type="slidenum">
              <a:rPr lang="en-US" altLang="zh-CN"/>
              <a:pPr/>
              <a:t>11</a:t>
            </a:fld>
            <a:endParaRPr lang="en-US" altLang="zh-CN"/>
          </a:p>
        </p:txBody>
      </p:sp>
      <p:sp>
        <p:nvSpPr>
          <p:cNvPr id="516099" name="Text Box 3"/>
          <p:cNvSpPr txBox="1">
            <a:spLocks noChangeArrowheads="1"/>
          </p:cNvSpPr>
          <p:nvPr/>
        </p:nvSpPr>
        <p:spPr bwMode="auto">
          <a:xfrm>
            <a:off x="755650" y="1951038"/>
            <a:ext cx="6408738" cy="579437"/>
          </a:xfrm>
          <a:prstGeom prst="rect">
            <a:avLst/>
          </a:prstGeom>
          <a:noFill/>
          <a:ln w="9525">
            <a:noFill/>
            <a:miter lim="800000"/>
            <a:headEnd/>
            <a:tailEnd/>
          </a:ln>
          <a:effectLst/>
        </p:spPr>
        <p:txBody>
          <a:bodyPr>
            <a:spAutoFit/>
          </a:bodyPr>
          <a:lstStyle/>
          <a:p>
            <a:pPr>
              <a:spcBef>
                <a:spcPct val="50000"/>
              </a:spcBef>
            </a:pPr>
            <a:r>
              <a:rPr kumimoji="1" lang="zh-CN" altLang="en-US" sz="3200">
                <a:solidFill>
                  <a:srgbClr val="FF0000"/>
                </a:solidFill>
              </a:rPr>
              <a:t>统计物理</a:t>
            </a:r>
            <a:r>
              <a:rPr kumimoji="1" lang="zh-CN" altLang="en-US" sz="3200"/>
              <a:t>关心两件事：</a:t>
            </a:r>
          </a:p>
        </p:txBody>
      </p:sp>
      <p:sp>
        <p:nvSpPr>
          <p:cNvPr id="516100" name="Text Box 4"/>
          <p:cNvSpPr txBox="1">
            <a:spLocks noChangeArrowheads="1"/>
          </p:cNvSpPr>
          <p:nvPr/>
        </p:nvSpPr>
        <p:spPr bwMode="auto">
          <a:xfrm>
            <a:off x="828675" y="3032125"/>
            <a:ext cx="5903913" cy="1311275"/>
          </a:xfrm>
          <a:prstGeom prst="rect">
            <a:avLst/>
          </a:prstGeom>
          <a:noFill/>
          <a:ln w="9525">
            <a:noFill/>
            <a:miter lim="800000"/>
            <a:headEnd/>
            <a:tailEnd/>
          </a:ln>
          <a:effectLst/>
        </p:spPr>
        <p:txBody>
          <a:bodyPr>
            <a:spAutoFit/>
          </a:bodyPr>
          <a:lstStyle/>
          <a:p>
            <a:pPr marL="457200" indent="-457200">
              <a:spcBef>
                <a:spcPct val="50000"/>
              </a:spcBef>
              <a:buFontTx/>
              <a:buAutoNum type="arabicPeriod"/>
            </a:pPr>
            <a:r>
              <a:rPr kumimoji="1" lang="zh-CN" altLang="en-US" sz="3200">
                <a:solidFill>
                  <a:srgbClr val="0000FF"/>
                </a:solidFill>
              </a:rPr>
              <a:t>分布</a:t>
            </a:r>
          </a:p>
          <a:p>
            <a:pPr marL="457200" indent="-457200">
              <a:spcBef>
                <a:spcPct val="50000"/>
              </a:spcBef>
              <a:buFontTx/>
              <a:buAutoNum type="arabicPeriod"/>
            </a:pPr>
            <a:r>
              <a:rPr kumimoji="1" lang="zh-CN" altLang="en-US" sz="3200">
                <a:solidFill>
                  <a:srgbClr val="0000FF"/>
                </a:solidFill>
              </a:rPr>
              <a:t>平均值</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11" name="灯片编号占位符 4"/>
          <p:cNvSpPr>
            <a:spLocks noGrp="1"/>
          </p:cNvSpPr>
          <p:nvPr>
            <p:ph type="sldNum" sz="quarter" idx="12"/>
          </p:nvPr>
        </p:nvSpPr>
        <p:spPr/>
        <p:txBody>
          <a:bodyPr/>
          <a:lstStyle/>
          <a:p>
            <a:fld id="{36747837-BDBF-4C26-B5EB-24474A490335}" type="slidenum">
              <a:rPr lang="en-US" altLang="zh-CN"/>
              <a:pPr/>
              <a:t>12</a:t>
            </a:fld>
            <a:endParaRPr lang="en-US" altLang="zh-CN"/>
          </a:p>
        </p:txBody>
      </p:sp>
      <p:sp>
        <p:nvSpPr>
          <p:cNvPr id="508931" name="Rectangle 3"/>
          <p:cNvSpPr>
            <a:spLocks noChangeArrowheads="1"/>
          </p:cNvSpPr>
          <p:nvPr/>
        </p:nvSpPr>
        <p:spPr bwMode="auto">
          <a:xfrm>
            <a:off x="501650" y="1219200"/>
            <a:ext cx="29273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理想气体的微观模型</a:t>
            </a:r>
          </a:p>
        </p:txBody>
      </p:sp>
      <p:sp>
        <p:nvSpPr>
          <p:cNvPr id="508932" name="Text Box 4"/>
          <p:cNvSpPr txBox="1">
            <a:spLocks noChangeArrowheads="1"/>
          </p:cNvSpPr>
          <p:nvPr/>
        </p:nvSpPr>
        <p:spPr bwMode="auto">
          <a:xfrm>
            <a:off x="452438" y="1752600"/>
            <a:ext cx="79248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sz="2400"/>
              <a:t>1.  </a:t>
            </a:r>
            <a:r>
              <a:rPr kumimoji="1" lang="zh-CN" altLang="en-US" sz="2400"/>
              <a:t>分子线度与分子间距相比较可忽略，分子被看做质点。</a:t>
            </a:r>
          </a:p>
        </p:txBody>
      </p:sp>
      <p:sp>
        <p:nvSpPr>
          <p:cNvPr id="508933" name="Rectangle 5"/>
          <p:cNvSpPr>
            <a:spLocks noChangeArrowheads="1"/>
          </p:cNvSpPr>
          <p:nvPr/>
        </p:nvSpPr>
        <p:spPr bwMode="auto">
          <a:xfrm>
            <a:off x="457200" y="2438400"/>
            <a:ext cx="7923213" cy="457200"/>
          </a:xfrm>
          <a:prstGeom prst="rect">
            <a:avLst/>
          </a:prstGeom>
          <a:noFill/>
          <a:ln w="12700" cap="sq" algn="ctr">
            <a:noFill/>
            <a:miter lim="800000"/>
            <a:headEnd type="none" w="sm" len="sm"/>
            <a:tailEnd type="none" w="sm" len="sm"/>
          </a:ln>
          <a:effectLst/>
        </p:spPr>
        <p:txBody>
          <a:bodyPr>
            <a:spAutoFit/>
          </a:bodyPr>
          <a:lstStyle/>
          <a:p>
            <a:pPr>
              <a:spcBef>
                <a:spcPct val="50000"/>
              </a:spcBef>
            </a:pPr>
            <a:r>
              <a:rPr kumimoji="1" lang="en-US" altLang="zh-CN" sz="2400"/>
              <a:t>2.  </a:t>
            </a:r>
            <a:r>
              <a:rPr kumimoji="1" lang="zh-CN" altLang="en-US" sz="2400"/>
              <a:t>除了分子碰撞的瞬间外，忽略分子间的相互作用。</a:t>
            </a:r>
          </a:p>
        </p:txBody>
      </p:sp>
      <p:sp>
        <p:nvSpPr>
          <p:cNvPr id="508934" name="Rectangle 6"/>
          <p:cNvSpPr>
            <a:spLocks noChangeArrowheads="1"/>
          </p:cNvSpPr>
          <p:nvPr/>
        </p:nvSpPr>
        <p:spPr bwMode="auto">
          <a:xfrm>
            <a:off x="457200" y="3124200"/>
            <a:ext cx="8534400" cy="457200"/>
          </a:xfrm>
          <a:prstGeom prst="rect">
            <a:avLst/>
          </a:prstGeom>
          <a:noFill/>
          <a:ln w="12700" cap="sq" algn="ctr">
            <a:noFill/>
            <a:miter lim="800000"/>
            <a:headEnd type="none" w="sm" len="sm"/>
            <a:tailEnd type="none" w="sm" len="sm"/>
          </a:ln>
          <a:effectLst/>
        </p:spPr>
        <p:txBody>
          <a:bodyPr>
            <a:spAutoFit/>
          </a:bodyPr>
          <a:lstStyle/>
          <a:p>
            <a:pPr>
              <a:spcBef>
                <a:spcPct val="50000"/>
              </a:spcBef>
            </a:pPr>
            <a:r>
              <a:rPr kumimoji="1" lang="en-US" altLang="zh-CN" sz="2400"/>
              <a:t>3.  </a:t>
            </a:r>
            <a:r>
              <a:rPr kumimoji="1" lang="zh-CN" altLang="en-US" sz="2400"/>
              <a:t>气体分子在运动中遵守经典力学规律，假设碰撞为弹性碰撞。</a:t>
            </a:r>
          </a:p>
        </p:txBody>
      </p:sp>
      <p:sp>
        <p:nvSpPr>
          <p:cNvPr id="508935" name="Text Box 7"/>
          <p:cNvSpPr txBox="1">
            <a:spLocks noChangeArrowheads="1"/>
          </p:cNvSpPr>
          <p:nvPr/>
        </p:nvSpPr>
        <p:spPr bwMode="auto">
          <a:xfrm>
            <a:off x="762000" y="4572000"/>
            <a:ext cx="3886200" cy="137318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800">
                <a:latin typeface="华文行楷" pitchFamily="2" charset="-122"/>
                <a:ea typeface="华文行楷" pitchFamily="2" charset="-122"/>
              </a:rPr>
              <a:t>理想气体分子是自由地，无规则地运动着的</a:t>
            </a:r>
            <a:r>
              <a:rPr kumimoji="1" lang="zh-CN" altLang="en-US" sz="2800">
                <a:solidFill>
                  <a:srgbClr val="0000CC"/>
                </a:solidFill>
                <a:latin typeface="华文行楷" pitchFamily="2" charset="-122"/>
                <a:ea typeface="华文行楷" pitchFamily="2" charset="-122"/>
              </a:rPr>
              <a:t>弹性质点群</a:t>
            </a:r>
            <a:r>
              <a:rPr kumimoji="1" lang="zh-CN" altLang="en-US" sz="2800">
                <a:latin typeface="华文行楷" pitchFamily="2" charset="-122"/>
                <a:ea typeface="华文行楷" pitchFamily="2" charset="-122"/>
              </a:rPr>
              <a:t>。</a:t>
            </a:r>
          </a:p>
        </p:txBody>
      </p:sp>
      <p:pic>
        <p:nvPicPr>
          <p:cNvPr id="508936" name="Picture 8" descr="image47"/>
          <p:cNvPicPr>
            <a:picLocks noChangeAspect="1" noChangeArrowheads="1"/>
          </p:cNvPicPr>
          <p:nvPr/>
        </p:nvPicPr>
        <p:blipFill>
          <a:blip r:embed="rId2"/>
          <a:srcRect/>
          <a:stretch>
            <a:fillRect/>
          </a:stretch>
        </p:blipFill>
        <p:spPr bwMode="auto">
          <a:xfrm>
            <a:off x="5867400" y="3810000"/>
            <a:ext cx="2447925" cy="24479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8932"/>
                                        </p:tgtEl>
                                        <p:attrNameLst>
                                          <p:attrName>style.visibility</p:attrName>
                                        </p:attrNameLst>
                                      </p:cBhvr>
                                      <p:to>
                                        <p:strVal val="visible"/>
                                      </p:to>
                                    </p:set>
                                    <p:animEffect transition="in" filter="blinds(horizontal)">
                                      <p:cBhvr>
                                        <p:cTn id="7" dur="500"/>
                                        <p:tgtEl>
                                          <p:spTgt spid="5089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8933"/>
                                        </p:tgtEl>
                                        <p:attrNameLst>
                                          <p:attrName>style.visibility</p:attrName>
                                        </p:attrNameLst>
                                      </p:cBhvr>
                                      <p:to>
                                        <p:strVal val="visible"/>
                                      </p:to>
                                    </p:set>
                                    <p:animEffect transition="in" filter="blinds(horizontal)">
                                      <p:cBhvr>
                                        <p:cTn id="12" dur="500"/>
                                        <p:tgtEl>
                                          <p:spTgt spid="5089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08934"/>
                                        </p:tgtEl>
                                        <p:attrNameLst>
                                          <p:attrName>style.visibility</p:attrName>
                                        </p:attrNameLst>
                                      </p:cBhvr>
                                      <p:to>
                                        <p:strVal val="visible"/>
                                      </p:to>
                                    </p:set>
                                    <p:animEffect transition="in" filter="blinds(horizontal)">
                                      <p:cBhvr>
                                        <p:cTn id="17" dur="500"/>
                                        <p:tgtEl>
                                          <p:spTgt spid="50893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08935"/>
                                        </p:tgtEl>
                                        <p:attrNameLst>
                                          <p:attrName>style.visibility</p:attrName>
                                        </p:attrNameLst>
                                      </p:cBhvr>
                                      <p:to>
                                        <p:strVal val="visible"/>
                                      </p:to>
                                    </p:set>
                                    <p:animEffect transition="in" filter="blinds(horizontal)">
                                      <p:cBhvr>
                                        <p:cTn id="22" dur="500"/>
                                        <p:tgtEl>
                                          <p:spTgt spid="508935"/>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508936"/>
                                        </p:tgtEl>
                                        <p:attrNameLst>
                                          <p:attrName>style.visibility</p:attrName>
                                        </p:attrNameLst>
                                      </p:cBhvr>
                                      <p:to>
                                        <p:strVal val="visible"/>
                                      </p:to>
                                    </p:set>
                                    <p:animEffect transition="in" filter="diamond(in)">
                                      <p:cBhvr>
                                        <p:cTn id="27" dur="1000"/>
                                        <p:tgtEl>
                                          <p:spTgt spid="508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2" grpId="0" autoUpdateAnimBg="0"/>
      <p:bldP spid="508933" grpId="0" autoUpdateAnimBg="0"/>
      <p:bldP spid="508934" grpId="0" autoUpdateAnimBg="0"/>
      <p:bldP spid="50893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6" name="灯片编号占位符 4"/>
          <p:cNvSpPr>
            <a:spLocks noGrp="1"/>
          </p:cNvSpPr>
          <p:nvPr>
            <p:ph type="sldNum" sz="quarter" idx="12"/>
          </p:nvPr>
        </p:nvSpPr>
        <p:spPr/>
        <p:txBody>
          <a:bodyPr/>
          <a:lstStyle/>
          <a:p>
            <a:fld id="{BD0628D4-A9D8-4121-82FF-57CCAAA3B2FB}" type="slidenum">
              <a:rPr lang="en-US" altLang="zh-CN"/>
              <a:pPr/>
              <a:t>13</a:t>
            </a:fld>
            <a:endParaRPr lang="en-US" altLang="zh-CN"/>
          </a:p>
        </p:txBody>
      </p:sp>
      <p:sp>
        <p:nvSpPr>
          <p:cNvPr id="520195" name="Rectangle 3"/>
          <p:cNvSpPr>
            <a:spLocks noChangeArrowheads="1"/>
          </p:cNvSpPr>
          <p:nvPr/>
        </p:nvSpPr>
        <p:spPr bwMode="auto">
          <a:xfrm>
            <a:off x="501650" y="1219200"/>
            <a:ext cx="35369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t>理想气体压强的微观机制</a:t>
            </a:r>
          </a:p>
        </p:txBody>
      </p:sp>
    </p:spTree>
    <p:controls>
      <mc:AlternateContent xmlns:mc="http://schemas.openxmlformats.org/markup-compatibility/2006">
        <mc:Choice xmlns:v="urn:schemas-microsoft-com:vml" Requires="v">
          <p:control r:id="rId1" imgW="5861795" imgH="4433263"/>
        </mc:Choice>
        <mc:Fallback>
          <p:control r:id="rId1" imgW="5861795" imgH="4433263">
            <p:pic>
              <p:nvPicPr>
                <p:cNvPr id="2" name="ShockwaveFlash1"/>
                <p:cNvPicPr preferRelativeResize="0">
                  <a:picLocks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1682750" y="1828800"/>
                  <a:ext cx="5861050" cy="4433888"/>
                </a:xfrm>
                <a:prstGeom prst="rect">
                  <a:avLst/>
                </a:prstGeom>
                <a:noFill/>
                <a:ln w="19050">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10" name="灯片编号占位符 4"/>
          <p:cNvSpPr>
            <a:spLocks noGrp="1"/>
          </p:cNvSpPr>
          <p:nvPr>
            <p:ph type="sldNum" sz="quarter" idx="12"/>
          </p:nvPr>
        </p:nvSpPr>
        <p:spPr/>
        <p:txBody>
          <a:bodyPr/>
          <a:lstStyle/>
          <a:p>
            <a:fld id="{A04F0FE7-7A49-47A1-B169-4E6C7ACF24AE}" type="slidenum">
              <a:rPr lang="en-US" altLang="zh-CN"/>
              <a:pPr/>
              <a:t>14</a:t>
            </a:fld>
            <a:endParaRPr lang="en-US" altLang="zh-CN"/>
          </a:p>
        </p:txBody>
      </p:sp>
      <p:sp>
        <p:nvSpPr>
          <p:cNvPr id="517123" name="Rectangle 3"/>
          <p:cNvSpPr>
            <a:spLocks noChangeArrowheads="1"/>
          </p:cNvSpPr>
          <p:nvPr/>
        </p:nvSpPr>
        <p:spPr bwMode="auto">
          <a:xfrm>
            <a:off x="501650" y="1219200"/>
            <a:ext cx="3613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理想气体压强的统计意义 </a:t>
            </a:r>
          </a:p>
        </p:txBody>
      </p:sp>
      <p:sp>
        <p:nvSpPr>
          <p:cNvPr id="517124" name="Text Box 4"/>
          <p:cNvSpPr txBox="1">
            <a:spLocks noChangeArrowheads="1"/>
          </p:cNvSpPr>
          <p:nvPr/>
        </p:nvSpPr>
        <p:spPr bwMode="auto">
          <a:xfrm>
            <a:off x="533400" y="1981200"/>
            <a:ext cx="4648200" cy="1563688"/>
          </a:xfrm>
          <a:prstGeom prst="rect">
            <a:avLst/>
          </a:prstGeom>
          <a:noFill/>
          <a:ln w="12700" cap="sq" algn="ctr">
            <a:noFill/>
            <a:miter lim="800000"/>
            <a:headEnd/>
            <a:tailEnd/>
          </a:ln>
          <a:effectLst/>
        </p:spPr>
        <p:txBody>
          <a:bodyPr>
            <a:spAutoFit/>
          </a:bodyPr>
          <a:lstStyle/>
          <a:p>
            <a:pPr>
              <a:lnSpc>
                <a:spcPct val="115000"/>
              </a:lnSpc>
              <a:spcBef>
                <a:spcPct val="50000"/>
              </a:spcBef>
            </a:pPr>
            <a:r>
              <a:rPr kumimoji="1" lang="zh-CN" altLang="en-US" sz="2800">
                <a:solidFill>
                  <a:srgbClr val="0000CC"/>
                </a:solidFill>
              </a:rPr>
              <a:t>克劳修斯</a:t>
            </a:r>
            <a:r>
              <a:rPr kumimoji="1" lang="zh-CN" altLang="en-US" sz="2800"/>
              <a:t>指出：“气体对容器壁的压强是大量分子对容器壁碰撞的平均效果。”</a:t>
            </a:r>
          </a:p>
        </p:txBody>
      </p:sp>
      <p:pic>
        <p:nvPicPr>
          <p:cNvPr id="517125" name="Picture 5" descr="san"/>
          <p:cNvPicPr>
            <a:picLocks noChangeAspect="1" noChangeArrowheads="1"/>
          </p:cNvPicPr>
          <p:nvPr/>
        </p:nvPicPr>
        <p:blipFill>
          <a:blip r:embed="rId2"/>
          <a:srcRect r="36765"/>
          <a:stretch>
            <a:fillRect/>
          </a:stretch>
        </p:blipFill>
        <p:spPr bwMode="auto">
          <a:xfrm>
            <a:off x="5795963" y="2492375"/>
            <a:ext cx="2906712" cy="3311525"/>
          </a:xfrm>
          <a:prstGeom prst="rect">
            <a:avLst/>
          </a:prstGeom>
          <a:noFill/>
          <a:ln w="9525">
            <a:noFill/>
            <a:miter lim="800000"/>
            <a:headEnd/>
            <a:tailEnd/>
          </a:ln>
        </p:spPr>
      </p:pic>
      <p:sp>
        <p:nvSpPr>
          <p:cNvPr id="517126" name="Text Box 6"/>
          <p:cNvSpPr txBox="1">
            <a:spLocks noChangeArrowheads="1"/>
          </p:cNvSpPr>
          <p:nvPr/>
        </p:nvSpPr>
        <p:spPr bwMode="auto">
          <a:xfrm>
            <a:off x="611188" y="4495800"/>
            <a:ext cx="4679950" cy="1801813"/>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800" dirty="0"/>
              <a:t>设</a:t>
            </a:r>
            <a:r>
              <a:rPr kumimoji="1" lang="en-US" altLang="zh-CN" sz="2800" dirty="0"/>
              <a:t>: </a:t>
            </a:r>
            <a:r>
              <a:rPr kumimoji="1" lang="zh-CN" altLang="en-US" sz="2800" dirty="0"/>
              <a:t>体积：</a:t>
            </a:r>
            <a:r>
              <a:rPr kumimoji="1" lang="en-US" altLang="zh-CN" sz="2800" i="1" dirty="0"/>
              <a:t>V  </a:t>
            </a:r>
            <a:r>
              <a:rPr kumimoji="1" lang="en-US" altLang="zh-CN" sz="2800" dirty="0"/>
              <a:t>;    </a:t>
            </a:r>
            <a:r>
              <a:rPr kumimoji="1" lang="zh-CN" altLang="en-US" sz="2800" dirty="0"/>
              <a:t>分子数：</a:t>
            </a:r>
            <a:r>
              <a:rPr kumimoji="1" lang="en-US" altLang="zh-CN" sz="2800" i="1" dirty="0"/>
              <a:t>N </a:t>
            </a:r>
            <a:endParaRPr kumimoji="1" lang="en-US" altLang="zh-CN" sz="2800" dirty="0"/>
          </a:p>
          <a:p>
            <a:pPr>
              <a:spcBef>
                <a:spcPct val="50000"/>
              </a:spcBef>
            </a:pPr>
            <a:r>
              <a:rPr kumimoji="1" lang="en-US" altLang="zh-CN" sz="2800" dirty="0"/>
              <a:t>      </a:t>
            </a:r>
            <a:r>
              <a:rPr kumimoji="1" lang="zh-CN" altLang="en-US" sz="2800" dirty="0"/>
              <a:t>分子数密度：</a:t>
            </a:r>
            <a:r>
              <a:rPr kumimoji="1" lang="en-US" altLang="zh-CN" sz="2800" i="1" dirty="0"/>
              <a:t>n</a:t>
            </a:r>
          </a:p>
          <a:p>
            <a:pPr>
              <a:spcBef>
                <a:spcPct val="50000"/>
              </a:spcBef>
            </a:pPr>
            <a:r>
              <a:rPr kumimoji="1" lang="en-US" altLang="zh-CN" sz="2800" dirty="0"/>
              <a:t>      </a:t>
            </a:r>
            <a:r>
              <a:rPr kumimoji="1" lang="zh-CN" altLang="en-US" sz="2800" dirty="0"/>
              <a:t>分子质量：</a:t>
            </a:r>
            <a:r>
              <a:rPr kumimoji="1" lang="en-US" altLang="zh-CN" sz="2800" i="1" dirty="0">
                <a:sym typeface="Symbol" pitchFamily="18" charset="2"/>
              </a:rPr>
              <a:t>m</a:t>
            </a:r>
            <a:r>
              <a:rPr kumimoji="1" lang="en-US" altLang="zh-CN" sz="2800" baseline="-25000" dirty="0">
                <a:sym typeface="Symbol" pitchFamily="18" charset="2"/>
              </a:rPr>
              <a:t>0</a:t>
            </a:r>
          </a:p>
        </p:txBody>
      </p:sp>
      <p:sp>
        <p:nvSpPr>
          <p:cNvPr id="517127" name="Rectangle 7"/>
          <p:cNvSpPr>
            <a:spLocks noChangeArrowheads="1"/>
          </p:cNvSpPr>
          <p:nvPr/>
        </p:nvSpPr>
        <p:spPr bwMode="auto">
          <a:xfrm>
            <a:off x="609600" y="3886200"/>
            <a:ext cx="2808288" cy="519113"/>
          </a:xfrm>
          <a:prstGeom prst="rect">
            <a:avLst/>
          </a:prstGeom>
          <a:noFill/>
          <a:ln w="9525">
            <a:noFill/>
            <a:miter lim="800000"/>
            <a:headEnd/>
            <a:tailEnd/>
          </a:ln>
          <a:effectLst/>
        </p:spPr>
        <p:txBody>
          <a:bodyPr>
            <a:spAutoFit/>
          </a:bodyPr>
          <a:lstStyle/>
          <a:p>
            <a:r>
              <a:rPr kumimoji="1" lang="zh-CN" altLang="en-US" sz="2800"/>
              <a:t>立方体容器：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7124"/>
                                        </p:tgtEl>
                                        <p:attrNameLst>
                                          <p:attrName>style.visibility</p:attrName>
                                        </p:attrNameLst>
                                      </p:cBhvr>
                                      <p:to>
                                        <p:strVal val="visible"/>
                                      </p:to>
                                    </p:set>
                                    <p:animEffect transition="in" filter="blinds(horizontal)">
                                      <p:cBhvr>
                                        <p:cTn id="7" dur="500"/>
                                        <p:tgtEl>
                                          <p:spTgt spid="5171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7125"/>
                                        </p:tgtEl>
                                        <p:attrNameLst>
                                          <p:attrName>style.visibility</p:attrName>
                                        </p:attrNameLst>
                                      </p:cBhvr>
                                      <p:to>
                                        <p:strVal val="visible"/>
                                      </p:to>
                                    </p:set>
                                    <p:animEffect transition="in" filter="fade">
                                      <p:cBhvr>
                                        <p:cTn id="12" dur="1000"/>
                                        <p:tgtEl>
                                          <p:spTgt spid="5171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7127"/>
                                        </p:tgtEl>
                                        <p:attrNameLst>
                                          <p:attrName>style.visibility</p:attrName>
                                        </p:attrNameLst>
                                      </p:cBhvr>
                                      <p:to>
                                        <p:strVal val="visible"/>
                                      </p:to>
                                    </p:set>
                                    <p:animEffect transition="in" filter="wipe(left)">
                                      <p:cBhvr>
                                        <p:cTn id="17" dur="500"/>
                                        <p:tgtEl>
                                          <p:spTgt spid="51712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grpId="0" nodeType="clickEffect">
                                  <p:stCondLst>
                                    <p:cond delay="0"/>
                                  </p:stCondLst>
                                  <p:childTnLst>
                                    <p:set>
                                      <p:cBhvr>
                                        <p:cTn id="21" dur="1" fill="hold">
                                          <p:stCondLst>
                                            <p:cond delay="0"/>
                                          </p:stCondLst>
                                        </p:cTn>
                                        <p:tgtEl>
                                          <p:spTgt spid="517126"/>
                                        </p:tgtEl>
                                        <p:attrNameLst>
                                          <p:attrName>style.visibility</p:attrName>
                                        </p:attrNameLst>
                                      </p:cBhvr>
                                      <p:to>
                                        <p:strVal val="visible"/>
                                      </p:to>
                                    </p:set>
                                    <p:anim calcmode="lin" valueType="num">
                                      <p:cBhvr additive="base">
                                        <p:cTn id="22" dur="500" fill="hold"/>
                                        <p:tgtEl>
                                          <p:spTgt spid="517126"/>
                                        </p:tgtEl>
                                        <p:attrNameLst>
                                          <p:attrName>ppt_x</p:attrName>
                                        </p:attrNameLst>
                                      </p:cBhvr>
                                      <p:tavLst>
                                        <p:tav tm="0">
                                          <p:val>
                                            <p:strVal val="#ppt_x"/>
                                          </p:val>
                                        </p:tav>
                                        <p:tav tm="100000">
                                          <p:val>
                                            <p:strVal val="#ppt_x"/>
                                          </p:val>
                                        </p:tav>
                                      </p:tavLst>
                                    </p:anim>
                                    <p:anim calcmode="lin" valueType="num">
                                      <p:cBhvr additive="base">
                                        <p:cTn id="23" dur="500" fill="hold"/>
                                        <p:tgtEl>
                                          <p:spTgt spid="51712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4" grpId="0"/>
      <p:bldP spid="517126" grpId="0" autoUpdateAnimBg="0"/>
      <p:bldP spid="5171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38" name="灯片编号占位符 4"/>
          <p:cNvSpPr>
            <a:spLocks noGrp="1"/>
          </p:cNvSpPr>
          <p:nvPr>
            <p:ph type="sldNum" sz="quarter" idx="12"/>
          </p:nvPr>
        </p:nvSpPr>
        <p:spPr/>
        <p:txBody>
          <a:bodyPr/>
          <a:lstStyle/>
          <a:p>
            <a:fld id="{D77AA011-1869-48B6-84E9-6226D466D4E1}" type="slidenum">
              <a:rPr lang="en-US" altLang="zh-CN"/>
              <a:pPr/>
              <a:t>15</a:t>
            </a:fld>
            <a:endParaRPr lang="en-US" altLang="zh-CN"/>
          </a:p>
        </p:txBody>
      </p:sp>
      <p:grpSp>
        <p:nvGrpSpPr>
          <p:cNvPr id="518173" name="Group 29"/>
          <p:cNvGrpSpPr>
            <a:grpSpLocks/>
          </p:cNvGrpSpPr>
          <p:nvPr/>
        </p:nvGrpSpPr>
        <p:grpSpPr bwMode="auto">
          <a:xfrm>
            <a:off x="4419600" y="1222375"/>
            <a:ext cx="4537075" cy="3959225"/>
            <a:chOff x="2744" y="210"/>
            <a:chExt cx="2858" cy="2494"/>
          </a:xfrm>
        </p:grpSpPr>
        <p:sp>
          <p:nvSpPr>
            <p:cNvPr id="518174" name="Rectangle 30"/>
            <p:cNvSpPr>
              <a:spLocks noChangeArrowheads="1"/>
            </p:cNvSpPr>
            <p:nvPr/>
          </p:nvSpPr>
          <p:spPr bwMode="auto">
            <a:xfrm>
              <a:off x="2744" y="210"/>
              <a:ext cx="2858" cy="2494"/>
            </a:xfrm>
            <a:prstGeom prst="rect">
              <a:avLst/>
            </a:prstGeom>
            <a:solidFill>
              <a:srgbClr val="006600"/>
            </a:solidFill>
            <a:ln w="9525">
              <a:solidFill>
                <a:srgbClr val="FFFFFF"/>
              </a:solidFill>
              <a:miter lim="800000"/>
              <a:headEnd/>
              <a:tailEnd/>
            </a:ln>
            <a:effectLst/>
          </p:spPr>
          <p:txBody>
            <a:bodyPr wrap="none" anchor="ctr"/>
            <a:lstStyle/>
            <a:p>
              <a:endParaRPr lang="zh-CN" altLang="en-US"/>
            </a:p>
          </p:txBody>
        </p:sp>
        <p:sp>
          <p:nvSpPr>
            <p:cNvPr id="518175" name="Text Box 31"/>
            <p:cNvSpPr txBox="1">
              <a:spLocks noChangeArrowheads="1"/>
            </p:cNvSpPr>
            <p:nvPr/>
          </p:nvSpPr>
          <p:spPr bwMode="auto">
            <a:xfrm>
              <a:off x="3606" y="1615"/>
              <a:ext cx="363" cy="318"/>
            </a:xfrm>
            <a:prstGeom prst="rect">
              <a:avLst/>
            </a:prstGeom>
            <a:noFill/>
            <a:ln w="9525">
              <a:noFill/>
              <a:miter lim="800000"/>
              <a:headEnd/>
              <a:tailEnd/>
            </a:ln>
          </p:spPr>
          <p:txBody>
            <a:bodyPr/>
            <a:lstStyle/>
            <a:p>
              <a:pPr algn="just"/>
              <a:r>
                <a:rPr kumimoji="1" lang="en-US" altLang="zh-CN" sz="2400" i="1">
                  <a:solidFill>
                    <a:srgbClr val="FFFFFF"/>
                  </a:solidFill>
                </a:rPr>
                <a:t>O</a:t>
              </a:r>
              <a:endParaRPr kumimoji="1" lang="en-US" altLang="zh-CN" sz="5400">
                <a:solidFill>
                  <a:srgbClr val="FFFFFF"/>
                </a:solidFill>
              </a:endParaRPr>
            </a:p>
          </p:txBody>
        </p:sp>
        <p:sp>
          <p:nvSpPr>
            <p:cNvPr id="518176" name="Line 32"/>
            <p:cNvSpPr>
              <a:spLocks noChangeShapeType="1"/>
            </p:cNvSpPr>
            <p:nvPr/>
          </p:nvSpPr>
          <p:spPr bwMode="auto">
            <a:xfrm>
              <a:off x="3833" y="1786"/>
              <a:ext cx="1634" cy="0"/>
            </a:xfrm>
            <a:prstGeom prst="line">
              <a:avLst/>
            </a:prstGeom>
            <a:noFill/>
            <a:ln w="19050">
              <a:solidFill>
                <a:srgbClr val="FFFFFF"/>
              </a:solidFill>
              <a:round/>
              <a:headEnd/>
              <a:tailEnd type="triangle" w="med" len="lg"/>
            </a:ln>
            <a:effectLst/>
          </p:spPr>
          <p:txBody>
            <a:bodyPr/>
            <a:lstStyle/>
            <a:p>
              <a:endParaRPr lang="zh-CN" altLang="en-US"/>
            </a:p>
          </p:txBody>
        </p:sp>
        <p:sp>
          <p:nvSpPr>
            <p:cNvPr id="518177" name="Line 33"/>
            <p:cNvSpPr>
              <a:spLocks noChangeShapeType="1"/>
            </p:cNvSpPr>
            <p:nvPr/>
          </p:nvSpPr>
          <p:spPr bwMode="auto">
            <a:xfrm flipV="1">
              <a:off x="3833" y="436"/>
              <a:ext cx="0" cy="1350"/>
            </a:xfrm>
            <a:prstGeom prst="line">
              <a:avLst/>
            </a:prstGeom>
            <a:noFill/>
            <a:ln w="19050">
              <a:solidFill>
                <a:srgbClr val="FFFFFF"/>
              </a:solidFill>
              <a:round/>
              <a:headEnd/>
              <a:tailEnd type="triangle" w="med" len="lg"/>
            </a:ln>
            <a:effectLst/>
          </p:spPr>
          <p:txBody>
            <a:bodyPr/>
            <a:lstStyle/>
            <a:p>
              <a:endParaRPr lang="zh-CN" altLang="en-US"/>
            </a:p>
          </p:txBody>
        </p:sp>
        <p:sp>
          <p:nvSpPr>
            <p:cNvPr id="518178" name="Line 34"/>
            <p:cNvSpPr>
              <a:spLocks noChangeShapeType="1"/>
            </p:cNvSpPr>
            <p:nvPr/>
          </p:nvSpPr>
          <p:spPr bwMode="auto">
            <a:xfrm flipH="1">
              <a:off x="3016" y="1786"/>
              <a:ext cx="817" cy="675"/>
            </a:xfrm>
            <a:prstGeom prst="line">
              <a:avLst/>
            </a:prstGeom>
            <a:noFill/>
            <a:ln w="19050">
              <a:solidFill>
                <a:srgbClr val="FFFFFF"/>
              </a:solidFill>
              <a:round/>
              <a:headEnd/>
              <a:tailEnd type="triangle" w="med" len="lg"/>
            </a:ln>
            <a:effectLst/>
          </p:spPr>
          <p:txBody>
            <a:bodyPr/>
            <a:lstStyle/>
            <a:p>
              <a:endParaRPr lang="zh-CN" altLang="en-US"/>
            </a:p>
          </p:txBody>
        </p:sp>
        <p:sp>
          <p:nvSpPr>
            <p:cNvPr id="518179" name="AutoShape 35"/>
            <p:cNvSpPr>
              <a:spLocks noChangeAspect="1" noChangeArrowheads="1"/>
            </p:cNvSpPr>
            <p:nvPr/>
          </p:nvSpPr>
          <p:spPr bwMode="auto">
            <a:xfrm>
              <a:off x="3016" y="436"/>
              <a:ext cx="2451" cy="2160"/>
            </a:xfrm>
            <a:prstGeom prst="rect">
              <a:avLst/>
            </a:prstGeom>
            <a:noFill/>
            <a:ln w="9525">
              <a:noFill/>
              <a:miter lim="800000"/>
              <a:headEnd/>
              <a:tailEnd/>
            </a:ln>
          </p:spPr>
          <p:txBody>
            <a:bodyPr/>
            <a:lstStyle/>
            <a:p>
              <a:endParaRPr lang="zh-CN" altLang="en-US"/>
            </a:p>
          </p:txBody>
        </p:sp>
        <p:sp>
          <p:nvSpPr>
            <p:cNvPr id="518180" name="Freeform 36"/>
            <p:cNvSpPr>
              <a:spLocks/>
            </p:cNvSpPr>
            <p:nvPr/>
          </p:nvSpPr>
          <p:spPr bwMode="auto">
            <a:xfrm>
              <a:off x="4559" y="706"/>
              <a:ext cx="545" cy="1620"/>
            </a:xfrm>
            <a:custGeom>
              <a:avLst/>
              <a:gdLst/>
              <a:ahLst/>
              <a:cxnLst>
                <a:cxn ang="0">
                  <a:pos x="630" y="1248"/>
                </a:cxn>
                <a:cxn ang="0">
                  <a:pos x="0" y="1872"/>
                </a:cxn>
                <a:cxn ang="0">
                  <a:pos x="0" y="624"/>
                </a:cxn>
                <a:cxn ang="0">
                  <a:pos x="630" y="0"/>
                </a:cxn>
                <a:cxn ang="0">
                  <a:pos x="630" y="1248"/>
                </a:cxn>
              </a:cxnLst>
              <a:rect l="0" t="0" r="r" b="b"/>
              <a:pathLst>
                <a:path w="630" h="1872">
                  <a:moveTo>
                    <a:pt x="630" y="1248"/>
                  </a:moveTo>
                  <a:lnTo>
                    <a:pt x="0" y="1872"/>
                  </a:lnTo>
                  <a:lnTo>
                    <a:pt x="0" y="624"/>
                  </a:lnTo>
                  <a:lnTo>
                    <a:pt x="630" y="0"/>
                  </a:lnTo>
                  <a:lnTo>
                    <a:pt x="630" y="1248"/>
                  </a:lnTo>
                  <a:close/>
                </a:path>
              </a:pathLst>
            </a:custGeom>
            <a:solidFill>
              <a:srgbClr val="3366FF"/>
            </a:solidFill>
            <a:ln w="28575" cmpd="sng">
              <a:solidFill>
                <a:srgbClr val="FFFF00"/>
              </a:solidFill>
              <a:round/>
              <a:headEnd/>
              <a:tailEnd/>
            </a:ln>
          </p:spPr>
          <p:txBody>
            <a:bodyPr/>
            <a:lstStyle/>
            <a:p>
              <a:endParaRPr lang="zh-CN" altLang="en-US"/>
            </a:p>
          </p:txBody>
        </p:sp>
        <p:sp>
          <p:nvSpPr>
            <p:cNvPr id="518181" name="Freeform 37"/>
            <p:cNvSpPr>
              <a:spLocks/>
            </p:cNvSpPr>
            <p:nvPr/>
          </p:nvSpPr>
          <p:spPr bwMode="auto">
            <a:xfrm>
              <a:off x="3198" y="1246"/>
              <a:ext cx="1361" cy="1080"/>
            </a:xfrm>
            <a:custGeom>
              <a:avLst/>
              <a:gdLst/>
              <a:ahLst/>
              <a:cxnLst>
                <a:cxn ang="0">
                  <a:pos x="1575" y="1248"/>
                </a:cxn>
                <a:cxn ang="0">
                  <a:pos x="0" y="1248"/>
                </a:cxn>
                <a:cxn ang="0">
                  <a:pos x="0" y="0"/>
                </a:cxn>
                <a:cxn ang="0">
                  <a:pos x="1575" y="0"/>
                </a:cxn>
              </a:cxnLst>
              <a:rect l="0" t="0" r="r" b="b"/>
              <a:pathLst>
                <a:path w="1575" h="1248">
                  <a:moveTo>
                    <a:pt x="1575" y="1248"/>
                  </a:moveTo>
                  <a:lnTo>
                    <a:pt x="0" y="1248"/>
                  </a:lnTo>
                  <a:lnTo>
                    <a:pt x="0" y="0"/>
                  </a:lnTo>
                  <a:lnTo>
                    <a:pt x="1575" y="0"/>
                  </a:lnTo>
                </a:path>
              </a:pathLst>
            </a:custGeom>
            <a:noFill/>
            <a:ln w="28575" cmpd="sng">
              <a:solidFill>
                <a:srgbClr val="FFFF00"/>
              </a:solidFill>
              <a:round/>
              <a:headEnd/>
              <a:tailEnd/>
            </a:ln>
          </p:spPr>
          <p:txBody>
            <a:bodyPr/>
            <a:lstStyle/>
            <a:p>
              <a:endParaRPr lang="zh-CN" altLang="en-US"/>
            </a:p>
          </p:txBody>
        </p:sp>
        <p:sp>
          <p:nvSpPr>
            <p:cNvPr id="518182" name="Freeform 38"/>
            <p:cNvSpPr>
              <a:spLocks/>
            </p:cNvSpPr>
            <p:nvPr/>
          </p:nvSpPr>
          <p:spPr bwMode="auto">
            <a:xfrm>
              <a:off x="3198" y="706"/>
              <a:ext cx="1906" cy="540"/>
            </a:xfrm>
            <a:custGeom>
              <a:avLst/>
              <a:gdLst/>
              <a:ahLst/>
              <a:cxnLst>
                <a:cxn ang="0">
                  <a:pos x="2205" y="0"/>
                </a:cxn>
                <a:cxn ang="0">
                  <a:pos x="735" y="0"/>
                </a:cxn>
                <a:cxn ang="0">
                  <a:pos x="0" y="624"/>
                </a:cxn>
              </a:cxnLst>
              <a:rect l="0" t="0" r="r" b="b"/>
              <a:pathLst>
                <a:path w="2205" h="624">
                  <a:moveTo>
                    <a:pt x="2205" y="0"/>
                  </a:moveTo>
                  <a:lnTo>
                    <a:pt x="735" y="0"/>
                  </a:lnTo>
                  <a:lnTo>
                    <a:pt x="0" y="624"/>
                  </a:lnTo>
                </a:path>
              </a:pathLst>
            </a:custGeom>
            <a:noFill/>
            <a:ln w="28575" cmpd="sng">
              <a:solidFill>
                <a:srgbClr val="FFFF00"/>
              </a:solidFill>
              <a:round/>
              <a:headEnd/>
              <a:tailEnd/>
            </a:ln>
          </p:spPr>
          <p:txBody>
            <a:bodyPr/>
            <a:lstStyle/>
            <a:p>
              <a:endParaRPr lang="zh-CN" altLang="en-US"/>
            </a:p>
          </p:txBody>
        </p:sp>
        <p:graphicFrame>
          <p:nvGraphicFramePr>
            <p:cNvPr id="518183" name="Object 39"/>
            <p:cNvGraphicFramePr>
              <a:graphicFrameLocks noChangeAspect="1"/>
            </p:cNvGraphicFramePr>
            <p:nvPr/>
          </p:nvGraphicFramePr>
          <p:xfrm>
            <a:off x="5298" y="1835"/>
            <a:ext cx="184" cy="212"/>
          </p:xfrm>
          <a:graphic>
            <a:graphicData uri="http://schemas.openxmlformats.org/presentationml/2006/ole">
              <mc:AlternateContent xmlns:mc="http://schemas.openxmlformats.org/markup-compatibility/2006">
                <mc:Choice xmlns:v="urn:schemas-microsoft-com:vml" Requires="v">
                  <p:oleObj name="公式" r:id="rId2" imgW="126720" imgH="139680" progId="Equation.3">
                    <p:embed/>
                  </p:oleObj>
                </mc:Choice>
                <mc:Fallback>
                  <p:oleObj name="公式" r:id="rId2" imgW="126720" imgH="139680" progId="Equation.3">
                    <p:embed/>
                    <p:pic>
                      <p:nvPicPr>
                        <p:cNvPr id="0" name="Picture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8" y="1835"/>
                          <a:ext cx="18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84" name="Object 40"/>
            <p:cNvGraphicFramePr>
              <a:graphicFrameLocks noChangeAspect="1"/>
            </p:cNvGraphicFramePr>
            <p:nvPr/>
          </p:nvGraphicFramePr>
          <p:xfrm>
            <a:off x="3846" y="346"/>
            <a:ext cx="199" cy="226"/>
          </p:xfrm>
          <a:graphic>
            <a:graphicData uri="http://schemas.openxmlformats.org/presentationml/2006/ole">
              <mc:AlternateContent xmlns:mc="http://schemas.openxmlformats.org/markup-compatibility/2006">
                <mc:Choice xmlns:v="urn:schemas-microsoft-com:vml" Requires="v">
                  <p:oleObj name="公式" r:id="rId4" imgW="139680" imgH="164880" progId="Equation.3">
                    <p:embed/>
                  </p:oleObj>
                </mc:Choice>
                <mc:Fallback>
                  <p:oleObj name="公式" r:id="rId4" imgW="139680" imgH="164880" progId="Equation.3">
                    <p:embed/>
                    <p:pic>
                      <p:nvPicPr>
                        <p:cNvPr id="0" name="Picture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6" y="346"/>
                          <a:ext cx="199" cy="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85" name="Object 41"/>
            <p:cNvGraphicFramePr>
              <a:graphicFrameLocks noChangeAspect="1"/>
            </p:cNvGraphicFramePr>
            <p:nvPr/>
          </p:nvGraphicFramePr>
          <p:xfrm>
            <a:off x="3016" y="2387"/>
            <a:ext cx="227" cy="227"/>
          </p:xfrm>
          <a:graphic>
            <a:graphicData uri="http://schemas.openxmlformats.org/presentationml/2006/ole">
              <mc:AlternateContent xmlns:mc="http://schemas.openxmlformats.org/markup-compatibility/2006">
                <mc:Choice xmlns:v="urn:schemas-microsoft-com:vml" Requires="v">
                  <p:oleObj name="公式" r:id="rId6" imgW="126720" imgH="126720" progId="Equation.3">
                    <p:embed/>
                  </p:oleObj>
                </mc:Choice>
                <mc:Fallback>
                  <p:oleObj name="公式" r:id="rId6" imgW="126720" imgH="126720" progId="Equation.3">
                    <p:embed/>
                    <p:pic>
                      <p:nvPicPr>
                        <p:cNvPr id="0" name="Picture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6" y="2387"/>
                          <a:ext cx="227"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18186" name="Group 42"/>
            <p:cNvGrpSpPr>
              <a:grpSpLocks/>
            </p:cNvGrpSpPr>
            <p:nvPr/>
          </p:nvGrpSpPr>
          <p:grpSpPr bwMode="auto">
            <a:xfrm>
              <a:off x="3833" y="1434"/>
              <a:ext cx="922" cy="948"/>
              <a:chOff x="3833" y="1402"/>
              <a:chExt cx="922" cy="948"/>
            </a:xfrm>
          </p:grpSpPr>
          <p:graphicFrame>
            <p:nvGraphicFramePr>
              <p:cNvPr id="518187" name="Object 43"/>
              <p:cNvGraphicFramePr>
                <a:graphicFrameLocks noChangeAspect="1"/>
              </p:cNvGraphicFramePr>
              <p:nvPr/>
            </p:nvGraphicFramePr>
            <p:xfrm>
              <a:off x="4014" y="2011"/>
              <a:ext cx="530" cy="339"/>
            </p:xfrm>
            <a:graphic>
              <a:graphicData uri="http://schemas.openxmlformats.org/presentationml/2006/ole">
                <mc:AlternateContent xmlns:mc="http://schemas.openxmlformats.org/markup-compatibility/2006">
                  <mc:Choice xmlns:v="urn:schemas-microsoft-com:vml" Requires="v">
                    <p:oleObj name="公式" r:id="rId8" imgW="330120" imgH="228600" progId="Equation.3">
                      <p:embed/>
                    </p:oleObj>
                  </mc:Choice>
                  <mc:Fallback>
                    <p:oleObj name="公式" r:id="rId8" imgW="330120" imgH="228600" progId="Equation.3">
                      <p:embed/>
                      <p:pic>
                        <p:nvPicPr>
                          <p:cNvPr id="0" name="Picture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14" y="2011"/>
                            <a:ext cx="530"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8188" name="Oval 44"/>
              <p:cNvSpPr>
                <a:spLocks noChangeAspect="1" noChangeArrowheads="1"/>
              </p:cNvSpPr>
              <p:nvPr/>
            </p:nvSpPr>
            <p:spPr bwMode="auto">
              <a:xfrm>
                <a:off x="3833" y="1921"/>
                <a:ext cx="88" cy="88"/>
              </a:xfrm>
              <a:prstGeom prst="ellipse">
                <a:avLst/>
              </a:prstGeom>
              <a:gradFill rotWithShape="1">
                <a:gsLst>
                  <a:gs pos="0">
                    <a:srgbClr val="FFFFFF"/>
                  </a:gs>
                  <a:gs pos="100000">
                    <a:srgbClr val="993366"/>
                  </a:gs>
                </a:gsLst>
                <a:path path="shape">
                  <a:fillToRect l="50000" t="50000" r="50000" b="50000"/>
                </a:path>
              </a:gradFill>
              <a:ln w="9525">
                <a:solidFill>
                  <a:srgbClr val="FFFFFF"/>
                </a:solidFill>
                <a:round/>
                <a:headEnd/>
                <a:tailEnd/>
              </a:ln>
            </p:spPr>
            <p:txBody>
              <a:bodyPr/>
              <a:lstStyle/>
              <a:p>
                <a:endParaRPr lang="zh-CN" altLang="en-US"/>
              </a:p>
            </p:txBody>
          </p:sp>
          <p:sp>
            <p:nvSpPr>
              <p:cNvPr id="518189" name="Line 45"/>
              <p:cNvSpPr>
                <a:spLocks noChangeShapeType="1"/>
              </p:cNvSpPr>
              <p:nvPr/>
            </p:nvSpPr>
            <p:spPr bwMode="auto">
              <a:xfrm flipV="1">
                <a:off x="3924" y="1677"/>
                <a:ext cx="817" cy="270"/>
              </a:xfrm>
              <a:prstGeom prst="line">
                <a:avLst/>
              </a:prstGeom>
              <a:noFill/>
              <a:ln w="28575">
                <a:solidFill>
                  <a:srgbClr val="FFFFFF"/>
                </a:solidFill>
                <a:prstDash val="dash"/>
                <a:round/>
                <a:headEnd/>
                <a:tailEnd type="stealth" w="med" len="lg"/>
              </a:ln>
              <a:effectLst/>
            </p:spPr>
            <p:txBody>
              <a:bodyPr/>
              <a:lstStyle/>
              <a:p>
                <a:endParaRPr lang="zh-CN" altLang="en-US"/>
              </a:p>
            </p:txBody>
          </p:sp>
          <p:sp>
            <p:nvSpPr>
              <p:cNvPr id="518190" name="Line 46"/>
              <p:cNvSpPr>
                <a:spLocks noChangeShapeType="1"/>
              </p:cNvSpPr>
              <p:nvPr/>
            </p:nvSpPr>
            <p:spPr bwMode="auto">
              <a:xfrm flipH="1" flipV="1">
                <a:off x="4105" y="1402"/>
                <a:ext cx="636" cy="270"/>
              </a:xfrm>
              <a:prstGeom prst="line">
                <a:avLst/>
              </a:prstGeom>
              <a:noFill/>
              <a:ln w="28575">
                <a:solidFill>
                  <a:srgbClr val="FFFFFF"/>
                </a:solidFill>
                <a:prstDash val="dash"/>
                <a:round/>
                <a:headEnd/>
                <a:tailEnd type="stealth" w="med" len="lg"/>
              </a:ln>
              <a:effectLst/>
            </p:spPr>
            <p:txBody>
              <a:bodyPr/>
              <a:lstStyle/>
              <a:p>
                <a:endParaRPr lang="zh-CN" altLang="en-US"/>
              </a:p>
            </p:txBody>
          </p:sp>
          <p:sp>
            <p:nvSpPr>
              <p:cNvPr id="518191" name="Line 47"/>
              <p:cNvSpPr>
                <a:spLocks noChangeShapeType="1"/>
              </p:cNvSpPr>
              <p:nvPr/>
            </p:nvSpPr>
            <p:spPr bwMode="auto">
              <a:xfrm>
                <a:off x="3882" y="2021"/>
                <a:ext cx="1" cy="89"/>
              </a:xfrm>
              <a:prstGeom prst="line">
                <a:avLst/>
              </a:prstGeom>
              <a:noFill/>
              <a:ln w="9525">
                <a:solidFill>
                  <a:srgbClr val="FFFFFF"/>
                </a:solidFill>
                <a:round/>
                <a:headEnd/>
                <a:tailEnd/>
              </a:ln>
            </p:spPr>
            <p:txBody>
              <a:bodyPr/>
              <a:lstStyle/>
              <a:p>
                <a:endParaRPr lang="zh-CN" altLang="en-US"/>
              </a:p>
            </p:txBody>
          </p:sp>
          <p:sp>
            <p:nvSpPr>
              <p:cNvPr id="518192" name="Line 48"/>
              <p:cNvSpPr>
                <a:spLocks noChangeShapeType="1"/>
              </p:cNvSpPr>
              <p:nvPr/>
            </p:nvSpPr>
            <p:spPr bwMode="auto">
              <a:xfrm flipH="1">
                <a:off x="3874" y="2056"/>
                <a:ext cx="308" cy="1"/>
              </a:xfrm>
              <a:prstGeom prst="line">
                <a:avLst/>
              </a:prstGeom>
              <a:noFill/>
              <a:ln w="9525">
                <a:solidFill>
                  <a:srgbClr val="FFFFFF"/>
                </a:solidFill>
                <a:round/>
                <a:headEnd/>
                <a:tailEnd type="arrow" w="med" len="lg"/>
              </a:ln>
            </p:spPr>
            <p:txBody>
              <a:bodyPr/>
              <a:lstStyle/>
              <a:p>
                <a:endParaRPr lang="zh-CN" altLang="en-US"/>
              </a:p>
            </p:txBody>
          </p:sp>
          <p:sp>
            <p:nvSpPr>
              <p:cNvPr id="518193" name="Line 49"/>
              <p:cNvSpPr>
                <a:spLocks noChangeShapeType="1"/>
              </p:cNvSpPr>
              <p:nvPr/>
            </p:nvSpPr>
            <p:spPr bwMode="auto">
              <a:xfrm>
                <a:off x="4741" y="1772"/>
                <a:ext cx="4" cy="358"/>
              </a:xfrm>
              <a:prstGeom prst="line">
                <a:avLst/>
              </a:prstGeom>
              <a:noFill/>
              <a:ln w="9525">
                <a:solidFill>
                  <a:srgbClr val="FFFFFF"/>
                </a:solidFill>
                <a:round/>
                <a:headEnd/>
                <a:tailEnd/>
              </a:ln>
            </p:spPr>
            <p:txBody>
              <a:bodyPr/>
              <a:lstStyle/>
              <a:p>
                <a:endParaRPr lang="zh-CN" altLang="en-US"/>
              </a:p>
            </p:txBody>
          </p:sp>
          <p:sp>
            <p:nvSpPr>
              <p:cNvPr id="518194" name="Line 50"/>
              <p:cNvSpPr>
                <a:spLocks noChangeShapeType="1"/>
              </p:cNvSpPr>
              <p:nvPr/>
            </p:nvSpPr>
            <p:spPr bwMode="auto">
              <a:xfrm>
                <a:off x="4448" y="2056"/>
                <a:ext cx="307" cy="1"/>
              </a:xfrm>
              <a:prstGeom prst="line">
                <a:avLst/>
              </a:prstGeom>
              <a:noFill/>
              <a:ln w="9525">
                <a:solidFill>
                  <a:srgbClr val="FFFFFF"/>
                </a:solidFill>
                <a:round/>
                <a:headEnd/>
                <a:tailEnd type="arrow" w="med" len="lg"/>
              </a:ln>
            </p:spPr>
            <p:txBody>
              <a:bodyPr/>
              <a:lstStyle/>
              <a:p>
                <a:endParaRPr lang="zh-CN" altLang="en-US"/>
              </a:p>
            </p:txBody>
          </p:sp>
          <p:graphicFrame>
            <p:nvGraphicFramePr>
              <p:cNvPr id="518195" name="Object 51"/>
              <p:cNvGraphicFramePr>
                <a:graphicFrameLocks noChangeAspect="1"/>
              </p:cNvGraphicFramePr>
              <p:nvPr/>
            </p:nvGraphicFramePr>
            <p:xfrm>
              <a:off x="4160" y="1453"/>
              <a:ext cx="295" cy="374"/>
            </p:xfrm>
            <a:graphic>
              <a:graphicData uri="http://schemas.openxmlformats.org/presentationml/2006/ole">
                <mc:AlternateContent xmlns:mc="http://schemas.openxmlformats.org/markup-compatibility/2006">
                  <mc:Choice xmlns:v="urn:schemas-microsoft-com:vml" Requires="v">
                    <p:oleObj name="公式" r:id="rId10" imgW="164880" imgH="228600" progId="Equation.3">
                      <p:embed/>
                    </p:oleObj>
                  </mc:Choice>
                  <mc:Fallback>
                    <p:oleObj name="公式" r:id="rId10" imgW="164880" imgH="228600" progId="Equation.3">
                      <p:embed/>
                      <p:pic>
                        <p:nvPicPr>
                          <p:cNvPr id="0" name="Picture 5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60" y="1453"/>
                            <a:ext cx="295" cy="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18196" name="Group 52"/>
            <p:cNvGrpSpPr>
              <a:grpSpLocks/>
            </p:cNvGrpSpPr>
            <p:nvPr/>
          </p:nvGrpSpPr>
          <p:grpSpPr bwMode="auto">
            <a:xfrm>
              <a:off x="4694" y="1434"/>
              <a:ext cx="311" cy="366"/>
              <a:chOff x="4692" y="1377"/>
              <a:chExt cx="311" cy="366"/>
            </a:xfrm>
          </p:grpSpPr>
          <p:sp>
            <p:nvSpPr>
              <p:cNvPr id="518197" name="Oval 53"/>
              <p:cNvSpPr>
                <a:spLocks noChangeArrowheads="1"/>
              </p:cNvSpPr>
              <p:nvPr/>
            </p:nvSpPr>
            <p:spPr bwMode="auto">
              <a:xfrm>
                <a:off x="4692" y="1571"/>
                <a:ext cx="91" cy="172"/>
              </a:xfrm>
              <a:prstGeom prst="ellipse">
                <a:avLst/>
              </a:prstGeom>
              <a:solidFill>
                <a:srgbClr val="FFFFFF"/>
              </a:solidFill>
              <a:ln w="9525">
                <a:solidFill>
                  <a:srgbClr val="FFFF00"/>
                </a:solidFill>
                <a:round/>
                <a:headEnd/>
                <a:tailEnd/>
              </a:ln>
            </p:spPr>
            <p:txBody>
              <a:bodyPr/>
              <a:lstStyle/>
              <a:p>
                <a:endParaRPr lang="zh-CN" altLang="en-US"/>
              </a:p>
            </p:txBody>
          </p:sp>
          <p:graphicFrame>
            <p:nvGraphicFramePr>
              <p:cNvPr id="518198" name="Object 54"/>
              <p:cNvGraphicFramePr>
                <a:graphicFrameLocks noChangeAspect="1"/>
              </p:cNvGraphicFramePr>
              <p:nvPr/>
            </p:nvGraphicFramePr>
            <p:xfrm>
              <a:off x="4740" y="1377"/>
              <a:ext cx="263" cy="218"/>
            </p:xfrm>
            <a:graphic>
              <a:graphicData uri="http://schemas.openxmlformats.org/presentationml/2006/ole">
                <mc:AlternateContent xmlns:mc="http://schemas.openxmlformats.org/markup-compatibility/2006">
                  <mc:Choice xmlns:v="urn:schemas-microsoft-com:vml" Requires="v">
                    <p:oleObj name="公式" r:id="rId12" imgW="215640" imgH="177480" progId="Equation.3">
                      <p:embed/>
                    </p:oleObj>
                  </mc:Choice>
                  <mc:Fallback>
                    <p:oleObj name="公式" r:id="rId12" imgW="215640" imgH="177480" progId="Equation.3">
                      <p:embed/>
                      <p:pic>
                        <p:nvPicPr>
                          <p:cNvPr id="0" name="Picture 5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0" y="1377"/>
                            <a:ext cx="263" cy="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518199" name="Text Box 55"/>
          <p:cNvSpPr txBox="1">
            <a:spLocks noChangeArrowheads="1"/>
          </p:cNvSpPr>
          <p:nvPr/>
        </p:nvSpPr>
        <p:spPr bwMode="auto">
          <a:xfrm>
            <a:off x="179388" y="1146175"/>
            <a:ext cx="4176712" cy="2054225"/>
          </a:xfrm>
          <a:prstGeom prst="rect">
            <a:avLst/>
          </a:prstGeom>
          <a:noFill/>
          <a:ln w="12700" cap="sq">
            <a:noFill/>
            <a:miter lim="800000"/>
            <a:headEnd type="none" w="sm" len="sm"/>
            <a:tailEnd type="none" w="sm" len="sm"/>
          </a:ln>
          <a:effectLst/>
        </p:spPr>
        <p:txBody>
          <a:bodyPr>
            <a:spAutoFit/>
          </a:bodyPr>
          <a:lstStyle/>
          <a:p>
            <a:pPr>
              <a:lnSpc>
                <a:spcPct val="115000"/>
              </a:lnSpc>
              <a:spcBef>
                <a:spcPct val="50000"/>
              </a:spcBef>
            </a:pPr>
            <a:r>
              <a:rPr kumimoji="1" lang="zh-CN" altLang="en-US" sz="2800"/>
              <a:t>将分子</a:t>
            </a:r>
            <a:r>
              <a:rPr kumimoji="1" lang="zh-CN" altLang="en-US" sz="2800">
                <a:solidFill>
                  <a:srgbClr val="0000CC"/>
                </a:solidFill>
              </a:rPr>
              <a:t>按速度分组</a:t>
            </a:r>
            <a:r>
              <a:rPr kumimoji="1" lang="zh-CN" altLang="en-US" sz="2800"/>
              <a:t>，每一组的分子具有相同的速度。假设每组的分子数密度为 </a:t>
            </a:r>
            <a:r>
              <a:rPr kumimoji="1" lang="en-US" altLang="zh-CN" sz="2800" i="1"/>
              <a:t>n</a:t>
            </a:r>
            <a:r>
              <a:rPr kumimoji="1" lang="en-US" altLang="zh-CN" sz="2800" i="1" baseline="-25000"/>
              <a:t>i</a:t>
            </a:r>
            <a:r>
              <a:rPr kumimoji="1" lang="en-US" altLang="zh-CN" sz="2800"/>
              <a:t> </a:t>
            </a:r>
            <a:r>
              <a:rPr kumimoji="1" lang="zh-CN" altLang="en-US" sz="2800"/>
              <a:t>，速率为 </a:t>
            </a:r>
            <a:r>
              <a:rPr kumimoji="1" lang="en-US" altLang="zh-CN" sz="2800" i="1"/>
              <a:t>v</a:t>
            </a:r>
            <a:r>
              <a:rPr kumimoji="1" lang="en-US" altLang="zh-CN" sz="2800" i="1" baseline="-25000"/>
              <a:t>i </a:t>
            </a:r>
            <a:r>
              <a:rPr kumimoji="1" lang="zh-CN" altLang="en-US" sz="2800"/>
              <a:t>：</a:t>
            </a:r>
          </a:p>
        </p:txBody>
      </p:sp>
      <p:graphicFrame>
        <p:nvGraphicFramePr>
          <p:cNvPr id="518200" name="Object 56"/>
          <p:cNvGraphicFramePr>
            <a:graphicFrameLocks noChangeAspect="1"/>
          </p:cNvGraphicFramePr>
          <p:nvPr/>
        </p:nvGraphicFramePr>
        <p:xfrm>
          <a:off x="1447800" y="3352800"/>
          <a:ext cx="1417638" cy="630238"/>
        </p:xfrm>
        <a:graphic>
          <a:graphicData uri="http://schemas.openxmlformats.org/presentationml/2006/ole">
            <mc:AlternateContent xmlns:mc="http://schemas.openxmlformats.org/markup-compatibility/2006">
              <mc:Choice xmlns:v="urn:schemas-microsoft-com:vml" Requires="v">
                <p:oleObj name="公式" r:id="rId14" imgW="571320" imgH="253800" progId="Equation.3">
                  <p:embed/>
                </p:oleObj>
              </mc:Choice>
              <mc:Fallback>
                <p:oleObj name="公式" r:id="rId14" imgW="571320" imgH="253800" progId="Equation.3">
                  <p:embed/>
                  <p:pic>
                    <p:nvPicPr>
                      <p:cNvPr id="0" name="Picture 5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47800" y="3352800"/>
                        <a:ext cx="1417638"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8201" name="Rectangle 57"/>
          <p:cNvSpPr>
            <a:spLocks noChangeArrowheads="1"/>
          </p:cNvSpPr>
          <p:nvPr/>
        </p:nvSpPr>
        <p:spPr bwMode="auto">
          <a:xfrm>
            <a:off x="309563" y="4133850"/>
            <a:ext cx="4033837" cy="1031875"/>
          </a:xfrm>
          <a:prstGeom prst="rect">
            <a:avLst/>
          </a:prstGeom>
          <a:noFill/>
          <a:ln w="12700" cap="sq">
            <a:noFill/>
            <a:miter lim="800000"/>
            <a:headEnd type="none" w="sm" len="sm"/>
            <a:tailEnd type="none" w="sm" len="sm"/>
          </a:ln>
          <a:effectLst/>
        </p:spPr>
        <p:txBody>
          <a:bodyPr>
            <a:spAutoFit/>
          </a:bodyPr>
          <a:lstStyle/>
          <a:p>
            <a:pPr>
              <a:lnSpc>
                <a:spcPct val="110000"/>
              </a:lnSpc>
            </a:pPr>
            <a:r>
              <a:rPr kumimoji="1" lang="en-US" altLang="zh-CN" sz="2800" i="1" dirty="0"/>
              <a:t>x </a:t>
            </a:r>
            <a:r>
              <a:rPr kumimoji="1" lang="zh-CN" altLang="en-US" sz="2800" dirty="0"/>
              <a:t>方向</a:t>
            </a:r>
            <a:r>
              <a:rPr kumimoji="1" lang="zh-CN" altLang="zh-CN" sz="2800" dirty="0"/>
              <a:t>分子与器壁碰撞后</a:t>
            </a:r>
            <a:r>
              <a:rPr kumimoji="1" lang="zh-CN" altLang="zh-CN" sz="2800" dirty="0">
                <a:solidFill>
                  <a:srgbClr val="0000CC"/>
                </a:solidFill>
              </a:rPr>
              <a:t>动量的增量</a:t>
            </a:r>
            <a:r>
              <a:rPr kumimoji="1" lang="zh-CN" altLang="zh-CN" sz="2800" dirty="0"/>
              <a:t>：</a:t>
            </a:r>
            <a:endParaRPr kumimoji="1" lang="zh-CN" altLang="en-US" sz="2800" dirty="0"/>
          </a:p>
        </p:txBody>
      </p:sp>
      <p:graphicFrame>
        <p:nvGraphicFramePr>
          <p:cNvPr id="518202" name="Object 58"/>
          <p:cNvGraphicFramePr>
            <a:graphicFrameLocks noChangeAspect="1"/>
          </p:cNvGraphicFramePr>
          <p:nvPr/>
        </p:nvGraphicFramePr>
        <p:xfrm>
          <a:off x="1524000" y="5257800"/>
          <a:ext cx="4132263" cy="576263"/>
        </p:xfrm>
        <a:graphic>
          <a:graphicData uri="http://schemas.openxmlformats.org/presentationml/2006/ole">
            <mc:AlternateContent xmlns:mc="http://schemas.openxmlformats.org/markup-compatibility/2006">
              <mc:Choice xmlns:v="urn:schemas-microsoft-com:vml" Requires="v">
                <p:oleObj name="公式" r:id="rId16" imgW="1638000" imgH="228600" progId="Equation.3">
                  <p:embed/>
                </p:oleObj>
              </mc:Choice>
              <mc:Fallback>
                <p:oleObj name="公式" r:id="rId16" imgW="1638000" imgH="228600" progId="Equation.3">
                  <p:embed/>
                  <p:pic>
                    <p:nvPicPr>
                      <p:cNvPr id="0" name="Picture 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24000" y="5257800"/>
                        <a:ext cx="4132263"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8203" name="Rectangle 59"/>
          <p:cNvSpPr>
            <a:spLocks noChangeArrowheads="1"/>
          </p:cNvSpPr>
          <p:nvPr/>
        </p:nvSpPr>
        <p:spPr bwMode="auto">
          <a:xfrm>
            <a:off x="381000" y="5853112"/>
            <a:ext cx="3744913" cy="519113"/>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800" dirty="0">
                <a:solidFill>
                  <a:srgbClr val="0000CC"/>
                </a:solidFill>
              </a:rPr>
              <a:t>分子对器壁的冲量</a:t>
            </a:r>
            <a:r>
              <a:rPr kumimoji="1" lang="zh-CN" altLang="en-US" sz="2800" dirty="0"/>
              <a:t>：</a:t>
            </a:r>
          </a:p>
        </p:txBody>
      </p:sp>
      <p:graphicFrame>
        <p:nvGraphicFramePr>
          <p:cNvPr id="518204" name="Object 60"/>
          <p:cNvGraphicFramePr>
            <a:graphicFrameLocks noChangeAspect="1"/>
          </p:cNvGraphicFramePr>
          <p:nvPr/>
        </p:nvGraphicFramePr>
        <p:xfrm>
          <a:off x="4191000" y="5824537"/>
          <a:ext cx="1152525" cy="576263"/>
        </p:xfrm>
        <a:graphic>
          <a:graphicData uri="http://schemas.openxmlformats.org/presentationml/2006/ole">
            <mc:AlternateContent xmlns:mc="http://schemas.openxmlformats.org/markup-compatibility/2006">
              <mc:Choice xmlns:v="urn:schemas-microsoft-com:vml" Requires="v">
                <p:oleObj name="公式" r:id="rId18" imgW="457200" imgH="228600" progId="Equation.3">
                  <p:embed/>
                </p:oleObj>
              </mc:Choice>
              <mc:Fallback>
                <p:oleObj name="公式" r:id="rId18" imgW="457200" imgH="228600" progId="Equation.3">
                  <p:embed/>
                  <p:pic>
                    <p:nvPicPr>
                      <p:cNvPr id="0" name="Picture 6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91000" y="5824537"/>
                        <a:ext cx="1152525"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8205" name="Rectangle 61"/>
          <p:cNvSpPr>
            <a:spLocks noChangeArrowheads="1"/>
          </p:cNvSpPr>
          <p:nvPr/>
        </p:nvSpPr>
        <p:spPr bwMode="auto">
          <a:xfrm>
            <a:off x="5703888" y="5286375"/>
            <a:ext cx="3135312" cy="519112"/>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800">
                <a:solidFill>
                  <a:srgbClr val="0000CC"/>
                </a:solidFill>
              </a:rPr>
              <a:t>器壁对分子的冲量</a:t>
            </a:r>
            <a:endParaRPr kumimoji="1"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8199"/>
                                        </p:tgtEl>
                                        <p:attrNameLst>
                                          <p:attrName>style.visibility</p:attrName>
                                        </p:attrNameLst>
                                      </p:cBhvr>
                                      <p:to>
                                        <p:strVal val="visible"/>
                                      </p:to>
                                    </p:set>
                                    <p:animEffect transition="in" filter="box(out)">
                                      <p:cBhvr>
                                        <p:cTn id="7" dur="500"/>
                                        <p:tgtEl>
                                          <p:spTgt spid="5181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8200"/>
                                        </p:tgtEl>
                                        <p:attrNameLst>
                                          <p:attrName>style.visibility</p:attrName>
                                        </p:attrNameLst>
                                      </p:cBhvr>
                                      <p:to>
                                        <p:strVal val="visible"/>
                                      </p:to>
                                    </p:set>
                                    <p:animEffect transition="in" filter="wipe(left)">
                                      <p:cBhvr>
                                        <p:cTn id="12" dur="500"/>
                                        <p:tgtEl>
                                          <p:spTgt spid="5182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8201"/>
                                        </p:tgtEl>
                                        <p:attrNameLst>
                                          <p:attrName>style.visibility</p:attrName>
                                        </p:attrNameLst>
                                      </p:cBhvr>
                                      <p:to>
                                        <p:strVal val="visible"/>
                                      </p:to>
                                    </p:set>
                                    <p:animEffect transition="in" filter="wipe(left)">
                                      <p:cBhvr>
                                        <p:cTn id="17" dur="500"/>
                                        <p:tgtEl>
                                          <p:spTgt spid="5182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8202"/>
                                        </p:tgtEl>
                                        <p:attrNameLst>
                                          <p:attrName>style.visibility</p:attrName>
                                        </p:attrNameLst>
                                      </p:cBhvr>
                                      <p:to>
                                        <p:strVal val="visible"/>
                                      </p:to>
                                    </p:set>
                                    <p:animEffect transition="in" filter="wipe(left)">
                                      <p:cBhvr>
                                        <p:cTn id="22" dur="500"/>
                                        <p:tgtEl>
                                          <p:spTgt spid="5182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8205"/>
                                        </p:tgtEl>
                                        <p:attrNameLst>
                                          <p:attrName>style.visibility</p:attrName>
                                        </p:attrNameLst>
                                      </p:cBhvr>
                                      <p:to>
                                        <p:strVal val="visible"/>
                                      </p:to>
                                    </p:set>
                                    <p:animEffect transition="in" filter="wipe(left)">
                                      <p:cBhvr>
                                        <p:cTn id="27" dur="500"/>
                                        <p:tgtEl>
                                          <p:spTgt spid="5182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8203"/>
                                        </p:tgtEl>
                                        <p:attrNameLst>
                                          <p:attrName>style.visibility</p:attrName>
                                        </p:attrNameLst>
                                      </p:cBhvr>
                                      <p:to>
                                        <p:strVal val="visible"/>
                                      </p:to>
                                    </p:set>
                                    <p:animEffect transition="in" filter="wipe(left)">
                                      <p:cBhvr>
                                        <p:cTn id="32" dur="500"/>
                                        <p:tgtEl>
                                          <p:spTgt spid="51820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18204"/>
                                        </p:tgtEl>
                                        <p:attrNameLst>
                                          <p:attrName>style.visibility</p:attrName>
                                        </p:attrNameLst>
                                      </p:cBhvr>
                                      <p:to>
                                        <p:strVal val="visible"/>
                                      </p:to>
                                    </p:set>
                                    <p:animEffect transition="in" filter="wipe(left)">
                                      <p:cBhvr>
                                        <p:cTn id="37" dur="500"/>
                                        <p:tgtEl>
                                          <p:spTgt spid="51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99" grpId="0" autoUpdateAnimBg="0"/>
      <p:bldP spid="518201" grpId="0" autoUpdateAnimBg="0"/>
      <p:bldP spid="518203" grpId="0" autoUpdateAnimBg="0"/>
      <p:bldP spid="51820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40" name="灯片编号占位符 4"/>
          <p:cNvSpPr>
            <a:spLocks noGrp="1"/>
          </p:cNvSpPr>
          <p:nvPr>
            <p:ph type="sldNum" sz="quarter" idx="12"/>
          </p:nvPr>
        </p:nvSpPr>
        <p:spPr/>
        <p:txBody>
          <a:bodyPr/>
          <a:lstStyle/>
          <a:p>
            <a:fld id="{D0267049-A942-4254-A27B-B54FE7218B7A}" type="slidenum">
              <a:rPr lang="en-US" altLang="zh-CN"/>
              <a:pPr/>
              <a:t>16</a:t>
            </a:fld>
            <a:endParaRPr lang="en-US" altLang="zh-CN"/>
          </a:p>
        </p:txBody>
      </p:sp>
      <p:grpSp>
        <p:nvGrpSpPr>
          <p:cNvPr id="521219" name="Group 3"/>
          <p:cNvGrpSpPr>
            <a:grpSpLocks/>
          </p:cNvGrpSpPr>
          <p:nvPr/>
        </p:nvGrpSpPr>
        <p:grpSpPr bwMode="auto">
          <a:xfrm>
            <a:off x="4419600" y="1222375"/>
            <a:ext cx="4537075" cy="3959225"/>
            <a:chOff x="2744" y="210"/>
            <a:chExt cx="2858" cy="2494"/>
          </a:xfrm>
        </p:grpSpPr>
        <p:sp>
          <p:nvSpPr>
            <p:cNvPr id="521220" name="Rectangle 4"/>
            <p:cNvSpPr>
              <a:spLocks noChangeArrowheads="1"/>
            </p:cNvSpPr>
            <p:nvPr/>
          </p:nvSpPr>
          <p:spPr bwMode="auto">
            <a:xfrm>
              <a:off x="2744" y="210"/>
              <a:ext cx="2858" cy="2494"/>
            </a:xfrm>
            <a:prstGeom prst="rect">
              <a:avLst/>
            </a:prstGeom>
            <a:solidFill>
              <a:srgbClr val="006600"/>
            </a:solidFill>
            <a:ln w="9525">
              <a:solidFill>
                <a:srgbClr val="FFFFFF"/>
              </a:solidFill>
              <a:miter lim="800000"/>
              <a:headEnd/>
              <a:tailEnd/>
            </a:ln>
            <a:effectLst/>
          </p:spPr>
          <p:txBody>
            <a:bodyPr wrap="none" anchor="ctr"/>
            <a:lstStyle/>
            <a:p>
              <a:endParaRPr lang="zh-CN" altLang="en-US"/>
            </a:p>
          </p:txBody>
        </p:sp>
        <p:sp>
          <p:nvSpPr>
            <p:cNvPr id="521221" name="Text Box 5"/>
            <p:cNvSpPr txBox="1">
              <a:spLocks noChangeArrowheads="1"/>
            </p:cNvSpPr>
            <p:nvPr/>
          </p:nvSpPr>
          <p:spPr bwMode="auto">
            <a:xfrm>
              <a:off x="3606" y="1615"/>
              <a:ext cx="363" cy="318"/>
            </a:xfrm>
            <a:prstGeom prst="rect">
              <a:avLst/>
            </a:prstGeom>
            <a:noFill/>
            <a:ln w="9525">
              <a:noFill/>
              <a:miter lim="800000"/>
              <a:headEnd/>
              <a:tailEnd/>
            </a:ln>
          </p:spPr>
          <p:txBody>
            <a:bodyPr/>
            <a:lstStyle/>
            <a:p>
              <a:pPr algn="just"/>
              <a:r>
                <a:rPr kumimoji="1" lang="en-US" altLang="zh-CN" sz="2400" i="1">
                  <a:solidFill>
                    <a:srgbClr val="FFFFFF"/>
                  </a:solidFill>
                </a:rPr>
                <a:t>O</a:t>
              </a:r>
              <a:endParaRPr kumimoji="1" lang="en-US" altLang="zh-CN" sz="5400">
                <a:solidFill>
                  <a:srgbClr val="FFFFFF"/>
                </a:solidFill>
              </a:endParaRPr>
            </a:p>
          </p:txBody>
        </p:sp>
        <p:sp>
          <p:nvSpPr>
            <p:cNvPr id="521222" name="Line 6"/>
            <p:cNvSpPr>
              <a:spLocks noChangeShapeType="1"/>
            </p:cNvSpPr>
            <p:nvPr/>
          </p:nvSpPr>
          <p:spPr bwMode="auto">
            <a:xfrm>
              <a:off x="3833" y="1786"/>
              <a:ext cx="1634" cy="0"/>
            </a:xfrm>
            <a:prstGeom prst="line">
              <a:avLst/>
            </a:prstGeom>
            <a:noFill/>
            <a:ln w="19050">
              <a:solidFill>
                <a:srgbClr val="FFFFFF"/>
              </a:solidFill>
              <a:round/>
              <a:headEnd/>
              <a:tailEnd type="triangle" w="med" len="lg"/>
            </a:ln>
            <a:effectLst/>
          </p:spPr>
          <p:txBody>
            <a:bodyPr/>
            <a:lstStyle/>
            <a:p>
              <a:endParaRPr lang="zh-CN" altLang="en-US"/>
            </a:p>
          </p:txBody>
        </p:sp>
        <p:sp>
          <p:nvSpPr>
            <p:cNvPr id="521223" name="Line 7"/>
            <p:cNvSpPr>
              <a:spLocks noChangeShapeType="1"/>
            </p:cNvSpPr>
            <p:nvPr/>
          </p:nvSpPr>
          <p:spPr bwMode="auto">
            <a:xfrm flipV="1">
              <a:off x="3833" y="436"/>
              <a:ext cx="0" cy="1350"/>
            </a:xfrm>
            <a:prstGeom prst="line">
              <a:avLst/>
            </a:prstGeom>
            <a:noFill/>
            <a:ln w="19050">
              <a:solidFill>
                <a:srgbClr val="FFFFFF"/>
              </a:solidFill>
              <a:round/>
              <a:headEnd/>
              <a:tailEnd type="triangle" w="med" len="lg"/>
            </a:ln>
            <a:effectLst/>
          </p:spPr>
          <p:txBody>
            <a:bodyPr/>
            <a:lstStyle/>
            <a:p>
              <a:endParaRPr lang="zh-CN" altLang="en-US"/>
            </a:p>
          </p:txBody>
        </p:sp>
        <p:sp>
          <p:nvSpPr>
            <p:cNvPr id="521224" name="Line 8"/>
            <p:cNvSpPr>
              <a:spLocks noChangeShapeType="1"/>
            </p:cNvSpPr>
            <p:nvPr/>
          </p:nvSpPr>
          <p:spPr bwMode="auto">
            <a:xfrm flipH="1">
              <a:off x="3016" y="1786"/>
              <a:ext cx="817" cy="675"/>
            </a:xfrm>
            <a:prstGeom prst="line">
              <a:avLst/>
            </a:prstGeom>
            <a:noFill/>
            <a:ln w="19050">
              <a:solidFill>
                <a:srgbClr val="FFFFFF"/>
              </a:solidFill>
              <a:round/>
              <a:headEnd/>
              <a:tailEnd type="triangle" w="med" len="lg"/>
            </a:ln>
            <a:effectLst/>
          </p:spPr>
          <p:txBody>
            <a:bodyPr/>
            <a:lstStyle/>
            <a:p>
              <a:endParaRPr lang="zh-CN" altLang="en-US"/>
            </a:p>
          </p:txBody>
        </p:sp>
        <p:sp>
          <p:nvSpPr>
            <p:cNvPr id="521225" name="AutoShape 9"/>
            <p:cNvSpPr>
              <a:spLocks noChangeAspect="1" noChangeArrowheads="1"/>
            </p:cNvSpPr>
            <p:nvPr/>
          </p:nvSpPr>
          <p:spPr bwMode="auto">
            <a:xfrm>
              <a:off x="3016" y="436"/>
              <a:ext cx="2451" cy="2160"/>
            </a:xfrm>
            <a:prstGeom prst="rect">
              <a:avLst/>
            </a:prstGeom>
            <a:noFill/>
            <a:ln w="9525">
              <a:noFill/>
              <a:miter lim="800000"/>
              <a:headEnd/>
              <a:tailEnd/>
            </a:ln>
          </p:spPr>
          <p:txBody>
            <a:bodyPr/>
            <a:lstStyle/>
            <a:p>
              <a:endParaRPr lang="zh-CN" altLang="en-US"/>
            </a:p>
          </p:txBody>
        </p:sp>
        <p:sp>
          <p:nvSpPr>
            <p:cNvPr id="521226" name="Freeform 10"/>
            <p:cNvSpPr>
              <a:spLocks/>
            </p:cNvSpPr>
            <p:nvPr/>
          </p:nvSpPr>
          <p:spPr bwMode="auto">
            <a:xfrm>
              <a:off x="4559" y="706"/>
              <a:ext cx="545" cy="1620"/>
            </a:xfrm>
            <a:custGeom>
              <a:avLst/>
              <a:gdLst/>
              <a:ahLst/>
              <a:cxnLst>
                <a:cxn ang="0">
                  <a:pos x="630" y="1248"/>
                </a:cxn>
                <a:cxn ang="0">
                  <a:pos x="0" y="1872"/>
                </a:cxn>
                <a:cxn ang="0">
                  <a:pos x="0" y="624"/>
                </a:cxn>
                <a:cxn ang="0">
                  <a:pos x="630" y="0"/>
                </a:cxn>
                <a:cxn ang="0">
                  <a:pos x="630" y="1248"/>
                </a:cxn>
              </a:cxnLst>
              <a:rect l="0" t="0" r="r" b="b"/>
              <a:pathLst>
                <a:path w="630" h="1872">
                  <a:moveTo>
                    <a:pt x="630" y="1248"/>
                  </a:moveTo>
                  <a:lnTo>
                    <a:pt x="0" y="1872"/>
                  </a:lnTo>
                  <a:lnTo>
                    <a:pt x="0" y="624"/>
                  </a:lnTo>
                  <a:lnTo>
                    <a:pt x="630" y="0"/>
                  </a:lnTo>
                  <a:lnTo>
                    <a:pt x="630" y="1248"/>
                  </a:lnTo>
                  <a:close/>
                </a:path>
              </a:pathLst>
            </a:custGeom>
            <a:solidFill>
              <a:srgbClr val="3366FF"/>
            </a:solidFill>
            <a:ln w="28575" cmpd="sng">
              <a:solidFill>
                <a:srgbClr val="FFFF00"/>
              </a:solidFill>
              <a:round/>
              <a:headEnd/>
              <a:tailEnd/>
            </a:ln>
          </p:spPr>
          <p:txBody>
            <a:bodyPr/>
            <a:lstStyle/>
            <a:p>
              <a:endParaRPr lang="zh-CN" altLang="en-US"/>
            </a:p>
          </p:txBody>
        </p:sp>
        <p:sp>
          <p:nvSpPr>
            <p:cNvPr id="521227" name="Freeform 11"/>
            <p:cNvSpPr>
              <a:spLocks/>
            </p:cNvSpPr>
            <p:nvPr/>
          </p:nvSpPr>
          <p:spPr bwMode="auto">
            <a:xfrm>
              <a:off x="3198" y="1246"/>
              <a:ext cx="1361" cy="1080"/>
            </a:xfrm>
            <a:custGeom>
              <a:avLst/>
              <a:gdLst/>
              <a:ahLst/>
              <a:cxnLst>
                <a:cxn ang="0">
                  <a:pos x="1575" y="1248"/>
                </a:cxn>
                <a:cxn ang="0">
                  <a:pos x="0" y="1248"/>
                </a:cxn>
                <a:cxn ang="0">
                  <a:pos x="0" y="0"/>
                </a:cxn>
                <a:cxn ang="0">
                  <a:pos x="1575" y="0"/>
                </a:cxn>
              </a:cxnLst>
              <a:rect l="0" t="0" r="r" b="b"/>
              <a:pathLst>
                <a:path w="1575" h="1248">
                  <a:moveTo>
                    <a:pt x="1575" y="1248"/>
                  </a:moveTo>
                  <a:lnTo>
                    <a:pt x="0" y="1248"/>
                  </a:lnTo>
                  <a:lnTo>
                    <a:pt x="0" y="0"/>
                  </a:lnTo>
                  <a:lnTo>
                    <a:pt x="1575" y="0"/>
                  </a:lnTo>
                </a:path>
              </a:pathLst>
            </a:custGeom>
            <a:noFill/>
            <a:ln w="28575" cmpd="sng">
              <a:solidFill>
                <a:srgbClr val="FFFF00"/>
              </a:solidFill>
              <a:round/>
              <a:headEnd/>
              <a:tailEnd/>
            </a:ln>
          </p:spPr>
          <p:txBody>
            <a:bodyPr/>
            <a:lstStyle/>
            <a:p>
              <a:endParaRPr lang="zh-CN" altLang="en-US"/>
            </a:p>
          </p:txBody>
        </p:sp>
        <p:sp>
          <p:nvSpPr>
            <p:cNvPr id="521228" name="Freeform 12"/>
            <p:cNvSpPr>
              <a:spLocks/>
            </p:cNvSpPr>
            <p:nvPr/>
          </p:nvSpPr>
          <p:spPr bwMode="auto">
            <a:xfrm>
              <a:off x="3198" y="706"/>
              <a:ext cx="1906" cy="540"/>
            </a:xfrm>
            <a:custGeom>
              <a:avLst/>
              <a:gdLst/>
              <a:ahLst/>
              <a:cxnLst>
                <a:cxn ang="0">
                  <a:pos x="2205" y="0"/>
                </a:cxn>
                <a:cxn ang="0">
                  <a:pos x="735" y="0"/>
                </a:cxn>
                <a:cxn ang="0">
                  <a:pos x="0" y="624"/>
                </a:cxn>
              </a:cxnLst>
              <a:rect l="0" t="0" r="r" b="b"/>
              <a:pathLst>
                <a:path w="2205" h="624">
                  <a:moveTo>
                    <a:pt x="2205" y="0"/>
                  </a:moveTo>
                  <a:lnTo>
                    <a:pt x="735" y="0"/>
                  </a:lnTo>
                  <a:lnTo>
                    <a:pt x="0" y="624"/>
                  </a:lnTo>
                </a:path>
              </a:pathLst>
            </a:custGeom>
            <a:noFill/>
            <a:ln w="28575" cmpd="sng">
              <a:solidFill>
                <a:srgbClr val="FFFF00"/>
              </a:solidFill>
              <a:round/>
              <a:headEnd/>
              <a:tailEnd/>
            </a:ln>
          </p:spPr>
          <p:txBody>
            <a:bodyPr/>
            <a:lstStyle/>
            <a:p>
              <a:endParaRPr lang="zh-CN" altLang="en-US"/>
            </a:p>
          </p:txBody>
        </p:sp>
        <p:graphicFrame>
          <p:nvGraphicFramePr>
            <p:cNvPr id="521229" name="Object 13"/>
            <p:cNvGraphicFramePr>
              <a:graphicFrameLocks noChangeAspect="1"/>
            </p:cNvGraphicFramePr>
            <p:nvPr/>
          </p:nvGraphicFramePr>
          <p:xfrm>
            <a:off x="5298" y="1835"/>
            <a:ext cx="184" cy="212"/>
          </p:xfrm>
          <a:graphic>
            <a:graphicData uri="http://schemas.openxmlformats.org/presentationml/2006/ole">
              <mc:AlternateContent xmlns:mc="http://schemas.openxmlformats.org/markup-compatibility/2006">
                <mc:Choice xmlns:v="urn:schemas-microsoft-com:vml" Requires="v">
                  <p:oleObj name="公式" r:id="rId2" imgW="126720" imgH="139680" progId="Equation.3">
                    <p:embed/>
                  </p:oleObj>
                </mc:Choice>
                <mc:Fallback>
                  <p:oleObj name="公式" r:id="rId2" imgW="126720" imgH="139680" progId="Equation.3">
                    <p:embed/>
                    <p:pic>
                      <p:nvPicPr>
                        <p:cNvPr id="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8" y="1835"/>
                          <a:ext cx="18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1230" name="Object 14"/>
            <p:cNvGraphicFramePr>
              <a:graphicFrameLocks noChangeAspect="1"/>
            </p:cNvGraphicFramePr>
            <p:nvPr/>
          </p:nvGraphicFramePr>
          <p:xfrm>
            <a:off x="3846" y="346"/>
            <a:ext cx="199" cy="226"/>
          </p:xfrm>
          <a:graphic>
            <a:graphicData uri="http://schemas.openxmlformats.org/presentationml/2006/ole">
              <mc:AlternateContent xmlns:mc="http://schemas.openxmlformats.org/markup-compatibility/2006">
                <mc:Choice xmlns:v="urn:schemas-microsoft-com:vml" Requires="v">
                  <p:oleObj name="公式" r:id="rId4" imgW="139680" imgH="164880" progId="Equation.3">
                    <p:embed/>
                  </p:oleObj>
                </mc:Choice>
                <mc:Fallback>
                  <p:oleObj name="公式" r:id="rId4" imgW="139680" imgH="164880" progId="Equation.3">
                    <p:embed/>
                    <p:pic>
                      <p:nvPicPr>
                        <p:cNvPr id="0"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6" y="346"/>
                          <a:ext cx="199" cy="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1231" name="Object 15"/>
            <p:cNvGraphicFramePr>
              <a:graphicFrameLocks noChangeAspect="1"/>
            </p:cNvGraphicFramePr>
            <p:nvPr/>
          </p:nvGraphicFramePr>
          <p:xfrm>
            <a:off x="3016" y="2387"/>
            <a:ext cx="227" cy="227"/>
          </p:xfrm>
          <a:graphic>
            <a:graphicData uri="http://schemas.openxmlformats.org/presentationml/2006/ole">
              <mc:AlternateContent xmlns:mc="http://schemas.openxmlformats.org/markup-compatibility/2006">
                <mc:Choice xmlns:v="urn:schemas-microsoft-com:vml" Requires="v">
                  <p:oleObj name="公式" r:id="rId6" imgW="126720" imgH="126720" progId="Equation.3">
                    <p:embed/>
                  </p:oleObj>
                </mc:Choice>
                <mc:Fallback>
                  <p:oleObj name="公式" r:id="rId6" imgW="126720" imgH="126720" progId="Equation.3">
                    <p:embed/>
                    <p:pic>
                      <p:nvPicPr>
                        <p:cNvPr id="0"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6" y="2387"/>
                          <a:ext cx="227"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21232" name="Group 16"/>
            <p:cNvGrpSpPr>
              <a:grpSpLocks/>
            </p:cNvGrpSpPr>
            <p:nvPr/>
          </p:nvGrpSpPr>
          <p:grpSpPr bwMode="auto">
            <a:xfrm>
              <a:off x="3833" y="1434"/>
              <a:ext cx="922" cy="948"/>
              <a:chOff x="3833" y="1402"/>
              <a:chExt cx="922" cy="948"/>
            </a:xfrm>
          </p:grpSpPr>
          <p:graphicFrame>
            <p:nvGraphicFramePr>
              <p:cNvPr id="521233" name="Object 17"/>
              <p:cNvGraphicFramePr>
                <a:graphicFrameLocks noChangeAspect="1"/>
              </p:cNvGraphicFramePr>
              <p:nvPr/>
            </p:nvGraphicFramePr>
            <p:xfrm>
              <a:off x="4014" y="2011"/>
              <a:ext cx="530" cy="339"/>
            </p:xfrm>
            <a:graphic>
              <a:graphicData uri="http://schemas.openxmlformats.org/presentationml/2006/ole">
                <mc:AlternateContent xmlns:mc="http://schemas.openxmlformats.org/markup-compatibility/2006">
                  <mc:Choice xmlns:v="urn:schemas-microsoft-com:vml" Requires="v">
                    <p:oleObj name="公式" r:id="rId8" imgW="330120" imgH="228600" progId="Equation.3">
                      <p:embed/>
                    </p:oleObj>
                  </mc:Choice>
                  <mc:Fallback>
                    <p:oleObj name="公式" r:id="rId8" imgW="330120" imgH="228600" progId="Equation.3">
                      <p:embed/>
                      <p:pic>
                        <p:nvPicPr>
                          <p:cNvPr id="0"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14" y="2011"/>
                            <a:ext cx="530"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1234" name="Oval 18"/>
              <p:cNvSpPr>
                <a:spLocks noChangeAspect="1" noChangeArrowheads="1"/>
              </p:cNvSpPr>
              <p:nvPr/>
            </p:nvSpPr>
            <p:spPr bwMode="auto">
              <a:xfrm>
                <a:off x="3833" y="1921"/>
                <a:ext cx="88" cy="88"/>
              </a:xfrm>
              <a:prstGeom prst="ellipse">
                <a:avLst/>
              </a:prstGeom>
              <a:gradFill rotWithShape="1">
                <a:gsLst>
                  <a:gs pos="0">
                    <a:srgbClr val="FFFFFF"/>
                  </a:gs>
                  <a:gs pos="100000">
                    <a:srgbClr val="993366"/>
                  </a:gs>
                </a:gsLst>
                <a:path path="shape">
                  <a:fillToRect l="50000" t="50000" r="50000" b="50000"/>
                </a:path>
              </a:gradFill>
              <a:ln w="9525">
                <a:solidFill>
                  <a:srgbClr val="FFFFFF"/>
                </a:solidFill>
                <a:round/>
                <a:headEnd/>
                <a:tailEnd/>
              </a:ln>
            </p:spPr>
            <p:txBody>
              <a:bodyPr/>
              <a:lstStyle/>
              <a:p>
                <a:endParaRPr lang="zh-CN" altLang="en-US"/>
              </a:p>
            </p:txBody>
          </p:sp>
          <p:sp>
            <p:nvSpPr>
              <p:cNvPr id="521235" name="Line 19"/>
              <p:cNvSpPr>
                <a:spLocks noChangeShapeType="1"/>
              </p:cNvSpPr>
              <p:nvPr/>
            </p:nvSpPr>
            <p:spPr bwMode="auto">
              <a:xfrm flipV="1">
                <a:off x="3924" y="1677"/>
                <a:ext cx="817" cy="270"/>
              </a:xfrm>
              <a:prstGeom prst="line">
                <a:avLst/>
              </a:prstGeom>
              <a:noFill/>
              <a:ln w="28575">
                <a:solidFill>
                  <a:srgbClr val="FFFFFF"/>
                </a:solidFill>
                <a:prstDash val="dash"/>
                <a:round/>
                <a:headEnd/>
                <a:tailEnd type="stealth" w="med" len="lg"/>
              </a:ln>
              <a:effectLst/>
            </p:spPr>
            <p:txBody>
              <a:bodyPr/>
              <a:lstStyle/>
              <a:p>
                <a:endParaRPr lang="zh-CN" altLang="en-US"/>
              </a:p>
            </p:txBody>
          </p:sp>
          <p:sp>
            <p:nvSpPr>
              <p:cNvPr id="521236" name="Line 20"/>
              <p:cNvSpPr>
                <a:spLocks noChangeShapeType="1"/>
              </p:cNvSpPr>
              <p:nvPr/>
            </p:nvSpPr>
            <p:spPr bwMode="auto">
              <a:xfrm flipH="1" flipV="1">
                <a:off x="4105" y="1402"/>
                <a:ext cx="636" cy="270"/>
              </a:xfrm>
              <a:prstGeom prst="line">
                <a:avLst/>
              </a:prstGeom>
              <a:noFill/>
              <a:ln w="28575">
                <a:solidFill>
                  <a:srgbClr val="FFFFFF"/>
                </a:solidFill>
                <a:prstDash val="dash"/>
                <a:round/>
                <a:headEnd/>
                <a:tailEnd type="stealth" w="med" len="lg"/>
              </a:ln>
              <a:effectLst/>
            </p:spPr>
            <p:txBody>
              <a:bodyPr/>
              <a:lstStyle/>
              <a:p>
                <a:endParaRPr lang="zh-CN" altLang="en-US"/>
              </a:p>
            </p:txBody>
          </p:sp>
          <p:sp>
            <p:nvSpPr>
              <p:cNvPr id="521237" name="Line 21"/>
              <p:cNvSpPr>
                <a:spLocks noChangeShapeType="1"/>
              </p:cNvSpPr>
              <p:nvPr/>
            </p:nvSpPr>
            <p:spPr bwMode="auto">
              <a:xfrm>
                <a:off x="3882" y="2021"/>
                <a:ext cx="1" cy="89"/>
              </a:xfrm>
              <a:prstGeom prst="line">
                <a:avLst/>
              </a:prstGeom>
              <a:noFill/>
              <a:ln w="9525">
                <a:solidFill>
                  <a:srgbClr val="FFFFFF"/>
                </a:solidFill>
                <a:round/>
                <a:headEnd/>
                <a:tailEnd/>
              </a:ln>
            </p:spPr>
            <p:txBody>
              <a:bodyPr/>
              <a:lstStyle/>
              <a:p>
                <a:endParaRPr lang="zh-CN" altLang="en-US"/>
              </a:p>
            </p:txBody>
          </p:sp>
          <p:sp>
            <p:nvSpPr>
              <p:cNvPr id="521238" name="Line 22"/>
              <p:cNvSpPr>
                <a:spLocks noChangeShapeType="1"/>
              </p:cNvSpPr>
              <p:nvPr/>
            </p:nvSpPr>
            <p:spPr bwMode="auto">
              <a:xfrm flipH="1">
                <a:off x="3874" y="2056"/>
                <a:ext cx="308" cy="1"/>
              </a:xfrm>
              <a:prstGeom prst="line">
                <a:avLst/>
              </a:prstGeom>
              <a:noFill/>
              <a:ln w="9525">
                <a:solidFill>
                  <a:srgbClr val="FFFFFF"/>
                </a:solidFill>
                <a:round/>
                <a:headEnd/>
                <a:tailEnd type="arrow" w="med" len="lg"/>
              </a:ln>
            </p:spPr>
            <p:txBody>
              <a:bodyPr/>
              <a:lstStyle/>
              <a:p>
                <a:endParaRPr lang="zh-CN" altLang="en-US"/>
              </a:p>
            </p:txBody>
          </p:sp>
          <p:sp>
            <p:nvSpPr>
              <p:cNvPr id="521239" name="Line 23"/>
              <p:cNvSpPr>
                <a:spLocks noChangeShapeType="1"/>
              </p:cNvSpPr>
              <p:nvPr/>
            </p:nvSpPr>
            <p:spPr bwMode="auto">
              <a:xfrm>
                <a:off x="4741" y="1772"/>
                <a:ext cx="4" cy="358"/>
              </a:xfrm>
              <a:prstGeom prst="line">
                <a:avLst/>
              </a:prstGeom>
              <a:noFill/>
              <a:ln w="9525">
                <a:solidFill>
                  <a:srgbClr val="FFFFFF"/>
                </a:solidFill>
                <a:round/>
                <a:headEnd/>
                <a:tailEnd/>
              </a:ln>
            </p:spPr>
            <p:txBody>
              <a:bodyPr/>
              <a:lstStyle/>
              <a:p>
                <a:endParaRPr lang="zh-CN" altLang="en-US"/>
              </a:p>
            </p:txBody>
          </p:sp>
          <p:sp>
            <p:nvSpPr>
              <p:cNvPr id="521240" name="Line 24"/>
              <p:cNvSpPr>
                <a:spLocks noChangeShapeType="1"/>
              </p:cNvSpPr>
              <p:nvPr/>
            </p:nvSpPr>
            <p:spPr bwMode="auto">
              <a:xfrm>
                <a:off x="4448" y="2056"/>
                <a:ext cx="307" cy="1"/>
              </a:xfrm>
              <a:prstGeom prst="line">
                <a:avLst/>
              </a:prstGeom>
              <a:noFill/>
              <a:ln w="9525">
                <a:solidFill>
                  <a:srgbClr val="FFFFFF"/>
                </a:solidFill>
                <a:round/>
                <a:headEnd/>
                <a:tailEnd type="arrow" w="med" len="lg"/>
              </a:ln>
            </p:spPr>
            <p:txBody>
              <a:bodyPr/>
              <a:lstStyle/>
              <a:p>
                <a:endParaRPr lang="zh-CN" altLang="en-US"/>
              </a:p>
            </p:txBody>
          </p:sp>
          <p:graphicFrame>
            <p:nvGraphicFramePr>
              <p:cNvPr id="521241" name="Object 25"/>
              <p:cNvGraphicFramePr>
                <a:graphicFrameLocks noChangeAspect="1"/>
              </p:cNvGraphicFramePr>
              <p:nvPr/>
            </p:nvGraphicFramePr>
            <p:xfrm>
              <a:off x="4160" y="1453"/>
              <a:ext cx="295" cy="374"/>
            </p:xfrm>
            <a:graphic>
              <a:graphicData uri="http://schemas.openxmlformats.org/presentationml/2006/ole">
                <mc:AlternateContent xmlns:mc="http://schemas.openxmlformats.org/markup-compatibility/2006">
                  <mc:Choice xmlns:v="urn:schemas-microsoft-com:vml" Requires="v">
                    <p:oleObj name="公式" r:id="rId10" imgW="164880" imgH="228600" progId="Equation.3">
                      <p:embed/>
                    </p:oleObj>
                  </mc:Choice>
                  <mc:Fallback>
                    <p:oleObj name="公式" r:id="rId10" imgW="164880" imgH="228600" progId="Equation.3">
                      <p:embed/>
                      <p:pic>
                        <p:nvPicPr>
                          <p:cNvPr id="0" name="Picture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60" y="1453"/>
                            <a:ext cx="295" cy="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21242" name="Group 26"/>
            <p:cNvGrpSpPr>
              <a:grpSpLocks/>
            </p:cNvGrpSpPr>
            <p:nvPr/>
          </p:nvGrpSpPr>
          <p:grpSpPr bwMode="auto">
            <a:xfrm>
              <a:off x="4694" y="1434"/>
              <a:ext cx="311" cy="366"/>
              <a:chOff x="4692" y="1377"/>
              <a:chExt cx="311" cy="366"/>
            </a:xfrm>
          </p:grpSpPr>
          <p:sp>
            <p:nvSpPr>
              <p:cNvPr id="521243" name="Oval 27"/>
              <p:cNvSpPr>
                <a:spLocks noChangeArrowheads="1"/>
              </p:cNvSpPr>
              <p:nvPr/>
            </p:nvSpPr>
            <p:spPr bwMode="auto">
              <a:xfrm>
                <a:off x="4692" y="1571"/>
                <a:ext cx="91" cy="172"/>
              </a:xfrm>
              <a:prstGeom prst="ellipse">
                <a:avLst/>
              </a:prstGeom>
              <a:solidFill>
                <a:srgbClr val="FFFFFF"/>
              </a:solidFill>
              <a:ln w="9525">
                <a:solidFill>
                  <a:srgbClr val="FFFF00"/>
                </a:solidFill>
                <a:round/>
                <a:headEnd/>
                <a:tailEnd/>
              </a:ln>
            </p:spPr>
            <p:txBody>
              <a:bodyPr/>
              <a:lstStyle/>
              <a:p>
                <a:endParaRPr lang="zh-CN" altLang="en-US"/>
              </a:p>
            </p:txBody>
          </p:sp>
          <p:graphicFrame>
            <p:nvGraphicFramePr>
              <p:cNvPr id="521244" name="Object 28"/>
              <p:cNvGraphicFramePr>
                <a:graphicFrameLocks noChangeAspect="1"/>
              </p:cNvGraphicFramePr>
              <p:nvPr/>
            </p:nvGraphicFramePr>
            <p:xfrm>
              <a:off x="4740" y="1377"/>
              <a:ext cx="263" cy="218"/>
            </p:xfrm>
            <a:graphic>
              <a:graphicData uri="http://schemas.openxmlformats.org/presentationml/2006/ole">
                <mc:AlternateContent xmlns:mc="http://schemas.openxmlformats.org/markup-compatibility/2006">
                  <mc:Choice xmlns:v="urn:schemas-microsoft-com:vml" Requires="v">
                    <p:oleObj name="公式" r:id="rId12" imgW="215640" imgH="177480" progId="Equation.3">
                      <p:embed/>
                    </p:oleObj>
                  </mc:Choice>
                  <mc:Fallback>
                    <p:oleObj name="公式" r:id="rId12" imgW="215640" imgH="177480" progId="Equation.3">
                      <p:embed/>
                      <p:pic>
                        <p:nvPicPr>
                          <p:cNvPr id="0" name="Picture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0" y="1377"/>
                            <a:ext cx="263" cy="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521245" name="Object 29"/>
          <p:cNvGraphicFramePr>
            <a:graphicFrameLocks noChangeAspect="1"/>
          </p:cNvGraphicFramePr>
          <p:nvPr/>
        </p:nvGraphicFramePr>
        <p:xfrm>
          <a:off x="1066800" y="2438400"/>
          <a:ext cx="1216025" cy="455613"/>
        </p:xfrm>
        <a:graphic>
          <a:graphicData uri="http://schemas.openxmlformats.org/presentationml/2006/ole">
            <mc:AlternateContent xmlns:mc="http://schemas.openxmlformats.org/markup-compatibility/2006">
              <mc:Choice xmlns:v="urn:schemas-microsoft-com:vml" Requires="v">
                <p:oleObj name="公式" r:id="rId14" imgW="609600" imgH="228600" progId="Equation.3">
                  <p:embed/>
                </p:oleObj>
              </mc:Choice>
              <mc:Fallback>
                <p:oleObj name="公式" r:id="rId14" imgW="609600" imgH="228600" progId="Equation.3">
                  <p:embed/>
                  <p:pic>
                    <p:nvPicPr>
                      <p:cNvPr id="0" name="Picture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66800" y="2438400"/>
                        <a:ext cx="1216025"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1246" name="Text Box 30"/>
          <p:cNvSpPr txBox="1">
            <a:spLocks noChangeArrowheads="1"/>
          </p:cNvSpPr>
          <p:nvPr/>
        </p:nvSpPr>
        <p:spPr bwMode="auto">
          <a:xfrm>
            <a:off x="304800" y="1371600"/>
            <a:ext cx="3743325" cy="1073150"/>
          </a:xfrm>
          <a:prstGeom prst="rect">
            <a:avLst/>
          </a:prstGeom>
          <a:noFill/>
          <a:ln w="9525">
            <a:noFill/>
            <a:miter lim="800000"/>
            <a:headEnd/>
            <a:tailEnd/>
          </a:ln>
          <a:effectLst/>
        </p:spPr>
        <p:txBody>
          <a:bodyPr>
            <a:spAutoFit/>
          </a:bodyPr>
          <a:lstStyle/>
          <a:p>
            <a:pPr>
              <a:lnSpc>
                <a:spcPct val="115000"/>
              </a:lnSpc>
              <a:spcBef>
                <a:spcPct val="50000"/>
              </a:spcBef>
            </a:pPr>
            <a:r>
              <a:rPr lang="zh-CN" altLang="en-US" sz="2800"/>
              <a:t>同组中</a:t>
            </a:r>
            <a:r>
              <a:rPr lang="en-US" altLang="zh-CN" sz="2800"/>
              <a:t>d</a:t>
            </a:r>
            <a:r>
              <a:rPr lang="en-US" altLang="zh-CN" sz="2800" i="1"/>
              <a:t>t</a:t>
            </a:r>
            <a:r>
              <a:rPr lang="zh-CN" altLang="en-US" sz="2800"/>
              <a:t>时间内与面元</a:t>
            </a:r>
            <a:r>
              <a:rPr lang="en-US" altLang="zh-CN" sz="2800"/>
              <a:t>d</a:t>
            </a:r>
            <a:r>
              <a:rPr lang="en-US" altLang="zh-CN" sz="2800" i="1"/>
              <a:t>S</a:t>
            </a:r>
            <a:r>
              <a:rPr lang="zh-CN" altLang="en-US" sz="2800"/>
              <a:t>碰撞的分子数：</a:t>
            </a:r>
          </a:p>
        </p:txBody>
      </p:sp>
      <p:graphicFrame>
        <p:nvGraphicFramePr>
          <p:cNvPr id="521247" name="Object 31"/>
          <p:cNvGraphicFramePr>
            <a:graphicFrameLocks noChangeAspect="1"/>
          </p:cNvGraphicFramePr>
          <p:nvPr/>
        </p:nvGraphicFramePr>
        <p:xfrm>
          <a:off x="1066800" y="3505200"/>
          <a:ext cx="2120900" cy="457200"/>
        </p:xfrm>
        <a:graphic>
          <a:graphicData uri="http://schemas.openxmlformats.org/presentationml/2006/ole">
            <mc:AlternateContent xmlns:mc="http://schemas.openxmlformats.org/markup-compatibility/2006">
              <mc:Choice xmlns:v="urn:schemas-microsoft-com:vml" Requires="v">
                <p:oleObj name="公式" r:id="rId16" imgW="1054080" imgH="228600" progId="Equation.3">
                  <p:embed/>
                </p:oleObj>
              </mc:Choice>
              <mc:Fallback>
                <p:oleObj name="公式" r:id="rId16" imgW="1054080" imgH="228600" progId="Equation.3">
                  <p:embed/>
                  <p:pic>
                    <p:nvPicPr>
                      <p:cNvPr id="0" name="Picture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66800" y="3505200"/>
                        <a:ext cx="2120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1248" name="Text Box 32"/>
          <p:cNvSpPr txBox="1">
            <a:spLocks noChangeArrowheads="1"/>
          </p:cNvSpPr>
          <p:nvPr/>
        </p:nvSpPr>
        <p:spPr bwMode="auto">
          <a:xfrm>
            <a:off x="304800" y="2971800"/>
            <a:ext cx="1655763" cy="519113"/>
          </a:xfrm>
          <a:prstGeom prst="rect">
            <a:avLst/>
          </a:prstGeom>
          <a:noFill/>
          <a:ln w="9525">
            <a:noFill/>
            <a:miter lim="800000"/>
            <a:headEnd/>
            <a:tailEnd/>
          </a:ln>
          <a:effectLst/>
        </p:spPr>
        <p:txBody>
          <a:bodyPr>
            <a:spAutoFit/>
          </a:bodyPr>
          <a:lstStyle/>
          <a:p>
            <a:pPr>
              <a:spcBef>
                <a:spcPct val="50000"/>
              </a:spcBef>
            </a:pPr>
            <a:r>
              <a:rPr lang="zh-CN" altLang="en-US" sz="2800" dirty="0"/>
              <a:t>冲量：</a:t>
            </a:r>
          </a:p>
        </p:txBody>
      </p:sp>
      <p:sp>
        <p:nvSpPr>
          <p:cNvPr id="521249" name="Text Box 33"/>
          <p:cNvSpPr txBox="1">
            <a:spLocks noChangeArrowheads="1"/>
          </p:cNvSpPr>
          <p:nvPr/>
        </p:nvSpPr>
        <p:spPr bwMode="auto">
          <a:xfrm>
            <a:off x="381000" y="3962400"/>
            <a:ext cx="3887788" cy="1501775"/>
          </a:xfrm>
          <a:prstGeom prst="rect">
            <a:avLst/>
          </a:prstGeom>
          <a:noFill/>
          <a:ln w="9525">
            <a:noFill/>
            <a:miter lim="800000"/>
            <a:headEnd/>
            <a:tailEnd/>
          </a:ln>
          <a:effectLst/>
        </p:spPr>
        <p:txBody>
          <a:bodyPr>
            <a:spAutoFit/>
          </a:bodyPr>
          <a:lstStyle/>
          <a:p>
            <a:pPr>
              <a:lnSpc>
                <a:spcPct val="110000"/>
              </a:lnSpc>
              <a:spcBef>
                <a:spcPct val="50000"/>
              </a:spcBef>
            </a:pPr>
            <a:r>
              <a:rPr lang="zh-CN" altLang="en-US" sz="2800"/>
              <a:t>因为只有 </a:t>
            </a:r>
            <a:r>
              <a:rPr lang="en-US" altLang="zh-CN" sz="2800" i="1"/>
              <a:t>v</a:t>
            </a:r>
            <a:r>
              <a:rPr lang="en-US" altLang="zh-CN" sz="2800" i="1" baseline="-25000"/>
              <a:t>ix </a:t>
            </a:r>
            <a:r>
              <a:rPr lang="en-US" altLang="zh-CN" sz="2800"/>
              <a:t>&gt; 0 </a:t>
            </a:r>
            <a:r>
              <a:rPr lang="zh-CN" altLang="en-US" sz="2800"/>
              <a:t>的分子才能与一侧器壁发生碰撞，所以有：</a:t>
            </a:r>
          </a:p>
        </p:txBody>
      </p:sp>
      <p:graphicFrame>
        <p:nvGraphicFramePr>
          <p:cNvPr id="521250" name="Object 34"/>
          <p:cNvGraphicFramePr>
            <a:graphicFrameLocks noChangeAspect="1"/>
          </p:cNvGraphicFramePr>
          <p:nvPr/>
        </p:nvGraphicFramePr>
        <p:xfrm>
          <a:off x="2438400" y="5146764"/>
          <a:ext cx="2641600" cy="685800"/>
        </p:xfrm>
        <a:graphic>
          <a:graphicData uri="http://schemas.openxmlformats.org/presentationml/2006/ole">
            <mc:AlternateContent xmlns:mc="http://schemas.openxmlformats.org/markup-compatibility/2006">
              <mc:Choice xmlns:v="urn:schemas-microsoft-com:vml" Requires="v">
                <p:oleObj name="公式" r:id="rId18" imgW="1231560" imgH="342720" progId="Equation.3">
                  <p:embed/>
                </p:oleObj>
              </mc:Choice>
              <mc:Fallback>
                <p:oleObj name="公式" r:id="rId18" imgW="1231560" imgH="342720" progId="Equation.3">
                  <p:embed/>
                  <p:pic>
                    <p:nvPicPr>
                      <p:cNvPr id="0" name="Picture 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38400" y="5146764"/>
                        <a:ext cx="26416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1251" name="Object 35"/>
          <p:cNvGraphicFramePr>
            <a:graphicFrameLocks noChangeAspect="1"/>
          </p:cNvGraphicFramePr>
          <p:nvPr/>
        </p:nvGraphicFramePr>
        <p:xfrm>
          <a:off x="3810000" y="5562600"/>
          <a:ext cx="1106488" cy="787400"/>
        </p:xfrm>
        <a:graphic>
          <a:graphicData uri="http://schemas.openxmlformats.org/presentationml/2006/ole">
            <mc:AlternateContent xmlns:mc="http://schemas.openxmlformats.org/markup-compatibility/2006">
              <mc:Choice xmlns:v="urn:schemas-microsoft-com:vml" Requires="v">
                <p:oleObj name="公式" r:id="rId20" imgW="545760" imgH="393480" progId="Equation.3">
                  <p:embed/>
                </p:oleObj>
              </mc:Choice>
              <mc:Fallback>
                <p:oleObj name="公式" r:id="rId20" imgW="545760" imgH="393480" progId="Equation.3">
                  <p:embed/>
                  <p:pic>
                    <p:nvPicPr>
                      <p:cNvPr id="0" name="Picture 3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10000" y="5562600"/>
                        <a:ext cx="1106488"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1252" name="Text Box 36"/>
          <p:cNvSpPr txBox="1">
            <a:spLocks noChangeArrowheads="1"/>
          </p:cNvSpPr>
          <p:nvPr/>
        </p:nvSpPr>
        <p:spPr bwMode="auto">
          <a:xfrm>
            <a:off x="381000" y="5696744"/>
            <a:ext cx="3529013" cy="519112"/>
          </a:xfrm>
          <a:prstGeom prst="rect">
            <a:avLst/>
          </a:prstGeom>
          <a:noFill/>
          <a:ln w="9525">
            <a:noFill/>
            <a:miter lim="800000"/>
            <a:headEnd/>
            <a:tailEnd/>
          </a:ln>
          <a:effectLst/>
        </p:spPr>
        <p:txBody>
          <a:bodyPr>
            <a:spAutoFit/>
          </a:bodyPr>
          <a:lstStyle/>
          <a:p>
            <a:pPr>
              <a:spcBef>
                <a:spcPct val="50000"/>
              </a:spcBef>
            </a:pPr>
            <a:r>
              <a:rPr lang="zh-CN" altLang="en-US" sz="2800"/>
              <a:t>作用于面元的压力：</a:t>
            </a:r>
          </a:p>
        </p:txBody>
      </p:sp>
      <p:graphicFrame>
        <p:nvGraphicFramePr>
          <p:cNvPr id="521253" name="Object 37"/>
          <p:cNvGraphicFramePr>
            <a:graphicFrameLocks noChangeAspect="1"/>
          </p:cNvGraphicFramePr>
          <p:nvPr/>
        </p:nvGraphicFramePr>
        <p:xfrm>
          <a:off x="4922838" y="5614194"/>
          <a:ext cx="2011362" cy="684212"/>
        </p:xfrm>
        <a:graphic>
          <a:graphicData uri="http://schemas.openxmlformats.org/presentationml/2006/ole">
            <mc:AlternateContent xmlns:mc="http://schemas.openxmlformats.org/markup-compatibility/2006">
              <mc:Choice xmlns:v="urn:schemas-microsoft-com:vml" Requires="v">
                <p:oleObj name="公式" r:id="rId22" imgW="939600" imgH="342720" progId="Equation.3">
                  <p:embed/>
                </p:oleObj>
              </mc:Choice>
              <mc:Fallback>
                <p:oleObj name="公式" r:id="rId22" imgW="939600" imgH="342720" progId="Equation.3">
                  <p:embed/>
                  <p:pic>
                    <p:nvPicPr>
                      <p:cNvPr id="0" name="Picture 3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22838" y="5614194"/>
                        <a:ext cx="2011362"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1246"/>
                                        </p:tgtEl>
                                        <p:attrNameLst>
                                          <p:attrName>style.visibility</p:attrName>
                                        </p:attrNameLst>
                                      </p:cBhvr>
                                      <p:to>
                                        <p:strVal val="visible"/>
                                      </p:to>
                                    </p:set>
                                    <p:animEffect transition="in" filter="wipe(left)">
                                      <p:cBhvr>
                                        <p:cTn id="7" dur="500"/>
                                        <p:tgtEl>
                                          <p:spTgt spid="5212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1245"/>
                                        </p:tgtEl>
                                        <p:attrNameLst>
                                          <p:attrName>style.visibility</p:attrName>
                                        </p:attrNameLst>
                                      </p:cBhvr>
                                      <p:to>
                                        <p:strVal val="visible"/>
                                      </p:to>
                                    </p:set>
                                    <p:animEffect transition="in" filter="wipe(left)">
                                      <p:cBhvr>
                                        <p:cTn id="12" dur="500"/>
                                        <p:tgtEl>
                                          <p:spTgt spid="5212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1248"/>
                                        </p:tgtEl>
                                        <p:attrNameLst>
                                          <p:attrName>style.visibility</p:attrName>
                                        </p:attrNameLst>
                                      </p:cBhvr>
                                      <p:to>
                                        <p:strVal val="visible"/>
                                      </p:to>
                                    </p:set>
                                    <p:animEffect transition="in" filter="wipe(left)">
                                      <p:cBhvr>
                                        <p:cTn id="17" dur="500"/>
                                        <p:tgtEl>
                                          <p:spTgt spid="5212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21247"/>
                                        </p:tgtEl>
                                        <p:attrNameLst>
                                          <p:attrName>style.visibility</p:attrName>
                                        </p:attrNameLst>
                                      </p:cBhvr>
                                      <p:to>
                                        <p:strVal val="visible"/>
                                      </p:to>
                                    </p:set>
                                    <p:animEffect transition="in" filter="wipe(left)">
                                      <p:cBhvr>
                                        <p:cTn id="22" dur="500"/>
                                        <p:tgtEl>
                                          <p:spTgt spid="52124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21249"/>
                                        </p:tgtEl>
                                        <p:attrNameLst>
                                          <p:attrName>style.visibility</p:attrName>
                                        </p:attrNameLst>
                                      </p:cBhvr>
                                      <p:to>
                                        <p:strVal val="visible"/>
                                      </p:to>
                                    </p:set>
                                    <p:animEffect transition="in" filter="blinds(horizontal)">
                                      <p:cBhvr>
                                        <p:cTn id="27" dur="500"/>
                                        <p:tgtEl>
                                          <p:spTgt spid="5212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21250"/>
                                        </p:tgtEl>
                                        <p:attrNameLst>
                                          <p:attrName>style.visibility</p:attrName>
                                        </p:attrNameLst>
                                      </p:cBhvr>
                                      <p:to>
                                        <p:strVal val="visible"/>
                                      </p:to>
                                    </p:set>
                                    <p:animEffect transition="in" filter="wipe(left)">
                                      <p:cBhvr>
                                        <p:cTn id="32" dur="500"/>
                                        <p:tgtEl>
                                          <p:spTgt spid="52125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1252"/>
                                        </p:tgtEl>
                                        <p:attrNameLst>
                                          <p:attrName>style.visibility</p:attrName>
                                        </p:attrNameLst>
                                      </p:cBhvr>
                                      <p:to>
                                        <p:strVal val="visible"/>
                                      </p:to>
                                    </p:set>
                                    <p:animEffect transition="in" filter="wipe(left)">
                                      <p:cBhvr>
                                        <p:cTn id="37" dur="500"/>
                                        <p:tgtEl>
                                          <p:spTgt spid="5212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21251"/>
                                        </p:tgtEl>
                                        <p:attrNameLst>
                                          <p:attrName>style.visibility</p:attrName>
                                        </p:attrNameLst>
                                      </p:cBhvr>
                                      <p:to>
                                        <p:strVal val="visible"/>
                                      </p:to>
                                    </p:set>
                                    <p:animEffect transition="in" filter="wipe(left)">
                                      <p:cBhvr>
                                        <p:cTn id="42" dur="500"/>
                                        <p:tgtEl>
                                          <p:spTgt spid="52125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21253"/>
                                        </p:tgtEl>
                                        <p:attrNameLst>
                                          <p:attrName>style.visibility</p:attrName>
                                        </p:attrNameLst>
                                      </p:cBhvr>
                                      <p:to>
                                        <p:strVal val="visible"/>
                                      </p:to>
                                    </p:set>
                                    <p:animEffect transition="in" filter="wipe(left)">
                                      <p:cBhvr>
                                        <p:cTn id="47" dur="500"/>
                                        <p:tgtEl>
                                          <p:spTgt spid="521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46" grpId="0"/>
      <p:bldP spid="521248" grpId="0"/>
      <p:bldP spid="521249" grpId="0"/>
      <p:bldP spid="5212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29" name="灯片编号占位符 4"/>
          <p:cNvSpPr>
            <a:spLocks noGrp="1"/>
          </p:cNvSpPr>
          <p:nvPr>
            <p:ph type="sldNum" sz="quarter" idx="12"/>
          </p:nvPr>
        </p:nvSpPr>
        <p:spPr/>
        <p:txBody>
          <a:bodyPr/>
          <a:lstStyle/>
          <a:p>
            <a:fld id="{AC1B9E0D-2D14-4728-B00D-36FFB86B5ED5}" type="slidenum">
              <a:rPr lang="en-US" altLang="zh-CN"/>
              <a:pPr/>
              <a:t>17</a:t>
            </a:fld>
            <a:endParaRPr lang="en-US" altLang="zh-CN"/>
          </a:p>
        </p:txBody>
      </p:sp>
      <p:graphicFrame>
        <p:nvGraphicFramePr>
          <p:cNvPr id="522243" name="Object 3"/>
          <p:cNvGraphicFramePr>
            <a:graphicFrameLocks noChangeAspect="1"/>
          </p:cNvGraphicFramePr>
          <p:nvPr/>
        </p:nvGraphicFramePr>
        <p:xfrm>
          <a:off x="1898650" y="1219200"/>
          <a:ext cx="5129213" cy="863600"/>
        </p:xfrm>
        <a:graphic>
          <a:graphicData uri="http://schemas.openxmlformats.org/presentationml/2006/ole">
            <mc:AlternateContent xmlns:mc="http://schemas.openxmlformats.org/markup-compatibility/2006">
              <mc:Choice xmlns:v="urn:schemas-microsoft-com:vml" Requires="v">
                <p:oleObj name="公式" r:id="rId2" imgW="2565360" imgH="431640" progId="Equation.3">
                  <p:embed/>
                </p:oleObj>
              </mc:Choice>
              <mc:Fallback>
                <p:oleObj name="公式" r:id="rId2" imgW="2565360" imgH="43164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8650" y="1219200"/>
                        <a:ext cx="5129213"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244" name="Text Box 4"/>
          <p:cNvSpPr txBox="1">
            <a:spLocks noChangeArrowheads="1"/>
          </p:cNvSpPr>
          <p:nvPr/>
        </p:nvSpPr>
        <p:spPr bwMode="auto">
          <a:xfrm>
            <a:off x="457200" y="1327150"/>
            <a:ext cx="1439863" cy="519113"/>
          </a:xfrm>
          <a:prstGeom prst="rect">
            <a:avLst/>
          </a:prstGeom>
          <a:noFill/>
          <a:ln w="9525">
            <a:noFill/>
            <a:miter lim="800000"/>
            <a:headEnd/>
            <a:tailEnd/>
          </a:ln>
          <a:effectLst/>
        </p:spPr>
        <p:txBody>
          <a:bodyPr>
            <a:spAutoFit/>
          </a:bodyPr>
          <a:lstStyle/>
          <a:p>
            <a:pPr>
              <a:spcBef>
                <a:spcPct val="50000"/>
              </a:spcBef>
            </a:pPr>
            <a:r>
              <a:rPr lang="zh-CN" altLang="en-US" sz="2800"/>
              <a:t>压强： </a:t>
            </a:r>
          </a:p>
        </p:txBody>
      </p:sp>
      <p:graphicFrame>
        <p:nvGraphicFramePr>
          <p:cNvPr id="522245" name="Object 5"/>
          <p:cNvGraphicFramePr>
            <a:graphicFrameLocks noChangeAspect="1"/>
          </p:cNvGraphicFramePr>
          <p:nvPr/>
        </p:nvGraphicFramePr>
        <p:xfrm>
          <a:off x="679450" y="2209800"/>
          <a:ext cx="3492500" cy="841375"/>
        </p:xfrm>
        <a:graphic>
          <a:graphicData uri="http://schemas.openxmlformats.org/presentationml/2006/ole">
            <mc:AlternateContent xmlns:mc="http://schemas.openxmlformats.org/markup-compatibility/2006">
              <mc:Choice xmlns:v="urn:schemas-microsoft-com:vml" Requires="v">
                <p:oleObj name="公式" r:id="rId4" imgW="1739880" imgH="419040" progId="Equation.3">
                  <p:embed/>
                </p:oleObj>
              </mc:Choice>
              <mc:Fallback>
                <p:oleObj name="公式" r:id="rId4" imgW="1739880" imgH="41904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450" y="2209800"/>
                        <a:ext cx="3492500"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46" name="Object 6"/>
          <p:cNvGraphicFramePr>
            <a:graphicFrameLocks noChangeAspect="1"/>
          </p:cNvGraphicFramePr>
          <p:nvPr/>
        </p:nvGraphicFramePr>
        <p:xfrm>
          <a:off x="679450" y="3124200"/>
          <a:ext cx="1828800" cy="533400"/>
        </p:xfrm>
        <a:graphic>
          <a:graphicData uri="http://schemas.openxmlformats.org/presentationml/2006/ole">
            <mc:AlternateContent xmlns:mc="http://schemas.openxmlformats.org/markup-compatibility/2006">
              <mc:Choice xmlns:v="urn:schemas-microsoft-com:vml" Requires="v">
                <p:oleObj name="公式" r:id="rId6" imgW="914400" imgH="266400" progId="Equation.3">
                  <p:embed/>
                </p:oleObj>
              </mc:Choice>
              <mc:Fallback>
                <p:oleObj name="公式" r:id="rId6" imgW="914400" imgH="26640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450" y="3124200"/>
                        <a:ext cx="18288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47" name="Object 7"/>
          <p:cNvGraphicFramePr>
            <a:graphicFrameLocks noChangeAspect="1"/>
          </p:cNvGraphicFramePr>
          <p:nvPr/>
        </p:nvGraphicFramePr>
        <p:xfrm>
          <a:off x="831850" y="4038600"/>
          <a:ext cx="2108200" cy="508000"/>
        </p:xfrm>
        <a:graphic>
          <a:graphicData uri="http://schemas.openxmlformats.org/presentationml/2006/ole">
            <mc:AlternateContent xmlns:mc="http://schemas.openxmlformats.org/markup-compatibility/2006">
              <mc:Choice xmlns:v="urn:schemas-microsoft-com:vml" Requires="v">
                <p:oleObj name="公式" r:id="rId8" imgW="1054080" imgH="253800" progId="Equation.3">
                  <p:embed/>
                </p:oleObj>
              </mc:Choice>
              <mc:Fallback>
                <p:oleObj name="公式" r:id="rId8" imgW="1054080" imgH="253800" progId="Equation.3">
                  <p:embed/>
                  <p:pic>
                    <p:nvPicPr>
                      <p:cNvPr id="0"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1850" y="4038600"/>
                        <a:ext cx="21082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22248" name="Group 8"/>
          <p:cNvGrpSpPr>
            <a:grpSpLocks/>
          </p:cNvGrpSpPr>
          <p:nvPr/>
        </p:nvGrpSpPr>
        <p:grpSpPr bwMode="auto">
          <a:xfrm>
            <a:off x="4714875" y="2743200"/>
            <a:ext cx="4200525" cy="3617913"/>
            <a:chOff x="2971" y="1752"/>
            <a:chExt cx="2646" cy="2279"/>
          </a:xfrm>
        </p:grpSpPr>
        <p:grpSp>
          <p:nvGrpSpPr>
            <p:cNvPr id="522249" name="Group 9"/>
            <p:cNvGrpSpPr>
              <a:grpSpLocks/>
            </p:cNvGrpSpPr>
            <p:nvPr/>
          </p:nvGrpSpPr>
          <p:grpSpPr bwMode="auto">
            <a:xfrm>
              <a:off x="2971" y="1752"/>
              <a:ext cx="2646" cy="2279"/>
              <a:chOff x="3016" y="1888"/>
              <a:chExt cx="2646" cy="2279"/>
            </a:xfrm>
          </p:grpSpPr>
          <p:grpSp>
            <p:nvGrpSpPr>
              <p:cNvPr id="522250" name="Group 10"/>
              <p:cNvGrpSpPr>
                <a:grpSpLocks/>
              </p:cNvGrpSpPr>
              <p:nvPr/>
            </p:nvGrpSpPr>
            <p:grpSpPr bwMode="auto">
              <a:xfrm>
                <a:off x="3016" y="2024"/>
                <a:ext cx="2517" cy="1996"/>
                <a:chOff x="3016" y="2024"/>
                <a:chExt cx="2517" cy="1996"/>
              </a:xfrm>
            </p:grpSpPr>
            <p:sp>
              <p:nvSpPr>
                <p:cNvPr id="522251" name="Line 11"/>
                <p:cNvSpPr>
                  <a:spLocks noChangeShapeType="1"/>
                </p:cNvSpPr>
                <p:nvPr/>
              </p:nvSpPr>
              <p:spPr bwMode="auto">
                <a:xfrm>
                  <a:off x="3651" y="3385"/>
                  <a:ext cx="1882" cy="0"/>
                </a:xfrm>
                <a:prstGeom prst="line">
                  <a:avLst/>
                </a:prstGeom>
                <a:noFill/>
                <a:ln w="9525">
                  <a:solidFill>
                    <a:schemeClr val="tx1"/>
                  </a:solidFill>
                  <a:round/>
                  <a:headEnd/>
                  <a:tailEnd type="triangle" w="med" len="lg"/>
                </a:ln>
                <a:effectLst/>
              </p:spPr>
              <p:txBody>
                <a:bodyPr/>
                <a:lstStyle/>
                <a:p>
                  <a:endParaRPr lang="zh-CN" altLang="en-US"/>
                </a:p>
              </p:txBody>
            </p:sp>
            <p:sp>
              <p:nvSpPr>
                <p:cNvPr id="522252" name="Line 12"/>
                <p:cNvSpPr>
                  <a:spLocks noChangeShapeType="1"/>
                </p:cNvSpPr>
                <p:nvPr/>
              </p:nvSpPr>
              <p:spPr bwMode="auto">
                <a:xfrm flipV="1">
                  <a:off x="3651" y="2024"/>
                  <a:ext cx="0" cy="1361"/>
                </a:xfrm>
                <a:prstGeom prst="line">
                  <a:avLst/>
                </a:prstGeom>
                <a:noFill/>
                <a:ln w="9525">
                  <a:solidFill>
                    <a:schemeClr val="tx1"/>
                  </a:solidFill>
                  <a:round/>
                  <a:headEnd/>
                  <a:tailEnd type="triangle" w="med" len="lg"/>
                </a:ln>
                <a:effectLst/>
              </p:spPr>
              <p:txBody>
                <a:bodyPr/>
                <a:lstStyle/>
                <a:p>
                  <a:endParaRPr lang="zh-CN" altLang="en-US"/>
                </a:p>
              </p:txBody>
            </p:sp>
            <p:sp>
              <p:nvSpPr>
                <p:cNvPr id="522253" name="Line 13"/>
                <p:cNvSpPr>
                  <a:spLocks noChangeShapeType="1"/>
                </p:cNvSpPr>
                <p:nvPr/>
              </p:nvSpPr>
              <p:spPr bwMode="auto">
                <a:xfrm flipH="1">
                  <a:off x="3016" y="3385"/>
                  <a:ext cx="635" cy="635"/>
                </a:xfrm>
                <a:prstGeom prst="line">
                  <a:avLst/>
                </a:prstGeom>
                <a:noFill/>
                <a:ln w="9525">
                  <a:solidFill>
                    <a:schemeClr val="tx1"/>
                  </a:solidFill>
                  <a:round/>
                  <a:headEnd/>
                  <a:tailEnd type="triangle" w="med" len="lg"/>
                </a:ln>
                <a:effectLst/>
              </p:spPr>
              <p:txBody>
                <a:bodyPr/>
                <a:lstStyle/>
                <a:p>
                  <a:endParaRPr lang="zh-CN" altLang="en-US"/>
                </a:p>
              </p:txBody>
            </p:sp>
            <p:sp>
              <p:nvSpPr>
                <p:cNvPr id="522254" name="Line 14"/>
                <p:cNvSpPr>
                  <a:spLocks noChangeShapeType="1"/>
                </p:cNvSpPr>
                <p:nvPr/>
              </p:nvSpPr>
              <p:spPr bwMode="auto">
                <a:xfrm flipV="1">
                  <a:off x="3651" y="2705"/>
                  <a:ext cx="998" cy="680"/>
                </a:xfrm>
                <a:prstGeom prst="line">
                  <a:avLst/>
                </a:prstGeom>
                <a:noFill/>
                <a:ln w="28575">
                  <a:solidFill>
                    <a:srgbClr val="0000FF"/>
                  </a:solidFill>
                  <a:round/>
                  <a:headEnd/>
                  <a:tailEnd type="stealth" w="med" len="lg"/>
                </a:ln>
                <a:effectLst/>
              </p:spPr>
              <p:txBody>
                <a:bodyPr/>
                <a:lstStyle/>
                <a:p>
                  <a:endParaRPr lang="zh-CN" altLang="en-US"/>
                </a:p>
              </p:txBody>
            </p:sp>
            <p:sp>
              <p:nvSpPr>
                <p:cNvPr id="522255" name="Line 15"/>
                <p:cNvSpPr>
                  <a:spLocks noChangeShapeType="1"/>
                </p:cNvSpPr>
                <p:nvPr/>
              </p:nvSpPr>
              <p:spPr bwMode="auto">
                <a:xfrm>
                  <a:off x="4638" y="2761"/>
                  <a:ext cx="8" cy="1052"/>
                </a:xfrm>
                <a:prstGeom prst="line">
                  <a:avLst/>
                </a:prstGeom>
                <a:noFill/>
                <a:ln w="9525">
                  <a:solidFill>
                    <a:schemeClr val="tx1"/>
                  </a:solidFill>
                  <a:prstDash val="dash"/>
                  <a:round/>
                  <a:headEnd/>
                  <a:tailEnd/>
                </a:ln>
                <a:effectLst/>
              </p:spPr>
              <p:txBody>
                <a:bodyPr/>
                <a:lstStyle/>
                <a:p>
                  <a:endParaRPr lang="zh-CN" altLang="en-US"/>
                </a:p>
              </p:txBody>
            </p:sp>
            <p:sp>
              <p:nvSpPr>
                <p:cNvPr id="522256" name="Line 16"/>
                <p:cNvSpPr>
                  <a:spLocks noChangeShapeType="1"/>
                </p:cNvSpPr>
                <p:nvPr/>
              </p:nvSpPr>
              <p:spPr bwMode="auto">
                <a:xfrm>
                  <a:off x="3651" y="3385"/>
                  <a:ext cx="995" cy="496"/>
                </a:xfrm>
                <a:prstGeom prst="line">
                  <a:avLst/>
                </a:prstGeom>
                <a:noFill/>
                <a:ln w="9525">
                  <a:solidFill>
                    <a:schemeClr val="tx1"/>
                  </a:solidFill>
                  <a:round/>
                  <a:headEnd/>
                  <a:tailEnd type="triangle" w="med" len="med"/>
                </a:ln>
                <a:effectLst/>
              </p:spPr>
              <p:txBody>
                <a:bodyPr/>
                <a:lstStyle/>
                <a:p>
                  <a:endParaRPr lang="zh-CN" altLang="en-US"/>
                </a:p>
              </p:txBody>
            </p:sp>
            <p:sp>
              <p:nvSpPr>
                <p:cNvPr id="522257" name="Line 17"/>
                <p:cNvSpPr>
                  <a:spLocks noChangeShapeType="1"/>
                </p:cNvSpPr>
                <p:nvPr/>
              </p:nvSpPr>
              <p:spPr bwMode="auto">
                <a:xfrm>
                  <a:off x="3651" y="2206"/>
                  <a:ext cx="995" cy="496"/>
                </a:xfrm>
                <a:prstGeom prst="line">
                  <a:avLst/>
                </a:prstGeom>
                <a:noFill/>
                <a:ln w="9525">
                  <a:solidFill>
                    <a:schemeClr val="tx1"/>
                  </a:solidFill>
                  <a:prstDash val="dash"/>
                  <a:round/>
                  <a:headEnd/>
                  <a:tailEnd/>
                </a:ln>
                <a:effectLst/>
              </p:spPr>
              <p:txBody>
                <a:bodyPr/>
                <a:lstStyle/>
                <a:p>
                  <a:endParaRPr lang="zh-CN" altLang="en-US"/>
                </a:p>
              </p:txBody>
            </p:sp>
            <p:sp>
              <p:nvSpPr>
                <p:cNvPr id="522258" name="Line 18"/>
                <p:cNvSpPr>
                  <a:spLocks noChangeShapeType="1"/>
                </p:cNvSpPr>
                <p:nvPr/>
              </p:nvSpPr>
              <p:spPr bwMode="auto">
                <a:xfrm flipH="1">
                  <a:off x="3174" y="3862"/>
                  <a:ext cx="1360" cy="0"/>
                </a:xfrm>
                <a:prstGeom prst="line">
                  <a:avLst/>
                </a:prstGeom>
                <a:noFill/>
                <a:ln w="9525">
                  <a:solidFill>
                    <a:schemeClr val="tx1"/>
                  </a:solidFill>
                  <a:prstDash val="dash"/>
                  <a:round/>
                  <a:headEnd/>
                  <a:tailEnd/>
                </a:ln>
                <a:effectLst/>
              </p:spPr>
              <p:txBody>
                <a:bodyPr/>
                <a:lstStyle/>
                <a:p>
                  <a:endParaRPr lang="zh-CN" altLang="en-US"/>
                </a:p>
              </p:txBody>
            </p:sp>
            <p:sp>
              <p:nvSpPr>
                <p:cNvPr id="522259" name="Line 19"/>
                <p:cNvSpPr>
                  <a:spLocks noChangeShapeType="1"/>
                </p:cNvSpPr>
                <p:nvPr/>
              </p:nvSpPr>
              <p:spPr bwMode="auto">
                <a:xfrm flipV="1">
                  <a:off x="4649" y="3385"/>
                  <a:ext cx="499" cy="499"/>
                </a:xfrm>
                <a:prstGeom prst="line">
                  <a:avLst/>
                </a:prstGeom>
                <a:noFill/>
                <a:ln w="9525">
                  <a:solidFill>
                    <a:schemeClr val="tx1"/>
                  </a:solidFill>
                  <a:prstDash val="dash"/>
                  <a:round/>
                  <a:headEnd/>
                  <a:tailEnd/>
                </a:ln>
                <a:effectLst/>
              </p:spPr>
              <p:txBody>
                <a:bodyPr/>
                <a:lstStyle/>
                <a:p>
                  <a:endParaRPr lang="zh-CN" altLang="en-US"/>
                </a:p>
              </p:txBody>
            </p:sp>
          </p:grpSp>
          <p:graphicFrame>
            <p:nvGraphicFramePr>
              <p:cNvPr id="522260" name="Object 20"/>
              <p:cNvGraphicFramePr>
                <a:graphicFrameLocks noChangeAspect="1"/>
              </p:cNvGraphicFramePr>
              <p:nvPr/>
            </p:nvGraphicFramePr>
            <p:xfrm>
              <a:off x="3075" y="3872"/>
              <a:ext cx="229" cy="295"/>
            </p:xfrm>
            <a:graphic>
              <a:graphicData uri="http://schemas.openxmlformats.org/presentationml/2006/ole">
                <mc:AlternateContent xmlns:mc="http://schemas.openxmlformats.org/markup-compatibility/2006">
                  <mc:Choice xmlns:v="urn:schemas-microsoft-com:vml" Requires="v">
                    <p:oleObj name="公式" r:id="rId10" imgW="177480" imgH="228600" progId="Equation.3">
                      <p:embed/>
                    </p:oleObj>
                  </mc:Choice>
                  <mc:Fallback>
                    <p:oleObj name="公式" r:id="rId10" imgW="177480" imgH="228600" progId="Equation.3">
                      <p:embed/>
                      <p:pic>
                        <p:nvPicPr>
                          <p:cNvPr id="0" name="Picture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5" y="3872"/>
                            <a:ext cx="229"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61" name="Object 21"/>
              <p:cNvGraphicFramePr>
                <a:graphicFrameLocks noChangeAspect="1"/>
              </p:cNvGraphicFramePr>
              <p:nvPr/>
            </p:nvGraphicFramePr>
            <p:xfrm>
              <a:off x="5432" y="3364"/>
              <a:ext cx="230" cy="312"/>
            </p:xfrm>
            <a:graphic>
              <a:graphicData uri="http://schemas.openxmlformats.org/presentationml/2006/ole">
                <mc:AlternateContent xmlns:mc="http://schemas.openxmlformats.org/markup-compatibility/2006">
                  <mc:Choice xmlns:v="urn:schemas-microsoft-com:vml" Requires="v">
                    <p:oleObj name="公式" r:id="rId12" imgW="177480" imgH="241200" progId="Equation.3">
                      <p:embed/>
                    </p:oleObj>
                  </mc:Choice>
                  <mc:Fallback>
                    <p:oleObj name="公式" r:id="rId12" imgW="177480" imgH="241200" progId="Equation.3">
                      <p:embed/>
                      <p:pic>
                        <p:nvPicPr>
                          <p:cNvPr id="0" name="Picture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32" y="3364"/>
                            <a:ext cx="230" cy="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62" name="Object 22"/>
              <p:cNvGraphicFramePr>
                <a:graphicFrameLocks noChangeAspect="1"/>
              </p:cNvGraphicFramePr>
              <p:nvPr/>
            </p:nvGraphicFramePr>
            <p:xfrm>
              <a:off x="3696" y="1888"/>
              <a:ext cx="230" cy="295"/>
            </p:xfrm>
            <a:graphic>
              <a:graphicData uri="http://schemas.openxmlformats.org/presentationml/2006/ole">
                <mc:AlternateContent xmlns:mc="http://schemas.openxmlformats.org/markup-compatibility/2006">
                  <mc:Choice xmlns:v="urn:schemas-microsoft-com:vml" Requires="v">
                    <p:oleObj name="公式" r:id="rId14" imgW="177480" imgH="228600" progId="Equation.3">
                      <p:embed/>
                    </p:oleObj>
                  </mc:Choice>
                  <mc:Fallback>
                    <p:oleObj name="公式" r:id="rId14" imgW="177480" imgH="228600" progId="Equation.3">
                      <p:embed/>
                      <p:pic>
                        <p:nvPicPr>
                          <p:cNvPr id="0" name="Picture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96" y="1888"/>
                            <a:ext cx="230"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63" name="Object 23"/>
              <p:cNvGraphicFramePr>
                <a:graphicFrameLocks noChangeAspect="1"/>
              </p:cNvGraphicFramePr>
              <p:nvPr/>
            </p:nvGraphicFramePr>
            <p:xfrm>
              <a:off x="4649" y="2537"/>
              <a:ext cx="205" cy="287"/>
            </p:xfrm>
            <a:graphic>
              <a:graphicData uri="http://schemas.openxmlformats.org/presentationml/2006/ole">
                <mc:AlternateContent xmlns:mc="http://schemas.openxmlformats.org/markup-compatibility/2006">
                  <mc:Choice xmlns:v="urn:schemas-microsoft-com:vml" Requires="v">
                    <p:oleObj name="公式" r:id="rId16" imgW="126720" imgH="177480" progId="Equation.3">
                      <p:embed/>
                    </p:oleObj>
                  </mc:Choice>
                  <mc:Fallback>
                    <p:oleObj name="公式" r:id="rId16" imgW="126720" imgH="177480" progId="Equation.3">
                      <p:embed/>
                      <p:pic>
                        <p:nvPicPr>
                          <p:cNvPr id="0" name="Picture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49" y="2537"/>
                            <a:ext cx="205"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22264" name="Text Box 24"/>
            <p:cNvSpPr txBox="1">
              <a:spLocks noChangeArrowheads="1"/>
            </p:cNvSpPr>
            <p:nvPr/>
          </p:nvSpPr>
          <p:spPr bwMode="auto">
            <a:xfrm>
              <a:off x="3369" y="3122"/>
              <a:ext cx="318" cy="288"/>
            </a:xfrm>
            <a:prstGeom prst="rect">
              <a:avLst/>
            </a:prstGeom>
            <a:noFill/>
            <a:ln w="9525">
              <a:noFill/>
              <a:miter lim="800000"/>
              <a:headEnd/>
              <a:tailEnd/>
            </a:ln>
            <a:effectLst/>
          </p:spPr>
          <p:txBody>
            <a:bodyPr>
              <a:spAutoFit/>
            </a:bodyPr>
            <a:lstStyle/>
            <a:p>
              <a:pPr>
                <a:spcBef>
                  <a:spcPct val="50000"/>
                </a:spcBef>
              </a:pPr>
              <a:r>
                <a:rPr lang="en-US" altLang="zh-CN" sz="2400" i="1"/>
                <a:t>O </a:t>
              </a:r>
            </a:p>
          </p:txBody>
        </p:sp>
      </p:grpSp>
      <p:sp>
        <p:nvSpPr>
          <p:cNvPr id="522265" name="Text Box 25"/>
          <p:cNvSpPr txBox="1">
            <a:spLocks noChangeArrowheads="1"/>
          </p:cNvSpPr>
          <p:nvPr/>
        </p:nvSpPr>
        <p:spPr bwMode="auto">
          <a:xfrm>
            <a:off x="457200" y="4781550"/>
            <a:ext cx="2895600" cy="519113"/>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800"/>
              <a:t>根据统计假设：</a:t>
            </a:r>
          </a:p>
        </p:txBody>
      </p:sp>
      <p:graphicFrame>
        <p:nvGraphicFramePr>
          <p:cNvPr id="522266" name="Object 26"/>
          <p:cNvGraphicFramePr>
            <a:graphicFrameLocks noChangeAspect="1"/>
          </p:cNvGraphicFramePr>
          <p:nvPr/>
        </p:nvGraphicFramePr>
        <p:xfrm>
          <a:off x="762000" y="5486400"/>
          <a:ext cx="2413000" cy="784225"/>
        </p:xfrm>
        <a:graphic>
          <a:graphicData uri="http://schemas.openxmlformats.org/presentationml/2006/ole">
            <mc:AlternateContent xmlns:mc="http://schemas.openxmlformats.org/markup-compatibility/2006">
              <mc:Choice xmlns:v="urn:schemas-microsoft-com:vml" Requires="v">
                <p:oleObj name="公式" r:id="rId18" imgW="1206360" imgH="393480" progId="Equation.3">
                  <p:embed/>
                </p:oleObj>
              </mc:Choice>
              <mc:Fallback>
                <p:oleObj name="公式" r:id="rId18" imgW="1206360" imgH="393480" progId="Equation.3">
                  <p:embed/>
                  <p:pic>
                    <p:nvPicPr>
                      <p:cNvPr id="0" name="Picture 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2000" y="5486400"/>
                        <a:ext cx="241300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44"/>
                                        </p:tgtEl>
                                        <p:attrNameLst>
                                          <p:attrName>style.visibility</p:attrName>
                                        </p:attrNameLst>
                                      </p:cBhvr>
                                      <p:to>
                                        <p:strVal val="visible"/>
                                      </p:to>
                                    </p:set>
                                    <p:animEffect transition="in" filter="wipe(left)">
                                      <p:cBhvr>
                                        <p:cTn id="7" dur="500"/>
                                        <p:tgtEl>
                                          <p:spTgt spid="5222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2243"/>
                                        </p:tgtEl>
                                        <p:attrNameLst>
                                          <p:attrName>style.visibility</p:attrName>
                                        </p:attrNameLst>
                                      </p:cBhvr>
                                      <p:to>
                                        <p:strVal val="visible"/>
                                      </p:to>
                                    </p:set>
                                    <p:animEffect transition="in" filter="wipe(left)">
                                      <p:cBhvr>
                                        <p:cTn id="12" dur="500"/>
                                        <p:tgtEl>
                                          <p:spTgt spid="52224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522245"/>
                                        </p:tgtEl>
                                        <p:attrNameLst>
                                          <p:attrName>style.visibility</p:attrName>
                                        </p:attrNameLst>
                                      </p:cBhvr>
                                      <p:to>
                                        <p:strVal val="visible"/>
                                      </p:to>
                                    </p:set>
                                    <p:animEffect transition="in" filter="strips(upRight)">
                                      <p:cBhvr>
                                        <p:cTn id="17" dur="500"/>
                                        <p:tgtEl>
                                          <p:spTgt spid="5222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22246"/>
                                        </p:tgtEl>
                                        <p:attrNameLst>
                                          <p:attrName>style.visibility</p:attrName>
                                        </p:attrNameLst>
                                      </p:cBhvr>
                                      <p:to>
                                        <p:strVal val="visible"/>
                                      </p:to>
                                    </p:set>
                                    <p:animEffect transition="in" filter="wipe(left)">
                                      <p:cBhvr>
                                        <p:cTn id="22" dur="500"/>
                                        <p:tgtEl>
                                          <p:spTgt spid="5222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22247"/>
                                        </p:tgtEl>
                                        <p:attrNameLst>
                                          <p:attrName>style.visibility</p:attrName>
                                        </p:attrNameLst>
                                      </p:cBhvr>
                                      <p:to>
                                        <p:strVal val="visible"/>
                                      </p:to>
                                    </p:set>
                                    <p:animEffect transition="in" filter="wipe(left)">
                                      <p:cBhvr>
                                        <p:cTn id="27" dur="500"/>
                                        <p:tgtEl>
                                          <p:spTgt spid="52224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22248"/>
                                        </p:tgtEl>
                                        <p:attrNameLst>
                                          <p:attrName>style.visibility</p:attrName>
                                        </p:attrNameLst>
                                      </p:cBhvr>
                                      <p:to>
                                        <p:strVal val="visible"/>
                                      </p:to>
                                    </p:set>
                                    <p:animEffect transition="in" filter="fade">
                                      <p:cBhvr>
                                        <p:cTn id="32" dur="1000"/>
                                        <p:tgtEl>
                                          <p:spTgt spid="5222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2265"/>
                                        </p:tgtEl>
                                        <p:attrNameLst>
                                          <p:attrName>style.visibility</p:attrName>
                                        </p:attrNameLst>
                                      </p:cBhvr>
                                      <p:to>
                                        <p:strVal val="visible"/>
                                      </p:to>
                                    </p:set>
                                    <p:animEffect transition="in" filter="wipe(left)">
                                      <p:cBhvr>
                                        <p:cTn id="37" dur="500"/>
                                        <p:tgtEl>
                                          <p:spTgt spid="52226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22266"/>
                                        </p:tgtEl>
                                        <p:attrNameLst>
                                          <p:attrName>style.visibility</p:attrName>
                                        </p:attrNameLst>
                                      </p:cBhvr>
                                      <p:to>
                                        <p:strVal val="visible"/>
                                      </p:to>
                                    </p:set>
                                    <p:animEffect transition="in" filter="wipe(left)">
                                      <p:cBhvr>
                                        <p:cTn id="42" dur="500"/>
                                        <p:tgtEl>
                                          <p:spTgt spid="522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4" grpId="0"/>
      <p:bldP spid="52226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13" name="灯片编号占位符 4"/>
          <p:cNvSpPr>
            <a:spLocks noGrp="1"/>
          </p:cNvSpPr>
          <p:nvPr>
            <p:ph type="sldNum" sz="quarter" idx="12"/>
          </p:nvPr>
        </p:nvSpPr>
        <p:spPr/>
        <p:txBody>
          <a:bodyPr/>
          <a:lstStyle/>
          <a:p>
            <a:fld id="{2280E89E-C9FB-4904-B3B5-3F013ED79F27}" type="slidenum">
              <a:rPr lang="en-US" altLang="zh-CN"/>
              <a:pPr/>
              <a:t>18</a:t>
            </a:fld>
            <a:endParaRPr lang="en-US" altLang="zh-CN"/>
          </a:p>
        </p:txBody>
      </p:sp>
      <p:graphicFrame>
        <p:nvGraphicFramePr>
          <p:cNvPr id="519171" name="Object 3"/>
          <p:cNvGraphicFramePr>
            <a:graphicFrameLocks noChangeAspect="1"/>
          </p:cNvGraphicFramePr>
          <p:nvPr/>
        </p:nvGraphicFramePr>
        <p:xfrm>
          <a:off x="2133600" y="1143000"/>
          <a:ext cx="2797175" cy="784225"/>
        </p:xfrm>
        <a:graphic>
          <a:graphicData uri="http://schemas.openxmlformats.org/presentationml/2006/ole">
            <mc:AlternateContent xmlns:mc="http://schemas.openxmlformats.org/markup-compatibility/2006">
              <mc:Choice xmlns:v="urn:schemas-microsoft-com:vml" Requires="v">
                <p:oleObj name="公式" r:id="rId2" imgW="1396800" imgH="393480" progId="Equation.3">
                  <p:embed/>
                </p:oleObj>
              </mc:Choice>
              <mc:Fallback>
                <p:oleObj name="公式" r:id="rId2" imgW="1396800" imgH="39348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143000"/>
                        <a:ext cx="2797175"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9172" name="Object 4"/>
          <p:cNvGraphicFramePr>
            <a:graphicFrameLocks noChangeAspect="1"/>
          </p:cNvGraphicFramePr>
          <p:nvPr/>
        </p:nvGraphicFramePr>
        <p:xfrm>
          <a:off x="2362200" y="3276600"/>
          <a:ext cx="1600200" cy="985838"/>
        </p:xfrm>
        <a:graphic>
          <a:graphicData uri="http://schemas.openxmlformats.org/presentationml/2006/ole">
            <mc:AlternateContent xmlns:mc="http://schemas.openxmlformats.org/markup-compatibility/2006">
              <mc:Choice xmlns:v="urn:schemas-microsoft-com:vml" Requires="v">
                <p:oleObj name="公式" r:id="rId4" imgW="634680" imgH="393480" progId="Equation.3">
                  <p:embed/>
                </p:oleObj>
              </mc:Choice>
              <mc:Fallback>
                <p:oleObj name="公式" r:id="rId4" imgW="634680" imgH="39348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3276600"/>
                        <a:ext cx="1600200" cy="985838"/>
                      </a:xfrm>
                      <a:prstGeom prst="rect">
                        <a:avLst/>
                      </a:prstGeom>
                      <a:solidFill>
                        <a:srgbClr val="CC99FF">
                          <a:alpha val="50000"/>
                        </a:srgbClr>
                      </a:solidFill>
                      <a:ln w="19050">
                        <a:solidFill>
                          <a:schemeClr val="tx1"/>
                        </a:solidFill>
                        <a:miter lim="800000"/>
                        <a:headEnd/>
                        <a:tailEnd/>
                      </a:ln>
                      <a:effectLst/>
                      <a:extLs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19173" name="Object 5"/>
          <p:cNvGraphicFramePr>
            <a:graphicFrameLocks noChangeAspect="1"/>
          </p:cNvGraphicFramePr>
          <p:nvPr/>
        </p:nvGraphicFramePr>
        <p:xfrm>
          <a:off x="2362200" y="2209800"/>
          <a:ext cx="1608138" cy="787400"/>
        </p:xfrm>
        <a:graphic>
          <a:graphicData uri="http://schemas.openxmlformats.org/presentationml/2006/ole">
            <mc:AlternateContent xmlns:mc="http://schemas.openxmlformats.org/markup-compatibility/2006">
              <mc:Choice xmlns:v="urn:schemas-microsoft-com:vml" Requires="v">
                <p:oleObj name="公式" r:id="rId6" imgW="799920" imgH="393480" progId="Equation.3">
                  <p:embed/>
                </p:oleObj>
              </mc:Choice>
              <mc:Fallback>
                <p:oleObj name="公式" r:id="rId6" imgW="799920" imgH="39348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2209800"/>
                        <a:ext cx="1608138"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9174" name="Text Box 6"/>
          <p:cNvSpPr txBox="1">
            <a:spLocks noChangeArrowheads="1"/>
          </p:cNvSpPr>
          <p:nvPr/>
        </p:nvSpPr>
        <p:spPr bwMode="auto">
          <a:xfrm>
            <a:off x="762000" y="2362200"/>
            <a:ext cx="1295400" cy="519113"/>
          </a:xfrm>
          <a:prstGeom prst="rect">
            <a:avLst/>
          </a:prstGeom>
          <a:noFill/>
          <a:ln w="9525">
            <a:noFill/>
            <a:miter lim="800000"/>
            <a:headEnd/>
            <a:tailEnd/>
          </a:ln>
          <a:effectLst/>
        </p:spPr>
        <p:txBody>
          <a:bodyPr>
            <a:spAutoFit/>
          </a:bodyPr>
          <a:lstStyle/>
          <a:p>
            <a:pPr>
              <a:spcBef>
                <a:spcPct val="50000"/>
              </a:spcBef>
            </a:pPr>
            <a:r>
              <a:rPr lang="zh-CN" altLang="en-US" sz="2800"/>
              <a:t>因为</a:t>
            </a:r>
          </a:p>
        </p:txBody>
      </p:sp>
      <p:sp>
        <p:nvSpPr>
          <p:cNvPr id="519175" name="Text Box 7"/>
          <p:cNvSpPr txBox="1">
            <a:spLocks noChangeArrowheads="1"/>
          </p:cNvSpPr>
          <p:nvPr/>
        </p:nvSpPr>
        <p:spPr bwMode="auto">
          <a:xfrm>
            <a:off x="838200" y="3505200"/>
            <a:ext cx="1295400" cy="519113"/>
          </a:xfrm>
          <a:prstGeom prst="rect">
            <a:avLst/>
          </a:prstGeom>
          <a:noFill/>
          <a:ln w="9525">
            <a:noFill/>
            <a:miter lim="800000"/>
            <a:headEnd/>
            <a:tailEnd/>
          </a:ln>
          <a:effectLst/>
        </p:spPr>
        <p:txBody>
          <a:bodyPr>
            <a:spAutoFit/>
          </a:bodyPr>
          <a:lstStyle/>
          <a:p>
            <a:pPr>
              <a:spcBef>
                <a:spcPct val="50000"/>
              </a:spcBef>
            </a:pPr>
            <a:r>
              <a:rPr lang="zh-CN" altLang="en-US" sz="2800"/>
              <a:t>所以</a:t>
            </a:r>
          </a:p>
        </p:txBody>
      </p:sp>
      <p:sp>
        <p:nvSpPr>
          <p:cNvPr id="519176" name="Text Box 8"/>
          <p:cNvSpPr txBox="1">
            <a:spLocks noChangeArrowheads="1"/>
          </p:cNvSpPr>
          <p:nvPr/>
        </p:nvSpPr>
        <p:spPr bwMode="auto">
          <a:xfrm>
            <a:off x="533400" y="4572000"/>
            <a:ext cx="8064500" cy="1073150"/>
          </a:xfrm>
          <a:prstGeom prst="rect">
            <a:avLst/>
          </a:prstGeom>
          <a:noFill/>
          <a:ln w="9525">
            <a:noFill/>
            <a:miter lim="800000"/>
            <a:headEnd/>
            <a:tailEnd/>
          </a:ln>
          <a:effectLst/>
        </p:spPr>
        <p:txBody>
          <a:bodyPr>
            <a:spAutoFit/>
          </a:bodyPr>
          <a:lstStyle/>
          <a:p>
            <a:pPr>
              <a:lnSpc>
                <a:spcPct val="115000"/>
              </a:lnSpc>
              <a:spcBef>
                <a:spcPct val="50000"/>
              </a:spcBef>
            </a:pPr>
            <a:r>
              <a:rPr lang="zh-CN" altLang="en-US" sz="2800">
                <a:solidFill>
                  <a:srgbClr val="0000CC"/>
                </a:solidFill>
              </a:rPr>
              <a:t>道尔顿分压定律</a:t>
            </a:r>
            <a:r>
              <a:rPr lang="zh-CN" altLang="en-US" sz="2800"/>
              <a:t>：混合气体的压强等于其中各种气体分子组分压强之总和。</a:t>
            </a:r>
          </a:p>
        </p:txBody>
      </p:sp>
      <p:graphicFrame>
        <p:nvGraphicFramePr>
          <p:cNvPr id="519177" name="Object 9"/>
          <p:cNvGraphicFramePr>
            <a:graphicFrameLocks noChangeAspect="1"/>
          </p:cNvGraphicFramePr>
          <p:nvPr/>
        </p:nvGraphicFramePr>
        <p:xfrm>
          <a:off x="2286000" y="5638800"/>
          <a:ext cx="3744913" cy="628650"/>
        </p:xfrm>
        <a:graphic>
          <a:graphicData uri="http://schemas.openxmlformats.org/presentationml/2006/ole">
            <mc:AlternateContent xmlns:mc="http://schemas.openxmlformats.org/markup-compatibility/2006">
              <mc:Choice xmlns:v="urn:schemas-microsoft-com:vml" Requires="v">
                <p:oleObj name="公式" r:id="rId8" imgW="1358900" imgH="228600" progId="Equation.3">
                  <p:embed/>
                </p:oleObj>
              </mc:Choice>
              <mc:Fallback>
                <p:oleObj name="公式" r:id="rId8" imgW="1358900" imgH="228600" progId="Equation.3">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0" y="5638800"/>
                        <a:ext cx="3744913"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9178" name="Text Box 10"/>
          <p:cNvSpPr txBox="1">
            <a:spLocks noChangeArrowheads="1"/>
          </p:cNvSpPr>
          <p:nvPr/>
        </p:nvSpPr>
        <p:spPr bwMode="auto">
          <a:xfrm>
            <a:off x="4648200" y="2286000"/>
            <a:ext cx="4343400" cy="582613"/>
          </a:xfrm>
          <a:prstGeom prst="rect">
            <a:avLst/>
          </a:prstGeom>
          <a:noFill/>
          <a:ln w="9525">
            <a:noFill/>
            <a:miter lim="800000"/>
            <a:headEnd/>
            <a:tailEnd/>
          </a:ln>
          <a:effectLst/>
        </p:spPr>
        <p:txBody>
          <a:bodyPr>
            <a:spAutoFit/>
          </a:bodyPr>
          <a:lstStyle/>
          <a:p>
            <a:pPr>
              <a:lnSpc>
                <a:spcPct val="115000"/>
              </a:lnSpc>
              <a:spcBef>
                <a:spcPct val="50000"/>
              </a:spcBef>
            </a:pPr>
            <a:r>
              <a:rPr lang="zh-CN" altLang="en-US" sz="2800"/>
              <a:t>气体分子的平均平动动能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519171"/>
                                        </p:tgtEl>
                                        <p:attrNameLst>
                                          <p:attrName>style.visibility</p:attrName>
                                        </p:attrNameLst>
                                      </p:cBhvr>
                                      <p:to>
                                        <p:strVal val="visible"/>
                                      </p:to>
                                    </p:set>
                                    <p:animEffect transition="in" filter="strips(upRight)">
                                      <p:cBhvr>
                                        <p:cTn id="7" dur="500"/>
                                        <p:tgtEl>
                                          <p:spTgt spid="519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9173"/>
                                        </p:tgtEl>
                                        <p:attrNameLst>
                                          <p:attrName>style.visibility</p:attrName>
                                        </p:attrNameLst>
                                      </p:cBhvr>
                                      <p:to>
                                        <p:strVal val="visible"/>
                                      </p:to>
                                    </p:set>
                                    <p:animEffect transition="in" filter="wipe(left)">
                                      <p:cBhvr>
                                        <p:cTn id="12" dur="500"/>
                                        <p:tgtEl>
                                          <p:spTgt spid="51917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19174"/>
                                        </p:tgtEl>
                                        <p:attrNameLst>
                                          <p:attrName>style.visibility</p:attrName>
                                        </p:attrNameLst>
                                      </p:cBhvr>
                                      <p:to>
                                        <p:strVal val="visible"/>
                                      </p:to>
                                    </p:set>
                                    <p:animEffect transition="in" filter="wipe(left)">
                                      <p:cBhvr>
                                        <p:cTn id="15" dur="500"/>
                                        <p:tgtEl>
                                          <p:spTgt spid="51917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19178"/>
                                        </p:tgtEl>
                                        <p:attrNameLst>
                                          <p:attrName>style.visibility</p:attrName>
                                        </p:attrNameLst>
                                      </p:cBhvr>
                                      <p:to>
                                        <p:strVal val="visible"/>
                                      </p:to>
                                    </p:set>
                                    <p:animEffect transition="in" filter="wipe(left)">
                                      <p:cBhvr>
                                        <p:cTn id="20" dur="500"/>
                                        <p:tgtEl>
                                          <p:spTgt spid="51917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19175"/>
                                        </p:tgtEl>
                                        <p:attrNameLst>
                                          <p:attrName>style.visibility</p:attrName>
                                        </p:attrNameLst>
                                      </p:cBhvr>
                                      <p:to>
                                        <p:strVal val="visible"/>
                                      </p:to>
                                    </p:set>
                                    <p:animEffect transition="in" filter="wipe(left)">
                                      <p:cBhvr>
                                        <p:cTn id="25" dur="500"/>
                                        <p:tgtEl>
                                          <p:spTgt spid="519175"/>
                                        </p:tgtEl>
                                      </p:cBhvr>
                                    </p:animEffect>
                                  </p:childTnLst>
                                </p:cTn>
                              </p:par>
                              <p:par>
                                <p:cTn id="26" presetID="22" presetClass="entr" presetSubtype="8" fill="hold" nodeType="withEffect">
                                  <p:stCondLst>
                                    <p:cond delay="0"/>
                                  </p:stCondLst>
                                  <p:childTnLst>
                                    <p:set>
                                      <p:cBhvr>
                                        <p:cTn id="27" dur="1" fill="hold">
                                          <p:stCondLst>
                                            <p:cond delay="0"/>
                                          </p:stCondLst>
                                        </p:cTn>
                                        <p:tgtEl>
                                          <p:spTgt spid="519172"/>
                                        </p:tgtEl>
                                        <p:attrNameLst>
                                          <p:attrName>style.visibility</p:attrName>
                                        </p:attrNameLst>
                                      </p:cBhvr>
                                      <p:to>
                                        <p:strVal val="visible"/>
                                      </p:to>
                                    </p:set>
                                    <p:animEffect transition="in" filter="wipe(left)">
                                      <p:cBhvr>
                                        <p:cTn id="28" dur="500"/>
                                        <p:tgtEl>
                                          <p:spTgt spid="51917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19176"/>
                                        </p:tgtEl>
                                        <p:attrNameLst>
                                          <p:attrName>style.visibility</p:attrName>
                                        </p:attrNameLst>
                                      </p:cBhvr>
                                      <p:to>
                                        <p:strVal val="visible"/>
                                      </p:to>
                                    </p:set>
                                    <p:animEffect transition="in" filter="wipe(left)">
                                      <p:cBhvr>
                                        <p:cTn id="33" dur="500"/>
                                        <p:tgtEl>
                                          <p:spTgt spid="51917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19177"/>
                                        </p:tgtEl>
                                        <p:attrNameLst>
                                          <p:attrName>style.visibility</p:attrName>
                                        </p:attrNameLst>
                                      </p:cBhvr>
                                      <p:to>
                                        <p:strVal val="visible"/>
                                      </p:to>
                                    </p:set>
                                    <p:animEffect transition="in" filter="wipe(left)">
                                      <p:cBhvr>
                                        <p:cTn id="38" dur="500"/>
                                        <p:tgtEl>
                                          <p:spTgt spid="519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4" grpId="0"/>
      <p:bldP spid="519175" grpId="0"/>
      <p:bldP spid="519176" grpId="0"/>
      <p:bldP spid="51917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15" name="灯片编号占位符 4"/>
          <p:cNvSpPr>
            <a:spLocks noGrp="1"/>
          </p:cNvSpPr>
          <p:nvPr>
            <p:ph type="sldNum" sz="quarter" idx="12"/>
          </p:nvPr>
        </p:nvSpPr>
        <p:spPr/>
        <p:txBody>
          <a:bodyPr/>
          <a:lstStyle/>
          <a:p>
            <a:fld id="{A343F05B-3F3D-4FE0-AAFD-25708457B324}" type="slidenum">
              <a:rPr lang="en-US" altLang="zh-CN"/>
              <a:pPr/>
              <a:t>19</a:t>
            </a:fld>
            <a:endParaRPr lang="en-US" altLang="zh-CN"/>
          </a:p>
        </p:txBody>
      </p:sp>
      <p:sp>
        <p:nvSpPr>
          <p:cNvPr id="523267" name="Rectangle 3"/>
          <p:cNvSpPr>
            <a:spLocks noChangeArrowheads="1"/>
          </p:cNvSpPr>
          <p:nvPr/>
        </p:nvSpPr>
        <p:spPr bwMode="auto">
          <a:xfrm>
            <a:off x="501650" y="1219200"/>
            <a:ext cx="35369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理想气体温度的微观意义</a:t>
            </a:r>
          </a:p>
        </p:txBody>
      </p:sp>
      <p:graphicFrame>
        <p:nvGraphicFramePr>
          <p:cNvPr id="523268" name="Object 4"/>
          <p:cNvGraphicFramePr>
            <a:graphicFrameLocks noChangeAspect="1"/>
          </p:cNvGraphicFramePr>
          <p:nvPr/>
        </p:nvGraphicFramePr>
        <p:xfrm>
          <a:off x="6019800" y="1600200"/>
          <a:ext cx="1268413" cy="787400"/>
        </p:xfrm>
        <a:graphic>
          <a:graphicData uri="http://schemas.openxmlformats.org/presentationml/2006/ole">
            <mc:AlternateContent xmlns:mc="http://schemas.openxmlformats.org/markup-compatibility/2006">
              <mc:Choice xmlns:v="urn:schemas-microsoft-com:vml" Requires="v">
                <p:oleObj name="公式" r:id="rId3" imgW="634680" imgH="393480" progId="Equation.3">
                  <p:embed/>
                </p:oleObj>
              </mc:Choice>
              <mc:Fallback>
                <p:oleObj name="公式" r:id="rId3" imgW="634680" imgH="39348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1600200"/>
                        <a:ext cx="1268413" cy="787400"/>
                      </a:xfrm>
                      <a:prstGeom prst="rect">
                        <a:avLst/>
                      </a:prstGeom>
                      <a:solidFill>
                        <a:srgbClr val="CC99FF">
                          <a:alpha val="50000"/>
                        </a:srgbClr>
                      </a:solidFill>
                      <a:ln w="19050">
                        <a:solidFill>
                          <a:schemeClr val="tx1"/>
                        </a:solidFill>
                        <a:miter lim="800000"/>
                        <a:headEnd/>
                        <a:tailEnd/>
                      </a:ln>
                      <a:effectLst/>
                      <a:extLs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23269" name="Object 5"/>
          <p:cNvGraphicFramePr>
            <a:graphicFrameLocks noChangeAspect="1"/>
          </p:cNvGraphicFramePr>
          <p:nvPr/>
        </p:nvGraphicFramePr>
        <p:xfrm>
          <a:off x="1143000" y="1752600"/>
          <a:ext cx="1725613" cy="787400"/>
        </p:xfrm>
        <a:graphic>
          <a:graphicData uri="http://schemas.openxmlformats.org/presentationml/2006/ole">
            <mc:AlternateContent xmlns:mc="http://schemas.openxmlformats.org/markup-compatibility/2006">
              <mc:Choice xmlns:v="urn:schemas-microsoft-com:vml" Requires="v">
                <p:oleObj name="公式" r:id="rId5" imgW="863280" imgH="393480" progId="Equation.3">
                  <p:embed/>
                </p:oleObj>
              </mc:Choice>
              <mc:Fallback>
                <p:oleObj name="公式" r:id="rId5" imgW="863280" imgH="39348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752600"/>
                        <a:ext cx="1725613" cy="787400"/>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23270" name="Object 6"/>
          <p:cNvGraphicFramePr>
            <a:graphicFrameLocks noChangeAspect="1"/>
          </p:cNvGraphicFramePr>
          <p:nvPr/>
        </p:nvGraphicFramePr>
        <p:xfrm>
          <a:off x="3886200" y="1905000"/>
          <a:ext cx="1090613" cy="406400"/>
        </p:xfrm>
        <a:graphic>
          <a:graphicData uri="http://schemas.openxmlformats.org/presentationml/2006/ole">
            <mc:AlternateContent xmlns:mc="http://schemas.openxmlformats.org/markup-compatibility/2006">
              <mc:Choice xmlns:v="urn:schemas-microsoft-com:vml" Requires="v">
                <p:oleObj name="公式" r:id="rId7" imgW="545760" imgH="203040" progId="Equation.3">
                  <p:embed/>
                </p:oleObj>
              </mc:Choice>
              <mc:Fallback>
                <p:oleObj name="公式" r:id="rId7" imgW="545760" imgH="20304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1905000"/>
                        <a:ext cx="10906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3271" name="Text Box 7"/>
          <p:cNvSpPr txBox="1">
            <a:spLocks noChangeArrowheads="1"/>
          </p:cNvSpPr>
          <p:nvPr/>
        </p:nvSpPr>
        <p:spPr bwMode="auto">
          <a:xfrm>
            <a:off x="457200" y="2743200"/>
            <a:ext cx="8064500" cy="1136650"/>
          </a:xfrm>
          <a:prstGeom prst="rect">
            <a:avLst/>
          </a:prstGeom>
          <a:solidFill>
            <a:srgbClr val="CC99FF">
              <a:alpha val="50000"/>
            </a:srgbClr>
          </a:solidFill>
          <a:ln w="19050" cap="sq">
            <a:solidFill>
              <a:schemeClr val="tx1"/>
            </a:solidFill>
            <a:miter lim="800000"/>
            <a:headEnd type="none" w="sm" len="sm"/>
            <a:tailEnd type="none" w="sm" len="sm"/>
          </a:ln>
          <a:effectLst/>
        </p:spPr>
        <p:txBody>
          <a:bodyPr>
            <a:spAutoFit/>
          </a:bodyPr>
          <a:lstStyle/>
          <a:p>
            <a:pPr>
              <a:lnSpc>
                <a:spcPct val="120000"/>
              </a:lnSpc>
              <a:spcBef>
                <a:spcPct val="50000"/>
              </a:spcBef>
            </a:pPr>
            <a:r>
              <a:rPr kumimoji="1" lang="zh-CN" altLang="en-US" sz="2800">
                <a:solidFill>
                  <a:srgbClr val="0000CC"/>
                </a:solidFill>
              </a:rPr>
              <a:t>温度</a:t>
            </a:r>
            <a:r>
              <a:rPr kumimoji="1" lang="zh-CN" altLang="en-US" sz="2800"/>
              <a:t>标志着物体内部分子热运动的</a:t>
            </a:r>
            <a:r>
              <a:rPr kumimoji="1" lang="zh-CN" altLang="en-US" sz="2800">
                <a:solidFill>
                  <a:srgbClr val="0000CC"/>
                </a:solidFill>
              </a:rPr>
              <a:t>剧烈程度</a:t>
            </a:r>
            <a:r>
              <a:rPr kumimoji="1" lang="zh-CN" altLang="en-US" sz="2800"/>
              <a:t>，它是大量分子热运动的平均平动动能的量度。</a:t>
            </a:r>
          </a:p>
        </p:txBody>
      </p:sp>
      <p:graphicFrame>
        <p:nvGraphicFramePr>
          <p:cNvPr id="523272" name="Object 8"/>
          <p:cNvGraphicFramePr>
            <a:graphicFrameLocks noChangeAspect="1"/>
          </p:cNvGraphicFramePr>
          <p:nvPr/>
        </p:nvGraphicFramePr>
        <p:xfrm>
          <a:off x="2667000" y="4013200"/>
          <a:ext cx="1608138" cy="787400"/>
        </p:xfrm>
        <a:graphic>
          <a:graphicData uri="http://schemas.openxmlformats.org/presentationml/2006/ole">
            <mc:AlternateContent xmlns:mc="http://schemas.openxmlformats.org/markup-compatibility/2006">
              <mc:Choice xmlns:v="urn:schemas-microsoft-com:vml" Requires="v">
                <p:oleObj name="公式" r:id="rId9" imgW="799920" imgH="393480" progId="Equation.3">
                  <p:embed/>
                </p:oleObj>
              </mc:Choice>
              <mc:Fallback>
                <p:oleObj name="公式" r:id="rId9" imgW="799920" imgH="393480" progId="Equation.3">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4013200"/>
                        <a:ext cx="1608138"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3273" name="Text Box 9"/>
          <p:cNvSpPr txBox="1">
            <a:spLocks noChangeArrowheads="1"/>
          </p:cNvSpPr>
          <p:nvPr/>
        </p:nvSpPr>
        <p:spPr bwMode="auto">
          <a:xfrm>
            <a:off x="1371600" y="4167188"/>
            <a:ext cx="1295400" cy="519112"/>
          </a:xfrm>
          <a:prstGeom prst="rect">
            <a:avLst/>
          </a:prstGeom>
          <a:noFill/>
          <a:ln w="9525">
            <a:noFill/>
            <a:miter lim="800000"/>
            <a:headEnd/>
            <a:tailEnd/>
          </a:ln>
          <a:effectLst/>
        </p:spPr>
        <p:txBody>
          <a:bodyPr>
            <a:spAutoFit/>
          </a:bodyPr>
          <a:lstStyle/>
          <a:p>
            <a:pPr>
              <a:spcBef>
                <a:spcPct val="50000"/>
              </a:spcBef>
            </a:pPr>
            <a:r>
              <a:rPr lang="zh-CN" altLang="en-US" sz="2800"/>
              <a:t>因为</a:t>
            </a:r>
          </a:p>
        </p:txBody>
      </p:sp>
      <p:graphicFrame>
        <p:nvGraphicFramePr>
          <p:cNvPr id="523274" name="Object 10"/>
          <p:cNvGraphicFramePr>
            <a:graphicFrameLocks noChangeAspect="1"/>
          </p:cNvGraphicFramePr>
          <p:nvPr/>
        </p:nvGraphicFramePr>
        <p:xfrm>
          <a:off x="4267200" y="4013200"/>
          <a:ext cx="914400" cy="787400"/>
        </p:xfrm>
        <a:graphic>
          <a:graphicData uri="http://schemas.openxmlformats.org/presentationml/2006/ole">
            <mc:AlternateContent xmlns:mc="http://schemas.openxmlformats.org/markup-compatibility/2006">
              <mc:Choice xmlns:v="urn:schemas-microsoft-com:vml" Requires="v">
                <p:oleObj name="公式" r:id="rId11" imgW="457200" imgH="393480" progId="Equation.3">
                  <p:embed/>
                </p:oleObj>
              </mc:Choice>
              <mc:Fallback>
                <p:oleObj name="公式" r:id="rId11" imgW="457200" imgH="393480" progId="Equation.3">
                  <p:embed/>
                  <p:pic>
                    <p:nvPicPr>
                      <p:cNvPr id="0"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4013200"/>
                        <a:ext cx="914400" cy="787400"/>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sp>
        <p:nvSpPr>
          <p:cNvPr id="523275" name="Rectangle 11"/>
          <p:cNvSpPr>
            <a:spLocks noChangeArrowheads="1"/>
          </p:cNvSpPr>
          <p:nvPr/>
        </p:nvSpPr>
        <p:spPr bwMode="auto">
          <a:xfrm>
            <a:off x="762000" y="5029200"/>
            <a:ext cx="2951163" cy="519113"/>
          </a:xfrm>
          <a:prstGeom prst="rect">
            <a:avLst/>
          </a:prstGeom>
          <a:noFill/>
          <a:ln w="9525">
            <a:noFill/>
            <a:miter lim="800000"/>
            <a:headEnd/>
            <a:tailEnd/>
          </a:ln>
          <a:effectLst/>
        </p:spPr>
        <p:txBody>
          <a:bodyPr anchor="ctr">
            <a:spAutoFit/>
          </a:bodyPr>
          <a:lstStyle/>
          <a:p>
            <a:r>
              <a:rPr lang="zh-CN" altLang="en-US" sz="2800">
                <a:solidFill>
                  <a:srgbClr val="0000CC"/>
                </a:solidFill>
              </a:rPr>
              <a:t>方均根速率</a:t>
            </a:r>
            <a:r>
              <a:rPr lang="zh-CN" altLang="en-US" sz="2800"/>
              <a:t>： </a:t>
            </a:r>
          </a:p>
        </p:txBody>
      </p:sp>
      <p:graphicFrame>
        <p:nvGraphicFramePr>
          <p:cNvPr id="523276" name="Object 12"/>
          <p:cNvGraphicFramePr>
            <a:graphicFrameLocks noChangeAspect="1"/>
          </p:cNvGraphicFramePr>
          <p:nvPr/>
        </p:nvGraphicFramePr>
        <p:xfrm>
          <a:off x="3159125" y="5257800"/>
          <a:ext cx="2860675" cy="968375"/>
        </p:xfrm>
        <a:graphic>
          <a:graphicData uri="http://schemas.openxmlformats.org/presentationml/2006/ole">
            <mc:AlternateContent xmlns:mc="http://schemas.openxmlformats.org/markup-compatibility/2006">
              <mc:Choice xmlns:v="urn:schemas-microsoft-com:vml" Requires="v">
                <p:oleObj name="公式" r:id="rId13" imgW="1409400" imgH="482400" progId="Equation.3">
                  <p:embed/>
                </p:oleObj>
              </mc:Choice>
              <mc:Fallback>
                <p:oleObj name="公式" r:id="rId13" imgW="1409400" imgH="482400" progId="Equation.3">
                  <p:embed/>
                  <p:pic>
                    <p:nvPicPr>
                      <p:cNvPr id="0"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59125" y="5257800"/>
                        <a:ext cx="2860675"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3269"/>
                                        </p:tgtEl>
                                        <p:attrNameLst>
                                          <p:attrName>style.visibility</p:attrName>
                                        </p:attrNameLst>
                                      </p:cBhvr>
                                      <p:to>
                                        <p:strVal val="visible"/>
                                      </p:to>
                                    </p:set>
                                    <p:animEffect transition="in" filter="wipe(left)">
                                      <p:cBhvr>
                                        <p:cTn id="7" dur="500"/>
                                        <p:tgtEl>
                                          <p:spTgt spid="5232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3270"/>
                                        </p:tgtEl>
                                        <p:attrNameLst>
                                          <p:attrName>style.visibility</p:attrName>
                                        </p:attrNameLst>
                                      </p:cBhvr>
                                      <p:to>
                                        <p:strVal val="visible"/>
                                      </p:to>
                                    </p:set>
                                    <p:animEffect transition="in" filter="wipe(left)">
                                      <p:cBhvr>
                                        <p:cTn id="12" dur="500"/>
                                        <p:tgtEl>
                                          <p:spTgt spid="5232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3268"/>
                                        </p:tgtEl>
                                        <p:attrNameLst>
                                          <p:attrName>style.visibility</p:attrName>
                                        </p:attrNameLst>
                                      </p:cBhvr>
                                      <p:to>
                                        <p:strVal val="visible"/>
                                      </p:to>
                                    </p:set>
                                    <p:animEffect transition="in" filter="wipe(left)">
                                      <p:cBhvr>
                                        <p:cTn id="17" dur="500"/>
                                        <p:tgtEl>
                                          <p:spTgt spid="5232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3271"/>
                                        </p:tgtEl>
                                        <p:attrNameLst>
                                          <p:attrName>style.visibility</p:attrName>
                                        </p:attrNameLst>
                                      </p:cBhvr>
                                      <p:to>
                                        <p:strVal val="visible"/>
                                      </p:to>
                                    </p:set>
                                    <p:animEffect transition="in" filter="wipe(left)">
                                      <p:cBhvr>
                                        <p:cTn id="22" dur="500"/>
                                        <p:tgtEl>
                                          <p:spTgt spid="5232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23272"/>
                                        </p:tgtEl>
                                        <p:attrNameLst>
                                          <p:attrName>style.visibility</p:attrName>
                                        </p:attrNameLst>
                                      </p:cBhvr>
                                      <p:to>
                                        <p:strVal val="visible"/>
                                      </p:to>
                                    </p:set>
                                    <p:animEffect transition="in" filter="wipe(left)">
                                      <p:cBhvr>
                                        <p:cTn id="27" dur="500"/>
                                        <p:tgtEl>
                                          <p:spTgt spid="52327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23273"/>
                                        </p:tgtEl>
                                        <p:attrNameLst>
                                          <p:attrName>style.visibility</p:attrName>
                                        </p:attrNameLst>
                                      </p:cBhvr>
                                      <p:to>
                                        <p:strVal val="visible"/>
                                      </p:to>
                                    </p:set>
                                    <p:animEffect transition="in" filter="wipe(left)">
                                      <p:cBhvr>
                                        <p:cTn id="30" dur="500"/>
                                        <p:tgtEl>
                                          <p:spTgt spid="523273"/>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523274"/>
                                        </p:tgtEl>
                                        <p:attrNameLst>
                                          <p:attrName>style.visibility</p:attrName>
                                        </p:attrNameLst>
                                      </p:cBhvr>
                                      <p:to>
                                        <p:strVal val="visible"/>
                                      </p:to>
                                    </p:set>
                                    <p:animEffect transition="in" filter="box(out)">
                                      <p:cBhvr>
                                        <p:cTn id="35" dur="500"/>
                                        <p:tgtEl>
                                          <p:spTgt spid="523274"/>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23275"/>
                                        </p:tgtEl>
                                        <p:attrNameLst>
                                          <p:attrName>style.visibility</p:attrName>
                                        </p:attrNameLst>
                                      </p:cBhvr>
                                      <p:to>
                                        <p:strVal val="visible"/>
                                      </p:to>
                                    </p:set>
                                    <p:animEffect transition="in" filter="wipe(left)">
                                      <p:cBhvr>
                                        <p:cTn id="40" dur="500"/>
                                        <p:tgtEl>
                                          <p:spTgt spid="52327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23276"/>
                                        </p:tgtEl>
                                        <p:attrNameLst>
                                          <p:attrName>style.visibility</p:attrName>
                                        </p:attrNameLst>
                                      </p:cBhvr>
                                      <p:to>
                                        <p:strVal val="visible"/>
                                      </p:to>
                                    </p:set>
                                    <p:animEffect transition="in" filter="wipe(left)">
                                      <p:cBhvr>
                                        <p:cTn id="45" dur="500"/>
                                        <p:tgtEl>
                                          <p:spTgt spid="523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71" grpId="0" animBg="1"/>
      <p:bldP spid="523273" grpId="0"/>
      <p:bldP spid="52327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14" name="灯片编号占位符 4"/>
          <p:cNvSpPr>
            <a:spLocks noGrp="1"/>
          </p:cNvSpPr>
          <p:nvPr>
            <p:ph type="sldNum" sz="quarter" idx="12"/>
          </p:nvPr>
        </p:nvSpPr>
        <p:spPr/>
        <p:txBody>
          <a:bodyPr/>
          <a:lstStyle/>
          <a:p>
            <a:fld id="{0B9C9572-29B7-445D-AFB6-B9FBD203A8C2}" type="slidenum">
              <a:rPr lang="en-US" altLang="zh-CN"/>
              <a:pPr/>
              <a:t>20</a:t>
            </a:fld>
            <a:endParaRPr lang="en-US" altLang="zh-CN"/>
          </a:p>
        </p:txBody>
      </p:sp>
      <p:sp>
        <p:nvSpPr>
          <p:cNvPr id="524291" name="Rectangle 3"/>
          <p:cNvSpPr>
            <a:spLocks noChangeArrowheads="1"/>
          </p:cNvSpPr>
          <p:nvPr/>
        </p:nvSpPr>
        <p:spPr bwMode="auto">
          <a:xfrm>
            <a:off x="501650" y="1219200"/>
            <a:ext cx="41465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理想气体状态方程的微观解释</a:t>
            </a:r>
          </a:p>
        </p:txBody>
      </p:sp>
      <p:graphicFrame>
        <p:nvGraphicFramePr>
          <p:cNvPr id="524292" name="Object 4"/>
          <p:cNvGraphicFramePr>
            <a:graphicFrameLocks noChangeAspect="1"/>
          </p:cNvGraphicFramePr>
          <p:nvPr/>
        </p:nvGraphicFramePr>
        <p:xfrm>
          <a:off x="4343400" y="1676400"/>
          <a:ext cx="2792413" cy="787400"/>
        </p:xfrm>
        <a:graphic>
          <a:graphicData uri="http://schemas.openxmlformats.org/presentationml/2006/ole">
            <mc:AlternateContent xmlns:mc="http://schemas.openxmlformats.org/markup-compatibility/2006">
              <mc:Choice xmlns:v="urn:schemas-microsoft-com:vml" Requires="v">
                <p:oleObj name="公式" r:id="rId3" imgW="1396800" imgH="393480" progId="Equation.3">
                  <p:embed/>
                </p:oleObj>
              </mc:Choice>
              <mc:Fallback>
                <p:oleObj name="公式" r:id="rId3" imgW="1396800" imgH="39348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1676400"/>
                        <a:ext cx="27924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4293" name="Object 5"/>
          <p:cNvGraphicFramePr>
            <a:graphicFrameLocks noChangeAspect="1"/>
          </p:cNvGraphicFramePr>
          <p:nvPr/>
        </p:nvGraphicFramePr>
        <p:xfrm>
          <a:off x="914400" y="1752600"/>
          <a:ext cx="1725613" cy="787400"/>
        </p:xfrm>
        <a:graphic>
          <a:graphicData uri="http://schemas.openxmlformats.org/presentationml/2006/ole">
            <mc:AlternateContent xmlns:mc="http://schemas.openxmlformats.org/markup-compatibility/2006">
              <mc:Choice xmlns:v="urn:schemas-microsoft-com:vml" Requires="v">
                <p:oleObj name="公式" r:id="rId5" imgW="863280" imgH="393480" progId="Equation.3">
                  <p:embed/>
                </p:oleObj>
              </mc:Choice>
              <mc:Fallback>
                <p:oleObj name="公式" r:id="rId5" imgW="863280" imgH="39348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1752600"/>
                        <a:ext cx="1725613" cy="787400"/>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24294" name="Object 6"/>
          <p:cNvGraphicFramePr>
            <a:graphicFrameLocks noChangeAspect="1"/>
          </p:cNvGraphicFramePr>
          <p:nvPr/>
        </p:nvGraphicFramePr>
        <p:xfrm>
          <a:off x="3276600" y="1981200"/>
          <a:ext cx="381000" cy="304800"/>
        </p:xfrm>
        <a:graphic>
          <a:graphicData uri="http://schemas.openxmlformats.org/presentationml/2006/ole">
            <mc:AlternateContent xmlns:mc="http://schemas.openxmlformats.org/markup-compatibility/2006">
              <mc:Choice xmlns:v="urn:schemas-microsoft-com:vml" Requires="v">
                <p:oleObj name="公式" r:id="rId7" imgW="190440" imgH="152280" progId="Equation.3">
                  <p:embed/>
                </p:oleObj>
              </mc:Choice>
              <mc:Fallback>
                <p:oleObj name="公式" r:id="rId7" imgW="190440" imgH="15228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1981200"/>
                        <a:ext cx="3810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4295" name="Object 7"/>
          <p:cNvGraphicFramePr>
            <a:graphicFrameLocks noChangeAspect="1"/>
          </p:cNvGraphicFramePr>
          <p:nvPr/>
        </p:nvGraphicFramePr>
        <p:xfrm>
          <a:off x="914400" y="2743200"/>
          <a:ext cx="1725613" cy="787400"/>
        </p:xfrm>
        <a:graphic>
          <a:graphicData uri="http://schemas.openxmlformats.org/presentationml/2006/ole">
            <mc:AlternateContent xmlns:mc="http://schemas.openxmlformats.org/markup-compatibility/2006">
              <mc:Choice xmlns:v="urn:schemas-microsoft-com:vml" Requires="v">
                <p:oleObj name="公式" r:id="rId9" imgW="863280" imgH="393480" progId="Equation.3">
                  <p:embed/>
                </p:oleObj>
              </mc:Choice>
              <mc:Fallback>
                <p:oleObj name="公式" r:id="rId9" imgW="863280" imgH="393480"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2743200"/>
                        <a:ext cx="1725613" cy="787400"/>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24296" name="Object 8"/>
          <p:cNvGraphicFramePr>
            <a:graphicFrameLocks noChangeAspect="1"/>
          </p:cNvGraphicFramePr>
          <p:nvPr/>
        </p:nvGraphicFramePr>
        <p:xfrm>
          <a:off x="4114800" y="2971800"/>
          <a:ext cx="1854200" cy="406400"/>
        </p:xfrm>
        <a:graphic>
          <a:graphicData uri="http://schemas.openxmlformats.org/presentationml/2006/ole">
            <mc:AlternateContent xmlns:mc="http://schemas.openxmlformats.org/markup-compatibility/2006">
              <mc:Choice xmlns:v="urn:schemas-microsoft-com:vml" Requires="v">
                <p:oleObj name="公式" r:id="rId11" imgW="927000" imgH="203040" progId="Equation.3">
                  <p:embed/>
                </p:oleObj>
              </mc:Choice>
              <mc:Fallback>
                <p:oleObj name="公式" r:id="rId11" imgW="927000" imgH="203040" progId="Equation.3">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14800" y="2971800"/>
                        <a:ext cx="1854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4297" name="Object 9"/>
          <p:cNvGraphicFramePr>
            <a:graphicFrameLocks noChangeAspect="1"/>
          </p:cNvGraphicFramePr>
          <p:nvPr/>
        </p:nvGraphicFramePr>
        <p:xfrm>
          <a:off x="838200" y="3962400"/>
          <a:ext cx="2868613" cy="787400"/>
        </p:xfrm>
        <a:graphic>
          <a:graphicData uri="http://schemas.openxmlformats.org/presentationml/2006/ole">
            <mc:AlternateContent xmlns:mc="http://schemas.openxmlformats.org/markup-compatibility/2006">
              <mc:Choice xmlns:v="urn:schemas-microsoft-com:vml" Requires="v">
                <p:oleObj name="公式" r:id="rId13" imgW="1434960" imgH="393480" progId="Equation.3">
                  <p:embed/>
                </p:oleObj>
              </mc:Choice>
              <mc:Fallback>
                <p:oleObj name="公式" r:id="rId13" imgW="1434960" imgH="393480" progId="Equation.3">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8200" y="3962400"/>
                        <a:ext cx="28686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4298" name="Object 10"/>
          <p:cNvGraphicFramePr>
            <a:graphicFrameLocks noChangeAspect="1"/>
          </p:cNvGraphicFramePr>
          <p:nvPr/>
        </p:nvGraphicFramePr>
        <p:xfrm>
          <a:off x="1752600" y="5486400"/>
          <a:ext cx="381000" cy="304800"/>
        </p:xfrm>
        <a:graphic>
          <a:graphicData uri="http://schemas.openxmlformats.org/presentationml/2006/ole">
            <mc:AlternateContent xmlns:mc="http://schemas.openxmlformats.org/markup-compatibility/2006">
              <mc:Choice xmlns:v="urn:schemas-microsoft-com:vml" Requires="v">
                <p:oleObj name="公式" r:id="rId15" imgW="190440" imgH="152280" progId="Equation.3">
                  <p:embed/>
                </p:oleObj>
              </mc:Choice>
              <mc:Fallback>
                <p:oleObj name="公式" r:id="rId15" imgW="190440" imgH="15228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5486400"/>
                        <a:ext cx="3810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4299" name="Object 11"/>
          <p:cNvGraphicFramePr>
            <a:graphicFrameLocks noChangeAspect="1"/>
          </p:cNvGraphicFramePr>
          <p:nvPr/>
        </p:nvGraphicFramePr>
        <p:xfrm>
          <a:off x="2819400" y="5257800"/>
          <a:ext cx="1624013" cy="787400"/>
        </p:xfrm>
        <a:graphic>
          <a:graphicData uri="http://schemas.openxmlformats.org/presentationml/2006/ole">
            <mc:AlternateContent xmlns:mc="http://schemas.openxmlformats.org/markup-compatibility/2006">
              <mc:Choice xmlns:v="urn:schemas-microsoft-com:vml" Requires="v">
                <p:oleObj name="公式" r:id="rId16" imgW="812520" imgH="393480" progId="Equation.3">
                  <p:embed/>
                </p:oleObj>
              </mc:Choice>
              <mc:Fallback>
                <p:oleObj name="公式" r:id="rId16" imgW="812520" imgH="393480" progId="Equation.3">
                  <p:embed/>
                  <p:pic>
                    <p:nvPicPr>
                      <p:cNvPr id="0" name="Picture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19400" y="5257800"/>
                        <a:ext cx="1624013" cy="787400"/>
                      </a:xfrm>
                      <a:prstGeom prst="rect">
                        <a:avLst/>
                      </a:prstGeom>
                      <a:noFill/>
                      <a:ln>
                        <a:noFill/>
                      </a:ln>
                      <a:effectLst/>
                      <a:extLst>
                        <a:ext uri="{909E8E84-426E-40DD-AFC4-6F175D3DCCD1}">
                          <a14:hiddenFill xmlns:a14="http://schemas.microsoft.com/office/drawing/2010/main">
                            <a:gradFill rotWithShape="0">
                              <a:gsLst>
                                <a:gs pos="0">
                                  <a:srgbClr val="000082"/>
                                </a:gs>
                                <a:gs pos="30000">
                                  <a:srgbClr val="66008F"/>
                                </a:gs>
                                <a:gs pos="64999">
                                  <a:srgbClr val="BA0066"/>
                                </a:gs>
                                <a:gs pos="89999">
                                  <a:srgbClr val="FF0000"/>
                                </a:gs>
                                <a:gs pos="100000">
                                  <a:srgbClr val="FF8200"/>
                                </a:gs>
                              </a:gsLst>
                              <a:lin ang="5400000" scaled="1"/>
                            </a:gradFill>
                          </a14:hiddenFill>
                        </a:ext>
                        <a:ext uri="{91240B29-F687-4F45-9708-019B960494DF}">
                          <a14:hiddenLine xmlns:a14="http://schemas.microsoft.com/office/drawing/2010/main" w="76200" cmpd="tri">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4293"/>
                                        </p:tgtEl>
                                        <p:attrNameLst>
                                          <p:attrName>style.visibility</p:attrName>
                                        </p:attrNameLst>
                                      </p:cBhvr>
                                      <p:to>
                                        <p:strVal val="visible"/>
                                      </p:to>
                                    </p:set>
                                    <p:animEffect transition="in" filter="wipe(left)">
                                      <p:cBhvr>
                                        <p:cTn id="7" dur="500"/>
                                        <p:tgtEl>
                                          <p:spTgt spid="5242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4294"/>
                                        </p:tgtEl>
                                        <p:attrNameLst>
                                          <p:attrName>style.visibility</p:attrName>
                                        </p:attrNameLst>
                                      </p:cBhvr>
                                      <p:to>
                                        <p:strVal val="visible"/>
                                      </p:to>
                                    </p:set>
                                    <p:animEffect transition="in" filter="wipe(left)">
                                      <p:cBhvr>
                                        <p:cTn id="12" dur="500"/>
                                        <p:tgtEl>
                                          <p:spTgt spid="524294"/>
                                        </p:tgtEl>
                                      </p:cBhvr>
                                    </p:animEffect>
                                  </p:childTnLst>
                                </p:cTn>
                              </p:par>
                              <p:par>
                                <p:cTn id="13" presetID="22" presetClass="entr" presetSubtype="8" fill="hold" nodeType="withEffect">
                                  <p:stCondLst>
                                    <p:cond delay="0"/>
                                  </p:stCondLst>
                                  <p:childTnLst>
                                    <p:set>
                                      <p:cBhvr>
                                        <p:cTn id="14" dur="1" fill="hold">
                                          <p:stCondLst>
                                            <p:cond delay="0"/>
                                          </p:stCondLst>
                                        </p:cTn>
                                        <p:tgtEl>
                                          <p:spTgt spid="524292"/>
                                        </p:tgtEl>
                                        <p:attrNameLst>
                                          <p:attrName>style.visibility</p:attrName>
                                        </p:attrNameLst>
                                      </p:cBhvr>
                                      <p:to>
                                        <p:strVal val="visible"/>
                                      </p:to>
                                    </p:set>
                                    <p:animEffect transition="in" filter="wipe(left)">
                                      <p:cBhvr>
                                        <p:cTn id="15" dur="500"/>
                                        <p:tgtEl>
                                          <p:spTgt spid="524292"/>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nodeType="clickEffect">
                                  <p:stCondLst>
                                    <p:cond delay="0"/>
                                  </p:stCondLst>
                                  <p:childTnLst>
                                    <p:set>
                                      <p:cBhvr>
                                        <p:cTn id="19" dur="1" fill="hold">
                                          <p:stCondLst>
                                            <p:cond delay="0"/>
                                          </p:stCondLst>
                                        </p:cTn>
                                        <p:tgtEl>
                                          <p:spTgt spid="524295"/>
                                        </p:tgtEl>
                                        <p:attrNameLst>
                                          <p:attrName>style.visibility</p:attrName>
                                        </p:attrNameLst>
                                      </p:cBhvr>
                                      <p:to>
                                        <p:strVal val="visible"/>
                                      </p:to>
                                    </p:set>
                                    <p:animEffect transition="in" filter="box(out)">
                                      <p:cBhvr>
                                        <p:cTn id="20" dur="500"/>
                                        <p:tgtEl>
                                          <p:spTgt spid="524295"/>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24296"/>
                                        </p:tgtEl>
                                        <p:attrNameLst>
                                          <p:attrName>style.visibility</p:attrName>
                                        </p:attrNameLst>
                                      </p:cBhvr>
                                      <p:to>
                                        <p:strVal val="visible"/>
                                      </p:to>
                                    </p:set>
                                    <p:animEffect transition="in" filter="wipe(left)">
                                      <p:cBhvr>
                                        <p:cTn id="25" dur="500"/>
                                        <p:tgtEl>
                                          <p:spTgt spid="52429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24297"/>
                                        </p:tgtEl>
                                        <p:attrNameLst>
                                          <p:attrName>style.visibility</p:attrName>
                                        </p:attrNameLst>
                                      </p:cBhvr>
                                      <p:to>
                                        <p:strVal val="visible"/>
                                      </p:to>
                                    </p:set>
                                    <p:animEffect transition="in" filter="wipe(left)">
                                      <p:cBhvr>
                                        <p:cTn id="30" dur="500"/>
                                        <p:tgtEl>
                                          <p:spTgt spid="52429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24298"/>
                                        </p:tgtEl>
                                        <p:attrNameLst>
                                          <p:attrName>style.visibility</p:attrName>
                                        </p:attrNameLst>
                                      </p:cBhvr>
                                      <p:to>
                                        <p:strVal val="visible"/>
                                      </p:to>
                                    </p:set>
                                    <p:animEffect transition="in" filter="wipe(left)">
                                      <p:cBhvr>
                                        <p:cTn id="35" dur="500"/>
                                        <p:tgtEl>
                                          <p:spTgt spid="524298"/>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524299"/>
                                        </p:tgtEl>
                                        <p:attrNameLst>
                                          <p:attrName>style.visibility</p:attrName>
                                        </p:attrNameLst>
                                      </p:cBhvr>
                                      <p:to>
                                        <p:strVal val="visible"/>
                                      </p:to>
                                    </p:set>
                                    <p:animEffect transition="in" filter="box(out)">
                                      <p:cBhvr>
                                        <p:cTn id="40" dur="500"/>
                                        <p:tgtEl>
                                          <p:spTgt spid="524299"/>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12" name="灯片编号占位符 4"/>
          <p:cNvSpPr>
            <a:spLocks noGrp="1"/>
          </p:cNvSpPr>
          <p:nvPr>
            <p:ph type="sldNum" sz="quarter" idx="12"/>
          </p:nvPr>
        </p:nvSpPr>
        <p:spPr/>
        <p:txBody>
          <a:bodyPr/>
          <a:lstStyle/>
          <a:p>
            <a:fld id="{B93DE832-8A29-4EDE-9265-0BD8982AB7B2}" type="slidenum">
              <a:rPr lang="en-US" altLang="zh-CN"/>
              <a:pPr/>
              <a:t>21</a:t>
            </a:fld>
            <a:endParaRPr lang="en-US" altLang="zh-CN"/>
          </a:p>
        </p:txBody>
      </p:sp>
      <p:sp>
        <p:nvSpPr>
          <p:cNvPr id="525317" name="Text Box 5"/>
          <p:cNvSpPr txBox="1">
            <a:spLocks noChangeArrowheads="1"/>
          </p:cNvSpPr>
          <p:nvPr/>
        </p:nvSpPr>
        <p:spPr bwMode="auto">
          <a:xfrm>
            <a:off x="457200" y="1219200"/>
            <a:ext cx="8016875" cy="1698625"/>
          </a:xfrm>
          <a:prstGeom prst="rect">
            <a:avLst/>
          </a:prstGeom>
          <a:noFill/>
          <a:ln w="9525">
            <a:noFill/>
            <a:miter lim="800000"/>
            <a:headEnd/>
            <a:tailEnd/>
          </a:ln>
          <a:effectLst/>
        </p:spPr>
        <p:txBody>
          <a:bodyPr>
            <a:spAutoFit/>
          </a:bodyPr>
          <a:lstStyle/>
          <a:p>
            <a:pPr>
              <a:lnSpc>
                <a:spcPct val="110000"/>
              </a:lnSpc>
            </a:pPr>
            <a:r>
              <a:rPr lang="zh-CN" altLang="en-US" sz="2400"/>
              <a:t>例</a:t>
            </a:r>
            <a:r>
              <a:rPr lang="en-US" altLang="zh-CN" sz="2400"/>
              <a:t>10.1  </a:t>
            </a:r>
            <a:r>
              <a:rPr lang="zh-CN" altLang="en-US" sz="2400"/>
              <a:t>一容器中装氧气，温度为</a:t>
            </a:r>
            <a:r>
              <a:rPr lang="en-US" altLang="zh-CN" sz="2400"/>
              <a:t>27</a:t>
            </a:r>
            <a:r>
              <a:rPr lang="en-US" altLang="zh-CN" sz="2400">
                <a:cs typeface="Times New Roman" pitchFamily="18" charset="0"/>
              </a:rPr>
              <a:t>ºC</a:t>
            </a:r>
            <a:r>
              <a:rPr lang="zh-CN" altLang="en-US" sz="2400"/>
              <a:t>，压强为</a:t>
            </a:r>
            <a:r>
              <a:rPr lang="en-US" altLang="zh-CN" sz="2400"/>
              <a:t>1.5atm</a:t>
            </a:r>
            <a:r>
              <a:rPr lang="zh-CN" altLang="en-US" sz="2400"/>
              <a:t>。求：</a:t>
            </a:r>
          </a:p>
          <a:p>
            <a:pPr>
              <a:lnSpc>
                <a:spcPct val="110000"/>
              </a:lnSpc>
            </a:pPr>
            <a:r>
              <a:rPr lang="zh-CN" altLang="en-US" sz="2400"/>
              <a:t>（</a:t>
            </a:r>
            <a:r>
              <a:rPr lang="en-US" altLang="zh-CN" sz="2400"/>
              <a:t>1</a:t>
            </a:r>
            <a:r>
              <a:rPr lang="zh-CN" altLang="en-US" sz="2400"/>
              <a:t>）单位体积内的氧分子数；</a:t>
            </a:r>
          </a:p>
          <a:p>
            <a:pPr>
              <a:lnSpc>
                <a:spcPct val="110000"/>
              </a:lnSpc>
            </a:pPr>
            <a:r>
              <a:rPr lang="zh-CN" altLang="en-US" sz="2400"/>
              <a:t>（</a:t>
            </a:r>
            <a:r>
              <a:rPr lang="en-US" altLang="zh-CN" sz="2400"/>
              <a:t>2</a:t>
            </a:r>
            <a:r>
              <a:rPr lang="zh-CN" altLang="en-US" sz="2400"/>
              <a:t>）分子的平均平动动能；</a:t>
            </a:r>
          </a:p>
          <a:p>
            <a:pPr>
              <a:lnSpc>
                <a:spcPct val="110000"/>
              </a:lnSpc>
            </a:pPr>
            <a:r>
              <a:rPr lang="zh-CN" altLang="en-US" sz="2400"/>
              <a:t>（</a:t>
            </a:r>
            <a:r>
              <a:rPr lang="en-US" altLang="zh-CN" sz="2400"/>
              <a:t>3</a:t>
            </a:r>
            <a:r>
              <a:rPr lang="zh-CN" altLang="en-US" sz="2400"/>
              <a:t>）分子的方均根速率。</a:t>
            </a:r>
          </a:p>
        </p:txBody>
      </p:sp>
      <p:graphicFrame>
        <p:nvGraphicFramePr>
          <p:cNvPr id="525320" name="Object 8"/>
          <p:cNvGraphicFramePr>
            <a:graphicFrameLocks noChangeAspect="1"/>
          </p:cNvGraphicFramePr>
          <p:nvPr/>
        </p:nvGraphicFramePr>
        <p:xfrm>
          <a:off x="1905000" y="2971800"/>
          <a:ext cx="4951413" cy="787400"/>
        </p:xfrm>
        <a:graphic>
          <a:graphicData uri="http://schemas.openxmlformats.org/presentationml/2006/ole">
            <mc:AlternateContent xmlns:mc="http://schemas.openxmlformats.org/markup-compatibility/2006">
              <mc:Choice xmlns:v="urn:schemas-microsoft-com:vml" Requires="v">
                <p:oleObj name="公式" r:id="rId2" imgW="2476440" imgH="393480" progId="Equation.3">
                  <p:embed/>
                </p:oleObj>
              </mc:Choice>
              <mc:Fallback>
                <p:oleObj name="公式" r:id="rId2" imgW="2476440" imgH="393480" progId="Equation.3">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971800"/>
                        <a:ext cx="49514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5319" name="Object 7"/>
          <p:cNvGraphicFramePr>
            <a:graphicFrameLocks noChangeAspect="1"/>
          </p:cNvGraphicFramePr>
          <p:nvPr/>
        </p:nvGraphicFramePr>
        <p:xfrm>
          <a:off x="1905000" y="4191000"/>
          <a:ext cx="3325813" cy="787400"/>
        </p:xfrm>
        <a:graphic>
          <a:graphicData uri="http://schemas.openxmlformats.org/presentationml/2006/ole">
            <mc:AlternateContent xmlns:mc="http://schemas.openxmlformats.org/markup-compatibility/2006">
              <mc:Choice xmlns:v="urn:schemas-microsoft-com:vml" Requires="v">
                <p:oleObj r:id="rId4" imgW="1663700" imgH="393700" progId="">
                  <p:embed/>
                </p:oleObj>
              </mc:Choice>
              <mc:Fallback>
                <p:oleObj r:id="rId4" imgW="1663700" imgH="39370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191000"/>
                        <a:ext cx="33258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5318" name="Object 6"/>
          <p:cNvGraphicFramePr>
            <a:graphicFrameLocks noChangeAspect="1"/>
          </p:cNvGraphicFramePr>
          <p:nvPr/>
        </p:nvGraphicFramePr>
        <p:xfrm>
          <a:off x="1828800" y="5486400"/>
          <a:ext cx="4062413" cy="889000"/>
        </p:xfrm>
        <a:graphic>
          <a:graphicData uri="http://schemas.openxmlformats.org/presentationml/2006/ole">
            <mc:AlternateContent xmlns:mc="http://schemas.openxmlformats.org/markup-compatibility/2006">
              <mc:Choice xmlns:v="urn:schemas-microsoft-com:vml" Requires="v">
                <p:oleObj name="公式" r:id="rId6" imgW="2031840" imgH="444240" progId="Equation.3">
                  <p:embed/>
                </p:oleObj>
              </mc:Choice>
              <mc:Fallback>
                <p:oleObj name="公式" r:id="rId6" imgW="2031840" imgH="44424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5486400"/>
                        <a:ext cx="4062413"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5321" name="Rectangle 9"/>
          <p:cNvSpPr>
            <a:spLocks noChangeArrowheads="1"/>
          </p:cNvSpPr>
          <p:nvPr/>
        </p:nvSpPr>
        <p:spPr bwMode="auto">
          <a:xfrm>
            <a:off x="304800" y="3048000"/>
            <a:ext cx="1555750" cy="457200"/>
          </a:xfrm>
          <a:prstGeom prst="rect">
            <a:avLst/>
          </a:prstGeom>
          <a:noFill/>
          <a:ln w="9525">
            <a:noFill/>
            <a:miter lim="800000"/>
            <a:headEnd/>
            <a:tailEnd/>
          </a:ln>
          <a:effectLst/>
        </p:spPr>
        <p:txBody>
          <a:bodyPr wrap="none" anchor="ctr">
            <a:spAutoFit/>
          </a:bodyPr>
          <a:lstStyle/>
          <a:p>
            <a:r>
              <a:rPr lang="zh-CN" altLang="en-US" sz="2400"/>
              <a:t>解：（</a:t>
            </a:r>
            <a:r>
              <a:rPr lang="en-US" altLang="zh-CN" sz="2400"/>
              <a:t>1</a:t>
            </a:r>
            <a:r>
              <a:rPr lang="zh-CN" altLang="en-US" sz="2400"/>
              <a:t>）</a:t>
            </a:r>
            <a:endParaRPr lang="zh-CN" altLang="en-US" sz="2400">
              <a:latin typeface="Arial" charset="0"/>
            </a:endParaRPr>
          </a:p>
        </p:txBody>
      </p:sp>
      <p:sp>
        <p:nvSpPr>
          <p:cNvPr id="525322" name="Rectangle 10"/>
          <p:cNvSpPr>
            <a:spLocks noChangeArrowheads="1"/>
          </p:cNvSpPr>
          <p:nvPr/>
        </p:nvSpPr>
        <p:spPr bwMode="auto">
          <a:xfrm>
            <a:off x="911225" y="4191000"/>
            <a:ext cx="1222375" cy="457200"/>
          </a:xfrm>
          <a:prstGeom prst="rect">
            <a:avLst/>
          </a:prstGeom>
          <a:noFill/>
          <a:ln w="9525">
            <a:noFill/>
            <a:miter lim="800000"/>
            <a:headEnd/>
            <a:tailEnd/>
          </a:ln>
          <a:effectLst/>
        </p:spPr>
        <p:txBody>
          <a:bodyPr wrap="none" anchor="ctr">
            <a:spAutoFit/>
          </a:bodyPr>
          <a:lstStyle/>
          <a:p>
            <a:r>
              <a:rPr lang="zh-CN" altLang="en-US" sz="2400" dirty="0"/>
              <a:t>（</a:t>
            </a:r>
            <a:r>
              <a:rPr lang="en-US" altLang="zh-CN" sz="2400" dirty="0"/>
              <a:t>2</a:t>
            </a:r>
            <a:r>
              <a:rPr lang="zh-CN" altLang="en-US" sz="2400" dirty="0"/>
              <a:t>）</a:t>
            </a:r>
            <a:endParaRPr lang="zh-CN" altLang="en-US" sz="2400" dirty="0">
              <a:latin typeface="Arial" charset="0"/>
            </a:endParaRPr>
          </a:p>
        </p:txBody>
      </p:sp>
      <p:sp>
        <p:nvSpPr>
          <p:cNvPr id="525323" name="Rectangle 11"/>
          <p:cNvSpPr>
            <a:spLocks noChangeArrowheads="1"/>
          </p:cNvSpPr>
          <p:nvPr/>
        </p:nvSpPr>
        <p:spPr bwMode="auto">
          <a:xfrm>
            <a:off x="911225" y="5486400"/>
            <a:ext cx="1222375" cy="457200"/>
          </a:xfrm>
          <a:prstGeom prst="rect">
            <a:avLst/>
          </a:prstGeom>
          <a:noFill/>
          <a:ln w="9525">
            <a:noFill/>
            <a:miter lim="800000"/>
            <a:headEnd/>
            <a:tailEnd/>
          </a:ln>
          <a:effectLst/>
        </p:spPr>
        <p:txBody>
          <a:bodyPr wrap="none" anchor="ctr">
            <a:spAutoFit/>
          </a:bodyPr>
          <a:lstStyle/>
          <a:p>
            <a:r>
              <a:rPr lang="zh-CN" altLang="en-US" sz="2400"/>
              <a:t>（</a:t>
            </a:r>
            <a:r>
              <a:rPr lang="en-US" altLang="zh-CN" sz="2400"/>
              <a:t>3</a:t>
            </a:r>
            <a:r>
              <a:rPr lang="zh-CN" altLang="en-US" sz="2400"/>
              <a:t>）</a:t>
            </a:r>
            <a:endParaRPr lang="zh-CN" altLang="en-US" sz="240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5320"/>
                                        </p:tgtEl>
                                        <p:attrNameLst>
                                          <p:attrName>style.visibility</p:attrName>
                                        </p:attrNameLst>
                                      </p:cBhvr>
                                      <p:to>
                                        <p:strVal val="visible"/>
                                      </p:to>
                                    </p:set>
                                    <p:animEffect transition="in" filter="wipe(left)">
                                      <p:cBhvr>
                                        <p:cTn id="7" dur="500"/>
                                        <p:tgtEl>
                                          <p:spTgt spid="525320"/>
                                        </p:tgtEl>
                                      </p:cBhvr>
                                    </p:animEffect>
                                  </p:childTnLst>
                                </p:cTn>
                              </p:par>
                              <p:par>
                                <p:cTn id="8" presetID="22" presetClass="entr" presetSubtype="8" fill="hold" nodeType="withEffect">
                                  <p:stCondLst>
                                    <p:cond delay="0"/>
                                  </p:stCondLst>
                                  <p:childTnLst>
                                    <p:set>
                                      <p:cBhvr>
                                        <p:cTn id="9" dur="1" fill="hold">
                                          <p:stCondLst>
                                            <p:cond delay="0"/>
                                          </p:stCondLst>
                                        </p:cTn>
                                        <p:tgtEl>
                                          <p:spTgt spid="525319"/>
                                        </p:tgtEl>
                                        <p:attrNameLst>
                                          <p:attrName>style.visibility</p:attrName>
                                        </p:attrNameLst>
                                      </p:cBhvr>
                                      <p:to>
                                        <p:strVal val="visible"/>
                                      </p:to>
                                    </p:set>
                                    <p:animEffect transition="in" filter="wipe(left)">
                                      <p:cBhvr>
                                        <p:cTn id="10" dur="500"/>
                                        <p:tgtEl>
                                          <p:spTgt spid="525319"/>
                                        </p:tgtEl>
                                      </p:cBhvr>
                                    </p:animEffect>
                                  </p:childTnLst>
                                </p:cTn>
                              </p:par>
                              <p:par>
                                <p:cTn id="11" presetID="22" presetClass="entr" presetSubtype="8" fill="hold" nodeType="withEffect">
                                  <p:stCondLst>
                                    <p:cond delay="0"/>
                                  </p:stCondLst>
                                  <p:childTnLst>
                                    <p:set>
                                      <p:cBhvr>
                                        <p:cTn id="12" dur="1" fill="hold">
                                          <p:stCondLst>
                                            <p:cond delay="0"/>
                                          </p:stCondLst>
                                        </p:cTn>
                                        <p:tgtEl>
                                          <p:spTgt spid="525318"/>
                                        </p:tgtEl>
                                        <p:attrNameLst>
                                          <p:attrName>style.visibility</p:attrName>
                                        </p:attrNameLst>
                                      </p:cBhvr>
                                      <p:to>
                                        <p:strVal val="visible"/>
                                      </p:to>
                                    </p:set>
                                    <p:animEffect transition="in" filter="wipe(left)">
                                      <p:cBhvr>
                                        <p:cTn id="13" dur="500"/>
                                        <p:tgtEl>
                                          <p:spTgt spid="52531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25321"/>
                                        </p:tgtEl>
                                        <p:attrNameLst>
                                          <p:attrName>style.visibility</p:attrName>
                                        </p:attrNameLst>
                                      </p:cBhvr>
                                      <p:to>
                                        <p:strVal val="visible"/>
                                      </p:to>
                                    </p:set>
                                    <p:animEffect transition="in" filter="wipe(left)">
                                      <p:cBhvr>
                                        <p:cTn id="16" dur="500"/>
                                        <p:tgtEl>
                                          <p:spTgt spid="52532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25322"/>
                                        </p:tgtEl>
                                        <p:attrNameLst>
                                          <p:attrName>style.visibility</p:attrName>
                                        </p:attrNameLst>
                                      </p:cBhvr>
                                      <p:to>
                                        <p:strVal val="visible"/>
                                      </p:to>
                                    </p:set>
                                    <p:animEffect transition="in" filter="wipe(left)">
                                      <p:cBhvr>
                                        <p:cTn id="19" dur="500"/>
                                        <p:tgtEl>
                                          <p:spTgt spid="52532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25323"/>
                                        </p:tgtEl>
                                        <p:attrNameLst>
                                          <p:attrName>style.visibility</p:attrName>
                                        </p:attrNameLst>
                                      </p:cBhvr>
                                      <p:to>
                                        <p:strVal val="visible"/>
                                      </p:to>
                                    </p:set>
                                    <p:animEffect transition="in" filter="wipe(left)">
                                      <p:cBhvr>
                                        <p:cTn id="22" dur="500"/>
                                        <p:tgtEl>
                                          <p:spTgt spid="525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21" grpId="0"/>
      <p:bldP spid="525322" grpId="0"/>
      <p:bldP spid="5253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r>
              <a:rPr lang="en-US" altLang="zh-CN" sz="3600"/>
              <a:t>10.2 </a:t>
            </a:r>
            <a:r>
              <a:rPr lang="zh-CN" altLang="en-US" sz="3600"/>
              <a:t>理想气体的压强与温度的微观解释</a:t>
            </a:r>
          </a:p>
        </p:txBody>
      </p:sp>
      <p:sp>
        <p:nvSpPr>
          <p:cNvPr id="15" name="灯片编号占位符 4"/>
          <p:cNvSpPr>
            <a:spLocks noGrp="1"/>
          </p:cNvSpPr>
          <p:nvPr>
            <p:ph type="sldNum" sz="quarter" idx="12"/>
          </p:nvPr>
        </p:nvSpPr>
        <p:spPr/>
        <p:txBody>
          <a:bodyPr/>
          <a:lstStyle/>
          <a:p>
            <a:fld id="{D4727AD5-7671-4FC8-91EE-D769C929A88D}" type="slidenum">
              <a:rPr lang="en-US" altLang="zh-CN"/>
              <a:pPr/>
              <a:t>22</a:t>
            </a:fld>
            <a:endParaRPr lang="en-US" altLang="zh-CN"/>
          </a:p>
        </p:txBody>
      </p:sp>
      <p:sp>
        <p:nvSpPr>
          <p:cNvPr id="526339" name="Text Box 3"/>
          <p:cNvSpPr txBox="1">
            <a:spLocks noChangeArrowheads="1"/>
          </p:cNvSpPr>
          <p:nvPr/>
        </p:nvSpPr>
        <p:spPr bwMode="auto">
          <a:xfrm>
            <a:off x="381000" y="1136650"/>
            <a:ext cx="8507413" cy="1073150"/>
          </a:xfrm>
          <a:prstGeom prst="rect">
            <a:avLst/>
          </a:prstGeom>
          <a:noFill/>
          <a:ln w="12700" cap="sq">
            <a:noFill/>
            <a:miter lim="800000"/>
            <a:headEnd type="none" w="sm" len="sm"/>
            <a:tailEnd type="none" w="sm" len="sm"/>
          </a:ln>
          <a:effectLst/>
        </p:spPr>
        <p:txBody>
          <a:bodyPr>
            <a:spAutoFit/>
          </a:bodyPr>
          <a:lstStyle/>
          <a:p>
            <a:pPr>
              <a:lnSpc>
                <a:spcPct val="115000"/>
              </a:lnSpc>
              <a:spcBef>
                <a:spcPct val="50000"/>
              </a:spcBef>
            </a:pPr>
            <a:r>
              <a:rPr kumimoji="1" lang="zh-CN" altLang="en-US" sz="2800" dirty="0"/>
              <a:t>例</a:t>
            </a:r>
            <a:r>
              <a:rPr kumimoji="1" lang="en-US" altLang="zh-CN" sz="2800" dirty="0"/>
              <a:t>10.2   </a:t>
            </a:r>
            <a:r>
              <a:rPr kumimoji="1" lang="zh-CN" altLang="en-US" sz="2800" dirty="0"/>
              <a:t>试求氮气分子的平均平动动能和方均根速率。设：（</a:t>
            </a:r>
            <a:r>
              <a:rPr kumimoji="1" lang="en-US" altLang="zh-CN" sz="2800" dirty="0"/>
              <a:t>1</a:t>
            </a:r>
            <a:r>
              <a:rPr kumimoji="1" lang="zh-CN" altLang="en-US" sz="2800" dirty="0"/>
              <a:t>）在温度</a:t>
            </a:r>
            <a:r>
              <a:rPr kumimoji="1" lang="en-US" altLang="zh-CN" sz="2800" i="1" dirty="0"/>
              <a:t>t</a:t>
            </a:r>
            <a:r>
              <a:rPr kumimoji="1" lang="en-US" altLang="zh-CN" sz="2800" dirty="0"/>
              <a:t> = 1000 ℃</a:t>
            </a:r>
            <a:r>
              <a:rPr kumimoji="1" lang="zh-CN" altLang="en-US" sz="2800" dirty="0"/>
              <a:t>时；（</a:t>
            </a:r>
            <a:r>
              <a:rPr kumimoji="1" lang="en-US" altLang="zh-CN" sz="2800" dirty="0"/>
              <a:t>2</a:t>
            </a:r>
            <a:r>
              <a:rPr kumimoji="1" lang="zh-CN" altLang="en-US" sz="2800" dirty="0"/>
              <a:t>）</a:t>
            </a:r>
            <a:r>
              <a:rPr kumimoji="1" lang="en-US" altLang="zh-CN" sz="2800" i="1" dirty="0"/>
              <a:t>t</a:t>
            </a:r>
            <a:r>
              <a:rPr kumimoji="1" lang="en-US" altLang="zh-CN" sz="2800" dirty="0"/>
              <a:t> = 0 ℃</a:t>
            </a:r>
            <a:r>
              <a:rPr kumimoji="1" lang="zh-CN" altLang="en-US" sz="2800" dirty="0"/>
              <a:t>时。</a:t>
            </a:r>
          </a:p>
        </p:txBody>
      </p:sp>
      <p:sp>
        <p:nvSpPr>
          <p:cNvPr id="526340" name="Rectangle 4"/>
          <p:cNvSpPr>
            <a:spLocks noChangeArrowheads="1"/>
          </p:cNvSpPr>
          <p:nvPr/>
        </p:nvSpPr>
        <p:spPr bwMode="auto">
          <a:xfrm>
            <a:off x="323850" y="2224087"/>
            <a:ext cx="1143000" cy="519113"/>
          </a:xfrm>
          <a:prstGeom prst="rect">
            <a:avLst/>
          </a:prstGeom>
          <a:noFill/>
          <a:ln w="12700" cap="sq">
            <a:noFill/>
            <a:miter lim="800000"/>
            <a:headEnd type="none" w="sm" len="sm"/>
            <a:tailEnd type="none" w="sm" len="sm"/>
          </a:ln>
          <a:effectLst/>
        </p:spPr>
        <p:txBody>
          <a:bodyPr>
            <a:spAutoFit/>
          </a:bodyPr>
          <a:lstStyle/>
          <a:p>
            <a:r>
              <a:rPr kumimoji="1" lang="zh-CN" altLang="en-US" sz="2800" dirty="0"/>
              <a:t>解：</a:t>
            </a:r>
          </a:p>
        </p:txBody>
      </p:sp>
      <p:graphicFrame>
        <p:nvGraphicFramePr>
          <p:cNvPr id="526341" name="Object 5"/>
          <p:cNvGraphicFramePr>
            <a:graphicFrameLocks noChangeAspect="1"/>
          </p:cNvGraphicFramePr>
          <p:nvPr/>
        </p:nvGraphicFramePr>
        <p:xfrm>
          <a:off x="1295400" y="2182813"/>
          <a:ext cx="1225550" cy="788987"/>
        </p:xfrm>
        <a:graphic>
          <a:graphicData uri="http://schemas.openxmlformats.org/presentationml/2006/ole">
            <mc:AlternateContent xmlns:mc="http://schemas.openxmlformats.org/markup-compatibility/2006">
              <mc:Choice xmlns:v="urn:schemas-microsoft-com:vml" Requires="v">
                <p:oleObj name="公式" r:id="rId2" imgW="609480" imgH="393480" progId="Equation.3">
                  <p:embed/>
                </p:oleObj>
              </mc:Choice>
              <mc:Fallback>
                <p:oleObj name="公式" r:id="rId2" imgW="609480" imgH="393480" progId="Equation.3">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182813"/>
                        <a:ext cx="1225550" cy="788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2" name="Object 6"/>
          <p:cNvGraphicFramePr>
            <a:graphicFrameLocks noChangeAspect="1"/>
          </p:cNvGraphicFramePr>
          <p:nvPr/>
        </p:nvGraphicFramePr>
        <p:xfrm>
          <a:off x="2590800" y="2185988"/>
          <a:ext cx="4908550" cy="785812"/>
        </p:xfrm>
        <a:graphic>
          <a:graphicData uri="http://schemas.openxmlformats.org/presentationml/2006/ole">
            <mc:AlternateContent xmlns:mc="http://schemas.openxmlformats.org/markup-compatibility/2006">
              <mc:Choice xmlns:v="urn:schemas-microsoft-com:vml" Requires="v">
                <p:oleObj name="公式" r:id="rId4" imgW="2450880" imgH="393480" progId="Equation.3">
                  <p:embed/>
                </p:oleObj>
              </mc:Choice>
              <mc:Fallback>
                <p:oleObj name="公式" r:id="rId4" imgW="2450880" imgH="39348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2185988"/>
                        <a:ext cx="4908550"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3" name="Object 7"/>
          <p:cNvGraphicFramePr>
            <a:graphicFrameLocks noChangeAspect="1"/>
          </p:cNvGraphicFramePr>
          <p:nvPr/>
        </p:nvGraphicFramePr>
        <p:xfrm>
          <a:off x="1270000" y="3305175"/>
          <a:ext cx="1800225" cy="884238"/>
        </p:xfrm>
        <a:graphic>
          <a:graphicData uri="http://schemas.openxmlformats.org/presentationml/2006/ole">
            <mc:AlternateContent xmlns:mc="http://schemas.openxmlformats.org/markup-compatibility/2006">
              <mc:Choice xmlns:v="urn:schemas-microsoft-com:vml" Requires="v">
                <p:oleObj name="公式" r:id="rId6" imgW="901440" imgH="444240" progId="Equation.3">
                  <p:embed/>
                </p:oleObj>
              </mc:Choice>
              <mc:Fallback>
                <p:oleObj name="公式" r:id="rId6" imgW="901440" imgH="444240" progId="Equation.3">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000" y="3305175"/>
                        <a:ext cx="1800225" cy="884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4" name="Object 8"/>
          <p:cNvGraphicFramePr>
            <a:graphicFrameLocks noChangeAspect="1"/>
          </p:cNvGraphicFramePr>
          <p:nvPr/>
        </p:nvGraphicFramePr>
        <p:xfrm>
          <a:off x="3048000" y="3305175"/>
          <a:ext cx="4699000" cy="885825"/>
        </p:xfrm>
        <a:graphic>
          <a:graphicData uri="http://schemas.openxmlformats.org/presentationml/2006/ole">
            <mc:AlternateContent xmlns:mc="http://schemas.openxmlformats.org/markup-compatibility/2006">
              <mc:Choice xmlns:v="urn:schemas-microsoft-com:vml" Requires="v">
                <p:oleObj name="公式" r:id="rId8" imgW="2349360" imgH="444240" progId="Equation.3">
                  <p:embed/>
                </p:oleObj>
              </mc:Choice>
              <mc:Fallback>
                <p:oleObj name="公式" r:id="rId8" imgW="2349360" imgH="444240" progId="Equation.3">
                  <p:embed/>
                  <p:pic>
                    <p:nvPicPr>
                      <p:cNvPr id="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0" y="3305175"/>
                        <a:ext cx="4699000"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5" name="Object 9"/>
          <p:cNvGraphicFramePr>
            <a:graphicFrameLocks noChangeAspect="1"/>
          </p:cNvGraphicFramePr>
          <p:nvPr/>
        </p:nvGraphicFramePr>
        <p:xfrm>
          <a:off x="1295400" y="4470400"/>
          <a:ext cx="1298575" cy="787400"/>
        </p:xfrm>
        <a:graphic>
          <a:graphicData uri="http://schemas.openxmlformats.org/presentationml/2006/ole">
            <mc:AlternateContent xmlns:mc="http://schemas.openxmlformats.org/markup-compatibility/2006">
              <mc:Choice xmlns:v="urn:schemas-microsoft-com:vml" Requires="v">
                <p:oleObj name="公式" r:id="rId10" imgW="647640" imgH="393480" progId="Equation.3">
                  <p:embed/>
                </p:oleObj>
              </mc:Choice>
              <mc:Fallback>
                <p:oleObj name="公式" r:id="rId10" imgW="647640" imgH="393480" progId="Equation.3">
                  <p:embed/>
                  <p:pic>
                    <p:nvPicPr>
                      <p:cNvPr id="0"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95400" y="4470400"/>
                        <a:ext cx="129857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6" name="Object 10"/>
          <p:cNvGraphicFramePr>
            <a:graphicFrameLocks noChangeAspect="1"/>
          </p:cNvGraphicFramePr>
          <p:nvPr/>
        </p:nvGraphicFramePr>
        <p:xfrm>
          <a:off x="2670175" y="4470400"/>
          <a:ext cx="4789488" cy="785813"/>
        </p:xfrm>
        <a:graphic>
          <a:graphicData uri="http://schemas.openxmlformats.org/presentationml/2006/ole">
            <mc:AlternateContent xmlns:mc="http://schemas.openxmlformats.org/markup-compatibility/2006">
              <mc:Choice xmlns:v="urn:schemas-microsoft-com:vml" Requires="v">
                <p:oleObj name="公式" r:id="rId12" imgW="2387520" imgH="393480" progId="Equation.3">
                  <p:embed/>
                </p:oleObj>
              </mc:Choice>
              <mc:Fallback>
                <p:oleObj name="公式" r:id="rId12" imgW="2387520" imgH="393480" progId="Equation.3">
                  <p:embed/>
                  <p:pic>
                    <p:nvPicPr>
                      <p:cNvPr id="0"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0175" y="4470400"/>
                        <a:ext cx="4789488"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7" name="Object 11"/>
          <p:cNvGraphicFramePr>
            <a:graphicFrameLocks noChangeAspect="1"/>
          </p:cNvGraphicFramePr>
          <p:nvPr/>
        </p:nvGraphicFramePr>
        <p:xfrm>
          <a:off x="3168650" y="5362575"/>
          <a:ext cx="4451350" cy="885825"/>
        </p:xfrm>
        <a:graphic>
          <a:graphicData uri="http://schemas.openxmlformats.org/presentationml/2006/ole">
            <mc:AlternateContent xmlns:mc="http://schemas.openxmlformats.org/markup-compatibility/2006">
              <mc:Choice xmlns:v="urn:schemas-microsoft-com:vml" Requires="v">
                <p:oleObj name="公式" r:id="rId14" imgW="2222280" imgH="444240" progId="Equation.3">
                  <p:embed/>
                </p:oleObj>
              </mc:Choice>
              <mc:Fallback>
                <p:oleObj name="公式" r:id="rId14" imgW="2222280" imgH="444240" progId="Equation.3">
                  <p:embed/>
                  <p:pic>
                    <p:nvPicPr>
                      <p:cNvPr id="0" name="Picture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68650" y="5362575"/>
                        <a:ext cx="4451350"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8" name="Object 12"/>
          <p:cNvGraphicFramePr>
            <a:graphicFrameLocks noChangeAspect="1"/>
          </p:cNvGraphicFramePr>
          <p:nvPr/>
        </p:nvGraphicFramePr>
        <p:xfrm>
          <a:off x="1295400" y="5362575"/>
          <a:ext cx="1828800" cy="885825"/>
        </p:xfrm>
        <a:graphic>
          <a:graphicData uri="http://schemas.openxmlformats.org/presentationml/2006/ole">
            <mc:AlternateContent xmlns:mc="http://schemas.openxmlformats.org/markup-compatibility/2006">
              <mc:Choice xmlns:v="urn:schemas-microsoft-com:vml" Requires="v">
                <p:oleObj name="公式" r:id="rId16" imgW="914400" imgH="444240" progId="Equation.3">
                  <p:embed/>
                </p:oleObj>
              </mc:Choice>
              <mc:Fallback>
                <p:oleObj name="公式" r:id="rId16" imgW="914400" imgH="444240" progId="Equation.3">
                  <p:embed/>
                  <p:pic>
                    <p:nvPicPr>
                      <p:cNvPr id="0" name="Picture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95400" y="5362575"/>
                        <a:ext cx="1828800"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526340"/>
                                        </p:tgtEl>
                                        <p:attrNameLst>
                                          <p:attrName>style.visibility</p:attrName>
                                        </p:attrNameLst>
                                      </p:cBhvr>
                                      <p:to>
                                        <p:strVal val="visible"/>
                                      </p:to>
                                    </p:set>
                                    <p:anim calcmode="lin" valueType="num">
                                      <p:cBhvr>
                                        <p:cTn id="7" dur="500" fill="hold"/>
                                        <p:tgtEl>
                                          <p:spTgt spid="526340"/>
                                        </p:tgtEl>
                                        <p:attrNameLst>
                                          <p:attrName>ppt_w</p:attrName>
                                        </p:attrNameLst>
                                      </p:cBhvr>
                                      <p:tavLst>
                                        <p:tav tm="0">
                                          <p:val>
                                            <p:strVal val="4/3*#ppt_w"/>
                                          </p:val>
                                        </p:tav>
                                        <p:tav tm="100000">
                                          <p:val>
                                            <p:strVal val="#ppt_w"/>
                                          </p:val>
                                        </p:tav>
                                      </p:tavLst>
                                    </p:anim>
                                    <p:anim calcmode="lin" valueType="num">
                                      <p:cBhvr>
                                        <p:cTn id="8" dur="500" fill="hold"/>
                                        <p:tgtEl>
                                          <p:spTgt spid="526340"/>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26341"/>
                                        </p:tgtEl>
                                        <p:attrNameLst>
                                          <p:attrName>style.visibility</p:attrName>
                                        </p:attrNameLst>
                                      </p:cBhvr>
                                      <p:to>
                                        <p:strVal val="visible"/>
                                      </p:to>
                                    </p:set>
                                    <p:animEffect transition="in" filter="strips(upRight)">
                                      <p:cBhvr>
                                        <p:cTn id="13" dur="500"/>
                                        <p:tgtEl>
                                          <p:spTgt spid="526341"/>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nodeType="clickEffect">
                                  <p:stCondLst>
                                    <p:cond delay="0"/>
                                  </p:stCondLst>
                                  <p:childTnLst>
                                    <p:set>
                                      <p:cBhvr>
                                        <p:cTn id="17" dur="1" fill="hold">
                                          <p:stCondLst>
                                            <p:cond delay="0"/>
                                          </p:stCondLst>
                                        </p:cTn>
                                        <p:tgtEl>
                                          <p:spTgt spid="526342"/>
                                        </p:tgtEl>
                                        <p:attrNameLst>
                                          <p:attrName>style.visibility</p:attrName>
                                        </p:attrNameLst>
                                      </p:cBhvr>
                                      <p:to>
                                        <p:strVal val="visible"/>
                                      </p:to>
                                    </p:set>
                                    <p:animEffect transition="in" filter="strips(upRight)">
                                      <p:cBhvr>
                                        <p:cTn id="18" dur="500"/>
                                        <p:tgtEl>
                                          <p:spTgt spid="526342"/>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526343"/>
                                        </p:tgtEl>
                                        <p:attrNameLst>
                                          <p:attrName>style.visibility</p:attrName>
                                        </p:attrNameLst>
                                      </p:cBhvr>
                                      <p:to>
                                        <p:strVal val="visible"/>
                                      </p:to>
                                    </p:set>
                                    <p:animEffect transition="in" filter="strips(upRight)">
                                      <p:cBhvr>
                                        <p:cTn id="23" dur="500"/>
                                        <p:tgtEl>
                                          <p:spTgt spid="526343"/>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526344"/>
                                        </p:tgtEl>
                                        <p:attrNameLst>
                                          <p:attrName>style.visibility</p:attrName>
                                        </p:attrNameLst>
                                      </p:cBhvr>
                                      <p:to>
                                        <p:strVal val="visible"/>
                                      </p:to>
                                    </p:set>
                                    <p:animEffect transition="in" filter="strips(upRight)">
                                      <p:cBhvr>
                                        <p:cTn id="28" dur="500"/>
                                        <p:tgtEl>
                                          <p:spTgt spid="526344"/>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526345"/>
                                        </p:tgtEl>
                                        <p:attrNameLst>
                                          <p:attrName>style.visibility</p:attrName>
                                        </p:attrNameLst>
                                      </p:cBhvr>
                                      <p:to>
                                        <p:strVal val="visible"/>
                                      </p:to>
                                    </p:set>
                                    <p:animEffect transition="in" filter="strips(upRight)">
                                      <p:cBhvr>
                                        <p:cTn id="33" dur="500"/>
                                        <p:tgtEl>
                                          <p:spTgt spid="526345"/>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nodeType="clickEffect">
                                  <p:stCondLst>
                                    <p:cond delay="0"/>
                                  </p:stCondLst>
                                  <p:childTnLst>
                                    <p:set>
                                      <p:cBhvr>
                                        <p:cTn id="37" dur="1" fill="hold">
                                          <p:stCondLst>
                                            <p:cond delay="0"/>
                                          </p:stCondLst>
                                        </p:cTn>
                                        <p:tgtEl>
                                          <p:spTgt spid="526346"/>
                                        </p:tgtEl>
                                        <p:attrNameLst>
                                          <p:attrName>style.visibility</p:attrName>
                                        </p:attrNameLst>
                                      </p:cBhvr>
                                      <p:to>
                                        <p:strVal val="visible"/>
                                      </p:to>
                                    </p:set>
                                    <p:animEffect transition="in" filter="strips(upRight)">
                                      <p:cBhvr>
                                        <p:cTn id="38" dur="500"/>
                                        <p:tgtEl>
                                          <p:spTgt spid="526346"/>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3" fill="hold" nodeType="clickEffect">
                                  <p:stCondLst>
                                    <p:cond delay="0"/>
                                  </p:stCondLst>
                                  <p:childTnLst>
                                    <p:set>
                                      <p:cBhvr>
                                        <p:cTn id="42" dur="1" fill="hold">
                                          <p:stCondLst>
                                            <p:cond delay="0"/>
                                          </p:stCondLst>
                                        </p:cTn>
                                        <p:tgtEl>
                                          <p:spTgt spid="526348"/>
                                        </p:tgtEl>
                                        <p:attrNameLst>
                                          <p:attrName>style.visibility</p:attrName>
                                        </p:attrNameLst>
                                      </p:cBhvr>
                                      <p:to>
                                        <p:strVal val="visible"/>
                                      </p:to>
                                    </p:set>
                                    <p:animEffect transition="in" filter="strips(upRight)">
                                      <p:cBhvr>
                                        <p:cTn id="43" dur="500"/>
                                        <p:tgtEl>
                                          <p:spTgt spid="526348"/>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3" fill="hold" nodeType="clickEffect">
                                  <p:stCondLst>
                                    <p:cond delay="0"/>
                                  </p:stCondLst>
                                  <p:childTnLst>
                                    <p:set>
                                      <p:cBhvr>
                                        <p:cTn id="47" dur="1" fill="hold">
                                          <p:stCondLst>
                                            <p:cond delay="0"/>
                                          </p:stCondLst>
                                        </p:cTn>
                                        <p:tgtEl>
                                          <p:spTgt spid="526347"/>
                                        </p:tgtEl>
                                        <p:attrNameLst>
                                          <p:attrName>style.visibility</p:attrName>
                                        </p:attrNameLst>
                                      </p:cBhvr>
                                      <p:to>
                                        <p:strVal val="visible"/>
                                      </p:to>
                                    </p:set>
                                    <p:animEffect transition="in" filter="strips(upRight)">
                                      <p:cBhvr>
                                        <p:cTn id="48" dur="500"/>
                                        <p:tgtEl>
                                          <p:spTgt spid="526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40"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3" name="灯片编号占位符 4"/>
          <p:cNvSpPr>
            <a:spLocks noGrp="1"/>
          </p:cNvSpPr>
          <p:nvPr>
            <p:ph type="sldNum" sz="quarter" idx="12"/>
          </p:nvPr>
        </p:nvSpPr>
        <p:spPr/>
        <p:txBody>
          <a:bodyPr/>
          <a:lstStyle/>
          <a:p>
            <a:fld id="{BBACD120-5AC5-402E-BC90-469C3BCFE04E}" type="slidenum">
              <a:rPr lang="en-US" altLang="zh-CN"/>
              <a:pPr/>
              <a:t>23</a:t>
            </a:fld>
            <a:endParaRPr lang="en-US" altLang="zh-CN"/>
          </a:p>
        </p:txBody>
      </p:sp>
      <p:sp>
        <p:nvSpPr>
          <p:cNvPr id="531459" name="Rectangle 3"/>
          <p:cNvSpPr>
            <a:spLocks noChangeArrowheads="1"/>
          </p:cNvSpPr>
          <p:nvPr/>
        </p:nvSpPr>
        <p:spPr bwMode="auto">
          <a:xfrm>
            <a:off x="501650" y="1219200"/>
            <a:ext cx="10985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自由度</a:t>
            </a:r>
          </a:p>
        </p:txBody>
      </p:sp>
      <p:sp>
        <p:nvSpPr>
          <p:cNvPr id="531460" name="Text Box 4"/>
          <p:cNvSpPr txBox="1">
            <a:spLocks noChangeArrowheads="1"/>
          </p:cNvSpPr>
          <p:nvPr/>
        </p:nvSpPr>
        <p:spPr bwMode="auto">
          <a:xfrm>
            <a:off x="533400" y="1905000"/>
            <a:ext cx="8153400" cy="1073150"/>
          </a:xfrm>
          <a:prstGeom prst="rect">
            <a:avLst/>
          </a:prstGeom>
          <a:noFill/>
          <a:ln w="9525">
            <a:noFill/>
            <a:miter lim="800000"/>
            <a:headEnd/>
            <a:tailEnd/>
          </a:ln>
          <a:effectLst/>
        </p:spPr>
        <p:txBody>
          <a:bodyPr>
            <a:spAutoFit/>
          </a:bodyPr>
          <a:lstStyle/>
          <a:p>
            <a:pPr>
              <a:lnSpc>
                <a:spcPct val="115000"/>
              </a:lnSpc>
              <a:spcBef>
                <a:spcPct val="50000"/>
              </a:spcBef>
            </a:pPr>
            <a:r>
              <a:rPr lang="zh-CN" altLang="en-US" sz="2800">
                <a:solidFill>
                  <a:srgbClr val="0000CC"/>
                </a:solidFill>
              </a:rPr>
              <a:t>自由度</a:t>
            </a:r>
            <a:r>
              <a:rPr lang="zh-CN" altLang="en-US" sz="2800"/>
              <a:t>：确定一个物体在空间的位置所必需的独立坐标数目。</a:t>
            </a:r>
          </a:p>
        </p:txBody>
      </p:sp>
      <p:sp>
        <p:nvSpPr>
          <p:cNvPr id="531464" name="Text Box 8"/>
          <p:cNvSpPr txBox="1">
            <a:spLocks noChangeArrowheads="1"/>
          </p:cNvSpPr>
          <p:nvPr/>
        </p:nvSpPr>
        <p:spPr bwMode="auto">
          <a:xfrm>
            <a:off x="820738" y="3700463"/>
            <a:ext cx="4038600" cy="519112"/>
          </a:xfrm>
          <a:prstGeom prst="rect">
            <a:avLst/>
          </a:prstGeom>
          <a:noFill/>
          <a:ln w="9525">
            <a:noFill/>
            <a:miter lim="800000"/>
            <a:headEnd/>
            <a:tailEnd/>
          </a:ln>
          <a:effectLst/>
        </p:spPr>
        <p:txBody>
          <a:bodyPr>
            <a:spAutoFit/>
          </a:bodyPr>
          <a:lstStyle/>
          <a:p>
            <a:pPr>
              <a:spcBef>
                <a:spcPct val="50000"/>
              </a:spcBef>
            </a:pPr>
            <a:r>
              <a:rPr kumimoji="1" lang="zh-CN" altLang="en-US" sz="2800"/>
              <a:t>做</a:t>
            </a:r>
            <a:r>
              <a:rPr kumimoji="1" lang="zh-CN" altLang="en-US" sz="2800">
                <a:solidFill>
                  <a:srgbClr val="0000CC"/>
                </a:solidFill>
              </a:rPr>
              <a:t>直线运动</a:t>
            </a:r>
            <a:r>
              <a:rPr kumimoji="1" lang="zh-CN" altLang="en-US" sz="2800"/>
              <a:t>的</a:t>
            </a:r>
            <a:r>
              <a:rPr kumimoji="1" lang="zh-CN" altLang="en-US" sz="2800">
                <a:solidFill>
                  <a:srgbClr val="FF3300"/>
                </a:solidFill>
              </a:rPr>
              <a:t>质点</a:t>
            </a:r>
            <a:r>
              <a:rPr kumimoji="1" lang="zh-CN" altLang="en-US" sz="2800"/>
              <a:t>：</a:t>
            </a:r>
          </a:p>
        </p:txBody>
      </p:sp>
      <p:sp>
        <p:nvSpPr>
          <p:cNvPr id="531465" name="Text Box 9"/>
          <p:cNvSpPr txBox="1">
            <a:spLocks noChangeArrowheads="1"/>
          </p:cNvSpPr>
          <p:nvPr/>
        </p:nvSpPr>
        <p:spPr bwMode="auto">
          <a:xfrm>
            <a:off x="4859338" y="3700463"/>
            <a:ext cx="2819400" cy="519112"/>
          </a:xfrm>
          <a:prstGeom prst="rect">
            <a:avLst/>
          </a:prstGeom>
          <a:noFill/>
          <a:ln w="9525">
            <a:noFill/>
            <a:miter lim="800000"/>
            <a:headEnd/>
            <a:tailEnd/>
          </a:ln>
          <a:effectLst/>
        </p:spPr>
        <p:txBody>
          <a:bodyPr>
            <a:spAutoFit/>
          </a:bodyPr>
          <a:lstStyle/>
          <a:p>
            <a:pPr>
              <a:spcBef>
                <a:spcPct val="50000"/>
              </a:spcBef>
            </a:pPr>
            <a:r>
              <a:rPr kumimoji="1" lang="zh-CN" altLang="en-US" sz="2800"/>
              <a:t>一个自由度</a:t>
            </a:r>
          </a:p>
        </p:txBody>
      </p:sp>
      <p:sp>
        <p:nvSpPr>
          <p:cNvPr id="531466" name="Text Box 10"/>
          <p:cNvSpPr txBox="1">
            <a:spLocks noChangeArrowheads="1"/>
          </p:cNvSpPr>
          <p:nvPr/>
        </p:nvSpPr>
        <p:spPr bwMode="auto">
          <a:xfrm>
            <a:off x="820738" y="4510088"/>
            <a:ext cx="3962400" cy="519112"/>
          </a:xfrm>
          <a:prstGeom prst="rect">
            <a:avLst/>
          </a:prstGeom>
          <a:noFill/>
          <a:ln w="9525" algn="ctr">
            <a:noFill/>
            <a:miter lim="800000"/>
            <a:headEnd/>
            <a:tailEnd/>
          </a:ln>
          <a:effectLst/>
        </p:spPr>
        <p:txBody>
          <a:bodyPr>
            <a:spAutoFit/>
          </a:bodyPr>
          <a:lstStyle/>
          <a:p>
            <a:pPr>
              <a:spcBef>
                <a:spcPct val="50000"/>
              </a:spcBef>
            </a:pPr>
            <a:r>
              <a:rPr kumimoji="1" lang="zh-CN" altLang="en-US" sz="2800"/>
              <a:t>做</a:t>
            </a:r>
            <a:r>
              <a:rPr kumimoji="1" lang="zh-CN" altLang="en-US" sz="2800">
                <a:solidFill>
                  <a:srgbClr val="0000CC"/>
                </a:solidFill>
              </a:rPr>
              <a:t>平面运动</a:t>
            </a:r>
            <a:r>
              <a:rPr kumimoji="1" lang="zh-CN" altLang="en-US" sz="2800"/>
              <a:t>的</a:t>
            </a:r>
            <a:r>
              <a:rPr kumimoji="1" lang="zh-CN" altLang="en-US" sz="2800">
                <a:solidFill>
                  <a:srgbClr val="FF3300"/>
                </a:solidFill>
              </a:rPr>
              <a:t>质点</a:t>
            </a:r>
            <a:r>
              <a:rPr kumimoji="1" lang="zh-CN" altLang="en-US" sz="2800"/>
              <a:t>：</a:t>
            </a:r>
          </a:p>
        </p:txBody>
      </p:sp>
      <p:sp>
        <p:nvSpPr>
          <p:cNvPr id="531467" name="Text Box 11"/>
          <p:cNvSpPr txBox="1">
            <a:spLocks noChangeArrowheads="1"/>
          </p:cNvSpPr>
          <p:nvPr/>
        </p:nvSpPr>
        <p:spPr bwMode="auto">
          <a:xfrm>
            <a:off x="4859338" y="4510088"/>
            <a:ext cx="2819400" cy="519112"/>
          </a:xfrm>
          <a:prstGeom prst="rect">
            <a:avLst/>
          </a:prstGeom>
          <a:noFill/>
          <a:ln w="9525" algn="ctr">
            <a:noFill/>
            <a:miter lim="800000"/>
            <a:headEnd/>
            <a:tailEnd/>
          </a:ln>
          <a:effectLst/>
        </p:spPr>
        <p:txBody>
          <a:bodyPr>
            <a:spAutoFit/>
          </a:bodyPr>
          <a:lstStyle/>
          <a:p>
            <a:pPr>
              <a:spcBef>
                <a:spcPct val="50000"/>
              </a:spcBef>
            </a:pPr>
            <a:r>
              <a:rPr kumimoji="1" lang="zh-CN" altLang="en-US" sz="2800"/>
              <a:t>二个自由度</a:t>
            </a:r>
          </a:p>
        </p:txBody>
      </p:sp>
      <p:sp>
        <p:nvSpPr>
          <p:cNvPr id="531468" name="Text Box 12"/>
          <p:cNvSpPr txBox="1">
            <a:spLocks noChangeArrowheads="1"/>
          </p:cNvSpPr>
          <p:nvPr/>
        </p:nvSpPr>
        <p:spPr bwMode="auto">
          <a:xfrm>
            <a:off x="820738" y="5348288"/>
            <a:ext cx="4038600" cy="519112"/>
          </a:xfrm>
          <a:prstGeom prst="rect">
            <a:avLst/>
          </a:prstGeom>
          <a:noFill/>
          <a:ln w="9525" algn="ctr">
            <a:noFill/>
            <a:miter lim="800000"/>
            <a:headEnd/>
            <a:tailEnd/>
          </a:ln>
          <a:effectLst/>
        </p:spPr>
        <p:txBody>
          <a:bodyPr>
            <a:spAutoFit/>
          </a:bodyPr>
          <a:lstStyle/>
          <a:p>
            <a:pPr>
              <a:spcBef>
                <a:spcPct val="50000"/>
              </a:spcBef>
            </a:pPr>
            <a:r>
              <a:rPr kumimoji="1" lang="zh-CN" altLang="en-US" sz="2800"/>
              <a:t>做</a:t>
            </a:r>
            <a:r>
              <a:rPr kumimoji="1" lang="zh-CN" altLang="en-US" sz="2800">
                <a:solidFill>
                  <a:srgbClr val="0000CC"/>
                </a:solidFill>
              </a:rPr>
              <a:t>空间运动</a:t>
            </a:r>
            <a:r>
              <a:rPr kumimoji="1" lang="zh-CN" altLang="en-US" sz="2800"/>
              <a:t>的</a:t>
            </a:r>
            <a:r>
              <a:rPr kumimoji="1" lang="zh-CN" altLang="en-US" sz="2800">
                <a:solidFill>
                  <a:srgbClr val="FF3300"/>
                </a:solidFill>
              </a:rPr>
              <a:t>质点</a:t>
            </a:r>
            <a:r>
              <a:rPr kumimoji="1" lang="zh-CN" altLang="en-US" sz="2800"/>
              <a:t>：</a:t>
            </a:r>
          </a:p>
        </p:txBody>
      </p:sp>
      <p:sp>
        <p:nvSpPr>
          <p:cNvPr id="531469" name="Text Box 13"/>
          <p:cNvSpPr txBox="1">
            <a:spLocks noChangeArrowheads="1"/>
          </p:cNvSpPr>
          <p:nvPr/>
        </p:nvSpPr>
        <p:spPr bwMode="auto">
          <a:xfrm>
            <a:off x="4859338" y="5348288"/>
            <a:ext cx="2819400" cy="519112"/>
          </a:xfrm>
          <a:prstGeom prst="rect">
            <a:avLst/>
          </a:prstGeom>
          <a:noFill/>
          <a:ln w="9525" algn="ctr">
            <a:noFill/>
            <a:miter lim="800000"/>
            <a:headEnd/>
            <a:tailEnd/>
          </a:ln>
          <a:effectLst/>
        </p:spPr>
        <p:txBody>
          <a:bodyPr>
            <a:spAutoFit/>
          </a:bodyPr>
          <a:lstStyle/>
          <a:p>
            <a:pPr>
              <a:spcBef>
                <a:spcPct val="50000"/>
              </a:spcBef>
            </a:pPr>
            <a:r>
              <a:rPr kumimoji="1" lang="zh-CN" altLang="en-US" sz="2800"/>
              <a:t>三个自由度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1460"/>
                                        </p:tgtEl>
                                        <p:attrNameLst>
                                          <p:attrName>style.visibility</p:attrName>
                                        </p:attrNameLst>
                                      </p:cBhvr>
                                      <p:to>
                                        <p:strVal val="visible"/>
                                      </p:to>
                                    </p:set>
                                    <p:animEffect transition="in" filter="wipe(left)">
                                      <p:cBhvr>
                                        <p:cTn id="7" dur="500"/>
                                        <p:tgtEl>
                                          <p:spTgt spid="53146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31464"/>
                                        </p:tgtEl>
                                        <p:attrNameLst>
                                          <p:attrName>style.visibility</p:attrName>
                                        </p:attrNameLst>
                                      </p:cBhvr>
                                      <p:to>
                                        <p:strVal val="visible"/>
                                      </p:to>
                                    </p:set>
                                    <p:anim calcmode="lin" valueType="num">
                                      <p:cBhvr additive="base">
                                        <p:cTn id="12" dur="500" fill="hold"/>
                                        <p:tgtEl>
                                          <p:spTgt spid="531464"/>
                                        </p:tgtEl>
                                        <p:attrNameLst>
                                          <p:attrName>ppt_x</p:attrName>
                                        </p:attrNameLst>
                                      </p:cBhvr>
                                      <p:tavLst>
                                        <p:tav tm="0">
                                          <p:val>
                                            <p:strVal val="0-#ppt_w/2"/>
                                          </p:val>
                                        </p:tav>
                                        <p:tav tm="100000">
                                          <p:val>
                                            <p:strVal val="#ppt_x"/>
                                          </p:val>
                                        </p:tav>
                                      </p:tavLst>
                                    </p:anim>
                                    <p:anim calcmode="lin" valueType="num">
                                      <p:cBhvr additive="base">
                                        <p:cTn id="13" dur="500" fill="hold"/>
                                        <p:tgtEl>
                                          <p:spTgt spid="53146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531465"/>
                                        </p:tgtEl>
                                        <p:attrNameLst>
                                          <p:attrName>style.visibility</p:attrName>
                                        </p:attrNameLst>
                                      </p:cBhvr>
                                      <p:to>
                                        <p:strVal val="visible"/>
                                      </p:to>
                                    </p:set>
                                    <p:animEffect transition="in" filter="strips(upRight)">
                                      <p:cBhvr>
                                        <p:cTn id="18" dur="500"/>
                                        <p:tgtEl>
                                          <p:spTgt spid="53146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31466"/>
                                        </p:tgtEl>
                                        <p:attrNameLst>
                                          <p:attrName>style.visibility</p:attrName>
                                        </p:attrNameLst>
                                      </p:cBhvr>
                                      <p:to>
                                        <p:strVal val="visible"/>
                                      </p:to>
                                    </p:set>
                                    <p:anim calcmode="lin" valueType="num">
                                      <p:cBhvr additive="base">
                                        <p:cTn id="23" dur="500" fill="hold"/>
                                        <p:tgtEl>
                                          <p:spTgt spid="531466"/>
                                        </p:tgtEl>
                                        <p:attrNameLst>
                                          <p:attrName>ppt_x</p:attrName>
                                        </p:attrNameLst>
                                      </p:cBhvr>
                                      <p:tavLst>
                                        <p:tav tm="0">
                                          <p:val>
                                            <p:strVal val="0-#ppt_w/2"/>
                                          </p:val>
                                        </p:tav>
                                        <p:tav tm="100000">
                                          <p:val>
                                            <p:strVal val="#ppt_x"/>
                                          </p:val>
                                        </p:tav>
                                      </p:tavLst>
                                    </p:anim>
                                    <p:anim calcmode="lin" valueType="num">
                                      <p:cBhvr additive="base">
                                        <p:cTn id="24" dur="500" fill="hold"/>
                                        <p:tgtEl>
                                          <p:spTgt spid="53146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8" presetClass="entr" presetSubtype="3" fill="hold" grpId="0" nodeType="clickEffect">
                                  <p:stCondLst>
                                    <p:cond delay="0"/>
                                  </p:stCondLst>
                                  <p:childTnLst>
                                    <p:set>
                                      <p:cBhvr>
                                        <p:cTn id="28" dur="1" fill="hold">
                                          <p:stCondLst>
                                            <p:cond delay="0"/>
                                          </p:stCondLst>
                                        </p:cTn>
                                        <p:tgtEl>
                                          <p:spTgt spid="531467"/>
                                        </p:tgtEl>
                                        <p:attrNameLst>
                                          <p:attrName>style.visibility</p:attrName>
                                        </p:attrNameLst>
                                      </p:cBhvr>
                                      <p:to>
                                        <p:strVal val="visible"/>
                                      </p:to>
                                    </p:set>
                                    <p:animEffect transition="in" filter="strips(upRight)">
                                      <p:cBhvr>
                                        <p:cTn id="29" dur="500"/>
                                        <p:tgtEl>
                                          <p:spTgt spid="53146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531468"/>
                                        </p:tgtEl>
                                        <p:attrNameLst>
                                          <p:attrName>style.visibility</p:attrName>
                                        </p:attrNameLst>
                                      </p:cBhvr>
                                      <p:to>
                                        <p:strVal val="visible"/>
                                      </p:to>
                                    </p:set>
                                    <p:anim calcmode="lin" valueType="num">
                                      <p:cBhvr additive="base">
                                        <p:cTn id="34" dur="500" fill="hold"/>
                                        <p:tgtEl>
                                          <p:spTgt spid="531468"/>
                                        </p:tgtEl>
                                        <p:attrNameLst>
                                          <p:attrName>ppt_x</p:attrName>
                                        </p:attrNameLst>
                                      </p:cBhvr>
                                      <p:tavLst>
                                        <p:tav tm="0">
                                          <p:val>
                                            <p:strVal val="0-#ppt_w/2"/>
                                          </p:val>
                                        </p:tav>
                                        <p:tav tm="100000">
                                          <p:val>
                                            <p:strVal val="#ppt_x"/>
                                          </p:val>
                                        </p:tav>
                                      </p:tavLst>
                                    </p:anim>
                                    <p:anim calcmode="lin" valueType="num">
                                      <p:cBhvr additive="base">
                                        <p:cTn id="35" dur="500" fill="hold"/>
                                        <p:tgtEl>
                                          <p:spTgt spid="531468"/>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8" presetClass="entr" presetSubtype="3" fill="hold" grpId="0" nodeType="clickEffect">
                                  <p:stCondLst>
                                    <p:cond delay="0"/>
                                  </p:stCondLst>
                                  <p:childTnLst>
                                    <p:set>
                                      <p:cBhvr>
                                        <p:cTn id="39" dur="1" fill="hold">
                                          <p:stCondLst>
                                            <p:cond delay="0"/>
                                          </p:stCondLst>
                                        </p:cTn>
                                        <p:tgtEl>
                                          <p:spTgt spid="531469"/>
                                        </p:tgtEl>
                                        <p:attrNameLst>
                                          <p:attrName>style.visibility</p:attrName>
                                        </p:attrNameLst>
                                      </p:cBhvr>
                                      <p:to>
                                        <p:strVal val="visible"/>
                                      </p:to>
                                    </p:set>
                                    <p:animEffect transition="in" filter="strips(upRight)">
                                      <p:cBhvr>
                                        <p:cTn id="40" dur="500"/>
                                        <p:tgtEl>
                                          <p:spTgt spid="531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0" grpId="0"/>
      <p:bldP spid="531464" grpId="0" autoUpdateAnimBg="0"/>
      <p:bldP spid="531465" grpId="0" autoUpdateAnimBg="0"/>
      <p:bldP spid="531466" grpId="0" autoUpdateAnimBg="0"/>
      <p:bldP spid="531467" grpId="0" autoUpdateAnimBg="0"/>
      <p:bldP spid="531468" grpId="0" autoUpdateAnimBg="0"/>
      <p:bldP spid="53146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39" name="灯片编号占位符 4"/>
          <p:cNvSpPr>
            <a:spLocks noGrp="1"/>
          </p:cNvSpPr>
          <p:nvPr>
            <p:ph type="sldNum" sz="quarter" idx="12"/>
          </p:nvPr>
        </p:nvSpPr>
        <p:spPr/>
        <p:txBody>
          <a:bodyPr/>
          <a:lstStyle/>
          <a:p>
            <a:fld id="{0A26FA18-32FD-446B-9106-4E7F24455BFA}" type="slidenum">
              <a:rPr lang="en-US" altLang="zh-CN"/>
              <a:pPr/>
              <a:t>24</a:t>
            </a:fld>
            <a:endParaRPr lang="en-US" altLang="zh-CN"/>
          </a:p>
        </p:txBody>
      </p:sp>
      <p:sp>
        <p:nvSpPr>
          <p:cNvPr id="533507" name="Rectangle 3"/>
          <p:cNvSpPr>
            <a:spLocks noChangeArrowheads="1"/>
          </p:cNvSpPr>
          <p:nvPr/>
        </p:nvSpPr>
        <p:spPr bwMode="auto">
          <a:xfrm>
            <a:off x="501650" y="1219200"/>
            <a:ext cx="26225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运动</a:t>
            </a:r>
            <a:r>
              <a:rPr lang="zh-CN" altLang="en-US" sz="2400">
                <a:solidFill>
                  <a:srgbClr val="0000CC"/>
                </a:solidFill>
              </a:rPr>
              <a:t>刚体</a:t>
            </a:r>
            <a:r>
              <a:rPr lang="zh-CN" altLang="en-US" sz="2400"/>
              <a:t>的自由度</a:t>
            </a:r>
          </a:p>
        </p:txBody>
      </p:sp>
      <p:grpSp>
        <p:nvGrpSpPr>
          <p:cNvPr id="533508" name="Group 4"/>
          <p:cNvGrpSpPr>
            <a:grpSpLocks/>
          </p:cNvGrpSpPr>
          <p:nvPr/>
        </p:nvGrpSpPr>
        <p:grpSpPr bwMode="auto">
          <a:xfrm>
            <a:off x="4114800" y="1295400"/>
            <a:ext cx="4800600" cy="5087938"/>
            <a:chOff x="2544" y="280"/>
            <a:chExt cx="3024" cy="3205"/>
          </a:xfrm>
        </p:grpSpPr>
        <p:sp>
          <p:nvSpPr>
            <p:cNvPr id="533509" name="AutoShape 5"/>
            <p:cNvSpPr>
              <a:spLocks noChangeArrowheads="1"/>
            </p:cNvSpPr>
            <p:nvPr/>
          </p:nvSpPr>
          <p:spPr bwMode="auto">
            <a:xfrm rot="2502773">
              <a:off x="3888" y="672"/>
              <a:ext cx="1104" cy="1680"/>
            </a:xfrm>
            <a:prstGeom prst="can">
              <a:avLst>
                <a:gd name="adj" fmla="val 45110"/>
              </a:avLst>
            </a:prstGeom>
            <a:solidFill>
              <a:srgbClr val="CC99FF"/>
            </a:solidFill>
            <a:ln w="9525">
              <a:solidFill>
                <a:schemeClr val="tx1"/>
              </a:solidFill>
              <a:round/>
              <a:headEnd/>
              <a:tailEnd/>
            </a:ln>
            <a:effectLst/>
          </p:spPr>
          <p:txBody>
            <a:bodyPr wrap="none" anchor="ctr"/>
            <a:lstStyle/>
            <a:p>
              <a:endParaRPr lang="zh-CN" altLang="en-US"/>
            </a:p>
          </p:txBody>
        </p:sp>
        <p:sp>
          <p:nvSpPr>
            <p:cNvPr id="533510" name="Line 6"/>
            <p:cNvSpPr>
              <a:spLocks noChangeShapeType="1"/>
            </p:cNvSpPr>
            <p:nvPr/>
          </p:nvSpPr>
          <p:spPr bwMode="auto">
            <a:xfrm flipV="1">
              <a:off x="3648" y="720"/>
              <a:ext cx="1536" cy="1632"/>
            </a:xfrm>
            <a:prstGeom prst="line">
              <a:avLst/>
            </a:prstGeom>
            <a:noFill/>
            <a:ln w="19050">
              <a:solidFill>
                <a:srgbClr val="FF0000"/>
              </a:solidFill>
              <a:prstDash val="dashDot"/>
              <a:round/>
              <a:headEnd/>
              <a:tailEnd/>
            </a:ln>
            <a:effectLst/>
          </p:spPr>
          <p:txBody>
            <a:bodyPr wrap="none" anchor="ctr"/>
            <a:lstStyle/>
            <a:p>
              <a:endParaRPr lang="zh-CN" altLang="en-US"/>
            </a:p>
          </p:txBody>
        </p:sp>
        <p:sp>
          <p:nvSpPr>
            <p:cNvPr id="533511" name="Line 7"/>
            <p:cNvSpPr>
              <a:spLocks noChangeShapeType="1"/>
            </p:cNvSpPr>
            <p:nvPr/>
          </p:nvSpPr>
          <p:spPr bwMode="auto">
            <a:xfrm flipV="1">
              <a:off x="3120" y="432"/>
              <a:ext cx="0" cy="2400"/>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33512" name="Line 8"/>
            <p:cNvSpPr>
              <a:spLocks noChangeShapeType="1"/>
            </p:cNvSpPr>
            <p:nvPr/>
          </p:nvSpPr>
          <p:spPr bwMode="auto">
            <a:xfrm>
              <a:off x="3120" y="2832"/>
              <a:ext cx="2448" cy="0"/>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33513" name="Line 9"/>
            <p:cNvSpPr>
              <a:spLocks noChangeShapeType="1"/>
            </p:cNvSpPr>
            <p:nvPr/>
          </p:nvSpPr>
          <p:spPr bwMode="auto">
            <a:xfrm flipH="1">
              <a:off x="2544" y="2832"/>
              <a:ext cx="576" cy="576"/>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33514" name="Rectangle 10"/>
            <p:cNvSpPr>
              <a:spLocks noChangeArrowheads="1"/>
            </p:cNvSpPr>
            <p:nvPr/>
          </p:nvSpPr>
          <p:spPr bwMode="auto">
            <a:xfrm>
              <a:off x="2688" y="3120"/>
              <a:ext cx="216" cy="365"/>
            </a:xfrm>
            <a:prstGeom prst="rect">
              <a:avLst/>
            </a:prstGeom>
            <a:noFill/>
            <a:ln w="9525">
              <a:noFill/>
              <a:miter lim="800000"/>
              <a:headEnd/>
              <a:tailEnd/>
            </a:ln>
            <a:effectLst/>
          </p:spPr>
          <p:txBody>
            <a:bodyPr wrap="none">
              <a:spAutoFit/>
            </a:bodyPr>
            <a:lstStyle/>
            <a:p>
              <a:r>
                <a:rPr kumimoji="1" lang="en-US" altLang="zh-CN" sz="3200" i="1"/>
                <a:t>z</a:t>
              </a:r>
            </a:p>
          </p:txBody>
        </p:sp>
        <p:sp>
          <p:nvSpPr>
            <p:cNvPr id="533515" name="Rectangle 11"/>
            <p:cNvSpPr>
              <a:spLocks noChangeArrowheads="1"/>
            </p:cNvSpPr>
            <p:nvPr/>
          </p:nvSpPr>
          <p:spPr bwMode="auto">
            <a:xfrm>
              <a:off x="3209" y="280"/>
              <a:ext cx="230" cy="365"/>
            </a:xfrm>
            <a:prstGeom prst="rect">
              <a:avLst/>
            </a:prstGeom>
            <a:noFill/>
            <a:ln w="9525">
              <a:noFill/>
              <a:miter lim="800000"/>
              <a:headEnd/>
              <a:tailEnd/>
            </a:ln>
            <a:effectLst/>
          </p:spPr>
          <p:txBody>
            <a:bodyPr wrap="none">
              <a:spAutoFit/>
            </a:bodyPr>
            <a:lstStyle/>
            <a:p>
              <a:r>
                <a:rPr kumimoji="1" lang="en-US" altLang="zh-CN" sz="3200" i="1"/>
                <a:t>y</a:t>
              </a:r>
            </a:p>
          </p:txBody>
        </p:sp>
        <p:sp>
          <p:nvSpPr>
            <p:cNvPr id="533516" name="Rectangle 12"/>
            <p:cNvSpPr>
              <a:spLocks noChangeArrowheads="1"/>
            </p:cNvSpPr>
            <p:nvPr/>
          </p:nvSpPr>
          <p:spPr bwMode="auto">
            <a:xfrm>
              <a:off x="5328" y="2736"/>
              <a:ext cx="230" cy="365"/>
            </a:xfrm>
            <a:prstGeom prst="rect">
              <a:avLst/>
            </a:prstGeom>
            <a:noFill/>
            <a:ln w="9525">
              <a:noFill/>
              <a:miter lim="800000"/>
              <a:headEnd/>
              <a:tailEnd/>
            </a:ln>
            <a:effectLst/>
          </p:spPr>
          <p:txBody>
            <a:bodyPr wrap="none">
              <a:spAutoFit/>
            </a:bodyPr>
            <a:lstStyle/>
            <a:p>
              <a:r>
                <a:rPr kumimoji="1" lang="en-US" altLang="zh-CN" sz="3200" i="1"/>
                <a:t>x</a:t>
              </a:r>
            </a:p>
          </p:txBody>
        </p:sp>
      </p:grpSp>
      <p:grpSp>
        <p:nvGrpSpPr>
          <p:cNvPr id="533517" name="Group 13"/>
          <p:cNvGrpSpPr>
            <a:grpSpLocks/>
          </p:cNvGrpSpPr>
          <p:nvPr/>
        </p:nvGrpSpPr>
        <p:grpSpPr bwMode="auto">
          <a:xfrm>
            <a:off x="7772400" y="2527300"/>
            <a:ext cx="685800" cy="609600"/>
            <a:chOff x="4848" y="1056"/>
            <a:chExt cx="432" cy="384"/>
          </a:xfrm>
        </p:grpSpPr>
        <p:sp>
          <p:nvSpPr>
            <p:cNvPr id="533518" name="Line 14"/>
            <p:cNvSpPr>
              <a:spLocks noChangeShapeType="1"/>
            </p:cNvSpPr>
            <p:nvPr/>
          </p:nvSpPr>
          <p:spPr bwMode="auto">
            <a:xfrm>
              <a:off x="4848" y="1056"/>
              <a:ext cx="384" cy="384"/>
            </a:xfrm>
            <a:prstGeom prst="line">
              <a:avLst/>
            </a:prstGeom>
            <a:noFill/>
            <a:ln w="9525">
              <a:solidFill>
                <a:schemeClr val="hlink"/>
              </a:solidFill>
              <a:round/>
              <a:headEnd/>
              <a:tailEnd/>
            </a:ln>
            <a:effectLst/>
          </p:spPr>
          <p:txBody>
            <a:bodyPr wrap="none" anchor="ctr"/>
            <a:lstStyle/>
            <a:p>
              <a:endParaRPr lang="zh-CN" altLang="en-US"/>
            </a:p>
          </p:txBody>
        </p:sp>
        <p:sp>
          <p:nvSpPr>
            <p:cNvPr id="533519" name="Line 15"/>
            <p:cNvSpPr>
              <a:spLocks noChangeShapeType="1"/>
            </p:cNvSpPr>
            <p:nvPr/>
          </p:nvSpPr>
          <p:spPr bwMode="auto">
            <a:xfrm>
              <a:off x="4848" y="1056"/>
              <a:ext cx="384" cy="144"/>
            </a:xfrm>
            <a:prstGeom prst="line">
              <a:avLst/>
            </a:prstGeom>
            <a:noFill/>
            <a:ln w="9525">
              <a:solidFill>
                <a:schemeClr val="hlink"/>
              </a:solidFill>
              <a:round/>
              <a:headEnd/>
              <a:tailEnd/>
            </a:ln>
            <a:effectLst/>
          </p:spPr>
          <p:txBody>
            <a:bodyPr wrap="none" anchor="ctr"/>
            <a:lstStyle/>
            <a:p>
              <a:endParaRPr lang="zh-CN" altLang="en-US"/>
            </a:p>
          </p:txBody>
        </p:sp>
        <p:sp>
          <p:nvSpPr>
            <p:cNvPr id="533520" name="Text Box 16"/>
            <p:cNvSpPr txBox="1">
              <a:spLocks noChangeArrowheads="1"/>
            </p:cNvSpPr>
            <p:nvPr/>
          </p:nvSpPr>
          <p:spPr bwMode="auto">
            <a:xfrm>
              <a:off x="4992" y="1056"/>
              <a:ext cx="288" cy="288"/>
            </a:xfrm>
            <a:prstGeom prst="rect">
              <a:avLst/>
            </a:prstGeom>
            <a:noFill/>
            <a:ln w="9525">
              <a:noFill/>
              <a:miter lim="800000"/>
              <a:headEnd/>
              <a:tailEnd/>
            </a:ln>
            <a:effectLst/>
          </p:spPr>
          <p:txBody>
            <a:bodyPr>
              <a:spAutoFit/>
            </a:bodyPr>
            <a:lstStyle/>
            <a:p>
              <a:pPr>
                <a:spcBef>
                  <a:spcPct val="50000"/>
                </a:spcBef>
              </a:pPr>
              <a:r>
                <a:rPr kumimoji="1" lang="en-US" altLang="zh-CN" sz="2400" b="1">
                  <a:sym typeface="Symbol" pitchFamily="18" charset="2"/>
                </a:rPr>
                <a:t></a:t>
              </a:r>
              <a:endParaRPr kumimoji="1" lang="en-US" altLang="zh-CN" sz="2400" b="1"/>
            </a:p>
          </p:txBody>
        </p:sp>
      </p:grpSp>
      <p:grpSp>
        <p:nvGrpSpPr>
          <p:cNvPr id="533521" name="Group 17"/>
          <p:cNvGrpSpPr>
            <a:grpSpLocks/>
          </p:cNvGrpSpPr>
          <p:nvPr/>
        </p:nvGrpSpPr>
        <p:grpSpPr bwMode="auto">
          <a:xfrm>
            <a:off x="5943600" y="1400175"/>
            <a:ext cx="2862263" cy="3382963"/>
            <a:chOff x="3696" y="346"/>
            <a:chExt cx="1803" cy="2131"/>
          </a:xfrm>
        </p:grpSpPr>
        <p:grpSp>
          <p:nvGrpSpPr>
            <p:cNvPr id="533522" name="Group 18"/>
            <p:cNvGrpSpPr>
              <a:grpSpLocks/>
            </p:cNvGrpSpPr>
            <p:nvPr/>
          </p:nvGrpSpPr>
          <p:grpSpPr bwMode="auto">
            <a:xfrm>
              <a:off x="3696" y="346"/>
              <a:ext cx="1803" cy="2131"/>
              <a:chOff x="3696" y="346"/>
              <a:chExt cx="1803" cy="2131"/>
            </a:xfrm>
          </p:grpSpPr>
          <p:sp>
            <p:nvSpPr>
              <p:cNvPr id="533523" name="Rectangle 19"/>
              <p:cNvSpPr>
                <a:spLocks noChangeArrowheads="1"/>
              </p:cNvSpPr>
              <p:nvPr/>
            </p:nvSpPr>
            <p:spPr bwMode="auto">
              <a:xfrm>
                <a:off x="4224" y="1584"/>
                <a:ext cx="265" cy="327"/>
              </a:xfrm>
              <a:prstGeom prst="rect">
                <a:avLst/>
              </a:prstGeom>
              <a:noFill/>
              <a:ln w="9525">
                <a:noFill/>
                <a:miter lim="800000"/>
                <a:headEnd/>
                <a:tailEnd/>
              </a:ln>
              <a:effectLst/>
            </p:spPr>
            <p:txBody>
              <a:bodyPr wrap="none">
                <a:spAutoFit/>
              </a:bodyPr>
              <a:lstStyle/>
              <a:p>
                <a:r>
                  <a:rPr kumimoji="1" lang="en-US" altLang="zh-CN" sz="2800" b="1" i="1">
                    <a:ea typeface="黑体" pitchFamily="49" charset="-122"/>
                  </a:rPr>
                  <a:t>C</a:t>
                </a:r>
              </a:p>
            </p:txBody>
          </p:sp>
          <p:sp>
            <p:nvSpPr>
              <p:cNvPr id="533524" name="Line 20"/>
              <p:cNvSpPr>
                <a:spLocks noChangeShapeType="1"/>
              </p:cNvSpPr>
              <p:nvPr/>
            </p:nvSpPr>
            <p:spPr bwMode="auto">
              <a:xfrm>
                <a:off x="4368" y="1584"/>
                <a:ext cx="960" cy="0"/>
              </a:xfrm>
              <a:prstGeom prst="line">
                <a:avLst/>
              </a:prstGeom>
              <a:noFill/>
              <a:ln w="19050">
                <a:solidFill>
                  <a:schemeClr val="tx1"/>
                </a:solidFill>
                <a:prstDash val="dash"/>
                <a:round/>
                <a:headEnd/>
                <a:tailEnd type="triangle" w="med" len="lg"/>
              </a:ln>
              <a:effectLst/>
            </p:spPr>
            <p:txBody>
              <a:bodyPr wrap="none" anchor="ctr"/>
              <a:lstStyle/>
              <a:p>
                <a:endParaRPr lang="zh-CN" altLang="en-US"/>
              </a:p>
            </p:txBody>
          </p:sp>
          <p:sp>
            <p:nvSpPr>
              <p:cNvPr id="533525" name="Line 21"/>
              <p:cNvSpPr>
                <a:spLocks noChangeShapeType="1"/>
              </p:cNvSpPr>
              <p:nvPr/>
            </p:nvSpPr>
            <p:spPr bwMode="auto">
              <a:xfrm flipV="1">
                <a:off x="4368" y="576"/>
                <a:ext cx="0" cy="1008"/>
              </a:xfrm>
              <a:prstGeom prst="line">
                <a:avLst/>
              </a:prstGeom>
              <a:noFill/>
              <a:ln w="19050">
                <a:solidFill>
                  <a:schemeClr val="tx1"/>
                </a:solidFill>
                <a:prstDash val="dash"/>
                <a:round/>
                <a:headEnd/>
                <a:tailEnd type="triangle" w="med" len="lg"/>
              </a:ln>
              <a:effectLst/>
            </p:spPr>
            <p:txBody>
              <a:bodyPr wrap="none" anchor="ctr"/>
              <a:lstStyle/>
              <a:p>
                <a:endParaRPr lang="zh-CN" altLang="en-US"/>
              </a:p>
            </p:txBody>
          </p:sp>
          <p:sp>
            <p:nvSpPr>
              <p:cNvPr id="533526" name="Line 22"/>
              <p:cNvSpPr>
                <a:spLocks noChangeShapeType="1"/>
              </p:cNvSpPr>
              <p:nvPr/>
            </p:nvSpPr>
            <p:spPr bwMode="auto">
              <a:xfrm flipH="1">
                <a:off x="3744" y="1584"/>
                <a:ext cx="624" cy="624"/>
              </a:xfrm>
              <a:prstGeom prst="line">
                <a:avLst/>
              </a:prstGeom>
              <a:noFill/>
              <a:ln w="19050">
                <a:solidFill>
                  <a:schemeClr val="tx1"/>
                </a:solidFill>
                <a:prstDash val="dash"/>
                <a:round/>
                <a:headEnd/>
                <a:tailEnd type="triangle" w="med" len="lg"/>
              </a:ln>
              <a:effectLst/>
            </p:spPr>
            <p:txBody>
              <a:bodyPr wrap="none" anchor="ctr"/>
              <a:lstStyle/>
              <a:p>
                <a:endParaRPr lang="zh-CN" altLang="en-US"/>
              </a:p>
            </p:txBody>
          </p:sp>
          <p:sp>
            <p:nvSpPr>
              <p:cNvPr id="533527" name="Rectangle 23"/>
              <p:cNvSpPr>
                <a:spLocks noChangeArrowheads="1"/>
              </p:cNvSpPr>
              <p:nvPr/>
            </p:nvSpPr>
            <p:spPr bwMode="auto">
              <a:xfrm>
                <a:off x="3696" y="2112"/>
                <a:ext cx="301" cy="365"/>
              </a:xfrm>
              <a:prstGeom prst="rect">
                <a:avLst/>
              </a:prstGeom>
              <a:noFill/>
              <a:ln w="9525">
                <a:noFill/>
                <a:miter lim="800000"/>
                <a:headEnd/>
                <a:tailEnd/>
              </a:ln>
              <a:effectLst/>
            </p:spPr>
            <p:txBody>
              <a:bodyPr wrap="none">
                <a:spAutoFit/>
              </a:bodyPr>
              <a:lstStyle/>
              <a:p>
                <a:r>
                  <a:rPr kumimoji="1" lang="en-US" altLang="zh-CN" sz="3200" i="1"/>
                  <a:t>z’</a:t>
                </a:r>
              </a:p>
            </p:txBody>
          </p:sp>
          <p:sp>
            <p:nvSpPr>
              <p:cNvPr id="533528" name="Rectangle 24"/>
              <p:cNvSpPr>
                <a:spLocks noChangeArrowheads="1"/>
              </p:cNvSpPr>
              <p:nvPr/>
            </p:nvSpPr>
            <p:spPr bwMode="auto">
              <a:xfrm>
                <a:off x="5184" y="1536"/>
                <a:ext cx="315" cy="365"/>
              </a:xfrm>
              <a:prstGeom prst="rect">
                <a:avLst/>
              </a:prstGeom>
              <a:noFill/>
              <a:ln w="9525">
                <a:noFill/>
                <a:miter lim="800000"/>
                <a:headEnd/>
                <a:tailEnd/>
              </a:ln>
              <a:effectLst/>
            </p:spPr>
            <p:txBody>
              <a:bodyPr wrap="none">
                <a:spAutoFit/>
              </a:bodyPr>
              <a:lstStyle/>
              <a:p>
                <a:r>
                  <a:rPr kumimoji="1" lang="en-US" altLang="zh-CN" sz="3200" i="1"/>
                  <a:t>x’</a:t>
                </a:r>
              </a:p>
            </p:txBody>
          </p:sp>
          <p:sp>
            <p:nvSpPr>
              <p:cNvPr id="533529" name="Rectangle 25"/>
              <p:cNvSpPr>
                <a:spLocks noChangeArrowheads="1"/>
              </p:cNvSpPr>
              <p:nvPr/>
            </p:nvSpPr>
            <p:spPr bwMode="auto">
              <a:xfrm>
                <a:off x="4087" y="346"/>
                <a:ext cx="315" cy="365"/>
              </a:xfrm>
              <a:prstGeom prst="rect">
                <a:avLst/>
              </a:prstGeom>
              <a:noFill/>
              <a:ln w="9525">
                <a:noFill/>
                <a:miter lim="800000"/>
                <a:headEnd/>
                <a:tailEnd/>
              </a:ln>
              <a:effectLst/>
            </p:spPr>
            <p:txBody>
              <a:bodyPr wrap="none">
                <a:spAutoFit/>
              </a:bodyPr>
              <a:lstStyle/>
              <a:p>
                <a:r>
                  <a:rPr kumimoji="1" lang="en-US" altLang="zh-CN" sz="3200" i="1"/>
                  <a:t>y’</a:t>
                </a:r>
              </a:p>
            </p:txBody>
          </p:sp>
          <p:sp>
            <p:nvSpPr>
              <p:cNvPr id="533530" name="Arc 26"/>
              <p:cNvSpPr>
                <a:spLocks/>
              </p:cNvSpPr>
              <p:nvPr/>
            </p:nvSpPr>
            <p:spPr bwMode="auto">
              <a:xfrm>
                <a:off x="4512" y="1440"/>
                <a:ext cx="96"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p:spPr>
            <p:txBody>
              <a:bodyPr wrap="none" anchor="ctr"/>
              <a:lstStyle/>
              <a:p>
                <a:endParaRPr lang="zh-CN" altLang="en-US"/>
              </a:p>
            </p:txBody>
          </p:sp>
          <p:sp>
            <p:nvSpPr>
              <p:cNvPr id="533531" name="Arc 27"/>
              <p:cNvSpPr>
                <a:spLocks/>
              </p:cNvSpPr>
              <p:nvPr/>
            </p:nvSpPr>
            <p:spPr bwMode="auto">
              <a:xfrm>
                <a:off x="4368" y="1344"/>
                <a:ext cx="144" cy="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p:spPr>
            <p:txBody>
              <a:bodyPr wrap="none" anchor="ctr"/>
              <a:lstStyle/>
              <a:p>
                <a:endParaRPr lang="zh-CN" altLang="en-US"/>
              </a:p>
            </p:txBody>
          </p:sp>
          <p:sp>
            <p:nvSpPr>
              <p:cNvPr id="533532" name="Arc 28"/>
              <p:cNvSpPr>
                <a:spLocks/>
              </p:cNvSpPr>
              <p:nvPr/>
            </p:nvSpPr>
            <p:spPr bwMode="auto">
              <a:xfrm flipH="1">
                <a:off x="4224" y="1440"/>
                <a:ext cx="144" cy="2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p:spPr>
            <p:txBody>
              <a:bodyPr wrap="none" anchor="ctr"/>
              <a:lstStyle/>
              <a:p>
                <a:endParaRPr lang="zh-CN" altLang="en-US"/>
              </a:p>
            </p:txBody>
          </p:sp>
          <p:sp>
            <p:nvSpPr>
              <p:cNvPr id="533533" name="Text Box 29"/>
              <p:cNvSpPr txBox="1">
                <a:spLocks noChangeArrowheads="1"/>
              </p:cNvSpPr>
              <p:nvPr/>
            </p:nvSpPr>
            <p:spPr bwMode="auto">
              <a:xfrm>
                <a:off x="4560" y="1296"/>
                <a:ext cx="336" cy="327"/>
              </a:xfrm>
              <a:prstGeom prst="rect">
                <a:avLst/>
              </a:prstGeom>
              <a:noFill/>
              <a:ln w="9525">
                <a:noFill/>
                <a:miter lim="800000"/>
                <a:headEnd/>
                <a:tailEnd/>
              </a:ln>
              <a:effectLst/>
            </p:spPr>
            <p:txBody>
              <a:bodyPr>
                <a:spAutoFit/>
              </a:bodyPr>
              <a:lstStyle/>
              <a:p>
                <a:pPr>
                  <a:spcBef>
                    <a:spcPct val="50000"/>
                  </a:spcBef>
                </a:pPr>
                <a:r>
                  <a:rPr kumimoji="1" lang="en-US" altLang="zh-CN" sz="2800" i="1">
                    <a:sym typeface="Symbol" pitchFamily="18" charset="2"/>
                  </a:rPr>
                  <a:t></a:t>
                </a:r>
                <a:endParaRPr kumimoji="1" lang="en-US" altLang="zh-CN" sz="2800" i="1"/>
              </a:p>
            </p:txBody>
          </p:sp>
          <p:sp>
            <p:nvSpPr>
              <p:cNvPr id="533534" name="Rectangle 30"/>
              <p:cNvSpPr>
                <a:spLocks noChangeArrowheads="1"/>
              </p:cNvSpPr>
              <p:nvPr/>
            </p:nvSpPr>
            <p:spPr bwMode="auto">
              <a:xfrm>
                <a:off x="4080" y="1392"/>
                <a:ext cx="208" cy="327"/>
              </a:xfrm>
              <a:prstGeom prst="rect">
                <a:avLst/>
              </a:prstGeom>
              <a:noFill/>
              <a:ln w="9525">
                <a:noFill/>
                <a:miter lim="800000"/>
                <a:headEnd/>
                <a:tailEnd/>
              </a:ln>
              <a:effectLst/>
            </p:spPr>
            <p:txBody>
              <a:bodyPr wrap="none">
                <a:spAutoFit/>
              </a:bodyPr>
              <a:lstStyle/>
              <a:p>
                <a:r>
                  <a:rPr kumimoji="1" lang="en-US" altLang="zh-CN" sz="2800" i="1">
                    <a:sym typeface="Symbol" pitchFamily="18" charset="2"/>
                  </a:rPr>
                  <a:t></a:t>
                </a:r>
              </a:p>
            </p:txBody>
          </p:sp>
          <p:sp>
            <p:nvSpPr>
              <p:cNvPr id="533535" name="Rectangle 31"/>
              <p:cNvSpPr>
                <a:spLocks noChangeArrowheads="1"/>
              </p:cNvSpPr>
              <p:nvPr/>
            </p:nvSpPr>
            <p:spPr bwMode="auto">
              <a:xfrm>
                <a:off x="4368" y="1056"/>
                <a:ext cx="239" cy="327"/>
              </a:xfrm>
              <a:prstGeom prst="rect">
                <a:avLst/>
              </a:prstGeom>
              <a:noFill/>
              <a:ln w="9525">
                <a:noFill/>
                <a:miter lim="800000"/>
                <a:headEnd/>
                <a:tailEnd/>
              </a:ln>
              <a:effectLst/>
            </p:spPr>
            <p:txBody>
              <a:bodyPr wrap="none">
                <a:spAutoFit/>
              </a:bodyPr>
              <a:lstStyle/>
              <a:p>
                <a:r>
                  <a:rPr kumimoji="1" lang="en-US" altLang="zh-CN" sz="2800" i="1">
                    <a:sym typeface="Symbol" pitchFamily="18" charset="2"/>
                  </a:rPr>
                  <a:t></a:t>
                </a:r>
              </a:p>
            </p:txBody>
          </p:sp>
        </p:grpSp>
        <p:sp>
          <p:nvSpPr>
            <p:cNvPr id="533536" name="Oval 32"/>
            <p:cNvSpPr>
              <a:spLocks noChangeArrowheads="1"/>
            </p:cNvSpPr>
            <p:nvPr/>
          </p:nvSpPr>
          <p:spPr bwMode="auto">
            <a:xfrm>
              <a:off x="4320" y="1584"/>
              <a:ext cx="48" cy="48"/>
            </a:xfrm>
            <a:prstGeom prst="ellipse">
              <a:avLst/>
            </a:prstGeom>
            <a:gradFill rotWithShape="0">
              <a:gsLst>
                <a:gs pos="0">
                  <a:srgbClr val="FF3300"/>
                </a:gs>
                <a:gs pos="100000">
                  <a:srgbClr val="FF3300">
                    <a:gamma/>
                    <a:shade val="46275"/>
                    <a:invGamma/>
                  </a:srgb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grpSp>
      <p:graphicFrame>
        <p:nvGraphicFramePr>
          <p:cNvPr id="533537" name="Object 33"/>
          <p:cNvGraphicFramePr>
            <a:graphicFrameLocks noChangeAspect="1"/>
          </p:cNvGraphicFramePr>
          <p:nvPr/>
        </p:nvGraphicFramePr>
        <p:xfrm>
          <a:off x="381000" y="2071688"/>
          <a:ext cx="4232275" cy="576262"/>
        </p:xfrm>
        <a:graphic>
          <a:graphicData uri="http://schemas.openxmlformats.org/presentationml/2006/ole">
            <mc:AlternateContent xmlns:mc="http://schemas.openxmlformats.org/markup-compatibility/2006">
              <mc:Choice xmlns:v="urn:schemas-microsoft-com:vml" Requires="v">
                <p:oleObj name="公式" r:id="rId2" imgW="1676160" imgH="228600" progId="Equation.3">
                  <p:embed/>
                </p:oleObj>
              </mc:Choice>
              <mc:Fallback>
                <p:oleObj name="公式" r:id="rId2" imgW="1676160" imgH="228600" progId="Equation.3">
                  <p:embed/>
                  <p:pic>
                    <p:nvPicPr>
                      <p:cNvPr id="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071688"/>
                        <a:ext cx="4232275"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3539" name="Rectangle 35"/>
          <p:cNvSpPr>
            <a:spLocks noChangeArrowheads="1"/>
          </p:cNvSpPr>
          <p:nvPr/>
        </p:nvSpPr>
        <p:spPr bwMode="auto">
          <a:xfrm>
            <a:off x="457200" y="3290888"/>
            <a:ext cx="4038600" cy="519112"/>
          </a:xfrm>
          <a:prstGeom prst="rect">
            <a:avLst/>
          </a:prstGeom>
          <a:noFill/>
          <a:ln w="9525">
            <a:noFill/>
            <a:miter lim="800000"/>
            <a:headEnd/>
            <a:tailEnd/>
          </a:ln>
          <a:effectLst/>
        </p:spPr>
        <p:txBody>
          <a:bodyPr>
            <a:spAutoFit/>
          </a:bodyPr>
          <a:lstStyle/>
          <a:p>
            <a:r>
              <a:rPr kumimoji="1" lang="zh-CN" altLang="en-US" sz="2800"/>
              <a:t>自由</a:t>
            </a:r>
            <a:r>
              <a:rPr kumimoji="1" lang="zh-CN" altLang="en-US" sz="2800">
                <a:solidFill>
                  <a:srgbClr val="0000CC"/>
                </a:solidFill>
              </a:rPr>
              <a:t>刚体</a:t>
            </a:r>
            <a:r>
              <a:rPr kumimoji="1" lang="zh-CN" altLang="en-US" sz="2800"/>
              <a:t>有六个自由度</a:t>
            </a:r>
          </a:p>
        </p:txBody>
      </p:sp>
      <p:sp>
        <p:nvSpPr>
          <p:cNvPr id="533540" name="Rectangle 36"/>
          <p:cNvSpPr>
            <a:spLocks noChangeArrowheads="1"/>
          </p:cNvSpPr>
          <p:nvPr/>
        </p:nvSpPr>
        <p:spPr bwMode="auto">
          <a:xfrm>
            <a:off x="838200" y="4129088"/>
            <a:ext cx="3124200" cy="519112"/>
          </a:xfrm>
          <a:prstGeom prst="rect">
            <a:avLst/>
          </a:prstGeom>
          <a:noFill/>
          <a:ln w="9525">
            <a:noFill/>
            <a:miter lim="800000"/>
            <a:headEnd/>
            <a:tailEnd/>
          </a:ln>
          <a:effectLst/>
        </p:spPr>
        <p:txBody>
          <a:bodyPr>
            <a:spAutoFit/>
          </a:bodyPr>
          <a:lstStyle/>
          <a:p>
            <a:r>
              <a:rPr kumimoji="1" lang="zh-CN" altLang="en-US" sz="2800"/>
              <a:t>三个</a:t>
            </a:r>
            <a:r>
              <a:rPr kumimoji="1" lang="zh-CN" altLang="en-US" sz="2800">
                <a:solidFill>
                  <a:srgbClr val="0000CC"/>
                </a:solidFill>
              </a:rPr>
              <a:t>平动</a:t>
            </a:r>
            <a:r>
              <a:rPr kumimoji="1" lang="zh-CN" altLang="en-US" sz="2800"/>
              <a:t>自由度</a:t>
            </a:r>
          </a:p>
        </p:txBody>
      </p:sp>
      <p:sp>
        <p:nvSpPr>
          <p:cNvPr id="533541" name="Rectangle 37"/>
          <p:cNvSpPr>
            <a:spLocks noChangeArrowheads="1"/>
          </p:cNvSpPr>
          <p:nvPr/>
        </p:nvSpPr>
        <p:spPr bwMode="auto">
          <a:xfrm>
            <a:off x="838200" y="4967288"/>
            <a:ext cx="3124200" cy="519112"/>
          </a:xfrm>
          <a:prstGeom prst="rect">
            <a:avLst/>
          </a:prstGeom>
          <a:noFill/>
          <a:ln w="9525" algn="ctr">
            <a:noFill/>
            <a:miter lim="800000"/>
            <a:headEnd/>
            <a:tailEnd/>
          </a:ln>
          <a:effectLst/>
        </p:spPr>
        <p:txBody>
          <a:bodyPr>
            <a:spAutoFit/>
          </a:bodyPr>
          <a:lstStyle/>
          <a:p>
            <a:r>
              <a:rPr kumimoji="1" lang="zh-CN" altLang="en-US" sz="2800"/>
              <a:t>三个</a:t>
            </a:r>
            <a:r>
              <a:rPr kumimoji="1" lang="zh-CN" altLang="en-US" sz="2800">
                <a:solidFill>
                  <a:srgbClr val="0000CC"/>
                </a:solidFill>
              </a:rPr>
              <a:t>转动</a:t>
            </a:r>
            <a:r>
              <a:rPr kumimoji="1" lang="zh-CN" altLang="en-US" sz="2800"/>
              <a:t>自由度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33508"/>
                                        </p:tgtEl>
                                        <p:attrNameLst>
                                          <p:attrName>style.visibility</p:attrName>
                                        </p:attrNameLst>
                                      </p:cBhvr>
                                      <p:to>
                                        <p:strVal val="visible"/>
                                      </p:to>
                                    </p:set>
                                    <p:animEffect transition="in" filter="wipe(left)">
                                      <p:cBhvr>
                                        <p:cTn id="7" dur="500"/>
                                        <p:tgtEl>
                                          <p:spTgt spid="53350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33521"/>
                                        </p:tgtEl>
                                        <p:attrNameLst>
                                          <p:attrName>style.visibility</p:attrName>
                                        </p:attrNameLst>
                                      </p:cBhvr>
                                      <p:to>
                                        <p:strVal val="visible"/>
                                      </p:to>
                                    </p:set>
                                    <p:animEffect transition="in" filter="box(out)">
                                      <p:cBhvr>
                                        <p:cTn id="12" dur="500"/>
                                        <p:tgtEl>
                                          <p:spTgt spid="53352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533517"/>
                                        </p:tgtEl>
                                        <p:attrNameLst>
                                          <p:attrName>style.visibility</p:attrName>
                                        </p:attrNameLst>
                                      </p:cBhvr>
                                      <p:to>
                                        <p:strVal val="visible"/>
                                      </p:to>
                                    </p:set>
                                    <p:animEffect transition="in" filter="strips(downRight)">
                                      <p:cBhvr>
                                        <p:cTn id="17" dur="500"/>
                                        <p:tgtEl>
                                          <p:spTgt spid="53351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533537"/>
                                        </p:tgtEl>
                                        <p:attrNameLst>
                                          <p:attrName>style.visibility</p:attrName>
                                        </p:attrNameLst>
                                      </p:cBhvr>
                                      <p:to>
                                        <p:strVal val="visible"/>
                                      </p:to>
                                    </p:set>
                                    <p:animEffect transition="in" filter="strips(upRight)">
                                      <p:cBhvr>
                                        <p:cTn id="22" dur="500"/>
                                        <p:tgtEl>
                                          <p:spTgt spid="53353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533539"/>
                                        </p:tgtEl>
                                        <p:attrNameLst>
                                          <p:attrName>style.visibility</p:attrName>
                                        </p:attrNameLst>
                                      </p:cBhvr>
                                      <p:to>
                                        <p:strVal val="visible"/>
                                      </p:to>
                                    </p:set>
                                    <p:animEffect transition="in" filter="strips(upRight)">
                                      <p:cBhvr>
                                        <p:cTn id="27" dur="500"/>
                                        <p:tgtEl>
                                          <p:spTgt spid="533539"/>
                                        </p:tgtEl>
                                      </p:cBhvr>
                                    </p:animEffect>
                                  </p:childTnLst>
                                </p:cTn>
                              </p:par>
                              <p:par>
                                <p:cTn id="28" presetID="18" presetClass="entr" presetSubtype="3" fill="hold" grpId="0" nodeType="withEffect">
                                  <p:stCondLst>
                                    <p:cond delay="0"/>
                                  </p:stCondLst>
                                  <p:childTnLst>
                                    <p:set>
                                      <p:cBhvr>
                                        <p:cTn id="29" dur="1" fill="hold">
                                          <p:stCondLst>
                                            <p:cond delay="0"/>
                                          </p:stCondLst>
                                        </p:cTn>
                                        <p:tgtEl>
                                          <p:spTgt spid="533540"/>
                                        </p:tgtEl>
                                        <p:attrNameLst>
                                          <p:attrName>style.visibility</p:attrName>
                                        </p:attrNameLst>
                                      </p:cBhvr>
                                      <p:to>
                                        <p:strVal val="visible"/>
                                      </p:to>
                                    </p:set>
                                    <p:animEffect transition="in" filter="strips(upRight)">
                                      <p:cBhvr>
                                        <p:cTn id="30" dur="500"/>
                                        <p:tgtEl>
                                          <p:spTgt spid="533540"/>
                                        </p:tgtEl>
                                      </p:cBhvr>
                                    </p:animEffect>
                                  </p:childTnLst>
                                </p:cTn>
                              </p:par>
                              <p:par>
                                <p:cTn id="31" presetID="18" presetClass="entr" presetSubtype="3" fill="hold" grpId="0" nodeType="withEffect">
                                  <p:stCondLst>
                                    <p:cond delay="0"/>
                                  </p:stCondLst>
                                  <p:childTnLst>
                                    <p:set>
                                      <p:cBhvr>
                                        <p:cTn id="32" dur="1" fill="hold">
                                          <p:stCondLst>
                                            <p:cond delay="0"/>
                                          </p:stCondLst>
                                        </p:cTn>
                                        <p:tgtEl>
                                          <p:spTgt spid="533541"/>
                                        </p:tgtEl>
                                        <p:attrNameLst>
                                          <p:attrName>style.visibility</p:attrName>
                                        </p:attrNameLst>
                                      </p:cBhvr>
                                      <p:to>
                                        <p:strVal val="visible"/>
                                      </p:to>
                                    </p:set>
                                    <p:animEffect transition="in" filter="strips(upRight)">
                                      <p:cBhvr>
                                        <p:cTn id="33" dur="500"/>
                                        <p:tgtEl>
                                          <p:spTgt spid="533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39" grpId="0" autoUpdateAnimBg="0"/>
      <p:bldP spid="533540" grpId="0" autoUpdateAnimBg="0"/>
      <p:bldP spid="53354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38" name="灯片编号占位符 4"/>
          <p:cNvSpPr>
            <a:spLocks noGrp="1"/>
          </p:cNvSpPr>
          <p:nvPr>
            <p:ph type="sldNum" sz="quarter" idx="12"/>
          </p:nvPr>
        </p:nvSpPr>
        <p:spPr/>
        <p:txBody>
          <a:bodyPr/>
          <a:lstStyle/>
          <a:p>
            <a:fld id="{F587FE77-2835-446E-9F52-CE9D7DAE3B39}" type="slidenum">
              <a:rPr lang="en-US" altLang="zh-CN"/>
              <a:pPr/>
              <a:t>25</a:t>
            </a:fld>
            <a:endParaRPr lang="en-US" altLang="zh-CN"/>
          </a:p>
        </p:txBody>
      </p:sp>
      <p:grpSp>
        <p:nvGrpSpPr>
          <p:cNvPr id="534631" name="Group 103"/>
          <p:cNvGrpSpPr>
            <a:grpSpLocks/>
          </p:cNvGrpSpPr>
          <p:nvPr/>
        </p:nvGrpSpPr>
        <p:grpSpPr bwMode="auto">
          <a:xfrm>
            <a:off x="2362200" y="3886200"/>
            <a:ext cx="3028950" cy="2089150"/>
            <a:chOff x="1488" y="2784"/>
            <a:chExt cx="1908" cy="1316"/>
          </a:xfrm>
        </p:grpSpPr>
        <p:sp>
          <p:nvSpPr>
            <p:cNvPr id="534596" name="Rectangle 68"/>
            <p:cNvSpPr>
              <a:spLocks noChangeArrowheads="1"/>
            </p:cNvSpPr>
            <p:nvPr/>
          </p:nvSpPr>
          <p:spPr bwMode="auto">
            <a:xfrm>
              <a:off x="1488" y="3504"/>
              <a:ext cx="1908" cy="596"/>
            </a:xfrm>
            <a:prstGeom prst="rect">
              <a:avLst/>
            </a:prstGeom>
            <a:noFill/>
            <a:ln w="9525">
              <a:noFill/>
              <a:miter lim="800000"/>
              <a:headEnd/>
              <a:tailEnd/>
            </a:ln>
            <a:effectLst/>
          </p:spPr>
          <p:txBody>
            <a:bodyPr wrap="none">
              <a:spAutoFit/>
            </a:bodyPr>
            <a:lstStyle/>
            <a:p>
              <a:r>
                <a:rPr kumimoji="1" lang="zh-CN" altLang="en-US" sz="2800"/>
                <a:t>双原子分子</a:t>
              </a:r>
            </a:p>
            <a:p>
              <a:r>
                <a:rPr kumimoji="1" lang="zh-CN" altLang="en-US" sz="2800"/>
                <a:t>如，氢、氧、氮等</a:t>
              </a:r>
            </a:p>
          </p:txBody>
        </p:sp>
        <p:grpSp>
          <p:nvGrpSpPr>
            <p:cNvPr id="534597" name="Group 69"/>
            <p:cNvGrpSpPr>
              <a:grpSpLocks/>
            </p:cNvGrpSpPr>
            <p:nvPr/>
          </p:nvGrpSpPr>
          <p:grpSpPr bwMode="auto">
            <a:xfrm>
              <a:off x="1824" y="2784"/>
              <a:ext cx="768" cy="288"/>
              <a:chOff x="3312" y="1920"/>
              <a:chExt cx="768" cy="288"/>
            </a:xfrm>
          </p:grpSpPr>
          <p:sp>
            <p:nvSpPr>
              <p:cNvPr id="534598" name="Oval 70"/>
              <p:cNvSpPr>
                <a:spLocks noChangeArrowheads="1"/>
              </p:cNvSpPr>
              <p:nvPr/>
            </p:nvSpPr>
            <p:spPr bwMode="auto">
              <a:xfrm>
                <a:off x="3312" y="1920"/>
                <a:ext cx="288" cy="288"/>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599" name="Oval 71"/>
              <p:cNvSpPr>
                <a:spLocks noChangeArrowheads="1"/>
              </p:cNvSpPr>
              <p:nvPr/>
            </p:nvSpPr>
            <p:spPr bwMode="auto">
              <a:xfrm>
                <a:off x="3792" y="1920"/>
                <a:ext cx="288" cy="288"/>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00" name="Line 72"/>
              <p:cNvSpPr>
                <a:spLocks noChangeShapeType="1"/>
              </p:cNvSpPr>
              <p:nvPr/>
            </p:nvSpPr>
            <p:spPr bwMode="auto">
              <a:xfrm>
                <a:off x="3600" y="2064"/>
                <a:ext cx="192" cy="0"/>
              </a:xfrm>
              <a:prstGeom prst="line">
                <a:avLst/>
              </a:prstGeom>
              <a:noFill/>
              <a:ln w="38100">
                <a:solidFill>
                  <a:schemeClr val="tx1"/>
                </a:solidFill>
                <a:round/>
                <a:headEnd/>
                <a:tailEnd/>
              </a:ln>
              <a:effectLst/>
            </p:spPr>
            <p:txBody>
              <a:bodyPr wrap="none" anchor="ctr"/>
              <a:lstStyle/>
              <a:p>
                <a:endParaRPr lang="zh-CN" altLang="en-US"/>
              </a:p>
            </p:txBody>
          </p:sp>
        </p:grpSp>
      </p:grpSp>
      <p:grpSp>
        <p:nvGrpSpPr>
          <p:cNvPr id="534630" name="Group 102"/>
          <p:cNvGrpSpPr>
            <a:grpSpLocks/>
          </p:cNvGrpSpPr>
          <p:nvPr/>
        </p:nvGrpSpPr>
        <p:grpSpPr bwMode="auto">
          <a:xfrm>
            <a:off x="76200" y="3886200"/>
            <a:ext cx="1962150" cy="2089150"/>
            <a:chOff x="96" y="2784"/>
            <a:chExt cx="1236" cy="1316"/>
          </a:xfrm>
        </p:grpSpPr>
        <p:sp>
          <p:nvSpPr>
            <p:cNvPr id="534602" name="Rectangle 74"/>
            <p:cNvSpPr>
              <a:spLocks noChangeArrowheads="1"/>
            </p:cNvSpPr>
            <p:nvPr/>
          </p:nvSpPr>
          <p:spPr bwMode="auto">
            <a:xfrm>
              <a:off x="96" y="3504"/>
              <a:ext cx="1236" cy="596"/>
            </a:xfrm>
            <a:prstGeom prst="rect">
              <a:avLst/>
            </a:prstGeom>
            <a:noFill/>
            <a:ln w="9525">
              <a:noFill/>
              <a:miter lim="800000"/>
              <a:headEnd/>
              <a:tailEnd/>
            </a:ln>
            <a:effectLst/>
          </p:spPr>
          <p:txBody>
            <a:bodyPr wrap="none">
              <a:spAutoFit/>
            </a:bodyPr>
            <a:lstStyle/>
            <a:p>
              <a:r>
                <a:rPr kumimoji="1" lang="zh-CN" altLang="en-US" sz="2800"/>
                <a:t>单原子分子</a:t>
              </a:r>
            </a:p>
            <a:p>
              <a:r>
                <a:rPr kumimoji="1" lang="zh-CN" altLang="en-US" sz="2800"/>
                <a:t>如氦、氩等</a:t>
              </a:r>
            </a:p>
          </p:txBody>
        </p:sp>
        <p:sp>
          <p:nvSpPr>
            <p:cNvPr id="534603" name="Oval 75"/>
            <p:cNvSpPr>
              <a:spLocks noChangeArrowheads="1"/>
            </p:cNvSpPr>
            <p:nvPr/>
          </p:nvSpPr>
          <p:spPr bwMode="auto">
            <a:xfrm>
              <a:off x="576" y="2784"/>
              <a:ext cx="288" cy="288"/>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grpSp>
      <p:grpSp>
        <p:nvGrpSpPr>
          <p:cNvPr id="534629" name="Group 101"/>
          <p:cNvGrpSpPr>
            <a:grpSpLocks/>
          </p:cNvGrpSpPr>
          <p:nvPr/>
        </p:nvGrpSpPr>
        <p:grpSpPr bwMode="auto">
          <a:xfrm>
            <a:off x="5149850" y="3276600"/>
            <a:ext cx="3994150" cy="2698750"/>
            <a:chOff x="3120" y="2400"/>
            <a:chExt cx="2516" cy="1700"/>
          </a:xfrm>
        </p:grpSpPr>
        <p:sp>
          <p:nvSpPr>
            <p:cNvPr id="534605" name="Rectangle 77"/>
            <p:cNvSpPr>
              <a:spLocks noChangeArrowheads="1"/>
            </p:cNvSpPr>
            <p:nvPr/>
          </p:nvSpPr>
          <p:spPr bwMode="auto">
            <a:xfrm>
              <a:off x="3504" y="3504"/>
              <a:ext cx="2132" cy="596"/>
            </a:xfrm>
            <a:prstGeom prst="rect">
              <a:avLst/>
            </a:prstGeom>
            <a:noFill/>
            <a:ln w="9525">
              <a:noFill/>
              <a:miter lim="800000"/>
              <a:headEnd/>
              <a:tailEnd/>
            </a:ln>
            <a:effectLst/>
          </p:spPr>
          <p:txBody>
            <a:bodyPr wrap="none">
              <a:spAutoFit/>
            </a:bodyPr>
            <a:lstStyle/>
            <a:p>
              <a:r>
                <a:rPr kumimoji="1" lang="zh-CN" altLang="en-US" sz="2800"/>
                <a:t>多原子分子</a:t>
              </a:r>
            </a:p>
            <a:p>
              <a:r>
                <a:rPr kumimoji="1" lang="zh-CN" altLang="en-US" sz="2800"/>
                <a:t>如，水蒸气、甲烷等</a:t>
              </a:r>
            </a:p>
          </p:txBody>
        </p:sp>
        <p:sp>
          <p:nvSpPr>
            <p:cNvPr id="534606" name="Oval 78"/>
            <p:cNvSpPr>
              <a:spLocks noChangeArrowheads="1"/>
            </p:cNvSpPr>
            <p:nvPr/>
          </p:nvSpPr>
          <p:spPr bwMode="auto">
            <a:xfrm>
              <a:off x="3840" y="2983"/>
              <a:ext cx="192" cy="192"/>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07" name="Oval 79"/>
            <p:cNvSpPr>
              <a:spLocks noChangeArrowheads="1"/>
            </p:cNvSpPr>
            <p:nvPr/>
          </p:nvSpPr>
          <p:spPr bwMode="auto">
            <a:xfrm>
              <a:off x="3120" y="2983"/>
              <a:ext cx="192" cy="192"/>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08" name="Line 80"/>
            <p:cNvSpPr>
              <a:spLocks noChangeShapeType="1"/>
            </p:cNvSpPr>
            <p:nvPr/>
          </p:nvSpPr>
          <p:spPr bwMode="auto">
            <a:xfrm flipH="1">
              <a:off x="3312" y="2907"/>
              <a:ext cx="179" cy="124"/>
            </a:xfrm>
            <a:prstGeom prst="line">
              <a:avLst/>
            </a:prstGeom>
            <a:noFill/>
            <a:ln w="28575">
              <a:solidFill>
                <a:schemeClr val="tx1"/>
              </a:solidFill>
              <a:round/>
              <a:headEnd/>
              <a:tailEnd/>
            </a:ln>
            <a:effectLst/>
          </p:spPr>
          <p:txBody>
            <a:bodyPr wrap="none" anchor="ctr"/>
            <a:lstStyle/>
            <a:p>
              <a:endParaRPr lang="zh-CN" altLang="en-US"/>
            </a:p>
          </p:txBody>
        </p:sp>
        <p:sp>
          <p:nvSpPr>
            <p:cNvPr id="534609" name="Line 81"/>
            <p:cNvSpPr>
              <a:spLocks noChangeShapeType="1"/>
            </p:cNvSpPr>
            <p:nvPr/>
          </p:nvSpPr>
          <p:spPr bwMode="auto">
            <a:xfrm>
              <a:off x="3696" y="2935"/>
              <a:ext cx="144" cy="96"/>
            </a:xfrm>
            <a:prstGeom prst="line">
              <a:avLst/>
            </a:prstGeom>
            <a:noFill/>
            <a:ln w="28575">
              <a:solidFill>
                <a:schemeClr val="tx1"/>
              </a:solidFill>
              <a:round/>
              <a:headEnd/>
              <a:tailEnd/>
            </a:ln>
            <a:effectLst/>
          </p:spPr>
          <p:txBody>
            <a:bodyPr wrap="none" anchor="ctr"/>
            <a:lstStyle/>
            <a:p>
              <a:endParaRPr lang="zh-CN" altLang="en-US"/>
            </a:p>
          </p:txBody>
        </p:sp>
        <p:sp>
          <p:nvSpPr>
            <p:cNvPr id="534610" name="Oval 82"/>
            <p:cNvSpPr>
              <a:spLocks noChangeArrowheads="1"/>
            </p:cNvSpPr>
            <p:nvPr/>
          </p:nvSpPr>
          <p:spPr bwMode="auto">
            <a:xfrm>
              <a:off x="3456" y="2695"/>
              <a:ext cx="288" cy="288"/>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grpSp>
          <p:nvGrpSpPr>
            <p:cNvPr id="534611" name="Group 83"/>
            <p:cNvGrpSpPr>
              <a:grpSpLocks/>
            </p:cNvGrpSpPr>
            <p:nvPr/>
          </p:nvGrpSpPr>
          <p:grpSpPr bwMode="auto">
            <a:xfrm>
              <a:off x="4456" y="2400"/>
              <a:ext cx="1145" cy="1008"/>
              <a:chOff x="3016" y="3113"/>
              <a:chExt cx="1145" cy="1008"/>
            </a:xfrm>
          </p:grpSpPr>
          <p:sp>
            <p:nvSpPr>
              <p:cNvPr id="534612" name="Line 84"/>
              <p:cNvSpPr>
                <a:spLocks noChangeShapeType="1"/>
              </p:cNvSpPr>
              <p:nvPr/>
            </p:nvSpPr>
            <p:spPr bwMode="auto">
              <a:xfrm>
                <a:off x="3606" y="3666"/>
                <a:ext cx="453" cy="91"/>
              </a:xfrm>
              <a:prstGeom prst="line">
                <a:avLst/>
              </a:prstGeom>
              <a:noFill/>
              <a:ln w="28575">
                <a:solidFill>
                  <a:schemeClr val="tx1"/>
                </a:solidFill>
                <a:round/>
                <a:headEnd/>
                <a:tailEnd/>
              </a:ln>
              <a:effectLst/>
            </p:spPr>
            <p:txBody>
              <a:bodyPr/>
              <a:lstStyle/>
              <a:p>
                <a:endParaRPr lang="zh-CN" altLang="en-US"/>
              </a:p>
            </p:txBody>
          </p:sp>
          <p:sp>
            <p:nvSpPr>
              <p:cNvPr id="534613" name="Line 85"/>
              <p:cNvSpPr>
                <a:spLocks noChangeShapeType="1"/>
              </p:cNvSpPr>
              <p:nvPr/>
            </p:nvSpPr>
            <p:spPr bwMode="auto">
              <a:xfrm flipH="1">
                <a:off x="3107" y="3648"/>
                <a:ext cx="395" cy="145"/>
              </a:xfrm>
              <a:prstGeom prst="line">
                <a:avLst/>
              </a:prstGeom>
              <a:noFill/>
              <a:ln w="28575">
                <a:solidFill>
                  <a:schemeClr val="tx1"/>
                </a:solidFill>
                <a:round/>
                <a:headEnd/>
                <a:tailEnd/>
              </a:ln>
              <a:effectLst/>
            </p:spPr>
            <p:txBody>
              <a:bodyPr wrap="none" anchor="ctr"/>
              <a:lstStyle/>
              <a:p>
                <a:endParaRPr lang="zh-CN" altLang="en-US"/>
              </a:p>
            </p:txBody>
          </p:sp>
          <p:sp>
            <p:nvSpPr>
              <p:cNvPr id="534614" name="Line 86"/>
              <p:cNvSpPr>
                <a:spLocks noChangeShapeType="1"/>
              </p:cNvSpPr>
              <p:nvPr/>
            </p:nvSpPr>
            <p:spPr bwMode="auto">
              <a:xfrm>
                <a:off x="3560" y="3203"/>
                <a:ext cx="0" cy="454"/>
              </a:xfrm>
              <a:prstGeom prst="line">
                <a:avLst/>
              </a:prstGeom>
              <a:noFill/>
              <a:ln w="28575">
                <a:solidFill>
                  <a:schemeClr val="tx1"/>
                </a:solidFill>
                <a:round/>
                <a:headEnd/>
                <a:tailEnd/>
              </a:ln>
              <a:effectLst/>
            </p:spPr>
            <p:txBody>
              <a:bodyPr wrap="none" anchor="ctr"/>
              <a:lstStyle/>
              <a:p>
                <a:endParaRPr lang="zh-CN" altLang="en-US"/>
              </a:p>
            </p:txBody>
          </p:sp>
          <p:sp>
            <p:nvSpPr>
              <p:cNvPr id="534615" name="Line 87"/>
              <p:cNvSpPr>
                <a:spLocks noChangeShapeType="1"/>
              </p:cNvSpPr>
              <p:nvPr/>
            </p:nvSpPr>
            <p:spPr bwMode="auto">
              <a:xfrm flipV="1">
                <a:off x="3198" y="3748"/>
                <a:ext cx="816" cy="45"/>
              </a:xfrm>
              <a:prstGeom prst="line">
                <a:avLst/>
              </a:prstGeom>
              <a:noFill/>
              <a:ln w="28575">
                <a:solidFill>
                  <a:schemeClr val="tx1"/>
                </a:solidFill>
                <a:round/>
                <a:headEnd/>
                <a:tailEnd/>
              </a:ln>
              <a:effectLst/>
            </p:spPr>
            <p:txBody>
              <a:bodyPr wrap="none" anchor="ctr"/>
              <a:lstStyle/>
              <a:p>
                <a:endParaRPr lang="zh-CN" altLang="en-US"/>
              </a:p>
            </p:txBody>
          </p:sp>
          <p:sp>
            <p:nvSpPr>
              <p:cNvPr id="534616" name="Line 88"/>
              <p:cNvSpPr>
                <a:spLocks noChangeShapeType="1"/>
              </p:cNvSpPr>
              <p:nvPr/>
            </p:nvSpPr>
            <p:spPr bwMode="auto">
              <a:xfrm flipH="1">
                <a:off x="3107" y="3203"/>
                <a:ext cx="453" cy="590"/>
              </a:xfrm>
              <a:prstGeom prst="line">
                <a:avLst/>
              </a:prstGeom>
              <a:noFill/>
              <a:ln w="28575">
                <a:solidFill>
                  <a:schemeClr val="tx1"/>
                </a:solidFill>
                <a:round/>
                <a:headEnd/>
                <a:tailEnd/>
              </a:ln>
              <a:effectLst/>
            </p:spPr>
            <p:txBody>
              <a:bodyPr wrap="none" anchor="ctr"/>
              <a:lstStyle/>
              <a:p>
                <a:endParaRPr lang="zh-CN" altLang="en-US"/>
              </a:p>
            </p:txBody>
          </p:sp>
          <p:sp>
            <p:nvSpPr>
              <p:cNvPr id="534617" name="Line 89"/>
              <p:cNvSpPr>
                <a:spLocks noChangeShapeType="1"/>
              </p:cNvSpPr>
              <p:nvPr/>
            </p:nvSpPr>
            <p:spPr bwMode="auto">
              <a:xfrm>
                <a:off x="3560" y="3203"/>
                <a:ext cx="499" cy="590"/>
              </a:xfrm>
              <a:prstGeom prst="line">
                <a:avLst/>
              </a:prstGeom>
              <a:noFill/>
              <a:ln w="28575">
                <a:solidFill>
                  <a:schemeClr val="tx1"/>
                </a:solidFill>
                <a:round/>
                <a:headEnd/>
                <a:tailEnd/>
              </a:ln>
              <a:effectLst/>
            </p:spPr>
            <p:txBody>
              <a:bodyPr wrap="none" anchor="ctr"/>
              <a:lstStyle/>
              <a:p>
                <a:endParaRPr lang="zh-CN" altLang="en-US"/>
              </a:p>
            </p:txBody>
          </p:sp>
          <p:sp>
            <p:nvSpPr>
              <p:cNvPr id="534618" name="Line 90"/>
              <p:cNvSpPr>
                <a:spLocks noChangeShapeType="1"/>
              </p:cNvSpPr>
              <p:nvPr/>
            </p:nvSpPr>
            <p:spPr bwMode="auto">
              <a:xfrm flipV="1">
                <a:off x="3407" y="3757"/>
                <a:ext cx="680" cy="272"/>
              </a:xfrm>
              <a:prstGeom prst="line">
                <a:avLst/>
              </a:prstGeom>
              <a:noFill/>
              <a:ln w="28575">
                <a:solidFill>
                  <a:schemeClr val="tx1"/>
                </a:solidFill>
                <a:round/>
                <a:headEnd/>
                <a:tailEnd/>
              </a:ln>
              <a:effectLst/>
            </p:spPr>
            <p:txBody>
              <a:bodyPr wrap="none" anchor="ctr"/>
              <a:lstStyle/>
              <a:p>
                <a:endParaRPr lang="zh-CN" altLang="en-US"/>
              </a:p>
            </p:txBody>
          </p:sp>
          <p:sp>
            <p:nvSpPr>
              <p:cNvPr id="534619" name="Line 91"/>
              <p:cNvSpPr>
                <a:spLocks noChangeShapeType="1"/>
              </p:cNvSpPr>
              <p:nvPr/>
            </p:nvSpPr>
            <p:spPr bwMode="auto">
              <a:xfrm>
                <a:off x="3125" y="3802"/>
                <a:ext cx="227" cy="190"/>
              </a:xfrm>
              <a:prstGeom prst="line">
                <a:avLst/>
              </a:prstGeom>
              <a:noFill/>
              <a:ln w="28575">
                <a:solidFill>
                  <a:schemeClr val="tx1"/>
                </a:solidFill>
                <a:round/>
                <a:headEnd/>
                <a:tailEnd/>
              </a:ln>
              <a:effectLst/>
            </p:spPr>
            <p:txBody>
              <a:bodyPr wrap="none" anchor="ctr"/>
              <a:lstStyle/>
              <a:p>
                <a:endParaRPr lang="zh-CN" altLang="en-US"/>
              </a:p>
            </p:txBody>
          </p:sp>
          <p:sp>
            <p:nvSpPr>
              <p:cNvPr id="534620" name="Oval 92"/>
              <p:cNvSpPr>
                <a:spLocks noChangeArrowheads="1"/>
              </p:cNvSpPr>
              <p:nvPr/>
            </p:nvSpPr>
            <p:spPr bwMode="auto">
              <a:xfrm>
                <a:off x="3400" y="3497"/>
                <a:ext cx="288" cy="288"/>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21" name="Oval 93"/>
              <p:cNvSpPr>
                <a:spLocks noChangeArrowheads="1"/>
              </p:cNvSpPr>
              <p:nvPr/>
            </p:nvSpPr>
            <p:spPr bwMode="auto">
              <a:xfrm>
                <a:off x="3475" y="3113"/>
                <a:ext cx="192" cy="192"/>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22" name="Oval 94"/>
              <p:cNvSpPr>
                <a:spLocks noChangeArrowheads="1"/>
              </p:cNvSpPr>
              <p:nvPr/>
            </p:nvSpPr>
            <p:spPr bwMode="auto">
              <a:xfrm>
                <a:off x="3016" y="3702"/>
                <a:ext cx="192" cy="192"/>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23" name="Oval 95"/>
              <p:cNvSpPr>
                <a:spLocks noChangeArrowheads="1"/>
              </p:cNvSpPr>
              <p:nvPr/>
            </p:nvSpPr>
            <p:spPr bwMode="auto">
              <a:xfrm>
                <a:off x="3969" y="3657"/>
                <a:ext cx="192" cy="192"/>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24" name="Line 96"/>
              <p:cNvSpPr>
                <a:spLocks noChangeShapeType="1"/>
              </p:cNvSpPr>
              <p:nvPr/>
            </p:nvSpPr>
            <p:spPr bwMode="auto">
              <a:xfrm flipH="1">
                <a:off x="3424" y="3305"/>
                <a:ext cx="120" cy="669"/>
              </a:xfrm>
              <a:prstGeom prst="line">
                <a:avLst/>
              </a:prstGeom>
              <a:noFill/>
              <a:ln w="28575">
                <a:solidFill>
                  <a:schemeClr val="tx1"/>
                </a:solidFill>
                <a:round/>
                <a:headEnd/>
                <a:tailEnd/>
              </a:ln>
              <a:effectLst/>
            </p:spPr>
            <p:txBody>
              <a:bodyPr wrap="none" anchor="ctr"/>
              <a:lstStyle/>
              <a:p>
                <a:endParaRPr lang="zh-CN" altLang="en-US"/>
              </a:p>
            </p:txBody>
          </p:sp>
          <p:sp>
            <p:nvSpPr>
              <p:cNvPr id="534625" name="Oval 97"/>
              <p:cNvSpPr>
                <a:spLocks noChangeArrowheads="1"/>
              </p:cNvSpPr>
              <p:nvPr/>
            </p:nvSpPr>
            <p:spPr bwMode="auto">
              <a:xfrm>
                <a:off x="3316" y="3929"/>
                <a:ext cx="192" cy="192"/>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534626" name="Line 98"/>
              <p:cNvSpPr>
                <a:spLocks noChangeShapeType="1"/>
              </p:cNvSpPr>
              <p:nvPr/>
            </p:nvSpPr>
            <p:spPr bwMode="auto">
              <a:xfrm flipH="1">
                <a:off x="3424" y="3685"/>
                <a:ext cx="87" cy="289"/>
              </a:xfrm>
              <a:prstGeom prst="line">
                <a:avLst/>
              </a:prstGeom>
              <a:noFill/>
              <a:ln w="28575">
                <a:solidFill>
                  <a:schemeClr val="tx1"/>
                </a:solidFill>
                <a:round/>
                <a:headEnd/>
                <a:tailEnd/>
              </a:ln>
              <a:effectLst/>
            </p:spPr>
            <p:txBody>
              <a:bodyPr/>
              <a:lstStyle/>
              <a:p>
                <a:endParaRPr lang="zh-CN" altLang="en-US"/>
              </a:p>
            </p:txBody>
          </p:sp>
        </p:grpSp>
      </p:grpSp>
      <p:graphicFrame>
        <p:nvGraphicFramePr>
          <p:cNvPr id="534632" name="Object 104"/>
          <p:cNvGraphicFramePr>
            <a:graphicFrameLocks noChangeAspect="1"/>
          </p:cNvGraphicFramePr>
          <p:nvPr/>
        </p:nvGraphicFramePr>
        <p:xfrm>
          <a:off x="685800" y="1447800"/>
          <a:ext cx="7083425" cy="1887538"/>
        </p:xfrm>
        <a:graphic>
          <a:graphicData uri="http://schemas.openxmlformats.org/presentationml/2006/ole">
            <mc:AlternateContent xmlns:mc="http://schemas.openxmlformats.org/markup-compatibility/2006">
              <mc:Choice xmlns:v="urn:schemas-microsoft-com:vml" Requires="v">
                <p:oleObj name="文档" r:id="rId2" imgW="2437593" imgH="650497" progId="Word.Document.8">
                  <p:embed/>
                </p:oleObj>
              </mc:Choice>
              <mc:Fallback>
                <p:oleObj name="文档" r:id="rId2" imgW="2437593" imgH="650497" progId="Word.Document.8">
                  <p:embed/>
                  <p:pic>
                    <p:nvPicPr>
                      <p:cNvPr id="0" name="Picture 1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47800"/>
                        <a:ext cx="7083425" cy="188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3" name="灯片编号占位符 4"/>
          <p:cNvSpPr>
            <a:spLocks noGrp="1"/>
          </p:cNvSpPr>
          <p:nvPr>
            <p:ph type="sldNum" sz="quarter" idx="12"/>
          </p:nvPr>
        </p:nvSpPr>
        <p:spPr/>
        <p:txBody>
          <a:bodyPr/>
          <a:lstStyle/>
          <a:p>
            <a:fld id="{18EDCD60-9B36-45DD-BBE7-11FD9916D7FD}" type="slidenum">
              <a:rPr lang="en-US" altLang="zh-CN"/>
              <a:pPr/>
              <a:t>26</a:t>
            </a:fld>
            <a:endParaRPr lang="en-US" altLang="zh-CN"/>
          </a:p>
        </p:txBody>
      </p:sp>
      <p:sp>
        <p:nvSpPr>
          <p:cNvPr id="532483" name="Rectangle 3"/>
          <p:cNvSpPr>
            <a:spLocks noChangeArrowheads="1"/>
          </p:cNvSpPr>
          <p:nvPr/>
        </p:nvSpPr>
        <p:spPr bwMode="auto">
          <a:xfrm>
            <a:off x="471488" y="1219200"/>
            <a:ext cx="1738312" cy="457200"/>
          </a:xfrm>
          <a:prstGeom prst="rect">
            <a:avLst/>
          </a:prstGeom>
          <a:solidFill>
            <a:srgbClr val="CCFFCC">
              <a:alpha val="80000"/>
            </a:srgbClr>
          </a:solidFill>
          <a:ln w="9525">
            <a:noFill/>
            <a:miter lim="800000"/>
            <a:headEnd/>
            <a:tailEnd/>
          </a:ln>
          <a:effectLst/>
        </p:spPr>
        <p:txBody>
          <a:bodyPr anchor="ctr">
            <a:spAutoFit/>
          </a:bodyPr>
          <a:lstStyle/>
          <a:p>
            <a:r>
              <a:rPr lang="zh-CN" altLang="en-US" sz="2400"/>
              <a:t>非刚性分子</a:t>
            </a:r>
          </a:p>
        </p:txBody>
      </p:sp>
      <p:sp>
        <p:nvSpPr>
          <p:cNvPr id="532484" name="Text Box 4"/>
          <p:cNvSpPr txBox="1">
            <a:spLocks noChangeArrowheads="1"/>
          </p:cNvSpPr>
          <p:nvPr/>
        </p:nvSpPr>
        <p:spPr bwMode="auto">
          <a:xfrm>
            <a:off x="762000" y="5791200"/>
            <a:ext cx="4830763" cy="519113"/>
          </a:xfrm>
          <a:prstGeom prst="rect">
            <a:avLst/>
          </a:prstGeom>
          <a:noFill/>
          <a:ln w="12700">
            <a:noFill/>
            <a:miter lim="800000"/>
            <a:headEnd type="none" w="sm" len="sm"/>
            <a:tailEnd type="none" w="sm" len="sm"/>
          </a:ln>
          <a:effectLst/>
        </p:spPr>
        <p:txBody>
          <a:bodyPr>
            <a:spAutoFit/>
          </a:bodyPr>
          <a:lstStyle/>
          <a:p>
            <a:pPr>
              <a:spcBef>
                <a:spcPct val="50000"/>
              </a:spcBef>
              <a:buClr>
                <a:schemeClr val="folHlink"/>
              </a:buClr>
              <a:buFont typeface="Wingdings" pitchFamily="2" charset="2"/>
              <a:buChar char="n"/>
            </a:pPr>
            <a:r>
              <a:rPr kumimoji="1" lang="zh-CN" altLang="en-US" sz="2800" dirty="0">
                <a:solidFill>
                  <a:srgbClr val="0000CC"/>
                </a:solidFill>
              </a:rPr>
              <a:t>非刚性分子：</a:t>
            </a:r>
            <a:r>
              <a:rPr kumimoji="1" lang="en-US" altLang="zh-CN" sz="2800" i="1" dirty="0" err="1">
                <a:solidFill>
                  <a:srgbClr val="0000CC"/>
                </a:solidFill>
              </a:rPr>
              <a:t>i</a:t>
            </a:r>
            <a:r>
              <a:rPr kumimoji="1" lang="en-US" altLang="zh-CN" sz="2800" i="1" dirty="0">
                <a:solidFill>
                  <a:srgbClr val="0000CC"/>
                </a:solidFill>
              </a:rPr>
              <a:t> = t + r + s</a:t>
            </a:r>
          </a:p>
        </p:txBody>
      </p:sp>
      <p:pic>
        <p:nvPicPr>
          <p:cNvPr id="532486" name="Picture 6"/>
          <p:cNvPicPr>
            <a:picLocks noChangeAspect="1" noChangeArrowheads="1"/>
          </p:cNvPicPr>
          <p:nvPr/>
        </p:nvPicPr>
        <p:blipFill>
          <a:blip r:embed="rId2"/>
          <a:srcRect/>
          <a:stretch>
            <a:fillRect/>
          </a:stretch>
        </p:blipFill>
        <p:spPr bwMode="auto">
          <a:xfrm>
            <a:off x="0" y="2133600"/>
            <a:ext cx="2784475" cy="2589213"/>
          </a:xfrm>
          <a:prstGeom prst="rect">
            <a:avLst/>
          </a:prstGeom>
          <a:noFill/>
          <a:ln w="9525">
            <a:noFill/>
            <a:miter lim="800000"/>
            <a:headEnd/>
            <a:tailEnd/>
          </a:ln>
          <a:effectLst/>
        </p:spPr>
      </p:pic>
      <p:pic>
        <p:nvPicPr>
          <p:cNvPr id="532487" name="Picture 7"/>
          <p:cNvPicPr>
            <a:picLocks noChangeAspect="1" noChangeArrowheads="1"/>
          </p:cNvPicPr>
          <p:nvPr/>
        </p:nvPicPr>
        <p:blipFill>
          <a:blip r:embed="rId3"/>
          <a:srcRect/>
          <a:stretch>
            <a:fillRect/>
          </a:stretch>
        </p:blipFill>
        <p:spPr bwMode="auto">
          <a:xfrm>
            <a:off x="3200400" y="2174875"/>
            <a:ext cx="2784475" cy="2487613"/>
          </a:xfrm>
          <a:prstGeom prst="rect">
            <a:avLst/>
          </a:prstGeom>
          <a:noFill/>
          <a:ln w="9525">
            <a:noFill/>
            <a:miter lim="800000"/>
            <a:headEnd/>
            <a:tailEnd/>
          </a:ln>
          <a:effectLst/>
        </p:spPr>
      </p:pic>
      <p:pic>
        <p:nvPicPr>
          <p:cNvPr id="532488" name="Picture 8"/>
          <p:cNvPicPr>
            <a:picLocks noChangeAspect="1" noChangeArrowheads="1"/>
          </p:cNvPicPr>
          <p:nvPr/>
        </p:nvPicPr>
        <p:blipFill>
          <a:blip r:embed="rId4"/>
          <a:srcRect/>
          <a:stretch>
            <a:fillRect/>
          </a:stretch>
        </p:blipFill>
        <p:spPr bwMode="auto">
          <a:xfrm>
            <a:off x="6461125" y="1690688"/>
            <a:ext cx="2682875" cy="2894012"/>
          </a:xfrm>
          <a:prstGeom prst="rect">
            <a:avLst/>
          </a:prstGeom>
          <a:noFill/>
          <a:ln w="9525">
            <a:noFill/>
            <a:miter lim="800000"/>
            <a:headEnd/>
            <a:tailEnd/>
          </a:ln>
          <a:effectLst/>
        </p:spPr>
      </p:pic>
      <p:sp>
        <p:nvSpPr>
          <p:cNvPr id="532489" name="Rectangle 9"/>
          <p:cNvSpPr>
            <a:spLocks noChangeArrowheads="1"/>
          </p:cNvSpPr>
          <p:nvPr/>
        </p:nvSpPr>
        <p:spPr bwMode="auto">
          <a:xfrm>
            <a:off x="762000" y="4891088"/>
            <a:ext cx="1066800" cy="519112"/>
          </a:xfrm>
          <a:prstGeom prst="rect">
            <a:avLst/>
          </a:prstGeom>
          <a:noFill/>
          <a:ln w="9525">
            <a:noFill/>
            <a:miter lim="800000"/>
            <a:headEnd/>
            <a:tailEnd/>
          </a:ln>
          <a:effectLst/>
        </p:spPr>
        <p:txBody>
          <a:bodyPr>
            <a:spAutoFit/>
          </a:bodyPr>
          <a:lstStyle/>
          <a:p>
            <a:r>
              <a:rPr kumimoji="1" lang="zh-CN" altLang="en-US" sz="2800"/>
              <a:t>平动</a:t>
            </a:r>
          </a:p>
        </p:txBody>
      </p:sp>
      <p:sp>
        <p:nvSpPr>
          <p:cNvPr id="532490" name="Rectangle 10"/>
          <p:cNvSpPr>
            <a:spLocks noChangeArrowheads="1"/>
          </p:cNvSpPr>
          <p:nvPr/>
        </p:nvSpPr>
        <p:spPr bwMode="auto">
          <a:xfrm>
            <a:off x="4114800" y="4891088"/>
            <a:ext cx="1066800" cy="519112"/>
          </a:xfrm>
          <a:prstGeom prst="rect">
            <a:avLst/>
          </a:prstGeom>
          <a:noFill/>
          <a:ln w="9525">
            <a:noFill/>
            <a:miter lim="800000"/>
            <a:headEnd/>
            <a:tailEnd/>
          </a:ln>
          <a:effectLst/>
        </p:spPr>
        <p:txBody>
          <a:bodyPr>
            <a:spAutoFit/>
          </a:bodyPr>
          <a:lstStyle/>
          <a:p>
            <a:r>
              <a:rPr kumimoji="1" lang="zh-CN" altLang="en-US" sz="2800"/>
              <a:t>转动</a:t>
            </a:r>
          </a:p>
        </p:txBody>
      </p:sp>
      <p:sp>
        <p:nvSpPr>
          <p:cNvPr id="532491" name="Rectangle 11"/>
          <p:cNvSpPr>
            <a:spLocks noChangeArrowheads="1"/>
          </p:cNvSpPr>
          <p:nvPr/>
        </p:nvSpPr>
        <p:spPr bwMode="auto">
          <a:xfrm>
            <a:off x="7391400" y="4876800"/>
            <a:ext cx="1066800" cy="519113"/>
          </a:xfrm>
          <a:prstGeom prst="rect">
            <a:avLst/>
          </a:prstGeom>
          <a:noFill/>
          <a:ln w="9525">
            <a:noFill/>
            <a:miter lim="800000"/>
            <a:headEnd/>
            <a:tailEnd/>
          </a:ln>
          <a:effectLst/>
        </p:spPr>
        <p:txBody>
          <a:bodyPr>
            <a:spAutoFit/>
          </a:bodyPr>
          <a:lstStyle/>
          <a:p>
            <a:r>
              <a:rPr kumimoji="1" lang="zh-CN" altLang="en-US" sz="2800"/>
              <a:t>振动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32486"/>
                                        </p:tgtEl>
                                        <p:attrNameLst>
                                          <p:attrName>style.visibility</p:attrName>
                                        </p:attrNameLst>
                                      </p:cBhvr>
                                      <p:to>
                                        <p:strVal val="visible"/>
                                      </p:to>
                                    </p:set>
                                    <p:animEffect transition="in" filter="wipe(up)">
                                      <p:cBhvr>
                                        <p:cTn id="7" dur="1000"/>
                                        <p:tgtEl>
                                          <p:spTgt spid="53248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32489"/>
                                        </p:tgtEl>
                                        <p:attrNameLst>
                                          <p:attrName>style.visibility</p:attrName>
                                        </p:attrNameLst>
                                      </p:cBhvr>
                                      <p:to>
                                        <p:strVal val="visible"/>
                                      </p:to>
                                    </p:set>
                                    <p:animEffect transition="in" filter="wipe(up)">
                                      <p:cBhvr>
                                        <p:cTn id="10" dur="1000"/>
                                        <p:tgtEl>
                                          <p:spTgt spid="53248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32487"/>
                                        </p:tgtEl>
                                        <p:attrNameLst>
                                          <p:attrName>style.visibility</p:attrName>
                                        </p:attrNameLst>
                                      </p:cBhvr>
                                      <p:to>
                                        <p:strVal val="visible"/>
                                      </p:to>
                                    </p:set>
                                    <p:animEffect transition="in" filter="wipe(up)">
                                      <p:cBhvr>
                                        <p:cTn id="15" dur="1000"/>
                                        <p:tgtEl>
                                          <p:spTgt spid="532487"/>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32490"/>
                                        </p:tgtEl>
                                        <p:attrNameLst>
                                          <p:attrName>style.visibility</p:attrName>
                                        </p:attrNameLst>
                                      </p:cBhvr>
                                      <p:to>
                                        <p:strVal val="visible"/>
                                      </p:to>
                                    </p:set>
                                    <p:animEffect transition="in" filter="wipe(up)">
                                      <p:cBhvr>
                                        <p:cTn id="18" dur="1000"/>
                                        <p:tgtEl>
                                          <p:spTgt spid="53249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532488"/>
                                        </p:tgtEl>
                                        <p:attrNameLst>
                                          <p:attrName>style.visibility</p:attrName>
                                        </p:attrNameLst>
                                      </p:cBhvr>
                                      <p:to>
                                        <p:strVal val="visible"/>
                                      </p:to>
                                    </p:set>
                                    <p:animEffect transition="in" filter="wipe(up)">
                                      <p:cBhvr>
                                        <p:cTn id="23" dur="1000"/>
                                        <p:tgtEl>
                                          <p:spTgt spid="532488"/>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532491"/>
                                        </p:tgtEl>
                                        <p:attrNameLst>
                                          <p:attrName>style.visibility</p:attrName>
                                        </p:attrNameLst>
                                      </p:cBhvr>
                                      <p:to>
                                        <p:strVal val="visible"/>
                                      </p:to>
                                    </p:set>
                                    <p:animEffect transition="in" filter="wipe(up)">
                                      <p:cBhvr>
                                        <p:cTn id="26" dur="1000"/>
                                        <p:tgtEl>
                                          <p:spTgt spid="532491"/>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32484"/>
                                        </p:tgtEl>
                                        <p:attrNameLst>
                                          <p:attrName>style.visibility</p:attrName>
                                        </p:attrNameLst>
                                      </p:cBhvr>
                                      <p:to>
                                        <p:strVal val="visible"/>
                                      </p:to>
                                    </p:set>
                                    <p:anim calcmode="lin" valueType="num">
                                      <p:cBhvr additive="base">
                                        <p:cTn id="31" dur="500" fill="hold"/>
                                        <p:tgtEl>
                                          <p:spTgt spid="532484"/>
                                        </p:tgtEl>
                                        <p:attrNameLst>
                                          <p:attrName>ppt_x</p:attrName>
                                        </p:attrNameLst>
                                      </p:cBhvr>
                                      <p:tavLst>
                                        <p:tav tm="0">
                                          <p:val>
                                            <p:strVal val="0-#ppt_w/2"/>
                                          </p:val>
                                        </p:tav>
                                        <p:tav tm="100000">
                                          <p:val>
                                            <p:strVal val="#ppt_x"/>
                                          </p:val>
                                        </p:tav>
                                      </p:tavLst>
                                    </p:anim>
                                    <p:anim calcmode="lin" valueType="num">
                                      <p:cBhvr additive="base">
                                        <p:cTn id="32" dur="500" fill="hold"/>
                                        <p:tgtEl>
                                          <p:spTgt spid="5324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4" grpId="0" autoUpdateAnimBg="0"/>
      <p:bldP spid="532489" grpId="0"/>
      <p:bldP spid="532490" grpId="0"/>
      <p:bldP spid="53249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9" name="灯片编号占位符 4"/>
          <p:cNvSpPr>
            <a:spLocks noGrp="1"/>
          </p:cNvSpPr>
          <p:nvPr>
            <p:ph type="sldNum" sz="quarter" idx="12"/>
          </p:nvPr>
        </p:nvSpPr>
        <p:spPr/>
        <p:txBody>
          <a:bodyPr/>
          <a:lstStyle/>
          <a:p>
            <a:fld id="{6A1BFA0F-B661-411E-8B9B-3A29CB42BE17}" type="slidenum">
              <a:rPr lang="en-US" altLang="zh-CN"/>
              <a:pPr/>
              <a:t>27</a:t>
            </a:fld>
            <a:endParaRPr lang="en-US" altLang="zh-CN"/>
          </a:p>
        </p:txBody>
      </p:sp>
      <p:sp>
        <p:nvSpPr>
          <p:cNvPr id="536579" name="Text Box 3"/>
          <p:cNvSpPr txBox="1">
            <a:spLocks noChangeArrowheads="1"/>
          </p:cNvSpPr>
          <p:nvPr/>
        </p:nvSpPr>
        <p:spPr bwMode="auto">
          <a:xfrm>
            <a:off x="381000" y="1462088"/>
            <a:ext cx="5257800" cy="519112"/>
          </a:xfrm>
          <a:prstGeom prst="rect">
            <a:avLst/>
          </a:prstGeom>
          <a:noFill/>
          <a:ln w="9525">
            <a:noFill/>
            <a:miter lim="800000"/>
            <a:headEnd/>
            <a:tailEnd/>
          </a:ln>
          <a:effectLst/>
        </p:spPr>
        <p:txBody>
          <a:bodyPr>
            <a:spAutoFit/>
          </a:bodyPr>
          <a:lstStyle/>
          <a:p>
            <a:pPr>
              <a:spcBef>
                <a:spcPct val="50000"/>
              </a:spcBef>
            </a:pPr>
            <a:r>
              <a:rPr kumimoji="1" lang="zh-CN" altLang="en-US" sz="2800"/>
              <a:t>单原子分子（</a:t>
            </a:r>
            <a:r>
              <a:rPr kumimoji="1" lang="en-US" altLang="zh-CN" sz="2800"/>
              <a:t>3</a:t>
            </a:r>
            <a:r>
              <a:rPr kumimoji="1" lang="zh-CN" altLang="en-US" sz="2800"/>
              <a:t>个平动自由度）：</a:t>
            </a:r>
          </a:p>
        </p:txBody>
      </p:sp>
      <p:graphicFrame>
        <p:nvGraphicFramePr>
          <p:cNvPr id="536580" name="Object 4"/>
          <p:cNvGraphicFramePr>
            <a:graphicFrameLocks noChangeAspect="1"/>
          </p:cNvGraphicFramePr>
          <p:nvPr/>
        </p:nvGraphicFramePr>
        <p:xfrm>
          <a:off x="838200" y="2370138"/>
          <a:ext cx="7427913" cy="982662"/>
        </p:xfrm>
        <a:graphic>
          <a:graphicData uri="http://schemas.openxmlformats.org/presentationml/2006/ole">
            <mc:AlternateContent xmlns:mc="http://schemas.openxmlformats.org/markup-compatibility/2006">
              <mc:Choice xmlns:v="urn:schemas-microsoft-com:vml" Requires="v">
                <p:oleObj name="公式" r:id="rId2" imgW="2971800" imgH="393480" progId="Equation.3">
                  <p:embed/>
                </p:oleObj>
              </mc:Choice>
              <mc:Fallback>
                <p:oleObj name="公式" r:id="rId2" imgW="2971800" imgH="39348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70138"/>
                        <a:ext cx="7427913" cy="982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6581" name="Object 5"/>
          <p:cNvGraphicFramePr>
            <a:graphicFrameLocks noChangeAspect="1"/>
          </p:cNvGraphicFramePr>
          <p:nvPr/>
        </p:nvGraphicFramePr>
        <p:xfrm>
          <a:off x="1371600" y="3902075"/>
          <a:ext cx="3617913" cy="982663"/>
        </p:xfrm>
        <a:graphic>
          <a:graphicData uri="http://schemas.openxmlformats.org/presentationml/2006/ole">
            <mc:AlternateContent xmlns:mc="http://schemas.openxmlformats.org/markup-compatibility/2006">
              <mc:Choice xmlns:v="urn:schemas-microsoft-com:vml" Requires="v">
                <p:oleObj name="公式" r:id="rId4" imgW="1447560" imgH="393480" progId="Equation.3">
                  <p:embed/>
                </p:oleObj>
              </mc:Choice>
              <mc:Fallback>
                <p:oleObj name="公式" r:id="rId4" imgW="1447560" imgH="39348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902075"/>
                        <a:ext cx="3617913" cy="98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6582" name="Object 6"/>
          <p:cNvGraphicFramePr>
            <a:graphicFrameLocks noChangeAspect="1"/>
          </p:cNvGraphicFramePr>
          <p:nvPr/>
        </p:nvGraphicFramePr>
        <p:xfrm>
          <a:off x="1316038" y="5037138"/>
          <a:ext cx="5999162" cy="982662"/>
        </p:xfrm>
        <a:graphic>
          <a:graphicData uri="http://schemas.openxmlformats.org/presentationml/2006/ole">
            <mc:AlternateContent xmlns:mc="http://schemas.openxmlformats.org/markup-compatibility/2006">
              <mc:Choice xmlns:v="urn:schemas-microsoft-com:vml" Requires="v">
                <p:oleObj name="公式" r:id="rId6" imgW="2400120" imgH="393480" progId="Equation.3">
                  <p:embed/>
                </p:oleObj>
              </mc:Choice>
              <mc:Fallback>
                <p:oleObj name="公式" r:id="rId6" imgW="2400120" imgH="39348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6038" y="5037138"/>
                        <a:ext cx="5999162" cy="982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6579"/>
                                        </p:tgtEl>
                                        <p:attrNameLst>
                                          <p:attrName>style.visibility</p:attrName>
                                        </p:attrNameLst>
                                      </p:cBhvr>
                                      <p:to>
                                        <p:strVal val="visible"/>
                                      </p:to>
                                    </p:set>
                                    <p:anim calcmode="lin" valueType="num">
                                      <p:cBhvr additive="base">
                                        <p:cTn id="7" dur="500" fill="hold"/>
                                        <p:tgtEl>
                                          <p:spTgt spid="536579"/>
                                        </p:tgtEl>
                                        <p:attrNameLst>
                                          <p:attrName>ppt_x</p:attrName>
                                        </p:attrNameLst>
                                      </p:cBhvr>
                                      <p:tavLst>
                                        <p:tav tm="0">
                                          <p:val>
                                            <p:strVal val="0-#ppt_w/2"/>
                                          </p:val>
                                        </p:tav>
                                        <p:tav tm="100000">
                                          <p:val>
                                            <p:strVal val="#ppt_x"/>
                                          </p:val>
                                        </p:tav>
                                      </p:tavLst>
                                    </p:anim>
                                    <p:anim calcmode="lin" valueType="num">
                                      <p:cBhvr additive="base">
                                        <p:cTn id="8" dur="500" fill="hold"/>
                                        <p:tgtEl>
                                          <p:spTgt spid="5365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36580"/>
                                        </p:tgtEl>
                                        <p:attrNameLst>
                                          <p:attrName>style.visibility</p:attrName>
                                        </p:attrNameLst>
                                      </p:cBhvr>
                                      <p:to>
                                        <p:strVal val="visible"/>
                                      </p:to>
                                    </p:set>
                                    <p:animEffect transition="in" filter="strips(upRight)">
                                      <p:cBhvr>
                                        <p:cTn id="13" dur="500"/>
                                        <p:tgtEl>
                                          <p:spTgt spid="536580"/>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nodeType="clickEffect">
                                  <p:stCondLst>
                                    <p:cond delay="0"/>
                                  </p:stCondLst>
                                  <p:childTnLst>
                                    <p:set>
                                      <p:cBhvr>
                                        <p:cTn id="17" dur="1" fill="hold">
                                          <p:stCondLst>
                                            <p:cond delay="0"/>
                                          </p:stCondLst>
                                        </p:cTn>
                                        <p:tgtEl>
                                          <p:spTgt spid="536581"/>
                                        </p:tgtEl>
                                        <p:attrNameLst>
                                          <p:attrName>style.visibility</p:attrName>
                                        </p:attrNameLst>
                                      </p:cBhvr>
                                      <p:to>
                                        <p:strVal val="visible"/>
                                      </p:to>
                                    </p:set>
                                    <p:animEffect transition="in" filter="strips(upRight)">
                                      <p:cBhvr>
                                        <p:cTn id="18" dur="500"/>
                                        <p:tgtEl>
                                          <p:spTgt spid="536581"/>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536582"/>
                                        </p:tgtEl>
                                        <p:attrNameLst>
                                          <p:attrName>style.visibility</p:attrName>
                                        </p:attrNameLst>
                                      </p:cBhvr>
                                      <p:to>
                                        <p:strVal val="visible"/>
                                      </p:to>
                                    </p:set>
                                    <p:animEffect transition="in" filter="strips(upRight)">
                                      <p:cBhvr>
                                        <p:cTn id="23" dur="500"/>
                                        <p:tgtEl>
                                          <p:spTgt spid="536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79"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9" name="灯片编号占位符 4"/>
          <p:cNvSpPr>
            <a:spLocks noGrp="1"/>
          </p:cNvSpPr>
          <p:nvPr>
            <p:ph type="sldNum" sz="quarter" idx="12"/>
          </p:nvPr>
        </p:nvSpPr>
        <p:spPr/>
        <p:txBody>
          <a:bodyPr/>
          <a:lstStyle/>
          <a:p>
            <a:fld id="{2F1CD6C5-E98D-45BA-9B35-89084E522C5D}" type="slidenum">
              <a:rPr lang="en-US" altLang="zh-CN"/>
              <a:pPr/>
              <a:t>28</a:t>
            </a:fld>
            <a:endParaRPr lang="en-US" altLang="zh-CN"/>
          </a:p>
        </p:txBody>
      </p:sp>
      <p:sp>
        <p:nvSpPr>
          <p:cNvPr id="537605" name="Rectangle 5"/>
          <p:cNvSpPr>
            <a:spLocks noChangeArrowheads="1"/>
          </p:cNvSpPr>
          <p:nvPr/>
        </p:nvSpPr>
        <p:spPr bwMode="auto">
          <a:xfrm>
            <a:off x="501650" y="1219200"/>
            <a:ext cx="20129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latin typeface="Arial" charset="0"/>
              </a:rPr>
              <a:t>能量均分定理</a:t>
            </a:r>
          </a:p>
        </p:txBody>
      </p:sp>
      <p:sp>
        <p:nvSpPr>
          <p:cNvPr id="537607" name="Text Box 7"/>
          <p:cNvSpPr txBox="1">
            <a:spLocks noChangeArrowheads="1"/>
          </p:cNvSpPr>
          <p:nvPr/>
        </p:nvSpPr>
        <p:spPr bwMode="auto">
          <a:xfrm>
            <a:off x="533400" y="1676400"/>
            <a:ext cx="8064500" cy="1073150"/>
          </a:xfrm>
          <a:prstGeom prst="rect">
            <a:avLst/>
          </a:prstGeom>
          <a:noFill/>
          <a:ln w="9525">
            <a:noFill/>
            <a:miter lim="800000"/>
            <a:headEnd/>
            <a:tailEnd/>
          </a:ln>
          <a:effectLst/>
        </p:spPr>
        <p:txBody>
          <a:bodyPr>
            <a:spAutoFit/>
          </a:bodyPr>
          <a:lstStyle/>
          <a:p>
            <a:pPr>
              <a:lnSpc>
                <a:spcPct val="115000"/>
              </a:lnSpc>
              <a:spcBef>
                <a:spcPct val="50000"/>
              </a:spcBef>
            </a:pPr>
            <a:r>
              <a:rPr lang="zh-CN" altLang="en-US" sz="2800"/>
              <a:t>在温度为</a:t>
            </a:r>
            <a:r>
              <a:rPr lang="en-US" altLang="zh-CN" sz="2800" i="1"/>
              <a:t>T </a:t>
            </a:r>
            <a:r>
              <a:rPr lang="zh-CN" altLang="en-US" sz="2800"/>
              <a:t>的</a:t>
            </a:r>
            <a:r>
              <a:rPr lang="zh-CN" altLang="en-US" sz="2800">
                <a:solidFill>
                  <a:srgbClr val="0000CC"/>
                </a:solidFill>
              </a:rPr>
              <a:t>平衡态</a:t>
            </a:r>
            <a:r>
              <a:rPr lang="zh-CN" altLang="en-US" sz="2800"/>
              <a:t>下，物质分子的每个自由度都具有相同的平均动能，其值为 </a:t>
            </a:r>
            <a:r>
              <a:rPr lang="en-US" altLang="zh-CN" sz="2800" i="1">
                <a:solidFill>
                  <a:srgbClr val="0000CC"/>
                </a:solidFill>
              </a:rPr>
              <a:t>k</a:t>
            </a:r>
            <a:r>
              <a:rPr lang="en-US" altLang="zh-CN" sz="2800">
                <a:solidFill>
                  <a:srgbClr val="0000CC"/>
                </a:solidFill>
              </a:rPr>
              <a:t>T/2</a:t>
            </a:r>
            <a:r>
              <a:rPr lang="zh-CN" altLang="en-US" sz="2800"/>
              <a:t>。</a:t>
            </a:r>
          </a:p>
        </p:txBody>
      </p:sp>
      <p:graphicFrame>
        <p:nvGraphicFramePr>
          <p:cNvPr id="537609" name="Object 9"/>
          <p:cNvGraphicFramePr>
            <a:graphicFrameLocks noChangeAspect="1"/>
          </p:cNvGraphicFramePr>
          <p:nvPr/>
        </p:nvGraphicFramePr>
        <p:xfrm>
          <a:off x="3200400" y="2743200"/>
          <a:ext cx="1600200" cy="989013"/>
        </p:xfrm>
        <a:graphic>
          <a:graphicData uri="http://schemas.openxmlformats.org/presentationml/2006/ole">
            <mc:AlternateContent xmlns:mc="http://schemas.openxmlformats.org/markup-compatibility/2006">
              <mc:Choice xmlns:v="urn:schemas-microsoft-com:vml" Requires="v">
                <p:oleObj name="公式" r:id="rId3" imgW="634680" imgH="393480" progId="Equation.3">
                  <p:embed/>
                </p:oleObj>
              </mc:Choice>
              <mc:Fallback>
                <p:oleObj name="公式" r:id="rId3" imgW="634680" imgH="393480"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743200"/>
                        <a:ext cx="1600200" cy="989013"/>
                      </a:xfrm>
                      <a:prstGeom prst="rect">
                        <a:avLst/>
                      </a:prstGeom>
                      <a:solidFill>
                        <a:srgbClr val="CC99FF">
                          <a:alpha val="50000"/>
                        </a:srgbClr>
                      </a:solidFill>
                      <a:ln w="19050">
                        <a:solidFill>
                          <a:schemeClr val="tx1"/>
                        </a:solidFill>
                        <a:miter lim="800000"/>
                        <a:headEnd/>
                        <a:tailEnd/>
                      </a:ln>
                      <a:effectLst/>
                      <a:extLs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sp>
        <p:nvSpPr>
          <p:cNvPr id="537610" name="Text Box 10"/>
          <p:cNvSpPr txBox="1">
            <a:spLocks noChangeArrowheads="1"/>
          </p:cNvSpPr>
          <p:nvPr/>
        </p:nvSpPr>
        <p:spPr bwMode="auto">
          <a:xfrm>
            <a:off x="5105400" y="2971800"/>
            <a:ext cx="3816350" cy="519113"/>
          </a:xfrm>
          <a:prstGeom prst="rect">
            <a:avLst/>
          </a:prstGeom>
          <a:noFill/>
          <a:ln w="9525">
            <a:noFill/>
            <a:miter lim="800000"/>
            <a:headEnd/>
            <a:tailEnd/>
          </a:ln>
          <a:effectLst/>
        </p:spPr>
        <p:txBody>
          <a:bodyPr>
            <a:spAutoFit/>
          </a:bodyPr>
          <a:lstStyle/>
          <a:p>
            <a:pPr>
              <a:spcBef>
                <a:spcPct val="50000"/>
              </a:spcBef>
            </a:pPr>
            <a:r>
              <a:rPr kumimoji="1" lang="en-US" altLang="zh-CN" sz="2800"/>
              <a:t>“</a:t>
            </a:r>
            <a:r>
              <a:rPr kumimoji="1" lang="en-US" altLang="zh-CN" sz="2800" i="1"/>
              <a:t>i</a:t>
            </a:r>
            <a:r>
              <a:rPr kumimoji="1" lang="en-US" altLang="zh-CN" sz="2800"/>
              <a:t>”</a:t>
            </a:r>
            <a:r>
              <a:rPr kumimoji="1" lang="zh-CN" altLang="en-US" sz="2800"/>
              <a:t>为分子自由度数</a:t>
            </a:r>
          </a:p>
        </p:txBody>
      </p:sp>
      <p:sp>
        <p:nvSpPr>
          <p:cNvPr id="537611" name="Text Box 11"/>
          <p:cNvSpPr txBox="1">
            <a:spLocks noChangeArrowheads="1"/>
          </p:cNvSpPr>
          <p:nvPr/>
        </p:nvSpPr>
        <p:spPr bwMode="auto">
          <a:xfrm>
            <a:off x="381000" y="2971800"/>
            <a:ext cx="2743200" cy="519113"/>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0000CC"/>
                </a:solidFill>
              </a:rPr>
              <a:t>分子平均动能：</a:t>
            </a:r>
          </a:p>
        </p:txBody>
      </p:sp>
      <p:sp>
        <p:nvSpPr>
          <p:cNvPr id="537612" name="Text Box 12"/>
          <p:cNvSpPr txBox="1">
            <a:spLocks noChangeArrowheads="1"/>
          </p:cNvSpPr>
          <p:nvPr/>
        </p:nvSpPr>
        <p:spPr bwMode="auto">
          <a:xfrm>
            <a:off x="849313" y="4010025"/>
            <a:ext cx="2351087" cy="519113"/>
          </a:xfrm>
          <a:prstGeom prst="rect">
            <a:avLst/>
          </a:prstGeom>
          <a:noFill/>
          <a:ln w="9525">
            <a:noFill/>
            <a:miter lim="800000"/>
            <a:headEnd/>
            <a:tailEnd/>
          </a:ln>
          <a:effectLst/>
        </p:spPr>
        <p:txBody>
          <a:bodyPr>
            <a:spAutoFit/>
          </a:bodyPr>
          <a:lstStyle/>
          <a:p>
            <a:pPr>
              <a:spcBef>
                <a:spcPct val="50000"/>
              </a:spcBef>
            </a:pPr>
            <a:r>
              <a:rPr kumimoji="1" lang="zh-CN" altLang="en-US" sz="2800" dirty="0"/>
              <a:t>单原子分子：</a:t>
            </a:r>
          </a:p>
        </p:txBody>
      </p:sp>
      <p:graphicFrame>
        <p:nvGraphicFramePr>
          <p:cNvPr id="537613" name="Object 13"/>
          <p:cNvGraphicFramePr>
            <a:graphicFrameLocks noChangeAspect="1"/>
          </p:cNvGraphicFramePr>
          <p:nvPr/>
        </p:nvGraphicFramePr>
        <p:xfrm>
          <a:off x="6017201" y="3432288"/>
          <a:ext cx="1496512" cy="900000"/>
        </p:xfrm>
        <a:graphic>
          <a:graphicData uri="http://schemas.openxmlformats.org/presentationml/2006/ole">
            <mc:AlternateContent xmlns:mc="http://schemas.openxmlformats.org/markup-compatibility/2006">
              <mc:Choice xmlns:v="urn:schemas-microsoft-com:vml" Requires="v">
                <p:oleObj name="公式" r:id="rId5" imgW="634680" imgH="393480" progId="Equation.3">
                  <p:embed/>
                </p:oleObj>
              </mc:Choice>
              <mc:Fallback>
                <p:oleObj name="公式" r:id="rId5" imgW="634680" imgH="393480" progId="Equation.3">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7201" y="3432288"/>
                        <a:ext cx="1496512" cy="900000"/>
                      </a:xfrm>
                      <a:prstGeom prst="rect">
                        <a:avLst/>
                      </a:prstGeom>
                      <a:noFill/>
                      <a:ln>
                        <a:noFill/>
                      </a:ln>
                      <a:effectLst/>
                      <a:extLst>
                        <a:ext uri="{909E8E84-426E-40DD-AFC4-6F175D3DCCD1}">
                          <a14:hiddenFill xmlns:a14="http://schemas.microsoft.com/office/drawing/2010/main">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14:hiddenFill>
                        </a:ext>
                        <a:ext uri="{91240B29-F687-4F45-9708-019B960494DF}">
                          <a14:hiddenLine xmlns:a14="http://schemas.microsoft.com/office/drawing/2010/main" w="76200" cmpd="tri">
                            <a:solidFill>
                              <a:srgbClr val="66FF33"/>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37614" name="Object 14"/>
          <p:cNvGraphicFramePr>
            <a:graphicFrameLocks noChangeAspect="1"/>
          </p:cNvGraphicFramePr>
          <p:nvPr/>
        </p:nvGraphicFramePr>
        <p:xfrm>
          <a:off x="3429000" y="4025106"/>
          <a:ext cx="865188" cy="488950"/>
        </p:xfrm>
        <a:graphic>
          <a:graphicData uri="http://schemas.openxmlformats.org/presentationml/2006/ole">
            <mc:AlternateContent xmlns:mc="http://schemas.openxmlformats.org/markup-compatibility/2006">
              <mc:Choice xmlns:v="urn:schemas-microsoft-com:vml" Requires="v">
                <p:oleObj name="公式" r:id="rId7" imgW="304560" imgH="177480" progId="Equation.3">
                  <p:embed/>
                </p:oleObj>
              </mc:Choice>
              <mc:Fallback>
                <p:oleObj name="公式" r:id="rId7" imgW="304560" imgH="177480" progId="Equation.3">
                  <p:embed/>
                  <p:pic>
                    <p:nvPicPr>
                      <p:cNvPr id="0"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025106"/>
                        <a:ext cx="8651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7615" name="Text Box 15"/>
          <p:cNvSpPr txBox="1">
            <a:spLocks noChangeArrowheads="1"/>
          </p:cNvSpPr>
          <p:nvPr/>
        </p:nvSpPr>
        <p:spPr bwMode="auto">
          <a:xfrm>
            <a:off x="838200" y="5726906"/>
            <a:ext cx="2400300" cy="519112"/>
          </a:xfrm>
          <a:prstGeom prst="rect">
            <a:avLst/>
          </a:prstGeom>
          <a:noFill/>
          <a:ln w="9525">
            <a:noFill/>
            <a:miter lim="800000"/>
            <a:headEnd/>
            <a:tailEnd/>
          </a:ln>
          <a:effectLst/>
        </p:spPr>
        <p:txBody>
          <a:bodyPr>
            <a:spAutoFit/>
          </a:bodyPr>
          <a:lstStyle/>
          <a:p>
            <a:pPr>
              <a:spcBef>
                <a:spcPct val="50000"/>
              </a:spcBef>
            </a:pPr>
            <a:r>
              <a:rPr kumimoji="1" lang="zh-CN" altLang="en-US" sz="2800" dirty="0"/>
              <a:t>多原子分子：</a:t>
            </a:r>
          </a:p>
        </p:txBody>
      </p:sp>
      <p:graphicFrame>
        <p:nvGraphicFramePr>
          <p:cNvPr id="537616" name="Object 16"/>
          <p:cNvGraphicFramePr>
            <a:graphicFrameLocks noChangeAspect="1"/>
          </p:cNvGraphicFramePr>
          <p:nvPr/>
        </p:nvGraphicFramePr>
        <p:xfrm>
          <a:off x="6017201" y="5424600"/>
          <a:ext cx="1526599" cy="900000"/>
        </p:xfrm>
        <a:graphic>
          <a:graphicData uri="http://schemas.openxmlformats.org/presentationml/2006/ole">
            <mc:AlternateContent xmlns:mc="http://schemas.openxmlformats.org/markup-compatibility/2006">
              <mc:Choice xmlns:v="urn:schemas-microsoft-com:vml" Requires="v">
                <p:oleObj name="公式" r:id="rId9" imgW="634680" imgH="393480" progId="Equation.3">
                  <p:embed/>
                </p:oleObj>
              </mc:Choice>
              <mc:Fallback>
                <p:oleObj name="公式" r:id="rId9" imgW="634680" imgH="393480" progId="Equation.3">
                  <p:embed/>
                  <p:pic>
                    <p:nvPicPr>
                      <p:cNvPr id="0"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7201" y="5424600"/>
                        <a:ext cx="1526599" cy="900000"/>
                      </a:xfrm>
                      <a:prstGeom prst="rect">
                        <a:avLst/>
                      </a:prstGeom>
                      <a:noFill/>
                      <a:ln>
                        <a:noFill/>
                      </a:ln>
                      <a:effectLst/>
                      <a:extLst>
                        <a:ext uri="{909E8E84-426E-40DD-AFC4-6F175D3DCCD1}">
                          <a14:hiddenFill xmlns:a14="http://schemas.microsoft.com/office/drawing/2010/main">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14:hiddenFill>
                        </a:ext>
                        <a:ext uri="{91240B29-F687-4F45-9708-019B960494DF}">
                          <a14:hiddenLine xmlns:a14="http://schemas.microsoft.com/office/drawing/2010/main" w="76200" cmpd="tri">
                            <a:solidFill>
                              <a:srgbClr val="66FF33"/>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37617" name="Object 17"/>
          <p:cNvGraphicFramePr>
            <a:graphicFrameLocks noChangeAspect="1"/>
          </p:cNvGraphicFramePr>
          <p:nvPr/>
        </p:nvGraphicFramePr>
        <p:xfrm>
          <a:off x="3435350" y="5751512"/>
          <a:ext cx="884238" cy="469900"/>
        </p:xfrm>
        <a:graphic>
          <a:graphicData uri="http://schemas.openxmlformats.org/presentationml/2006/ole">
            <mc:AlternateContent xmlns:mc="http://schemas.openxmlformats.org/markup-compatibility/2006">
              <mc:Choice xmlns:v="urn:schemas-microsoft-com:vml" Requires="v">
                <p:oleObj name="公式" r:id="rId11" imgW="317160" imgH="177480" progId="Equation.3">
                  <p:embed/>
                </p:oleObj>
              </mc:Choice>
              <mc:Fallback>
                <p:oleObj name="公式" r:id="rId11" imgW="317160" imgH="177480" progId="Equation.3">
                  <p:embed/>
                  <p:pic>
                    <p:nvPicPr>
                      <p:cNvPr id="0" name="Picture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5350" y="5751512"/>
                        <a:ext cx="884238"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7618" name="Text Box 18"/>
          <p:cNvSpPr txBox="1">
            <a:spLocks noChangeArrowheads="1"/>
          </p:cNvSpPr>
          <p:nvPr/>
        </p:nvSpPr>
        <p:spPr bwMode="auto">
          <a:xfrm>
            <a:off x="838200" y="4870053"/>
            <a:ext cx="2374900" cy="519112"/>
          </a:xfrm>
          <a:prstGeom prst="rect">
            <a:avLst/>
          </a:prstGeom>
          <a:noFill/>
          <a:ln w="9525">
            <a:noFill/>
            <a:miter lim="800000"/>
            <a:headEnd/>
            <a:tailEnd/>
          </a:ln>
          <a:effectLst/>
        </p:spPr>
        <p:txBody>
          <a:bodyPr>
            <a:spAutoFit/>
          </a:bodyPr>
          <a:lstStyle/>
          <a:p>
            <a:pPr>
              <a:spcBef>
                <a:spcPct val="50000"/>
              </a:spcBef>
            </a:pPr>
            <a:r>
              <a:rPr kumimoji="1" lang="zh-CN" altLang="en-US" sz="2800" dirty="0"/>
              <a:t>双原子分子：</a:t>
            </a:r>
          </a:p>
        </p:txBody>
      </p:sp>
      <p:graphicFrame>
        <p:nvGraphicFramePr>
          <p:cNvPr id="537619" name="Object 19"/>
          <p:cNvGraphicFramePr>
            <a:graphicFrameLocks noChangeAspect="1"/>
          </p:cNvGraphicFramePr>
          <p:nvPr/>
        </p:nvGraphicFramePr>
        <p:xfrm>
          <a:off x="6017201" y="4440350"/>
          <a:ext cx="1512209" cy="900000"/>
        </p:xfrm>
        <a:graphic>
          <a:graphicData uri="http://schemas.openxmlformats.org/presentationml/2006/ole">
            <mc:AlternateContent xmlns:mc="http://schemas.openxmlformats.org/markup-compatibility/2006">
              <mc:Choice xmlns:v="urn:schemas-microsoft-com:vml" Requires="v">
                <p:oleObj name="公式" r:id="rId13" imgW="634680" imgH="393480" progId="Equation.3">
                  <p:embed/>
                </p:oleObj>
              </mc:Choice>
              <mc:Fallback>
                <p:oleObj name="公式" r:id="rId13" imgW="634680" imgH="393480" progId="Equation.3">
                  <p:embed/>
                  <p:pic>
                    <p:nvPicPr>
                      <p:cNvPr id="0" name="Picture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17201" y="4440350"/>
                        <a:ext cx="1512209" cy="900000"/>
                      </a:xfrm>
                      <a:prstGeom prst="rect">
                        <a:avLst/>
                      </a:prstGeom>
                      <a:noFill/>
                      <a:ln>
                        <a:noFill/>
                      </a:ln>
                      <a:effectLst/>
                      <a:extLst>
                        <a:ext uri="{909E8E84-426E-40DD-AFC4-6F175D3DCCD1}">
                          <a14:hiddenFill xmlns:a14="http://schemas.microsoft.com/office/drawing/2010/main">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14:hiddenFill>
                        </a:ext>
                        <a:ext uri="{91240B29-F687-4F45-9708-019B960494DF}">
                          <a14:hiddenLine xmlns:a14="http://schemas.microsoft.com/office/drawing/2010/main" w="76200" cmpd="tri">
                            <a:solidFill>
                              <a:srgbClr val="66FF33"/>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537620" name="Object 20"/>
          <p:cNvGraphicFramePr>
            <a:graphicFrameLocks noChangeAspect="1"/>
          </p:cNvGraphicFramePr>
          <p:nvPr/>
        </p:nvGraphicFramePr>
        <p:xfrm>
          <a:off x="3435350" y="4887515"/>
          <a:ext cx="912813" cy="490537"/>
        </p:xfrm>
        <a:graphic>
          <a:graphicData uri="http://schemas.openxmlformats.org/presentationml/2006/ole">
            <mc:AlternateContent xmlns:mc="http://schemas.openxmlformats.org/markup-compatibility/2006">
              <mc:Choice xmlns:v="urn:schemas-microsoft-com:vml" Requires="v">
                <p:oleObj name="公式" r:id="rId15" imgW="317160" imgH="177480" progId="Equation.3">
                  <p:embed/>
                </p:oleObj>
              </mc:Choice>
              <mc:Fallback>
                <p:oleObj name="公式" r:id="rId15" imgW="317160" imgH="177480" progId="Equation.3">
                  <p:embed/>
                  <p:pic>
                    <p:nvPicPr>
                      <p:cNvPr id="0" name="Picture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35350" y="4887515"/>
                        <a:ext cx="912813" cy="490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7611"/>
                                        </p:tgtEl>
                                        <p:attrNameLst>
                                          <p:attrName>style.visibility</p:attrName>
                                        </p:attrNameLst>
                                      </p:cBhvr>
                                      <p:to>
                                        <p:strVal val="visible"/>
                                      </p:to>
                                    </p:set>
                                    <p:anim calcmode="lin" valueType="num">
                                      <p:cBhvr additive="base">
                                        <p:cTn id="7" dur="500" fill="hold"/>
                                        <p:tgtEl>
                                          <p:spTgt spid="537611"/>
                                        </p:tgtEl>
                                        <p:attrNameLst>
                                          <p:attrName>ppt_x</p:attrName>
                                        </p:attrNameLst>
                                      </p:cBhvr>
                                      <p:tavLst>
                                        <p:tav tm="0">
                                          <p:val>
                                            <p:strVal val="0-#ppt_w/2"/>
                                          </p:val>
                                        </p:tav>
                                        <p:tav tm="100000">
                                          <p:val>
                                            <p:strVal val="#ppt_x"/>
                                          </p:val>
                                        </p:tav>
                                      </p:tavLst>
                                    </p:anim>
                                    <p:anim calcmode="lin" valueType="num">
                                      <p:cBhvr additive="base">
                                        <p:cTn id="8" dur="500" fill="hold"/>
                                        <p:tgtEl>
                                          <p:spTgt spid="5376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37609"/>
                                        </p:tgtEl>
                                        <p:attrNameLst>
                                          <p:attrName>style.visibility</p:attrName>
                                        </p:attrNameLst>
                                      </p:cBhvr>
                                      <p:to>
                                        <p:strVal val="visible"/>
                                      </p:to>
                                    </p:set>
                                    <p:animEffect transition="in" filter="strips(upRight)">
                                      <p:cBhvr>
                                        <p:cTn id="13" dur="500"/>
                                        <p:tgtEl>
                                          <p:spTgt spid="53760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5376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7612"/>
                                        </p:tgtEl>
                                        <p:attrNameLst>
                                          <p:attrName>style.visibility</p:attrName>
                                        </p:attrNameLst>
                                      </p:cBhvr>
                                      <p:to>
                                        <p:strVal val="visible"/>
                                      </p:to>
                                    </p:set>
                                    <p:animEffect transition="in" filter="wipe(left)">
                                      <p:cBhvr>
                                        <p:cTn id="22" dur="500"/>
                                        <p:tgtEl>
                                          <p:spTgt spid="537612"/>
                                        </p:tgtEl>
                                      </p:cBhvr>
                                    </p:animEffect>
                                  </p:childTnLst>
                                </p:cTn>
                              </p:par>
                              <p:par>
                                <p:cTn id="23" presetID="22" presetClass="entr" presetSubtype="8" fill="hold" nodeType="withEffect">
                                  <p:stCondLst>
                                    <p:cond delay="0"/>
                                  </p:stCondLst>
                                  <p:childTnLst>
                                    <p:set>
                                      <p:cBhvr>
                                        <p:cTn id="24" dur="1" fill="hold">
                                          <p:stCondLst>
                                            <p:cond delay="0"/>
                                          </p:stCondLst>
                                        </p:cTn>
                                        <p:tgtEl>
                                          <p:spTgt spid="537614"/>
                                        </p:tgtEl>
                                        <p:attrNameLst>
                                          <p:attrName>style.visibility</p:attrName>
                                        </p:attrNameLst>
                                      </p:cBhvr>
                                      <p:to>
                                        <p:strVal val="visible"/>
                                      </p:to>
                                    </p:set>
                                    <p:animEffect transition="in" filter="wipe(left)">
                                      <p:cBhvr>
                                        <p:cTn id="25" dur="500"/>
                                        <p:tgtEl>
                                          <p:spTgt spid="537614"/>
                                        </p:tgtEl>
                                      </p:cBhvr>
                                    </p:animEffect>
                                  </p:childTnLst>
                                </p:cTn>
                              </p:par>
                              <p:par>
                                <p:cTn id="26" presetID="22" presetClass="entr" presetSubtype="8" fill="hold" nodeType="withEffect">
                                  <p:stCondLst>
                                    <p:cond delay="0"/>
                                  </p:stCondLst>
                                  <p:childTnLst>
                                    <p:set>
                                      <p:cBhvr>
                                        <p:cTn id="27" dur="1" fill="hold">
                                          <p:stCondLst>
                                            <p:cond delay="0"/>
                                          </p:stCondLst>
                                        </p:cTn>
                                        <p:tgtEl>
                                          <p:spTgt spid="537613"/>
                                        </p:tgtEl>
                                        <p:attrNameLst>
                                          <p:attrName>style.visibility</p:attrName>
                                        </p:attrNameLst>
                                      </p:cBhvr>
                                      <p:to>
                                        <p:strVal val="visible"/>
                                      </p:to>
                                    </p:set>
                                    <p:animEffect transition="in" filter="wipe(left)">
                                      <p:cBhvr>
                                        <p:cTn id="28" dur="500"/>
                                        <p:tgtEl>
                                          <p:spTgt spid="5376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37618"/>
                                        </p:tgtEl>
                                        <p:attrNameLst>
                                          <p:attrName>style.visibility</p:attrName>
                                        </p:attrNameLst>
                                      </p:cBhvr>
                                      <p:to>
                                        <p:strVal val="visible"/>
                                      </p:to>
                                    </p:set>
                                    <p:animEffect transition="in" filter="wipe(left)">
                                      <p:cBhvr>
                                        <p:cTn id="33" dur="500"/>
                                        <p:tgtEl>
                                          <p:spTgt spid="537618"/>
                                        </p:tgtEl>
                                      </p:cBhvr>
                                    </p:animEffect>
                                  </p:childTnLst>
                                </p:cTn>
                              </p:par>
                              <p:par>
                                <p:cTn id="34" presetID="22" presetClass="entr" presetSubtype="8" fill="hold" nodeType="withEffect">
                                  <p:stCondLst>
                                    <p:cond delay="0"/>
                                  </p:stCondLst>
                                  <p:childTnLst>
                                    <p:set>
                                      <p:cBhvr>
                                        <p:cTn id="35" dur="1" fill="hold">
                                          <p:stCondLst>
                                            <p:cond delay="0"/>
                                          </p:stCondLst>
                                        </p:cTn>
                                        <p:tgtEl>
                                          <p:spTgt spid="537620"/>
                                        </p:tgtEl>
                                        <p:attrNameLst>
                                          <p:attrName>style.visibility</p:attrName>
                                        </p:attrNameLst>
                                      </p:cBhvr>
                                      <p:to>
                                        <p:strVal val="visible"/>
                                      </p:to>
                                    </p:set>
                                    <p:animEffect transition="in" filter="wipe(left)">
                                      <p:cBhvr>
                                        <p:cTn id="36" dur="500"/>
                                        <p:tgtEl>
                                          <p:spTgt spid="537620"/>
                                        </p:tgtEl>
                                      </p:cBhvr>
                                    </p:animEffect>
                                  </p:childTnLst>
                                </p:cTn>
                              </p:par>
                              <p:par>
                                <p:cTn id="37" presetID="22" presetClass="entr" presetSubtype="8" fill="hold" nodeType="withEffect">
                                  <p:stCondLst>
                                    <p:cond delay="0"/>
                                  </p:stCondLst>
                                  <p:childTnLst>
                                    <p:set>
                                      <p:cBhvr>
                                        <p:cTn id="38" dur="1" fill="hold">
                                          <p:stCondLst>
                                            <p:cond delay="0"/>
                                          </p:stCondLst>
                                        </p:cTn>
                                        <p:tgtEl>
                                          <p:spTgt spid="537619"/>
                                        </p:tgtEl>
                                        <p:attrNameLst>
                                          <p:attrName>style.visibility</p:attrName>
                                        </p:attrNameLst>
                                      </p:cBhvr>
                                      <p:to>
                                        <p:strVal val="visible"/>
                                      </p:to>
                                    </p:set>
                                    <p:animEffect transition="in" filter="wipe(left)">
                                      <p:cBhvr>
                                        <p:cTn id="39" dur="500"/>
                                        <p:tgtEl>
                                          <p:spTgt spid="53761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37615"/>
                                        </p:tgtEl>
                                        <p:attrNameLst>
                                          <p:attrName>style.visibility</p:attrName>
                                        </p:attrNameLst>
                                      </p:cBhvr>
                                      <p:to>
                                        <p:strVal val="visible"/>
                                      </p:to>
                                    </p:set>
                                    <p:animEffect transition="in" filter="wipe(left)">
                                      <p:cBhvr>
                                        <p:cTn id="44" dur="500"/>
                                        <p:tgtEl>
                                          <p:spTgt spid="537615"/>
                                        </p:tgtEl>
                                      </p:cBhvr>
                                    </p:animEffect>
                                  </p:childTnLst>
                                </p:cTn>
                              </p:par>
                              <p:par>
                                <p:cTn id="45" presetID="22" presetClass="entr" presetSubtype="8" fill="hold" nodeType="withEffect">
                                  <p:stCondLst>
                                    <p:cond delay="0"/>
                                  </p:stCondLst>
                                  <p:childTnLst>
                                    <p:set>
                                      <p:cBhvr>
                                        <p:cTn id="46" dur="1" fill="hold">
                                          <p:stCondLst>
                                            <p:cond delay="0"/>
                                          </p:stCondLst>
                                        </p:cTn>
                                        <p:tgtEl>
                                          <p:spTgt spid="537617"/>
                                        </p:tgtEl>
                                        <p:attrNameLst>
                                          <p:attrName>style.visibility</p:attrName>
                                        </p:attrNameLst>
                                      </p:cBhvr>
                                      <p:to>
                                        <p:strVal val="visible"/>
                                      </p:to>
                                    </p:set>
                                    <p:animEffect transition="in" filter="wipe(left)">
                                      <p:cBhvr>
                                        <p:cTn id="47" dur="500"/>
                                        <p:tgtEl>
                                          <p:spTgt spid="537617"/>
                                        </p:tgtEl>
                                      </p:cBhvr>
                                    </p:animEffect>
                                  </p:childTnLst>
                                </p:cTn>
                              </p:par>
                              <p:par>
                                <p:cTn id="48" presetID="22" presetClass="entr" presetSubtype="8" fill="hold" nodeType="withEffect">
                                  <p:stCondLst>
                                    <p:cond delay="0"/>
                                  </p:stCondLst>
                                  <p:childTnLst>
                                    <p:set>
                                      <p:cBhvr>
                                        <p:cTn id="49" dur="1" fill="hold">
                                          <p:stCondLst>
                                            <p:cond delay="0"/>
                                          </p:stCondLst>
                                        </p:cTn>
                                        <p:tgtEl>
                                          <p:spTgt spid="537616"/>
                                        </p:tgtEl>
                                        <p:attrNameLst>
                                          <p:attrName>style.visibility</p:attrName>
                                        </p:attrNameLst>
                                      </p:cBhvr>
                                      <p:to>
                                        <p:strVal val="visible"/>
                                      </p:to>
                                    </p:set>
                                    <p:animEffect transition="in" filter="wipe(left)">
                                      <p:cBhvr>
                                        <p:cTn id="50" dur="500"/>
                                        <p:tgtEl>
                                          <p:spTgt spid="537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10" grpId="0" autoUpdateAnimBg="0"/>
      <p:bldP spid="537611" grpId="0" autoUpdateAnimBg="0"/>
      <p:bldP spid="537612" grpId="0"/>
      <p:bldP spid="537615" grpId="0"/>
      <p:bldP spid="5376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4" name="灯片编号占位符 4"/>
          <p:cNvSpPr>
            <a:spLocks noGrp="1"/>
          </p:cNvSpPr>
          <p:nvPr>
            <p:ph type="sldNum" sz="quarter" idx="12"/>
          </p:nvPr>
        </p:nvSpPr>
        <p:spPr/>
        <p:txBody>
          <a:bodyPr/>
          <a:lstStyle/>
          <a:p>
            <a:fld id="{FC5AAA8E-64E4-43C8-AE78-3C012DD64597}" type="slidenum">
              <a:rPr lang="en-US" altLang="zh-CN"/>
              <a:pPr/>
              <a:t>29</a:t>
            </a:fld>
            <a:endParaRPr lang="en-US" altLang="zh-CN"/>
          </a:p>
        </p:txBody>
      </p:sp>
      <p:sp>
        <p:nvSpPr>
          <p:cNvPr id="538627" name="Rectangle 3"/>
          <p:cNvSpPr>
            <a:spLocks noChangeArrowheads="1"/>
          </p:cNvSpPr>
          <p:nvPr/>
        </p:nvSpPr>
        <p:spPr bwMode="auto">
          <a:xfrm>
            <a:off x="501650" y="1219200"/>
            <a:ext cx="7937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latin typeface="Arial" charset="0"/>
              </a:rPr>
              <a:t>内能</a:t>
            </a:r>
          </a:p>
        </p:txBody>
      </p:sp>
      <p:sp>
        <p:nvSpPr>
          <p:cNvPr id="538628" name="Rectangle 4"/>
          <p:cNvSpPr>
            <a:spLocks noChangeArrowheads="1"/>
          </p:cNvSpPr>
          <p:nvPr/>
        </p:nvSpPr>
        <p:spPr bwMode="auto">
          <a:xfrm>
            <a:off x="1752600" y="1177925"/>
            <a:ext cx="7010400" cy="1031875"/>
          </a:xfrm>
          <a:prstGeom prst="rect">
            <a:avLst/>
          </a:prstGeom>
          <a:noFill/>
          <a:ln w="9525">
            <a:noFill/>
            <a:miter lim="800000"/>
            <a:headEnd/>
            <a:tailEnd/>
          </a:ln>
          <a:effectLst/>
        </p:spPr>
        <p:txBody>
          <a:bodyPr>
            <a:spAutoFit/>
          </a:bodyPr>
          <a:lstStyle/>
          <a:p>
            <a:pPr>
              <a:lnSpc>
                <a:spcPct val="110000"/>
              </a:lnSpc>
            </a:pPr>
            <a:r>
              <a:rPr kumimoji="1" lang="zh-CN" altLang="en-US" sz="2800" dirty="0"/>
              <a:t>气体中所有分子的</a:t>
            </a:r>
            <a:r>
              <a:rPr kumimoji="1" lang="zh-CN" altLang="en-US" sz="2800" dirty="0">
                <a:solidFill>
                  <a:srgbClr val="0000CC"/>
                </a:solidFill>
              </a:rPr>
              <a:t>动能</a:t>
            </a:r>
            <a:r>
              <a:rPr kumimoji="1" lang="zh-CN" altLang="en-US" sz="2800" dirty="0"/>
              <a:t>和分子间相互作用</a:t>
            </a:r>
            <a:r>
              <a:rPr kumimoji="1" lang="zh-CN" altLang="en-US" sz="2800" dirty="0">
                <a:solidFill>
                  <a:srgbClr val="0000CC"/>
                </a:solidFill>
              </a:rPr>
              <a:t>势能</a:t>
            </a:r>
            <a:r>
              <a:rPr kumimoji="1" lang="zh-CN" altLang="en-US" sz="2800" dirty="0"/>
              <a:t>的总和。</a:t>
            </a:r>
          </a:p>
        </p:txBody>
      </p:sp>
      <p:sp>
        <p:nvSpPr>
          <p:cNvPr id="538629" name="Text Box 5"/>
          <p:cNvSpPr txBox="1">
            <a:spLocks noChangeArrowheads="1"/>
          </p:cNvSpPr>
          <p:nvPr/>
        </p:nvSpPr>
        <p:spPr bwMode="auto">
          <a:xfrm>
            <a:off x="609600" y="2362200"/>
            <a:ext cx="3124200" cy="519113"/>
          </a:xfrm>
          <a:prstGeom prst="rect">
            <a:avLst/>
          </a:prstGeom>
          <a:noFill/>
          <a:ln w="9525" algn="ctr">
            <a:noFill/>
            <a:miter lim="800000"/>
            <a:headEnd/>
            <a:tailEnd/>
          </a:ln>
          <a:effectLst/>
        </p:spPr>
        <p:txBody>
          <a:bodyPr>
            <a:spAutoFit/>
          </a:bodyPr>
          <a:lstStyle/>
          <a:p>
            <a:pPr>
              <a:spcBef>
                <a:spcPct val="50000"/>
              </a:spcBef>
            </a:pPr>
            <a:r>
              <a:rPr kumimoji="1" lang="zh-CN" altLang="en-US" sz="2800"/>
              <a:t>理想气体内能：</a:t>
            </a:r>
          </a:p>
        </p:txBody>
      </p:sp>
      <p:sp>
        <p:nvSpPr>
          <p:cNvPr id="538630" name="Rectangle 6"/>
          <p:cNvSpPr>
            <a:spLocks noChangeArrowheads="1"/>
          </p:cNvSpPr>
          <p:nvPr/>
        </p:nvSpPr>
        <p:spPr bwMode="auto">
          <a:xfrm>
            <a:off x="3505200" y="2286000"/>
            <a:ext cx="4114800" cy="561975"/>
          </a:xfrm>
          <a:prstGeom prst="rect">
            <a:avLst/>
          </a:prstGeom>
          <a:noFill/>
          <a:ln w="9525" algn="ctr">
            <a:noFill/>
            <a:miter lim="800000"/>
            <a:headEnd/>
            <a:tailEnd/>
          </a:ln>
          <a:effectLst/>
        </p:spPr>
        <p:txBody>
          <a:bodyPr>
            <a:spAutoFit/>
          </a:bodyPr>
          <a:lstStyle/>
          <a:p>
            <a:pPr>
              <a:lnSpc>
                <a:spcPct val="110000"/>
              </a:lnSpc>
            </a:pPr>
            <a:r>
              <a:rPr kumimoji="1" lang="zh-CN" altLang="en-US" sz="2800"/>
              <a:t>气体中所有分子的</a:t>
            </a:r>
            <a:r>
              <a:rPr kumimoji="1" lang="zh-CN" altLang="en-US" sz="2800">
                <a:solidFill>
                  <a:srgbClr val="0000CC"/>
                </a:solidFill>
              </a:rPr>
              <a:t>动能</a:t>
            </a:r>
            <a:r>
              <a:rPr kumimoji="1" lang="zh-CN" altLang="en-US" sz="2800"/>
              <a:t>。</a:t>
            </a:r>
          </a:p>
        </p:txBody>
      </p:sp>
      <p:sp>
        <p:nvSpPr>
          <p:cNvPr id="538631" name="Text Box 7"/>
          <p:cNvSpPr txBox="1">
            <a:spLocks noChangeArrowheads="1"/>
          </p:cNvSpPr>
          <p:nvPr/>
        </p:nvSpPr>
        <p:spPr bwMode="auto">
          <a:xfrm>
            <a:off x="609600" y="2978150"/>
            <a:ext cx="4127500" cy="519113"/>
          </a:xfrm>
          <a:prstGeom prst="rect">
            <a:avLst/>
          </a:prstGeom>
          <a:noFill/>
          <a:ln w="9525" algn="ctr">
            <a:noFill/>
            <a:miter lim="800000"/>
            <a:headEnd/>
            <a:tailEnd/>
          </a:ln>
          <a:effectLst/>
        </p:spPr>
        <p:txBody>
          <a:bodyPr>
            <a:spAutoFit/>
          </a:bodyPr>
          <a:lstStyle/>
          <a:p>
            <a:pPr>
              <a:spcBef>
                <a:spcPct val="50000"/>
              </a:spcBef>
            </a:pPr>
            <a:r>
              <a:rPr kumimoji="1" lang="en-US" altLang="zh-CN" sz="2800" dirty="0">
                <a:solidFill>
                  <a:srgbClr val="0000CC"/>
                </a:solidFill>
              </a:rPr>
              <a:t>1mol </a:t>
            </a:r>
            <a:r>
              <a:rPr kumimoji="1" lang="zh-CN" altLang="en-US" sz="2800" dirty="0">
                <a:solidFill>
                  <a:srgbClr val="0000CC"/>
                </a:solidFill>
              </a:rPr>
              <a:t>理想气体内能：</a:t>
            </a:r>
          </a:p>
        </p:txBody>
      </p:sp>
      <p:graphicFrame>
        <p:nvGraphicFramePr>
          <p:cNvPr id="538632" name="Object 8"/>
          <p:cNvGraphicFramePr>
            <a:graphicFrameLocks noChangeAspect="1"/>
          </p:cNvGraphicFramePr>
          <p:nvPr/>
        </p:nvGraphicFramePr>
        <p:xfrm>
          <a:off x="4419600" y="2743200"/>
          <a:ext cx="3648075" cy="989013"/>
        </p:xfrm>
        <a:graphic>
          <a:graphicData uri="http://schemas.openxmlformats.org/presentationml/2006/ole">
            <mc:AlternateContent xmlns:mc="http://schemas.openxmlformats.org/markup-compatibility/2006">
              <mc:Choice xmlns:v="urn:schemas-microsoft-com:vml" Requires="v">
                <p:oleObj name="公式" r:id="rId3" imgW="1447560" imgH="393480" progId="Equation.3">
                  <p:embed/>
                </p:oleObj>
              </mc:Choice>
              <mc:Fallback>
                <p:oleObj name="公式" r:id="rId3" imgW="1447560" imgH="39348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2743200"/>
                        <a:ext cx="3648075" cy="989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8633" name="Text Box 9"/>
          <p:cNvSpPr txBox="1">
            <a:spLocks noChangeArrowheads="1"/>
          </p:cNvSpPr>
          <p:nvPr/>
        </p:nvSpPr>
        <p:spPr bwMode="auto">
          <a:xfrm>
            <a:off x="609600" y="3886200"/>
            <a:ext cx="8077200" cy="519112"/>
          </a:xfrm>
          <a:prstGeom prst="rect">
            <a:avLst/>
          </a:prstGeom>
          <a:noFill/>
          <a:ln w="9525">
            <a:noFill/>
            <a:miter lim="800000"/>
            <a:headEnd/>
            <a:tailEnd/>
          </a:ln>
          <a:effectLst/>
        </p:spPr>
        <p:txBody>
          <a:bodyPr>
            <a:spAutoFit/>
          </a:bodyPr>
          <a:lstStyle/>
          <a:p>
            <a:pPr>
              <a:spcBef>
                <a:spcPct val="50000"/>
              </a:spcBef>
            </a:pPr>
            <a:r>
              <a:rPr kumimoji="1" lang="zh-CN" altLang="en-US" sz="2800" dirty="0"/>
              <a:t>质量为</a:t>
            </a:r>
            <a:r>
              <a:rPr kumimoji="1" lang="en-US" altLang="zh-CN" sz="2800" i="1" dirty="0"/>
              <a:t>m</a:t>
            </a:r>
            <a:r>
              <a:rPr kumimoji="1" lang="zh-CN" altLang="en-US" sz="2800" dirty="0"/>
              <a:t>，摩尔质量为</a:t>
            </a:r>
            <a:r>
              <a:rPr kumimoji="1" lang="en-US" altLang="zh-CN" sz="2800" i="1" dirty="0"/>
              <a:t>M</a:t>
            </a:r>
            <a:r>
              <a:rPr kumimoji="1" lang="zh-CN" altLang="en-US" sz="2800" dirty="0"/>
              <a:t>的理想气体内能：</a:t>
            </a:r>
          </a:p>
        </p:txBody>
      </p:sp>
      <p:graphicFrame>
        <p:nvGraphicFramePr>
          <p:cNvPr id="538634" name="Object 10"/>
          <p:cNvGraphicFramePr>
            <a:graphicFrameLocks noChangeAspect="1"/>
          </p:cNvGraphicFramePr>
          <p:nvPr/>
        </p:nvGraphicFramePr>
        <p:xfrm>
          <a:off x="2667000" y="4648200"/>
          <a:ext cx="3619500" cy="989013"/>
        </p:xfrm>
        <a:graphic>
          <a:graphicData uri="http://schemas.openxmlformats.org/presentationml/2006/ole">
            <mc:AlternateContent xmlns:mc="http://schemas.openxmlformats.org/markup-compatibility/2006">
              <mc:Choice xmlns:v="urn:schemas-microsoft-com:vml" Requires="v">
                <p:oleObj name="公式" r:id="rId5" imgW="1434960" imgH="393480" progId="Equation.3">
                  <p:embed/>
                </p:oleObj>
              </mc:Choice>
              <mc:Fallback>
                <p:oleObj name="公式" r:id="rId5" imgW="1434960" imgH="393480" progId="Equation.3">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4648200"/>
                        <a:ext cx="3619500" cy="989013"/>
                      </a:xfrm>
                      <a:prstGeom prst="rect">
                        <a:avLst/>
                      </a:prstGeom>
                      <a:solidFill>
                        <a:srgbClr val="CC99FF">
                          <a:alpha val="50000"/>
                        </a:srgbClr>
                      </a:solidFill>
                      <a:ln w="19050">
                        <a:solidFill>
                          <a:schemeClr val="tx1"/>
                        </a:solidFill>
                        <a:miter lim="800000"/>
                        <a:headEnd/>
                        <a:tailEnd/>
                      </a:ln>
                      <a:effectLst/>
                      <a:extLs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sp>
        <p:nvSpPr>
          <p:cNvPr id="538635" name="Text Box 11"/>
          <p:cNvSpPr txBox="1">
            <a:spLocks noChangeArrowheads="1"/>
          </p:cNvSpPr>
          <p:nvPr/>
        </p:nvSpPr>
        <p:spPr bwMode="auto">
          <a:xfrm>
            <a:off x="1371600" y="5791200"/>
            <a:ext cx="6172200" cy="538163"/>
          </a:xfrm>
          <a:prstGeom prst="rect">
            <a:avLst/>
          </a:prstGeom>
          <a:solidFill>
            <a:srgbClr val="CC99FF">
              <a:alpha val="50000"/>
            </a:srgbClr>
          </a:solidFill>
          <a:ln w="19050">
            <a:solidFill>
              <a:schemeClr val="tx1"/>
            </a:solidFill>
            <a:miter lim="800000"/>
            <a:headEnd/>
            <a:tailEnd/>
          </a:ln>
          <a:effectLst/>
        </p:spPr>
        <p:txBody>
          <a:bodyPr>
            <a:spAutoFit/>
          </a:bodyPr>
          <a:lstStyle/>
          <a:p>
            <a:pPr>
              <a:spcBef>
                <a:spcPct val="50000"/>
              </a:spcBef>
            </a:pPr>
            <a:r>
              <a:rPr kumimoji="1" lang="zh-CN" altLang="en-US" sz="2800"/>
              <a:t>理想气体的内能只是温度的单值函数。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8628"/>
                                        </p:tgtEl>
                                        <p:attrNameLst>
                                          <p:attrName>style.visibility</p:attrName>
                                        </p:attrNameLst>
                                      </p:cBhvr>
                                      <p:to>
                                        <p:strVal val="visible"/>
                                      </p:to>
                                    </p:set>
                                    <p:animEffect transition="in" filter="wipe(left)">
                                      <p:cBhvr>
                                        <p:cTn id="7" dur="500"/>
                                        <p:tgtEl>
                                          <p:spTgt spid="5386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8629"/>
                                        </p:tgtEl>
                                        <p:attrNameLst>
                                          <p:attrName>style.visibility</p:attrName>
                                        </p:attrNameLst>
                                      </p:cBhvr>
                                      <p:to>
                                        <p:strVal val="visible"/>
                                      </p:to>
                                    </p:set>
                                    <p:animEffect transition="in" filter="wipe(left)">
                                      <p:cBhvr>
                                        <p:cTn id="12" dur="500"/>
                                        <p:tgtEl>
                                          <p:spTgt spid="5386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8630"/>
                                        </p:tgtEl>
                                        <p:attrNameLst>
                                          <p:attrName>style.visibility</p:attrName>
                                        </p:attrNameLst>
                                      </p:cBhvr>
                                      <p:to>
                                        <p:strVal val="visible"/>
                                      </p:to>
                                    </p:set>
                                    <p:animEffect transition="in" filter="wipe(left)">
                                      <p:cBhvr>
                                        <p:cTn id="17" dur="500"/>
                                        <p:tgtEl>
                                          <p:spTgt spid="5386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8631"/>
                                        </p:tgtEl>
                                        <p:attrNameLst>
                                          <p:attrName>style.visibility</p:attrName>
                                        </p:attrNameLst>
                                      </p:cBhvr>
                                      <p:to>
                                        <p:strVal val="visible"/>
                                      </p:to>
                                    </p:set>
                                    <p:animEffect transition="in" filter="wipe(left)">
                                      <p:cBhvr>
                                        <p:cTn id="22" dur="500"/>
                                        <p:tgtEl>
                                          <p:spTgt spid="5386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38632"/>
                                        </p:tgtEl>
                                        <p:attrNameLst>
                                          <p:attrName>style.visibility</p:attrName>
                                        </p:attrNameLst>
                                      </p:cBhvr>
                                      <p:to>
                                        <p:strVal val="visible"/>
                                      </p:to>
                                    </p:set>
                                    <p:animEffect transition="in" filter="wipe(left)">
                                      <p:cBhvr>
                                        <p:cTn id="27" dur="500"/>
                                        <p:tgtEl>
                                          <p:spTgt spid="5386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8633"/>
                                        </p:tgtEl>
                                        <p:attrNameLst>
                                          <p:attrName>style.visibility</p:attrName>
                                        </p:attrNameLst>
                                      </p:cBhvr>
                                      <p:to>
                                        <p:strVal val="visible"/>
                                      </p:to>
                                    </p:set>
                                    <p:animEffect transition="in" filter="wipe(left)">
                                      <p:cBhvr>
                                        <p:cTn id="32" dur="500"/>
                                        <p:tgtEl>
                                          <p:spTgt spid="5386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38634"/>
                                        </p:tgtEl>
                                        <p:attrNameLst>
                                          <p:attrName>style.visibility</p:attrName>
                                        </p:attrNameLst>
                                      </p:cBhvr>
                                      <p:to>
                                        <p:strVal val="visible"/>
                                      </p:to>
                                    </p:set>
                                    <p:animEffect transition="in" filter="wipe(left)">
                                      <p:cBhvr>
                                        <p:cTn id="37" dur="500"/>
                                        <p:tgtEl>
                                          <p:spTgt spid="538634"/>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38635"/>
                                        </p:tgtEl>
                                        <p:attrNameLst>
                                          <p:attrName>style.visibility</p:attrName>
                                        </p:attrNameLst>
                                      </p:cBhvr>
                                      <p:to>
                                        <p:strVal val="visible"/>
                                      </p:to>
                                    </p:set>
                                    <p:animEffect transition="in" filter="wipe(left)">
                                      <p:cBhvr>
                                        <p:cTn id="42" dur="500"/>
                                        <p:tgtEl>
                                          <p:spTgt spid="538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28" grpId="0" autoUpdateAnimBg="0"/>
      <p:bldP spid="538629" grpId="0" autoUpdateAnimBg="0"/>
      <p:bldP spid="538630" grpId="0" autoUpdateAnimBg="0"/>
      <p:bldP spid="538631" grpId="0" autoUpdateAnimBg="0"/>
      <p:bldP spid="538633" grpId="0" autoUpdateAnimBg="0"/>
      <p:bldP spid="53863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8" name="灯片编号占位符 4"/>
          <p:cNvSpPr>
            <a:spLocks noGrp="1"/>
          </p:cNvSpPr>
          <p:nvPr>
            <p:ph type="sldNum" sz="quarter" idx="12"/>
          </p:nvPr>
        </p:nvSpPr>
        <p:spPr/>
        <p:txBody>
          <a:bodyPr/>
          <a:lstStyle/>
          <a:p>
            <a:fld id="{39100C46-96E0-4D62-8A4E-072D2A26A645}" type="slidenum">
              <a:rPr lang="en-US" altLang="zh-CN"/>
              <a:pPr/>
              <a:t>30</a:t>
            </a:fld>
            <a:endParaRPr lang="en-US" altLang="zh-CN"/>
          </a:p>
        </p:txBody>
      </p:sp>
      <p:sp>
        <p:nvSpPr>
          <p:cNvPr id="535555" name="Text Box 3"/>
          <p:cNvSpPr txBox="1">
            <a:spLocks noChangeArrowheads="1"/>
          </p:cNvSpPr>
          <p:nvPr/>
        </p:nvSpPr>
        <p:spPr bwMode="auto">
          <a:xfrm>
            <a:off x="533400" y="1905000"/>
            <a:ext cx="2971800" cy="519113"/>
          </a:xfrm>
          <a:prstGeom prst="rect">
            <a:avLst/>
          </a:prstGeom>
          <a:noFill/>
          <a:ln w="9525" algn="ctr">
            <a:noFill/>
            <a:miter lim="800000"/>
            <a:headEnd/>
            <a:tailEnd/>
          </a:ln>
          <a:effectLst/>
        </p:spPr>
        <p:txBody>
          <a:bodyPr>
            <a:spAutoFit/>
          </a:bodyPr>
          <a:lstStyle/>
          <a:p>
            <a:pPr>
              <a:spcBef>
                <a:spcPct val="50000"/>
              </a:spcBef>
            </a:pPr>
            <a:r>
              <a:rPr kumimoji="1" lang="zh-CN" altLang="en-US" sz="2800"/>
              <a:t>内能的改变量：</a:t>
            </a:r>
          </a:p>
        </p:txBody>
      </p:sp>
      <p:graphicFrame>
        <p:nvGraphicFramePr>
          <p:cNvPr id="535556" name="Object 4"/>
          <p:cNvGraphicFramePr>
            <a:graphicFrameLocks noChangeAspect="1"/>
          </p:cNvGraphicFramePr>
          <p:nvPr/>
        </p:nvGraphicFramePr>
        <p:xfrm>
          <a:off x="2743200" y="3048000"/>
          <a:ext cx="2578100" cy="985838"/>
        </p:xfrm>
        <a:graphic>
          <a:graphicData uri="http://schemas.openxmlformats.org/presentationml/2006/ole">
            <mc:AlternateContent xmlns:mc="http://schemas.openxmlformats.org/markup-compatibility/2006">
              <mc:Choice xmlns:v="urn:schemas-microsoft-com:vml" Requires="v">
                <p:oleObj name="公式" r:id="rId2" imgW="1016000" imgH="393700" progId="Equation.3">
                  <p:embed/>
                </p:oleObj>
              </mc:Choice>
              <mc:Fallback>
                <p:oleObj name="公式" r:id="rId2" imgW="1016000" imgH="39370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048000"/>
                        <a:ext cx="2578100" cy="985838"/>
                      </a:xfrm>
                      <a:prstGeom prst="rect">
                        <a:avLst/>
                      </a:prstGeom>
                      <a:solidFill>
                        <a:srgbClr val="CC99FF">
                          <a:alpha val="50000"/>
                        </a:srgbClr>
                      </a:solidFill>
                      <a:ln w="9525">
                        <a:solidFill>
                          <a:schemeClr val="tx1"/>
                        </a:solidFill>
                        <a:miter lim="800000"/>
                        <a:headEnd/>
                        <a:tailEnd/>
                      </a:ln>
                    </p:spPr>
                  </p:pic>
                </p:oleObj>
              </mc:Fallback>
            </mc:AlternateContent>
          </a:graphicData>
        </a:graphic>
      </p:graphicFrame>
      <p:sp>
        <p:nvSpPr>
          <p:cNvPr id="535557" name="Text Box 5"/>
          <p:cNvSpPr txBox="1">
            <a:spLocks noChangeArrowheads="1"/>
          </p:cNvSpPr>
          <p:nvPr/>
        </p:nvSpPr>
        <p:spPr bwMode="auto">
          <a:xfrm>
            <a:off x="1143000" y="4495800"/>
            <a:ext cx="7543800" cy="946150"/>
          </a:xfrm>
          <a:prstGeom prst="rect">
            <a:avLst/>
          </a:prstGeom>
          <a:noFill/>
          <a:ln w="9525">
            <a:noFill/>
            <a:miter lim="800000"/>
            <a:headEnd/>
            <a:tailEnd/>
          </a:ln>
          <a:effectLst/>
        </p:spPr>
        <p:txBody>
          <a:bodyPr>
            <a:spAutoFit/>
          </a:bodyPr>
          <a:lstStyle/>
          <a:p>
            <a:pPr>
              <a:spcBef>
                <a:spcPct val="50000"/>
              </a:spcBef>
            </a:pPr>
            <a:r>
              <a:rPr kumimoji="1" lang="zh-CN" altLang="en-US" sz="2800"/>
              <a:t>理想气体内能的改变只取决于始、末状态的温度，而与系统状态变化的具体过程无关。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5555"/>
                                        </p:tgtEl>
                                        <p:attrNameLst>
                                          <p:attrName>style.visibility</p:attrName>
                                        </p:attrNameLst>
                                      </p:cBhvr>
                                      <p:to>
                                        <p:strVal val="visible"/>
                                      </p:to>
                                    </p:set>
                                    <p:animEffect transition="in" filter="wipe(left)">
                                      <p:cBhvr>
                                        <p:cTn id="7" dur="500"/>
                                        <p:tgtEl>
                                          <p:spTgt spid="5355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5556"/>
                                        </p:tgtEl>
                                        <p:attrNameLst>
                                          <p:attrName>style.visibility</p:attrName>
                                        </p:attrNameLst>
                                      </p:cBhvr>
                                      <p:to>
                                        <p:strVal val="visible"/>
                                      </p:to>
                                    </p:set>
                                    <p:animEffect transition="in" filter="wipe(left)">
                                      <p:cBhvr>
                                        <p:cTn id="12" dur="500"/>
                                        <p:tgtEl>
                                          <p:spTgt spid="5355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5557"/>
                                        </p:tgtEl>
                                        <p:attrNameLst>
                                          <p:attrName>style.visibility</p:attrName>
                                        </p:attrNameLst>
                                      </p:cBhvr>
                                      <p:to>
                                        <p:strVal val="visible"/>
                                      </p:to>
                                    </p:set>
                                    <p:animEffect transition="in" filter="wipe(left)">
                                      <p:cBhvr>
                                        <p:cTn id="17" dur="500"/>
                                        <p:tgtEl>
                                          <p:spTgt spid="535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5" grpId="0"/>
      <p:bldP spid="53555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5" name="灯片编号占位符 4"/>
          <p:cNvSpPr>
            <a:spLocks noGrp="1"/>
          </p:cNvSpPr>
          <p:nvPr>
            <p:ph type="sldNum" sz="quarter" idx="12"/>
          </p:nvPr>
        </p:nvSpPr>
        <p:spPr/>
        <p:txBody>
          <a:bodyPr/>
          <a:lstStyle/>
          <a:p>
            <a:fld id="{089C13E8-FE02-4C7A-BCDF-84005283E148}" type="slidenum">
              <a:rPr lang="en-US" altLang="zh-CN"/>
              <a:pPr/>
              <a:t>31</a:t>
            </a:fld>
            <a:endParaRPr lang="en-US" altLang="zh-CN"/>
          </a:p>
        </p:txBody>
      </p:sp>
      <p:graphicFrame>
        <p:nvGraphicFramePr>
          <p:cNvPr id="539651" name="Object 3"/>
          <p:cNvGraphicFramePr>
            <a:graphicFrameLocks noChangeAspect="1"/>
          </p:cNvGraphicFramePr>
          <p:nvPr/>
        </p:nvGraphicFramePr>
        <p:xfrm>
          <a:off x="3581400" y="1828800"/>
          <a:ext cx="2995613" cy="787400"/>
        </p:xfrm>
        <a:graphic>
          <a:graphicData uri="http://schemas.openxmlformats.org/presentationml/2006/ole">
            <mc:AlternateContent xmlns:mc="http://schemas.openxmlformats.org/markup-compatibility/2006">
              <mc:Choice xmlns:v="urn:schemas-microsoft-com:vml" Requires="v">
                <p:oleObj name="公式" r:id="rId2" imgW="1498320" imgH="393480" progId="Equation.3">
                  <p:embed/>
                </p:oleObj>
              </mc:Choice>
              <mc:Fallback>
                <p:oleObj name="公式" r:id="rId2" imgW="1498320" imgH="39348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828800"/>
                        <a:ext cx="29956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9652" name="Text Box 4"/>
          <p:cNvSpPr txBox="1">
            <a:spLocks noChangeArrowheads="1"/>
          </p:cNvSpPr>
          <p:nvPr/>
        </p:nvSpPr>
        <p:spPr bwMode="auto">
          <a:xfrm>
            <a:off x="381000" y="1219200"/>
            <a:ext cx="8385175" cy="946150"/>
          </a:xfrm>
          <a:prstGeom prst="rect">
            <a:avLst/>
          </a:prstGeom>
          <a:noFill/>
          <a:ln w="9525">
            <a:noFill/>
            <a:miter lim="800000"/>
            <a:headEnd/>
            <a:tailEnd/>
          </a:ln>
          <a:effectLst/>
        </p:spPr>
        <p:txBody>
          <a:bodyPr>
            <a:spAutoFit/>
          </a:bodyPr>
          <a:lstStyle/>
          <a:p>
            <a:pPr>
              <a:spcBef>
                <a:spcPct val="50000"/>
              </a:spcBef>
            </a:pPr>
            <a:r>
              <a:rPr lang="en-US" altLang="zh-CN" sz="2800"/>
              <a:t>1mol </a:t>
            </a:r>
            <a:r>
              <a:rPr lang="zh-CN" altLang="en-US" sz="2800"/>
              <a:t>理想气体在等容（等体）过程中升高单位温度所需吸收的热量为 </a:t>
            </a:r>
          </a:p>
        </p:txBody>
      </p:sp>
      <p:sp>
        <p:nvSpPr>
          <p:cNvPr id="539653" name="Text Box 5"/>
          <p:cNvSpPr txBox="1">
            <a:spLocks noChangeArrowheads="1"/>
          </p:cNvSpPr>
          <p:nvPr/>
        </p:nvSpPr>
        <p:spPr bwMode="auto">
          <a:xfrm>
            <a:off x="457200" y="2667000"/>
            <a:ext cx="3455988" cy="519113"/>
          </a:xfrm>
          <a:prstGeom prst="rect">
            <a:avLst/>
          </a:prstGeom>
          <a:noFill/>
          <a:ln w="9525">
            <a:noFill/>
            <a:miter lim="800000"/>
            <a:headEnd/>
            <a:tailEnd/>
          </a:ln>
          <a:effectLst/>
        </p:spPr>
        <p:txBody>
          <a:bodyPr>
            <a:spAutoFit/>
          </a:bodyPr>
          <a:lstStyle/>
          <a:p>
            <a:pPr>
              <a:spcBef>
                <a:spcPct val="50000"/>
              </a:spcBef>
            </a:pPr>
            <a:r>
              <a:rPr lang="zh-CN" altLang="en-US" sz="2800" dirty="0">
                <a:solidFill>
                  <a:srgbClr val="0000CC"/>
                </a:solidFill>
              </a:rPr>
              <a:t>定容摩尔热容</a:t>
            </a:r>
            <a:r>
              <a:rPr lang="zh-CN" altLang="en-US" sz="2800" dirty="0"/>
              <a:t>：</a:t>
            </a:r>
          </a:p>
        </p:txBody>
      </p:sp>
      <p:graphicFrame>
        <p:nvGraphicFramePr>
          <p:cNvPr id="539654" name="Object 6"/>
          <p:cNvGraphicFramePr>
            <a:graphicFrameLocks noChangeAspect="1"/>
          </p:cNvGraphicFramePr>
          <p:nvPr/>
        </p:nvGraphicFramePr>
        <p:xfrm>
          <a:off x="3581400" y="2514600"/>
          <a:ext cx="2919413" cy="914400"/>
        </p:xfrm>
        <a:graphic>
          <a:graphicData uri="http://schemas.openxmlformats.org/presentationml/2006/ole">
            <mc:AlternateContent xmlns:mc="http://schemas.openxmlformats.org/markup-compatibility/2006">
              <mc:Choice xmlns:v="urn:schemas-microsoft-com:vml" Requires="v">
                <p:oleObj name="公式" r:id="rId4" imgW="1460160" imgH="457200" progId="Equation.3">
                  <p:embed/>
                </p:oleObj>
              </mc:Choice>
              <mc:Fallback>
                <p:oleObj name="公式" r:id="rId4" imgW="1460160" imgH="45720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2514600"/>
                        <a:ext cx="29194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9655" name="Text Box 7"/>
          <p:cNvSpPr txBox="1">
            <a:spLocks noChangeArrowheads="1"/>
          </p:cNvSpPr>
          <p:nvPr/>
        </p:nvSpPr>
        <p:spPr bwMode="auto">
          <a:xfrm>
            <a:off x="457200" y="3352800"/>
            <a:ext cx="2971800" cy="519113"/>
          </a:xfrm>
          <a:prstGeom prst="rect">
            <a:avLst/>
          </a:prstGeom>
          <a:noFill/>
          <a:ln w="9525" algn="ctr">
            <a:noFill/>
            <a:miter lim="800000"/>
            <a:headEnd/>
            <a:tailEnd/>
          </a:ln>
          <a:effectLst/>
        </p:spPr>
        <p:txBody>
          <a:bodyPr>
            <a:spAutoFit/>
          </a:bodyPr>
          <a:lstStyle/>
          <a:p>
            <a:pPr>
              <a:spcBef>
                <a:spcPct val="50000"/>
              </a:spcBef>
            </a:pPr>
            <a:r>
              <a:rPr lang="zh-CN" altLang="en-US" sz="2800" dirty="0"/>
              <a:t>根据</a:t>
            </a:r>
            <a:r>
              <a:rPr lang="zh-CN" altLang="en-US" sz="2800" dirty="0">
                <a:solidFill>
                  <a:srgbClr val="0000CC"/>
                </a:solidFill>
              </a:rPr>
              <a:t>迈耶公式</a:t>
            </a:r>
            <a:r>
              <a:rPr lang="zh-CN" altLang="en-US" sz="2800" dirty="0"/>
              <a:t>： </a:t>
            </a:r>
          </a:p>
        </p:txBody>
      </p:sp>
      <p:graphicFrame>
        <p:nvGraphicFramePr>
          <p:cNvPr id="539656" name="Object 8"/>
          <p:cNvGraphicFramePr>
            <a:graphicFrameLocks noChangeAspect="1"/>
          </p:cNvGraphicFramePr>
          <p:nvPr/>
        </p:nvGraphicFramePr>
        <p:xfrm>
          <a:off x="3581400" y="3429000"/>
          <a:ext cx="2005013" cy="482600"/>
        </p:xfrm>
        <a:graphic>
          <a:graphicData uri="http://schemas.openxmlformats.org/presentationml/2006/ole">
            <mc:AlternateContent xmlns:mc="http://schemas.openxmlformats.org/markup-compatibility/2006">
              <mc:Choice xmlns:v="urn:schemas-microsoft-com:vml" Requires="v">
                <p:oleObj name="公式" r:id="rId6" imgW="1002960" imgH="241200" progId="Equation.3">
                  <p:embed/>
                </p:oleObj>
              </mc:Choice>
              <mc:Fallback>
                <p:oleObj name="公式" r:id="rId6" imgW="1002960" imgH="241200" progId="Equation.3">
                  <p:embed/>
                  <p:pic>
                    <p:nvPicPr>
                      <p:cNvPr id="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3429000"/>
                        <a:ext cx="2005013"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9657" name="Text Box 9"/>
          <p:cNvSpPr txBox="1">
            <a:spLocks noChangeArrowheads="1"/>
          </p:cNvSpPr>
          <p:nvPr/>
        </p:nvSpPr>
        <p:spPr bwMode="auto">
          <a:xfrm>
            <a:off x="457200" y="4343400"/>
            <a:ext cx="2879725" cy="519113"/>
          </a:xfrm>
          <a:prstGeom prst="rect">
            <a:avLst/>
          </a:prstGeom>
          <a:noFill/>
          <a:ln w="9525" algn="ctr">
            <a:noFill/>
            <a:miter lim="800000"/>
            <a:headEnd/>
            <a:tailEnd/>
          </a:ln>
          <a:effectLst/>
        </p:spPr>
        <p:txBody>
          <a:bodyPr>
            <a:spAutoFit/>
          </a:bodyPr>
          <a:lstStyle/>
          <a:p>
            <a:pPr>
              <a:spcBef>
                <a:spcPct val="50000"/>
              </a:spcBef>
            </a:pPr>
            <a:r>
              <a:rPr lang="zh-CN" altLang="en-US" sz="2800">
                <a:solidFill>
                  <a:srgbClr val="0000CC"/>
                </a:solidFill>
              </a:rPr>
              <a:t>定压摩尔热容： </a:t>
            </a:r>
          </a:p>
        </p:txBody>
      </p:sp>
      <p:graphicFrame>
        <p:nvGraphicFramePr>
          <p:cNvPr id="539658" name="Object 10"/>
          <p:cNvGraphicFramePr>
            <a:graphicFrameLocks noChangeAspect="1"/>
          </p:cNvGraphicFramePr>
          <p:nvPr/>
        </p:nvGraphicFramePr>
        <p:xfrm>
          <a:off x="3581400" y="4114800"/>
          <a:ext cx="2081213" cy="863600"/>
        </p:xfrm>
        <a:graphic>
          <a:graphicData uri="http://schemas.openxmlformats.org/presentationml/2006/ole">
            <mc:AlternateContent xmlns:mc="http://schemas.openxmlformats.org/markup-compatibility/2006">
              <mc:Choice xmlns:v="urn:schemas-microsoft-com:vml" Requires="v">
                <p:oleObj name="公式" r:id="rId8" imgW="1040948" imgH="431613" progId="Equation.3">
                  <p:embed/>
                </p:oleObj>
              </mc:Choice>
              <mc:Fallback>
                <p:oleObj name="公式" r:id="rId8" imgW="1040948" imgH="431613" progId="Equation.3">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1400" y="4114800"/>
                        <a:ext cx="2081213"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9659" name="Text Box 11"/>
          <p:cNvSpPr txBox="1">
            <a:spLocks noChangeArrowheads="1"/>
          </p:cNvSpPr>
          <p:nvPr/>
        </p:nvSpPr>
        <p:spPr bwMode="auto">
          <a:xfrm>
            <a:off x="457200" y="5334000"/>
            <a:ext cx="2743200" cy="946150"/>
          </a:xfrm>
          <a:prstGeom prst="rect">
            <a:avLst/>
          </a:prstGeom>
          <a:noFill/>
          <a:ln w="9525" algn="ctr">
            <a:noFill/>
            <a:miter lim="800000"/>
            <a:headEnd/>
            <a:tailEnd/>
          </a:ln>
          <a:effectLst/>
        </p:spPr>
        <p:txBody>
          <a:bodyPr>
            <a:spAutoFit/>
          </a:bodyPr>
          <a:lstStyle/>
          <a:p>
            <a:r>
              <a:rPr lang="zh-CN" altLang="en-US" sz="2800" dirty="0">
                <a:solidFill>
                  <a:srgbClr val="0000CC"/>
                </a:solidFill>
              </a:rPr>
              <a:t>泊松比</a:t>
            </a:r>
          </a:p>
          <a:p>
            <a:r>
              <a:rPr lang="zh-CN" altLang="en-US" sz="2800" dirty="0">
                <a:solidFill>
                  <a:srgbClr val="0000CC"/>
                </a:solidFill>
              </a:rPr>
              <a:t>（比热容比）： </a:t>
            </a:r>
          </a:p>
        </p:txBody>
      </p:sp>
      <p:graphicFrame>
        <p:nvGraphicFramePr>
          <p:cNvPr id="539660" name="Object 12"/>
          <p:cNvGraphicFramePr>
            <a:graphicFrameLocks noChangeAspect="1"/>
          </p:cNvGraphicFramePr>
          <p:nvPr/>
        </p:nvGraphicFramePr>
        <p:xfrm>
          <a:off x="3581400" y="5365750"/>
          <a:ext cx="2065338" cy="914400"/>
        </p:xfrm>
        <a:graphic>
          <a:graphicData uri="http://schemas.openxmlformats.org/presentationml/2006/ole">
            <mc:AlternateContent xmlns:mc="http://schemas.openxmlformats.org/markup-compatibility/2006">
              <mc:Choice xmlns:v="urn:schemas-microsoft-com:vml" Requires="v">
                <p:oleObj name="公式" r:id="rId10" imgW="1028520" imgH="457200" progId="Equation.3">
                  <p:embed/>
                </p:oleObj>
              </mc:Choice>
              <mc:Fallback>
                <p:oleObj name="公式" r:id="rId10" imgW="1028520" imgH="457200" progId="Equation.3">
                  <p:embed/>
                  <p:pic>
                    <p:nvPicPr>
                      <p:cNvPr id="0" name="Picture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1400" y="5365750"/>
                        <a:ext cx="206533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9652"/>
                                        </p:tgtEl>
                                        <p:attrNameLst>
                                          <p:attrName>style.visibility</p:attrName>
                                        </p:attrNameLst>
                                      </p:cBhvr>
                                      <p:to>
                                        <p:strVal val="visible"/>
                                      </p:to>
                                    </p:set>
                                    <p:animEffect transition="in" filter="wipe(left)">
                                      <p:cBhvr>
                                        <p:cTn id="7" dur="500"/>
                                        <p:tgtEl>
                                          <p:spTgt spid="5396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9651"/>
                                        </p:tgtEl>
                                        <p:attrNameLst>
                                          <p:attrName>style.visibility</p:attrName>
                                        </p:attrNameLst>
                                      </p:cBhvr>
                                      <p:to>
                                        <p:strVal val="visible"/>
                                      </p:to>
                                    </p:set>
                                    <p:animEffect transition="in" filter="wipe(left)">
                                      <p:cBhvr>
                                        <p:cTn id="12" dur="500"/>
                                        <p:tgtEl>
                                          <p:spTgt spid="5396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9653"/>
                                        </p:tgtEl>
                                        <p:attrNameLst>
                                          <p:attrName>style.visibility</p:attrName>
                                        </p:attrNameLst>
                                      </p:cBhvr>
                                      <p:to>
                                        <p:strVal val="visible"/>
                                      </p:to>
                                    </p:set>
                                    <p:animEffect transition="in" filter="wipe(left)">
                                      <p:cBhvr>
                                        <p:cTn id="17" dur="500"/>
                                        <p:tgtEl>
                                          <p:spTgt spid="5396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39654"/>
                                        </p:tgtEl>
                                        <p:attrNameLst>
                                          <p:attrName>style.visibility</p:attrName>
                                        </p:attrNameLst>
                                      </p:cBhvr>
                                      <p:to>
                                        <p:strVal val="visible"/>
                                      </p:to>
                                    </p:set>
                                    <p:animEffect transition="in" filter="wipe(left)">
                                      <p:cBhvr>
                                        <p:cTn id="22" dur="500"/>
                                        <p:tgtEl>
                                          <p:spTgt spid="5396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9655"/>
                                        </p:tgtEl>
                                        <p:attrNameLst>
                                          <p:attrName>style.visibility</p:attrName>
                                        </p:attrNameLst>
                                      </p:cBhvr>
                                      <p:to>
                                        <p:strVal val="visible"/>
                                      </p:to>
                                    </p:set>
                                    <p:animEffect transition="in" filter="wipe(left)">
                                      <p:cBhvr>
                                        <p:cTn id="27" dur="500"/>
                                        <p:tgtEl>
                                          <p:spTgt spid="539655"/>
                                        </p:tgtEl>
                                      </p:cBhvr>
                                    </p:animEffect>
                                  </p:childTnLst>
                                </p:cTn>
                              </p:par>
                              <p:par>
                                <p:cTn id="28" presetID="22" presetClass="entr" presetSubtype="8" fill="hold" nodeType="withEffect">
                                  <p:stCondLst>
                                    <p:cond delay="0"/>
                                  </p:stCondLst>
                                  <p:childTnLst>
                                    <p:set>
                                      <p:cBhvr>
                                        <p:cTn id="29" dur="1" fill="hold">
                                          <p:stCondLst>
                                            <p:cond delay="0"/>
                                          </p:stCondLst>
                                        </p:cTn>
                                        <p:tgtEl>
                                          <p:spTgt spid="539656"/>
                                        </p:tgtEl>
                                        <p:attrNameLst>
                                          <p:attrName>style.visibility</p:attrName>
                                        </p:attrNameLst>
                                      </p:cBhvr>
                                      <p:to>
                                        <p:strVal val="visible"/>
                                      </p:to>
                                    </p:set>
                                    <p:animEffect transition="in" filter="wipe(left)">
                                      <p:cBhvr>
                                        <p:cTn id="30" dur="500"/>
                                        <p:tgtEl>
                                          <p:spTgt spid="53965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39657"/>
                                        </p:tgtEl>
                                        <p:attrNameLst>
                                          <p:attrName>style.visibility</p:attrName>
                                        </p:attrNameLst>
                                      </p:cBhvr>
                                      <p:to>
                                        <p:strVal val="visible"/>
                                      </p:to>
                                    </p:set>
                                    <p:animEffect transition="in" filter="wipe(left)">
                                      <p:cBhvr>
                                        <p:cTn id="35" dur="500"/>
                                        <p:tgtEl>
                                          <p:spTgt spid="53965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39658"/>
                                        </p:tgtEl>
                                        <p:attrNameLst>
                                          <p:attrName>style.visibility</p:attrName>
                                        </p:attrNameLst>
                                      </p:cBhvr>
                                      <p:to>
                                        <p:strVal val="visible"/>
                                      </p:to>
                                    </p:set>
                                    <p:animEffect transition="in" filter="wipe(left)">
                                      <p:cBhvr>
                                        <p:cTn id="40" dur="500"/>
                                        <p:tgtEl>
                                          <p:spTgt spid="53965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39659"/>
                                        </p:tgtEl>
                                        <p:attrNameLst>
                                          <p:attrName>style.visibility</p:attrName>
                                        </p:attrNameLst>
                                      </p:cBhvr>
                                      <p:to>
                                        <p:strVal val="visible"/>
                                      </p:to>
                                    </p:set>
                                    <p:animEffect transition="in" filter="wipe(left)">
                                      <p:cBhvr>
                                        <p:cTn id="45" dur="500"/>
                                        <p:tgtEl>
                                          <p:spTgt spid="53965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539660"/>
                                        </p:tgtEl>
                                        <p:attrNameLst>
                                          <p:attrName>style.visibility</p:attrName>
                                        </p:attrNameLst>
                                      </p:cBhvr>
                                      <p:to>
                                        <p:strVal val="visible"/>
                                      </p:to>
                                    </p:set>
                                    <p:animEffect transition="in" filter="wipe(left)">
                                      <p:cBhvr>
                                        <p:cTn id="50" dur="500"/>
                                        <p:tgtEl>
                                          <p:spTgt spid="539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2" grpId="0"/>
      <p:bldP spid="539653" grpId="0"/>
      <p:bldP spid="539655" grpId="0"/>
      <p:bldP spid="539657" grpId="0"/>
      <p:bldP spid="53965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7" name="灯片编号占位符 4"/>
          <p:cNvSpPr>
            <a:spLocks noGrp="1"/>
          </p:cNvSpPr>
          <p:nvPr>
            <p:ph type="sldNum" sz="quarter" idx="12"/>
          </p:nvPr>
        </p:nvSpPr>
        <p:spPr/>
        <p:txBody>
          <a:bodyPr/>
          <a:lstStyle/>
          <a:p>
            <a:fld id="{F1289F6A-D5E5-48C2-B826-5A9D5B8F733A}" type="slidenum">
              <a:rPr lang="en-US" altLang="zh-CN"/>
              <a:pPr/>
              <a:t>32</a:t>
            </a:fld>
            <a:endParaRPr lang="en-US" altLang="zh-CN"/>
          </a:p>
        </p:txBody>
      </p:sp>
      <p:sp>
        <p:nvSpPr>
          <p:cNvPr id="540675" name="Rectangle 3"/>
          <p:cNvSpPr>
            <a:spLocks noChangeArrowheads="1"/>
          </p:cNvSpPr>
          <p:nvPr/>
        </p:nvSpPr>
        <p:spPr bwMode="auto">
          <a:xfrm>
            <a:off x="501650" y="1219200"/>
            <a:ext cx="29273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latin typeface="Arial" charset="0"/>
              </a:rPr>
              <a:t>能量均分定理的局限</a:t>
            </a:r>
          </a:p>
        </p:txBody>
      </p:sp>
      <p:sp>
        <p:nvSpPr>
          <p:cNvPr id="540676" name="Text Box 4"/>
          <p:cNvSpPr txBox="1">
            <a:spLocks noChangeArrowheads="1"/>
          </p:cNvSpPr>
          <p:nvPr/>
        </p:nvSpPr>
        <p:spPr bwMode="auto">
          <a:xfrm>
            <a:off x="685800" y="3200400"/>
            <a:ext cx="7620000" cy="1117600"/>
          </a:xfrm>
          <a:prstGeom prst="rect">
            <a:avLst/>
          </a:prstGeom>
          <a:noFill/>
          <a:ln w="19050" algn="ctr">
            <a:noFill/>
            <a:miter lim="800000"/>
            <a:headEnd/>
            <a:tailEnd/>
          </a:ln>
          <a:effectLst/>
        </p:spPr>
        <p:txBody>
          <a:bodyPr lIns="90000" tIns="46800" rIns="90000" bIns="46800" anchor="ctr">
            <a:spAutoFit/>
          </a:bodyPr>
          <a:lstStyle/>
          <a:p>
            <a:pPr>
              <a:lnSpc>
                <a:spcPct val="120000"/>
              </a:lnSpc>
            </a:pPr>
            <a:r>
              <a:rPr kumimoji="1" lang="zh-CN" altLang="en-US" sz="2800">
                <a:latin typeface="宋体" pitchFamily="2" charset="-122"/>
              </a:rPr>
              <a:t>能量均分定理是</a:t>
            </a:r>
            <a:r>
              <a:rPr kumimoji="1" lang="zh-CN" altLang="en-US" sz="2800">
                <a:solidFill>
                  <a:srgbClr val="0000CC"/>
                </a:solidFill>
                <a:latin typeface="宋体" pitchFamily="2" charset="-122"/>
              </a:rPr>
              <a:t>经典统计</a:t>
            </a:r>
            <a:r>
              <a:rPr kumimoji="1" lang="zh-CN" altLang="en-US" sz="2800">
                <a:latin typeface="宋体" pitchFamily="2" charset="-122"/>
              </a:rPr>
              <a:t>的结果，</a:t>
            </a:r>
            <a:r>
              <a:rPr kumimoji="1" lang="zh-CN" altLang="en-US" sz="2800">
                <a:solidFill>
                  <a:srgbClr val="FF3300"/>
                </a:solidFill>
                <a:latin typeface="宋体" pitchFamily="2" charset="-122"/>
              </a:rPr>
              <a:t>高温下与实验符合较好</a:t>
            </a:r>
            <a:r>
              <a:rPr kumimoji="1" lang="zh-CN" altLang="en-US" sz="2800">
                <a:latin typeface="宋体" pitchFamily="2" charset="-122"/>
              </a:rPr>
              <a:t>，但在低温下于实际存在较大偏差。</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6" name="灯片编号占位符 4"/>
          <p:cNvSpPr>
            <a:spLocks noGrp="1"/>
          </p:cNvSpPr>
          <p:nvPr>
            <p:ph type="sldNum" sz="quarter" idx="12"/>
          </p:nvPr>
        </p:nvSpPr>
        <p:spPr/>
        <p:txBody>
          <a:bodyPr/>
          <a:lstStyle/>
          <a:p>
            <a:fld id="{A7D67F6E-97E6-4B6D-B613-D607E07C104B}" type="slidenum">
              <a:rPr lang="en-US" altLang="zh-CN"/>
              <a:pPr/>
              <a:t>33</a:t>
            </a:fld>
            <a:endParaRPr lang="en-US" altLang="zh-CN"/>
          </a:p>
        </p:txBody>
      </p:sp>
      <p:sp>
        <p:nvSpPr>
          <p:cNvPr id="542723" name="Text Box 3"/>
          <p:cNvSpPr txBox="1">
            <a:spLocks noChangeArrowheads="1"/>
          </p:cNvSpPr>
          <p:nvPr/>
        </p:nvSpPr>
        <p:spPr bwMode="auto">
          <a:xfrm>
            <a:off x="381000" y="1295400"/>
            <a:ext cx="8353425" cy="4749800"/>
          </a:xfrm>
          <a:prstGeom prst="rect">
            <a:avLst/>
          </a:prstGeom>
          <a:noFill/>
          <a:ln w="12700" cap="sq" algn="ctr">
            <a:noFill/>
            <a:miter lim="800000"/>
            <a:headEnd/>
            <a:tailEnd/>
          </a:ln>
          <a:effectLst/>
        </p:spPr>
        <p:txBody>
          <a:bodyPr>
            <a:spAutoFit/>
          </a:bodyPr>
          <a:lstStyle/>
          <a:p>
            <a:pPr>
              <a:lnSpc>
                <a:spcPct val="110000"/>
              </a:lnSpc>
              <a:spcBef>
                <a:spcPct val="20000"/>
              </a:spcBef>
            </a:pPr>
            <a:r>
              <a:rPr kumimoji="1" lang="zh-CN" altLang="en-US" sz="2800"/>
              <a:t>例</a:t>
            </a:r>
            <a:r>
              <a:rPr kumimoji="1" lang="en-US" altLang="zh-CN" sz="2800"/>
              <a:t>10.3    </a:t>
            </a:r>
            <a:r>
              <a:rPr kumimoji="1" lang="zh-CN" altLang="en-US" sz="2800"/>
              <a:t>容器内有某种</a:t>
            </a:r>
            <a:r>
              <a:rPr kumimoji="1" lang="zh-CN" altLang="en-US" sz="2800">
                <a:solidFill>
                  <a:srgbClr val="FF3300"/>
                </a:solidFill>
              </a:rPr>
              <a:t>理想气体</a:t>
            </a:r>
            <a:r>
              <a:rPr kumimoji="1" lang="zh-CN" altLang="en-US" sz="2800"/>
              <a:t>，气体温度为</a:t>
            </a:r>
            <a:r>
              <a:rPr kumimoji="1" lang="en-US" altLang="zh-CN" sz="2800"/>
              <a:t>273K</a:t>
            </a:r>
            <a:r>
              <a:rPr kumimoji="1" lang="zh-CN" altLang="en-US" sz="2800"/>
              <a:t>，压强为</a:t>
            </a:r>
            <a:r>
              <a:rPr kumimoji="1" lang="en-US" altLang="zh-CN" sz="2800"/>
              <a:t>0.01 atm ( 1atm = 1.013×10</a:t>
            </a:r>
            <a:r>
              <a:rPr kumimoji="1" lang="en-US" altLang="zh-CN" sz="2800" baseline="30000"/>
              <a:t>5</a:t>
            </a:r>
            <a:r>
              <a:rPr kumimoji="1" lang="en-US" altLang="zh-CN" sz="2800"/>
              <a:t> Pa )</a:t>
            </a:r>
            <a:r>
              <a:rPr kumimoji="1" lang="zh-CN" altLang="en-US" sz="2800"/>
              <a:t>，密度为</a:t>
            </a:r>
            <a:r>
              <a:rPr kumimoji="1" lang="en-US" altLang="zh-CN" sz="2800"/>
              <a:t>1.24×10</a:t>
            </a:r>
            <a:r>
              <a:rPr kumimoji="1" lang="en-US" altLang="zh-CN" sz="2800" baseline="30000"/>
              <a:t>-2 </a:t>
            </a:r>
            <a:r>
              <a:rPr kumimoji="1" lang="en-US" altLang="zh-CN" sz="2800"/>
              <a:t>kg· m</a:t>
            </a:r>
            <a:r>
              <a:rPr kumimoji="1" lang="en-US" altLang="zh-CN" sz="2800" baseline="30000"/>
              <a:t>-3</a:t>
            </a:r>
            <a:r>
              <a:rPr kumimoji="1" lang="zh-CN" altLang="en-US" sz="2800"/>
              <a:t>。试求：</a:t>
            </a:r>
          </a:p>
          <a:p>
            <a:pPr>
              <a:lnSpc>
                <a:spcPct val="110000"/>
              </a:lnSpc>
              <a:spcBef>
                <a:spcPct val="20000"/>
              </a:spcBef>
            </a:pPr>
            <a:r>
              <a:rPr kumimoji="1" lang="zh-CN" altLang="en-US" sz="2800"/>
              <a:t>（</a:t>
            </a:r>
            <a:r>
              <a:rPr kumimoji="1" lang="en-US" altLang="zh-CN" sz="2800"/>
              <a:t>1</a:t>
            </a:r>
            <a:r>
              <a:rPr kumimoji="1" lang="zh-CN" altLang="en-US" sz="2800"/>
              <a:t>） 气体分子的</a:t>
            </a:r>
            <a:r>
              <a:rPr kumimoji="1" lang="zh-CN" altLang="en-US" sz="2800">
                <a:solidFill>
                  <a:srgbClr val="0000CC"/>
                </a:solidFill>
              </a:rPr>
              <a:t>方均根速率</a:t>
            </a:r>
            <a:r>
              <a:rPr kumimoji="1" lang="zh-CN" altLang="en-US" sz="2800"/>
              <a:t>；</a:t>
            </a:r>
          </a:p>
          <a:p>
            <a:pPr>
              <a:lnSpc>
                <a:spcPct val="110000"/>
              </a:lnSpc>
              <a:spcBef>
                <a:spcPct val="20000"/>
              </a:spcBef>
            </a:pPr>
            <a:r>
              <a:rPr kumimoji="1" lang="zh-CN" altLang="en-US" sz="2800"/>
              <a:t>（</a:t>
            </a:r>
            <a:r>
              <a:rPr kumimoji="1" lang="en-US" altLang="zh-CN" sz="2800"/>
              <a:t>2</a:t>
            </a:r>
            <a:r>
              <a:rPr kumimoji="1" lang="zh-CN" altLang="en-US" sz="2800"/>
              <a:t>） 气体的</a:t>
            </a:r>
            <a:r>
              <a:rPr kumimoji="1" lang="zh-CN" altLang="en-US" sz="2800">
                <a:solidFill>
                  <a:srgbClr val="0000CC"/>
                </a:solidFill>
              </a:rPr>
              <a:t>摩尔质量</a:t>
            </a:r>
            <a:r>
              <a:rPr kumimoji="1" lang="zh-CN" altLang="en-US" sz="2800"/>
              <a:t>，并确定它是什么气体；</a:t>
            </a:r>
          </a:p>
          <a:p>
            <a:pPr>
              <a:lnSpc>
                <a:spcPct val="110000"/>
              </a:lnSpc>
              <a:spcBef>
                <a:spcPct val="20000"/>
              </a:spcBef>
            </a:pPr>
            <a:r>
              <a:rPr kumimoji="1" lang="zh-CN" altLang="en-US" sz="2800"/>
              <a:t>（</a:t>
            </a:r>
            <a:r>
              <a:rPr kumimoji="1" lang="en-US" altLang="zh-CN" sz="2800"/>
              <a:t>3</a:t>
            </a:r>
            <a:r>
              <a:rPr kumimoji="1" lang="zh-CN" altLang="en-US" sz="2800"/>
              <a:t>） 气体分子的</a:t>
            </a:r>
            <a:r>
              <a:rPr kumimoji="1" lang="zh-CN" altLang="en-US" sz="2800">
                <a:solidFill>
                  <a:srgbClr val="0000CC"/>
                </a:solidFill>
              </a:rPr>
              <a:t>平均平动动能</a:t>
            </a:r>
            <a:r>
              <a:rPr kumimoji="1" lang="zh-CN" altLang="en-US" sz="2800"/>
              <a:t>和</a:t>
            </a:r>
            <a:r>
              <a:rPr kumimoji="1" lang="zh-CN" altLang="en-US" sz="2800">
                <a:solidFill>
                  <a:srgbClr val="0000CC"/>
                </a:solidFill>
              </a:rPr>
              <a:t>平均转动动能</a:t>
            </a:r>
            <a:r>
              <a:rPr kumimoji="1" lang="zh-CN" altLang="en-US" sz="2800"/>
              <a:t>各是多少？</a:t>
            </a:r>
          </a:p>
          <a:p>
            <a:pPr>
              <a:lnSpc>
                <a:spcPct val="110000"/>
              </a:lnSpc>
              <a:spcBef>
                <a:spcPct val="20000"/>
              </a:spcBef>
            </a:pPr>
            <a:r>
              <a:rPr kumimoji="1" lang="zh-CN" altLang="en-US" sz="2800"/>
              <a:t>（</a:t>
            </a:r>
            <a:r>
              <a:rPr kumimoji="1" lang="en-US" altLang="zh-CN" sz="2800"/>
              <a:t>4</a:t>
            </a:r>
            <a:r>
              <a:rPr kumimoji="1" lang="zh-CN" altLang="en-US" sz="2800"/>
              <a:t>） </a:t>
            </a:r>
            <a:r>
              <a:rPr kumimoji="1" lang="zh-CN" altLang="en-US" sz="2800">
                <a:solidFill>
                  <a:srgbClr val="0000CC"/>
                </a:solidFill>
              </a:rPr>
              <a:t>单位体积内分子的平动动能</a:t>
            </a:r>
            <a:r>
              <a:rPr kumimoji="1" lang="zh-CN" altLang="en-US" sz="2800"/>
              <a:t>是多少？</a:t>
            </a:r>
          </a:p>
          <a:p>
            <a:pPr>
              <a:lnSpc>
                <a:spcPct val="110000"/>
              </a:lnSpc>
              <a:spcBef>
                <a:spcPct val="20000"/>
              </a:spcBef>
            </a:pPr>
            <a:r>
              <a:rPr kumimoji="1" lang="zh-CN" altLang="en-US" sz="2800"/>
              <a:t>（</a:t>
            </a:r>
            <a:r>
              <a:rPr kumimoji="1" lang="en-US" altLang="zh-CN" sz="2800"/>
              <a:t>5</a:t>
            </a:r>
            <a:r>
              <a:rPr kumimoji="1" lang="zh-CN" altLang="en-US" sz="2800"/>
              <a:t>） 若气体的物质的量为</a:t>
            </a:r>
            <a:r>
              <a:rPr kumimoji="1" lang="en-US" altLang="zh-CN" sz="2800"/>
              <a:t>0.3 mol</a:t>
            </a:r>
            <a:r>
              <a:rPr kumimoji="1" lang="zh-CN" altLang="en-US" sz="2800"/>
              <a:t>，</a:t>
            </a:r>
            <a:r>
              <a:rPr kumimoji="1" lang="zh-CN" altLang="en-US" sz="2800">
                <a:solidFill>
                  <a:srgbClr val="0000CC"/>
                </a:solidFill>
              </a:rPr>
              <a:t>其内能</a:t>
            </a:r>
            <a:r>
              <a:rPr kumimoji="1" lang="zh-CN" altLang="en-US" sz="2800"/>
              <a:t>是多少？</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3" name="灯片编号占位符 4"/>
          <p:cNvSpPr>
            <a:spLocks noGrp="1"/>
          </p:cNvSpPr>
          <p:nvPr>
            <p:ph type="sldNum" sz="quarter" idx="12"/>
          </p:nvPr>
        </p:nvSpPr>
        <p:spPr/>
        <p:txBody>
          <a:bodyPr/>
          <a:lstStyle/>
          <a:p>
            <a:fld id="{CD81E961-1FFB-4B4B-8793-137399068C4A}" type="slidenum">
              <a:rPr lang="en-US" altLang="zh-CN"/>
              <a:pPr/>
              <a:t>34</a:t>
            </a:fld>
            <a:endParaRPr lang="en-US" altLang="zh-CN"/>
          </a:p>
        </p:txBody>
      </p:sp>
      <p:sp>
        <p:nvSpPr>
          <p:cNvPr id="541699" name="Text Box 3"/>
          <p:cNvSpPr txBox="1">
            <a:spLocks noChangeArrowheads="1"/>
          </p:cNvSpPr>
          <p:nvPr/>
        </p:nvSpPr>
        <p:spPr bwMode="auto">
          <a:xfrm>
            <a:off x="381000" y="1933575"/>
            <a:ext cx="7239000" cy="519113"/>
          </a:xfrm>
          <a:prstGeom prst="rect">
            <a:avLst/>
          </a:prstGeom>
          <a:noFill/>
          <a:ln w="9525">
            <a:noFill/>
            <a:miter lim="800000"/>
            <a:headEnd/>
            <a:tailEnd/>
          </a:ln>
          <a:effectLst/>
        </p:spPr>
        <p:txBody>
          <a:bodyPr>
            <a:spAutoFit/>
          </a:bodyPr>
          <a:lstStyle/>
          <a:p>
            <a:pPr>
              <a:spcBef>
                <a:spcPct val="50000"/>
              </a:spcBef>
            </a:pPr>
            <a:r>
              <a:rPr lang="zh-CN" altLang="en-US" sz="2800"/>
              <a:t>（</a:t>
            </a:r>
            <a:r>
              <a:rPr lang="en-US" altLang="zh-CN" sz="2800"/>
              <a:t>1</a:t>
            </a:r>
            <a:r>
              <a:rPr lang="zh-CN" altLang="en-US" sz="2800"/>
              <a:t>）</a:t>
            </a:r>
            <a:r>
              <a:rPr lang="zh-CN" altLang="en-US" sz="2800">
                <a:solidFill>
                  <a:srgbClr val="FF3300"/>
                </a:solidFill>
              </a:rPr>
              <a:t>理想气体</a:t>
            </a:r>
            <a:r>
              <a:rPr lang="zh-CN" altLang="en-US" sz="2800"/>
              <a:t>气体分子的</a:t>
            </a:r>
            <a:r>
              <a:rPr lang="zh-CN" altLang="en-US" sz="2800">
                <a:solidFill>
                  <a:srgbClr val="0000CC"/>
                </a:solidFill>
              </a:rPr>
              <a:t>方均根速率</a:t>
            </a:r>
            <a:r>
              <a:rPr lang="zh-CN" altLang="en-US" sz="2800"/>
              <a:t>为 </a:t>
            </a:r>
          </a:p>
        </p:txBody>
      </p:sp>
      <p:sp>
        <p:nvSpPr>
          <p:cNvPr id="541700" name="Rectangle 4"/>
          <p:cNvSpPr>
            <a:spLocks noChangeArrowheads="1"/>
          </p:cNvSpPr>
          <p:nvPr/>
        </p:nvSpPr>
        <p:spPr bwMode="auto">
          <a:xfrm>
            <a:off x="449263" y="1295400"/>
            <a:ext cx="1008062" cy="519113"/>
          </a:xfrm>
          <a:prstGeom prst="rect">
            <a:avLst/>
          </a:prstGeom>
          <a:noFill/>
          <a:ln w="9525">
            <a:noFill/>
            <a:miter lim="800000"/>
            <a:headEnd/>
            <a:tailEnd/>
          </a:ln>
          <a:effectLst/>
        </p:spPr>
        <p:txBody>
          <a:bodyPr>
            <a:spAutoFit/>
          </a:bodyPr>
          <a:lstStyle/>
          <a:p>
            <a:r>
              <a:rPr lang="zh-CN" altLang="en-US" sz="2800"/>
              <a:t>解：</a:t>
            </a:r>
          </a:p>
        </p:txBody>
      </p:sp>
      <p:graphicFrame>
        <p:nvGraphicFramePr>
          <p:cNvPr id="541701" name="Object 5"/>
          <p:cNvGraphicFramePr>
            <a:graphicFrameLocks noChangeAspect="1"/>
          </p:cNvGraphicFramePr>
          <p:nvPr/>
        </p:nvGraphicFramePr>
        <p:xfrm>
          <a:off x="3352800" y="2466975"/>
          <a:ext cx="1755775" cy="885825"/>
        </p:xfrm>
        <a:graphic>
          <a:graphicData uri="http://schemas.openxmlformats.org/presentationml/2006/ole">
            <mc:AlternateContent xmlns:mc="http://schemas.openxmlformats.org/markup-compatibility/2006">
              <mc:Choice xmlns:v="urn:schemas-microsoft-com:vml" Requires="v">
                <p:oleObj name="公式" r:id="rId2" imgW="888614" imgH="444307" progId="Equation.3">
                  <p:embed/>
                </p:oleObj>
              </mc:Choice>
              <mc:Fallback>
                <p:oleObj name="公式" r:id="rId2" imgW="888614" imgH="444307" progId="Equation.3">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466975"/>
                        <a:ext cx="1755775"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1702" name="Text Box 6"/>
          <p:cNvSpPr txBox="1">
            <a:spLocks noChangeArrowheads="1"/>
          </p:cNvSpPr>
          <p:nvPr/>
        </p:nvSpPr>
        <p:spPr bwMode="auto">
          <a:xfrm>
            <a:off x="609600" y="3708400"/>
            <a:ext cx="2952750" cy="519113"/>
          </a:xfrm>
          <a:prstGeom prst="rect">
            <a:avLst/>
          </a:prstGeom>
          <a:noFill/>
          <a:ln w="9525" algn="ctr">
            <a:noFill/>
            <a:miter lim="800000"/>
            <a:headEnd/>
            <a:tailEnd/>
          </a:ln>
          <a:effectLst/>
        </p:spPr>
        <p:txBody>
          <a:bodyPr>
            <a:spAutoFit/>
          </a:bodyPr>
          <a:lstStyle/>
          <a:p>
            <a:pPr>
              <a:spcBef>
                <a:spcPct val="50000"/>
              </a:spcBef>
            </a:pPr>
            <a:r>
              <a:rPr lang="zh-CN" altLang="en-US" sz="2800"/>
              <a:t>由状态方程 </a:t>
            </a:r>
          </a:p>
        </p:txBody>
      </p:sp>
      <p:graphicFrame>
        <p:nvGraphicFramePr>
          <p:cNvPr id="541703" name="Object 7"/>
          <p:cNvGraphicFramePr>
            <a:graphicFrameLocks noChangeAspect="1"/>
          </p:cNvGraphicFramePr>
          <p:nvPr/>
        </p:nvGraphicFramePr>
        <p:xfrm>
          <a:off x="2971800" y="3556000"/>
          <a:ext cx="1651000" cy="787400"/>
        </p:xfrm>
        <a:graphic>
          <a:graphicData uri="http://schemas.openxmlformats.org/presentationml/2006/ole">
            <mc:AlternateContent xmlns:mc="http://schemas.openxmlformats.org/markup-compatibility/2006">
              <mc:Choice xmlns:v="urn:schemas-microsoft-com:vml" Requires="v">
                <p:oleObj name="公式" r:id="rId4" imgW="825500" imgH="393700" progId="Equation.3">
                  <p:embed/>
                </p:oleObj>
              </mc:Choice>
              <mc:Fallback>
                <p:oleObj name="公式" r:id="rId4" imgW="825500" imgH="393700" progId="Equation.3">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3556000"/>
                        <a:ext cx="16510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1704" name="Object 8"/>
          <p:cNvGraphicFramePr>
            <a:graphicFrameLocks noChangeAspect="1"/>
          </p:cNvGraphicFramePr>
          <p:nvPr/>
        </p:nvGraphicFramePr>
        <p:xfrm>
          <a:off x="5486400" y="3708400"/>
          <a:ext cx="1166813" cy="431800"/>
        </p:xfrm>
        <a:graphic>
          <a:graphicData uri="http://schemas.openxmlformats.org/presentationml/2006/ole">
            <mc:AlternateContent xmlns:mc="http://schemas.openxmlformats.org/markup-compatibility/2006">
              <mc:Choice xmlns:v="urn:schemas-microsoft-com:vml" Requires="v">
                <p:oleObj name="公式" r:id="rId6" imgW="583693" imgH="215713" progId="Equation.3">
                  <p:embed/>
                </p:oleObj>
              </mc:Choice>
              <mc:Fallback>
                <p:oleObj name="公式" r:id="rId6" imgW="583693" imgH="215713" progId="Equation.3">
                  <p:embed/>
                  <p:pic>
                    <p:nvPicPr>
                      <p:cNvPr id="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400" y="3708400"/>
                        <a:ext cx="116681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1705" name="Object 9"/>
          <p:cNvGraphicFramePr>
            <a:graphicFrameLocks noChangeAspect="1"/>
          </p:cNvGraphicFramePr>
          <p:nvPr/>
        </p:nvGraphicFramePr>
        <p:xfrm>
          <a:off x="1317625" y="4800600"/>
          <a:ext cx="5311775" cy="968375"/>
        </p:xfrm>
        <a:graphic>
          <a:graphicData uri="http://schemas.openxmlformats.org/presentationml/2006/ole">
            <mc:AlternateContent xmlns:mc="http://schemas.openxmlformats.org/markup-compatibility/2006">
              <mc:Choice xmlns:v="urn:schemas-microsoft-com:vml" Requires="v">
                <p:oleObj name="公式" r:id="rId8" imgW="2641320" imgH="482400" progId="Equation.3">
                  <p:embed/>
                </p:oleObj>
              </mc:Choice>
              <mc:Fallback>
                <p:oleObj name="公式" r:id="rId8" imgW="2641320" imgH="482400" progId="Equation.3">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7625" y="4800600"/>
                        <a:ext cx="5311775"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1706" name="Object 10"/>
          <p:cNvGraphicFramePr>
            <a:graphicFrameLocks noChangeAspect="1"/>
          </p:cNvGraphicFramePr>
          <p:nvPr/>
        </p:nvGraphicFramePr>
        <p:xfrm>
          <a:off x="1927225" y="5921375"/>
          <a:ext cx="1508125" cy="458788"/>
        </p:xfrm>
        <a:graphic>
          <a:graphicData uri="http://schemas.openxmlformats.org/presentationml/2006/ole">
            <mc:AlternateContent xmlns:mc="http://schemas.openxmlformats.org/markup-compatibility/2006">
              <mc:Choice xmlns:v="urn:schemas-microsoft-com:vml" Requires="v">
                <p:oleObj name="公式" r:id="rId10" imgW="749160" imgH="228600" progId="Equation.3">
                  <p:embed/>
                </p:oleObj>
              </mc:Choice>
              <mc:Fallback>
                <p:oleObj name="公式" r:id="rId10" imgW="749160" imgH="228600" progId="Equation.3">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27225" y="5921375"/>
                        <a:ext cx="1508125"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41700"/>
                                        </p:tgtEl>
                                        <p:attrNameLst>
                                          <p:attrName>style.visibility</p:attrName>
                                        </p:attrNameLst>
                                      </p:cBhvr>
                                      <p:to>
                                        <p:strVal val="visible"/>
                                      </p:to>
                                    </p:set>
                                    <p:animEffect transition="in" filter="box(out)">
                                      <p:cBhvr>
                                        <p:cTn id="7" dur="500"/>
                                        <p:tgtEl>
                                          <p:spTgt spid="5417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1699"/>
                                        </p:tgtEl>
                                        <p:attrNameLst>
                                          <p:attrName>style.visibility</p:attrName>
                                        </p:attrNameLst>
                                      </p:cBhvr>
                                      <p:to>
                                        <p:strVal val="visible"/>
                                      </p:to>
                                    </p:set>
                                    <p:animEffect transition="in" filter="wipe(left)">
                                      <p:cBhvr>
                                        <p:cTn id="12" dur="500"/>
                                        <p:tgtEl>
                                          <p:spTgt spid="5416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1701"/>
                                        </p:tgtEl>
                                        <p:attrNameLst>
                                          <p:attrName>style.visibility</p:attrName>
                                        </p:attrNameLst>
                                      </p:cBhvr>
                                      <p:to>
                                        <p:strVal val="visible"/>
                                      </p:to>
                                    </p:set>
                                    <p:animEffect transition="in" filter="wipe(left)">
                                      <p:cBhvr>
                                        <p:cTn id="17" dur="500"/>
                                        <p:tgtEl>
                                          <p:spTgt spid="5417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1702"/>
                                        </p:tgtEl>
                                        <p:attrNameLst>
                                          <p:attrName>style.visibility</p:attrName>
                                        </p:attrNameLst>
                                      </p:cBhvr>
                                      <p:to>
                                        <p:strVal val="visible"/>
                                      </p:to>
                                    </p:set>
                                    <p:animEffect transition="in" filter="wipe(left)">
                                      <p:cBhvr>
                                        <p:cTn id="22" dur="500"/>
                                        <p:tgtEl>
                                          <p:spTgt spid="541702"/>
                                        </p:tgtEl>
                                      </p:cBhvr>
                                    </p:animEffect>
                                  </p:childTnLst>
                                </p:cTn>
                              </p:par>
                              <p:par>
                                <p:cTn id="23" presetID="22" presetClass="entr" presetSubtype="8" fill="hold" nodeType="withEffect">
                                  <p:stCondLst>
                                    <p:cond delay="0"/>
                                  </p:stCondLst>
                                  <p:childTnLst>
                                    <p:set>
                                      <p:cBhvr>
                                        <p:cTn id="24" dur="1" fill="hold">
                                          <p:stCondLst>
                                            <p:cond delay="0"/>
                                          </p:stCondLst>
                                        </p:cTn>
                                        <p:tgtEl>
                                          <p:spTgt spid="541703"/>
                                        </p:tgtEl>
                                        <p:attrNameLst>
                                          <p:attrName>style.visibility</p:attrName>
                                        </p:attrNameLst>
                                      </p:cBhvr>
                                      <p:to>
                                        <p:strVal val="visible"/>
                                      </p:to>
                                    </p:set>
                                    <p:animEffect transition="in" filter="wipe(left)">
                                      <p:cBhvr>
                                        <p:cTn id="25" dur="500"/>
                                        <p:tgtEl>
                                          <p:spTgt spid="54170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41704"/>
                                        </p:tgtEl>
                                        <p:attrNameLst>
                                          <p:attrName>style.visibility</p:attrName>
                                        </p:attrNameLst>
                                      </p:cBhvr>
                                      <p:to>
                                        <p:strVal val="visible"/>
                                      </p:to>
                                    </p:set>
                                    <p:animEffect transition="in" filter="wipe(left)">
                                      <p:cBhvr>
                                        <p:cTn id="30" dur="500"/>
                                        <p:tgtEl>
                                          <p:spTgt spid="54170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41705"/>
                                        </p:tgtEl>
                                        <p:attrNameLst>
                                          <p:attrName>style.visibility</p:attrName>
                                        </p:attrNameLst>
                                      </p:cBhvr>
                                      <p:to>
                                        <p:strVal val="visible"/>
                                      </p:to>
                                    </p:set>
                                    <p:animEffect transition="in" filter="wipe(left)">
                                      <p:cBhvr>
                                        <p:cTn id="35" dur="500"/>
                                        <p:tgtEl>
                                          <p:spTgt spid="54170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41706"/>
                                        </p:tgtEl>
                                        <p:attrNameLst>
                                          <p:attrName>style.visibility</p:attrName>
                                        </p:attrNameLst>
                                      </p:cBhvr>
                                      <p:to>
                                        <p:strVal val="visible"/>
                                      </p:to>
                                    </p:set>
                                    <p:animEffect transition="in" filter="wipe(left)">
                                      <p:cBhvr>
                                        <p:cTn id="40" dur="500"/>
                                        <p:tgtEl>
                                          <p:spTgt spid="541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699" grpId="0"/>
      <p:bldP spid="541700" grpId="0"/>
      <p:bldP spid="54170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0" name="灯片编号占位符 4"/>
          <p:cNvSpPr>
            <a:spLocks noGrp="1"/>
          </p:cNvSpPr>
          <p:nvPr>
            <p:ph type="sldNum" sz="quarter" idx="12"/>
          </p:nvPr>
        </p:nvSpPr>
        <p:spPr/>
        <p:txBody>
          <a:bodyPr/>
          <a:lstStyle/>
          <a:p>
            <a:fld id="{A70E91A9-6647-4A17-A993-3591C24D6805}" type="slidenum">
              <a:rPr lang="en-US" altLang="zh-CN"/>
              <a:pPr/>
              <a:t>35</a:t>
            </a:fld>
            <a:endParaRPr lang="en-US" altLang="zh-CN"/>
          </a:p>
        </p:txBody>
      </p:sp>
      <p:sp>
        <p:nvSpPr>
          <p:cNvPr id="544771" name="Rectangle 3"/>
          <p:cNvSpPr>
            <a:spLocks noChangeArrowheads="1"/>
          </p:cNvSpPr>
          <p:nvPr/>
        </p:nvSpPr>
        <p:spPr bwMode="auto">
          <a:xfrm>
            <a:off x="381000" y="1701800"/>
            <a:ext cx="5545138" cy="519113"/>
          </a:xfrm>
          <a:prstGeom prst="rect">
            <a:avLst/>
          </a:prstGeom>
          <a:noFill/>
          <a:ln w="9525" algn="ctr">
            <a:noFill/>
            <a:miter lim="800000"/>
            <a:headEnd/>
            <a:tailEnd/>
          </a:ln>
          <a:effectLst/>
        </p:spPr>
        <p:txBody>
          <a:bodyPr>
            <a:spAutoFit/>
          </a:bodyPr>
          <a:lstStyle/>
          <a:p>
            <a:pPr>
              <a:spcBef>
                <a:spcPct val="50000"/>
              </a:spcBef>
            </a:pPr>
            <a:r>
              <a:rPr lang="zh-CN" altLang="en-US" sz="2800"/>
              <a:t>（</a:t>
            </a:r>
            <a:r>
              <a:rPr lang="en-US" altLang="zh-CN" sz="2800"/>
              <a:t>2</a:t>
            </a:r>
            <a:r>
              <a:rPr lang="zh-CN" altLang="en-US" sz="2800"/>
              <a:t>）根据状态方程，得 </a:t>
            </a:r>
          </a:p>
        </p:txBody>
      </p:sp>
      <p:graphicFrame>
        <p:nvGraphicFramePr>
          <p:cNvPr id="544772" name="Object 4"/>
          <p:cNvGraphicFramePr>
            <a:graphicFrameLocks noChangeAspect="1"/>
          </p:cNvGraphicFramePr>
          <p:nvPr/>
        </p:nvGraphicFramePr>
        <p:xfrm>
          <a:off x="965200" y="2438400"/>
          <a:ext cx="2514600" cy="838200"/>
        </p:xfrm>
        <a:graphic>
          <a:graphicData uri="http://schemas.openxmlformats.org/presentationml/2006/ole">
            <mc:AlternateContent xmlns:mc="http://schemas.openxmlformats.org/markup-compatibility/2006">
              <mc:Choice xmlns:v="urn:schemas-microsoft-com:vml" Requires="v">
                <p:oleObj name="公式" r:id="rId2" imgW="1257300" imgH="419100" progId="Equation.3">
                  <p:embed/>
                </p:oleObj>
              </mc:Choice>
              <mc:Fallback>
                <p:oleObj name="公式" r:id="rId2" imgW="1257300" imgH="41910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200" y="2438400"/>
                        <a:ext cx="25146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4773" name="Object 5"/>
          <p:cNvGraphicFramePr>
            <a:graphicFrameLocks noChangeAspect="1"/>
          </p:cNvGraphicFramePr>
          <p:nvPr/>
        </p:nvGraphicFramePr>
        <p:xfrm>
          <a:off x="1371600" y="3505200"/>
          <a:ext cx="5230813" cy="787400"/>
        </p:xfrm>
        <a:graphic>
          <a:graphicData uri="http://schemas.openxmlformats.org/presentationml/2006/ole">
            <mc:AlternateContent xmlns:mc="http://schemas.openxmlformats.org/markup-compatibility/2006">
              <mc:Choice xmlns:v="urn:schemas-microsoft-com:vml" Requires="v">
                <p:oleObj name="公式" r:id="rId4" imgW="2616200" imgH="393700" progId="Equation.3">
                  <p:embed/>
                </p:oleObj>
              </mc:Choice>
              <mc:Fallback>
                <p:oleObj name="公式" r:id="rId4" imgW="2616200" imgH="39370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505200"/>
                        <a:ext cx="52308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4774" name="Object 6"/>
          <p:cNvGraphicFramePr>
            <a:graphicFrameLocks noChangeAspect="1"/>
          </p:cNvGraphicFramePr>
          <p:nvPr/>
        </p:nvGraphicFramePr>
        <p:xfrm>
          <a:off x="1423988" y="4724400"/>
          <a:ext cx="2538412" cy="457200"/>
        </p:xfrm>
        <a:graphic>
          <a:graphicData uri="http://schemas.openxmlformats.org/presentationml/2006/ole">
            <mc:AlternateContent xmlns:mc="http://schemas.openxmlformats.org/markup-compatibility/2006">
              <mc:Choice xmlns:v="urn:schemas-microsoft-com:vml" Requires="v">
                <p:oleObj name="公式" r:id="rId6" imgW="1270000" imgH="228600" progId="Equation.3">
                  <p:embed/>
                </p:oleObj>
              </mc:Choice>
              <mc:Fallback>
                <p:oleObj name="公式" r:id="rId6" imgW="1270000" imgH="22860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3988" y="4724400"/>
                        <a:ext cx="25384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4775" name="Text Box 7"/>
          <p:cNvSpPr txBox="1">
            <a:spLocks noChangeArrowheads="1"/>
          </p:cNvSpPr>
          <p:nvPr/>
        </p:nvSpPr>
        <p:spPr bwMode="auto">
          <a:xfrm>
            <a:off x="1066800" y="5715000"/>
            <a:ext cx="6769100" cy="519113"/>
          </a:xfrm>
          <a:prstGeom prst="rect">
            <a:avLst/>
          </a:prstGeom>
          <a:noFill/>
          <a:ln w="9525">
            <a:noFill/>
            <a:miter lim="800000"/>
            <a:headEnd/>
            <a:tailEnd/>
          </a:ln>
          <a:effectLst/>
        </p:spPr>
        <p:txBody>
          <a:bodyPr>
            <a:spAutoFit/>
          </a:bodyPr>
          <a:lstStyle/>
          <a:p>
            <a:pPr>
              <a:spcBef>
                <a:spcPct val="50000"/>
              </a:spcBef>
            </a:pPr>
            <a:r>
              <a:rPr lang="zh-CN" altLang="en-US" sz="2800"/>
              <a:t>氮气（</a:t>
            </a:r>
            <a:r>
              <a:rPr lang="en-US" altLang="zh-CN" sz="2800"/>
              <a:t>N</a:t>
            </a:r>
            <a:r>
              <a:rPr lang="en-US" altLang="zh-CN" sz="2800" baseline="-25000"/>
              <a:t>2 </a:t>
            </a:r>
            <a:r>
              <a:rPr lang="zh-CN" altLang="en-US" sz="2800"/>
              <a:t>）或一氧化碳（</a:t>
            </a:r>
            <a:r>
              <a:rPr lang="en-US" altLang="zh-CN" sz="2800"/>
              <a:t>CO</a:t>
            </a:r>
            <a:r>
              <a:rPr lang="zh-CN" altLang="en-US" sz="2800"/>
              <a:t>）气体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4771"/>
                                        </p:tgtEl>
                                        <p:attrNameLst>
                                          <p:attrName>style.visibility</p:attrName>
                                        </p:attrNameLst>
                                      </p:cBhvr>
                                      <p:to>
                                        <p:strVal val="visible"/>
                                      </p:to>
                                    </p:set>
                                    <p:animEffect transition="in" filter="wipe(left)">
                                      <p:cBhvr>
                                        <p:cTn id="7" dur="500"/>
                                        <p:tgtEl>
                                          <p:spTgt spid="5447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4772"/>
                                        </p:tgtEl>
                                        <p:attrNameLst>
                                          <p:attrName>style.visibility</p:attrName>
                                        </p:attrNameLst>
                                      </p:cBhvr>
                                      <p:to>
                                        <p:strVal val="visible"/>
                                      </p:to>
                                    </p:set>
                                    <p:animEffect transition="in" filter="wipe(left)">
                                      <p:cBhvr>
                                        <p:cTn id="12" dur="500"/>
                                        <p:tgtEl>
                                          <p:spTgt spid="5447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4773"/>
                                        </p:tgtEl>
                                        <p:attrNameLst>
                                          <p:attrName>style.visibility</p:attrName>
                                        </p:attrNameLst>
                                      </p:cBhvr>
                                      <p:to>
                                        <p:strVal val="visible"/>
                                      </p:to>
                                    </p:set>
                                    <p:animEffect transition="in" filter="wipe(left)">
                                      <p:cBhvr>
                                        <p:cTn id="17" dur="500"/>
                                        <p:tgtEl>
                                          <p:spTgt spid="5447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44774"/>
                                        </p:tgtEl>
                                        <p:attrNameLst>
                                          <p:attrName>style.visibility</p:attrName>
                                        </p:attrNameLst>
                                      </p:cBhvr>
                                      <p:to>
                                        <p:strVal val="visible"/>
                                      </p:to>
                                    </p:set>
                                    <p:animEffect transition="in" filter="wipe(left)">
                                      <p:cBhvr>
                                        <p:cTn id="22" dur="500"/>
                                        <p:tgtEl>
                                          <p:spTgt spid="5447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44775"/>
                                        </p:tgtEl>
                                        <p:attrNameLst>
                                          <p:attrName>style.visibility</p:attrName>
                                        </p:attrNameLst>
                                      </p:cBhvr>
                                      <p:to>
                                        <p:strVal val="visible"/>
                                      </p:to>
                                    </p:set>
                                    <p:animEffect transition="in" filter="wipe(left)">
                                      <p:cBhvr>
                                        <p:cTn id="27" dur="500"/>
                                        <p:tgtEl>
                                          <p:spTgt spid="544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1" grpId="0"/>
      <p:bldP spid="54477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16" name="灯片编号占位符 4"/>
          <p:cNvSpPr>
            <a:spLocks noGrp="1"/>
          </p:cNvSpPr>
          <p:nvPr>
            <p:ph type="sldNum" sz="quarter" idx="12"/>
          </p:nvPr>
        </p:nvSpPr>
        <p:spPr/>
        <p:txBody>
          <a:bodyPr/>
          <a:lstStyle/>
          <a:p>
            <a:fld id="{1AF530F9-01CF-4631-BDFF-292E1CB651E0}" type="slidenum">
              <a:rPr lang="en-US" altLang="zh-CN"/>
              <a:pPr/>
              <a:t>36</a:t>
            </a:fld>
            <a:endParaRPr lang="en-US" altLang="zh-CN"/>
          </a:p>
        </p:txBody>
      </p:sp>
      <p:sp>
        <p:nvSpPr>
          <p:cNvPr id="545795" name="Text Box 3"/>
          <p:cNvSpPr txBox="1">
            <a:spLocks noChangeArrowheads="1"/>
          </p:cNvSpPr>
          <p:nvPr/>
        </p:nvSpPr>
        <p:spPr bwMode="auto">
          <a:xfrm>
            <a:off x="381000" y="1371600"/>
            <a:ext cx="4648200" cy="519113"/>
          </a:xfrm>
          <a:prstGeom prst="rect">
            <a:avLst/>
          </a:prstGeom>
          <a:noFill/>
          <a:ln w="9525">
            <a:noFill/>
            <a:miter lim="800000"/>
            <a:headEnd/>
            <a:tailEnd/>
          </a:ln>
          <a:effectLst/>
        </p:spPr>
        <p:txBody>
          <a:bodyPr>
            <a:spAutoFit/>
          </a:bodyPr>
          <a:lstStyle/>
          <a:p>
            <a:pPr>
              <a:spcBef>
                <a:spcPct val="50000"/>
              </a:spcBef>
            </a:pPr>
            <a:r>
              <a:rPr lang="zh-CN" altLang="en-US" sz="2800"/>
              <a:t>（</a:t>
            </a:r>
            <a:r>
              <a:rPr lang="en-US" altLang="zh-CN" sz="2800"/>
              <a:t>3</a:t>
            </a:r>
            <a:r>
              <a:rPr lang="zh-CN" altLang="en-US" sz="2800"/>
              <a:t>）分子的平均平动动能： </a:t>
            </a:r>
          </a:p>
        </p:txBody>
      </p:sp>
      <p:graphicFrame>
        <p:nvGraphicFramePr>
          <p:cNvPr id="545796" name="Object 4"/>
          <p:cNvGraphicFramePr>
            <a:graphicFrameLocks noChangeAspect="1"/>
          </p:cNvGraphicFramePr>
          <p:nvPr/>
        </p:nvGraphicFramePr>
        <p:xfrm>
          <a:off x="1752600" y="2057400"/>
          <a:ext cx="3605213" cy="787400"/>
        </p:xfrm>
        <a:graphic>
          <a:graphicData uri="http://schemas.openxmlformats.org/presentationml/2006/ole">
            <mc:AlternateContent xmlns:mc="http://schemas.openxmlformats.org/markup-compatibility/2006">
              <mc:Choice xmlns:v="urn:schemas-microsoft-com:vml" Requires="v">
                <p:oleObj name="公式" r:id="rId2" imgW="1803240" imgH="393480" progId="Equation.3">
                  <p:embed/>
                </p:oleObj>
              </mc:Choice>
              <mc:Fallback>
                <p:oleObj name="公式" r:id="rId2" imgW="1803240" imgH="39348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057400"/>
                        <a:ext cx="36052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5797" name="Object 5"/>
          <p:cNvGraphicFramePr>
            <a:graphicFrameLocks noChangeAspect="1"/>
          </p:cNvGraphicFramePr>
          <p:nvPr/>
        </p:nvGraphicFramePr>
        <p:xfrm>
          <a:off x="5435600" y="2184400"/>
          <a:ext cx="1651000" cy="406400"/>
        </p:xfrm>
        <a:graphic>
          <a:graphicData uri="http://schemas.openxmlformats.org/presentationml/2006/ole">
            <mc:AlternateContent xmlns:mc="http://schemas.openxmlformats.org/markup-compatibility/2006">
              <mc:Choice xmlns:v="urn:schemas-microsoft-com:vml" Requires="v">
                <p:oleObj name="公式" r:id="rId4" imgW="825480" imgH="203040" progId="Equation.3">
                  <p:embed/>
                </p:oleObj>
              </mc:Choice>
              <mc:Fallback>
                <p:oleObj name="公式" r:id="rId4" imgW="825480" imgH="20304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2184400"/>
                        <a:ext cx="1651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5798" name="Text Box 6"/>
          <p:cNvSpPr txBox="1">
            <a:spLocks noChangeArrowheads="1"/>
          </p:cNvSpPr>
          <p:nvPr/>
        </p:nvSpPr>
        <p:spPr bwMode="auto">
          <a:xfrm>
            <a:off x="1295400" y="3124200"/>
            <a:ext cx="4392613" cy="519113"/>
          </a:xfrm>
          <a:prstGeom prst="rect">
            <a:avLst/>
          </a:prstGeom>
          <a:noFill/>
          <a:ln w="9525" algn="ctr">
            <a:noFill/>
            <a:miter lim="800000"/>
            <a:headEnd/>
            <a:tailEnd/>
          </a:ln>
          <a:effectLst/>
        </p:spPr>
        <p:txBody>
          <a:bodyPr>
            <a:spAutoFit/>
          </a:bodyPr>
          <a:lstStyle/>
          <a:p>
            <a:pPr>
              <a:spcBef>
                <a:spcPct val="50000"/>
              </a:spcBef>
            </a:pPr>
            <a:r>
              <a:rPr lang="zh-CN" altLang="en-US" sz="2800"/>
              <a:t>分子的平均转动动能： </a:t>
            </a:r>
          </a:p>
        </p:txBody>
      </p:sp>
      <p:graphicFrame>
        <p:nvGraphicFramePr>
          <p:cNvPr id="545799" name="Object 7"/>
          <p:cNvGraphicFramePr>
            <a:graphicFrameLocks noChangeAspect="1"/>
          </p:cNvGraphicFramePr>
          <p:nvPr/>
        </p:nvGraphicFramePr>
        <p:xfrm>
          <a:off x="1804988" y="3810000"/>
          <a:ext cx="3173412" cy="787400"/>
        </p:xfrm>
        <a:graphic>
          <a:graphicData uri="http://schemas.openxmlformats.org/presentationml/2006/ole">
            <mc:AlternateContent xmlns:mc="http://schemas.openxmlformats.org/markup-compatibility/2006">
              <mc:Choice xmlns:v="urn:schemas-microsoft-com:vml" Requires="v">
                <p:oleObj name="公式" r:id="rId6" imgW="1587240" imgH="393480" progId="Equation.3">
                  <p:embed/>
                </p:oleObj>
              </mc:Choice>
              <mc:Fallback>
                <p:oleObj name="公式" r:id="rId6" imgW="1587240" imgH="393480" progId="Equation.3">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4988" y="3810000"/>
                        <a:ext cx="3173412"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5800" name="Object 8"/>
          <p:cNvGraphicFramePr>
            <a:graphicFrameLocks noChangeAspect="1"/>
          </p:cNvGraphicFramePr>
          <p:nvPr/>
        </p:nvGraphicFramePr>
        <p:xfrm>
          <a:off x="5081588" y="3962400"/>
          <a:ext cx="1700212" cy="406400"/>
        </p:xfrm>
        <a:graphic>
          <a:graphicData uri="http://schemas.openxmlformats.org/presentationml/2006/ole">
            <mc:AlternateContent xmlns:mc="http://schemas.openxmlformats.org/markup-compatibility/2006">
              <mc:Choice xmlns:v="urn:schemas-microsoft-com:vml" Requires="v">
                <p:oleObj name="公式" r:id="rId8" imgW="850531" imgH="203112" progId="Equation.3">
                  <p:embed/>
                </p:oleObj>
              </mc:Choice>
              <mc:Fallback>
                <p:oleObj name="公式" r:id="rId8" imgW="850531" imgH="203112" progId="Equation.3">
                  <p:embed/>
                  <p:pic>
                    <p:nvPicPr>
                      <p:cNvPr id="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81588" y="3962400"/>
                        <a:ext cx="1700212"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5801" name="Text Box 9"/>
          <p:cNvSpPr txBox="1">
            <a:spLocks noChangeArrowheads="1"/>
          </p:cNvSpPr>
          <p:nvPr/>
        </p:nvSpPr>
        <p:spPr bwMode="auto">
          <a:xfrm>
            <a:off x="450850" y="4648200"/>
            <a:ext cx="5111750" cy="519113"/>
          </a:xfrm>
          <a:prstGeom prst="rect">
            <a:avLst/>
          </a:prstGeom>
          <a:noFill/>
          <a:ln w="9525" algn="ctr">
            <a:noFill/>
            <a:miter lim="800000"/>
            <a:headEnd/>
            <a:tailEnd/>
          </a:ln>
          <a:effectLst/>
        </p:spPr>
        <p:txBody>
          <a:bodyPr>
            <a:spAutoFit/>
          </a:bodyPr>
          <a:lstStyle/>
          <a:p>
            <a:pPr>
              <a:spcBef>
                <a:spcPct val="50000"/>
              </a:spcBef>
            </a:pPr>
            <a:r>
              <a:rPr lang="zh-CN" altLang="en-US" sz="2800"/>
              <a:t>（</a:t>
            </a:r>
            <a:r>
              <a:rPr lang="en-US" altLang="zh-CN" sz="2800"/>
              <a:t>4</a:t>
            </a:r>
            <a:r>
              <a:rPr lang="zh-CN" altLang="en-US" sz="2800"/>
              <a:t>）单位体积内的分子数： </a:t>
            </a:r>
          </a:p>
        </p:txBody>
      </p:sp>
      <p:graphicFrame>
        <p:nvGraphicFramePr>
          <p:cNvPr id="545802" name="Object 10"/>
          <p:cNvGraphicFramePr>
            <a:graphicFrameLocks noChangeAspect="1"/>
          </p:cNvGraphicFramePr>
          <p:nvPr/>
        </p:nvGraphicFramePr>
        <p:xfrm>
          <a:off x="5486400" y="4419600"/>
          <a:ext cx="965200" cy="787400"/>
        </p:xfrm>
        <a:graphic>
          <a:graphicData uri="http://schemas.openxmlformats.org/presentationml/2006/ole">
            <mc:AlternateContent xmlns:mc="http://schemas.openxmlformats.org/markup-compatibility/2006">
              <mc:Choice xmlns:v="urn:schemas-microsoft-com:vml" Requires="v">
                <p:oleObj name="公式" r:id="rId10" imgW="482391" imgH="393529" progId="Equation.3">
                  <p:embed/>
                </p:oleObj>
              </mc:Choice>
              <mc:Fallback>
                <p:oleObj name="公式" r:id="rId10" imgW="482391" imgH="393529" progId="Equation.3">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6400" y="4419600"/>
                        <a:ext cx="9652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5803" name="Object 11"/>
          <p:cNvGraphicFramePr>
            <a:graphicFrameLocks noChangeAspect="1"/>
          </p:cNvGraphicFramePr>
          <p:nvPr/>
        </p:nvGraphicFramePr>
        <p:xfrm>
          <a:off x="3124200" y="5105400"/>
          <a:ext cx="3681413" cy="787400"/>
        </p:xfrm>
        <a:graphic>
          <a:graphicData uri="http://schemas.openxmlformats.org/presentationml/2006/ole">
            <mc:AlternateContent xmlns:mc="http://schemas.openxmlformats.org/markup-compatibility/2006">
              <mc:Choice xmlns:v="urn:schemas-microsoft-com:vml" Requires="v">
                <p:oleObj name="公式" r:id="rId12" imgW="1841400" imgH="393480" progId="Equation.3">
                  <p:embed/>
                </p:oleObj>
              </mc:Choice>
              <mc:Fallback>
                <p:oleObj name="公式" r:id="rId12" imgW="1841400" imgH="393480" progId="Equation.3">
                  <p:embed/>
                  <p:pic>
                    <p:nvPicPr>
                      <p:cNvPr id="0"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24200" y="5105400"/>
                        <a:ext cx="36814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5804" name="Object 12"/>
          <p:cNvGraphicFramePr>
            <a:graphicFrameLocks noChangeAspect="1"/>
          </p:cNvGraphicFramePr>
          <p:nvPr/>
        </p:nvGraphicFramePr>
        <p:xfrm>
          <a:off x="3124200" y="5943600"/>
          <a:ext cx="2003425" cy="406400"/>
        </p:xfrm>
        <a:graphic>
          <a:graphicData uri="http://schemas.openxmlformats.org/presentationml/2006/ole">
            <mc:AlternateContent xmlns:mc="http://schemas.openxmlformats.org/markup-compatibility/2006">
              <mc:Choice xmlns:v="urn:schemas-microsoft-com:vml" Requires="v">
                <p:oleObj name="公式" r:id="rId14" imgW="1002960" imgH="203040" progId="Equation.3">
                  <p:embed/>
                </p:oleObj>
              </mc:Choice>
              <mc:Fallback>
                <p:oleObj name="公式" r:id="rId14" imgW="1002960" imgH="203040" progId="Equation.3">
                  <p:embed/>
                  <p:pic>
                    <p:nvPicPr>
                      <p:cNvPr id="0" name="Picture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24200" y="5943600"/>
                        <a:ext cx="200342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5805" name="Object 13"/>
          <p:cNvGraphicFramePr>
            <a:graphicFrameLocks noChangeAspect="1"/>
          </p:cNvGraphicFramePr>
          <p:nvPr/>
        </p:nvGraphicFramePr>
        <p:xfrm>
          <a:off x="1371600" y="5105400"/>
          <a:ext cx="1624013" cy="787400"/>
        </p:xfrm>
        <a:graphic>
          <a:graphicData uri="http://schemas.openxmlformats.org/presentationml/2006/ole">
            <mc:AlternateContent xmlns:mc="http://schemas.openxmlformats.org/markup-compatibility/2006">
              <mc:Choice xmlns:v="urn:schemas-microsoft-com:vml" Requires="v">
                <p:oleObj name="公式" r:id="rId16" imgW="812520" imgH="393480" progId="Equation.3">
                  <p:embed/>
                </p:oleObj>
              </mc:Choice>
              <mc:Fallback>
                <p:oleObj name="公式" r:id="rId16" imgW="812520" imgH="393480" progId="Equation.3">
                  <p:embed/>
                  <p:pic>
                    <p:nvPicPr>
                      <p:cNvPr id="0"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71600" y="5105400"/>
                        <a:ext cx="16240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5795"/>
                                        </p:tgtEl>
                                        <p:attrNameLst>
                                          <p:attrName>style.visibility</p:attrName>
                                        </p:attrNameLst>
                                      </p:cBhvr>
                                      <p:to>
                                        <p:strVal val="visible"/>
                                      </p:to>
                                    </p:set>
                                    <p:animEffect transition="in" filter="wipe(left)">
                                      <p:cBhvr>
                                        <p:cTn id="7" dur="500"/>
                                        <p:tgtEl>
                                          <p:spTgt spid="5457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5796"/>
                                        </p:tgtEl>
                                        <p:attrNameLst>
                                          <p:attrName>style.visibility</p:attrName>
                                        </p:attrNameLst>
                                      </p:cBhvr>
                                      <p:to>
                                        <p:strVal val="visible"/>
                                      </p:to>
                                    </p:set>
                                    <p:animEffect transition="in" filter="wipe(left)">
                                      <p:cBhvr>
                                        <p:cTn id="12" dur="500"/>
                                        <p:tgtEl>
                                          <p:spTgt spid="5457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5797"/>
                                        </p:tgtEl>
                                        <p:attrNameLst>
                                          <p:attrName>style.visibility</p:attrName>
                                        </p:attrNameLst>
                                      </p:cBhvr>
                                      <p:to>
                                        <p:strVal val="visible"/>
                                      </p:to>
                                    </p:set>
                                    <p:animEffect transition="in" filter="wipe(left)">
                                      <p:cBhvr>
                                        <p:cTn id="17" dur="500"/>
                                        <p:tgtEl>
                                          <p:spTgt spid="5457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5798"/>
                                        </p:tgtEl>
                                        <p:attrNameLst>
                                          <p:attrName>style.visibility</p:attrName>
                                        </p:attrNameLst>
                                      </p:cBhvr>
                                      <p:to>
                                        <p:strVal val="visible"/>
                                      </p:to>
                                    </p:set>
                                    <p:animEffect transition="in" filter="wipe(left)">
                                      <p:cBhvr>
                                        <p:cTn id="22" dur="500"/>
                                        <p:tgtEl>
                                          <p:spTgt spid="5457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45799"/>
                                        </p:tgtEl>
                                        <p:attrNameLst>
                                          <p:attrName>style.visibility</p:attrName>
                                        </p:attrNameLst>
                                      </p:cBhvr>
                                      <p:to>
                                        <p:strVal val="visible"/>
                                      </p:to>
                                    </p:set>
                                    <p:animEffect transition="in" filter="wipe(left)">
                                      <p:cBhvr>
                                        <p:cTn id="27" dur="500"/>
                                        <p:tgtEl>
                                          <p:spTgt spid="5457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45800"/>
                                        </p:tgtEl>
                                        <p:attrNameLst>
                                          <p:attrName>style.visibility</p:attrName>
                                        </p:attrNameLst>
                                      </p:cBhvr>
                                      <p:to>
                                        <p:strVal val="visible"/>
                                      </p:to>
                                    </p:set>
                                    <p:animEffect transition="in" filter="wipe(left)">
                                      <p:cBhvr>
                                        <p:cTn id="32" dur="500"/>
                                        <p:tgtEl>
                                          <p:spTgt spid="5458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45801"/>
                                        </p:tgtEl>
                                        <p:attrNameLst>
                                          <p:attrName>style.visibility</p:attrName>
                                        </p:attrNameLst>
                                      </p:cBhvr>
                                      <p:to>
                                        <p:strVal val="visible"/>
                                      </p:to>
                                    </p:set>
                                    <p:animEffect transition="in" filter="wipe(left)">
                                      <p:cBhvr>
                                        <p:cTn id="37" dur="500"/>
                                        <p:tgtEl>
                                          <p:spTgt spid="5458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45802"/>
                                        </p:tgtEl>
                                        <p:attrNameLst>
                                          <p:attrName>style.visibility</p:attrName>
                                        </p:attrNameLst>
                                      </p:cBhvr>
                                      <p:to>
                                        <p:strVal val="visible"/>
                                      </p:to>
                                    </p:set>
                                    <p:animEffect transition="in" filter="wipe(left)">
                                      <p:cBhvr>
                                        <p:cTn id="42" dur="500"/>
                                        <p:tgtEl>
                                          <p:spTgt spid="54580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45805"/>
                                        </p:tgtEl>
                                        <p:attrNameLst>
                                          <p:attrName>style.visibility</p:attrName>
                                        </p:attrNameLst>
                                      </p:cBhvr>
                                      <p:to>
                                        <p:strVal val="visible"/>
                                      </p:to>
                                    </p:set>
                                    <p:animEffect transition="in" filter="wipe(left)">
                                      <p:cBhvr>
                                        <p:cTn id="47" dur="500"/>
                                        <p:tgtEl>
                                          <p:spTgt spid="54580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45803"/>
                                        </p:tgtEl>
                                        <p:attrNameLst>
                                          <p:attrName>style.visibility</p:attrName>
                                        </p:attrNameLst>
                                      </p:cBhvr>
                                      <p:to>
                                        <p:strVal val="visible"/>
                                      </p:to>
                                    </p:set>
                                    <p:animEffect transition="in" filter="wipe(left)">
                                      <p:cBhvr>
                                        <p:cTn id="52" dur="500"/>
                                        <p:tgtEl>
                                          <p:spTgt spid="54580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45804"/>
                                        </p:tgtEl>
                                        <p:attrNameLst>
                                          <p:attrName>style.visibility</p:attrName>
                                        </p:attrNameLst>
                                      </p:cBhvr>
                                      <p:to>
                                        <p:strVal val="visible"/>
                                      </p:to>
                                    </p:set>
                                    <p:animEffect transition="in" filter="wipe(left)">
                                      <p:cBhvr>
                                        <p:cTn id="57" dur="500"/>
                                        <p:tgtEl>
                                          <p:spTgt spid="545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5" grpId="0"/>
      <p:bldP spid="545798" grpId="0"/>
      <p:bldP spid="54580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9" name="灯片编号占位符 4"/>
          <p:cNvSpPr>
            <a:spLocks noGrp="1"/>
          </p:cNvSpPr>
          <p:nvPr>
            <p:ph type="sldNum" sz="quarter" idx="12"/>
          </p:nvPr>
        </p:nvSpPr>
        <p:spPr/>
        <p:txBody>
          <a:bodyPr/>
          <a:lstStyle/>
          <a:p>
            <a:fld id="{13304864-C90C-4157-9E55-E63CD7D0A495}" type="slidenum">
              <a:rPr lang="en-US" altLang="zh-CN"/>
              <a:pPr/>
              <a:t>37</a:t>
            </a:fld>
            <a:endParaRPr lang="en-US" altLang="zh-CN"/>
          </a:p>
        </p:txBody>
      </p:sp>
      <p:sp>
        <p:nvSpPr>
          <p:cNvPr id="546819" name="Text Box 3"/>
          <p:cNvSpPr txBox="1">
            <a:spLocks noChangeArrowheads="1"/>
          </p:cNvSpPr>
          <p:nvPr/>
        </p:nvSpPr>
        <p:spPr bwMode="auto">
          <a:xfrm>
            <a:off x="450850" y="1735138"/>
            <a:ext cx="3960813" cy="519112"/>
          </a:xfrm>
          <a:prstGeom prst="rect">
            <a:avLst/>
          </a:prstGeom>
          <a:noFill/>
          <a:ln w="9525" algn="ctr">
            <a:noFill/>
            <a:miter lim="800000"/>
            <a:headEnd/>
            <a:tailEnd/>
          </a:ln>
          <a:effectLst/>
        </p:spPr>
        <p:txBody>
          <a:bodyPr>
            <a:spAutoFit/>
          </a:bodyPr>
          <a:lstStyle/>
          <a:p>
            <a:pPr>
              <a:spcBef>
                <a:spcPct val="50000"/>
              </a:spcBef>
            </a:pPr>
            <a:r>
              <a:rPr lang="zh-CN" altLang="en-US" sz="2800"/>
              <a:t>（</a:t>
            </a:r>
            <a:r>
              <a:rPr lang="en-US" altLang="zh-CN" sz="2800"/>
              <a:t>5</a:t>
            </a:r>
            <a:r>
              <a:rPr lang="zh-CN" altLang="en-US" sz="2800"/>
              <a:t>）根据内能公式 </a:t>
            </a:r>
          </a:p>
        </p:txBody>
      </p:sp>
      <p:graphicFrame>
        <p:nvGraphicFramePr>
          <p:cNvPr id="546820" name="Object 4"/>
          <p:cNvGraphicFramePr>
            <a:graphicFrameLocks noChangeAspect="1"/>
          </p:cNvGraphicFramePr>
          <p:nvPr/>
        </p:nvGraphicFramePr>
        <p:xfrm>
          <a:off x="1447800" y="2667000"/>
          <a:ext cx="1674813" cy="787400"/>
        </p:xfrm>
        <a:graphic>
          <a:graphicData uri="http://schemas.openxmlformats.org/presentationml/2006/ole">
            <mc:AlternateContent xmlns:mc="http://schemas.openxmlformats.org/markup-compatibility/2006">
              <mc:Choice xmlns:v="urn:schemas-microsoft-com:vml" Requires="v">
                <p:oleObj name="公式" r:id="rId2" imgW="837836" imgH="393529" progId="Equation.3">
                  <p:embed/>
                </p:oleObj>
              </mc:Choice>
              <mc:Fallback>
                <p:oleObj name="公式" r:id="rId2" imgW="837836" imgH="393529"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667000"/>
                        <a:ext cx="16748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6821" name="Object 5"/>
          <p:cNvGraphicFramePr>
            <a:graphicFrameLocks noChangeAspect="1"/>
          </p:cNvGraphicFramePr>
          <p:nvPr/>
        </p:nvGraphicFramePr>
        <p:xfrm>
          <a:off x="3200400" y="2667000"/>
          <a:ext cx="2741613" cy="787400"/>
        </p:xfrm>
        <a:graphic>
          <a:graphicData uri="http://schemas.openxmlformats.org/presentationml/2006/ole">
            <mc:AlternateContent xmlns:mc="http://schemas.openxmlformats.org/markup-compatibility/2006">
              <mc:Choice xmlns:v="urn:schemas-microsoft-com:vml" Requires="v">
                <p:oleObj name="公式" r:id="rId4" imgW="1371600" imgH="393480" progId="Equation.3">
                  <p:embed/>
                </p:oleObj>
              </mc:Choice>
              <mc:Fallback>
                <p:oleObj name="公式" r:id="rId4" imgW="1371600" imgH="39348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667000"/>
                        <a:ext cx="27416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6822" name="Object 6"/>
          <p:cNvGraphicFramePr>
            <a:graphicFrameLocks noChangeAspect="1"/>
          </p:cNvGraphicFramePr>
          <p:nvPr/>
        </p:nvGraphicFramePr>
        <p:xfrm>
          <a:off x="3278188" y="4114800"/>
          <a:ext cx="1446212" cy="406400"/>
        </p:xfrm>
        <a:graphic>
          <a:graphicData uri="http://schemas.openxmlformats.org/presentationml/2006/ole">
            <mc:AlternateContent xmlns:mc="http://schemas.openxmlformats.org/markup-compatibility/2006">
              <mc:Choice xmlns:v="urn:schemas-microsoft-com:vml" Requires="v">
                <p:oleObj name="公式" r:id="rId6" imgW="723600" imgH="203040" progId="Equation.3">
                  <p:embed/>
                </p:oleObj>
              </mc:Choice>
              <mc:Fallback>
                <p:oleObj name="公式" r:id="rId6" imgW="723600" imgH="20304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8188" y="4114800"/>
                        <a:ext cx="1446212"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6819"/>
                                        </p:tgtEl>
                                        <p:attrNameLst>
                                          <p:attrName>style.visibility</p:attrName>
                                        </p:attrNameLst>
                                      </p:cBhvr>
                                      <p:to>
                                        <p:strVal val="visible"/>
                                      </p:to>
                                    </p:set>
                                    <p:animEffect transition="in" filter="wipe(left)">
                                      <p:cBhvr>
                                        <p:cTn id="7" dur="500"/>
                                        <p:tgtEl>
                                          <p:spTgt spid="5468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6820"/>
                                        </p:tgtEl>
                                        <p:attrNameLst>
                                          <p:attrName>style.visibility</p:attrName>
                                        </p:attrNameLst>
                                      </p:cBhvr>
                                      <p:to>
                                        <p:strVal val="visible"/>
                                      </p:to>
                                    </p:set>
                                    <p:animEffect transition="in" filter="wipe(left)">
                                      <p:cBhvr>
                                        <p:cTn id="12" dur="500"/>
                                        <p:tgtEl>
                                          <p:spTgt spid="5468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6821"/>
                                        </p:tgtEl>
                                        <p:attrNameLst>
                                          <p:attrName>style.visibility</p:attrName>
                                        </p:attrNameLst>
                                      </p:cBhvr>
                                      <p:to>
                                        <p:strVal val="visible"/>
                                      </p:to>
                                    </p:set>
                                    <p:animEffect transition="in" filter="wipe(left)">
                                      <p:cBhvr>
                                        <p:cTn id="17" dur="500"/>
                                        <p:tgtEl>
                                          <p:spTgt spid="5468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46822"/>
                                        </p:tgtEl>
                                        <p:attrNameLst>
                                          <p:attrName>style.visibility</p:attrName>
                                        </p:attrNameLst>
                                      </p:cBhvr>
                                      <p:to>
                                        <p:strVal val="visible"/>
                                      </p:to>
                                    </p:set>
                                    <p:animEffect transition="in" filter="wipe(left)">
                                      <p:cBhvr>
                                        <p:cTn id="22" dur="500"/>
                                        <p:tgtEl>
                                          <p:spTgt spid="546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r>
              <a:rPr lang="en-US" altLang="zh-CN"/>
              <a:t>10.3 </a:t>
            </a:r>
            <a:r>
              <a:rPr lang="zh-CN" altLang="en-US"/>
              <a:t>能量均分原理（气体的内能）</a:t>
            </a:r>
          </a:p>
        </p:txBody>
      </p:sp>
      <p:sp>
        <p:nvSpPr>
          <p:cNvPr id="7" name="灯片编号占位符 4"/>
          <p:cNvSpPr>
            <a:spLocks noGrp="1"/>
          </p:cNvSpPr>
          <p:nvPr>
            <p:ph type="sldNum" sz="quarter" idx="12"/>
          </p:nvPr>
        </p:nvSpPr>
        <p:spPr/>
        <p:txBody>
          <a:bodyPr/>
          <a:lstStyle/>
          <a:p>
            <a:fld id="{3F44C6AB-6D4B-4FA5-8647-EB8EDF3E7475}" type="slidenum">
              <a:rPr lang="en-US" altLang="zh-CN"/>
              <a:pPr/>
              <a:t>38</a:t>
            </a:fld>
            <a:endParaRPr lang="en-US" altLang="zh-CN"/>
          </a:p>
        </p:txBody>
      </p:sp>
      <p:graphicFrame>
        <p:nvGraphicFramePr>
          <p:cNvPr id="547843" name="Object 3"/>
          <p:cNvGraphicFramePr>
            <a:graphicFrameLocks noChangeAspect="1"/>
          </p:cNvGraphicFramePr>
          <p:nvPr/>
        </p:nvGraphicFramePr>
        <p:xfrm>
          <a:off x="304800" y="1143000"/>
          <a:ext cx="8712200" cy="1663700"/>
        </p:xfrm>
        <a:graphic>
          <a:graphicData uri="http://schemas.openxmlformats.org/presentationml/2006/ole">
            <mc:AlternateContent xmlns:mc="http://schemas.openxmlformats.org/markup-compatibility/2006">
              <mc:Choice xmlns:v="urn:schemas-microsoft-com:vml" Requires="v">
                <p:oleObj name="文档" r:id="rId2" imgW="3449118" imgH="657337" progId="Word.Document.8">
                  <p:embed/>
                </p:oleObj>
              </mc:Choice>
              <mc:Fallback>
                <p:oleObj name="文档" r:id="rId2" imgW="3449118" imgH="657337" progId="Word.Document.8">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143000"/>
                        <a:ext cx="8712200" cy="166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7844" name="Object 4"/>
          <p:cNvGraphicFramePr>
            <a:graphicFrameLocks noChangeAspect="1"/>
          </p:cNvGraphicFramePr>
          <p:nvPr/>
        </p:nvGraphicFramePr>
        <p:xfrm>
          <a:off x="457200" y="2667000"/>
          <a:ext cx="7708900" cy="3771900"/>
        </p:xfrm>
        <a:graphic>
          <a:graphicData uri="http://schemas.openxmlformats.org/presentationml/2006/ole">
            <mc:AlternateContent xmlns:mc="http://schemas.openxmlformats.org/markup-compatibility/2006">
              <mc:Choice xmlns:v="urn:schemas-microsoft-com:vml" Requires="v">
                <p:oleObj name="文档" r:id="rId4" imgW="3857543" imgH="2085766" progId="Word.Document.8">
                  <p:embed/>
                </p:oleObj>
              </mc:Choice>
              <mc:Fallback>
                <p:oleObj name="文档" r:id="rId4" imgW="3857543" imgH="2085766" progId="Word.Document.8">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667000"/>
                        <a:ext cx="7708900"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7844"/>
                                        </p:tgtEl>
                                        <p:attrNameLst>
                                          <p:attrName>style.visibility</p:attrName>
                                        </p:attrNameLst>
                                      </p:cBhvr>
                                      <p:to>
                                        <p:strVal val="visible"/>
                                      </p:to>
                                    </p:set>
                                    <p:anim calcmode="lin" valueType="num">
                                      <p:cBhvr additive="base">
                                        <p:cTn id="7" dur="500" fill="hold"/>
                                        <p:tgtEl>
                                          <p:spTgt spid="547844"/>
                                        </p:tgtEl>
                                        <p:attrNameLst>
                                          <p:attrName>ppt_x</p:attrName>
                                        </p:attrNameLst>
                                      </p:cBhvr>
                                      <p:tavLst>
                                        <p:tav tm="0">
                                          <p:val>
                                            <p:strVal val="0-#ppt_w/2"/>
                                          </p:val>
                                        </p:tav>
                                        <p:tav tm="100000">
                                          <p:val>
                                            <p:strVal val="#ppt_x"/>
                                          </p:val>
                                        </p:tav>
                                      </p:tavLst>
                                    </p:anim>
                                    <p:anim calcmode="lin" valueType="num">
                                      <p:cBhvr additive="base">
                                        <p:cTn id="8" dur="500" fill="hold"/>
                                        <p:tgtEl>
                                          <p:spTgt spid="5478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r>
              <a:rPr lang="zh-CN" altLang="en-US"/>
              <a:t>第</a:t>
            </a:r>
            <a:r>
              <a:rPr lang="en-US" altLang="zh-CN"/>
              <a:t>10</a:t>
            </a:r>
            <a:r>
              <a:rPr lang="zh-CN" altLang="en-US"/>
              <a:t>章 气体分子运动论</a:t>
            </a:r>
          </a:p>
        </p:txBody>
      </p:sp>
      <p:sp>
        <p:nvSpPr>
          <p:cNvPr id="7" name="灯片编号占位符 4"/>
          <p:cNvSpPr>
            <a:spLocks noGrp="1"/>
          </p:cNvSpPr>
          <p:nvPr>
            <p:ph type="sldNum" sz="quarter" idx="12"/>
          </p:nvPr>
        </p:nvSpPr>
        <p:spPr/>
        <p:txBody>
          <a:bodyPr/>
          <a:lstStyle/>
          <a:p>
            <a:fld id="{D0316678-48CC-42B0-9590-1B0B754C3BE7}" type="slidenum">
              <a:rPr lang="en-US" altLang="zh-CN"/>
              <a:pPr/>
              <a:t>39</a:t>
            </a:fld>
            <a:endParaRPr lang="en-US" altLang="zh-CN"/>
          </a:p>
        </p:txBody>
      </p:sp>
      <p:sp>
        <p:nvSpPr>
          <p:cNvPr id="602115" name="Rectangle 3"/>
          <p:cNvSpPr>
            <a:spLocks noChangeArrowheads="1"/>
          </p:cNvSpPr>
          <p:nvPr/>
        </p:nvSpPr>
        <p:spPr bwMode="auto">
          <a:xfrm>
            <a:off x="762000" y="1600200"/>
            <a:ext cx="7937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latin typeface="Arial" charset="0"/>
              </a:rPr>
              <a:t>作业</a:t>
            </a:r>
          </a:p>
        </p:txBody>
      </p:sp>
      <p:sp>
        <p:nvSpPr>
          <p:cNvPr id="602116" name="Rectangle 4"/>
          <p:cNvSpPr>
            <a:spLocks noChangeArrowheads="1"/>
          </p:cNvSpPr>
          <p:nvPr/>
        </p:nvSpPr>
        <p:spPr bwMode="auto">
          <a:xfrm>
            <a:off x="1143000" y="2362200"/>
            <a:ext cx="2774950" cy="457200"/>
          </a:xfrm>
          <a:prstGeom prst="rect">
            <a:avLst/>
          </a:prstGeom>
          <a:noFill/>
          <a:ln w="9525">
            <a:noFill/>
            <a:miter lim="800000"/>
            <a:headEnd/>
            <a:tailEnd/>
          </a:ln>
          <a:effectLst/>
        </p:spPr>
        <p:txBody>
          <a:bodyPr wrap="none" anchor="ctr">
            <a:spAutoFit/>
          </a:bodyPr>
          <a:lstStyle/>
          <a:p>
            <a:r>
              <a:rPr lang="en-US" altLang="zh-CN" sz="2400">
                <a:solidFill>
                  <a:srgbClr val="0000CC"/>
                </a:solidFill>
              </a:rPr>
              <a:t>10-1</a:t>
            </a:r>
            <a:r>
              <a:rPr lang="zh-CN" altLang="en-US" sz="2400">
                <a:solidFill>
                  <a:srgbClr val="0000CC"/>
                </a:solidFill>
              </a:rPr>
              <a:t>、</a:t>
            </a:r>
            <a:r>
              <a:rPr lang="en-US" altLang="zh-CN" sz="2400">
                <a:solidFill>
                  <a:srgbClr val="0000CC"/>
                </a:solidFill>
              </a:rPr>
              <a:t>10-2</a:t>
            </a:r>
            <a:r>
              <a:rPr lang="zh-CN" altLang="en-US" sz="2400">
                <a:solidFill>
                  <a:srgbClr val="0000CC"/>
                </a:solidFill>
              </a:rPr>
              <a:t>、</a:t>
            </a:r>
            <a:r>
              <a:rPr lang="en-US" altLang="zh-CN" sz="2400">
                <a:solidFill>
                  <a:srgbClr val="0000CC"/>
                </a:solidFill>
              </a:rPr>
              <a:t>10-5</a:t>
            </a:r>
            <a:r>
              <a:rPr lang="zh-CN" altLang="en-US" sz="2400">
                <a:solidFill>
                  <a:srgbClr val="0000CC"/>
                </a:solidFill>
              </a:rPr>
              <a:t>、</a:t>
            </a:r>
            <a:endParaRPr lang="zh-CN" alt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r>
              <a:rPr lang="en-US" altLang="zh-CN"/>
              <a:t>10.4 </a:t>
            </a:r>
            <a:r>
              <a:rPr lang="zh-CN" altLang="en-US"/>
              <a:t>麦克斯韦速率分布</a:t>
            </a:r>
          </a:p>
        </p:txBody>
      </p:sp>
      <p:sp>
        <p:nvSpPr>
          <p:cNvPr id="16" name="灯片编号占位符 4"/>
          <p:cNvSpPr>
            <a:spLocks noGrp="1"/>
          </p:cNvSpPr>
          <p:nvPr>
            <p:ph type="sldNum" sz="quarter" idx="12"/>
          </p:nvPr>
        </p:nvSpPr>
        <p:spPr/>
        <p:txBody>
          <a:bodyPr/>
          <a:lstStyle/>
          <a:p>
            <a:fld id="{4AC2137C-5B5F-4BD1-B08F-5498FD8D9895}" type="slidenum">
              <a:rPr lang="en-US" altLang="zh-CN"/>
              <a:pPr/>
              <a:t>40</a:t>
            </a:fld>
            <a:endParaRPr lang="en-US" altLang="zh-CN"/>
          </a:p>
        </p:txBody>
      </p:sp>
      <p:sp>
        <p:nvSpPr>
          <p:cNvPr id="548867" name="Rectangle 3"/>
          <p:cNvSpPr>
            <a:spLocks noChangeArrowheads="1"/>
          </p:cNvSpPr>
          <p:nvPr/>
        </p:nvSpPr>
        <p:spPr bwMode="auto">
          <a:xfrm>
            <a:off x="533400" y="1219200"/>
            <a:ext cx="1487487"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latin typeface="Arial" charset="0"/>
              </a:rPr>
              <a:t>速率分布 </a:t>
            </a:r>
          </a:p>
        </p:txBody>
      </p:sp>
      <p:graphicFrame>
        <p:nvGraphicFramePr>
          <p:cNvPr id="548916" name="Object 52"/>
          <p:cNvGraphicFramePr>
            <a:graphicFrameLocks noChangeAspect="1"/>
          </p:cNvGraphicFramePr>
          <p:nvPr/>
        </p:nvGraphicFramePr>
        <p:xfrm>
          <a:off x="3124200" y="2133600"/>
          <a:ext cx="712788" cy="788988"/>
        </p:xfrm>
        <a:graphic>
          <a:graphicData uri="http://schemas.openxmlformats.org/presentationml/2006/ole">
            <mc:AlternateContent xmlns:mc="http://schemas.openxmlformats.org/markup-compatibility/2006">
              <mc:Choice xmlns:v="urn:schemas-microsoft-com:vml" Requires="v">
                <p:oleObj name="公式" r:id="rId2" imgW="355320" imgH="393480" progId="Equation.3">
                  <p:embed/>
                </p:oleObj>
              </mc:Choice>
              <mc:Fallback>
                <p:oleObj name="公式" r:id="rId2" imgW="355320" imgH="393480" progId="Equation.3">
                  <p:embed/>
                  <p:pic>
                    <p:nvPicPr>
                      <p:cNvPr id="548916" name="Object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133600"/>
                        <a:ext cx="712788" cy="788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8917" name="Text Box 53"/>
          <p:cNvSpPr txBox="1">
            <a:spLocks noChangeArrowheads="1"/>
          </p:cNvSpPr>
          <p:nvPr/>
        </p:nvSpPr>
        <p:spPr bwMode="auto">
          <a:xfrm>
            <a:off x="609600" y="1676400"/>
            <a:ext cx="8070850" cy="519113"/>
          </a:xfrm>
          <a:prstGeom prst="rect">
            <a:avLst/>
          </a:prstGeom>
          <a:noFill/>
          <a:ln w="9525">
            <a:noFill/>
            <a:miter lim="800000"/>
            <a:headEnd/>
            <a:tailEnd/>
          </a:ln>
          <a:effectLst/>
        </p:spPr>
        <p:txBody>
          <a:bodyPr>
            <a:spAutoFit/>
          </a:bodyPr>
          <a:lstStyle/>
          <a:p>
            <a:pPr>
              <a:spcBef>
                <a:spcPct val="50000"/>
              </a:spcBef>
            </a:pPr>
            <a:r>
              <a:rPr kumimoji="1" lang="zh-CN" altLang="en-US" sz="2800" dirty="0"/>
              <a:t>单位速率区间内分子数占总分子数的百分比：</a:t>
            </a:r>
          </a:p>
        </p:txBody>
      </p:sp>
      <p:grpSp>
        <p:nvGrpSpPr>
          <p:cNvPr id="548918" name="Group 54"/>
          <p:cNvGrpSpPr>
            <a:grpSpLocks/>
          </p:cNvGrpSpPr>
          <p:nvPr/>
        </p:nvGrpSpPr>
        <p:grpSpPr bwMode="auto">
          <a:xfrm>
            <a:off x="4038600" y="2268538"/>
            <a:ext cx="974725" cy="519113"/>
            <a:chOff x="1968" y="816"/>
            <a:chExt cx="614" cy="327"/>
          </a:xfrm>
        </p:grpSpPr>
        <p:graphicFrame>
          <p:nvGraphicFramePr>
            <p:cNvPr id="548919" name="Object 55"/>
            <p:cNvGraphicFramePr>
              <a:graphicFrameLocks noChangeAspect="1"/>
            </p:cNvGraphicFramePr>
            <p:nvPr/>
          </p:nvGraphicFramePr>
          <p:xfrm>
            <a:off x="2385" y="870"/>
            <a:ext cx="197" cy="219"/>
          </p:xfrm>
          <a:graphic>
            <a:graphicData uri="http://schemas.openxmlformats.org/presentationml/2006/ole">
              <mc:AlternateContent xmlns:mc="http://schemas.openxmlformats.org/markup-compatibility/2006">
                <mc:Choice xmlns:v="urn:schemas-microsoft-com:vml" Requires="v">
                  <p:oleObj name="公式" r:id="rId4" imgW="126720" imgH="139680" progId="Equation.3">
                    <p:embed/>
                  </p:oleObj>
                </mc:Choice>
                <mc:Fallback>
                  <p:oleObj name="公式" r:id="rId4" imgW="126720" imgH="139680" progId="Equation.3">
                    <p:embed/>
                    <p:pic>
                      <p:nvPicPr>
                        <p:cNvPr id="548919"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5" y="870"/>
                          <a:ext cx="197"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8920" name="Text Box 56"/>
            <p:cNvSpPr txBox="1">
              <a:spLocks noChangeArrowheads="1"/>
            </p:cNvSpPr>
            <p:nvPr/>
          </p:nvSpPr>
          <p:spPr bwMode="auto">
            <a:xfrm>
              <a:off x="1968" y="816"/>
              <a:ext cx="288" cy="327"/>
            </a:xfrm>
            <a:prstGeom prst="rect">
              <a:avLst/>
            </a:prstGeom>
            <a:noFill/>
            <a:ln w="9525">
              <a:noFill/>
              <a:miter lim="800000"/>
              <a:headEnd/>
              <a:tailEnd/>
            </a:ln>
            <a:effectLst/>
          </p:spPr>
          <p:txBody>
            <a:bodyPr>
              <a:spAutoFit/>
            </a:bodyPr>
            <a:lstStyle/>
            <a:p>
              <a:pPr>
                <a:spcBef>
                  <a:spcPct val="50000"/>
                </a:spcBef>
              </a:pPr>
              <a:r>
                <a:rPr kumimoji="1" lang="zh-CN" altLang="en-US" sz="2800" dirty="0"/>
                <a:t>～</a:t>
              </a:r>
            </a:p>
          </p:txBody>
        </p:sp>
      </p:grpSp>
      <p:sp>
        <p:nvSpPr>
          <p:cNvPr id="548921" name="Text Box 57"/>
          <p:cNvSpPr txBox="1">
            <a:spLocks noChangeArrowheads="1"/>
          </p:cNvSpPr>
          <p:nvPr/>
        </p:nvSpPr>
        <p:spPr bwMode="auto">
          <a:xfrm>
            <a:off x="457200" y="3116263"/>
            <a:ext cx="3057525" cy="519113"/>
          </a:xfrm>
          <a:prstGeom prst="rect">
            <a:avLst/>
          </a:prstGeom>
          <a:noFill/>
          <a:ln w="9525">
            <a:noFill/>
            <a:miter lim="800000"/>
            <a:headEnd/>
            <a:tailEnd/>
          </a:ln>
          <a:effectLst/>
        </p:spPr>
        <p:txBody>
          <a:bodyPr>
            <a:spAutoFit/>
          </a:bodyPr>
          <a:lstStyle/>
          <a:p>
            <a:pPr>
              <a:spcBef>
                <a:spcPct val="50000"/>
              </a:spcBef>
            </a:pPr>
            <a:r>
              <a:rPr kumimoji="1" lang="zh-CN" altLang="en-US" sz="2800" dirty="0">
                <a:solidFill>
                  <a:srgbClr val="0000CC"/>
                </a:solidFill>
                <a:latin typeface="华文行楷" pitchFamily="2" charset="-122"/>
                <a:ea typeface="华文行楷" pitchFamily="2" charset="-122"/>
              </a:rPr>
              <a:t>速率分布函数</a:t>
            </a:r>
            <a:r>
              <a:rPr kumimoji="1" lang="zh-CN" altLang="en-US" sz="2800" dirty="0">
                <a:solidFill>
                  <a:srgbClr val="0000CC"/>
                </a:solidFill>
              </a:rPr>
              <a:t>：</a:t>
            </a:r>
          </a:p>
        </p:txBody>
      </p:sp>
      <p:graphicFrame>
        <p:nvGraphicFramePr>
          <p:cNvPr id="548922" name="Object 58"/>
          <p:cNvGraphicFramePr>
            <a:graphicFrameLocks noChangeAspect="1"/>
          </p:cNvGraphicFramePr>
          <p:nvPr/>
        </p:nvGraphicFramePr>
        <p:xfrm>
          <a:off x="3429000" y="2895600"/>
          <a:ext cx="3473450" cy="960438"/>
        </p:xfrm>
        <a:graphic>
          <a:graphicData uri="http://schemas.openxmlformats.org/presentationml/2006/ole">
            <mc:AlternateContent xmlns:mc="http://schemas.openxmlformats.org/markup-compatibility/2006">
              <mc:Choice xmlns:v="urn:schemas-microsoft-com:vml" Requires="v">
                <p:oleObj name="公式" r:id="rId6" imgW="1688760" imgH="482400" progId="Equation.3">
                  <p:embed/>
                </p:oleObj>
              </mc:Choice>
              <mc:Fallback>
                <p:oleObj name="公式" r:id="rId6" imgW="1688760" imgH="482400" progId="Equation.3">
                  <p:embed/>
                  <p:pic>
                    <p:nvPicPr>
                      <p:cNvPr id="548922" name="Object 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2895600"/>
                        <a:ext cx="3473450" cy="96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8923" name="Object 59"/>
          <p:cNvGraphicFramePr>
            <a:graphicFrameLocks noChangeAspect="1"/>
          </p:cNvGraphicFramePr>
          <p:nvPr/>
        </p:nvGraphicFramePr>
        <p:xfrm>
          <a:off x="2438400" y="3886200"/>
          <a:ext cx="1727200" cy="784225"/>
        </p:xfrm>
        <a:graphic>
          <a:graphicData uri="http://schemas.openxmlformats.org/presentationml/2006/ole">
            <mc:AlternateContent xmlns:mc="http://schemas.openxmlformats.org/markup-compatibility/2006">
              <mc:Choice xmlns:v="urn:schemas-microsoft-com:vml" Requires="v">
                <p:oleObj name="公式" r:id="rId8" imgW="863280" imgH="393480" progId="Equation.3">
                  <p:embed/>
                </p:oleObj>
              </mc:Choice>
              <mc:Fallback>
                <p:oleObj name="公式" r:id="rId8" imgW="863280" imgH="393480" progId="Equation.3">
                  <p:embed/>
                  <p:pic>
                    <p:nvPicPr>
                      <p:cNvPr id="548923" name="Object 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8400" y="3886200"/>
                        <a:ext cx="1727200" cy="784225"/>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sp>
        <p:nvSpPr>
          <p:cNvPr id="548924" name="Text Box 60"/>
          <p:cNvSpPr txBox="1">
            <a:spLocks noChangeArrowheads="1"/>
          </p:cNvSpPr>
          <p:nvPr/>
        </p:nvSpPr>
        <p:spPr bwMode="auto">
          <a:xfrm>
            <a:off x="457200" y="4800600"/>
            <a:ext cx="5257800" cy="519113"/>
          </a:xfrm>
          <a:prstGeom prst="rect">
            <a:avLst/>
          </a:prstGeom>
          <a:noFill/>
          <a:ln w="9525">
            <a:noFill/>
            <a:miter lim="800000"/>
            <a:headEnd/>
            <a:tailEnd/>
          </a:ln>
          <a:effectLst/>
        </p:spPr>
        <p:txBody>
          <a:bodyPr>
            <a:spAutoFit/>
          </a:bodyPr>
          <a:lstStyle/>
          <a:p>
            <a:pPr>
              <a:spcBef>
                <a:spcPct val="50000"/>
              </a:spcBef>
            </a:pPr>
            <a:r>
              <a:rPr kumimoji="1" lang="zh-CN" altLang="en-US" sz="2800" dirty="0"/>
              <a:t>速率分布函数的</a:t>
            </a:r>
            <a:r>
              <a:rPr kumimoji="1" lang="zh-CN" altLang="en-US" sz="2800" dirty="0">
                <a:solidFill>
                  <a:srgbClr val="0000CC"/>
                </a:solidFill>
              </a:rPr>
              <a:t>物理意义</a:t>
            </a:r>
            <a:r>
              <a:rPr kumimoji="1" lang="zh-CN" altLang="en-US" sz="2800" dirty="0"/>
              <a:t>：</a:t>
            </a:r>
          </a:p>
        </p:txBody>
      </p:sp>
      <p:sp>
        <p:nvSpPr>
          <p:cNvPr id="548925" name="Text Box 61"/>
          <p:cNvSpPr txBox="1">
            <a:spLocks noChangeArrowheads="1"/>
          </p:cNvSpPr>
          <p:nvPr/>
        </p:nvSpPr>
        <p:spPr bwMode="auto">
          <a:xfrm>
            <a:off x="609600" y="5410200"/>
            <a:ext cx="8229600" cy="946150"/>
          </a:xfrm>
          <a:prstGeom prst="rect">
            <a:avLst/>
          </a:prstGeom>
          <a:noFill/>
          <a:ln w="9525">
            <a:noFill/>
            <a:miter lim="800000"/>
            <a:headEnd/>
            <a:tailEnd/>
          </a:ln>
          <a:effectLst/>
        </p:spPr>
        <p:txBody>
          <a:bodyPr>
            <a:spAutoFit/>
          </a:bodyPr>
          <a:lstStyle/>
          <a:p>
            <a:pPr>
              <a:spcBef>
                <a:spcPct val="50000"/>
              </a:spcBef>
            </a:pPr>
            <a:r>
              <a:rPr kumimoji="1" lang="zh-CN" altLang="en-US" sz="2800" dirty="0"/>
              <a:t>速率在 </a:t>
            </a:r>
            <a:r>
              <a:rPr kumimoji="1" lang="en-US" altLang="zh-CN" sz="2800" i="1" dirty="0">
                <a:latin typeface="Book Antiqua" pitchFamily="18" charset="0"/>
              </a:rPr>
              <a:t>v</a:t>
            </a:r>
            <a:r>
              <a:rPr kumimoji="1" lang="en-US" altLang="zh-CN" sz="2800" i="1" dirty="0"/>
              <a:t> </a:t>
            </a:r>
            <a:r>
              <a:rPr kumimoji="1" lang="zh-CN" altLang="en-US" sz="2800" dirty="0"/>
              <a:t>附近，</a:t>
            </a:r>
            <a:r>
              <a:rPr kumimoji="1" lang="zh-CN" altLang="en-US" sz="2800" dirty="0">
                <a:solidFill>
                  <a:srgbClr val="0000CC"/>
                </a:solidFill>
              </a:rPr>
              <a:t>单位速率区间</a:t>
            </a:r>
            <a:r>
              <a:rPr kumimoji="1" lang="zh-CN" altLang="en-US" sz="2800" dirty="0"/>
              <a:t>内分子数占总分子数的百分比。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548918"/>
                                        </p:tgtEl>
                                        <p:attrNameLst>
                                          <p:attrName>style.visibility</p:attrName>
                                        </p:attrNameLst>
                                      </p:cBhvr>
                                      <p:to>
                                        <p:strVal val="visible"/>
                                      </p:to>
                                    </p:set>
                                    <p:animEffect transition="in" filter="strips(upRight)">
                                      <p:cBhvr>
                                        <p:cTn id="7" dur="500"/>
                                        <p:tgtEl>
                                          <p:spTgt spid="5489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8921"/>
                                        </p:tgtEl>
                                        <p:attrNameLst>
                                          <p:attrName>style.visibility</p:attrName>
                                        </p:attrNameLst>
                                      </p:cBhvr>
                                      <p:to>
                                        <p:strVal val="visible"/>
                                      </p:to>
                                    </p:set>
                                    <p:animEffect transition="in" filter="wipe(left)">
                                      <p:cBhvr>
                                        <p:cTn id="12" dur="500"/>
                                        <p:tgtEl>
                                          <p:spTgt spid="5489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8922"/>
                                        </p:tgtEl>
                                        <p:attrNameLst>
                                          <p:attrName>style.visibility</p:attrName>
                                        </p:attrNameLst>
                                      </p:cBhvr>
                                      <p:to>
                                        <p:strVal val="visible"/>
                                      </p:to>
                                    </p:set>
                                    <p:animEffect transition="in" filter="wipe(left)">
                                      <p:cBhvr>
                                        <p:cTn id="17" dur="500"/>
                                        <p:tgtEl>
                                          <p:spTgt spid="54892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48923"/>
                                        </p:tgtEl>
                                        <p:attrNameLst>
                                          <p:attrName>style.visibility</p:attrName>
                                        </p:attrNameLst>
                                      </p:cBhvr>
                                      <p:to>
                                        <p:strVal val="visible"/>
                                      </p:to>
                                    </p:set>
                                    <p:animEffect transition="in" filter="box(out)">
                                      <p:cBhvr>
                                        <p:cTn id="22" dur="500"/>
                                        <p:tgtEl>
                                          <p:spTgt spid="54892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48924"/>
                                        </p:tgtEl>
                                        <p:attrNameLst>
                                          <p:attrName>style.visibility</p:attrName>
                                        </p:attrNameLst>
                                      </p:cBhvr>
                                      <p:to>
                                        <p:strVal val="visible"/>
                                      </p:to>
                                    </p:set>
                                    <p:anim calcmode="lin" valueType="num">
                                      <p:cBhvr additive="base">
                                        <p:cTn id="27" dur="500" fill="hold"/>
                                        <p:tgtEl>
                                          <p:spTgt spid="548924"/>
                                        </p:tgtEl>
                                        <p:attrNameLst>
                                          <p:attrName>ppt_x</p:attrName>
                                        </p:attrNameLst>
                                      </p:cBhvr>
                                      <p:tavLst>
                                        <p:tav tm="0">
                                          <p:val>
                                            <p:strVal val="0-#ppt_w/2"/>
                                          </p:val>
                                        </p:tav>
                                        <p:tav tm="100000">
                                          <p:val>
                                            <p:strVal val="#ppt_x"/>
                                          </p:val>
                                        </p:tav>
                                      </p:tavLst>
                                    </p:anim>
                                    <p:anim calcmode="lin" valueType="num">
                                      <p:cBhvr additive="base">
                                        <p:cTn id="28" dur="500" fill="hold"/>
                                        <p:tgtEl>
                                          <p:spTgt spid="54892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48925"/>
                                        </p:tgtEl>
                                        <p:attrNameLst>
                                          <p:attrName>style.visibility</p:attrName>
                                        </p:attrNameLst>
                                      </p:cBhvr>
                                      <p:to>
                                        <p:strVal val="visible"/>
                                      </p:to>
                                    </p:set>
                                    <p:anim calcmode="lin" valueType="num">
                                      <p:cBhvr additive="base">
                                        <p:cTn id="33" dur="500" fill="hold"/>
                                        <p:tgtEl>
                                          <p:spTgt spid="548925"/>
                                        </p:tgtEl>
                                        <p:attrNameLst>
                                          <p:attrName>ppt_x</p:attrName>
                                        </p:attrNameLst>
                                      </p:cBhvr>
                                      <p:tavLst>
                                        <p:tav tm="0">
                                          <p:val>
                                            <p:strVal val="#ppt_x"/>
                                          </p:val>
                                        </p:tav>
                                        <p:tav tm="100000">
                                          <p:val>
                                            <p:strVal val="#ppt_x"/>
                                          </p:val>
                                        </p:tav>
                                      </p:tavLst>
                                    </p:anim>
                                    <p:anim calcmode="lin" valueType="num">
                                      <p:cBhvr additive="base">
                                        <p:cTn id="34" dur="500" fill="hold"/>
                                        <p:tgtEl>
                                          <p:spTgt spid="5489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921" grpId="0"/>
      <p:bldP spid="548924" grpId="0" autoUpdateAnimBg="0"/>
      <p:bldP spid="54892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r>
              <a:rPr lang="en-US" altLang="zh-CN"/>
              <a:t>10.4 </a:t>
            </a:r>
            <a:r>
              <a:rPr lang="zh-CN" altLang="en-US"/>
              <a:t>麦克斯韦速率分布</a:t>
            </a:r>
          </a:p>
        </p:txBody>
      </p:sp>
      <p:sp>
        <p:nvSpPr>
          <p:cNvPr id="25" name="灯片编号占位符 4"/>
          <p:cNvSpPr>
            <a:spLocks noGrp="1"/>
          </p:cNvSpPr>
          <p:nvPr>
            <p:ph type="sldNum" sz="quarter" idx="12"/>
          </p:nvPr>
        </p:nvSpPr>
        <p:spPr/>
        <p:txBody>
          <a:bodyPr/>
          <a:lstStyle/>
          <a:p>
            <a:fld id="{33AB7B25-8922-4C3A-8F3C-A9A676AEBD90}" type="slidenum">
              <a:rPr lang="en-US" altLang="zh-CN"/>
              <a:pPr/>
              <a:t>41</a:t>
            </a:fld>
            <a:endParaRPr lang="en-US" altLang="zh-CN"/>
          </a:p>
        </p:txBody>
      </p:sp>
      <p:sp>
        <p:nvSpPr>
          <p:cNvPr id="549891" name="Rectangle 3"/>
          <p:cNvSpPr>
            <a:spLocks noChangeArrowheads="1"/>
          </p:cNvSpPr>
          <p:nvPr/>
        </p:nvSpPr>
        <p:spPr bwMode="auto">
          <a:xfrm>
            <a:off x="53340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latin typeface="Arial" charset="0"/>
              </a:rPr>
              <a:t>麦克斯韦速率分布函数</a:t>
            </a:r>
          </a:p>
        </p:txBody>
      </p:sp>
      <p:graphicFrame>
        <p:nvGraphicFramePr>
          <p:cNvPr id="549892" name="Object 4"/>
          <p:cNvGraphicFramePr>
            <a:graphicFrameLocks noChangeAspect="1"/>
          </p:cNvGraphicFramePr>
          <p:nvPr/>
        </p:nvGraphicFramePr>
        <p:xfrm>
          <a:off x="2209800" y="1774825"/>
          <a:ext cx="3602038" cy="968375"/>
        </p:xfrm>
        <a:graphic>
          <a:graphicData uri="http://schemas.openxmlformats.org/presentationml/2006/ole">
            <mc:AlternateContent xmlns:mc="http://schemas.openxmlformats.org/markup-compatibility/2006">
              <mc:Choice xmlns:v="urn:schemas-microsoft-com:vml" Requires="v">
                <p:oleObj name="公式" r:id="rId2" imgW="1790640" imgH="482400" progId="Equation.3">
                  <p:embed/>
                </p:oleObj>
              </mc:Choice>
              <mc:Fallback>
                <p:oleObj name="公式" r:id="rId2" imgW="1790640" imgH="482400" progId="Equation.3">
                  <p:embed/>
                  <p:pic>
                    <p:nvPicPr>
                      <p:cNvPr id="5498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774825"/>
                        <a:ext cx="3602038" cy="968375"/>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grpSp>
        <p:nvGrpSpPr>
          <p:cNvPr id="549929" name="Group 41"/>
          <p:cNvGrpSpPr>
            <a:grpSpLocks/>
          </p:cNvGrpSpPr>
          <p:nvPr/>
        </p:nvGrpSpPr>
        <p:grpSpPr bwMode="auto">
          <a:xfrm>
            <a:off x="4419600" y="2836818"/>
            <a:ext cx="4522788" cy="2984500"/>
            <a:chOff x="2544" y="2064"/>
            <a:chExt cx="2849" cy="1880"/>
          </a:xfrm>
        </p:grpSpPr>
        <p:sp>
          <p:nvSpPr>
            <p:cNvPr id="549930" name="Line 42"/>
            <p:cNvSpPr>
              <a:spLocks noChangeShapeType="1"/>
            </p:cNvSpPr>
            <p:nvPr/>
          </p:nvSpPr>
          <p:spPr bwMode="auto">
            <a:xfrm>
              <a:off x="2544" y="3936"/>
              <a:ext cx="2832" cy="0"/>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49931" name="Line 43"/>
            <p:cNvSpPr>
              <a:spLocks noChangeShapeType="1"/>
            </p:cNvSpPr>
            <p:nvPr/>
          </p:nvSpPr>
          <p:spPr bwMode="auto">
            <a:xfrm flipV="1">
              <a:off x="2544" y="2160"/>
              <a:ext cx="0" cy="1776"/>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49932" name="Freeform 44"/>
            <p:cNvSpPr>
              <a:spLocks/>
            </p:cNvSpPr>
            <p:nvPr/>
          </p:nvSpPr>
          <p:spPr bwMode="auto">
            <a:xfrm>
              <a:off x="2544" y="2448"/>
              <a:ext cx="2352" cy="1496"/>
            </a:xfrm>
            <a:custGeom>
              <a:avLst/>
              <a:gdLst/>
              <a:ahLst/>
              <a:cxnLst>
                <a:cxn ang="0">
                  <a:pos x="0" y="1496"/>
                </a:cxn>
                <a:cxn ang="0">
                  <a:pos x="288" y="1160"/>
                </a:cxn>
                <a:cxn ang="0">
                  <a:pos x="576" y="488"/>
                </a:cxn>
                <a:cxn ang="0">
                  <a:pos x="816" y="104"/>
                </a:cxn>
                <a:cxn ang="0">
                  <a:pos x="1008" y="8"/>
                </a:cxn>
                <a:cxn ang="0">
                  <a:pos x="1200" y="152"/>
                </a:cxn>
                <a:cxn ang="0">
                  <a:pos x="1344" y="440"/>
                </a:cxn>
                <a:cxn ang="0">
                  <a:pos x="1584" y="1016"/>
                </a:cxn>
                <a:cxn ang="0">
                  <a:pos x="1968" y="1304"/>
                </a:cxn>
                <a:cxn ang="0">
                  <a:pos x="2352" y="1400"/>
                </a:cxn>
              </a:cxnLst>
              <a:rect l="0" t="0" r="r" b="b"/>
              <a:pathLst>
                <a:path w="2352" h="1496">
                  <a:moveTo>
                    <a:pt x="0" y="1496"/>
                  </a:moveTo>
                  <a:cubicBezTo>
                    <a:pt x="96" y="1412"/>
                    <a:pt x="192" y="1328"/>
                    <a:pt x="288" y="1160"/>
                  </a:cubicBezTo>
                  <a:cubicBezTo>
                    <a:pt x="384" y="992"/>
                    <a:pt x="488" y="664"/>
                    <a:pt x="576" y="488"/>
                  </a:cubicBezTo>
                  <a:cubicBezTo>
                    <a:pt x="664" y="312"/>
                    <a:pt x="744" y="184"/>
                    <a:pt x="816" y="104"/>
                  </a:cubicBezTo>
                  <a:cubicBezTo>
                    <a:pt x="888" y="24"/>
                    <a:pt x="944" y="0"/>
                    <a:pt x="1008" y="8"/>
                  </a:cubicBezTo>
                  <a:cubicBezTo>
                    <a:pt x="1072" y="16"/>
                    <a:pt x="1144" y="80"/>
                    <a:pt x="1200" y="152"/>
                  </a:cubicBezTo>
                  <a:cubicBezTo>
                    <a:pt x="1256" y="224"/>
                    <a:pt x="1280" y="296"/>
                    <a:pt x="1344" y="440"/>
                  </a:cubicBezTo>
                  <a:cubicBezTo>
                    <a:pt x="1408" y="584"/>
                    <a:pt x="1480" y="872"/>
                    <a:pt x="1584" y="1016"/>
                  </a:cubicBezTo>
                  <a:cubicBezTo>
                    <a:pt x="1688" y="1160"/>
                    <a:pt x="1840" y="1240"/>
                    <a:pt x="1968" y="1304"/>
                  </a:cubicBezTo>
                  <a:cubicBezTo>
                    <a:pt x="2096" y="1368"/>
                    <a:pt x="2224" y="1384"/>
                    <a:pt x="2352" y="1400"/>
                  </a:cubicBezTo>
                </a:path>
              </a:pathLst>
            </a:custGeom>
            <a:noFill/>
            <a:ln w="28575" cmpd="sng">
              <a:solidFill>
                <a:srgbClr val="0000FF"/>
              </a:solidFill>
              <a:round/>
              <a:headEnd/>
              <a:tailEnd/>
            </a:ln>
            <a:effectLst/>
          </p:spPr>
          <p:txBody>
            <a:bodyPr wrap="none" anchor="ctr"/>
            <a:lstStyle/>
            <a:p>
              <a:endParaRPr lang="zh-CN" altLang="en-US"/>
            </a:p>
          </p:txBody>
        </p:sp>
        <p:sp>
          <p:nvSpPr>
            <p:cNvPr id="549933" name="Text Box 45"/>
            <p:cNvSpPr txBox="1">
              <a:spLocks noChangeArrowheads="1"/>
            </p:cNvSpPr>
            <p:nvPr/>
          </p:nvSpPr>
          <p:spPr bwMode="auto">
            <a:xfrm>
              <a:off x="2544" y="2064"/>
              <a:ext cx="576" cy="327"/>
            </a:xfrm>
            <a:prstGeom prst="rect">
              <a:avLst/>
            </a:prstGeom>
            <a:noFill/>
            <a:ln w="9525">
              <a:noFill/>
              <a:miter lim="800000"/>
              <a:headEnd/>
              <a:tailEnd/>
            </a:ln>
            <a:effectLst/>
          </p:spPr>
          <p:txBody>
            <a:bodyPr>
              <a:spAutoFit/>
            </a:bodyPr>
            <a:lstStyle/>
            <a:p>
              <a:pPr>
                <a:spcBef>
                  <a:spcPct val="50000"/>
                </a:spcBef>
              </a:pPr>
              <a:r>
                <a:rPr kumimoji="1" lang="en-US" altLang="zh-CN" sz="2800" i="1"/>
                <a:t>f(</a:t>
              </a:r>
              <a:r>
                <a:rPr kumimoji="1" lang="en-US" altLang="zh-CN" sz="2800" i="1">
                  <a:latin typeface="Book Antiqua" pitchFamily="18" charset="0"/>
                </a:rPr>
                <a:t>v</a:t>
              </a:r>
              <a:r>
                <a:rPr kumimoji="1" lang="en-US" altLang="zh-CN" sz="2800" i="1"/>
                <a:t>)</a:t>
              </a:r>
            </a:p>
          </p:txBody>
        </p:sp>
        <p:sp>
          <p:nvSpPr>
            <p:cNvPr id="549934" name="Rectangle 46"/>
            <p:cNvSpPr>
              <a:spLocks noChangeArrowheads="1"/>
            </p:cNvSpPr>
            <p:nvPr/>
          </p:nvSpPr>
          <p:spPr bwMode="auto">
            <a:xfrm>
              <a:off x="5165" y="3542"/>
              <a:ext cx="228" cy="327"/>
            </a:xfrm>
            <a:prstGeom prst="rect">
              <a:avLst/>
            </a:prstGeom>
            <a:noFill/>
            <a:ln w="9525">
              <a:noFill/>
              <a:miter lim="800000"/>
              <a:headEnd/>
              <a:tailEnd/>
            </a:ln>
            <a:effectLst/>
          </p:spPr>
          <p:txBody>
            <a:bodyPr wrap="none">
              <a:spAutoFit/>
            </a:bodyPr>
            <a:lstStyle/>
            <a:p>
              <a:r>
                <a:rPr kumimoji="1" lang="en-US" altLang="zh-CN" sz="2800" i="1">
                  <a:latin typeface="Book Antiqua" pitchFamily="18" charset="0"/>
                </a:rPr>
                <a:t>v</a:t>
              </a:r>
            </a:p>
          </p:txBody>
        </p:sp>
      </p:grpSp>
      <p:grpSp>
        <p:nvGrpSpPr>
          <p:cNvPr id="549935" name="Group 47"/>
          <p:cNvGrpSpPr>
            <a:grpSpLocks/>
          </p:cNvGrpSpPr>
          <p:nvPr/>
        </p:nvGrpSpPr>
        <p:grpSpPr bwMode="auto">
          <a:xfrm>
            <a:off x="4419600" y="3751218"/>
            <a:ext cx="2292350" cy="2684463"/>
            <a:chOff x="2544" y="2640"/>
            <a:chExt cx="1444" cy="1691"/>
          </a:xfrm>
        </p:grpSpPr>
        <p:sp>
          <p:nvSpPr>
            <p:cNvPr id="549936" name="Rectangle 48" descr="轮廓式菱形"/>
            <p:cNvSpPr>
              <a:spLocks noChangeArrowheads="1"/>
            </p:cNvSpPr>
            <p:nvPr/>
          </p:nvSpPr>
          <p:spPr bwMode="auto">
            <a:xfrm>
              <a:off x="3744" y="2640"/>
              <a:ext cx="96" cy="1296"/>
            </a:xfrm>
            <a:prstGeom prst="rect">
              <a:avLst/>
            </a:prstGeom>
            <a:pattFill prst="openDmnd">
              <a:fgClr>
                <a:schemeClr val="accent2"/>
              </a:fgClr>
              <a:bgClr>
                <a:schemeClr val="folHlink"/>
              </a:bgClr>
            </a:pattFill>
            <a:ln w="9525">
              <a:solidFill>
                <a:schemeClr val="tx1"/>
              </a:solidFill>
              <a:miter lim="800000"/>
              <a:headEnd/>
              <a:tailEnd/>
            </a:ln>
            <a:effectLst/>
          </p:spPr>
          <p:txBody>
            <a:bodyPr wrap="none" anchor="ctr"/>
            <a:lstStyle/>
            <a:p>
              <a:endParaRPr lang="zh-CN" altLang="en-US"/>
            </a:p>
          </p:txBody>
        </p:sp>
        <p:sp>
          <p:nvSpPr>
            <p:cNvPr id="549937" name="Line 49"/>
            <p:cNvSpPr>
              <a:spLocks noChangeShapeType="1"/>
            </p:cNvSpPr>
            <p:nvPr/>
          </p:nvSpPr>
          <p:spPr bwMode="auto">
            <a:xfrm>
              <a:off x="2544" y="2640"/>
              <a:ext cx="1152"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49938" name="Line 50"/>
            <p:cNvSpPr>
              <a:spLocks noChangeShapeType="1"/>
            </p:cNvSpPr>
            <p:nvPr/>
          </p:nvSpPr>
          <p:spPr bwMode="auto">
            <a:xfrm>
              <a:off x="3744" y="3936"/>
              <a:ext cx="0" cy="144"/>
            </a:xfrm>
            <a:prstGeom prst="line">
              <a:avLst/>
            </a:prstGeom>
            <a:noFill/>
            <a:ln w="9525">
              <a:solidFill>
                <a:schemeClr val="tx1"/>
              </a:solidFill>
              <a:round/>
              <a:headEnd/>
              <a:tailEnd/>
            </a:ln>
            <a:effectLst/>
          </p:spPr>
          <p:txBody>
            <a:bodyPr wrap="none" anchor="ctr"/>
            <a:lstStyle/>
            <a:p>
              <a:endParaRPr lang="zh-CN" altLang="en-US"/>
            </a:p>
          </p:txBody>
        </p:sp>
        <p:sp>
          <p:nvSpPr>
            <p:cNvPr id="549939" name="Line 51"/>
            <p:cNvSpPr>
              <a:spLocks noChangeShapeType="1"/>
            </p:cNvSpPr>
            <p:nvPr/>
          </p:nvSpPr>
          <p:spPr bwMode="auto">
            <a:xfrm>
              <a:off x="3840" y="3936"/>
              <a:ext cx="0" cy="144"/>
            </a:xfrm>
            <a:prstGeom prst="line">
              <a:avLst/>
            </a:prstGeom>
            <a:noFill/>
            <a:ln w="9525">
              <a:solidFill>
                <a:schemeClr val="tx1"/>
              </a:solidFill>
              <a:round/>
              <a:headEnd/>
              <a:tailEnd/>
            </a:ln>
            <a:effectLst/>
          </p:spPr>
          <p:txBody>
            <a:bodyPr wrap="none" anchor="ctr"/>
            <a:lstStyle/>
            <a:p>
              <a:endParaRPr lang="zh-CN" altLang="en-US"/>
            </a:p>
          </p:txBody>
        </p:sp>
        <p:sp>
          <p:nvSpPr>
            <p:cNvPr id="549940" name="Line 52"/>
            <p:cNvSpPr>
              <a:spLocks noChangeShapeType="1"/>
            </p:cNvSpPr>
            <p:nvPr/>
          </p:nvSpPr>
          <p:spPr bwMode="auto">
            <a:xfrm>
              <a:off x="3600" y="4032"/>
              <a:ext cx="144"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49941" name="Line 53"/>
            <p:cNvSpPr>
              <a:spLocks noChangeShapeType="1"/>
            </p:cNvSpPr>
            <p:nvPr/>
          </p:nvSpPr>
          <p:spPr bwMode="auto">
            <a:xfrm>
              <a:off x="3840" y="4032"/>
              <a:ext cx="144" cy="0"/>
            </a:xfrm>
            <a:prstGeom prst="line">
              <a:avLst/>
            </a:prstGeom>
            <a:noFill/>
            <a:ln w="9525">
              <a:solidFill>
                <a:schemeClr val="tx1"/>
              </a:solidFill>
              <a:round/>
              <a:headEnd type="triangle" w="med" len="med"/>
              <a:tailEnd/>
            </a:ln>
            <a:effectLst/>
          </p:spPr>
          <p:txBody>
            <a:bodyPr wrap="none" anchor="ctr"/>
            <a:lstStyle/>
            <a:p>
              <a:endParaRPr lang="zh-CN" altLang="en-US"/>
            </a:p>
          </p:txBody>
        </p:sp>
        <p:sp>
          <p:nvSpPr>
            <p:cNvPr id="549942" name="Rectangle 54"/>
            <p:cNvSpPr>
              <a:spLocks noChangeArrowheads="1"/>
            </p:cNvSpPr>
            <p:nvPr/>
          </p:nvSpPr>
          <p:spPr bwMode="auto">
            <a:xfrm>
              <a:off x="3648" y="4004"/>
              <a:ext cx="340" cy="327"/>
            </a:xfrm>
            <a:prstGeom prst="rect">
              <a:avLst/>
            </a:prstGeom>
            <a:noFill/>
            <a:ln w="9525">
              <a:noFill/>
              <a:miter lim="800000"/>
              <a:headEnd/>
              <a:tailEnd/>
            </a:ln>
            <a:effectLst/>
          </p:spPr>
          <p:txBody>
            <a:bodyPr wrap="none">
              <a:spAutoFit/>
            </a:bodyPr>
            <a:lstStyle/>
            <a:p>
              <a:r>
                <a:rPr kumimoji="1" lang="en-US" altLang="zh-CN" sz="2800" dirty="0" err="1"/>
                <a:t>d</a:t>
              </a:r>
              <a:r>
                <a:rPr kumimoji="1" lang="en-US" altLang="zh-CN" sz="2800" i="1" dirty="0" err="1">
                  <a:latin typeface="Book Antiqua" pitchFamily="18" charset="0"/>
                </a:rPr>
                <a:t>v</a:t>
              </a:r>
              <a:endParaRPr kumimoji="1" lang="en-US" altLang="zh-CN" sz="2800" i="1" dirty="0">
                <a:latin typeface="Book Antiqua" pitchFamily="18" charset="0"/>
              </a:endParaRPr>
            </a:p>
          </p:txBody>
        </p:sp>
      </p:grpSp>
      <p:graphicFrame>
        <p:nvGraphicFramePr>
          <p:cNvPr id="549943" name="Object 55"/>
          <p:cNvGraphicFramePr>
            <a:graphicFrameLocks noChangeAspect="1"/>
          </p:cNvGraphicFramePr>
          <p:nvPr/>
        </p:nvGraphicFramePr>
        <p:xfrm>
          <a:off x="685800" y="5334000"/>
          <a:ext cx="1727200" cy="784225"/>
        </p:xfrm>
        <a:graphic>
          <a:graphicData uri="http://schemas.openxmlformats.org/presentationml/2006/ole">
            <mc:AlternateContent xmlns:mc="http://schemas.openxmlformats.org/markup-compatibility/2006">
              <mc:Choice xmlns:v="urn:schemas-microsoft-com:vml" Requires="v">
                <p:oleObj name="公式" r:id="rId4" imgW="863280" imgH="393480" progId="Equation.3">
                  <p:embed/>
                </p:oleObj>
              </mc:Choice>
              <mc:Fallback>
                <p:oleObj name="公式" r:id="rId4" imgW="863280" imgH="393480" progId="Equation.3">
                  <p:embed/>
                  <p:pic>
                    <p:nvPicPr>
                      <p:cNvPr id="549943"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5334000"/>
                        <a:ext cx="1727200" cy="784225"/>
                      </a:xfrm>
                      <a:prstGeom prst="rect">
                        <a:avLst/>
                      </a:prstGeom>
                      <a:noFill/>
                      <a:ln>
                        <a:noFill/>
                      </a:ln>
                      <a:extLst>
                        <a:ext uri="{909E8E84-426E-40DD-AFC4-6F175D3DCCD1}">
                          <a14:hiddenFill xmlns:a14="http://schemas.microsoft.com/office/drawing/2010/main">
                            <a:gradFill rotWithShape="0">
                              <a:gsLst>
                                <a:gs pos="0">
                                  <a:schemeClr val="accent1"/>
                                </a:gs>
                                <a:gs pos="50000">
                                  <a:schemeClr val="accent1">
                                    <a:gamma/>
                                    <a:shade val="46275"/>
                                    <a:invGamma/>
                                  </a:schemeClr>
                                </a:gs>
                                <a:gs pos="100000">
                                  <a:schemeClr val="accent1"/>
                                </a:gs>
                              </a:gsLst>
                              <a:lin ang="5400000" scaled="1"/>
                            </a:gradFill>
                          </a14:hiddenFill>
                        </a:ext>
                        <a:ext uri="{91240B29-F687-4F45-9708-019B960494DF}">
                          <a14:hiddenLine xmlns:a14="http://schemas.microsoft.com/office/drawing/2010/main" w="76200" cmpd="tri">
                            <a:solidFill>
                              <a:srgbClr val="66FF33"/>
                            </a:solidFill>
                            <a:miter lim="800000"/>
                            <a:headEnd/>
                            <a:tailEnd/>
                          </a14:hiddenLine>
                        </a:ext>
                      </a:extLst>
                    </p:spPr>
                  </p:pic>
                </p:oleObj>
              </mc:Fallback>
            </mc:AlternateContent>
          </a:graphicData>
        </a:graphic>
      </p:graphicFrame>
      <p:sp>
        <p:nvSpPr>
          <p:cNvPr id="549944" name="Rectangle 56"/>
          <p:cNvSpPr>
            <a:spLocks noChangeArrowheads="1"/>
          </p:cNvSpPr>
          <p:nvPr/>
        </p:nvSpPr>
        <p:spPr bwMode="auto">
          <a:xfrm>
            <a:off x="533400" y="3048000"/>
            <a:ext cx="3038475" cy="519113"/>
          </a:xfrm>
          <a:prstGeom prst="rect">
            <a:avLst/>
          </a:prstGeom>
          <a:noFill/>
          <a:ln w="12700" cap="sq">
            <a:noFill/>
            <a:miter lim="800000"/>
            <a:headEnd type="none" w="sm" len="sm"/>
            <a:tailEnd type="none" w="sm" len="sm"/>
          </a:ln>
          <a:effectLst/>
        </p:spPr>
        <p:txBody>
          <a:bodyPr>
            <a:spAutoFit/>
          </a:bodyPr>
          <a:lstStyle/>
          <a:p>
            <a:r>
              <a:rPr kumimoji="1" lang="zh-CN" altLang="en-US" sz="2800" dirty="0"/>
              <a:t>玻耳兹曼常量：</a:t>
            </a:r>
          </a:p>
        </p:txBody>
      </p:sp>
      <p:graphicFrame>
        <p:nvGraphicFramePr>
          <p:cNvPr id="549945" name="Object 57"/>
          <p:cNvGraphicFramePr>
            <a:graphicFrameLocks noChangeAspect="1"/>
          </p:cNvGraphicFramePr>
          <p:nvPr/>
        </p:nvGraphicFramePr>
        <p:xfrm>
          <a:off x="685800" y="3657600"/>
          <a:ext cx="1023938" cy="868363"/>
        </p:xfrm>
        <a:graphic>
          <a:graphicData uri="http://schemas.openxmlformats.org/presentationml/2006/ole">
            <mc:AlternateContent xmlns:mc="http://schemas.openxmlformats.org/markup-compatibility/2006">
              <mc:Choice xmlns:v="urn:schemas-microsoft-com:vml" Requires="v">
                <p:oleObj name="公式" r:id="rId6" imgW="507960" imgH="431640" progId="Equation.3">
                  <p:embed/>
                </p:oleObj>
              </mc:Choice>
              <mc:Fallback>
                <p:oleObj name="公式" r:id="rId6" imgW="507960" imgH="431640" progId="Equation.3">
                  <p:embed/>
                  <p:pic>
                    <p:nvPicPr>
                      <p:cNvPr id="549945" name="Object 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657600"/>
                        <a:ext cx="1023938" cy="868363"/>
                      </a:xfrm>
                      <a:prstGeom prst="rect">
                        <a:avLst/>
                      </a:prstGeom>
                      <a:noFill/>
                      <a:ln>
                        <a:noFill/>
                      </a:ln>
                      <a:extLst>
                        <a:ext uri="{909E8E84-426E-40DD-AFC4-6F175D3DCCD1}">
                          <a14:hiddenFill xmlns:a14="http://schemas.microsoft.com/office/drawing/2010/main">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14:hiddenFill>
                        </a:ext>
                        <a:ext uri="{91240B29-F687-4F45-9708-019B960494DF}">
                          <a14:hiddenLine xmlns:a14="http://schemas.microsoft.com/office/drawing/2010/main" w="76200" cmpd="tri">
                            <a:solidFill>
                              <a:schemeClr val="tx1"/>
                            </a:solidFill>
                            <a:miter lim="800000"/>
                            <a:headEnd/>
                            <a:tailEnd/>
                          </a14:hiddenLine>
                        </a:ext>
                      </a:extLst>
                    </p:spPr>
                  </p:pic>
                </p:oleObj>
              </mc:Fallback>
            </mc:AlternateContent>
          </a:graphicData>
        </a:graphic>
      </p:graphicFrame>
      <p:graphicFrame>
        <p:nvGraphicFramePr>
          <p:cNvPr id="549946" name="Object 58"/>
          <p:cNvGraphicFramePr>
            <a:graphicFrameLocks noChangeAspect="1"/>
          </p:cNvGraphicFramePr>
          <p:nvPr/>
        </p:nvGraphicFramePr>
        <p:xfrm>
          <a:off x="990600" y="4648200"/>
          <a:ext cx="2413000" cy="457200"/>
        </p:xfrm>
        <a:graphic>
          <a:graphicData uri="http://schemas.openxmlformats.org/presentationml/2006/ole">
            <mc:AlternateContent xmlns:mc="http://schemas.openxmlformats.org/markup-compatibility/2006">
              <mc:Choice xmlns:v="urn:schemas-microsoft-com:vml" Requires="v">
                <p:oleObj name="公式" r:id="rId8" imgW="1206360" imgH="228600" progId="Equation.3">
                  <p:embed/>
                </p:oleObj>
              </mc:Choice>
              <mc:Fallback>
                <p:oleObj name="公式" r:id="rId8" imgW="1206360" imgH="228600" progId="Equation.3">
                  <p:embed/>
                  <p:pic>
                    <p:nvPicPr>
                      <p:cNvPr id="549946" name="Object 5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4648200"/>
                        <a:ext cx="2413000" cy="457200"/>
                      </a:xfrm>
                      <a:prstGeom prst="rect">
                        <a:avLst/>
                      </a:prstGeom>
                      <a:noFill/>
                      <a:ln>
                        <a:noFill/>
                      </a:ln>
                      <a:extLst>
                        <a:ext uri="{909E8E84-426E-40DD-AFC4-6F175D3DCCD1}">
                          <a14:hiddenFill xmlns:a14="http://schemas.microsoft.com/office/drawing/2010/main">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14:hiddenFill>
                        </a:ext>
                        <a:ext uri="{91240B29-F687-4F45-9708-019B960494DF}">
                          <a14:hiddenLine xmlns:a14="http://schemas.microsoft.com/office/drawing/2010/main" w="76200" cmpd="tri">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9929"/>
                                        </p:tgtEl>
                                        <p:attrNameLst>
                                          <p:attrName>style.visibility</p:attrName>
                                        </p:attrNameLst>
                                      </p:cBhvr>
                                      <p:to>
                                        <p:strVal val="visible"/>
                                      </p:to>
                                    </p:set>
                                    <p:animEffect transition="in" filter="wipe(left)">
                                      <p:cBhvr>
                                        <p:cTn id="7" dur="500"/>
                                        <p:tgtEl>
                                          <p:spTgt spid="54992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49943"/>
                                        </p:tgtEl>
                                        <p:attrNameLst>
                                          <p:attrName>style.visibility</p:attrName>
                                        </p:attrNameLst>
                                      </p:cBhvr>
                                      <p:to>
                                        <p:strVal val="visible"/>
                                      </p:to>
                                    </p:set>
                                    <p:animEffect transition="in" filter="box(out)">
                                      <p:cBhvr>
                                        <p:cTn id="12" dur="500"/>
                                        <p:tgtEl>
                                          <p:spTgt spid="5499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49935"/>
                                        </p:tgtEl>
                                        <p:attrNameLst>
                                          <p:attrName>style.visibility</p:attrName>
                                        </p:attrNameLst>
                                      </p:cBhvr>
                                      <p:to>
                                        <p:strVal val="visible"/>
                                      </p:to>
                                    </p:set>
                                    <p:animEffect transition="in" filter="wipe(down)">
                                      <p:cBhvr>
                                        <p:cTn id="17" dur="500"/>
                                        <p:tgtEl>
                                          <p:spTgt spid="549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r>
              <a:rPr lang="en-US" altLang="zh-CN"/>
              <a:t>10.4 </a:t>
            </a:r>
            <a:r>
              <a:rPr lang="zh-CN" altLang="en-US"/>
              <a:t>麦克斯韦速率分布</a:t>
            </a:r>
          </a:p>
        </p:txBody>
      </p:sp>
      <p:sp>
        <p:nvSpPr>
          <p:cNvPr id="8" name="灯片编号占位符 4"/>
          <p:cNvSpPr>
            <a:spLocks noGrp="1"/>
          </p:cNvSpPr>
          <p:nvPr>
            <p:ph type="sldNum" sz="quarter" idx="12"/>
          </p:nvPr>
        </p:nvSpPr>
        <p:spPr/>
        <p:txBody>
          <a:bodyPr/>
          <a:lstStyle/>
          <a:p>
            <a:fld id="{116AA8E3-1E35-495C-B9F4-B58AE65685D3}" type="slidenum">
              <a:rPr lang="en-US" altLang="zh-CN"/>
              <a:pPr/>
              <a:t>42</a:t>
            </a:fld>
            <a:endParaRPr lang="en-US" altLang="zh-CN"/>
          </a:p>
        </p:txBody>
      </p:sp>
      <p:sp>
        <p:nvSpPr>
          <p:cNvPr id="543748" name="Rectangle 4"/>
          <p:cNvSpPr>
            <a:spLocks noChangeArrowheads="1"/>
          </p:cNvSpPr>
          <p:nvPr/>
        </p:nvSpPr>
        <p:spPr bwMode="auto">
          <a:xfrm>
            <a:off x="609600" y="1981200"/>
            <a:ext cx="8153400" cy="946150"/>
          </a:xfrm>
          <a:prstGeom prst="rect">
            <a:avLst/>
          </a:prstGeom>
          <a:noFill/>
          <a:ln w="9525">
            <a:noFill/>
            <a:miter lim="800000"/>
            <a:headEnd/>
            <a:tailEnd/>
          </a:ln>
          <a:effectLst/>
        </p:spPr>
        <p:txBody>
          <a:bodyPr>
            <a:spAutoFit/>
          </a:bodyPr>
          <a:lstStyle/>
          <a:p>
            <a:r>
              <a:rPr lang="zh-CN" altLang="en-US" sz="2800"/>
              <a:t>处于</a:t>
            </a:r>
            <a:r>
              <a:rPr lang="zh-CN" altLang="en-US" sz="2800">
                <a:solidFill>
                  <a:srgbClr val="0000CC"/>
                </a:solidFill>
              </a:rPr>
              <a:t>平衡态</a:t>
            </a:r>
            <a:r>
              <a:rPr lang="zh-CN" altLang="en-US" sz="2800"/>
              <a:t>下的</a:t>
            </a:r>
            <a:r>
              <a:rPr lang="zh-CN" altLang="en-US" sz="2800">
                <a:solidFill>
                  <a:srgbClr val="0000CC"/>
                </a:solidFill>
              </a:rPr>
              <a:t>理想气体</a:t>
            </a:r>
            <a:r>
              <a:rPr lang="zh-CN" altLang="en-US" sz="2800"/>
              <a:t>系统，分子速率在</a:t>
            </a:r>
            <a:r>
              <a:rPr lang="en-US" altLang="zh-CN" sz="2800" i="1">
                <a:latin typeface="Book Antiqua" pitchFamily="18" charset="0"/>
              </a:rPr>
              <a:t>v</a:t>
            </a:r>
            <a:r>
              <a:rPr lang="en-US" altLang="zh-CN" sz="2800"/>
              <a:t>~</a:t>
            </a:r>
            <a:r>
              <a:rPr lang="en-US" altLang="zh-CN" sz="2800" i="1">
                <a:latin typeface="Book Antiqua" pitchFamily="18" charset="0"/>
              </a:rPr>
              <a:t>v</a:t>
            </a:r>
            <a:r>
              <a:rPr lang="en-US" altLang="zh-CN" sz="2800"/>
              <a:t>+d</a:t>
            </a:r>
            <a:r>
              <a:rPr lang="en-US" altLang="zh-CN" sz="2800" i="1">
                <a:latin typeface="Book Antiqua" pitchFamily="18" charset="0"/>
              </a:rPr>
              <a:t>v</a:t>
            </a:r>
            <a:r>
              <a:rPr lang="zh-CN" altLang="en-US" sz="2800"/>
              <a:t>区间内的分子数占总分子数的百分比为</a:t>
            </a:r>
          </a:p>
        </p:txBody>
      </p:sp>
      <p:sp>
        <p:nvSpPr>
          <p:cNvPr id="543749" name="Rectangle 5"/>
          <p:cNvSpPr>
            <a:spLocks noChangeArrowheads="1"/>
          </p:cNvSpPr>
          <p:nvPr/>
        </p:nvSpPr>
        <p:spPr bwMode="auto">
          <a:xfrm>
            <a:off x="53340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latin typeface="Arial" charset="0"/>
              </a:rPr>
              <a:t>麦克斯韦速率分布函数</a:t>
            </a:r>
          </a:p>
        </p:txBody>
      </p:sp>
      <p:graphicFrame>
        <p:nvGraphicFramePr>
          <p:cNvPr id="543750" name="Object 6"/>
          <p:cNvGraphicFramePr>
            <a:graphicFrameLocks noChangeAspect="1"/>
          </p:cNvGraphicFramePr>
          <p:nvPr/>
        </p:nvGraphicFramePr>
        <p:xfrm>
          <a:off x="1828800" y="3429000"/>
          <a:ext cx="5083175" cy="993775"/>
        </p:xfrm>
        <a:graphic>
          <a:graphicData uri="http://schemas.openxmlformats.org/presentationml/2006/ole">
            <mc:AlternateContent xmlns:mc="http://schemas.openxmlformats.org/markup-compatibility/2006">
              <mc:Choice xmlns:v="urn:schemas-microsoft-com:vml" Requires="v">
                <p:oleObj name="公式" r:id="rId2" imgW="2527200" imgH="495000" progId="Equation.3">
                  <p:embed/>
                </p:oleObj>
              </mc:Choice>
              <mc:Fallback>
                <p:oleObj name="公式" r:id="rId2" imgW="2527200" imgH="495000" progId="Equation.3">
                  <p:embed/>
                  <p:pic>
                    <p:nvPicPr>
                      <p:cNvPr id="54375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429000"/>
                        <a:ext cx="5083175" cy="993775"/>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43750"/>
                                        </p:tgtEl>
                                        <p:attrNameLst>
                                          <p:attrName>style.visibility</p:attrName>
                                        </p:attrNameLst>
                                      </p:cBhvr>
                                      <p:to>
                                        <p:strVal val="visible"/>
                                      </p:to>
                                    </p:set>
                                    <p:animEffect transition="in" filter="box(out)">
                                      <p:cBhvr>
                                        <p:cTn id="7" dur="500"/>
                                        <p:tgtEl>
                                          <p:spTgt spid="543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r>
              <a:rPr lang="en-US" altLang="zh-CN" dirty="0"/>
              <a:t>10.4 </a:t>
            </a:r>
            <a:r>
              <a:rPr lang="zh-CN" altLang="en-US" dirty="0"/>
              <a:t>麦克斯韦速率分布</a:t>
            </a:r>
          </a:p>
        </p:txBody>
      </p:sp>
      <p:sp>
        <p:nvSpPr>
          <p:cNvPr id="34" name="灯片编号占位符 4"/>
          <p:cNvSpPr>
            <a:spLocks noGrp="1"/>
          </p:cNvSpPr>
          <p:nvPr>
            <p:ph type="sldNum" sz="quarter" idx="12"/>
          </p:nvPr>
        </p:nvSpPr>
        <p:spPr/>
        <p:txBody>
          <a:bodyPr/>
          <a:lstStyle/>
          <a:p>
            <a:fld id="{165B384E-884D-4486-B327-1B67D344F93E}" type="slidenum">
              <a:rPr lang="en-US" altLang="zh-CN"/>
              <a:pPr/>
              <a:t>43</a:t>
            </a:fld>
            <a:endParaRPr lang="en-US" altLang="zh-CN"/>
          </a:p>
        </p:txBody>
      </p:sp>
      <p:sp>
        <p:nvSpPr>
          <p:cNvPr id="551939" name="Rectangle 3"/>
          <p:cNvSpPr>
            <a:spLocks noChangeArrowheads="1"/>
          </p:cNvSpPr>
          <p:nvPr/>
        </p:nvSpPr>
        <p:spPr bwMode="auto">
          <a:xfrm>
            <a:off x="533400" y="1219200"/>
            <a:ext cx="3232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latin typeface="Arial" charset="0"/>
              </a:rPr>
              <a:t>麦克斯韦速率分布函数</a:t>
            </a:r>
          </a:p>
        </p:txBody>
      </p:sp>
      <p:graphicFrame>
        <p:nvGraphicFramePr>
          <p:cNvPr id="551940" name="Object 4"/>
          <p:cNvGraphicFramePr>
            <a:graphicFrameLocks noChangeAspect="1"/>
          </p:cNvGraphicFramePr>
          <p:nvPr/>
        </p:nvGraphicFramePr>
        <p:xfrm>
          <a:off x="333375" y="2179638"/>
          <a:ext cx="4086225" cy="1782762"/>
        </p:xfrm>
        <a:graphic>
          <a:graphicData uri="http://schemas.openxmlformats.org/presentationml/2006/ole">
            <mc:AlternateContent xmlns:mc="http://schemas.openxmlformats.org/markup-compatibility/2006">
              <mc:Choice xmlns:v="urn:schemas-microsoft-com:vml" Requires="v">
                <p:oleObj name="公式" r:id="rId3" imgW="2031840" imgH="888840" progId="Equation.3">
                  <p:embed/>
                </p:oleObj>
              </mc:Choice>
              <mc:Fallback>
                <p:oleObj name="公式" r:id="rId3" imgW="2031840" imgH="888840" progId="Equation.3">
                  <p:embed/>
                  <p:pic>
                    <p:nvPicPr>
                      <p:cNvPr id="55194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5" y="2179638"/>
                        <a:ext cx="4086225" cy="1782762"/>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grpSp>
        <p:nvGrpSpPr>
          <p:cNvPr id="551941" name="Group 5"/>
          <p:cNvGrpSpPr>
            <a:grpSpLocks/>
          </p:cNvGrpSpPr>
          <p:nvPr/>
        </p:nvGrpSpPr>
        <p:grpSpPr bwMode="auto">
          <a:xfrm>
            <a:off x="4495800" y="1112837"/>
            <a:ext cx="4524375" cy="3459163"/>
            <a:chOff x="2472" y="255"/>
            <a:chExt cx="2850" cy="2179"/>
          </a:xfrm>
        </p:grpSpPr>
        <p:grpSp>
          <p:nvGrpSpPr>
            <p:cNvPr id="551942" name="Group 6"/>
            <p:cNvGrpSpPr>
              <a:grpSpLocks/>
            </p:cNvGrpSpPr>
            <p:nvPr/>
          </p:nvGrpSpPr>
          <p:grpSpPr bwMode="auto">
            <a:xfrm>
              <a:off x="2472" y="255"/>
              <a:ext cx="2850" cy="2179"/>
              <a:chOff x="2472" y="255"/>
              <a:chExt cx="2850" cy="2179"/>
            </a:xfrm>
          </p:grpSpPr>
          <p:sp>
            <p:nvSpPr>
              <p:cNvPr id="551943" name="Line 7"/>
              <p:cNvSpPr>
                <a:spLocks noChangeShapeType="1"/>
              </p:cNvSpPr>
              <p:nvPr/>
            </p:nvSpPr>
            <p:spPr bwMode="auto">
              <a:xfrm>
                <a:off x="2472" y="2127"/>
                <a:ext cx="2832" cy="0"/>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51944" name="Line 8"/>
              <p:cNvSpPr>
                <a:spLocks noChangeShapeType="1"/>
              </p:cNvSpPr>
              <p:nvPr/>
            </p:nvSpPr>
            <p:spPr bwMode="auto">
              <a:xfrm flipV="1">
                <a:off x="2472" y="351"/>
                <a:ext cx="0" cy="1776"/>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51945" name="Freeform 9"/>
              <p:cNvSpPr>
                <a:spLocks/>
              </p:cNvSpPr>
              <p:nvPr/>
            </p:nvSpPr>
            <p:spPr bwMode="auto">
              <a:xfrm>
                <a:off x="2472" y="639"/>
                <a:ext cx="2352" cy="1496"/>
              </a:xfrm>
              <a:custGeom>
                <a:avLst/>
                <a:gdLst/>
                <a:ahLst/>
                <a:cxnLst>
                  <a:cxn ang="0">
                    <a:pos x="0" y="1496"/>
                  </a:cxn>
                  <a:cxn ang="0">
                    <a:pos x="288" y="1160"/>
                  </a:cxn>
                  <a:cxn ang="0">
                    <a:pos x="576" y="488"/>
                  </a:cxn>
                  <a:cxn ang="0">
                    <a:pos x="816" y="104"/>
                  </a:cxn>
                  <a:cxn ang="0">
                    <a:pos x="1008" y="8"/>
                  </a:cxn>
                  <a:cxn ang="0">
                    <a:pos x="1200" y="152"/>
                  </a:cxn>
                  <a:cxn ang="0">
                    <a:pos x="1344" y="440"/>
                  </a:cxn>
                  <a:cxn ang="0">
                    <a:pos x="1584" y="1016"/>
                  </a:cxn>
                  <a:cxn ang="0">
                    <a:pos x="1968" y="1304"/>
                  </a:cxn>
                  <a:cxn ang="0">
                    <a:pos x="2352" y="1400"/>
                  </a:cxn>
                </a:cxnLst>
                <a:rect l="0" t="0" r="r" b="b"/>
                <a:pathLst>
                  <a:path w="2352" h="1496">
                    <a:moveTo>
                      <a:pt x="0" y="1496"/>
                    </a:moveTo>
                    <a:cubicBezTo>
                      <a:pt x="96" y="1412"/>
                      <a:pt x="192" y="1328"/>
                      <a:pt x="288" y="1160"/>
                    </a:cubicBezTo>
                    <a:cubicBezTo>
                      <a:pt x="384" y="992"/>
                      <a:pt x="488" y="664"/>
                      <a:pt x="576" y="488"/>
                    </a:cubicBezTo>
                    <a:cubicBezTo>
                      <a:pt x="664" y="312"/>
                      <a:pt x="744" y="184"/>
                      <a:pt x="816" y="104"/>
                    </a:cubicBezTo>
                    <a:cubicBezTo>
                      <a:pt x="888" y="24"/>
                      <a:pt x="944" y="0"/>
                      <a:pt x="1008" y="8"/>
                    </a:cubicBezTo>
                    <a:cubicBezTo>
                      <a:pt x="1072" y="16"/>
                      <a:pt x="1144" y="80"/>
                      <a:pt x="1200" y="152"/>
                    </a:cubicBezTo>
                    <a:cubicBezTo>
                      <a:pt x="1256" y="224"/>
                      <a:pt x="1280" y="296"/>
                      <a:pt x="1344" y="440"/>
                    </a:cubicBezTo>
                    <a:cubicBezTo>
                      <a:pt x="1408" y="584"/>
                      <a:pt x="1480" y="872"/>
                      <a:pt x="1584" y="1016"/>
                    </a:cubicBezTo>
                    <a:cubicBezTo>
                      <a:pt x="1688" y="1160"/>
                      <a:pt x="1840" y="1240"/>
                      <a:pt x="1968" y="1304"/>
                    </a:cubicBezTo>
                    <a:cubicBezTo>
                      <a:pt x="2096" y="1368"/>
                      <a:pt x="2224" y="1384"/>
                      <a:pt x="2352" y="1400"/>
                    </a:cubicBezTo>
                  </a:path>
                </a:pathLst>
              </a:custGeom>
              <a:noFill/>
              <a:ln w="28575" cmpd="sng">
                <a:solidFill>
                  <a:srgbClr val="0000FF"/>
                </a:solidFill>
                <a:round/>
                <a:headEnd/>
                <a:tailEnd/>
              </a:ln>
              <a:effectLst/>
            </p:spPr>
            <p:txBody>
              <a:bodyPr wrap="none" anchor="ctr"/>
              <a:lstStyle/>
              <a:p>
                <a:endParaRPr lang="zh-CN" altLang="en-US"/>
              </a:p>
            </p:txBody>
          </p:sp>
          <p:sp>
            <p:nvSpPr>
              <p:cNvPr id="551946" name="Text Box 10"/>
              <p:cNvSpPr txBox="1">
                <a:spLocks noChangeArrowheads="1"/>
              </p:cNvSpPr>
              <p:nvPr/>
            </p:nvSpPr>
            <p:spPr bwMode="auto">
              <a:xfrm>
                <a:off x="2531" y="255"/>
                <a:ext cx="576" cy="365"/>
              </a:xfrm>
              <a:prstGeom prst="rect">
                <a:avLst/>
              </a:prstGeom>
              <a:noFill/>
              <a:ln w="9525">
                <a:noFill/>
                <a:miter lim="800000"/>
                <a:headEnd/>
                <a:tailEnd/>
              </a:ln>
              <a:effectLst/>
            </p:spPr>
            <p:txBody>
              <a:bodyPr>
                <a:spAutoFit/>
              </a:bodyPr>
              <a:lstStyle/>
              <a:p>
                <a:pPr>
                  <a:spcBef>
                    <a:spcPct val="50000"/>
                  </a:spcBef>
                </a:pPr>
                <a:r>
                  <a:rPr kumimoji="1" lang="en-US" altLang="zh-CN" sz="3200" b="1" i="1" dirty="0">
                    <a:latin typeface="Book Antiqua" pitchFamily="18" charset="0"/>
                  </a:rPr>
                  <a:t>f(v)</a:t>
                </a:r>
              </a:p>
            </p:txBody>
          </p:sp>
          <p:sp>
            <p:nvSpPr>
              <p:cNvPr id="551947" name="Rectangle 11"/>
              <p:cNvSpPr>
                <a:spLocks noChangeArrowheads="1"/>
              </p:cNvSpPr>
              <p:nvPr/>
            </p:nvSpPr>
            <p:spPr bwMode="auto">
              <a:xfrm>
                <a:off x="5064" y="2069"/>
                <a:ext cx="258" cy="365"/>
              </a:xfrm>
              <a:prstGeom prst="rect">
                <a:avLst/>
              </a:prstGeom>
              <a:noFill/>
              <a:ln w="9525">
                <a:noFill/>
                <a:miter lim="800000"/>
                <a:headEnd/>
                <a:tailEnd/>
              </a:ln>
              <a:effectLst/>
            </p:spPr>
            <p:txBody>
              <a:bodyPr wrap="none">
                <a:spAutoFit/>
              </a:bodyPr>
              <a:lstStyle/>
              <a:p>
                <a:r>
                  <a:rPr kumimoji="1" lang="en-US" altLang="zh-CN" sz="3200" b="1" i="1" dirty="0">
                    <a:latin typeface="Book Antiqua" pitchFamily="18" charset="0"/>
                  </a:rPr>
                  <a:t>v</a:t>
                </a:r>
              </a:p>
            </p:txBody>
          </p:sp>
        </p:grpSp>
        <p:grpSp>
          <p:nvGrpSpPr>
            <p:cNvPr id="551948" name="Group 12"/>
            <p:cNvGrpSpPr>
              <a:grpSpLocks/>
            </p:cNvGrpSpPr>
            <p:nvPr/>
          </p:nvGrpSpPr>
          <p:grpSpPr bwMode="auto">
            <a:xfrm>
              <a:off x="3528" y="831"/>
              <a:ext cx="1296" cy="1601"/>
              <a:chOff x="3528" y="831"/>
              <a:chExt cx="1296" cy="1601"/>
            </a:xfrm>
          </p:grpSpPr>
          <p:grpSp>
            <p:nvGrpSpPr>
              <p:cNvPr id="551949" name="Group 13"/>
              <p:cNvGrpSpPr>
                <a:grpSpLocks/>
              </p:cNvGrpSpPr>
              <p:nvPr/>
            </p:nvGrpSpPr>
            <p:grpSpPr bwMode="auto">
              <a:xfrm>
                <a:off x="3672" y="831"/>
                <a:ext cx="816" cy="1296"/>
                <a:chOff x="3792" y="864"/>
                <a:chExt cx="816" cy="1296"/>
              </a:xfrm>
            </p:grpSpPr>
            <p:sp>
              <p:nvSpPr>
                <p:cNvPr id="551950" name="Line 14"/>
                <p:cNvSpPr>
                  <a:spLocks noChangeShapeType="1"/>
                </p:cNvSpPr>
                <p:nvPr/>
              </p:nvSpPr>
              <p:spPr bwMode="auto">
                <a:xfrm>
                  <a:off x="3792" y="864"/>
                  <a:ext cx="0" cy="1296"/>
                </a:xfrm>
                <a:prstGeom prst="line">
                  <a:avLst/>
                </a:prstGeom>
                <a:noFill/>
                <a:ln w="9525">
                  <a:solidFill>
                    <a:schemeClr val="tx1"/>
                  </a:solidFill>
                  <a:round/>
                  <a:headEnd/>
                  <a:tailEnd/>
                </a:ln>
                <a:effectLst/>
              </p:spPr>
              <p:txBody>
                <a:bodyPr wrap="none" anchor="ctr"/>
                <a:lstStyle/>
                <a:p>
                  <a:endParaRPr lang="zh-CN" altLang="en-US"/>
                </a:p>
              </p:txBody>
            </p:sp>
            <p:sp>
              <p:nvSpPr>
                <p:cNvPr id="551951" name="Line 15"/>
                <p:cNvSpPr>
                  <a:spLocks noChangeShapeType="1"/>
                </p:cNvSpPr>
                <p:nvPr/>
              </p:nvSpPr>
              <p:spPr bwMode="auto">
                <a:xfrm>
                  <a:off x="4608" y="2016"/>
                  <a:ext cx="0" cy="144"/>
                </a:xfrm>
                <a:prstGeom prst="line">
                  <a:avLst/>
                </a:prstGeom>
                <a:noFill/>
                <a:ln w="9525">
                  <a:solidFill>
                    <a:schemeClr val="tx1"/>
                  </a:solidFill>
                  <a:round/>
                  <a:headEnd/>
                  <a:tailEnd/>
                </a:ln>
                <a:effectLst/>
              </p:spPr>
              <p:txBody>
                <a:bodyPr wrap="none" anchor="ctr"/>
                <a:lstStyle/>
                <a:p>
                  <a:endParaRPr lang="zh-CN" altLang="en-US"/>
                </a:p>
              </p:txBody>
            </p:sp>
            <p:sp>
              <p:nvSpPr>
                <p:cNvPr id="551952" name="Line 16"/>
                <p:cNvSpPr>
                  <a:spLocks noChangeShapeType="1"/>
                </p:cNvSpPr>
                <p:nvPr/>
              </p:nvSpPr>
              <p:spPr bwMode="auto">
                <a:xfrm flipH="1">
                  <a:off x="3792" y="1008"/>
                  <a:ext cx="96" cy="192"/>
                </a:xfrm>
                <a:prstGeom prst="line">
                  <a:avLst/>
                </a:prstGeom>
                <a:noFill/>
                <a:ln w="9525">
                  <a:solidFill>
                    <a:schemeClr val="tx1"/>
                  </a:solidFill>
                  <a:round/>
                  <a:headEnd/>
                  <a:tailEnd/>
                </a:ln>
                <a:effectLst/>
              </p:spPr>
              <p:txBody>
                <a:bodyPr wrap="none" anchor="ctr"/>
                <a:lstStyle/>
                <a:p>
                  <a:endParaRPr lang="zh-CN" altLang="en-US"/>
                </a:p>
              </p:txBody>
            </p:sp>
            <p:sp>
              <p:nvSpPr>
                <p:cNvPr id="551953" name="Line 17"/>
                <p:cNvSpPr>
                  <a:spLocks noChangeShapeType="1"/>
                </p:cNvSpPr>
                <p:nvPr/>
              </p:nvSpPr>
              <p:spPr bwMode="auto">
                <a:xfrm flipH="1">
                  <a:off x="3792" y="1104"/>
                  <a:ext cx="144" cy="240"/>
                </a:xfrm>
                <a:prstGeom prst="line">
                  <a:avLst/>
                </a:prstGeom>
                <a:noFill/>
                <a:ln w="9525">
                  <a:solidFill>
                    <a:schemeClr val="tx1"/>
                  </a:solidFill>
                  <a:round/>
                  <a:headEnd/>
                  <a:tailEnd/>
                </a:ln>
                <a:effectLst/>
              </p:spPr>
              <p:txBody>
                <a:bodyPr wrap="none" anchor="ctr"/>
                <a:lstStyle/>
                <a:p>
                  <a:endParaRPr lang="zh-CN" altLang="en-US"/>
                </a:p>
              </p:txBody>
            </p:sp>
            <p:sp>
              <p:nvSpPr>
                <p:cNvPr id="551954" name="Line 18"/>
                <p:cNvSpPr>
                  <a:spLocks noChangeShapeType="1"/>
                </p:cNvSpPr>
                <p:nvPr/>
              </p:nvSpPr>
              <p:spPr bwMode="auto">
                <a:xfrm flipH="1">
                  <a:off x="3792" y="1200"/>
                  <a:ext cx="192" cy="336"/>
                </a:xfrm>
                <a:prstGeom prst="line">
                  <a:avLst/>
                </a:prstGeom>
                <a:noFill/>
                <a:ln w="9525">
                  <a:solidFill>
                    <a:schemeClr val="tx1"/>
                  </a:solidFill>
                  <a:round/>
                  <a:headEnd/>
                  <a:tailEnd/>
                </a:ln>
                <a:effectLst/>
              </p:spPr>
              <p:txBody>
                <a:bodyPr wrap="none" anchor="ctr"/>
                <a:lstStyle/>
                <a:p>
                  <a:endParaRPr lang="zh-CN" altLang="en-US"/>
                </a:p>
              </p:txBody>
            </p:sp>
            <p:sp>
              <p:nvSpPr>
                <p:cNvPr id="551955" name="Line 19"/>
                <p:cNvSpPr>
                  <a:spLocks noChangeShapeType="1"/>
                </p:cNvSpPr>
                <p:nvPr/>
              </p:nvSpPr>
              <p:spPr bwMode="auto">
                <a:xfrm flipH="1">
                  <a:off x="3792" y="1344"/>
                  <a:ext cx="240" cy="384"/>
                </a:xfrm>
                <a:prstGeom prst="line">
                  <a:avLst/>
                </a:prstGeom>
                <a:noFill/>
                <a:ln w="9525">
                  <a:solidFill>
                    <a:schemeClr val="tx1"/>
                  </a:solidFill>
                  <a:round/>
                  <a:headEnd/>
                  <a:tailEnd/>
                </a:ln>
                <a:effectLst/>
              </p:spPr>
              <p:txBody>
                <a:bodyPr wrap="none" anchor="ctr"/>
                <a:lstStyle/>
                <a:p>
                  <a:endParaRPr lang="zh-CN" altLang="en-US"/>
                </a:p>
              </p:txBody>
            </p:sp>
            <p:sp>
              <p:nvSpPr>
                <p:cNvPr id="551956" name="Line 20"/>
                <p:cNvSpPr>
                  <a:spLocks noChangeShapeType="1"/>
                </p:cNvSpPr>
                <p:nvPr/>
              </p:nvSpPr>
              <p:spPr bwMode="auto">
                <a:xfrm flipH="1">
                  <a:off x="3792" y="1488"/>
                  <a:ext cx="288" cy="480"/>
                </a:xfrm>
                <a:prstGeom prst="line">
                  <a:avLst/>
                </a:prstGeom>
                <a:noFill/>
                <a:ln w="9525">
                  <a:solidFill>
                    <a:schemeClr val="tx1"/>
                  </a:solidFill>
                  <a:round/>
                  <a:headEnd/>
                  <a:tailEnd/>
                </a:ln>
                <a:effectLst/>
              </p:spPr>
              <p:txBody>
                <a:bodyPr wrap="none" anchor="ctr"/>
                <a:lstStyle/>
                <a:p>
                  <a:endParaRPr lang="zh-CN" altLang="en-US"/>
                </a:p>
              </p:txBody>
            </p:sp>
            <p:sp>
              <p:nvSpPr>
                <p:cNvPr id="551957" name="Line 21"/>
                <p:cNvSpPr>
                  <a:spLocks noChangeShapeType="1"/>
                </p:cNvSpPr>
                <p:nvPr/>
              </p:nvSpPr>
              <p:spPr bwMode="auto">
                <a:xfrm flipH="1">
                  <a:off x="3792" y="1632"/>
                  <a:ext cx="336" cy="528"/>
                </a:xfrm>
                <a:prstGeom prst="line">
                  <a:avLst/>
                </a:prstGeom>
                <a:noFill/>
                <a:ln w="9525">
                  <a:solidFill>
                    <a:schemeClr val="tx1"/>
                  </a:solidFill>
                  <a:round/>
                  <a:headEnd/>
                  <a:tailEnd/>
                </a:ln>
                <a:effectLst/>
              </p:spPr>
              <p:txBody>
                <a:bodyPr wrap="none" anchor="ctr"/>
                <a:lstStyle/>
                <a:p>
                  <a:endParaRPr lang="zh-CN" altLang="en-US"/>
                </a:p>
              </p:txBody>
            </p:sp>
            <p:sp>
              <p:nvSpPr>
                <p:cNvPr id="551958" name="Line 22"/>
                <p:cNvSpPr>
                  <a:spLocks noChangeShapeType="1"/>
                </p:cNvSpPr>
                <p:nvPr/>
              </p:nvSpPr>
              <p:spPr bwMode="auto">
                <a:xfrm flipH="1">
                  <a:off x="3936" y="1728"/>
                  <a:ext cx="288" cy="432"/>
                </a:xfrm>
                <a:prstGeom prst="line">
                  <a:avLst/>
                </a:prstGeom>
                <a:noFill/>
                <a:ln w="9525">
                  <a:solidFill>
                    <a:schemeClr val="tx1"/>
                  </a:solidFill>
                  <a:round/>
                  <a:headEnd/>
                  <a:tailEnd/>
                </a:ln>
                <a:effectLst/>
              </p:spPr>
              <p:txBody>
                <a:bodyPr wrap="none" anchor="ctr"/>
                <a:lstStyle/>
                <a:p>
                  <a:endParaRPr lang="zh-CN" altLang="en-US"/>
                </a:p>
              </p:txBody>
            </p:sp>
            <p:sp>
              <p:nvSpPr>
                <p:cNvPr id="551959" name="Line 23"/>
                <p:cNvSpPr>
                  <a:spLocks noChangeShapeType="1"/>
                </p:cNvSpPr>
                <p:nvPr/>
              </p:nvSpPr>
              <p:spPr bwMode="auto">
                <a:xfrm flipH="1">
                  <a:off x="4080" y="1824"/>
                  <a:ext cx="240" cy="336"/>
                </a:xfrm>
                <a:prstGeom prst="line">
                  <a:avLst/>
                </a:prstGeom>
                <a:noFill/>
                <a:ln w="9525">
                  <a:solidFill>
                    <a:schemeClr val="tx1"/>
                  </a:solidFill>
                  <a:round/>
                  <a:headEnd/>
                  <a:tailEnd/>
                </a:ln>
                <a:effectLst/>
              </p:spPr>
              <p:txBody>
                <a:bodyPr wrap="none" anchor="ctr"/>
                <a:lstStyle/>
                <a:p>
                  <a:endParaRPr lang="zh-CN" altLang="en-US"/>
                </a:p>
              </p:txBody>
            </p:sp>
            <p:sp>
              <p:nvSpPr>
                <p:cNvPr id="551960" name="Line 24"/>
                <p:cNvSpPr>
                  <a:spLocks noChangeShapeType="1"/>
                </p:cNvSpPr>
                <p:nvPr/>
              </p:nvSpPr>
              <p:spPr bwMode="auto">
                <a:xfrm flipH="1">
                  <a:off x="4224" y="1920"/>
                  <a:ext cx="192" cy="240"/>
                </a:xfrm>
                <a:prstGeom prst="line">
                  <a:avLst/>
                </a:prstGeom>
                <a:noFill/>
                <a:ln w="9525">
                  <a:solidFill>
                    <a:schemeClr val="tx1"/>
                  </a:solidFill>
                  <a:round/>
                  <a:headEnd/>
                  <a:tailEnd/>
                </a:ln>
                <a:effectLst/>
              </p:spPr>
              <p:txBody>
                <a:bodyPr wrap="none" anchor="ctr"/>
                <a:lstStyle/>
                <a:p>
                  <a:endParaRPr lang="zh-CN" altLang="en-US"/>
                </a:p>
              </p:txBody>
            </p:sp>
            <p:sp>
              <p:nvSpPr>
                <p:cNvPr id="551961" name="Line 25"/>
                <p:cNvSpPr>
                  <a:spLocks noChangeShapeType="1"/>
                </p:cNvSpPr>
                <p:nvPr/>
              </p:nvSpPr>
              <p:spPr bwMode="auto">
                <a:xfrm flipH="1">
                  <a:off x="4368" y="1968"/>
                  <a:ext cx="144" cy="192"/>
                </a:xfrm>
                <a:prstGeom prst="line">
                  <a:avLst/>
                </a:prstGeom>
                <a:noFill/>
                <a:ln w="9525">
                  <a:solidFill>
                    <a:schemeClr val="tx1"/>
                  </a:solidFill>
                  <a:round/>
                  <a:headEnd/>
                  <a:tailEnd/>
                </a:ln>
                <a:effectLst/>
              </p:spPr>
              <p:txBody>
                <a:bodyPr wrap="none" anchor="ctr"/>
                <a:lstStyle/>
                <a:p>
                  <a:endParaRPr lang="zh-CN" altLang="en-US"/>
                </a:p>
              </p:txBody>
            </p:sp>
            <p:sp>
              <p:nvSpPr>
                <p:cNvPr id="551962" name="Line 26"/>
                <p:cNvSpPr>
                  <a:spLocks noChangeShapeType="1"/>
                </p:cNvSpPr>
                <p:nvPr/>
              </p:nvSpPr>
              <p:spPr bwMode="auto">
                <a:xfrm flipH="1">
                  <a:off x="4512" y="2016"/>
                  <a:ext cx="96" cy="144"/>
                </a:xfrm>
                <a:prstGeom prst="line">
                  <a:avLst/>
                </a:prstGeom>
                <a:noFill/>
                <a:ln w="9525">
                  <a:solidFill>
                    <a:schemeClr val="tx1"/>
                  </a:solidFill>
                  <a:round/>
                  <a:headEnd/>
                  <a:tailEnd/>
                </a:ln>
                <a:effectLst/>
              </p:spPr>
              <p:txBody>
                <a:bodyPr wrap="none" anchor="ctr"/>
                <a:lstStyle/>
                <a:p>
                  <a:endParaRPr lang="zh-CN" altLang="en-US"/>
                </a:p>
              </p:txBody>
            </p:sp>
          </p:grpSp>
          <p:sp>
            <p:nvSpPr>
              <p:cNvPr id="551963" name="Text Box 27"/>
              <p:cNvSpPr txBox="1">
                <a:spLocks noChangeArrowheads="1"/>
              </p:cNvSpPr>
              <p:nvPr/>
            </p:nvSpPr>
            <p:spPr bwMode="auto">
              <a:xfrm>
                <a:off x="4392" y="2067"/>
                <a:ext cx="432" cy="365"/>
              </a:xfrm>
              <a:prstGeom prst="rect">
                <a:avLst/>
              </a:prstGeom>
              <a:noFill/>
              <a:ln w="9525">
                <a:noFill/>
                <a:miter lim="800000"/>
                <a:headEnd/>
                <a:tailEnd/>
              </a:ln>
              <a:effectLst/>
            </p:spPr>
            <p:txBody>
              <a:bodyPr>
                <a:spAutoFit/>
              </a:bodyPr>
              <a:lstStyle/>
              <a:p>
                <a:pPr>
                  <a:spcBef>
                    <a:spcPct val="50000"/>
                  </a:spcBef>
                </a:pPr>
                <a:r>
                  <a:rPr kumimoji="1" lang="en-US" altLang="zh-CN" sz="3200" b="1" i="1">
                    <a:latin typeface="Book Antiqua" pitchFamily="18" charset="0"/>
                  </a:rPr>
                  <a:t>v</a:t>
                </a:r>
                <a:r>
                  <a:rPr kumimoji="1" lang="en-US" altLang="zh-CN" sz="3200" b="1" baseline="-25000">
                    <a:latin typeface="Book Antiqua" pitchFamily="18" charset="0"/>
                  </a:rPr>
                  <a:t>2</a:t>
                </a:r>
              </a:p>
            </p:txBody>
          </p:sp>
          <p:sp>
            <p:nvSpPr>
              <p:cNvPr id="551964" name="Rectangle 28"/>
              <p:cNvSpPr>
                <a:spLocks noChangeArrowheads="1"/>
              </p:cNvSpPr>
              <p:nvPr/>
            </p:nvSpPr>
            <p:spPr bwMode="auto">
              <a:xfrm>
                <a:off x="3528" y="2067"/>
                <a:ext cx="342" cy="365"/>
              </a:xfrm>
              <a:prstGeom prst="rect">
                <a:avLst/>
              </a:prstGeom>
              <a:noFill/>
              <a:ln w="9525">
                <a:noFill/>
                <a:miter lim="800000"/>
                <a:headEnd/>
                <a:tailEnd/>
              </a:ln>
              <a:effectLst/>
            </p:spPr>
            <p:txBody>
              <a:bodyPr wrap="none">
                <a:spAutoFit/>
              </a:bodyPr>
              <a:lstStyle/>
              <a:p>
                <a:r>
                  <a:rPr kumimoji="1" lang="en-US" altLang="zh-CN" sz="3200" b="1" i="1">
                    <a:latin typeface="Book Antiqua" pitchFamily="18" charset="0"/>
                  </a:rPr>
                  <a:t>v</a:t>
                </a:r>
                <a:r>
                  <a:rPr kumimoji="1" lang="en-US" altLang="zh-CN" sz="3200" b="1" baseline="-25000">
                    <a:latin typeface="Book Antiqua" pitchFamily="18" charset="0"/>
                  </a:rPr>
                  <a:t>1</a:t>
                </a:r>
              </a:p>
            </p:txBody>
          </p:sp>
        </p:grpSp>
      </p:grpSp>
      <p:sp>
        <p:nvSpPr>
          <p:cNvPr id="551965" name="Text Box 29"/>
          <p:cNvSpPr txBox="1">
            <a:spLocks noChangeArrowheads="1"/>
          </p:cNvSpPr>
          <p:nvPr/>
        </p:nvSpPr>
        <p:spPr bwMode="auto">
          <a:xfrm>
            <a:off x="285750" y="4597400"/>
            <a:ext cx="8782050" cy="1117600"/>
          </a:xfrm>
          <a:prstGeom prst="rect">
            <a:avLst/>
          </a:prstGeom>
          <a:noFill/>
          <a:ln w="9525">
            <a:noFill/>
            <a:miter lim="800000"/>
            <a:headEnd/>
            <a:tailEnd/>
          </a:ln>
          <a:effectLst/>
        </p:spPr>
        <p:txBody>
          <a:bodyPr>
            <a:spAutoFit/>
          </a:bodyPr>
          <a:lstStyle/>
          <a:p>
            <a:pPr>
              <a:lnSpc>
                <a:spcPct val="120000"/>
              </a:lnSpc>
              <a:spcBef>
                <a:spcPct val="50000"/>
              </a:spcBef>
            </a:pPr>
            <a:r>
              <a:rPr kumimoji="1" lang="zh-CN" altLang="en-US" sz="2800" dirty="0"/>
              <a:t>在麦克斯韦速率分布曲线下的任意一块</a:t>
            </a:r>
            <a:r>
              <a:rPr kumimoji="1" lang="zh-CN" altLang="en-US" sz="2800" dirty="0">
                <a:solidFill>
                  <a:srgbClr val="0000CC"/>
                </a:solidFill>
              </a:rPr>
              <a:t>面积</a:t>
            </a:r>
            <a:r>
              <a:rPr kumimoji="1" lang="zh-CN" altLang="en-US" sz="2800" dirty="0"/>
              <a:t>在</a:t>
            </a:r>
            <a:r>
              <a:rPr kumimoji="1" lang="zh-CN" altLang="en-US" sz="2800" dirty="0">
                <a:solidFill>
                  <a:srgbClr val="0000CC"/>
                </a:solidFill>
              </a:rPr>
              <a:t>数值</a:t>
            </a:r>
            <a:r>
              <a:rPr kumimoji="1" lang="zh-CN" altLang="en-US" sz="2800" dirty="0"/>
              <a:t>上等于</a:t>
            </a:r>
            <a:r>
              <a:rPr kumimoji="1" lang="zh-CN" altLang="en-US" sz="2800" dirty="0">
                <a:solidFill>
                  <a:srgbClr val="0000CC"/>
                </a:solidFill>
              </a:rPr>
              <a:t>相应速率区间</a:t>
            </a:r>
            <a:r>
              <a:rPr kumimoji="1" lang="zh-CN" altLang="en-US" sz="2800" dirty="0"/>
              <a:t>内分子数占总分子数的百分比。</a:t>
            </a:r>
          </a:p>
        </p:txBody>
      </p:sp>
      <p:sp>
        <p:nvSpPr>
          <p:cNvPr id="551966" name="Rectangle 30"/>
          <p:cNvSpPr>
            <a:spLocks noChangeArrowheads="1"/>
          </p:cNvSpPr>
          <p:nvPr/>
        </p:nvSpPr>
        <p:spPr bwMode="auto">
          <a:xfrm>
            <a:off x="396875" y="5735637"/>
            <a:ext cx="2317750" cy="519112"/>
          </a:xfrm>
          <a:prstGeom prst="rect">
            <a:avLst/>
          </a:prstGeom>
          <a:noFill/>
          <a:ln w="9525">
            <a:noFill/>
            <a:miter lim="800000"/>
            <a:headEnd/>
            <a:tailEnd/>
          </a:ln>
          <a:effectLst/>
        </p:spPr>
        <p:txBody>
          <a:bodyPr wrap="none">
            <a:spAutoFit/>
          </a:bodyPr>
          <a:lstStyle/>
          <a:p>
            <a:r>
              <a:rPr kumimoji="1" lang="zh-CN" altLang="en-US" sz="2800" dirty="0">
                <a:solidFill>
                  <a:srgbClr val="0000CC"/>
                </a:solidFill>
              </a:rPr>
              <a:t>归一化条件：</a:t>
            </a:r>
          </a:p>
        </p:txBody>
      </p:sp>
      <p:graphicFrame>
        <p:nvGraphicFramePr>
          <p:cNvPr id="551967" name="Object 31"/>
          <p:cNvGraphicFramePr>
            <a:graphicFrameLocks noChangeAspect="1"/>
          </p:cNvGraphicFramePr>
          <p:nvPr/>
        </p:nvGraphicFramePr>
        <p:xfrm>
          <a:off x="2971800" y="5665787"/>
          <a:ext cx="1755775" cy="658813"/>
        </p:xfrm>
        <a:graphic>
          <a:graphicData uri="http://schemas.openxmlformats.org/presentationml/2006/ole">
            <mc:AlternateContent xmlns:mc="http://schemas.openxmlformats.org/markup-compatibility/2006">
              <mc:Choice xmlns:v="urn:schemas-microsoft-com:vml" Requires="v">
                <p:oleObj name="公式" r:id="rId5" imgW="850680" imgH="330120" progId="Equation.3">
                  <p:embed/>
                </p:oleObj>
              </mc:Choice>
              <mc:Fallback>
                <p:oleObj name="公式" r:id="rId5" imgW="850680" imgH="330120" progId="Equation.3">
                  <p:embed/>
                  <p:pic>
                    <p:nvPicPr>
                      <p:cNvPr id="551967"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5665787"/>
                        <a:ext cx="1755775" cy="658813"/>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51940"/>
                                        </p:tgtEl>
                                        <p:attrNameLst>
                                          <p:attrName>style.visibility</p:attrName>
                                        </p:attrNameLst>
                                      </p:cBhvr>
                                      <p:to>
                                        <p:strVal val="visible"/>
                                      </p:to>
                                    </p:set>
                                    <p:animEffect transition="in" filter="box(out)">
                                      <p:cBhvr>
                                        <p:cTn id="7" dur="500"/>
                                        <p:tgtEl>
                                          <p:spTgt spid="5519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1941"/>
                                        </p:tgtEl>
                                        <p:attrNameLst>
                                          <p:attrName>style.visibility</p:attrName>
                                        </p:attrNameLst>
                                      </p:cBhvr>
                                      <p:to>
                                        <p:strVal val="visible"/>
                                      </p:to>
                                    </p:set>
                                    <p:animEffect transition="in" filter="blinds(horizontal)">
                                      <p:cBhvr>
                                        <p:cTn id="12" dur="500"/>
                                        <p:tgtEl>
                                          <p:spTgt spid="55194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51965"/>
                                        </p:tgtEl>
                                        <p:attrNameLst>
                                          <p:attrName>style.visibility</p:attrName>
                                        </p:attrNameLst>
                                      </p:cBhvr>
                                      <p:to>
                                        <p:strVal val="visible"/>
                                      </p:to>
                                    </p:set>
                                    <p:animEffect transition="in" filter="box(out)">
                                      <p:cBhvr>
                                        <p:cTn id="17" dur="500"/>
                                        <p:tgtEl>
                                          <p:spTgt spid="55196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551966"/>
                                        </p:tgtEl>
                                        <p:attrNameLst>
                                          <p:attrName>style.visibility</p:attrName>
                                        </p:attrNameLst>
                                      </p:cBhvr>
                                      <p:to>
                                        <p:strVal val="visible"/>
                                      </p:to>
                                    </p:set>
                                    <p:anim calcmode="lin" valueType="num">
                                      <p:cBhvr additive="base">
                                        <p:cTn id="22" dur="500" fill="hold"/>
                                        <p:tgtEl>
                                          <p:spTgt spid="551966"/>
                                        </p:tgtEl>
                                        <p:attrNameLst>
                                          <p:attrName>ppt_x</p:attrName>
                                        </p:attrNameLst>
                                      </p:cBhvr>
                                      <p:tavLst>
                                        <p:tav tm="0">
                                          <p:val>
                                            <p:strVal val="0-#ppt_w/2"/>
                                          </p:val>
                                        </p:tav>
                                        <p:tav tm="100000">
                                          <p:val>
                                            <p:strVal val="#ppt_x"/>
                                          </p:val>
                                        </p:tav>
                                      </p:tavLst>
                                    </p:anim>
                                    <p:anim calcmode="lin" valueType="num">
                                      <p:cBhvr additive="base">
                                        <p:cTn id="23" dur="500" fill="hold"/>
                                        <p:tgtEl>
                                          <p:spTgt spid="55196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551967"/>
                                        </p:tgtEl>
                                        <p:attrNameLst>
                                          <p:attrName>style.visibility</p:attrName>
                                        </p:attrNameLst>
                                      </p:cBhvr>
                                      <p:to>
                                        <p:strVal val="visible"/>
                                      </p:to>
                                    </p:set>
                                    <p:animEffect transition="in" filter="box(out)">
                                      <p:cBhvr>
                                        <p:cTn id="28" dur="500"/>
                                        <p:tgtEl>
                                          <p:spTgt spid="551967"/>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65" grpId="0" autoUpdateAnimBg="0"/>
      <p:bldP spid="55196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p:txBody>
          <a:bodyPr/>
          <a:lstStyle/>
          <a:p>
            <a:r>
              <a:rPr lang="en-US" altLang="zh-CN"/>
              <a:t>10.4 </a:t>
            </a:r>
            <a:r>
              <a:rPr lang="zh-CN" altLang="en-US"/>
              <a:t>麦克斯韦速率分布</a:t>
            </a:r>
          </a:p>
        </p:txBody>
      </p:sp>
      <p:sp>
        <p:nvSpPr>
          <p:cNvPr id="28" name="灯片编号占位符 4"/>
          <p:cNvSpPr>
            <a:spLocks noGrp="1"/>
          </p:cNvSpPr>
          <p:nvPr>
            <p:ph type="sldNum" sz="quarter" idx="12"/>
          </p:nvPr>
        </p:nvSpPr>
        <p:spPr/>
        <p:txBody>
          <a:bodyPr/>
          <a:lstStyle/>
          <a:p>
            <a:fld id="{275BC0C1-24A0-4857-AB71-F1794D067371}" type="slidenum">
              <a:rPr lang="en-US" altLang="zh-CN"/>
              <a:pPr/>
              <a:t>44</a:t>
            </a:fld>
            <a:endParaRPr lang="en-US" altLang="zh-CN"/>
          </a:p>
        </p:txBody>
      </p:sp>
      <p:sp>
        <p:nvSpPr>
          <p:cNvPr id="550915" name="Rectangle 3"/>
          <p:cNvSpPr>
            <a:spLocks noChangeArrowheads="1"/>
          </p:cNvSpPr>
          <p:nvPr/>
        </p:nvSpPr>
        <p:spPr bwMode="auto">
          <a:xfrm>
            <a:off x="519113" y="1219200"/>
            <a:ext cx="1538287" cy="457200"/>
          </a:xfrm>
          <a:prstGeom prst="rect">
            <a:avLst/>
          </a:prstGeom>
          <a:solidFill>
            <a:srgbClr val="CCFFCC">
              <a:alpha val="80000"/>
            </a:srgbClr>
          </a:solidFill>
          <a:ln w="9525">
            <a:noFill/>
            <a:miter lim="800000"/>
            <a:headEnd/>
            <a:tailEnd/>
          </a:ln>
          <a:effectLst/>
        </p:spPr>
        <p:txBody>
          <a:bodyPr wrap="none" anchor="ctr">
            <a:spAutoFit/>
          </a:bodyPr>
          <a:lstStyle/>
          <a:p>
            <a:r>
              <a:rPr lang="en-US" altLang="zh-CN" sz="2400" i="1"/>
              <a:t>f</a:t>
            </a:r>
            <a:r>
              <a:rPr lang="en-US" altLang="zh-CN" sz="2400"/>
              <a:t>(</a:t>
            </a:r>
            <a:r>
              <a:rPr lang="en-US" altLang="zh-CN" sz="2400" i="1">
                <a:latin typeface="Book Antiqua" pitchFamily="18" charset="0"/>
              </a:rPr>
              <a:t>v</a:t>
            </a:r>
            <a:r>
              <a:rPr lang="en-US" altLang="zh-CN" sz="2400"/>
              <a:t>)</a:t>
            </a:r>
            <a:r>
              <a:rPr lang="zh-CN" altLang="en-US" sz="2400"/>
              <a:t>的性质</a:t>
            </a:r>
          </a:p>
        </p:txBody>
      </p:sp>
      <p:sp>
        <p:nvSpPr>
          <p:cNvPr id="550916" name="Text Box 4"/>
          <p:cNvSpPr txBox="1">
            <a:spLocks noChangeArrowheads="1"/>
          </p:cNvSpPr>
          <p:nvPr/>
        </p:nvSpPr>
        <p:spPr bwMode="auto">
          <a:xfrm>
            <a:off x="457200" y="1690688"/>
            <a:ext cx="6781800" cy="519112"/>
          </a:xfrm>
          <a:prstGeom prst="rect">
            <a:avLst/>
          </a:prstGeom>
          <a:noFill/>
          <a:ln w="9525">
            <a:noFill/>
            <a:miter lim="800000"/>
            <a:headEnd/>
            <a:tailEnd/>
          </a:ln>
          <a:effectLst/>
        </p:spPr>
        <p:txBody>
          <a:bodyPr>
            <a:spAutoFit/>
          </a:bodyPr>
          <a:lstStyle/>
          <a:p>
            <a:pPr>
              <a:spcBef>
                <a:spcPct val="50000"/>
              </a:spcBef>
            </a:pPr>
            <a:r>
              <a:rPr kumimoji="1" lang="en-US" altLang="zh-CN" sz="2800"/>
              <a:t>1</a:t>
            </a:r>
            <a:r>
              <a:rPr kumimoji="1" lang="zh-CN" altLang="en-US" sz="2800"/>
              <a:t>）存在最可几速率（</a:t>
            </a:r>
            <a:r>
              <a:rPr kumimoji="1" lang="zh-CN" altLang="zh-CN" sz="2800"/>
              <a:t>最概然速率</a:t>
            </a:r>
            <a:r>
              <a:rPr kumimoji="1" lang="zh-CN" altLang="en-US" sz="2800"/>
              <a:t>）</a:t>
            </a:r>
            <a:r>
              <a:rPr kumimoji="1" lang="en-US" altLang="zh-CN" sz="2800" i="1">
                <a:latin typeface="Book Antiqua" pitchFamily="18" charset="0"/>
              </a:rPr>
              <a:t>v</a:t>
            </a:r>
            <a:r>
              <a:rPr kumimoji="1" lang="en-US" altLang="zh-CN" sz="2800" i="1" baseline="-25000"/>
              <a:t>p</a:t>
            </a:r>
          </a:p>
        </p:txBody>
      </p:sp>
      <p:sp>
        <p:nvSpPr>
          <p:cNvPr id="550917" name="Text Box 5"/>
          <p:cNvSpPr txBox="1">
            <a:spLocks noChangeArrowheads="1"/>
          </p:cNvSpPr>
          <p:nvPr/>
        </p:nvSpPr>
        <p:spPr bwMode="auto">
          <a:xfrm>
            <a:off x="457200" y="2332038"/>
            <a:ext cx="7343775" cy="519112"/>
          </a:xfrm>
          <a:prstGeom prst="rect">
            <a:avLst/>
          </a:prstGeom>
          <a:noFill/>
          <a:ln w="9525" algn="ctr">
            <a:noFill/>
            <a:miter lim="800000"/>
            <a:headEnd/>
            <a:tailEnd/>
          </a:ln>
          <a:effectLst/>
        </p:spPr>
        <p:txBody>
          <a:bodyPr>
            <a:spAutoFit/>
          </a:bodyPr>
          <a:lstStyle/>
          <a:p>
            <a:pPr>
              <a:spcBef>
                <a:spcPct val="50000"/>
              </a:spcBef>
            </a:pPr>
            <a:r>
              <a:rPr kumimoji="1" lang="en-US" altLang="zh-CN" sz="2800"/>
              <a:t>2</a:t>
            </a:r>
            <a:r>
              <a:rPr kumimoji="1" lang="zh-CN" altLang="en-US" sz="2800"/>
              <a:t>）</a:t>
            </a:r>
            <a:r>
              <a:rPr kumimoji="1" lang="en-US" altLang="zh-CN" sz="2800" i="1"/>
              <a:t>T</a:t>
            </a:r>
            <a:r>
              <a:rPr kumimoji="1" lang="zh-CN" altLang="en-US" sz="2800"/>
              <a:t>增大，速率大的分子数增多，</a:t>
            </a:r>
            <a:r>
              <a:rPr kumimoji="1" lang="en-US" altLang="zh-CN" sz="2800" i="1">
                <a:latin typeface="Book Antiqua" pitchFamily="18" charset="0"/>
              </a:rPr>
              <a:t>v</a:t>
            </a:r>
            <a:r>
              <a:rPr kumimoji="1" lang="en-US" altLang="zh-CN" sz="2800" i="1" baseline="-25000"/>
              <a:t>p</a:t>
            </a:r>
            <a:r>
              <a:rPr kumimoji="1" lang="zh-CN" altLang="en-US" sz="2800"/>
              <a:t>增大</a:t>
            </a:r>
          </a:p>
        </p:txBody>
      </p:sp>
      <p:grpSp>
        <p:nvGrpSpPr>
          <p:cNvPr id="550918" name="Group 6"/>
          <p:cNvGrpSpPr>
            <a:grpSpLocks/>
          </p:cNvGrpSpPr>
          <p:nvPr/>
        </p:nvGrpSpPr>
        <p:grpSpPr bwMode="auto">
          <a:xfrm>
            <a:off x="457200" y="2892425"/>
            <a:ext cx="6211888" cy="841375"/>
            <a:chOff x="249" y="1570"/>
            <a:chExt cx="3452" cy="530"/>
          </a:xfrm>
        </p:grpSpPr>
        <p:sp>
          <p:nvSpPr>
            <p:cNvPr id="550919" name="Rectangle 7"/>
            <p:cNvSpPr>
              <a:spLocks noChangeArrowheads="1"/>
            </p:cNvSpPr>
            <p:nvPr/>
          </p:nvSpPr>
          <p:spPr bwMode="auto">
            <a:xfrm>
              <a:off x="249" y="1661"/>
              <a:ext cx="2631" cy="327"/>
            </a:xfrm>
            <a:prstGeom prst="rect">
              <a:avLst/>
            </a:prstGeom>
            <a:noFill/>
            <a:ln w="9525" algn="ctr">
              <a:noFill/>
              <a:miter lim="800000"/>
              <a:headEnd/>
              <a:tailEnd/>
            </a:ln>
            <a:effectLst/>
          </p:spPr>
          <p:txBody>
            <a:bodyPr>
              <a:spAutoFit/>
            </a:bodyPr>
            <a:lstStyle/>
            <a:p>
              <a:pPr>
                <a:spcBef>
                  <a:spcPct val="50000"/>
                </a:spcBef>
              </a:pPr>
              <a:r>
                <a:rPr kumimoji="1" lang="en-US" altLang="zh-CN" sz="2800"/>
                <a:t>3</a:t>
              </a:r>
              <a:r>
                <a:rPr kumimoji="1" lang="zh-CN" altLang="en-US" sz="2800"/>
                <a:t>）</a:t>
              </a:r>
              <a:r>
                <a:rPr kumimoji="1" lang="en-US" altLang="zh-CN" sz="2800" i="1"/>
                <a:t>f</a:t>
              </a:r>
              <a:r>
                <a:rPr kumimoji="1" lang="en-US" altLang="zh-CN" sz="2800"/>
                <a:t>(</a:t>
              </a:r>
              <a:r>
                <a:rPr kumimoji="1" lang="en-US" altLang="zh-CN" sz="2800" i="1">
                  <a:latin typeface="Book Antiqua" pitchFamily="18" charset="0"/>
                </a:rPr>
                <a:t>v</a:t>
              </a:r>
              <a:r>
                <a:rPr kumimoji="1" lang="en-US" altLang="zh-CN" sz="2800"/>
                <a:t>)</a:t>
              </a:r>
              <a:r>
                <a:rPr kumimoji="1" lang="zh-CN" altLang="en-US" sz="2800"/>
                <a:t>满足归一化条件： </a:t>
              </a:r>
            </a:p>
          </p:txBody>
        </p:sp>
        <p:graphicFrame>
          <p:nvGraphicFramePr>
            <p:cNvPr id="550920" name="Object 8"/>
            <p:cNvGraphicFramePr>
              <a:graphicFrameLocks noChangeAspect="1"/>
            </p:cNvGraphicFramePr>
            <p:nvPr/>
          </p:nvGraphicFramePr>
          <p:xfrm>
            <a:off x="2331" y="1570"/>
            <a:ext cx="1370" cy="530"/>
          </p:xfrm>
          <a:graphic>
            <a:graphicData uri="http://schemas.openxmlformats.org/presentationml/2006/ole">
              <mc:AlternateContent xmlns:mc="http://schemas.openxmlformats.org/markup-compatibility/2006">
                <mc:Choice xmlns:v="urn:schemas-microsoft-com:vml" Requires="v">
                  <p:oleObj name="公式" r:id="rId2" imgW="863280" imgH="330120" progId="Equation.3">
                    <p:embed/>
                  </p:oleObj>
                </mc:Choice>
                <mc:Fallback>
                  <p:oleObj name="公式" r:id="rId2" imgW="863280" imgH="330120" progId="Equation.3">
                    <p:embed/>
                    <p:pic>
                      <p:nvPicPr>
                        <p:cNvPr id="55092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 y="1570"/>
                          <a:ext cx="1370" cy="5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50921" name="Group 9"/>
          <p:cNvGrpSpPr>
            <a:grpSpLocks/>
          </p:cNvGrpSpPr>
          <p:nvPr/>
        </p:nvGrpSpPr>
        <p:grpSpPr bwMode="auto">
          <a:xfrm>
            <a:off x="2527300" y="3657600"/>
            <a:ext cx="4117975" cy="2730500"/>
            <a:chOff x="1687" y="2235"/>
            <a:chExt cx="2594" cy="1720"/>
          </a:xfrm>
        </p:grpSpPr>
        <p:grpSp>
          <p:nvGrpSpPr>
            <p:cNvPr id="550922" name="Group 10"/>
            <p:cNvGrpSpPr>
              <a:grpSpLocks/>
            </p:cNvGrpSpPr>
            <p:nvPr/>
          </p:nvGrpSpPr>
          <p:grpSpPr bwMode="auto">
            <a:xfrm>
              <a:off x="1687" y="2246"/>
              <a:ext cx="2594" cy="1709"/>
              <a:chOff x="1687" y="2246"/>
              <a:chExt cx="2594" cy="1709"/>
            </a:xfrm>
          </p:grpSpPr>
          <p:sp>
            <p:nvSpPr>
              <p:cNvPr id="550923" name="Line 11"/>
              <p:cNvSpPr>
                <a:spLocks noChangeShapeType="1"/>
              </p:cNvSpPr>
              <p:nvPr/>
            </p:nvSpPr>
            <p:spPr bwMode="auto">
              <a:xfrm>
                <a:off x="1808" y="3678"/>
                <a:ext cx="2257" cy="0"/>
              </a:xfrm>
              <a:prstGeom prst="line">
                <a:avLst/>
              </a:prstGeom>
              <a:noFill/>
              <a:ln w="19050">
                <a:solidFill>
                  <a:srgbClr val="000066"/>
                </a:solidFill>
                <a:round/>
                <a:headEnd type="none" w="sm" len="sm"/>
                <a:tailEnd type="triangle" w="sm" len="lg"/>
              </a:ln>
              <a:effectLst/>
            </p:spPr>
            <p:txBody>
              <a:bodyPr/>
              <a:lstStyle/>
              <a:p>
                <a:endParaRPr lang="zh-CN" altLang="en-US"/>
              </a:p>
            </p:txBody>
          </p:sp>
          <p:sp>
            <p:nvSpPr>
              <p:cNvPr id="550924" name="Line 12"/>
              <p:cNvSpPr>
                <a:spLocks noChangeShapeType="1"/>
              </p:cNvSpPr>
              <p:nvPr/>
            </p:nvSpPr>
            <p:spPr bwMode="auto">
              <a:xfrm flipV="1">
                <a:off x="1808" y="2259"/>
                <a:ext cx="2" cy="1419"/>
              </a:xfrm>
              <a:prstGeom prst="line">
                <a:avLst/>
              </a:prstGeom>
              <a:noFill/>
              <a:ln w="19050">
                <a:solidFill>
                  <a:srgbClr val="000066"/>
                </a:solidFill>
                <a:round/>
                <a:headEnd type="none" w="sm" len="sm"/>
                <a:tailEnd type="triangle" w="sm" len="lg"/>
              </a:ln>
              <a:effectLst/>
            </p:spPr>
            <p:txBody>
              <a:bodyPr/>
              <a:lstStyle/>
              <a:p>
                <a:endParaRPr lang="zh-CN" altLang="en-US"/>
              </a:p>
            </p:txBody>
          </p:sp>
          <p:sp>
            <p:nvSpPr>
              <p:cNvPr id="550925" name="Rectangle 13"/>
              <p:cNvSpPr>
                <a:spLocks noChangeArrowheads="1"/>
              </p:cNvSpPr>
              <p:nvPr/>
            </p:nvSpPr>
            <p:spPr bwMode="auto">
              <a:xfrm>
                <a:off x="1823" y="2246"/>
                <a:ext cx="377" cy="327"/>
              </a:xfrm>
              <a:prstGeom prst="rect">
                <a:avLst/>
              </a:prstGeom>
              <a:noFill/>
              <a:ln w="19050">
                <a:noFill/>
                <a:miter lim="800000"/>
                <a:headEnd/>
                <a:tailEnd/>
              </a:ln>
              <a:effectLst/>
            </p:spPr>
            <p:txBody>
              <a:bodyPr lIns="12700" tIns="12700" rIns="12700" bIns="12700"/>
              <a:lstStyle/>
              <a:p>
                <a:pPr algn="just"/>
                <a:r>
                  <a:rPr kumimoji="1" lang="en-US" altLang="zh-CN" sz="2400" i="1" dirty="0"/>
                  <a:t> f</a:t>
                </a:r>
                <a:endParaRPr kumimoji="1" lang="en-US" altLang="zh-CN" sz="2400" dirty="0"/>
              </a:p>
            </p:txBody>
          </p:sp>
          <p:sp>
            <p:nvSpPr>
              <p:cNvPr id="550926" name="Rectangle 14"/>
              <p:cNvSpPr>
                <a:spLocks noChangeArrowheads="1"/>
              </p:cNvSpPr>
              <p:nvPr/>
            </p:nvSpPr>
            <p:spPr bwMode="auto">
              <a:xfrm>
                <a:off x="1687" y="3631"/>
                <a:ext cx="378" cy="237"/>
              </a:xfrm>
              <a:prstGeom prst="rect">
                <a:avLst/>
              </a:prstGeom>
              <a:noFill/>
              <a:ln w="19050">
                <a:noFill/>
                <a:miter lim="800000"/>
                <a:headEnd/>
                <a:tailEnd/>
              </a:ln>
              <a:effectLst/>
            </p:spPr>
            <p:txBody>
              <a:bodyPr lIns="12700" tIns="12700" rIns="12700" bIns="12700"/>
              <a:lstStyle/>
              <a:p>
                <a:pPr algn="just"/>
                <a:r>
                  <a:rPr kumimoji="1" lang="en-US" altLang="zh-CN" sz="2400"/>
                  <a:t>O </a:t>
                </a:r>
              </a:p>
            </p:txBody>
          </p:sp>
          <p:sp>
            <p:nvSpPr>
              <p:cNvPr id="550927" name="Rectangle 15"/>
              <p:cNvSpPr>
                <a:spLocks noChangeArrowheads="1"/>
              </p:cNvSpPr>
              <p:nvPr/>
            </p:nvSpPr>
            <p:spPr bwMode="auto">
              <a:xfrm>
                <a:off x="4074" y="3623"/>
                <a:ext cx="207" cy="227"/>
              </a:xfrm>
              <a:prstGeom prst="rect">
                <a:avLst/>
              </a:prstGeom>
              <a:noFill/>
              <a:ln w="19050">
                <a:noFill/>
                <a:miter lim="800000"/>
                <a:headEnd/>
                <a:tailEnd/>
              </a:ln>
              <a:effectLst/>
            </p:spPr>
            <p:txBody>
              <a:bodyPr lIns="12700" tIns="12700" rIns="12700" bIns="12700"/>
              <a:lstStyle/>
              <a:p>
                <a:pPr algn="just"/>
                <a:r>
                  <a:rPr kumimoji="1" lang="en-US" altLang="zh-CN" sz="2400" i="1" dirty="0">
                    <a:latin typeface="Book Antiqua" pitchFamily="18" charset="0"/>
                  </a:rPr>
                  <a:t>v</a:t>
                </a:r>
                <a:r>
                  <a:rPr kumimoji="1" lang="en-US" altLang="zh-CN" sz="2400" i="1" dirty="0"/>
                  <a:t> </a:t>
                </a:r>
                <a:endParaRPr kumimoji="1" lang="en-US" altLang="zh-CN" sz="2400" dirty="0"/>
              </a:p>
            </p:txBody>
          </p:sp>
          <p:sp>
            <p:nvSpPr>
              <p:cNvPr id="550928" name="Rectangle 16"/>
              <p:cNvSpPr>
                <a:spLocks noChangeArrowheads="1"/>
              </p:cNvSpPr>
              <p:nvPr/>
            </p:nvSpPr>
            <p:spPr bwMode="auto">
              <a:xfrm>
                <a:off x="2323" y="3641"/>
                <a:ext cx="377" cy="314"/>
              </a:xfrm>
              <a:prstGeom prst="rect">
                <a:avLst/>
              </a:prstGeom>
              <a:noFill/>
              <a:ln w="19050">
                <a:noFill/>
                <a:miter lim="800000"/>
                <a:headEnd/>
                <a:tailEnd/>
              </a:ln>
              <a:effectLst/>
            </p:spPr>
            <p:txBody>
              <a:bodyPr lIns="12700" tIns="12700" rIns="12700" bIns="12700"/>
              <a:lstStyle/>
              <a:p>
                <a:pPr algn="just"/>
                <a:r>
                  <a:rPr kumimoji="1" lang="en-US" altLang="zh-CN" sz="2400" i="1" dirty="0">
                    <a:latin typeface="Book Antiqua" pitchFamily="18" charset="0"/>
                  </a:rPr>
                  <a:t>v</a:t>
                </a:r>
                <a:r>
                  <a:rPr kumimoji="1" lang="en-US" altLang="zh-CN" sz="2400" baseline="-25000" dirty="0"/>
                  <a:t>p1</a:t>
                </a:r>
                <a:endParaRPr kumimoji="1" lang="en-US" altLang="zh-CN" sz="2400" dirty="0"/>
              </a:p>
            </p:txBody>
          </p:sp>
          <p:sp>
            <p:nvSpPr>
              <p:cNvPr id="550929" name="Line 17"/>
              <p:cNvSpPr>
                <a:spLocks noChangeShapeType="1"/>
              </p:cNvSpPr>
              <p:nvPr/>
            </p:nvSpPr>
            <p:spPr bwMode="auto">
              <a:xfrm>
                <a:off x="2382" y="2416"/>
                <a:ext cx="0" cy="1270"/>
              </a:xfrm>
              <a:prstGeom prst="line">
                <a:avLst/>
              </a:prstGeom>
              <a:noFill/>
              <a:ln w="19050">
                <a:solidFill>
                  <a:srgbClr val="000066"/>
                </a:solidFill>
                <a:prstDash val="dash"/>
                <a:round/>
                <a:headEnd/>
                <a:tailEnd/>
              </a:ln>
              <a:effectLst/>
            </p:spPr>
            <p:txBody>
              <a:bodyPr wrap="none" anchor="ctr"/>
              <a:lstStyle/>
              <a:p>
                <a:endParaRPr lang="zh-CN" altLang="en-US"/>
              </a:p>
            </p:txBody>
          </p:sp>
          <p:sp>
            <p:nvSpPr>
              <p:cNvPr id="550930" name="Freeform 18"/>
              <p:cNvSpPr>
                <a:spLocks/>
              </p:cNvSpPr>
              <p:nvPr/>
            </p:nvSpPr>
            <p:spPr bwMode="auto">
              <a:xfrm>
                <a:off x="1810" y="2325"/>
                <a:ext cx="1343" cy="1353"/>
              </a:xfrm>
              <a:custGeom>
                <a:avLst/>
                <a:gdLst/>
                <a:ahLst/>
                <a:cxnLst>
                  <a:cxn ang="0">
                    <a:pos x="0" y="600"/>
                  </a:cxn>
                  <a:cxn ang="0">
                    <a:pos x="144" y="504"/>
                  </a:cxn>
                  <a:cxn ang="0">
                    <a:pos x="240" y="168"/>
                  </a:cxn>
                  <a:cxn ang="0">
                    <a:pos x="336" y="24"/>
                  </a:cxn>
                  <a:cxn ang="0">
                    <a:pos x="432" y="312"/>
                  </a:cxn>
                  <a:cxn ang="0">
                    <a:pos x="624" y="504"/>
                  </a:cxn>
                  <a:cxn ang="0">
                    <a:pos x="768" y="552"/>
                  </a:cxn>
                </a:cxnLst>
                <a:rect l="0" t="0" r="r" b="b"/>
                <a:pathLst>
                  <a:path w="768" h="600">
                    <a:moveTo>
                      <a:pt x="0" y="600"/>
                    </a:moveTo>
                    <a:cubicBezTo>
                      <a:pt x="52" y="588"/>
                      <a:pt x="104" y="576"/>
                      <a:pt x="144" y="504"/>
                    </a:cubicBezTo>
                    <a:cubicBezTo>
                      <a:pt x="184" y="432"/>
                      <a:pt x="208" y="248"/>
                      <a:pt x="240" y="168"/>
                    </a:cubicBezTo>
                    <a:cubicBezTo>
                      <a:pt x="272" y="88"/>
                      <a:pt x="304" y="0"/>
                      <a:pt x="336" y="24"/>
                    </a:cubicBezTo>
                    <a:cubicBezTo>
                      <a:pt x="368" y="48"/>
                      <a:pt x="384" y="232"/>
                      <a:pt x="432" y="312"/>
                    </a:cubicBezTo>
                    <a:cubicBezTo>
                      <a:pt x="480" y="392"/>
                      <a:pt x="568" y="464"/>
                      <a:pt x="624" y="504"/>
                    </a:cubicBezTo>
                    <a:cubicBezTo>
                      <a:pt x="680" y="544"/>
                      <a:pt x="724" y="548"/>
                      <a:pt x="768" y="552"/>
                    </a:cubicBezTo>
                  </a:path>
                </a:pathLst>
              </a:custGeom>
              <a:noFill/>
              <a:ln w="19050" cmpd="sng">
                <a:solidFill>
                  <a:srgbClr val="FF0000"/>
                </a:solidFill>
                <a:round/>
                <a:headEnd/>
                <a:tailEnd/>
              </a:ln>
              <a:effectLst/>
            </p:spPr>
            <p:txBody>
              <a:bodyPr/>
              <a:lstStyle/>
              <a:p>
                <a:endParaRPr lang="zh-CN" altLang="en-US"/>
              </a:p>
            </p:txBody>
          </p:sp>
        </p:grpSp>
        <p:sp>
          <p:nvSpPr>
            <p:cNvPr id="550931" name="Text Box 19"/>
            <p:cNvSpPr txBox="1">
              <a:spLocks noChangeArrowheads="1"/>
            </p:cNvSpPr>
            <p:nvPr/>
          </p:nvSpPr>
          <p:spPr bwMode="auto">
            <a:xfrm>
              <a:off x="2428" y="2235"/>
              <a:ext cx="635" cy="288"/>
            </a:xfrm>
            <a:prstGeom prst="rect">
              <a:avLst/>
            </a:prstGeom>
            <a:noFill/>
            <a:ln w="9525">
              <a:noFill/>
              <a:miter lim="800000"/>
              <a:headEnd/>
              <a:tailEnd/>
            </a:ln>
            <a:effectLst/>
          </p:spPr>
          <p:txBody>
            <a:bodyPr>
              <a:spAutoFit/>
            </a:bodyPr>
            <a:lstStyle/>
            <a:p>
              <a:pPr>
                <a:spcBef>
                  <a:spcPct val="50000"/>
                </a:spcBef>
              </a:pPr>
              <a:r>
                <a:rPr lang="en-US" altLang="zh-CN" sz="2400" i="1"/>
                <a:t>T</a:t>
              </a:r>
              <a:r>
                <a:rPr lang="en-US" altLang="zh-CN" sz="2400" baseline="-25000"/>
                <a:t>1</a:t>
              </a:r>
              <a:endParaRPr lang="en-US" altLang="zh-CN" sz="2400"/>
            </a:p>
          </p:txBody>
        </p:sp>
      </p:grpSp>
      <p:grpSp>
        <p:nvGrpSpPr>
          <p:cNvPr id="550933" name="Group 21"/>
          <p:cNvGrpSpPr>
            <a:grpSpLocks/>
          </p:cNvGrpSpPr>
          <p:nvPr/>
        </p:nvGrpSpPr>
        <p:grpSpPr bwMode="auto">
          <a:xfrm>
            <a:off x="2717800" y="4095751"/>
            <a:ext cx="3298825" cy="2322512"/>
            <a:chOff x="1807" y="2511"/>
            <a:chExt cx="2078" cy="1463"/>
          </a:xfrm>
        </p:grpSpPr>
        <p:graphicFrame>
          <p:nvGraphicFramePr>
            <p:cNvPr id="550934" name="Object 22"/>
            <p:cNvGraphicFramePr>
              <a:graphicFrameLocks noChangeAspect="1"/>
            </p:cNvGraphicFramePr>
            <p:nvPr/>
          </p:nvGraphicFramePr>
          <p:xfrm>
            <a:off x="2972" y="2511"/>
            <a:ext cx="588" cy="318"/>
          </p:xfrm>
          <a:graphic>
            <a:graphicData uri="http://schemas.openxmlformats.org/presentationml/2006/ole">
              <mc:AlternateContent xmlns:mc="http://schemas.openxmlformats.org/markup-compatibility/2006">
                <mc:Choice xmlns:v="urn:schemas-microsoft-com:vml" Requires="v">
                  <p:oleObj name="Equation" r:id="rId4" imgW="419040" imgH="228600" progId="">
                    <p:embed/>
                  </p:oleObj>
                </mc:Choice>
                <mc:Fallback>
                  <p:oleObj name="Equation" r:id="rId4" imgW="419040" imgH="228600" progId="">
                    <p:embed/>
                    <p:pic>
                      <p:nvPicPr>
                        <p:cNvPr id="550934"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2" y="2511"/>
                          <a:ext cx="58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66"/>
                              </a:solidFill>
                              <a:miter lim="800000"/>
                              <a:headEnd/>
                              <a:tailEnd/>
                            </a14:hiddenLine>
                          </a:ext>
                        </a:extLst>
                      </p:spPr>
                    </p:pic>
                  </p:oleObj>
                </mc:Fallback>
              </mc:AlternateContent>
            </a:graphicData>
          </a:graphic>
        </p:graphicFrame>
        <p:sp>
          <p:nvSpPr>
            <p:cNvPr id="550935" name="Freeform 23"/>
            <p:cNvSpPr>
              <a:spLocks/>
            </p:cNvSpPr>
            <p:nvPr/>
          </p:nvSpPr>
          <p:spPr bwMode="auto">
            <a:xfrm>
              <a:off x="1807" y="2812"/>
              <a:ext cx="2078" cy="860"/>
            </a:xfrm>
            <a:custGeom>
              <a:avLst/>
              <a:gdLst/>
              <a:ahLst/>
              <a:cxnLst>
                <a:cxn ang="0">
                  <a:pos x="0" y="600"/>
                </a:cxn>
                <a:cxn ang="0">
                  <a:pos x="144" y="504"/>
                </a:cxn>
                <a:cxn ang="0">
                  <a:pos x="240" y="168"/>
                </a:cxn>
                <a:cxn ang="0">
                  <a:pos x="336" y="24"/>
                </a:cxn>
                <a:cxn ang="0">
                  <a:pos x="432" y="312"/>
                </a:cxn>
                <a:cxn ang="0">
                  <a:pos x="624" y="504"/>
                </a:cxn>
                <a:cxn ang="0">
                  <a:pos x="768" y="552"/>
                </a:cxn>
              </a:cxnLst>
              <a:rect l="0" t="0" r="r" b="b"/>
              <a:pathLst>
                <a:path w="768" h="600">
                  <a:moveTo>
                    <a:pt x="0" y="600"/>
                  </a:moveTo>
                  <a:cubicBezTo>
                    <a:pt x="52" y="588"/>
                    <a:pt x="104" y="576"/>
                    <a:pt x="144" y="504"/>
                  </a:cubicBezTo>
                  <a:cubicBezTo>
                    <a:pt x="184" y="432"/>
                    <a:pt x="208" y="248"/>
                    <a:pt x="240" y="168"/>
                  </a:cubicBezTo>
                  <a:cubicBezTo>
                    <a:pt x="272" y="88"/>
                    <a:pt x="304" y="0"/>
                    <a:pt x="336" y="24"/>
                  </a:cubicBezTo>
                  <a:cubicBezTo>
                    <a:pt x="368" y="48"/>
                    <a:pt x="384" y="232"/>
                    <a:pt x="432" y="312"/>
                  </a:cubicBezTo>
                  <a:cubicBezTo>
                    <a:pt x="480" y="392"/>
                    <a:pt x="568" y="464"/>
                    <a:pt x="624" y="504"/>
                  </a:cubicBezTo>
                  <a:cubicBezTo>
                    <a:pt x="680" y="544"/>
                    <a:pt x="724" y="548"/>
                    <a:pt x="768" y="552"/>
                  </a:cubicBezTo>
                </a:path>
              </a:pathLst>
            </a:custGeom>
            <a:noFill/>
            <a:ln w="19050" cap="flat" cmpd="sng">
              <a:solidFill>
                <a:srgbClr val="008080"/>
              </a:solidFill>
              <a:prstDash val="solid"/>
              <a:round/>
              <a:headEnd/>
              <a:tailEnd/>
            </a:ln>
            <a:effectLst/>
          </p:spPr>
          <p:txBody>
            <a:bodyPr/>
            <a:lstStyle/>
            <a:p>
              <a:endParaRPr lang="zh-CN" altLang="en-US"/>
            </a:p>
          </p:txBody>
        </p:sp>
        <p:sp>
          <p:nvSpPr>
            <p:cNvPr id="550936" name="Text Box 24"/>
            <p:cNvSpPr txBox="1">
              <a:spLocks noChangeArrowheads="1"/>
            </p:cNvSpPr>
            <p:nvPr/>
          </p:nvSpPr>
          <p:spPr bwMode="auto">
            <a:xfrm>
              <a:off x="2927" y="3021"/>
              <a:ext cx="635" cy="288"/>
            </a:xfrm>
            <a:prstGeom prst="rect">
              <a:avLst/>
            </a:prstGeom>
            <a:noFill/>
            <a:ln w="9525">
              <a:noFill/>
              <a:miter lim="800000"/>
              <a:headEnd/>
              <a:tailEnd/>
            </a:ln>
            <a:effectLst/>
          </p:spPr>
          <p:txBody>
            <a:bodyPr>
              <a:spAutoFit/>
            </a:bodyPr>
            <a:lstStyle/>
            <a:p>
              <a:pPr>
                <a:spcBef>
                  <a:spcPct val="50000"/>
                </a:spcBef>
              </a:pPr>
              <a:r>
                <a:rPr lang="en-US" altLang="zh-CN" sz="2400" i="1"/>
                <a:t>T</a:t>
              </a:r>
              <a:r>
                <a:rPr lang="en-US" altLang="zh-CN" sz="2400" baseline="-25000"/>
                <a:t>2</a:t>
              </a:r>
              <a:endParaRPr lang="en-US" altLang="zh-CN" sz="2400"/>
            </a:p>
          </p:txBody>
        </p:sp>
        <p:sp>
          <p:nvSpPr>
            <p:cNvPr id="550937" name="Line 25"/>
            <p:cNvSpPr>
              <a:spLocks noChangeShapeType="1"/>
            </p:cNvSpPr>
            <p:nvPr/>
          </p:nvSpPr>
          <p:spPr bwMode="auto">
            <a:xfrm>
              <a:off x="2688" y="2870"/>
              <a:ext cx="0" cy="816"/>
            </a:xfrm>
            <a:prstGeom prst="line">
              <a:avLst/>
            </a:prstGeom>
            <a:noFill/>
            <a:ln w="19050">
              <a:solidFill>
                <a:srgbClr val="000066"/>
              </a:solidFill>
              <a:prstDash val="dash"/>
              <a:round/>
              <a:headEnd/>
              <a:tailEnd/>
            </a:ln>
            <a:effectLst/>
          </p:spPr>
          <p:txBody>
            <a:bodyPr wrap="none" anchor="ctr"/>
            <a:lstStyle/>
            <a:p>
              <a:endParaRPr lang="zh-CN" altLang="en-US"/>
            </a:p>
          </p:txBody>
        </p:sp>
        <p:sp>
          <p:nvSpPr>
            <p:cNvPr id="550938" name="Rectangle 26"/>
            <p:cNvSpPr>
              <a:spLocks noChangeArrowheads="1"/>
            </p:cNvSpPr>
            <p:nvPr/>
          </p:nvSpPr>
          <p:spPr bwMode="auto">
            <a:xfrm>
              <a:off x="2646" y="3657"/>
              <a:ext cx="377" cy="317"/>
            </a:xfrm>
            <a:prstGeom prst="rect">
              <a:avLst/>
            </a:prstGeom>
            <a:noFill/>
            <a:ln w="19050">
              <a:noFill/>
              <a:miter lim="800000"/>
              <a:headEnd/>
              <a:tailEnd/>
            </a:ln>
            <a:effectLst/>
          </p:spPr>
          <p:txBody>
            <a:bodyPr lIns="12700" tIns="12700" rIns="12700" bIns="12700"/>
            <a:lstStyle/>
            <a:p>
              <a:pPr algn="just"/>
              <a:r>
                <a:rPr kumimoji="1" lang="en-US" altLang="zh-CN" sz="2400" i="1">
                  <a:latin typeface="Book Antiqua" pitchFamily="18" charset="0"/>
                </a:rPr>
                <a:t>v</a:t>
              </a:r>
              <a:r>
                <a:rPr kumimoji="1" lang="en-US" altLang="zh-CN" sz="2400" baseline="-25000"/>
                <a:t>p2</a:t>
              </a:r>
              <a:endParaRPr kumimoji="1" lang="en-US" altLang="zh-CN"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50921"/>
                                        </p:tgtEl>
                                        <p:attrNameLst>
                                          <p:attrName>style.visibility</p:attrName>
                                        </p:attrNameLst>
                                      </p:cBhvr>
                                      <p:to>
                                        <p:strVal val="visible"/>
                                      </p:to>
                                    </p:set>
                                    <p:animEffect transition="in" filter="box(in)">
                                      <p:cBhvr>
                                        <p:cTn id="7" dur="500"/>
                                        <p:tgtEl>
                                          <p:spTgt spid="5509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50916"/>
                                        </p:tgtEl>
                                        <p:attrNameLst>
                                          <p:attrName>style.visibility</p:attrName>
                                        </p:attrNameLst>
                                      </p:cBhvr>
                                      <p:to>
                                        <p:strVal val="visible"/>
                                      </p:to>
                                    </p:set>
                                    <p:anim calcmode="lin" valueType="num">
                                      <p:cBhvr additive="base">
                                        <p:cTn id="12" dur="500" fill="hold"/>
                                        <p:tgtEl>
                                          <p:spTgt spid="550916"/>
                                        </p:tgtEl>
                                        <p:attrNameLst>
                                          <p:attrName>ppt_x</p:attrName>
                                        </p:attrNameLst>
                                      </p:cBhvr>
                                      <p:tavLst>
                                        <p:tav tm="0">
                                          <p:val>
                                            <p:strVal val="0-#ppt_w/2"/>
                                          </p:val>
                                        </p:tav>
                                        <p:tav tm="100000">
                                          <p:val>
                                            <p:strVal val="#ppt_x"/>
                                          </p:val>
                                        </p:tav>
                                      </p:tavLst>
                                    </p:anim>
                                    <p:anim calcmode="lin" valueType="num">
                                      <p:cBhvr additive="base">
                                        <p:cTn id="13" dur="500" fill="hold"/>
                                        <p:tgtEl>
                                          <p:spTgt spid="55091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50917"/>
                                        </p:tgtEl>
                                        <p:attrNameLst>
                                          <p:attrName>style.visibility</p:attrName>
                                        </p:attrNameLst>
                                      </p:cBhvr>
                                      <p:to>
                                        <p:strVal val="visible"/>
                                      </p:to>
                                    </p:set>
                                    <p:anim calcmode="lin" valueType="num">
                                      <p:cBhvr additive="base">
                                        <p:cTn id="18" dur="500" fill="hold"/>
                                        <p:tgtEl>
                                          <p:spTgt spid="550917"/>
                                        </p:tgtEl>
                                        <p:attrNameLst>
                                          <p:attrName>ppt_x</p:attrName>
                                        </p:attrNameLst>
                                      </p:cBhvr>
                                      <p:tavLst>
                                        <p:tav tm="0">
                                          <p:val>
                                            <p:strVal val="0-#ppt_w/2"/>
                                          </p:val>
                                        </p:tav>
                                        <p:tav tm="100000">
                                          <p:val>
                                            <p:strVal val="#ppt_x"/>
                                          </p:val>
                                        </p:tav>
                                      </p:tavLst>
                                    </p:anim>
                                    <p:anim calcmode="lin" valueType="num">
                                      <p:cBhvr additive="base">
                                        <p:cTn id="19" dur="500" fill="hold"/>
                                        <p:tgtEl>
                                          <p:spTgt spid="55091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550933"/>
                                        </p:tgtEl>
                                        <p:attrNameLst>
                                          <p:attrName>style.visibility</p:attrName>
                                        </p:attrNameLst>
                                      </p:cBhvr>
                                      <p:to>
                                        <p:strVal val="visible"/>
                                      </p:to>
                                    </p:set>
                                    <p:animEffect transition="in" filter="diamond(in)">
                                      <p:cBhvr>
                                        <p:cTn id="24" dur="500"/>
                                        <p:tgtEl>
                                          <p:spTgt spid="550933"/>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550918"/>
                                        </p:tgtEl>
                                        <p:attrNameLst>
                                          <p:attrName>style.visibility</p:attrName>
                                        </p:attrNameLst>
                                      </p:cBhvr>
                                      <p:to>
                                        <p:strVal val="visible"/>
                                      </p:to>
                                    </p:set>
                                    <p:animEffect transition="in" filter="slide(fromBottom)">
                                      <p:cBhvr>
                                        <p:cTn id="29" dur="500"/>
                                        <p:tgtEl>
                                          <p:spTgt spid="550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6" grpId="0" autoUpdateAnimBg="0"/>
      <p:bldP spid="550917"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r>
              <a:rPr lang="en-US" altLang="zh-CN"/>
              <a:t>10.4 </a:t>
            </a:r>
            <a:r>
              <a:rPr lang="zh-CN" altLang="en-US"/>
              <a:t>麦克斯韦速率分布</a:t>
            </a:r>
          </a:p>
        </p:txBody>
      </p:sp>
      <p:sp>
        <p:nvSpPr>
          <p:cNvPr id="14" name="灯片编号占位符 4"/>
          <p:cNvSpPr>
            <a:spLocks noGrp="1"/>
          </p:cNvSpPr>
          <p:nvPr>
            <p:ph type="sldNum" sz="quarter" idx="12"/>
          </p:nvPr>
        </p:nvSpPr>
        <p:spPr/>
        <p:txBody>
          <a:bodyPr/>
          <a:lstStyle/>
          <a:p>
            <a:fld id="{F9B2B198-2E60-4641-A54C-DC499AD794C1}" type="slidenum">
              <a:rPr lang="en-US" altLang="zh-CN"/>
              <a:pPr/>
              <a:t>45</a:t>
            </a:fld>
            <a:endParaRPr lang="en-US" altLang="zh-CN"/>
          </a:p>
        </p:txBody>
      </p:sp>
      <p:sp>
        <p:nvSpPr>
          <p:cNvPr id="555011" name="Rectangle 3"/>
          <p:cNvSpPr>
            <a:spLocks noChangeArrowheads="1"/>
          </p:cNvSpPr>
          <p:nvPr/>
        </p:nvSpPr>
        <p:spPr bwMode="auto">
          <a:xfrm>
            <a:off x="501650" y="1219200"/>
            <a:ext cx="20129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三个统计速率</a:t>
            </a:r>
          </a:p>
        </p:txBody>
      </p:sp>
      <p:sp>
        <p:nvSpPr>
          <p:cNvPr id="555012" name="Rectangle 4"/>
          <p:cNvSpPr>
            <a:spLocks noChangeArrowheads="1"/>
          </p:cNvSpPr>
          <p:nvPr/>
        </p:nvSpPr>
        <p:spPr bwMode="auto">
          <a:xfrm>
            <a:off x="304800" y="1676400"/>
            <a:ext cx="3598863" cy="519113"/>
          </a:xfrm>
          <a:prstGeom prst="rect">
            <a:avLst/>
          </a:prstGeom>
          <a:noFill/>
          <a:ln w="9525">
            <a:noFill/>
            <a:miter lim="800000"/>
            <a:headEnd/>
            <a:tailEnd/>
          </a:ln>
          <a:effectLst/>
        </p:spPr>
        <p:txBody>
          <a:bodyPr>
            <a:spAutoFit/>
          </a:bodyPr>
          <a:lstStyle/>
          <a:p>
            <a:r>
              <a:rPr kumimoji="1" lang="zh-CN" altLang="en-US" sz="2800">
                <a:solidFill>
                  <a:srgbClr val="0000CC"/>
                </a:solidFill>
              </a:rPr>
              <a:t>（</a:t>
            </a:r>
            <a:r>
              <a:rPr kumimoji="1" lang="en-US" altLang="zh-CN" sz="2800">
                <a:solidFill>
                  <a:srgbClr val="0000CC"/>
                </a:solidFill>
              </a:rPr>
              <a:t>1</a:t>
            </a:r>
            <a:r>
              <a:rPr kumimoji="1" lang="zh-CN" altLang="en-US" sz="2800">
                <a:solidFill>
                  <a:srgbClr val="0000CC"/>
                </a:solidFill>
              </a:rPr>
              <a:t>）平均速率：</a:t>
            </a:r>
          </a:p>
        </p:txBody>
      </p:sp>
      <p:sp>
        <p:nvSpPr>
          <p:cNvPr id="555013" name="Text Box 5"/>
          <p:cNvSpPr txBox="1">
            <a:spLocks noChangeArrowheads="1"/>
          </p:cNvSpPr>
          <p:nvPr/>
        </p:nvSpPr>
        <p:spPr bwMode="auto">
          <a:xfrm>
            <a:off x="1219200" y="2214563"/>
            <a:ext cx="4876800" cy="1062037"/>
          </a:xfrm>
          <a:prstGeom prst="rect">
            <a:avLst/>
          </a:prstGeom>
          <a:noFill/>
          <a:ln w="9525">
            <a:noFill/>
            <a:miter lim="800000"/>
            <a:headEnd/>
            <a:tailEnd/>
          </a:ln>
          <a:effectLst/>
        </p:spPr>
        <p:txBody>
          <a:bodyPr>
            <a:spAutoFit/>
          </a:bodyPr>
          <a:lstStyle/>
          <a:p>
            <a:pPr>
              <a:lnSpc>
                <a:spcPct val="75000"/>
              </a:lnSpc>
              <a:spcBef>
                <a:spcPct val="20000"/>
              </a:spcBef>
            </a:pPr>
            <a:r>
              <a:rPr kumimoji="1" lang="zh-CN" altLang="en-US" sz="2400" dirty="0"/>
              <a:t>设：速率为</a:t>
            </a:r>
            <a:r>
              <a:rPr kumimoji="1" lang="en-US" altLang="zh-CN" sz="2400" i="1" dirty="0">
                <a:latin typeface="Book Antiqua" pitchFamily="18" charset="0"/>
              </a:rPr>
              <a:t>v</a:t>
            </a:r>
            <a:r>
              <a:rPr kumimoji="1" lang="en-US" altLang="zh-CN" sz="2400" baseline="-25000" dirty="0"/>
              <a:t>1</a:t>
            </a:r>
            <a:r>
              <a:rPr kumimoji="1" lang="zh-CN" altLang="en-US" sz="2400" dirty="0"/>
              <a:t>的分子数为</a:t>
            </a:r>
            <a:r>
              <a:rPr kumimoji="1" lang="zh-CN" altLang="en-US" sz="2400" dirty="0">
                <a:sym typeface="Symbol" pitchFamily="18" charset="2"/>
              </a:rPr>
              <a:t></a:t>
            </a:r>
            <a:r>
              <a:rPr kumimoji="1" lang="en-US" altLang="zh-CN" sz="2400" i="1" dirty="0">
                <a:sym typeface="Symbol" pitchFamily="18" charset="2"/>
              </a:rPr>
              <a:t>N</a:t>
            </a:r>
            <a:r>
              <a:rPr kumimoji="1" lang="en-US" altLang="zh-CN" sz="2400" baseline="-25000" dirty="0"/>
              <a:t>1</a:t>
            </a:r>
            <a:r>
              <a:rPr kumimoji="1" lang="zh-CN" altLang="en-US" sz="2400" dirty="0"/>
              <a:t>个；</a:t>
            </a:r>
          </a:p>
          <a:p>
            <a:pPr>
              <a:lnSpc>
                <a:spcPct val="75000"/>
              </a:lnSpc>
              <a:spcBef>
                <a:spcPct val="20000"/>
              </a:spcBef>
            </a:pPr>
            <a:r>
              <a:rPr kumimoji="1" lang="zh-CN" altLang="en-US" sz="2400" dirty="0"/>
              <a:t>        速率为</a:t>
            </a:r>
            <a:r>
              <a:rPr kumimoji="1" lang="en-US" altLang="zh-CN" sz="2400" i="1" dirty="0">
                <a:latin typeface="Book Antiqua" pitchFamily="18" charset="0"/>
              </a:rPr>
              <a:t>v</a:t>
            </a:r>
            <a:r>
              <a:rPr kumimoji="1" lang="en-US" altLang="zh-CN" sz="2400" baseline="-25000" dirty="0"/>
              <a:t>2</a:t>
            </a:r>
            <a:r>
              <a:rPr kumimoji="1" lang="zh-CN" altLang="en-US" sz="2400" dirty="0"/>
              <a:t>的分子数为</a:t>
            </a:r>
            <a:r>
              <a:rPr kumimoji="1" lang="zh-CN" altLang="en-US" sz="2400" dirty="0">
                <a:sym typeface="Symbol" pitchFamily="18" charset="2"/>
              </a:rPr>
              <a:t></a:t>
            </a:r>
            <a:r>
              <a:rPr kumimoji="1" lang="en-US" altLang="zh-CN" sz="2400" i="1" dirty="0">
                <a:sym typeface="Symbol" pitchFamily="18" charset="2"/>
              </a:rPr>
              <a:t>N</a:t>
            </a:r>
            <a:r>
              <a:rPr kumimoji="1" lang="en-US" altLang="zh-CN" sz="2400" baseline="-25000" dirty="0"/>
              <a:t>2</a:t>
            </a:r>
            <a:r>
              <a:rPr kumimoji="1" lang="zh-CN" altLang="en-US" sz="2400" dirty="0"/>
              <a:t>个；</a:t>
            </a:r>
          </a:p>
          <a:p>
            <a:pPr>
              <a:lnSpc>
                <a:spcPct val="75000"/>
              </a:lnSpc>
              <a:spcBef>
                <a:spcPct val="20000"/>
              </a:spcBef>
            </a:pPr>
            <a:r>
              <a:rPr kumimoji="1" lang="zh-CN" altLang="en-US" sz="2400" dirty="0"/>
              <a:t>        </a:t>
            </a:r>
            <a:r>
              <a:rPr kumimoji="1" lang="en-US" altLang="zh-CN" sz="2400" dirty="0"/>
              <a:t>……</a:t>
            </a:r>
          </a:p>
        </p:txBody>
      </p:sp>
      <p:sp>
        <p:nvSpPr>
          <p:cNvPr id="555014" name="Rectangle 6"/>
          <p:cNvSpPr>
            <a:spLocks noChangeArrowheads="1"/>
          </p:cNvSpPr>
          <p:nvPr/>
        </p:nvSpPr>
        <p:spPr bwMode="auto">
          <a:xfrm>
            <a:off x="990600" y="3429000"/>
            <a:ext cx="1708150" cy="457200"/>
          </a:xfrm>
          <a:prstGeom prst="rect">
            <a:avLst/>
          </a:prstGeom>
          <a:noFill/>
          <a:ln w="9525">
            <a:noFill/>
            <a:miter lim="800000"/>
            <a:headEnd/>
            <a:tailEnd/>
          </a:ln>
          <a:effectLst/>
        </p:spPr>
        <p:txBody>
          <a:bodyPr wrap="none">
            <a:spAutoFit/>
          </a:bodyPr>
          <a:lstStyle/>
          <a:p>
            <a:r>
              <a:rPr kumimoji="1" lang="zh-CN" altLang="en-US" sz="2400" dirty="0"/>
              <a:t>总分子数：</a:t>
            </a:r>
          </a:p>
        </p:txBody>
      </p:sp>
      <p:sp>
        <p:nvSpPr>
          <p:cNvPr id="555015" name="Rectangle 7"/>
          <p:cNvSpPr>
            <a:spLocks noChangeArrowheads="1"/>
          </p:cNvSpPr>
          <p:nvPr/>
        </p:nvSpPr>
        <p:spPr bwMode="auto">
          <a:xfrm>
            <a:off x="2895600" y="3429000"/>
            <a:ext cx="3733800" cy="457200"/>
          </a:xfrm>
          <a:prstGeom prst="rect">
            <a:avLst/>
          </a:prstGeom>
          <a:noFill/>
          <a:ln w="9525">
            <a:noFill/>
            <a:miter lim="800000"/>
            <a:headEnd/>
            <a:tailEnd/>
          </a:ln>
          <a:effectLst/>
        </p:spPr>
        <p:txBody>
          <a:bodyPr>
            <a:spAutoFit/>
          </a:bodyPr>
          <a:lstStyle/>
          <a:p>
            <a:r>
              <a:rPr kumimoji="1" lang="en-US" altLang="zh-CN" sz="2400" i="1">
                <a:sym typeface="Symbol" pitchFamily="18" charset="2"/>
              </a:rPr>
              <a:t>N </a:t>
            </a:r>
            <a:r>
              <a:rPr kumimoji="1" lang="en-US" altLang="zh-CN" sz="2400">
                <a:sym typeface="Symbol" pitchFamily="18" charset="2"/>
              </a:rPr>
              <a:t>= </a:t>
            </a:r>
            <a:r>
              <a:rPr kumimoji="1" lang="en-US" altLang="zh-CN" sz="2400" i="1">
                <a:sym typeface="Symbol" pitchFamily="18" charset="2"/>
              </a:rPr>
              <a:t>N</a:t>
            </a:r>
            <a:r>
              <a:rPr kumimoji="1" lang="en-US" altLang="zh-CN" sz="2400" baseline="-25000"/>
              <a:t>1</a:t>
            </a:r>
            <a:r>
              <a:rPr kumimoji="1" lang="en-US" altLang="zh-CN" sz="2400">
                <a:sym typeface="Symbol" pitchFamily="18" charset="2"/>
              </a:rPr>
              <a:t>+ </a:t>
            </a:r>
            <a:r>
              <a:rPr kumimoji="1" lang="en-US" altLang="zh-CN" sz="2400" i="1">
                <a:sym typeface="Symbol" pitchFamily="18" charset="2"/>
              </a:rPr>
              <a:t>N</a:t>
            </a:r>
            <a:r>
              <a:rPr kumimoji="1" lang="en-US" altLang="zh-CN" sz="2400" baseline="-25000"/>
              <a:t>2 </a:t>
            </a:r>
            <a:r>
              <a:rPr kumimoji="1" lang="en-US" altLang="zh-CN" sz="2400">
                <a:sym typeface="Symbol" pitchFamily="18" charset="2"/>
              </a:rPr>
              <a:t>+ …+ </a:t>
            </a:r>
            <a:r>
              <a:rPr kumimoji="1" lang="en-US" altLang="zh-CN" sz="2400" i="1">
                <a:sym typeface="Symbol" pitchFamily="18" charset="2"/>
              </a:rPr>
              <a:t>N</a:t>
            </a:r>
            <a:r>
              <a:rPr kumimoji="1" lang="en-US" altLang="zh-CN" sz="2400" baseline="-25000"/>
              <a:t>n </a:t>
            </a:r>
          </a:p>
        </p:txBody>
      </p:sp>
      <p:graphicFrame>
        <p:nvGraphicFramePr>
          <p:cNvPr id="555016" name="Object 8"/>
          <p:cNvGraphicFramePr>
            <a:graphicFrameLocks noChangeAspect="1"/>
          </p:cNvGraphicFramePr>
          <p:nvPr/>
        </p:nvGraphicFramePr>
        <p:xfrm>
          <a:off x="1017588" y="4141787"/>
          <a:ext cx="5383212" cy="811213"/>
        </p:xfrm>
        <a:graphic>
          <a:graphicData uri="http://schemas.openxmlformats.org/presentationml/2006/ole">
            <mc:AlternateContent xmlns:mc="http://schemas.openxmlformats.org/markup-compatibility/2006">
              <mc:Choice xmlns:v="urn:schemas-microsoft-com:vml" Requires="v">
                <p:oleObj name="公式" r:id="rId2" imgW="2692080" imgH="406080" progId="Equation.3">
                  <p:embed/>
                </p:oleObj>
              </mc:Choice>
              <mc:Fallback>
                <p:oleObj name="公式" r:id="rId2" imgW="2692080" imgH="406080" progId="Equation.3">
                  <p:embed/>
                  <p:pic>
                    <p:nvPicPr>
                      <p:cNvPr id="55501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588" y="4141787"/>
                        <a:ext cx="5383212"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5017" name="Object 9"/>
          <p:cNvGraphicFramePr>
            <a:graphicFrameLocks noChangeAspect="1"/>
          </p:cNvGraphicFramePr>
          <p:nvPr/>
        </p:nvGraphicFramePr>
        <p:xfrm>
          <a:off x="3048000" y="5297487"/>
          <a:ext cx="1651000" cy="660400"/>
        </p:xfrm>
        <a:graphic>
          <a:graphicData uri="http://schemas.openxmlformats.org/presentationml/2006/ole">
            <mc:AlternateContent xmlns:mc="http://schemas.openxmlformats.org/markup-compatibility/2006">
              <mc:Choice xmlns:v="urn:schemas-microsoft-com:vml" Requires="v">
                <p:oleObj name="公式" r:id="rId4" imgW="825480" imgH="330120" progId="Equation.3">
                  <p:embed/>
                </p:oleObj>
              </mc:Choice>
              <mc:Fallback>
                <p:oleObj name="公式" r:id="rId4" imgW="825480" imgH="330120" progId="Equation.3">
                  <p:embed/>
                  <p:pic>
                    <p:nvPicPr>
                      <p:cNvPr id="555017"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5297487"/>
                        <a:ext cx="1651000" cy="660400"/>
                      </a:xfrm>
                      <a:prstGeom prst="rect">
                        <a:avLst/>
                      </a:prstGeom>
                      <a:solidFill>
                        <a:srgbClr val="3366FF">
                          <a:alpha val="50000"/>
                        </a:srgbClr>
                      </a:solidFill>
                      <a:ln>
                        <a:noFill/>
                      </a:ln>
                      <a:extLst>
                        <a:ext uri="{91240B29-F687-4F45-9708-019B960494DF}">
                          <a14:hiddenLine xmlns:a14="http://schemas.microsoft.com/office/drawing/2010/main" w="19050">
                            <a:solidFill>
                              <a:schemeClr val="tx1"/>
                            </a:solidFill>
                            <a:miter lim="800000"/>
                            <a:headEnd/>
                            <a:tailEnd/>
                          </a14:hiddenLine>
                        </a:ext>
                      </a:extLst>
                    </p:spPr>
                  </p:pic>
                </p:oleObj>
              </mc:Fallback>
            </mc:AlternateContent>
          </a:graphicData>
        </a:graphic>
      </p:graphicFrame>
      <p:graphicFrame>
        <p:nvGraphicFramePr>
          <p:cNvPr id="555018" name="Object 10"/>
          <p:cNvGraphicFramePr>
            <a:graphicFrameLocks noChangeAspect="1"/>
          </p:cNvGraphicFramePr>
          <p:nvPr/>
        </p:nvGraphicFramePr>
        <p:xfrm>
          <a:off x="609600" y="5195887"/>
          <a:ext cx="2362200" cy="863600"/>
        </p:xfrm>
        <a:graphic>
          <a:graphicData uri="http://schemas.openxmlformats.org/presentationml/2006/ole">
            <mc:AlternateContent xmlns:mc="http://schemas.openxmlformats.org/markup-compatibility/2006">
              <mc:Choice xmlns:v="urn:schemas-microsoft-com:vml" Requires="v">
                <p:oleObj name="公式" r:id="rId6" imgW="1180800" imgH="431640" progId="Equation.3">
                  <p:embed/>
                </p:oleObj>
              </mc:Choice>
              <mc:Fallback>
                <p:oleObj name="公式" r:id="rId6" imgW="1180800" imgH="431640" progId="Equation.3">
                  <p:embed/>
                  <p:pic>
                    <p:nvPicPr>
                      <p:cNvPr id="555018"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5195887"/>
                        <a:ext cx="2362200" cy="863600"/>
                      </a:xfrm>
                      <a:prstGeom prst="rect">
                        <a:avLst/>
                      </a:prstGeom>
                      <a:solidFill>
                        <a:srgbClr val="CC99FF">
                          <a:alpha val="50000"/>
                        </a:srgbClr>
                      </a:solidFill>
                      <a:ln>
                        <a:noFill/>
                      </a:ln>
                      <a:extLst>
                        <a:ext uri="{91240B29-F687-4F45-9708-019B960494DF}">
                          <a14:hiddenLine xmlns:a14="http://schemas.microsoft.com/office/drawing/2010/main" w="19050">
                            <a:solidFill>
                              <a:schemeClr val="tx1"/>
                            </a:solidFill>
                            <a:miter lim="800000"/>
                            <a:headEnd/>
                            <a:tailEnd/>
                          </a14:hiddenLine>
                        </a:ext>
                      </a:extLst>
                    </p:spPr>
                  </p:pic>
                </p:oleObj>
              </mc:Fallback>
            </mc:AlternateContent>
          </a:graphicData>
        </a:graphic>
      </p:graphicFrame>
      <p:graphicFrame>
        <p:nvGraphicFramePr>
          <p:cNvPr id="555019" name="Object 11"/>
          <p:cNvGraphicFramePr>
            <a:graphicFrameLocks noChangeAspect="1"/>
          </p:cNvGraphicFramePr>
          <p:nvPr/>
        </p:nvGraphicFramePr>
        <p:xfrm>
          <a:off x="4876800" y="5143500"/>
          <a:ext cx="4013200" cy="968375"/>
        </p:xfrm>
        <a:graphic>
          <a:graphicData uri="http://schemas.openxmlformats.org/presentationml/2006/ole">
            <mc:AlternateContent xmlns:mc="http://schemas.openxmlformats.org/markup-compatibility/2006">
              <mc:Choice xmlns:v="urn:schemas-microsoft-com:vml" Requires="v">
                <p:oleObj name="公式" r:id="rId8" imgW="1993680" imgH="482400" progId="Equation.3">
                  <p:embed/>
                </p:oleObj>
              </mc:Choice>
              <mc:Fallback>
                <p:oleObj name="公式" r:id="rId8" imgW="1993680" imgH="482400" progId="Equation.3">
                  <p:embed/>
                  <p:pic>
                    <p:nvPicPr>
                      <p:cNvPr id="555019"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6800" y="5143500"/>
                        <a:ext cx="4013200" cy="968375"/>
                      </a:xfrm>
                      <a:prstGeom prst="rect">
                        <a:avLst/>
                      </a:prstGeom>
                      <a:solidFill>
                        <a:srgbClr val="CC99FF">
                          <a:alpha val="50000"/>
                        </a:srgbClr>
                      </a:solidFill>
                      <a:ln w="19050">
                        <a:solidFill>
                          <a:srgbClr val="0000FF"/>
                        </a:solidFill>
                        <a:prstDash val="dash"/>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555013"/>
                                        </p:tgtEl>
                                        <p:attrNameLst>
                                          <p:attrName>style.visibility</p:attrName>
                                        </p:attrNameLst>
                                      </p:cBhvr>
                                      <p:to>
                                        <p:strVal val="visible"/>
                                      </p:to>
                                    </p:set>
                                    <p:animEffect transition="in" filter="strips(upRight)">
                                      <p:cBhvr>
                                        <p:cTn id="7" dur="500"/>
                                        <p:tgtEl>
                                          <p:spTgt spid="5550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555014"/>
                                        </p:tgtEl>
                                        <p:attrNameLst>
                                          <p:attrName>style.visibility</p:attrName>
                                        </p:attrNameLst>
                                      </p:cBhvr>
                                      <p:to>
                                        <p:strVal val="visible"/>
                                      </p:to>
                                    </p:set>
                                    <p:animEffect transition="in" filter="strips(upRight)">
                                      <p:cBhvr>
                                        <p:cTn id="12" dur="500"/>
                                        <p:tgtEl>
                                          <p:spTgt spid="5550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555015"/>
                                        </p:tgtEl>
                                        <p:attrNameLst>
                                          <p:attrName>style.visibility</p:attrName>
                                        </p:attrNameLst>
                                      </p:cBhvr>
                                      <p:to>
                                        <p:strVal val="visible"/>
                                      </p:to>
                                    </p:set>
                                    <p:animEffect transition="in" filter="strips(upRight)">
                                      <p:cBhvr>
                                        <p:cTn id="17" dur="500"/>
                                        <p:tgtEl>
                                          <p:spTgt spid="55501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555016"/>
                                        </p:tgtEl>
                                        <p:attrNameLst>
                                          <p:attrName>style.visibility</p:attrName>
                                        </p:attrNameLst>
                                      </p:cBhvr>
                                      <p:to>
                                        <p:strVal val="visible"/>
                                      </p:to>
                                    </p:set>
                                    <p:animEffect transition="in" filter="strips(upRight)">
                                      <p:cBhvr>
                                        <p:cTn id="22" dur="500"/>
                                        <p:tgtEl>
                                          <p:spTgt spid="55501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555018"/>
                                        </p:tgtEl>
                                        <p:attrNameLst>
                                          <p:attrName>style.visibility</p:attrName>
                                        </p:attrNameLst>
                                      </p:cBhvr>
                                      <p:to>
                                        <p:strVal val="visible"/>
                                      </p:to>
                                    </p:set>
                                    <p:animEffect transition="in" filter="strips(upRight)">
                                      <p:cBhvr>
                                        <p:cTn id="27" dur="500"/>
                                        <p:tgtEl>
                                          <p:spTgt spid="555018"/>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555017"/>
                                        </p:tgtEl>
                                        <p:attrNameLst>
                                          <p:attrName>style.visibility</p:attrName>
                                        </p:attrNameLst>
                                      </p:cBhvr>
                                      <p:to>
                                        <p:strVal val="visible"/>
                                      </p:to>
                                    </p:set>
                                    <p:animEffect transition="in" filter="strips(upRight)">
                                      <p:cBhvr>
                                        <p:cTn id="32" dur="500"/>
                                        <p:tgtEl>
                                          <p:spTgt spid="555017"/>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555019"/>
                                        </p:tgtEl>
                                        <p:attrNameLst>
                                          <p:attrName>style.visibility</p:attrName>
                                        </p:attrNameLst>
                                      </p:cBhvr>
                                      <p:to>
                                        <p:strVal val="visible"/>
                                      </p:to>
                                    </p:set>
                                    <p:animEffect transition="in" filter="strips(upRight)">
                                      <p:cBhvr>
                                        <p:cTn id="37" dur="500"/>
                                        <p:tgtEl>
                                          <p:spTgt spid="555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3" grpId="0" autoUpdateAnimBg="0"/>
      <p:bldP spid="555014" grpId="0" autoUpdateAnimBg="0"/>
      <p:bldP spid="555015"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r>
              <a:rPr lang="en-US" altLang="zh-CN"/>
              <a:t>10.4 </a:t>
            </a:r>
            <a:r>
              <a:rPr lang="zh-CN" altLang="en-US"/>
              <a:t>麦克斯韦速率分布</a:t>
            </a:r>
          </a:p>
        </p:txBody>
      </p:sp>
      <p:sp>
        <p:nvSpPr>
          <p:cNvPr id="9" name="灯片编号占位符 4"/>
          <p:cNvSpPr>
            <a:spLocks noGrp="1"/>
          </p:cNvSpPr>
          <p:nvPr>
            <p:ph type="sldNum" sz="quarter" idx="12"/>
          </p:nvPr>
        </p:nvSpPr>
        <p:spPr/>
        <p:txBody>
          <a:bodyPr/>
          <a:lstStyle/>
          <a:p>
            <a:fld id="{4881D155-3920-4BF3-89A0-42C586B54BCF}" type="slidenum">
              <a:rPr lang="en-US" altLang="zh-CN"/>
              <a:pPr/>
              <a:t>46</a:t>
            </a:fld>
            <a:endParaRPr lang="en-US" altLang="zh-CN"/>
          </a:p>
        </p:txBody>
      </p:sp>
      <p:sp>
        <p:nvSpPr>
          <p:cNvPr id="556035" name="Rectangle 3"/>
          <p:cNvSpPr>
            <a:spLocks noChangeArrowheads="1"/>
          </p:cNvSpPr>
          <p:nvPr/>
        </p:nvSpPr>
        <p:spPr bwMode="auto">
          <a:xfrm>
            <a:off x="304800" y="1690687"/>
            <a:ext cx="3598863" cy="519113"/>
          </a:xfrm>
          <a:prstGeom prst="rect">
            <a:avLst/>
          </a:prstGeom>
          <a:noFill/>
          <a:ln w="9525">
            <a:noFill/>
            <a:miter lim="800000"/>
            <a:headEnd/>
            <a:tailEnd/>
          </a:ln>
          <a:effectLst/>
        </p:spPr>
        <p:txBody>
          <a:bodyPr>
            <a:spAutoFit/>
          </a:bodyPr>
          <a:lstStyle/>
          <a:p>
            <a:r>
              <a:rPr kumimoji="1" lang="zh-CN" altLang="en-US" sz="2800" dirty="0">
                <a:solidFill>
                  <a:srgbClr val="0000CC"/>
                </a:solidFill>
              </a:rPr>
              <a:t>（</a:t>
            </a:r>
            <a:r>
              <a:rPr kumimoji="1" lang="en-US" altLang="zh-CN" sz="2800" dirty="0">
                <a:solidFill>
                  <a:srgbClr val="0000CC"/>
                </a:solidFill>
              </a:rPr>
              <a:t>2</a:t>
            </a:r>
            <a:r>
              <a:rPr kumimoji="1" lang="zh-CN" altLang="en-US" sz="2800" dirty="0">
                <a:solidFill>
                  <a:srgbClr val="0000CC"/>
                </a:solidFill>
              </a:rPr>
              <a:t>）方均根速率：</a:t>
            </a:r>
          </a:p>
        </p:txBody>
      </p:sp>
      <p:sp>
        <p:nvSpPr>
          <p:cNvPr id="556036" name="Rectangle 4"/>
          <p:cNvSpPr>
            <a:spLocks noChangeArrowheads="1"/>
          </p:cNvSpPr>
          <p:nvPr/>
        </p:nvSpPr>
        <p:spPr bwMode="auto">
          <a:xfrm>
            <a:off x="501650" y="1219200"/>
            <a:ext cx="20129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t>三个统计速率</a:t>
            </a:r>
          </a:p>
        </p:txBody>
      </p:sp>
      <p:graphicFrame>
        <p:nvGraphicFramePr>
          <p:cNvPr id="556037" name="Object 5"/>
          <p:cNvGraphicFramePr>
            <a:graphicFrameLocks noChangeAspect="1"/>
          </p:cNvGraphicFramePr>
          <p:nvPr/>
        </p:nvGraphicFramePr>
        <p:xfrm>
          <a:off x="1295400" y="2590800"/>
          <a:ext cx="2074863" cy="585788"/>
        </p:xfrm>
        <a:graphic>
          <a:graphicData uri="http://schemas.openxmlformats.org/presentationml/2006/ole">
            <mc:AlternateContent xmlns:mc="http://schemas.openxmlformats.org/markup-compatibility/2006">
              <mc:Choice xmlns:v="urn:schemas-microsoft-com:vml" Requires="v">
                <p:oleObj name="公式" r:id="rId2" imgW="1028520" imgH="291960" progId="Equation.3">
                  <p:embed/>
                </p:oleObj>
              </mc:Choice>
              <mc:Fallback>
                <p:oleObj name="公式" r:id="rId2" imgW="1028520" imgH="291960" progId="Equation.3">
                  <p:embed/>
                  <p:pic>
                    <p:nvPicPr>
                      <p:cNvPr id="55603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590800"/>
                        <a:ext cx="2074863"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6038" name="Object 6"/>
          <p:cNvGraphicFramePr>
            <a:graphicFrameLocks noChangeAspect="1"/>
          </p:cNvGraphicFramePr>
          <p:nvPr/>
        </p:nvGraphicFramePr>
        <p:xfrm>
          <a:off x="1219200" y="3886200"/>
          <a:ext cx="4332288" cy="969963"/>
        </p:xfrm>
        <a:graphic>
          <a:graphicData uri="http://schemas.openxmlformats.org/presentationml/2006/ole">
            <mc:AlternateContent xmlns:mc="http://schemas.openxmlformats.org/markup-compatibility/2006">
              <mc:Choice xmlns:v="urn:schemas-microsoft-com:vml" Requires="v">
                <p:oleObj name="公式" r:id="rId4" imgW="2158920" imgH="482400" progId="Equation.3">
                  <p:embed/>
                </p:oleObj>
              </mc:Choice>
              <mc:Fallback>
                <p:oleObj name="公式" r:id="rId4" imgW="2158920" imgH="482400" progId="Equation.3">
                  <p:embed/>
                  <p:pic>
                    <p:nvPicPr>
                      <p:cNvPr id="55603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3886200"/>
                        <a:ext cx="4332288" cy="969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556037"/>
                                        </p:tgtEl>
                                        <p:attrNameLst>
                                          <p:attrName>style.visibility</p:attrName>
                                        </p:attrNameLst>
                                      </p:cBhvr>
                                      <p:to>
                                        <p:strVal val="visible"/>
                                      </p:to>
                                    </p:set>
                                    <p:animEffect transition="in" filter="strips(upRight)">
                                      <p:cBhvr>
                                        <p:cTn id="7" dur="500"/>
                                        <p:tgtEl>
                                          <p:spTgt spid="55603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56038"/>
                                        </p:tgtEl>
                                        <p:attrNameLst>
                                          <p:attrName>style.visibility</p:attrName>
                                        </p:attrNameLst>
                                      </p:cBhvr>
                                      <p:to>
                                        <p:strVal val="visible"/>
                                      </p:to>
                                    </p:set>
                                    <p:animEffect transition="in" filter="strips(upRight)">
                                      <p:cBhvr>
                                        <p:cTn id="12" dur="500"/>
                                        <p:tgtEl>
                                          <p:spTgt spid="556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en-US" altLang="zh-CN"/>
              <a:t>10.4 </a:t>
            </a:r>
            <a:r>
              <a:rPr lang="zh-CN" altLang="en-US"/>
              <a:t>麦克斯韦速率分布</a:t>
            </a:r>
          </a:p>
        </p:txBody>
      </p:sp>
      <p:sp>
        <p:nvSpPr>
          <p:cNvPr id="26" name="灯片编号占位符 4"/>
          <p:cNvSpPr>
            <a:spLocks noGrp="1"/>
          </p:cNvSpPr>
          <p:nvPr>
            <p:ph type="sldNum" sz="quarter" idx="12"/>
          </p:nvPr>
        </p:nvSpPr>
        <p:spPr/>
        <p:txBody>
          <a:bodyPr/>
          <a:lstStyle/>
          <a:p>
            <a:fld id="{1D3F9A0F-2214-4310-82AF-6CDA2845DFDE}" type="slidenum">
              <a:rPr lang="en-US" altLang="zh-CN"/>
              <a:pPr/>
              <a:t>47</a:t>
            </a:fld>
            <a:endParaRPr lang="en-US" altLang="zh-CN"/>
          </a:p>
        </p:txBody>
      </p:sp>
      <p:sp>
        <p:nvSpPr>
          <p:cNvPr id="558083" name="Rectangle 3"/>
          <p:cNvSpPr>
            <a:spLocks noChangeArrowheads="1"/>
          </p:cNvSpPr>
          <p:nvPr/>
        </p:nvSpPr>
        <p:spPr bwMode="auto">
          <a:xfrm>
            <a:off x="304800" y="1690687"/>
            <a:ext cx="5181600" cy="519113"/>
          </a:xfrm>
          <a:prstGeom prst="rect">
            <a:avLst/>
          </a:prstGeom>
          <a:noFill/>
          <a:ln w="9525">
            <a:noFill/>
            <a:miter lim="800000"/>
            <a:headEnd/>
            <a:tailEnd/>
          </a:ln>
          <a:effectLst/>
        </p:spPr>
        <p:txBody>
          <a:bodyPr>
            <a:spAutoFit/>
          </a:bodyPr>
          <a:lstStyle/>
          <a:p>
            <a:r>
              <a:rPr kumimoji="1" lang="zh-CN" altLang="en-US" sz="2800" dirty="0">
                <a:solidFill>
                  <a:srgbClr val="0000CC"/>
                </a:solidFill>
              </a:rPr>
              <a:t>（</a:t>
            </a:r>
            <a:r>
              <a:rPr kumimoji="1" lang="en-US" altLang="zh-CN" sz="2800" dirty="0">
                <a:solidFill>
                  <a:srgbClr val="0000CC"/>
                </a:solidFill>
              </a:rPr>
              <a:t>3</a:t>
            </a:r>
            <a:r>
              <a:rPr kumimoji="1" lang="zh-CN" altLang="en-US" sz="2800" dirty="0">
                <a:solidFill>
                  <a:srgbClr val="0000CC"/>
                </a:solidFill>
              </a:rPr>
              <a:t>）最可几速率</a:t>
            </a:r>
            <a:r>
              <a:rPr kumimoji="1" lang="en-US" altLang="zh-CN" sz="2800" dirty="0">
                <a:solidFill>
                  <a:srgbClr val="0000CC"/>
                </a:solidFill>
              </a:rPr>
              <a:t>(</a:t>
            </a:r>
            <a:r>
              <a:rPr kumimoji="1" lang="zh-CN" altLang="en-US" sz="2800" dirty="0">
                <a:solidFill>
                  <a:srgbClr val="0000CC"/>
                </a:solidFill>
              </a:rPr>
              <a:t>最概然速率</a:t>
            </a:r>
            <a:r>
              <a:rPr kumimoji="1" lang="en-US" altLang="zh-CN" sz="2800" dirty="0">
                <a:solidFill>
                  <a:srgbClr val="0000CC"/>
                </a:solidFill>
              </a:rPr>
              <a:t>)</a:t>
            </a:r>
            <a:r>
              <a:rPr kumimoji="1" lang="zh-CN" altLang="en-US" sz="2800" dirty="0">
                <a:solidFill>
                  <a:srgbClr val="0000CC"/>
                </a:solidFill>
              </a:rPr>
              <a:t>：</a:t>
            </a:r>
          </a:p>
        </p:txBody>
      </p:sp>
      <p:sp>
        <p:nvSpPr>
          <p:cNvPr id="558084" name="Rectangle 4"/>
          <p:cNvSpPr>
            <a:spLocks noChangeArrowheads="1"/>
          </p:cNvSpPr>
          <p:nvPr/>
        </p:nvSpPr>
        <p:spPr bwMode="auto">
          <a:xfrm>
            <a:off x="501650" y="1219200"/>
            <a:ext cx="20129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三个统计速率</a:t>
            </a:r>
          </a:p>
        </p:txBody>
      </p:sp>
      <p:sp>
        <p:nvSpPr>
          <p:cNvPr id="558087" name="Text Box 7"/>
          <p:cNvSpPr txBox="1">
            <a:spLocks noChangeArrowheads="1"/>
          </p:cNvSpPr>
          <p:nvPr/>
        </p:nvSpPr>
        <p:spPr bwMode="auto">
          <a:xfrm>
            <a:off x="304800" y="2178050"/>
            <a:ext cx="8686800" cy="946150"/>
          </a:xfrm>
          <a:prstGeom prst="rect">
            <a:avLst/>
          </a:prstGeom>
          <a:noFill/>
          <a:ln w="9525">
            <a:noFill/>
            <a:miter lim="800000"/>
            <a:headEnd/>
            <a:tailEnd/>
          </a:ln>
          <a:effectLst/>
        </p:spPr>
        <p:txBody>
          <a:bodyPr>
            <a:spAutoFit/>
          </a:bodyPr>
          <a:lstStyle/>
          <a:p>
            <a:pPr>
              <a:spcBef>
                <a:spcPct val="15000"/>
              </a:spcBef>
            </a:pPr>
            <a:r>
              <a:rPr lang="zh-CN" altLang="en-US" sz="2800" dirty="0"/>
              <a:t>在</a:t>
            </a:r>
            <a:r>
              <a:rPr lang="zh-CN" altLang="en-US" sz="2800" dirty="0">
                <a:solidFill>
                  <a:srgbClr val="0000CC"/>
                </a:solidFill>
              </a:rPr>
              <a:t>平衡态</a:t>
            </a:r>
            <a:r>
              <a:rPr lang="zh-CN" altLang="en-US" sz="2800" dirty="0"/>
              <a:t>条件下，理想气体分子速率分布在</a:t>
            </a:r>
            <a:r>
              <a:rPr lang="en-US" altLang="zh-CN" sz="2800" i="1" dirty="0" err="1">
                <a:latin typeface="Book Antiqua" pitchFamily="18" charset="0"/>
              </a:rPr>
              <a:t>v</a:t>
            </a:r>
            <a:r>
              <a:rPr lang="en-US" altLang="zh-CN" sz="2800" baseline="-25000" dirty="0" err="1"/>
              <a:t>p</a:t>
            </a:r>
            <a:r>
              <a:rPr lang="zh-CN" altLang="en-US" sz="2800" dirty="0"/>
              <a:t>附近的单位速率区间内的分子数占气体总分子数的百分比最大。 </a:t>
            </a:r>
          </a:p>
        </p:txBody>
      </p:sp>
      <p:graphicFrame>
        <p:nvGraphicFramePr>
          <p:cNvPr id="558088" name="Object 8"/>
          <p:cNvGraphicFramePr>
            <a:graphicFrameLocks noChangeAspect="1"/>
          </p:cNvGraphicFramePr>
          <p:nvPr/>
        </p:nvGraphicFramePr>
        <p:xfrm>
          <a:off x="609600" y="3251200"/>
          <a:ext cx="1522413" cy="787400"/>
        </p:xfrm>
        <a:graphic>
          <a:graphicData uri="http://schemas.openxmlformats.org/presentationml/2006/ole">
            <mc:AlternateContent xmlns:mc="http://schemas.openxmlformats.org/markup-compatibility/2006">
              <mc:Choice xmlns:v="urn:schemas-microsoft-com:vml" Requires="v">
                <p:oleObj name="公式" r:id="rId2" imgW="761760" imgH="393480" progId="Equation.3">
                  <p:embed/>
                </p:oleObj>
              </mc:Choice>
              <mc:Fallback>
                <p:oleObj name="公式" r:id="rId2" imgW="761760" imgH="393480" progId="Equation.3">
                  <p:embed/>
                  <p:pic>
                    <p:nvPicPr>
                      <p:cNvPr id="55808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251200"/>
                        <a:ext cx="15224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8089" name="Object 9"/>
          <p:cNvGraphicFramePr>
            <a:graphicFrameLocks noChangeAspect="1"/>
          </p:cNvGraphicFramePr>
          <p:nvPr/>
        </p:nvGraphicFramePr>
        <p:xfrm>
          <a:off x="685800" y="4179094"/>
          <a:ext cx="1473200" cy="965200"/>
        </p:xfrm>
        <a:graphic>
          <a:graphicData uri="http://schemas.openxmlformats.org/presentationml/2006/ole">
            <mc:AlternateContent xmlns:mc="http://schemas.openxmlformats.org/markup-compatibility/2006">
              <mc:Choice xmlns:v="urn:schemas-microsoft-com:vml" Requires="v">
                <p:oleObj name="公式" r:id="rId4" imgW="736560" imgH="482400" progId="Equation.3">
                  <p:embed/>
                </p:oleObj>
              </mc:Choice>
              <mc:Fallback>
                <p:oleObj name="公式" r:id="rId4" imgW="736560" imgH="482400" progId="Equation.3">
                  <p:embed/>
                  <p:pic>
                    <p:nvPicPr>
                      <p:cNvPr id="55808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179094"/>
                        <a:ext cx="14732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8090" name="Object 10"/>
          <p:cNvGraphicFramePr>
            <a:graphicFrameLocks noChangeAspect="1"/>
          </p:cNvGraphicFramePr>
          <p:nvPr/>
        </p:nvGraphicFramePr>
        <p:xfrm>
          <a:off x="1066800" y="5284787"/>
          <a:ext cx="2640013" cy="887413"/>
        </p:xfrm>
        <a:graphic>
          <a:graphicData uri="http://schemas.openxmlformats.org/presentationml/2006/ole">
            <mc:AlternateContent xmlns:mc="http://schemas.openxmlformats.org/markup-compatibility/2006">
              <mc:Choice xmlns:v="urn:schemas-microsoft-com:vml" Requires="v">
                <p:oleObj name="公式" r:id="rId6" imgW="1320480" imgH="444240" progId="Equation.3">
                  <p:embed/>
                </p:oleObj>
              </mc:Choice>
              <mc:Fallback>
                <p:oleObj name="公式" r:id="rId6" imgW="1320480" imgH="444240" progId="Equation.3">
                  <p:embed/>
                  <p:pic>
                    <p:nvPicPr>
                      <p:cNvPr id="55809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5284787"/>
                        <a:ext cx="2640013" cy="887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58091" name="Group 11"/>
          <p:cNvGrpSpPr>
            <a:grpSpLocks/>
          </p:cNvGrpSpPr>
          <p:nvPr/>
        </p:nvGrpSpPr>
        <p:grpSpPr bwMode="auto">
          <a:xfrm>
            <a:off x="4500563" y="3068638"/>
            <a:ext cx="4435475" cy="3360737"/>
            <a:chOff x="816" y="1969"/>
            <a:chExt cx="2794" cy="2117"/>
          </a:xfrm>
        </p:grpSpPr>
        <p:sp>
          <p:nvSpPr>
            <p:cNvPr id="558092" name="Line 12"/>
            <p:cNvSpPr>
              <a:spLocks noChangeShapeType="1"/>
            </p:cNvSpPr>
            <p:nvPr/>
          </p:nvSpPr>
          <p:spPr bwMode="auto">
            <a:xfrm>
              <a:off x="816" y="3792"/>
              <a:ext cx="2744" cy="1"/>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58093" name="Line 13"/>
            <p:cNvSpPr>
              <a:spLocks noChangeShapeType="1"/>
            </p:cNvSpPr>
            <p:nvPr/>
          </p:nvSpPr>
          <p:spPr bwMode="auto">
            <a:xfrm flipV="1">
              <a:off x="816" y="2016"/>
              <a:ext cx="0" cy="1776"/>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58094" name="Freeform 14"/>
            <p:cNvSpPr>
              <a:spLocks/>
            </p:cNvSpPr>
            <p:nvPr/>
          </p:nvSpPr>
          <p:spPr bwMode="auto">
            <a:xfrm>
              <a:off x="816" y="2304"/>
              <a:ext cx="2427" cy="1496"/>
            </a:xfrm>
            <a:custGeom>
              <a:avLst/>
              <a:gdLst/>
              <a:ahLst/>
              <a:cxnLst>
                <a:cxn ang="0">
                  <a:pos x="0" y="1496"/>
                </a:cxn>
                <a:cxn ang="0">
                  <a:pos x="288" y="1160"/>
                </a:cxn>
                <a:cxn ang="0">
                  <a:pos x="576" y="488"/>
                </a:cxn>
                <a:cxn ang="0">
                  <a:pos x="816" y="104"/>
                </a:cxn>
                <a:cxn ang="0">
                  <a:pos x="1008" y="8"/>
                </a:cxn>
                <a:cxn ang="0">
                  <a:pos x="1200" y="152"/>
                </a:cxn>
                <a:cxn ang="0">
                  <a:pos x="1344" y="440"/>
                </a:cxn>
                <a:cxn ang="0">
                  <a:pos x="1584" y="1016"/>
                </a:cxn>
                <a:cxn ang="0">
                  <a:pos x="1968" y="1304"/>
                </a:cxn>
                <a:cxn ang="0">
                  <a:pos x="2352" y="1400"/>
                </a:cxn>
              </a:cxnLst>
              <a:rect l="0" t="0" r="r" b="b"/>
              <a:pathLst>
                <a:path w="2352" h="1496">
                  <a:moveTo>
                    <a:pt x="0" y="1496"/>
                  </a:moveTo>
                  <a:cubicBezTo>
                    <a:pt x="96" y="1412"/>
                    <a:pt x="192" y="1328"/>
                    <a:pt x="288" y="1160"/>
                  </a:cubicBezTo>
                  <a:cubicBezTo>
                    <a:pt x="384" y="992"/>
                    <a:pt x="488" y="664"/>
                    <a:pt x="576" y="488"/>
                  </a:cubicBezTo>
                  <a:cubicBezTo>
                    <a:pt x="664" y="312"/>
                    <a:pt x="744" y="184"/>
                    <a:pt x="816" y="104"/>
                  </a:cubicBezTo>
                  <a:cubicBezTo>
                    <a:pt x="888" y="24"/>
                    <a:pt x="944" y="0"/>
                    <a:pt x="1008" y="8"/>
                  </a:cubicBezTo>
                  <a:cubicBezTo>
                    <a:pt x="1072" y="16"/>
                    <a:pt x="1144" y="80"/>
                    <a:pt x="1200" y="152"/>
                  </a:cubicBezTo>
                  <a:cubicBezTo>
                    <a:pt x="1256" y="224"/>
                    <a:pt x="1280" y="296"/>
                    <a:pt x="1344" y="440"/>
                  </a:cubicBezTo>
                  <a:cubicBezTo>
                    <a:pt x="1408" y="584"/>
                    <a:pt x="1480" y="872"/>
                    <a:pt x="1584" y="1016"/>
                  </a:cubicBezTo>
                  <a:cubicBezTo>
                    <a:pt x="1688" y="1160"/>
                    <a:pt x="1840" y="1240"/>
                    <a:pt x="1968" y="1304"/>
                  </a:cubicBezTo>
                  <a:cubicBezTo>
                    <a:pt x="2096" y="1368"/>
                    <a:pt x="2224" y="1384"/>
                    <a:pt x="2352" y="1400"/>
                  </a:cubicBezTo>
                </a:path>
              </a:pathLst>
            </a:custGeom>
            <a:noFill/>
            <a:ln w="28575" cmpd="sng">
              <a:solidFill>
                <a:srgbClr val="0000FF"/>
              </a:solidFill>
              <a:round/>
              <a:headEnd/>
              <a:tailEnd/>
            </a:ln>
            <a:effectLst/>
          </p:spPr>
          <p:txBody>
            <a:bodyPr wrap="none" anchor="ctr"/>
            <a:lstStyle/>
            <a:p>
              <a:endParaRPr lang="zh-CN" altLang="en-US"/>
            </a:p>
          </p:txBody>
        </p:sp>
        <p:sp>
          <p:nvSpPr>
            <p:cNvPr id="558095" name="Text Box 15"/>
            <p:cNvSpPr txBox="1">
              <a:spLocks noChangeArrowheads="1"/>
            </p:cNvSpPr>
            <p:nvPr/>
          </p:nvSpPr>
          <p:spPr bwMode="auto">
            <a:xfrm>
              <a:off x="860" y="1969"/>
              <a:ext cx="841" cy="327"/>
            </a:xfrm>
            <a:prstGeom prst="rect">
              <a:avLst/>
            </a:prstGeom>
            <a:noFill/>
            <a:ln w="9525">
              <a:noFill/>
              <a:miter lim="800000"/>
              <a:headEnd/>
              <a:tailEnd/>
            </a:ln>
            <a:effectLst/>
          </p:spPr>
          <p:txBody>
            <a:bodyPr>
              <a:spAutoFit/>
            </a:bodyPr>
            <a:lstStyle/>
            <a:p>
              <a:pPr>
                <a:spcBef>
                  <a:spcPct val="50000"/>
                </a:spcBef>
              </a:pPr>
              <a:r>
                <a:rPr kumimoji="1" lang="en-US" altLang="zh-CN" sz="2800" b="1" i="1" dirty="0">
                  <a:latin typeface="Book Antiqua" pitchFamily="18" charset="0"/>
                </a:rPr>
                <a:t>f(v)</a:t>
              </a:r>
            </a:p>
          </p:txBody>
        </p:sp>
        <p:sp>
          <p:nvSpPr>
            <p:cNvPr id="558096" name="Rectangle 16"/>
            <p:cNvSpPr>
              <a:spLocks noChangeArrowheads="1"/>
            </p:cNvSpPr>
            <p:nvPr/>
          </p:nvSpPr>
          <p:spPr bwMode="auto">
            <a:xfrm>
              <a:off x="3352" y="3721"/>
              <a:ext cx="258" cy="365"/>
            </a:xfrm>
            <a:prstGeom prst="rect">
              <a:avLst/>
            </a:prstGeom>
            <a:noFill/>
            <a:ln w="9525">
              <a:noFill/>
              <a:miter lim="800000"/>
              <a:headEnd/>
              <a:tailEnd/>
            </a:ln>
            <a:effectLst/>
          </p:spPr>
          <p:txBody>
            <a:bodyPr wrap="none">
              <a:spAutoFit/>
            </a:bodyPr>
            <a:lstStyle/>
            <a:p>
              <a:r>
                <a:rPr kumimoji="1" lang="en-US" altLang="zh-CN" sz="3200" b="1" i="1">
                  <a:latin typeface="Book Antiqua" pitchFamily="18" charset="0"/>
                </a:rPr>
                <a:t>v</a:t>
              </a:r>
            </a:p>
          </p:txBody>
        </p:sp>
      </p:grpSp>
      <p:grpSp>
        <p:nvGrpSpPr>
          <p:cNvPr id="558097" name="Group 17"/>
          <p:cNvGrpSpPr>
            <a:grpSpLocks/>
          </p:cNvGrpSpPr>
          <p:nvPr/>
        </p:nvGrpSpPr>
        <p:grpSpPr bwMode="auto">
          <a:xfrm>
            <a:off x="5905500" y="3602040"/>
            <a:ext cx="266700" cy="2722563"/>
            <a:chOff x="1701" y="2305"/>
            <a:chExt cx="168" cy="1715"/>
          </a:xfrm>
        </p:grpSpPr>
        <p:sp>
          <p:nvSpPr>
            <p:cNvPr id="558098" name="Line 18"/>
            <p:cNvSpPr>
              <a:spLocks noChangeShapeType="1"/>
            </p:cNvSpPr>
            <p:nvPr/>
          </p:nvSpPr>
          <p:spPr bwMode="auto">
            <a:xfrm>
              <a:off x="1834" y="2305"/>
              <a:ext cx="0" cy="1488"/>
            </a:xfrm>
            <a:prstGeom prst="line">
              <a:avLst/>
            </a:prstGeom>
            <a:noFill/>
            <a:ln w="9525">
              <a:solidFill>
                <a:schemeClr val="tx1"/>
              </a:solidFill>
              <a:prstDash val="dash"/>
              <a:round/>
              <a:headEnd/>
              <a:tailEnd/>
            </a:ln>
            <a:effectLst/>
          </p:spPr>
          <p:txBody>
            <a:bodyPr wrap="none" anchor="ctr"/>
            <a:lstStyle/>
            <a:p>
              <a:endParaRPr lang="zh-CN" altLang="en-US"/>
            </a:p>
          </p:txBody>
        </p:sp>
        <p:graphicFrame>
          <p:nvGraphicFramePr>
            <p:cNvPr id="558099" name="Object 19"/>
            <p:cNvGraphicFramePr>
              <a:graphicFrameLocks noChangeAspect="1"/>
            </p:cNvGraphicFramePr>
            <p:nvPr/>
          </p:nvGraphicFramePr>
          <p:xfrm>
            <a:off x="1701" y="3793"/>
            <a:ext cx="168" cy="227"/>
          </p:xfrm>
          <a:graphic>
            <a:graphicData uri="http://schemas.openxmlformats.org/presentationml/2006/ole">
              <mc:AlternateContent xmlns:mc="http://schemas.openxmlformats.org/markup-compatibility/2006">
                <mc:Choice xmlns:v="urn:schemas-microsoft-com:vml" Requires="v">
                  <p:oleObj name="公式" r:id="rId8" imgW="177480" imgH="241200" progId="Equation.3">
                    <p:embed/>
                  </p:oleObj>
                </mc:Choice>
                <mc:Fallback>
                  <p:oleObj name="公式" r:id="rId8" imgW="177480" imgH="241200" progId="Equation.3">
                    <p:embed/>
                    <p:pic>
                      <p:nvPicPr>
                        <p:cNvPr id="558099"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1" y="3793"/>
                          <a:ext cx="168"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58100" name="Group 20"/>
          <p:cNvGrpSpPr>
            <a:grpSpLocks/>
          </p:cNvGrpSpPr>
          <p:nvPr/>
        </p:nvGrpSpPr>
        <p:grpSpPr bwMode="auto">
          <a:xfrm>
            <a:off x="6162677" y="3659190"/>
            <a:ext cx="207963" cy="2589213"/>
            <a:chOff x="1863" y="2341"/>
            <a:chExt cx="131" cy="1631"/>
          </a:xfrm>
        </p:grpSpPr>
        <p:sp>
          <p:nvSpPr>
            <p:cNvPr id="558101" name="Line 21"/>
            <p:cNvSpPr>
              <a:spLocks noChangeShapeType="1"/>
            </p:cNvSpPr>
            <p:nvPr/>
          </p:nvSpPr>
          <p:spPr bwMode="auto">
            <a:xfrm>
              <a:off x="1946" y="2341"/>
              <a:ext cx="0" cy="1440"/>
            </a:xfrm>
            <a:prstGeom prst="line">
              <a:avLst/>
            </a:prstGeom>
            <a:noFill/>
            <a:ln w="9525">
              <a:solidFill>
                <a:schemeClr val="tx1"/>
              </a:solidFill>
              <a:prstDash val="dash"/>
              <a:round/>
              <a:headEnd/>
              <a:tailEnd/>
            </a:ln>
            <a:effectLst/>
          </p:spPr>
          <p:txBody>
            <a:bodyPr wrap="none" anchor="ctr"/>
            <a:lstStyle/>
            <a:p>
              <a:endParaRPr lang="zh-CN" altLang="en-US"/>
            </a:p>
          </p:txBody>
        </p:sp>
        <p:graphicFrame>
          <p:nvGraphicFramePr>
            <p:cNvPr id="558102" name="Object 22"/>
            <p:cNvGraphicFramePr>
              <a:graphicFrameLocks noChangeAspect="1"/>
            </p:cNvGraphicFramePr>
            <p:nvPr/>
          </p:nvGraphicFramePr>
          <p:xfrm>
            <a:off x="1863" y="3816"/>
            <a:ext cx="131" cy="156"/>
          </p:xfrm>
          <a:graphic>
            <a:graphicData uri="http://schemas.openxmlformats.org/presentationml/2006/ole">
              <mc:AlternateContent xmlns:mc="http://schemas.openxmlformats.org/markup-compatibility/2006">
                <mc:Choice xmlns:v="urn:schemas-microsoft-com:vml" Requires="v">
                  <p:oleObj name="公式" r:id="rId10" imgW="139680" imgH="164880" progId="Equation.3">
                    <p:embed/>
                  </p:oleObj>
                </mc:Choice>
                <mc:Fallback>
                  <p:oleObj name="公式" r:id="rId10" imgW="139680" imgH="164880" progId="Equation.3">
                    <p:embed/>
                    <p:pic>
                      <p:nvPicPr>
                        <p:cNvPr id="558102"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3" y="3816"/>
                          <a:ext cx="131" cy="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58103" name="Group 23"/>
          <p:cNvGrpSpPr>
            <a:grpSpLocks/>
          </p:cNvGrpSpPr>
          <p:nvPr/>
        </p:nvGrpSpPr>
        <p:grpSpPr bwMode="auto">
          <a:xfrm>
            <a:off x="6324603" y="3760790"/>
            <a:ext cx="474663" cy="2601913"/>
            <a:chOff x="1965" y="2405"/>
            <a:chExt cx="299" cy="1639"/>
          </a:xfrm>
        </p:grpSpPr>
        <p:sp>
          <p:nvSpPr>
            <p:cNvPr id="558104" name="Line 24"/>
            <p:cNvSpPr>
              <a:spLocks noChangeShapeType="1"/>
            </p:cNvSpPr>
            <p:nvPr/>
          </p:nvSpPr>
          <p:spPr bwMode="auto">
            <a:xfrm>
              <a:off x="2018" y="2405"/>
              <a:ext cx="0" cy="1392"/>
            </a:xfrm>
            <a:prstGeom prst="line">
              <a:avLst/>
            </a:prstGeom>
            <a:noFill/>
            <a:ln w="9525">
              <a:solidFill>
                <a:schemeClr val="tx1"/>
              </a:solidFill>
              <a:prstDash val="dash"/>
              <a:round/>
              <a:headEnd/>
              <a:tailEnd/>
            </a:ln>
            <a:effectLst/>
          </p:spPr>
          <p:txBody>
            <a:bodyPr wrap="none" anchor="ctr"/>
            <a:lstStyle/>
            <a:p>
              <a:endParaRPr lang="zh-CN" altLang="en-US"/>
            </a:p>
          </p:txBody>
        </p:sp>
        <p:graphicFrame>
          <p:nvGraphicFramePr>
            <p:cNvPr id="558105" name="Object 25"/>
            <p:cNvGraphicFramePr>
              <a:graphicFrameLocks noChangeAspect="1"/>
            </p:cNvGraphicFramePr>
            <p:nvPr/>
          </p:nvGraphicFramePr>
          <p:xfrm>
            <a:off x="1965" y="3780"/>
            <a:ext cx="299" cy="264"/>
          </p:xfrm>
          <a:graphic>
            <a:graphicData uri="http://schemas.openxmlformats.org/presentationml/2006/ole">
              <mc:AlternateContent xmlns:mc="http://schemas.openxmlformats.org/markup-compatibility/2006">
                <mc:Choice xmlns:v="urn:schemas-microsoft-com:vml" Requires="v">
                  <p:oleObj name="公式" r:id="rId12" imgW="317160" imgH="279360" progId="Equation.3">
                    <p:embed/>
                  </p:oleObj>
                </mc:Choice>
                <mc:Fallback>
                  <p:oleObj name="公式" r:id="rId12" imgW="317160" imgH="279360" progId="Equation.3">
                    <p:embed/>
                    <p:pic>
                      <p:nvPicPr>
                        <p:cNvPr id="558105"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65" y="3780"/>
                          <a:ext cx="299"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8087"/>
                                        </p:tgtEl>
                                        <p:attrNameLst>
                                          <p:attrName>style.visibility</p:attrName>
                                        </p:attrNameLst>
                                      </p:cBhvr>
                                      <p:to>
                                        <p:strVal val="visible"/>
                                      </p:to>
                                    </p:set>
                                    <p:animEffect transition="in" filter="blinds(horizontal)">
                                      <p:cBhvr>
                                        <p:cTn id="7" dur="500"/>
                                        <p:tgtEl>
                                          <p:spTgt spid="55808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58088"/>
                                        </p:tgtEl>
                                        <p:attrNameLst>
                                          <p:attrName>style.visibility</p:attrName>
                                        </p:attrNameLst>
                                      </p:cBhvr>
                                      <p:to>
                                        <p:strVal val="visible"/>
                                      </p:to>
                                    </p:set>
                                    <p:animEffect transition="in" filter="strips(upRight)">
                                      <p:cBhvr>
                                        <p:cTn id="12" dur="500"/>
                                        <p:tgtEl>
                                          <p:spTgt spid="55808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558089"/>
                                        </p:tgtEl>
                                        <p:attrNameLst>
                                          <p:attrName>style.visibility</p:attrName>
                                        </p:attrNameLst>
                                      </p:cBhvr>
                                      <p:to>
                                        <p:strVal val="visible"/>
                                      </p:to>
                                    </p:set>
                                    <p:animEffect transition="in" filter="strips(upRight)">
                                      <p:cBhvr>
                                        <p:cTn id="17" dur="500"/>
                                        <p:tgtEl>
                                          <p:spTgt spid="55808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558090"/>
                                        </p:tgtEl>
                                        <p:attrNameLst>
                                          <p:attrName>style.visibility</p:attrName>
                                        </p:attrNameLst>
                                      </p:cBhvr>
                                      <p:to>
                                        <p:strVal val="visible"/>
                                      </p:to>
                                    </p:set>
                                    <p:animEffect transition="in" filter="strips(upRight)">
                                      <p:cBhvr>
                                        <p:cTn id="22" dur="500"/>
                                        <p:tgtEl>
                                          <p:spTgt spid="55809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80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58097"/>
                                        </p:tgtEl>
                                        <p:attrNameLst>
                                          <p:attrName>style.visibility</p:attrName>
                                        </p:attrNameLst>
                                      </p:cBhvr>
                                      <p:to>
                                        <p:strVal val="visible"/>
                                      </p:to>
                                    </p:set>
                                    <p:animEffect transition="in" filter="wipe(down)">
                                      <p:cBhvr>
                                        <p:cTn id="31" dur="500"/>
                                        <p:tgtEl>
                                          <p:spTgt spid="55809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558100"/>
                                        </p:tgtEl>
                                        <p:attrNameLst>
                                          <p:attrName>style.visibility</p:attrName>
                                        </p:attrNameLst>
                                      </p:cBhvr>
                                      <p:to>
                                        <p:strVal val="visible"/>
                                      </p:to>
                                    </p:set>
                                    <p:animEffect transition="in" filter="wipe(down)">
                                      <p:cBhvr>
                                        <p:cTn id="36" dur="500"/>
                                        <p:tgtEl>
                                          <p:spTgt spid="55810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58103"/>
                                        </p:tgtEl>
                                        <p:attrNameLst>
                                          <p:attrName>style.visibility</p:attrName>
                                        </p:attrNameLst>
                                      </p:cBhvr>
                                      <p:to>
                                        <p:strVal val="visible"/>
                                      </p:to>
                                    </p:set>
                                    <p:animEffect transition="in" filter="wipe(down)">
                                      <p:cBhvr>
                                        <p:cTn id="41" dur="500"/>
                                        <p:tgtEl>
                                          <p:spTgt spid="558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r>
              <a:rPr lang="en-US" altLang="zh-CN"/>
              <a:t>10.4 </a:t>
            </a:r>
            <a:r>
              <a:rPr lang="zh-CN" altLang="en-US"/>
              <a:t>麦克斯韦速率分布</a:t>
            </a:r>
          </a:p>
        </p:txBody>
      </p:sp>
      <p:sp>
        <p:nvSpPr>
          <p:cNvPr id="5" name="灯片编号占位符 4"/>
          <p:cNvSpPr>
            <a:spLocks noGrp="1"/>
          </p:cNvSpPr>
          <p:nvPr>
            <p:ph type="sldNum" sz="quarter" idx="12"/>
          </p:nvPr>
        </p:nvSpPr>
        <p:spPr/>
        <p:txBody>
          <a:bodyPr/>
          <a:lstStyle/>
          <a:p>
            <a:fld id="{854B1C0A-1C21-4994-A26D-FD9DE7F21C43}" type="slidenum">
              <a:rPr lang="en-US" altLang="zh-CN"/>
              <a:pPr/>
              <a:t>48</a:t>
            </a:fld>
            <a:endParaRPr lang="en-US" altLang="zh-CN"/>
          </a:p>
        </p:txBody>
      </p:sp>
    </p:spTree>
    <p:controls>
      <mc:AlternateContent xmlns:mc="http://schemas.openxmlformats.org/markup-compatibility/2006">
        <mc:Choice xmlns:v="urn:schemas-microsoft-com:vml" Requires="v">
          <p:control r:id="rId1" imgW="6741074" imgH="5040762"/>
        </mc:Choice>
        <mc:Fallback>
          <p:control r:id="rId1" imgW="6741074" imgH="5040762">
            <p:pic>
              <p:nvPicPr>
                <p:cNvPr id="2" name="ShockwaveFlash1"/>
                <p:cNvPicPr preferRelativeResize="0">
                  <a:picLocks noChangeAspect="1"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1219200"/>
                  <a:ext cx="6740525" cy="5040313"/>
                </a:xfrm>
                <a:prstGeom prst="rect">
                  <a:avLst/>
                </a:prstGeom>
                <a:noFill/>
                <a:ln w="19050">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en-US" altLang="zh-CN"/>
              <a:t>10.4 </a:t>
            </a:r>
            <a:r>
              <a:rPr lang="zh-CN" altLang="en-US"/>
              <a:t>麦克斯韦速率分布</a:t>
            </a:r>
          </a:p>
        </p:txBody>
      </p:sp>
      <p:sp>
        <p:nvSpPr>
          <p:cNvPr id="6" name="灯片编号占位符 4"/>
          <p:cNvSpPr>
            <a:spLocks noGrp="1"/>
          </p:cNvSpPr>
          <p:nvPr>
            <p:ph type="sldNum" sz="quarter" idx="12"/>
          </p:nvPr>
        </p:nvSpPr>
        <p:spPr/>
        <p:txBody>
          <a:bodyPr/>
          <a:lstStyle/>
          <a:p>
            <a:fld id="{D0CED4CC-0DDA-4A4F-ADB6-A6358F386A74}" type="slidenum">
              <a:rPr lang="en-US" altLang="zh-CN"/>
              <a:pPr/>
              <a:t>49</a:t>
            </a:fld>
            <a:endParaRPr lang="en-US" altLang="zh-CN"/>
          </a:p>
        </p:txBody>
      </p:sp>
      <p:pic>
        <p:nvPicPr>
          <p:cNvPr id="557059" name="Picture 3"/>
          <p:cNvPicPr>
            <a:picLocks noChangeAspect="1" noChangeArrowheads="1"/>
          </p:cNvPicPr>
          <p:nvPr/>
        </p:nvPicPr>
        <p:blipFill>
          <a:blip r:embed="rId2">
            <a:lum bright="6000" contrast="18000"/>
          </a:blip>
          <a:srcRect/>
          <a:stretch>
            <a:fillRect/>
          </a:stretch>
        </p:blipFill>
        <p:spPr bwMode="auto">
          <a:xfrm>
            <a:off x="1981200" y="1288872"/>
            <a:ext cx="5410200" cy="4994275"/>
          </a:xfrm>
          <a:prstGeom prst="rect">
            <a:avLst/>
          </a:prstGeom>
          <a:noFill/>
          <a:ln w="19050">
            <a:noFill/>
            <a:miter lim="800000"/>
            <a:headEnd/>
            <a:tailEnd type="none" w="sm" len="lg"/>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r>
              <a:rPr lang="en-US" altLang="zh-CN"/>
              <a:t>10.4 </a:t>
            </a:r>
            <a:r>
              <a:rPr lang="zh-CN" altLang="en-US"/>
              <a:t>麦克斯韦速率分布</a:t>
            </a:r>
          </a:p>
        </p:txBody>
      </p:sp>
      <p:sp>
        <p:nvSpPr>
          <p:cNvPr id="6" name="灯片编号占位符 4"/>
          <p:cNvSpPr>
            <a:spLocks noGrp="1"/>
          </p:cNvSpPr>
          <p:nvPr>
            <p:ph type="sldNum" sz="quarter" idx="12"/>
          </p:nvPr>
        </p:nvSpPr>
        <p:spPr/>
        <p:txBody>
          <a:bodyPr/>
          <a:lstStyle/>
          <a:p>
            <a:fld id="{3915692A-D693-4C8F-92D6-6992AD00AF13}" type="slidenum">
              <a:rPr lang="en-US" altLang="zh-CN"/>
              <a:pPr/>
              <a:t>50</a:t>
            </a:fld>
            <a:endParaRPr lang="en-US" altLang="zh-CN"/>
          </a:p>
        </p:txBody>
      </p:sp>
      <p:pic>
        <p:nvPicPr>
          <p:cNvPr id="559108" name="Picture 4"/>
          <p:cNvPicPr>
            <a:picLocks noChangeAspect="1" noChangeArrowheads="1"/>
          </p:cNvPicPr>
          <p:nvPr/>
        </p:nvPicPr>
        <p:blipFill>
          <a:blip r:embed="rId2">
            <a:lum contrast="30000"/>
          </a:blip>
          <a:srcRect r="1466"/>
          <a:stretch>
            <a:fillRect/>
          </a:stretch>
        </p:blipFill>
        <p:spPr bwMode="auto">
          <a:xfrm>
            <a:off x="1828800" y="1295400"/>
            <a:ext cx="5330825" cy="4968875"/>
          </a:xfrm>
          <a:prstGeom prst="rect">
            <a:avLst/>
          </a:prstGeom>
          <a:noFill/>
          <a:ln w="19050">
            <a:noFill/>
            <a:miter lim="800000"/>
            <a:headEnd/>
            <a:tailEnd type="none" w="sm" len="lg"/>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p:txBody>
          <a:bodyPr/>
          <a:lstStyle/>
          <a:p>
            <a:r>
              <a:rPr lang="en-US" altLang="zh-CN"/>
              <a:t>10.4 </a:t>
            </a:r>
            <a:r>
              <a:rPr lang="zh-CN" altLang="en-US"/>
              <a:t>麦克斯韦速率分布</a:t>
            </a:r>
          </a:p>
        </p:txBody>
      </p:sp>
      <p:sp>
        <p:nvSpPr>
          <p:cNvPr id="7" name="灯片编号占位符 4"/>
          <p:cNvSpPr>
            <a:spLocks noGrp="1"/>
          </p:cNvSpPr>
          <p:nvPr>
            <p:ph type="sldNum" sz="quarter" idx="12"/>
          </p:nvPr>
        </p:nvSpPr>
        <p:spPr/>
        <p:txBody>
          <a:bodyPr/>
          <a:lstStyle/>
          <a:p>
            <a:fld id="{2A18711F-9850-47BB-8C0C-52BF3C27D5EB}" type="slidenum">
              <a:rPr lang="en-US" altLang="zh-CN"/>
              <a:pPr/>
              <a:t>51</a:t>
            </a:fld>
            <a:endParaRPr lang="en-US" altLang="zh-CN"/>
          </a:p>
        </p:txBody>
      </p:sp>
      <p:pic>
        <p:nvPicPr>
          <p:cNvPr id="552963" name="Picture 3" descr="maikesiwei"/>
          <p:cNvPicPr>
            <a:picLocks noChangeAspect="1" noChangeArrowheads="1"/>
          </p:cNvPicPr>
          <p:nvPr/>
        </p:nvPicPr>
        <p:blipFill>
          <a:blip r:embed="rId2"/>
          <a:srcRect/>
          <a:stretch>
            <a:fillRect/>
          </a:stretch>
        </p:blipFill>
        <p:spPr bwMode="auto">
          <a:xfrm>
            <a:off x="3056731" y="1210358"/>
            <a:ext cx="3030538" cy="4319587"/>
          </a:xfrm>
          <a:prstGeom prst="rect">
            <a:avLst/>
          </a:prstGeom>
          <a:noFill/>
        </p:spPr>
      </p:pic>
      <p:sp>
        <p:nvSpPr>
          <p:cNvPr id="552964" name="Rectangle 4"/>
          <p:cNvSpPr>
            <a:spLocks noChangeArrowheads="1"/>
          </p:cNvSpPr>
          <p:nvPr/>
        </p:nvSpPr>
        <p:spPr bwMode="auto">
          <a:xfrm>
            <a:off x="1866901" y="5493603"/>
            <a:ext cx="5410199" cy="830997"/>
          </a:xfrm>
          <a:prstGeom prst="rect">
            <a:avLst/>
          </a:prstGeom>
          <a:noFill/>
          <a:ln w="9525">
            <a:noFill/>
            <a:miter lim="800000"/>
            <a:headEnd/>
            <a:tailEnd/>
          </a:ln>
          <a:effectLst/>
        </p:spPr>
        <p:txBody>
          <a:bodyPr wrap="square">
            <a:spAutoFit/>
          </a:bodyPr>
          <a:lstStyle/>
          <a:p>
            <a:pPr algn="ctr"/>
            <a:r>
              <a:rPr kumimoji="1" lang="zh-CN" altLang="en-US" sz="2400" dirty="0"/>
              <a:t>麦克斯韦</a:t>
            </a:r>
          </a:p>
          <a:p>
            <a:pPr algn="ctr"/>
            <a:r>
              <a:rPr kumimoji="1" lang="en-US" altLang="zh-CN" sz="2400" dirty="0"/>
              <a:t>Maxwell</a:t>
            </a:r>
            <a:r>
              <a:rPr kumimoji="1" lang="zh-CN" altLang="en-US" sz="2400" dirty="0"/>
              <a:t>，</a:t>
            </a:r>
            <a:r>
              <a:rPr kumimoji="1" lang="en-US" altLang="zh-CN" sz="2400" dirty="0"/>
              <a:t>James Clerk (1831</a:t>
            </a:r>
            <a:r>
              <a:rPr kumimoji="1" lang="zh-CN" altLang="en-US" sz="2400" dirty="0"/>
              <a:t>～</a:t>
            </a:r>
            <a:r>
              <a:rPr kumimoji="1" lang="en-US" altLang="zh-CN" sz="2400" dirty="0"/>
              <a:t>1879)</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r>
              <a:rPr lang="en-US" altLang="zh-CN"/>
              <a:t>10.4 </a:t>
            </a:r>
            <a:r>
              <a:rPr lang="zh-CN" altLang="en-US"/>
              <a:t>麦克斯韦速率分布</a:t>
            </a:r>
          </a:p>
        </p:txBody>
      </p:sp>
      <p:sp>
        <p:nvSpPr>
          <p:cNvPr id="6" name="灯片编号占位符 4"/>
          <p:cNvSpPr>
            <a:spLocks noGrp="1"/>
          </p:cNvSpPr>
          <p:nvPr>
            <p:ph type="sldNum" sz="quarter" idx="12"/>
          </p:nvPr>
        </p:nvSpPr>
        <p:spPr/>
        <p:txBody>
          <a:bodyPr/>
          <a:lstStyle/>
          <a:p>
            <a:fld id="{16C8887F-559B-46E2-A3F5-761E5DEA85DB}" type="slidenum">
              <a:rPr lang="en-US" altLang="zh-CN"/>
              <a:pPr/>
              <a:t>52</a:t>
            </a:fld>
            <a:endParaRPr lang="en-US" altLang="zh-CN"/>
          </a:p>
        </p:txBody>
      </p:sp>
      <p:sp>
        <p:nvSpPr>
          <p:cNvPr id="561156" name="Rectangle 4"/>
          <p:cNvSpPr>
            <a:spLocks noChangeArrowheads="1"/>
          </p:cNvSpPr>
          <p:nvPr/>
        </p:nvSpPr>
        <p:spPr bwMode="auto">
          <a:xfrm>
            <a:off x="381000" y="1184275"/>
            <a:ext cx="8534400" cy="4911725"/>
          </a:xfrm>
          <a:prstGeom prst="rect">
            <a:avLst/>
          </a:prstGeom>
          <a:noFill/>
          <a:ln w="9525">
            <a:noFill/>
            <a:miter lim="800000"/>
            <a:headEnd/>
            <a:tailEnd/>
          </a:ln>
          <a:effectLst/>
        </p:spPr>
        <p:txBody>
          <a:bodyPr>
            <a:spAutoFit/>
          </a:bodyPr>
          <a:lstStyle/>
          <a:p>
            <a:pPr>
              <a:lnSpc>
                <a:spcPct val="110000"/>
              </a:lnSpc>
            </a:pPr>
            <a:r>
              <a:rPr kumimoji="1" lang="zh-CN" altLang="en-US" sz="2400" dirty="0"/>
              <a:t>麦克斯韦：英国物理学家。</a:t>
            </a:r>
            <a:r>
              <a:rPr kumimoji="1" lang="zh-CN" altLang="en-US" sz="2400" dirty="0">
                <a:solidFill>
                  <a:srgbClr val="0000CC"/>
                </a:solidFill>
              </a:rPr>
              <a:t>经典电动力学</a:t>
            </a:r>
            <a:r>
              <a:rPr kumimoji="1" lang="zh-CN" altLang="en-US" sz="2400" dirty="0"/>
              <a:t>的创始人，</a:t>
            </a:r>
            <a:r>
              <a:rPr kumimoji="1" lang="zh-CN" altLang="en-US" sz="2400" dirty="0">
                <a:solidFill>
                  <a:srgbClr val="0000CC"/>
                </a:solidFill>
              </a:rPr>
              <a:t>统计物理学</a:t>
            </a:r>
            <a:r>
              <a:rPr kumimoji="1" lang="zh-CN" altLang="en-US" sz="2400" dirty="0"/>
              <a:t>的奠基人之一。</a:t>
            </a:r>
            <a:r>
              <a:rPr kumimoji="1" lang="en-US" altLang="zh-CN" sz="2400" dirty="0"/>
              <a:t>1831 </a:t>
            </a:r>
            <a:r>
              <a:rPr kumimoji="1" lang="zh-CN" altLang="en-US" sz="2400" dirty="0"/>
              <a:t>年 </a:t>
            </a:r>
            <a:r>
              <a:rPr kumimoji="1" lang="en-US" altLang="zh-CN" sz="2400" dirty="0"/>
              <a:t>6</a:t>
            </a:r>
            <a:r>
              <a:rPr kumimoji="1" lang="zh-CN" altLang="en-US" sz="2400" dirty="0"/>
              <a:t>月</a:t>
            </a:r>
            <a:r>
              <a:rPr kumimoji="1" lang="en-US" altLang="zh-CN" sz="2400" dirty="0"/>
              <a:t>13</a:t>
            </a:r>
            <a:r>
              <a:rPr kumimoji="1" lang="zh-CN" altLang="en-US" sz="2400" dirty="0"/>
              <a:t>日生于爱丁堡，</a:t>
            </a:r>
            <a:r>
              <a:rPr kumimoji="1" lang="en-US" altLang="zh-CN" sz="2400" dirty="0"/>
              <a:t>1879 </a:t>
            </a:r>
            <a:r>
              <a:rPr kumimoji="1" lang="zh-CN" altLang="en-US" sz="2400" dirty="0"/>
              <a:t>年</a:t>
            </a:r>
            <a:r>
              <a:rPr kumimoji="1" lang="en-US" altLang="zh-CN" sz="2400" dirty="0"/>
              <a:t>11</a:t>
            </a:r>
            <a:r>
              <a:rPr kumimoji="1" lang="zh-CN" altLang="en-US" sz="2400" dirty="0"/>
              <a:t>月</a:t>
            </a:r>
            <a:r>
              <a:rPr kumimoji="1" lang="en-US" altLang="zh-CN" sz="2400" dirty="0"/>
              <a:t>5</a:t>
            </a:r>
            <a:r>
              <a:rPr kumimoji="1" lang="zh-CN" altLang="en-US" sz="2400" dirty="0"/>
              <a:t>日卒于剑桥。</a:t>
            </a:r>
            <a:r>
              <a:rPr kumimoji="1" lang="en-US" altLang="zh-CN" sz="2400" dirty="0"/>
              <a:t>1847~1850 </a:t>
            </a:r>
            <a:r>
              <a:rPr kumimoji="1" lang="zh-CN" altLang="en-US" sz="2400" dirty="0"/>
              <a:t>年在爱丁堡大学学习，</a:t>
            </a:r>
            <a:r>
              <a:rPr kumimoji="1" lang="en-US" altLang="zh-CN" sz="2400" dirty="0"/>
              <a:t>1850 ~1854</a:t>
            </a:r>
            <a:r>
              <a:rPr kumimoji="1" lang="zh-CN" altLang="en-US" sz="2400" dirty="0"/>
              <a:t>年入剑桥三一学院攻读数学。</a:t>
            </a:r>
            <a:r>
              <a:rPr kumimoji="1" lang="en-US" altLang="zh-CN" sz="2400" dirty="0"/>
              <a:t>1856~1860</a:t>
            </a:r>
            <a:r>
              <a:rPr kumimoji="1" lang="zh-CN" altLang="en-US" sz="2400" dirty="0"/>
              <a:t>年担任阿伯丁郡的马里查尔学院教授。</a:t>
            </a:r>
            <a:r>
              <a:rPr kumimoji="1" lang="en-US" altLang="zh-CN" sz="2400" dirty="0"/>
              <a:t>1860~1865</a:t>
            </a:r>
            <a:r>
              <a:rPr kumimoji="1" lang="zh-CN" altLang="en-US" sz="2400" dirty="0"/>
              <a:t>年在伦敦皇家学院执教，并从事气体运动理论的研究 。</a:t>
            </a:r>
            <a:r>
              <a:rPr kumimoji="1" lang="en-US" altLang="zh-CN" sz="2400" dirty="0"/>
              <a:t>1860 </a:t>
            </a:r>
            <a:r>
              <a:rPr kumimoji="1" lang="zh-CN" altLang="en-US" sz="2400" dirty="0"/>
              <a:t>年为英国皇家学会会员。</a:t>
            </a:r>
            <a:r>
              <a:rPr kumimoji="1" lang="en-US" altLang="zh-CN" sz="2400" dirty="0"/>
              <a:t>1871</a:t>
            </a:r>
            <a:r>
              <a:rPr kumimoji="1" lang="zh-CN" altLang="en-US" sz="2400" dirty="0"/>
              <a:t>年任剑桥大学教授，创建并领导了英国第一个专门的物理实验室 卡文迪什实验室 。</a:t>
            </a:r>
            <a:r>
              <a:rPr kumimoji="1" lang="zh-CN" altLang="en-US" sz="2400" dirty="0">
                <a:solidFill>
                  <a:srgbClr val="0000CC"/>
                </a:solidFill>
              </a:rPr>
              <a:t>麦克斯韦的主要贡献是创立了经典电动力学</a:t>
            </a:r>
            <a:r>
              <a:rPr kumimoji="1" lang="zh-CN" altLang="en-US" sz="2400" dirty="0"/>
              <a:t>。他发展了</a:t>
            </a:r>
            <a:r>
              <a:rPr kumimoji="1" lang="en-US" altLang="zh-CN" sz="2400" dirty="0"/>
              <a:t>M.</a:t>
            </a:r>
            <a:r>
              <a:rPr kumimoji="1" lang="zh-CN" altLang="en-US" sz="2400" dirty="0"/>
              <a:t>法拉第关于电、磁相互作用必须通过中间媒质的思想，并把这种中间媒质称为以太 </a:t>
            </a:r>
            <a:r>
              <a:rPr kumimoji="1" lang="en-US" altLang="zh-CN" sz="2400" dirty="0"/>
              <a:t>(</a:t>
            </a:r>
            <a:r>
              <a:rPr kumimoji="1" lang="zh-CN" altLang="en-US" sz="2400" dirty="0"/>
              <a:t>后来研究表明，不存在所谓的以太，这种中间媒质实际上是</a:t>
            </a:r>
            <a:r>
              <a:rPr kumimoji="1" lang="zh-CN" altLang="en-US" sz="2400" dirty="0">
                <a:solidFill>
                  <a:srgbClr val="0000CC"/>
                </a:solidFill>
              </a:rPr>
              <a:t>电磁场</a:t>
            </a:r>
            <a:r>
              <a:rPr kumimoji="1" lang="en-US" altLang="zh-CN" sz="2400" dirty="0"/>
              <a:t>)</a:t>
            </a:r>
            <a:r>
              <a:rPr kumimoji="1" lang="zh-CN" altLang="en-US" sz="2400" dirty="0"/>
              <a:t>，并在此基础上提出了</a:t>
            </a:r>
            <a:r>
              <a:rPr kumimoji="1" lang="zh-CN" altLang="en-US" sz="2400" dirty="0">
                <a:solidFill>
                  <a:srgbClr val="0000CC"/>
                </a:solidFill>
              </a:rPr>
              <a:t>位移电流</a:t>
            </a:r>
            <a:r>
              <a:rPr kumimoji="1" lang="zh-CN" altLang="en-US" sz="2400" dirty="0"/>
              <a:t>的概念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r>
              <a:rPr lang="en-US" altLang="zh-CN"/>
              <a:t>10.4 </a:t>
            </a:r>
            <a:r>
              <a:rPr lang="zh-CN" altLang="en-US"/>
              <a:t>麦克斯韦速率分布</a:t>
            </a:r>
          </a:p>
        </p:txBody>
      </p:sp>
      <p:sp>
        <p:nvSpPr>
          <p:cNvPr id="6" name="灯片编号占位符 4"/>
          <p:cNvSpPr>
            <a:spLocks noGrp="1"/>
          </p:cNvSpPr>
          <p:nvPr>
            <p:ph type="sldNum" sz="quarter" idx="12"/>
          </p:nvPr>
        </p:nvSpPr>
        <p:spPr/>
        <p:txBody>
          <a:bodyPr/>
          <a:lstStyle/>
          <a:p>
            <a:fld id="{015899B8-2175-4AF7-AB44-AEC3529AB043}" type="slidenum">
              <a:rPr lang="en-US" altLang="zh-CN"/>
              <a:pPr/>
              <a:t>53</a:t>
            </a:fld>
            <a:endParaRPr lang="en-US" altLang="zh-CN"/>
          </a:p>
        </p:txBody>
      </p:sp>
      <p:sp>
        <p:nvSpPr>
          <p:cNvPr id="562179" name="Rectangle 3"/>
          <p:cNvSpPr>
            <a:spLocks noChangeArrowheads="1"/>
          </p:cNvSpPr>
          <p:nvPr/>
        </p:nvSpPr>
        <p:spPr bwMode="auto">
          <a:xfrm>
            <a:off x="381001" y="1170932"/>
            <a:ext cx="8305800" cy="5306068"/>
          </a:xfrm>
          <a:prstGeom prst="rect">
            <a:avLst/>
          </a:prstGeom>
          <a:noFill/>
          <a:ln w="9525">
            <a:noFill/>
            <a:miter lim="800000"/>
            <a:headEnd/>
            <a:tailEnd/>
          </a:ln>
          <a:effectLst/>
        </p:spPr>
        <p:txBody>
          <a:bodyPr wrap="square">
            <a:spAutoFit/>
          </a:bodyPr>
          <a:lstStyle/>
          <a:p>
            <a:pPr algn="just">
              <a:lnSpc>
                <a:spcPct val="110000"/>
              </a:lnSpc>
              <a:spcBef>
                <a:spcPct val="50000"/>
              </a:spcBef>
            </a:pPr>
            <a:r>
              <a:rPr kumimoji="1" lang="en-US" altLang="zh-CN" sz="2200" dirty="0"/>
              <a:t>        </a:t>
            </a:r>
            <a:r>
              <a:rPr kumimoji="1" lang="zh-CN" altLang="en-US" sz="2200" dirty="0"/>
              <a:t>麦克斯韦研究了法拉第的电磁场设想，于</a:t>
            </a:r>
            <a:r>
              <a:rPr kumimoji="1" lang="en-US" altLang="zh-CN" sz="2200" dirty="0"/>
              <a:t>1864</a:t>
            </a:r>
            <a:r>
              <a:rPr kumimoji="1" lang="zh-CN" altLang="en-US" sz="2200" dirty="0"/>
              <a:t>年发表了</a:t>
            </a:r>
            <a:r>
              <a:rPr kumimoji="1" lang="en-US" altLang="zh-CN" sz="2200" dirty="0"/>
              <a:t>《</a:t>
            </a:r>
            <a:r>
              <a:rPr kumimoji="1" lang="zh-CN" altLang="en-US" sz="2200" dirty="0"/>
              <a:t>电磁场动力学理论</a:t>
            </a:r>
            <a:r>
              <a:rPr kumimoji="1" lang="en-US" altLang="zh-CN" sz="2200" dirty="0"/>
              <a:t>》</a:t>
            </a:r>
            <a:r>
              <a:rPr kumimoji="1" lang="zh-CN" altLang="en-US" sz="2200" dirty="0"/>
              <a:t>，提出包括偏微分方程的</a:t>
            </a:r>
            <a:r>
              <a:rPr kumimoji="1" lang="zh-CN" altLang="en-US" sz="2200" dirty="0">
                <a:solidFill>
                  <a:srgbClr val="0000CC"/>
                </a:solidFill>
              </a:rPr>
              <a:t>麦克斯韦方程组</a:t>
            </a:r>
            <a:r>
              <a:rPr kumimoji="1" lang="zh-CN" altLang="en-US" sz="2200" dirty="0"/>
              <a:t>，</a:t>
            </a:r>
            <a:r>
              <a:rPr kumimoji="1" lang="zh-CN" altLang="en-US" sz="2200" dirty="0">
                <a:solidFill>
                  <a:srgbClr val="0000CC"/>
                </a:solidFill>
              </a:rPr>
              <a:t>概括了当时已知的关于电磁现象的一切实验结果</a:t>
            </a:r>
            <a:r>
              <a:rPr kumimoji="1" lang="zh-CN" altLang="en-US" sz="2200" dirty="0"/>
              <a:t>，从而创立了经典电动力学。他根据这一理论得出结论：</a:t>
            </a:r>
            <a:r>
              <a:rPr kumimoji="1" lang="zh-CN" altLang="en-US" sz="2200" dirty="0">
                <a:solidFill>
                  <a:srgbClr val="FF3300"/>
                </a:solidFill>
              </a:rPr>
              <a:t>存在着电磁波</a:t>
            </a:r>
            <a:r>
              <a:rPr kumimoji="1" lang="zh-CN" altLang="en-US" sz="2200" dirty="0"/>
              <a:t>；</a:t>
            </a:r>
            <a:r>
              <a:rPr kumimoji="1" lang="zh-CN" altLang="en-US" sz="2200" dirty="0">
                <a:solidFill>
                  <a:srgbClr val="FF3300"/>
                </a:solidFill>
              </a:rPr>
              <a:t>电磁波在真空中传播的速度等于光速</a:t>
            </a:r>
            <a:r>
              <a:rPr kumimoji="1" lang="zh-CN" altLang="en-US" sz="2200" dirty="0"/>
              <a:t>；</a:t>
            </a:r>
            <a:r>
              <a:rPr kumimoji="1" lang="zh-CN" altLang="en-US" sz="2200" dirty="0">
                <a:solidFill>
                  <a:srgbClr val="FF3300"/>
                </a:solidFill>
              </a:rPr>
              <a:t>光的本质是电磁波</a:t>
            </a:r>
            <a:r>
              <a:rPr kumimoji="1" lang="zh-CN" altLang="en-US" sz="2200" dirty="0"/>
              <a:t>；</a:t>
            </a:r>
            <a:r>
              <a:rPr kumimoji="1" lang="zh-CN" altLang="en-US" sz="2200" dirty="0">
                <a:solidFill>
                  <a:srgbClr val="FF3300"/>
                </a:solidFill>
              </a:rPr>
              <a:t>电磁波会产生压力</a:t>
            </a:r>
            <a:r>
              <a:rPr kumimoji="1" lang="zh-CN" altLang="en-US" sz="2200" dirty="0"/>
              <a:t>等。麦克斯韦在这一期间的著作还有</a:t>
            </a:r>
            <a:r>
              <a:rPr kumimoji="1" lang="en-US" altLang="zh-CN" sz="2200" dirty="0"/>
              <a:t>1855~1856</a:t>
            </a:r>
            <a:r>
              <a:rPr kumimoji="1" lang="zh-CN" altLang="en-US" sz="2200" dirty="0"/>
              <a:t>年发表的</a:t>
            </a:r>
            <a:r>
              <a:rPr kumimoji="1" lang="en-US" altLang="zh-CN" sz="2200" dirty="0"/>
              <a:t>《</a:t>
            </a:r>
            <a:r>
              <a:rPr kumimoji="1" lang="zh-CN" altLang="en-US" sz="2200" dirty="0"/>
              <a:t>论法拉第力线</a:t>
            </a:r>
            <a:r>
              <a:rPr kumimoji="1" lang="en-US" altLang="zh-CN" sz="2200" dirty="0"/>
              <a:t>》</a:t>
            </a:r>
            <a:r>
              <a:rPr kumimoji="1" lang="zh-CN" altLang="en-US" sz="2200" dirty="0"/>
              <a:t>、</a:t>
            </a:r>
            <a:r>
              <a:rPr kumimoji="1" lang="en-US" altLang="zh-CN" sz="2200" dirty="0"/>
              <a:t>1861~1862 </a:t>
            </a:r>
            <a:r>
              <a:rPr kumimoji="1" lang="zh-CN" altLang="en-US" sz="2200" dirty="0"/>
              <a:t>年发表的</a:t>
            </a:r>
            <a:r>
              <a:rPr kumimoji="1" lang="en-US" altLang="zh-CN" sz="2200" dirty="0"/>
              <a:t>《</a:t>
            </a:r>
            <a:r>
              <a:rPr kumimoji="1" lang="zh-CN" altLang="en-US" sz="2200" dirty="0"/>
              <a:t>论物理力线</a:t>
            </a:r>
            <a:r>
              <a:rPr kumimoji="1" lang="en-US" altLang="zh-CN" sz="2200" dirty="0"/>
              <a:t>》</a:t>
            </a:r>
            <a:r>
              <a:rPr kumimoji="1" lang="zh-CN" altLang="en-US" sz="2200" dirty="0"/>
              <a:t>、</a:t>
            </a:r>
            <a:r>
              <a:rPr kumimoji="1" lang="en-US" altLang="zh-CN" sz="2200" dirty="0"/>
              <a:t>1873</a:t>
            </a:r>
            <a:r>
              <a:rPr kumimoji="1" lang="zh-CN" altLang="en-US" sz="2200" dirty="0"/>
              <a:t>年发表的</a:t>
            </a:r>
            <a:r>
              <a:rPr kumimoji="1" lang="en-US" altLang="zh-CN" sz="2200" dirty="0"/>
              <a:t>《</a:t>
            </a:r>
            <a:r>
              <a:rPr kumimoji="1" lang="zh-CN" altLang="en-US" sz="2200" dirty="0"/>
              <a:t>电学和磁学论</a:t>
            </a:r>
            <a:r>
              <a:rPr kumimoji="1" lang="en-US" altLang="zh-CN" sz="2200" dirty="0"/>
              <a:t>》</a:t>
            </a:r>
            <a:r>
              <a:rPr kumimoji="1" lang="zh-CN" altLang="en-US" sz="2200" dirty="0"/>
              <a:t>等。</a:t>
            </a:r>
            <a:r>
              <a:rPr kumimoji="1" lang="en-US" altLang="zh-CN" sz="2200" dirty="0"/>
              <a:t>1868</a:t>
            </a:r>
            <a:r>
              <a:rPr kumimoji="1" lang="zh-CN" altLang="en-US" sz="2200" dirty="0"/>
              <a:t>年继</a:t>
            </a:r>
            <a:r>
              <a:rPr kumimoji="1" lang="en-US" altLang="zh-CN" sz="2200" dirty="0"/>
              <a:t>W.</a:t>
            </a:r>
            <a:r>
              <a:rPr kumimoji="1" lang="zh-CN" altLang="en-US" sz="2200" dirty="0"/>
              <a:t>韦伯等之后，他以更高的精确度测定了电荷的静电单位对电磁单位的比值，并证实了它就等于光速。麦克斯韦在</a:t>
            </a:r>
            <a:r>
              <a:rPr kumimoji="1" lang="zh-CN" altLang="en-US" sz="2200" dirty="0">
                <a:solidFill>
                  <a:srgbClr val="0000CC"/>
                </a:solidFill>
              </a:rPr>
              <a:t>气体运动理论</a:t>
            </a:r>
            <a:r>
              <a:rPr kumimoji="1" lang="zh-CN" altLang="en-US" sz="2200" dirty="0"/>
              <a:t>、</a:t>
            </a:r>
            <a:r>
              <a:rPr kumimoji="1" lang="zh-CN" altLang="en-US" sz="2200" dirty="0">
                <a:solidFill>
                  <a:srgbClr val="0000CC"/>
                </a:solidFill>
              </a:rPr>
              <a:t>光学</a:t>
            </a:r>
            <a:r>
              <a:rPr kumimoji="1" lang="zh-CN" altLang="en-US" sz="2200" dirty="0"/>
              <a:t>、</a:t>
            </a:r>
            <a:r>
              <a:rPr kumimoji="1" lang="zh-CN" altLang="en-US" sz="2200" dirty="0">
                <a:solidFill>
                  <a:srgbClr val="0000CC"/>
                </a:solidFill>
              </a:rPr>
              <a:t>热力学</a:t>
            </a:r>
            <a:r>
              <a:rPr kumimoji="1" lang="zh-CN" altLang="en-US" sz="2200" dirty="0"/>
              <a:t>和</a:t>
            </a:r>
            <a:r>
              <a:rPr kumimoji="1" lang="zh-CN" altLang="en-US" sz="2200" dirty="0">
                <a:solidFill>
                  <a:srgbClr val="0000CC"/>
                </a:solidFill>
              </a:rPr>
              <a:t>弹性理论</a:t>
            </a:r>
            <a:r>
              <a:rPr kumimoji="1" lang="zh-CN" altLang="en-US" sz="2200" dirty="0"/>
              <a:t>方面也作出了重要贡献 ，</a:t>
            </a:r>
            <a:r>
              <a:rPr kumimoji="1" lang="en-US" altLang="zh-CN" sz="2200" dirty="0"/>
              <a:t>1860</a:t>
            </a:r>
            <a:r>
              <a:rPr kumimoji="1" lang="zh-CN" altLang="en-US" sz="2200" dirty="0"/>
              <a:t>年得出了理想气体分子按速度的统计分布律，计算了分子的自由程。</a:t>
            </a:r>
            <a:r>
              <a:rPr kumimoji="1" lang="zh-CN" altLang="en-US" sz="2200" dirty="0">
                <a:solidFill>
                  <a:srgbClr val="0000CC"/>
                </a:solidFill>
              </a:rPr>
              <a:t>他在</a:t>
            </a:r>
            <a:r>
              <a:rPr kumimoji="1" lang="en-US" altLang="zh-CN" sz="2200" dirty="0">
                <a:solidFill>
                  <a:srgbClr val="0000CC"/>
                </a:solidFill>
              </a:rPr>
              <a:t>1861</a:t>
            </a:r>
            <a:r>
              <a:rPr kumimoji="1" lang="zh-CN" altLang="en-US" sz="2200" dirty="0">
                <a:solidFill>
                  <a:srgbClr val="0000CC"/>
                </a:solidFill>
              </a:rPr>
              <a:t>年提出，彩色是由红、绿、蓝三基色组成的，他还是第一批彩色照片的制作者之一</a:t>
            </a:r>
            <a:r>
              <a:rPr kumimoji="1" lang="zh-CN" altLang="en-US" sz="2200" dirty="0"/>
              <a:t>。</a:t>
            </a:r>
            <a:r>
              <a:rPr kumimoji="1" lang="en-US" altLang="zh-CN" sz="2200" dirty="0"/>
              <a:t>1873</a:t>
            </a:r>
            <a:r>
              <a:rPr kumimoji="1" lang="zh-CN" altLang="en-US" sz="2200" dirty="0"/>
              <a:t>～</a:t>
            </a:r>
            <a:r>
              <a:rPr kumimoji="1" lang="en-US" altLang="zh-CN" sz="2200" dirty="0"/>
              <a:t>1874</a:t>
            </a:r>
            <a:r>
              <a:rPr kumimoji="1" lang="zh-CN" altLang="en-US" sz="2200" dirty="0"/>
              <a:t>年他发现了双折光现象。</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r>
              <a:rPr lang="en-US" altLang="zh-CN"/>
              <a:t>10.4 </a:t>
            </a:r>
            <a:r>
              <a:rPr lang="zh-CN" altLang="en-US"/>
              <a:t>麦克斯韦速率分布</a:t>
            </a:r>
          </a:p>
        </p:txBody>
      </p:sp>
      <p:sp>
        <p:nvSpPr>
          <p:cNvPr id="25" name="灯片编号占位符 4"/>
          <p:cNvSpPr>
            <a:spLocks noGrp="1"/>
          </p:cNvSpPr>
          <p:nvPr>
            <p:ph type="sldNum" sz="quarter" idx="12"/>
          </p:nvPr>
        </p:nvSpPr>
        <p:spPr/>
        <p:txBody>
          <a:bodyPr/>
          <a:lstStyle/>
          <a:p>
            <a:fld id="{63931F39-C1C6-4A85-8BCD-AF5757BF0253}" type="slidenum">
              <a:rPr lang="en-US" altLang="zh-CN"/>
              <a:pPr/>
              <a:t>54</a:t>
            </a:fld>
            <a:endParaRPr lang="en-US" altLang="zh-CN"/>
          </a:p>
        </p:txBody>
      </p:sp>
      <p:sp>
        <p:nvSpPr>
          <p:cNvPr id="563203" name="Text Box 3"/>
          <p:cNvSpPr txBox="1">
            <a:spLocks noChangeArrowheads="1"/>
          </p:cNvSpPr>
          <p:nvPr/>
        </p:nvSpPr>
        <p:spPr bwMode="auto">
          <a:xfrm>
            <a:off x="381000" y="1196975"/>
            <a:ext cx="8382000" cy="1698625"/>
          </a:xfrm>
          <a:prstGeom prst="rect">
            <a:avLst/>
          </a:prstGeom>
          <a:noFill/>
          <a:ln w="9525">
            <a:noFill/>
            <a:miter lim="800000"/>
            <a:headEnd/>
            <a:tailEnd/>
          </a:ln>
          <a:effectLst/>
        </p:spPr>
        <p:txBody>
          <a:bodyPr>
            <a:spAutoFit/>
          </a:bodyPr>
          <a:lstStyle/>
          <a:p>
            <a:pPr>
              <a:lnSpc>
                <a:spcPct val="110000"/>
              </a:lnSpc>
              <a:spcBef>
                <a:spcPct val="50000"/>
              </a:spcBef>
            </a:pPr>
            <a:r>
              <a:rPr kumimoji="1" lang="zh-CN" altLang="en-US" sz="2400" dirty="0"/>
              <a:t>例</a:t>
            </a:r>
            <a:r>
              <a:rPr kumimoji="1" lang="en-US" altLang="zh-CN" sz="2400" dirty="0"/>
              <a:t>10.5    </a:t>
            </a:r>
            <a:r>
              <a:rPr kumimoji="1" lang="zh-CN" altLang="en-US" sz="2400" dirty="0"/>
              <a:t>图为同一种气体，处于不同温度状态下的速率分布曲线，试问（</a:t>
            </a:r>
            <a:r>
              <a:rPr kumimoji="1" lang="en-US" altLang="zh-CN" sz="2400" dirty="0"/>
              <a:t>1</a:t>
            </a:r>
            <a:r>
              <a:rPr kumimoji="1" lang="zh-CN" altLang="en-US" sz="2400" dirty="0"/>
              <a:t>）哪一条曲线对应的温度高？（</a:t>
            </a:r>
            <a:r>
              <a:rPr kumimoji="1" lang="en-US" altLang="zh-CN" sz="2400" dirty="0"/>
              <a:t>2</a:t>
            </a:r>
            <a:r>
              <a:rPr kumimoji="1" lang="zh-CN" altLang="en-US" sz="2400" dirty="0"/>
              <a:t>）如果这两条曲线分别对应的是同一温度下氧气和氢气的分布曲线，问哪条曲线对应的是氧气，哪条对应的是氢气？</a:t>
            </a:r>
          </a:p>
        </p:txBody>
      </p:sp>
      <p:grpSp>
        <p:nvGrpSpPr>
          <p:cNvPr id="563204" name="Group 4"/>
          <p:cNvGrpSpPr>
            <a:grpSpLocks/>
          </p:cNvGrpSpPr>
          <p:nvPr/>
        </p:nvGrpSpPr>
        <p:grpSpPr bwMode="auto">
          <a:xfrm>
            <a:off x="4608513" y="2895600"/>
            <a:ext cx="4154487" cy="3459163"/>
            <a:chOff x="2744" y="1888"/>
            <a:chExt cx="2617" cy="2179"/>
          </a:xfrm>
        </p:grpSpPr>
        <p:sp>
          <p:nvSpPr>
            <p:cNvPr id="563205" name="Line 5"/>
            <p:cNvSpPr>
              <a:spLocks noChangeShapeType="1"/>
            </p:cNvSpPr>
            <p:nvPr/>
          </p:nvSpPr>
          <p:spPr bwMode="auto">
            <a:xfrm>
              <a:off x="2744" y="3760"/>
              <a:ext cx="2556" cy="0"/>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63206" name="Line 6"/>
            <p:cNvSpPr>
              <a:spLocks noChangeShapeType="1"/>
            </p:cNvSpPr>
            <p:nvPr/>
          </p:nvSpPr>
          <p:spPr bwMode="auto">
            <a:xfrm flipV="1">
              <a:off x="2744" y="1984"/>
              <a:ext cx="0" cy="1776"/>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63207" name="Freeform 7"/>
            <p:cNvSpPr>
              <a:spLocks/>
            </p:cNvSpPr>
            <p:nvPr/>
          </p:nvSpPr>
          <p:spPr bwMode="auto">
            <a:xfrm>
              <a:off x="2744" y="2272"/>
              <a:ext cx="1519" cy="1496"/>
            </a:xfrm>
            <a:custGeom>
              <a:avLst/>
              <a:gdLst/>
              <a:ahLst/>
              <a:cxnLst>
                <a:cxn ang="0">
                  <a:pos x="0" y="1496"/>
                </a:cxn>
                <a:cxn ang="0">
                  <a:pos x="288" y="1160"/>
                </a:cxn>
                <a:cxn ang="0">
                  <a:pos x="576" y="488"/>
                </a:cxn>
                <a:cxn ang="0">
                  <a:pos x="816" y="104"/>
                </a:cxn>
                <a:cxn ang="0">
                  <a:pos x="1008" y="8"/>
                </a:cxn>
                <a:cxn ang="0">
                  <a:pos x="1200" y="152"/>
                </a:cxn>
                <a:cxn ang="0">
                  <a:pos x="1344" y="440"/>
                </a:cxn>
                <a:cxn ang="0">
                  <a:pos x="1584" y="1016"/>
                </a:cxn>
                <a:cxn ang="0">
                  <a:pos x="1968" y="1304"/>
                </a:cxn>
                <a:cxn ang="0">
                  <a:pos x="2352" y="1400"/>
                </a:cxn>
              </a:cxnLst>
              <a:rect l="0" t="0" r="r" b="b"/>
              <a:pathLst>
                <a:path w="2352" h="1496">
                  <a:moveTo>
                    <a:pt x="0" y="1496"/>
                  </a:moveTo>
                  <a:cubicBezTo>
                    <a:pt x="96" y="1412"/>
                    <a:pt x="192" y="1328"/>
                    <a:pt x="288" y="1160"/>
                  </a:cubicBezTo>
                  <a:cubicBezTo>
                    <a:pt x="384" y="992"/>
                    <a:pt x="488" y="664"/>
                    <a:pt x="576" y="488"/>
                  </a:cubicBezTo>
                  <a:cubicBezTo>
                    <a:pt x="664" y="312"/>
                    <a:pt x="744" y="184"/>
                    <a:pt x="816" y="104"/>
                  </a:cubicBezTo>
                  <a:cubicBezTo>
                    <a:pt x="888" y="24"/>
                    <a:pt x="944" y="0"/>
                    <a:pt x="1008" y="8"/>
                  </a:cubicBezTo>
                  <a:cubicBezTo>
                    <a:pt x="1072" y="16"/>
                    <a:pt x="1144" y="80"/>
                    <a:pt x="1200" y="152"/>
                  </a:cubicBezTo>
                  <a:cubicBezTo>
                    <a:pt x="1256" y="224"/>
                    <a:pt x="1280" y="296"/>
                    <a:pt x="1344" y="440"/>
                  </a:cubicBezTo>
                  <a:cubicBezTo>
                    <a:pt x="1408" y="584"/>
                    <a:pt x="1480" y="872"/>
                    <a:pt x="1584" y="1016"/>
                  </a:cubicBezTo>
                  <a:cubicBezTo>
                    <a:pt x="1688" y="1160"/>
                    <a:pt x="1840" y="1240"/>
                    <a:pt x="1968" y="1304"/>
                  </a:cubicBezTo>
                  <a:cubicBezTo>
                    <a:pt x="2096" y="1368"/>
                    <a:pt x="2224" y="1384"/>
                    <a:pt x="2352" y="1400"/>
                  </a:cubicBezTo>
                </a:path>
              </a:pathLst>
            </a:custGeom>
            <a:noFill/>
            <a:ln w="28575" cmpd="sng">
              <a:solidFill>
                <a:srgbClr val="0000FF"/>
              </a:solidFill>
              <a:round/>
              <a:headEnd/>
              <a:tailEnd/>
            </a:ln>
            <a:effectLst/>
          </p:spPr>
          <p:txBody>
            <a:bodyPr wrap="none" anchor="ctr"/>
            <a:lstStyle/>
            <a:p>
              <a:endParaRPr lang="zh-CN" altLang="en-US"/>
            </a:p>
          </p:txBody>
        </p:sp>
        <p:sp>
          <p:nvSpPr>
            <p:cNvPr id="563208" name="Text Box 8"/>
            <p:cNvSpPr txBox="1">
              <a:spLocks noChangeArrowheads="1"/>
            </p:cNvSpPr>
            <p:nvPr/>
          </p:nvSpPr>
          <p:spPr bwMode="auto">
            <a:xfrm>
              <a:off x="2815" y="1888"/>
              <a:ext cx="519" cy="365"/>
            </a:xfrm>
            <a:prstGeom prst="rect">
              <a:avLst/>
            </a:prstGeom>
            <a:noFill/>
            <a:ln w="9525">
              <a:noFill/>
              <a:miter lim="800000"/>
              <a:headEnd/>
              <a:tailEnd/>
            </a:ln>
            <a:effectLst/>
          </p:spPr>
          <p:txBody>
            <a:bodyPr>
              <a:spAutoFit/>
            </a:bodyPr>
            <a:lstStyle/>
            <a:p>
              <a:pPr>
                <a:spcBef>
                  <a:spcPct val="50000"/>
                </a:spcBef>
              </a:pPr>
              <a:r>
                <a:rPr kumimoji="1" lang="en-US" altLang="zh-CN" sz="3200" b="1" i="1" dirty="0">
                  <a:latin typeface="+mn-lt"/>
                </a:rPr>
                <a:t>f</a:t>
              </a:r>
              <a:r>
                <a:rPr kumimoji="1" lang="en-US" altLang="zh-CN" sz="3200" b="1" dirty="0">
                  <a:latin typeface="+mn-lt"/>
                </a:rPr>
                <a:t>(</a:t>
              </a:r>
              <a:r>
                <a:rPr kumimoji="1" lang="en-US" altLang="zh-CN" sz="3200" b="1" i="1" dirty="0">
                  <a:latin typeface="Book Antiqua" pitchFamily="18" charset="0"/>
                </a:rPr>
                <a:t>v</a:t>
              </a:r>
              <a:r>
                <a:rPr kumimoji="1" lang="en-US" altLang="zh-CN" sz="3200" b="1" dirty="0">
                  <a:latin typeface="+mn-lt"/>
                </a:rPr>
                <a:t>)</a:t>
              </a:r>
            </a:p>
          </p:txBody>
        </p:sp>
        <p:sp>
          <p:nvSpPr>
            <p:cNvPr id="563209" name="Rectangle 9"/>
            <p:cNvSpPr>
              <a:spLocks noChangeArrowheads="1"/>
            </p:cNvSpPr>
            <p:nvPr/>
          </p:nvSpPr>
          <p:spPr bwMode="auto">
            <a:xfrm>
              <a:off x="5103" y="3702"/>
              <a:ext cx="258" cy="365"/>
            </a:xfrm>
            <a:prstGeom prst="rect">
              <a:avLst/>
            </a:prstGeom>
            <a:noFill/>
            <a:ln w="9525">
              <a:noFill/>
              <a:miter lim="800000"/>
              <a:headEnd/>
              <a:tailEnd/>
            </a:ln>
            <a:effectLst/>
          </p:spPr>
          <p:txBody>
            <a:bodyPr wrap="none">
              <a:spAutoFit/>
            </a:bodyPr>
            <a:lstStyle/>
            <a:p>
              <a:r>
                <a:rPr kumimoji="1" lang="en-US" altLang="zh-CN" sz="3200" b="1" i="1">
                  <a:latin typeface="Book Antiqua" pitchFamily="18" charset="0"/>
                </a:rPr>
                <a:t>v</a:t>
              </a:r>
            </a:p>
          </p:txBody>
        </p:sp>
        <p:sp>
          <p:nvSpPr>
            <p:cNvPr id="563210" name="Freeform 10"/>
            <p:cNvSpPr>
              <a:spLocks/>
            </p:cNvSpPr>
            <p:nvPr/>
          </p:nvSpPr>
          <p:spPr bwMode="auto">
            <a:xfrm>
              <a:off x="2744" y="2688"/>
              <a:ext cx="2298" cy="1072"/>
            </a:xfrm>
            <a:custGeom>
              <a:avLst/>
              <a:gdLst/>
              <a:ahLst/>
              <a:cxnLst>
                <a:cxn ang="0">
                  <a:pos x="0" y="1072"/>
                </a:cxn>
                <a:cxn ang="0">
                  <a:pos x="432" y="880"/>
                </a:cxn>
                <a:cxn ang="0">
                  <a:pos x="720" y="640"/>
                </a:cxn>
                <a:cxn ang="0">
                  <a:pos x="1008" y="256"/>
                </a:cxn>
                <a:cxn ang="0">
                  <a:pos x="1296" y="16"/>
                </a:cxn>
                <a:cxn ang="0">
                  <a:pos x="1584" y="160"/>
                </a:cxn>
                <a:cxn ang="0">
                  <a:pos x="2016" y="640"/>
                </a:cxn>
                <a:cxn ang="0">
                  <a:pos x="2448" y="880"/>
                </a:cxn>
                <a:cxn ang="0">
                  <a:pos x="2832" y="976"/>
                </a:cxn>
              </a:cxnLst>
              <a:rect l="0" t="0" r="r" b="b"/>
              <a:pathLst>
                <a:path w="2832" h="1072">
                  <a:moveTo>
                    <a:pt x="0" y="1072"/>
                  </a:moveTo>
                  <a:cubicBezTo>
                    <a:pt x="156" y="1012"/>
                    <a:pt x="312" y="952"/>
                    <a:pt x="432" y="880"/>
                  </a:cubicBezTo>
                  <a:cubicBezTo>
                    <a:pt x="552" y="808"/>
                    <a:pt x="624" y="744"/>
                    <a:pt x="720" y="640"/>
                  </a:cubicBezTo>
                  <a:cubicBezTo>
                    <a:pt x="816" y="536"/>
                    <a:pt x="912" y="360"/>
                    <a:pt x="1008" y="256"/>
                  </a:cubicBezTo>
                  <a:cubicBezTo>
                    <a:pt x="1104" y="152"/>
                    <a:pt x="1200" y="32"/>
                    <a:pt x="1296" y="16"/>
                  </a:cubicBezTo>
                  <a:cubicBezTo>
                    <a:pt x="1392" y="0"/>
                    <a:pt x="1464" y="56"/>
                    <a:pt x="1584" y="160"/>
                  </a:cubicBezTo>
                  <a:cubicBezTo>
                    <a:pt x="1704" y="264"/>
                    <a:pt x="1872" y="520"/>
                    <a:pt x="2016" y="640"/>
                  </a:cubicBezTo>
                  <a:cubicBezTo>
                    <a:pt x="2160" y="760"/>
                    <a:pt x="2312" y="824"/>
                    <a:pt x="2448" y="880"/>
                  </a:cubicBezTo>
                  <a:cubicBezTo>
                    <a:pt x="2584" y="936"/>
                    <a:pt x="2708" y="956"/>
                    <a:pt x="2832" y="976"/>
                  </a:cubicBezTo>
                </a:path>
              </a:pathLst>
            </a:custGeom>
            <a:noFill/>
            <a:ln w="28575" cmpd="sng">
              <a:solidFill>
                <a:schemeClr val="tx1"/>
              </a:solidFill>
              <a:round/>
              <a:headEnd/>
              <a:tailEnd/>
            </a:ln>
            <a:effectLst/>
          </p:spPr>
          <p:txBody>
            <a:bodyPr wrap="none" anchor="ctr"/>
            <a:lstStyle/>
            <a:p>
              <a:endParaRPr lang="zh-CN" altLang="en-US"/>
            </a:p>
          </p:txBody>
        </p:sp>
        <p:sp>
          <p:nvSpPr>
            <p:cNvPr id="563211" name="Rectangle 11"/>
            <p:cNvSpPr>
              <a:spLocks noChangeArrowheads="1"/>
            </p:cNvSpPr>
            <p:nvPr/>
          </p:nvSpPr>
          <p:spPr bwMode="auto">
            <a:xfrm>
              <a:off x="3484" y="2128"/>
              <a:ext cx="356" cy="365"/>
            </a:xfrm>
            <a:prstGeom prst="rect">
              <a:avLst/>
            </a:prstGeom>
            <a:noFill/>
            <a:ln w="9525">
              <a:noFill/>
              <a:miter lim="800000"/>
              <a:headEnd/>
              <a:tailEnd/>
            </a:ln>
            <a:effectLst/>
          </p:spPr>
          <p:txBody>
            <a:bodyPr wrap="none">
              <a:spAutoFit/>
            </a:bodyPr>
            <a:lstStyle/>
            <a:p>
              <a:r>
                <a:rPr kumimoji="1" lang="en-US" altLang="zh-CN" sz="3200" b="1" i="1">
                  <a:solidFill>
                    <a:srgbClr val="0000CC"/>
                  </a:solidFill>
                </a:rPr>
                <a:t>T</a:t>
              </a:r>
              <a:r>
                <a:rPr kumimoji="1" lang="en-US" altLang="zh-CN" sz="3200" b="1" baseline="-25000">
                  <a:solidFill>
                    <a:srgbClr val="0000CC"/>
                  </a:solidFill>
                </a:rPr>
                <a:t>1</a:t>
              </a:r>
            </a:p>
          </p:txBody>
        </p:sp>
        <p:sp>
          <p:nvSpPr>
            <p:cNvPr id="563212" name="Rectangle 12"/>
            <p:cNvSpPr>
              <a:spLocks noChangeArrowheads="1"/>
            </p:cNvSpPr>
            <p:nvPr/>
          </p:nvSpPr>
          <p:spPr bwMode="auto">
            <a:xfrm>
              <a:off x="4263" y="2896"/>
              <a:ext cx="356" cy="365"/>
            </a:xfrm>
            <a:prstGeom prst="rect">
              <a:avLst/>
            </a:prstGeom>
            <a:noFill/>
            <a:ln w="9525">
              <a:noFill/>
              <a:miter lim="800000"/>
              <a:headEnd/>
              <a:tailEnd/>
            </a:ln>
            <a:effectLst/>
          </p:spPr>
          <p:txBody>
            <a:bodyPr wrap="none">
              <a:spAutoFit/>
            </a:bodyPr>
            <a:lstStyle/>
            <a:p>
              <a:pPr>
                <a:spcBef>
                  <a:spcPct val="50000"/>
                </a:spcBef>
              </a:pPr>
              <a:r>
                <a:rPr kumimoji="1" lang="en-US" altLang="zh-CN" sz="3200" b="1" i="1"/>
                <a:t>T</a:t>
              </a:r>
              <a:r>
                <a:rPr kumimoji="1" lang="en-US" altLang="zh-CN" sz="3200" b="1" baseline="-25000"/>
                <a:t>2</a:t>
              </a:r>
            </a:p>
          </p:txBody>
        </p:sp>
      </p:grpSp>
      <p:sp>
        <p:nvSpPr>
          <p:cNvPr id="563213" name="Rectangle 13"/>
          <p:cNvSpPr>
            <a:spLocks noChangeArrowheads="1"/>
          </p:cNvSpPr>
          <p:nvPr/>
        </p:nvSpPr>
        <p:spPr bwMode="auto">
          <a:xfrm>
            <a:off x="501650" y="2819400"/>
            <a:ext cx="793750" cy="457200"/>
          </a:xfrm>
          <a:prstGeom prst="rect">
            <a:avLst/>
          </a:prstGeom>
          <a:noFill/>
          <a:ln w="9525">
            <a:noFill/>
            <a:miter lim="800000"/>
            <a:headEnd/>
            <a:tailEnd/>
          </a:ln>
          <a:effectLst/>
        </p:spPr>
        <p:txBody>
          <a:bodyPr wrap="none">
            <a:spAutoFit/>
          </a:bodyPr>
          <a:lstStyle/>
          <a:p>
            <a:r>
              <a:rPr kumimoji="1" lang="zh-CN" altLang="en-US" sz="2400"/>
              <a:t>解：</a:t>
            </a:r>
          </a:p>
        </p:txBody>
      </p:sp>
      <p:graphicFrame>
        <p:nvGraphicFramePr>
          <p:cNvPr id="563214" name="Object 14"/>
          <p:cNvGraphicFramePr>
            <a:graphicFrameLocks noChangeAspect="1"/>
          </p:cNvGraphicFramePr>
          <p:nvPr/>
        </p:nvGraphicFramePr>
        <p:xfrm>
          <a:off x="1066800" y="2971800"/>
          <a:ext cx="1855788" cy="1116013"/>
        </p:xfrm>
        <a:graphic>
          <a:graphicData uri="http://schemas.openxmlformats.org/presentationml/2006/ole">
            <mc:AlternateContent xmlns:mc="http://schemas.openxmlformats.org/markup-compatibility/2006">
              <mc:Choice xmlns:v="urn:schemas-microsoft-com:vml" Requires="v">
                <p:oleObj name="公式" r:id="rId2" imgW="736560" imgH="444240" progId="Equation.3">
                  <p:embed/>
                </p:oleObj>
              </mc:Choice>
              <mc:Fallback>
                <p:oleObj name="公式" r:id="rId2" imgW="736560" imgH="444240" progId="Equation.3">
                  <p:embed/>
                  <p:pic>
                    <p:nvPicPr>
                      <p:cNvPr id="563214"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971800"/>
                        <a:ext cx="1855788"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15" name="Rectangle 15"/>
          <p:cNvSpPr>
            <a:spLocks noChangeArrowheads="1"/>
          </p:cNvSpPr>
          <p:nvPr/>
        </p:nvSpPr>
        <p:spPr bwMode="auto">
          <a:xfrm>
            <a:off x="1143000" y="4343400"/>
            <a:ext cx="2514600" cy="519113"/>
          </a:xfrm>
          <a:prstGeom prst="rect">
            <a:avLst/>
          </a:prstGeom>
          <a:noFill/>
          <a:ln w="9525">
            <a:noFill/>
            <a:miter lim="800000"/>
            <a:headEnd/>
            <a:tailEnd/>
          </a:ln>
          <a:effectLst/>
        </p:spPr>
        <p:txBody>
          <a:bodyPr>
            <a:spAutoFit/>
          </a:bodyPr>
          <a:lstStyle/>
          <a:p>
            <a:r>
              <a:rPr kumimoji="1" lang="en-US" altLang="zh-CN" sz="2800" dirty="0"/>
              <a:t>(1)   </a:t>
            </a:r>
            <a:r>
              <a:rPr kumimoji="1" lang="en-US" altLang="zh-CN" sz="2800" i="1" dirty="0">
                <a:solidFill>
                  <a:srgbClr val="0000CC"/>
                </a:solidFill>
              </a:rPr>
              <a:t>T</a:t>
            </a:r>
            <a:r>
              <a:rPr kumimoji="1" lang="en-US" altLang="zh-CN" sz="2800" baseline="-25000" dirty="0">
                <a:solidFill>
                  <a:srgbClr val="0000CC"/>
                </a:solidFill>
              </a:rPr>
              <a:t>1 </a:t>
            </a:r>
            <a:r>
              <a:rPr kumimoji="1" lang="en-US" altLang="zh-CN" sz="2800" dirty="0"/>
              <a:t>&lt;</a:t>
            </a:r>
            <a:r>
              <a:rPr kumimoji="1" lang="en-US" altLang="zh-CN" sz="2800" baseline="-25000" dirty="0"/>
              <a:t> </a:t>
            </a:r>
            <a:r>
              <a:rPr kumimoji="1" lang="en-US" altLang="zh-CN" sz="2800" i="1" dirty="0"/>
              <a:t>T</a:t>
            </a:r>
            <a:r>
              <a:rPr kumimoji="1" lang="en-US" altLang="zh-CN" sz="2800" baseline="-25000" dirty="0"/>
              <a:t>2</a:t>
            </a:r>
          </a:p>
        </p:txBody>
      </p:sp>
      <p:sp>
        <p:nvSpPr>
          <p:cNvPr id="563216" name="Rectangle 16"/>
          <p:cNvSpPr>
            <a:spLocks noChangeArrowheads="1"/>
          </p:cNvSpPr>
          <p:nvPr/>
        </p:nvSpPr>
        <p:spPr bwMode="auto">
          <a:xfrm>
            <a:off x="1143000" y="5200650"/>
            <a:ext cx="1873250" cy="946150"/>
          </a:xfrm>
          <a:prstGeom prst="rect">
            <a:avLst/>
          </a:prstGeom>
          <a:noFill/>
          <a:ln w="9525">
            <a:noFill/>
            <a:miter lim="800000"/>
            <a:headEnd/>
            <a:tailEnd/>
          </a:ln>
          <a:effectLst/>
        </p:spPr>
        <p:txBody>
          <a:bodyPr wrap="none">
            <a:spAutoFit/>
          </a:bodyPr>
          <a:lstStyle/>
          <a:p>
            <a:r>
              <a:rPr kumimoji="1" lang="en-US" altLang="zh-CN" sz="2800"/>
              <a:t>(2)  </a:t>
            </a:r>
            <a:r>
              <a:rPr kumimoji="1" lang="zh-CN" altLang="en-US" sz="2800">
                <a:solidFill>
                  <a:srgbClr val="0000CC"/>
                </a:solidFill>
              </a:rPr>
              <a:t>蓝</a:t>
            </a:r>
            <a:r>
              <a:rPr kumimoji="1" lang="zh-CN" altLang="zh-CN" sz="2800">
                <a:solidFill>
                  <a:srgbClr val="0000CC"/>
                </a:solidFill>
              </a:rPr>
              <a:t>：氧</a:t>
            </a:r>
          </a:p>
          <a:p>
            <a:r>
              <a:rPr kumimoji="1" lang="zh-CN" altLang="zh-CN" sz="2800"/>
              <a:t>      </a:t>
            </a:r>
            <a:r>
              <a:rPr kumimoji="1" lang="zh-CN" altLang="en-US" sz="2800"/>
              <a:t> </a:t>
            </a:r>
            <a:r>
              <a:rPr kumimoji="1" lang="zh-CN" altLang="zh-CN" sz="2800"/>
              <a:t>白：氢</a:t>
            </a:r>
            <a:endParaRPr kumimoji="1" lang="zh-CN" altLang="en-US" sz="2800"/>
          </a:p>
        </p:txBody>
      </p:sp>
      <p:grpSp>
        <p:nvGrpSpPr>
          <p:cNvPr id="563217" name="Group 17"/>
          <p:cNvGrpSpPr>
            <a:grpSpLocks/>
          </p:cNvGrpSpPr>
          <p:nvPr/>
        </p:nvGrpSpPr>
        <p:grpSpPr bwMode="auto">
          <a:xfrm>
            <a:off x="6088063" y="4244975"/>
            <a:ext cx="620712" cy="2178050"/>
            <a:chOff x="3445" y="2688"/>
            <a:chExt cx="391" cy="1372"/>
          </a:xfrm>
        </p:grpSpPr>
        <p:sp>
          <p:nvSpPr>
            <p:cNvPr id="563218" name="Line 18"/>
            <p:cNvSpPr>
              <a:spLocks noChangeShapeType="1"/>
            </p:cNvSpPr>
            <p:nvPr/>
          </p:nvSpPr>
          <p:spPr bwMode="auto">
            <a:xfrm>
              <a:off x="3600" y="2688"/>
              <a:ext cx="0" cy="1008"/>
            </a:xfrm>
            <a:prstGeom prst="line">
              <a:avLst/>
            </a:prstGeom>
            <a:noFill/>
            <a:ln w="9525">
              <a:solidFill>
                <a:schemeClr val="tx1"/>
              </a:solidFill>
              <a:prstDash val="dash"/>
              <a:round/>
              <a:headEnd/>
              <a:tailEnd/>
            </a:ln>
            <a:effectLst/>
          </p:spPr>
          <p:txBody>
            <a:bodyPr wrap="none" anchor="ctr"/>
            <a:lstStyle/>
            <a:p>
              <a:endParaRPr lang="zh-CN" altLang="en-US"/>
            </a:p>
          </p:txBody>
        </p:sp>
        <p:graphicFrame>
          <p:nvGraphicFramePr>
            <p:cNvPr id="563219" name="Object 19"/>
            <p:cNvGraphicFramePr>
              <a:graphicFrameLocks noChangeAspect="1"/>
            </p:cNvGraphicFramePr>
            <p:nvPr/>
          </p:nvGraphicFramePr>
          <p:xfrm>
            <a:off x="3445" y="3648"/>
            <a:ext cx="391" cy="412"/>
          </p:xfrm>
          <a:graphic>
            <a:graphicData uri="http://schemas.openxmlformats.org/presentationml/2006/ole">
              <mc:AlternateContent xmlns:mc="http://schemas.openxmlformats.org/markup-compatibility/2006">
                <mc:Choice xmlns:v="urn:schemas-microsoft-com:vml" Requires="v">
                  <p:oleObj name="公式" r:id="rId4" imgW="228600" imgH="241200" progId="Equation.3">
                    <p:embed/>
                  </p:oleObj>
                </mc:Choice>
                <mc:Fallback>
                  <p:oleObj name="公式" r:id="rId4" imgW="228600" imgH="241200" progId="Equation.3">
                    <p:embed/>
                    <p:pic>
                      <p:nvPicPr>
                        <p:cNvPr id="563219"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5" y="3648"/>
                          <a:ext cx="391" cy="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63220" name="Group 20"/>
          <p:cNvGrpSpPr>
            <a:grpSpLocks/>
          </p:cNvGrpSpPr>
          <p:nvPr/>
        </p:nvGrpSpPr>
        <p:grpSpPr bwMode="auto">
          <a:xfrm>
            <a:off x="5397500" y="3514725"/>
            <a:ext cx="585788" cy="2897188"/>
            <a:chOff x="3241" y="2278"/>
            <a:chExt cx="369" cy="1825"/>
          </a:xfrm>
        </p:grpSpPr>
        <p:sp>
          <p:nvSpPr>
            <p:cNvPr id="563221" name="Line 21"/>
            <p:cNvSpPr>
              <a:spLocks noChangeShapeType="1"/>
            </p:cNvSpPr>
            <p:nvPr/>
          </p:nvSpPr>
          <p:spPr bwMode="auto">
            <a:xfrm>
              <a:off x="3385" y="2278"/>
              <a:ext cx="0" cy="1488"/>
            </a:xfrm>
            <a:prstGeom prst="line">
              <a:avLst/>
            </a:prstGeom>
            <a:noFill/>
            <a:ln w="9525">
              <a:solidFill>
                <a:schemeClr val="tx1"/>
              </a:solidFill>
              <a:prstDash val="dash"/>
              <a:round/>
              <a:headEnd/>
              <a:tailEnd/>
            </a:ln>
            <a:effectLst/>
          </p:spPr>
          <p:txBody>
            <a:bodyPr wrap="none" anchor="ctr"/>
            <a:lstStyle/>
            <a:p>
              <a:endParaRPr lang="zh-CN" altLang="en-US"/>
            </a:p>
          </p:txBody>
        </p:sp>
        <p:graphicFrame>
          <p:nvGraphicFramePr>
            <p:cNvPr id="563222" name="Object 22"/>
            <p:cNvGraphicFramePr>
              <a:graphicFrameLocks noChangeAspect="1"/>
            </p:cNvGraphicFramePr>
            <p:nvPr/>
          </p:nvGraphicFramePr>
          <p:xfrm>
            <a:off x="3241" y="3691"/>
            <a:ext cx="369" cy="412"/>
          </p:xfrm>
          <a:graphic>
            <a:graphicData uri="http://schemas.openxmlformats.org/presentationml/2006/ole">
              <mc:AlternateContent xmlns:mc="http://schemas.openxmlformats.org/markup-compatibility/2006">
                <mc:Choice xmlns:v="urn:schemas-microsoft-com:vml" Requires="v">
                  <p:oleObj name="公式" r:id="rId6" imgW="215640" imgH="241200" progId="Equation.3">
                    <p:embed/>
                  </p:oleObj>
                </mc:Choice>
                <mc:Fallback>
                  <p:oleObj name="公式" r:id="rId6" imgW="215640" imgH="241200" progId="Equation.3">
                    <p:embed/>
                    <p:pic>
                      <p:nvPicPr>
                        <p:cNvPr id="563222"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1" y="3691"/>
                          <a:ext cx="369" cy="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563213"/>
                                        </p:tgtEl>
                                        <p:attrNameLst>
                                          <p:attrName>style.visibility</p:attrName>
                                        </p:attrNameLst>
                                      </p:cBhvr>
                                      <p:to>
                                        <p:strVal val="visible"/>
                                      </p:to>
                                    </p:set>
                                    <p:anim calcmode="lin" valueType="num">
                                      <p:cBhvr>
                                        <p:cTn id="7" dur="500" fill="hold"/>
                                        <p:tgtEl>
                                          <p:spTgt spid="563213"/>
                                        </p:tgtEl>
                                        <p:attrNameLst>
                                          <p:attrName>ppt_w</p:attrName>
                                        </p:attrNameLst>
                                      </p:cBhvr>
                                      <p:tavLst>
                                        <p:tav tm="0">
                                          <p:val>
                                            <p:strVal val="4/3*#ppt_w"/>
                                          </p:val>
                                        </p:tav>
                                        <p:tav tm="100000">
                                          <p:val>
                                            <p:strVal val="#ppt_w"/>
                                          </p:val>
                                        </p:tav>
                                      </p:tavLst>
                                    </p:anim>
                                    <p:anim calcmode="lin" valueType="num">
                                      <p:cBhvr>
                                        <p:cTn id="8" dur="500" fill="hold"/>
                                        <p:tgtEl>
                                          <p:spTgt spid="563213"/>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63214"/>
                                        </p:tgtEl>
                                        <p:attrNameLst>
                                          <p:attrName>style.visibility</p:attrName>
                                        </p:attrNameLst>
                                      </p:cBhvr>
                                      <p:to>
                                        <p:strVal val="visible"/>
                                      </p:to>
                                    </p:set>
                                    <p:animEffect transition="in" filter="strips(upRight)">
                                      <p:cBhvr>
                                        <p:cTn id="13" dur="500"/>
                                        <p:tgtEl>
                                          <p:spTgt spid="5632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63220"/>
                                        </p:tgtEl>
                                        <p:attrNameLst>
                                          <p:attrName>style.visibility</p:attrName>
                                        </p:attrNameLst>
                                      </p:cBhvr>
                                      <p:to>
                                        <p:strVal val="visible"/>
                                      </p:to>
                                    </p:set>
                                    <p:animEffect transition="in" filter="wipe(down)">
                                      <p:cBhvr>
                                        <p:cTn id="18" dur="500"/>
                                        <p:tgtEl>
                                          <p:spTgt spid="56322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563217"/>
                                        </p:tgtEl>
                                        <p:attrNameLst>
                                          <p:attrName>style.visibility</p:attrName>
                                        </p:attrNameLst>
                                      </p:cBhvr>
                                      <p:to>
                                        <p:strVal val="visible"/>
                                      </p:to>
                                    </p:set>
                                    <p:animEffect transition="in" filter="wipe(up)">
                                      <p:cBhvr>
                                        <p:cTn id="23" dur="500"/>
                                        <p:tgtEl>
                                          <p:spTgt spid="56321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563215"/>
                                        </p:tgtEl>
                                        <p:attrNameLst>
                                          <p:attrName>style.visibility</p:attrName>
                                        </p:attrNameLst>
                                      </p:cBhvr>
                                      <p:to>
                                        <p:strVal val="visible"/>
                                      </p:to>
                                    </p:set>
                                    <p:anim calcmode="lin" valueType="num">
                                      <p:cBhvr additive="base">
                                        <p:cTn id="28" dur="500" fill="hold"/>
                                        <p:tgtEl>
                                          <p:spTgt spid="563215"/>
                                        </p:tgtEl>
                                        <p:attrNameLst>
                                          <p:attrName>ppt_x</p:attrName>
                                        </p:attrNameLst>
                                      </p:cBhvr>
                                      <p:tavLst>
                                        <p:tav tm="0">
                                          <p:val>
                                            <p:strVal val="0-#ppt_w/2"/>
                                          </p:val>
                                        </p:tav>
                                        <p:tav tm="100000">
                                          <p:val>
                                            <p:strVal val="#ppt_x"/>
                                          </p:val>
                                        </p:tav>
                                      </p:tavLst>
                                    </p:anim>
                                    <p:anim calcmode="lin" valueType="num">
                                      <p:cBhvr additive="base">
                                        <p:cTn id="29" dur="500" fill="hold"/>
                                        <p:tgtEl>
                                          <p:spTgt spid="56321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563216"/>
                                        </p:tgtEl>
                                        <p:attrNameLst>
                                          <p:attrName>style.visibility</p:attrName>
                                        </p:attrNameLst>
                                      </p:cBhvr>
                                      <p:to>
                                        <p:strVal val="visible"/>
                                      </p:to>
                                    </p:set>
                                    <p:anim calcmode="lin" valueType="num">
                                      <p:cBhvr additive="base">
                                        <p:cTn id="34" dur="500" fill="hold"/>
                                        <p:tgtEl>
                                          <p:spTgt spid="563216"/>
                                        </p:tgtEl>
                                        <p:attrNameLst>
                                          <p:attrName>ppt_x</p:attrName>
                                        </p:attrNameLst>
                                      </p:cBhvr>
                                      <p:tavLst>
                                        <p:tav tm="0">
                                          <p:val>
                                            <p:strVal val="0-#ppt_w/2"/>
                                          </p:val>
                                        </p:tav>
                                        <p:tav tm="100000">
                                          <p:val>
                                            <p:strVal val="#ppt_x"/>
                                          </p:val>
                                        </p:tav>
                                      </p:tavLst>
                                    </p:anim>
                                    <p:anim calcmode="lin" valueType="num">
                                      <p:cBhvr additive="base">
                                        <p:cTn id="35" dur="500" fill="hold"/>
                                        <p:tgtEl>
                                          <p:spTgt spid="5632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13" grpId="0" autoUpdateAnimBg="0"/>
      <p:bldP spid="563215" grpId="0" autoUpdateAnimBg="0"/>
      <p:bldP spid="563216"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r>
              <a:rPr lang="en-US" altLang="zh-CN"/>
              <a:t>10.4 </a:t>
            </a:r>
            <a:r>
              <a:rPr lang="zh-CN" altLang="en-US"/>
              <a:t>麦克斯韦速率分布</a:t>
            </a:r>
          </a:p>
        </p:txBody>
      </p:sp>
      <p:sp>
        <p:nvSpPr>
          <p:cNvPr id="13" name="灯片编号占位符 4"/>
          <p:cNvSpPr>
            <a:spLocks noGrp="1"/>
          </p:cNvSpPr>
          <p:nvPr>
            <p:ph type="sldNum" sz="quarter" idx="12"/>
          </p:nvPr>
        </p:nvSpPr>
        <p:spPr/>
        <p:txBody>
          <a:bodyPr/>
          <a:lstStyle/>
          <a:p>
            <a:fld id="{7FB162B7-683D-403C-9DF6-0244C73C8DBD}" type="slidenum">
              <a:rPr lang="en-US" altLang="zh-CN"/>
              <a:pPr/>
              <a:t>55</a:t>
            </a:fld>
            <a:endParaRPr lang="en-US" altLang="zh-CN"/>
          </a:p>
        </p:txBody>
      </p:sp>
      <p:sp>
        <p:nvSpPr>
          <p:cNvPr id="564227" name="Text Box 3"/>
          <p:cNvSpPr txBox="1">
            <a:spLocks noChangeArrowheads="1"/>
          </p:cNvSpPr>
          <p:nvPr/>
        </p:nvSpPr>
        <p:spPr bwMode="auto">
          <a:xfrm>
            <a:off x="381000" y="1200150"/>
            <a:ext cx="8458200" cy="933450"/>
          </a:xfrm>
          <a:prstGeom prst="rect">
            <a:avLst/>
          </a:prstGeom>
          <a:noFill/>
          <a:ln w="9525">
            <a:noFill/>
            <a:miter lim="800000"/>
            <a:headEnd/>
            <a:tailEnd/>
          </a:ln>
          <a:effectLst/>
        </p:spPr>
        <p:txBody>
          <a:bodyPr>
            <a:spAutoFit/>
          </a:bodyPr>
          <a:lstStyle/>
          <a:p>
            <a:pPr>
              <a:lnSpc>
                <a:spcPct val="115000"/>
              </a:lnSpc>
              <a:spcBef>
                <a:spcPct val="50000"/>
              </a:spcBef>
            </a:pPr>
            <a:r>
              <a:rPr kumimoji="1" lang="zh-CN" altLang="en-US" sz="2400" dirty="0"/>
              <a:t>例</a:t>
            </a:r>
            <a:r>
              <a:rPr kumimoji="1" lang="en-US" altLang="zh-CN" sz="2400" dirty="0"/>
              <a:t>10.6 </a:t>
            </a:r>
            <a:r>
              <a:rPr kumimoji="1" lang="en-US" altLang="zh-CN" sz="2400" dirty="0">
                <a:ea typeface="黑体" pitchFamily="49" charset="-122"/>
              </a:rPr>
              <a:t>   </a:t>
            </a:r>
            <a:r>
              <a:rPr kumimoji="1" lang="zh-CN" altLang="en-US" sz="2400" dirty="0"/>
              <a:t>求在</a:t>
            </a:r>
            <a:r>
              <a:rPr kumimoji="1" lang="zh-CN" altLang="en-US" sz="2400" dirty="0">
                <a:solidFill>
                  <a:srgbClr val="0000CC"/>
                </a:solidFill>
              </a:rPr>
              <a:t>标准状态</a:t>
            </a:r>
            <a:r>
              <a:rPr kumimoji="1" lang="zh-CN" altLang="en-US" sz="2400" dirty="0"/>
              <a:t>下，</a:t>
            </a:r>
            <a:r>
              <a:rPr kumimoji="1" lang="en-US" altLang="zh-CN" sz="2400" dirty="0"/>
              <a:t>1.0 m</a:t>
            </a:r>
            <a:r>
              <a:rPr kumimoji="1" lang="en-US" altLang="zh-CN" sz="2400" baseline="30000" dirty="0"/>
              <a:t>3 </a:t>
            </a:r>
            <a:r>
              <a:rPr kumimoji="1" lang="zh-CN" altLang="en-US" sz="2400" dirty="0"/>
              <a:t>氮气中速率处于</a:t>
            </a:r>
            <a:r>
              <a:rPr kumimoji="1" lang="en-US" altLang="zh-CN" sz="2400" dirty="0"/>
              <a:t>500 ~ 501 m </a:t>
            </a:r>
            <a:r>
              <a:rPr kumimoji="1" lang="en-US" altLang="zh-CN" sz="2400" dirty="0">
                <a:sym typeface="Symbol" pitchFamily="18" charset="2"/>
              </a:rPr>
              <a:t>·</a:t>
            </a:r>
            <a:r>
              <a:rPr kumimoji="1" lang="en-US" altLang="zh-CN" sz="2400" dirty="0"/>
              <a:t> s</a:t>
            </a:r>
            <a:r>
              <a:rPr kumimoji="1" lang="en-US" altLang="zh-CN" sz="2400" baseline="30000" dirty="0"/>
              <a:t>-1</a:t>
            </a:r>
            <a:r>
              <a:rPr kumimoji="1" lang="zh-CN" altLang="en-US" sz="2400" dirty="0"/>
              <a:t>之间的分子数目。</a:t>
            </a:r>
          </a:p>
        </p:txBody>
      </p:sp>
      <p:sp>
        <p:nvSpPr>
          <p:cNvPr id="564228" name="Rectangle 4"/>
          <p:cNvSpPr>
            <a:spLocks noChangeArrowheads="1"/>
          </p:cNvSpPr>
          <p:nvPr/>
        </p:nvSpPr>
        <p:spPr bwMode="auto">
          <a:xfrm>
            <a:off x="381000" y="2286000"/>
            <a:ext cx="895350" cy="519113"/>
          </a:xfrm>
          <a:prstGeom prst="rect">
            <a:avLst/>
          </a:prstGeom>
          <a:noFill/>
          <a:ln w="9525">
            <a:noFill/>
            <a:miter lim="800000"/>
            <a:headEnd/>
            <a:tailEnd/>
          </a:ln>
          <a:effectLst/>
        </p:spPr>
        <p:txBody>
          <a:bodyPr wrap="none">
            <a:spAutoFit/>
          </a:bodyPr>
          <a:lstStyle/>
          <a:p>
            <a:r>
              <a:rPr kumimoji="1" lang="zh-CN" altLang="en-US" sz="2800"/>
              <a:t>解：</a:t>
            </a:r>
          </a:p>
        </p:txBody>
      </p:sp>
      <p:sp>
        <p:nvSpPr>
          <p:cNvPr id="564229" name="Rectangle 5"/>
          <p:cNvSpPr>
            <a:spLocks noChangeArrowheads="1"/>
          </p:cNvSpPr>
          <p:nvPr/>
        </p:nvSpPr>
        <p:spPr bwMode="auto">
          <a:xfrm>
            <a:off x="1219200" y="2286000"/>
            <a:ext cx="895350" cy="519113"/>
          </a:xfrm>
          <a:prstGeom prst="rect">
            <a:avLst/>
          </a:prstGeom>
          <a:noFill/>
          <a:ln w="9525">
            <a:noFill/>
            <a:miter lim="800000"/>
            <a:headEnd/>
            <a:tailEnd/>
          </a:ln>
          <a:effectLst/>
        </p:spPr>
        <p:txBody>
          <a:bodyPr wrap="none">
            <a:spAutoFit/>
          </a:bodyPr>
          <a:lstStyle/>
          <a:p>
            <a:r>
              <a:rPr kumimoji="1" lang="zh-CN" altLang="en-US" sz="2800" dirty="0"/>
              <a:t>已知</a:t>
            </a:r>
          </a:p>
        </p:txBody>
      </p:sp>
      <p:graphicFrame>
        <p:nvGraphicFramePr>
          <p:cNvPr id="564230" name="Object 6"/>
          <p:cNvGraphicFramePr>
            <a:graphicFrameLocks noChangeAspect="1"/>
          </p:cNvGraphicFramePr>
          <p:nvPr/>
        </p:nvGraphicFramePr>
        <p:xfrm>
          <a:off x="2362200" y="2362200"/>
          <a:ext cx="1700213" cy="406400"/>
        </p:xfrm>
        <a:graphic>
          <a:graphicData uri="http://schemas.openxmlformats.org/presentationml/2006/ole">
            <mc:AlternateContent xmlns:mc="http://schemas.openxmlformats.org/markup-compatibility/2006">
              <mc:Choice xmlns:v="urn:schemas-microsoft-com:vml" Requires="v">
                <p:oleObj name="公式" r:id="rId2" imgW="850680" imgH="203040" progId="Equation.3">
                  <p:embed/>
                </p:oleObj>
              </mc:Choice>
              <mc:Fallback>
                <p:oleObj name="公式" r:id="rId2" imgW="850680" imgH="203040" progId="Equation.3">
                  <p:embed/>
                  <p:pic>
                    <p:nvPicPr>
                      <p:cNvPr id="56423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362200"/>
                        <a:ext cx="17002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4231" name="Object 7"/>
          <p:cNvGraphicFramePr>
            <a:graphicFrameLocks noChangeAspect="1"/>
          </p:cNvGraphicFramePr>
          <p:nvPr/>
        </p:nvGraphicFramePr>
        <p:xfrm>
          <a:off x="4876800" y="2286000"/>
          <a:ext cx="2259013" cy="457200"/>
        </p:xfrm>
        <a:graphic>
          <a:graphicData uri="http://schemas.openxmlformats.org/presentationml/2006/ole">
            <mc:AlternateContent xmlns:mc="http://schemas.openxmlformats.org/markup-compatibility/2006">
              <mc:Choice xmlns:v="urn:schemas-microsoft-com:vml" Requires="v">
                <p:oleObj name="公式" r:id="rId4" imgW="1130040" imgH="228600" progId="Equation.3">
                  <p:embed/>
                </p:oleObj>
              </mc:Choice>
              <mc:Fallback>
                <p:oleObj name="公式" r:id="rId4" imgW="1130040" imgH="228600" progId="Equation.3">
                  <p:embed/>
                  <p:pic>
                    <p:nvPicPr>
                      <p:cNvPr id="56423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2286000"/>
                        <a:ext cx="22590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4232" name="Object 8"/>
          <p:cNvGraphicFramePr>
            <a:graphicFrameLocks noChangeAspect="1"/>
          </p:cNvGraphicFramePr>
          <p:nvPr/>
        </p:nvGraphicFramePr>
        <p:xfrm>
          <a:off x="2438400" y="2895600"/>
          <a:ext cx="2944813" cy="457200"/>
        </p:xfrm>
        <a:graphic>
          <a:graphicData uri="http://schemas.openxmlformats.org/presentationml/2006/ole">
            <mc:AlternateContent xmlns:mc="http://schemas.openxmlformats.org/markup-compatibility/2006">
              <mc:Choice xmlns:v="urn:schemas-microsoft-com:vml" Requires="v">
                <p:oleObj name="公式" r:id="rId6" imgW="1473120" imgH="228600" progId="Equation.3">
                  <p:embed/>
                </p:oleObj>
              </mc:Choice>
              <mc:Fallback>
                <p:oleObj name="公式" r:id="rId6" imgW="1473120" imgH="228600" progId="Equation.3">
                  <p:embed/>
                  <p:pic>
                    <p:nvPicPr>
                      <p:cNvPr id="564232"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2895600"/>
                        <a:ext cx="29448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4233" name="Object 9"/>
          <p:cNvGraphicFramePr>
            <a:graphicFrameLocks noChangeAspect="1"/>
          </p:cNvGraphicFramePr>
          <p:nvPr/>
        </p:nvGraphicFramePr>
        <p:xfrm>
          <a:off x="990600" y="3810000"/>
          <a:ext cx="5302250" cy="912813"/>
        </p:xfrm>
        <a:graphic>
          <a:graphicData uri="http://schemas.openxmlformats.org/presentationml/2006/ole">
            <mc:AlternateContent xmlns:mc="http://schemas.openxmlformats.org/markup-compatibility/2006">
              <mc:Choice xmlns:v="urn:schemas-microsoft-com:vml" Requires="v">
                <p:oleObj name="公式" r:id="rId8" imgW="2654280" imgH="457200" progId="Equation.3">
                  <p:embed/>
                </p:oleObj>
              </mc:Choice>
              <mc:Fallback>
                <p:oleObj name="公式" r:id="rId8" imgW="2654280" imgH="457200" progId="Equation.3">
                  <p:embed/>
                  <p:pic>
                    <p:nvPicPr>
                      <p:cNvPr id="564233"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3810000"/>
                        <a:ext cx="5302250" cy="912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4234" name="Object 10"/>
          <p:cNvGraphicFramePr>
            <a:graphicFrameLocks noChangeAspect="1"/>
          </p:cNvGraphicFramePr>
          <p:nvPr/>
        </p:nvGraphicFramePr>
        <p:xfrm>
          <a:off x="1066800" y="5334000"/>
          <a:ext cx="6243638" cy="841375"/>
        </p:xfrm>
        <a:graphic>
          <a:graphicData uri="http://schemas.openxmlformats.org/presentationml/2006/ole">
            <mc:AlternateContent xmlns:mc="http://schemas.openxmlformats.org/markup-compatibility/2006">
              <mc:Choice xmlns:v="urn:schemas-microsoft-com:vml" Requires="v">
                <p:oleObj name="公式" r:id="rId10" imgW="3111480" imgH="419040" progId="Equation.3">
                  <p:embed/>
                </p:oleObj>
              </mc:Choice>
              <mc:Fallback>
                <p:oleObj name="公式" r:id="rId10" imgW="3111480" imgH="419040" progId="Equation.3">
                  <p:embed/>
                  <p:pic>
                    <p:nvPicPr>
                      <p:cNvPr id="564234"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66800" y="5334000"/>
                        <a:ext cx="6243638"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564228"/>
                                        </p:tgtEl>
                                        <p:attrNameLst>
                                          <p:attrName>style.visibility</p:attrName>
                                        </p:attrNameLst>
                                      </p:cBhvr>
                                      <p:to>
                                        <p:strVal val="visible"/>
                                      </p:to>
                                    </p:set>
                                    <p:anim calcmode="lin" valueType="num">
                                      <p:cBhvr>
                                        <p:cTn id="7" dur="500" fill="hold"/>
                                        <p:tgtEl>
                                          <p:spTgt spid="564228"/>
                                        </p:tgtEl>
                                        <p:attrNameLst>
                                          <p:attrName>ppt_w</p:attrName>
                                        </p:attrNameLst>
                                      </p:cBhvr>
                                      <p:tavLst>
                                        <p:tav tm="0">
                                          <p:val>
                                            <p:strVal val="4/3*#ppt_w"/>
                                          </p:val>
                                        </p:tav>
                                        <p:tav tm="100000">
                                          <p:val>
                                            <p:strVal val="#ppt_w"/>
                                          </p:val>
                                        </p:tav>
                                      </p:tavLst>
                                    </p:anim>
                                    <p:anim calcmode="lin" valueType="num">
                                      <p:cBhvr>
                                        <p:cTn id="8" dur="500" fill="hold"/>
                                        <p:tgtEl>
                                          <p:spTgt spid="564228"/>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grpId="0" nodeType="clickEffect">
                                  <p:stCondLst>
                                    <p:cond delay="0"/>
                                  </p:stCondLst>
                                  <p:childTnLst>
                                    <p:set>
                                      <p:cBhvr>
                                        <p:cTn id="12" dur="1" fill="hold">
                                          <p:stCondLst>
                                            <p:cond delay="0"/>
                                          </p:stCondLst>
                                        </p:cTn>
                                        <p:tgtEl>
                                          <p:spTgt spid="564229"/>
                                        </p:tgtEl>
                                        <p:attrNameLst>
                                          <p:attrName>style.visibility</p:attrName>
                                        </p:attrNameLst>
                                      </p:cBhvr>
                                      <p:to>
                                        <p:strVal val="visible"/>
                                      </p:to>
                                    </p:set>
                                    <p:animEffect transition="in" filter="strips(upRight)">
                                      <p:cBhvr>
                                        <p:cTn id="13" dur="500"/>
                                        <p:tgtEl>
                                          <p:spTgt spid="564229"/>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nodeType="clickEffect">
                                  <p:stCondLst>
                                    <p:cond delay="0"/>
                                  </p:stCondLst>
                                  <p:childTnLst>
                                    <p:set>
                                      <p:cBhvr>
                                        <p:cTn id="17" dur="1" fill="hold">
                                          <p:stCondLst>
                                            <p:cond delay="0"/>
                                          </p:stCondLst>
                                        </p:cTn>
                                        <p:tgtEl>
                                          <p:spTgt spid="564230"/>
                                        </p:tgtEl>
                                        <p:attrNameLst>
                                          <p:attrName>style.visibility</p:attrName>
                                        </p:attrNameLst>
                                      </p:cBhvr>
                                      <p:to>
                                        <p:strVal val="visible"/>
                                      </p:to>
                                    </p:set>
                                    <p:animEffect transition="in" filter="strips(upRight)">
                                      <p:cBhvr>
                                        <p:cTn id="18" dur="500"/>
                                        <p:tgtEl>
                                          <p:spTgt spid="564230"/>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564231"/>
                                        </p:tgtEl>
                                        <p:attrNameLst>
                                          <p:attrName>style.visibility</p:attrName>
                                        </p:attrNameLst>
                                      </p:cBhvr>
                                      <p:to>
                                        <p:strVal val="visible"/>
                                      </p:to>
                                    </p:set>
                                    <p:animEffect transition="in" filter="strips(upRight)">
                                      <p:cBhvr>
                                        <p:cTn id="23" dur="500"/>
                                        <p:tgtEl>
                                          <p:spTgt spid="564231"/>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564232"/>
                                        </p:tgtEl>
                                        <p:attrNameLst>
                                          <p:attrName>style.visibility</p:attrName>
                                        </p:attrNameLst>
                                      </p:cBhvr>
                                      <p:to>
                                        <p:strVal val="visible"/>
                                      </p:to>
                                    </p:set>
                                    <p:animEffect transition="in" filter="strips(upRight)">
                                      <p:cBhvr>
                                        <p:cTn id="28" dur="500"/>
                                        <p:tgtEl>
                                          <p:spTgt spid="564232"/>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564233"/>
                                        </p:tgtEl>
                                        <p:attrNameLst>
                                          <p:attrName>style.visibility</p:attrName>
                                        </p:attrNameLst>
                                      </p:cBhvr>
                                      <p:to>
                                        <p:strVal val="visible"/>
                                      </p:to>
                                    </p:set>
                                    <p:animEffect transition="in" filter="strips(upRight)">
                                      <p:cBhvr>
                                        <p:cTn id="33" dur="500"/>
                                        <p:tgtEl>
                                          <p:spTgt spid="564233"/>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nodeType="clickEffect">
                                  <p:stCondLst>
                                    <p:cond delay="0"/>
                                  </p:stCondLst>
                                  <p:childTnLst>
                                    <p:set>
                                      <p:cBhvr>
                                        <p:cTn id="37" dur="1" fill="hold">
                                          <p:stCondLst>
                                            <p:cond delay="0"/>
                                          </p:stCondLst>
                                        </p:cTn>
                                        <p:tgtEl>
                                          <p:spTgt spid="564234"/>
                                        </p:tgtEl>
                                        <p:attrNameLst>
                                          <p:attrName>style.visibility</p:attrName>
                                        </p:attrNameLst>
                                      </p:cBhvr>
                                      <p:to>
                                        <p:strVal val="visible"/>
                                      </p:to>
                                    </p:set>
                                    <p:animEffect transition="in" filter="strips(upRight)">
                                      <p:cBhvr>
                                        <p:cTn id="38" dur="500"/>
                                        <p:tgtEl>
                                          <p:spTgt spid="564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8" grpId="0" autoUpdateAnimBg="0"/>
      <p:bldP spid="564229"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r>
              <a:rPr lang="en-US" altLang="zh-CN"/>
              <a:t>10.4 </a:t>
            </a:r>
            <a:r>
              <a:rPr lang="zh-CN" altLang="en-US"/>
              <a:t>麦克斯韦速率分布</a:t>
            </a:r>
          </a:p>
        </p:txBody>
      </p:sp>
      <p:sp>
        <p:nvSpPr>
          <p:cNvPr id="10" name="灯片编号占位符 4"/>
          <p:cNvSpPr>
            <a:spLocks noGrp="1"/>
          </p:cNvSpPr>
          <p:nvPr>
            <p:ph type="sldNum" sz="quarter" idx="12"/>
          </p:nvPr>
        </p:nvSpPr>
        <p:spPr/>
        <p:txBody>
          <a:bodyPr/>
          <a:lstStyle/>
          <a:p>
            <a:fld id="{1B889E23-C1F4-463B-807F-F6A756522800}" type="slidenum">
              <a:rPr lang="en-US" altLang="zh-CN"/>
              <a:pPr/>
              <a:t>56</a:t>
            </a:fld>
            <a:endParaRPr lang="en-US" altLang="zh-CN"/>
          </a:p>
        </p:txBody>
      </p:sp>
      <p:graphicFrame>
        <p:nvGraphicFramePr>
          <p:cNvPr id="565251" name="Object 3"/>
          <p:cNvGraphicFramePr>
            <a:graphicFrameLocks noChangeAspect="1"/>
          </p:cNvGraphicFramePr>
          <p:nvPr/>
        </p:nvGraphicFramePr>
        <p:xfrm>
          <a:off x="685800" y="1295400"/>
          <a:ext cx="4773613" cy="1016000"/>
        </p:xfrm>
        <a:graphic>
          <a:graphicData uri="http://schemas.openxmlformats.org/presentationml/2006/ole">
            <mc:AlternateContent xmlns:mc="http://schemas.openxmlformats.org/markup-compatibility/2006">
              <mc:Choice xmlns:v="urn:schemas-microsoft-com:vml" Requires="v">
                <p:oleObj name="公式" r:id="rId2" imgW="2387520" imgH="507960" progId="Equation.3">
                  <p:embed/>
                </p:oleObj>
              </mc:Choice>
              <mc:Fallback>
                <p:oleObj name="公式" r:id="rId2" imgW="2387520" imgH="507960" progId="Equation.3">
                  <p:embed/>
                  <p:pic>
                    <p:nvPicPr>
                      <p:cNvPr id="56525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95400"/>
                        <a:ext cx="4773613"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5252" name="Object 4"/>
          <p:cNvGraphicFramePr>
            <a:graphicFrameLocks noChangeAspect="1"/>
          </p:cNvGraphicFramePr>
          <p:nvPr/>
        </p:nvGraphicFramePr>
        <p:xfrm>
          <a:off x="685800" y="2774950"/>
          <a:ext cx="3503613" cy="457200"/>
        </p:xfrm>
        <a:graphic>
          <a:graphicData uri="http://schemas.openxmlformats.org/presentationml/2006/ole">
            <mc:AlternateContent xmlns:mc="http://schemas.openxmlformats.org/markup-compatibility/2006">
              <mc:Choice xmlns:v="urn:schemas-microsoft-com:vml" Requires="v">
                <p:oleObj name="公式" r:id="rId4" imgW="1752480" imgH="228600" progId="Equation.3">
                  <p:embed/>
                </p:oleObj>
              </mc:Choice>
              <mc:Fallback>
                <p:oleObj name="公式" r:id="rId4" imgW="1752480" imgH="228600" progId="Equation.3">
                  <p:embed/>
                  <p:pic>
                    <p:nvPicPr>
                      <p:cNvPr id="56525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774950"/>
                        <a:ext cx="35036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5253" name="Object 5"/>
          <p:cNvGraphicFramePr>
            <a:graphicFrameLocks noChangeAspect="1"/>
          </p:cNvGraphicFramePr>
          <p:nvPr/>
        </p:nvGraphicFramePr>
        <p:xfrm>
          <a:off x="685800" y="3695700"/>
          <a:ext cx="2005013" cy="787400"/>
        </p:xfrm>
        <a:graphic>
          <a:graphicData uri="http://schemas.openxmlformats.org/presentationml/2006/ole">
            <mc:AlternateContent xmlns:mc="http://schemas.openxmlformats.org/markup-compatibility/2006">
              <mc:Choice xmlns:v="urn:schemas-microsoft-com:vml" Requires="v">
                <p:oleObj name="公式" r:id="rId6" imgW="1002960" imgH="393480" progId="Equation.3">
                  <p:embed/>
                </p:oleObj>
              </mc:Choice>
              <mc:Fallback>
                <p:oleObj name="公式" r:id="rId6" imgW="1002960" imgH="393480" progId="Equation.3">
                  <p:embed/>
                  <p:pic>
                    <p:nvPicPr>
                      <p:cNvPr id="56525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695700"/>
                        <a:ext cx="20050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5254" name="Object 6"/>
          <p:cNvGraphicFramePr>
            <a:graphicFrameLocks noChangeAspect="1"/>
          </p:cNvGraphicFramePr>
          <p:nvPr/>
        </p:nvGraphicFramePr>
        <p:xfrm>
          <a:off x="685800" y="4946650"/>
          <a:ext cx="5789613" cy="457200"/>
        </p:xfrm>
        <a:graphic>
          <a:graphicData uri="http://schemas.openxmlformats.org/presentationml/2006/ole">
            <mc:AlternateContent xmlns:mc="http://schemas.openxmlformats.org/markup-compatibility/2006">
              <mc:Choice xmlns:v="urn:schemas-microsoft-com:vml" Requires="v">
                <p:oleObj name="公式" r:id="rId8" imgW="2895480" imgH="228600" progId="Equation.3">
                  <p:embed/>
                </p:oleObj>
              </mc:Choice>
              <mc:Fallback>
                <p:oleObj name="公式" r:id="rId8" imgW="2895480" imgH="228600" progId="Equation.3">
                  <p:embed/>
                  <p:pic>
                    <p:nvPicPr>
                      <p:cNvPr id="565254"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800" y="4946650"/>
                        <a:ext cx="57896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5255" name="Object 7"/>
          <p:cNvGraphicFramePr>
            <a:graphicFrameLocks noChangeAspect="1"/>
          </p:cNvGraphicFramePr>
          <p:nvPr/>
        </p:nvGraphicFramePr>
        <p:xfrm>
          <a:off x="685800" y="5867400"/>
          <a:ext cx="6373813" cy="457200"/>
        </p:xfrm>
        <a:graphic>
          <a:graphicData uri="http://schemas.openxmlformats.org/presentationml/2006/ole">
            <mc:AlternateContent xmlns:mc="http://schemas.openxmlformats.org/markup-compatibility/2006">
              <mc:Choice xmlns:v="urn:schemas-microsoft-com:vml" Requires="v">
                <p:oleObj name="公式" r:id="rId10" imgW="3187440" imgH="228600" progId="Equation.3">
                  <p:embed/>
                </p:oleObj>
              </mc:Choice>
              <mc:Fallback>
                <p:oleObj name="公式" r:id="rId10" imgW="3187440" imgH="228600" progId="Equation.3">
                  <p:embed/>
                  <p:pic>
                    <p:nvPicPr>
                      <p:cNvPr id="565255"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5800" y="5867400"/>
                        <a:ext cx="63738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565251"/>
                                        </p:tgtEl>
                                        <p:attrNameLst>
                                          <p:attrName>style.visibility</p:attrName>
                                        </p:attrNameLst>
                                      </p:cBhvr>
                                      <p:to>
                                        <p:strVal val="visible"/>
                                      </p:to>
                                    </p:set>
                                    <p:animEffect transition="in" filter="strips(upRight)">
                                      <p:cBhvr>
                                        <p:cTn id="7" dur="500"/>
                                        <p:tgtEl>
                                          <p:spTgt spid="56525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65252"/>
                                        </p:tgtEl>
                                        <p:attrNameLst>
                                          <p:attrName>style.visibility</p:attrName>
                                        </p:attrNameLst>
                                      </p:cBhvr>
                                      <p:to>
                                        <p:strVal val="visible"/>
                                      </p:to>
                                    </p:set>
                                    <p:animEffect transition="in" filter="strips(upRight)">
                                      <p:cBhvr>
                                        <p:cTn id="12" dur="500"/>
                                        <p:tgtEl>
                                          <p:spTgt spid="56525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565253"/>
                                        </p:tgtEl>
                                        <p:attrNameLst>
                                          <p:attrName>style.visibility</p:attrName>
                                        </p:attrNameLst>
                                      </p:cBhvr>
                                      <p:to>
                                        <p:strVal val="visible"/>
                                      </p:to>
                                    </p:set>
                                    <p:animEffect transition="in" filter="strips(upRight)">
                                      <p:cBhvr>
                                        <p:cTn id="17" dur="500"/>
                                        <p:tgtEl>
                                          <p:spTgt spid="56525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565254"/>
                                        </p:tgtEl>
                                        <p:attrNameLst>
                                          <p:attrName>style.visibility</p:attrName>
                                        </p:attrNameLst>
                                      </p:cBhvr>
                                      <p:to>
                                        <p:strVal val="visible"/>
                                      </p:to>
                                    </p:set>
                                    <p:animEffect transition="in" filter="strips(upRight)">
                                      <p:cBhvr>
                                        <p:cTn id="22" dur="500"/>
                                        <p:tgtEl>
                                          <p:spTgt spid="56525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565255"/>
                                        </p:tgtEl>
                                        <p:attrNameLst>
                                          <p:attrName>style.visibility</p:attrName>
                                        </p:attrNameLst>
                                      </p:cBhvr>
                                      <p:to>
                                        <p:strVal val="visible"/>
                                      </p:to>
                                    </p:set>
                                    <p:animEffect transition="in" filter="strips(upRight)">
                                      <p:cBhvr>
                                        <p:cTn id="27" dur="500"/>
                                        <p:tgtEl>
                                          <p:spTgt spid="565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r>
              <a:rPr lang="en-US" altLang="zh-CN"/>
              <a:t>10.4 </a:t>
            </a:r>
            <a:r>
              <a:rPr lang="zh-CN" altLang="en-US"/>
              <a:t>麦克斯韦速率分布</a:t>
            </a:r>
          </a:p>
        </p:txBody>
      </p:sp>
      <p:sp>
        <p:nvSpPr>
          <p:cNvPr id="31" name="灯片编号占位符 4"/>
          <p:cNvSpPr>
            <a:spLocks noGrp="1"/>
          </p:cNvSpPr>
          <p:nvPr>
            <p:ph type="sldNum" sz="quarter" idx="12"/>
          </p:nvPr>
        </p:nvSpPr>
        <p:spPr/>
        <p:txBody>
          <a:bodyPr/>
          <a:lstStyle/>
          <a:p>
            <a:fld id="{202DFD2B-743B-4BD4-AB26-A69631BF158D}" type="slidenum">
              <a:rPr lang="en-US" altLang="zh-CN"/>
              <a:pPr/>
              <a:t>57</a:t>
            </a:fld>
            <a:endParaRPr lang="en-US" altLang="zh-CN"/>
          </a:p>
        </p:txBody>
      </p:sp>
      <p:sp>
        <p:nvSpPr>
          <p:cNvPr id="567299" name="Text Box 3"/>
          <p:cNvSpPr txBox="1">
            <a:spLocks noChangeArrowheads="1"/>
          </p:cNvSpPr>
          <p:nvPr/>
        </p:nvSpPr>
        <p:spPr bwMode="auto">
          <a:xfrm>
            <a:off x="381000" y="1214735"/>
            <a:ext cx="7086600" cy="461665"/>
          </a:xfrm>
          <a:prstGeom prst="rect">
            <a:avLst/>
          </a:prstGeom>
          <a:noFill/>
          <a:ln w="9525">
            <a:noFill/>
            <a:miter lim="800000"/>
            <a:headEnd/>
            <a:tailEnd/>
          </a:ln>
          <a:effectLst/>
        </p:spPr>
        <p:txBody>
          <a:bodyPr>
            <a:spAutoFit/>
          </a:bodyPr>
          <a:lstStyle/>
          <a:p>
            <a:pPr>
              <a:spcBef>
                <a:spcPct val="50000"/>
              </a:spcBef>
            </a:pPr>
            <a:r>
              <a:rPr kumimoji="1" lang="zh-CN" altLang="en-US" sz="2400" dirty="0"/>
              <a:t>例</a:t>
            </a:r>
            <a:r>
              <a:rPr kumimoji="1" lang="en-US" altLang="zh-CN" sz="2400" dirty="0"/>
              <a:t>10.7    </a:t>
            </a:r>
            <a:r>
              <a:rPr kumimoji="1" lang="zh-CN" altLang="en-US" sz="2400" dirty="0"/>
              <a:t>有 </a:t>
            </a:r>
            <a:r>
              <a:rPr kumimoji="1" lang="en-US" altLang="zh-CN" sz="2400" i="1" dirty="0"/>
              <a:t>N</a:t>
            </a:r>
            <a:r>
              <a:rPr kumimoji="1" lang="en-US" altLang="zh-CN" sz="2400" dirty="0"/>
              <a:t> </a:t>
            </a:r>
            <a:r>
              <a:rPr kumimoji="1" lang="zh-CN" altLang="en-US" sz="2400" dirty="0"/>
              <a:t>个粒子，其速率分布函数为</a:t>
            </a:r>
            <a:r>
              <a:rPr kumimoji="1" lang="en-US" altLang="zh-CN" sz="2400" dirty="0"/>
              <a:t>:</a:t>
            </a:r>
          </a:p>
        </p:txBody>
      </p:sp>
      <p:grpSp>
        <p:nvGrpSpPr>
          <p:cNvPr id="567300" name="Group 4"/>
          <p:cNvGrpSpPr>
            <a:grpSpLocks/>
          </p:cNvGrpSpPr>
          <p:nvPr/>
        </p:nvGrpSpPr>
        <p:grpSpPr bwMode="auto">
          <a:xfrm>
            <a:off x="4495800" y="1828800"/>
            <a:ext cx="4208463" cy="1281113"/>
            <a:chOff x="2917" y="624"/>
            <a:chExt cx="2651" cy="807"/>
          </a:xfrm>
        </p:grpSpPr>
        <p:graphicFrame>
          <p:nvGraphicFramePr>
            <p:cNvPr id="567301" name="Object 5"/>
            <p:cNvGraphicFramePr>
              <a:graphicFrameLocks noChangeAspect="1"/>
            </p:cNvGraphicFramePr>
            <p:nvPr/>
          </p:nvGraphicFramePr>
          <p:xfrm>
            <a:off x="2917" y="864"/>
            <a:ext cx="835" cy="370"/>
          </p:xfrm>
          <a:graphic>
            <a:graphicData uri="http://schemas.openxmlformats.org/presentationml/2006/ole">
              <mc:AlternateContent xmlns:mc="http://schemas.openxmlformats.org/markup-compatibility/2006">
                <mc:Choice xmlns:v="urn:schemas-microsoft-com:vml" Requires="v">
                  <p:oleObj name="公式" r:id="rId2" imgW="457200" imgH="203040" progId="Equation.3">
                    <p:embed/>
                  </p:oleObj>
                </mc:Choice>
                <mc:Fallback>
                  <p:oleObj name="公式" r:id="rId2" imgW="457200" imgH="203040" progId="Equation.3">
                    <p:embed/>
                    <p:pic>
                      <p:nvPicPr>
                        <p:cNvPr id="56730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7" y="864"/>
                          <a:ext cx="835" cy="3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02" name="AutoShape 6"/>
            <p:cNvSpPr>
              <a:spLocks/>
            </p:cNvSpPr>
            <p:nvPr/>
          </p:nvSpPr>
          <p:spPr bwMode="auto">
            <a:xfrm>
              <a:off x="3792" y="720"/>
              <a:ext cx="144" cy="624"/>
            </a:xfrm>
            <a:prstGeom prst="leftBrace">
              <a:avLst>
                <a:gd name="adj1" fmla="val 36111"/>
                <a:gd name="adj2" fmla="val 50000"/>
              </a:avLst>
            </a:prstGeom>
            <a:noFill/>
            <a:ln w="28575">
              <a:solidFill>
                <a:schemeClr val="tx1"/>
              </a:solidFill>
              <a:round/>
              <a:headEnd/>
              <a:tailEnd/>
            </a:ln>
            <a:effectLst/>
          </p:spPr>
          <p:txBody>
            <a:bodyPr wrap="none" anchor="ctr"/>
            <a:lstStyle/>
            <a:p>
              <a:endParaRPr lang="zh-CN" altLang="en-US"/>
            </a:p>
          </p:txBody>
        </p:sp>
        <p:sp>
          <p:nvSpPr>
            <p:cNvPr id="567303" name="Text Box 7"/>
            <p:cNvSpPr txBox="1">
              <a:spLocks noChangeArrowheads="1"/>
            </p:cNvSpPr>
            <p:nvPr/>
          </p:nvSpPr>
          <p:spPr bwMode="auto">
            <a:xfrm>
              <a:off x="3984" y="624"/>
              <a:ext cx="1584" cy="327"/>
            </a:xfrm>
            <a:prstGeom prst="rect">
              <a:avLst/>
            </a:prstGeom>
            <a:noFill/>
            <a:ln w="9525">
              <a:noFill/>
              <a:miter lim="800000"/>
              <a:headEnd/>
              <a:tailEnd/>
            </a:ln>
            <a:effectLst/>
          </p:spPr>
          <p:txBody>
            <a:bodyPr>
              <a:spAutoFit/>
            </a:bodyPr>
            <a:lstStyle/>
            <a:p>
              <a:pPr>
                <a:spcBef>
                  <a:spcPct val="50000"/>
                </a:spcBef>
              </a:pPr>
              <a:r>
                <a:rPr kumimoji="1" lang="en-US" altLang="zh-CN" sz="2800" dirty="0"/>
                <a:t>C  ( </a:t>
              </a:r>
              <a:r>
                <a:rPr kumimoji="1" lang="en-US" altLang="zh-CN" sz="2800" i="1" dirty="0">
                  <a:latin typeface="Book Antiqua" pitchFamily="18" charset="0"/>
                </a:rPr>
                <a:t>v</a:t>
              </a:r>
              <a:r>
                <a:rPr kumimoji="1" lang="en-US" altLang="zh-CN" sz="2800" baseline="-25000" dirty="0"/>
                <a:t>0</a:t>
              </a:r>
              <a:r>
                <a:rPr kumimoji="1" lang="en-US" altLang="zh-CN" sz="2800" dirty="0"/>
                <a:t>&gt; </a:t>
              </a:r>
              <a:r>
                <a:rPr kumimoji="1" lang="en-US" altLang="zh-CN" sz="2800" i="1" dirty="0">
                  <a:latin typeface="Book Antiqua" pitchFamily="18" charset="0"/>
                </a:rPr>
                <a:t>v</a:t>
              </a:r>
              <a:r>
                <a:rPr kumimoji="1" lang="en-US" altLang="zh-CN" sz="2800" dirty="0"/>
                <a:t> &gt; 0)</a:t>
              </a:r>
            </a:p>
          </p:txBody>
        </p:sp>
        <p:sp>
          <p:nvSpPr>
            <p:cNvPr id="567304" name="Text Box 8"/>
            <p:cNvSpPr txBox="1">
              <a:spLocks noChangeArrowheads="1"/>
            </p:cNvSpPr>
            <p:nvPr/>
          </p:nvSpPr>
          <p:spPr bwMode="auto">
            <a:xfrm>
              <a:off x="4032" y="1104"/>
              <a:ext cx="1296" cy="327"/>
            </a:xfrm>
            <a:prstGeom prst="rect">
              <a:avLst/>
            </a:prstGeom>
            <a:noFill/>
            <a:ln w="9525">
              <a:noFill/>
              <a:miter lim="800000"/>
              <a:headEnd/>
              <a:tailEnd/>
            </a:ln>
            <a:effectLst/>
          </p:spPr>
          <p:txBody>
            <a:bodyPr>
              <a:spAutoFit/>
            </a:bodyPr>
            <a:lstStyle/>
            <a:p>
              <a:pPr>
                <a:spcBef>
                  <a:spcPct val="50000"/>
                </a:spcBef>
              </a:pPr>
              <a:r>
                <a:rPr kumimoji="1" lang="en-US" altLang="zh-CN" sz="2800" dirty="0"/>
                <a:t>0     ( </a:t>
              </a:r>
              <a:r>
                <a:rPr kumimoji="1" lang="en-US" altLang="zh-CN" sz="2800" i="1" dirty="0">
                  <a:latin typeface="Book Antiqua" pitchFamily="18" charset="0"/>
                </a:rPr>
                <a:t>v</a:t>
              </a:r>
              <a:r>
                <a:rPr kumimoji="1" lang="en-US" altLang="zh-CN" sz="2800" dirty="0"/>
                <a:t> &gt; </a:t>
              </a:r>
              <a:r>
                <a:rPr kumimoji="1" lang="en-US" altLang="zh-CN" sz="2800" i="1" dirty="0">
                  <a:latin typeface="Book Antiqua" pitchFamily="18" charset="0"/>
                </a:rPr>
                <a:t>v</a:t>
              </a:r>
              <a:r>
                <a:rPr kumimoji="1" lang="en-US" altLang="zh-CN" sz="2800" baseline="-25000" dirty="0"/>
                <a:t>0 </a:t>
              </a:r>
              <a:r>
                <a:rPr kumimoji="1" lang="en-US" altLang="zh-CN" sz="2800" dirty="0"/>
                <a:t>)</a:t>
              </a:r>
            </a:p>
          </p:txBody>
        </p:sp>
      </p:grpSp>
      <p:sp>
        <p:nvSpPr>
          <p:cNvPr id="567305" name="Text Box 9"/>
          <p:cNvSpPr txBox="1">
            <a:spLocks noChangeArrowheads="1"/>
          </p:cNvSpPr>
          <p:nvPr/>
        </p:nvSpPr>
        <p:spPr bwMode="auto">
          <a:xfrm>
            <a:off x="228600" y="1600200"/>
            <a:ext cx="4686300" cy="1791260"/>
          </a:xfrm>
          <a:prstGeom prst="rect">
            <a:avLst/>
          </a:prstGeom>
          <a:noFill/>
          <a:ln w="9525">
            <a:noFill/>
            <a:miter lim="800000"/>
            <a:headEnd/>
            <a:tailEnd/>
          </a:ln>
          <a:effectLst/>
        </p:spPr>
        <p:txBody>
          <a:bodyPr>
            <a:spAutoFit/>
          </a:bodyPr>
          <a:lstStyle/>
          <a:p>
            <a:pPr>
              <a:spcBef>
                <a:spcPct val="20000"/>
              </a:spcBef>
            </a:pPr>
            <a:r>
              <a:rPr kumimoji="1" lang="zh-CN" altLang="en-US" sz="2400" dirty="0"/>
              <a:t>（</a:t>
            </a:r>
            <a:r>
              <a:rPr kumimoji="1" lang="en-US" altLang="zh-CN" sz="2400" dirty="0"/>
              <a:t>1</a:t>
            </a:r>
            <a:r>
              <a:rPr kumimoji="1" lang="zh-CN" altLang="en-US" sz="2400" dirty="0"/>
              <a:t>）作速率分布曲线。</a:t>
            </a:r>
          </a:p>
          <a:p>
            <a:pPr>
              <a:spcBef>
                <a:spcPct val="20000"/>
              </a:spcBef>
            </a:pPr>
            <a:r>
              <a:rPr kumimoji="1" lang="zh-CN" altLang="en-US" sz="2400" dirty="0"/>
              <a:t>（</a:t>
            </a:r>
            <a:r>
              <a:rPr kumimoji="1" lang="en-US" altLang="zh-CN" sz="2400" dirty="0"/>
              <a:t>2</a:t>
            </a:r>
            <a:r>
              <a:rPr kumimoji="1" lang="zh-CN" altLang="en-US" sz="2400" dirty="0"/>
              <a:t>）由</a:t>
            </a:r>
            <a:r>
              <a:rPr kumimoji="1" lang="en-US" altLang="zh-CN" sz="2400" i="1" dirty="0"/>
              <a:t>N </a:t>
            </a:r>
            <a:r>
              <a:rPr kumimoji="1" lang="zh-CN" altLang="en-US" sz="2400" dirty="0"/>
              <a:t>和</a:t>
            </a:r>
            <a:r>
              <a:rPr kumimoji="1" lang="en-US" altLang="zh-CN" sz="2400" i="1" dirty="0">
                <a:latin typeface="Book Antiqua" pitchFamily="18" charset="0"/>
              </a:rPr>
              <a:t>v</a:t>
            </a:r>
            <a:r>
              <a:rPr kumimoji="1" lang="en-US" altLang="zh-CN" sz="2400" baseline="-25000" dirty="0"/>
              <a:t>0</a:t>
            </a:r>
            <a:r>
              <a:rPr kumimoji="1" lang="zh-CN" altLang="en-US" sz="2400" dirty="0"/>
              <a:t>求常量</a:t>
            </a:r>
            <a:r>
              <a:rPr kumimoji="1" lang="en-US" altLang="zh-CN" sz="2400" i="1" dirty="0"/>
              <a:t>C</a:t>
            </a:r>
            <a:r>
              <a:rPr kumimoji="1" lang="zh-CN" altLang="en-US" sz="2400" dirty="0"/>
              <a:t>。</a:t>
            </a:r>
          </a:p>
          <a:p>
            <a:pPr>
              <a:spcBef>
                <a:spcPct val="20000"/>
              </a:spcBef>
            </a:pPr>
            <a:r>
              <a:rPr kumimoji="1" lang="zh-CN" altLang="en-US" sz="2400" dirty="0"/>
              <a:t>（</a:t>
            </a:r>
            <a:r>
              <a:rPr kumimoji="1" lang="en-US" altLang="zh-CN" sz="2400" dirty="0"/>
              <a:t>3</a:t>
            </a:r>
            <a:r>
              <a:rPr kumimoji="1" lang="zh-CN" altLang="en-US" sz="2400" dirty="0"/>
              <a:t>）求粒子的平均速率。</a:t>
            </a:r>
          </a:p>
          <a:p>
            <a:pPr>
              <a:spcBef>
                <a:spcPct val="20000"/>
              </a:spcBef>
            </a:pPr>
            <a:r>
              <a:rPr kumimoji="1" lang="zh-CN" altLang="en-US" sz="2400" dirty="0"/>
              <a:t>（</a:t>
            </a:r>
            <a:r>
              <a:rPr kumimoji="1" lang="en-US" altLang="zh-CN" sz="2400" dirty="0"/>
              <a:t>4</a:t>
            </a:r>
            <a:r>
              <a:rPr kumimoji="1" lang="zh-CN" altLang="en-US" sz="2400" dirty="0"/>
              <a:t>）求粒子的方均根速率。</a:t>
            </a:r>
          </a:p>
        </p:txBody>
      </p:sp>
      <p:grpSp>
        <p:nvGrpSpPr>
          <p:cNvPr id="567306" name="Group 10"/>
          <p:cNvGrpSpPr>
            <a:grpSpLocks/>
          </p:cNvGrpSpPr>
          <p:nvPr/>
        </p:nvGrpSpPr>
        <p:grpSpPr bwMode="auto">
          <a:xfrm>
            <a:off x="838200" y="4357689"/>
            <a:ext cx="2362200" cy="1585913"/>
            <a:chOff x="3360" y="2505"/>
            <a:chExt cx="1488" cy="999"/>
          </a:xfrm>
        </p:grpSpPr>
        <p:grpSp>
          <p:nvGrpSpPr>
            <p:cNvPr id="567307" name="Group 11"/>
            <p:cNvGrpSpPr>
              <a:grpSpLocks/>
            </p:cNvGrpSpPr>
            <p:nvPr/>
          </p:nvGrpSpPr>
          <p:grpSpPr bwMode="auto">
            <a:xfrm>
              <a:off x="3648" y="2688"/>
              <a:ext cx="1200" cy="816"/>
              <a:chOff x="3216" y="2880"/>
              <a:chExt cx="1200" cy="816"/>
            </a:xfrm>
          </p:grpSpPr>
          <p:sp>
            <p:nvSpPr>
              <p:cNvPr id="567308" name="Line 12"/>
              <p:cNvSpPr>
                <a:spLocks noChangeShapeType="1"/>
              </p:cNvSpPr>
              <p:nvPr/>
            </p:nvSpPr>
            <p:spPr bwMode="auto">
              <a:xfrm>
                <a:off x="3216" y="2880"/>
                <a:ext cx="1200" cy="0"/>
              </a:xfrm>
              <a:prstGeom prst="line">
                <a:avLst/>
              </a:prstGeom>
              <a:noFill/>
              <a:ln w="28575">
                <a:solidFill>
                  <a:schemeClr val="hlink"/>
                </a:solidFill>
                <a:round/>
                <a:headEnd/>
                <a:tailEnd/>
              </a:ln>
              <a:effectLst/>
            </p:spPr>
            <p:txBody>
              <a:bodyPr wrap="none" anchor="ctr"/>
              <a:lstStyle/>
              <a:p>
                <a:endParaRPr lang="zh-CN" altLang="en-US"/>
              </a:p>
            </p:txBody>
          </p:sp>
          <p:sp>
            <p:nvSpPr>
              <p:cNvPr id="567309" name="Line 13"/>
              <p:cNvSpPr>
                <a:spLocks noChangeShapeType="1"/>
              </p:cNvSpPr>
              <p:nvPr/>
            </p:nvSpPr>
            <p:spPr bwMode="auto">
              <a:xfrm>
                <a:off x="4416" y="2880"/>
                <a:ext cx="0" cy="816"/>
              </a:xfrm>
              <a:prstGeom prst="line">
                <a:avLst/>
              </a:prstGeom>
              <a:noFill/>
              <a:ln w="9525">
                <a:solidFill>
                  <a:schemeClr val="tx1"/>
                </a:solidFill>
                <a:prstDash val="dash"/>
                <a:round/>
                <a:headEnd/>
                <a:tailEnd/>
              </a:ln>
              <a:effectLst/>
            </p:spPr>
            <p:txBody>
              <a:bodyPr wrap="none" anchor="ctr"/>
              <a:lstStyle/>
              <a:p>
                <a:endParaRPr lang="zh-CN" altLang="en-US"/>
              </a:p>
            </p:txBody>
          </p:sp>
        </p:grpSp>
        <p:sp>
          <p:nvSpPr>
            <p:cNvPr id="567310" name="Rectangle 14"/>
            <p:cNvSpPr>
              <a:spLocks noChangeArrowheads="1"/>
            </p:cNvSpPr>
            <p:nvPr/>
          </p:nvSpPr>
          <p:spPr bwMode="auto">
            <a:xfrm>
              <a:off x="3360" y="2505"/>
              <a:ext cx="265" cy="327"/>
            </a:xfrm>
            <a:prstGeom prst="rect">
              <a:avLst/>
            </a:prstGeom>
            <a:noFill/>
            <a:ln w="9525">
              <a:noFill/>
              <a:miter lim="800000"/>
              <a:headEnd/>
              <a:tailEnd/>
            </a:ln>
            <a:effectLst/>
          </p:spPr>
          <p:txBody>
            <a:bodyPr wrap="none">
              <a:spAutoFit/>
            </a:bodyPr>
            <a:lstStyle/>
            <a:p>
              <a:r>
                <a:rPr kumimoji="1" lang="en-US" altLang="zh-CN" sz="2800" i="1" dirty="0"/>
                <a:t>C</a:t>
              </a:r>
            </a:p>
          </p:txBody>
        </p:sp>
      </p:grpSp>
      <p:grpSp>
        <p:nvGrpSpPr>
          <p:cNvPr id="567311" name="Group 15"/>
          <p:cNvGrpSpPr>
            <a:grpSpLocks/>
          </p:cNvGrpSpPr>
          <p:nvPr/>
        </p:nvGrpSpPr>
        <p:grpSpPr bwMode="auto">
          <a:xfrm>
            <a:off x="1009650" y="3352800"/>
            <a:ext cx="3181350" cy="3051175"/>
            <a:chOff x="3024" y="2064"/>
            <a:chExt cx="2004" cy="1922"/>
          </a:xfrm>
        </p:grpSpPr>
        <p:sp>
          <p:nvSpPr>
            <p:cNvPr id="567312" name="Line 16"/>
            <p:cNvSpPr>
              <a:spLocks noChangeShapeType="1"/>
            </p:cNvSpPr>
            <p:nvPr/>
          </p:nvSpPr>
          <p:spPr bwMode="auto">
            <a:xfrm flipV="1">
              <a:off x="3216" y="2160"/>
              <a:ext cx="0" cy="1536"/>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67313" name="Line 17"/>
            <p:cNvSpPr>
              <a:spLocks noChangeShapeType="1"/>
            </p:cNvSpPr>
            <p:nvPr/>
          </p:nvSpPr>
          <p:spPr bwMode="auto">
            <a:xfrm>
              <a:off x="3216" y="3696"/>
              <a:ext cx="1776" cy="0"/>
            </a:xfrm>
            <a:prstGeom prst="line">
              <a:avLst/>
            </a:prstGeom>
            <a:noFill/>
            <a:ln w="19050">
              <a:solidFill>
                <a:schemeClr val="tx1"/>
              </a:solidFill>
              <a:round/>
              <a:headEnd/>
              <a:tailEnd type="triangle" w="med" len="lg"/>
            </a:ln>
            <a:effectLst/>
          </p:spPr>
          <p:txBody>
            <a:bodyPr wrap="none" anchor="ctr"/>
            <a:lstStyle/>
            <a:p>
              <a:endParaRPr lang="zh-CN" altLang="en-US"/>
            </a:p>
          </p:txBody>
        </p:sp>
        <p:sp>
          <p:nvSpPr>
            <p:cNvPr id="567314" name="Rectangle 18"/>
            <p:cNvSpPr>
              <a:spLocks noChangeArrowheads="1"/>
            </p:cNvSpPr>
            <p:nvPr/>
          </p:nvSpPr>
          <p:spPr bwMode="auto">
            <a:xfrm>
              <a:off x="4320" y="3642"/>
              <a:ext cx="304" cy="327"/>
            </a:xfrm>
            <a:prstGeom prst="rect">
              <a:avLst/>
            </a:prstGeom>
            <a:noFill/>
            <a:ln w="9525">
              <a:noFill/>
              <a:miter lim="800000"/>
              <a:headEnd/>
              <a:tailEnd/>
            </a:ln>
            <a:effectLst/>
          </p:spPr>
          <p:txBody>
            <a:bodyPr wrap="none">
              <a:spAutoFit/>
            </a:bodyPr>
            <a:lstStyle/>
            <a:p>
              <a:r>
                <a:rPr kumimoji="1" lang="en-US" altLang="zh-CN" sz="2800" i="1">
                  <a:latin typeface="Book Antiqua" pitchFamily="18" charset="0"/>
                </a:rPr>
                <a:t>v</a:t>
              </a:r>
              <a:r>
                <a:rPr kumimoji="1" lang="en-US" altLang="zh-CN" sz="2800" baseline="-25000"/>
                <a:t>0</a:t>
              </a:r>
            </a:p>
          </p:txBody>
        </p:sp>
        <p:sp>
          <p:nvSpPr>
            <p:cNvPr id="567315" name="Rectangle 19"/>
            <p:cNvSpPr>
              <a:spLocks noChangeArrowheads="1"/>
            </p:cNvSpPr>
            <p:nvPr/>
          </p:nvSpPr>
          <p:spPr bwMode="auto">
            <a:xfrm>
              <a:off x="4800" y="3659"/>
              <a:ext cx="228" cy="327"/>
            </a:xfrm>
            <a:prstGeom prst="rect">
              <a:avLst/>
            </a:prstGeom>
            <a:noFill/>
            <a:ln w="9525">
              <a:noFill/>
              <a:miter lim="800000"/>
              <a:headEnd/>
              <a:tailEnd/>
            </a:ln>
            <a:effectLst/>
          </p:spPr>
          <p:txBody>
            <a:bodyPr wrap="none">
              <a:spAutoFit/>
            </a:bodyPr>
            <a:lstStyle/>
            <a:p>
              <a:r>
                <a:rPr kumimoji="1" lang="en-US" altLang="zh-CN" sz="2800" i="1">
                  <a:latin typeface="Book Antiqua" pitchFamily="18" charset="0"/>
                </a:rPr>
                <a:t>v</a:t>
              </a:r>
            </a:p>
          </p:txBody>
        </p:sp>
        <p:graphicFrame>
          <p:nvGraphicFramePr>
            <p:cNvPr id="567316" name="Object 20"/>
            <p:cNvGraphicFramePr>
              <a:graphicFrameLocks noChangeAspect="1"/>
            </p:cNvGraphicFramePr>
            <p:nvPr/>
          </p:nvGraphicFramePr>
          <p:xfrm>
            <a:off x="3254" y="2064"/>
            <a:ext cx="548" cy="323"/>
          </p:xfrm>
          <a:graphic>
            <a:graphicData uri="http://schemas.openxmlformats.org/presentationml/2006/ole">
              <mc:AlternateContent xmlns:mc="http://schemas.openxmlformats.org/markup-compatibility/2006">
                <mc:Choice xmlns:v="urn:schemas-microsoft-com:vml" Requires="v">
                  <p:oleObj name="公式" r:id="rId4" imgW="342720" imgH="203040" progId="Equation.3">
                    <p:embed/>
                  </p:oleObj>
                </mc:Choice>
                <mc:Fallback>
                  <p:oleObj name="公式" r:id="rId4" imgW="342720" imgH="203040" progId="Equation.3">
                    <p:embed/>
                    <p:pic>
                      <p:nvPicPr>
                        <p:cNvPr id="567316"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4" y="2064"/>
                          <a:ext cx="548" cy="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17" name="Rectangle 21"/>
            <p:cNvSpPr>
              <a:spLocks noChangeArrowheads="1"/>
            </p:cNvSpPr>
            <p:nvPr/>
          </p:nvSpPr>
          <p:spPr bwMode="auto">
            <a:xfrm>
              <a:off x="3024" y="3600"/>
              <a:ext cx="334" cy="327"/>
            </a:xfrm>
            <a:prstGeom prst="rect">
              <a:avLst/>
            </a:prstGeom>
            <a:noFill/>
            <a:ln w="9525">
              <a:noFill/>
              <a:miter lim="800000"/>
              <a:headEnd/>
              <a:tailEnd/>
            </a:ln>
            <a:effectLst/>
          </p:spPr>
          <p:txBody>
            <a:bodyPr wrap="none">
              <a:spAutoFit/>
            </a:bodyPr>
            <a:lstStyle/>
            <a:p>
              <a:r>
                <a:rPr kumimoji="1" lang="en-US" altLang="zh-CN" sz="2800" i="1"/>
                <a:t>O </a:t>
              </a:r>
            </a:p>
          </p:txBody>
        </p:sp>
      </p:grpSp>
      <p:sp>
        <p:nvSpPr>
          <p:cNvPr id="567318" name="Rectangle 22"/>
          <p:cNvSpPr>
            <a:spLocks noChangeArrowheads="1"/>
          </p:cNvSpPr>
          <p:nvPr/>
        </p:nvSpPr>
        <p:spPr bwMode="auto">
          <a:xfrm>
            <a:off x="381000" y="3352800"/>
            <a:ext cx="895350" cy="519113"/>
          </a:xfrm>
          <a:prstGeom prst="rect">
            <a:avLst/>
          </a:prstGeom>
          <a:noFill/>
          <a:ln w="9525" algn="ctr">
            <a:noFill/>
            <a:miter lim="800000"/>
            <a:headEnd/>
            <a:tailEnd/>
          </a:ln>
          <a:effectLst/>
        </p:spPr>
        <p:txBody>
          <a:bodyPr wrap="none">
            <a:spAutoFit/>
          </a:bodyPr>
          <a:lstStyle/>
          <a:p>
            <a:r>
              <a:rPr kumimoji="1" lang="zh-CN" altLang="en-US" sz="2800"/>
              <a:t>解：</a:t>
            </a:r>
          </a:p>
        </p:txBody>
      </p:sp>
      <p:graphicFrame>
        <p:nvGraphicFramePr>
          <p:cNvPr id="567319" name="Object 23"/>
          <p:cNvGraphicFramePr>
            <a:graphicFrameLocks noChangeAspect="1"/>
          </p:cNvGraphicFramePr>
          <p:nvPr/>
        </p:nvGraphicFramePr>
        <p:xfrm>
          <a:off x="4800600" y="4495800"/>
          <a:ext cx="1344613" cy="660400"/>
        </p:xfrm>
        <a:graphic>
          <a:graphicData uri="http://schemas.openxmlformats.org/presentationml/2006/ole">
            <mc:AlternateContent xmlns:mc="http://schemas.openxmlformats.org/markup-compatibility/2006">
              <mc:Choice xmlns:v="urn:schemas-microsoft-com:vml" Requires="v">
                <p:oleObj name="公式" r:id="rId6" imgW="672840" imgH="330120" progId="Equation.3">
                  <p:embed/>
                </p:oleObj>
              </mc:Choice>
              <mc:Fallback>
                <p:oleObj name="公式" r:id="rId6" imgW="672840" imgH="330120" progId="Equation.3">
                  <p:embed/>
                  <p:pic>
                    <p:nvPicPr>
                      <p:cNvPr id="567319"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4495800"/>
                        <a:ext cx="1344613"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7320" name="Object 24"/>
          <p:cNvGraphicFramePr>
            <a:graphicFrameLocks noChangeAspect="1"/>
          </p:cNvGraphicFramePr>
          <p:nvPr/>
        </p:nvGraphicFramePr>
        <p:xfrm>
          <a:off x="4800600" y="5257800"/>
          <a:ext cx="939800" cy="863600"/>
        </p:xfrm>
        <a:graphic>
          <a:graphicData uri="http://schemas.openxmlformats.org/presentationml/2006/ole">
            <mc:AlternateContent xmlns:mc="http://schemas.openxmlformats.org/markup-compatibility/2006">
              <mc:Choice xmlns:v="urn:schemas-microsoft-com:vml" Requires="v">
                <p:oleObj name="公式" r:id="rId8" imgW="469800" imgH="431640" progId="Equation.3">
                  <p:embed/>
                </p:oleObj>
              </mc:Choice>
              <mc:Fallback>
                <p:oleObj name="公式" r:id="rId8" imgW="469800" imgH="431640" progId="Equation.3">
                  <p:embed/>
                  <p:pic>
                    <p:nvPicPr>
                      <p:cNvPr id="56732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5257800"/>
                        <a:ext cx="9398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7321" name="Object 25"/>
          <p:cNvGraphicFramePr>
            <a:graphicFrameLocks noChangeAspect="1"/>
          </p:cNvGraphicFramePr>
          <p:nvPr/>
        </p:nvGraphicFramePr>
        <p:xfrm>
          <a:off x="6248400" y="4495800"/>
          <a:ext cx="2386013" cy="660400"/>
        </p:xfrm>
        <a:graphic>
          <a:graphicData uri="http://schemas.openxmlformats.org/presentationml/2006/ole">
            <mc:AlternateContent xmlns:mc="http://schemas.openxmlformats.org/markup-compatibility/2006">
              <mc:Choice xmlns:v="urn:schemas-microsoft-com:vml" Requires="v">
                <p:oleObj name="公式" r:id="rId10" imgW="1193760" imgH="330120" progId="Equation.3">
                  <p:embed/>
                </p:oleObj>
              </mc:Choice>
              <mc:Fallback>
                <p:oleObj name="公式" r:id="rId10" imgW="1193760" imgH="330120" progId="Equation.3">
                  <p:embed/>
                  <p:pic>
                    <p:nvPicPr>
                      <p:cNvPr id="567321"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48400" y="4495800"/>
                        <a:ext cx="2386013"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22" name="Rectangle 26"/>
          <p:cNvSpPr>
            <a:spLocks noChangeArrowheads="1"/>
          </p:cNvSpPr>
          <p:nvPr/>
        </p:nvSpPr>
        <p:spPr bwMode="auto">
          <a:xfrm>
            <a:off x="4572000" y="3429000"/>
            <a:ext cx="3886200" cy="946150"/>
          </a:xfrm>
          <a:prstGeom prst="rect">
            <a:avLst/>
          </a:prstGeom>
          <a:noFill/>
          <a:ln w="9525" algn="ctr">
            <a:noFill/>
            <a:miter lim="800000"/>
            <a:headEnd/>
            <a:tailEnd/>
          </a:ln>
          <a:effectLst/>
        </p:spPr>
        <p:txBody>
          <a:bodyPr>
            <a:spAutoFit/>
          </a:bodyPr>
          <a:lstStyle/>
          <a:p>
            <a:r>
              <a:rPr kumimoji="1" lang="zh-CN" altLang="en-US" sz="2800" dirty="0"/>
              <a:t>速率分布函数必须满足归一化条件</a:t>
            </a:r>
          </a:p>
        </p:txBody>
      </p:sp>
      <p:sp>
        <p:nvSpPr>
          <p:cNvPr id="567323" name="Rectangle 27"/>
          <p:cNvSpPr>
            <a:spLocks noChangeArrowheads="1"/>
          </p:cNvSpPr>
          <p:nvPr/>
        </p:nvSpPr>
        <p:spPr bwMode="auto">
          <a:xfrm>
            <a:off x="228600" y="3810000"/>
            <a:ext cx="1073150" cy="519113"/>
          </a:xfrm>
          <a:prstGeom prst="rect">
            <a:avLst/>
          </a:prstGeom>
          <a:noFill/>
          <a:ln w="9525" algn="ctr">
            <a:noFill/>
            <a:miter lim="800000"/>
            <a:headEnd/>
            <a:tailEnd/>
          </a:ln>
          <a:effectLst/>
        </p:spPr>
        <p:txBody>
          <a:bodyPr wrap="none">
            <a:spAutoFit/>
          </a:bodyPr>
          <a:lstStyle/>
          <a:p>
            <a:r>
              <a:rPr kumimoji="1" lang="zh-CN" altLang="en-US" sz="2800"/>
              <a:t>（</a:t>
            </a:r>
            <a:r>
              <a:rPr kumimoji="1" lang="en-US" altLang="zh-CN" sz="2800"/>
              <a:t>1</a:t>
            </a:r>
            <a:r>
              <a:rPr kumimoji="1" lang="zh-CN" altLang="en-US" sz="2800"/>
              <a:t>）</a:t>
            </a:r>
          </a:p>
        </p:txBody>
      </p:sp>
      <p:sp>
        <p:nvSpPr>
          <p:cNvPr id="567324" name="Rectangle 28"/>
          <p:cNvSpPr>
            <a:spLocks noChangeArrowheads="1"/>
          </p:cNvSpPr>
          <p:nvPr/>
        </p:nvSpPr>
        <p:spPr bwMode="auto">
          <a:xfrm>
            <a:off x="3733800" y="3429000"/>
            <a:ext cx="1073150" cy="519113"/>
          </a:xfrm>
          <a:prstGeom prst="rect">
            <a:avLst/>
          </a:prstGeom>
          <a:noFill/>
          <a:ln w="9525" algn="ctr">
            <a:noFill/>
            <a:miter lim="800000"/>
            <a:headEnd/>
            <a:tailEnd/>
          </a:ln>
          <a:effectLst/>
        </p:spPr>
        <p:txBody>
          <a:bodyPr wrap="none">
            <a:spAutoFit/>
          </a:bodyPr>
          <a:lstStyle/>
          <a:p>
            <a:r>
              <a:rPr kumimoji="1" lang="zh-CN" altLang="en-US" sz="2800" dirty="0"/>
              <a:t>（</a:t>
            </a:r>
            <a:r>
              <a:rPr kumimoji="1" lang="en-US" altLang="zh-CN" sz="2800" dirty="0"/>
              <a:t>2</a:t>
            </a:r>
            <a:r>
              <a:rPr kumimoji="1" lang="zh-CN" altLang="en-US"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567318"/>
                                        </p:tgtEl>
                                        <p:attrNameLst>
                                          <p:attrName>style.visibility</p:attrName>
                                        </p:attrNameLst>
                                      </p:cBhvr>
                                      <p:to>
                                        <p:strVal val="visible"/>
                                      </p:to>
                                    </p:set>
                                    <p:anim calcmode="lin" valueType="num">
                                      <p:cBhvr>
                                        <p:cTn id="7" dur="500" fill="hold"/>
                                        <p:tgtEl>
                                          <p:spTgt spid="567318"/>
                                        </p:tgtEl>
                                        <p:attrNameLst>
                                          <p:attrName>ppt_w</p:attrName>
                                        </p:attrNameLst>
                                      </p:cBhvr>
                                      <p:tavLst>
                                        <p:tav tm="0">
                                          <p:val>
                                            <p:strVal val="4/3*#ppt_w"/>
                                          </p:val>
                                        </p:tav>
                                        <p:tav tm="100000">
                                          <p:val>
                                            <p:strVal val="#ppt_w"/>
                                          </p:val>
                                        </p:tav>
                                      </p:tavLst>
                                    </p:anim>
                                    <p:anim calcmode="lin" valueType="num">
                                      <p:cBhvr>
                                        <p:cTn id="8" dur="500" fill="hold"/>
                                        <p:tgtEl>
                                          <p:spTgt spid="567318"/>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288" fill="hold" grpId="0" nodeType="clickEffect">
                                  <p:stCondLst>
                                    <p:cond delay="0"/>
                                  </p:stCondLst>
                                  <p:childTnLst>
                                    <p:set>
                                      <p:cBhvr>
                                        <p:cTn id="12" dur="1" fill="hold">
                                          <p:stCondLst>
                                            <p:cond delay="0"/>
                                          </p:stCondLst>
                                        </p:cTn>
                                        <p:tgtEl>
                                          <p:spTgt spid="567323"/>
                                        </p:tgtEl>
                                        <p:attrNameLst>
                                          <p:attrName>style.visibility</p:attrName>
                                        </p:attrNameLst>
                                      </p:cBhvr>
                                      <p:to>
                                        <p:strVal val="visible"/>
                                      </p:to>
                                    </p:set>
                                    <p:anim calcmode="lin" valueType="num">
                                      <p:cBhvr>
                                        <p:cTn id="13" dur="500" fill="hold"/>
                                        <p:tgtEl>
                                          <p:spTgt spid="567323"/>
                                        </p:tgtEl>
                                        <p:attrNameLst>
                                          <p:attrName>ppt_w</p:attrName>
                                        </p:attrNameLst>
                                      </p:cBhvr>
                                      <p:tavLst>
                                        <p:tav tm="0">
                                          <p:val>
                                            <p:strVal val="4/3*#ppt_w"/>
                                          </p:val>
                                        </p:tav>
                                        <p:tav tm="100000">
                                          <p:val>
                                            <p:strVal val="#ppt_w"/>
                                          </p:val>
                                        </p:tav>
                                      </p:tavLst>
                                    </p:anim>
                                    <p:anim calcmode="lin" valueType="num">
                                      <p:cBhvr>
                                        <p:cTn id="14" dur="500" fill="hold"/>
                                        <p:tgtEl>
                                          <p:spTgt spid="567323"/>
                                        </p:tgtEl>
                                        <p:attrNameLst>
                                          <p:attrName>ppt_h</p:attrName>
                                        </p:attrNameLst>
                                      </p:cBhvr>
                                      <p:tavLst>
                                        <p:tav tm="0">
                                          <p:val>
                                            <p:strVal val="4/3*#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67311"/>
                                        </p:tgtEl>
                                        <p:attrNameLst>
                                          <p:attrName>style.visibility</p:attrName>
                                        </p:attrNameLst>
                                      </p:cBhvr>
                                      <p:to>
                                        <p:strVal val="visible"/>
                                      </p:to>
                                    </p:set>
                                    <p:animEffect transition="in" filter="wipe(left)">
                                      <p:cBhvr>
                                        <p:cTn id="19" dur="500"/>
                                        <p:tgtEl>
                                          <p:spTgt spid="5673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67306"/>
                                        </p:tgtEl>
                                        <p:attrNameLst>
                                          <p:attrName>style.visibility</p:attrName>
                                        </p:attrNameLst>
                                      </p:cBhvr>
                                      <p:to>
                                        <p:strVal val="visible"/>
                                      </p:to>
                                    </p:set>
                                    <p:animEffect transition="in" filter="wipe(left)">
                                      <p:cBhvr>
                                        <p:cTn id="24" dur="500"/>
                                        <p:tgtEl>
                                          <p:spTgt spid="567306"/>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288" fill="hold" grpId="0" nodeType="clickEffect">
                                  <p:stCondLst>
                                    <p:cond delay="0"/>
                                  </p:stCondLst>
                                  <p:childTnLst>
                                    <p:set>
                                      <p:cBhvr>
                                        <p:cTn id="28" dur="1" fill="hold">
                                          <p:stCondLst>
                                            <p:cond delay="0"/>
                                          </p:stCondLst>
                                        </p:cTn>
                                        <p:tgtEl>
                                          <p:spTgt spid="567324"/>
                                        </p:tgtEl>
                                        <p:attrNameLst>
                                          <p:attrName>style.visibility</p:attrName>
                                        </p:attrNameLst>
                                      </p:cBhvr>
                                      <p:to>
                                        <p:strVal val="visible"/>
                                      </p:to>
                                    </p:set>
                                    <p:anim calcmode="lin" valueType="num">
                                      <p:cBhvr>
                                        <p:cTn id="29" dur="500" fill="hold"/>
                                        <p:tgtEl>
                                          <p:spTgt spid="567324"/>
                                        </p:tgtEl>
                                        <p:attrNameLst>
                                          <p:attrName>ppt_w</p:attrName>
                                        </p:attrNameLst>
                                      </p:cBhvr>
                                      <p:tavLst>
                                        <p:tav tm="0">
                                          <p:val>
                                            <p:strVal val="4/3*#ppt_w"/>
                                          </p:val>
                                        </p:tav>
                                        <p:tav tm="100000">
                                          <p:val>
                                            <p:strVal val="#ppt_w"/>
                                          </p:val>
                                        </p:tav>
                                      </p:tavLst>
                                    </p:anim>
                                    <p:anim calcmode="lin" valueType="num">
                                      <p:cBhvr>
                                        <p:cTn id="30" dur="500" fill="hold"/>
                                        <p:tgtEl>
                                          <p:spTgt spid="567324"/>
                                        </p:tgtEl>
                                        <p:attrNameLst>
                                          <p:attrName>ppt_h</p:attrName>
                                        </p:attrNameLst>
                                      </p:cBhvr>
                                      <p:tavLst>
                                        <p:tav tm="0">
                                          <p:val>
                                            <p:strVal val="4/3*#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288" fill="hold" grpId="0" nodeType="clickEffect">
                                  <p:stCondLst>
                                    <p:cond delay="0"/>
                                  </p:stCondLst>
                                  <p:childTnLst>
                                    <p:set>
                                      <p:cBhvr>
                                        <p:cTn id="34" dur="1" fill="hold">
                                          <p:stCondLst>
                                            <p:cond delay="0"/>
                                          </p:stCondLst>
                                        </p:cTn>
                                        <p:tgtEl>
                                          <p:spTgt spid="567322"/>
                                        </p:tgtEl>
                                        <p:attrNameLst>
                                          <p:attrName>style.visibility</p:attrName>
                                        </p:attrNameLst>
                                      </p:cBhvr>
                                      <p:to>
                                        <p:strVal val="visible"/>
                                      </p:to>
                                    </p:set>
                                    <p:anim calcmode="lin" valueType="num">
                                      <p:cBhvr>
                                        <p:cTn id="35" dur="500" fill="hold"/>
                                        <p:tgtEl>
                                          <p:spTgt spid="567322"/>
                                        </p:tgtEl>
                                        <p:attrNameLst>
                                          <p:attrName>ppt_w</p:attrName>
                                        </p:attrNameLst>
                                      </p:cBhvr>
                                      <p:tavLst>
                                        <p:tav tm="0">
                                          <p:val>
                                            <p:strVal val="4/3*#ppt_w"/>
                                          </p:val>
                                        </p:tav>
                                        <p:tav tm="100000">
                                          <p:val>
                                            <p:strVal val="#ppt_w"/>
                                          </p:val>
                                        </p:tav>
                                      </p:tavLst>
                                    </p:anim>
                                    <p:anim calcmode="lin" valueType="num">
                                      <p:cBhvr>
                                        <p:cTn id="36" dur="500" fill="hold"/>
                                        <p:tgtEl>
                                          <p:spTgt spid="567322"/>
                                        </p:tgtEl>
                                        <p:attrNameLst>
                                          <p:attrName>ppt_h</p:attrName>
                                        </p:attrNameLst>
                                      </p:cBhvr>
                                      <p:tavLst>
                                        <p:tav tm="0">
                                          <p:val>
                                            <p:strVal val="4/3*#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567319"/>
                                        </p:tgtEl>
                                        <p:attrNameLst>
                                          <p:attrName>style.visibility</p:attrName>
                                        </p:attrNameLst>
                                      </p:cBhvr>
                                      <p:to>
                                        <p:strVal val="visible"/>
                                      </p:to>
                                    </p:set>
                                    <p:animEffect transition="in" filter="strips(downRight)">
                                      <p:cBhvr>
                                        <p:cTn id="41" dur="500"/>
                                        <p:tgtEl>
                                          <p:spTgt spid="567319"/>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nodeType="clickEffect">
                                  <p:stCondLst>
                                    <p:cond delay="0"/>
                                  </p:stCondLst>
                                  <p:childTnLst>
                                    <p:set>
                                      <p:cBhvr>
                                        <p:cTn id="45" dur="1" fill="hold">
                                          <p:stCondLst>
                                            <p:cond delay="0"/>
                                          </p:stCondLst>
                                        </p:cTn>
                                        <p:tgtEl>
                                          <p:spTgt spid="567320"/>
                                        </p:tgtEl>
                                        <p:attrNameLst>
                                          <p:attrName>style.visibility</p:attrName>
                                        </p:attrNameLst>
                                      </p:cBhvr>
                                      <p:to>
                                        <p:strVal val="visible"/>
                                      </p:to>
                                    </p:set>
                                    <p:animEffect transition="in" filter="strips(downRight)">
                                      <p:cBhvr>
                                        <p:cTn id="46" dur="500"/>
                                        <p:tgtEl>
                                          <p:spTgt spid="567320"/>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6" fill="hold" nodeType="clickEffect">
                                  <p:stCondLst>
                                    <p:cond delay="0"/>
                                  </p:stCondLst>
                                  <p:childTnLst>
                                    <p:set>
                                      <p:cBhvr>
                                        <p:cTn id="50" dur="1" fill="hold">
                                          <p:stCondLst>
                                            <p:cond delay="0"/>
                                          </p:stCondLst>
                                        </p:cTn>
                                        <p:tgtEl>
                                          <p:spTgt spid="567321"/>
                                        </p:tgtEl>
                                        <p:attrNameLst>
                                          <p:attrName>style.visibility</p:attrName>
                                        </p:attrNameLst>
                                      </p:cBhvr>
                                      <p:to>
                                        <p:strVal val="visible"/>
                                      </p:to>
                                    </p:set>
                                    <p:animEffect transition="in" filter="strips(downRight)">
                                      <p:cBhvr>
                                        <p:cTn id="51" dur="500"/>
                                        <p:tgtEl>
                                          <p:spTgt spid="567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18" grpId="0" autoUpdateAnimBg="0"/>
      <p:bldP spid="567322" grpId="0" autoUpdateAnimBg="0"/>
      <p:bldP spid="567323" grpId="0" autoUpdateAnimBg="0"/>
      <p:bldP spid="56732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r>
              <a:rPr lang="en-US" altLang="zh-CN"/>
              <a:t>10.4 </a:t>
            </a:r>
            <a:r>
              <a:rPr lang="zh-CN" altLang="en-US"/>
              <a:t>麦克斯韦速率分布</a:t>
            </a:r>
          </a:p>
        </p:txBody>
      </p:sp>
      <p:sp>
        <p:nvSpPr>
          <p:cNvPr id="12" name="灯片编号占位符 4"/>
          <p:cNvSpPr>
            <a:spLocks noGrp="1"/>
          </p:cNvSpPr>
          <p:nvPr>
            <p:ph type="sldNum" sz="quarter" idx="12"/>
          </p:nvPr>
        </p:nvSpPr>
        <p:spPr/>
        <p:txBody>
          <a:bodyPr/>
          <a:lstStyle/>
          <a:p>
            <a:fld id="{47541723-E89A-476B-ABA0-A6C1D9DB840F}" type="slidenum">
              <a:rPr lang="en-US" altLang="zh-CN"/>
              <a:pPr/>
              <a:t>58</a:t>
            </a:fld>
            <a:endParaRPr lang="en-US" altLang="zh-CN"/>
          </a:p>
        </p:txBody>
      </p:sp>
      <p:graphicFrame>
        <p:nvGraphicFramePr>
          <p:cNvPr id="560131" name="Object 3"/>
          <p:cNvGraphicFramePr>
            <a:graphicFrameLocks noChangeAspect="1"/>
          </p:cNvGraphicFramePr>
          <p:nvPr/>
        </p:nvGraphicFramePr>
        <p:xfrm>
          <a:off x="1143000" y="1371600"/>
          <a:ext cx="4240213" cy="838200"/>
        </p:xfrm>
        <a:graphic>
          <a:graphicData uri="http://schemas.openxmlformats.org/presentationml/2006/ole">
            <mc:AlternateContent xmlns:mc="http://schemas.openxmlformats.org/markup-compatibility/2006">
              <mc:Choice xmlns:v="urn:schemas-microsoft-com:vml" Requires="v">
                <p:oleObj name="公式" r:id="rId2" imgW="2120760" imgH="419040" progId="Equation.3">
                  <p:embed/>
                </p:oleObj>
              </mc:Choice>
              <mc:Fallback>
                <p:oleObj name="公式" r:id="rId2" imgW="2120760" imgH="419040" progId="Equation.3">
                  <p:embed/>
                  <p:pic>
                    <p:nvPicPr>
                      <p:cNvPr id="56013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71600"/>
                        <a:ext cx="424021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0132" name="Object 4"/>
          <p:cNvGraphicFramePr>
            <a:graphicFrameLocks noChangeAspect="1"/>
          </p:cNvGraphicFramePr>
          <p:nvPr/>
        </p:nvGraphicFramePr>
        <p:xfrm>
          <a:off x="1143000" y="2133600"/>
          <a:ext cx="1930400" cy="914400"/>
        </p:xfrm>
        <a:graphic>
          <a:graphicData uri="http://schemas.openxmlformats.org/presentationml/2006/ole">
            <mc:AlternateContent xmlns:mc="http://schemas.openxmlformats.org/markup-compatibility/2006">
              <mc:Choice xmlns:v="urn:schemas-microsoft-com:vml" Requires="v">
                <p:oleObj name="公式" r:id="rId4" imgW="965160" imgH="457200" progId="Equation.3">
                  <p:embed/>
                </p:oleObj>
              </mc:Choice>
              <mc:Fallback>
                <p:oleObj name="公式" r:id="rId4" imgW="965160" imgH="457200" progId="Equation.3">
                  <p:embed/>
                  <p:pic>
                    <p:nvPicPr>
                      <p:cNvPr id="56013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133600"/>
                        <a:ext cx="19304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0133" name="Object 5"/>
          <p:cNvGraphicFramePr>
            <a:graphicFrameLocks noChangeAspect="1"/>
          </p:cNvGraphicFramePr>
          <p:nvPr/>
        </p:nvGraphicFramePr>
        <p:xfrm>
          <a:off x="1066800" y="3200400"/>
          <a:ext cx="4418013" cy="787400"/>
        </p:xfrm>
        <a:graphic>
          <a:graphicData uri="http://schemas.openxmlformats.org/presentationml/2006/ole">
            <mc:AlternateContent xmlns:mc="http://schemas.openxmlformats.org/markup-compatibility/2006">
              <mc:Choice xmlns:v="urn:schemas-microsoft-com:vml" Requires="v">
                <p:oleObj name="公式" r:id="rId6" imgW="2209680" imgH="393480" progId="Equation.3">
                  <p:embed/>
                </p:oleObj>
              </mc:Choice>
              <mc:Fallback>
                <p:oleObj name="公式" r:id="rId6" imgW="2209680" imgH="393480" progId="Equation.3">
                  <p:embed/>
                  <p:pic>
                    <p:nvPicPr>
                      <p:cNvPr id="56013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3200400"/>
                        <a:ext cx="44180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0134" name="Object 6"/>
          <p:cNvGraphicFramePr>
            <a:graphicFrameLocks noChangeAspect="1"/>
          </p:cNvGraphicFramePr>
          <p:nvPr/>
        </p:nvGraphicFramePr>
        <p:xfrm>
          <a:off x="838200" y="4013200"/>
          <a:ext cx="1624013" cy="863600"/>
        </p:xfrm>
        <a:graphic>
          <a:graphicData uri="http://schemas.openxmlformats.org/presentationml/2006/ole">
            <mc:AlternateContent xmlns:mc="http://schemas.openxmlformats.org/markup-compatibility/2006">
              <mc:Choice xmlns:v="urn:schemas-microsoft-com:vml" Requires="v">
                <p:oleObj name="公式" r:id="rId8" imgW="812520" imgH="431640" progId="Equation.3">
                  <p:embed/>
                </p:oleObj>
              </mc:Choice>
              <mc:Fallback>
                <p:oleObj name="公式" r:id="rId8" imgW="812520" imgH="431640" progId="Equation.3">
                  <p:embed/>
                  <p:pic>
                    <p:nvPicPr>
                      <p:cNvPr id="560134"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4013200"/>
                        <a:ext cx="1624013"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0135" name="Rectangle 7"/>
          <p:cNvSpPr>
            <a:spLocks noChangeArrowheads="1"/>
          </p:cNvSpPr>
          <p:nvPr/>
        </p:nvSpPr>
        <p:spPr bwMode="auto">
          <a:xfrm>
            <a:off x="146050" y="1600200"/>
            <a:ext cx="1073150" cy="519113"/>
          </a:xfrm>
          <a:prstGeom prst="rect">
            <a:avLst/>
          </a:prstGeom>
          <a:noFill/>
          <a:ln w="9525" algn="ctr">
            <a:noFill/>
            <a:miter lim="800000"/>
            <a:headEnd/>
            <a:tailEnd/>
          </a:ln>
          <a:effectLst/>
        </p:spPr>
        <p:txBody>
          <a:bodyPr wrap="none">
            <a:spAutoFit/>
          </a:bodyPr>
          <a:lstStyle/>
          <a:p>
            <a:r>
              <a:rPr kumimoji="1" lang="zh-CN" altLang="en-US" sz="2800" dirty="0"/>
              <a:t>（</a:t>
            </a:r>
            <a:r>
              <a:rPr kumimoji="1" lang="en-US" altLang="zh-CN" sz="2800" dirty="0"/>
              <a:t>3</a:t>
            </a:r>
            <a:r>
              <a:rPr kumimoji="1" lang="zh-CN" altLang="en-US" sz="2800" dirty="0"/>
              <a:t>）</a:t>
            </a:r>
          </a:p>
        </p:txBody>
      </p:sp>
      <p:sp>
        <p:nvSpPr>
          <p:cNvPr id="560136" name="Rectangle 8"/>
          <p:cNvSpPr>
            <a:spLocks noChangeArrowheads="1"/>
          </p:cNvSpPr>
          <p:nvPr/>
        </p:nvSpPr>
        <p:spPr bwMode="auto">
          <a:xfrm>
            <a:off x="152400" y="3124200"/>
            <a:ext cx="1073150" cy="519113"/>
          </a:xfrm>
          <a:prstGeom prst="rect">
            <a:avLst/>
          </a:prstGeom>
          <a:noFill/>
          <a:ln w="9525" algn="ctr">
            <a:noFill/>
            <a:miter lim="800000"/>
            <a:headEnd/>
            <a:tailEnd/>
          </a:ln>
          <a:effectLst/>
        </p:spPr>
        <p:txBody>
          <a:bodyPr wrap="none">
            <a:spAutoFit/>
          </a:bodyPr>
          <a:lstStyle/>
          <a:p>
            <a:r>
              <a:rPr kumimoji="1" lang="zh-CN" altLang="en-US" sz="2800"/>
              <a:t>（</a:t>
            </a:r>
            <a:r>
              <a:rPr kumimoji="1" lang="en-US" altLang="zh-CN" sz="2800"/>
              <a:t>4</a:t>
            </a:r>
            <a:r>
              <a:rPr kumimoji="1" lang="zh-CN" altLang="en-US" sz="2800"/>
              <a:t>）</a:t>
            </a:r>
          </a:p>
        </p:txBody>
      </p:sp>
      <p:sp>
        <p:nvSpPr>
          <p:cNvPr id="560137" name="Rectangle 9"/>
          <p:cNvSpPr>
            <a:spLocks noChangeArrowheads="1"/>
          </p:cNvSpPr>
          <p:nvPr/>
        </p:nvSpPr>
        <p:spPr bwMode="auto">
          <a:xfrm>
            <a:off x="457200" y="5334000"/>
            <a:ext cx="8458200" cy="946150"/>
          </a:xfrm>
          <a:prstGeom prst="rect">
            <a:avLst/>
          </a:prstGeom>
          <a:noFill/>
          <a:ln w="9525" algn="ctr">
            <a:noFill/>
            <a:miter lim="800000"/>
            <a:headEnd/>
            <a:tailEnd/>
          </a:ln>
          <a:effectLst/>
        </p:spPr>
        <p:txBody>
          <a:bodyPr wrap="square">
            <a:spAutoFit/>
          </a:bodyPr>
          <a:lstStyle/>
          <a:p>
            <a:r>
              <a:rPr kumimoji="1" lang="zh-CN" altLang="en-US" sz="2800" dirty="0">
                <a:solidFill>
                  <a:srgbClr val="0000CC"/>
                </a:solidFill>
                <a:latin typeface="华文行楷" pitchFamily="2" charset="-122"/>
                <a:ea typeface="华文行楷" pitchFamily="2" charset="-122"/>
              </a:rPr>
              <a:t>对不同的分布函数，有不同的平均速率、方均根速率和最可几速率（最概然速率）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560135"/>
                                        </p:tgtEl>
                                        <p:attrNameLst>
                                          <p:attrName>style.visibility</p:attrName>
                                        </p:attrNameLst>
                                      </p:cBhvr>
                                      <p:to>
                                        <p:strVal val="visible"/>
                                      </p:to>
                                    </p:set>
                                    <p:anim calcmode="lin" valueType="num">
                                      <p:cBhvr>
                                        <p:cTn id="7" dur="500" fill="hold"/>
                                        <p:tgtEl>
                                          <p:spTgt spid="560135"/>
                                        </p:tgtEl>
                                        <p:attrNameLst>
                                          <p:attrName>ppt_w</p:attrName>
                                        </p:attrNameLst>
                                      </p:cBhvr>
                                      <p:tavLst>
                                        <p:tav tm="0">
                                          <p:val>
                                            <p:strVal val="4/3*#ppt_w"/>
                                          </p:val>
                                        </p:tav>
                                        <p:tav tm="100000">
                                          <p:val>
                                            <p:strVal val="#ppt_w"/>
                                          </p:val>
                                        </p:tav>
                                      </p:tavLst>
                                    </p:anim>
                                    <p:anim calcmode="lin" valueType="num">
                                      <p:cBhvr>
                                        <p:cTn id="8" dur="500" fill="hold"/>
                                        <p:tgtEl>
                                          <p:spTgt spid="560135"/>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60131"/>
                                        </p:tgtEl>
                                        <p:attrNameLst>
                                          <p:attrName>style.visibility</p:attrName>
                                        </p:attrNameLst>
                                      </p:cBhvr>
                                      <p:to>
                                        <p:strVal val="visible"/>
                                      </p:to>
                                    </p:set>
                                    <p:animEffect transition="in" filter="strips(upRight)">
                                      <p:cBhvr>
                                        <p:cTn id="13" dur="500"/>
                                        <p:tgtEl>
                                          <p:spTgt spid="560131"/>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nodeType="clickEffect">
                                  <p:stCondLst>
                                    <p:cond delay="0"/>
                                  </p:stCondLst>
                                  <p:childTnLst>
                                    <p:set>
                                      <p:cBhvr>
                                        <p:cTn id="17" dur="1" fill="hold">
                                          <p:stCondLst>
                                            <p:cond delay="0"/>
                                          </p:stCondLst>
                                        </p:cTn>
                                        <p:tgtEl>
                                          <p:spTgt spid="560132"/>
                                        </p:tgtEl>
                                        <p:attrNameLst>
                                          <p:attrName>style.visibility</p:attrName>
                                        </p:attrNameLst>
                                      </p:cBhvr>
                                      <p:to>
                                        <p:strVal val="visible"/>
                                      </p:to>
                                    </p:set>
                                    <p:animEffect transition="in" filter="strips(upRight)">
                                      <p:cBhvr>
                                        <p:cTn id="18" dur="500"/>
                                        <p:tgtEl>
                                          <p:spTgt spid="560132"/>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288" fill="hold" grpId="0" nodeType="clickEffect">
                                  <p:stCondLst>
                                    <p:cond delay="0"/>
                                  </p:stCondLst>
                                  <p:childTnLst>
                                    <p:set>
                                      <p:cBhvr>
                                        <p:cTn id="22" dur="1" fill="hold">
                                          <p:stCondLst>
                                            <p:cond delay="0"/>
                                          </p:stCondLst>
                                        </p:cTn>
                                        <p:tgtEl>
                                          <p:spTgt spid="560136"/>
                                        </p:tgtEl>
                                        <p:attrNameLst>
                                          <p:attrName>style.visibility</p:attrName>
                                        </p:attrNameLst>
                                      </p:cBhvr>
                                      <p:to>
                                        <p:strVal val="visible"/>
                                      </p:to>
                                    </p:set>
                                    <p:anim calcmode="lin" valueType="num">
                                      <p:cBhvr>
                                        <p:cTn id="23" dur="500" fill="hold"/>
                                        <p:tgtEl>
                                          <p:spTgt spid="560136"/>
                                        </p:tgtEl>
                                        <p:attrNameLst>
                                          <p:attrName>ppt_w</p:attrName>
                                        </p:attrNameLst>
                                      </p:cBhvr>
                                      <p:tavLst>
                                        <p:tav tm="0">
                                          <p:val>
                                            <p:strVal val="4/3*#ppt_w"/>
                                          </p:val>
                                        </p:tav>
                                        <p:tav tm="100000">
                                          <p:val>
                                            <p:strVal val="#ppt_w"/>
                                          </p:val>
                                        </p:tav>
                                      </p:tavLst>
                                    </p:anim>
                                    <p:anim calcmode="lin" valueType="num">
                                      <p:cBhvr>
                                        <p:cTn id="24" dur="500" fill="hold"/>
                                        <p:tgtEl>
                                          <p:spTgt spid="560136"/>
                                        </p:tgtEl>
                                        <p:attrNameLst>
                                          <p:attrName>ppt_h</p:attrName>
                                        </p:attrNameLst>
                                      </p:cBhvr>
                                      <p:tavLst>
                                        <p:tav tm="0">
                                          <p:val>
                                            <p:strVal val="4/3*#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8" presetClass="entr" presetSubtype="3" fill="hold" nodeType="clickEffect">
                                  <p:stCondLst>
                                    <p:cond delay="0"/>
                                  </p:stCondLst>
                                  <p:childTnLst>
                                    <p:set>
                                      <p:cBhvr>
                                        <p:cTn id="28" dur="1" fill="hold">
                                          <p:stCondLst>
                                            <p:cond delay="0"/>
                                          </p:stCondLst>
                                        </p:cTn>
                                        <p:tgtEl>
                                          <p:spTgt spid="560133"/>
                                        </p:tgtEl>
                                        <p:attrNameLst>
                                          <p:attrName>style.visibility</p:attrName>
                                        </p:attrNameLst>
                                      </p:cBhvr>
                                      <p:to>
                                        <p:strVal val="visible"/>
                                      </p:to>
                                    </p:set>
                                    <p:animEffect transition="in" filter="strips(upRight)">
                                      <p:cBhvr>
                                        <p:cTn id="29" dur="500"/>
                                        <p:tgtEl>
                                          <p:spTgt spid="560133"/>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3" fill="hold" nodeType="clickEffect">
                                  <p:stCondLst>
                                    <p:cond delay="0"/>
                                  </p:stCondLst>
                                  <p:childTnLst>
                                    <p:set>
                                      <p:cBhvr>
                                        <p:cTn id="33" dur="1" fill="hold">
                                          <p:stCondLst>
                                            <p:cond delay="0"/>
                                          </p:stCondLst>
                                        </p:cTn>
                                        <p:tgtEl>
                                          <p:spTgt spid="560134"/>
                                        </p:tgtEl>
                                        <p:attrNameLst>
                                          <p:attrName>style.visibility</p:attrName>
                                        </p:attrNameLst>
                                      </p:cBhvr>
                                      <p:to>
                                        <p:strVal val="visible"/>
                                      </p:to>
                                    </p:set>
                                    <p:animEffect transition="in" filter="strips(upRight)">
                                      <p:cBhvr>
                                        <p:cTn id="34" dur="500"/>
                                        <p:tgtEl>
                                          <p:spTgt spid="560134"/>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288" fill="hold" grpId="0" nodeType="clickEffect">
                                  <p:stCondLst>
                                    <p:cond delay="0"/>
                                  </p:stCondLst>
                                  <p:childTnLst>
                                    <p:set>
                                      <p:cBhvr>
                                        <p:cTn id="38" dur="1" fill="hold">
                                          <p:stCondLst>
                                            <p:cond delay="0"/>
                                          </p:stCondLst>
                                        </p:cTn>
                                        <p:tgtEl>
                                          <p:spTgt spid="560137"/>
                                        </p:tgtEl>
                                        <p:attrNameLst>
                                          <p:attrName>style.visibility</p:attrName>
                                        </p:attrNameLst>
                                      </p:cBhvr>
                                      <p:to>
                                        <p:strVal val="visible"/>
                                      </p:to>
                                    </p:set>
                                    <p:anim calcmode="lin" valueType="num">
                                      <p:cBhvr>
                                        <p:cTn id="39" dur="500" fill="hold"/>
                                        <p:tgtEl>
                                          <p:spTgt spid="560137"/>
                                        </p:tgtEl>
                                        <p:attrNameLst>
                                          <p:attrName>ppt_w</p:attrName>
                                        </p:attrNameLst>
                                      </p:cBhvr>
                                      <p:tavLst>
                                        <p:tav tm="0">
                                          <p:val>
                                            <p:strVal val="4/3*#ppt_w"/>
                                          </p:val>
                                        </p:tav>
                                        <p:tav tm="100000">
                                          <p:val>
                                            <p:strVal val="#ppt_w"/>
                                          </p:val>
                                        </p:tav>
                                      </p:tavLst>
                                    </p:anim>
                                    <p:anim calcmode="lin" valueType="num">
                                      <p:cBhvr>
                                        <p:cTn id="40" dur="500" fill="hold"/>
                                        <p:tgtEl>
                                          <p:spTgt spid="560137"/>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5" grpId="0" autoUpdateAnimBg="0"/>
      <p:bldP spid="560136" grpId="0" autoUpdateAnimBg="0"/>
      <p:bldP spid="56013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r>
              <a:rPr lang="en-US" altLang="zh-CN"/>
              <a:t>10.4 </a:t>
            </a:r>
            <a:r>
              <a:rPr lang="zh-CN" altLang="en-US"/>
              <a:t>麦克斯韦速率分布</a:t>
            </a:r>
          </a:p>
        </p:txBody>
      </p:sp>
      <p:sp>
        <p:nvSpPr>
          <p:cNvPr id="6" name="灯片编号占位符 4"/>
          <p:cNvSpPr>
            <a:spLocks noGrp="1"/>
          </p:cNvSpPr>
          <p:nvPr>
            <p:ph type="sldNum" sz="quarter" idx="12"/>
          </p:nvPr>
        </p:nvSpPr>
        <p:spPr/>
        <p:txBody>
          <a:bodyPr/>
          <a:lstStyle/>
          <a:p>
            <a:fld id="{F688015D-8A36-49E4-AFFF-E8FB0905BA93}" type="slidenum">
              <a:rPr lang="en-US" altLang="zh-CN"/>
              <a:pPr/>
              <a:t>59</a:t>
            </a:fld>
            <a:endParaRPr lang="en-US" altLang="zh-CN"/>
          </a:p>
        </p:txBody>
      </p:sp>
      <p:graphicFrame>
        <p:nvGraphicFramePr>
          <p:cNvPr id="566275" name="Object 3"/>
          <p:cNvGraphicFramePr>
            <a:graphicFrameLocks noChangeAspect="1"/>
          </p:cNvGraphicFramePr>
          <p:nvPr/>
        </p:nvGraphicFramePr>
        <p:xfrm>
          <a:off x="457200" y="1219200"/>
          <a:ext cx="8191500" cy="4749800"/>
        </p:xfrm>
        <a:graphic>
          <a:graphicData uri="http://schemas.openxmlformats.org/presentationml/2006/ole">
            <mc:AlternateContent xmlns:mc="http://schemas.openxmlformats.org/markup-compatibility/2006">
              <mc:Choice xmlns:v="urn:schemas-microsoft-com:vml" Requires="v">
                <p:oleObj name="文档" r:id="rId2" imgW="3270275" imgH="1899293" progId="Word.Document.8">
                  <p:embed/>
                </p:oleObj>
              </mc:Choice>
              <mc:Fallback>
                <p:oleObj name="文档" r:id="rId2" imgW="3270275" imgH="1899293" progId="Word.Document.8">
                  <p:embed/>
                  <p:pic>
                    <p:nvPicPr>
                      <p:cNvPr id="56627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9200"/>
                        <a:ext cx="8191500" cy="474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p:txBody>
          <a:bodyPr/>
          <a:lstStyle/>
          <a:p>
            <a:r>
              <a:rPr lang="en-US" altLang="zh-CN"/>
              <a:t>10.4 </a:t>
            </a:r>
            <a:r>
              <a:rPr lang="zh-CN" altLang="en-US"/>
              <a:t>麦克斯韦速率分布</a:t>
            </a:r>
          </a:p>
        </p:txBody>
      </p:sp>
      <p:sp>
        <p:nvSpPr>
          <p:cNvPr id="6" name="灯片编号占位符 4"/>
          <p:cNvSpPr>
            <a:spLocks noGrp="1"/>
          </p:cNvSpPr>
          <p:nvPr>
            <p:ph type="sldNum" sz="quarter" idx="12"/>
          </p:nvPr>
        </p:nvSpPr>
        <p:spPr/>
        <p:txBody>
          <a:bodyPr/>
          <a:lstStyle/>
          <a:p>
            <a:fld id="{CE558415-337D-4A39-8E06-3BBF9B81BC9B}" type="slidenum">
              <a:rPr lang="en-US" altLang="zh-CN"/>
              <a:pPr/>
              <a:t>60</a:t>
            </a:fld>
            <a:endParaRPr lang="en-US" altLang="zh-CN"/>
          </a:p>
        </p:txBody>
      </p:sp>
      <p:graphicFrame>
        <p:nvGraphicFramePr>
          <p:cNvPr id="569347" name="Object 3"/>
          <p:cNvGraphicFramePr>
            <a:graphicFrameLocks noChangeAspect="1"/>
          </p:cNvGraphicFramePr>
          <p:nvPr/>
        </p:nvGraphicFramePr>
        <p:xfrm>
          <a:off x="381000" y="1447800"/>
          <a:ext cx="8420100" cy="4394200"/>
        </p:xfrm>
        <a:graphic>
          <a:graphicData uri="http://schemas.openxmlformats.org/presentationml/2006/ole">
            <mc:AlternateContent xmlns:mc="http://schemas.openxmlformats.org/markup-compatibility/2006">
              <mc:Choice xmlns:v="urn:schemas-microsoft-com:vml" Requires="v">
                <p:oleObj name="文档" r:id="rId2" imgW="4215589" imgH="2196282" progId="Word.Document.8">
                  <p:embed/>
                </p:oleObj>
              </mc:Choice>
              <mc:Fallback>
                <p:oleObj name="文档" r:id="rId2" imgW="4215589" imgH="2196282" progId="Word.Document.8">
                  <p:embed/>
                  <p:pic>
                    <p:nvPicPr>
                      <p:cNvPr id="56934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447800"/>
                        <a:ext cx="8420100" cy="439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r>
              <a:rPr lang="zh-CN" altLang="en-US"/>
              <a:t>第</a:t>
            </a:r>
            <a:r>
              <a:rPr lang="en-US" altLang="zh-CN"/>
              <a:t>10</a:t>
            </a:r>
            <a:r>
              <a:rPr lang="zh-CN" altLang="en-US"/>
              <a:t>章 气体分子运动论</a:t>
            </a:r>
          </a:p>
        </p:txBody>
      </p:sp>
      <p:sp>
        <p:nvSpPr>
          <p:cNvPr id="7" name="灯片编号占位符 4"/>
          <p:cNvSpPr>
            <a:spLocks noGrp="1"/>
          </p:cNvSpPr>
          <p:nvPr>
            <p:ph type="sldNum" sz="quarter" idx="12"/>
          </p:nvPr>
        </p:nvSpPr>
        <p:spPr/>
        <p:txBody>
          <a:bodyPr/>
          <a:lstStyle/>
          <a:p>
            <a:fld id="{C8934342-9EB5-4126-89ED-0269FE76ABFA}" type="slidenum">
              <a:rPr lang="en-US" altLang="zh-CN"/>
              <a:pPr/>
              <a:t>61</a:t>
            </a:fld>
            <a:endParaRPr lang="en-US" altLang="zh-CN"/>
          </a:p>
        </p:txBody>
      </p:sp>
      <p:sp>
        <p:nvSpPr>
          <p:cNvPr id="602115" name="Rectangle 3"/>
          <p:cNvSpPr>
            <a:spLocks noChangeArrowheads="1"/>
          </p:cNvSpPr>
          <p:nvPr/>
        </p:nvSpPr>
        <p:spPr bwMode="auto">
          <a:xfrm>
            <a:off x="762000" y="1600200"/>
            <a:ext cx="7937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latin typeface="Arial" charset="0"/>
              </a:rPr>
              <a:t>作业</a:t>
            </a:r>
          </a:p>
        </p:txBody>
      </p:sp>
      <p:sp>
        <p:nvSpPr>
          <p:cNvPr id="602116" name="Rectangle 4"/>
          <p:cNvSpPr>
            <a:spLocks noChangeArrowheads="1"/>
          </p:cNvSpPr>
          <p:nvPr/>
        </p:nvSpPr>
        <p:spPr bwMode="auto">
          <a:xfrm>
            <a:off x="1143000" y="2362200"/>
            <a:ext cx="4502150" cy="457200"/>
          </a:xfrm>
          <a:prstGeom prst="rect">
            <a:avLst/>
          </a:prstGeom>
          <a:noFill/>
          <a:ln w="9525">
            <a:noFill/>
            <a:miter lim="800000"/>
            <a:headEnd/>
            <a:tailEnd/>
          </a:ln>
          <a:effectLst/>
        </p:spPr>
        <p:txBody>
          <a:bodyPr wrap="none" anchor="ctr">
            <a:spAutoFit/>
          </a:bodyPr>
          <a:lstStyle/>
          <a:p>
            <a:r>
              <a:rPr lang="en-US" altLang="zh-CN" sz="2400">
                <a:solidFill>
                  <a:srgbClr val="0000CC"/>
                </a:solidFill>
              </a:rPr>
              <a:t>10-1</a:t>
            </a:r>
            <a:r>
              <a:rPr lang="zh-CN" altLang="en-US" sz="2400">
                <a:solidFill>
                  <a:srgbClr val="0000CC"/>
                </a:solidFill>
              </a:rPr>
              <a:t>、</a:t>
            </a:r>
            <a:r>
              <a:rPr lang="en-US" altLang="zh-CN" sz="2400">
                <a:solidFill>
                  <a:srgbClr val="0000CC"/>
                </a:solidFill>
              </a:rPr>
              <a:t>10-2</a:t>
            </a:r>
            <a:r>
              <a:rPr lang="zh-CN" altLang="en-US" sz="2400">
                <a:solidFill>
                  <a:srgbClr val="0000CC"/>
                </a:solidFill>
              </a:rPr>
              <a:t>、</a:t>
            </a:r>
            <a:r>
              <a:rPr lang="en-US" altLang="zh-CN" sz="2400">
                <a:solidFill>
                  <a:srgbClr val="0000CC"/>
                </a:solidFill>
              </a:rPr>
              <a:t>10-5</a:t>
            </a:r>
            <a:r>
              <a:rPr lang="zh-CN" altLang="en-US" sz="2400">
                <a:solidFill>
                  <a:srgbClr val="0000CC"/>
                </a:solidFill>
              </a:rPr>
              <a:t>、</a:t>
            </a:r>
            <a:r>
              <a:rPr lang="en-US" altLang="zh-CN" sz="2400">
                <a:solidFill>
                  <a:srgbClr val="FF3300"/>
                </a:solidFill>
              </a:rPr>
              <a:t>10-6</a:t>
            </a:r>
            <a:r>
              <a:rPr lang="zh-CN" altLang="en-US" sz="2400">
                <a:solidFill>
                  <a:srgbClr val="FF3300"/>
                </a:solidFill>
              </a:rPr>
              <a:t>、</a:t>
            </a:r>
            <a:r>
              <a:rPr lang="en-US" altLang="zh-CN" sz="2400">
                <a:solidFill>
                  <a:srgbClr val="FF3300"/>
                </a:solidFill>
              </a:rPr>
              <a:t>10-7</a:t>
            </a:r>
            <a:r>
              <a:rPr lang="zh-CN" altLang="en-US" sz="2400">
                <a:solidFill>
                  <a:srgbClr val="FF3300"/>
                </a:solidFill>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r>
              <a:rPr lang="en-US" altLang="zh-CN" sz="3600"/>
              <a:t>10</a:t>
            </a:r>
            <a:r>
              <a:rPr lang="en-US" altLang="en-US" sz="3600"/>
              <a:t>.5 真实气体范德瓦尔斯方程（简介）</a:t>
            </a:r>
            <a:endParaRPr lang="zh-CN" altLang="en-US" sz="3600"/>
          </a:p>
        </p:txBody>
      </p:sp>
      <p:sp>
        <p:nvSpPr>
          <p:cNvPr id="9" name="灯片编号占位符 4"/>
          <p:cNvSpPr>
            <a:spLocks noGrp="1"/>
          </p:cNvSpPr>
          <p:nvPr>
            <p:ph type="sldNum" sz="quarter" idx="12"/>
          </p:nvPr>
        </p:nvSpPr>
        <p:spPr/>
        <p:txBody>
          <a:bodyPr/>
          <a:lstStyle/>
          <a:p>
            <a:fld id="{88D91518-80F6-4451-93F2-19720A464C47}" type="slidenum">
              <a:rPr lang="en-US" altLang="zh-CN"/>
              <a:pPr/>
              <a:t>62</a:t>
            </a:fld>
            <a:endParaRPr lang="en-US" altLang="zh-CN"/>
          </a:p>
        </p:txBody>
      </p:sp>
      <p:sp>
        <p:nvSpPr>
          <p:cNvPr id="570371" name="Text Box 3"/>
          <p:cNvSpPr txBox="1">
            <a:spLocks noChangeArrowheads="1"/>
          </p:cNvSpPr>
          <p:nvPr/>
        </p:nvSpPr>
        <p:spPr bwMode="auto">
          <a:xfrm>
            <a:off x="534988" y="5715000"/>
            <a:ext cx="3960812" cy="519113"/>
          </a:xfrm>
          <a:prstGeom prst="rect">
            <a:avLst/>
          </a:prstGeom>
          <a:noFill/>
          <a:ln w="9525">
            <a:noFill/>
            <a:miter lim="800000"/>
            <a:headEnd/>
            <a:tailEnd/>
          </a:ln>
          <a:effectLst/>
        </p:spPr>
        <p:txBody>
          <a:bodyPr>
            <a:spAutoFit/>
          </a:bodyPr>
          <a:lstStyle/>
          <a:p>
            <a:pPr>
              <a:spcBef>
                <a:spcPct val="50000"/>
              </a:spcBef>
            </a:pPr>
            <a:r>
              <a:rPr lang="zh-CN" altLang="en-US" sz="2800" dirty="0"/>
              <a:t>二氧化碳气体的等温线 </a:t>
            </a:r>
          </a:p>
        </p:txBody>
      </p:sp>
      <p:pic>
        <p:nvPicPr>
          <p:cNvPr id="570372" name="Picture 4" descr="fig10-8a"/>
          <p:cNvPicPr>
            <a:picLocks noChangeAspect="1" noChangeArrowheads="1"/>
          </p:cNvPicPr>
          <p:nvPr/>
        </p:nvPicPr>
        <p:blipFill>
          <a:blip r:embed="rId2"/>
          <a:srcRect/>
          <a:stretch>
            <a:fillRect/>
          </a:stretch>
        </p:blipFill>
        <p:spPr bwMode="auto">
          <a:xfrm>
            <a:off x="534988" y="1371600"/>
            <a:ext cx="3922712" cy="4321175"/>
          </a:xfrm>
          <a:prstGeom prst="rect">
            <a:avLst/>
          </a:prstGeom>
          <a:noFill/>
        </p:spPr>
      </p:pic>
      <p:sp>
        <p:nvSpPr>
          <p:cNvPr id="570373" name="Text Box 5"/>
          <p:cNvSpPr txBox="1">
            <a:spLocks noChangeArrowheads="1"/>
          </p:cNvSpPr>
          <p:nvPr/>
        </p:nvSpPr>
        <p:spPr bwMode="auto">
          <a:xfrm>
            <a:off x="4572000" y="2895600"/>
            <a:ext cx="4343400" cy="946150"/>
          </a:xfrm>
          <a:prstGeom prst="rect">
            <a:avLst/>
          </a:prstGeom>
          <a:noFill/>
          <a:ln w="9525" algn="ctr">
            <a:noFill/>
            <a:miter lim="800000"/>
            <a:headEnd/>
            <a:tailEnd/>
          </a:ln>
          <a:effectLst/>
        </p:spPr>
        <p:txBody>
          <a:bodyPr>
            <a:spAutoFit/>
          </a:bodyPr>
          <a:lstStyle/>
          <a:p>
            <a:pPr>
              <a:spcBef>
                <a:spcPct val="50000"/>
              </a:spcBef>
            </a:pPr>
            <a:r>
              <a:rPr lang="en-US" altLang="zh-CN" sz="2800"/>
              <a:t>48.1℃</a:t>
            </a:r>
            <a:r>
              <a:rPr lang="zh-CN" altLang="en-US" sz="2800"/>
              <a:t>时：其等温线相似于理想气体的</a:t>
            </a:r>
            <a:r>
              <a:rPr lang="zh-CN" altLang="en-US" sz="2800">
                <a:solidFill>
                  <a:srgbClr val="0000CC"/>
                </a:solidFill>
              </a:rPr>
              <a:t>等轴双曲线</a:t>
            </a:r>
            <a:r>
              <a:rPr lang="zh-CN" altLang="en-US" sz="2800"/>
              <a:t>。 </a:t>
            </a:r>
          </a:p>
        </p:txBody>
      </p:sp>
      <p:graphicFrame>
        <p:nvGraphicFramePr>
          <p:cNvPr id="570374" name="Object 6"/>
          <p:cNvGraphicFramePr>
            <a:graphicFrameLocks noChangeAspect="1"/>
          </p:cNvGraphicFramePr>
          <p:nvPr/>
        </p:nvGraphicFramePr>
        <p:xfrm>
          <a:off x="5562600" y="4495800"/>
          <a:ext cx="1663700" cy="784225"/>
        </p:xfrm>
        <a:graphic>
          <a:graphicData uri="http://schemas.openxmlformats.org/presentationml/2006/ole">
            <mc:AlternateContent xmlns:mc="http://schemas.openxmlformats.org/markup-compatibility/2006">
              <mc:Choice xmlns:v="urn:schemas-microsoft-com:vml" Requires="v">
                <p:oleObj name="公式" r:id="rId3" imgW="825500" imgH="393700" progId="Equation.3">
                  <p:embed/>
                </p:oleObj>
              </mc:Choice>
              <mc:Fallback>
                <p:oleObj name="公式" r:id="rId3" imgW="825500" imgH="393700" progId="Equation.3">
                  <p:embed/>
                  <p:pic>
                    <p:nvPicPr>
                      <p:cNvPr id="57037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4495800"/>
                        <a:ext cx="166370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70372"/>
                                        </p:tgtEl>
                                        <p:attrNameLst>
                                          <p:attrName>style.visibility</p:attrName>
                                        </p:attrNameLst>
                                      </p:cBhvr>
                                      <p:to>
                                        <p:strVal val="visible"/>
                                      </p:to>
                                    </p:set>
                                    <p:animEffect transition="in" filter="box(out)">
                                      <p:cBhvr>
                                        <p:cTn id="7" dur="500"/>
                                        <p:tgtEl>
                                          <p:spTgt spid="5703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0371"/>
                                        </p:tgtEl>
                                        <p:attrNameLst>
                                          <p:attrName>style.visibility</p:attrName>
                                        </p:attrNameLst>
                                      </p:cBhvr>
                                      <p:to>
                                        <p:strVal val="visible"/>
                                      </p:to>
                                    </p:set>
                                    <p:animEffect transition="in" filter="wipe(left)">
                                      <p:cBhvr>
                                        <p:cTn id="12" dur="500"/>
                                        <p:tgtEl>
                                          <p:spTgt spid="5703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0373"/>
                                        </p:tgtEl>
                                        <p:attrNameLst>
                                          <p:attrName>style.visibility</p:attrName>
                                        </p:attrNameLst>
                                      </p:cBhvr>
                                      <p:to>
                                        <p:strVal val="visible"/>
                                      </p:to>
                                    </p:set>
                                    <p:animEffect transition="in" filter="wipe(left)">
                                      <p:cBhvr>
                                        <p:cTn id="17" dur="500"/>
                                        <p:tgtEl>
                                          <p:spTgt spid="5703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70374"/>
                                        </p:tgtEl>
                                        <p:attrNameLst>
                                          <p:attrName>style.visibility</p:attrName>
                                        </p:attrNameLst>
                                      </p:cBhvr>
                                      <p:to>
                                        <p:strVal val="visible"/>
                                      </p:to>
                                    </p:set>
                                    <p:animEffect transition="in" filter="wipe(left)">
                                      <p:cBhvr>
                                        <p:cTn id="22" dur="500"/>
                                        <p:tgtEl>
                                          <p:spTgt spid="570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p:bldP spid="57037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p:txBody>
          <a:bodyPr/>
          <a:lstStyle/>
          <a:p>
            <a:r>
              <a:rPr lang="en-US" altLang="zh-CN" sz="3600"/>
              <a:t>10</a:t>
            </a:r>
            <a:r>
              <a:rPr lang="en-US" altLang="en-US" sz="3600"/>
              <a:t>.5 真实气体范德瓦尔斯方程（简介）</a:t>
            </a:r>
            <a:endParaRPr lang="zh-CN" altLang="en-US" sz="3600"/>
          </a:p>
        </p:txBody>
      </p:sp>
      <p:sp>
        <p:nvSpPr>
          <p:cNvPr id="37" name="灯片编号占位符 4"/>
          <p:cNvSpPr>
            <a:spLocks noGrp="1"/>
          </p:cNvSpPr>
          <p:nvPr>
            <p:ph type="sldNum" sz="quarter" idx="12"/>
          </p:nvPr>
        </p:nvSpPr>
        <p:spPr/>
        <p:txBody>
          <a:bodyPr/>
          <a:lstStyle/>
          <a:p>
            <a:fld id="{BFFBC30E-083A-4477-A278-9CBE1119218B}" type="slidenum">
              <a:rPr lang="en-US" altLang="zh-CN"/>
              <a:pPr/>
              <a:t>63</a:t>
            </a:fld>
            <a:endParaRPr lang="en-US" altLang="zh-CN"/>
          </a:p>
        </p:txBody>
      </p:sp>
      <p:sp>
        <p:nvSpPr>
          <p:cNvPr id="574467" name="Text Box 3"/>
          <p:cNvSpPr txBox="1">
            <a:spLocks noChangeArrowheads="1"/>
          </p:cNvSpPr>
          <p:nvPr/>
        </p:nvSpPr>
        <p:spPr bwMode="auto">
          <a:xfrm>
            <a:off x="457200" y="1275556"/>
            <a:ext cx="5040313" cy="519113"/>
          </a:xfrm>
          <a:prstGeom prst="rect">
            <a:avLst/>
          </a:prstGeom>
          <a:noFill/>
          <a:ln w="12700">
            <a:noFill/>
            <a:miter lim="800000"/>
            <a:headEnd type="none" w="sm" len="sm"/>
            <a:tailEnd type="none" w="sm" len="sm"/>
          </a:ln>
          <a:effectLst/>
        </p:spPr>
        <p:txBody>
          <a:bodyPr>
            <a:spAutoFit/>
          </a:bodyPr>
          <a:lstStyle/>
          <a:p>
            <a:pPr>
              <a:spcBef>
                <a:spcPct val="50000"/>
              </a:spcBef>
            </a:pPr>
            <a:r>
              <a:rPr kumimoji="1" lang="zh-CN" altLang="en-US" sz="2800" dirty="0"/>
              <a:t>对理想气体状态方程的修正：</a:t>
            </a:r>
          </a:p>
        </p:txBody>
      </p:sp>
      <p:sp>
        <p:nvSpPr>
          <p:cNvPr id="574468" name="Rectangle 4"/>
          <p:cNvSpPr>
            <a:spLocks noChangeArrowheads="1"/>
          </p:cNvSpPr>
          <p:nvPr/>
        </p:nvSpPr>
        <p:spPr bwMode="auto">
          <a:xfrm>
            <a:off x="381000" y="1981200"/>
            <a:ext cx="2767013" cy="519113"/>
          </a:xfrm>
          <a:prstGeom prst="rect">
            <a:avLst/>
          </a:prstGeom>
          <a:noFill/>
          <a:ln w="12700">
            <a:noFill/>
            <a:miter lim="800000"/>
            <a:headEnd type="none" w="sm" len="sm"/>
            <a:tailEnd type="none" w="sm" len="sm"/>
          </a:ln>
          <a:effectLst/>
        </p:spPr>
        <p:txBody>
          <a:bodyPr>
            <a:spAutoFit/>
          </a:bodyPr>
          <a:lstStyle/>
          <a:p>
            <a:r>
              <a:rPr kumimoji="1" lang="zh-CN" altLang="en-US" sz="2800" dirty="0">
                <a:solidFill>
                  <a:srgbClr val="0000CC"/>
                </a:solidFill>
              </a:rPr>
              <a:t>（</a:t>
            </a:r>
            <a:r>
              <a:rPr kumimoji="1" lang="en-US" altLang="zh-CN" sz="2800" dirty="0">
                <a:solidFill>
                  <a:srgbClr val="0000CC"/>
                </a:solidFill>
              </a:rPr>
              <a:t>1</a:t>
            </a:r>
            <a:r>
              <a:rPr kumimoji="1" lang="zh-CN" altLang="en-US" sz="2800" dirty="0">
                <a:solidFill>
                  <a:srgbClr val="0000CC"/>
                </a:solidFill>
              </a:rPr>
              <a:t>）体积修正</a:t>
            </a:r>
          </a:p>
        </p:txBody>
      </p:sp>
      <p:graphicFrame>
        <p:nvGraphicFramePr>
          <p:cNvPr id="574469" name="Object 5"/>
          <p:cNvGraphicFramePr>
            <a:graphicFrameLocks noChangeAspect="1"/>
          </p:cNvGraphicFramePr>
          <p:nvPr/>
        </p:nvGraphicFramePr>
        <p:xfrm>
          <a:off x="5638800" y="1143000"/>
          <a:ext cx="1663700" cy="784225"/>
        </p:xfrm>
        <a:graphic>
          <a:graphicData uri="http://schemas.openxmlformats.org/presentationml/2006/ole">
            <mc:AlternateContent xmlns:mc="http://schemas.openxmlformats.org/markup-compatibility/2006">
              <mc:Choice xmlns:v="urn:schemas-microsoft-com:vml" Requires="v">
                <p:oleObj name="公式" r:id="rId2" imgW="825500" imgH="393700" progId="Equation.3">
                  <p:embed/>
                </p:oleObj>
              </mc:Choice>
              <mc:Fallback>
                <p:oleObj name="公式" r:id="rId2" imgW="825500" imgH="393700" progId="Equation.3">
                  <p:embed/>
                  <p:pic>
                    <p:nvPicPr>
                      <p:cNvPr id="57446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1143000"/>
                        <a:ext cx="166370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4470" name="Text Box 6"/>
          <p:cNvSpPr txBox="1">
            <a:spLocks noChangeArrowheads="1"/>
          </p:cNvSpPr>
          <p:nvPr/>
        </p:nvSpPr>
        <p:spPr bwMode="auto">
          <a:xfrm>
            <a:off x="762000" y="2528887"/>
            <a:ext cx="7416800" cy="519113"/>
          </a:xfrm>
          <a:prstGeom prst="rect">
            <a:avLst/>
          </a:prstGeom>
          <a:noFill/>
          <a:ln w="12700">
            <a:noFill/>
            <a:miter lim="800000"/>
            <a:headEnd type="none" w="sm" len="sm"/>
            <a:tailEnd type="none" w="sm" len="sm"/>
          </a:ln>
          <a:effectLst/>
        </p:spPr>
        <p:txBody>
          <a:bodyPr>
            <a:spAutoFit/>
          </a:bodyPr>
          <a:lstStyle/>
          <a:p>
            <a:pPr>
              <a:spcBef>
                <a:spcPct val="50000"/>
              </a:spcBef>
            </a:pPr>
            <a:r>
              <a:rPr kumimoji="1" lang="zh-CN" altLang="en-US" sz="2800" dirty="0"/>
              <a:t>设</a:t>
            </a:r>
            <a:r>
              <a:rPr kumimoji="1" lang="en-US" altLang="zh-CN" sz="2800" i="1" dirty="0"/>
              <a:t>V </a:t>
            </a:r>
            <a:r>
              <a:rPr kumimoji="1" lang="zh-CN" altLang="en-US" sz="2800" dirty="0"/>
              <a:t>为容器体积，</a:t>
            </a:r>
            <a:r>
              <a:rPr kumimoji="1" lang="en-US" altLang="zh-CN" sz="2800" i="1" dirty="0"/>
              <a:t>b</a:t>
            </a:r>
            <a:r>
              <a:rPr kumimoji="1" lang="zh-CN" altLang="en-US" sz="2800" dirty="0"/>
              <a:t>为</a:t>
            </a:r>
            <a:r>
              <a:rPr kumimoji="1" lang="en-US" altLang="zh-CN" sz="2800" dirty="0"/>
              <a:t>1 mol </a:t>
            </a:r>
            <a:r>
              <a:rPr kumimoji="1" lang="zh-CN" altLang="en-US" sz="2800" dirty="0"/>
              <a:t>分子所占体积。</a:t>
            </a:r>
          </a:p>
        </p:txBody>
      </p:sp>
      <p:graphicFrame>
        <p:nvGraphicFramePr>
          <p:cNvPr id="574471" name="Object 7"/>
          <p:cNvGraphicFramePr>
            <a:graphicFrameLocks noChangeAspect="1"/>
          </p:cNvGraphicFramePr>
          <p:nvPr/>
        </p:nvGraphicFramePr>
        <p:xfrm>
          <a:off x="1143000" y="3339306"/>
          <a:ext cx="2665413" cy="787400"/>
        </p:xfrm>
        <a:graphic>
          <a:graphicData uri="http://schemas.openxmlformats.org/presentationml/2006/ole">
            <mc:AlternateContent xmlns:mc="http://schemas.openxmlformats.org/markup-compatibility/2006">
              <mc:Choice xmlns:v="urn:schemas-microsoft-com:vml" Requires="v">
                <p:oleObj name="公式" r:id="rId4" imgW="1333500" imgH="393700" progId="Equation.3">
                  <p:embed/>
                </p:oleObj>
              </mc:Choice>
              <mc:Fallback>
                <p:oleObj name="公式" r:id="rId4" imgW="1333500" imgH="393700" progId="Equation.3">
                  <p:embed/>
                  <p:pic>
                    <p:nvPicPr>
                      <p:cNvPr id="57447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3339306"/>
                        <a:ext cx="26654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4472" name="Text Box 8"/>
          <p:cNvSpPr txBox="1">
            <a:spLocks noChangeArrowheads="1"/>
          </p:cNvSpPr>
          <p:nvPr/>
        </p:nvSpPr>
        <p:spPr bwMode="auto">
          <a:xfrm>
            <a:off x="4267200" y="3473450"/>
            <a:ext cx="1079500" cy="519113"/>
          </a:xfrm>
          <a:prstGeom prst="rect">
            <a:avLst/>
          </a:prstGeom>
          <a:noFill/>
          <a:ln w="9525">
            <a:noFill/>
            <a:miter lim="800000"/>
            <a:headEnd/>
            <a:tailEnd/>
          </a:ln>
          <a:effectLst/>
        </p:spPr>
        <p:txBody>
          <a:bodyPr>
            <a:spAutoFit/>
          </a:bodyPr>
          <a:lstStyle/>
          <a:p>
            <a:pPr>
              <a:spcBef>
                <a:spcPct val="50000"/>
              </a:spcBef>
            </a:pPr>
            <a:r>
              <a:rPr lang="zh-CN" altLang="en-US" sz="2800">
                <a:latin typeface="Arial" charset="0"/>
              </a:rPr>
              <a:t>或</a:t>
            </a:r>
          </a:p>
        </p:txBody>
      </p:sp>
      <p:graphicFrame>
        <p:nvGraphicFramePr>
          <p:cNvPr id="574473" name="Object 9"/>
          <p:cNvGraphicFramePr>
            <a:graphicFrameLocks noChangeAspect="1"/>
          </p:cNvGraphicFramePr>
          <p:nvPr/>
        </p:nvGraphicFramePr>
        <p:xfrm>
          <a:off x="5105400" y="2971800"/>
          <a:ext cx="1700213" cy="1522413"/>
        </p:xfrm>
        <a:graphic>
          <a:graphicData uri="http://schemas.openxmlformats.org/presentationml/2006/ole">
            <mc:AlternateContent xmlns:mc="http://schemas.openxmlformats.org/markup-compatibility/2006">
              <mc:Choice xmlns:v="urn:schemas-microsoft-com:vml" Requires="v">
                <p:oleObj name="公式" r:id="rId6" imgW="850531" imgH="761669" progId="Equation.3">
                  <p:embed/>
                </p:oleObj>
              </mc:Choice>
              <mc:Fallback>
                <p:oleObj name="公式" r:id="rId6" imgW="850531" imgH="761669" progId="Equation.3">
                  <p:embed/>
                  <p:pic>
                    <p:nvPicPr>
                      <p:cNvPr id="574473"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2971800"/>
                        <a:ext cx="1700213" cy="1522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4499" name="Rectangle 35"/>
          <p:cNvSpPr>
            <a:spLocks noChangeArrowheads="1"/>
          </p:cNvSpPr>
          <p:nvPr/>
        </p:nvSpPr>
        <p:spPr bwMode="auto">
          <a:xfrm>
            <a:off x="381000" y="4433888"/>
            <a:ext cx="3352800" cy="519112"/>
          </a:xfrm>
          <a:prstGeom prst="rect">
            <a:avLst/>
          </a:prstGeom>
          <a:noFill/>
          <a:ln w="12700">
            <a:noFill/>
            <a:miter lim="800000"/>
            <a:headEnd type="none" w="sm" len="sm"/>
            <a:tailEnd type="none" w="sm" len="sm"/>
          </a:ln>
          <a:effectLst/>
        </p:spPr>
        <p:txBody>
          <a:bodyPr>
            <a:spAutoFit/>
          </a:bodyPr>
          <a:lstStyle/>
          <a:p>
            <a:r>
              <a:rPr kumimoji="1" lang="zh-CN" altLang="en-US" sz="2800" dirty="0">
                <a:solidFill>
                  <a:srgbClr val="0000CC"/>
                </a:solidFill>
              </a:rPr>
              <a:t>（</a:t>
            </a:r>
            <a:r>
              <a:rPr kumimoji="1" lang="en-US" altLang="zh-CN" sz="2800" dirty="0">
                <a:solidFill>
                  <a:srgbClr val="0000CC"/>
                </a:solidFill>
              </a:rPr>
              <a:t>2</a:t>
            </a:r>
            <a:r>
              <a:rPr kumimoji="1" lang="zh-CN" altLang="en-US" sz="2800" dirty="0">
                <a:solidFill>
                  <a:srgbClr val="0000CC"/>
                </a:solidFill>
              </a:rPr>
              <a:t>）压强修正</a:t>
            </a:r>
          </a:p>
        </p:txBody>
      </p:sp>
      <p:grpSp>
        <p:nvGrpSpPr>
          <p:cNvPr id="574500" name="Group 36"/>
          <p:cNvGrpSpPr>
            <a:grpSpLocks/>
          </p:cNvGrpSpPr>
          <p:nvPr/>
        </p:nvGrpSpPr>
        <p:grpSpPr bwMode="auto">
          <a:xfrm>
            <a:off x="5081588" y="4541838"/>
            <a:ext cx="3529012" cy="2087562"/>
            <a:chOff x="2736" y="2496"/>
            <a:chExt cx="2784" cy="1632"/>
          </a:xfrm>
        </p:grpSpPr>
        <p:sp>
          <p:nvSpPr>
            <p:cNvPr id="574501" name="Rectangle 37" descr="轮廓式菱形"/>
            <p:cNvSpPr>
              <a:spLocks noChangeArrowheads="1"/>
            </p:cNvSpPr>
            <p:nvPr/>
          </p:nvSpPr>
          <p:spPr bwMode="auto">
            <a:xfrm>
              <a:off x="2736" y="2496"/>
              <a:ext cx="2784" cy="1632"/>
            </a:xfrm>
            <a:prstGeom prst="rect">
              <a:avLst/>
            </a:prstGeom>
            <a:pattFill prst="openDmnd">
              <a:fgClr>
                <a:srgbClr val="010199"/>
              </a:fgClr>
              <a:bgClr>
                <a:srgbClr val="00C600"/>
              </a:bgClr>
            </a:pattFill>
            <a:ln w="12700">
              <a:solidFill>
                <a:srgbClr val="FFFFFF"/>
              </a:solidFill>
              <a:miter lim="800000"/>
              <a:headEnd type="none" w="sm" len="sm"/>
              <a:tailEnd type="none" w="sm" len="sm"/>
            </a:ln>
            <a:effectLst/>
          </p:spPr>
          <p:txBody>
            <a:bodyPr wrap="none" anchor="ctr"/>
            <a:lstStyle/>
            <a:p>
              <a:endParaRPr lang="zh-CN" altLang="en-US"/>
            </a:p>
          </p:txBody>
        </p:sp>
        <p:sp>
          <p:nvSpPr>
            <p:cNvPr id="574502" name="Rectangle 38" descr="小纸屑"/>
            <p:cNvSpPr>
              <a:spLocks noChangeArrowheads="1"/>
            </p:cNvSpPr>
            <p:nvPr/>
          </p:nvSpPr>
          <p:spPr bwMode="auto">
            <a:xfrm>
              <a:off x="2832" y="2592"/>
              <a:ext cx="2592" cy="1440"/>
            </a:xfrm>
            <a:prstGeom prst="rect">
              <a:avLst/>
            </a:prstGeom>
            <a:pattFill prst="smConfetti">
              <a:fgClr>
                <a:srgbClr val="FFE701"/>
              </a:fgClr>
              <a:bgClr>
                <a:srgbClr val="FFFFFF"/>
              </a:bgClr>
            </a:pattFill>
            <a:ln w="12700">
              <a:solidFill>
                <a:srgbClr val="FFFFFF"/>
              </a:solidFill>
              <a:miter lim="800000"/>
              <a:headEnd type="none" w="sm" len="sm"/>
              <a:tailEnd type="none" w="sm" len="sm"/>
            </a:ln>
            <a:effectLst/>
          </p:spPr>
          <p:txBody>
            <a:bodyPr wrap="none" anchor="ctr"/>
            <a:lstStyle/>
            <a:p>
              <a:endParaRPr lang="zh-CN" altLang="en-US"/>
            </a:p>
          </p:txBody>
        </p:sp>
      </p:grpSp>
      <p:grpSp>
        <p:nvGrpSpPr>
          <p:cNvPr id="574503" name="Group 39"/>
          <p:cNvGrpSpPr>
            <a:grpSpLocks/>
          </p:cNvGrpSpPr>
          <p:nvPr/>
        </p:nvGrpSpPr>
        <p:grpSpPr bwMode="auto">
          <a:xfrm>
            <a:off x="6129338" y="5243513"/>
            <a:ext cx="609600" cy="609600"/>
            <a:chOff x="3648" y="3120"/>
            <a:chExt cx="384" cy="384"/>
          </a:xfrm>
        </p:grpSpPr>
        <p:sp>
          <p:nvSpPr>
            <p:cNvPr id="574504" name="Line 40"/>
            <p:cNvSpPr>
              <a:spLocks noChangeShapeType="1"/>
            </p:cNvSpPr>
            <p:nvPr/>
          </p:nvSpPr>
          <p:spPr bwMode="auto">
            <a:xfrm>
              <a:off x="3888" y="3312"/>
              <a:ext cx="144" cy="0"/>
            </a:xfrm>
            <a:prstGeom prst="line">
              <a:avLst/>
            </a:prstGeom>
            <a:noFill/>
            <a:ln w="12700">
              <a:solidFill>
                <a:srgbClr val="01017D"/>
              </a:solidFill>
              <a:round/>
              <a:headEnd type="none" w="sm" len="sm"/>
              <a:tailEnd type="triangle" w="med" len="med"/>
            </a:ln>
            <a:effectLst/>
          </p:spPr>
          <p:txBody>
            <a:bodyPr wrap="none" anchor="ctr"/>
            <a:lstStyle/>
            <a:p>
              <a:endParaRPr lang="zh-CN" altLang="en-US"/>
            </a:p>
          </p:txBody>
        </p:sp>
        <p:sp>
          <p:nvSpPr>
            <p:cNvPr id="574505" name="Line 41"/>
            <p:cNvSpPr>
              <a:spLocks noChangeShapeType="1"/>
            </p:cNvSpPr>
            <p:nvPr/>
          </p:nvSpPr>
          <p:spPr bwMode="auto">
            <a:xfrm>
              <a:off x="3648" y="3312"/>
              <a:ext cx="144" cy="0"/>
            </a:xfrm>
            <a:prstGeom prst="line">
              <a:avLst/>
            </a:prstGeom>
            <a:noFill/>
            <a:ln w="12700">
              <a:solidFill>
                <a:srgbClr val="01017D"/>
              </a:solidFill>
              <a:round/>
              <a:headEnd type="triangle" w="med" len="med"/>
              <a:tailEnd/>
            </a:ln>
            <a:effectLst/>
          </p:spPr>
          <p:txBody>
            <a:bodyPr wrap="none" anchor="ctr"/>
            <a:lstStyle/>
            <a:p>
              <a:endParaRPr lang="zh-CN" altLang="en-US"/>
            </a:p>
          </p:txBody>
        </p:sp>
        <p:sp>
          <p:nvSpPr>
            <p:cNvPr id="574506" name="Line 42"/>
            <p:cNvSpPr>
              <a:spLocks noChangeShapeType="1"/>
            </p:cNvSpPr>
            <p:nvPr/>
          </p:nvSpPr>
          <p:spPr bwMode="auto">
            <a:xfrm rot="-5400000">
              <a:off x="3768" y="3192"/>
              <a:ext cx="144" cy="0"/>
            </a:xfrm>
            <a:prstGeom prst="line">
              <a:avLst/>
            </a:prstGeom>
            <a:noFill/>
            <a:ln w="12700">
              <a:solidFill>
                <a:srgbClr val="01017D"/>
              </a:solidFill>
              <a:round/>
              <a:headEnd type="none" w="sm" len="sm"/>
              <a:tailEnd type="triangle" w="med" len="med"/>
            </a:ln>
            <a:effectLst/>
          </p:spPr>
          <p:txBody>
            <a:bodyPr wrap="none" anchor="ctr"/>
            <a:lstStyle/>
            <a:p>
              <a:endParaRPr lang="zh-CN" altLang="en-US"/>
            </a:p>
          </p:txBody>
        </p:sp>
        <p:sp>
          <p:nvSpPr>
            <p:cNvPr id="574507" name="Line 43"/>
            <p:cNvSpPr>
              <a:spLocks noChangeShapeType="1"/>
            </p:cNvSpPr>
            <p:nvPr/>
          </p:nvSpPr>
          <p:spPr bwMode="auto">
            <a:xfrm rot="-5400000">
              <a:off x="3768" y="3432"/>
              <a:ext cx="144" cy="0"/>
            </a:xfrm>
            <a:prstGeom prst="line">
              <a:avLst/>
            </a:prstGeom>
            <a:noFill/>
            <a:ln w="12700">
              <a:solidFill>
                <a:srgbClr val="01017D"/>
              </a:solidFill>
              <a:round/>
              <a:headEnd type="triangle" w="med" len="med"/>
              <a:tailEnd/>
            </a:ln>
            <a:effectLst/>
          </p:spPr>
          <p:txBody>
            <a:bodyPr wrap="none" anchor="ctr"/>
            <a:lstStyle/>
            <a:p>
              <a:endParaRPr lang="zh-CN" altLang="en-US"/>
            </a:p>
          </p:txBody>
        </p:sp>
        <p:sp>
          <p:nvSpPr>
            <p:cNvPr id="574508" name="Line 44"/>
            <p:cNvSpPr>
              <a:spLocks noChangeShapeType="1"/>
            </p:cNvSpPr>
            <p:nvPr/>
          </p:nvSpPr>
          <p:spPr bwMode="auto">
            <a:xfrm rot="-8113708">
              <a:off x="3840" y="3408"/>
              <a:ext cx="192" cy="0"/>
            </a:xfrm>
            <a:prstGeom prst="line">
              <a:avLst/>
            </a:prstGeom>
            <a:noFill/>
            <a:ln w="12700">
              <a:solidFill>
                <a:srgbClr val="01017D"/>
              </a:solidFill>
              <a:round/>
              <a:headEnd type="triangle" w="med" len="med"/>
              <a:tailEnd/>
            </a:ln>
            <a:effectLst/>
          </p:spPr>
          <p:txBody>
            <a:bodyPr wrap="none" anchor="ctr"/>
            <a:lstStyle/>
            <a:p>
              <a:endParaRPr lang="zh-CN" altLang="en-US"/>
            </a:p>
          </p:txBody>
        </p:sp>
        <p:sp>
          <p:nvSpPr>
            <p:cNvPr id="574509" name="Line 45"/>
            <p:cNvSpPr>
              <a:spLocks noChangeShapeType="1"/>
            </p:cNvSpPr>
            <p:nvPr/>
          </p:nvSpPr>
          <p:spPr bwMode="auto">
            <a:xfrm rot="-8113708">
              <a:off x="3648" y="3216"/>
              <a:ext cx="192" cy="0"/>
            </a:xfrm>
            <a:prstGeom prst="line">
              <a:avLst/>
            </a:prstGeom>
            <a:noFill/>
            <a:ln w="12700">
              <a:solidFill>
                <a:srgbClr val="01017D"/>
              </a:solidFill>
              <a:round/>
              <a:headEnd/>
              <a:tailEnd type="triangle" w="med" len="med"/>
            </a:ln>
            <a:effectLst/>
          </p:spPr>
          <p:txBody>
            <a:bodyPr wrap="none" anchor="ctr"/>
            <a:lstStyle/>
            <a:p>
              <a:endParaRPr lang="zh-CN" altLang="en-US"/>
            </a:p>
          </p:txBody>
        </p:sp>
        <p:sp>
          <p:nvSpPr>
            <p:cNvPr id="574510" name="Line 46"/>
            <p:cNvSpPr>
              <a:spLocks noChangeShapeType="1"/>
            </p:cNvSpPr>
            <p:nvPr/>
          </p:nvSpPr>
          <p:spPr bwMode="auto">
            <a:xfrm rot="-13513708">
              <a:off x="3648" y="3408"/>
              <a:ext cx="192" cy="0"/>
            </a:xfrm>
            <a:prstGeom prst="line">
              <a:avLst/>
            </a:prstGeom>
            <a:noFill/>
            <a:ln w="12700">
              <a:solidFill>
                <a:srgbClr val="01017D"/>
              </a:solidFill>
              <a:round/>
              <a:headEnd/>
              <a:tailEnd type="triangle" w="med" len="med"/>
            </a:ln>
            <a:effectLst/>
          </p:spPr>
          <p:txBody>
            <a:bodyPr wrap="none" anchor="ctr"/>
            <a:lstStyle/>
            <a:p>
              <a:endParaRPr lang="zh-CN" altLang="en-US"/>
            </a:p>
          </p:txBody>
        </p:sp>
        <p:sp>
          <p:nvSpPr>
            <p:cNvPr id="574511" name="Line 47"/>
            <p:cNvSpPr>
              <a:spLocks noChangeShapeType="1"/>
            </p:cNvSpPr>
            <p:nvPr/>
          </p:nvSpPr>
          <p:spPr bwMode="auto">
            <a:xfrm rot="-13513708">
              <a:off x="3840" y="3216"/>
              <a:ext cx="192" cy="0"/>
            </a:xfrm>
            <a:prstGeom prst="line">
              <a:avLst/>
            </a:prstGeom>
            <a:noFill/>
            <a:ln w="12700">
              <a:solidFill>
                <a:srgbClr val="01017D"/>
              </a:solidFill>
              <a:round/>
              <a:headEnd type="triangle" w="med" len="med"/>
              <a:tailEnd/>
            </a:ln>
            <a:effectLst/>
          </p:spPr>
          <p:txBody>
            <a:bodyPr wrap="none" anchor="ctr"/>
            <a:lstStyle/>
            <a:p>
              <a:endParaRPr lang="zh-CN" altLang="en-US"/>
            </a:p>
          </p:txBody>
        </p:sp>
      </p:grpSp>
      <p:sp>
        <p:nvSpPr>
          <p:cNvPr id="574512" name="Oval 48"/>
          <p:cNvSpPr>
            <a:spLocks noChangeArrowheads="1"/>
          </p:cNvSpPr>
          <p:nvPr/>
        </p:nvSpPr>
        <p:spPr bwMode="auto">
          <a:xfrm>
            <a:off x="6357938" y="5472113"/>
            <a:ext cx="152400" cy="152400"/>
          </a:xfrm>
          <a:prstGeom prst="ellipse">
            <a:avLst/>
          </a:prstGeom>
          <a:gradFill rotWithShape="0">
            <a:gsLst>
              <a:gs pos="0">
                <a:srgbClr val="CCFFFF"/>
              </a:gs>
              <a:gs pos="100000">
                <a:srgbClr val="CCFFFF">
                  <a:gamma/>
                  <a:shade val="46275"/>
                  <a:invGamma/>
                </a:srgbClr>
              </a:gs>
            </a:gsLst>
            <a:path path="shape">
              <a:fillToRect l="50000" t="50000" r="50000" b="50000"/>
            </a:path>
          </a:gradFill>
          <a:ln w="12700">
            <a:solidFill>
              <a:srgbClr val="FFFFFF"/>
            </a:solidFill>
            <a:round/>
            <a:headEnd type="none" w="sm" len="sm"/>
            <a:tailEnd type="none" w="sm" len="sm"/>
          </a:ln>
          <a:effectLst/>
        </p:spPr>
        <p:txBody>
          <a:bodyPr wrap="none" anchor="ctr"/>
          <a:lstStyle/>
          <a:p>
            <a:endParaRPr lang="zh-CN" altLang="en-US"/>
          </a:p>
        </p:txBody>
      </p:sp>
      <p:sp>
        <p:nvSpPr>
          <p:cNvPr id="574513" name="Oval 49"/>
          <p:cNvSpPr>
            <a:spLocks noChangeArrowheads="1"/>
          </p:cNvSpPr>
          <p:nvPr/>
        </p:nvSpPr>
        <p:spPr bwMode="auto">
          <a:xfrm>
            <a:off x="8288338" y="5472113"/>
            <a:ext cx="152400" cy="152400"/>
          </a:xfrm>
          <a:prstGeom prst="ellipse">
            <a:avLst/>
          </a:prstGeom>
          <a:gradFill rotWithShape="0">
            <a:gsLst>
              <a:gs pos="0">
                <a:srgbClr val="CCFFFF"/>
              </a:gs>
              <a:gs pos="100000">
                <a:srgbClr val="CCFFFF">
                  <a:gamma/>
                  <a:shade val="46275"/>
                  <a:invGamma/>
                </a:srgbClr>
              </a:gs>
            </a:gsLst>
            <a:path path="shape">
              <a:fillToRect l="50000" t="50000" r="50000" b="50000"/>
            </a:path>
          </a:gradFill>
          <a:ln w="12700">
            <a:solidFill>
              <a:srgbClr val="FFFFFF"/>
            </a:solidFill>
            <a:round/>
            <a:headEnd type="none" w="sm" len="sm"/>
            <a:tailEnd type="none" w="sm" len="sm"/>
          </a:ln>
          <a:effectLst/>
        </p:spPr>
        <p:txBody>
          <a:bodyPr wrap="none" anchor="ctr"/>
          <a:lstStyle/>
          <a:p>
            <a:endParaRPr lang="zh-CN" altLang="en-US"/>
          </a:p>
        </p:txBody>
      </p:sp>
      <p:grpSp>
        <p:nvGrpSpPr>
          <p:cNvPr id="574514" name="Group 50"/>
          <p:cNvGrpSpPr>
            <a:grpSpLocks/>
          </p:cNvGrpSpPr>
          <p:nvPr/>
        </p:nvGrpSpPr>
        <p:grpSpPr bwMode="auto">
          <a:xfrm>
            <a:off x="8059738" y="5195888"/>
            <a:ext cx="304800" cy="685800"/>
            <a:chOff x="5184" y="3072"/>
            <a:chExt cx="192" cy="432"/>
          </a:xfrm>
        </p:grpSpPr>
        <p:sp>
          <p:nvSpPr>
            <p:cNvPr id="574515" name="Line 51"/>
            <p:cNvSpPr>
              <a:spLocks noChangeShapeType="1"/>
            </p:cNvSpPr>
            <p:nvPr/>
          </p:nvSpPr>
          <p:spPr bwMode="auto">
            <a:xfrm rot="-8113708">
              <a:off x="5184" y="3168"/>
              <a:ext cx="192" cy="0"/>
            </a:xfrm>
            <a:prstGeom prst="line">
              <a:avLst/>
            </a:prstGeom>
            <a:noFill/>
            <a:ln w="12700">
              <a:solidFill>
                <a:srgbClr val="01017D"/>
              </a:solidFill>
              <a:round/>
              <a:headEnd/>
              <a:tailEnd type="triangle" w="med" len="med"/>
            </a:ln>
            <a:effectLst/>
          </p:spPr>
          <p:txBody>
            <a:bodyPr wrap="none" anchor="ctr"/>
            <a:lstStyle/>
            <a:p>
              <a:endParaRPr lang="zh-CN" altLang="en-US"/>
            </a:p>
          </p:txBody>
        </p:sp>
        <p:sp>
          <p:nvSpPr>
            <p:cNvPr id="574516" name="Line 52"/>
            <p:cNvSpPr>
              <a:spLocks noChangeShapeType="1"/>
            </p:cNvSpPr>
            <p:nvPr/>
          </p:nvSpPr>
          <p:spPr bwMode="auto">
            <a:xfrm>
              <a:off x="5184" y="3312"/>
              <a:ext cx="144" cy="0"/>
            </a:xfrm>
            <a:prstGeom prst="line">
              <a:avLst/>
            </a:prstGeom>
            <a:noFill/>
            <a:ln w="12700">
              <a:solidFill>
                <a:srgbClr val="01017D"/>
              </a:solidFill>
              <a:round/>
              <a:headEnd type="triangle" w="med" len="med"/>
              <a:tailEnd/>
            </a:ln>
            <a:effectLst/>
          </p:spPr>
          <p:txBody>
            <a:bodyPr wrap="none" anchor="ctr"/>
            <a:lstStyle/>
            <a:p>
              <a:endParaRPr lang="zh-CN" altLang="en-US"/>
            </a:p>
          </p:txBody>
        </p:sp>
        <p:sp>
          <p:nvSpPr>
            <p:cNvPr id="574517" name="Line 53"/>
            <p:cNvSpPr>
              <a:spLocks noChangeShapeType="1"/>
            </p:cNvSpPr>
            <p:nvPr/>
          </p:nvSpPr>
          <p:spPr bwMode="auto">
            <a:xfrm rot="-13513708">
              <a:off x="5184" y="3408"/>
              <a:ext cx="192" cy="0"/>
            </a:xfrm>
            <a:prstGeom prst="line">
              <a:avLst/>
            </a:prstGeom>
            <a:noFill/>
            <a:ln w="12700">
              <a:solidFill>
                <a:srgbClr val="01017D"/>
              </a:solidFill>
              <a:round/>
              <a:headEnd/>
              <a:tailEnd type="triangle" w="med" len="med"/>
            </a:ln>
            <a:effectLst/>
          </p:spPr>
          <p:txBody>
            <a:bodyPr wrap="none" anchor="ctr"/>
            <a:lstStyle/>
            <a:p>
              <a:endParaRPr lang="zh-CN" altLang="en-US"/>
            </a:p>
          </p:txBody>
        </p:sp>
        <p:sp>
          <p:nvSpPr>
            <p:cNvPr id="574518" name="Line 54"/>
            <p:cNvSpPr>
              <a:spLocks noChangeShapeType="1"/>
            </p:cNvSpPr>
            <p:nvPr/>
          </p:nvSpPr>
          <p:spPr bwMode="auto">
            <a:xfrm rot="-5400000">
              <a:off x="5304" y="3144"/>
              <a:ext cx="144" cy="0"/>
            </a:xfrm>
            <a:prstGeom prst="line">
              <a:avLst/>
            </a:prstGeom>
            <a:noFill/>
            <a:ln w="12700">
              <a:solidFill>
                <a:srgbClr val="01017D"/>
              </a:solidFill>
              <a:round/>
              <a:headEnd type="none" w="sm" len="sm"/>
              <a:tailEnd type="triangle" w="med" len="med"/>
            </a:ln>
            <a:effectLst/>
          </p:spPr>
          <p:txBody>
            <a:bodyPr wrap="none" anchor="ctr"/>
            <a:lstStyle/>
            <a:p>
              <a:endParaRPr lang="zh-CN" altLang="en-US"/>
            </a:p>
          </p:txBody>
        </p:sp>
        <p:sp>
          <p:nvSpPr>
            <p:cNvPr id="574519" name="Line 55"/>
            <p:cNvSpPr>
              <a:spLocks noChangeShapeType="1"/>
            </p:cNvSpPr>
            <p:nvPr/>
          </p:nvSpPr>
          <p:spPr bwMode="auto">
            <a:xfrm rot="-5400000">
              <a:off x="5304" y="3432"/>
              <a:ext cx="144" cy="0"/>
            </a:xfrm>
            <a:prstGeom prst="line">
              <a:avLst/>
            </a:prstGeom>
            <a:noFill/>
            <a:ln w="12700">
              <a:solidFill>
                <a:srgbClr val="01017D"/>
              </a:solidFill>
              <a:round/>
              <a:headEnd type="triangle" w="med" len="med"/>
              <a:tailEnd/>
            </a:ln>
            <a:effectLst/>
          </p:spPr>
          <p:txBody>
            <a:bodyPr wrap="none" anchor="ctr"/>
            <a:lstStyle/>
            <a:p>
              <a:endParaRPr lang="zh-CN" altLang="en-US"/>
            </a:p>
          </p:txBody>
        </p:sp>
      </p:grpSp>
      <p:graphicFrame>
        <p:nvGraphicFramePr>
          <p:cNvPr id="574520" name="Object 56"/>
          <p:cNvGraphicFramePr>
            <a:graphicFrameLocks noChangeAspect="1"/>
          </p:cNvGraphicFramePr>
          <p:nvPr/>
        </p:nvGraphicFramePr>
        <p:xfrm>
          <a:off x="1447800" y="4876800"/>
          <a:ext cx="2174875" cy="1524000"/>
        </p:xfrm>
        <a:graphic>
          <a:graphicData uri="http://schemas.openxmlformats.org/presentationml/2006/ole">
            <mc:AlternateContent xmlns:mc="http://schemas.openxmlformats.org/markup-compatibility/2006">
              <mc:Choice xmlns:v="urn:schemas-microsoft-com:vml" Requires="v">
                <p:oleObj name="公式" r:id="rId8" imgW="1091880" imgH="761760" progId="Equation.3">
                  <p:embed/>
                </p:oleObj>
              </mc:Choice>
              <mc:Fallback>
                <p:oleObj name="公式" r:id="rId8" imgW="1091880" imgH="761760" progId="Equation.3">
                  <p:embed/>
                  <p:pic>
                    <p:nvPicPr>
                      <p:cNvPr id="574520" name="Object 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7800" y="4876800"/>
                        <a:ext cx="2174875"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74521" name="Group 57"/>
          <p:cNvGrpSpPr>
            <a:grpSpLocks/>
          </p:cNvGrpSpPr>
          <p:nvPr/>
        </p:nvGrpSpPr>
        <p:grpSpPr bwMode="auto">
          <a:xfrm>
            <a:off x="7602538" y="5118100"/>
            <a:ext cx="685800" cy="457200"/>
            <a:chOff x="2517" y="3203"/>
            <a:chExt cx="432" cy="288"/>
          </a:xfrm>
        </p:grpSpPr>
        <p:sp>
          <p:nvSpPr>
            <p:cNvPr id="574522" name="Line 58"/>
            <p:cNvSpPr>
              <a:spLocks noChangeShapeType="1"/>
            </p:cNvSpPr>
            <p:nvPr/>
          </p:nvSpPr>
          <p:spPr bwMode="auto">
            <a:xfrm flipH="1">
              <a:off x="2661" y="3491"/>
              <a:ext cx="288" cy="0"/>
            </a:xfrm>
            <a:prstGeom prst="line">
              <a:avLst/>
            </a:prstGeom>
            <a:noFill/>
            <a:ln w="28575">
              <a:solidFill>
                <a:srgbClr val="FF3300"/>
              </a:solidFill>
              <a:round/>
              <a:headEnd type="none" w="sm" len="sm"/>
              <a:tailEnd type="stealth" w="med" len="lg"/>
            </a:ln>
            <a:effectLst/>
          </p:spPr>
          <p:txBody>
            <a:bodyPr wrap="none" anchor="ctr"/>
            <a:lstStyle/>
            <a:p>
              <a:endParaRPr lang="zh-CN" altLang="en-US"/>
            </a:p>
          </p:txBody>
        </p:sp>
        <p:graphicFrame>
          <p:nvGraphicFramePr>
            <p:cNvPr id="574523" name="Object 59"/>
            <p:cNvGraphicFramePr>
              <a:graphicFrameLocks noChangeAspect="1"/>
            </p:cNvGraphicFramePr>
            <p:nvPr/>
          </p:nvGraphicFramePr>
          <p:xfrm>
            <a:off x="2517" y="3203"/>
            <a:ext cx="249" cy="287"/>
          </p:xfrm>
          <a:graphic>
            <a:graphicData uri="http://schemas.openxmlformats.org/presentationml/2006/ole">
              <mc:AlternateContent xmlns:mc="http://schemas.openxmlformats.org/markup-compatibility/2006">
                <mc:Choice xmlns:v="urn:schemas-microsoft-com:vml" Requires="v">
                  <p:oleObj name="公式" r:id="rId10" imgW="164880" imgH="190440" progId="Equation.3">
                    <p:embed/>
                  </p:oleObj>
                </mc:Choice>
                <mc:Fallback>
                  <p:oleObj name="公式" r:id="rId10" imgW="164880" imgH="190440" progId="Equation.3">
                    <p:embed/>
                    <p:pic>
                      <p:nvPicPr>
                        <p:cNvPr id="574523" name="Object 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7" y="3203"/>
                          <a:ext cx="249"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74467"/>
                                        </p:tgtEl>
                                        <p:attrNameLst>
                                          <p:attrName>style.visibility</p:attrName>
                                        </p:attrNameLst>
                                      </p:cBhvr>
                                      <p:to>
                                        <p:strVal val="visible"/>
                                      </p:to>
                                    </p:set>
                                    <p:animEffect transition="in" filter="strips(downRight)">
                                      <p:cBhvr>
                                        <p:cTn id="7" dur="500"/>
                                        <p:tgtEl>
                                          <p:spTgt spid="5744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4469"/>
                                        </p:tgtEl>
                                        <p:attrNameLst>
                                          <p:attrName>style.visibility</p:attrName>
                                        </p:attrNameLst>
                                      </p:cBhvr>
                                      <p:to>
                                        <p:strVal val="visible"/>
                                      </p:to>
                                    </p:set>
                                    <p:animEffect transition="in" filter="wipe(left)">
                                      <p:cBhvr>
                                        <p:cTn id="12" dur="500"/>
                                        <p:tgtEl>
                                          <p:spTgt spid="57446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74468"/>
                                        </p:tgtEl>
                                        <p:attrNameLst>
                                          <p:attrName>style.visibility</p:attrName>
                                        </p:attrNameLst>
                                      </p:cBhvr>
                                      <p:to>
                                        <p:strVal val="visible"/>
                                      </p:to>
                                    </p:set>
                                    <p:animEffect transition="in" filter="strips(downRight)">
                                      <p:cBhvr>
                                        <p:cTn id="17" dur="500"/>
                                        <p:tgtEl>
                                          <p:spTgt spid="57446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574470"/>
                                        </p:tgtEl>
                                        <p:attrNameLst>
                                          <p:attrName>style.visibility</p:attrName>
                                        </p:attrNameLst>
                                      </p:cBhvr>
                                      <p:to>
                                        <p:strVal val="visible"/>
                                      </p:to>
                                    </p:set>
                                    <p:animEffect transition="in" filter="strips(downRight)">
                                      <p:cBhvr>
                                        <p:cTn id="22" dur="500"/>
                                        <p:tgtEl>
                                          <p:spTgt spid="5744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74471"/>
                                        </p:tgtEl>
                                        <p:attrNameLst>
                                          <p:attrName>style.visibility</p:attrName>
                                        </p:attrNameLst>
                                      </p:cBhvr>
                                      <p:to>
                                        <p:strVal val="visible"/>
                                      </p:to>
                                    </p:set>
                                    <p:animEffect transition="in" filter="wipe(left)">
                                      <p:cBhvr>
                                        <p:cTn id="27" dur="500"/>
                                        <p:tgtEl>
                                          <p:spTgt spid="5744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74472"/>
                                        </p:tgtEl>
                                        <p:attrNameLst>
                                          <p:attrName>style.visibility</p:attrName>
                                        </p:attrNameLst>
                                      </p:cBhvr>
                                      <p:to>
                                        <p:strVal val="visible"/>
                                      </p:to>
                                    </p:set>
                                    <p:animEffect transition="in" filter="wipe(left)">
                                      <p:cBhvr>
                                        <p:cTn id="32" dur="500"/>
                                        <p:tgtEl>
                                          <p:spTgt spid="574472"/>
                                        </p:tgtEl>
                                      </p:cBhvr>
                                    </p:animEffect>
                                  </p:childTnLst>
                                </p:cTn>
                              </p:par>
                              <p:par>
                                <p:cTn id="33" presetID="22" presetClass="entr" presetSubtype="8" fill="hold" nodeType="withEffect">
                                  <p:stCondLst>
                                    <p:cond delay="0"/>
                                  </p:stCondLst>
                                  <p:childTnLst>
                                    <p:set>
                                      <p:cBhvr>
                                        <p:cTn id="34" dur="1" fill="hold">
                                          <p:stCondLst>
                                            <p:cond delay="0"/>
                                          </p:stCondLst>
                                        </p:cTn>
                                        <p:tgtEl>
                                          <p:spTgt spid="574473"/>
                                        </p:tgtEl>
                                        <p:attrNameLst>
                                          <p:attrName>style.visibility</p:attrName>
                                        </p:attrNameLst>
                                      </p:cBhvr>
                                      <p:to>
                                        <p:strVal val="visible"/>
                                      </p:to>
                                    </p:set>
                                    <p:animEffect transition="in" filter="wipe(left)">
                                      <p:cBhvr>
                                        <p:cTn id="35" dur="500"/>
                                        <p:tgtEl>
                                          <p:spTgt spid="57447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574499"/>
                                        </p:tgtEl>
                                        <p:attrNameLst>
                                          <p:attrName>style.visibility</p:attrName>
                                        </p:attrNameLst>
                                      </p:cBhvr>
                                      <p:to>
                                        <p:strVal val="visible"/>
                                      </p:to>
                                    </p:set>
                                    <p:anim calcmode="lin" valueType="num">
                                      <p:cBhvr additive="base">
                                        <p:cTn id="40" dur="500" fill="hold"/>
                                        <p:tgtEl>
                                          <p:spTgt spid="574499"/>
                                        </p:tgtEl>
                                        <p:attrNameLst>
                                          <p:attrName>ppt_x</p:attrName>
                                        </p:attrNameLst>
                                      </p:cBhvr>
                                      <p:tavLst>
                                        <p:tav tm="0">
                                          <p:val>
                                            <p:strVal val="0-#ppt_w/2"/>
                                          </p:val>
                                        </p:tav>
                                        <p:tav tm="100000">
                                          <p:val>
                                            <p:strVal val="#ppt_x"/>
                                          </p:val>
                                        </p:tav>
                                      </p:tavLst>
                                    </p:anim>
                                    <p:anim calcmode="lin" valueType="num">
                                      <p:cBhvr additive="base">
                                        <p:cTn id="41" dur="500" fill="hold"/>
                                        <p:tgtEl>
                                          <p:spTgt spid="574499"/>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574500"/>
                                        </p:tgtEl>
                                        <p:attrNameLst>
                                          <p:attrName>style.visibility</p:attrName>
                                        </p:attrNameLst>
                                      </p:cBhvr>
                                      <p:to>
                                        <p:strVal val="visible"/>
                                      </p:to>
                                    </p:set>
                                    <p:animEffect transition="in" filter="dissolve">
                                      <p:cBhvr>
                                        <p:cTn id="46" dur="500"/>
                                        <p:tgtEl>
                                          <p:spTgt spid="574500"/>
                                        </p:tgtEl>
                                      </p:cBhvr>
                                    </p:animEffect>
                                  </p:childTnLst>
                                </p:cTn>
                              </p:par>
                            </p:childTnLst>
                          </p:cTn>
                        </p:par>
                      </p:childTnLst>
                    </p:cTn>
                  </p:par>
                  <p:par>
                    <p:cTn id="47" fill="hold">
                      <p:stCondLst>
                        <p:cond delay="indefinite"/>
                      </p:stCondLst>
                      <p:childTnLst>
                        <p:par>
                          <p:cTn id="48" fill="hold">
                            <p:stCondLst>
                              <p:cond delay="0"/>
                            </p:stCondLst>
                            <p:childTnLst>
                              <p:par>
                                <p:cTn id="49" presetID="23" presetClass="entr" presetSubtype="288" fill="hold" grpId="0" nodeType="clickEffect">
                                  <p:stCondLst>
                                    <p:cond delay="0"/>
                                  </p:stCondLst>
                                  <p:childTnLst>
                                    <p:set>
                                      <p:cBhvr>
                                        <p:cTn id="50" dur="1" fill="hold">
                                          <p:stCondLst>
                                            <p:cond delay="0"/>
                                          </p:stCondLst>
                                        </p:cTn>
                                        <p:tgtEl>
                                          <p:spTgt spid="574512"/>
                                        </p:tgtEl>
                                        <p:attrNameLst>
                                          <p:attrName>style.visibility</p:attrName>
                                        </p:attrNameLst>
                                      </p:cBhvr>
                                      <p:to>
                                        <p:strVal val="visible"/>
                                      </p:to>
                                    </p:set>
                                    <p:anim calcmode="lin" valueType="num">
                                      <p:cBhvr>
                                        <p:cTn id="51" dur="500" fill="hold"/>
                                        <p:tgtEl>
                                          <p:spTgt spid="574512"/>
                                        </p:tgtEl>
                                        <p:attrNameLst>
                                          <p:attrName>ppt_w</p:attrName>
                                        </p:attrNameLst>
                                      </p:cBhvr>
                                      <p:tavLst>
                                        <p:tav tm="0">
                                          <p:val>
                                            <p:strVal val="4/3*#ppt_w"/>
                                          </p:val>
                                        </p:tav>
                                        <p:tav tm="100000">
                                          <p:val>
                                            <p:strVal val="#ppt_w"/>
                                          </p:val>
                                        </p:tav>
                                      </p:tavLst>
                                    </p:anim>
                                    <p:anim calcmode="lin" valueType="num">
                                      <p:cBhvr>
                                        <p:cTn id="52" dur="500" fill="hold"/>
                                        <p:tgtEl>
                                          <p:spTgt spid="574512"/>
                                        </p:tgtEl>
                                        <p:attrNameLst>
                                          <p:attrName>ppt_h</p:attrName>
                                        </p:attrNameLst>
                                      </p:cBhvr>
                                      <p:tavLst>
                                        <p:tav tm="0">
                                          <p:val>
                                            <p:strVal val="4/3*#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574503"/>
                                        </p:tgtEl>
                                        <p:attrNameLst>
                                          <p:attrName>style.visibility</p:attrName>
                                        </p:attrNameLst>
                                      </p:cBhvr>
                                      <p:to>
                                        <p:strVal val="visible"/>
                                      </p:to>
                                    </p:set>
                                    <p:animEffect transition="in" filter="box(out)">
                                      <p:cBhvr>
                                        <p:cTn id="57" dur="500"/>
                                        <p:tgtEl>
                                          <p:spTgt spid="574503"/>
                                        </p:tgtEl>
                                      </p:cBhvr>
                                    </p:animEffect>
                                  </p:childTnLst>
                                </p:cTn>
                              </p:par>
                            </p:childTnLst>
                          </p:cTn>
                        </p:par>
                      </p:childTnLst>
                    </p:cTn>
                  </p:par>
                  <p:par>
                    <p:cTn id="58" fill="hold">
                      <p:stCondLst>
                        <p:cond delay="indefinite"/>
                      </p:stCondLst>
                      <p:childTnLst>
                        <p:par>
                          <p:cTn id="59" fill="hold">
                            <p:stCondLst>
                              <p:cond delay="0"/>
                            </p:stCondLst>
                            <p:childTnLst>
                              <p:par>
                                <p:cTn id="60" presetID="23" presetClass="entr" presetSubtype="288" fill="hold" grpId="0" nodeType="clickEffect">
                                  <p:stCondLst>
                                    <p:cond delay="0"/>
                                  </p:stCondLst>
                                  <p:childTnLst>
                                    <p:set>
                                      <p:cBhvr>
                                        <p:cTn id="61" dur="1" fill="hold">
                                          <p:stCondLst>
                                            <p:cond delay="0"/>
                                          </p:stCondLst>
                                        </p:cTn>
                                        <p:tgtEl>
                                          <p:spTgt spid="574513"/>
                                        </p:tgtEl>
                                        <p:attrNameLst>
                                          <p:attrName>style.visibility</p:attrName>
                                        </p:attrNameLst>
                                      </p:cBhvr>
                                      <p:to>
                                        <p:strVal val="visible"/>
                                      </p:to>
                                    </p:set>
                                    <p:anim calcmode="lin" valueType="num">
                                      <p:cBhvr>
                                        <p:cTn id="62" dur="500" fill="hold"/>
                                        <p:tgtEl>
                                          <p:spTgt spid="574513"/>
                                        </p:tgtEl>
                                        <p:attrNameLst>
                                          <p:attrName>ppt_w</p:attrName>
                                        </p:attrNameLst>
                                      </p:cBhvr>
                                      <p:tavLst>
                                        <p:tav tm="0">
                                          <p:val>
                                            <p:strVal val="4/3*#ppt_w"/>
                                          </p:val>
                                        </p:tav>
                                        <p:tav tm="100000">
                                          <p:val>
                                            <p:strVal val="#ppt_w"/>
                                          </p:val>
                                        </p:tav>
                                      </p:tavLst>
                                    </p:anim>
                                    <p:anim calcmode="lin" valueType="num">
                                      <p:cBhvr>
                                        <p:cTn id="63" dur="500" fill="hold"/>
                                        <p:tgtEl>
                                          <p:spTgt spid="574513"/>
                                        </p:tgtEl>
                                        <p:attrNameLst>
                                          <p:attrName>ppt_h</p:attrName>
                                        </p:attrNameLst>
                                      </p:cBhvr>
                                      <p:tavLst>
                                        <p:tav tm="0">
                                          <p:val>
                                            <p:strVal val="4/3*#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574514"/>
                                        </p:tgtEl>
                                        <p:attrNameLst>
                                          <p:attrName>style.visibility</p:attrName>
                                        </p:attrNameLst>
                                      </p:cBhvr>
                                      <p:to>
                                        <p:strVal val="visible"/>
                                      </p:to>
                                    </p:set>
                                    <p:animEffect transition="in" filter="box(out)">
                                      <p:cBhvr>
                                        <p:cTn id="68" dur="500"/>
                                        <p:tgtEl>
                                          <p:spTgt spid="57451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2" fill="hold" nodeType="clickEffect">
                                  <p:stCondLst>
                                    <p:cond delay="0"/>
                                  </p:stCondLst>
                                  <p:childTnLst>
                                    <p:set>
                                      <p:cBhvr>
                                        <p:cTn id="72" dur="1" fill="hold">
                                          <p:stCondLst>
                                            <p:cond delay="0"/>
                                          </p:stCondLst>
                                        </p:cTn>
                                        <p:tgtEl>
                                          <p:spTgt spid="574521"/>
                                        </p:tgtEl>
                                        <p:attrNameLst>
                                          <p:attrName>style.visibility</p:attrName>
                                        </p:attrNameLst>
                                      </p:cBhvr>
                                      <p:to>
                                        <p:strVal val="visible"/>
                                      </p:to>
                                    </p:set>
                                    <p:animEffect transition="in" filter="wipe(right)">
                                      <p:cBhvr>
                                        <p:cTn id="73" dur="500"/>
                                        <p:tgtEl>
                                          <p:spTgt spid="57452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574520"/>
                                        </p:tgtEl>
                                        <p:attrNameLst>
                                          <p:attrName>style.visibility</p:attrName>
                                        </p:attrNameLst>
                                      </p:cBhvr>
                                      <p:to>
                                        <p:strVal val="visible"/>
                                      </p:to>
                                    </p:set>
                                    <p:animEffect transition="in" filter="wipe(left)">
                                      <p:cBhvr>
                                        <p:cTn id="78" dur="500"/>
                                        <p:tgtEl>
                                          <p:spTgt spid="574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autoUpdateAnimBg="0"/>
      <p:bldP spid="574468" grpId="0" autoUpdateAnimBg="0"/>
      <p:bldP spid="574470" grpId="0" autoUpdateAnimBg="0"/>
      <p:bldP spid="574472" grpId="0"/>
      <p:bldP spid="574499" grpId="0" autoUpdateAnimBg="0"/>
      <p:bldP spid="574512" grpId="0" animBg="1"/>
      <p:bldP spid="57451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r>
              <a:rPr lang="en-US" altLang="zh-CN" sz="3600"/>
              <a:t>10</a:t>
            </a:r>
            <a:r>
              <a:rPr lang="en-US" altLang="en-US" sz="3600"/>
              <a:t>.5 真实气体范德瓦尔斯方程（简介）</a:t>
            </a:r>
            <a:endParaRPr lang="zh-CN" altLang="en-US" sz="3600"/>
          </a:p>
        </p:txBody>
      </p:sp>
      <p:sp>
        <p:nvSpPr>
          <p:cNvPr id="13" name="灯片编号占位符 4"/>
          <p:cNvSpPr>
            <a:spLocks noGrp="1"/>
          </p:cNvSpPr>
          <p:nvPr>
            <p:ph type="sldNum" sz="quarter" idx="12"/>
          </p:nvPr>
        </p:nvSpPr>
        <p:spPr/>
        <p:txBody>
          <a:bodyPr/>
          <a:lstStyle/>
          <a:p>
            <a:fld id="{B3AA638D-2016-44FE-AAF5-FA622D1A6D60}" type="slidenum">
              <a:rPr lang="en-US" altLang="zh-CN"/>
              <a:pPr/>
              <a:t>64</a:t>
            </a:fld>
            <a:endParaRPr lang="en-US" altLang="zh-CN"/>
          </a:p>
        </p:txBody>
      </p:sp>
      <p:sp>
        <p:nvSpPr>
          <p:cNvPr id="581635" name="Text Box 3"/>
          <p:cNvSpPr txBox="1">
            <a:spLocks noChangeArrowheads="1"/>
          </p:cNvSpPr>
          <p:nvPr/>
        </p:nvSpPr>
        <p:spPr bwMode="auto">
          <a:xfrm>
            <a:off x="539750" y="1092200"/>
            <a:ext cx="7993063" cy="1117600"/>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800" dirty="0"/>
              <a:t>考虑分子间存在</a:t>
            </a:r>
            <a:r>
              <a:rPr lang="zh-CN" altLang="en-US" sz="2800" dirty="0">
                <a:solidFill>
                  <a:srgbClr val="0000CC"/>
                </a:solidFill>
              </a:rPr>
              <a:t>引力</a:t>
            </a:r>
            <a:r>
              <a:rPr lang="zh-CN" altLang="en-US" sz="2800" dirty="0"/>
              <a:t>，气体分子施与器壁的压强应减少一个量值，称为内压强 （</a:t>
            </a:r>
            <a:r>
              <a:rPr lang="en-US" altLang="zh-CN" sz="2800" i="1" dirty="0"/>
              <a:t>p</a:t>
            </a:r>
            <a:r>
              <a:rPr lang="en-US" altLang="zh-CN" sz="2800" baseline="-25000" dirty="0"/>
              <a:t>i</a:t>
            </a:r>
            <a:r>
              <a:rPr lang="zh-CN" altLang="en-US" sz="2800" dirty="0"/>
              <a:t>）。</a:t>
            </a:r>
          </a:p>
        </p:txBody>
      </p:sp>
      <p:graphicFrame>
        <p:nvGraphicFramePr>
          <p:cNvPr id="581636" name="Object 4"/>
          <p:cNvGraphicFramePr>
            <a:graphicFrameLocks noChangeAspect="1"/>
          </p:cNvGraphicFramePr>
          <p:nvPr/>
        </p:nvGraphicFramePr>
        <p:xfrm>
          <a:off x="1371600" y="2376488"/>
          <a:ext cx="2335213" cy="457200"/>
        </p:xfrm>
        <a:graphic>
          <a:graphicData uri="http://schemas.openxmlformats.org/presentationml/2006/ole">
            <mc:AlternateContent xmlns:mc="http://schemas.openxmlformats.org/markup-compatibility/2006">
              <mc:Choice xmlns:v="urn:schemas-microsoft-com:vml" Requires="v">
                <p:oleObj name="公式" r:id="rId2" imgW="1168200" imgH="228600" progId="Equation.3">
                  <p:embed/>
                </p:oleObj>
              </mc:Choice>
              <mc:Fallback>
                <p:oleObj name="公式" r:id="rId2" imgW="1168200" imgH="228600" progId="Equation.3">
                  <p:embed/>
                  <p:pic>
                    <p:nvPicPr>
                      <p:cNvPr id="58163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376488"/>
                        <a:ext cx="23352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1637" name="Object 5"/>
          <p:cNvGraphicFramePr>
            <a:graphicFrameLocks noChangeAspect="1"/>
          </p:cNvGraphicFramePr>
          <p:nvPr/>
        </p:nvGraphicFramePr>
        <p:xfrm>
          <a:off x="3505200" y="2147888"/>
          <a:ext cx="1878013" cy="939800"/>
        </p:xfrm>
        <a:graphic>
          <a:graphicData uri="http://schemas.openxmlformats.org/presentationml/2006/ole">
            <mc:AlternateContent xmlns:mc="http://schemas.openxmlformats.org/markup-compatibility/2006">
              <mc:Choice xmlns:v="urn:schemas-microsoft-com:vml" Requires="v">
                <p:oleObj name="公式" r:id="rId4" imgW="939600" imgH="469800" progId="Equation.3">
                  <p:embed/>
                </p:oleObj>
              </mc:Choice>
              <mc:Fallback>
                <p:oleObj name="公式" r:id="rId4" imgW="939600" imgH="469800" progId="Equation.3">
                  <p:embed/>
                  <p:pic>
                    <p:nvPicPr>
                      <p:cNvPr id="58163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2147888"/>
                        <a:ext cx="1878013"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1638" name="Text Box 6"/>
          <p:cNvSpPr txBox="1">
            <a:spLocks noChangeArrowheads="1"/>
          </p:cNvSpPr>
          <p:nvPr/>
        </p:nvSpPr>
        <p:spPr bwMode="auto">
          <a:xfrm>
            <a:off x="685800" y="2986088"/>
            <a:ext cx="2971800" cy="519112"/>
          </a:xfrm>
          <a:prstGeom prst="rect">
            <a:avLst/>
          </a:prstGeom>
          <a:noFill/>
          <a:ln w="12700">
            <a:noFill/>
            <a:miter lim="800000"/>
            <a:headEnd type="none" w="sm" len="sm"/>
            <a:tailEnd type="none" w="sm" len="sm"/>
          </a:ln>
          <a:effectLst/>
        </p:spPr>
        <p:txBody>
          <a:bodyPr>
            <a:spAutoFit/>
          </a:bodyPr>
          <a:lstStyle/>
          <a:p>
            <a:pPr>
              <a:spcBef>
                <a:spcPct val="50000"/>
              </a:spcBef>
            </a:pPr>
            <a:r>
              <a:rPr kumimoji="1" lang="en-US" altLang="zh-CN" sz="2800" i="1" dirty="0"/>
              <a:t>a</a:t>
            </a:r>
            <a:r>
              <a:rPr kumimoji="1" lang="zh-CN" altLang="zh-CN" sz="2800" dirty="0"/>
              <a:t>为比例系数</a:t>
            </a:r>
            <a:endParaRPr kumimoji="1" lang="zh-CN" altLang="en-US" sz="2800" dirty="0"/>
          </a:p>
        </p:txBody>
      </p:sp>
      <p:graphicFrame>
        <p:nvGraphicFramePr>
          <p:cNvPr id="581639" name="Object 7"/>
          <p:cNvGraphicFramePr>
            <a:graphicFrameLocks noChangeAspect="1"/>
          </p:cNvGraphicFramePr>
          <p:nvPr/>
        </p:nvGraphicFramePr>
        <p:xfrm>
          <a:off x="1752600" y="3502025"/>
          <a:ext cx="2182813" cy="1527175"/>
        </p:xfrm>
        <a:graphic>
          <a:graphicData uri="http://schemas.openxmlformats.org/presentationml/2006/ole">
            <mc:AlternateContent xmlns:mc="http://schemas.openxmlformats.org/markup-compatibility/2006">
              <mc:Choice xmlns:v="urn:schemas-microsoft-com:vml" Requires="v">
                <p:oleObj name="公式" r:id="rId6" imgW="1091880" imgH="761760" progId="Equation.3">
                  <p:embed/>
                </p:oleObj>
              </mc:Choice>
              <mc:Fallback>
                <p:oleObj name="公式" r:id="rId6" imgW="1091880" imgH="761760" progId="Equation.3">
                  <p:embed/>
                  <p:pic>
                    <p:nvPicPr>
                      <p:cNvPr id="581639"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3502025"/>
                        <a:ext cx="2182813" cy="152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1640" name="Object 8"/>
          <p:cNvGraphicFramePr>
            <a:graphicFrameLocks noChangeAspect="1"/>
          </p:cNvGraphicFramePr>
          <p:nvPr/>
        </p:nvGraphicFramePr>
        <p:xfrm>
          <a:off x="4038600" y="3502025"/>
          <a:ext cx="2868613" cy="1527175"/>
        </p:xfrm>
        <a:graphic>
          <a:graphicData uri="http://schemas.openxmlformats.org/presentationml/2006/ole">
            <mc:AlternateContent xmlns:mc="http://schemas.openxmlformats.org/markup-compatibility/2006">
              <mc:Choice xmlns:v="urn:schemas-microsoft-com:vml" Requires="v">
                <p:oleObj name="公式" r:id="rId8" imgW="1434960" imgH="761760" progId="Equation.3">
                  <p:embed/>
                </p:oleObj>
              </mc:Choice>
              <mc:Fallback>
                <p:oleObj name="公式" r:id="rId8" imgW="1434960" imgH="761760" progId="Equation.3">
                  <p:embed/>
                  <p:pic>
                    <p:nvPicPr>
                      <p:cNvPr id="58164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38600" y="3502025"/>
                        <a:ext cx="2868613" cy="152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1641" name="Object 9"/>
          <p:cNvGraphicFramePr>
            <a:graphicFrameLocks noChangeAspect="1"/>
          </p:cNvGraphicFramePr>
          <p:nvPr/>
        </p:nvGraphicFramePr>
        <p:xfrm>
          <a:off x="3962400" y="5257800"/>
          <a:ext cx="4278313" cy="969963"/>
        </p:xfrm>
        <a:graphic>
          <a:graphicData uri="http://schemas.openxmlformats.org/presentationml/2006/ole">
            <mc:AlternateContent xmlns:mc="http://schemas.openxmlformats.org/markup-compatibility/2006">
              <mc:Choice xmlns:v="urn:schemas-microsoft-com:vml" Requires="v">
                <p:oleObj name="公式" r:id="rId10" imgW="2146300" imgH="482600" progId="Equation.3">
                  <p:embed/>
                </p:oleObj>
              </mc:Choice>
              <mc:Fallback>
                <p:oleObj name="公式" r:id="rId10" imgW="2146300" imgH="482600" progId="Equation.3">
                  <p:embed/>
                  <p:pic>
                    <p:nvPicPr>
                      <p:cNvPr id="581641"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2400" y="5257800"/>
                        <a:ext cx="4278313" cy="969963"/>
                      </a:xfrm>
                      <a:prstGeom prst="rect">
                        <a:avLst/>
                      </a:prstGeom>
                      <a:solidFill>
                        <a:srgbClr val="CC99FF">
                          <a:alpha val="50000"/>
                        </a:srgbClr>
                      </a:solidFill>
                      <a:ln w="9525">
                        <a:solidFill>
                          <a:schemeClr val="tx1"/>
                        </a:solidFill>
                        <a:miter lim="800000"/>
                        <a:headEnd/>
                        <a:tailEnd/>
                      </a:ln>
                    </p:spPr>
                  </p:pic>
                </p:oleObj>
              </mc:Fallback>
            </mc:AlternateContent>
          </a:graphicData>
        </a:graphic>
      </p:graphicFrame>
      <p:sp>
        <p:nvSpPr>
          <p:cNvPr id="581642" name="Rectangle 10"/>
          <p:cNvSpPr>
            <a:spLocks noChangeArrowheads="1"/>
          </p:cNvSpPr>
          <p:nvPr/>
        </p:nvSpPr>
        <p:spPr bwMode="auto">
          <a:xfrm>
            <a:off x="533400" y="5483225"/>
            <a:ext cx="3028950" cy="519113"/>
          </a:xfrm>
          <a:prstGeom prst="rect">
            <a:avLst/>
          </a:prstGeom>
          <a:noFill/>
          <a:ln w="9525">
            <a:noFill/>
            <a:miter lim="800000"/>
            <a:headEnd/>
            <a:tailEnd/>
          </a:ln>
          <a:effectLst/>
        </p:spPr>
        <p:txBody>
          <a:bodyPr wrap="none">
            <a:spAutoFit/>
          </a:bodyPr>
          <a:lstStyle/>
          <a:p>
            <a:r>
              <a:rPr kumimoji="1" lang="zh-CN" altLang="en-US" sz="2800" dirty="0">
                <a:solidFill>
                  <a:srgbClr val="0000CC"/>
                </a:solidFill>
              </a:rPr>
              <a:t>范德瓦尔斯方程：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gtEl>
                                        <p:attrNameLst>
                                          <p:attrName>style.visibility</p:attrName>
                                        </p:attrNameLst>
                                      </p:cBhvr>
                                      <p:to>
                                        <p:strVal val="visible"/>
                                      </p:to>
                                    </p:set>
                                    <p:animEffect transition="in" filter="wipe(left)">
                                      <p:cBhvr>
                                        <p:cTn id="7" dur="500"/>
                                        <p:tgtEl>
                                          <p:spTgt spid="58163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81636"/>
                                        </p:tgtEl>
                                        <p:attrNameLst>
                                          <p:attrName>style.visibility</p:attrName>
                                        </p:attrNameLst>
                                      </p:cBhvr>
                                      <p:to>
                                        <p:strVal val="visible"/>
                                      </p:to>
                                    </p:set>
                                    <p:animEffect transition="in" filter="strips(upRight)">
                                      <p:cBhvr>
                                        <p:cTn id="12" dur="500"/>
                                        <p:tgtEl>
                                          <p:spTgt spid="5816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1637"/>
                                        </p:tgtEl>
                                        <p:attrNameLst>
                                          <p:attrName>style.visibility</p:attrName>
                                        </p:attrNameLst>
                                      </p:cBhvr>
                                      <p:to>
                                        <p:strVal val="visible"/>
                                      </p:to>
                                    </p:set>
                                    <p:animEffect transition="in" filter="wipe(left)">
                                      <p:cBhvr>
                                        <p:cTn id="17" dur="500"/>
                                        <p:tgtEl>
                                          <p:spTgt spid="58163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581638"/>
                                        </p:tgtEl>
                                        <p:attrNameLst>
                                          <p:attrName>style.visibility</p:attrName>
                                        </p:attrNameLst>
                                      </p:cBhvr>
                                      <p:to>
                                        <p:strVal val="visible"/>
                                      </p:to>
                                    </p:set>
                                    <p:animEffect transition="in" filter="strips(upRight)">
                                      <p:cBhvr>
                                        <p:cTn id="22" dur="500"/>
                                        <p:tgtEl>
                                          <p:spTgt spid="5816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81639"/>
                                        </p:tgtEl>
                                        <p:attrNameLst>
                                          <p:attrName>style.visibility</p:attrName>
                                        </p:attrNameLst>
                                      </p:cBhvr>
                                      <p:to>
                                        <p:strVal val="visible"/>
                                      </p:to>
                                    </p:set>
                                    <p:animEffect transition="in" filter="wipe(left)">
                                      <p:cBhvr>
                                        <p:cTn id="27" dur="500"/>
                                        <p:tgtEl>
                                          <p:spTgt spid="5816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1640"/>
                                        </p:tgtEl>
                                        <p:attrNameLst>
                                          <p:attrName>style.visibility</p:attrName>
                                        </p:attrNameLst>
                                      </p:cBhvr>
                                      <p:to>
                                        <p:strVal val="visible"/>
                                      </p:to>
                                    </p:set>
                                    <p:animEffect transition="in" filter="wipe(left)">
                                      <p:cBhvr>
                                        <p:cTn id="32" dur="500"/>
                                        <p:tgtEl>
                                          <p:spTgt spid="5816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81642"/>
                                        </p:tgtEl>
                                        <p:attrNameLst>
                                          <p:attrName>style.visibility</p:attrName>
                                        </p:attrNameLst>
                                      </p:cBhvr>
                                      <p:to>
                                        <p:strVal val="visible"/>
                                      </p:to>
                                    </p:set>
                                    <p:animEffect transition="in" filter="wipe(left)">
                                      <p:cBhvr>
                                        <p:cTn id="37" dur="500"/>
                                        <p:tgtEl>
                                          <p:spTgt spid="58164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81641"/>
                                        </p:tgtEl>
                                        <p:attrNameLst>
                                          <p:attrName>style.visibility</p:attrName>
                                        </p:attrNameLst>
                                      </p:cBhvr>
                                      <p:to>
                                        <p:strVal val="visible"/>
                                      </p:to>
                                    </p:set>
                                    <p:animEffect transition="in" filter="wipe(left)">
                                      <p:cBhvr>
                                        <p:cTn id="42" dur="500"/>
                                        <p:tgtEl>
                                          <p:spTgt spid="581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p:bldP spid="581638" grpId="0" autoUpdateAnimBg="0"/>
      <p:bldP spid="58164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r>
              <a:rPr lang="en-US" altLang="zh-CN" sz="3600"/>
              <a:t>10</a:t>
            </a:r>
            <a:r>
              <a:rPr lang="en-US" altLang="en-US" sz="3600"/>
              <a:t>.5 真实气体范德瓦尔斯方程（简介）</a:t>
            </a:r>
            <a:endParaRPr lang="zh-CN" altLang="en-US" sz="3600"/>
          </a:p>
        </p:txBody>
      </p:sp>
      <p:sp>
        <p:nvSpPr>
          <p:cNvPr id="7" name="灯片编号占位符 4"/>
          <p:cNvSpPr>
            <a:spLocks noGrp="1"/>
          </p:cNvSpPr>
          <p:nvPr>
            <p:ph type="sldNum" sz="quarter" idx="12"/>
          </p:nvPr>
        </p:nvSpPr>
        <p:spPr/>
        <p:txBody>
          <a:bodyPr/>
          <a:lstStyle/>
          <a:p>
            <a:fld id="{700D3DF0-1889-4479-BAB7-1686756391FE}" type="slidenum">
              <a:rPr lang="en-US" altLang="zh-CN"/>
              <a:pPr/>
              <a:t>65</a:t>
            </a:fld>
            <a:endParaRPr lang="en-US" altLang="zh-CN"/>
          </a:p>
        </p:txBody>
      </p:sp>
      <p:sp>
        <p:nvSpPr>
          <p:cNvPr id="582659" name="Text Box 3"/>
          <p:cNvSpPr txBox="1">
            <a:spLocks noChangeArrowheads="1"/>
          </p:cNvSpPr>
          <p:nvPr/>
        </p:nvSpPr>
        <p:spPr bwMode="auto">
          <a:xfrm>
            <a:off x="481013" y="2438400"/>
            <a:ext cx="4248150" cy="3168650"/>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800" dirty="0"/>
              <a:t>范德瓦尔斯方程描述二氧化碳气体等温线曲线与真实气体的等温曲线比较，除在低温时，在虚线部分不符合外，其他都能很好地吻合 。</a:t>
            </a:r>
          </a:p>
        </p:txBody>
      </p:sp>
      <p:pic>
        <p:nvPicPr>
          <p:cNvPr id="582660" name="Picture 4" descr="fig10-10a"/>
          <p:cNvPicPr>
            <a:picLocks noChangeAspect="1" noChangeArrowheads="1"/>
          </p:cNvPicPr>
          <p:nvPr/>
        </p:nvPicPr>
        <p:blipFill>
          <a:blip r:embed="rId2"/>
          <a:srcRect/>
          <a:stretch>
            <a:fillRect/>
          </a:stretch>
        </p:blipFill>
        <p:spPr bwMode="auto">
          <a:xfrm>
            <a:off x="4876800" y="1212850"/>
            <a:ext cx="3741738" cy="5111750"/>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r>
              <a:rPr lang="en-US" altLang="zh-CN" sz="3600"/>
              <a:t>10.6 </a:t>
            </a:r>
            <a:r>
              <a:rPr lang="zh-CN" altLang="en-US" sz="3600"/>
              <a:t>气体分子的平均自由程和碰撞频率</a:t>
            </a:r>
          </a:p>
        </p:txBody>
      </p:sp>
      <p:sp>
        <p:nvSpPr>
          <p:cNvPr id="8" name="灯片编号占位符 4"/>
          <p:cNvSpPr>
            <a:spLocks noGrp="1"/>
          </p:cNvSpPr>
          <p:nvPr>
            <p:ph type="sldNum" sz="quarter" idx="12"/>
          </p:nvPr>
        </p:nvSpPr>
        <p:spPr/>
        <p:txBody>
          <a:bodyPr/>
          <a:lstStyle/>
          <a:p>
            <a:fld id="{E17E8DDA-BD91-4C04-B2D2-73F56BD4F093}" type="slidenum">
              <a:rPr lang="en-US" altLang="zh-CN"/>
              <a:pPr/>
              <a:t>66</a:t>
            </a:fld>
            <a:endParaRPr lang="en-US" altLang="zh-CN"/>
          </a:p>
        </p:txBody>
      </p:sp>
      <p:graphicFrame>
        <p:nvGraphicFramePr>
          <p:cNvPr id="573443" name="Object 3"/>
          <p:cNvGraphicFramePr>
            <a:graphicFrameLocks noChangeAspect="1"/>
          </p:cNvGraphicFramePr>
          <p:nvPr/>
        </p:nvGraphicFramePr>
        <p:xfrm>
          <a:off x="609600" y="1600200"/>
          <a:ext cx="8255000" cy="1600200"/>
        </p:xfrm>
        <a:graphic>
          <a:graphicData uri="http://schemas.openxmlformats.org/presentationml/2006/ole">
            <mc:AlternateContent xmlns:mc="http://schemas.openxmlformats.org/markup-compatibility/2006">
              <mc:Choice xmlns:v="urn:schemas-microsoft-com:vml" Requires="v">
                <p:oleObj name="Document" r:id="rId2" imgW="3098629" imgH="604779" progId="Word.Document.8">
                  <p:embed/>
                </p:oleObj>
              </mc:Choice>
              <mc:Fallback>
                <p:oleObj name="Document" r:id="rId2" imgW="3098629" imgH="604779" progId="Word.Document.8">
                  <p:embed/>
                  <p:pic>
                    <p:nvPicPr>
                      <p:cNvPr id="57344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00200"/>
                        <a:ext cx="8255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73444" name="Picture 4" descr="image49"/>
          <p:cNvPicPr>
            <a:picLocks noChangeAspect="1" noChangeArrowheads="1" noCrop="1"/>
          </p:cNvPicPr>
          <p:nvPr/>
        </p:nvPicPr>
        <p:blipFill>
          <a:blip r:embed="rId4"/>
          <a:srcRect/>
          <a:stretch>
            <a:fillRect/>
          </a:stretch>
        </p:blipFill>
        <p:spPr bwMode="auto">
          <a:xfrm>
            <a:off x="827088" y="3573463"/>
            <a:ext cx="3887787" cy="2643187"/>
          </a:xfrm>
          <a:prstGeom prst="rect">
            <a:avLst/>
          </a:prstGeom>
          <a:noFill/>
        </p:spPr>
      </p:pic>
      <p:pic>
        <p:nvPicPr>
          <p:cNvPr id="573445" name="Picture 5" descr="image50"/>
          <p:cNvPicPr>
            <a:picLocks noChangeAspect="1" noChangeArrowheads="1"/>
          </p:cNvPicPr>
          <p:nvPr/>
        </p:nvPicPr>
        <p:blipFill>
          <a:blip r:embed="rId5"/>
          <a:srcRect/>
          <a:stretch>
            <a:fillRect/>
          </a:stretch>
        </p:blipFill>
        <p:spPr bwMode="auto">
          <a:xfrm>
            <a:off x="4716463" y="3573463"/>
            <a:ext cx="3816350" cy="264953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3443"/>
                                        </p:tgtEl>
                                        <p:attrNameLst>
                                          <p:attrName>style.visibility</p:attrName>
                                        </p:attrNameLst>
                                      </p:cBhvr>
                                      <p:to>
                                        <p:strVal val="visible"/>
                                      </p:to>
                                    </p:set>
                                    <p:anim calcmode="lin" valueType="num">
                                      <p:cBhvr additive="base">
                                        <p:cTn id="7" dur="500" fill="hold"/>
                                        <p:tgtEl>
                                          <p:spTgt spid="573443"/>
                                        </p:tgtEl>
                                        <p:attrNameLst>
                                          <p:attrName>ppt_x</p:attrName>
                                        </p:attrNameLst>
                                      </p:cBhvr>
                                      <p:tavLst>
                                        <p:tav tm="0">
                                          <p:val>
                                            <p:strVal val="0-#ppt_w/2"/>
                                          </p:val>
                                        </p:tav>
                                        <p:tav tm="100000">
                                          <p:val>
                                            <p:strVal val="#ppt_x"/>
                                          </p:val>
                                        </p:tav>
                                      </p:tavLst>
                                    </p:anim>
                                    <p:anim calcmode="lin" valueType="num">
                                      <p:cBhvr additive="base">
                                        <p:cTn id="8" dur="500" fill="hold"/>
                                        <p:tgtEl>
                                          <p:spTgt spid="5734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73444"/>
                                        </p:tgtEl>
                                        <p:attrNameLst>
                                          <p:attrName>style.visibility</p:attrName>
                                        </p:attrNameLst>
                                      </p:cBhvr>
                                      <p:to>
                                        <p:strVal val="visible"/>
                                      </p:to>
                                    </p:set>
                                    <p:anim calcmode="lin" valueType="num">
                                      <p:cBhvr additive="base">
                                        <p:cTn id="13" dur="500" fill="hold"/>
                                        <p:tgtEl>
                                          <p:spTgt spid="573444"/>
                                        </p:tgtEl>
                                        <p:attrNameLst>
                                          <p:attrName>ppt_x</p:attrName>
                                        </p:attrNameLst>
                                      </p:cBhvr>
                                      <p:tavLst>
                                        <p:tav tm="0">
                                          <p:val>
                                            <p:strVal val="0-#ppt_w/2"/>
                                          </p:val>
                                        </p:tav>
                                        <p:tav tm="100000">
                                          <p:val>
                                            <p:strVal val="#ppt_x"/>
                                          </p:val>
                                        </p:tav>
                                      </p:tavLst>
                                    </p:anim>
                                    <p:anim calcmode="lin" valueType="num">
                                      <p:cBhvr additive="base">
                                        <p:cTn id="14" dur="500" fill="hold"/>
                                        <p:tgtEl>
                                          <p:spTgt spid="57344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73445"/>
                                        </p:tgtEl>
                                        <p:attrNameLst>
                                          <p:attrName>style.visibility</p:attrName>
                                        </p:attrNameLst>
                                      </p:cBhvr>
                                      <p:to>
                                        <p:strVal val="visible"/>
                                      </p:to>
                                    </p:set>
                                    <p:anim calcmode="lin" valueType="num">
                                      <p:cBhvr additive="base">
                                        <p:cTn id="19" dur="500" fill="hold"/>
                                        <p:tgtEl>
                                          <p:spTgt spid="573445"/>
                                        </p:tgtEl>
                                        <p:attrNameLst>
                                          <p:attrName>ppt_x</p:attrName>
                                        </p:attrNameLst>
                                      </p:cBhvr>
                                      <p:tavLst>
                                        <p:tav tm="0">
                                          <p:val>
                                            <p:strVal val="0-#ppt_w/2"/>
                                          </p:val>
                                        </p:tav>
                                        <p:tav tm="100000">
                                          <p:val>
                                            <p:strVal val="#ppt_x"/>
                                          </p:val>
                                        </p:tav>
                                      </p:tavLst>
                                    </p:anim>
                                    <p:anim calcmode="lin" valueType="num">
                                      <p:cBhvr additive="base">
                                        <p:cTn id="20" dur="500" fill="hold"/>
                                        <p:tgtEl>
                                          <p:spTgt spid="5734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r>
              <a:rPr lang="en-US" altLang="zh-CN" sz="3600"/>
              <a:t>10.6 </a:t>
            </a:r>
            <a:r>
              <a:rPr lang="zh-CN" altLang="en-US" sz="3600"/>
              <a:t>气体分子的平均自由程和碰撞频率</a:t>
            </a:r>
          </a:p>
        </p:txBody>
      </p:sp>
      <p:sp>
        <p:nvSpPr>
          <p:cNvPr id="14" name="灯片编号占位符 4"/>
          <p:cNvSpPr>
            <a:spLocks noGrp="1"/>
          </p:cNvSpPr>
          <p:nvPr>
            <p:ph type="sldNum" sz="quarter" idx="12"/>
          </p:nvPr>
        </p:nvSpPr>
        <p:spPr/>
        <p:txBody>
          <a:bodyPr/>
          <a:lstStyle/>
          <a:p>
            <a:fld id="{E0FE242C-D25E-47BB-8DFD-47D82527B02D}" type="slidenum">
              <a:rPr lang="en-US" altLang="zh-CN"/>
              <a:pPr/>
              <a:t>67</a:t>
            </a:fld>
            <a:endParaRPr lang="en-US" altLang="zh-CN"/>
          </a:p>
        </p:txBody>
      </p:sp>
      <p:sp>
        <p:nvSpPr>
          <p:cNvPr id="568325" name="Rectangle 5"/>
          <p:cNvSpPr>
            <a:spLocks noChangeArrowheads="1"/>
          </p:cNvSpPr>
          <p:nvPr/>
        </p:nvSpPr>
        <p:spPr bwMode="auto">
          <a:xfrm>
            <a:off x="533400" y="1593850"/>
            <a:ext cx="8382000" cy="1073150"/>
          </a:xfrm>
          <a:prstGeom prst="rect">
            <a:avLst/>
          </a:prstGeom>
          <a:noFill/>
          <a:ln w="12700" algn="ctr">
            <a:noFill/>
            <a:miter lim="800000"/>
            <a:headEnd type="none" w="sm" len="sm"/>
            <a:tailEnd type="none" w="sm" len="sm"/>
          </a:ln>
          <a:effectLst/>
        </p:spPr>
        <p:txBody>
          <a:bodyPr>
            <a:spAutoFit/>
          </a:bodyPr>
          <a:lstStyle/>
          <a:p>
            <a:pPr>
              <a:lnSpc>
                <a:spcPct val="115000"/>
              </a:lnSpc>
            </a:pPr>
            <a:r>
              <a:rPr kumimoji="1" lang="zh-CN" altLang="en-US" sz="2800" dirty="0"/>
              <a:t>碰撞频率（   ）：单位时间内，分子与其他分子发生碰撞的平均次数。</a:t>
            </a:r>
          </a:p>
        </p:txBody>
      </p:sp>
      <p:sp>
        <p:nvSpPr>
          <p:cNvPr id="568327" name="Rectangle 7"/>
          <p:cNvSpPr>
            <a:spLocks noChangeArrowheads="1"/>
          </p:cNvSpPr>
          <p:nvPr/>
        </p:nvSpPr>
        <p:spPr bwMode="auto">
          <a:xfrm>
            <a:off x="501650" y="1219200"/>
            <a:ext cx="20129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t>平均碰撞频率</a:t>
            </a:r>
          </a:p>
        </p:txBody>
      </p:sp>
      <p:graphicFrame>
        <p:nvGraphicFramePr>
          <p:cNvPr id="568328" name="Object 8"/>
          <p:cNvGraphicFramePr>
            <a:graphicFrameLocks noChangeAspect="1"/>
          </p:cNvGraphicFramePr>
          <p:nvPr/>
        </p:nvGraphicFramePr>
        <p:xfrm>
          <a:off x="2317750" y="1593850"/>
          <a:ext cx="425450" cy="506413"/>
        </p:xfrm>
        <a:graphic>
          <a:graphicData uri="http://schemas.openxmlformats.org/presentationml/2006/ole">
            <mc:AlternateContent xmlns:mc="http://schemas.openxmlformats.org/markup-compatibility/2006">
              <mc:Choice xmlns:v="urn:schemas-microsoft-com:vml" Requires="v">
                <p:oleObj name="公式" r:id="rId3" imgW="126720" imgH="152280" progId="Equation.3">
                  <p:embed/>
                </p:oleObj>
              </mc:Choice>
              <mc:Fallback>
                <p:oleObj name="公式" r:id="rId3" imgW="126720" imgH="152280" progId="Equation.3">
                  <p:embed/>
                  <p:pic>
                    <p:nvPicPr>
                      <p:cNvPr id="5683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0" y="1593850"/>
                        <a:ext cx="425450" cy="506413"/>
                      </a:xfrm>
                      <a:prstGeom prst="rect">
                        <a:avLst/>
                      </a:prstGeom>
                      <a:noFill/>
                      <a:ln>
                        <a:noFill/>
                      </a:ln>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chemeClr val="tx1"/>
                            </a:solidFill>
                            <a:miter lim="800000"/>
                            <a:headEnd/>
                            <a:tailEnd/>
                          </a14:hiddenLine>
                        </a:ext>
                      </a:extLst>
                    </p:spPr>
                  </p:pic>
                </p:oleObj>
              </mc:Fallback>
            </mc:AlternateContent>
          </a:graphicData>
        </a:graphic>
      </p:graphicFrame>
      <p:graphicFrame>
        <p:nvGraphicFramePr>
          <p:cNvPr id="568332" name="Object 12"/>
          <p:cNvGraphicFramePr>
            <a:graphicFrameLocks noChangeAspect="1"/>
          </p:cNvGraphicFramePr>
          <p:nvPr/>
        </p:nvGraphicFramePr>
        <p:xfrm>
          <a:off x="6515100" y="5791200"/>
          <a:ext cx="1773238" cy="485775"/>
        </p:xfrm>
        <a:graphic>
          <a:graphicData uri="http://schemas.openxmlformats.org/presentationml/2006/ole">
            <mc:AlternateContent xmlns:mc="http://schemas.openxmlformats.org/markup-compatibility/2006">
              <mc:Choice xmlns:v="urn:schemas-microsoft-com:vml" Requires="v">
                <p:oleObj name="公式" r:id="rId5" imgW="876240" imgH="241200" progId="Equation.3">
                  <p:embed/>
                </p:oleObj>
              </mc:Choice>
              <mc:Fallback>
                <p:oleObj name="公式" r:id="rId5" imgW="876240" imgH="241200" progId="Equation.3">
                  <p:embed/>
                  <p:pic>
                    <p:nvPicPr>
                      <p:cNvPr id="56833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5100" y="5791200"/>
                        <a:ext cx="1773238" cy="485775"/>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sp>
        <p:nvSpPr>
          <p:cNvPr id="568333" name="Rectangle 13"/>
          <p:cNvSpPr>
            <a:spLocks noChangeArrowheads="1"/>
          </p:cNvSpPr>
          <p:nvPr/>
        </p:nvSpPr>
        <p:spPr bwMode="auto">
          <a:xfrm>
            <a:off x="4800600" y="5791200"/>
            <a:ext cx="1714500" cy="457200"/>
          </a:xfrm>
          <a:prstGeom prst="rect">
            <a:avLst/>
          </a:prstGeom>
          <a:noFill/>
          <a:ln w="12700">
            <a:noFill/>
            <a:miter lim="800000"/>
            <a:headEnd type="none" w="sm" len="sm"/>
            <a:tailEnd type="none" w="sm" len="sm"/>
          </a:ln>
          <a:effectLst/>
        </p:spPr>
        <p:txBody>
          <a:bodyPr>
            <a:spAutoFit/>
          </a:bodyPr>
          <a:lstStyle/>
          <a:p>
            <a:r>
              <a:rPr kumimoji="1" lang="zh-CN" altLang="en-US" sz="2400">
                <a:solidFill>
                  <a:srgbClr val="0000CC"/>
                </a:solidFill>
              </a:rPr>
              <a:t>碰撞频率：</a:t>
            </a:r>
          </a:p>
        </p:txBody>
      </p:sp>
      <p:graphicFrame>
        <p:nvGraphicFramePr>
          <p:cNvPr id="568334" name="Object 14"/>
          <p:cNvGraphicFramePr>
            <a:graphicFrameLocks noChangeAspect="1"/>
          </p:cNvGraphicFramePr>
          <p:nvPr/>
        </p:nvGraphicFramePr>
        <p:xfrm>
          <a:off x="533400" y="5486400"/>
          <a:ext cx="3032125" cy="841375"/>
        </p:xfrm>
        <a:graphic>
          <a:graphicData uri="http://schemas.openxmlformats.org/presentationml/2006/ole">
            <mc:AlternateContent xmlns:mc="http://schemas.openxmlformats.org/markup-compatibility/2006">
              <mc:Choice xmlns:v="urn:schemas-microsoft-com:vml" Requires="v">
                <p:oleObj name="公式" r:id="rId7" imgW="1511280" imgH="419040" progId="Equation.3">
                  <p:embed/>
                </p:oleObj>
              </mc:Choice>
              <mc:Fallback>
                <p:oleObj name="公式" r:id="rId7" imgW="1511280" imgH="419040" progId="Equation.3">
                  <p:embed/>
                  <p:pic>
                    <p:nvPicPr>
                      <p:cNvPr id="568334"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5486400"/>
                        <a:ext cx="3032125"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8335" name="Rectangle 15"/>
          <p:cNvSpPr>
            <a:spLocks noChangeArrowheads="1"/>
          </p:cNvSpPr>
          <p:nvPr/>
        </p:nvSpPr>
        <p:spPr bwMode="auto">
          <a:xfrm>
            <a:off x="76200" y="2590800"/>
            <a:ext cx="4038600" cy="1828800"/>
          </a:xfrm>
          <a:prstGeom prst="rect">
            <a:avLst/>
          </a:prstGeom>
          <a:noFill/>
          <a:ln w="9525">
            <a:noFill/>
            <a:miter lim="800000"/>
            <a:headEnd/>
            <a:tailEnd/>
          </a:ln>
          <a:effectLst/>
        </p:spPr>
        <p:txBody>
          <a:bodyPr/>
          <a:lstStyle/>
          <a:p>
            <a:pPr marL="342900" indent="-342900">
              <a:spcBef>
                <a:spcPct val="20000"/>
              </a:spcBef>
              <a:buClr>
                <a:schemeClr val="accent1"/>
              </a:buClr>
              <a:buSzPct val="65000"/>
              <a:buFont typeface="Wingdings" pitchFamily="2" charset="2"/>
              <a:buChar char="n"/>
            </a:pPr>
            <a:r>
              <a:rPr lang="zh-CN" altLang="en-US" sz="2600" dirty="0"/>
              <a:t>考虑分子</a:t>
            </a:r>
            <a:r>
              <a:rPr lang="en-US" altLang="zh-CN" sz="2600" dirty="0"/>
              <a:t>A</a:t>
            </a:r>
            <a:r>
              <a:rPr lang="zh-CN" altLang="en-US" sz="2600" dirty="0"/>
              <a:t>与其他分子发生碰撞时，可</a:t>
            </a:r>
            <a:r>
              <a:rPr lang="zh-CN" altLang="en-US" sz="2600" dirty="0">
                <a:solidFill>
                  <a:srgbClr val="FF3300"/>
                </a:solidFill>
              </a:rPr>
              <a:t>假定其他分子不动</a:t>
            </a:r>
            <a:r>
              <a:rPr lang="zh-CN" altLang="en-US" sz="2600" dirty="0"/>
              <a:t>，而分子</a:t>
            </a:r>
            <a:r>
              <a:rPr lang="en-US" altLang="zh-CN" sz="2600" dirty="0"/>
              <a:t>A</a:t>
            </a:r>
            <a:r>
              <a:rPr lang="zh-CN" altLang="en-US" sz="2600" dirty="0"/>
              <a:t>以平均相对速率    运动。</a:t>
            </a:r>
          </a:p>
        </p:txBody>
      </p:sp>
      <p:graphicFrame>
        <p:nvGraphicFramePr>
          <p:cNvPr id="568336" name="Object 16"/>
          <p:cNvGraphicFramePr>
            <a:graphicFrameLocks noChangeAspect="1"/>
          </p:cNvGraphicFramePr>
          <p:nvPr/>
        </p:nvGraphicFramePr>
        <p:xfrm>
          <a:off x="2870200" y="3886200"/>
          <a:ext cx="280988" cy="331788"/>
        </p:xfrm>
        <a:graphic>
          <a:graphicData uri="http://schemas.openxmlformats.org/presentationml/2006/ole">
            <mc:AlternateContent xmlns:mc="http://schemas.openxmlformats.org/markup-compatibility/2006">
              <mc:Choice xmlns:v="urn:schemas-microsoft-com:vml" Requires="v">
                <p:oleObj name="公式" r:id="rId9" imgW="139680" imgH="164880" progId="Equation.3">
                  <p:embed/>
                </p:oleObj>
              </mc:Choice>
              <mc:Fallback>
                <p:oleObj name="公式" r:id="rId9" imgW="139680" imgH="164880" progId="Equation.3">
                  <p:embed/>
                  <p:pic>
                    <p:nvPicPr>
                      <p:cNvPr id="568336"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70200" y="3886200"/>
                        <a:ext cx="280988"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8337" name="Rectangle 17"/>
          <p:cNvSpPr>
            <a:spLocks noChangeArrowheads="1"/>
          </p:cNvSpPr>
          <p:nvPr/>
        </p:nvSpPr>
        <p:spPr bwMode="auto">
          <a:xfrm>
            <a:off x="76200" y="4267200"/>
            <a:ext cx="4038600" cy="1371600"/>
          </a:xfrm>
          <a:prstGeom prst="rect">
            <a:avLst/>
          </a:prstGeom>
          <a:noFill/>
          <a:ln w="9525">
            <a:noFill/>
            <a:miter lim="800000"/>
            <a:headEnd/>
            <a:tailEnd/>
          </a:ln>
          <a:effectLst/>
        </p:spPr>
        <p:txBody>
          <a:bodyPr/>
          <a:lstStyle/>
          <a:p>
            <a:pPr marL="342900" indent="-342900">
              <a:spcBef>
                <a:spcPct val="20000"/>
              </a:spcBef>
              <a:buClr>
                <a:schemeClr val="accent1"/>
              </a:buClr>
              <a:buSzPct val="65000"/>
              <a:buFont typeface="Wingdings" pitchFamily="2" charset="2"/>
              <a:buChar char="n"/>
            </a:pPr>
            <a:r>
              <a:rPr lang="zh-CN" altLang="en-US" sz="2600" dirty="0"/>
              <a:t>假定分子的有效直径为</a:t>
            </a:r>
            <a:r>
              <a:rPr lang="en-US" altLang="zh-CN" sz="2600" i="1" dirty="0"/>
              <a:t>d</a:t>
            </a:r>
            <a:r>
              <a:rPr lang="zh-CN" altLang="en-US" sz="2600" dirty="0"/>
              <a:t>，即两分子的中心距小于或等于</a:t>
            </a:r>
            <a:r>
              <a:rPr lang="en-US" altLang="zh-CN" sz="2600" i="1" dirty="0"/>
              <a:t>d</a:t>
            </a:r>
            <a:r>
              <a:rPr lang="zh-CN" altLang="en-US" sz="2600" dirty="0"/>
              <a:t>时发生碰撞。</a:t>
            </a:r>
          </a:p>
        </p:txBody>
      </p:sp>
    </p:spTree>
    <p:controls>
      <mc:AlternateContent xmlns:mc="http://schemas.openxmlformats.org/markup-compatibility/2006">
        <mc:Choice xmlns:v="urn:schemas-microsoft-com:vml" Requires="v">
          <p:control r:id="rId1" imgW="4877481" imgH="3106406"/>
        </mc:Choice>
        <mc:Fallback>
          <p:control r:id="rId1" imgW="4877481" imgH="3106406">
            <p:pic>
              <p:nvPicPr>
                <p:cNvPr id="2" name="ShockwaveFlash1"/>
                <p:cNvPicPr preferRelativeResize="0">
                  <a:picLocks noChangeArrowheads="1" noChangeShapeType="1"/>
                </p:cNvPicPr>
                <p:nvPr/>
              </p:nvPicPr>
              <p:blipFill>
                <a:blip r:embed="rId11">
                  <a:extLst>
                    <a:ext uri="{28A0092B-C50C-407E-A947-70E740481C1C}">
                      <a14:useLocalDpi xmlns:a14="http://schemas.microsoft.com/office/drawing/2010/main" val="0"/>
                    </a:ext>
                  </a:extLst>
                </a:blip>
                <a:srcRect/>
                <a:stretch>
                  <a:fillRect/>
                </a:stretch>
              </p:blipFill>
              <p:spPr bwMode="auto">
                <a:xfrm>
                  <a:off x="4114800" y="2362200"/>
                  <a:ext cx="4876800" cy="3106738"/>
                </a:xfrm>
                <a:prstGeom prst="rect">
                  <a:avLst/>
                </a:prstGeom>
                <a:noFill/>
                <a:ln w="19050">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8335"/>
                                        </p:tgtEl>
                                        <p:attrNameLst>
                                          <p:attrName>style.visibility</p:attrName>
                                        </p:attrNameLst>
                                      </p:cBhvr>
                                      <p:to>
                                        <p:strVal val="visible"/>
                                      </p:to>
                                    </p:set>
                                    <p:animEffect transition="in" filter="wipe(left)">
                                      <p:cBhvr>
                                        <p:cTn id="7" dur="500"/>
                                        <p:tgtEl>
                                          <p:spTgt spid="568335"/>
                                        </p:tgtEl>
                                      </p:cBhvr>
                                    </p:animEffect>
                                  </p:childTnLst>
                                </p:cTn>
                              </p:par>
                              <p:par>
                                <p:cTn id="8" presetID="22" presetClass="entr" presetSubtype="8" fill="hold" nodeType="withEffect">
                                  <p:stCondLst>
                                    <p:cond delay="0"/>
                                  </p:stCondLst>
                                  <p:childTnLst>
                                    <p:set>
                                      <p:cBhvr>
                                        <p:cTn id="9" dur="1" fill="hold">
                                          <p:stCondLst>
                                            <p:cond delay="0"/>
                                          </p:stCondLst>
                                        </p:cTn>
                                        <p:tgtEl>
                                          <p:spTgt spid="568336"/>
                                        </p:tgtEl>
                                        <p:attrNameLst>
                                          <p:attrName>style.visibility</p:attrName>
                                        </p:attrNameLst>
                                      </p:cBhvr>
                                      <p:to>
                                        <p:strVal val="visible"/>
                                      </p:to>
                                    </p:set>
                                    <p:animEffect transition="in" filter="wipe(left)">
                                      <p:cBhvr>
                                        <p:cTn id="10" dur="500"/>
                                        <p:tgtEl>
                                          <p:spTgt spid="56833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568337"/>
                                        </p:tgtEl>
                                        <p:attrNameLst>
                                          <p:attrName>style.visibility</p:attrName>
                                        </p:attrNameLst>
                                      </p:cBhvr>
                                      <p:to>
                                        <p:strVal val="visible"/>
                                      </p:to>
                                    </p:set>
                                    <p:animEffect transition="in" filter="wipe(right)">
                                      <p:cBhvr>
                                        <p:cTn id="15" dur="500"/>
                                        <p:tgtEl>
                                          <p:spTgt spid="568337"/>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568334"/>
                                        </p:tgtEl>
                                        <p:attrNameLst>
                                          <p:attrName>style.visibility</p:attrName>
                                        </p:attrNameLst>
                                      </p:cBhvr>
                                      <p:to>
                                        <p:strVal val="visible"/>
                                      </p:to>
                                    </p:set>
                                    <p:anim calcmode="lin" valueType="num">
                                      <p:cBhvr additive="base">
                                        <p:cTn id="20" dur="500" fill="hold"/>
                                        <p:tgtEl>
                                          <p:spTgt spid="568334"/>
                                        </p:tgtEl>
                                        <p:attrNameLst>
                                          <p:attrName>ppt_x</p:attrName>
                                        </p:attrNameLst>
                                      </p:cBhvr>
                                      <p:tavLst>
                                        <p:tav tm="0">
                                          <p:val>
                                            <p:strVal val="0-#ppt_w/2"/>
                                          </p:val>
                                        </p:tav>
                                        <p:tav tm="100000">
                                          <p:val>
                                            <p:strVal val="#ppt_x"/>
                                          </p:val>
                                        </p:tav>
                                      </p:tavLst>
                                    </p:anim>
                                    <p:anim calcmode="lin" valueType="num">
                                      <p:cBhvr additive="base">
                                        <p:cTn id="21" dur="500" fill="hold"/>
                                        <p:tgtEl>
                                          <p:spTgt spid="568334"/>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568333"/>
                                        </p:tgtEl>
                                        <p:attrNameLst>
                                          <p:attrName>style.visibility</p:attrName>
                                        </p:attrNameLst>
                                      </p:cBhvr>
                                      <p:to>
                                        <p:strVal val="visible"/>
                                      </p:to>
                                    </p:set>
                                    <p:anim calcmode="lin" valueType="num">
                                      <p:cBhvr additive="base">
                                        <p:cTn id="26" dur="500" fill="hold"/>
                                        <p:tgtEl>
                                          <p:spTgt spid="568333"/>
                                        </p:tgtEl>
                                        <p:attrNameLst>
                                          <p:attrName>ppt_x</p:attrName>
                                        </p:attrNameLst>
                                      </p:cBhvr>
                                      <p:tavLst>
                                        <p:tav tm="0">
                                          <p:val>
                                            <p:strVal val="0-#ppt_w/2"/>
                                          </p:val>
                                        </p:tav>
                                        <p:tav tm="100000">
                                          <p:val>
                                            <p:strVal val="#ppt_x"/>
                                          </p:val>
                                        </p:tav>
                                      </p:tavLst>
                                    </p:anim>
                                    <p:anim calcmode="lin" valueType="num">
                                      <p:cBhvr additive="base">
                                        <p:cTn id="27" dur="500" fill="hold"/>
                                        <p:tgtEl>
                                          <p:spTgt spid="56833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568332"/>
                                        </p:tgtEl>
                                        <p:attrNameLst>
                                          <p:attrName>style.visibility</p:attrName>
                                        </p:attrNameLst>
                                      </p:cBhvr>
                                      <p:to>
                                        <p:strVal val="visible"/>
                                      </p:to>
                                    </p:set>
                                    <p:animEffect transition="in" filter="strips(downRight)">
                                      <p:cBhvr>
                                        <p:cTn id="32" dur="500"/>
                                        <p:tgtEl>
                                          <p:spTgt spid="568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33" grpId="0" autoUpdateAnimBg="0"/>
      <p:bldP spid="568335" grpId="0"/>
      <p:bldP spid="56833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r>
              <a:rPr lang="en-US" altLang="zh-CN" sz="3600"/>
              <a:t>10.6 </a:t>
            </a:r>
            <a:r>
              <a:rPr lang="zh-CN" altLang="en-US" sz="3600"/>
              <a:t>气体分子的平均自由程和碰撞频率</a:t>
            </a:r>
          </a:p>
        </p:txBody>
      </p:sp>
      <p:sp>
        <p:nvSpPr>
          <p:cNvPr id="15" name="灯片编号占位符 4"/>
          <p:cNvSpPr>
            <a:spLocks noGrp="1"/>
          </p:cNvSpPr>
          <p:nvPr>
            <p:ph type="sldNum" sz="quarter" idx="12"/>
          </p:nvPr>
        </p:nvSpPr>
        <p:spPr/>
        <p:txBody>
          <a:bodyPr/>
          <a:lstStyle/>
          <a:p>
            <a:fld id="{B3C23A10-6762-4BCB-917E-D4471FC6AA6E}" type="slidenum">
              <a:rPr lang="en-US" altLang="zh-CN"/>
              <a:pPr/>
              <a:t>68</a:t>
            </a:fld>
            <a:endParaRPr lang="en-US" altLang="zh-CN"/>
          </a:p>
        </p:txBody>
      </p:sp>
      <p:sp>
        <p:nvSpPr>
          <p:cNvPr id="580611" name="Rectangle 3"/>
          <p:cNvSpPr>
            <a:spLocks noChangeArrowheads="1"/>
          </p:cNvSpPr>
          <p:nvPr/>
        </p:nvSpPr>
        <p:spPr bwMode="auto">
          <a:xfrm>
            <a:off x="501650" y="1219200"/>
            <a:ext cx="1708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t>平均自由程</a:t>
            </a:r>
          </a:p>
        </p:txBody>
      </p:sp>
      <p:sp>
        <p:nvSpPr>
          <p:cNvPr id="580613" name="Rectangle 5"/>
          <p:cNvSpPr>
            <a:spLocks noChangeArrowheads="1"/>
          </p:cNvSpPr>
          <p:nvPr/>
        </p:nvSpPr>
        <p:spPr bwMode="auto">
          <a:xfrm>
            <a:off x="533400" y="1670050"/>
            <a:ext cx="8305800" cy="1073150"/>
          </a:xfrm>
          <a:prstGeom prst="rect">
            <a:avLst/>
          </a:prstGeom>
          <a:noFill/>
          <a:ln w="12700">
            <a:noFill/>
            <a:miter lim="800000"/>
            <a:headEnd type="none" w="sm" len="sm"/>
            <a:tailEnd type="none" w="sm" len="sm"/>
          </a:ln>
          <a:effectLst/>
        </p:spPr>
        <p:txBody>
          <a:bodyPr>
            <a:spAutoFit/>
          </a:bodyPr>
          <a:lstStyle/>
          <a:p>
            <a:pPr>
              <a:lnSpc>
                <a:spcPct val="115000"/>
              </a:lnSpc>
            </a:pPr>
            <a:r>
              <a:rPr kumimoji="1" lang="zh-CN" altLang="en-US" sz="2800" dirty="0"/>
              <a:t>平均自由程（  </a:t>
            </a:r>
            <a:r>
              <a:rPr kumimoji="1" lang="zh-CN" altLang="en-US" sz="2800" dirty="0">
                <a:sym typeface="Symbol" pitchFamily="18" charset="2"/>
              </a:rPr>
              <a:t>）</a:t>
            </a:r>
            <a:r>
              <a:rPr kumimoji="1" lang="zh-CN" altLang="en-US" sz="2800" dirty="0"/>
              <a:t>：分子在连续两次和其他分子发生碰撞之间所通过的自由路程的平均值。</a:t>
            </a:r>
          </a:p>
        </p:txBody>
      </p:sp>
      <p:graphicFrame>
        <p:nvGraphicFramePr>
          <p:cNvPr id="580615" name="Object 7"/>
          <p:cNvGraphicFramePr>
            <a:graphicFrameLocks noChangeAspect="1"/>
          </p:cNvGraphicFramePr>
          <p:nvPr/>
        </p:nvGraphicFramePr>
        <p:xfrm>
          <a:off x="2709863" y="1746250"/>
          <a:ext cx="338137" cy="412750"/>
        </p:xfrm>
        <a:graphic>
          <a:graphicData uri="http://schemas.openxmlformats.org/presentationml/2006/ole">
            <mc:AlternateContent xmlns:mc="http://schemas.openxmlformats.org/markup-compatibility/2006">
              <mc:Choice xmlns:v="urn:schemas-microsoft-com:vml" Requires="v">
                <p:oleObj name="公式" r:id="rId2" imgW="164880" imgH="203040" progId="Equation.3">
                  <p:embed/>
                </p:oleObj>
              </mc:Choice>
              <mc:Fallback>
                <p:oleObj name="公式" r:id="rId2" imgW="164880" imgH="203040" progId="Equation.3">
                  <p:embed/>
                  <p:pic>
                    <p:nvPicPr>
                      <p:cNvPr id="58061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9863" y="1746250"/>
                        <a:ext cx="338137" cy="412750"/>
                      </a:xfrm>
                      <a:prstGeom prst="rect">
                        <a:avLst/>
                      </a:prstGeom>
                      <a:noFill/>
                      <a:ln>
                        <a:noFill/>
                      </a:ln>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chemeClr val="tx1"/>
                            </a:solidFill>
                            <a:miter lim="800000"/>
                            <a:headEnd/>
                            <a:tailEnd/>
                          </a14:hiddenLine>
                        </a:ext>
                      </a:extLst>
                    </p:spPr>
                  </p:pic>
                </p:oleObj>
              </mc:Fallback>
            </mc:AlternateContent>
          </a:graphicData>
        </a:graphic>
      </p:graphicFrame>
      <p:graphicFrame>
        <p:nvGraphicFramePr>
          <p:cNvPr id="580616" name="Object 8"/>
          <p:cNvGraphicFramePr>
            <a:graphicFrameLocks noChangeAspect="1"/>
          </p:cNvGraphicFramePr>
          <p:nvPr/>
        </p:nvGraphicFramePr>
        <p:xfrm>
          <a:off x="1676400" y="2908300"/>
          <a:ext cx="841375" cy="787400"/>
        </p:xfrm>
        <a:graphic>
          <a:graphicData uri="http://schemas.openxmlformats.org/presentationml/2006/ole">
            <mc:AlternateContent xmlns:mc="http://schemas.openxmlformats.org/markup-compatibility/2006">
              <mc:Choice xmlns:v="urn:schemas-microsoft-com:vml" Requires="v">
                <p:oleObj name="公式" r:id="rId4" imgW="419040" imgH="393480" progId="Equation.3">
                  <p:embed/>
                </p:oleObj>
              </mc:Choice>
              <mc:Fallback>
                <p:oleObj name="公式" r:id="rId4" imgW="419040" imgH="393480" progId="Equation.3">
                  <p:embed/>
                  <p:pic>
                    <p:nvPicPr>
                      <p:cNvPr id="580616"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2908300"/>
                        <a:ext cx="841375" cy="787400"/>
                      </a:xfrm>
                      <a:prstGeom prst="rect">
                        <a:avLst/>
                      </a:prstGeom>
                      <a:solidFill>
                        <a:srgbClr val="CC99FF">
                          <a:alpha val="50000"/>
                        </a:srgbClr>
                      </a:solidFill>
                      <a:ln w="19050">
                        <a:solidFill>
                          <a:schemeClr val="tx1"/>
                        </a:solidFill>
                        <a:miter lim="800000"/>
                        <a:headEnd/>
                        <a:tailEnd/>
                      </a:ln>
                      <a:effectLst/>
                      <a:extLst>
                        <a:ext uri="{AF507438-7753-43E0-B8FC-AC1667EBCBE1}">
                          <a14:hiddenEffects xmlns:a14="http://schemas.microsoft.com/office/drawing/2010/main">
                            <a:effectLst>
                              <a:outerShdw dist="53882" dir="13500000" algn="ctr" rotWithShape="0">
                                <a:srgbClr val="808080"/>
                              </a:outerShdw>
                            </a:effectLst>
                          </a14:hiddenEffects>
                        </a:ext>
                      </a:extLst>
                    </p:spPr>
                  </p:pic>
                </p:oleObj>
              </mc:Fallback>
            </mc:AlternateContent>
          </a:graphicData>
        </a:graphic>
      </p:graphicFrame>
      <p:graphicFrame>
        <p:nvGraphicFramePr>
          <p:cNvPr id="580617" name="Object 9"/>
          <p:cNvGraphicFramePr>
            <a:graphicFrameLocks noChangeAspect="1"/>
          </p:cNvGraphicFramePr>
          <p:nvPr/>
        </p:nvGraphicFramePr>
        <p:xfrm>
          <a:off x="3810000" y="2872581"/>
          <a:ext cx="1700213" cy="858838"/>
        </p:xfrm>
        <a:graphic>
          <a:graphicData uri="http://schemas.openxmlformats.org/presentationml/2006/ole">
            <mc:AlternateContent xmlns:mc="http://schemas.openxmlformats.org/markup-compatibility/2006">
              <mc:Choice xmlns:v="urn:schemas-microsoft-com:vml" Requires="v">
                <p:oleObj name="公式" r:id="rId6" imgW="850680" imgH="431640" progId="Equation.3">
                  <p:embed/>
                </p:oleObj>
              </mc:Choice>
              <mc:Fallback>
                <p:oleObj name="公式" r:id="rId6" imgW="850680" imgH="431640" progId="Equation.3">
                  <p:embed/>
                  <p:pic>
                    <p:nvPicPr>
                      <p:cNvPr id="580617"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2872581"/>
                        <a:ext cx="1700213" cy="858838"/>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graphicFrame>
        <p:nvGraphicFramePr>
          <p:cNvPr id="580618" name="Object 10"/>
          <p:cNvGraphicFramePr>
            <a:graphicFrameLocks noChangeAspect="1"/>
          </p:cNvGraphicFramePr>
          <p:nvPr/>
        </p:nvGraphicFramePr>
        <p:xfrm>
          <a:off x="987425" y="4169568"/>
          <a:ext cx="1563688" cy="401638"/>
        </p:xfrm>
        <a:graphic>
          <a:graphicData uri="http://schemas.openxmlformats.org/presentationml/2006/ole">
            <mc:AlternateContent xmlns:mc="http://schemas.openxmlformats.org/markup-compatibility/2006">
              <mc:Choice xmlns:v="urn:schemas-microsoft-com:vml" Requires="v">
                <p:oleObj name="公式" r:id="rId8" imgW="787320" imgH="203040" progId="Equation.3">
                  <p:embed/>
                </p:oleObj>
              </mc:Choice>
              <mc:Fallback>
                <p:oleObj name="公式" r:id="rId8" imgW="787320" imgH="203040" progId="Equation.3">
                  <p:embed/>
                  <p:pic>
                    <p:nvPicPr>
                      <p:cNvPr id="580618"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7425" y="4169568"/>
                        <a:ext cx="1563688"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0620" name="Object 12"/>
          <p:cNvGraphicFramePr>
            <a:graphicFrameLocks noChangeAspect="1"/>
          </p:cNvGraphicFramePr>
          <p:nvPr/>
        </p:nvGraphicFramePr>
        <p:xfrm>
          <a:off x="3806825" y="3940175"/>
          <a:ext cx="1755775" cy="860425"/>
        </p:xfrm>
        <a:graphic>
          <a:graphicData uri="http://schemas.openxmlformats.org/presentationml/2006/ole">
            <mc:AlternateContent xmlns:mc="http://schemas.openxmlformats.org/markup-compatibility/2006">
              <mc:Choice xmlns:v="urn:schemas-microsoft-com:vml" Requires="v">
                <p:oleObj name="公式" r:id="rId10" imgW="876240" imgH="431640" progId="Equation.3">
                  <p:embed/>
                </p:oleObj>
              </mc:Choice>
              <mc:Fallback>
                <p:oleObj name="公式" r:id="rId10" imgW="876240" imgH="431640" progId="Equation.3">
                  <p:embed/>
                  <p:pic>
                    <p:nvPicPr>
                      <p:cNvPr id="58062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06825" y="3940175"/>
                        <a:ext cx="1755775" cy="860425"/>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graphicFrame>
        <p:nvGraphicFramePr>
          <p:cNvPr id="580621" name="Object 13"/>
          <p:cNvGraphicFramePr>
            <a:graphicFrameLocks noChangeAspect="1"/>
          </p:cNvGraphicFramePr>
          <p:nvPr/>
        </p:nvGraphicFramePr>
        <p:xfrm>
          <a:off x="3197225" y="4241006"/>
          <a:ext cx="284163" cy="258762"/>
        </p:xfrm>
        <a:graphic>
          <a:graphicData uri="http://schemas.openxmlformats.org/presentationml/2006/ole">
            <mc:AlternateContent xmlns:mc="http://schemas.openxmlformats.org/markup-compatibility/2006">
              <mc:Choice xmlns:v="urn:schemas-microsoft-com:vml" Requires="v">
                <p:oleObj name="公式" r:id="rId12" imgW="139680" imgH="126720" progId="Equation.3">
                  <p:embed/>
                </p:oleObj>
              </mc:Choice>
              <mc:Fallback>
                <p:oleObj name="公式" r:id="rId12" imgW="139680" imgH="126720" progId="Equation.3">
                  <p:embed/>
                  <p:pic>
                    <p:nvPicPr>
                      <p:cNvPr id="580621"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97225" y="4241006"/>
                        <a:ext cx="284163" cy="258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0622" name="Text Box 14"/>
          <p:cNvSpPr txBox="1">
            <a:spLocks noChangeArrowheads="1"/>
          </p:cNvSpPr>
          <p:nvPr/>
        </p:nvSpPr>
        <p:spPr bwMode="auto">
          <a:xfrm>
            <a:off x="457200" y="4916488"/>
            <a:ext cx="8459788" cy="493712"/>
          </a:xfrm>
          <a:prstGeom prst="rect">
            <a:avLst/>
          </a:prstGeom>
          <a:noFill/>
          <a:ln w="12700">
            <a:noFill/>
            <a:miter lim="800000"/>
            <a:headEnd type="none" w="sm" len="sm"/>
            <a:tailEnd type="none" w="sm" len="sm"/>
          </a:ln>
          <a:effectLst/>
        </p:spPr>
        <p:txBody>
          <a:bodyPr>
            <a:spAutoFit/>
          </a:bodyPr>
          <a:lstStyle/>
          <a:p>
            <a:pPr>
              <a:lnSpc>
                <a:spcPct val="110000"/>
              </a:lnSpc>
              <a:spcBef>
                <a:spcPct val="20000"/>
              </a:spcBef>
              <a:buClr>
                <a:schemeClr val="folHlink"/>
              </a:buClr>
              <a:buFont typeface="Wingdings" pitchFamily="2" charset="2"/>
              <a:buChar char="n"/>
            </a:pPr>
            <a:r>
              <a:rPr kumimoji="1" lang="en-US" altLang="zh-CN" sz="2400" dirty="0"/>
              <a:t> </a:t>
            </a:r>
            <a:r>
              <a:rPr kumimoji="1" lang="zh-CN" altLang="en-US" sz="2400" dirty="0"/>
              <a:t>平均自由程只与分子的直径和密度有关，而与平均速率无关。</a:t>
            </a:r>
          </a:p>
        </p:txBody>
      </p:sp>
      <p:sp>
        <p:nvSpPr>
          <p:cNvPr id="580623" name="Rectangle 15"/>
          <p:cNvSpPr>
            <a:spLocks noChangeArrowheads="1"/>
          </p:cNvSpPr>
          <p:nvPr/>
        </p:nvSpPr>
        <p:spPr bwMode="auto">
          <a:xfrm>
            <a:off x="457200" y="5486400"/>
            <a:ext cx="8458200" cy="895350"/>
          </a:xfrm>
          <a:prstGeom prst="rect">
            <a:avLst/>
          </a:prstGeom>
          <a:noFill/>
          <a:ln w="12700" algn="ctr">
            <a:noFill/>
            <a:miter lim="800000"/>
            <a:headEnd type="none" w="sm" len="sm"/>
            <a:tailEnd type="none" w="sm" len="sm"/>
          </a:ln>
          <a:effectLst/>
        </p:spPr>
        <p:txBody>
          <a:bodyPr>
            <a:spAutoFit/>
          </a:bodyPr>
          <a:lstStyle/>
          <a:p>
            <a:pPr>
              <a:lnSpc>
                <a:spcPct val="110000"/>
              </a:lnSpc>
              <a:spcBef>
                <a:spcPct val="20000"/>
              </a:spcBef>
              <a:buClr>
                <a:schemeClr val="folHlink"/>
              </a:buClr>
              <a:buFont typeface="Wingdings" pitchFamily="2" charset="2"/>
              <a:buChar char="n"/>
            </a:pPr>
            <a:r>
              <a:rPr kumimoji="1" lang="en-US" altLang="zh-CN" sz="2400" dirty="0"/>
              <a:t> </a:t>
            </a:r>
            <a:r>
              <a:rPr kumimoji="1" lang="zh-CN" altLang="en-US" sz="2400" dirty="0"/>
              <a:t>当温度一定时，平均自由程与压强成反比，压强越小，平均自由程越长。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580616"/>
                                        </p:tgtEl>
                                        <p:attrNameLst>
                                          <p:attrName>style.visibility</p:attrName>
                                        </p:attrNameLst>
                                      </p:cBhvr>
                                      <p:to>
                                        <p:strVal val="visible"/>
                                      </p:to>
                                    </p:set>
                                    <p:animEffect transition="in" filter="strips(upRight)">
                                      <p:cBhvr>
                                        <p:cTn id="7" dur="500"/>
                                        <p:tgtEl>
                                          <p:spTgt spid="58061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80617"/>
                                        </p:tgtEl>
                                        <p:attrNameLst>
                                          <p:attrName>style.visibility</p:attrName>
                                        </p:attrNameLst>
                                      </p:cBhvr>
                                      <p:to>
                                        <p:strVal val="visible"/>
                                      </p:to>
                                    </p:set>
                                    <p:animEffect transition="in" filter="strips(upRight)">
                                      <p:cBhvr>
                                        <p:cTn id="12" dur="500"/>
                                        <p:tgtEl>
                                          <p:spTgt spid="58061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580618"/>
                                        </p:tgtEl>
                                        <p:attrNameLst>
                                          <p:attrName>style.visibility</p:attrName>
                                        </p:attrNameLst>
                                      </p:cBhvr>
                                      <p:to>
                                        <p:strVal val="visible"/>
                                      </p:to>
                                    </p:set>
                                    <p:animEffect transition="in" filter="strips(upRight)">
                                      <p:cBhvr>
                                        <p:cTn id="17" dur="500"/>
                                        <p:tgtEl>
                                          <p:spTgt spid="5806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80620"/>
                                        </p:tgtEl>
                                        <p:attrNameLst>
                                          <p:attrName>style.visibility</p:attrName>
                                        </p:attrNameLst>
                                      </p:cBhvr>
                                      <p:to>
                                        <p:strVal val="visible"/>
                                      </p:to>
                                    </p:set>
                                    <p:animEffect transition="in" filter="wipe(left)">
                                      <p:cBhvr>
                                        <p:cTn id="22" dur="1000"/>
                                        <p:tgtEl>
                                          <p:spTgt spid="580620"/>
                                        </p:tgtEl>
                                      </p:cBhvr>
                                    </p:animEffect>
                                  </p:childTnLst>
                                </p:cTn>
                              </p:par>
                              <p:par>
                                <p:cTn id="23" presetID="22" presetClass="entr" presetSubtype="8" fill="hold" nodeType="withEffect">
                                  <p:stCondLst>
                                    <p:cond delay="0"/>
                                  </p:stCondLst>
                                  <p:childTnLst>
                                    <p:set>
                                      <p:cBhvr>
                                        <p:cTn id="24" dur="1" fill="hold">
                                          <p:stCondLst>
                                            <p:cond delay="0"/>
                                          </p:stCondLst>
                                        </p:cTn>
                                        <p:tgtEl>
                                          <p:spTgt spid="580621"/>
                                        </p:tgtEl>
                                        <p:attrNameLst>
                                          <p:attrName>style.visibility</p:attrName>
                                        </p:attrNameLst>
                                      </p:cBhvr>
                                      <p:to>
                                        <p:strVal val="visible"/>
                                      </p:to>
                                    </p:set>
                                    <p:animEffect transition="in" filter="wipe(left)">
                                      <p:cBhvr>
                                        <p:cTn id="25" dur="1000"/>
                                        <p:tgtEl>
                                          <p:spTgt spid="580621"/>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3" fill="hold" grpId="0" nodeType="clickEffect">
                                  <p:stCondLst>
                                    <p:cond delay="0"/>
                                  </p:stCondLst>
                                  <p:childTnLst>
                                    <p:set>
                                      <p:cBhvr>
                                        <p:cTn id="29" dur="1" fill="hold">
                                          <p:stCondLst>
                                            <p:cond delay="0"/>
                                          </p:stCondLst>
                                        </p:cTn>
                                        <p:tgtEl>
                                          <p:spTgt spid="580622"/>
                                        </p:tgtEl>
                                        <p:attrNameLst>
                                          <p:attrName>style.visibility</p:attrName>
                                        </p:attrNameLst>
                                      </p:cBhvr>
                                      <p:to>
                                        <p:strVal val="visible"/>
                                      </p:to>
                                    </p:set>
                                    <p:animEffect transition="in" filter="strips(upRight)">
                                      <p:cBhvr>
                                        <p:cTn id="30" dur="500"/>
                                        <p:tgtEl>
                                          <p:spTgt spid="580622"/>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3" fill="hold" grpId="0" nodeType="clickEffect">
                                  <p:stCondLst>
                                    <p:cond delay="0"/>
                                  </p:stCondLst>
                                  <p:childTnLst>
                                    <p:set>
                                      <p:cBhvr>
                                        <p:cTn id="34" dur="1" fill="hold">
                                          <p:stCondLst>
                                            <p:cond delay="0"/>
                                          </p:stCondLst>
                                        </p:cTn>
                                        <p:tgtEl>
                                          <p:spTgt spid="580623"/>
                                        </p:tgtEl>
                                        <p:attrNameLst>
                                          <p:attrName>style.visibility</p:attrName>
                                        </p:attrNameLst>
                                      </p:cBhvr>
                                      <p:to>
                                        <p:strVal val="visible"/>
                                      </p:to>
                                    </p:set>
                                    <p:animEffect transition="in" filter="strips(upRight)">
                                      <p:cBhvr>
                                        <p:cTn id="35" dur="500"/>
                                        <p:tgtEl>
                                          <p:spTgt spid="580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22" grpId="0" autoUpdateAnimBg="0"/>
      <p:bldP spid="580623"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p:txBody>
          <a:bodyPr/>
          <a:lstStyle/>
          <a:p>
            <a:r>
              <a:rPr lang="en-US" altLang="zh-CN" sz="3600"/>
              <a:t>10.6 </a:t>
            </a:r>
            <a:r>
              <a:rPr lang="zh-CN" altLang="en-US" sz="3600"/>
              <a:t>气体分子的平均自由程和碰撞频率</a:t>
            </a:r>
          </a:p>
        </p:txBody>
      </p:sp>
      <p:sp>
        <p:nvSpPr>
          <p:cNvPr id="13" name="灯片编号占位符 4"/>
          <p:cNvSpPr>
            <a:spLocks noGrp="1"/>
          </p:cNvSpPr>
          <p:nvPr>
            <p:ph type="sldNum" sz="quarter" idx="12"/>
          </p:nvPr>
        </p:nvSpPr>
        <p:spPr/>
        <p:txBody>
          <a:bodyPr/>
          <a:lstStyle/>
          <a:p>
            <a:fld id="{9CE68308-653D-46AF-81B9-3365DF3CA53B}" type="slidenum">
              <a:rPr lang="en-US" altLang="zh-CN"/>
              <a:pPr/>
              <a:t>69</a:t>
            </a:fld>
            <a:endParaRPr lang="en-US" altLang="zh-CN"/>
          </a:p>
        </p:txBody>
      </p:sp>
      <p:sp>
        <p:nvSpPr>
          <p:cNvPr id="578568" name="Text Box 8"/>
          <p:cNvSpPr txBox="1">
            <a:spLocks noChangeArrowheads="1"/>
          </p:cNvSpPr>
          <p:nvPr/>
        </p:nvSpPr>
        <p:spPr bwMode="auto">
          <a:xfrm>
            <a:off x="381000" y="1168400"/>
            <a:ext cx="8458200" cy="1117600"/>
          </a:xfrm>
          <a:prstGeom prst="rect">
            <a:avLst/>
          </a:prstGeom>
          <a:noFill/>
          <a:ln w="12700">
            <a:noFill/>
            <a:miter lim="800000"/>
            <a:headEnd type="none" w="sm" len="sm"/>
            <a:tailEnd type="none" w="sm" len="sm"/>
          </a:ln>
          <a:effectLst/>
        </p:spPr>
        <p:txBody>
          <a:bodyPr>
            <a:spAutoFit/>
          </a:bodyPr>
          <a:lstStyle/>
          <a:p>
            <a:pPr>
              <a:lnSpc>
                <a:spcPct val="120000"/>
              </a:lnSpc>
              <a:spcBef>
                <a:spcPct val="50000"/>
              </a:spcBef>
            </a:pPr>
            <a:r>
              <a:rPr kumimoji="1" lang="zh-CN" altLang="en-US" sz="2800" dirty="0"/>
              <a:t>例</a:t>
            </a:r>
            <a:r>
              <a:rPr kumimoji="1" lang="en-US" altLang="zh-CN" sz="2800" dirty="0"/>
              <a:t>10.9   </a:t>
            </a:r>
            <a:r>
              <a:rPr kumimoji="1" lang="zh-CN" altLang="en-US" sz="2800" dirty="0"/>
              <a:t>求氢在标准状态下一秒内分子的平均碰撞次数。（已知分子直径</a:t>
            </a:r>
            <a:r>
              <a:rPr kumimoji="1" lang="en-US" altLang="zh-CN" sz="2800" i="1" dirty="0"/>
              <a:t>d</a:t>
            </a:r>
            <a:r>
              <a:rPr kumimoji="1" lang="en-US" altLang="zh-CN" sz="2800" dirty="0"/>
              <a:t> = 2</a:t>
            </a:r>
            <a:r>
              <a:rPr kumimoji="1" lang="en-US" altLang="zh-CN" sz="2800" dirty="0">
                <a:sym typeface="Symbol" pitchFamily="18" charset="2"/>
              </a:rPr>
              <a:t>10</a:t>
            </a:r>
            <a:r>
              <a:rPr kumimoji="1" lang="en-US" altLang="zh-CN" sz="2800" baseline="30000" dirty="0">
                <a:sym typeface="Symbol" pitchFamily="18" charset="2"/>
              </a:rPr>
              <a:t>-10</a:t>
            </a:r>
            <a:r>
              <a:rPr kumimoji="1" lang="en-US" altLang="zh-CN" sz="2800" dirty="0">
                <a:sym typeface="Symbol" pitchFamily="18" charset="2"/>
              </a:rPr>
              <a:t>m )</a:t>
            </a:r>
            <a:endParaRPr kumimoji="1" lang="en-US" altLang="zh-CN" sz="2800" dirty="0"/>
          </a:p>
        </p:txBody>
      </p:sp>
      <p:sp>
        <p:nvSpPr>
          <p:cNvPr id="578569" name="Rectangle 9"/>
          <p:cNvSpPr>
            <a:spLocks noChangeArrowheads="1"/>
          </p:cNvSpPr>
          <p:nvPr/>
        </p:nvSpPr>
        <p:spPr bwMode="auto">
          <a:xfrm>
            <a:off x="395288" y="2452688"/>
            <a:ext cx="895350" cy="519112"/>
          </a:xfrm>
          <a:prstGeom prst="rect">
            <a:avLst/>
          </a:prstGeom>
          <a:noFill/>
          <a:ln w="12700">
            <a:noFill/>
            <a:miter lim="800000"/>
            <a:headEnd type="none" w="sm" len="sm"/>
            <a:tailEnd type="none" w="sm" len="sm"/>
          </a:ln>
          <a:effectLst/>
        </p:spPr>
        <p:txBody>
          <a:bodyPr wrap="none">
            <a:spAutoFit/>
          </a:bodyPr>
          <a:lstStyle/>
          <a:p>
            <a:r>
              <a:rPr kumimoji="1" lang="zh-CN" altLang="en-US" sz="2800" dirty="0"/>
              <a:t>解：</a:t>
            </a:r>
          </a:p>
        </p:txBody>
      </p:sp>
      <p:graphicFrame>
        <p:nvGraphicFramePr>
          <p:cNvPr id="578570" name="Object 10"/>
          <p:cNvGraphicFramePr>
            <a:graphicFrameLocks noChangeAspect="1"/>
          </p:cNvGraphicFramePr>
          <p:nvPr/>
        </p:nvGraphicFramePr>
        <p:xfrm>
          <a:off x="1447800" y="2465387"/>
          <a:ext cx="1397000" cy="887413"/>
        </p:xfrm>
        <a:graphic>
          <a:graphicData uri="http://schemas.openxmlformats.org/presentationml/2006/ole">
            <mc:AlternateContent xmlns:mc="http://schemas.openxmlformats.org/markup-compatibility/2006">
              <mc:Choice xmlns:v="urn:schemas-microsoft-com:vml" Requires="v">
                <p:oleObj name="公式" r:id="rId2" imgW="698400" imgH="444240" progId="Equation.3">
                  <p:embed/>
                </p:oleObj>
              </mc:Choice>
              <mc:Fallback>
                <p:oleObj name="公式" r:id="rId2" imgW="698400" imgH="444240" progId="Equation.3">
                  <p:embed/>
                  <p:pic>
                    <p:nvPicPr>
                      <p:cNvPr id="57857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465387"/>
                        <a:ext cx="1397000" cy="887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8571" name="Object 11"/>
          <p:cNvGraphicFramePr>
            <a:graphicFrameLocks noChangeAspect="1"/>
          </p:cNvGraphicFramePr>
          <p:nvPr/>
        </p:nvGraphicFramePr>
        <p:xfrm>
          <a:off x="2820988" y="2465387"/>
          <a:ext cx="5484812" cy="887413"/>
        </p:xfrm>
        <a:graphic>
          <a:graphicData uri="http://schemas.openxmlformats.org/presentationml/2006/ole">
            <mc:AlternateContent xmlns:mc="http://schemas.openxmlformats.org/markup-compatibility/2006">
              <mc:Choice xmlns:v="urn:schemas-microsoft-com:vml" Requires="v">
                <p:oleObj name="公式" r:id="rId4" imgW="2743200" imgH="444240" progId="Equation.3">
                  <p:embed/>
                </p:oleObj>
              </mc:Choice>
              <mc:Fallback>
                <p:oleObj name="公式" r:id="rId4" imgW="2743200" imgH="444240" progId="Equation.3">
                  <p:embed/>
                  <p:pic>
                    <p:nvPicPr>
                      <p:cNvPr id="578571"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988" y="2465387"/>
                        <a:ext cx="5484812" cy="887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8572" name="Object 12"/>
          <p:cNvGraphicFramePr>
            <a:graphicFrameLocks noChangeAspect="1"/>
          </p:cNvGraphicFramePr>
          <p:nvPr/>
        </p:nvGraphicFramePr>
        <p:xfrm>
          <a:off x="1447800" y="3505200"/>
          <a:ext cx="6196013" cy="838200"/>
        </p:xfrm>
        <a:graphic>
          <a:graphicData uri="http://schemas.openxmlformats.org/presentationml/2006/ole">
            <mc:AlternateContent xmlns:mc="http://schemas.openxmlformats.org/markup-compatibility/2006">
              <mc:Choice xmlns:v="urn:schemas-microsoft-com:vml" Requires="v">
                <p:oleObj name="公式" r:id="rId6" imgW="3098520" imgH="419040" progId="Equation.3">
                  <p:embed/>
                </p:oleObj>
              </mc:Choice>
              <mc:Fallback>
                <p:oleObj name="公式" r:id="rId6" imgW="3098520" imgH="419040" progId="Equation.3">
                  <p:embed/>
                  <p:pic>
                    <p:nvPicPr>
                      <p:cNvPr id="578572"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3505200"/>
                        <a:ext cx="619601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8573" name="Object 13"/>
          <p:cNvGraphicFramePr>
            <a:graphicFrameLocks noChangeAspect="1"/>
          </p:cNvGraphicFramePr>
          <p:nvPr/>
        </p:nvGraphicFramePr>
        <p:xfrm>
          <a:off x="1447800" y="4495800"/>
          <a:ext cx="3529013" cy="863600"/>
        </p:xfrm>
        <a:graphic>
          <a:graphicData uri="http://schemas.openxmlformats.org/presentationml/2006/ole">
            <mc:AlternateContent xmlns:mc="http://schemas.openxmlformats.org/markup-compatibility/2006">
              <mc:Choice xmlns:v="urn:schemas-microsoft-com:vml" Requires="v">
                <p:oleObj name="公式" r:id="rId8" imgW="1765080" imgH="431640" progId="Equation.3">
                  <p:embed/>
                </p:oleObj>
              </mc:Choice>
              <mc:Fallback>
                <p:oleObj name="公式" r:id="rId8" imgW="1765080" imgH="431640" progId="Equation.3">
                  <p:embed/>
                  <p:pic>
                    <p:nvPicPr>
                      <p:cNvPr id="578573"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7800" y="4495800"/>
                        <a:ext cx="3529013"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8574" name="Object 14"/>
          <p:cNvGraphicFramePr>
            <a:graphicFrameLocks noChangeAspect="1"/>
          </p:cNvGraphicFramePr>
          <p:nvPr/>
        </p:nvGraphicFramePr>
        <p:xfrm>
          <a:off x="1449388" y="5486400"/>
          <a:ext cx="2589212" cy="787400"/>
        </p:xfrm>
        <a:graphic>
          <a:graphicData uri="http://schemas.openxmlformats.org/presentationml/2006/ole">
            <mc:AlternateContent xmlns:mc="http://schemas.openxmlformats.org/markup-compatibility/2006">
              <mc:Choice xmlns:v="urn:schemas-microsoft-com:vml" Requires="v">
                <p:oleObj name="公式" r:id="rId10" imgW="1295280" imgH="393480" progId="Equation.3">
                  <p:embed/>
                </p:oleObj>
              </mc:Choice>
              <mc:Fallback>
                <p:oleObj name="公式" r:id="rId10" imgW="1295280" imgH="393480" progId="Equation.3">
                  <p:embed/>
                  <p:pic>
                    <p:nvPicPr>
                      <p:cNvPr id="578574"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9388" y="5486400"/>
                        <a:ext cx="2589212"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8575" name="Text Box 15"/>
          <p:cNvSpPr txBox="1">
            <a:spLocks noChangeArrowheads="1"/>
          </p:cNvSpPr>
          <p:nvPr/>
        </p:nvSpPr>
        <p:spPr bwMode="auto">
          <a:xfrm>
            <a:off x="4495800" y="5620544"/>
            <a:ext cx="2590800" cy="519112"/>
          </a:xfrm>
          <a:prstGeom prst="rect">
            <a:avLst/>
          </a:prstGeom>
          <a:noFill/>
          <a:ln w="12700">
            <a:noFill/>
            <a:miter lim="800000"/>
            <a:headEnd type="none" w="sm" len="sm"/>
            <a:tailEnd type="none" w="sm" len="sm"/>
          </a:ln>
          <a:effectLst/>
        </p:spPr>
        <p:txBody>
          <a:bodyPr>
            <a:spAutoFit/>
          </a:bodyPr>
          <a:lstStyle/>
          <a:p>
            <a:pPr>
              <a:spcBef>
                <a:spcPct val="50000"/>
              </a:spcBef>
            </a:pPr>
            <a:r>
              <a:rPr kumimoji="1" lang="zh-CN" altLang="en-US" sz="2800"/>
              <a:t>（约</a:t>
            </a:r>
            <a:r>
              <a:rPr kumimoji="1" lang="en-US" altLang="zh-CN" sz="2800"/>
              <a:t>80</a:t>
            </a:r>
            <a:r>
              <a:rPr kumimoji="1" lang="zh-CN" altLang="en-US" sz="2800"/>
              <a:t>亿次）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578569"/>
                                        </p:tgtEl>
                                        <p:attrNameLst>
                                          <p:attrName>style.visibility</p:attrName>
                                        </p:attrNameLst>
                                      </p:cBhvr>
                                      <p:to>
                                        <p:strVal val="visible"/>
                                      </p:to>
                                    </p:set>
                                    <p:anim calcmode="lin" valueType="num">
                                      <p:cBhvr>
                                        <p:cTn id="7" dur="500" fill="hold"/>
                                        <p:tgtEl>
                                          <p:spTgt spid="578569"/>
                                        </p:tgtEl>
                                        <p:attrNameLst>
                                          <p:attrName>ppt_w</p:attrName>
                                        </p:attrNameLst>
                                      </p:cBhvr>
                                      <p:tavLst>
                                        <p:tav tm="0">
                                          <p:val>
                                            <p:strVal val="4/3*#ppt_w"/>
                                          </p:val>
                                        </p:tav>
                                        <p:tav tm="100000">
                                          <p:val>
                                            <p:strVal val="#ppt_w"/>
                                          </p:val>
                                        </p:tav>
                                      </p:tavLst>
                                    </p:anim>
                                    <p:anim calcmode="lin" valueType="num">
                                      <p:cBhvr>
                                        <p:cTn id="8" dur="500" fill="hold"/>
                                        <p:tgtEl>
                                          <p:spTgt spid="578569"/>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78570"/>
                                        </p:tgtEl>
                                        <p:attrNameLst>
                                          <p:attrName>style.visibility</p:attrName>
                                        </p:attrNameLst>
                                      </p:cBhvr>
                                      <p:to>
                                        <p:strVal val="visible"/>
                                      </p:to>
                                    </p:set>
                                    <p:animEffect transition="in" filter="strips(upRight)">
                                      <p:cBhvr>
                                        <p:cTn id="13" dur="500"/>
                                        <p:tgtEl>
                                          <p:spTgt spid="578570"/>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nodeType="clickEffect">
                                  <p:stCondLst>
                                    <p:cond delay="0"/>
                                  </p:stCondLst>
                                  <p:childTnLst>
                                    <p:set>
                                      <p:cBhvr>
                                        <p:cTn id="17" dur="1" fill="hold">
                                          <p:stCondLst>
                                            <p:cond delay="0"/>
                                          </p:stCondLst>
                                        </p:cTn>
                                        <p:tgtEl>
                                          <p:spTgt spid="578571"/>
                                        </p:tgtEl>
                                        <p:attrNameLst>
                                          <p:attrName>style.visibility</p:attrName>
                                        </p:attrNameLst>
                                      </p:cBhvr>
                                      <p:to>
                                        <p:strVal val="visible"/>
                                      </p:to>
                                    </p:set>
                                    <p:animEffect transition="in" filter="strips(upRight)">
                                      <p:cBhvr>
                                        <p:cTn id="18" dur="500"/>
                                        <p:tgtEl>
                                          <p:spTgt spid="578571"/>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578572"/>
                                        </p:tgtEl>
                                        <p:attrNameLst>
                                          <p:attrName>style.visibility</p:attrName>
                                        </p:attrNameLst>
                                      </p:cBhvr>
                                      <p:to>
                                        <p:strVal val="visible"/>
                                      </p:to>
                                    </p:set>
                                    <p:animEffect transition="in" filter="strips(upRight)">
                                      <p:cBhvr>
                                        <p:cTn id="23" dur="500"/>
                                        <p:tgtEl>
                                          <p:spTgt spid="578572"/>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578573"/>
                                        </p:tgtEl>
                                        <p:attrNameLst>
                                          <p:attrName>style.visibility</p:attrName>
                                        </p:attrNameLst>
                                      </p:cBhvr>
                                      <p:to>
                                        <p:strVal val="visible"/>
                                      </p:to>
                                    </p:set>
                                    <p:animEffect transition="in" filter="strips(upRight)">
                                      <p:cBhvr>
                                        <p:cTn id="28" dur="500"/>
                                        <p:tgtEl>
                                          <p:spTgt spid="578573"/>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578574"/>
                                        </p:tgtEl>
                                        <p:attrNameLst>
                                          <p:attrName>style.visibility</p:attrName>
                                        </p:attrNameLst>
                                      </p:cBhvr>
                                      <p:to>
                                        <p:strVal val="visible"/>
                                      </p:to>
                                    </p:set>
                                    <p:animEffect transition="in" filter="strips(upRight)">
                                      <p:cBhvr>
                                        <p:cTn id="33" dur="500"/>
                                        <p:tgtEl>
                                          <p:spTgt spid="578574"/>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578575"/>
                                        </p:tgtEl>
                                        <p:attrNameLst>
                                          <p:attrName>style.visibility</p:attrName>
                                        </p:attrNameLst>
                                      </p:cBhvr>
                                      <p:to>
                                        <p:strVal val="visible"/>
                                      </p:to>
                                    </p:set>
                                    <p:animEffect transition="in" filter="strips(upRight)">
                                      <p:cBhvr>
                                        <p:cTn id="38" dur="500"/>
                                        <p:tgtEl>
                                          <p:spTgt spid="578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9" grpId="0" autoUpdateAnimBg="0"/>
      <p:bldP spid="578575"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r>
              <a:rPr lang="en-US" altLang="zh-CN"/>
              <a:t>10</a:t>
            </a:r>
            <a:r>
              <a:rPr lang="en-US" altLang="en-US"/>
              <a:t>.7 气体的输运现象（简介） </a:t>
            </a:r>
            <a:endParaRPr lang="zh-CN" altLang="en-US"/>
          </a:p>
        </p:txBody>
      </p:sp>
      <p:sp>
        <p:nvSpPr>
          <p:cNvPr id="10" name="灯片编号占位符 4"/>
          <p:cNvSpPr>
            <a:spLocks noGrp="1"/>
          </p:cNvSpPr>
          <p:nvPr>
            <p:ph type="sldNum" sz="quarter" idx="12"/>
          </p:nvPr>
        </p:nvSpPr>
        <p:spPr/>
        <p:txBody>
          <a:bodyPr/>
          <a:lstStyle/>
          <a:p>
            <a:fld id="{60835B1B-8415-4C54-9080-17C7E8906980}" type="slidenum">
              <a:rPr lang="en-US" altLang="zh-CN"/>
              <a:pPr/>
              <a:t>70</a:t>
            </a:fld>
            <a:endParaRPr lang="en-US" altLang="zh-CN"/>
          </a:p>
        </p:txBody>
      </p:sp>
      <p:sp>
        <p:nvSpPr>
          <p:cNvPr id="572419" name="Rectangle 3"/>
          <p:cNvSpPr>
            <a:spLocks noChangeArrowheads="1"/>
          </p:cNvSpPr>
          <p:nvPr/>
        </p:nvSpPr>
        <p:spPr bwMode="auto">
          <a:xfrm>
            <a:off x="501650" y="1219200"/>
            <a:ext cx="23177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t>气体的输运现象</a:t>
            </a:r>
          </a:p>
        </p:txBody>
      </p:sp>
      <p:sp>
        <p:nvSpPr>
          <p:cNvPr id="572420" name="Text Box 4"/>
          <p:cNvSpPr txBox="1">
            <a:spLocks noChangeArrowheads="1"/>
          </p:cNvSpPr>
          <p:nvPr/>
        </p:nvSpPr>
        <p:spPr bwMode="auto">
          <a:xfrm>
            <a:off x="533400" y="1889125"/>
            <a:ext cx="8135938" cy="2225675"/>
          </a:xfrm>
          <a:prstGeom prst="rect">
            <a:avLst/>
          </a:prstGeom>
          <a:noFill/>
          <a:ln w="9525">
            <a:noFill/>
            <a:miter lim="800000"/>
            <a:headEnd/>
            <a:tailEnd/>
          </a:ln>
          <a:effectLst/>
        </p:spPr>
        <p:txBody>
          <a:bodyPr>
            <a:spAutoFit/>
          </a:bodyPr>
          <a:lstStyle/>
          <a:p>
            <a:pPr algn="just">
              <a:lnSpc>
                <a:spcPct val="125000"/>
              </a:lnSpc>
              <a:spcBef>
                <a:spcPct val="50000"/>
              </a:spcBef>
            </a:pPr>
            <a:r>
              <a:rPr lang="zh-CN" altLang="en-US" sz="2800" dirty="0"/>
              <a:t>如果系统各部分的物理性质是</a:t>
            </a:r>
            <a:r>
              <a:rPr lang="zh-CN" altLang="en-US" sz="2800" dirty="0">
                <a:solidFill>
                  <a:srgbClr val="0000CC"/>
                </a:solidFill>
              </a:rPr>
              <a:t>不均匀</a:t>
            </a:r>
            <a:r>
              <a:rPr lang="zh-CN" altLang="en-US" sz="2800" dirty="0"/>
              <a:t>的（例如流速、温度和密度等的不相同），则由于分子间的相互碰撞和相互搀和，各部分之间将产生</a:t>
            </a:r>
            <a:r>
              <a:rPr lang="zh-CN" altLang="en-US" sz="2800" dirty="0">
                <a:solidFill>
                  <a:srgbClr val="0000CC"/>
                </a:solidFill>
              </a:rPr>
              <a:t>动量、能量和质量的转移</a:t>
            </a:r>
            <a:r>
              <a:rPr lang="zh-CN" altLang="en-US" sz="2800" dirty="0"/>
              <a:t>，这种现象称为气体的输运现象。</a:t>
            </a:r>
          </a:p>
        </p:txBody>
      </p:sp>
      <p:sp>
        <p:nvSpPr>
          <p:cNvPr id="572421" name="Text Box 5"/>
          <p:cNvSpPr txBox="1">
            <a:spLocks noChangeArrowheads="1"/>
          </p:cNvSpPr>
          <p:nvPr/>
        </p:nvSpPr>
        <p:spPr bwMode="auto">
          <a:xfrm>
            <a:off x="533400" y="4267200"/>
            <a:ext cx="7543800" cy="519112"/>
          </a:xfrm>
          <a:prstGeom prst="rect">
            <a:avLst/>
          </a:prstGeom>
          <a:noFill/>
          <a:ln w="12700">
            <a:noFill/>
            <a:miter lim="800000"/>
            <a:headEnd type="none" w="sm" len="sm"/>
            <a:tailEnd type="none" w="sm" len="sm"/>
          </a:ln>
          <a:effectLst/>
        </p:spPr>
        <p:txBody>
          <a:bodyPr>
            <a:spAutoFit/>
          </a:bodyPr>
          <a:lstStyle/>
          <a:p>
            <a:pPr>
              <a:spcBef>
                <a:spcPct val="50000"/>
              </a:spcBef>
            </a:pPr>
            <a:r>
              <a:rPr kumimoji="1" lang="en-US" altLang="zh-CN" sz="2800" dirty="0"/>
              <a:t>1. </a:t>
            </a:r>
            <a:r>
              <a:rPr kumimoji="1" lang="zh-CN" altLang="en-US" sz="2800" dirty="0"/>
              <a:t>当气体各层流速不均匀时发生的</a:t>
            </a:r>
            <a:r>
              <a:rPr kumimoji="1" lang="zh-CN" altLang="en-US" sz="2800" dirty="0">
                <a:solidFill>
                  <a:srgbClr val="0000CC"/>
                </a:solidFill>
              </a:rPr>
              <a:t>粘滞现象</a:t>
            </a:r>
            <a:r>
              <a:rPr kumimoji="1" lang="zh-CN" altLang="en-US" sz="2800" dirty="0"/>
              <a:t>。</a:t>
            </a:r>
          </a:p>
        </p:txBody>
      </p:sp>
      <p:sp>
        <p:nvSpPr>
          <p:cNvPr id="572422" name="Rectangle 6"/>
          <p:cNvSpPr>
            <a:spLocks noChangeArrowheads="1"/>
          </p:cNvSpPr>
          <p:nvPr/>
        </p:nvSpPr>
        <p:spPr bwMode="auto">
          <a:xfrm>
            <a:off x="533400" y="5036344"/>
            <a:ext cx="6940550" cy="519112"/>
          </a:xfrm>
          <a:prstGeom prst="rect">
            <a:avLst/>
          </a:prstGeom>
          <a:noFill/>
          <a:ln w="12700">
            <a:noFill/>
            <a:miter lim="800000"/>
            <a:headEnd type="none" w="sm" len="sm"/>
            <a:tailEnd type="none" w="sm" len="sm"/>
          </a:ln>
          <a:effectLst/>
        </p:spPr>
        <p:txBody>
          <a:bodyPr wrap="none">
            <a:spAutoFit/>
          </a:bodyPr>
          <a:lstStyle/>
          <a:p>
            <a:pPr>
              <a:spcBef>
                <a:spcPct val="50000"/>
              </a:spcBef>
            </a:pPr>
            <a:r>
              <a:rPr kumimoji="1" lang="en-US" altLang="zh-CN" sz="2800" dirty="0"/>
              <a:t>2. </a:t>
            </a:r>
            <a:r>
              <a:rPr kumimoji="1" lang="zh-CN" altLang="en-US" sz="2800" dirty="0"/>
              <a:t>当气体温度不均匀时发生的</a:t>
            </a:r>
            <a:r>
              <a:rPr kumimoji="1" lang="zh-CN" altLang="en-US" sz="2800" dirty="0">
                <a:solidFill>
                  <a:srgbClr val="0000CC"/>
                </a:solidFill>
              </a:rPr>
              <a:t>热传导现象</a:t>
            </a:r>
            <a:r>
              <a:rPr kumimoji="1" lang="zh-CN" altLang="en-US" sz="2800" dirty="0"/>
              <a:t>。</a:t>
            </a:r>
          </a:p>
        </p:txBody>
      </p:sp>
      <p:sp>
        <p:nvSpPr>
          <p:cNvPr id="572423" name="Rectangle 7"/>
          <p:cNvSpPr>
            <a:spLocks noChangeArrowheads="1"/>
          </p:cNvSpPr>
          <p:nvPr/>
        </p:nvSpPr>
        <p:spPr bwMode="auto">
          <a:xfrm>
            <a:off x="533400" y="5805487"/>
            <a:ext cx="6781800" cy="519113"/>
          </a:xfrm>
          <a:prstGeom prst="rect">
            <a:avLst/>
          </a:prstGeom>
          <a:noFill/>
          <a:ln w="12700">
            <a:noFill/>
            <a:miter lim="800000"/>
            <a:headEnd type="none" w="sm" len="sm"/>
            <a:tailEnd type="none" w="sm" len="sm"/>
          </a:ln>
          <a:effectLst/>
        </p:spPr>
        <p:txBody>
          <a:bodyPr>
            <a:spAutoFit/>
          </a:bodyPr>
          <a:lstStyle/>
          <a:p>
            <a:r>
              <a:rPr kumimoji="1" lang="en-US" altLang="zh-CN" sz="2800" dirty="0"/>
              <a:t>3. </a:t>
            </a:r>
            <a:r>
              <a:rPr kumimoji="1" lang="zh-CN" altLang="en-US" sz="2800" dirty="0"/>
              <a:t>当气体密度不均匀时发生的</a:t>
            </a:r>
            <a:r>
              <a:rPr kumimoji="1" lang="zh-CN" altLang="en-US" sz="2800" dirty="0">
                <a:solidFill>
                  <a:srgbClr val="0000CC"/>
                </a:solidFill>
              </a:rPr>
              <a:t>扩散现象</a:t>
            </a:r>
            <a:r>
              <a:rPr kumimoji="1" lang="zh-CN" altLang="en-US"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2421"/>
                                        </p:tgtEl>
                                        <p:attrNameLst>
                                          <p:attrName>style.visibility</p:attrName>
                                        </p:attrNameLst>
                                      </p:cBhvr>
                                      <p:to>
                                        <p:strVal val="visible"/>
                                      </p:to>
                                    </p:set>
                                    <p:animEffect transition="in" filter="blinds(horizontal)">
                                      <p:cBhvr>
                                        <p:cTn id="7" dur="500"/>
                                        <p:tgtEl>
                                          <p:spTgt spid="5724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2422"/>
                                        </p:tgtEl>
                                        <p:attrNameLst>
                                          <p:attrName>style.visibility</p:attrName>
                                        </p:attrNameLst>
                                      </p:cBhvr>
                                      <p:to>
                                        <p:strVal val="visible"/>
                                      </p:to>
                                    </p:set>
                                    <p:animEffect transition="in" filter="blinds(horizontal)">
                                      <p:cBhvr>
                                        <p:cTn id="12" dur="500"/>
                                        <p:tgtEl>
                                          <p:spTgt spid="5724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72423"/>
                                        </p:tgtEl>
                                        <p:attrNameLst>
                                          <p:attrName>style.visibility</p:attrName>
                                        </p:attrNameLst>
                                      </p:cBhvr>
                                      <p:to>
                                        <p:strVal val="visible"/>
                                      </p:to>
                                    </p:set>
                                    <p:animEffect transition="in" filter="blinds(horizontal)">
                                      <p:cBhvr>
                                        <p:cTn id="17" dur="500"/>
                                        <p:tgtEl>
                                          <p:spTgt spid="572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21" grpId="0" autoUpdateAnimBg="0"/>
      <p:bldP spid="572422" grpId="0" autoUpdateAnimBg="0"/>
      <p:bldP spid="572423"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r>
              <a:rPr lang="en-US" altLang="zh-CN"/>
              <a:t>10</a:t>
            </a:r>
            <a:r>
              <a:rPr lang="en-US" altLang="en-US"/>
              <a:t>.7 气体的输运现象（简介） </a:t>
            </a:r>
            <a:endParaRPr lang="zh-CN" altLang="en-US"/>
          </a:p>
        </p:txBody>
      </p:sp>
      <p:sp>
        <p:nvSpPr>
          <p:cNvPr id="50" name="灯片编号占位符 4"/>
          <p:cNvSpPr>
            <a:spLocks noGrp="1"/>
          </p:cNvSpPr>
          <p:nvPr>
            <p:ph type="sldNum" sz="quarter" idx="12"/>
          </p:nvPr>
        </p:nvSpPr>
        <p:spPr/>
        <p:txBody>
          <a:bodyPr/>
          <a:lstStyle/>
          <a:p>
            <a:fld id="{D1926CA0-34D5-44B9-8DB0-4C856EB2CF26}" type="slidenum">
              <a:rPr lang="en-US" altLang="zh-CN"/>
              <a:pPr/>
              <a:t>71</a:t>
            </a:fld>
            <a:endParaRPr lang="en-US" altLang="zh-CN"/>
          </a:p>
        </p:txBody>
      </p:sp>
      <p:sp>
        <p:nvSpPr>
          <p:cNvPr id="575491" name="Rectangle 3"/>
          <p:cNvSpPr>
            <a:spLocks noChangeArrowheads="1"/>
          </p:cNvSpPr>
          <p:nvPr/>
        </p:nvSpPr>
        <p:spPr bwMode="auto">
          <a:xfrm>
            <a:off x="501650" y="1219200"/>
            <a:ext cx="1479550" cy="457200"/>
          </a:xfrm>
          <a:prstGeom prst="rect">
            <a:avLst/>
          </a:prstGeom>
          <a:solidFill>
            <a:srgbClr val="CCFFCC">
              <a:alpha val="80000"/>
            </a:srgbClr>
          </a:solidFill>
          <a:ln w="9525">
            <a:noFill/>
            <a:miter lim="800000"/>
            <a:headEnd/>
            <a:tailEnd/>
          </a:ln>
          <a:effectLst/>
        </p:spPr>
        <p:txBody>
          <a:bodyPr wrap="none" anchor="ctr">
            <a:spAutoFit/>
          </a:bodyPr>
          <a:lstStyle/>
          <a:p>
            <a:r>
              <a:rPr lang="en-US" altLang="en-US" sz="2400" dirty="0" err="1"/>
              <a:t>粘滞现象</a:t>
            </a:r>
            <a:r>
              <a:rPr lang="en-US" altLang="en-US" sz="2400" dirty="0"/>
              <a:t> </a:t>
            </a:r>
            <a:endParaRPr lang="zh-CN" altLang="en-US" sz="2400" dirty="0"/>
          </a:p>
        </p:txBody>
      </p:sp>
      <p:grpSp>
        <p:nvGrpSpPr>
          <p:cNvPr id="575606" name="Group 118"/>
          <p:cNvGrpSpPr>
            <a:grpSpLocks/>
          </p:cNvGrpSpPr>
          <p:nvPr/>
        </p:nvGrpSpPr>
        <p:grpSpPr bwMode="auto">
          <a:xfrm>
            <a:off x="4419600" y="1143000"/>
            <a:ext cx="4648200" cy="3903663"/>
            <a:chOff x="2640" y="768"/>
            <a:chExt cx="2928" cy="2459"/>
          </a:xfrm>
        </p:grpSpPr>
        <p:sp>
          <p:nvSpPr>
            <p:cNvPr id="575607" name="Rectangle 119" descr="轮廓式菱形"/>
            <p:cNvSpPr>
              <a:spLocks noChangeArrowheads="1"/>
            </p:cNvSpPr>
            <p:nvPr/>
          </p:nvSpPr>
          <p:spPr bwMode="auto">
            <a:xfrm>
              <a:off x="2640" y="1392"/>
              <a:ext cx="2592" cy="144"/>
            </a:xfrm>
            <a:prstGeom prst="rect">
              <a:avLst/>
            </a:prstGeom>
            <a:pattFill prst="openDmnd">
              <a:fgClr>
                <a:srgbClr val="01017D"/>
              </a:fgClr>
              <a:bgClr>
                <a:srgbClr val="00C600"/>
              </a:bgClr>
            </a:pattFill>
            <a:ln w="12700">
              <a:solidFill>
                <a:srgbClr val="FFFFFF"/>
              </a:solidFill>
              <a:miter lim="800000"/>
              <a:headEnd type="none" w="sm" len="sm"/>
              <a:tailEnd type="none" w="sm" len="sm"/>
            </a:ln>
            <a:effectLst/>
          </p:spPr>
          <p:txBody>
            <a:bodyPr wrap="none" anchor="ctr"/>
            <a:lstStyle/>
            <a:p>
              <a:endParaRPr lang="zh-CN" altLang="en-US"/>
            </a:p>
          </p:txBody>
        </p:sp>
        <p:sp>
          <p:nvSpPr>
            <p:cNvPr id="575608" name="Rectangle 120" descr="轮廓式菱形"/>
            <p:cNvSpPr>
              <a:spLocks noChangeArrowheads="1"/>
            </p:cNvSpPr>
            <p:nvPr/>
          </p:nvSpPr>
          <p:spPr bwMode="auto">
            <a:xfrm>
              <a:off x="2640" y="2784"/>
              <a:ext cx="2592" cy="144"/>
            </a:xfrm>
            <a:prstGeom prst="rect">
              <a:avLst/>
            </a:prstGeom>
            <a:pattFill prst="openDmnd">
              <a:fgClr>
                <a:srgbClr val="01017D"/>
              </a:fgClr>
              <a:bgClr>
                <a:srgbClr val="00C600"/>
              </a:bgClr>
            </a:pattFill>
            <a:ln w="12700">
              <a:solidFill>
                <a:schemeClr val="tx1"/>
              </a:solidFill>
              <a:miter lim="800000"/>
              <a:headEnd type="none" w="sm" len="sm"/>
              <a:tailEnd type="none" w="sm" len="sm"/>
            </a:ln>
            <a:effectLst/>
          </p:spPr>
          <p:txBody>
            <a:bodyPr wrap="none" anchor="ctr"/>
            <a:lstStyle/>
            <a:p>
              <a:endParaRPr lang="zh-CN" altLang="en-US"/>
            </a:p>
          </p:txBody>
        </p:sp>
        <p:sp>
          <p:nvSpPr>
            <p:cNvPr id="575609" name="Line 121"/>
            <p:cNvSpPr>
              <a:spLocks noChangeShapeType="1"/>
            </p:cNvSpPr>
            <p:nvPr/>
          </p:nvSpPr>
          <p:spPr bwMode="auto">
            <a:xfrm>
              <a:off x="5232" y="2784"/>
              <a:ext cx="336" cy="0"/>
            </a:xfrm>
            <a:prstGeom prst="line">
              <a:avLst/>
            </a:prstGeom>
            <a:noFill/>
            <a:ln w="19050">
              <a:solidFill>
                <a:srgbClr val="FFFFFF"/>
              </a:solidFill>
              <a:round/>
              <a:headEnd type="none" w="sm" len="sm"/>
              <a:tailEnd type="triangle" w="med" len="med"/>
            </a:ln>
            <a:effectLst/>
          </p:spPr>
          <p:txBody>
            <a:bodyPr wrap="none" anchor="ctr"/>
            <a:lstStyle/>
            <a:p>
              <a:endParaRPr lang="zh-CN" altLang="en-US"/>
            </a:p>
          </p:txBody>
        </p:sp>
        <p:sp>
          <p:nvSpPr>
            <p:cNvPr id="575610" name="Text Box 122"/>
            <p:cNvSpPr txBox="1">
              <a:spLocks noChangeArrowheads="1"/>
            </p:cNvSpPr>
            <p:nvPr/>
          </p:nvSpPr>
          <p:spPr bwMode="auto">
            <a:xfrm>
              <a:off x="5328" y="2736"/>
              <a:ext cx="240" cy="327"/>
            </a:xfrm>
            <a:prstGeom prst="rect">
              <a:avLst/>
            </a:prstGeom>
            <a:noFill/>
            <a:ln w="12700">
              <a:noFill/>
              <a:miter lim="800000"/>
              <a:headEnd type="none" w="sm" len="sm"/>
              <a:tailEnd type="none" w="sm" len="sm"/>
            </a:ln>
            <a:effectLst/>
          </p:spPr>
          <p:txBody>
            <a:bodyPr>
              <a:spAutoFit/>
            </a:bodyPr>
            <a:lstStyle/>
            <a:p>
              <a:pPr>
                <a:spcBef>
                  <a:spcPct val="50000"/>
                </a:spcBef>
              </a:pPr>
              <a:r>
                <a:rPr kumimoji="1" lang="en-US" altLang="zh-CN" sz="2800" b="1" i="1"/>
                <a:t>x</a:t>
              </a:r>
              <a:endParaRPr kumimoji="1" lang="en-US" altLang="zh-CN" sz="2400" b="1" i="1"/>
            </a:p>
          </p:txBody>
        </p:sp>
        <p:sp>
          <p:nvSpPr>
            <p:cNvPr id="575611" name="Line 123"/>
            <p:cNvSpPr>
              <a:spLocks noChangeShapeType="1"/>
            </p:cNvSpPr>
            <p:nvPr/>
          </p:nvSpPr>
          <p:spPr bwMode="auto">
            <a:xfrm>
              <a:off x="4608" y="1248"/>
              <a:ext cx="576" cy="0"/>
            </a:xfrm>
            <a:prstGeom prst="line">
              <a:avLst/>
            </a:prstGeom>
            <a:noFill/>
            <a:ln w="12700">
              <a:solidFill>
                <a:schemeClr val="tx1"/>
              </a:solidFill>
              <a:round/>
              <a:headEnd type="none" w="sm" len="sm"/>
              <a:tailEnd type="stealth" w="med" len="lg"/>
            </a:ln>
            <a:effectLst/>
          </p:spPr>
          <p:txBody>
            <a:bodyPr wrap="none" anchor="ctr"/>
            <a:lstStyle/>
            <a:p>
              <a:endParaRPr lang="zh-CN" altLang="en-US"/>
            </a:p>
          </p:txBody>
        </p:sp>
        <p:sp>
          <p:nvSpPr>
            <p:cNvPr id="575612" name="Text Box 124"/>
            <p:cNvSpPr txBox="1">
              <a:spLocks noChangeArrowheads="1"/>
            </p:cNvSpPr>
            <p:nvPr/>
          </p:nvSpPr>
          <p:spPr bwMode="auto">
            <a:xfrm>
              <a:off x="5232" y="1248"/>
              <a:ext cx="336" cy="327"/>
            </a:xfrm>
            <a:prstGeom prst="rect">
              <a:avLst/>
            </a:prstGeom>
            <a:noFill/>
            <a:ln w="12700">
              <a:noFill/>
              <a:miter lim="800000"/>
              <a:headEnd type="none" w="sm" len="sm"/>
              <a:tailEnd type="none" w="sm" len="sm"/>
            </a:ln>
            <a:effectLst/>
          </p:spPr>
          <p:txBody>
            <a:bodyPr>
              <a:spAutoFit/>
            </a:bodyPr>
            <a:lstStyle/>
            <a:p>
              <a:pPr>
                <a:spcBef>
                  <a:spcPct val="50000"/>
                </a:spcBef>
              </a:pPr>
              <a:endParaRPr kumimoji="1" lang="zh-CN" altLang="zh-CN" sz="2800" b="1"/>
            </a:p>
          </p:txBody>
        </p:sp>
        <p:sp>
          <p:nvSpPr>
            <p:cNvPr id="575613" name="Rectangle 125"/>
            <p:cNvSpPr>
              <a:spLocks noChangeArrowheads="1"/>
            </p:cNvSpPr>
            <p:nvPr/>
          </p:nvSpPr>
          <p:spPr bwMode="auto">
            <a:xfrm>
              <a:off x="5088" y="2866"/>
              <a:ext cx="116" cy="327"/>
            </a:xfrm>
            <a:prstGeom prst="rect">
              <a:avLst/>
            </a:prstGeom>
            <a:noFill/>
            <a:ln w="12700">
              <a:noFill/>
              <a:miter lim="800000"/>
              <a:headEnd type="none" w="sm" len="sm"/>
              <a:tailEnd type="none" w="sm" len="sm"/>
            </a:ln>
            <a:effectLst/>
          </p:spPr>
          <p:txBody>
            <a:bodyPr wrap="none">
              <a:spAutoFit/>
            </a:bodyPr>
            <a:lstStyle/>
            <a:p>
              <a:endParaRPr kumimoji="1" lang="zh-CN" altLang="zh-CN" sz="2800" b="1"/>
            </a:p>
          </p:txBody>
        </p:sp>
        <p:sp>
          <p:nvSpPr>
            <p:cNvPr id="575614" name="Line 126"/>
            <p:cNvSpPr>
              <a:spLocks noChangeShapeType="1"/>
            </p:cNvSpPr>
            <p:nvPr/>
          </p:nvSpPr>
          <p:spPr bwMode="auto">
            <a:xfrm flipV="1">
              <a:off x="2640" y="912"/>
              <a:ext cx="0" cy="1872"/>
            </a:xfrm>
            <a:prstGeom prst="line">
              <a:avLst/>
            </a:prstGeom>
            <a:noFill/>
            <a:ln w="19050">
              <a:solidFill>
                <a:schemeClr val="tx1"/>
              </a:solidFill>
              <a:round/>
              <a:headEnd type="none" w="sm" len="sm"/>
              <a:tailEnd type="triangle" w="med" len="lg"/>
            </a:ln>
            <a:effectLst/>
          </p:spPr>
          <p:txBody>
            <a:bodyPr wrap="none" anchor="ctr"/>
            <a:lstStyle/>
            <a:p>
              <a:endParaRPr lang="zh-CN" altLang="en-US"/>
            </a:p>
          </p:txBody>
        </p:sp>
        <p:sp>
          <p:nvSpPr>
            <p:cNvPr id="575615" name="Rectangle 127"/>
            <p:cNvSpPr>
              <a:spLocks noChangeArrowheads="1"/>
            </p:cNvSpPr>
            <p:nvPr/>
          </p:nvSpPr>
          <p:spPr bwMode="auto">
            <a:xfrm>
              <a:off x="2688" y="768"/>
              <a:ext cx="211" cy="327"/>
            </a:xfrm>
            <a:prstGeom prst="rect">
              <a:avLst/>
            </a:prstGeom>
            <a:noFill/>
            <a:ln w="12700">
              <a:noFill/>
              <a:miter lim="800000"/>
              <a:headEnd type="none" w="sm" len="sm"/>
              <a:tailEnd type="none" w="sm" len="sm"/>
            </a:ln>
            <a:effectLst/>
          </p:spPr>
          <p:txBody>
            <a:bodyPr>
              <a:spAutoFit/>
            </a:bodyPr>
            <a:lstStyle/>
            <a:p>
              <a:r>
                <a:rPr kumimoji="1" lang="en-US" altLang="zh-CN" sz="2800" b="1" i="1"/>
                <a:t>z</a:t>
              </a:r>
            </a:p>
          </p:txBody>
        </p:sp>
        <p:sp>
          <p:nvSpPr>
            <p:cNvPr id="575616" name="Rectangle 128" descr="5%"/>
            <p:cNvSpPr>
              <a:spLocks noChangeArrowheads="1"/>
            </p:cNvSpPr>
            <p:nvPr/>
          </p:nvSpPr>
          <p:spPr bwMode="auto">
            <a:xfrm>
              <a:off x="2640" y="1536"/>
              <a:ext cx="2592" cy="1248"/>
            </a:xfrm>
            <a:prstGeom prst="rect">
              <a:avLst/>
            </a:prstGeom>
            <a:pattFill prst="pct5">
              <a:fgClr>
                <a:srgbClr val="3366FF"/>
              </a:fgClr>
              <a:bgClr>
                <a:srgbClr val="FFFFFF"/>
              </a:bgClr>
            </a:pattFill>
            <a:ln w="12700">
              <a:solidFill>
                <a:schemeClr val="tx1"/>
              </a:solidFill>
              <a:miter lim="800000"/>
              <a:headEnd type="none" w="sm" len="sm"/>
              <a:tailEnd type="none" w="sm" len="sm"/>
            </a:ln>
            <a:effectLst/>
          </p:spPr>
          <p:txBody>
            <a:bodyPr wrap="none" anchor="ctr"/>
            <a:lstStyle/>
            <a:p>
              <a:pPr algn="ctr"/>
              <a:endParaRPr kumimoji="1" lang="zh-CN" altLang="zh-CN" sz="3200" b="1"/>
            </a:p>
          </p:txBody>
        </p:sp>
        <p:grpSp>
          <p:nvGrpSpPr>
            <p:cNvPr id="575617" name="Group 129"/>
            <p:cNvGrpSpPr>
              <a:grpSpLocks/>
            </p:cNvGrpSpPr>
            <p:nvPr/>
          </p:nvGrpSpPr>
          <p:grpSpPr bwMode="auto">
            <a:xfrm>
              <a:off x="4272" y="1584"/>
              <a:ext cx="816" cy="1152"/>
              <a:chOff x="4272" y="1584"/>
              <a:chExt cx="816" cy="1152"/>
            </a:xfrm>
          </p:grpSpPr>
          <p:sp>
            <p:nvSpPr>
              <p:cNvPr id="575618" name="Line 130"/>
              <p:cNvSpPr>
                <a:spLocks noChangeShapeType="1"/>
              </p:cNvSpPr>
              <p:nvPr/>
            </p:nvSpPr>
            <p:spPr bwMode="auto">
              <a:xfrm>
                <a:off x="4272" y="1584"/>
                <a:ext cx="816"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19" name="Line 131"/>
              <p:cNvSpPr>
                <a:spLocks noChangeShapeType="1"/>
              </p:cNvSpPr>
              <p:nvPr/>
            </p:nvSpPr>
            <p:spPr bwMode="auto">
              <a:xfrm>
                <a:off x="4272" y="1680"/>
                <a:ext cx="720"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0" name="Line 132"/>
              <p:cNvSpPr>
                <a:spLocks noChangeShapeType="1"/>
              </p:cNvSpPr>
              <p:nvPr/>
            </p:nvSpPr>
            <p:spPr bwMode="auto">
              <a:xfrm>
                <a:off x="4272" y="1776"/>
                <a:ext cx="624"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1" name="Line 133"/>
              <p:cNvSpPr>
                <a:spLocks noChangeShapeType="1"/>
              </p:cNvSpPr>
              <p:nvPr/>
            </p:nvSpPr>
            <p:spPr bwMode="auto">
              <a:xfrm>
                <a:off x="4272" y="1872"/>
                <a:ext cx="576"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2" name="Line 134"/>
              <p:cNvSpPr>
                <a:spLocks noChangeShapeType="1"/>
              </p:cNvSpPr>
              <p:nvPr/>
            </p:nvSpPr>
            <p:spPr bwMode="auto">
              <a:xfrm>
                <a:off x="4272" y="1968"/>
                <a:ext cx="528"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3" name="Line 135"/>
              <p:cNvSpPr>
                <a:spLocks noChangeShapeType="1"/>
              </p:cNvSpPr>
              <p:nvPr/>
            </p:nvSpPr>
            <p:spPr bwMode="auto">
              <a:xfrm>
                <a:off x="4272" y="2064"/>
                <a:ext cx="480" cy="0"/>
              </a:xfrm>
              <a:prstGeom prst="line">
                <a:avLst/>
              </a:prstGeom>
              <a:noFill/>
              <a:ln w="19050">
                <a:solidFill>
                  <a:srgbClr val="FFE701"/>
                </a:solidFill>
                <a:round/>
                <a:headEnd type="none" w="sm" len="sm"/>
                <a:tailEnd type="triangle" w="sm" len="sm"/>
              </a:ln>
              <a:effectLst/>
            </p:spPr>
            <p:txBody>
              <a:bodyPr wrap="none" anchor="ctr"/>
              <a:lstStyle/>
              <a:p>
                <a:endParaRPr lang="zh-CN" altLang="en-US"/>
              </a:p>
            </p:txBody>
          </p:sp>
          <p:sp>
            <p:nvSpPr>
              <p:cNvPr id="575624" name="Line 136"/>
              <p:cNvSpPr>
                <a:spLocks noChangeShapeType="1"/>
              </p:cNvSpPr>
              <p:nvPr/>
            </p:nvSpPr>
            <p:spPr bwMode="auto">
              <a:xfrm>
                <a:off x="4272" y="2160"/>
                <a:ext cx="432" cy="0"/>
              </a:xfrm>
              <a:prstGeom prst="line">
                <a:avLst/>
              </a:prstGeom>
              <a:noFill/>
              <a:ln w="19050">
                <a:solidFill>
                  <a:srgbClr val="FFE701"/>
                </a:solidFill>
                <a:round/>
                <a:headEnd type="none" w="sm" len="sm"/>
                <a:tailEnd type="triangle" w="sm" len="sm"/>
              </a:ln>
              <a:effectLst/>
            </p:spPr>
            <p:txBody>
              <a:bodyPr wrap="none" anchor="ctr"/>
              <a:lstStyle/>
              <a:p>
                <a:endParaRPr lang="zh-CN" altLang="en-US"/>
              </a:p>
            </p:txBody>
          </p:sp>
          <p:sp>
            <p:nvSpPr>
              <p:cNvPr id="575625" name="Line 137"/>
              <p:cNvSpPr>
                <a:spLocks noChangeShapeType="1"/>
              </p:cNvSpPr>
              <p:nvPr/>
            </p:nvSpPr>
            <p:spPr bwMode="auto">
              <a:xfrm>
                <a:off x="4272" y="2256"/>
                <a:ext cx="384"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6" name="Line 138"/>
              <p:cNvSpPr>
                <a:spLocks noChangeShapeType="1"/>
              </p:cNvSpPr>
              <p:nvPr/>
            </p:nvSpPr>
            <p:spPr bwMode="auto">
              <a:xfrm>
                <a:off x="4272" y="2352"/>
                <a:ext cx="336"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7" name="Line 139"/>
              <p:cNvSpPr>
                <a:spLocks noChangeShapeType="1"/>
              </p:cNvSpPr>
              <p:nvPr/>
            </p:nvSpPr>
            <p:spPr bwMode="auto">
              <a:xfrm>
                <a:off x="4272" y="2448"/>
                <a:ext cx="288"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8" name="Line 140"/>
              <p:cNvSpPr>
                <a:spLocks noChangeShapeType="1"/>
              </p:cNvSpPr>
              <p:nvPr/>
            </p:nvSpPr>
            <p:spPr bwMode="auto">
              <a:xfrm>
                <a:off x="4272" y="2544"/>
                <a:ext cx="240"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29" name="Line 141"/>
              <p:cNvSpPr>
                <a:spLocks noChangeShapeType="1"/>
              </p:cNvSpPr>
              <p:nvPr/>
            </p:nvSpPr>
            <p:spPr bwMode="auto">
              <a:xfrm>
                <a:off x="4272" y="2640"/>
                <a:ext cx="192"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sp>
            <p:nvSpPr>
              <p:cNvPr id="575630" name="Line 142"/>
              <p:cNvSpPr>
                <a:spLocks noChangeShapeType="1"/>
              </p:cNvSpPr>
              <p:nvPr/>
            </p:nvSpPr>
            <p:spPr bwMode="auto">
              <a:xfrm>
                <a:off x="4272" y="2736"/>
                <a:ext cx="144" cy="0"/>
              </a:xfrm>
              <a:prstGeom prst="line">
                <a:avLst/>
              </a:prstGeom>
              <a:noFill/>
              <a:ln w="19050">
                <a:solidFill>
                  <a:srgbClr val="3366FF"/>
                </a:solidFill>
                <a:round/>
                <a:headEnd type="none" w="sm" len="sm"/>
                <a:tailEnd type="stealth" w="med" len="lg"/>
              </a:ln>
              <a:effectLst/>
            </p:spPr>
            <p:txBody>
              <a:bodyPr wrap="none" anchor="ctr"/>
              <a:lstStyle/>
              <a:p>
                <a:endParaRPr lang="zh-CN" altLang="en-US"/>
              </a:p>
            </p:txBody>
          </p:sp>
        </p:grpSp>
        <p:sp>
          <p:nvSpPr>
            <p:cNvPr id="575631" name="Text Box 143"/>
            <p:cNvSpPr txBox="1">
              <a:spLocks noChangeArrowheads="1"/>
            </p:cNvSpPr>
            <p:nvPr/>
          </p:nvSpPr>
          <p:spPr bwMode="auto">
            <a:xfrm>
              <a:off x="3456" y="1536"/>
              <a:ext cx="1008" cy="365"/>
            </a:xfrm>
            <a:prstGeom prst="rect">
              <a:avLst/>
            </a:prstGeom>
            <a:noFill/>
            <a:ln w="12700">
              <a:noFill/>
              <a:miter lim="800000"/>
              <a:headEnd type="none" w="sm" len="sm"/>
              <a:tailEnd type="none" w="sm" len="sm"/>
            </a:ln>
            <a:effectLst/>
          </p:spPr>
          <p:txBody>
            <a:bodyPr>
              <a:spAutoFit/>
            </a:bodyPr>
            <a:lstStyle/>
            <a:p>
              <a:pPr>
                <a:spcBef>
                  <a:spcPct val="50000"/>
                </a:spcBef>
              </a:pPr>
              <a:r>
                <a:rPr kumimoji="1" lang="en-US" altLang="zh-CN" sz="3200" i="1" dirty="0"/>
                <a:t>u</a:t>
              </a:r>
              <a:r>
                <a:rPr kumimoji="1" lang="en-US" altLang="zh-CN" sz="3200" dirty="0"/>
                <a:t>=</a:t>
              </a:r>
              <a:r>
                <a:rPr kumimoji="1" lang="en-US" altLang="zh-CN" sz="3200" i="1" dirty="0"/>
                <a:t>u</a:t>
              </a:r>
              <a:r>
                <a:rPr kumimoji="1" lang="en-US" altLang="zh-CN" sz="3200" dirty="0"/>
                <a:t>(z)</a:t>
              </a:r>
            </a:p>
          </p:txBody>
        </p:sp>
        <p:sp>
          <p:nvSpPr>
            <p:cNvPr id="575632" name="Rectangle 144"/>
            <p:cNvSpPr>
              <a:spLocks noChangeArrowheads="1"/>
            </p:cNvSpPr>
            <p:nvPr/>
          </p:nvSpPr>
          <p:spPr bwMode="auto">
            <a:xfrm>
              <a:off x="4272" y="1008"/>
              <a:ext cx="342" cy="365"/>
            </a:xfrm>
            <a:prstGeom prst="rect">
              <a:avLst/>
            </a:prstGeom>
            <a:noFill/>
            <a:ln w="12700">
              <a:noFill/>
              <a:miter lim="800000"/>
              <a:headEnd type="none" w="sm" len="sm"/>
              <a:tailEnd type="none" w="sm" len="sm"/>
            </a:ln>
            <a:effectLst/>
          </p:spPr>
          <p:txBody>
            <a:bodyPr wrap="none">
              <a:spAutoFit/>
            </a:bodyPr>
            <a:lstStyle/>
            <a:p>
              <a:r>
                <a:rPr kumimoji="1" lang="en-US" altLang="zh-CN" sz="3200" b="1" i="1"/>
                <a:t>u</a:t>
              </a:r>
              <a:r>
                <a:rPr kumimoji="1" lang="en-US" altLang="zh-CN" sz="3200" b="1" baseline="-25000"/>
                <a:t>0</a:t>
              </a:r>
            </a:p>
          </p:txBody>
        </p:sp>
        <p:sp>
          <p:nvSpPr>
            <p:cNvPr id="575633" name="Rectangle 145"/>
            <p:cNvSpPr>
              <a:spLocks noChangeArrowheads="1"/>
            </p:cNvSpPr>
            <p:nvPr/>
          </p:nvSpPr>
          <p:spPr bwMode="auto">
            <a:xfrm>
              <a:off x="4272" y="2862"/>
              <a:ext cx="618" cy="365"/>
            </a:xfrm>
            <a:prstGeom prst="rect">
              <a:avLst/>
            </a:prstGeom>
            <a:noFill/>
            <a:ln w="12700">
              <a:noFill/>
              <a:miter lim="800000"/>
              <a:headEnd type="none" w="sm" len="sm"/>
              <a:tailEnd type="none" w="sm" len="sm"/>
            </a:ln>
            <a:effectLst/>
          </p:spPr>
          <p:txBody>
            <a:bodyPr wrap="none">
              <a:spAutoFit/>
            </a:bodyPr>
            <a:lstStyle/>
            <a:p>
              <a:r>
                <a:rPr kumimoji="1" lang="en-US" altLang="zh-CN" sz="3200" b="1" i="1">
                  <a:latin typeface="Book Antiqua" pitchFamily="18" charset="0"/>
                </a:rPr>
                <a:t>u </a:t>
              </a:r>
              <a:r>
                <a:rPr kumimoji="1" lang="en-US" altLang="zh-CN" sz="2800" b="1"/>
                <a:t>= 0</a:t>
              </a:r>
            </a:p>
          </p:txBody>
        </p:sp>
      </p:grpSp>
      <p:grpSp>
        <p:nvGrpSpPr>
          <p:cNvPr id="575634" name="Group 146"/>
          <p:cNvGrpSpPr>
            <a:grpSpLocks/>
          </p:cNvGrpSpPr>
          <p:nvPr/>
        </p:nvGrpSpPr>
        <p:grpSpPr bwMode="auto">
          <a:xfrm>
            <a:off x="3900488" y="2878138"/>
            <a:ext cx="4648200" cy="609600"/>
            <a:chOff x="2304" y="1920"/>
            <a:chExt cx="2928" cy="384"/>
          </a:xfrm>
        </p:grpSpPr>
        <p:grpSp>
          <p:nvGrpSpPr>
            <p:cNvPr id="575635" name="Group 147"/>
            <p:cNvGrpSpPr>
              <a:grpSpLocks/>
            </p:cNvGrpSpPr>
            <p:nvPr/>
          </p:nvGrpSpPr>
          <p:grpSpPr bwMode="auto">
            <a:xfrm>
              <a:off x="2640" y="2016"/>
              <a:ext cx="2592" cy="288"/>
              <a:chOff x="2640" y="2016"/>
              <a:chExt cx="2592" cy="288"/>
            </a:xfrm>
          </p:grpSpPr>
          <p:sp>
            <p:nvSpPr>
              <p:cNvPr id="575636" name="Rectangle 148" descr="大纸屑"/>
              <p:cNvSpPr>
                <a:spLocks noChangeArrowheads="1"/>
              </p:cNvSpPr>
              <p:nvPr/>
            </p:nvSpPr>
            <p:spPr bwMode="auto">
              <a:xfrm>
                <a:off x="2640" y="2016"/>
                <a:ext cx="2592" cy="288"/>
              </a:xfrm>
              <a:prstGeom prst="rect">
                <a:avLst/>
              </a:prstGeom>
              <a:pattFill prst="lgConfetti">
                <a:fgClr>
                  <a:srgbClr val="3366FF"/>
                </a:fgClr>
                <a:bgClr>
                  <a:srgbClr val="FFFFFF"/>
                </a:bgClr>
              </a:pattFill>
              <a:ln w="28575">
                <a:noFill/>
                <a:miter lim="800000"/>
                <a:headEnd type="none" w="sm" len="sm"/>
                <a:tailEnd type="none" w="sm" len="sm"/>
              </a:ln>
              <a:effectLst/>
            </p:spPr>
            <p:txBody>
              <a:bodyPr wrap="none" anchor="ctr"/>
              <a:lstStyle/>
              <a:p>
                <a:endParaRPr lang="zh-CN" altLang="en-US"/>
              </a:p>
            </p:txBody>
          </p:sp>
          <p:sp>
            <p:nvSpPr>
              <p:cNvPr id="575637" name="Line 149"/>
              <p:cNvSpPr>
                <a:spLocks noChangeShapeType="1"/>
              </p:cNvSpPr>
              <p:nvPr/>
            </p:nvSpPr>
            <p:spPr bwMode="auto">
              <a:xfrm>
                <a:off x="2640" y="2160"/>
                <a:ext cx="2544" cy="0"/>
              </a:xfrm>
              <a:prstGeom prst="line">
                <a:avLst/>
              </a:prstGeom>
              <a:noFill/>
              <a:ln w="28575">
                <a:solidFill>
                  <a:srgbClr val="3366FF"/>
                </a:solidFill>
                <a:round/>
                <a:headEnd type="none" w="sm" len="sm"/>
                <a:tailEnd type="none" w="sm" len="sm"/>
              </a:ln>
              <a:effectLst/>
            </p:spPr>
            <p:txBody>
              <a:bodyPr wrap="none" anchor="ctr"/>
              <a:lstStyle/>
              <a:p>
                <a:endParaRPr lang="zh-CN" altLang="en-US"/>
              </a:p>
            </p:txBody>
          </p:sp>
        </p:grpSp>
        <p:sp>
          <p:nvSpPr>
            <p:cNvPr id="575638" name="Rectangle 150"/>
            <p:cNvSpPr>
              <a:spLocks noChangeArrowheads="1"/>
            </p:cNvSpPr>
            <p:nvPr/>
          </p:nvSpPr>
          <p:spPr bwMode="auto">
            <a:xfrm>
              <a:off x="2304" y="1920"/>
              <a:ext cx="300" cy="365"/>
            </a:xfrm>
            <a:prstGeom prst="rect">
              <a:avLst/>
            </a:prstGeom>
            <a:noFill/>
            <a:ln w="12700">
              <a:noFill/>
              <a:miter lim="800000"/>
              <a:headEnd type="none" w="sm" len="sm"/>
              <a:tailEnd type="none" w="sm" len="sm"/>
            </a:ln>
            <a:effectLst/>
          </p:spPr>
          <p:txBody>
            <a:bodyPr wrap="none">
              <a:spAutoFit/>
            </a:bodyPr>
            <a:lstStyle/>
            <a:p>
              <a:r>
                <a:rPr kumimoji="1" lang="en-US" altLang="zh-CN" sz="3200" b="1" i="1"/>
                <a:t>z</a:t>
              </a:r>
              <a:r>
                <a:rPr kumimoji="1" lang="en-US" altLang="zh-CN" sz="3200" b="1" baseline="-25000"/>
                <a:t>o</a:t>
              </a:r>
            </a:p>
          </p:txBody>
        </p:sp>
      </p:grpSp>
      <p:grpSp>
        <p:nvGrpSpPr>
          <p:cNvPr id="575639" name="Group 151"/>
          <p:cNvGrpSpPr>
            <a:grpSpLocks/>
          </p:cNvGrpSpPr>
          <p:nvPr/>
        </p:nvGrpSpPr>
        <p:grpSpPr bwMode="auto">
          <a:xfrm>
            <a:off x="5195888" y="2725738"/>
            <a:ext cx="1557337" cy="1112837"/>
            <a:chOff x="3120" y="1824"/>
            <a:chExt cx="981" cy="701"/>
          </a:xfrm>
        </p:grpSpPr>
        <p:sp>
          <p:nvSpPr>
            <p:cNvPr id="575640" name="Line 152"/>
            <p:cNvSpPr>
              <a:spLocks noChangeShapeType="1"/>
            </p:cNvSpPr>
            <p:nvPr/>
          </p:nvSpPr>
          <p:spPr bwMode="auto">
            <a:xfrm flipH="1">
              <a:off x="3264" y="2064"/>
              <a:ext cx="624" cy="0"/>
            </a:xfrm>
            <a:prstGeom prst="line">
              <a:avLst/>
            </a:prstGeom>
            <a:noFill/>
            <a:ln w="38100">
              <a:solidFill>
                <a:srgbClr val="000099"/>
              </a:solidFill>
              <a:round/>
              <a:headEnd/>
              <a:tailEnd type="stealth" w="med" len="lg"/>
            </a:ln>
            <a:effectLst/>
          </p:spPr>
          <p:txBody>
            <a:bodyPr wrap="none" anchor="ctr"/>
            <a:lstStyle/>
            <a:p>
              <a:endParaRPr lang="zh-CN" altLang="en-US"/>
            </a:p>
          </p:txBody>
        </p:sp>
        <p:sp>
          <p:nvSpPr>
            <p:cNvPr id="575641" name="Line 153"/>
            <p:cNvSpPr>
              <a:spLocks noChangeShapeType="1"/>
            </p:cNvSpPr>
            <p:nvPr/>
          </p:nvSpPr>
          <p:spPr bwMode="auto">
            <a:xfrm flipH="1">
              <a:off x="3264" y="2208"/>
              <a:ext cx="624" cy="0"/>
            </a:xfrm>
            <a:prstGeom prst="line">
              <a:avLst/>
            </a:prstGeom>
            <a:noFill/>
            <a:ln w="38100">
              <a:solidFill>
                <a:srgbClr val="000099"/>
              </a:solidFill>
              <a:round/>
              <a:headEnd type="stealth" w="med" len="lg"/>
              <a:tailEnd/>
            </a:ln>
            <a:effectLst/>
          </p:spPr>
          <p:txBody>
            <a:bodyPr wrap="none" anchor="ctr"/>
            <a:lstStyle/>
            <a:p>
              <a:endParaRPr lang="zh-CN" altLang="en-US"/>
            </a:p>
          </p:txBody>
        </p:sp>
        <p:sp>
          <p:nvSpPr>
            <p:cNvPr id="575642" name="Rectangle 154"/>
            <p:cNvSpPr>
              <a:spLocks noChangeArrowheads="1"/>
            </p:cNvSpPr>
            <p:nvPr/>
          </p:nvSpPr>
          <p:spPr bwMode="auto">
            <a:xfrm>
              <a:off x="3120" y="1824"/>
              <a:ext cx="272" cy="365"/>
            </a:xfrm>
            <a:prstGeom prst="rect">
              <a:avLst/>
            </a:prstGeom>
            <a:noFill/>
            <a:ln w="12700">
              <a:noFill/>
              <a:miter lim="800000"/>
              <a:headEnd type="none" w="sm" len="sm"/>
              <a:tailEnd type="none" w="sm" len="sm"/>
            </a:ln>
            <a:effectLst/>
          </p:spPr>
          <p:txBody>
            <a:bodyPr wrap="none">
              <a:spAutoFit/>
            </a:bodyPr>
            <a:lstStyle/>
            <a:p>
              <a:r>
                <a:rPr kumimoji="1" lang="en-US" altLang="zh-CN" sz="3200" i="1"/>
                <a:t>F</a:t>
              </a:r>
            </a:p>
          </p:txBody>
        </p:sp>
        <p:sp>
          <p:nvSpPr>
            <p:cNvPr id="575643" name="Rectangle 155"/>
            <p:cNvSpPr>
              <a:spLocks noChangeArrowheads="1"/>
            </p:cNvSpPr>
            <p:nvPr/>
          </p:nvSpPr>
          <p:spPr bwMode="auto">
            <a:xfrm>
              <a:off x="3744" y="2160"/>
              <a:ext cx="357" cy="365"/>
            </a:xfrm>
            <a:prstGeom prst="rect">
              <a:avLst/>
            </a:prstGeom>
            <a:noFill/>
            <a:ln w="12700">
              <a:noFill/>
              <a:miter lim="800000"/>
              <a:headEnd type="none" w="sm" len="sm"/>
              <a:tailEnd type="none" w="sm" len="sm"/>
            </a:ln>
            <a:effectLst/>
          </p:spPr>
          <p:txBody>
            <a:bodyPr wrap="none">
              <a:spAutoFit/>
            </a:bodyPr>
            <a:lstStyle/>
            <a:p>
              <a:r>
                <a:rPr kumimoji="1" lang="en-US" altLang="zh-CN" sz="3200" i="1"/>
                <a:t>F</a:t>
              </a:r>
              <a:r>
                <a:rPr kumimoji="1" lang="en-US" altLang="zh-CN" sz="3200"/>
                <a:t>’</a:t>
              </a:r>
            </a:p>
          </p:txBody>
        </p:sp>
      </p:grpSp>
      <p:graphicFrame>
        <p:nvGraphicFramePr>
          <p:cNvPr id="575644" name="Object 156"/>
          <p:cNvGraphicFramePr>
            <a:graphicFrameLocks noChangeAspect="1"/>
          </p:cNvGraphicFramePr>
          <p:nvPr/>
        </p:nvGraphicFramePr>
        <p:xfrm>
          <a:off x="838200" y="1727200"/>
          <a:ext cx="1624013" cy="787400"/>
        </p:xfrm>
        <a:graphic>
          <a:graphicData uri="http://schemas.openxmlformats.org/presentationml/2006/ole">
            <mc:AlternateContent xmlns:mc="http://schemas.openxmlformats.org/markup-compatibility/2006">
              <mc:Choice xmlns:v="urn:schemas-microsoft-com:vml" Requires="v">
                <p:oleObj name="公式" r:id="rId2" imgW="812520" imgH="393480" progId="Equation.3">
                  <p:embed/>
                </p:oleObj>
              </mc:Choice>
              <mc:Fallback>
                <p:oleObj name="公式" r:id="rId2" imgW="812520" imgH="393480" progId="Equation.3">
                  <p:embed/>
                  <p:pic>
                    <p:nvPicPr>
                      <p:cNvPr id="575644" name="Object 1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27200"/>
                        <a:ext cx="16240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5645" name="Text Box 157"/>
          <p:cNvSpPr txBox="1">
            <a:spLocks noChangeArrowheads="1"/>
          </p:cNvSpPr>
          <p:nvPr/>
        </p:nvSpPr>
        <p:spPr bwMode="auto">
          <a:xfrm>
            <a:off x="228600" y="2681287"/>
            <a:ext cx="3352800" cy="519113"/>
          </a:xfrm>
          <a:prstGeom prst="rect">
            <a:avLst/>
          </a:prstGeom>
          <a:noFill/>
          <a:ln w="12700">
            <a:noFill/>
            <a:miter lim="800000"/>
            <a:headEnd type="none" w="sm" len="sm"/>
            <a:tailEnd type="none" w="sm" len="sm"/>
          </a:ln>
          <a:effectLst/>
        </p:spPr>
        <p:txBody>
          <a:bodyPr>
            <a:spAutoFit/>
          </a:bodyPr>
          <a:lstStyle/>
          <a:p>
            <a:pPr>
              <a:spcBef>
                <a:spcPct val="50000"/>
              </a:spcBef>
            </a:pPr>
            <a:r>
              <a:rPr kumimoji="1" lang="zh-CN" altLang="en-US" sz="2800" dirty="0">
                <a:solidFill>
                  <a:srgbClr val="0000CC"/>
                </a:solidFill>
              </a:rPr>
              <a:t>牛顿粘滞定律</a:t>
            </a:r>
            <a:r>
              <a:rPr kumimoji="1" lang="zh-CN" altLang="en-US" sz="2800" dirty="0"/>
              <a:t>：</a:t>
            </a:r>
          </a:p>
        </p:txBody>
      </p:sp>
      <p:graphicFrame>
        <p:nvGraphicFramePr>
          <p:cNvPr id="575646" name="Object 158"/>
          <p:cNvGraphicFramePr>
            <a:graphicFrameLocks noChangeAspect="1"/>
          </p:cNvGraphicFramePr>
          <p:nvPr/>
        </p:nvGraphicFramePr>
        <p:xfrm>
          <a:off x="762000" y="3403600"/>
          <a:ext cx="2108200" cy="939800"/>
        </p:xfrm>
        <a:graphic>
          <a:graphicData uri="http://schemas.openxmlformats.org/presentationml/2006/ole">
            <mc:AlternateContent xmlns:mc="http://schemas.openxmlformats.org/markup-compatibility/2006">
              <mc:Choice xmlns:v="urn:schemas-microsoft-com:vml" Requires="v">
                <p:oleObj name="公式" r:id="rId4" imgW="1054080" imgH="469800" progId="Equation.3">
                  <p:embed/>
                </p:oleObj>
              </mc:Choice>
              <mc:Fallback>
                <p:oleObj name="公式" r:id="rId4" imgW="1054080" imgH="469800" progId="Equation.3">
                  <p:embed/>
                  <p:pic>
                    <p:nvPicPr>
                      <p:cNvPr id="575646" name="Object 1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403600"/>
                        <a:ext cx="2108200"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5647" name="Object 159"/>
          <p:cNvGraphicFramePr>
            <a:graphicFrameLocks noChangeAspect="1"/>
          </p:cNvGraphicFramePr>
          <p:nvPr/>
        </p:nvGraphicFramePr>
        <p:xfrm>
          <a:off x="884238" y="4648200"/>
          <a:ext cx="1325562" cy="787400"/>
        </p:xfrm>
        <a:graphic>
          <a:graphicData uri="http://schemas.openxmlformats.org/presentationml/2006/ole">
            <mc:AlternateContent xmlns:mc="http://schemas.openxmlformats.org/markup-compatibility/2006">
              <mc:Choice xmlns:v="urn:schemas-microsoft-com:vml" Requires="v">
                <p:oleObj name="公式" r:id="rId6" imgW="660240" imgH="393480" progId="Equation.3">
                  <p:embed/>
                </p:oleObj>
              </mc:Choice>
              <mc:Fallback>
                <p:oleObj name="公式" r:id="rId6" imgW="660240" imgH="393480" progId="Equation.3">
                  <p:embed/>
                  <p:pic>
                    <p:nvPicPr>
                      <p:cNvPr id="575647" name="Object 1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4238" y="4648200"/>
                        <a:ext cx="1325562" cy="787400"/>
                      </a:xfrm>
                      <a:prstGeom prst="rect">
                        <a:avLst/>
                      </a:prstGeom>
                      <a:noFill/>
                      <a:ln>
                        <a:noFill/>
                      </a:ln>
                      <a:extLst>
                        <a:ext uri="{909E8E84-426E-40DD-AFC4-6F175D3DCCD1}">
                          <a14:hiddenFill xmlns:a14="http://schemas.microsoft.com/office/drawing/2010/main">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14:hiddenFill>
                        </a:ext>
                        <a:ext uri="{91240B29-F687-4F45-9708-019B960494DF}">
                          <a14:hiddenLine xmlns:a14="http://schemas.microsoft.com/office/drawing/2010/main" w="76200" cmpd="tri">
                            <a:solidFill>
                              <a:srgbClr val="66FF33"/>
                            </a:solidFill>
                            <a:miter lim="800000"/>
                            <a:headEnd/>
                            <a:tailEnd/>
                          </a14:hiddenLine>
                        </a:ext>
                      </a:extLst>
                    </p:spPr>
                  </p:pic>
                </p:oleObj>
              </mc:Fallback>
            </mc:AlternateContent>
          </a:graphicData>
        </a:graphic>
      </p:graphicFrame>
      <p:sp>
        <p:nvSpPr>
          <p:cNvPr id="575648" name="Text Box 160"/>
          <p:cNvSpPr txBox="1">
            <a:spLocks noChangeArrowheads="1"/>
          </p:cNvSpPr>
          <p:nvPr/>
        </p:nvSpPr>
        <p:spPr bwMode="auto">
          <a:xfrm>
            <a:off x="2743200" y="4814888"/>
            <a:ext cx="3886200" cy="519112"/>
          </a:xfrm>
          <a:prstGeom prst="rect">
            <a:avLst/>
          </a:prstGeom>
          <a:noFill/>
          <a:ln w="12700">
            <a:noFill/>
            <a:miter lim="800000"/>
            <a:headEnd type="none" w="sm" len="sm"/>
            <a:tailEnd type="none" w="sm" len="sm"/>
          </a:ln>
          <a:effectLst/>
        </p:spPr>
        <p:txBody>
          <a:bodyPr>
            <a:spAutoFit/>
          </a:bodyPr>
          <a:lstStyle/>
          <a:p>
            <a:pPr>
              <a:spcBef>
                <a:spcPct val="50000"/>
              </a:spcBef>
            </a:pPr>
            <a:r>
              <a:rPr kumimoji="1" lang="en-US" altLang="zh-CN" sz="2800" i="1">
                <a:sym typeface="Symbol" pitchFamily="18" charset="2"/>
              </a:rPr>
              <a:t> </a:t>
            </a:r>
            <a:r>
              <a:rPr kumimoji="1" lang="zh-CN" altLang="en-US" sz="2800">
                <a:sym typeface="Symbol" pitchFamily="18" charset="2"/>
              </a:rPr>
              <a:t>称为</a:t>
            </a:r>
            <a:r>
              <a:rPr kumimoji="1" lang="zh-CN" altLang="en-US" sz="2800">
                <a:solidFill>
                  <a:srgbClr val="0000CC"/>
                </a:solidFill>
                <a:sym typeface="Symbol" pitchFamily="18" charset="2"/>
              </a:rPr>
              <a:t>粘滞系数（粘度）</a:t>
            </a:r>
            <a:endParaRPr kumimoji="1" lang="zh-CN" altLang="en-US" sz="2800">
              <a:solidFill>
                <a:srgbClr val="0000CC"/>
              </a:solidFill>
            </a:endParaRPr>
          </a:p>
        </p:txBody>
      </p:sp>
      <p:sp>
        <p:nvSpPr>
          <p:cNvPr id="575649" name="Text Box 161"/>
          <p:cNvSpPr txBox="1">
            <a:spLocks noChangeArrowheads="1"/>
          </p:cNvSpPr>
          <p:nvPr/>
        </p:nvSpPr>
        <p:spPr bwMode="auto">
          <a:xfrm>
            <a:off x="395288" y="5805488"/>
            <a:ext cx="8534400" cy="519112"/>
          </a:xfrm>
          <a:prstGeom prst="rect">
            <a:avLst/>
          </a:prstGeom>
          <a:noFill/>
          <a:ln w="12700">
            <a:noFill/>
            <a:miter lim="800000"/>
            <a:headEnd type="none" w="sm" len="sm"/>
            <a:tailEnd type="none" w="sm" len="sm"/>
          </a:ln>
          <a:effectLst/>
        </p:spPr>
        <p:txBody>
          <a:bodyPr>
            <a:spAutoFit/>
          </a:bodyPr>
          <a:lstStyle/>
          <a:p>
            <a:pPr>
              <a:spcBef>
                <a:spcPct val="50000"/>
              </a:spcBef>
            </a:pPr>
            <a:r>
              <a:rPr kumimoji="1" lang="zh-CN" altLang="en-US" sz="2800"/>
              <a:t>结论：粘滞现象的微观本质是</a:t>
            </a:r>
            <a:r>
              <a:rPr kumimoji="1" lang="zh-CN" altLang="en-US" sz="2800">
                <a:solidFill>
                  <a:srgbClr val="0000CC"/>
                </a:solidFill>
              </a:rPr>
              <a:t>分子</a:t>
            </a:r>
            <a:r>
              <a:rPr kumimoji="1" lang="zh-CN" altLang="en-US" sz="2800">
                <a:solidFill>
                  <a:srgbClr val="FF3300"/>
                </a:solidFill>
              </a:rPr>
              <a:t>动量</a:t>
            </a:r>
            <a:r>
              <a:rPr kumimoji="1" lang="zh-CN" altLang="en-US" sz="2800">
                <a:solidFill>
                  <a:srgbClr val="0000CC"/>
                </a:solidFill>
              </a:rPr>
              <a:t>的定向迁移</a:t>
            </a:r>
            <a:r>
              <a:rPr kumimoji="1" lang="zh-CN" altLang="en-US" sz="28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75606"/>
                                        </p:tgtEl>
                                        <p:attrNameLst>
                                          <p:attrName>style.visibility</p:attrName>
                                        </p:attrNameLst>
                                      </p:cBhvr>
                                      <p:to>
                                        <p:strVal val="visible"/>
                                      </p:to>
                                    </p:set>
                                    <p:animEffect transition="in" filter="dissolve">
                                      <p:cBhvr>
                                        <p:cTn id="7" dur="500"/>
                                        <p:tgtEl>
                                          <p:spTgt spid="5756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75634"/>
                                        </p:tgtEl>
                                        <p:attrNameLst>
                                          <p:attrName>style.visibility</p:attrName>
                                        </p:attrNameLst>
                                      </p:cBhvr>
                                      <p:to>
                                        <p:strVal val="visible"/>
                                      </p:to>
                                    </p:set>
                                    <p:animEffect transition="in" filter="dissolve">
                                      <p:cBhvr>
                                        <p:cTn id="12" dur="500"/>
                                        <p:tgtEl>
                                          <p:spTgt spid="575634"/>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288" fill="hold" nodeType="clickEffect">
                                  <p:stCondLst>
                                    <p:cond delay="0"/>
                                  </p:stCondLst>
                                  <p:childTnLst>
                                    <p:set>
                                      <p:cBhvr>
                                        <p:cTn id="16" dur="1" fill="hold">
                                          <p:stCondLst>
                                            <p:cond delay="0"/>
                                          </p:stCondLst>
                                        </p:cTn>
                                        <p:tgtEl>
                                          <p:spTgt spid="575639"/>
                                        </p:tgtEl>
                                        <p:attrNameLst>
                                          <p:attrName>style.visibility</p:attrName>
                                        </p:attrNameLst>
                                      </p:cBhvr>
                                      <p:to>
                                        <p:strVal val="visible"/>
                                      </p:to>
                                    </p:set>
                                    <p:anim calcmode="lin" valueType="num">
                                      <p:cBhvr>
                                        <p:cTn id="17" dur="500" fill="hold"/>
                                        <p:tgtEl>
                                          <p:spTgt spid="575639"/>
                                        </p:tgtEl>
                                        <p:attrNameLst>
                                          <p:attrName>ppt_w</p:attrName>
                                        </p:attrNameLst>
                                      </p:cBhvr>
                                      <p:tavLst>
                                        <p:tav tm="0">
                                          <p:val>
                                            <p:strVal val="4/3*#ppt_w"/>
                                          </p:val>
                                        </p:tav>
                                        <p:tav tm="100000">
                                          <p:val>
                                            <p:strVal val="#ppt_w"/>
                                          </p:val>
                                        </p:tav>
                                      </p:tavLst>
                                    </p:anim>
                                    <p:anim calcmode="lin" valueType="num">
                                      <p:cBhvr>
                                        <p:cTn id="18" dur="500" fill="hold"/>
                                        <p:tgtEl>
                                          <p:spTgt spid="575639"/>
                                        </p:tgtEl>
                                        <p:attrNameLst>
                                          <p:attrName>ppt_h</p:attrName>
                                        </p:attrNameLst>
                                      </p:cBhvr>
                                      <p:tavLst>
                                        <p:tav tm="0">
                                          <p:val>
                                            <p:strVal val="4/3*#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575644"/>
                                        </p:tgtEl>
                                        <p:attrNameLst>
                                          <p:attrName>style.visibility</p:attrName>
                                        </p:attrNameLst>
                                      </p:cBhvr>
                                      <p:to>
                                        <p:strVal val="visible"/>
                                      </p:to>
                                    </p:set>
                                    <p:animEffect transition="in" filter="strips(upRight)">
                                      <p:cBhvr>
                                        <p:cTn id="23" dur="500"/>
                                        <p:tgtEl>
                                          <p:spTgt spid="575644"/>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575645"/>
                                        </p:tgtEl>
                                        <p:attrNameLst>
                                          <p:attrName>style.visibility</p:attrName>
                                        </p:attrNameLst>
                                      </p:cBhvr>
                                      <p:to>
                                        <p:strVal val="visible"/>
                                      </p:to>
                                    </p:set>
                                    <p:animEffect transition="in" filter="strips(upRight)">
                                      <p:cBhvr>
                                        <p:cTn id="28" dur="500"/>
                                        <p:tgtEl>
                                          <p:spTgt spid="575645"/>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575646"/>
                                        </p:tgtEl>
                                        <p:attrNameLst>
                                          <p:attrName>style.visibility</p:attrName>
                                        </p:attrNameLst>
                                      </p:cBhvr>
                                      <p:to>
                                        <p:strVal val="visible"/>
                                      </p:to>
                                    </p:set>
                                    <p:animEffect transition="in" filter="strips(upRight)">
                                      <p:cBhvr>
                                        <p:cTn id="33" dur="500"/>
                                        <p:tgtEl>
                                          <p:spTgt spid="575646"/>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nodeType="clickEffect">
                                  <p:stCondLst>
                                    <p:cond delay="0"/>
                                  </p:stCondLst>
                                  <p:childTnLst>
                                    <p:set>
                                      <p:cBhvr>
                                        <p:cTn id="37" dur="1" fill="hold">
                                          <p:stCondLst>
                                            <p:cond delay="0"/>
                                          </p:stCondLst>
                                        </p:cTn>
                                        <p:tgtEl>
                                          <p:spTgt spid="575647"/>
                                        </p:tgtEl>
                                        <p:attrNameLst>
                                          <p:attrName>style.visibility</p:attrName>
                                        </p:attrNameLst>
                                      </p:cBhvr>
                                      <p:to>
                                        <p:strVal val="visible"/>
                                      </p:to>
                                    </p:set>
                                    <p:animEffect transition="in" filter="strips(upRight)">
                                      <p:cBhvr>
                                        <p:cTn id="38" dur="500"/>
                                        <p:tgtEl>
                                          <p:spTgt spid="575647"/>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75648"/>
                                        </p:tgtEl>
                                        <p:attrNameLst>
                                          <p:attrName>style.visibility</p:attrName>
                                        </p:attrNameLst>
                                      </p:cBhvr>
                                      <p:to>
                                        <p:strVal val="visible"/>
                                      </p:to>
                                    </p:set>
                                    <p:anim calcmode="lin" valueType="num">
                                      <p:cBhvr additive="base">
                                        <p:cTn id="43" dur="500" fill="hold"/>
                                        <p:tgtEl>
                                          <p:spTgt spid="575648"/>
                                        </p:tgtEl>
                                        <p:attrNameLst>
                                          <p:attrName>ppt_x</p:attrName>
                                        </p:attrNameLst>
                                      </p:cBhvr>
                                      <p:tavLst>
                                        <p:tav tm="0">
                                          <p:val>
                                            <p:strVal val="#ppt_x"/>
                                          </p:val>
                                        </p:tav>
                                        <p:tav tm="100000">
                                          <p:val>
                                            <p:strVal val="#ppt_x"/>
                                          </p:val>
                                        </p:tav>
                                      </p:tavLst>
                                    </p:anim>
                                    <p:anim calcmode="lin" valueType="num">
                                      <p:cBhvr additive="base">
                                        <p:cTn id="44" dur="500" fill="hold"/>
                                        <p:tgtEl>
                                          <p:spTgt spid="57564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75649"/>
                                        </p:tgtEl>
                                        <p:attrNameLst>
                                          <p:attrName>style.visibility</p:attrName>
                                        </p:attrNameLst>
                                      </p:cBhvr>
                                      <p:to>
                                        <p:strVal val="visible"/>
                                      </p:to>
                                    </p:set>
                                    <p:animEffect transition="in" filter="wipe(left)">
                                      <p:cBhvr>
                                        <p:cTn id="49" dur="500"/>
                                        <p:tgtEl>
                                          <p:spTgt spid="575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645" grpId="0" autoUpdateAnimBg="0"/>
      <p:bldP spid="575648" grpId="0" autoUpdateAnimBg="0"/>
      <p:bldP spid="57564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p:txBody>
          <a:bodyPr/>
          <a:lstStyle/>
          <a:p>
            <a:r>
              <a:rPr lang="en-US" altLang="zh-CN"/>
              <a:t>10</a:t>
            </a:r>
            <a:r>
              <a:rPr lang="en-US" altLang="en-US"/>
              <a:t>.7 气体的输运现象（简介） </a:t>
            </a:r>
            <a:endParaRPr lang="zh-CN" altLang="en-US"/>
          </a:p>
        </p:txBody>
      </p:sp>
      <p:sp>
        <p:nvSpPr>
          <p:cNvPr id="26" name="灯片编号占位符 4"/>
          <p:cNvSpPr>
            <a:spLocks noGrp="1"/>
          </p:cNvSpPr>
          <p:nvPr>
            <p:ph type="sldNum" sz="quarter" idx="12"/>
          </p:nvPr>
        </p:nvSpPr>
        <p:spPr/>
        <p:txBody>
          <a:bodyPr/>
          <a:lstStyle/>
          <a:p>
            <a:fld id="{D8D56661-963E-4A81-B15B-C0A9569FF0C1}" type="slidenum">
              <a:rPr lang="en-US" altLang="zh-CN"/>
              <a:pPr/>
              <a:t>72</a:t>
            </a:fld>
            <a:endParaRPr lang="en-US" altLang="zh-CN"/>
          </a:p>
        </p:txBody>
      </p:sp>
      <p:sp>
        <p:nvSpPr>
          <p:cNvPr id="576515" name="Rectangle 3"/>
          <p:cNvSpPr>
            <a:spLocks noChangeArrowheads="1"/>
          </p:cNvSpPr>
          <p:nvPr/>
        </p:nvSpPr>
        <p:spPr bwMode="auto">
          <a:xfrm>
            <a:off x="501650" y="1219200"/>
            <a:ext cx="1708150" cy="457200"/>
          </a:xfrm>
          <a:prstGeom prst="rect">
            <a:avLst/>
          </a:prstGeom>
          <a:solidFill>
            <a:srgbClr val="CCFFCC">
              <a:alpha val="80000"/>
            </a:srgbClr>
          </a:solidFill>
          <a:ln w="9525">
            <a:noFill/>
            <a:miter lim="800000"/>
            <a:headEnd/>
            <a:tailEnd/>
          </a:ln>
          <a:effectLst/>
        </p:spPr>
        <p:txBody>
          <a:bodyPr wrap="none" anchor="ctr">
            <a:spAutoFit/>
          </a:bodyPr>
          <a:lstStyle/>
          <a:p>
            <a:r>
              <a:rPr lang="en-US" altLang="en-US" sz="2400" dirty="0" err="1"/>
              <a:t>热传导现象</a:t>
            </a:r>
            <a:endParaRPr lang="zh-CN" altLang="en-US" sz="2400" dirty="0"/>
          </a:p>
        </p:txBody>
      </p:sp>
      <p:grpSp>
        <p:nvGrpSpPr>
          <p:cNvPr id="576516" name="Group 4"/>
          <p:cNvGrpSpPr>
            <a:grpSpLocks/>
          </p:cNvGrpSpPr>
          <p:nvPr/>
        </p:nvGrpSpPr>
        <p:grpSpPr bwMode="auto">
          <a:xfrm>
            <a:off x="4953000" y="1600200"/>
            <a:ext cx="3887788" cy="3025775"/>
            <a:chOff x="3016" y="572"/>
            <a:chExt cx="2449" cy="1906"/>
          </a:xfrm>
        </p:grpSpPr>
        <p:sp>
          <p:nvSpPr>
            <p:cNvPr id="576517" name="Rectangle 5"/>
            <p:cNvSpPr>
              <a:spLocks noChangeArrowheads="1"/>
            </p:cNvSpPr>
            <p:nvPr/>
          </p:nvSpPr>
          <p:spPr bwMode="auto">
            <a:xfrm>
              <a:off x="3016" y="572"/>
              <a:ext cx="2449" cy="1906"/>
            </a:xfrm>
            <a:prstGeom prst="rect">
              <a:avLst/>
            </a:prstGeom>
            <a:solidFill>
              <a:srgbClr val="99CC00">
                <a:alpha val="50000"/>
              </a:srgbClr>
            </a:solidFill>
            <a:ln w="9525">
              <a:solidFill>
                <a:schemeClr val="tx1"/>
              </a:solidFill>
              <a:miter lim="800000"/>
              <a:headEnd/>
              <a:tailEnd/>
            </a:ln>
            <a:effectLst/>
          </p:spPr>
          <p:txBody>
            <a:bodyPr wrap="none" anchor="ctr"/>
            <a:lstStyle/>
            <a:p>
              <a:pPr algn="ctr"/>
              <a:endParaRPr lang="zh-CN" altLang="zh-CN"/>
            </a:p>
          </p:txBody>
        </p:sp>
        <p:sp>
          <p:nvSpPr>
            <p:cNvPr id="576518" name="Rectangle 6"/>
            <p:cNvSpPr>
              <a:spLocks noChangeAspect="1" noChangeArrowheads="1"/>
            </p:cNvSpPr>
            <p:nvPr/>
          </p:nvSpPr>
          <p:spPr bwMode="auto">
            <a:xfrm>
              <a:off x="3380" y="1041"/>
              <a:ext cx="1822" cy="1040"/>
            </a:xfrm>
            <a:prstGeom prst="rect">
              <a:avLst/>
            </a:prstGeom>
            <a:gradFill rotWithShape="1">
              <a:gsLst>
                <a:gs pos="0">
                  <a:srgbClr val="FF99CC"/>
                </a:gs>
                <a:gs pos="100000">
                  <a:srgbClr val="99CCFF"/>
                </a:gs>
              </a:gsLst>
              <a:lin ang="5400000" scaled="1"/>
            </a:gradFill>
            <a:ln w="9525">
              <a:noFill/>
              <a:miter lim="800000"/>
              <a:headEnd/>
              <a:tailEnd/>
            </a:ln>
          </p:spPr>
          <p:txBody>
            <a:bodyPr/>
            <a:lstStyle/>
            <a:p>
              <a:endParaRPr lang="zh-CN" altLang="en-US"/>
            </a:p>
          </p:txBody>
        </p:sp>
        <p:sp>
          <p:nvSpPr>
            <p:cNvPr id="576519" name="Rectangle 7"/>
            <p:cNvSpPr>
              <a:spLocks noChangeAspect="1" noChangeArrowheads="1"/>
            </p:cNvSpPr>
            <p:nvPr/>
          </p:nvSpPr>
          <p:spPr bwMode="auto">
            <a:xfrm>
              <a:off x="3380" y="926"/>
              <a:ext cx="1822" cy="115"/>
            </a:xfrm>
            <a:prstGeom prst="rect">
              <a:avLst/>
            </a:prstGeom>
            <a:gradFill rotWithShape="1">
              <a:gsLst>
                <a:gs pos="0">
                  <a:srgbClr val="FF99CC">
                    <a:gamma/>
                    <a:shade val="72941"/>
                    <a:invGamma/>
                  </a:srgbClr>
                </a:gs>
                <a:gs pos="100000">
                  <a:srgbClr val="FF99CC"/>
                </a:gs>
              </a:gsLst>
              <a:lin ang="5400000" scaled="1"/>
            </a:gradFill>
            <a:ln w="9525">
              <a:noFill/>
              <a:miter lim="800000"/>
              <a:headEnd/>
              <a:tailEnd/>
            </a:ln>
          </p:spPr>
          <p:txBody>
            <a:bodyPr/>
            <a:lstStyle/>
            <a:p>
              <a:endParaRPr lang="zh-CN" altLang="en-US"/>
            </a:p>
          </p:txBody>
        </p:sp>
        <p:sp>
          <p:nvSpPr>
            <p:cNvPr id="576520" name="Rectangle 8"/>
            <p:cNvSpPr>
              <a:spLocks noChangeAspect="1" noChangeArrowheads="1"/>
            </p:cNvSpPr>
            <p:nvPr/>
          </p:nvSpPr>
          <p:spPr bwMode="auto">
            <a:xfrm>
              <a:off x="3380" y="2080"/>
              <a:ext cx="1822" cy="115"/>
            </a:xfrm>
            <a:prstGeom prst="rect">
              <a:avLst/>
            </a:prstGeom>
            <a:gradFill rotWithShape="1">
              <a:gsLst>
                <a:gs pos="0">
                  <a:srgbClr val="99CCFF"/>
                </a:gs>
                <a:gs pos="100000">
                  <a:srgbClr val="99CCFF">
                    <a:gamma/>
                    <a:shade val="46275"/>
                    <a:invGamma/>
                  </a:srgbClr>
                </a:gs>
              </a:gsLst>
              <a:lin ang="5400000" scaled="1"/>
            </a:gradFill>
            <a:ln w="9525">
              <a:noFill/>
              <a:miter lim="800000"/>
              <a:headEnd/>
              <a:tailEnd/>
            </a:ln>
          </p:spPr>
          <p:txBody>
            <a:bodyPr/>
            <a:lstStyle/>
            <a:p>
              <a:endParaRPr lang="zh-CN" altLang="en-US"/>
            </a:p>
          </p:txBody>
        </p:sp>
        <p:sp>
          <p:nvSpPr>
            <p:cNvPr id="576521" name="Line 9"/>
            <p:cNvSpPr>
              <a:spLocks noChangeAspect="1" noChangeShapeType="1"/>
            </p:cNvSpPr>
            <p:nvPr/>
          </p:nvSpPr>
          <p:spPr bwMode="auto">
            <a:xfrm flipV="1">
              <a:off x="3623" y="695"/>
              <a:ext cx="0" cy="1385"/>
            </a:xfrm>
            <a:prstGeom prst="line">
              <a:avLst/>
            </a:prstGeom>
            <a:noFill/>
            <a:ln w="19050">
              <a:solidFill>
                <a:schemeClr val="tx1"/>
              </a:solidFill>
              <a:round/>
              <a:headEnd/>
              <a:tailEnd type="triangle" w="med" len="lg"/>
            </a:ln>
          </p:spPr>
          <p:txBody>
            <a:bodyPr/>
            <a:lstStyle/>
            <a:p>
              <a:endParaRPr lang="zh-CN" altLang="en-US"/>
            </a:p>
          </p:txBody>
        </p:sp>
        <p:sp>
          <p:nvSpPr>
            <p:cNvPr id="576522" name="Text Box 10"/>
            <p:cNvSpPr txBox="1">
              <a:spLocks noChangeAspect="1" noChangeArrowheads="1"/>
            </p:cNvSpPr>
            <p:nvPr/>
          </p:nvSpPr>
          <p:spPr bwMode="auto">
            <a:xfrm>
              <a:off x="3380" y="580"/>
              <a:ext cx="365" cy="345"/>
            </a:xfrm>
            <a:prstGeom prst="rect">
              <a:avLst/>
            </a:prstGeom>
            <a:noFill/>
            <a:ln w="9525">
              <a:noFill/>
              <a:miter lim="800000"/>
              <a:headEnd/>
              <a:tailEnd/>
            </a:ln>
          </p:spPr>
          <p:txBody>
            <a:bodyPr/>
            <a:lstStyle/>
            <a:p>
              <a:pPr algn="just"/>
              <a:r>
                <a:rPr kumimoji="1" lang="en-US" altLang="zh-CN" sz="3200" i="1"/>
                <a:t>z</a:t>
              </a:r>
              <a:endParaRPr kumimoji="1" lang="en-US" altLang="zh-CN" sz="6000"/>
            </a:p>
          </p:txBody>
        </p:sp>
        <p:sp>
          <p:nvSpPr>
            <p:cNvPr id="576523" name="Line 11"/>
            <p:cNvSpPr>
              <a:spLocks noChangeAspect="1" noChangeShapeType="1"/>
            </p:cNvSpPr>
            <p:nvPr/>
          </p:nvSpPr>
          <p:spPr bwMode="auto">
            <a:xfrm>
              <a:off x="3623" y="1503"/>
              <a:ext cx="1184" cy="0"/>
            </a:xfrm>
            <a:prstGeom prst="line">
              <a:avLst/>
            </a:prstGeom>
            <a:noFill/>
            <a:ln w="12700">
              <a:solidFill>
                <a:srgbClr val="0000FF"/>
              </a:solidFill>
              <a:prstDash val="lgDash"/>
              <a:round/>
              <a:headEnd/>
              <a:tailEnd type="none" w="sm" len="lg"/>
            </a:ln>
          </p:spPr>
          <p:txBody>
            <a:bodyPr/>
            <a:lstStyle/>
            <a:p>
              <a:endParaRPr lang="zh-CN" altLang="en-US"/>
            </a:p>
          </p:txBody>
        </p:sp>
        <p:sp>
          <p:nvSpPr>
            <p:cNvPr id="576524" name="Line 12"/>
            <p:cNvSpPr>
              <a:spLocks noChangeAspect="1" noChangeShapeType="1"/>
            </p:cNvSpPr>
            <p:nvPr/>
          </p:nvSpPr>
          <p:spPr bwMode="auto">
            <a:xfrm>
              <a:off x="3623" y="1618"/>
              <a:ext cx="1184" cy="0"/>
            </a:xfrm>
            <a:prstGeom prst="line">
              <a:avLst/>
            </a:prstGeom>
            <a:noFill/>
            <a:ln w="12700">
              <a:solidFill>
                <a:srgbClr val="0000FF"/>
              </a:solidFill>
              <a:prstDash val="lgDash"/>
              <a:round/>
              <a:headEnd/>
              <a:tailEnd type="none" w="sm" len="lg"/>
            </a:ln>
          </p:spPr>
          <p:txBody>
            <a:bodyPr/>
            <a:lstStyle/>
            <a:p>
              <a:endParaRPr lang="zh-CN" altLang="en-US"/>
            </a:p>
          </p:txBody>
        </p:sp>
        <p:sp>
          <p:nvSpPr>
            <p:cNvPr id="576525" name="Text Box 13"/>
            <p:cNvSpPr txBox="1">
              <a:spLocks noChangeAspect="1" noChangeArrowheads="1"/>
            </p:cNvSpPr>
            <p:nvPr/>
          </p:nvSpPr>
          <p:spPr bwMode="auto">
            <a:xfrm>
              <a:off x="3998" y="1226"/>
              <a:ext cx="728" cy="346"/>
            </a:xfrm>
            <a:prstGeom prst="rect">
              <a:avLst/>
            </a:prstGeom>
            <a:noFill/>
            <a:ln w="9525">
              <a:noFill/>
              <a:miter lim="800000"/>
              <a:headEnd/>
              <a:tailEnd/>
            </a:ln>
          </p:spPr>
          <p:txBody>
            <a:bodyPr/>
            <a:lstStyle/>
            <a:p>
              <a:pPr algn="just"/>
              <a:r>
                <a:rPr kumimoji="1" lang="en-US" altLang="zh-CN" sz="2800" i="1"/>
                <a:t>T</a:t>
              </a:r>
              <a:r>
                <a:rPr kumimoji="1" lang="en-US" altLang="zh-CN" sz="2800"/>
                <a:t>+d</a:t>
              </a:r>
              <a:r>
                <a:rPr kumimoji="1" lang="en-US" altLang="zh-CN" sz="2800" i="1"/>
                <a:t>T</a:t>
              </a:r>
              <a:endParaRPr kumimoji="1" lang="en-US" altLang="zh-CN" sz="5400"/>
            </a:p>
          </p:txBody>
        </p:sp>
        <p:sp>
          <p:nvSpPr>
            <p:cNvPr id="576526" name="Text Box 14"/>
            <p:cNvSpPr txBox="1">
              <a:spLocks noChangeAspect="1" noChangeArrowheads="1"/>
            </p:cNvSpPr>
            <p:nvPr/>
          </p:nvSpPr>
          <p:spPr bwMode="auto">
            <a:xfrm>
              <a:off x="4180" y="1583"/>
              <a:ext cx="364" cy="419"/>
            </a:xfrm>
            <a:prstGeom prst="rect">
              <a:avLst/>
            </a:prstGeom>
            <a:noFill/>
            <a:ln w="9525">
              <a:noFill/>
              <a:miter lim="800000"/>
              <a:headEnd/>
              <a:tailEnd/>
            </a:ln>
          </p:spPr>
          <p:txBody>
            <a:bodyPr/>
            <a:lstStyle/>
            <a:p>
              <a:pPr algn="just"/>
              <a:r>
                <a:rPr kumimoji="1" lang="en-US" altLang="zh-CN" sz="3200" i="1"/>
                <a:t>T</a:t>
              </a:r>
              <a:endParaRPr kumimoji="1" lang="en-US" altLang="zh-CN" sz="6000"/>
            </a:p>
          </p:txBody>
        </p:sp>
        <p:sp>
          <p:nvSpPr>
            <p:cNvPr id="576527" name="Text Box 15"/>
            <p:cNvSpPr txBox="1">
              <a:spLocks noChangeAspect="1" noChangeArrowheads="1"/>
            </p:cNvSpPr>
            <p:nvPr/>
          </p:nvSpPr>
          <p:spPr bwMode="auto">
            <a:xfrm>
              <a:off x="3107" y="1298"/>
              <a:ext cx="557" cy="347"/>
            </a:xfrm>
            <a:prstGeom prst="rect">
              <a:avLst/>
            </a:prstGeom>
            <a:noFill/>
            <a:ln w="9525">
              <a:noFill/>
              <a:miter lim="800000"/>
              <a:headEnd/>
              <a:tailEnd/>
            </a:ln>
          </p:spPr>
          <p:txBody>
            <a:bodyPr/>
            <a:lstStyle/>
            <a:p>
              <a:pPr algn="just"/>
              <a:r>
                <a:rPr kumimoji="1" lang="en-US" altLang="zh-CN" sz="2400" i="1"/>
                <a:t>z</a:t>
              </a:r>
              <a:r>
                <a:rPr kumimoji="1" lang="en-US" altLang="zh-CN" sz="2400" baseline="-25000"/>
                <a:t>0</a:t>
              </a:r>
              <a:r>
                <a:rPr kumimoji="1" lang="en-US" altLang="zh-CN" sz="2400"/>
                <a:t>+d</a:t>
              </a:r>
              <a:r>
                <a:rPr kumimoji="1" lang="en-US" altLang="zh-CN" sz="2400" i="1"/>
                <a:t>z</a:t>
              </a:r>
              <a:endParaRPr kumimoji="1" lang="en-US" altLang="zh-CN" sz="2400"/>
            </a:p>
          </p:txBody>
        </p:sp>
        <p:sp>
          <p:nvSpPr>
            <p:cNvPr id="576528" name="Text Box 16"/>
            <p:cNvSpPr txBox="1">
              <a:spLocks noChangeAspect="1" noChangeArrowheads="1"/>
            </p:cNvSpPr>
            <p:nvPr/>
          </p:nvSpPr>
          <p:spPr bwMode="auto">
            <a:xfrm>
              <a:off x="3379" y="1450"/>
              <a:ext cx="364" cy="347"/>
            </a:xfrm>
            <a:prstGeom prst="rect">
              <a:avLst/>
            </a:prstGeom>
            <a:noFill/>
            <a:ln w="9525">
              <a:noFill/>
              <a:miter lim="800000"/>
              <a:headEnd/>
              <a:tailEnd/>
            </a:ln>
          </p:spPr>
          <p:txBody>
            <a:bodyPr/>
            <a:lstStyle/>
            <a:p>
              <a:pPr algn="just"/>
              <a:r>
                <a:rPr kumimoji="1" lang="en-US" altLang="zh-CN" sz="2800" i="1"/>
                <a:t>z</a:t>
              </a:r>
              <a:r>
                <a:rPr kumimoji="1" lang="en-US" altLang="zh-CN" sz="2800" baseline="-25000"/>
                <a:t>0</a:t>
              </a:r>
              <a:endParaRPr kumimoji="1" lang="en-US" altLang="zh-CN" sz="5400"/>
            </a:p>
          </p:txBody>
        </p:sp>
      </p:grpSp>
      <p:graphicFrame>
        <p:nvGraphicFramePr>
          <p:cNvPr id="576529" name="Object 17"/>
          <p:cNvGraphicFramePr>
            <a:graphicFrameLocks noChangeAspect="1"/>
          </p:cNvGraphicFramePr>
          <p:nvPr/>
        </p:nvGraphicFramePr>
        <p:xfrm>
          <a:off x="838200" y="2362200"/>
          <a:ext cx="2640013" cy="939800"/>
        </p:xfrm>
        <a:graphic>
          <a:graphicData uri="http://schemas.openxmlformats.org/presentationml/2006/ole">
            <mc:AlternateContent xmlns:mc="http://schemas.openxmlformats.org/markup-compatibility/2006">
              <mc:Choice xmlns:v="urn:schemas-microsoft-com:vml" Requires="v">
                <p:oleObj name="公式" r:id="rId2" imgW="1320227" imgH="469696" progId="Equation.3">
                  <p:embed/>
                </p:oleObj>
              </mc:Choice>
              <mc:Fallback>
                <p:oleObj name="公式" r:id="rId2" imgW="1320227" imgH="469696" progId="Equation.3">
                  <p:embed/>
                  <p:pic>
                    <p:nvPicPr>
                      <p:cNvPr id="576529"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62200"/>
                        <a:ext cx="2640013"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530" name="Text Box 18"/>
          <p:cNvSpPr txBox="1">
            <a:spLocks noChangeArrowheads="1"/>
          </p:cNvSpPr>
          <p:nvPr/>
        </p:nvSpPr>
        <p:spPr bwMode="auto">
          <a:xfrm>
            <a:off x="395288" y="1752600"/>
            <a:ext cx="3600450" cy="519112"/>
          </a:xfrm>
          <a:prstGeom prst="rect">
            <a:avLst/>
          </a:prstGeom>
          <a:noFill/>
          <a:ln w="9525">
            <a:noFill/>
            <a:miter lim="800000"/>
            <a:headEnd/>
            <a:tailEnd/>
          </a:ln>
          <a:effectLst/>
        </p:spPr>
        <p:txBody>
          <a:bodyPr>
            <a:spAutoFit/>
          </a:bodyPr>
          <a:lstStyle/>
          <a:p>
            <a:pPr>
              <a:spcBef>
                <a:spcPct val="50000"/>
              </a:spcBef>
            </a:pPr>
            <a:r>
              <a:rPr lang="zh-CN" altLang="en-US" sz="2800" dirty="0"/>
              <a:t>傅里叶热传导定律：</a:t>
            </a:r>
          </a:p>
        </p:txBody>
      </p:sp>
      <p:graphicFrame>
        <p:nvGraphicFramePr>
          <p:cNvPr id="576531" name="Object 19"/>
          <p:cNvGraphicFramePr>
            <a:graphicFrameLocks noChangeAspect="1"/>
          </p:cNvGraphicFramePr>
          <p:nvPr/>
        </p:nvGraphicFramePr>
        <p:xfrm>
          <a:off x="990600" y="4114800"/>
          <a:ext cx="1624013" cy="787400"/>
        </p:xfrm>
        <a:graphic>
          <a:graphicData uri="http://schemas.openxmlformats.org/presentationml/2006/ole">
            <mc:AlternateContent xmlns:mc="http://schemas.openxmlformats.org/markup-compatibility/2006">
              <mc:Choice xmlns:v="urn:schemas-microsoft-com:vml" Requires="v">
                <p:oleObj name="公式" r:id="rId4" imgW="812520" imgH="393480" progId="Equation.3">
                  <p:embed/>
                </p:oleObj>
              </mc:Choice>
              <mc:Fallback>
                <p:oleObj name="公式" r:id="rId4" imgW="812520" imgH="393480" progId="Equation.3">
                  <p:embed/>
                  <p:pic>
                    <p:nvPicPr>
                      <p:cNvPr id="576531"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114800"/>
                        <a:ext cx="16240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532" name="Text Box 20"/>
          <p:cNvSpPr txBox="1">
            <a:spLocks noChangeArrowheads="1"/>
          </p:cNvSpPr>
          <p:nvPr/>
        </p:nvSpPr>
        <p:spPr bwMode="auto">
          <a:xfrm>
            <a:off x="457200" y="3505200"/>
            <a:ext cx="2159000" cy="519113"/>
          </a:xfrm>
          <a:prstGeom prst="rect">
            <a:avLst/>
          </a:prstGeom>
          <a:noFill/>
          <a:ln w="9525" algn="ctr">
            <a:noFill/>
            <a:miter lim="800000"/>
            <a:headEnd/>
            <a:tailEnd/>
          </a:ln>
          <a:effectLst/>
        </p:spPr>
        <p:txBody>
          <a:bodyPr>
            <a:spAutoFit/>
          </a:bodyPr>
          <a:lstStyle/>
          <a:p>
            <a:pPr>
              <a:spcBef>
                <a:spcPct val="50000"/>
              </a:spcBef>
            </a:pPr>
            <a:r>
              <a:rPr lang="zh-CN" altLang="en-US" sz="2800" dirty="0"/>
              <a:t>热导率： </a:t>
            </a:r>
          </a:p>
        </p:txBody>
      </p:sp>
      <p:grpSp>
        <p:nvGrpSpPr>
          <p:cNvPr id="576533" name="Group 21"/>
          <p:cNvGrpSpPr>
            <a:grpSpLocks/>
          </p:cNvGrpSpPr>
          <p:nvPr/>
        </p:nvGrpSpPr>
        <p:grpSpPr bwMode="auto">
          <a:xfrm>
            <a:off x="755650" y="5257800"/>
            <a:ext cx="7702550" cy="1073150"/>
            <a:chOff x="432" y="3264"/>
            <a:chExt cx="4704" cy="676"/>
          </a:xfrm>
        </p:grpSpPr>
        <p:sp>
          <p:nvSpPr>
            <p:cNvPr id="576534" name="Text Box 22"/>
            <p:cNvSpPr txBox="1">
              <a:spLocks noChangeArrowheads="1"/>
            </p:cNvSpPr>
            <p:nvPr/>
          </p:nvSpPr>
          <p:spPr bwMode="auto">
            <a:xfrm>
              <a:off x="1152" y="3264"/>
              <a:ext cx="3984" cy="676"/>
            </a:xfrm>
            <a:prstGeom prst="rect">
              <a:avLst/>
            </a:prstGeom>
            <a:noFill/>
            <a:ln w="12700">
              <a:noFill/>
              <a:miter lim="800000"/>
              <a:headEnd type="none" w="sm" len="sm"/>
              <a:tailEnd type="none" w="sm" len="sm"/>
            </a:ln>
            <a:effectLst/>
          </p:spPr>
          <p:txBody>
            <a:bodyPr>
              <a:spAutoFit/>
            </a:bodyPr>
            <a:lstStyle/>
            <a:p>
              <a:pPr>
                <a:lnSpc>
                  <a:spcPct val="115000"/>
                </a:lnSpc>
                <a:spcBef>
                  <a:spcPct val="50000"/>
                </a:spcBef>
              </a:pPr>
              <a:r>
                <a:rPr kumimoji="1" lang="zh-CN" altLang="en-US" sz="2800" dirty="0"/>
                <a:t>热传导现象的微观本质是</a:t>
              </a:r>
              <a:r>
                <a:rPr kumimoji="1" lang="zh-CN" altLang="en-US" sz="2800" dirty="0">
                  <a:solidFill>
                    <a:srgbClr val="0000CC"/>
                  </a:solidFill>
                </a:rPr>
                <a:t>分子热运</a:t>
              </a:r>
              <a:r>
                <a:rPr kumimoji="1" lang="zh-CN" altLang="en-US" sz="2800" dirty="0">
                  <a:solidFill>
                    <a:srgbClr val="FF3300"/>
                  </a:solidFill>
                </a:rPr>
                <a:t>动能量</a:t>
              </a:r>
              <a:r>
                <a:rPr kumimoji="1" lang="zh-CN" altLang="en-US" sz="2800" dirty="0">
                  <a:solidFill>
                    <a:srgbClr val="0000CC"/>
                  </a:solidFill>
                </a:rPr>
                <a:t>的定向迁移</a:t>
              </a:r>
              <a:r>
                <a:rPr kumimoji="1" lang="zh-CN" altLang="en-US" sz="2800" dirty="0"/>
                <a:t>。</a:t>
              </a:r>
            </a:p>
          </p:txBody>
        </p:sp>
        <p:sp>
          <p:nvSpPr>
            <p:cNvPr id="576535" name="Rectangle 23"/>
            <p:cNvSpPr>
              <a:spLocks noChangeArrowheads="1"/>
            </p:cNvSpPr>
            <p:nvPr/>
          </p:nvSpPr>
          <p:spPr bwMode="auto">
            <a:xfrm>
              <a:off x="432" y="3264"/>
              <a:ext cx="794" cy="327"/>
            </a:xfrm>
            <a:prstGeom prst="rect">
              <a:avLst/>
            </a:prstGeom>
            <a:noFill/>
            <a:ln w="12700">
              <a:noFill/>
              <a:miter lim="800000"/>
              <a:headEnd type="none" w="sm" len="sm"/>
              <a:tailEnd type="none" w="sm" len="sm"/>
            </a:ln>
            <a:effectLst/>
          </p:spPr>
          <p:txBody>
            <a:bodyPr>
              <a:spAutoFit/>
            </a:bodyPr>
            <a:lstStyle/>
            <a:p>
              <a:r>
                <a:rPr kumimoji="1" lang="zh-CN" altLang="en-US" sz="2800"/>
                <a:t>结论：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6516"/>
                                        </p:tgtEl>
                                        <p:attrNameLst>
                                          <p:attrName>style.visibility</p:attrName>
                                        </p:attrNameLst>
                                      </p:cBhvr>
                                      <p:to>
                                        <p:strVal val="visible"/>
                                      </p:to>
                                    </p:set>
                                    <p:animEffect transition="in" filter="blinds(horizontal)">
                                      <p:cBhvr>
                                        <p:cTn id="7" dur="500"/>
                                        <p:tgtEl>
                                          <p:spTgt spid="5765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6530"/>
                                        </p:tgtEl>
                                        <p:attrNameLst>
                                          <p:attrName>style.visibility</p:attrName>
                                        </p:attrNameLst>
                                      </p:cBhvr>
                                      <p:to>
                                        <p:strVal val="visible"/>
                                      </p:to>
                                    </p:set>
                                    <p:animEffect transition="in" filter="wipe(left)">
                                      <p:cBhvr>
                                        <p:cTn id="12" dur="500"/>
                                        <p:tgtEl>
                                          <p:spTgt spid="5765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76529"/>
                                        </p:tgtEl>
                                        <p:attrNameLst>
                                          <p:attrName>style.visibility</p:attrName>
                                        </p:attrNameLst>
                                      </p:cBhvr>
                                      <p:to>
                                        <p:strVal val="visible"/>
                                      </p:to>
                                    </p:set>
                                    <p:animEffect transition="in" filter="wipe(left)">
                                      <p:cBhvr>
                                        <p:cTn id="17" dur="500"/>
                                        <p:tgtEl>
                                          <p:spTgt spid="5765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6532"/>
                                        </p:tgtEl>
                                        <p:attrNameLst>
                                          <p:attrName>style.visibility</p:attrName>
                                        </p:attrNameLst>
                                      </p:cBhvr>
                                      <p:to>
                                        <p:strVal val="visible"/>
                                      </p:to>
                                    </p:set>
                                    <p:animEffect transition="in" filter="wipe(left)">
                                      <p:cBhvr>
                                        <p:cTn id="22" dur="500"/>
                                        <p:tgtEl>
                                          <p:spTgt spid="5765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76531"/>
                                        </p:tgtEl>
                                        <p:attrNameLst>
                                          <p:attrName>style.visibility</p:attrName>
                                        </p:attrNameLst>
                                      </p:cBhvr>
                                      <p:to>
                                        <p:strVal val="visible"/>
                                      </p:to>
                                    </p:set>
                                    <p:animEffect transition="in" filter="wipe(left)">
                                      <p:cBhvr>
                                        <p:cTn id="27" dur="500"/>
                                        <p:tgtEl>
                                          <p:spTgt spid="576531"/>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76533"/>
                                        </p:tgtEl>
                                        <p:attrNameLst>
                                          <p:attrName>style.visibility</p:attrName>
                                        </p:attrNameLst>
                                      </p:cBhvr>
                                      <p:to>
                                        <p:strVal val="visible"/>
                                      </p:to>
                                    </p:set>
                                    <p:anim calcmode="lin" valueType="num">
                                      <p:cBhvr additive="base">
                                        <p:cTn id="32" dur="500" fill="hold"/>
                                        <p:tgtEl>
                                          <p:spTgt spid="576533"/>
                                        </p:tgtEl>
                                        <p:attrNameLst>
                                          <p:attrName>ppt_x</p:attrName>
                                        </p:attrNameLst>
                                      </p:cBhvr>
                                      <p:tavLst>
                                        <p:tav tm="0">
                                          <p:val>
                                            <p:strVal val="#ppt_x"/>
                                          </p:val>
                                        </p:tav>
                                        <p:tav tm="100000">
                                          <p:val>
                                            <p:strVal val="#ppt_x"/>
                                          </p:val>
                                        </p:tav>
                                      </p:tavLst>
                                    </p:anim>
                                    <p:anim calcmode="lin" valueType="num">
                                      <p:cBhvr additive="base">
                                        <p:cTn id="33" dur="500" fill="hold"/>
                                        <p:tgtEl>
                                          <p:spTgt spid="5765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30" grpId="0"/>
      <p:bldP spid="57653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Grp="1" noChangeArrowheads="1"/>
          </p:cNvSpPr>
          <p:nvPr>
            <p:ph type="title"/>
          </p:nvPr>
        </p:nvSpPr>
        <p:spPr/>
        <p:txBody>
          <a:bodyPr/>
          <a:lstStyle/>
          <a:p>
            <a:r>
              <a:rPr lang="en-US" altLang="zh-CN"/>
              <a:t>10</a:t>
            </a:r>
            <a:r>
              <a:rPr lang="en-US" altLang="en-US"/>
              <a:t>.7 气体的输运现象（简介） </a:t>
            </a:r>
            <a:endParaRPr lang="zh-CN" altLang="en-US"/>
          </a:p>
        </p:txBody>
      </p:sp>
      <p:sp>
        <p:nvSpPr>
          <p:cNvPr id="26" name="灯片编号占位符 4"/>
          <p:cNvSpPr>
            <a:spLocks noGrp="1"/>
          </p:cNvSpPr>
          <p:nvPr>
            <p:ph type="sldNum" sz="quarter" idx="12"/>
          </p:nvPr>
        </p:nvSpPr>
        <p:spPr/>
        <p:txBody>
          <a:bodyPr/>
          <a:lstStyle/>
          <a:p>
            <a:fld id="{669E411C-FAAB-4F1E-BD8E-C5ED02C643F3}" type="slidenum">
              <a:rPr lang="en-US" altLang="zh-CN"/>
              <a:pPr/>
              <a:t>73</a:t>
            </a:fld>
            <a:endParaRPr lang="en-US" altLang="zh-CN"/>
          </a:p>
        </p:txBody>
      </p:sp>
      <p:sp>
        <p:nvSpPr>
          <p:cNvPr id="571395" name="Rectangle 3"/>
          <p:cNvSpPr>
            <a:spLocks noChangeArrowheads="1"/>
          </p:cNvSpPr>
          <p:nvPr/>
        </p:nvSpPr>
        <p:spPr bwMode="auto">
          <a:xfrm>
            <a:off x="501650" y="1219200"/>
            <a:ext cx="1403350" cy="457200"/>
          </a:xfrm>
          <a:prstGeom prst="rect">
            <a:avLst/>
          </a:prstGeom>
          <a:solidFill>
            <a:srgbClr val="CCFFCC">
              <a:alpha val="80000"/>
            </a:srgbClr>
          </a:solidFill>
          <a:ln w="9525">
            <a:noFill/>
            <a:miter lim="800000"/>
            <a:headEnd/>
            <a:tailEnd/>
          </a:ln>
          <a:effectLst/>
        </p:spPr>
        <p:txBody>
          <a:bodyPr wrap="none" anchor="ctr">
            <a:spAutoFit/>
          </a:bodyPr>
          <a:lstStyle/>
          <a:p>
            <a:r>
              <a:rPr lang="en-US" altLang="en-US" sz="2400" dirty="0" err="1"/>
              <a:t>扩散现象</a:t>
            </a:r>
            <a:endParaRPr lang="zh-CN" altLang="en-US" sz="2400" dirty="0"/>
          </a:p>
        </p:txBody>
      </p:sp>
      <p:grpSp>
        <p:nvGrpSpPr>
          <p:cNvPr id="571396" name="Group 4"/>
          <p:cNvGrpSpPr>
            <a:grpSpLocks/>
          </p:cNvGrpSpPr>
          <p:nvPr/>
        </p:nvGrpSpPr>
        <p:grpSpPr bwMode="auto">
          <a:xfrm>
            <a:off x="4114800" y="1371600"/>
            <a:ext cx="4824413" cy="3240088"/>
            <a:chOff x="2472" y="890"/>
            <a:chExt cx="3039" cy="2041"/>
          </a:xfrm>
        </p:grpSpPr>
        <p:sp>
          <p:nvSpPr>
            <p:cNvPr id="571397" name="Rectangle 5"/>
            <p:cNvSpPr>
              <a:spLocks noChangeArrowheads="1"/>
            </p:cNvSpPr>
            <p:nvPr/>
          </p:nvSpPr>
          <p:spPr bwMode="auto">
            <a:xfrm>
              <a:off x="2472" y="890"/>
              <a:ext cx="3039" cy="2041"/>
            </a:xfrm>
            <a:prstGeom prst="rect">
              <a:avLst/>
            </a:prstGeom>
            <a:solidFill>
              <a:srgbClr val="99CC00">
                <a:alpha val="50000"/>
              </a:srgbClr>
            </a:solidFill>
            <a:ln w="9525">
              <a:solidFill>
                <a:schemeClr val="tx1"/>
              </a:solidFill>
              <a:miter lim="800000"/>
              <a:headEnd/>
              <a:tailEnd/>
            </a:ln>
            <a:effectLst/>
          </p:spPr>
          <p:txBody>
            <a:bodyPr wrap="none" anchor="ctr"/>
            <a:lstStyle/>
            <a:p>
              <a:endParaRPr lang="zh-CN" altLang="en-US"/>
            </a:p>
          </p:txBody>
        </p:sp>
        <p:sp>
          <p:nvSpPr>
            <p:cNvPr id="571398" name="Rectangle 6"/>
            <p:cNvSpPr>
              <a:spLocks noChangeAspect="1" noChangeArrowheads="1"/>
            </p:cNvSpPr>
            <p:nvPr/>
          </p:nvSpPr>
          <p:spPr bwMode="auto">
            <a:xfrm>
              <a:off x="2909" y="1408"/>
              <a:ext cx="2397" cy="1167"/>
            </a:xfrm>
            <a:prstGeom prst="rect">
              <a:avLst/>
            </a:prstGeom>
            <a:gradFill rotWithShape="1">
              <a:gsLst>
                <a:gs pos="0">
                  <a:srgbClr val="3366FF"/>
                </a:gs>
                <a:gs pos="100000">
                  <a:srgbClr val="99CCFF"/>
                </a:gs>
              </a:gsLst>
              <a:lin ang="5400000" scaled="1"/>
            </a:gradFill>
            <a:ln w="9525">
              <a:noFill/>
              <a:miter lim="800000"/>
              <a:headEnd/>
              <a:tailEnd/>
            </a:ln>
          </p:spPr>
          <p:txBody>
            <a:bodyPr/>
            <a:lstStyle/>
            <a:p>
              <a:endParaRPr lang="zh-CN" altLang="en-US"/>
            </a:p>
          </p:txBody>
        </p:sp>
        <p:sp>
          <p:nvSpPr>
            <p:cNvPr id="571399" name="Text Box 7"/>
            <p:cNvSpPr txBox="1">
              <a:spLocks noChangeAspect="1" noChangeArrowheads="1"/>
            </p:cNvSpPr>
            <p:nvPr/>
          </p:nvSpPr>
          <p:spPr bwMode="auto">
            <a:xfrm>
              <a:off x="2646" y="1661"/>
              <a:ext cx="733" cy="390"/>
            </a:xfrm>
            <a:prstGeom prst="rect">
              <a:avLst/>
            </a:prstGeom>
            <a:noFill/>
            <a:ln w="9525">
              <a:noFill/>
              <a:miter lim="800000"/>
              <a:headEnd/>
              <a:tailEnd/>
            </a:ln>
          </p:spPr>
          <p:txBody>
            <a:bodyPr/>
            <a:lstStyle/>
            <a:p>
              <a:pPr algn="just"/>
              <a:r>
                <a:rPr kumimoji="1" lang="en-US" altLang="zh-CN" sz="2800" i="1"/>
                <a:t>z</a:t>
              </a:r>
              <a:r>
                <a:rPr kumimoji="1" lang="en-US" altLang="zh-CN" sz="2800" baseline="-25000"/>
                <a:t>0</a:t>
              </a:r>
              <a:r>
                <a:rPr kumimoji="1" lang="en-US" altLang="zh-CN" sz="2800"/>
                <a:t>+d</a:t>
              </a:r>
              <a:r>
                <a:rPr kumimoji="1" lang="en-US" altLang="zh-CN" sz="2800" i="1"/>
                <a:t>z</a:t>
              </a:r>
              <a:endParaRPr kumimoji="1" lang="en-US" altLang="zh-CN" sz="2800"/>
            </a:p>
          </p:txBody>
        </p:sp>
        <p:sp>
          <p:nvSpPr>
            <p:cNvPr id="571400" name="Text Box 8"/>
            <p:cNvSpPr txBox="1">
              <a:spLocks noChangeAspect="1" noChangeArrowheads="1"/>
            </p:cNvSpPr>
            <p:nvPr/>
          </p:nvSpPr>
          <p:spPr bwMode="auto">
            <a:xfrm>
              <a:off x="2945" y="1861"/>
              <a:ext cx="479" cy="390"/>
            </a:xfrm>
            <a:prstGeom prst="rect">
              <a:avLst/>
            </a:prstGeom>
            <a:noFill/>
            <a:ln w="9525">
              <a:noFill/>
              <a:miter lim="800000"/>
              <a:headEnd/>
              <a:tailEnd/>
            </a:ln>
          </p:spPr>
          <p:txBody>
            <a:bodyPr/>
            <a:lstStyle/>
            <a:p>
              <a:pPr algn="just"/>
              <a:r>
                <a:rPr kumimoji="1" lang="en-US" altLang="zh-CN" sz="2800" i="1"/>
                <a:t>z</a:t>
              </a:r>
              <a:r>
                <a:rPr kumimoji="1" lang="en-US" altLang="zh-CN" sz="2800" baseline="-25000"/>
                <a:t>0</a:t>
              </a:r>
              <a:endParaRPr kumimoji="1" lang="en-US" altLang="zh-CN" sz="2800"/>
            </a:p>
          </p:txBody>
        </p:sp>
        <p:sp>
          <p:nvSpPr>
            <p:cNvPr id="571401" name="Rectangle 9"/>
            <p:cNvSpPr>
              <a:spLocks noChangeAspect="1" noChangeArrowheads="1"/>
            </p:cNvSpPr>
            <p:nvPr/>
          </p:nvSpPr>
          <p:spPr bwMode="auto">
            <a:xfrm>
              <a:off x="2909" y="1279"/>
              <a:ext cx="2397" cy="129"/>
            </a:xfrm>
            <a:prstGeom prst="rect">
              <a:avLst/>
            </a:prstGeom>
            <a:gradFill rotWithShape="1">
              <a:gsLst>
                <a:gs pos="0">
                  <a:srgbClr val="3366FF">
                    <a:gamma/>
                    <a:shade val="63529"/>
                    <a:invGamma/>
                  </a:srgbClr>
                </a:gs>
                <a:gs pos="100000">
                  <a:srgbClr val="3366FF"/>
                </a:gs>
              </a:gsLst>
              <a:lin ang="5400000" scaled="1"/>
            </a:gradFill>
            <a:ln w="9525">
              <a:noFill/>
              <a:miter lim="800000"/>
              <a:headEnd/>
              <a:tailEnd/>
            </a:ln>
          </p:spPr>
          <p:txBody>
            <a:bodyPr/>
            <a:lstStyle/>
            <a:p>
              <a:endParaRPr lang="zh-CN" altLang="en-US"/>
            </a:p>
          </p:txBody>
        </p:sp>
        <p:sp>
          <p:nvSpPr>
            <p:cNvPr id="571402" name="Rectangle 10"/>
            <p:cNvSpPr>
              <a:spLocks noChangeAspect="1" noChangeArrowheads="1"/>
            </p:cNvSpPr>
            <p:nvPr/>
          </p:nvSpPr>
          <p:spPr bwMode="auto">
            <a:xfrm>
              <a:off x="2909" y="2574"/>
              <a:ext cx="2397" cy="129"/>
            </a:xfrm>
            <a:prstGeom prst="rect">
              <a:avLst/>
            </a:prstGeom>
            <a:gradFill rotWithShape="1">
              <a:gsLst>
                <a:gs pos="0">
                  <a:srgbClr val="00CCFF"/>
                </a:gs>
                <a:gs pos="100000">
                  <a:srgbClr val="00CCFF">
                    <a:gamma/>
                    <a:shade val="46275"/>
                    <a:invGamma/>
                  </a:srgbClr>
                </a:gs>
              </a:gsLst>
              <a:lin ang="5400000" scaled="1"/>
            </a:gradFill>
            <a:ln w="9525">
              <a:noFill/>
              <a:miter lim="800000"/>
              <a:headEnd/>
              <a:tailEnd/>
            </a:ln>
          </p:spPr>
          <p:txBody>
            <a:bodyPr/>
            <a:lstStyle/>
            <a:p>
              <a:endParaRPr lang="zh-CN" altLang="en-US"/>
            </a:p>
          </p:txBody>
        </p:sp>
        <p:sp>
          <p:nvSpPr>
            <p:cNvPr id="571403" name="Line 11"/>
            <p:cNvSpPr>
              <a:spLocks noChangeAspect="1" noChangeShapeType="1"/>
            </p:cNvSpPr>
            <p:nvPr/>
          </p:nvSpPr>
          <p:spPr bwMode="auto">
            <a:xfrm flipV="1">
              <a:off x="3229" y="1020"/>
              <a:ext cx="0" cy="1554"/>
            </a:xfrm>
            <a:prstGeom prst="line">
              <a:avLst/>
            </a:prstGeom>
            <a:noFill/>
            <a:ln w="19050">
              <a:solidFill>
                <a:schemeClr val="tx1"/>
              </a:solidFill>
              <a:round/>
              <a:headEnd/>
              <a:tailEnd type="triangle" w="med" len="lg"/>
            </a:ln>
          </p:spPr>
          <p:txBody>
            <a:bodyPr/>
            <a:lstStyle/>
            <a:p>
              <a:endParaRPr lang="zh-CN" altLang="en-US"/>
            </a:p>
          </p:txBody>
        </p:sp>
        <p:sp>
          <p:nvSpPr>
            <p:cNvPr id="571404" name="Text Box 12"/>
            <p:cNvSpPr txBox="1">
              <a:spLocks noChangeAspect="1" noChangeArrowheads="1"/>
            </p:cNvSpPr>
            <p:nvPr/>
          </p:nvSpPr>
          <p:spPr bwMode="auto">
            <a:xfrm>
              <a:off x="2909" y="890"/>
              <a:ext cx="480" cy="388"/>
            </a:xfrm>
            <a:prstGeom prst="rect">
              <a:avLst/>
            </a:prstGeom>
            <a:noFill/>
            <a:ln w="9525">
              <a:noFill/>
              <a:miter lim="800000"/>
              <a:headEnd/>
              <a:tailEnd/>
            </a:ln>
          </p:spPr>
          <p:txBody>
            <a:bodyPr/>
            <a:lstStyle/>
            <a:p>
              <a:pPr algn="just"/>
              <a:r>
                <a:rPr kumimoji="1" lang="en-US" altLang="zh-CN" sz="2800" i="1"/>
                <a:t>z</a:t>
              </a:r>
              <a:endParaRPr kumimoji="1" lang="en-US" altLang="zh-CN" sz="2800"/>
            </a:p>
          </p:txBody>
        </p:sp>
        <p:sp>
          <p:nvSpPr>
            <p:cNvPr id="571405" name="Line 13"/>
            <p:cNvSpPr>
              <a:spLocks noChangeAspect="1" noChangeShapeType="1"/>
            </p:cNvSpPr>
            <p:nvPr/>
          </p:nvSpPr>
          <p:spPr bwMode="auto">
            <a:xfrm>
              <a:off x="3229" y="1926"/>
              <a:ext cx="1717" cy="0"/>
            </a:xfrm>
            <a:prstGeom prst="line">
              <a:avLst/>
            </a:prstGeom>
            <a:noFill/>
            <a:ln w="12700">
              <a:solidFill>
                <a:srgbClr val="FFFF00"/>
              </a:solidFill>
              <a:prstDash val="lgDash"/>
              <a:round/>
              <a:headEnd/>
              <a:tailEnd type="none" w="sm" len="lg"/>
            </a:ln>
          </p:spPr>
          <p:txBody>
            <a:bodyPr/>
            <a:lstStyle/>
            <a:p>
              <a:endParaRPr lang="zh-CN" altLang="en-US"/>
            </a:p>
          </p:txBody>
        </p:sp>
        <p:sp>
          <p:nvSpPr>
            <p:cNvPr id="571406" name="Line 14"/>
            <p:cNvSpPr>
              <a:spLocks noChangeAspect="1" noChangeShapeType="1"/>
            </p:cNvSpPr>
            <p:nvPr/>
          </p:nvSpPr>
          <p:spPr bwMode="auto">
            <a:xfrm>
              <a:off x="3229" y="2056"/>
              <a:ext cx="1717" cy="0"/>
            </a:xfrm>
            <a:prstGeom prst="line">
              <a:avLst/>
            </a:prstGeom>
            <a:noFill/>
            <a:ln w="12700">
              <a:solidFill>
                <a:srgbClr val="FFFF00"/>
              </a:solidFill>
              <a:prstDash val="lgDash"/>
              <a:round/>
              <a:headEnd/>
              <a:tailEnd type="none" w="sm" len="lg"/>
            </a:ln>
          </p:spPr>
          <p:txBody>
            <a:bodyPr/>
            <a:lstStyle/>
            <a:p>
              <a:endParaRPr lang="zh-CN" altLang="en-US"/>
            </a:p>
          </p:txBody>
        </p:sp>
        <p:sp>
          <p:nvSpPr>
            <p:cNvPr id="571407" name="Text Box 15"/>
            <p:cNvSpPr txBox="1">
              <a:spLocks noChangeAspect="1" noChangeArrowheads="1"/>
            </p:cNvSpPr>
            <p:nvPr/>
          </p:nvSpPr>
          <p:spPr bwMode="auto">
            <a:xfrm>
              <a:off x="3722" y="1636"/>
              <a:ext cx="958" cy="390"/>
            </a:xfrm>
            <a:prstGeom prst="rect">
              <a:avLst/>
            </a:prstGeom>
            <a:noFill/>
            <a:ln w="9525">
              <a:noFill/>
              <a:miter lim="800000"/>
              <a:headEnd/>
              <a:tailEnd/>
            </a:ln>
          </p:spPr>
          <p:txBody>
            <a:bodyPr/>
            <a:lstStyle/>
            <a:p>
              <a:pPr algn="just"/>
              <a:r>
                <a:rPr kumimoji="1" lang="en-US" altLang="zh-CN" sz="2800" i="1"/>
                <a:t>ρ</a:t>
              </a:r>
              <a:r>
                <a:rPr kumimoji="1" lang="en-US" altLang="zh-CN" sz="2800"/>
                <a:t>+d</a:t>
              </a:r>
              <a:r>
                <a:rPr kumimoji="1" lang="en-US" altLang="zh-CN" sz="2800" i="1"/>
                <a:t>ρ</a:t>
              </a:r>
              <a:endParaRPr kumimoji="1" lang="en-US" altLang="zh-CN" sz="2800"/>
            </a:p>
          </p:txBody>
        </p:sp>
        <p:sp>
          <p:nvSpPr>
            <p:cNvPr id="571408" name="Text Box 16"/>
            <p:cNvSpPr txBox="1">
              <a:spLocks noChangeAspect="1" noChangeArrowheads="1"/>
            </p:cNvSpPr>
            <p:nvPr/>
          </p:nvSpPr>
          <p:spPr bwMode="auto">
            <a:xfrm>
              <a:off x="3815" y="1984"/>
              <a:ext cx="479" cy="390"/>
            </a:xfrm>
            <a:prstGeom prst="rect">
              <a:avLst/>
            </a:prstGeom>
            <a:noFill/>
            <a:ln w="9525">
              <a:noFill/>
              <a:miter lim="800000"/>
              <a:headEnd/>
              <a:tailEnd/>
            </a:ln>
          </p:spPr>
          <p:txBody>
            <a:bodyPr/>
            <a:lstStyle/>
            <a:p>
              <a:pPr algn="just"/>
              <a:r>
                <a:rPr kumimoji="1" lang="en-US" altLang="zh-CN" sz="2800" i="1"/>
                <a:t>ρ</a:t>
              </a:r>
              <a:endParaRPr kumimoji="1" lang="en-US" altLang="zh-CN" sz="2800"/>
            </a:p>
          </p:txBody>
        </p:sp>
      </p:grpSp>
      <p:graphicFrame>
        <p:nvGraphicFramePr>
          <p:cNvPr id="571417" name="Object 25"/>
          <p:cNvGraphicFramePr>
            <a:graphicFrameLocks noChangeAspect="1"/>
          </p:cNvGraphicFramePr>
          <p:nvPr/>
        </p:nvGraphicFramePr>
        <p:xfrm>
          <a:off x="685800" y="2362200"/>
          <a:ext cx="2741613" cy="939800"/>
        </p:xfrm>
        <a:graphic>
          <a:graphicData uri="http://schemas.openxmlformats.org/presentationml/2006/ole">
            <mc:AlternateContent xmlns:mc="http://schemas.openxmlformats.org/markup-compatibility/2006">
              <mc:Choice xmlns:v="urn:schemas-microsoft-com:vml" Requires="v">
                <p:oleObj name="公式" r:id="rId2" imgW="1371600" imgH="469800" progId="Equation.3">
                  <p:embed/>
                </p:oleObj>
              </mc:Choice>
              <mc:Fallback>
                <p:oleObj name="公式" r:id="rId2" imgW="1371600" imgH="469800" progId="Equation.3">
                  <p:embed/>
                  <p:pic>
                    <p:nvPicPr>
                      <p:cNvPr id="571417"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362200"/>
                        <a:ext cx="2741613"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1418" name="Text Box 26"/>
          <p:cNvSpPr txBox="1">
            <a:spLocks noChangeArrowheads="1"/>
          </p:cNvSpPr>
          <p:nvPr/>
        </p:nvSpPr>
        <p:spPr bwMode="auto">
          <a:xfrm>
            <a:off x="377825" y="1676400"/>
            <a:ext cx="3311525" cy="519113"/>
          </a:xfrm>
          <a:prstGeom prst="rect">
            <a:avLst/>
          </a:prstGeom>
          <a:noFill/>
          <a:ln w="9525" algn="ctr">
            <a:noFill/>
            <a:miter lim="800000"/>
            <a:headEnd/>
            <a:tailEnd/>
          </a:ln>
          <a:effectLst/>
        </p:spPr>
        <p:txBody>
          <a:bodyPr>
            <a:spAutoFit/>
          </a:bodyPr>
          <a:lstStyle/>
          <a:p>
            <a:pPr>
              <a:spcBef>
                <a:spcPct val="50000"/>
              </a:spcBef>
            </a:pPr>
            <a:r>
              <a:rPr lang="zh-CN" altLang="en-US" sz="2800" dirty="0"/>
              <a:t>菲克扩散定律： </a:t>
            </a:r>
          </a:p>
        </p:txBody>
      </p:sp>
      <p:sp>
        <p:nvSpPr>
          <p:cNvPr id="571419" name="Text Box 27"/>
          <p:cNvSpPr txBox="1">
            <a:spLocks noChangeArrowheads="1"/>
          </p:cNvSpPr>
          <p:nvPr/>
        </p:nvSpPr>
        <p:spPr bwMode="auto">
          <a:xfrm>
            <a:off x="457200" y="3581400"/>
            <a:ext cx="2592388" cy="519113"/>
          </a:xfrm>
          <a:prstGeom prst="rect">
            <a:avLst/>
          </a:prstGeom>
          <a:noFill/>
          <a:ln w="9525" algn="ctr">
            <a:noFill/>
            <a:miter lim="800000"/>
            <a:headEnd/>
            <a:tailEnd/>
          </a:ln>
          <a:effectLst/>
        </p:spPr>
        <p:txBody>
          <a:bodyPr>
            <a:spAutoFit/>
          </a:bodyPr>
          <a:lstStyle/>
          <a:p>
            <a:pPr>
              <a:spcBef>
                <a:spcPct val="50000"/>
              </a:spcBef>
            </a:pPr>
            <a:r>
              <a:rPr lang="zh-CN" altLang="en-US" sz="2800"/>
              <a:t>扩散系数： </a:t>
            </a:r>
          </a:p>
        </p:txBody>
      </p:sp>
      <p:graphicFrame>
        <p:nvGraphicFramePr>
          <p:cNvPr id="571420" name="Object 28"/>
          <p:cNvGraphicFramePr>
            <a:graphicFrameLocks noChangeAspect="1"/>
          </p:cNvGraphicFramePr>
          <p:nvPr/>
        </p:nvGraphicFramePr>
        <p:xfrm>
          <a:off x="685800" y="4114800"/>
          <a:ext cx="1268413" cy="787400"/>
        </p:xfrm>
        <a:graphic>
          <a:graphicData uri="http://schemas.openxmlformats.org/presentationml/2006/ole">
            <mc:AlternateContent xmlns:mc="http://schemas.openxmlformats.org/markup-compatibility/2006">
              <mc:Choice xmlns:v="urn:schemas-microsoft-com:vml" Requires="v">
                <p:oleObj name="公式" r:id="rId4" imgW="634725" imgH="393529" progId="Equation.3">
                  <p:embed/>
                </p:oleObj>
              </mc:Choice>
              <mc:Fallback>
                <p:oleObj name="公式" r:id="rId4" imgW="634725" imgH="393529" progId="Equation.3">
                  <p:embed/>
                  <p:pic>
                    <p:nvPicPr>
                      <p:cNvPr id="57142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114800"/>
                        <a:ext cx="12684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71421" name="Group 29"/>
          <p:cNvGrpSpPr>
            <a:grpSpLocks/>
          </p:cNvGrpSpPr>
          <p:nvPr/>
        </p:nvGrpSpPr>
        <p:grpSpPr bwMode="auto">
          <a:xfrm>
            <a:off x="609600" y="5334000"/>
            <a:ext cx="7773988" cy="1073150"/>
            <a:chOff x="432" y="3235"/>
            <a:chExt cx="4833" cy="676"/>
          </a:xfrm>
        </p:grpSpPr>
        <p:sp>
          <p:nvSpPr>
            <p:cNvPr id="571422" name="Text Box 30"/>
            <p:cNvSpPr txBox="1">
              <a:spLocks noChangeArrowheads="1"/>
            </p:cNvSpPr>
            <p:nvPr/>
          </p:nvSpPr>
          <p:spPr bwMode="auto">
            <a:xfrm>
              <a:off x="1156" y="3235"/>
              <a:ext cx="4109" cy="676"/>
            </a:xfrm>
            <a:prstGeom prst="rect">
              <a:avLst/>
            </a:prstGeom>
            <a:noFill/>
            <a:ln w="12700">
              <a:noFill/>
              <a:miter lim="800000"/>
              <a:headEnd type="none" w="sm" len="sm"/>
              <a:tailEnd type="none" w="sm" len="sm"/>
            </a:ln>
            <a:effectLst/>
          </p:spPr>
          <p:txBody>
            <a:bodyPr>
              <a:spAutoFit/>
            </a:bodyPr>
            <a:lstStyle/>
            <a:p>
              <a:pPr>
                <a:lnSpc>
                  <a:spcPct val="115000"/>
                </a:lnSpc>
                <a:spcBef>
                  <a:spcPct val="50000"/>
                </a:spcBef>
              </a:pPr>
              <a:r>
                <a:rPr kumimoji="1" lang="zh-CN" altLang="en-US" sz="2800" dirty="0"/>
                <a:t>气体扩散现象的微观本质是</a:t>
              </a:r>
              <a:r>
                <a:rPr kumimoji="1" lang="zh-CN" altLang="en-US" sz="2800" dirty="0">
                  <a:solidFill>
                    <a:srgbClr val="FF3300"/>
                  </a:solidFill>
                </a:rPr>
                <a:t>质量</a:t>
              </a:r>
              <a:r>
                <a:rPr kumimoji="1" lang="zh-CN" altLang="en-US" sz="2800" dirty="0">
                  <a:solidFill>
                    <a:srgbClr val="0000CC"/>
                  </a:solidFill>
                </a:rPr>
                <a:t>的定向迁移</a:t>
              </a:r>
              <a:r>
                <a:rPr kumimoji="1" lang="zh-CN" altLang="en-US" sz="2800" dirty="0"/>
                <a:t>。</a:t>
              </a:r>
            </a:p>
          </p:txBody>
        </p:sp>
        <p:sp>
          <p:nvSpPr>
            <p:cNvPr id="571423" name="Rectangle 31"/>
            <p:cNvSpPr>
              <a:spLocks noChangeArrowheads="1"/>
            </p:cNvSpPr>
            <p:nvPr/>
          </p:nvSpPr>
          <p:spPr bwMode="auto">
            <a:xfrm>
              <a:off x="432" y="3264"/>
              <a:ext cx="791" cy="327"/>
            </a:xfrm>
            <a:prstGeom prst="rect">
              <a:avLst/>
            </a:prstGeom>
            <a:noFill/>
            <a:ln w="12700">
              <a:noFill/>
              <a:miter lim="800000"/>
              <a:headEnd type="none" w="sm" len="sm"/>
              <a:tailEnd type="none" w="sm" len="sm"/>
            </a:ln>
            <a:effectLst/>
          </p:spPr>
          <p:txBody>
            <a:bodyPr>
              <a:spAutoFit/>
            </a:bodyPr>
            <a:lstStyle/>
            <a:p>
              <a:r>
                <a:rPr kumimoji="1" lang="zh-CN" altLang="en-US" sz="2800"/>
                <a:t>结论：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1396"/>
                                        </p:tgtEl>
                                        <p:attrNameLst>
                                          <p:attrName>style.visibility</p:attrName>
                                        </p:attrNameLst>
                                      </p:cBhvr>
                                      <p:to>
                                        <p:strVal val="visible"/>
                                      </p:to>
                                    </p:set>
                                    <p:animEffect transition="in" filter="blinds(horizontal)">
                                      <p:cBhvr>
                                        <p:cTn id="7" dur="500"/>
                                        <p:tgtEl>
                                          <p:spTgt spid="5713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1418"/>
                                        </p:tgtEl>
                                        <p:attrNameLst>
                                          <p:attrName>style.visibility</p:attrName>
                                        </p:attrNameLst>
                                      </p:cBhvr>
                                      <p:to>
                                        <p:strVal val="visible"/>
                                      </p:to>
                                    </p:set>
                                    <p:animEffect transition="in" filter="wipe(left)">
                                      <p:cBhvr>
                                        <p:cTn id="12" dur="500"/>
                                        <p:tgtEl>
                                          <p:spTgt spid="5714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71417"/>
                                        </p:tgtEl>
                                        <p:attrNameLst>
                                          <p:attrName>style.visibility</p:attrName>
                                        </p:attrNameLst>
                                      </p:cBhvr>
                                      <p:to>
                                        <p:strVal val="visible"/>
                                      </p:to>
                                    </p:set>
                                    <p:animEffect transition="in" filter="wipe(left)">
                                      <p:cBhvr>
                                        <p:cTn id="17" dur="500"/>
                                        <p:tgtEl>
                                          <p:spTgt spid="5714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1419"/>
                                        </p:tgtEl>
                                        <p:attrNameLst>
                                          <p:attrName>style.visibility</p:attrName>
                                        </p:attrNameLst>
                                      </p:cBhvr>
                                      <p:to>
                                        <p:strVal val="visible"/>
                                      </p:to>
                                    </p:set>
                                    <p:animEffect transition="in" filter="wipe(left)">
                                      <p:cBhvr>
                                        <p:cTn id="22" dur="500"/>
                                        <p:tgtEl>
                                          <p:spTgt spid="5714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71420"/>
                                        </p:tgtEl>
                                        <p:attrNameLst>
                                          <p:attrName>style.visibility</p:attrName>
                                        </p:attrNameLst>
                                      </p:cBhvr>
                                      <p:to>
                                        <p:strVal val="visible"/>
                                      </p:to>
                                    </p:set>
                                    <p:animEffect transition="in" filter="wipe(left)">
                                      <p:cBhvr>
                                        <p:cTn id="27" dur="500"/>
                                        <p:tgtEl>
                                          <p:spTgt spid="5714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71421"/>
                                        </p:tgtEl>
                                        <p:attrNameLst>
                                          <p:attrName>style.visibility</p:attrName>
                                        </p:attrNameLst>
                                      </p:cBhvr>
                                      <p:to>
                                        <p:strVal val="visible"/>
                                      </p:to>
                                    </p:set>
                                    <p:animEffect transition="in" filter="wipe(left)">
                                      <p:cBhvr>
                                        <p:cTn id="32" dur="500"/>
                                        <p:tgtEl>
                                          <p:spTgt spid="571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418" grpId="0"/>
      <p:bldP spid="57141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30" name="灯片编号占位符 4"/>
          <p:cNvSpPr>
            <a:spLocks noGrp="1"/>
          </p:cNvSpPr>
          <p:nvPr>
            <p:ph type="sldNum" sz="quarter" idx="12"/>
          </p:nvPr>
        </p:nvSpPr>
        <p:spPr/>
        <p:txBody>
          <a:bodyPr/>
          <a:lstStyle/>
          <a:p>
            <a:fld id="{A06A96D9-783B-4DD4-814D-1C722A920773}" type="slidenum">
              <a:rPr lang="en-US" altLang="zh-CN"/>
              <a:pPr/>
              <a:t>74</a:t>
            </a:fld>
            <a:endParaRPr lang="en-US" altLang="zh-CN"/>
          </a:p>
        </p:txBody>
      </p:sp>
      <p:sp>
        <p:nvSpPr>
          <p:cNvPr id="583683" name="Rectangle 3"/>
          <p:cNvSpPr>
            <a:spLocks noChangeArrowheads="1"/>
          </p:cNvSpPr>
          <p:nvPr/>
        </p:nvSpPr>
        <p:spPr bwMode="auto">
          <a:xfrm>
            <a:off x="501650" y="1219200"/>
            <a:ext cx="41465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气体自由膨胀过程的不可逆性</a:t>
            </a:r>
          </a:p>
        </p:txBody>
      </p:sp>
      <p:grpSp>
        <p:nvGrpSpPr>
          <p:cNvPr id="583684" name="Group 4"/>
          <p:cNvGrpSpPr>
            <a:grpSpLocks/>
          </p:cNvGrpSpPr>
          <p:nvPr/>
        </p:nvGrpSpPr>
        <p:grpSpPr bwMode="auto">
          <a:xfrm>
            <a:off x="762000" y="4267200"/>
            <a:ext cx="3657600" cy="2057400"/>
            <a:chOff x="528" y="2544"/>
            <a:chExt cx="2304" cy="1296"/>
          </a:xfrm>
        </p:grpSpPr>
        <p:sp>
          <p:nvSpPr>
            <p:cNvPr id="583685" name="Rectangle 5" descr="轮廓式菱形"/>
            <p:cNvSpPr>
              <a:spLocks noChangeArrowheads="1"/>
            </p:cNvSpPr>
            <p:nvPr/>
          </p:nvSpPr>
          <p:spPr bwMode="auto">
            <a:xfrm>
              <a:off x="528" y="2544"/>
              <a:ext cx="2304" cy="1296"/>
            </a:xfrm>
            <a:prstGeom prst="rect">
              <a:avLst/>
            </a:prstGeom>
            <a:pattFill prst="openDmnd">
              <a:fgClr>
                <a:srgbClr val="01017D"/>
              </a:fgClr>
              <a:bgClr>
                <a:srgbClr val="00C600"/>
              </a:bgClr>
            </a:pattFill>
            <a:ln w="9525">
              <a:solidFill>
                <a:srgbClr val="FFFFFF"/>
              </a:solidFill>
              <a:miter lim="800000"/>
              <a:headEnd/>
              <a:tailEnd/>
            </a:ln>
            <a:effectLst/>
          </p:spPr>
          <p:txBody>
            <a:bodyPr wrap="none" anchor="ctr"/>
            <a:lstStyle/>
            <a:p>
              <a:endParaRPr lang="zh-CN" altLang="en-US"/>
            </a:p>
          </p:txBody>
        </p:sp>
        <p:sp>
          <p:nvSpPr>
            <p:cNvPr id="583686" name="Rectangle 6" descr="大纸屑"/>
            <p:cNvSpPr>
              <a:spLocks noChangeArrowheads="1"/>
            </p:cNvSpPr>
            <p:nvPr/>
          </p:nvSpPr>
          <p:spPr bwMode="auto">
            <a:xfrm>
              <a:off x="672" y="2688"/>
              <a:ext cx="1248" cy="1008"/>
            </a:xfrm>
            <a:prstGeom prst="rect">
              <a:avLst/>
            </a:prstGeom>
            <a:pattFill prst="lgConfetti">
              <a:fgClr>
                <a:srgbClr val="FFE701"/>
              </a:fgClr>
              <a:bgClr>
                <a:srgbClr val="FFFFFF"/>
              </a:bgClr>
            </a:pattFill>
            <a:ln w="9525">
              <a:solidFill>
                <a:srgbClr val="FFFFFF"/>
              </a:solidFill>
              <a:miter lim="800000"/>
              <a:headEnd/>
              <a:tailEnd/>
            </a:ln>
            <a:effectLst/>
          </p:spPr>
          <p:txBody>
            <a:bodyPr wrap="none" anchor="ctr"/>
            <a:lstStyle/>
            <a:p>
              <a:endParaRPr lang="zh-CN" altLang="en-US"/>
            </a:p>
          </p:txBody>
        </p:sp>
        <p:sp>
          <p:nvSpPr>
            <p:cNvPr id="583687" name="Rectangle 7"/>
            <p:cNvSpPr>
              <a:spLocks noChangeArrowheads="1"/>
            </p:cNvSpPr>
            <p:nvPr/>
          </p:nvSpPr>
          <p:spPr bwMode="auto">
            <a:xfrm>
              <a:off x="1920" y="2688"/>
              <a:ext cx="768" cy="1008"/>
            </a:xfrm>
            <a:prstGeom prst="rect">
              <a:avLst/>
            </a:prstGeom>
            <a:solidFill>
              <a:srgbClr val="FFFFFF"/>
            </a:solidFill>
            <a:ln w="9525">
              <a:solidFill>
                <a:srgbClr val="FFFFFF"/>
              </a:solidFill>
              <a:miter lim="800000"/>
              <a:headEnd/>
              <a:tailEnd/>
            </a:ln>
            <a:effectLst/>
          </p:spPr>
          <p:txBody>
            <a:bodyPr wrap="none" anchor="ctr"/>
            <a:lstStyle/>
            <a:p>
              <a:endParaRPr lang="zh-CN" altLang="en-US"/>
            </a:p>
          </p:txBody>
        </p:sp>
        <p:sp>
          <p:nvSpPr>
            <p:cNvPr id="583688" name="Rectangle 8"/>
            <p:cNvSpPr>
              <a:spLocks noChangeArrowheads="1"/>
            </p:cNvSpPr>
            <p:nvPr/>
          </p:nvSpPr>
          <p:spPr bwMode="auto">
            <a:xfrm>
              <a:off x="1920" y="2688"/>
              <a:ext cx="192" cy="1008"/>
            </a:xfrm>
            <a:prstGeom prst="rect">
              <a:avLst/>
            </a:prstGeom>
            <a:gradFill rotWithShape="0">
              <a:gsLst>
                <a:gs pos="0">
                  <a:srgbClr val="FFCCCC"/>
                </a:gs>
                <a:gs pos="100000">
                  <a:srgbClr val="FFCCCC">
                    <a:gamma/>
                    <a:shade val="46275"/>
                    <a:invGamma/>
                  </a:srgbClr>
                </a:gs>
              </a:gsLst>
              <a:lin ang="5400000" scaled="1"/>
            </a:gradFill>
            <a:ln w="9525">
              <a:solidFill>
                <a:srgbClr val="FFFFFF"/>
              </a:solidFill>
              <a:miter lim="800000"/>
              <a:headEnd/>
              <a:tailEnd/>
            </a:ln>
            <a:effectLst/>
          </p:spPr>
          <p:txBody>
            <a:bodyPr wrap="none" anchor="ctr"/>
            <a:lstStyle/>
            <a:p>
              <a:endParaRPr lang="zh-CN" altLang="en-US"/>
            </a:p>
          </p:txBody>
        </p:sp>
        <p:sp>
          <p:nvSpPr>
            <p:cNvPr id="583689" name="Rectangle 9"/>
            <p:cNvSpPr>
              <a:spLocks noChangeArrowheads="1"/>
            </p:cNvSpPr>
            <p:nvPr/>
          </p:nvSpPr>
          <p:spPr bwMode="auto">
            <a:xfrm>
              <a:off x="2112" y="3120"/>
              <a:ext cx="576" cy="144"/>
            </a:xfrm>
            <a:prstGeom prst="rect">
              <a:avLst/>
            </a:prstGeom>
            <a:gradFill rotWithShape="0">
              <a:gsLst>
                <a:gs pos="0">
                  <a:srgbClr val="CCFFFF"/>
                </a:gs>
                <a:gs pos="100000">
                  <a:srgbClr val="CCFFFF">
                    <a:gamma/>
                    <a:shade val="46275"/>
                    <a:invGamma/>
                  </a:srgbClr>
                </a:gs>
              </a:gsLst>
              <a:lin ang="5400000" scaled="1"/>
            </a:gradFill>
            <a:ln w="9525">
              <a:solidFill>
                <a:srgbClr val="FFFFFF"/>
              </a:solidFill>
              <a:miter lim="800000"/>
              <a:headEnd/>
              <a:tailEnd/>
            </a:ln>
            <a:effectLst/>
          </p:spPr>
          <p:txBody>
            <a:bodyPr wrap="none" anchor="ctr"/>
            <a:lstStyle/>
            <a:p>
              <a:endParaRPr lang="zh-CN" altLang="en-US"/>
            </a:p>
          </p:txBody>
        </p:sp>
        <p:sp>
          <p:nvSpPr>
            <p:cNvPr id="583690" name="Line 10"/>
            <p:cNvSpPr>
              <a:spLocks noChangeShapeType="1"/>
            </p:cNvSpPr>
            <p:nvPr/>
          </p:nvSpPr>
          <p:spPr bwMode="auto">
            <a:xfrm flipH="1">
              <a:off x="2112" y="3216"/>
              <a:ext cx="288" cy="0"/>
            </a:xfrm>
            <a:prstGeom prst="line">
              <a:avLst/>
            </a:prstGeom>
            <a:noFill/>
            <a:ln w="38100">
              <a:solidFill>
                <a:srgbClr val="FF3300"/>
              </a:solidFill>
              <a:round/>
              <a:headEnd/>
              <a:tailEnd type="triangle" w="med" len="med"/>
            </a:ln>
            <a:effectLst/>
          </p:spPr>
          <p:txBody>
            <a:bodyPr wrap="none" anchor="ctr"/>
            <a:lstStyle/>
            <a:p>
              <a:endParaRPr lang="zh-CN" altLang="en-US"/>
            </a:p>
          </p:txBody>
        </p:sp>
        <p:graphicFrame>
          <p:nvGraphicFramePr>
            <p:cNvPr id="583691" name="Object 11"/>
            <p:cNvGraphicFramePr>
              <a:graphicFrameLocks noChangeAspect="1"/>
            </p:cNvGraphicFramePr>
            <p:nvPr/>
          </p:nvGraphicFramePr>
          <p:xfrm>
            <a:off x="2154" y="2886"/>
            <a:ext cx="288" cy="332"/>
          </p:xfrm>
          <a:graphic>
            <a:graphicData uri="http://schemas.openxmlformats.org/presentationml/2006/ole">
              <mc:AlternateContent xmlns:mc="http://schemas.openxmlformats.org/markup-compatibility/2006">
                <mc:Choice xmlns:v="urn:schemas-microsoft-com:vml" Requires="v">
                  <p:oleObj name="公式" r:id="rId2" imgW="164880" imgH="190440" progId="Equation.3">
                    <p:embed/>
                  </p:oleObj>
                </mc:Choice>
                <mc:Fallback>
                  <p:oleObj name="公式" r:id="rId2" imgW="164880" imgH="190440" progId="Equation.3">
                    <p:embed/>
                    <p:pic>
                      <p:nvPicPr>
                        <p:cNvPr id="583691"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2886"/>
                          <a:ext cx="288" cy="3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83692" name="Group 12"/>
          <p:cNvGrpSpPr>
            <a:grpSpLocks/>
          </p:cNvGrpSpPr>
          <p:nvPr/>
        </p:nvGrpSpPr>
        <p:grpSpPr bwMode="auto">
          <a:xfrm>
            <a:off x="4876800" y="1905000"/>
            <a:ext cx="3657600" cy="2057400"/>
            <a:chOff x="3072" y="960"/>
            <a:chExt cx="2304" cy="1296"/>
          </a:xfrm>
        </p:grpSpPr>
        <p:sp>
          <p:nvSpPr>
            <p:cNvPr id="583693" name="Rectangle 13" descr="轮廓式菱形"/>
            <p:cNvSpPr>
              <a:spLocks noChangeArrowheads="1"/>
            </p:cNvSpPr>
            <p:nvPr/>
          </p:nvSpPr>
          <p:spPr bwMode="auto">
            <a:xfrm>
              <a:off x="3072" y="960"/>
              <a:ext cx="2304" cy="1296"/>
            </a:xfrm>
            <a:prstGeom prst="rect">
              <a:avLst/>
            </a:prstGeom>
            <a:pattFill prst="openDmnd">
              <a:fgClr>
                <a:srgbClr val="01017D"/>
              </a:fgClr>
              <a:bgClr>
                <a:srgbClr val="00C600"/>
              </a:bgClr>
            </a:pattFill>
            <a:ln w="9525">
              <a:solidFill>
                <a:srgbClr val="FFFFFF"/>
              </a:solidFill>
              <a:miter lim="800000"/>
              <a:headEnd/>
              <a:tailEnd/>
            </a:ln>
            <a:effectLst/>
          </p:spPr>
          <p:txBody>
            <a:bodyPr wrap="none" anchor="ctr"/>
            <a:lstStyle/>
            <a:p>
              <a:endParaRPr lang="zh-CN" altLang="en-US"/>
            </a:p>
          </p:txBody>
        </p:sp>
        <p:sp>
          <p:nvSpPr>
            <p:cNvPr id="583694" name="Rectangle 14" descr="大纸屑"/>
            <p:cNvSpPr>
              <a:spLocks noChangeArrowheads="1"/>
            </p:cNvSpPr>
            <p:nvPr/>
          </p:nvSpPr>
          <p:spPr bwMode="auto">
            <a:xfrm>
              <a:off x="3216" y="1104"/>
              <a:ext cx="2016" cy="1008"/>
            </a:xfrm>
            <a:prstGeom prst="rect">
              <a:avLst/>
            </a:prstGeom>
            <a:pattFill prst="lgConfetti">
              <a:fgClr>
                <a:srgbClr val="FFE701"/>
              </a:fgClr>
              <a:bgClr>
                <a:srgbClr val="FFFFFF"/>
              </a:bgClr>
            </a:pattFill>
            <a:ln w="9525">
              <a:solidFill>
                <a:srgbClr val="FFFFFF"/>
              </a:solidFill>
              <a:miter lim="800000"/>
              <a:headEnd/>
              <a:tailEnd/>
            </a:ln>
            <a:effectLst/>
          </p:spPr>
          <p:txBody>
            <a:bodyPr wrap="none" anchor="ctr"/>
            <a:lstStyle/>
            <a:p>
              <a:endParaRPr lang="zh-CN" altLang="en-US"/>
            </a:p>
          </p:txBody>
        </p:sp>
      </p:grpSp>
      <p:grpSp>
        <p:nvGrpSpPr>
          <p:cNvPr id="583695" name="Group 15"/>
          <p:cNvGrpSpPr>
            <a:grpSpLocks/>
          </p:cNvGrpSpPr>
          <p:nvPr/>
        </p:nvGrpSpPr>
        <p:grpSpPr bwMode="auto">
          <a:xfrm>
            <a:off x="762000" y="1828800"/>
            <a:ext cx="3657600" cy="2133600"/>
            <a:chOff x="480" y="912"/>
            <a:chExt cx="2304" cy="1344"/>
          </a:xfrm>
        </p:grpSpPr>
        <p:sp>
          <p:nvSpPr>
            <p:cNvPr id="583696" name="Rectangle 16" descr="轮廓式菱形"/>
            <p:cNvSpPr>
              <a:spLocks noChangeArrowheads="1"/>
            </p:cNvSpPr>
            <p:nvPr/>
          </p:nvSpPr>
          <p:spPr bwMode="auto">
            <a:xfrm>
              <a:off x="480" y="960"/>
              <a:ext cx="2304" cy="1296"/>
            </a:xfrm>
            <a:prstGeom prst="rect">
              <a:avLst/>
            </a:prstGeom>
            <a:pattFill prst="openDmnd">
              <a:fgClr>
                <a:srgbClr val="01017D"/>
              </a:fgClr>
              <a:bgClr>
                <a:srgbClr val="00C600"/>
              </a:bgClr>
            </a:pattFill>
            <a:ln w="9525">
              <a:solidFill>
                <a:srgbClr val="FFFFFF"/>
              </a:solidFill>
              <a:miter lim="800000"/>
              <a:headEnd/>
              <a:tailEnd/>
            </a:ln>
            <a:effectLst/>
          </p:spPr>
          <p:txBody>
            <a:bodyPr wrap="none" anchor="ctr"/>
            <a:lstStyle/>
            <a:p>
              <a:endParaRPr lang="zh-CN" altLang="en-US"/>
            </a:p>
          </p:txBody>
        </p:sp>
        <p:sp>
          <p:nvSpPr>
            <p:cNvPr id="583697" name="Rectangle 17" descr="大纸屑"/>
            <p:cNvSpPr>
              <a:spLocks noChangeArrowheads="1"/>
            </p:cNvSpPr>
            <p:nvPr/>
          </p:nvSpPr>
          <p:spPr bwMode="auto">
            <a:xfrm>
              <a:off x="624" y="1104"/>
              <a:ext cx="1008" cy="1008"/>
            </a:xfrm>
            <a:prstGeom prst="rect">
              <a:avLst/>
            </a:prstGeom>
            <a:pattFill prst="lgConfetti">
              <a:fgClr>
                <a:srgbClr val="FFE701"/>
              </a:fgClr>
              <a:bgClr>
                <a:srgbClr val="FFFFFF"/>
              </a:bgClr>
            </a:pattFill>
            <a:ln w="9525">
              <a:solidFill>
                <a:srgbClr val="FFFFFF"/>
              </a:solidFill>
              <a:miter lim="800000"/>
              <a:headEnd/>
              <a:tailEnd/>
            </a:ln>
            <a:effectLst/>
          </p:spPr>
          <p:txBody>
            <a:bodyPr wrap="none" anchor="ctr"/>
            <a:lstStyle/>
            <a:p>
              <a:endParaRPr lang="zh-CN" altLang="en-US"/>
            </a:p>
          </p:txBody>
        </p:sp>
        <p:sp>
          <p:nvSpPr>
            <p:cNvPr id="583698" name="Rectangle 18"/>
            <p:cNvSpPr>
              <a:spLocks noChangeArrowheads="1"/>
            </p:cNvSpPr>
            <p:nvPr/>
          </p:nvSpPr>
          <p:spPr bwMode="auto">
            <a:xfrm>
              <a:off x="1632" y="1104"/>
              <a:ext cx="1008" cy="1008"/>
            </a:xfrm>
            <a:prstGeom prst="rect">
              <a:avLst/>
            </a:prstGeom>
            <a:solidFill>
              <a:srgbClr val="FFFFFF"/>
            </a:solidFill>
            <a:ln w="9525">
              <a:solidFill>
                <a:srgbClr val="FFFFFF"/>
              </a:solidFill>
              <a:miter lim="800000"/>
              <a:headEnd/>
              <a:tailEnd/>
            </a:ln>
            <a:effectLst/>
          </p:spPr>
          <p:txBody>
            <a:bodyPr wrap="none" anchor="ctr"/>
            <a:lstStyle/>
            <a:p>
              <a:endParaRPr lang="zh-CN" altLang="en-US"/>
            </a:p>
          </p:txBody>
        </p:sp>
        <p:grpSp>
          <p:nvGrpSpPr>
            <p:cNvPr id="583699" name="Group 19"/>
            <p:cNvGrpSpPr>
              <a:grpSpLocks/>
            </p:cNvGrpSpPr>
            <p:nvPr/>
          </p:nvGrpSpPr>
          <p:grpSpPr bwMode="auto">
            <a:xfrm>
              <a:off x="1584" y="912"/>
              <a:ext cx="96" cy="1200"/>
              <a:chOff x="1584" y="912"/>
              <a:chExt cx="96" cy="1200"/>
            </a:xfrm>
          </p:grpSpPr>
          <p:sp>
            <p:nvSpPr>
              <p:cNvPr id="583700" name="Line 20"/>
              <p:cNvSpPr>
                <a:spLocks noChangeShapeType="1"/>
              </p:cNvSpPr>
              <p:nvPr/>
            </p:nvSpPr>
            <p:spPr bwMode="auto">
              <a:xfrm>
                <a:off x="1632" y="912"/>
                <a:ext cx="0" cy="1200"/>
              </a:xfrm>
              <a:prstGeom prst="line">
                <a:avLst/>
              </a:prstGeom>
              <a:noFill/>
              <a:ln w="57150">
                <a:solidFill>
                  <a:srgbClr val="FF3300"/>
                </a:solidFill>
                <a:round/>
                <a:headEnd/>
                <a:tailEnd/>
              </a:ln>
              <a:effectLst/>
            </p:spPr>
            <p:txBody>
              <a:bodyPr wrap="none" anchor="ctr"/>
              <a:lstStyle/>
              <a:p>
                <a:endParaRPr lang="zh-CN" altLang="en-US"/>
              </a:p>
            </p:txBody>
          </p:sp>
          <p:sp>
            <p:nvSpPr>
              <p:cNvPr id="583701" name="Line 21"/>
              <p:cNvSpPr>
                <a:spLocks noChangeShapeType="1"/>
              </p:cNvSpPr>
              <p:nvPr/>
            </p:nvSpPr>
            <p:spPr bwMode="auto">
              <a:xfrm>
                <a:off x="1584" y="912"/>
                <a:ext cx="96" cy="0"/>
              </a:xfrm>
              <a:prstGeom prst="line">
                <a:avLst/>
              </a:prstGeom>
              <a:noFill/>
              <a:ln w="57150">
                <a:solidFill>
                  <a:srgbClr val="FF3300"/>
                </a:solidFill>
                <a:round/>
                <a:headEnd/>
                <a:tailEnd/>
              </a:ln>
              <a:effectLst/>
            </p:spPr>
            <p:txBody>
              <a:bodyPr wrap="none" anchor="ctr"/>
              <a:lstStyle/>
              <a:p>
                <a:endParaRPr lang="zh-CN" altLang="en-US"/>
              </a:p>
            </p:txBody>
          </p:sp>
        </p:grpSp>
      </p:grpSp>
      <p:grpSp>
        <p:nvGrpSpPr>
          <p:cNvPr id="583702" name="Group 22"/>
          <p:cNvGrpSpPr>
            <a:grpSpLocks/>
          </p:cNvGrpSpPr>
          <p:nvPr/>
        </p:nvGrpSpPr>
        <p:grpSpPr bwMode="auto">
          <a:xfrm>
            <a:off x="4876800" y="4267200"/>
            <a:ext cx="3657600" cy="2057400"/>
            <a:chOff x="3072" y="2544"/>
            <a:chExt cx="2304" cy="1296"/>
          </a:xfrm>
        </p:grpSpPr>
        <p:sp>
          <p:nvSpPr>
            <p:cNvPr id="583703" name="Rectangle 23" descr="轮廓式菱形"/>
            <p:cNvSpPr>
              <a:spLocks noChangeArrowheads="1"/>
            </p:cNvSpPr>
            <p:nvPr/>
          </p:nvSpPr>
          <p:spPr bwMode="auto">
            <a:xfrm>
              <a:off x="3072" y="2544"/>
              <a:ext cx="2304" cy="1296"/>
            </a:xfrm>
            <a:prstGeom prst="rect">
              <a:avLst/>
            </a:prstGeom>
            <a:pattFill prst="openDmnd">
              <a:fgClr>
                <a:srgbClr val="01017D"/>
              </a:fgClr>
              <a:bgClr>
                <a:srgbClr val="00C600"/>
              </a:bgClr>
            </a:pattFill>
            <a:ln w="9525">
              <a:solidFill>
                <a:srgbClr val="FFFFFF"/>
              </a:solidFill>
              <a:miter lim="800000"/>
              <a:headEnd/>
              <a:tailEnd/>
            </a:ln>
            <a:effectLst/>
          </p:spPr>
          <p:txBody>
            <a:bodyPr wrap="none" anchor="ctr"/>
            <a:lstStyle/>
            <a:p>
              <a:endParaRPr lang="zh-CN" altLang="en-US"/>
            </a:p>
          </p:txBody>
        </p:sp>
        <p:sp>
          <p:nvSpPr>
            <p:cNvPr id="583704" name="Rectangle 24" descr="大纸屑"/>
            <p:cNvSpPr>
              <a:spLocks noChangeArrowheads="1"/>
            </p:cNvSpPr>
            <p:nvPr/>
          </p:nvSpPr>
          <p:spPr bwMode="auto">
            <a:xfrm>
              <a:off x="3216" y="2688"/>
              <a:ext cx="1008" cy="1008"/>
            </a:xfrm>
            <a:prstGeom prst="rect">
              <a:avLst/>
            </a:prstGeom>
            <a:pattFill prst="lgConfetti">
              <a:fgClr>
                <a:srgbClr val="FFE701"/>
              </a:fgClr>
              <a:bgClr>
                <a:srgbClr val="FFFFFF"/>
              </a:bgClr>
            </a:pattFill>
            <a:ln w="9525">
              <a:solidFill>
                <a:srgbClr val="FFFFFF"/>
              </a:solidFill>
              <a:miter lim="800000"/>
              <a:headEnd/>
              <a:tailEnd/>
            </a:ln>
            <a:effectLst/>
          </p:spPr>
          <p:txBody>
            <a:bodyPr wrap="none" anchor="ctr"/>
            <a:lstStyle/>
            <a:p>
              <a:endParaRPr lang="zh-CN" altLang="en-US"/>
            </a:p>
          </p:txBody>
        </p:sp>
        <p:sp>
          <p:nvSpPr>
            <p:cNvPr id="583705" name="Rectangle 25"/>
            <p:cNvSpPr>
              <a:spLocks noChangeArrowheads="1"/>
            </p:cNvSpPr>
            <p:nvPr/>
          </p:nvSpPr>
          <p:spPr bwMode="auto">
            <a:xfrm>
              <a:off x="4224" y="2688"/>
              <a:ext cx="1008" cy="1008"/>
            </a:xfrm>
            <a:prstGeom prst="rect">
              <a:avLst/>
            </a:prstGeom>
            <a:solidFill>
              <a:srgbClr val="FFFFFF"/>
            </a:solidFill>
            <a:ln w="9525">
              <a:solidFill>
                <a:srgbClr val="FFFFFF"/>
              </a:solidFill>
              <a:miter lim="800000"/>
              <a:headEnd/>
              <a:tailEnd/>
            </a:ln>
            <a:effectLst/>
          </p:spPr>
          <p:txBody>
            <a:bodyPr wrap="none" anchor="ctr"/>
            <a:lstStyle/>
            <a:p>
              <a:endParaRPr lang="zh-CN" altLang="en-US"/>
            </a:p>
          </p:txBody>
        </p:sp>
        <p:sp>
          <p:nvSpPr>
            <p:cNvPr id="583706" name="Rectangle 26"/>
            <p:cNvSpPr>
              <a:spLocks noChangeArrowheads="1"/>
            </p:cNvSpPr>
            <p:nvPr/>
          </p:nvSpPr>
          <p:spPr bwMode="auto">
            <a:xfrm>
              <a:off x="4224" y="2688"/>
              <a:ext cx="192" cy="1008"/>
            </a:xfrm>
            <a:prstGeom prst="rect">
              <a:avLst/>
            </a:prstGeom>
            <a:gradFill rotWithShape="0">
              <a:gsLst>
                <a:gs pos="0">
                  <a:srgbClr val="FFCCCC"/>
                </a:gs>
                <a:gs pos="100000">
                  <a:srgbClr val="FFCCCC">
                    <a:gamma/>
                    <a:shade val="46275"/>
                    <a:invGamma/>
                  </a:srgbClr>
                </a:gs>
              </a:gsLst>
              <a:lin ang="5400000" scaled="1"/>
            </a:gradFill>
            <a:ln w="9525">
              <a:solidFill>
                <a:srgbClr val="FFFFFF"/>
              </a:solidFill>
              <a:miter lim="800000"/>
              <a:headEnd/>
              <a:tailEnd/>
            </a:ln>
            <a:effectLst/>
          </p:spPr>
          <p:txBody>
            <a:bodyPr wrap="none" anchor="ctr"/>
            <a:lstStyle/>
            <a:p>
              <a:endParaRPr lang="zh-CN" altLang="en-US"/>
            </a:p>
          </p:txBody>
        </p:sp>
        <p:sp>
          <p:nvSpPr>
            <p:cNvPr id="583707" name="Rectangle 27"/>
            <p:cNvSpPr>
              <a:spLocks noChangeArrowheads="1"/>
            </p:cNvSpPr>
            <p:nvPr/>
          </p:nvSpPr>
          <p:spPr bwMode="auto">
            <a:xfrm>
              <a:off x="4416" y="3120"/>
              <a:ext cx="576" cy="144"/>
            </a:xfrm>
            <a:prstGeom prst="rect">
              <a:avLst/>
            </a:prstGeom>
            <a:gradFill rotWithShape="0">
              <a:gsLst>
                <a:gs pos="0">
                  <a:srgbClr val="CCFFFF"/>
                </a:gs>
                <a:gs pos="100000">
                  <a:srgbClr val="CCFFFF">
                    <a:gamma/>
                    <a:shade val="46275"/>
                    <a:invGamma/>
                  </a:srgbClr>
                </a:gs>
              </a:gsLst>
              <a:lin ang="5400000" scaled="1"/>
            </a:gradFill>
            <a:ln w="9525">
              <a:solidFill>
                <a:srgbClr val="FFFFFF"/>
              </a:solidFill>
              <a:miter lim="800000"/>
              <a:headEnd/>
              <a:tailEnd/>
            </a:ln>
            <a:effectLst/>
          </p:spPr>
          <p:txBody>
            <a:bodyPr wrap="none" anchor="ctr"/>
            <a:lstStyle/>
            <a:p>
              <a:endParaRPr lang="zh-CN" altLang="en-US"/>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7" name="灯片编号占位符 4"/>
          <p:cNvSpPr>
            <a:spLocks noGrp="1"/>
          </p:cNvSpPr>
          <p:nvPr>
            <p:ph type="sldNum" sz="quarter" idx="12"/>
          </p:nvPr>
        </p:nvSpPr>
        <p:spPr/>
        <p:txBody>
          <a:bodyPr/>
          <a:lstStyle/>
          <a:p>
            <a:fld id="{9ECAFE62-4FCD-4634-82AB-83F0A331E537}" type="slidenum">
              <a:rPr lang="en-US" altLang="zh-CN"/>
              <a:pPr/>
              <a:t>75</a:t>
            </a:fld>
            <a:endParaRPr lang="en-US" altLang="zh-CN"/>
          </a:p>
        </p:txBody>
      </p:sp>
      <p:grpSp>
        <p:nvGrpSpPr>
          <p:cNvPr id="584707" name="Group 3"/>
          <p:cNvGrpSpPr>
            <a:grpSpLocks/>
          </p:cNvGrpSpPr>
          <p:nvPr/>
        </p:nvGrpSpPr>
        <p:grpSpPr bwMode="auto">
          <a:xfrm>
            <a:off x="1371600" y="2063750"/>
            <a:ext cx="6384925" cy="3194050"/>
            <a:chOff x="990" y="1162"/>
            <a:chExt cx="4022" cy="2012"/>
          </a:xfrm>
        </p:grpSpPr>
        <p:sp>
          <p:nvSpPr>
            <p:cNvPr id="584708" name="Rectangle 4" descr="50%"/>
            <p:cNvSpPr>
              <a:spLocks noChangeArrowheads="1"/>
            </p:cNvSpPr>
            <p:nvPr/>
          </p:nvSpPr>
          <p:spPr bwMode="auto">
            <a:xfrm>
              <a:off x="990" y="1162"/>
              <a:ext cx="4022" cy="2012"/>
            </a:xfrm>
            <a:prstGeom prst="rect">
              <a:avLst/>
            </a:prstGeom>
            <a:pattFill prst="pct50">
              <a:fgClr>
                <a:srgbClr val="993366"/>
              </a:fgClr>
              <a:bgClr>
                <a:schemeClr val="bg1"/>
              </a:bgClr>
            </a:pattFill>
            <a:ln w="9525" algn="ctr">
              <a:solidFill>
                <a:srgbClr val="993366"/>
              </a:solidFill>
              <a:miter lim="800000"/>
              <a:headEnd/>
              <a:tailEnd/>
            </a:ln>
            <a:effectLst/>
          </p:spPr>
          <p:txBody>
            <a:bodyPr wrap="none" anchor="ctr"/>
            <a:lstStyle/>
            <a:p>
              <a:endParaRPr lang="zh-CN" altLang="en-US"/>
            </a:p>
          </p:txBody>
        </p:sp>
        <p:sp>
          <p:nvSpPr>
            <p:cNvPr id="584709" name="Rectangle 5" descr="未标题-2 拷贝"/>
            <p:cNvSpPr>
              <a:spLocks noChangeArrowheads="1"/>
            </p:cNvSpPr>
            <p:nvPr/>
          </p:nvSpPr>
          <p:spPr bwMode="auto">
            <a:xfrm>
              <a:off x="1182" y="1354"/>
              <a:ext cx="3640" cy="1628"/>
            </a:xfrm>
            <a:prstGeom prst="rect">
              <a:avLst/>
            </a:prstGeom>
            <a:blipFill dpi="0" rotWithShape="1">
              <a:blip r:embed="rId2"/>
              <a:srcRect/>
              <a:stretch>
                <a:fillRect/>
              </a:stretch>
            </a:blipFill>
            <a:ln w="9525">
              <a:solidFill>
                <a:srgbClr val="993366"/>
              </a:solidFill>
              <a:miter lim="800000"/>
              <a:headEnd/>
              <a:tailEnd/>
            </a:ln>
            <a:effectLst/>
          </p:spPr>
          <p:txBody>
            <a:bodyPr wrap="none" anchor="ctr"/>
            <a:lstStyle/>
            <a:p>
              <a:endParaRPr lang="zh-CN" altLang="en-US"/>
            </a:p>
          </p:txBody>
        </p:sp>
        <p:sp>
          <p:nvSpPr>
            <p:cNvPr id="584710" name="Rectangle 6" descr="50%"/>
            <p:cNvSpPr>
              <a:spLocks noChangeArrowheads="1"/>
            </p:cNvSpPr>
            <p:nvPr/>
          </p:nvSpPr>
          <p:spPr bwMode="auto">
            <a:xfrm>
              <a:off x="3002" y="1354"/>
              <a:ext cx="190" cy="1628"/>
            </a:xfrm>
            <a:prstGeom prst="rect">
              <a:avLst/>
            </a:prstGeom>
            <a:pattFill prst="pct50">
              <a:fgClr>
                <a:srgbClr val="993366"/>
              </a:fgClr>
              <a:bgClr>
                <a:schemeClr val="bg1"/>
              </a:bgClr>
            </a:pattFill>
            <a:ln w="9525" algn="ctr">
              <a:solidFill>
                <a:srgbClr val="993366"/>
              </a:solidFill>
              <a:miter lim="800000"/>
              <a:headEnd/>
              <a:tailEnd/>
            </a:ln>
            <a:effectLst/>
          </p:spPr>
          <p:txBody>
            <a:bodyPr wrap="none" anchor="ctr"/>
            <a:lstStyle/>
            <a:p>
              <a:endParaRPr lang="zh-CN" altLang="en-US"/>
            </a:p>
          </p:txBody>
        </p:sp>
        <p:sp>
          <p:nvSpPr>
            <p:cNvPr id="584711" name="Text Box 7"/>
            <p:cNvSpPr txBox="1">
              <a:spLocks noChangeArrowheads="1"/>
            </p:cNvSpPr>
            <p:nvPr/>
          </p:nvSpPr>
          <p:spPr bwMode="auto">
            <a:xfrm>
              <a:off x="1674" y="1496"/>
              <a:ext cx="480" cy="405"/>
            </a:xfrm>
            <a:prstGeom prst="rect">
              <a:avLst/>
            </a:prstGeom>
            <a:noFill/>
            <a:ln w="9525">
              <a:noFill/>
              <a:miter lim="800000"/>
              <a:headEnd/>
              <a:tailEnd/>
            </a:ln>
            <a:effectLst/>
          </p:spPr>
          <p:txBody>
            <a:bodyPr>
              <a:spAutoFit/>
            </a:bodyPr>
            <a:lstStyle/>
            <a:p>
              <a:pPr>
                <a:spcBef>
                  <a:spcPct val="50000"/>
                </a:spcBef>
              </a:pPr>
              <a:r>
                <a:rPr lang="en-US" altLang="zh-CN" sz="3600">
                  <a:solidFill>
                    <a:srgbClr val="FF0000"/>
                  </a:solidFill>
                </a:rPr>
                <a:t>a</a:t>
              </a:r>
            </a:p>
          </p:txBody>
        </p:sp>
        <p:sp>
          <p:nvSpPr>
            <p:cNvPr id="584712" name="Text Box 8"/>
            <p:cNvSpPr txBox="1">
              <a:spLocks noChangeArrowheads="1"/>
            </p:cNvSpPr>
            <p:nvPr/>
          </p:nvSpPr>
          <p:spPr bwMode="auto">
            <a:xfrm>
              <a:off x="1469" y="2503"/>
              <a:ext cx="480" cy="405"/>
            </a:xfrm>
            <a:prstGeom prst="rect">
              <a:avLst/>
            </a:prstGeom>
            <a:noFill/>
            <a:ln w="9525">
              <a:noFill/>
              <a:miter lim="800000"/>
              <a:headEnd/>
              <a:tailEnd/>
            </a:ln>
            <a:effectLst/>
          </p:spPr>
          <p:txBody>
            <a:bodyPr>
              <a:spAutoFit/>
            </a:bodyPr>
            <a:lstStyle/>
            <a:p>
              <a:pPr>
                <a:spcBef>
                  <a:spcPct val="50000"/>
                </a:spcBef>
              </a:pPr>
              <a:r>
                <a:rPr lang="en-US" altLang="zh-CN" sz="3600">
                  <a:solidFill>
                    <a:srgbClr val="0000FF"/>
                  </a:solidFill>
                </a:rPr>
                <a:t>  b</a:t>
              </a:r>
            </a:p>
          </p:txBody>
        </p:sp>
        <p:sp>
          <p:nvSpPr>
            <p:cNvPr id="584713" name="Line 9"/>
            <p:cNvSpPr>
              <a:spLocks noChangeShapeType="1"/>
            </p:cNvSpPr>
            <p:nvPr/>
          </p:nvSpPr>
          <p:spPr bwMode="auto">
            <a:xfrm flipV="1">
              <a:off x="1949" y="1449"/>
              <a:ext cx="574" cy="287"/>
            </a:xfrm>
            <a:prstGeom prst="line">
              <a:avLst/>
            </a:prstGeom>
            <a:noFill/>
            <a:ln w="28575">
              <a:solidFill>
                <a:srgbClr val="FF0000"/>
              </a:solidFill>
              <a:round/>
              <a:headEnd type="oval" w="lg" len="lg"/>
              <a:tailEnd type="triangle" w="sm" len="lg"/>
            </a:ln>
            <a:effectLst/>
          </p:spPr>
          <p:txBody>
            <a:bodyPr/>
            <a:lstStyle/>
            <a:p>
              <a:endParaRPr lang="zh-CN" altLang="en-US"/>
            </a:p>
          </p:txBody>
        </p:sp>
        <p:sp>
          <p:nvSpPr>
            <p:cNvPr id="584714" name="Text Box 10"/>
            <p:cNvSpPr txBox="1">
              <a:spLocks noChangeArrowheads="1"/>
            </p:cNvSpPr>
            <p:nvPr/>
          </p:nvSpPr>
          <p:spPr bwMode="auto">
            <a:xfrm>
              <a:off x="2492" y="2216"/>
              <a:ext cx="479" cy="405"/>
            </a:xfrm>
            <a:prstGeom prst="rect">
              <a:avLst/>
            </a:prstGeom>
            <a:noFill/>
            <a:ln w="9525">
              <a:noFill/>
              <a:miter lim="800000"/>
              <a:headEnd/>
              <a:tailEnd/>
            </a:ln>
            <a:effectLst/>
          </p:spPr>
          <p:txBody>
            <a:bodyPr>
              <a:spAutoFit/>
            </a:bodyPr>
            <a:lstStyle/>
            <a:p>
              <a:pPr>
                <a:spcBef>
                  <a:spcPct val="50000"/>
                </a:spcBef>
              </a:pPr>
              <a:r>
                <a:rPr lang="en-US" altLang="zh-CN" sz="3600"/>
                <a:t>c</a:t>
              </a:r>
            </a:p>
          </p:txBody>
        </p:sp>
        <p:sp>
          <p:nvSpPr>
            <p:cNvPr id="584715" name="Line 11"/>
            <p:cNvSpPr>
              <a:spLocks noChangeShapeType="1"/>
            </p:cNvSpPr>
            <p:nvPr/>
          </p:nvSpPr>
          <p:spPr bwMode="auto">
            <a:xfrm flipH="1" flipV="1">
              <a:off x="1279" y="2025"/>
              <a:ext cx="480" cy="478"/>
            </a:xfrm>
            <a:prstGeom prst="line">
              <a:avLst/>
            </a:prstGeom>
            <a:noFill/>
            <a:ln w="28575">
              <a:solidFill>
                <a:srgbClr val="006666"/>
              </a:solidFill>
              <a:round/>
              <a:headEnd type="oval" w="lg" len="lg"/>
              <a:tailEnd type="triangle" w="sm" len="lg"/>
            </a:ln>
            <a:effectLst/>
          </p:spPr>
          <p:txBody>
            <a:bodyPr/>
            <a:lstStyle/>
            <a:p>
              <a:endParaRPr lang="zh-CN" altLang="en-US"/>
            </a:p>
          </p:txBody>
        </p:sp>
        <p:sp>
          <p:nvSpPr>
            <p:cNvPr id="584716" name="Line 12"/>
            <p:cNvSpPr>
              <a:spLocks noChangeShapeType="1"/>
            </p:cNvSpPr>
            <p:nvPr/>
          </p:nvSpPr>
          <p:spPr bwMode="auto">
            <a:xfrm rot="10800000" flipH="1">
              <a:off x="2675" y="1833"/>
              <a:ext cx="230" cy="480"/>
            </a:xfrm>
            <a:prstGeom prst="line">
              <a:avLst/>
            </a:prstGeom>
            <a:noFill/>
            <a:ln w="28575">
              <a:solidFill>
                <a:srgbClr val="0000FF"/>
              </a:solidFill>
              <a:round/>
              <a:headEnd type="oval" w="lg" len="lg"/>
              <a:tailEnd type="triangle" w="sm" len="lg"/>
            </a:ln>
            <a:effectLst/>
          </p:spPr>
          <p:txBody>
            <a:bodyPr/>
            <a:lstStyle/>
            <a:p>
              <a:endParaRPr lang="zh-CN" altLang="en-US"/>
            </a:p>
          </p:txBody>
        </p:sp>
        <p:sp>
          <p:nvSpPr>
            <p:cNvPr id="584717" name="Text Box 13"/>
            <p:cNvSpPr txBox="1">
              <a:spLocks noChangeArrowheads="1"/>
            </p:cNvSpPr>
            <p:nvPr/>
          </p:nvSpPr>
          <p:spPr bwMode="auto">
            <a:xfrm>
              <a:off x="1973" y="1848"/>
              <a:ext cx="479" cy="403"/>
            </a:xfrm>
            <a:prstGeom prst="rect">
              <a:avLst/>
            </a:prstGeom>
            <a:noFill/>
            <a:ln w="9525">
              <a:noFill/>
              <a:miter lim="800000"/>
              <a:headEnd/>
              <a:tailEnd/>
            </a:ln>
            <a:effectLst/>
          </p:spPr>
          <p:txBody>
            <a:bodyPr>
              <a:spAutoFit/>
            </a:bodyPr>
            <a:lstStyle/>
            <a:p>
              <a:pPr>
                <a:spcBef>
                  <a:spcPct val="50000"/>
                </a:spcBef>
              </a:pPr>
              <a:r>
                <a:rPr lang="en-US" altLang="zh-CN" sz="3600">
                  <a:solidFill>
                    <a:srgbClr val="993366"/>
                  </a:solidFill>
                </a:rPr>
                <a:t>d</a:t>
              </a:r>
            </a:p>
          </p:txBody>
        </p:sp>
        <p:sp>
          <p:nvSpPr>
            <p:cNvPr id="584718" name="Line 14"/>
            <p:cNvSpPr>
              <a:spLocks noChangeShapeType="1"/>
            </p:cNvSpPr>
            <p:nvPr/>
          </p:nvSpPr>
          <p:spPr bwMode="auto">
            <a:xfrm rot="10800000" flipH="1" flipV="1">
              <a:off x="2234" y="2216"/>
              <a:ext cx="2" cy="479"/>
            </a:xfrm>
            <a:prstGeom prst="line">
              <a:avLst/>
            </a:prstGeom>
            <a:noFill/>
            <a:ln w="28575">
              <a:solidFill>
                <a:srgbClr val="666699"/>
              </a:solidFill>
              <a:round/>
              <a:headEnd type="oval" w="lg" len="lg"/>
              <a:tailEnd type="triangle" w="sm" len="lg"/>
            </a:ln>
            <a:effectLst/>
          </p:spPr>
          <p:txBody>
            <a:bodyPr/>
            <a:lstStyle/>
            <a:p>
              <a:endParaRPr lang="zh-CN" altLang="en-US"/>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9" name="灯片编号占位符 4"/>
          <p:cNvSpPr>
            <a:spLocks noGrp="1"/>
          </p:cNvSpPr>
          <p:nvPr>
            <p:ph type="sldNum" sz="quarter" idx="12"/>
          </p:nvPr>
        </p:nvSpPr>
        <p:spPr/>
        <p:txBody>
          <a:bodyPr/>
          <a:lstStyle/>
          <a:p>
            <a:fld id="{45FCF77F-77DD-4CC0-9D73-349B24220CF3}" type="slidenum">
              <a:rPr lang="en-US" altLang="zh-CN"/>
              <a:pPr/>
              <a:t>76</a:t>
            </a:fld>
            <a:endParaRPr lang="en-US" altLang="zh-CN"/>
          </a:p>
        </p:txBody>
      </p:sp>
      <p:grpSp>
        <p:nvGrpSpPr>
          <p:cNvPr id="585731" name="Group 3"/>
          <p:cNvGrpSpPr>
            <a:grpSpLocks/>
          </p:cNvGrpSpPr>
          <p:nvPr/>
        </p:nvGrpSpPr>
        <p:grpSpPr bwMode="auto">
          <a:xfrm>
            <a:off x="6019800" y="1004888"/>
            <a:ext cx="2990850" cy="5776912"/>
            <a:chOff x="3606" y="249"/>
            <a:chExt cx="1976" cy="3816"/>
          </a:xfrm>
        </p:grpSpPr>
        <p:graphicFrame>
          <p:nvGraphicFramePr>
            <p:cNvPr id="585732" name="Object 4"/>
            <p:cNvGraphicFramePr>
              <a:graphicFrameLocks noChangeAspect="1"/>
            </p:cNvGraphicFramePr>
            <p:nvPr/>
          </p:nvGraphicFramePr>
          <p:xfrm>
            <a:off x="3606" y="249"/>
            <a:ext cx="1976" cy="3816"/>
          </p:xfrm>
          <a:graphic>
            <a:graphicData uri="http://schemas.openxmlformats.org/presentationml/2006/ole">
              <mc:AlternateContent xmlns:mc="http://schemas.openxmlformats.org/markup-compatibility/2006">
                <mc:Choice xmlns:v="urn:schemas-microsoft-com:vml" Requires="v">
                  <p:oleObj name="Image" r:id="rId2" imgW="3136508" imgH="6057143" progId="">
                    <p:embed/>
                  </p:oleObj>
                </mc:Choice>
                <mc:Fallback>
                  <p:oleObj name="Image" r:id="rId2" imgW="3136508" imgH="6057143" progId="">
                    <p:embed/>
                    <p:pic>
                      <p:nvPicPr>
                        <p:cNvPr id="58573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 y="249"/>
                          <a:ext cx="1976" cy="3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5733" name="AutoShape 5"/>
            <p:cNvSpPr>
              <a:spLocks/>
            </p:cNvSpPr>
            <p:nvPr/>
          </p:nvSpPr>
          <p:spPr bwMode="auto">
            <a:xfrm>
              <a:off x="4150" y="844"/>
              <a:ext cx="136" cy="681"/>
            </a:xfrm>
            <a:prstGeom prst="rightBrace">
              <a:avLst>
                <a:gd name="adj1" fmla="val 41728"/>
                <a:gd name="adj2" fmla="val 50000"/>
              </a:avLst>
            </a:prstGeom>
            <a:noFill/>
            <a:ln w="19050">
              <a:solidFill>
                <a:srgbClr val="333333"/>
              </a:solidFill>
              <a:round/>
              <a:headEnd/>
              <a:tailEnd type="none" w="sm" len="lg"/>
            </a:ln>
            <a:effectLst/>
          </p:spPr>
          <p:txBody>
            <a:bodyPr lIns="90000" tIns="46800" rIns="90000" bIns="46800" anchor="ctr">
              <a:spAutoFit/>
            </a:bodyPr>
            <a:lstStyle/>
            <a:p>
              <a:endParaRPr lang="zh-CN" altLang="en-US"/>
            </a:p>
          </p:txBody>
        </p:sp>
        <p:sp>
          <p:nvSpPr>
            <p:cNvPr id="585734" name="AutoShape 6"/>
            <p:cNvSpPr>
              <a:spLocks/>
            </p:cNvSpPr>
            <p:nvPr/>
          </p:nvSpPr>
          <p:spPr bwMode="auto">
            <a:xfrm>
              <a:off x="4150" y="1706"/>
              <a:ext cx="136" cy="1134"/>
            </a:xfrm>
            <a:prstGeom prst="rightBrace">
              <a:avLst>
                <a:gd name="adj1" fmla="val 69485"/>
                <a:gd name="adj2" fmla="val 50000"/>
              </a:avLst>
            </a:prstGeom>
            <a:noFill/>
            <a:ln w="19050">
              <a:solidFill>
                <a:srgbClr val="333333"/>
              </a:solidFill>
              <a:round/>
              <a:headEnd/>
              <a:tailEnd type="none" w="sm" len="lg"/>
            </a:ln>
            <a:effectLst/>
          </p:spPr>
          <p:txBody>
            <a:bodyPr lIns="90000" tIns="46800" rIns="90000" bIns="46800" anchor="ctr">
              <a:spAutoFit/>
            </a:bodyPr>
            <a:lstStyle/>
            <a:p>
              <a:endParaRPr lang="zh-CN" altLang="en-US"/>
            </a:p>
          </p:txBody>
        </p:sp>
        <p:sp>
          <p:nvSpPr>
            <p:cNvPr id="585735" name="AutoShape 7"/>
            <p:cNvSpPr>
              <a:spLocks/>
            </p:cNvSpPr>
            <p:nvPr/>
          </p:nvSpPr>
          <p:spPr bwMode="auto">
            <a:xfrm>
              <a:off x="4150" y="3067"/>
              <a:ext cx="136" cy="681"/>
            </a:xfrm>
            <a:prstGeom prst="rightBrace">
              <a:avLst>
                <a:gd name="adj1" fmla="val 41728"/>
                <a:gd name="adj2" fmla="val 50000"/>
              </a:avLst>
            </a:prstGeom>
            <a:noFill/>
            <a:ln w="19050">
              <a:solidFill>
                <a:srgbClr val="333333"/>
              </a:solidFill>
              <a:round/>
              <a:headEnd/>
              <a:tailEnd type="none" w="sm" len="lg"/>
            </a:ln>
            <a:effectLst/>
          </p:spPr>
          <p:txBody>
            <a:bodyPr lIns="90000" tIns="46800" rIns="90000" bIns="46800" anchor="ctr">
              <a:spAutoFit/>
            </a:bodyPr>
            <a:lstStyle/>
            <a:p>
              <a:endParaRPr lang="zh-CN" altLang="en-US"/>
            </a:p>
          </p:txBody>
        </p:sp>
        <p:sp>
          <p:nvSpPr>
            <p:cNvPr id="585736" name="AutoShape 8"/>
            <p:cNvSpPr>
              <a:spLocks/>
            </p:cNvSpPr>
            <p:nvPr/>
          </p:nvSpPr>
          <p:spPr bwMode="auto">
            <a:xfrm>
              <a:off x="4150" y="528"/>
              <a:ext cx="136" cy="181"/>
            </a:xfrm>
            <a:prstGeom prst="rightBrace">
              <a:avLst>
                <a:gd name="adj1" fmla="val 11091"/>
                <a:gd name="adj2" fmla="val 50000"/>
              </a:avLst>
            </a:prstGeom>
            <a:noFill/>
            <a:ln w="19050">
              <a:solidFill>
                <a:srgbClr val="333333"/>
              </a:solidFill>
              <a:round/>
              <a:headEnd/>
              <a:tailEnd type="none" w="sm" len="lg"/>
            </a:ln>
            <a:effectLst/>
          </p:spPr>
          <p:txBody>
            <a:bodyPr lIns="90000" tIns="46800" rIns="90000" bIns="46800" anchor="ctr">
              <a:spAutoFit/>
            </a:bodyPr>
            <a:lstStyle/>
            <a:p>
              <a:endParaRPr lang="zh-CN" altLang="en-US"/>
            </a:p>
          </p:txBody>
        </p:sp>
        <p:sp>
          <p:nvSpPr>
            <p:cNvPr id="585737" name="AutoShape 9"/>
            <p:cNvSpPr>
              <a:spLocks/>
            </p:cNvSpPr>
            <p:nvPr/>
          </p:nvSpPr>
          <p:spPr bwMode="auto">
            <a:xfrm>
              <a:off x="4150" y="3884"/>
              <a:ext cx="136" cy="181"/>
            </a:xfrm>
            <a:prstGeom prst="rightBrace">
              <a:avLst>
                <a:gd name="adj1" fmla="val 11091"/>
                <a:gd name="adj2" fmla="val 50000"/>
              </a:avLst>
            </a:prstGeom>
            <a:noFill/>
            <a:ln w="19050">
              <a:solidFill>
                <a:srgbClr val="333333"/>
              </a:solidFill>
              <a:round/>
              <a:headEnd/>
              <a:tailEnd type="none" w="sm" len="lg"/>
            </a:ln>
            <a:effectLst/>
          </p:spPr>
          <p:txBody>
            <a:bodyPr lIns="90000" tIns="46800" rIns="90000" bIns="46800" anchor="ctr">
              <a:spAutoFit/>
            </a:bodyPr>
            <a:lstStyle/>
            <a:p>
              <a:endParaRPr lang="zh-CN" altLang="en-US"/>
            </a:p>
          </p:txBody>
        </p:sp>
      </p:grpSp>
      <p:sp>
        <p:nvSpPr>
          <p:cNvPr id="585739" name="Text Box 11"/>
          <p:cNvSpPr txBox="1">
            <a:spLocks noChangeArrowheads="1"/>
          </p:cNvSpPr>
          <p:nvPr/>
        </p:nvSpPr>
        <p:spPr bwMode="auto">
          <a:xfrm>
            <a:off x="457200" y="1219200"/>
            <a:ext cx="5410200" cy="933450"/>
          </a:xfrm>
          <a:prstGeom prst="rect">
            <a:avLst/>
          </a:prstGeom>
          <a:noFill/>
          <a:ln w="9525">
            <a:noFill/>
            <a:miter lim="800000"/>
            <a:headEnd/>
            <a:tailEnd/>
          </a:ln>
          <a:effectLst/>
        </p:spPr>
        <p:txBody>
          <a:bodyPr>
            <a:spAutoFit/>
          </a:bodyPr>
          <a:lstStyle/>
          <a:p>
            <a:pPr>
              <a:lnSpc>
                <a:spcPct val="115000"/>
              </a:lnSpc>
              <a:spcBef>
                <a:spcPct val="50000"/>
              </a:spcBef>
            </a:pPr>
            <a:r>
              <a:rPr lang="zh-CN" altLang="en-US" sz="2400" dirty="0">
                <a:solidFill>
                  <a:srgbClr val="0000CC"/>
                </a:solidFill>
              </a:rPr>
              <a:t>微观态</a:t>
            </a:r>
            <a:r>
              <a:rPr lang="zh-CN" altLang="en-US" sz="2400" dirty="0"/>
              <a:t>：在</a:t>
            </a:r>
            <a:r>
              <a:rPr lang="en-US" altLang="zh-CN" sz="2400" dirty="0"/>
              <a:t>A</a:t>
            </a:r>
            <a:r>
              <a:rPr lang="zh-CN" altLang="en-US" sz="2400" dirty="0"/>
              <a:t>、</a:t>
            </a:r>
            <a:r>
              <a:rPr lang="en-US" altLang="zh-CN" sz="2400" dirty="0"/>
              <a:t>B </a:t>
            </a:r>
            <a:r>
              <a:rPr lang="zh-CN" altLang="en-US" sz="2400" dirty="0"/>
              <a:t>两室中分子各种可能的分布状态。</a:t>
            </a:r>
          </a:p>
        </p:txBody>
      </p:sp>
      <p:sp>
        <p:nvSpPr>
          <p:cNvPr id="585740" name="Text Box 12"/>
          <p:cNvSpPr txBox="1">
            <a:spLocks noChangeArrowheads="1"/>
          </p:cNvSpPr>
          <p:nvPr/>
        </p:nvSpPr>
        <p:spPr bwMode="auto">
          <a:xfrm>
            <a:off x="454025" y="2133600"/>
            <a:ext cx="5565775" cy="933450"/>
          </a:xfrm>
          <a:prstGeom prst="rect">
            <a:avLst/>
          </a:prstGeom>
          <a:noFill/>
          <a:ln w="9525" algn="ctr">
            <a:noFill/>
            <a:miter lim="800000"/>
            <a:headEnd/>
            <a:tailEnd/>
          </a:ln>
          <a:effectLst/>
        </p:spPr>
        <p:txBody>
          <a:bodyPr>
            <a:spAutoFit/>
          </a:bodyPr>
          <a:lstStyle/>
          <a:p>
            <a:pPr>
              <a:lnSpc>
                <a:spcPct val="115000"/>
              </a:lnSpc>
              <a:spcBef>
                <a:spcPct val="50000"/>
              </a:spcBef>
            </a:pPr>
            <a:r>
              <a:rPr lang="zh-CN" altLang="en-US" sz="2400" dirty="0">
                <a:solidFill>
                  <a:srgbClr val="0000CC"/>
                </a:solidFill>
              </a:rPr>
              <a:t>宏观态</a:t>
            </a:r>
            <a:r>
              <a:rPr lang="zh-CN" altLang="en-US" sz="2400" dirty="0"/>
              <a:t>：对各分子不加区别，仅从 </a:t>
            </a:r>
            <a:r>
              <a:rPr lang="en-US" altLang="zh-CN" sz="2400" dirty="0"/>
              <a:t>A</a:t>
            </a:r>
            <a:r>
              <a:rPr lang="zh-CN" altLang="en-US" sz="2400" dirty="0"/>
              <a:t>、</a:t>
            </a:r>
            <a:r>
              <a:rPr lang="en-US" altLang="zh-CN" sz="2400" dirty="0"/>
              <a:t>B </a:t>
            </a:r>
            <a:r>
              <a:rPr lang="zh-CN" altLang="en-US" sz="2400" dirty="0"/>
              <a:t>两室的分子数分布来确定的状态。</a:t>
            </a:r>
          </a:p>
        </p:txBody>
      </p:sp>
      <p:graphicFrame>
        <p:nvGraphicFramePr>
          <p:cNvPr id="585741" name="Object 13"/>
          <p:cNvGraphicFramePr>
            <a:graphicFrameLocks noChangeAspect="1"/>
          </p:cNvGraphicFramePr>
          <p:nvPr/>
        </p:nvGraphicFramePr>
        <p:xfrm>
          <a:off x="1524000" y="3581400"/>
          <a:ext cx="1490663" cy="406400"/>
        </p:xfrm>
        <a:graphic>
          <a:graphicData uri="http://schemas.openxmlformats.org/presentationml/2006/ole">
            <mc:AlternateContent xmlns:mc="http://schemas.openxmlformats.org/markup-compatibility/2006">
              <mc:Choice xmlns:v="urn:schemas-microsoft-com:vml" Requires="v">
                <p:oleObj name="公式" r:id="rId4" imgW="736600" imgH="203200" progId="Equation.3">
                  <p:embed/>
                </p:oleObj>
              </mc:Choice>
              <mc:Fallback>
                <p:oleObj name="公式" r:id="rId4" imgW="736600" imgH="203200" progId="Equation.3">
                  <p:embed/>
                  <p:pic>
                    <p:nvPicPr>
                      <p:cNvPr id="585741"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3581400"/>
                        <a:ext cx="149066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5742" name="Object 14"/>
          <p:cNvGraphicFramePr>
            <a:graphicFrameLocks noChangeAspect="1"/>
          </p:cNvGraphicFramePr>
          <p:nvPr/>
        </p:nvGraphicFramePr>
        <p:xfrm>
          <a:off x="1447800" y="4495800"/>
          <a:ext cx="1593850" cy="787400"/>
        </p:xfrm>
        <a:graphic>
          <a:graphicData uri="http://schemas.openxmlformats.org/presentationml/2006/ole">
            <mc:AlternateContent xmlns:mc="http://schemas.openxmlformats.org/markup-compatibility/2006">
              <mc:Choice xmlns:v="urn:schemas-microsoft-com:vml" Requires="v">
                <p:oleObj name="公式" r:id="rId6" imgW="787058" imgH="393529" progId="Equation.3">
                  <p:embed/>
                </p:oleObj>
              </mc:Choice>
              <mc:Fallback>
                <p:oleObj name="公式" r:id="rId6" imgW="787058" imgH="393529" progId="Equation.3">
                  <p:embed/>
                  <p:pic>
                    <p:nvPicPr>
                      <p:cNvPr id="585742"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4495800"/>
                        <a:ext cx="159385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5743" name="Rectangle 15"/>
          <p:cNvSpPr>
            <a:spLocks noChangeArrowheads="1"/>
          </p:cNvSpPr>
          <p:nvPr/>
        </p:nvSpPr>
        <p:spPr bwMode="auto">
          <a:xfrm>
            <a:off x="533400" y="3124200"/>
            <a:ext cx="2895600" cy="396875"/>
          </a:xfrm>
          <a:prstGeom prst="rect">
            <a:avLst/>
          </a:prstGeom>
          <a:noFill/>
          <a:ln w="9525" algn="ctr">
            <a:noFill/>
            <a:miter lim="800000"/>
            <a:headEnd/>
            <a:tailEnd/>
          </a:ln>
          <a:effectLst/>
        </p:spPr>
        <p:txBody>
          <a:bodyPr anchor="ctr">
            <a:spAutoFit/>
          </a:bodyPr>
          <a:lstStyle/>
          <a:p>
            <a:pPr>
              <a:buFont typeface="Wingdings" pitchFamily="2" charset="2"/>
              <a:buChar char=""/>
              <a:tabLst>
                <a:tab pos="160338" algn="l"/>
              </a:tabLst>
            </a:pPr>
            <a:r>
              <a:rPr lang="zh-CN" altLang="en-US" sz="2000" dirty="0"/>
              <a:t>所有可能微观态数：</a:t>
            </a:r>
          </a:p>
        </p:txBody>
      </p:sp>
      <p:sp>
        <p:nvSpPr>
          <p:cNvPr id="585744" name="Rectangle 16"/>
          <p:cNvSpPr>
            <a:spLocks noChangeArrowheads="1"/>
          </p:cNvSpPr>
          <p:nvPr/>
        </p:nvSpPr>
        <p:spPr bwMode="auto">
          <a:xfrm>
            <a:off x="533400" y="4114800"/>
            <a:ext cx="4191000" cy="396875"/>
          </a:xfrm>
          <a:prstGeom prst="rect">
            <a:avLst/>
          </a:prstGeom>
          <a:noFill/>
          <a:ln w="9525" algn="ctr">
            <a:noFill/>
            <a:miter lim="800000"/>
            <a:headEnd/>
            <a:tailEnd/>
          </a:ln>
          <a:effectLst/>
        </p:spPr>
        <p:txBody>
          <a:bodyPr anchor="ctr">
            <a:spAutoFit/>
          </a:bodyPr>
          <a:lstStyle/>
          <a:p>
            <a:pPr>
              <a:buFont typeface="Wingdings" pitchFamily="2" charset="2"/>
              <a:buChar char=""/>
              <a:tabLst>
                <a:tab pos="160338" algn="l"/>
              </a:tabLst>
            </a:pPr>
            <a:r>
              <a:rPr lang="zh-CN" altLang="en-US" sz="2000"/>
              <a:t>所有粒子处于左（右）边的概率：</a:t>
            </a:r>
          </a:p>
        </p:txBody>
      </p:sp>
      <p:sp>
        <p:nvSpPr>
          <p:cNvPr id="585745" name="Rectangle 17"/>
          <p:cNvSpPr>
            <a:spLocks noChangeArrowheads="1"/>
          </p:cNvSpPr>
          <p:nvPr/>
        </p:nvSpPr>
        <p:spPr bwMode="auto">
          <a:xfrm>
            <a:off x="533400" y="5318125"/>
            <a:ext cx="4648200" cy="1006475"/>
          </a:xfrm>
          <a:prstGeom prst="rect">
            <a:avLst/>
          </a:prstGeom>
          <a:noFill/>
          <a:ln w="9525">
            <a:noFill/>
            <a:miter lim="800000"/>
            <a:headEnd/>
            <a:tailEnd/>
          </a:ln>
          <a:effectLst/>
        </p:spPr>
        <p:txBody>
          <a:bodyPr anchor="ctr">
            <a:spAutoFit/>
          </a:bodyPr>
          <a:lstStyle/>
          <a:p>
            <a:pPr>
              <a:buFont typeface="Wingdings" pitchFamily="2" charset="2"/>
              <a:buChar char=""/>
              <a:tabLst>
                <a:tab pos="160338" algn="l"/>
              </a:tabLst>
            </a:pPr>
            <a:r>
              <a:rPr lang="zh-CN" altLang="en-US" sz="2000"/>
              <a:t>左、右两边各有两个粒子的宏观态对应的微观态数最多，出现该宏观态的概率为最大。</a:t>
            </a:r>
            <a:endParaRPr lang="zh-CN" altLang="en-US" sz="2000">
              <a:latin typeface="Arial"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6" name="灯片编号占位符 4"/>
          <p:cNvSpPr>
            <a:spLocks noGrp="1"/>
          </p:cNvSpPr>
          <p:nvPr>
            <p:ph type="sldNum" sz="quarter" idx="12"/>
          </p:nvPr>
        </p:nvSpPr>
        <p:spPr/>
        <p:txBody>
          <a:bodyPr/>
          <a:lstStyle/>
          <a:p>
            <a:fld id="{E40BFF23-FE81-4E45-9BDD-2EBC436C6A8E}" type="slidenum">
              <a:rPr lang="en-US" altLang="zh-CN"/>
              <a:pPr/>
              <a:t>77</a:t>
            </a:fld>
            <a:endParaRPr lang="en-US" altLang="zh-CN"/>
          </a:p>
        </p:txBody>
      </p:sp>
      <p:grpSp>
        <p:nvGrpSpPr>
          <p:cNvPr id="7" name="组合 6"/>
          <p:cNvGrpSpPr/>
          <p:nvPr/>
        </p:nvGrpSpPr>
        <p:grpSpPr>
          <a:xfrm>
            <a:off x="913607" y="1169127"/>
            <a:ext cx="7316787" cy="5164182"/>
            <a:chOff x="913607" y="1169127"/>
            <a:chExt cx="7316787" cy="5164182"/>
          </a:xfrm>
        </p:grpSpPr>
        <p:pic>
          <p:nvPicPr>
            <p:cNvPr id="586755" name="Picture 3"/>
            <p:cNvPicPr>
              <a:picLocks noChangeAspect="1" noChangeArrowheads="1"/>
            </p:cNvPicPr>
            <p:nvPr/>
          </p:nvPicPr>
          <p:blipFill>
            <a:blip r:embed="rId2">
              <a:lum contrast="42000"/>
            </a:blip>
            <a:srcRect t="2801" b="2275"/>
            <a:stretch>
              <a:fillRect/>
            </a:stretch>
          </p:blipFill>
          <p:spPr bwMode="auto">
            <a:xfrm>
              <a:off x="913607" y="1169127"/>
              <a:ext cx="7316787" cy="5164182"/>
            </a:xfrm>
            <a:prstGeom prst="rect">
              <a:avLst/>
            </a:prstGeom>
            <a:noFill/>
            <a:ln w="19050">
              <a:noFill/>
              <a:miter lim="800000"/>
              <a:headEnd/>
              <a:tailEnd type="none" w="sm" len="lg"/>
            </a:ln>
            <a:effectLst/>
          </p:spPr>
        </p:pic>
        <p:sp>
          <p:nvSpPr>
            <p:cNvPr id="5" name="TextBox 4"/>
            <p:cNvSpPr txBox="1"/>
            <p:nvPr/>
          </p:nvSpPr>
          <p:spPr>
            <a:xfrm>
              <a:off x="6324600" y="4056018"/>
              <a:ext cx="761747" cy="323165"/>
            </a:xfrm>
            <a:prstGeom prst="rect">
              <a:avLst/>
            </a:prstGeom>
            <a:solidFill>
              <a:schemeClr val="bg1"/>
            </a:solidFill>
          </p:spPr>
          <p:txBody>
            <a:bodyPr wrap="none" rtlCol="0">
              <a:spAutoFit/>
            </a:bodyPr>
            <a:lstStyle/>
            <a:p>
              <a:r>
                <a:rPr lang="en-US" altLang="zh-CN" sz="1500" dirty="0"/>
                <a:t>184756</a:t>
              </a:r>
              <a:endParaRPr lang="zh-CN" altLang="en-US" sz="1500" dirty="0"/>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2" name="灯片编号占位符 4"/>
          <p:cNvSpPr>
            <a:spLocks noGrp="1"/>
          </p:cNvSpPr>
          <p:nvPr>
            <p:ph type="sldNum" sz="quarter" idx="12"/>
          </p:nvPr>
        </p:nvSpPr>
        <p:spPr/>
        <p:txBody>
          <a:bodyPr/>
          <a:lstStyle/>
          <a:p>
            <a:fld id="{ED4088DE-E9D8-4CCC-89AC-518E8D38845C}" type="slidenum">
              <a:rPr lang="en-US" altLang="zh-CN"/>
              <a:pPr/>
              <a:t>78</a:t>
            </a:fld>
            <a:endParaRPr lang="en-US" altLang="zh-CN"/>
          </a:p>
        </p:txBody>
      </p:sp>
      <p:grpSp>
        <p:nvGrpSpPr>
          <p:cNvPr id="587779" name="Group 3"/>
          <p:cNvGrpSpPr>
            <a:grpSpLocks/>
          </p:cNvGrpSpPr>
          <p:nvPr/>
        </p:nvGrpSpPr>
        <p:grpSpPr bwMode="auto">
          <a:xfrm>
            <a:off x="1143000" y="1524000"/>
            <a:ext cx="7272338" cy="4768850"/>
            <a:chOff x="930" y="608"/>
            <a:chExt cx="4581" cy="3004"/>
          </a:xfrm>
        </p:grpSpPr>
        <p:sp>
          <p:nvSpPr>
            <p:cNvPr id="587780" name="Text Box 4"/>
            <p:cNvSpPr txBox="1">
              <a:spLocks noChangeArrowheads="1"/>
            </p:cNvSpPr>
            <p:nvPr/>
          </p:nvSpPr>
          <p:spPr bwMode="auto">
            <a:xfrm>
              <a:off x="930" y="3194"/>
              <a:ext cx="272" cy="327"/>
            </a:xfrm>
            <a:prstGeom prst="rect">
              <a:avLst/>
            </a:prstGeom>
            <a:noFill/>
            <a:ln w="19050">
              <a:noFill/>
              <a:miter lim="800000"/>
              <a:headEnd/>
              <a:tailEnd type="none" w="sm" len="lg"/>
            </a:ln>
            <a:effectLst/>
          </p:spPr>
          <p:txBody>
            <a:bodyPr lIns="90000" tIns="46800" rIns="90000" bIns="46800">
              <a:spAutoFit/>
            </a:bodyPr>
            <a:lstStyle/>
            <a:p>
              <a:pPr>
                <a:spcBef>
                  <a:spcPct val="50000"/>
                </a:spcBef>
              </a:pPr>
              <a:r>
                <a:rPr lang="en-US" altLang="zh-CN" sz="2800" b="1">
                  <a:solidFill>
                    <a:srgbClr val="000066"/>
                  </a:solidFill>
                  <a:ea typeface="楷体_GB2312" pitchFamily="49" charset="-122"/>
                </a:rPr>
                <a:t>O</a:t>
              </a:r>
            </a:p>
          </p:txBody>
        </p:sp>
        <p:pic>
          <p:nvPicPr>
            <p:cNvPr id="587781" name="Picture 5"/>
            <p:cNvPicPr>
              <a:picLocks noChangeAspect="1" noChangeArrowheads="1"/>
            </p:cNvPicPr>
            <p:nvPr/>
          </p:nvPicPr>
          <p:blipFill>
            <a:blip r:embed="rId2"/>
            <a:srcRect/>
            <a:stretch>
              <a:fillRect/>
            </a:stretch>
          </p:blipFill>
          <p:spPr bwMode="auto">
            <a:xfrm>
              <a:off x="1157" y="890"/>
              <a:ext cx="3946" cy="2449"/>
            </a:xfrm>
            <a:prstGeom prst="rect">
              <a:avLst/>
            </a:prstGeom>
            <a:noFill/>
            <a:ln w="19050">
              <a:noFill/>
              <a:miter lim="800000"/>
              <a:headEnd/>
              <a:tailEnd type="none" w="sm" len="lg"/>
            </a:ln>
            <a:effectLst/>
          </p:spPr>
        </p:pic>
        <p:sp>
          <p:nvSpPr>
            <p:cNvPr id="587782" name="Text Box 6"/>
            <p:cNvSpPr txBox="1">
              <a:spLocks noChangeArrowheads="1"/>
            </p:cNvSpPr>
            <p:nvPr/>
          </p:nvSpPr>
          <p:spPr bwMode="auto">
            <a:xfrm>
              <a:off x="1065" y="608"/>
              <a:ext cx="454" cy="327"/>
            </a:xfrm>
            <a:prstGeom prst="rect">
              <a:avLst/>
            </a:prstGeom>
            <a:noFill/>
            <a:ln w="19050">
              <a:noFill/>
              <a:miter lim="800000"/>
              <a:headEnd/>
              <a:tailEnd type="none" w="sm" len="lg"/>
            </a:ln>
            <a:effectLst/>
          </p:spPr>
          <p:txBody>
            <a:bodyPr lIns="90000" tIns="46800" rIns="90000" bIns="46800">
              <a:spAutoFit/>
            </a:bodyPr>
            <a:lstStyle/>
            <a:p>
              <a:pPr>
                <a:spcBef>
                  <a:spcPct val="50000"/>
                </a:spcBef>
              </a:pPr>
              <a:r>
                <a:rPr lang="en-US" altLang="zh-CN" sz="2800" b="1">
                  <a:solidFill>
                    <a:srgbClr val="000066"/>
                  </a:solidFill>
                  <a:ea typeface="楷体_GB2312" pitchFamily="49" charset="-122"/>
                  <a:sym typeface="Symbol" pitchFamily="18" charset="2"/>
                </a:rPr>
                <a:t></a:t>
              </a:r>
            </a:p>
          </p:txBody>
        </p:sp>
        <p:sp>
          <p:nvSpPr>
            <p:cNvPr id="587783" name="Text Box 7"/>
            <p:cNvSpPr txBox="1">
              <a:spLocks noChangeArrowheads="1"/>
            </p:cNvSpPr>
            <p:nvPr/>
          </p:nvSpPr>
          <p:spPr bwMode="auto">
            <a:xfrm>
              <a:off x="5057" y="3203"/>
              <a:ext cx="454" cy="327"/>
            </a:xfrm>
            <a:prstGeom prst="rect">
              <a:avLst/>
            </a:prstGeom>
            <a:noFill/>
            <a:ln w="19050">
              <a:noFill/>
              <a:miter lim="800000"/>
              <a:headEnd/>
              <a:tailEnd type="none" w="sm" len="lg"/>
            </a:ln>
            <a:effectLst/>
          </p:spPr>
          <p:txBody>
            <a:bodyPr lIns="90000" tIns="46800" rIns="90000" bIns="46800">
              <a:spAutoFit/>
            </a:bodyPr>
            <a:lstStyle/>
            <a:p>
              <a:pPr>
                <a:spcBef>
                  <a:spcPct val="50000"/>
                </a:spcBef>
              </a:pPr>
              <a:r>
                <a:rPr lang="en-US" altLang="zh-CN" sz="2800" b="1" i="1">
                  <a:solidFill>
                    <a:srgbClr val="000066"/>
                  </a:solidFill>
                  <a:ea typeface="楷体_GB2312" pitchFamily="49" charset="-122"/>
                  <a:sym typeface="Symbol" pitchFamily="18" charset="2"/>
                </a:rPr>
                <a:t>N</a:t>
              </a:r>
              <a:r>
                <a:rPr lang="zh-CN" altLang="en-US" sz="2800" b="1" baseline="-25000">
                  <a:solidFill>
                    <a:srgbClr val="000066"/>
                  </a:solidFill>
                  <a:sym typeface="Symbol" pitchFamily="18" charset="2"/>
                </a:rPr>
                <a:t>左</a:t>
              </a:r>
              <a:endParaRPr lang="zh-CN" altLang="en-US" sz="2800" b="1">
                <a:solidFill>
                  <a:srgbClr val="000066"/>
                </a:solidFill>
                <a:sym typeface="Symbol" pitchFamily="18" charset="2"/>
              </a:endParaRPr>
            </a:p>
          </p:txBody>
        </p:sp>
        <p:sp>
          <p:nvSpPr>
            <p:cNvPr id="587784" name="Line 8"/>
            <p:cNvSpPr>
              <a:spLocks noChangeShapeType="1"/>
            </p:cNvSpPr>
            <p:nvPr/>
          </p:nvSpPr>
          <p:spPr bwMode="auto">
            <a:xfrm>
              <a:off x="2744" y="1842"/>
              <a:ext cx="0" cy="1452"/>
            </a:xfrm>
            <a:prstGeom prst="line">
              <a:avLst/>
            </a:prstGeom>
            <a:noFill/>
            <a:ln w="9525">
              <a:solidFill>
                <a:srgbClr val="000066"/>
              </a:solidFill>
              <a:prstDash val="dashDot"/>
              <a:round/>
              <a:headEnd/>
              <a:tailEnd type="none" w="sm" len="lg"/>
            </a:ln>
            <a:effectLst/>
          </p:spPr>
          <p:txBody>
            <a:bodyPr lIns="90000" tIns="46800" rIns="90000" bIns="46800">
              <a:spAutoFit/>
            </a:bodyPr>
            <a:lstStyle/>
            <a:p>
              <a:endParaRPr lang="zh-CN" altLang="en-US"/>
            </a:p>
          </p:txBody>
        </p:sp>
        <p:sp>
          <p:nvSpPr>
            <p:cNvPr id="587785" name="Text Box 9"/>
            <p:cNvSpPr txBox="1">
              <a:spLocks noChangeArrowheads="1"/>
            </p:cNvSpPr>
            <p:nvPr/>
          </p:nvSpPr>
          <p:spPr bwMode="auto">
            <a:xfrm>
              <a:off x="2562" y="3285"/>
              <a:ext cx="363" cy="327"/>
            </a:xfrm>
            <a:prstGeom prst="rect">
              <a:avLst/>
            </a:prstGeom>
            <a:noFill/>
            <a:ln w="19050">
              <a:noFill/>
              <a:miter lim="800000"/>
              <a:headEnd/>
              <a:tailEnd type="none" w="sm" len="lg"/>
            </a:ln>
            <a:effectLst/>
          </p:spPr>
          <p:txBody>
            <a:bodyPr lIns="90000" tIns="46800" rIns="90000" bIns="46800">
              <a:spAutoFit/>
            </a:bodyPr>
            <a:lstStyle/>
            <a:p>
              <a:pPr>
                <a:spcBef>
                  <a:spcPct val="50000"/>
                </a:spcBef>
              </a:pPr>
              <a:r>
                <a:rPr lang="en-US" altLang="zh-CN" sz="2800" b="1">
                  <a:solidFill>
                    <a:srgbClr val="000066"/>
                  </a:solidFill>
                  <a:ea typeface="楷体_GB2312" pitchFamily="49" charset="-122"/>
                </a:rPr>
                <a:t>10</a:t>
              </a: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1" name="灯片编号占位符 4"/>
          <p:cNvSpPr>
            <a:spLocks noGrp="1"/>
          </p:cNvSpPr>
          <p:nvPr>
            <p:ph type="sldNum" sz="quarter" idx="12"/>
          </p:nvPr>
        </p:nvSpPr>
        <p:spPr/>
        <p:txBody>
          <a:bodyPr/>
          <a:lstStyle/>
          <a:p>
            <a:fld id="{46E645BC-47F0-40E8-A756-218F266E5187}" type="slidenum">
              <a:rPr lang="en-US" altLang="zh-CN"/>
              <a:pPr/>
              <a:t>79</a:t>
            </a:fld>
            <a:endParaRPr lang="en-US" altLang="zh-CN"/>
          </a:p>
        </p:txBody>
      </p:sp>
      <p:sp>
        <p:nvSpPr>
          <p:cNvPr id="588804" name="Rectangle 4"/>
          <p:cNvSpPr>
            <a:spLocks noChangeArrowheads="1"/>
          </p:cNvSpPr>
          <p:nvPr/>
        </p:nvSpPr>
        <p:spPr bwMode="auto">
          <a:xfrm>
            <a:off x="457200" y="1524000"/>
            <a:ext cx="3621088" cy="519113"/>
          </a:xfrm>
          <a:prstGeom prst="rect">
            <a:avLst/>
          </a:prstGeom>
          <a:noFill/>
          <a:ln w="9525">
            <a:noFill/>
            <a:miter lim="800000"/>
            <a:headEnd/>
            <a:tailEnd/>
          </a:ln>
          <a:effectLst/>
        </p:spPr>
        <p:txBody>
          <a:bodyPr wrap="none" anchor="ctr">
            <a:spAutoFit/>
          </a:bodyPr>
          <a:lstStyle/>
          <a:p>
            <a:r>
              <a:rPr kumimoji="1" lang="zh-CN" altLang="en-US" sz="2800">
                <a:solidFill>
                  <a:srgbClr val="FF0000"/>
                </a:solidFill>
              </a:rPr>
              <a:t>推广：</a:t>
            </a:r>
            <a:r>
              <a:rPr kumimoji="1" lang="en-US" altLang="zh-CN" sz="2800" i="1">
                <a:solidFill>
                  <a:srgbClr val="0000FF"/>
                </a:solidFill>
              </a:rPr>
              <a:t>N</a:t>
            </a:r>
            <a:r>
              <a:rPr kumimoji="1" lang="zh-CN" altLang="en-US" sz="2800">
                <a:solidFill>
                  <a:srgbClr val="0000FF"/>
                </a:solidFill>
              </a:rPr>
              <a:t>个粒子的系统</a:t>
            </a:r>
          </a:p>
        </p:txBody>
      </p:sp>
      <p:graphicFrame>
        <p:nvGraphicFramePr>
          <p:cNvPr id="588805" name="Object 5"/>
          <p:cNvGraphicFramePr>
            <a:graphicFrameLocks noChangeAspect="1"/>
          </p:cNvGraphicFramePr>
          <p:nvPr/>
        </p:nvGraphicFramePr>
        <p:xfrm>
          <a:off x="3622675" y="2789237"/>
          <a:ext cx="971550" cy="381000"/>
        </p:xfrm>
        <a:graphic>
          <a:graphicData uri="http://schemas.openxmlformats.org/presentationml/2006/ole">
            <mc:AlternateContent xmlns:mc="http://schemas.openxmlformats.org/markup-compatibility/2006">
              <mc:Choice xmlns:v="urn:schemas-microsoft-com:vml" Requires="v">
                <p:oleObj name="公式" r:id="rId2" imgW="482391" imgH="190417" progId="Equation.3">
                  <p:embed/>
                </p:oleObj>
              </mc:Choice>
              <mc:Fallback>
                <p:oleObj name="公式" r:id="rId2" imgW="482391" imgH="190417" progId="Equation.3">
                  <p:embed/>
                  <p:pic>
                    <p:nvPicPr>
                      <p:cNvPr id="58880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2675" y="2789237"/>
                        <a:ext cx="9715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06" name="Object 6"/>
          <p:cNvGraphicFramePr>
            <a:graphicFrameLocks noChangeAspect="1"/>
          </p:cNvGraphicFramePr>
          <p:nvPr/>
        </p:nvGraphicFramePr>
        <p:xfrm>
          <a:off x="5257800" y="3581400"/>
          <a:ext cx="1000125" cy="788988"/>
        </p:xfrm>
        <a:graphic>
          <a:graphicData uri="http://schemas.openxmlformats.org/presentationml/2006/ole">
            <mc:AlternateContent xmlns:mc="http://schemas.openxmlformats.org/markup-compatibility/2006">
              <mc:Choice xmlns:v="urn:schemas-microsoft-com:vml" Requires="v">
                <p:oleObj name="公式" r:id="rId4" imgW="495085" imgH="393529" progId="Equation.3">
                  <p:embed/>
                </p:oleObj>
              </mc:Choice>
              <mc:Fallback>
                <p:oleObj name="公式" r:id="rId4" imgW="495085" imgH="393529" progId="Equation.3">
                  <p:embed/>
                  <p:pic>
                    <p:nvPicPr>
                      <p:cNvPr id="58880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3581400"/>
                        <a:ext cx="1000125" cy="788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8807" name="Rectangle 7"/>
          <p:cNvSpPr>
            <a:spLocks noChangeArrowheads="1"/>
          </p:cNvSpPr>
          <p:nvPr/>
        </p:nvSpPr>
        <p:spPr bwMode="auto">
          <a:xfrm>
            <a:off x="727075" y="2781300"/>
            <a:ext cx="2671763" cy="396875"/>
          </a:xfrm>
          <a:prstGeom prst="rect">
            <a:avLst/>
          </a:prstGeom>
          <a:noFill/>
          <a:ln w="9525">
            <a:noFill/>
            <a:miter lim="800000"/>
            <a:headEnd/>
            <a:tailEnd/>
          </a:ln>
          <a:effectLst/>
        </p:spPr>
        <p:txBody>
          <a:bodyPr wrap="none" anchor="ctr">
            <a:spAutoFit/>
          </a:bodyPr>
          <a:lstStyle/>
          <a:p>
            <a:pPr>
              <a:buFont typeface="Wingdings" pitchFamily="2" charset="2"/>
              <a:buChar char=""/>
            </a:pPr>
            <a:r>
              <a:rPr lang="zh-CN" altLang="en-US" sz="2000" dirty="0"/>
              <a:t>所有可能微观态数：</a:t>
            </a:r>
            <a:endParaRPr lang="zh-CN" altLang="en-US" sz="2000" dirty="0">
              <a:latin typeface="Arial" charset="0"/>
            </a:endParaRPr>
          </a:p>
        </p:txBody>
      </p:sp>
      <p:sp>
        <p:nvSpPr>
          <p:cNvPr id="588808" name="Rectangle 8"/>
          <p:cNvSpPr>
            <a:spLocks noChangeArrowheads="1"/>
          </p:cNvSpPr>
          <p:nvPr/>
        </p:nvSpPr>
        <p:spPr bwMode="auto">
          <a:xfrm>
            <a:off x="762000" y="3777457"/>
            <a:ext cx="4364038" cy="396875"/>
          </a:xfrm>
          <a:prstGeom prst="rect">
            <a:avLst/>
          </a:prstGeom>
          <a:noFill/>
          <a:ln w="9525">
            <a:noFill/>
            <a:miter lim="800000"/>
            <a:headEnd/>
            <a:tailEnd/>
          </a:ln>
          <a:effectLst/>
        </p:spPr>
        <p:txBody>
          <a:bodyPr wrap="none" anchor="ctr">
            <a:spAutoFit/>
          </a:bodyPr>
          <a:lstStyle/>
          <a:p>
            <a:pPr>
              <a:buFont typeface="Wingdings" pitchFamily="2" charset="2"/>
              <a:buChar char=""/>
            </a:pPr>
            <a:r>
              <a:rPr lang="zh-CN" altLang="en-US" sz="2000" dirty="0"/>
              <a:t>出现所有粒子归于左</a:t>
            </a:r>
            <a:r>
              <a:rPr lang="en-US" altLang="zh-CN" sz="2000" dirty="0"/>
              <a:t>(</a:t>
            </a:r>
            <a:r>
              <a:rPr lang="zh-CN" altLang="en-US" sz="2000" dirty="0"/>
              <a:t>右</a:t>
            </a:r>
            <a:r>
              <a:rPr lang="en-US" altLang="zh-CN" sz="2000" dirty="0"/>
              <a:t>)</a:t>
            </a:r>
            <a:r>
              <a:rPr lang="zh-CN" altLang="en-US" sz="2000" dirty="0"/>
              <a:t>边的概率：</a:t>
            </a:r>
            <a:endParaRPr lang="zh-CN" altLang="en-US" sz="2000" dirty="0">
              <a:latin typeface="Arial" charset="0"/>
            </a:endParaRPr>
          </a:p>
        </p:txBody>
      </p:sp>
      <p:sp>
        <p:nvSpPr>
          <p:cNvPr id="588809" name="Rectangle 9"/>
          <p:cNvSpPr>
            <a:spLocks noChangeArrowheads="1"/>
          </p:cNvSpPr>
          <p:nvPr/>
        </p:nvSpPr>
        <p:spPr bwMode="auto">
          <a:xfrm>
            <a:off x="727075" y="4740275"/>
            <a:ext cx="7391400" cy="701675"/>
          </a:xfrm>
          <a:prstGeom prst="rect">
            <a:avLst/>
          </a:prstGeom>
          <a:noFill/>
          <a:ln w="9525">
            <a:noFill/>
            <a:miter lim="800000"/>
            <a:headEnd/>
            <a:tailEnd/>
          </a:ln>
          <a:effectLst/>
        </p:spPr>
        <p:txBody>
          <a:bodyPr anchor="ctr">
            <a:spAutoFit/>
          </a:bodyPr>
          <a:lstStyle/>
          <a:p>
            <a:pPr>
              <a:buFont typeface="Wingdings" pitchFamily="2" charset="2"/>
              <a:buChar char=""/>
              <a:tabLst>
                <a:tab pos="228600" algn="l"/>
              </a:tabLst>
            </a:pPr>
            <a:r>
              <a:rPr lang="zh-CN" altLang="en-US" sz="2000"/>
              <a:t>左、右两边粒子数相等的宏观态对应的微观态数最多，出现该宏观态的概率为最大，而且远大于出现所有粒子归于一边的概率。</a:t>
            </a:r>
            <a:endParaRPr lang="zh-CN" altLang="en-US" sz="2000">
              <a:latin typeface="Arial"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8" name="灯片编号占位符 4"/>
          <p:cNvSpPr>
            <a:spLocks noGrp="1"/>
          </p:cNvSpPr>
          <p:nvPr>
            <p:ph type="sldNum" sz="quarter" idx="12"/>
          </p:nvPr>
        </p:nvSpPr>
        <p:spPr/>
        <p:txBody>
          <a:bodyPr/>
          <a:lstStyle/>
          <a:p>
            <a:fld id="{30258543-D5A6-40BF-99BA-937096BB08CC}" type="slidenum">
              <a:rPr lang="en-US" altLang="zh-CN"/>
              <a:pPr/>
              <a:t>80</a:t>
            </a:fld>
            <a:endParaRPr lang="en-US" altLang="zh-CN"/>
          </a:p>
        </p:txBody>
      </p:sp>
      <p:sp>
        <p:nvSpPr>
          <p:cNvPr id="589827" name="Text Box 3"/>
          <p:cNvSpPr txBox="1">
            <a:spLocks noChangeArrowheads="1"/>
          </p:cNvSpPr>
          <p:nvPr/>
        </p:nvSpPr>
        <p:spPr bwMode="auto">
          <a:xfrm>
            <a:off x="622300" y="1447800"/>
            <a:ext cx="8064500" cy="968375"/>
          </a:xfrm>
          <a:prstGeom prst="rect">
            <a:avLst/>
          </a:prstGeom>
          <a:noFill/>
          <a:ln w="9525" algn="ctr">
            <a:noFill/>
            <a:miter lim="800000"/>
            <a:headEnd/>
            <a:tailEnd/>
          </a:ln>
          <a:effectLst/>
        </p:spPr>
        <p:txBody>
          <a:bodyPr>
            <a:spAutoFit/>
          </a:bodyPr>
          <a:lstStyle/>
          <a:p>
            <a:pPr>
              <a:lnSpc>
                <a:spcPct val="120000"/>
              </a:lnSpc>
              <a:spcBef>
                <a:spcPct val="50000"/>
              </a:spcBef>
            </a:pPr>
            <a:r>
              <a:rPr lang="zh-CN" altLang="en-US" sz="2400" dirty="0"/>
              <a:t>结论：</a:t>
            </a:r>
            <a:r>
              <a:rPr lang="zh-CN" altLang="en-US" sz="2400" b="1" dirty="0">
                <a:solidFill>
                  <a:srgbClr val="FF3300"/>
                </a:solidFill>
              </a:rPr>
              <a:t>自由膨胀</a:t>
            </a:r>
            <a:r>
              <a:rPr lang="zh-CN" altLang="en-US" sz="2400" dirty="0"/>
              <a:t>过程实质上是</a:t>
            </a:r>
            <a:r>
              <a:rPr lang="zh-CN" altLang="en-US" sz="2400" dirty="0">
                <a:solidFill>
                  <a:srgbClr val="0000CC"/>
                </a:solidFill>
              </a:rPr>
              <a:t>由包含微观态数目少的宏观态向包含微观态数目多的宏观态方向进行</a:t>
            </a:r>
            <a:r>
              <a:rPr lang="zh-CN" altLang="en-US" sz="2400" dirty="0"/>
              <a:t>。 </a:t>
            </a:r>
          </a:p>
        </p:txBody>
      </p:sp>
      <p:sp>
        <p:nvSpPr>
          <p:cNvPr id="589828" name="Text Box 4"/>
          <p:cNvSpPr txBox="1">
            <a:spLocks noChangeArrowheads="1"/>
          </p:cNvSpPr>
          <p:nvPr/>
        </p:nvSpPr>
        <p:spPr bwMode="auto">
          <a:xfrm>
            <a:off x="600075" y="2667000"/>
            <a:ext cx="7705725" cy="1406525"/>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400" dirty="0">
                <a:solidFill>
                  <a:srgbClr val="0000CC"/>
                </a:solidFill>
              </a:rPr>
              <a:t>不可逆过程的实质</a:t>
            </a:r>
            <a:r>
              <a:rPr lang="zh-CN" altLang="en-US" sz="2400" dirty="0"/>
              <a:t>：</a:t>
            </a:r>
            <a:r>
              <a:rPr lang="zh-CN" altLang="en-US" sz="2400" dirty="0">
                <a:solidFill>
                  <a:srgbClr val="FF3300"/>
                </a:solidFill>
              </a:rPr>
              <a:t>孤立</a:t>
            </a:r>
            <a:r>
              <a:rPr lang="zh-CN" altLang="en-US" sz="2400" dirty="0"/>
              <a:t>系统内部发生的一切不可逆过程总是由包含微观态数目少的宏观态向包含微观态数目多的宏观态方向进行。 </a:t>
            </a:r>
          </a:p>
        </p:txBody>
      </p:sp>
      <p:sp>
        <p:nvSpPr>
          <p:cNvPr id="589829" name="Text Box 5"/>
          <p:cNvSpPr txBox="1">
            <a:spLocks noChangeArrowheads="1"/>
          </p:cNvSpPr>
          <p:nvPr/>
        </p:nvSpPr>
        <p:spPr bwMode="auto">
          <a:xfrm>
            <a:off x="609600" y="4648200"/>
            <a:ext cx="7632700" cy="1117600"/>
          </a:xfrm>
          <a:prstGeom prst="rect">
            <a:avLst/>
          </a:prstGeom>
          <a:solidFill>
            <a:srgbClr val="CC99FF">
              <a:alpha val="50000"/>
            </a:srgbClr>
          </a:solidFill>
          <a:ln w="9525" algn="ctr">
            <a:noFill/>
            <a:miter lim="800000"/>
            <a:headEnd/>
            <a:tailEnd/>
          </a:ln>
          <a:effectLst/>
        </p:spPr>
        <p:txBody>
          <a:bodyPr>
            <a:spAutoFit/>
          </a:bodyPr>
          <a:lstStyle/>
          <a:p>
            <a:pPr>
              <a:lnSpc>
                <a:spcPct val="120000"/>
              </a:lnSpc>
              <a:spcBef>
                <a:spcPct val="50000"/>
              </a:spcBef>
            </a:pPr>
            <a:r>
              <a:rPr lang="zh-CN" altLang="en-US" sz="2800"/>
              <a:t>一切不可逆过程都是从</a:t>
            </a:r>
            <a:r>
              <a:rPr lang="zh-CN" altLang="en-US" sz="2800" b="1"/>
              <a:t>有序</a:t>
            </a:r>
            <a:r>
              <a:rPr lang="zh-CN" altLang="en-US" sz="2800"/>
              <a:t>状态向</a:t>
            </a:r>
            <a:r>
              <a:rPr lang="zh-CN" altLang="en-US" sz="2800" b="1"/>
              <a:t>无序</a:t>
            </a:r>
            <a:r>
              <a:rPr lang="zh-CN" altLang="en-US" sz="2800"/>
              <a:t>状态的方向进行。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9827"/>
                                        </p:tgtEl>
                                        <p:attrNameLst>
                                          <p:attrName>style.visibility</p:attrName>
                                        </p:attrNameLst>
                                      </p:cBhvr>
                                      <p:to>
                                        <p:strVal val="visible"/>
                                      </p:to>
                                    </p:set>
                                    <p:animEffect transition="in" filter="wipe(left)">
                                      <p:cBhvr>
                                        <p:cTn id="7" dur="500"/>
                                        <p:tgtEl>
                                          <p:spTgt spid="5898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89828"/>
                                        </p:tgtEl>
                                        <p:attrNameLst>
                                          <p:attrName>style.visibility</p:attrName>
                                        </p:attrNameLst>
                                      </p:cBhvr>
                                      <p:to>
                                        <p:strVal val="visible"/>
                                      </p:to>
                                    </p:set>
                                    <p:animEffect transition="in" filter="blinds(horizontal)">
                                      <p:cBhvr>
                                        <p:cTn id="12" dur="500"/>
                                        <p:tgtEl>
                                          <p:spTgt spid="5898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89829"/>
                                        </p:tgtEl>
                                        <p:attrNameLst>
                                          <p:attrName>style.visibility</p:attrName>
                                        </p:attrNameLst>
                                      </p:cBhvr>
                                      <p:to>
                                        <p:strVal val="visible"/>
                                      </p:to>
                                    </p:set>
                                    <p:animEffect transition="in" filter="blinds(horizontal)">
                                      <p:cBhvr>
                                        <p:cTn id="17" dur="500"/>
                                        <p:tgtEl>
                                          <p:spTgt spid="589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p:bldP spid="589828" grpId="0"/>
      <p:bldP spid="58982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0" name="灯片编号占位符 4"/>
          <p:cNvSpPr>
            <a:spLocks noGrp="1"/>
          </p:cNvSpPr>
          <p:nvPr>
            <p:ph type="sldNum" sz="quarter" idx="12"/>
          </p:nvPr>
        </p:nvSpPr>
        <p:spPr/>
        <p:txBody>
          <a:bodyPr/>
          <a:lstStyle/>
          <a:p>
            <a:fld id="{7E7961CD-78E6-449A-8A55-58241B77AE8E}" type="slidenum">
              <a:rPr lang="en-US" altLang="zh-CN"/>
              <a:pPr/>
              <a:t>81</a:t>
            </a:fld>
            <a:endParaRPr lang="en-US" altLang="zh-CN"/>
          </a:p>
        </p:txBody>
      </p:sp>
      <p:sp>
        <p:nvSpPr>
          <p:cNvPr id="590851" name="Text Box 3"/>
          <p:cNvSpPr txBox="1">
            <a:spLocks noChangeArrowheads="1"/>
          </p:cNvSpPr>
          <p:nvPr/>
        </p:nvSpPr>
        <p:spPr bwMode="auto">
          <a:xfrm>
            <a:off x="457200" y="1524000"/>
            <a:ext cx="2232025" cy="457200"/>
          </a:xfrm>
          <a:prstGeom prst="rect">
            <a:avLst/>
          </a:prstGeom>
          <a:noFill/>
          <a:ln w="9525" algn="ctr">
            <a:noFill/>
            <a:miter lim="800000"/>
            <a:headEnd/>
            <a:tailEnd/>
          </a:ln>
          <a:effectLst/>
        </p:spPr>
        <p:txBody>
          <a:bodyPr>
            <a:spAutoFit/>
          </a:bodyPr>
          <a:lstStyle/>
          <a:p>
            <a:pPr>
              <a:spcBef>
                <a:spcPct val="50000"/>
              </a:spcBef>
            </a:pPr>
            <a:r>
              <a:rPr kumimoji="1" lang="zh-CN" altLang="en-US" sz="2400" b="1">
                <a:solidFill>
                  <a:srgbClr val="FF3300"/>
                </a:solidFill>
              </a:rPr>
              <a:t>热功转换</a:t>
            </a:r>
            <a:r>
              <a:rPr kumimoji="1" lang="zh-CN" altLang="en-US" sz="2400"/>
              <a:t> </a:t>
            </a:r>
          </a:p>
        </p:txBody>
      </p:sp>
      <p:sp>
        <p:nvSpPr>
          <p:cNvPr id="590852" name="Text Box 4"/>
          <p:cNvSpPr txBox="1">
            <a:spLocks noChangeArrowheads="1"/>
          </p:cNvSpPr>
          <p:nvPr/>
        </p:nvSpPr>
        <p:spPr bwMode="auto">
          <a:xfrm>
            <a:off x="469900" y="1905000"/>
            <a:ext cx="8064500" cy="1006475"/>
          </a:xfrm>
          <a:prstGeom prst="rect">
            <a:avLst/>
          </a:prstGeom>
          <a:noFill/>
          <a:ln w="9525">
            <a:noFill/>
            <a:miter lim="800000"/>
            <a:headEnd/>
            <a:tailEnd/>
          </a:ln>
          <a:effectLst/>
        </p:spPr>
        <p:txBody>
          <a:bodyPr>
            <a:spAutoFit/>
          </a:bodyPr>
          <a:lstStyle/>
          <a:p>
            <a:pPr>
              <a:lnSpc>
                <a:spcPct val="125000"/>
              </a:lnSpc>
              <a:spcBef>
                <a:spcPct val="50000"/>
              </a:spcBef>
            </a:pPr>
            <a:r>
              <a:rPr lang="zh-CN" altLang="en-US" sz="2400">
                <a:solidFill>
                  <a:srgbClr val="0000CC"/>
                </a:solidFill>
              </a:rPr>
              <a:t>热功转换的实质</a:t>
            </a:r>
            <a:r>
              <a:rPr lang="zh-CN" altLang="en-US" sz="2400"/>
              <a:t>是大量分子的有序运动向无序运动的转化过程</a:t>
            </a:r>
          </a:p>
        </p:txBody>
      </p:sp>
      <p:grpSp>
        <p:nvGrpSpPr>
          <p:cNvPr id="590853" name="Group 5"/>
          <p:cNvGrpSpPr>
            <a:grpSpLocks/>
          </p:cNvGrpSpPr>
          <p:nvPr/>
        </p:nvGrpSpPr>
        <p:grpSpPr bwMode="auto">
          <a:xfrm>
            <a:off x="884238" y="3429000"/>
            <a:ext cx="7345362" cy="2786062"/>
            <a:chOff x="703" y="1908"/>
            <a:chExt cx="4627" cy="1755"/>
          </a:xfrm>
        </p:grpSpPr>
        <p:sp>
          <p:nvSpPr>
            <p:cNvPr id="590854" name="Text Box 6" descr="未标题-4 拷贝"/>
            <p:cNvSpPr txBox="1">
              <a:spLocks noChangeArrowheads="1"/>
            </p:cNvSpPr>
            <p:nvPr/>
          </p:nvSpPr>
          <p:spPr bwMode="auto">
            <a:xfrm>
              <a:off x="2472" y="3375"/>
              <a:ext cx="1134" cy="288"/>
            </a:xfrm>
            <a:prstGeom prst="rect">
              <a:avLst/>
            </a:prstGeom>
            <a:blipFill dpi="0" rotWithShape="1">
              <a:blip r:embed="rId2"/>
              <a:srcRect/>
              <a:stretch>
                <a:fillRect/>
              </a:stretch>
            </a:blipFill>
            <a:ln w="9525">
              <a:noFill/>
              <a:miter lim="800000"/>
              <a:headEnd/>
              <a:tailEnd/>
            </a:ln>
            <a:effectLst/>
          </p:spPr>
          <p:txBody>
            <a:bodyPr>
              <a:spAutoFit/>
            </a:bodyPr>
            <a:lstStyle/>
            <a:p>
              <a:pPr>
                <a:spcBef>
                  <a:spcPct val="50000"/>
                </a:spcBef>
              </a:pPr>
              <a:r>
                <a:rPr lang="zh-CN" altLang="en-US" sz="2400" dirty="0"/>
                <a:t>热功转换</a:t>
              </a:r>
            </a:p>
          </p:txBody>
        </p:sp>
        <p:pic>
          <p:nvPicPr>
            <p:cNvPr id="590855" name="Picture 7"/>
            <p:cNvPicPr>
              <a:picLocks noChangeAspect="1" noChangeArrowheads="1"/>
            </p:cNvPicPr>
            <p:nvPr/>
          </p:nvPicPr>
          <p:blipFill>
            <a:blip r:embed="rId3"/>
            <a:srcRect/>
            <a:stretch>
              <a:fillRect/>
            </a:stretch>
          </p:blipFill>
          <p:spPr bwMode="auto">
            <a:xfrm>
              <a:off x="703" y="1908"/>
              <a:ext cx="4627" cy="1431"/>
            </a:xfrm>
            <a:prstGeom prst="rect">
              <a:avLst/>
            </a:prstGeom>
            <a:noFill/>
            <a:ln w="9525">
              <a:noFill/>
              <a:miter lim="800000"/>
              <a:headEnd/>
              <a:tailEnd/>
            </a:ln>
            <a:effectLst/>
          </p:spPr>
        </p:pic>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52" name="灯片编号占位符 4"/>
          <p:cNvSpPr>
            <a:spLocks noGrp="1"/>
          </p:cNvSpPr>
          <p:nvPr>
            <p:ph type="sldNum" sz="quarter" idx="12"/>
          </p:nvPr>
        </p:nvSpPr>
        <p:spPr/>
        <p:txBody>
          <a:bodyPr/>
          <a:lstStyle/>
          <a:p>
            <a:fld id="{6E9C5ADB-2FF9-447B-8D4B-3AE6BF3B4B34}" type="slidenum">
              <a:rPr lang="en-US" altLang="zh-CN"/>
              <a:pPr/>
              <a:t>82</a:t>
            </a:fld>
            <a:endParaRPr lang="en-US" altLang="zh-CN"/>
          </a:p>
        </p:txBody>
      </p:sp>
      <p:sp>
        <p:nvSpPr>
          <p:cNvPr id="591875" name="Text Box 3"/>
          <p:cNvSpPr txBox="1">
            <a:spLocks noChangeArrowheads="1"/>
          </p:cNvSpPr>
          <p:nvPr/>
        </p:nvSpPr>
        <p:spPr bwMode="auto">
          <a:xfrm>
            <a:off x="457200" y="1524000"/>
            <a:ext cx="1676400" cy="457200"/>
          </a:xfrm>
          <a:prstGeom prst="rect">
            <a:avLst/>
          </a:prstGeom>
          <a:noFill/>
          <a:ln w="9525" algn="ctr">
            <a:noFill/>
            <a:miter lim="800000"/>
            <a:headEnd/>
            <a:tailEnd/>
          </a:ln>
          <a:effectLst/>
        </p:spPr>
        <p:txBody>
          <a:bodyPr>
            <a:spAutoFit/>
          </a:bodyPr>
          <a:lstStyle/>
          <a:p>
            <a:pPr>
              <a:spcBef>
                <a:spcPct val="50000"/>
              </a:spcBef>
            </a:pPr>
            <a:r>
              <a:rPr kumimoji="1" lang="zh-CN" altLang="en-US" sz="2400" b="1">
                <a:solidFill>
                  <a:srgbClr val="FF3300"/>
                </a:solidFill>
              </a:rPr>
              <a:t>热传递</a:t>
            </a:r>
            <a:r>
              <a:rPr kumimoji="1" lang="zh-CN" altLang="en-US" sz="2400"/>
              <a:t> </a:t>
            </a:r>
          </a:p>
        </p:txBody>
      </p:sp>
      <p:sp>
        <p:nvSpPr>
          <p:cNvPr id="591876" name="Text Box 4"/>
          <p:cNvSpPr txBox="1">
            <a:spLocks noChangeArrowheads="1"/>
          </p:cNvSpPr>
          <p:nvPr/>
        </p:nvSpPr>
        <p:spPr bwMode="auto">
          <a:xfrm>
            <a:off x="381000" y="1947863"/>
            <a:ext cx="8605838" cy="566737"/>
          </a:xfrm>
          <a:prstGeom prst="rect">
            <a:avLst/>
          </a:prstGeom>
          <a:noFill/>
          <a:ln w="9525">
            <a:noFill/>
            <a:miter lim="800000"/>
            <a:headEnd/>
            <a:tailEnd/>
          </a:ln>
          <a:effectLst/>
        </p:spPr>
        <p:txBody>
          <a:bodyPr>
            <a:spAutoFit/>
          </a:bodyPr>
          <a:lstStyle/>
          <a:p>
            <a:pPr>
              <a:lnSpc>
                <a:spcPct val="130000"/>
              </a:lnSpc>
              <a:spcBef>
                <a:spcPct val="50000"/>
              </a:spcBef>
            </a:pPr>
            <a:r>
              <a:rPr lang="zh-CN" altLang="en-US" sz="2400">
                <a:solidFill>
                  <a:srgbClr val="0000CC"/>
                </a:solidFill>
              </a:rPr>
              <a:t>热传递的实质</a:t>
            </a:r>
            <a:r>
              <a:rPr lang="zh-CN" altLang="en-US" sz="2400"/>
              <a:t>是系统由较无序的宏观态向</a:t>
            </a:r>
            <a:r>
              <a:rPr lang="zh-CN" altLang="en-US" sz="2400">
                <a:solidFill>
                  <a:srgbClr val="0000CC"/>
                </a:solidFill>
              </a:rPr>
              <a:t>更无序</a:t>
            </a:r>
            <a:r>
              <a:rPr lang="zh-CN" altLang="en-US" sz="2400"/>
              <a:t>的宏观态过渡。</a:t>
            </a:r>
          </a:p>
        </p:txBody>
      </p:sp>
      <p:grpSp>
        <p:nvGrpSpPr>
          <p:cNvPr id="591877" name="Group 5"/>
          <p:cNvGrpSpPr>
            <a:grpSpLocks/>
          </p:cNvGrpSpPr>
          <p:nvPr/>
        </p:nvGrpSpPr>
        <p:grpSpPr bwMode="auto">
          <a:xfrm>
            <a:off x="990600" y="3124200"/>
            <a:ext cx="7129463" cy="3013075"/>
            <a:chOff x="793" y="1989"/>
            <a:chExt cx="4491" cy="1898"/>
          </a:xfrm>
        </p:grpSpPr>
        <p:grpSp>
          <p:nvGrpSpPr>
            <p:cNvPr id="591878" name="Group 6"/>
            <p:cNvGrpSpPr>
              <a:grpSpLocks/>
            </p:cNvGrpSpPr>
            <p:nvPr/>
          </p:nvGrpSpPr>
          <p:grpSpPr bwMode="auto">
            <a:xfrm>
              <a:off x="793" y="1989"/>
              <a:ext cx="4491" cy="1637"/>
              <a:chOff x="793" y="1989"/>
              <a:chExt cx="4491" cy="1637"/>
            </a:xfrm>
          </p:grpSpPr>
          <p:sp>
            <p:nvSpPr>
              <p:cNvPr id="591879" name="Line 7"/>
              <p:cNvSpPr>
                <a:spLocks noChangeShapeType="1"/>
              </p:cNvSpPr>
              <p:nvPr/>
            </p:nvSpPr>
            <p:spPr bwMode="auto">
              <a:xfrm>
                <a:off x="2835" y="2624"/>
                <a:ext cx="439" cy="0"/>
              </a:xfrm>
              <a:prstGeom prst="line">
                <a:avLst/>
              </a:prstGeom>
              <a:noFill/>
              <a:ln w="38100">
                <a:solidFill>
                  <a:srgbClr val="0000FF"/>
                </a:solidFill>
                <a:round/>
                <a:headEnd/>
                <a:tailEnd type="triangle" w="sm" len="med"/>
              </a:ln>
              <a:effectLst/>
            </p:spPr>
            <p:txBody>
              <a:bodyPr wrap="none" anchor="ctr"/>
              <a:lstStyle/>
              <a:p>
                <a:endParaRPr lang="zh-CN" altLang="en-US"/>
              </a:p>
            </p:txBody>
          </p:sp>
          <p:graphicFrame>
            <p:nvGraphicFramePr>
              <p:cNvPr id="591880" name="Object 8"/>
              <p:cNvGraphicFramePr>
                <a:graphicFrameLocks noChangeAspect="1"/>
              </p:cNvGraphicFramePr>
              <p:nvPr/>
            </p:nvGraphicFramePr>
            <p:xfrm>
              <a:off x="3923" y="3213"/>
              <a:ext cx="802" cy="411"/>
            </p:xfrm>
            <a:graphic>
              <a:graphicData uri="http://schemas.openxmlformats.org/presentationml/2006/ole">
                <mc:AlternateContent xmlns:mc="http://schemas.openxmlformats.org/markup-compatibility/2006">
                  <mc:Choice xmlns:v="urn:schemas-microsoft-com:vml" Requires="v">
                    <p:oleObj name="Equation" r:id="rId2" imgW="444240" imgH="228600" progId="">
                      <p:embed/>
                    </p:oleObj>
                  </mc:Choice>
                  <mc:Fallback>
                    <p:oleObj name="Equation" r:id="rId2" imgW="444240" imgH="228600" progId="">
                      <p:embed/>
                      <p:pic>
                        <p:nvPicPr>
                          <p:cNvPr id="59188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 y="3213"/>
                            <a:ext cx="802" cy="4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1881" name="Rectangle 9" descr="50%"/>
              <p:cNvSpPr>
                <a:spLocks noChangeArrowheads="1"/>
              </p:cNvSpPr>
              <p:nvPr/>
            </p:nvSpPr>
            <p:spPr bwMode="auto">
              <a:xfrm>
                <a:off x="793" y="1989"/>
                <a:ext cx="1905" cy="1179"/>
              </a:xfrm>
              <a:prstGeom prst="rect">
                <a:avLst/>
              </a:prstGeom>
              <a:pattFill prst="pct50">
                <a:fgClr>
                  <a:srgbClr val="993366"/>
                </a:fgClr>
                <a:bgClr>
                  <a:schemeClr val="bg1"/>
                </a:bgClr>
              </a:pattFill>
              <a:ln w="9525" algn="ctr">
                <a:solidFill>
                  <a:srgbClr val="993366"/>
                </a:solidFill>
                <a:miter lim="800000"/>
                <a:headEnd/>
                <a:tailEnd/>
              </a:ln>
              <a:effectLst/>
            </p:spPr>
            <p:txBody>
              <a:bodyPr wrap="none" anchor="ctr"/>
              <a:lstStyle/>
              <a:p>
                <a:endParaRPr lang="zh-CN" altLang="en-US"/>
              </a:p>
            </p:txBody>
          </p:sp>
          <p:sp>
            <p:nvSpPr>
              <p:cNvPr id="591882" name="Rectangle 10"/>
              <p:cNvSpPr>
                <a:spLocks noChangeArrowheads="1"/>
              </p:cNvSpPr>
              <p:nvPr/>
            </p:nvSpPr>
            <p:spPr bwMode="auto">
              <a:xfrm>
                <a:off x="884" y="2080"/>
                <a:ext cx="1724" cy="997"/>
              </a:xfrm>
              <a:prstGeom prst="rect">
                <a:avLst/>
              </a:prstGeom>
              <a:solidFill>
                <a:schemeClr val="bg1"/>
              </a:solidFill>
              <a:ln w="9525">
                <a:solidFill>
                  <a:srgbClr val="993366"/>
                </a:solidFill>
                <a:miter lim="800000"/>
                <a:headEnd/>
                <a:tailEnd/>
              </a:ln>
              <a:effectLst/>
            </p:spPr>
            <p:txBody>
              <a:bodyPr wrap="none" anchor="ctr"/>
              <a:lstStyle/>
              <a:p>
                <a:endParaRPr lang="zh-CN" altLang="en-US"/>
              </a:p>
            </p:txBody>
          </p:sp>
          <p:sp>
            <p:nvSpPr>
              <p:cNvPr id="591883" name="Line 11"/>
              <p:cNvSpPr>
                <a:spLocks noChangeShapeType="1"/>
              </p:cNvSpPr>
              <p:nvPr/>
            </p:nvSpPr>
            <p:spPr bwMode="auto">
              <a:xfrm>
                <a:off x="1746" y="2080"/>
                <a:ext cx="0" cy="998"/>
              </a:xfrm>
              <a:prstGeom prst="line">
                <a:avLst/>
              </a:prstGeom>
              <a:noFill/>
              <a:ln w="19050">
                <a:solidFill>
                  <a:srgbClr val="008080"/>
                </a:solidFill>
                <a:prstDash val="dash"/>
                <a:round/>
                <a:headEnd/>
                <a:tailEnd type="none" w="sm" len="lg"/>
              </a:ln>
              <a:effectLst/>
            </p:spPr>
            <p:txBody>
              <a:bodyPr lIns="90000" tIns="46800" rIns="90000" bIns="46800">
                <a:spAutoFit/>
              </a:bodyPr>
              <a:lstStyle/>
              <a:p>
                <a:endParaRPr lang="zh-CN" altLang="en-US"/>
              </a:p>
            </p:txBody>
          </p:sp>
          <p:sp>
            <p:nvSpPr>
              <p:cNvPr id="591884" name="Line 12"/>
              <p:cNvSpPr>
                <a:spLocks noChangeShapeType="1"/>
              </p:cNvSpPr>
              <p:nvPr/>
            </p:nvSpPr>
            <p:spPr bwMode="auto">
              <a:xfrm flipV="1">
                <a:off x="975" y="2088"/>
                <a:ext cx="219"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85" name="Line 13"/>
              <p:cNvSpPr>
                <a:spLocks noChangeShapeType="1"/>
              </p:cNvSpPr>
              <p:nvPr/>
            </p:nvSpPr>
            <p:spPr bwMode="auto">
              <a:xfrm flipH="1">
                <a:off x="865" y="2802"/>
                <a:ext cx="329" cy="0"/>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86" name="Line 14"/>
              <p:cNvSpPr>
                <a:spLocks noChangeShapeType="1"/>
              </p:cNvSpPr>
              <p:nvPr/>
            </p:nvSpPr>
            <p:spPr bwMode="auto">
              <a:xfrm>
                <a:off x="975" y="2896"/>
                <a:ext cx="219" cy="110"/>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87" name="Line 15"/>
              <p:cNvSpPr>
                <a:spLocks noChangeShapeType="1"/>
              </p:cNvSpPr>
              <p:nvPr/>
            </p:nvSpPr>
            <p:spPr bwMode="auto">
              <a:xfrm flipH="1">
                <a:off x="1194" y="2224"/>
                <a:ext cx="110"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88" name="Line 16"/>
              <p:cNvSpPr>
                <a:spLocks noChangeShapeType="1"/>
              </p:cNvSpPr>
              <p:nvPr/>
            </p:nvSpPr>
            <p:spPr bwMode="auto">
              <a:xfrm>
                <a:off x="1085" y="2473"/>
                <a:ext cx="109" cy="220"/>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89" name="Line 17"/>
              <p:cNvSpPr>
                <a:spLocks noChangeShapeType="1"/>
              </p:cNvSpPr>
              <p:nvPr/>
            </p:nvSpPr>
            <p:spPr bwMode="auto">
              <a:xfrm flipV="1">
                <a:off x="1304" y="2760"/>
                <a:ext cx="110" cy="220"/>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90" name="Line 18"/>
              <p:cNvSpPr>
                <a:spLocks noChangeShapeType="1"/>
              </p:cNvSpPr>
              <p:nvPr/>
            </p:nvSpPr>
            <p:spPr bwMode="auto">
              <a:xfrm flipH="1" flipV="1">
                <a:off x="1414" y="2133"/>
                <a:ext cx="220"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91" name="Line 19"/>
              <p:cNvSpPr>
                <a:spLocks noChangeShapeType="1"/>
              </p:cNvSpPr>
              <p:nvPr/>
            </p:nvSpPr>
            <p:spPr bwMode="auto">
              <a:xfrm flipV="1">
                <a:off x="1304" y="2363"/>
                <a:ext cx="220" cy="220"/>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92" name="Line 20"/>
              <p:cNvSpPr>
                <a:spLocks noChangeShapeType="1"/>
              </p:cNvSpPr>
              <p:nvPr/>
            </p:nvSpPr>
            <p:spPr bwMode="auto">
              <a:xfrm>
                <a:off x="1414" y="2693"/>
                <a:ext cx="220"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893" name="Line 21"/>
              <p:cNvSpPr>
                <a:spLocks noChangeShapeType="1"/>
              </p:cNvSpPr>
              <p:nvPr/>
            </p:nvSpPr>
            <p:spPr bwMode="auto">
              <a:xfrm rot="-21600000">
                <a:off x="1845" y="2178"/>
                <a:ext cx="219" cy="219"/>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894" name="Line 22"/>
              <p:cNvSpPr>
                <a:spLocks noChangeShapeType="1"/>
              </p:cNvSpPr>
              <p:nvPr/>
            </p:nvSpPr>
            <p:spPr bwMode="auto">
              <a:xfrm flipV="1">
                <a:off x="1837" y="2832"/>
                <a:ext cx="219" cy="11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895" name="Line 23"/>
              <p:cNvSpPr>
                <a:spLocks noChangeShapeType="1"/>
              </p:cNvSpPr>
              <p:nvPr/>
            </p:nvSpPr>
            <p:spPr bwMode="auto">
              <a:xfrm flipV="1">
                <a:off x="2109" y="2216"/>
                <a:ext cx="26" cy="264"/>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896" name="Line 24"/>
              <p:cNvSpPr>
                <a:spLocks noChangeShapeType="1"/>
              </p:cNvSpPr>
              <p:nvPr/>
            </p:nvSpPr>
            <p:spPr bwMode="auto">
              <a:xfrm flipV="1">
                <a:off x="1882" y="2499"/>
                <a:ext cx="109" cy="22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897" name="Line 25"/>
              <p:cNvSpPr>
                <a:spLocks noChangeShapeType="1"/>
              </p:cNvSpPr>
              <p:nvPr/>
            </p:nvSpPr>
            <p:spPr bwMode="auto">
              <a:xfrm rot="-21600000">
                <a:off x="2166" y="2786"/>
                <a:ext cx="110" cy="22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898" name="Line 26"/>
              <p:cNvSpPr>
                <a:spLocks noChangeShapeType="1"/>
              </p:cNvSpPr>
              <p:nvPr/>
            </p:nvSpPr>
            <p:spPr bwMode="auto">
              <a:xfrm flipH="1">
                <a:off x="2276" y="2159"/>
                <a:ext cx="220" cy="219"/>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899" name="Line 27"/>
              <p:cNvSpPr>
                <a:spLocks noChangeShapeType="1"/>
              </p:cNvSpPr>
              <p:nvPr/>
            </p:nvSpPr>
            <p:spPr bwMode="auto">
              <a:xfrm rot="-21600000">
                <a:off x="2206" y="2540"/>
                <a:ext cx="266" cy="84"/>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00" name="Line 28"/>
              <p:cNvSpPr>
                <a:spLocks noChangeShapeType="1"/>
              </p:cNvSpPr>
              <p:nvPr/>
            </p:nvSpPr>
            <p:spPr bwMode="auto">
              <a:xfrm flipV="1">
                <a:off x="2342" y="2632"/>
                <a:ext cx="220" cy="219"/>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01" name="Rectangle 29" descr="50%"/>
              <p:cNvSpPr>
                <a:spLocks noChangeArrowheads="1"/>
              </p:cNvSpPr>
              <p:nvPr/>
            </p:nvSpPr>
            <p:spPr bwMode="auto">
              <a:xfrm>
                <a:off x="3379" y="1989"/>
                <a:ext cx="1905" cy="1179"/>
              </a:xfrm>
              <a:prstGeom prst="rect">
                <a:avLst/>
              </a:prstGeom>
              <a:pattFill prst="pct50">
                <a:fgClr>
                  <a:srgbClr val="993366"/>
                </a:fgClr>
                <a:bgClr>
                  <a:schemeClr val="bg1"/>
                </a:bgClr>
              </a:pattFill>
              <a:ln w="9525" algn="ctr">
                <a:solidFill>
                  <a:srgbClr val="993366"/>
                </a:solidFill>
                <a:miter lim="800000"/>
                <a:headEnd/>
                <a:tailEnd/>
              </a:ln>
              <a:effectLst/>
            </p:spPr>
            <p:txBody>
              <a:bodyPr wrap="none" anchor="ctr"/>
              <a:lstStyle/>
              <a:p>
                <a:endParaRPr lang="zh-CN" altLang="en-US"/>
              </a:p>
            </p:txBody>
          </p:sp>
          <p:sp>
            <p:nvSpPr>
              <p:cNvPr id="591902" name="Rectangle 30"/>
              <p:cNvSpPr>
                <a:spLocks noChangeArrowheads="1"/>
              </p:cNvSpPr>
              <p:nvPr/>
            </p:nvSpPr>
            <p:spPr bwMode="auto">
              <a:xfrm>
                <a:off x="3470" y="2080"/>
                <a:ext cx="1724" cy="997"/>
              </a:xfrm>
              <a:prstGeom prst="rect">
                <a:avLst/>
              </a:prstGeom>
              <a:solidFill>
                <a:schemeClr val="bg1"/>
              </a:solidFill>
              <a:ln w="9525">
                <a:solidFill>
                  <a:srgbClr val="993366"/>
                </a:solidFill>
                <a:miter lim="800000"/>
                <a:headEnd/>
                <a:tailEnd/>
              </a:ln>
              <a:effectLst/>
            </p:spPr>
            <p:txBody>
              <a:bodyPr wrap="none" anchor="ctr"/>
              <a:lstStyle/>
              <a:p>
                <a:endParaRPr lang="zh-CN" altLang="en-US"/>
              </a:p>
            </p:txBody>
          </p:sp>
          <p:sp>
            <p:nvSpPr>
              <p:cNvPr id="591903" name="Line 31"/>
              <p:cNvSpPr>
                <a:spLocks noChangeShapeType="1"/>
              </p:cNvSpPr>
              <p:nvPr/>
            </p:nvSpPr>
            <p:spPr bwMode="auto">
              <a:xfrm flipV="1">
                <a:off x="3561" y="2088"/>
                <a:ext cx="219"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904" name="Line 32"/>
              <p:cNvSpPr>
                <a:spLocks noChangeShapeType="1"/>
              </p:cNvSpPr>
              <p:nvPr/>
            </p:nvSpPr>
            <p:spPr bwMode="auto">
              <a:xfrm flipH="1">
                <a:off x="3833" y="2443"/>
                <a:ext cx="329" cy="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05" name="Line 33"/>
              <p:cNvSpPr>
                <a:spLocks noChangeShapeType="1"/>
              </p:cNvSpPr>
              <p:nvPr/>
            </p:nvSpPr>
            <p:spPr bwMode="auto">
              <a:xfrm>
                <a:off x="3560" y="2896"/>
                <a:ext cx="219" cy="11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06" name="Line 34"/>
              <p:cNvSpPr>
                <a:spLocks noChangeShapeType="1"/>
              </p:cNvSpPr>
              <p:nvPr/>
            </p:nvSpPr>
            <p:spPr bwMode="auto">
              <a:xfrm flipH="1">
                <a:off x="4811" y="2224"/>
                <a:ext cx="110"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907" name="Line 35"/>
              <p:cNvSpPr>
                <a:spLocks noChangeShapeType="1"/>
              </p:cNvSpPr>
              <p:nvPr/>
            </p:nvSpPr>
            <p:spPr bwMode="auto">
              <a:xfrm>
                <a:off x="3671" y="2585"/>
                <a:ext cx="109" cy="22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08" name="Line 36"/>
              <p:cNvSpPr>
                <a:spLocks noChangeShapeType="1"/>
              </p:cNvSpPr>
              <p:nvPr/>
            </p:nvSpPr>
            <p:spPr bwMode="auto">
              <a:xfrm flipV="1">
                <a:off x="4766" y="2760"/>
                <a:ext cx="110" cy="22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09" name="Line 37"/>
              <p:cNvSpPr>
                <a:spLocks noChangeShapeType="1"/>
              </p:cNvSpPr>
              <p:nvPr/>
            </p:nvSpPr>
            <p:spPr bwMode="auto">
              <a:xfrm flipH="1" flipV="1">
                <a:off x="4000" y="2133"/>
                <a:ext cx="220"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910" name="Line 38"/>
              <p:cNvSpPr>
                <a:spLocks noChangeShapeType="1"/>
              </p:cNvSpPr>
              <p:nvPr/>
            </p:nvSpPr>
            <p:spPr bwMode="auto">
              <a:xfrm flipV="1">
                <a:off x="4332" y="2449"/>
                <a:ext cx="220" cy="220"/>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911" name="Line 39"/>
              <p:cNvSpPr>
                <a:spLocks noChangeShapeType="1"/>
              </p:cNvSpPr>
              <p:nvPr/>
            </p:nvSpPr>
            <p:spPr bwMode="auto">
              <a:xfrm>
                <a:off x="4293" y="2813"/>
                <a:ext cx="220"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912" name="Line 40"/>
              <p:cNvSpPr>
                <a:spLocks noChangeShapeType="1"/>
              </p:cNvSpPr>
              <p:nvPr/>
            </p:nvSpPr>
            <p:spPr bwMode="auto">
              <a:xfrm rot="-21600000">
                <a:off x="4431" y="2178"/>
                <a:ext cx="219" cy="219"/>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13" name="Line 41"/>
              <p:cNvSpPr>
                <a:spLocks noChangeShapeType="1"/>
              </p:cNvSpPr>
              <p:nvPr/>
            </p:nvSpPr>
            <p:spPr bwMode="auto">
              <a:xfrm flipV="1">
                <a:off x="4566" y="2624"/>
                <a:ext cx="219" cy="11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14" name="Line 42"/>
              <p:cNvSpPr>
                <a:spLocks noChangeShapeType="1"/>
              </p:cNvSpPr>
              <p:nvPr/>
            </p:nvSpPr>
            <p:spPr bwMode="auto">
              <a:xfrm flipV="1">
                <a:off x="3988" y="2488"/>
                <a:ext cx="26" cy="264"/>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915" name="Line 43"/>
              <p:cNvSpPr>
                <a:spLocks noChangeShapeType="1"/>
              </p:cNvSpPr>
              <p:nvPr/>
            </p:nvSpPr>
            <p:spPr bwMode="auto">
              <a:xfrm flipV="1">
                <a:off x="4150" y="2488"/>
                <a:ext cx="109" cy="220"/>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16" name="Line 44"/>
              <p:cNvSpPr>
                <a:spLocks noChangeShapeType="1"/>
              </p:cNvSpPr>
              <p:nvPr/>
            </p:nvSpPr>
            <p:spPr bwMode="auto">
              <a:xfrm rot="-21600000">
                <a:off x="3904" y="2812"/>
                <a:ext cx="110" cy="220"/>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sp>
            <p:nvSpPr>
              <p:cNvPr id="591917" name="Line 45"/>
              <p:cNvSpPr>
                <a:spLocks noChangeShapeType="1"/>
              </p:cNvSpPr>
              <p:nvPr/>
            </p:nvSpPr>
            <p:spPr bwMode="auto">
              <a:xfrm flipH="1">
                <a:off x="3560" y="2314"/>
                <a:ext cx="220" cy="219"/>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18" name="Line 46"/>
              <p:cNvSpPr>
                <a:spLocks noChangeShapeType="1"/>
              </p:cNvSpPr>
              <p:nvPr/>
            </p:nvSpPr>
            <p:spPr bwMode="auto">
              <a:xfrm rot="-21600000">
                <a:off x="4792" y="2540"/>
                <a:ext cx="266" cy="84"/>
              </a:xfrm>
              <a:prstGeom prst="line">
                <a:avLst/>
              </a:prstGeom>
              <a:noFill/>
              <a:ln w="38100">
                <a:solidFill>
                  <a:srgbClr val="008080"/>
                </a:solidFill>
                <a:round/>
                <a:headEnd type="oval" w="med" len="med"/>
                <a:tailEnd type="triangle" w="sm" len="med"/>
              </a:ln>
              <a:effectLst/>
            </p:spPr>
            <p:txBody>
              <a:bodyPr wrap="none" anchor="ctr"/>
              <a:lstStyle/>
              <a:p>
                <a:endParaRPr lang="zh-CN" altLang="en-US"/>
              </a:p>
            </p:txBody>
          </p:sp>
          <p:sp>
            <p:nvSpPr>
              <p:cNvPr id="591919" name="Line 47"/>
              <p:cNvSpPr>
                <a:spLocks noChangeShapeType="1"/>
              </p:cNvSpPr>
              <p:nvPr/>
            </p:nvSpPr>
            <p:spPr bwMode="auto">
              <a:xfrm flipV="1">
                <a:off x="4928" y="2632"/>
                <a:ext cx="220" cy="219"/>
              </a:xfrm>
              <a:prstGeom prst="line">
                <a:avLst/>
              </a:prstGeom>
              <a:noFill/>
              <a:ln w="38100">
                <a:solidFill>
                  <a:srgbClr val="FF0000"/>
                </a:solidFill>
                <a:round/>
                <a:headEnd type="oval" w="med" len="med"/>
                <a:tailEnd type="triangle" w="sm" len="med"/>
              </a:ln>
              <a:effectLst/>
            </p:spPr>
            <p:txBody>
              <a:bodyPr wrap="none" anchor="ctr"/>
              <a:lstStyle/>
              <a:p>
                <a:endParaRPr lang="zh-CN" altLang="en-US"/>
              </a:p>
            </p:txBody>
          </p:sp>
          <p:graphicFrame>
            <p:nvGraphicFramePr>
              <p:cNvPr id="591920" name="Object 48"/>
              <p:cNvGraphicFramePr>
                <a:graphicFrameLocks noChangeAspect="1"/>
              </p:cNvGraphicFramePr>
              <p:nvPr/>
            </p:nvGraphicFramePr>
            <p:xfrm>
              <a:off x="1383" y="3250"/>
              <a:ext cx="693" cy="376"/>
            </p:xfrm>
            <a:graphic>
              <a:graphicData uri="http://schemas.openxmlformats.org/presentationml/2006/ole">
                <mc:AlternateContent xmlns:mc="http://schemas.openxmlformats.org/markup-compatibility/2006">
                  <mc:Choice xmlns:v="urn:schemas-microsoft-com:vml" Requires="v">
                    <p:oleObj name="Equation" r:id="rId4" imgW="419040" imgH="228600" progId="">
                      <p:embed/>
                    </p:oleObj>
                  </mc:Choice>
                  <mc:Fallback>
                    <p:oleObj name="Equation" r:id="rId4" imgW="419040" imgH="228600" progId="">
                      <p:embed/>
                      <p:pic>
                        <p:nvPicPr>
                          <p:cNvPr id="591920" name="Object 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3" y="3250"/>
                            <a:ext cx="693" cy="3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91921" name="Rectangle 49"/>
            <p:cNvSpPr>
              <a:spLocks noChangeArrowheads="1"/>
            </p:cNvSpPr>
            <p:nvPr/>
          </p:nvSpPr>
          <p:spPr bwMode="auto">
            <a:xfrm>
              <a:off x="2647" y="3599"/>
              <a:ext cx="738" cy="288"/>
            </a:xfrm>
            <a:prstGeom prst="rect">
              <a:avLst/>
            </a:prstGeom>
            <a:noFill/>
            <a:ln w="19050">
              <a:noFill/>
              <a:miter lim="800000"/>
              <a:headEnd/>
              <a:tailEnd type="none" w="sm" len="lg"/>
            </a:ln>
            <a:effectLst/>
          </p:spPr>
          <p:txBody>
            <a:bodyPr wrap="none" lIns="90000" tIns="46800" rIns="90000" bIns="46800">
              <a:spAutoFit/>
            </a:bodyPr>
            <a:lstStyle/>
            <a:p>
              <a:r>
                <a:rPr lang="zh-CN" altLang="en-US" sz="2400" dirty="0"/>
                <a:t>热传递 </a:t>
              </a: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7" name="灯片编号占位符 4"/>
          <p:cNvSpPr>
            <a:spLocks noGrp="1"/>
          </p:cNvSpPr>
          <p:nvPr>
            <p:ph type="sldNum" sz="quarter" idx="12"/>
          </p:nvPr>
        </p:nvSpPr>
        <p:spPr/>
        <p:txBody>
          <a:bodyPr/>
          <a:lstStyle/>
          <a:p>
            <a:fld id="{1857F14F-D01D-4987-8D99-9BB4F863D1A4}" type="slidenum">
              <a:rPr lang="en-US" altLang="zh-CN"/>
              <a:pPr/>
              <a:t>83</a:t>
            </a:fld>
            <a:endParaRPr lang="en-US" altLang="zh-CN"/>
          </a:p>
        </p:txBody>
      </p:sp>
      <p:sp>
        <p:nvSpPr>
          <p:cNvPr id="592899" name="Text Box 3"/>
          <p:cNvSpPr txBox="1">
            <a:spLocks noChangeArrowheads="1"/>
          </p:cNvSpPr>
          <p:nvPr/>
        </p:nvSpPr>
        <p:spPr bwMode="auto">
          <a:xfrm>
            <a:off x="533400" y="1385888"/>
            <a:ext cx="8153400" cy="2195512"/>
          </a:xfrm>
          <a:prstGeom prst="rect">
            <a:avLst/>
          </a:prstGeom>
          <a:noFill/>
          <a:ln w="12700">
            <a:noFill/>
            <a:miter lim="800000"/>
            <a:headEnd type="none" w="sm" len="sm"/>
            <a:tailEnd type="none" w="sm" len="sm"/>
          </a:ln>
          <a:effectLst/>
        </p:spPr>
        <p:txBody>
          <a:bodyPr>
            <a:spAutoFit/>
          </a:bodyPr>
          <a:lstStyle/>
          <a:p>
            <a:pPr>
              <a:lnSpc>
                <a:spcPct val="115000"/>
              </a:lnSpc>
              <a:spcBef>
                <a:spcPct val="50000"/>
              </a:spcBef>
            </a:pPr>
            <a:r>
              <a:rPr kumimoji="1" lang="zh-CN" altLang="en-US" sz="2400"/>
              <a:t>热力学第二定律表明，一切</a:t>
            </a:r>
            <a:r>
              <a:rPr kumimoji="1" lang="zh-CN" altLang="en-US" sz="2400">
                <a:solidFill>
                  <a:srgbClr val="FF3300"/>
                </a:solidFill>
              </a:rPr>
              <a:t>与热现象有关</a:t>
            </a:r>
            <a:r>
              <a:rPr kumimoji="1" lang="zh-CN" altLang="en-US" sz="2400"/>
              <a:t>的实际宏观过程都是</a:t>
            </a:r>
            <a:r>
              <a:rPr kumimoji="1" lang="zh-CN" altLang="en-US" sz="2400">
                <a:solidFill>
                  <a:srgbClr val="0000CC"/>
                </a:solidFill>
              </a:rPr>
              <a:t>不可逆</a:t>
            </a:r>
            <a:r>
              <a:rPr kumimoji="1" lang="zh-CN" altLang="en-US" sz="2400"/>
              <a:t>的，而这种不可逆性并不取决于过程本身，而是</a:t>
            </a:r>
            <a:r>
              <a:rPr kumimoji="1" lang="zh-CN" altLang="en-US" sz="2400">
                <a:solidFill>
                  <a:srgbClr val="0000CC"/>
                </a:solidFill>
              </a:rPr>
              <a:t>反映了始末两个状态在性质上的差异</a:t>
            </a:r>
            <a:r>
              <a:rPr kumimoji="1" lang="zh-CN" altLang="en-US" sz="2400"/>
              <a:t>。从统计意义上来认识，这种差异表现为始末两个宏观态</a:t>
            </a:r>
            <a:r>
              <a:rPr kumimoji="1" lang="zh-CN" altLang="en-US" sz="2400">
                <a:solidFill>
                  <a:srgbClr val="0000CC"/>
                </a:solidFill>
              </a:rPr>
              <a:t>所包含的微观态数目不同</a:t>
            </a:r>
            <a:r>
              <a:rPr kumimoji="1" lang="zh-CN" altLang="en-US" sz="2400"/>
              <a:t>，并直接决定了过程进行的方向。</a:t>
            </a:r>
          </a:p>
        </p:txBody>
      </p:sp>
      <p:sp>
        <p:nvSpPr>
          <p:cNvPr id="592900" name="Text Box 4"/>
          <p:cNvSpPr txBox="1">
            <a:spLocks noChangeArrowheads="1"/>
          </p:cNvSpPr>
          <p:nvPr/>
        </p:nvSpPr>
        <p:spPr bwMode="auto">
          <a:xfrm>
            <a:off x="533400" y="4052888"/>
            <a:ext cx="8137525" cy="2195512"/>
          </a:xfrm>
          <a:prstGeom prst="rect">
            <a:avLst/>
          </a:prstGeom>
          <a:noFill/>
          <a:ln w="12700" algn="ctr">
            <a:noFill/>
            <a:miter lim="800000"/>
            <a:headEnd/>
            <a:tailEnd/>
          </a:ln>
          <a:effectLst/>
        </p:spPr>
        <p:txBody>
          <a:bodyPr>
            <a:spAutoFit/>
          </a:bodyPr>
          <a:lstStyle/>
          <a:p>
            <a:pPr>
              <a:lnSpc>
                <a:spcPct val="115000"/>
              </a:lnSpc>
              <a:spcBef>
                <a:spcPct val="50000"/>
              </a:spcBef>
            </a:pPr>
            <a:r>
              <a:rPr kumimoji="1" lang="zh-CN" altLang="en-US" sz="2400"/>
              <a:t>一切封闭系统，其内部发生的过程，总是</a:t>
            </a:r>
            <a:r>
              <a:rPr kumimoji="1" lang="zh-CN" altLang="en-US" sz="2400">
                <a:solidFill>
                  <a:srgbClr val="0000CC"/>
                </a:solidFill>
              </a:rPr>
              <a:t>由包含微观状态数目少的宏观态向包含微观状态数目多的宏观态进行</a:t>
            </a:r>
            <a:r>
              <a:rPr kumimoji="1" lang="zh-CN" altLang="en-US" sz="2400"/>
              <a:t>，</a:t>
            </a:r>
            <a:r>
              <a:rPr kumimoji="1" lang="zh-CN" altLang="en-US" sz="2400">
                <a:solidFill>
                  <a:srgbClr val="FF3300"/>
                </a:solidFill>
              </a:rPr>
              <a:t>由概率小的宏观态向概率大的宏观态进行</a:t>
            </a:r>
            <a:r>
              <a:rPr kumimoji="1" lang="zh-CN" altLang="en-US" sz="2400"/>
              <a:t>，</a:t>
            </a:r>
            <a:r>
              <a:rPr kumimoji="1" lang="zh-CN" altLang="en-US" sz="2400">
                <a:solidFill>
                  <a:schemeClr val="accent2"/>
                </a:solidFill>
              </a:rPr>
              <a:t>由较为有序宏的宏观态向较为无序的宏观态进行</a:t>
            </a:r>
            <a:r>
              <a:rPr kumimoji="1" lang="zh-CN" altLang="en-US" sz="2400"/>
              <a:t>。（相反的过程并非不可能，只不过出现这种过程的概率太小了！）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2899"/>
                                        </p:tgtEl>
                                        <p:attrNameLst>
                                          <p:attrName>style.visibility</p:attrName>
                                        </p:attrNameLst>
                                      </p:cBhvr>
                                      <p:to>
                                        <p:strVal val="visible"/>
                                      </p:to>
                                    </p:set>
                                    <p:animEffect transition="in" filter="wipe(left)">
                                      <p:cBhvr>
                                        <p:cTn id="7" dur="500"/>
                                        <p:tgtEl>
                                          <p:spTgt spid="5928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2900"/>
                                        </p:tgtEl>
                                        <p:attrNameLst>
                                          <p:attrName>style.visibility</p:attrName>
                                        </p:attrNameLst>
                                      </p:cBhvr>
                                      <p:to>
                                        <p:strVal val="visible"/>
                                      </p:to>
                                    </p:set>
                                    <p:animEffect transition="in" filter="wipe(left)">
                                      <p:cBhvr>
                                        <p:cTn id="12" dur="500"/>
                                        <p:tgtEl>
                                          <p:spTgt spid="592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autoUpdateAnimBg="0"/>
      <p:bldP spid="59290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4" name="灯片编号占位符 4"/>
          <p:cNvSpPr>
            <a:spLocks noGrp="1"/>
          </p:cNvSpPr>
          <p:nvPr>
            <p:ph type="sldNum" sz="quarter" idx="12"/>
          </p:nvPr>
        </p:nvSpPr>
        <p:spPr/>
        <p:txBody>
          <a:bodyPr/>
          <a:lstStyle/>
          <a:p>
            <a:fld id="{721F37FC-8108-41C7-81C8-50146E9B25A5}" type="slidenum">
              <a:rPr lang="en-US" altLang="zh-CN"/>
              <a:pPr/>
              <a:t>84</a:t>
            </a:fld>
            <a:endParaRPr lang="en-US" altLang="zh-CN"/>
          </a:p>
        </p:txBody>
      </p:sp>
      <p:sp>
        <p:nvSpPr>
          <p:cNvPr id="593923" name="Text Box 3"/>
          <p:cNvSpPr txBox="1">
            <a:spLocks noChangeArrowheads="1"/>
          </p:cNvSpPr>
          <p:nvPr/>
        </p:nvSpPr>
        <p:spPr bwMode="auto">
          <a:xfrm>
            <a:off x="457200" y="1219200"/>
            <a:ext cx="6553200" cy="1004888"/>
          </a:xfrm>
          <a:prstGeom prst="rect">
            <a:avLst/>
          </a:prstGeom>
          <a:noFill/>
          <a:ln w="9525">
            <a:noFill/>
            <a:miter lim="800000"/>
            <a:headEnd/>
            <a:tailEnd/>
          </a:ln>
          <a:effectLst/>
        </p:spPr>
        <p:txBody>
          <a:bodyPr>
            <a:spAutoFit/>
          </a:bodyPr>
          <a:lstStyle/>
          <a:p>
            <a:pPr>
              <a:spcBef>
                <a:spcPct val="50000"/>
              </a:spcBef>
            </a:pPr>
            <a:r>
              <a:rPr lang="zh-CN" altLang="en-US" sz="2400"/>
              <a:t>引入反映热力学系统状态的一个态函数　</a:t>
            </a:r>
            <a:r>
              <a:rPr lang="en-US" altLang="zh-CN" sz="2400"/>
              <a:t>——</a:t>
            </a:r>
          </a:p>
          <a:p>
            <a:pPr>
              <a:spcBef>
                <a:spcPct val="50000"/>
              </a:spcBef>
            </a:pPr>
            <a:r>
              <a:rPr lang="zh-CN" altLang="en-US" sz="2400" b="1">
                <a:solidFill>
                  <a:srgbClr val="0000CC"/>
                </a:solidFill>
              </a:rPr>
              <a:t>熵（</a:t>
            </a:r>
            <a:r>
              <a:rPr lang="en-US" altLang="zh-CN" sz="2400" b="1" i="1">
                <a:solidFill>
                  <a:srgbClr val="0000CC"/>
                </a:solidFill>
              </a:rPr>
              <a:t>S </a:t>
            </a:r>
            <a:r>
              <a:rPr lang="zh-CN" altLang="en-US" sz="2400" b="1">
                <a:solidFill>
                  <a:srgbClr val="0000CC"/>
                </a:solidFill>
              </a:rPr>
              <a:t>）</a:t>
            </a:r>
            <a:r>
              <a:rPr lang="zh-CN" altLang="en-US" sz="2400"/>
              <a:t>  </a:t>
            </a:r>
            <a:r>
              <a:rPr lang="en-US" altLang="zh-CN" sz="2400"/>
              <a:t>,    </a:t>
            </a:r>
            <a:r>
              <a:rPr lang="zh-CN" altLang="en-US" sz="2400"/>
              <a:t>单位：</a:t>
            </a:r>
            <a:r>
              <a:rPr lang="en-US" altLang="zh-CN" sz="2400"/>
              <a:t>J·K</a:t>
            </a:r>
            <a:r>
              <a:rPr lang="en-US" altLang="zh-CN" sz="2400" baseline="30000"/>
              <a:t>-1</a:t>
            </a:r>
            <a:r>
              <a:rPr lang="en-US" altLang="zh-CN" sz="2400"/>
              <a:t> </a:t>
            </a:r>
          </a:p>
        </p:txBody>
      </p:sp>
      <p:sp>
        <p:nvSpPr>
          <p:cNvPr id="593924" name="Text Box 4"/>
          <p:cNvSpPr txBox="1">
            <a:spLocks noChangeArrowheads="1"/>
          </p:cNvSpPr>
          <p:nvPr/>
        </p:nvSpPr>
        <p:spPr bwMode="auto">
          <a:xfrm>
            <a:off x="457200" y="2362200"/>
            <a:ext cx="3311525" cy="457200"/>
          </a:xfrm>
          <a:prstGeom prst="rect">
            <a:avLst/>
          </a:prstGeom>
          <a:noFill/>
          <a:ln w="9525">
            <a:noFill/>
            <a:miter lim="800000"/>
            <a:headEnd/>
            <a:tailEnd/>
          </a:ln>
          <a:effectLst/>
        </p:spPr>
        <p:txBody>
          <a:bodyPr>
            <a:spAutoFit/>
          </a:bodyPr>
          <a:lstStyle/>
          <a:p>
            <a:pPr>
              <a:spcBef>
                <a:spcPct val="50000"/>
              </a:spcBef>
            </a:pPr>
            <a:r>
              <a:rPr lang="zh-CN" altLang="en-US" sz="2400">
                <a:solidFill>
                  <a:srgbClr val="0000CC"/>
                </a:solidFill>
                <a:latin typeface="Arial" charset="0"/>
              </a:rPr>
              <a:t>玻耳兹曼关系式</a:t>
            </a:r>
            <a:r>
              <a:rPr lang="zh-CN" altLang="en-US" sz="2400">
                <a:latin typeface="Arial" charset="0"/>
              </a:rPr>
              <a:t>： </a:t>
            </a:r>
          </a:p>
        </p:txBody>
      </p:sp>
      <p:graphicFrame>
        <p:nvGraphicFramePr>
          <p:cNvPr id="593925" name="Object 5"/>
          <p:cNvGraphicFramePr>
            <a:graphicFrameLocks noChangeAspect="1"/>
          </p:cNvGraphicFramePr>
          <p:nvPr/>
        </p:nvGraphicFramePr>
        <p:xfrm>
          <a:off x="3505200" y="2362200"/>
          <a:ext cx="1600200" cy="447675"/>
        </p:xfrm>
        <a:graphic>
          <a:graphicData uri="http://schemas.openxmlformats.org/presentationml/2006/ole">
            <mc:AlternateContent xmlns:mc="http://schemas.openxmlformats.org/markup-compatibility/2006">
              <mc:Choice xmlns:v="urn:schemas-microsoft-com:vml" Requires="v">
                <p:oleObj name="公式" r:id="rId2" imgW="647640" imgH="177480" progId="Equation.3">
                  <p:embed/>
                </p:oleObj>
              </mc:Choice>
              <mc:Fallback>
                <p:oleObj name="公式" r:id="rId2" imgW="647640" imgH="177480" progId="Equation.3">
                  <p:embed/>
                  <p:pic>
                    <p:nvPicPr>
                      <p:cNvPr id="59392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2362200"/>
                        <a:ext cx="1600200" cy="447675"/>
                      </a:xfrm>
                      <a:prstGeom prst="rect">
                        <a:avLst/>
                      </a:prstGeom>
                      <a:solidFill>
                        <a:srgbClr val="CC99FF">
                          <a:alpha val="50000"/>
                        </a:srgbClr>
                      </a:solidFill>
                    </p:spPr>
                  </p:pic>
                </p:oleObj>
              </mc:Fallback>
            </mc:AlternateContent>
          </a:graphicData>
        </a:graphic>
      </p:graphicFrame>
      <p:sp>
        <p:nvSpPr>
          <p:cNvPr id="593926" name="Text Box 6"/>
          <p:cNvSpPr txBox="1">
            <a:spLocks noChangeArrowheads="1"/>
          </p:cNvSpPr>
          <p:nvPr/>
        </p:nvSpPr>
        <p:spPr bwMode="auto">
          <a:xfrm>
            <a:off x="1143000" y="3048000"/>
            <a:ext cx="5715000" cy="1082675"/>
          </a:xfrm>
          <a:prstGeom prst="rect">
            <a:avLst/>
          </a:prstGeom>
          <a:solidFill>
            <a:srgbClr val="CC99FF">
              <a:alpha val="50000"/>
            </a:srgbClr>
          </a:solidFill>
          <a:ln w="9525">
            <a:solidFill>
              <a:schemeClr val="tx1"/>
            </a:solidFill>
            <a:miter lim="800000"/>
            <a:headEnd/>
            <a:tailEnd/>
          </a:ln>
          <a:effectLst/>
        </p:spPr>
        <p:txBody>
          <a:bodyPr>
            <a:spAutoFit/>
          </a:bodyPr>
          <a:lstStyle/>
          <a:p>
            <a:pPr>
              <a:lnSpc>
                <a:spcPct val="115000"/>
              </a:lnSpc>
              <a:spcBef>
                <a:spcPct val="50000"/>
              </a:spcBef>
            </a:pPr>
            <a:r>
              <a:rPr lang="zh-CN" altLang="en-US" sz="2800">
                <a:latin typeface="华文行楷" pitchFamily="2" charset="-122"/>
                <a:ea typeface="华文行楷" pitchFamily="2" charset="-122"/>
              </a:rPr>
              <a:t>熵是组成系统的微观粒子的无序性（即</a:t>
            </a:r>
            <a:r>
              <a:rPr lang="zh-CN" altLang="en-US" sz="2800">
                <a:solidFill>
                  <a:srgbClr val="FF3300"/>
                </a:solidFill>
                <a:latin typeface="华文行楷" pitchFamily="2" charset="-122"/>
                <a:ea typeface="华文行楷" pitchFamily="2" charset="-122"/>
              </a:rPr>
              <a:t>混乱度</a:t>
            </a:r>
            <a:r>
              <a:rPr lang="zh-CN" altLang="en-US" sz="2800">
                <a:latin typeface="华文行楷" pitchFamily="2" charset="-122"/>
                <a:ea typeface="华文行楷" pitchFamily="2" charset="-122"/>
              </a:rPr>
              <a:t>）的量度。 </a:t>
            </a:r>
          </a:p>
        </p:txBody>
      </p:sp>
      <p:sp>
        <p:nvSpPr>
          <p:cNvPr id="593927" name="Text Box 7"/>
          <p:cNvSpPr txBox="1">
            <a:spLocks noChangeArrowheads="1"/>
          </p:cNvSpPr>
          <p:nvPr/>
        </p:nvSpPr>
        <p:spPr bwMode="auto">
          <a:xfrm>
            <a:off x="5867400" y="2286000"/>
            <a:ext cx="2286000" cy="457200"/>
          </a:xfrm>
          <a:prstGeom prst="rect">
            <a:avLst/>
          </a:prstGeom>
          <a:noFill/>
          <a:ln w="9525">
            <a:noFill/>
            <a:miter lim="800000"/>
            <a:headEnd/>
            <a:tailEnd/>
          </a:ln>
          <a:effectLst/>
        </p:spPr>
        <p:txBody>
          <a:bodyPr>
            <a:spAutoFit/>
          </a:bodyPr>
          <a:lstStyle/>
          <a:p>
            <a:pPr>
              <a:spcBef>
                <a:spcPct val="50000"/>
              </a:spcBef>
            </a:pPr>
            <a:r>
              <a:rPr lang="el-GR" altLang="zh-CN" sz="2400">
                <a:cs typeface="Times New Roman" pitchFamily="18" charset="0"/>
              </a:rPr>
              <a:t>Ω</a:t>
            </a:r>
            <a:r>
              <a:rPr lang="en-US" altLang="zh-CN" sz="2400">
                <a:cs typeface="Times New Roman" pitchFamily="18" charset="0"/>
              </a:rPr>
              <a:t> </a:t>
            </a:r>
            <a:r>
              <a:rPr lang="zh-CN" altLang="en-US" sz="2400">
                <a:cs typeface="Times New Roman" pitchFamily="18" charset="0"/>
              </a:rPr>
              <a:t>热力学概率</a:t>
            </a:r>
            <a:r>
              <a:rPr lang="zh-CN" altLang="en-US" sz="2400">
                <a:latin typeface="Arial" charset="0"/>
              </a:rPr>
              <a:t> </a:t>
            </a:r>
          </a:p>
        </p:txBody>
      </p:sp>
      <p:sp>
        <p:nvSpPr>
          <p:cNvPr id="593928" name="Text Box 8"/>
          <p:cNvSpPr txBox="1">
            <a:spLocks noChangeArrowheads="1"/>
          </p:cNvSpPr>
          <p:nvPr/>
        </p:nvSpPr>
        <p:spPr bwMode="auto">
          <a:xfrm>
            <a:off x="838200" y="4343400"/>
            <a:ext cx="6629400" cy="476250"/>
          </a:xfrm>
          <a:prstGeom prst="rect">
            <a:avLst/>
          </a:prstGeom>
          <a:noFill/>
          <a:ln w="19050">
            <a:solidFill>
              <a:schemeClr val="tx1"/>
            </a:solidFill>
            <a:miter lim="800000"/>
            <a:headEnd/>
            <a:tailEnd/>
          </a:ln>
          <a:effectLst/>
        </p:spPr>
        <p:txBody>
          <a:bodyPr>
            <a:spAutoFit/>
          </a:bodyPr>
          <a:lstStyle/>
          <a:p>
            <a:pPr>
              <a:spcBef>
                <a:spcPct val="50000"/>
              </a:spcBef>
            </a:pPr>
            <a:r>
              <a:rPr lang="zh-CN" altLang="en-US" sz="2400" dirty="0"/>
              <a:t>当孤立系统处于</a:t>
            </a:r>
            <a:r>
              <a:rPr lang="zh-CN" altLang="en-US" sz="2400" dirty="0">
                <a:solidFill>
                  <a:srgbClr val="FF3300"/>
                </a:solidFill>
              </a:rPr>
              <a:t>平衡态</a:t>
            </a:r>
            <a:r>
              <a:rPr lang="zh-CN" altLang="en-US" sz="2400" dirty="0"/>
              <a:t>时，其熵 </a:t>
            </a:r>
            <a:r>
              <a:rPr lang="en-US" altLang="zh-CN" sz="2400" i="1" dirty="0"/>
              <a:t>S </a:t>
            </a:r>
            <a:r>
              <a:rPr lang="zh-CN" altLang="en-US" sz="2400" dirty="0"/>
              <a:t>达到最大值 。</a:t>
            </a:r>
          </a:p>
        </p:txBody>
      </p:sp>
      <p:sp>
        <p:nvSpPr>
          <p:cNvPr id="593929" name="Text Box 9"/>
          <p:cNvSpPr txBox="1">
            <a:spLocks noChangeArrowheads="1"/>
          </p:cNvSpPr>
          <p:nvPr/>
        </p:nvSpPr>
        <p:spPr bwMode="auto">
          <a:xfrm>
            <a:off x="457200" y="4953000"/>
            <a:ext cx="2830513" cy="457200"/>
          </a:xfrm>
          <a:prstGeom prst="rect">
            <a:avLst/>
          </a:prstGeom>
          <a:noFill/>
          <a:ln w="9525" algn="ctr">
            <a:noFill/>
            <a:miter lim="800000"/>
            <a:headEnd/>
            <a:tailEnd/>
          </a:ln>
          <a:effectLst/>
        </p:spPr>
        <p:txBody>
          <a:bodyPr>
            <a:spAutoFit/>
          </a:bodyPr>
          <a:lstStyle/>
          <a:p>
            <a:pPr>
              <a:spcBef>
                <a:spcPct val="50000"/>
              </a:spcBef>
            </a:pPr>
            <a:r>
              <a:rPr lang="zh-CN" altLang="en-US" sz="2400" dirty="0"/>
              <a:t>熵具有</a:t>
            </a:r>
            <a:r>
              <a:rPr lang="zh-CN" altLang="en-US" sz="2400" dirty="0">
                <a:solidFill>
                  <a:srgbClr val="0000CC"/>
                </a:solidFill>
              </a:rPr>
              <a:t>可叠加性</a:t>
            </a:r>
            <a:r>
              <a:rPr lang="zh-CN" altLang="en-US" sz="2400" dirty="0"/>
              <a:t>。 </a:t>
            </a:r>
          </a:p>
        </p:txBody>
      </p:sp>
      <p:graphicFrame>
        <p:nvGraphicFramePr>
          <p:cNvPr id="593930" name="Object 10"/>
          <p:cNvGraphicFramePr>
            <a:graphicFrameLocks noChangeAspect="1"/>
          </p:cNvGraphicFramePr>
          <p:nvPr/>
        </p:nvGraphicFramePr>
        <p:xfrm>
          <a:off x="3429000" y="4951413"/>
          <a:ext cx="2193925" cy="458787"/>
        </p:xfrm>
        <a:graphic>
          <a:graphicData uri="http://schemas.openxmlformats.org/presentationml/2006/ole">
            <mc:AlternateContent xmlns:mc="http://schemas.openxmlformats.org/markup-compatibility/2006">
              <mc:Choice xmlns:v="urn:schemas-microsoft-com:vml" Requires="v">
                <p:oleObj name="公式" r:id="rId4" imgW="1091880" imgH="228600" progId="Equation.3">
                  <p:embed/>
                </p:oleObj>
              </mc:Choice>
              <mc:Fallback>
                <p:oleObj name="公式" r:id="rId4" imgW="1091880" imgH="228600" progId="Equation.3">
                  <p:embed/>
                  <p:pic>
                    <p:nvPicPr>
                      <p:cNvPr id="59393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4951413"/>
                        <a:ext cx="2193925"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31" name="Object 11"/>
          <p:cNvGraphicFramePr>
            <a:graphicFrameLocks noChangeAspect="1"/>
          </p:cNvGraphicFramePr>
          <p:nvPr/>
        </p:nvGraphicFramePr>
        <p:xfrm>
          <a:off x="5924550" y="4953000"/>
          <a:ext cx="2838450" cy="457200"/>
        </p:xfrm>
        <a:graphic>
          <a:graphicData uri="http://schemas.openxmlformats.org/presentationml/2006/ole">
            <mc:AlternateContent xmlns:mc="http://schemas.openxmlformats.org/markup-compatibility/2006">
              <mc:Choice xmlns:v="urn:schemas-microsoft-com:vml" Requires="v">
                <p:oleObj name="公式" r:id="rId6" imgW="1447560" imgH="228600" progId="Equation.3">
                  <p:embed/>
                </p:oleObj>
              </mc:Choice>
              <mc:Fallback>
                <p:oleObj name="公式" r:id="rId6" imgW="1447560" imgH="228600" progId="Equation.3">
                  <p:embed/>
                  <p:pic>
                    <p:nvPicPr>
                      <p:cNvPr id="593931"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24550" y="4953000"/>
                        <a:ext cx="283845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24"/>
                                        </p:tgtEl>
                                        <p:attrNameLst>
                                          <p:attrName>style.visibility</p:attrName>
                                        </p:attrNameLst>
                                      </p:cBhvr>
                                      <p:to>
                                        <p:strVal val="visible"/>
                                      </p:to>
                                    </p:set>
                                    <p:animEffect transition="in" filter="wipe(left)">
                                      <p:cBhvr>
                                        <p:cTn id="7" dur="500"/>
                                        <p:tgtEl>
                                          <p:spTgt spid="5939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3925"/>
                                        </p:tgtEl>
                                        <p:attrNameLst>
                                          <p:attrName>style.visibility</p:attrName>
                                        </p:attrNameLst>
                                      </p:cBhvr>
                                      <p:to>
                                        <p:strVal val="visible"/>
                                      </p:to>
                                    </p:set>
                                    <p:animEffect transition="in" filter="wipe(left)">
                                      <p:cBhvr>
                                        <p:cTn id="12" dur="500"/>
                                        <p:tgtEl>
                                          <p:spTgt spid="5939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3927"/>
                                        </p:tgtEl>
                                        <p:attrNameLst>
                                          <p:attrName>style.visibility</p:attrName>
                                        </p:attrNameLst>
                                      </p:cBhvr>
                                      <p:to>
                                        <p:strVal val="visible"/>
                                      </p:to>
                                    </p:set>
                                    <p:animEffect transition="in" filter="wipe(left)">
                                      <p:cBhvr>
                                        <p:cTn id="17" dur="500"/>
                                        <p:tgtEl>
                                          <p:spTgt spid="59392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93926"/>
                                        </p:tgtEl>
                                        <p:attrNameLst>
                                          <p:attrName>style.visibility</p:attrName>
                                        </p:attrNameLst>
                                      </p:cBhvr>
                                      <p:to>
                                        <p:strVal val="visible"/>
                                      </p:to>
                                    </p:set>
                                    <p:animEffect transition="in" filter="blinds(horizontal)">
                                      <p:cBhvr>
                                        <p:cTn id="22" dur="500"/>
                                        <p:tgtEl>
                                          <p:spTgt spid="5939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3928"/>
                                        </p:tgtEl>
                                        <p:attrNameLst>
                                          <p:attrName>style.visibility</p:attrName>
                                        </p:attrNameLst>
                                      </p:cBhvr>
                                      <p:to>
                                        <p:strVal val="visible"/>
                                      </p:to>
                                    </p:set>
                                    <p:animEffect transition="in" filter="wipe(left)">
                                      <p:cBhvr>
                                        <p:cTn id="27" dur="500"/>
                                        <p:tgtEl>
                                          <p:spTgt spid="5939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3929"/>
                                        </p:tgtEl>
                                        <p:attrNameLst>
                                          <p:attrName>style.visibility</p:attrName>
                                        </p:attrNameLst>
                                      </p:cBhvr>
                                      <p:to>
                                        <p:strVal val="visible"/>
                                      </p:to>
                                    </p:set>
                                    <p:animEffect transition="in" filter="wipe(left)">
                                      <p:cBhvr>
                                        <p:cTn id="32" dur="500"/>
                                        <p:tgtEl>
                                          <p:spTgt spid="5939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93930"/>
                                        </p:tgtEl>
                                        <p:attrNameLst>
                                          <p:attrName>style.visibility</p:attrName>
                                        </p:attrNameLst>
                                      </p:cBhvr>
                                      <p:to>
                                        <p:strVal val="visible"/>
                                      </p:to>
                                    </p:set>
                                    <p:animEffect transition="in" filter="wipe(left)">
                                      <p:cBhvr>
                                        <p:cTn id="37" dur="500"/>
                                        <p:tgtEl>
                                          <p:spTgt spid="5939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93931"/>
                                        </p:tgtEl>
                                        <p:attrNameLst>
                                          <p:attrName>style.visibility</p:attrName>
                                        </p:attrNameLst>
                                      </p:cBhvr>
                                      <p:to>
                                        <p:strVal val="visible"/>
                                      </p:to>
                                    </p:set>
                                    <p:animEffect transition="in" filter="wipe(left)">
                                      <p:cBhvr>
                                        <p:cTn id="42" dur="500"/>
                                        <p:tgtEl>
                                          <p:spTgt spid="593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4" grpId="0"/>
      <p:bldP spid="593926" grpId="0" animBg="1"/>
      <p:bldP spid="593927" grpId="0"/>
      <p:bldP spid="593928" grpId="0" animBg="1"/>
      <p:bldP spid="59392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7" name="灯片编号占位符 4"/>
          <p:cNvSpPr>
            <a:spLocks noGrp="1"/>
          </p:cNvSpPr>
          <p:nvPr>
            <p:ph type="sldNum" sz="quarter" idx="12"/>
          </p:nvPr>
        </p:nvSpPr>
        <p:spPr/>
        <p:txBody>
          <a:bodyPr/>
          <a:lstStyle/>
          <a:p>
            <a:fld id="{D2E41713-2BED-4CE0-A8A1-EFE810C815A4}" type="slidenum">
              <a:rPr lang="en-US" altLang="zh-CN"/>
              <a:pPr/>
              <a:t>85</a:t>
            </a:fld>
            <a:endParaRPr lang="en-US" altLang="zh-CN"/>
          </a:p>
        </p:txBody>
      </p:sp>
      <p:sp>
        <p:nvSpPr>
          <p:cNvPr id="594947" name="Rectangle 3"/>
          <p:cNvSpPr>
            <a:spLocks noChangeArrowheads="1"/>
          </p:cNvSpPr>
          <p:nvPr/>
        </p:nvSpPr>
        <p:spPr bwMode="auto">
          <a:xfrm>
            <a:off x="501650" y="1219200"/>
            <a:ext cx="1708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熵增加原理</a:t>
            </a:r>
          </a:p>
        </p:txBody>
      </p:sp>
      <p:sp>
        <p:nvSpPr>
          <p:cNvPr id="594948" name="Rectangle 4"/>
          <p:cNvSpPr>
            <a:spLocks noChangeArrowheads="1"/>
          </p:cNvSpPr>
          <p:nvPr/>
        </p:nvSpPr>
        <p:spPr bwMode="auto">
          <a:xfrm>
            <a:off x="457200" y="1752600"/>
            <a:ext cx="2012950" cy="457200"/>
          </a:xfrm>
          <a:prstGeom prst="rect">
            <a:avLst/>
          </a:prstGeom>
          <a:noFill/>
          <a:ln w="9525">
            <a:noFill/>
            <a:miter lim="800000"/>
            <a:headEnd/>
            <a:tailEnd/>
          </a:ln>
          <a:effectLst/>
        </p:spPr>
        <p:txBody>
          <a:bodyPr wrap="none">
            <a:spAutoFit/>
          </a:bodyPr>
          <a:lstStyle/>
          <a:p>
            <a:r>
              <a:rPr kumimoji="1" lang="zh-CN" altLang="en-US" sz="2400" dirty="0">
                <a:solidFill>
                  <a:srgbClr val="0000CC"/>
                </a:solidFill>
              </a:rPr>
              <a:t>不可逆过程</a:t>
            </a:r>
            <a:r>
              <a:rPr kumimoji="1" lang="zh-CN" altLang="en-US" sz="2400" dirty="0"/>
              <a:t>：</a:t>
            </a:r>
          </a:p>
        </p:txBody>
      </p:sp>
      <p:grpSp>
        <p:nvGrpSpPr>
          <p:cNvPr id="594949" name="Group 5"/>
          <p:cNvGrpSpPr>
            <a:grpSpLocks/>
          </p:cNvGrpSpPr>
          <p:nvPr/>
        </p:nvGrpSpPr>
        <p:grpSpPr bwMode="auto">
          <a:xfrm>
            <a:off x="3048000" y="1752600"/>
            <a:ext cx="5111750" cy="1033462"/>
            <a:chOff x="1837" y="894"/>
            <a:chExt cx="3220" cy="651"/>
          </a:xfrm>
        </p:grpSpPr>
        <p:sp>
          <p:nvSpPr>
            <p:cNvPr id="594950" name="Text Box 6"/>
            <p:cNvSpPr txBox="1">
              <a:spLocks noChangeArrowheads="1"/>
            </p:cNvSpPr>
            <p:nvPr/>
          </p:nvSpPr>
          <p:spPr bwMode="auto">
            <a:xfrm>
              <a:off x="1837" y="894"/>
              <a:ext cx="3175" cy="288"/>
            </a:xfrm>
            <a:prstGeom prst="rect">
              <a:avLst/>
            </a:prstGeom>
            <a:noFill/>
            <a:ln w="12700">
              <a:noFill/>
              <a:miter lim="800000"/>
              <a:headEnd type="none" w="sm" len="sm"/>
              <a:tailEnd type="none" w="sm" len="sm"/>
            </a:ln>
            <a:effectLst/>
          </p:spPr>
          <p:txBody>
            <a:bodyPr>
              <a:spAutoFit/>
            </a:bodyPr>
            <a:lstStyle/>
            <a:p>
              <a:pPr>
                <a:spcBef>
                  <a:spcPct val="50000"/>
                </a:spcBef>
              </a:pPr>
              <a:r>
                <a:rPr kumimoji="1" lang="zh-CN" altLang="en-US" sz="2400" dirty="0"/>
                <a:t>微观态数少的状态</a:t>
              </a:r>
              <a:r>
                <a:rPr kumimoji="1" lang="en-US" altLang="zh-CN" sz="2400" dirty="0"/>
                <a:t>(</a:t>
              </a:r>
              <a:r>
                <a:rPr lang="en-US" altLang="zh-CN" sz="2400" i="1" dirty="0"/>
                <a:t>Ω</a:t>
              </a:r>
              <a:r>
                <a:rPr lang="en-US" altLang="zh-CN" sz="2400" baseline="-25000" dirty="0"/>
                <a:t>1</a:t>
              </a:r>
              <a:r>
                <a:rPr kumimoji="1" lang="en-US" altLang="zh-CN" sz="2400" dirty="0"/>
                <a:t>)</a:t>
              </a:r>
            </a:p>
          </p:txBody>
        </p:sp>
        <p:sp>
          <p:nvSpPr>
            <p:cNvPr id="594951" name="Rectangle 7"/>
            <p:cNvSpPr>
              <a:spLocks noChangeArrowheads="1"/>
            </p:cNvSpPr>
            <p:nvPr/>
          </p:nvSpPr>
          <p:spPr bwMode="auto">
            <a:xfrm>
              <a:off x="1837" y="1257"/>
              <a:ext cx="3220" cy="288"/>
            </a:xfrm>
            <a:prstGeom prst="rect">
              <a:avLst/>
            </a:prstGeom>
            <a:noFill/>
            <a:ln w="12700" algn="ctr">
              <a:noFill/>
              <a:miter lim="800000"/>
              <a:headEnd/>
              <a:tailEnd/>
            </a:ln>
            <a:effectLst/>
          </p:spPr>
          <p:txBody>
            <a:bodyPr>
              <a:spAutoFit/>
            </a:bodyPr>
            <a:lstStyle/>
            <a:p>
              <a:pPr>
                <a:spcBef>
                  <a:spcPct val="50000"/>
                </a:spcBef>
              </a:pPr>
              <a:r>
                <a:rPr kumimoji="1" lang="en-US" altLang="zh-CN" sz="2400"/>
                <a:t>→ </a:t>
              </a:r>
              <a:r>
                <a:rPr kumimoji="1" lang="zh-CN" altLang="en-US" sz="2400"/>
                <a:t>微观态数多的状态</a:t>
              </a:r>
              <a:r>
                <a:rPr kumimoji="1" lang="en-US" altLang="zh-CN" sz="2400"/>
                <a:t>(</a:t>
              </a:r>
              <a:r>
                <a:rPr lang="en-US" altLang="zh-CN" sz="2400" i="1"/>
                <a:t>Ω</a:t>
              </a:r>
              <a:r>
                <a:rPr kumimoji="1" lang="en-US" altLang="zh-CN" sz="2400" baseline="-25000"/>
                <a:t>2</a:t>
              </a:r>
              <a:r>
                <a:rPr kumimoji="1" lang="en-US" altLang="zh-CN" sz="2400"/>
                <a:t> )</a:t>
              </a:r>
            </a:p>
          </p:txBody>
        </p:sp>
      </p:grpSp>
      <p:sp>
        <p:nvSpPr>
          <p:cNvPr id="594952" name="Rectangle 8"/>
          <p:cNvSpPr>
            <a:spLocks noChangeArrowheads="1"/>
          </p:cNvSpPr>
          <p:nvPr/>
        </p:nvSpPr>
        <p:spPr bwMode="auto">
          <a:xfrm>
            <a:off x="914400" y="2819400"/>
            <a:ext cx="2328863" cy="457200"/>
          </a:xfrm>
          <a:prstGeom prst="rect">
            <a:avLst/>
          </a:prstGeom>
          <a:noFill/>
          <a:ln w="12700">
            <a:noFill/>
            <a:miter lim="800000"/>
            <a:headEnd type="none" w="sm" len="sm"/>
            <a:tailEnd type="none" w="sm" len="sm"/>
          </a:ln>
          <a:effectLst/>
        </p:spPr>
        <p:txBody>
          <a:bodyPr>
            <a:spAutoFit/>
          </a:bodyPr>
          <a:lstStyle/>
          <a:p>
            <a:r>
              <a:rPr kumimoji="1" lang="zh-CN" altLang="en-US" sz="2400"/>
              <a:t>因为</a:t>
            </a:r>
            <a:r>
              <a:rPr kumimoji="1" lang="en-US" altLang="zh-CN" sz="2400" i="1"/>
              <a:t>Ω</a:t>
            </a:r>
            <a:r>
              <a:rPr kumimoji="1" lang="en-US" altLang="zh-CN" sz="2400" baseline="-25000"/>
              <a:t>1 </a:t>
            </a:r>
            <a:r>
              <a:rPr kumimoji="1" lang="en-US" altLang="zh-CN" sz="2400"/>
              <a:t>&lt;</a:t>
            </a:r>
            <a:r>
              <a:rPr kumimoji="1" lang="en-US" altLang="zh-CN" sz="2400" i="1"/>
              <a:t>Ω</a:t>
            </a:r>
            <a:r>
              <a:rPr kumimoji="1" lang="en-US" altLang="zh-CN" sz="2400" baseline="-25000"/>
              <a:t>2</a:t>
            </a:r>
          </a:p>
        </p:txBody>
      </p:sp>
      <p:graphicFrame>
        <p:nvGraphicFramePr>
          <p:cNvPr id="594953" name="Object 9"/>
          <p:cNvGraphicFramePr>
            <a:graphicFrameLocks noChangeAspect="1"/>
          </p:cNvGraphicFramePr>
          <p:nvPr/>
        </p:nvGraphicFramePr>
        <p:xfrm>
          <a:off x="1752600" y="3352800"/>
          <a:ext cx="3732213" cy="431800"/>
        </p:xfrm>
        <a:graphic>
          <a:graphicData uri="http://schemas.openxmlformats.org/presentationml/2006/ole">
            <mc:AlternateContent xmlns:mc="http://schemas.openxmlformats.org/markup-compatibility/2006">
              <mc:Choice xmlns:v="urn:schemas-microsoft-com:vml" Requires="v">
                <p:oleObj name="公式" r:id="rId2" imgW="1866600" imgH="215640" progId="Equation.3">
                  <p:embed/>
                </p:oleObj>
              </mc:Choice>
              <mc:Fallback>
                <p:oleObj name="公式" r:id="rId2" imgW="1866600" imgH="215640" progId="Equation.3">
                  <p:embed/>
                  <p:pic>
                    <p:nvPicPr>
                      <p:cNvPr id="594953"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352800"/>
                        <a:ext cx="373221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4954" name="Object 10"/>
          <p:cNvGraphicFramePr>
            <a:graphicFrameLocks noChangeAspect="1"/>
          </p:cNvGraphicFramePr>
          <p:nvPr/>
        </p:nvGraphicFramePr>
        <p:xfrm>
          <a:off x="5562600" y="3175000"/>
          <a:ext cx="1676400" cy="863600"/>
        </p:xfrm>
        <a:graphic>
          <a:graphicData uri="http://schemas.openxmlformats.org/presentationml/2006/ole">
            <mc:AlternateContent xmlns:mc="http://schemas.openxmlformats.org/markup-compatibility/2006">
              <mc:Choice xmlns:v="urn:schemas-microsoft-com:vml" Requires="v">
                <p:oleObj name="公式" r:id="rId4" imgW="838080" imgH="431640" progId="Equation.3">
                  <p:embed/>
                </p:oleObj>
              </mc:Choice>
              <mc:Fallback>
                <p:oleObj name="公式" r:id="rId4" imgW="838080" imgH="431640" progId="Equation.3">
                  <p:embed/>
                  <p:pic>
                    <p:nvPicPr>
                      <p:cNvPr id="594954"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3175000"/>
                        <a:ext cx="16764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955" name="Text Box 11"/>
          <p:cNvSpPr txBox="1">
            <a:spLocks noChangeArrowheads="1"/>
          </p:cNvSpPr>
          <p:nvPr/>
        </p:nvSpPr>
        <p:spPr bwMode="auto">
          <a:xfrm>
            <a:off x="457200" y="4114800"/>
            <a:ext cx="3886200" cy="457200"/>
          </a:xfrm>
          <a:prstGeom prst="rect">
            <a:avLst/>
          </a:prstGeom>
          <a:noFill/>
          <a:ln w="12700">
            <a:noFill/>
            <a:miter lim="800000"/>
            <a:headEnd type="none" w="sm" len="sm"/>
            <a:tailEnd type="none" w="sm" len="sm"/>
          </a:ln>
          <a:effectLst/>
        </p:spPr>
        <p:txBody>
          <a:bodyPr>
            <a:spAutoFit/>
          </a:bodyPr>
          <a:lstStyle/>
          <a:p>
            <a:pPr>
              <a:spcBef>
                <a:spcPct val="50000"/>
              </a:spcBef>
            </a:pPr>
            <a:r>
              <a:rPr kumimoji="1" lang="en-US" altLang="zh-CN" sz="2400" dirty="0">
                <a:solidFill>
                  <a:srgbClr val="0000CC"/>
                </a:solidFill>
              </a:rPr>
              <a:t> </a:t>
            </a:r>
            <a:r>
              <a:rPr kumimoji="1" lang="zh-CN" altLang="en-US" sz="2400" dirty="0">
                <a:solidFill>
                  <a:srgbClr val="0000CC"/>
                </a:solidFill>
              </a:rPr>
              <a:t>可逆过程</a:t>
            </a:r>
            <a:r>
              <a:rPr kumimoji="1" lang="zh-CN" altLang="en-US" sz="2400" dirty="0"/>
              <a:t>： </a:t>
            </a:r>
            <a:r>
              <a:rPr kumimoji="1" lang="en-US" altLang="zh-CN" sz="2400" i="1" dirty="0"/>
              <a:t>Ω</a:t>
            </a:r>
            <a:r>
              <a:rPr kumimoji="1" lang="en-US" altLang="zh-CN" sz="2400" baseline="-25000" dirty="0"/>
              <a:t>1 </a:t>
            </a:r>
            <a:r>
              <a:rPr kumimoji="1" lang="en-US" altLang="zh-CN" sz="2400" dirty="0"/>
              <a:t>=</a:t>
            </a:r>
            <a:r>
              <a:rPr kumimoji="1" lang="en-US" altLang="zh-CN" sz="2400" i="1" dirty="0"/>
              <a:t>Ω</a:t>
            </a:r>
            <a:r>
              <a:rPr kumimoji="1" lang="en-US" altLang="zh-CN" sz="2400" baseline="-25000" dirty="0"/>
              <a:t>2</a:t>
            </a:r>
          </a:p>
        </p:txBody>
      </p:sp>
      <p:graphicFrame>
        <p:nvGraphicFramePr>
          <p:cNvPr id="594956" name="Object 12"/>
          <p:cNvGraphicFramePr>
            <a:graphicFrameLocks noChangeAspect="1"/>
          </p:cNvGraphicFramePr>
          <p:nvPr/>
        </p:nvGraphicFramePr>
        <p:xfrm>
          <a:off x="4191000" y="4165600"/>
          <a:ext cx="923925" cy="355600"/>
        </p:xfrm>
        <a:graphic>
          <a:graphicData uri="http://schemas.openxmlformats.org/presentationml/2006/ole">
            <mc:AlternateContent xmlns:mc="http://schemas.openxmlformats.org/markup-compatibility/2006">
              <mc:Choice xmlns:v="urn:schemas-microsoft-com:vml" Requires="v">
                <p:oleObj name="公式" r:id="rId6" imgW="457200" imgH="177480" progId="Equation.3">
                  <p:embed/>
                </p:oleObj>
              </mc:Choice>
              <mc:Fallback>
                <p:oleObj name="公式" r:id="rId6" imgW="457200" imgH="177480" progId="Equation.3">
                  <p:embed/>
                  <p:pic>
                    <p:nvPicPr>
                      <p:cNvPr id="594956"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4165600"/>
                        <a:ext cx="92392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957" name="Text Box 13"/>
          <p:cNvSpPr txBox="1">
            <a:spLocks noChangeArrowheads="1"/>
          </p:cNvSpPr>
          <p:nvPr/>
        </p:nvSpPr>
        <p:spPr bwMode="auto">
          <a:xfrm>
            <a:off x="457200" y="4800600"/>
            <a:ext cx="7913688" cy="1354138"/>
          </a:xfrm>
          <a:prstGeom prst="rect">
            <a:avLst/>
          </a:prstGeom>
          <a:noFill/>
          <a:ln w="9525">
            <a:noFill/>
            <a:miter lim="800000"/>
            <a:headEnd/>
            <a:tailEnd/>
          </a:ln>
          <a:effectLst/>
        </p:spPr>
        <p:txBody>
          <a:bodyPr>
            <a:spAutoFit/>
          </a:bodyPr>
          <a:lstStyle/>
          <a:p>
            <a:pPr>
              <a:lnSpc>
                <a:spcPct val="115000"/>
              </a:lnSpc>
              <a:spcBef>
                <a:spcPct val="50000"/>
              </a:spcBef>
            </a:pPr>
            <a:r>
              <a:rPr kumimoji="1" lang="zh-CN" altLang="en-US" sz="2400" b="1" dirty="0">
                <a:solidFill>
                  <a:srgbClr val="0000CC"/>
                </a:solidFill>
              </a:rPr>
              <a:t>熵增加原理</a:t>
            </a:r>
            <a:r>
              <a:rPr kumimoji="1" lang="zh-CN" altLang="en-US" sz="2400" dirty="0"/>
              <a:t>：孤立系统中发生的一切不可逆过程都将导致系统熵的增加；而在孤立系统中发生的一切可逆过程，系统的熵保持不变 。</a:t>
            </a:r>
          </a:p>
        </p:txBody>
      </p:sp>
      <p:graphicFrame>
        <p:nvGraphicFramePr>
          <p:cNvPr id="594958" name="Object 14"/>
          <p:cNvGraphicFramePr>
            <a:graphicFrameLocks noChangeAspect="1"/>
          </p:cNvGraphicFramePr>
          <p:nvPr/>
        </p:nvGraphicFramePr>
        <p:xfrm>
          <a:off x="3429000" y="5715000"/>
          <a:ext cx="1160463" cy="446088"/>
        </p:xfrm>
        <a:graphic>
          <a:graphicData uri="http://schemas.openxmlformats.org/presentationml/2006/ole">
            <mc:AlternateContent xmlns:mc="http://schemas.openxmlformats.org/markup-compatibility/2006">
              <mc:Choice xmlns:v="urn:schemas-microsoft-com:vml" Requires="v">
                <p:oleObj name="公式" r:id="rId8" imgW="457200" imgH="177480" progId="Equation.3">
                  <p:embed/>
                </p:oleObj>
              </mc:Choice>
              <mc:Fallback>
                <p:oleObj name="公式" r:id="rId8" imgW="457200" imgH="177480" progId="Equation.3">
                  <p:embed/>
                  <p:pic>
                    <p:nvPicPr>
                      <p:cNvPr id="594958"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5715000"/>
                        <a:ext cx="1160463" cy="446088"/>
                      </a:xfrm>
                      <a:prstGeom prst="rect">
                        <a:avLst/>
                      </a:prstGeom>
                      <a:solidFill>
                        <a:srgbClr val="CC99FF">
                          <a:alpha val="50000"/>
                        </a:srgbClr>
                      </a:solidFill>
                      <a:ln w="19050">
                        <a:solidFill>
                          <a:schemeClr val="tx1"/>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4948"/>
                                        </p:tgtEl>
                                        <p:attrNameLst>
                                          <p:attrName>style.visibility</p:attrName>
                                        </p:attrNameLst>
                                      </p:cBhvr>
                                      <p:to>
                                        <p:strVal val="visible"/>
                                      </p:to>
                                    </p:set>
                                    <p:animEffect transition="in" filter="wipe(left)">
                                      <p:cBhvr>
                                        <p:cTn id="7" dur="500"/>
                                        <p:tgtEl>
                                          <p:spTgt spid="5949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4949"/>
                                        </p:tgtEl>
                                        <p:attrNameLst>
                                          <p:attrName>style.visibility</p:attrName>
                                        </p:attrNameLst>
                                      </p:cBhvr>
                                      <p:to>
                                        <p:strVal val="visible"/>
                                      </p:to>
                                    </p:set>
                                    <p:animEffect transition="in" filter="wipe(left)">
                                      <p:cBhvr>
                                        <p:cTn id="12" dur="500"/>
                                        <p:tgtEl>
                                          <p:spTgt spid="5949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4952"/>
                                        </p:tgtEl>
                                        <p:attrNameLst>
                                          <p:attrName>style.visibility</p:attrName>
                                        </p:attrNameLst>
                                      </p:cBhvr>
                                      <p:to>
                                        <p:strVal val="visible"/>
                                      </p:to>
                                    </p:set>
                                    <p:animEffect transition="in" filter="wipe(left)">
                                      <p:cBhvr>
                                        <p:cTn id="17" dur="500"/>
                                        <p:tgtEl>
                                          <p:spTgt spid="5949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4953"/>
                                        </p:tgtEl>
                                        <p:attrNameLst>
                                          <p:attrName>style.visibility</p:attrName>
                                        </p:attrNameLst>
                                      </p:cBhvr>
                                      <p:to>
                                        <p:strVal val="visible"/>
                                      </p:to>
                                    </p:set>
                                    <p:animEffect transition="in" filter="wipe(left)">
                                      <p:cBhvr>
                                        <p:cTn id="22" dur="500"/>
                                        <p:tgtEl>
                                          <p:spTgt spid="5949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94954"/>
                                        </p:tgtEl>
                                        <p:attrNameLst>
                                          <p:attrName>style.visibility</p:attrName>
                                        </p:attrNameLst>
                                      </p:cBhvr>
                                      <p:to>
                                        <p:strVal val="visible"/>
                                      </p:to>
                                    </p:set>
                                    <p:animEffect transition="in" filter="wipe(left)">
                                      <p:cBhvr>
                                        <p:cTn id="27" dur="500"/>
                                        <p:tgtEl>
                                          <p:spTgt spid="5949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4955"/>
                                        </p:tgtEl>
                                        <p:attrNameLst>
                                          <p:attrName>style.visibility</p:attrName>
                                        </p:attrNameLst>
                                      </p:cBhvr>
                                      <p:to>
                                        <p:strVal val="visible"/>
                                      </p:to>
                                    </p:set>
                                    <p:animEffect transition="in" filter="wipe(left)">
                                      <p:cBhvr>
                                        <p:cTn id="32" dur="500"/>
                                        <p:tgtEl>
                                          <p:spTgt spid="5949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94956"/>
                                        </p:tgtEl>
                                        <p:attrNameLst>
                                          <p:attrName>style.visibility</p:attrName>
                                        </p:attrNameLst>
                                      </p:cBhvr>
                                      <p:to>
                                        <p:strVal val="visible"/>
                                      </p:to>
                                    </p:set>
                                    <p:animEffect transition="in" filter="wipe(left)">
                                      <p:cBhvr>
                                        <p:cTn id="37" dur="500"/>
                                        <p:tgtEl>
                                          <p:spTgt spid="594956"/>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594957"/>
                                        </p:tgtEl>
                                        <p:attrNameLst>
                                          <p:attrName>style.visibility</p:attrName>
                                        </p:attrNameLst>
                                      </p:cBhvr>
                                      <p:to>
                                        <p:strVal val="visible"/>
                                      </p:to>
                                    </p:set>
                                    <p:anim calcmode="lin" valueType="num">
                                      <p:cBhvr additive="base">
                                        <p:cTn id="42" dur="500" fill="hold"/>
                                        <p:tgtEl>
                                          <p:spTgt spid="594957"/>
                                        </p:tgtEl>
                                        <p:attrNameLst>
                                          <p:attrName>ppt_x</p:attrName>
                                        </p:attrNameLst>
                                      </p:cBhvr>
                                      <p:tavLst>
                                        <p:tav tm="0">
                                          <p:val>
                                            <p:strVal val="0-#ppt_w/2"/>
                                          </p:val>
                                        </p:tav>
                                        <p:tav tm="100000">
                                          <p:val>
                                            <p:strVal val="#ppt_x"/>
                                          </p:val>
                                        </p:tav>
                                      </p:tavLst>
                                    </p:anim>
                                    <p:anim calcmode="lin" valueType="num">
                                      <p:cBhvr additive="base">
                                        <p:cTn id="43" dur="500" fill="hold"/>
                                        <p:tgtEl>
                                          <p:spTgt spid="594957"/>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94958"/>
                                        </p:tgtEl>
                                        <p:attrNameLst>
                                          <p:attrName>style.visibility</p:attrName>
                                        </p:attrNameLst>
                                      </p:cBhvr>
                                      <p:to>
                                        <p:strVal val="visible"/>
                                      </p:to>
                                    </p:set>
                                    <p:animEffect transition="in" filter="wipe(left)">
                                      <p:cBhvr>
                                        <p:cTn id="48" dur="500"/>
                                        <p:tgtEl>
                                          <p:spTgt spid="594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8" grpId="0"/>
      <p:bldP spid="594952" grpId="0" autoUpdateAnimBg="0"/>
      <p:bldP spid="594955" grpId="0" autoUpdateAnimBg="0"/>
      <p:bldP spid="594957"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3" name="灯片编号占位符 4"/>
          <p:cNvSpPr>
            <a:spLocks noGrp="1"/>
          </p:cNvSpPr>
          <p:nvPr>
            <p:ph type="sldNum" sz="quarter" idx="12"/>
          </p:nvPr>
        </p:nvSpPr>
        <p:spPr/>
        <p:txBody>
          <a:bodyPr/>
          <a:lstStyle/>
          <a:p>
            <a:fld id="{56F243BA-FCCC-4C1B-B2A6-256D6CCCB04C}" type="slidenum">
              <a:rPr lang="en-US" altLang="zh-CN"/>
              <a:pPr/>
              <a:t>86</a:t>
            </a:fld>
            <a:endParaRPr lang="en-US" altLang="zh-CN"/>
          </a:p>
        </p:txBody>
      </p:sp>
      <p:sp>
        <p:nvSpPr>
          <p:cNvPr id="595971" name="Text Box 3"/>
          <p:cNvSpPr txBox="1">
            <a:spLocks noChangeArrowheads="1"/>
          </p:cNvSpPr>
          <p:nvPr/>
        </p:nvSpPr>
        <p:spPr bwMode="auto">
          <a:xfrm>
            <a:off x="304800" y="1752600"/>
            <a:ext cx="5040313" cy="457200"/>
          </a:xfrm>
          <a:prstGeom prst="rect">
            <a:avLst/>
          </a:prstGeom>
          <a:noFill/>
          <a:ln w="9525">
            <a:noFill/>
            <a:miter lim="800000"/>
            <a:headEnd/>
            <a:tailEnd/>
          </a:ln>
          <a:effectLst/>
        </p:spPr>
        <p:txBody>
          <a:bodyPr>
            <a:spAutoFit/>
          </a:bodyPr>
          <a:lstStyle/>
          <a:p>
            <a:pPr>
              <a:spcBef>
                <a:spcPct val="50000"/>
              </a:spcBef>
            </a:pPr>
            <a:r>
              <a:rPr lang="zh-CN" altLang="en-US" sz="2400" dirty="0"/>
              <a:t>熵的热力学定义（</a:t>
            </a:r>
            <a:r>
              <a:rPr lang="zh-CN" altLang="en-US" sz="2400" dirty="0">
                <a:solidFill>
                  <a:srgbClr val="0000CC"/>
                </a:solidFill>
              </a:rPr>
              <a:t>克劳修斯熵</a:t>
            </a:r>
            <a:r>
              <a:rPr lang="zh-CN" altLang="en-US" sz="2400" dirty="0"/>
              <a:t>）：</a:t>
            </a:r>
          </a:p>
        </p:txBody>
      </p:sp>
      <p:sp>
        <p:nvSpPr>
          <p:cNvPr id="595972" name="Text Box 4"/>
          <p:cNvSpPr txBox="1">
            <a:spLocks noChangeArrowheads="1"/>
          </p:cNvSpPr>
          <p:nvPr/>
        </p:nvSpPr>
        <p:spPr bwMode="auto">
          <a:xfrm>
            <a:off x="762000" y="2536825"/>
            <a:ext cx="6548438" cy="968375"/>
          </a:xfrm>
          <a:prstGeom prst="rect">
            <a:avLst/>
          </a:prstGeom>
          <a:noFill/>
          <a:ln w="12700">
            <a:noFill/>
            <a:miter lim="800000"/>
            <a:headEnd type="none" w="sm" len="sm"/>
            <a:tailEnd type="none" w="sm" len="sm"/>
          </a:ln>
          <a:effectLst/>
        </p:spPr>
        <p:txBody>
          <a:bodyPr>
            <a:spAutoFit/>
          </a:bodyPr>
          <a:lstStyle/>
          <a:p>
            <a:pPr>
              <a:lnSpc>
                <a:spcPct val="120000"/>
              </a:lnSpc>
              <a:spcBef>
                <a:spcPct val="50000"/>
              </a:spcBef>
            </a:pPr>
            <a:r>
              <a:rPr kumimoji="1" lang="zh-CN" altLang="en-US" sz="2400" dirty="0"/>
              <a:t>设一定量的理想气体在温度为</a:t>
            </a:r>
            <a:r>
              <a:rPr kumimoji="1" lang="en-US" altLang="zh-CN" sz="2400" i="1" dirty="0"/>
              <a:t>T </a:t>
            </a:r>
            <a:r>
              <a:rPr kumimoji="1" lang="zh-CN" altLang="en-US" sz="2400" dirty="0"/>
              <a:t>下作等温膨胀，体积从</a:t>
            </a:r>
            <a:r>
              <a:rPr kumimoji="1" lang="en-US" altLang="zh-CN" sz="2400" i="1" dirty="0"/>
              <a:t>V</a:t>
            </a:r>
            <a:r>
              <a:rPr kumimoji="1" lang="en-US" altLang="zh-CN" sz="2400" baseline="-25000" dirty="0"/>
              <a:t>1</a:t>
            </a:r>
            <a:r>
              <a:rPr kumimoji="1" lang="zh-CN" altLang="en-US" sz="2400" dirty="0"/>
              <a:t>变化为</a:t>
            </a:r>
            <a:r>
              <a:rPr kumimoji="1" lang="en-US" altLang="zh-CN" sz="2400" i="1" dirty="0"/>
              <a:t>V</a:t>
            </a:r>
            <a:r>
              <a:rPr kumimoji="1" lang="en-US" altLang="zh-CN" sz="2400" baseline="-25000" dirty="0"/>
              <a:t>2</a:t>
            </a:r>
            <a:r>
              <a:rPr kumimoji="1" lang="en-US" altLang="zh-CN" sz="2400" dirty="0"/>
              <a:t> </a:t>
            </a:r>
            <a:r>
              <a:rPr kumimoji="1" lang="zh-CN" altLang="en-US" sz="2400" dirty="0"/>
              <a:t>。</a:t>
            </a:r>
          </a:p>
        </p:txBody>
      </p:sp>
      <p:sp>
        <p:nvSpPr>
          <p:cNvPr id="595973" name="Rectangle 5"/>
          <p:cNvSpPr>
            <a:spLocks noChangeArrowheads="1"/>
          </p:cNvSpPr>
          <p:nvPr/>
        </p:nvSpPr>
        <p:spPr bwMode="auto">
          <a:xfrm>
            <a:off x="457200" y="3886200"/>
            <a:ext cx="4191000" cy="457200"/>
          </a:xfrm>
          <a:prstGeom prst="rect">
            <a:avLst/>
          </a:prstGeom>
          <a:noFill/>
          <a:ln w="12700">
            <a:noFill/>
            <a:miter lim="800000"/>
            <a:headEnd type="none" w="sm" len="sm"/>
            <a:tailEnd type="none" w="sm" len="sm"/>
          </a:ln>
          <a:effectLst/>
        </p:spPr>
        <p:txBody>
          <a:bodyPr>
            <a:spAutoFit/>
          </a:bodyPr>
          <a:lstStyle/>
          <a:p>
            <a:r>
              <a:rPr kumimoji="1" lang="zh-CN" altLang="en-US" sz="2400" dirty="0"/>
              <a:t>一个分子在容器中的概率：</a:t>
            </a:r>
          </a:p>
        </p:txBody>
      </p:sp>
      <p:graphicFrame>
        <p:nvGraphicFramePr>
          <p:cNvPr id="595974" name="Object 6"/>
          <p:cNvGraphicFramePr>
            <a:graphicFrameLocks noChangeAspect="1"/>
          </p:cNvGraphicFramePr>
          <p:nvPr/>
        </p:nvGraphicFramePr>
        <p:xfrm>
          <a:off x="4724400" y="3886994"/>
          <a:ext cx="1143000" cy="455613"/>
        </p:xfrm>
        <a:graphic>
          <a:graphicData uri="http://schemas.openxmlformats.org/presentationml/2006/ole">
            <mc:AlternateContent xmlns:mc="http://schemas.openxmlformats.org/markup-compatibility/2006">
              <mc:Choice xmlns:v="urn:schemas-microsoft-com:vml" Requires="v">
                <p:oleObj name="公式" r:id="rId2" imgW="571320" imgH="228600" progId="Equation.3">
                  <p:embed/>
                </p:oleObj>
              </mc:Choice>
              <mc:Fallback>
                <p:oleObj name="公式" r:id="rId2" imgW="571320" imgH="228600" progId="Equation.3">
                  <p:embed/>
                  <p:pic>
                    <p:nvPicPr>
                      <p:cNvPr id="59597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886994"/>
                        <a:ext cx="1143000"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5975" name="Rectangle 7"/>
          <p:cNvSpPr>
            <a:spLocks noChangeArrowheads="1"/>
          </p:cNvSpPr>
          <p:nvPr/>
        </p:nvSpPr>
        <p:spPr bwMode="auto">
          <a:xfrm>
            <a:off x="457200" y="4773612"/>
            <a:ext cx="4495800" cy="457200"/>
          </a:xfrm>
          <a:prstGeom prst="rect">
            <a:avLst/>
          </a:prstGeom>
          <a:noFill/>
          <a:ln w="12700">
            <a:noFill/>
            <a:miter lim="800000"/>
            <a:headEnd type="none" w="sm" len="sm"/>
            <a:tailEnd type="none" w="sm" len="sm"/>
          </a:ln>
          <a:effectLst/>
        </p:spPr>
        <p:txBody>
          <a:bodyPr>
            <a:spAutoFit/>
          </a:bodyPr>
          <a:lstStyle/>
          <a:p>
            <a:r>
              <a:rPr kumimoji="1" lang="en-US" altLang="zh-CN" sz="2400" i="1" dirty="0"/>
              <a:t>N </a:t>
            </a:r>
            <a:r>
              <a:rPr kumimoji="1" lang="zh-CN" altLang="en-US" sz="2400" dirty="0"/>
              <a:t>个分子在容器中的概率：</a:t>
            </a:r>
          </a:p>
        </p:txBody>
      </p:sp>
      <p:graphicFrame>
        <p:nvGraphicFramePr>
          <p:cNvPr id="595976" name="Object 8"/>
          <p:cNvGraphicFramePr>
            <a:graphicFrameLocks noChangeAspect="1"/>
          </p:cNvGraphicFramePr>
          <p:nvPr/>
        </p:nvGraphicFramePr>
        <p:xfrm>
          <a:off x="4722813" y="4746625"/>
          <a:ext cx="2211387" cy="511175"/>
        </p:xfrm>
        <a:graphic>
          <a:graphicData uri="http://schemas.openxmlformats.org/presentationml/2006/ole">
            <mc:AlternateContent xmlns:mc="http://schemas.openxmlformats.org/markup-compatibility/2006">
              <mc:Choice xmlns:v="urn:schemas-microsoft-com:vml" Requires="v">
                <p:oleObj name="公式" r:id="rId4" imgW="1091880" imgH="253800" progId="Equation.3">
                  <p:embed/>
                </p:oleObj>
              </mc:Choice>
              <mc:Fallback>
                <p:oleObj name="公式" r:id="rId4" imgW="1091880" imgH="253800" progId="Equation.3">
                  <p:embed/>
                  <p:pic>
                    <p:nvPicPr>
                      <p:cNvPr id="595976"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813" y="4746625"/>
                        <a:ext cx="2211387"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7" name="Object 9"/>
          <p:cNvGraphicFramePr>
            <a:graphicFrameLocks noChangeAspect="1"/>
          </p:cNvGraphicFramePr>
          <p:nvPr/>
        </p:nvGraphicFramePr>
        <p:xfrm>
          <a:off x="1981200" y="5645150"/>
          <a:ext cx="3857625" cy="603250"/>
        </p:xfrm>
        <a:graphic>
          <a:graphicData uri="http://schemas.openxmlformats.org/presentationml/2006/ole">
            <mc:AlternateContent xmlns:mc="http://schemas.openxmlformats.org/markup-compatibility/2006">
              <mc:Choice xmlns:v="urn:schemas-microsoft-com:vml" Requires="v">
                <p:oleObj name="公式" r:id="rId6" imgW="1536480" imgH="241200" progId="Equation.3">
                  <p:embed/>
                </p:oleObj>
              </mc:Choice>
              <mc:Fallback>
                <p:oleObj name="公式" r:id="rId6" imgW="1536480" imgH="241200" progId="Equation.3">
                  <p:embed/>
                  <p:pic>
                    <p:nvPicPr>
                      <p:cNvPr id="595977"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5645150"/>
                        <a:ext cx="3857625" cy="603250"/>
                      </a:xfrm>
                      <a:prstGeom prst="rect">
                        <a:avLst/>
                      </a:prstGeom>
                      <a:solidFill>
                        <a:srgbClr val="CC99FF">
                          <a:alpha val="50000"/>
                        </a:srgbClr>
                      </a:solidFill>
                    </p:spPr>
                  </p:pic>
                </p:oleObj>
              </mc:Fallback>
            </mc:AlternateContent>
          </a:graphicData>
        </a:graphic>
      </p:graphicFrame>
      <p:sp>
        <p:nvSpPr>
          <p:cNvPr id="595978" name="Rectangle 10"/>
          <p:cNvSpPr>
            <a:spLocks noChangeArrowheads="1"/>
          </p:cNvSpPr>
          <p:nvPr/>
        </p:nvSpPr>
        <p:spPr bwMode="auto">
          <a:xfrm>
            <a:off x="501650" y="1219200"/>
            <a:ext cx="1708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t>克劳修斯熵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5971"/>
                                        </p:tgtEl>
                                        <p:attrNameLst>
                                          <p:attrName>style.visibility</p:attrName>
                                        </p:attrNameLst>
                                      </p:cBhvr>
                                      <p:to>
                                        <p:strVal val="visible"/>
                                      </p:to>
                                    </p:set>
                                    <p:animEffect transition="in" filter="wipe(left)">
                                      <p:cBhvr>
                                        <p:cTn id="7" dur="500"/>
                                        <p:tgtEl>
                                          <p:spTgt spid="5959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5972"/>
                                        </p:tgtEl>
                                        <p:attrNameLst>
                                          <p:attrName>style.visibility</p:attrName>
                                        </p:attrNameLst>
                                      </p:cBhvr>
                                      <p:to>
                                        <p:strVal val="visible"/>
                                      </p:to>
                                    </p:set>
                                    <p:animEffect transition="in" filter="wipe(left)">
                                      <p:cBhvr>
                                        <p:cTn id="12" dur="500"/>
                                        <p:tgtEl>
                                          <p:spTgt spid="5959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5973"/>
                                        </p:tgtEl>
                                        <p:attrNameLst>
                                          <p:attrName>style.visibility</p:attrName>
                                        </p:attrNameLst>
                                      </p:cBhvr>
                                      <p:to>
                                        <p:strVal val="visible"/>
                                      </p:to>
                                    </p:set>
                                    <p:animEffect transition="in" filter="wipe(left)">
                                      <p:cBhvr>
                                        <p:cTn id="17" dur="500"/>
                                        <p:tgtEl>
                                          <p:spTgt spid="5959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5974"/>
                                        </p:tgtEl>
                                        <p:attrNameLst>
                                          <p:attrName>style.visibility</p:attrName>
                                        </p:attrNameLst>
                                      </p:cBhvr>
                                      <p:to>
                                        <p:strVal val="visible"/>
                                      </p:to>
                                    </p:set>
                                    <p:animEffect transition="in" filter="wipe(left)">
                                      <p:cBhvr>
                                        <p:cTn id="22" dur="500"/>
                                        <p:tgtEl>
                                          <p:spTgt spid="5959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5975"/>
                                        </p:tgtEl>
                                        <p:attrNameLst>
                                          <p:attrName>style.visibility</p:attrName>
                                        </p:attrNameLst>
                                      </p:cBhvr>
                                      <p:to>
                                        <p:strVal val="visible"/>
                                      </p:to>
                                    </p:set>
                                    <p:animEffect transition="in" filter="wipe(left)">
                                      <p:cBhvr>
                                        <p:cTn id="27" dur="500"/>
                                        <p:tgtEl>
                                          <p:spTgt spid="5959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95976"/>
                                        </p:tgtEl>
                                        <p:attrNameLst>
                                          <p:attrName>style.visibility</p:attrName>
                                        </p:attrNameLst>
                                      </p:cBhvr>
                                      <p:to>
                                        <p:strVal val="visible"/>
                                      </p:to>
                                    </p:set>
                                    <p:animEffect transition="in" filter="wipe(left)">
                                      <p:cBhvr>
                                        <p:cTn id="32" dur="500"/>
                                        <p:tgtEl>
                                          <p:spTgt spid="59597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95977"/>
                                        </p:tgtEl>
                                        <p:attrNameLst>
                                          <p:attrName>style.visibility</p:attrName>
                                        </p:attrNameLst>
                                      </p:cBhvr>
                                      <p:to>
                                        <p:strVal val="visible"/>
                                      </p:to>
                                    </p:set>
                                    <p:animEffect transition="in" filter="wipe(left)">
                                      <p:cBhvr>
                                        <p:cTn id="37" dur="500"/>
                                        <p:tgtEl>
                                          <p:spTgt spid="595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1" grpId="0"/>
      <p:bldP spid="595972" grpId="0" autoUpdateAnimBg="0"/>
      <p:bldP spid="595973" grpId="0" autoUpdateAnimBg="0"/>
      <p:bldP spid="595975"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16" name="灯片编号占位符 4"/>
          <p:cNvSpPr>
            <a:spLocks noGrp="1"/>
          </p:cNvSpPr>
          <p:nvPr>
            <p:ph type="sldNum" sz="quarter" idx="12"/>
          </p:nvPr>
        </p:nvSpPr>
        <p:spPr/>
        <p:txBody>
          <a:bodyPr/>
          <a:lstStyle/>
          <a:p>
            <a:fld id="{B74D1524-4CAF-42FA-ABC7-C0B45BF6BAF7}" type="slidenum">
              <a:rPr lang="en-US" altLang="zh-CN"/>
              <a:pPr/>
              <a:t>87</a:t>
            </a:fld>
            <a:endParaRPr lang="en-US" altLang="zh-CN"/>
          </a:p>
        </p:txBody>
      </p:sp>
      <p:sp>
        <p:nvSpPr>
          <p:cNvPr id="596995" name="Rectangle 3"/>
          <p:cNvSpPr>
            <a:spLocks noChangeArrowheads="1"/>
          </p:cNvSpPr>
          <p:nvPr/>
        </p:nvSpPr>
        <p:spPr bwMode="auto">
          <a:xfrm>
            <a:off x="304800" y="1752600"/>
            <a:ext cx="3200400" cy="457200"/>
          </a:xfrm>
          <a:prstGeom prst="rect">
            <a:avLst/>
          </a:prstGeom>
          <a:noFill/>
          <a:ln w="12700">
            <a:noFill/>
            <a:miter lim="800000"/>
            <a:headEnd type="none" w="sm" len="sm"/>
            <a:tailEnd type="none" w="sm" len="sm"/>
          </a:ln>
          <a:effectLst/>
        </p:spPr>
        <p:txBody>
          <a:bodyPr>
            <a:spAutoFit/>
          </a:bodyPr>
          <a:lstStyle/>
          <a:p>
            <a:r>
              <a:rPr kumimoji="1" lang="zh-CN" altLang="en-US" sz="2400"/>
              <a:t>等温膨胀后的</a:t>
            </a:r>
            <a:r>
              <a:rPr kumimoji="1" lang="zh-CN" altLang="en-US" sz="2400">
                <a:solidFill>
                  <a:srgbClr val="0000CC"/>
                </a:solidFill>
              </a:rPr>
              <a:t>熵变</a:t>
            </a:r>
            <a:r>
              <a:rPr kumimoji="1" lang="zh-CN" altLang="en-US" sz="2400"/>
              <a:t>：</a:t>
            </a:r>
          </a:p>
        </p:txBody>
      </p:sp>
      <p:graphicFrame>
        <p:nvGraphicFramePr>
          <p:cNvPr id="596996" name="Object 4"/>
          <p:cNvGraphicFramePr>
            <a:graphicFrameLocks noChangeAspect="1"/>
          </p:cNvGraphicFramePr>
          <p:nvPr/>
        </p:nvGraphicFramePr>
        <p:xfrm>
          <a:off x="3657600" y="1397000"/>
          <a:ext cx="1298575" cy="977900"/>
        </p:xfrm>
        <a:graphic>
          <a:graphicData uri="http://schemas.openxmlformats.org/presentationml/2006/ole">
            <mc:AlternateContent xmlns:mc="http://schemas.openxmlformats.org/markup-compatibility/2006">
              <mc:Choice xmlns:v="urn:schemas-microsoft-com:vml" Requires="v">
                <p:oleObj name="公式" r:id="rId2" imgW="520560" imgH="393480" progId="Equation.3">
                  <p:embed/>
                </p:oleObj>
              </mc:Choice>
              <mc:Fallback>
                <p:oleObj name="公式" r:id="rId2" imgW="520560" imgH="393480" progId="Equation.3">
                  <p:embed/>
                  <p:pic>
                    <p:nvPicPr>
                      <p:cNvPr id="5969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397000"/>
                        <a:ext cx="1298575" cy="977900"/>
                      </a:xfrm>
                      <a:prstGeom prst="rect">
                        <a:avLst/>
                      </a:prstGeom>
                      <a:solidFill>
                        <a:srgbClr val="CC99FF">
                          <a:alpha val="50000"/>
                        </a:srgbClr>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96997" name="Text Box 5"/>
          <p:cNvSpPr txBox="1">
            <a:spLocks noChangeArrowheads="1"/>
          </p:cNvSpPr>
          <p:nvPr/>
        </p:nvSpPr>
        <p:spPr bwMode="auto">
          <a:xfrm>
            <a:off x="5715000" y="1701800"/>
            <a:ext cx="2555875" cy="457200"/>
          </a:xfrm>
          <a:prstGeom prst="rect">
            <a:avLst/>
          </a:prstGeom>
          <a:noFill/>
          <a:ln w="9525">
            <a:noFill/>
            <a:miter lim="800000"/>
            <a:headEnd/>
            <a:tailEnd/>
          </a:ln>
          <a:effectLst/>
        </p:spPr>
        <p:txBody>
          <a:bodyPr>
            <a:spAutoFit/>
          </a:bodyPr>
          <a:lstStyle/>
          <a:p>
            <a:pPr>
              <a:spcBef>
                <a:spcPct val="50000"/>
              </a:spcBef>
            </a:pPr>
            <a:r>
              <a:rPr lang="en-US" altLang="zh-CN" sz="2400" i="1"/>
              <a:t>Q</a:t>
            </a:r>
            <a:r>
              <a:rPr lang="en-US" altLang="zh-CN" sz="2400"/>
              <a:t>/</a:t>
            </a:r>
            <a:r>
              <a:rPr lang="en-US" altLang="zh-CN" sz="2400" i="1"/>
              <a:t>T</a:t>
            </a:r>
            <a:r>
              <a:rPr lang="zh-CN" altLang="en-US" sz="2400"/>
              <a:t>称为</a:t>
            </a:r>
            <a:r>
              <a:rPr lang="zh-CN" altLang="en-US" sz="2400">
                <a:solidFill>
                  <a:srgbClr val="0000CC"/>
                </a:solidFill>
              </a:rPr>
              <a:t>热温比</a:t>
            </a:r>
            <a:r>
              <a:rPr lang="zh-CN" altLang="en-US" sz="2400"/>
              <a:t> </a:t>
            </a:r>
          </a:p>
        </p:txBody>
      </p:sp>
      <p:graphicFrame>
        <p:nvGraphicFramePr>
          <p:cNvPr id="596998" name="Object 6"/>
          <p:cNvGraphicFramePr>
            <a:graphicFrameLocks noChangeAspect="1"/>
          </p:cNvGraphicFramePr>
          <p:nvPr/>
        </p:nvGraphicFramePr>
        <p:xfrm>
          <a:off x="3657600" y="2438400"/>
          <a:ext cx="1435100" cy="987425"/>
        </p:xfrm>
        <a:graphic>
          <a:graphicData uri="http://schemas.openxmlformats.org/presentationml/2006/ole">
            <mc:AlternateContent xmlns:mc="http://schemas.openxmlformats.org/markup-compatibility/2006">
              <mc:Choice xmlns:v="urn:schemas-microsoft-com:vml" Requires="v">
                <p:oleObj name="公式" r:id="rId4" imgW="571320" imgH="393480" progId="Equation.3">
                  <p:embed/>
                </p:oleObj>
              </mc:Choice>
              <mc:Fallback>
                <p:oleObj name="公式" r:id="rId4" imgW="571320" imgH="393480" progId="Equation.3">
                  <p:embed/>
                  <p:pic>
                    <p:nvPicPr>
                      <p:cNvPr id="59699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2438400"/>
                        <a:ext cx="1435100" cy="987425"/>
                      </a:xfrm>
                      <a:prstGeom prst="rect">
                        <a:avLst/>
                      </a:prstGeom>
                      <a:solidFill>
                        <a:srgbClr val="CC99FF">
                          <a:alpha val="50000"/>
                        </a:srgbClr>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96999" name="Text Box 7"/>
          <p:cNvSpPr txBox="1">
            <a:spLocks noChangeArrowheads="1"/>
          </p:cNvSpPr>
          <p:nvPr/>
        </p:nvSpPr>
        <p:spPr bwMode="auto">
          <a:xfrm>
            <a:off x="304800" y="2768600"/>
            <a:ext cx="1295400" cy="457200"/>
          </a:xfrm>
          <a:prstGeom prst="rect">
            <a:avLst/>
          </a:prstGeom>
          <a:noFill/>
          <a:ln w="12700" algn="ctr">
            <a:noFill/>
            <a:miter lim="800000"/>
            <a:headEnd/>
            <a:tailEnd/>
          </a:ln>
          <a:effectLst/>
        </p:spPr>
        <p:txBody>
          <a:bodyPr>
            <a:spAutoFit/>
          </a:bodyPr>
          <a:lstStyle/>
          <a:p>
            <a:pPr>
              <a:spcBef>
                <a:spcPct val="50000"/>
              </a:spcBef>
            </a:pPr>
            <a:r>
              <a:rPr kumimoji="1" lang="zh-CN" altLang="en-US" sz="2400"/>
              <a:t>微过程： </a:t>
            </a:r>
          </a:p>
        </p:txBody>
      </p:sp>
      <p:sp>
        <p:nvSpPr>
          <p:cNvPr id="597000" name="Text Box 8"/>
          <p:cNvSpPr txBox="1">
            <a:spLocks noChangeArrowheads="1"/>
          </p:cNvSpPr>
          <p:nvPr/>
        </p:nvSpPr>
        <p:spPr bwMode="auto">
          <a:xfrm>
            <a:off x="304800" y="3810000"/>
            <a:ext cx="4114800" cy="457200"/>
          </a:xfrm>
          <a:prstGeom prst="rect">
            <a:avLst/>
          </a:prstGeom>
          <a:noFill/>
          <a:ln w="9525">
            <a:noFill/>
            <a:miter lim="800000"/>
            <a:headEnd/>
            <a:tailEnd/>
          </a:ln>
          <a:effectLst/>
        </p:spPr>
        <p:txBody>
          <a:bodyPr>
            <a:spAutoFit/>
          </a:bodyPr>
          <a:lstStyle/>
          <a:p>
            <a:pPr>
              <a:spcBef>
                <a:spcPct val="50000"/>
              </a:spcBef>
            </a:pPr>
            <a:r>
              <a:rPr lang="zh-CN" altLang="en-US" sz="2400"/>
              <a:t>对于任意一个热力学过程 </a:t>
            </a:r>
          </a:p>
        </p:txBody>
      </p:sp>
      <p:sp>
        <p:nvSpPr>
          <p:cNvPr id="597001" name="Text Box 9"/>
          <p:cNvSpPr txBox="1">
            <a:spLocks noChangeArrowheads="1"/>
          </p:cNvSpPr>
          <p:nvPr/>
        </p:nvSpPr>
        <p:spPr bwMode="auto">
          <a:xfrm>
            <a:off x="6553200" y="3733800"/>
            <a:ext cx="1828800" cy="822325"/>
          </a:xfrm>
          <a:prstGeom prst="rect">
            <a:avLst/>
          </a:prstGeom>
          <a:noFill/>
          <a:ln w="9525">
            <a:noFill/>
            <a:miter lim="800000"/>
            <a:headEnd/>
            <a:tailEnd/>
          </a:ln>
          <a:effectLst/>
        </p:spPr>
        <p:txBody>
          <a:bodyPr>
            <a:spAutoFit/>
          </a:bodyPr>
          <a:lstStyle/>
          <a:p>
            <a:pPr>
              <a:spcBef>
                <a:spcPct val="50000"/>
              </a:spcBef>
            </a:pPr>
            <a:r>
              <a:rPr lang="zh-CN" altLang="en-US" sz="2400"/>
              <a:t>不等号表示不可逆过程</a:t>
            </a:r>
          </a:p>
        </p:txBody>
      </p:sp>
      <p:sp>
        <p:nvSpPr>
          <p:cNvPr id="597002" name="Rectangle 10"/>
          <p:cNvSpPr>
            <a:spLocks noChangeArrowheads="1"/>
          </p:cNvSpPr>
          <p:nvPr/>
        </p:nvSpPr>
        <p:spPr bwMode="auto">
          <a:xfrm>
            <a:off x="501650" y="1219200"/>
            <a:ext cx="17081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dirty="0"/>
              <a:t>克劳修斯熵</a:t>
            </a:r>
          </a:p>
        </p:txBody>
      </p:sp>
      <p:graphicFrame>
        <p:nvGraphicFramePr>
          <p:cNvPr id="597003" name="Object 11"/>
          <p:cNvGraphicFramePr>
            <a:graphicFrameLocks noChangeAspect="1"/>
          </p:cNvGraphicFramePr>
          <p:nvPr/>
        </p:nvGraphicFramePr>
        <p:xfrm>
          <a:off x="4191000" y="3581400"/>
          <a:ext cx="1466850" cy="987425"/>
        </p:xfrm>
        <a:graphic>
          <a:graphicData uri="http://schemas.openxmlformats.org/presentationml/2006/ole">
            <mc:AlternateContent xmlns:mc="http://schemas.openxmlformats.org/markup-compatibility/2006">
              <mc:Choice xmlns:v="urn:schemas-microsoft-com:vml" Requires="v">
                <p:oleObj name="公式" r:id="rId6" imgW="583920" imgH="393480" progId="Equation.3">
                  <p:embed/>
                </p:oleObj>
              </mc:Choice>
              <mc:Fallback>
                <p:oleObj name="公式" r:id="rId6" imgW="583920" imgH="393480" progId="Equation.3">
                  <p:embed/>
                  <p:pic>
                    <p:nvPicPr>
                      <p:cNvPr id="597003"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3581400"/>
                        <a:ext cx="1466850" cy="987425"/>
                      </a:xfrm>
                      <a:prstGeom prst="rect">
                        <a:avLst/>
                      </a:prstGeom>
                      <a:solidFill>
                        <a:srgbClr val="FF99CC">
                          <a:alpha val="50000"/>
                        </a:srgbClr>
                      </a:solidFill>
                      <a:ln w="19050">
                        <a:solidFill>
                          <a:schemeClr val="tx1"/>
                        </a:solidFill>
                        <a:miter lim="800000"/>
                        <a:headEnd/>
                        <a:tailEnd/>
                      </a:ln>
                    </p:spPr>
                  </p:pic>
                </p:oleObj>
              </mc:Fallback>
            </mc:AlternateContent>
          </a:graphicData>
        </a:graphic>
      </p:graphicFrame>
      <p:sp>
        <p:nvSpPr>
          <p:cNvPr id="597004" name="Text Box 12"/>
          <p:cNvSpPr txBox="1">
            <a:spLocks noChangeArrowheads="1"/>
          </p:cNvSpPr>
          <p:nvPr/>
        </p:nvSpPr>
        <p:spPr bwMode="auto">
          <a:xfrm>
            <a:off x="304800" y="5257800"/>
            <a:ext cx="1295400" cy="457200"/>
          </a:xfrm>
          <a:prstGeom prst="rect">
            <a:avLst/>
          </a:prstGeom>
          <a:noFill/>
          <a:ln w="9525" algn="ctr">
            <a:noFill/>
            <a:miter lim="800000"/>
            <a:headEnd/>
            <a:tailEnd/>
          </a:ln>
          <a:effectLst/>
        </p:spPr>
        <p:txBody>
          <a:bodyPr>
            <a:spAutoFit/>
          </a:bodyPr>
          <a:lstStyle/>
          <a:p>
            <a:pPr>
              <a:spcBef>
                <a:spcPct val="50000"/>
              </a:spcBef>
            </a:pPr>
            <a:r>
              <a:rPr lang="zh-CN" altLang="en-US" sz="2400"/>
              <a:t>积分式 </a:t>
            </a:r>
          </a:p>
        </p:txBody>
      </p:sp>
      <p:graphicFrame>
        <p:nvGraphicFramePr>
          <p:cNvPr id="597005" name="Object 13"/>
          <p:cNvGraphicFramePr>
            <a:graphicFrameLocks noChangeAspect="1"/>
          </p:cNvGraphicFramePr>
          <p:nvPr/>
        </p:nvGraphicFramePr>
        <p:xfrm>
          <a:off x="2667000" y="5029200"/>
          <a:ext cx="3030538" cy="987425"/>
        </p:xfrm>
        <a:graphic>
          <a:graphicData uri="http://schemas.openxmlformats.org/presentationml/2006/ole">
            <mc:AlternateContent xmlns:mc="http://schemas.openxmlformats.org/markup-compatibility/2006">
              <mc:Choice xmlns:v="urn:schemas-microsoft-com:vml" Requires="v">
                <p:oleObj name="公式" r:id="rId8" imgW="1206360" imgH="393480" progId="Equation.3">
                  <p:embed/>
                </p:oleObj>
              </mc:Choice>
              <mc:Fallback>
                <p:oleObj name="公式" r:id="rId8" imgW="1206360" imgH="393480" progId="Equation.3">
                  <p:embed/>
                  <p:pic>
                    <p:nvPicPr>
                      <p:cNvPr id="597005"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7000" y="5029200"/>
                        <a:ext cx="3030538" cy="987425"/>
                      </a:xfrm>
                      <a:prstGeom prst="rect">
                        <a:avLst/>
                      </a:prstGeom>
                      <a:solidFill>
                        <a:srgbClr val="3366FF">
                          <a:alpha val="50000"/>
                        </a:srgbClr>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6995"/>
                                        </p:tgtEl>
                                        <p:attrNameLst>
                                          <p:attrName>style.visibility</p:attrName>
                                        </p:attrNameLst>
                                      </p:cBhvr>
                                      <p:to>
                                        <p:strVal val="visible"/>
                                      </p:to>
                                    </p:set>
                                    <p:animEffect transition="in" filter="wipe(left)">
                                      <p:cBhvr>
                                        <p:cTn id="7" dur="500"/>
                                        <p:tgtEl>
                                          <p:spTgt spid="596995"/>
                                        </p:tgtEl>
                                      </p:cBhvr>
                                    </p:animEffect>
                                  </p:childTnLst>
                                </p:cTn>
                              </p:par>
                              <p:par>
                                <p:cTn id="8" presetID="22" presetClass="entr" presetSubtype="8" fill="hold" nodeType="withEffect">
                                  <p:stCondLst>
                                    <p:cond delay="0"/>
                                  </p:stCondLst>
                                  <p:childTnLst>
                                    <p:set>
                                      <p:cBhvr>
                                        <p:cTn id="9" dur="1" fill="hold">
                                          <p:stCondLst>
                                            <p:cond delay="0"/>
                                          </p:stCondLst>
                                        </p:cTn>
                                        <p:tgtEl>
                                          <p:spTgt spid="596996"/>
                                        </p:tgtEl>
                                        <p:attrNameLst>
                                          <p:attrName>style.visibility</p:attrName>
                                        </p:attrNameLst>
                                      </p:cBhvr>
                                      <p:to>
                                        <p:strVal val="visible"/>
                                      </p:to>
                                    </p:set>
                                    <p:animEffect transition="in" filter="wipe(left)">
                                      <p:cBhvr>
                                        <p:cTn id="10" dur="500"/>
                                        <p:tgtEl>
                                          <p:spTgt spid="59699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96997"/>
                                        </p:tgtEl>
                                        <p:attrNameLst>
                                          <p:attrName>style.visibility</p:attrName>
                                        </p:attrNameLst>
                                      </p:cBhvr>
                                      <p:to>
                                        <p:strVal val="visible"/>
                                      </p:to>
                                    </p:set>
                                    <p:animEffect transition="in" filter="wipe(left)">
                                      <p:cBhvr>
                                        <p:cTn id="15" dur="500"/>
                                        <p:tgtEl>
                                          <p:spTgt spid="59699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96999"/>
                                        </p:tgtEl>
                                        <p:attrNameLst>
                                          <p:attrName>style.visibility</p:attrName>
                                        </p:attrNameLst>
                                      </p:cBhvr>
                                      <p:to>
                                        <p:strVal val="visible"/>
                                      </p:to>
                                    </p:set>
                                    <p:animEffect transition="in" filter="wipe(left)">
                                      <p:cBhvr>
                                        <p:cTn id="20" dur="500"/>
                                        <p:tgtEl>
                                          <p:spTgt spid="596999"/>
                                        </p:tgtEl>
                                      </p:cBhvr>
                                    </p:animEffect>
                                  </p:childTnLst>
                                </p:cTn>
                              </p:par>
                              <p:par>
                                <p:cTn id="21" presetID="22" presetClass="entr" presetSubtype="8" fill="hold" nodeType="withEffect">
                                  <p:stCondLst>
                                    <p:cond delay="0"/>
                                  </p:stCondLst>
                                  <p:childTnLst>
                                    <p:set>
                                      <p:cBhvr>
                                        <p:cTn id="22" dur="1" fill="hold">
                                          <p:stCondLst>
                                            <p:cond delay="0"/>
                                          </p:stCondLst>
                                        </p:cTn>
                                        <p:tgtEl>
                                          <p:spTgt spid="596998"/>
                                        </p:tgtEl>
                                        <p:attrNameLst>
                                          <p:attrName>style.visibility</p:attrName>
                                        </p:attrNameLst>
                                      </p:cBhvr>
                                      <p:to>
                                        <p:strVal val="visible"/>
                                      </p:to>
                                    </p:set>
                                    <p:animEffect transition="in" filter="wipe(left)">
                                      <p:cBhvr>
                                        <p:cTn id="23" dur="500"/>
                                        <p:tgtEl>
                                          <p:spTgt spid="59699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97000"/>
                                        </p:tgtEl>
                                        <p:attrNameLst>
                                          <p:attrName>style.visibility</p:attrName>
                                        </p:attrNameLst>
                                      </p:cBhvr>
                                      <p:to>
                                        <p:strVal val="visible"/>
                                      </p:to>
                                    </p:set>
                                    <p:animEffect transition="in" filter="wipe(left)">
                                      <p:cBhvr>
                                        <p:cTn id="28" dur="500"/>
                                        <p:tgtEl>
                                          <p:spTgt spid="59700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97001"/>
                                        </p:tgtEl>
                                        <p:attrNameLst>
                                          <p:attrName>style.visibility</p:attrName>
                                        </p:attrNameLst>
                                      </p:cBhvr>
                                      <p:to>
                                        <p:strVal val="visible"/>
                                      </p:to>
                                    </p:set>
                                    <p:animEffect transition="in" filter="wipe(left)">
                                      <p:cBhvr>
                                        <p:cTn id="33" dur="500"/>
                                        <p:tgtEl>
                                          <p:spTgt spid="597001"/>
                                        </p:tgtEl>
                                      </p:cBhvr>
                                    </p:animEffect>
                                  </p:childTnLst>
                                </p:cTn>
                              </p:par>
                              <p:par>
                                <p:cTn id="34" presetID="22" presetClass="entr" presetSubtype="8" fill="hold" nodeType="withEffect">
                                  <p:stCondLst>
                                    <p:cond delay="0"/>
                                  </p:stCondLst>
                                  <p:childTnLst>
                                    <p:set>
                                      <p:cBhvr>
                                        <p:cTn id="35" dur="1" fill="hold">
                                          <p:stCondLst>
                                            <p:cond delay="0"/>
                                          </p:stCondLst>
                                        </p:cTn>
                                        <p:tgtEl>
                                          <p:spTgt spid="597003"/>
                                        </p:tgtEl>
                                        <p:attrNameLst>
                                          <p:attrName>style.visibility</p:attrName>
                                        </p:attrNameLst>
                                      </p:cBhvr>
                                      <p:to>
                                        <p:strVal val="visible"/>
                                      </p:to>
                                    </p:set>
                                    <p:animEffect transition="in" filter="wipe(left)">
                                      <p:cBhvr>
                                        <p:cTn id="36" dur="500"/>
                                        <p:tgtEl>
                                          <p:spTgt spid="59700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97004"/>
                                        </p:tgtEl>
                                        <p:attrNameLst>
                                          <p:attrName>style.visibility</p:attrName>
                                        </p:attrNameLst>
                                      </p:cBhvr>
                                      <p:to>
                                        <p:strVal val="visible"/>
                                      </p:to>
                                    </p:set>
                                    <p:animEffect transition="in" filter="wipe(left)">
                                      <p:cBhvr>
                                        <p:cTn id="41" dur="500"/>
                                        <p:tgtEl>
                                          <p:spTgt spid="597004"/>
                                        </p:tgtEl>
                                      </p:cBhvr>
                                    </p:animEffect>
                                  </p:childTnLst>
                                </p:cTn>
                              </p:par>
                              <p:par>
                                <p:cTn id="42" presetID="22" presetClass="entr" presetSubtype="8" fill="hold" nodeType="withEffect">
                                  <p:stCondLst>
                                    <p:cond delay="0"/>
                                  </p:stCondLst>
                                  <p:childTnLst>
                                    <p:set>
                                      <p:cBhvr>
                                        <p:cTn id="43" dur="1" fill="hold">
                                          <p:stCondLst>
                                            <p:cond delay="0"/>
                                          </p:stCondLst>
                                        </p:cTn>
                                        <p:tgtEl>
                                          <p:spTgt spid="597005"/>
                                        </p:tgtEl>
                                        <p:attrNameLst>
                                          <p:attrName>style.visibility</p:attrName>
                                        </p:attrNameLst>
                                      </p:cBhvr>
                                      <p:to>
                                        <p:strVal val="visible"/>
                                      </p:to>
                                    </p:set>
                                    <p:animEffect transition="in" filter="wipe(left)">
                                      <p:cBhvr>
                                        <p:cTn id="44" dur="500"/>
                                        <p:tgtEl>
                                          <p:spTgt spid="597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5" grpId="0" autoUpdateAnimBg="0"/>
      <p:bldP spid="596997" grpId="0"/>
      <p:bldP spid="596999" grpId="0"/>
      <p:bldP spid="597000" grpId="0"/>
      <p:bldP spid="597001" grpId="0"/>
      <p:bldP spid="59700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9" name="灯片编号占位符 4"/>
          <p:cNvSpPr>
            <a:spLocks noGrp="1"/>
          </p:cNvSpPr>
          <p:nvPr>
            <p:ph type="sldNum" sz="quarter" idx="12"/>
          </p:nvPr>
        </p:nvSpPr>
        <p:spPr/>
        <p:txBody>
          <a:bodyPr/>
          <a:lstStyle/>
          <a:p>
            <a:fld id="{190AE1BC-E309-42EF-889C-DC9F4662D117}" type="slidenum">
              <a:rPr lang="en-US" altLang="zh-CN"/>
              <a:pPr/>
              <a:t>88</a:t>
            </a:fld>
            <a:endParaRPr lang="en-US" altLang="zh-CN"/>
          </a:p>
        </p:txBody>
      </p:sp>
      <p:sp>
        <p:nvSpPr>
          <p:cNvPr id="598019" name="Text Box 3"/>
          <p:cNvSpPr txBox="1">
            <a:spLocks noChangeArrowheads="1"/>
          </p:cNvSpPr>
          <p:nvPr/>
        </p:nvSpPr>
        <p:spPr bwMode="auto">
          <a:xfrm>
            <a:off x="609600" y="1371600"/>
            <a:ext cx="1065213" cy="457200"/>
          </a:xfrm>
          <a:prstGeom prst="rect">
            <a:avLst/>
          </a:prstGeom>
          <a:noFill/>
          <a:ln w="9525">
            <a:noFill/>
            <a:miter lim="800000"/>
            <a:headEnd/>
            <a:tailEnd/>
          </a:ln>
          <a:effectLst/>
        </p:spPr>
        <p:txBody>
          <a:bodyPr>
            <a:spAutoFit/>
          </a:bodyPr>
          <a:lstStyle/>
          <a:p>
            <a:pPr>
              <a:spcBef>
                <a:spcPct val="50000"/>
              </a:spcBef>
            </a:pPr>
            <a:r>
              <a:rPr lang="zh-CN" altLang="en-US" sz="2400"/>
              <a:t>注意：</a:t>
            </a:r>
          </a:p>
        </p:txBody>
      </p:sp>
      <p:sp>
        <p:nvSpPr>
          <p:cNvPr id="598020" name="Text Box 4"/>
          <p:cNvSpPr txBox="1">
            <a:spLocks noChangeArrowheads="1"/>
          </p:cNvSpPr>
          <p:nvPr/>
        </p:nvSpPr>
        <p:spPr bwMode="auto">
          <a:xfrm>
            <a:off x="609600" y="2133600"/>
            <a:ext cx="8064500" cy="933450"/>
          </a:xfrm>
          <a:prstGeom prst="rect">
            <a:avLst/>
          </a:prstGeom>
          <a:noFill/>
          <a:ln w="9525">
            <a:noFill/>
            <a:miter lim="800000"/>
            <a:headEnd/>
            <a:tailEnd/>
          </a:ln>
          <a:effectLst/>
        </p:spPr>
        <p:txBody>
          <a:bodyPr>
            <a:spAutoFit/>
          </a:bodyPr>
          <a:lstStyle/>
          <a:p>
            <a:pPr>
              <a:lnSpc>
                <a:spcPct val="115000"/>
              </a:lnSpc>
              <a:spcBef>
                <a:spcPct val="50000"/>
              </a:spcBef>
              <a:buClr>
                <a:schemeClr val="folHlink"/>
              </a:buClr>
              <a:buSzPct val="80000"/>
              <a:buFont typeface="Wingdings" pitchFamily="2" charset="2"/>
              <a:buChar char="n"/>
            </a:pPr>
            <a:r>
              <a:rPr lang="en-US" altLang="zh-CN" sz="2400"/>
              <a:t>   </a:t>
            </a:r>
            <a:r>
              <a:rPr lang="zh-CN" altLang="en-US" sz="2400"/>
              <a:t>熵是一个态函数。熵的变化只取决于初、末两个状态，与具体过程无关。 </a:t>
            </a:r>
          </a:p>
        </p:txBody>
      </p:sp>
      <p:sp>
        <p:nvSpPr>
          <p:cNvPr id="598021" name="Text Box 5"/>
          <p:cNvSpPr txBox="1">
            <a:spLocks noChangeArrowheads="1"/>
          </p:cNvSpPr>
          <p:nvPr/>
        </p:nvSpPr>
        <p:spPr bwMode="auto">
          <a:xfrm>
            <a:off x="609600" y="3525838"/>
            <a:ext cx="7848600" cy="512762"/>
          </a:xfrm>
          <a:prstGeom prst="rect">
            <a:avLst/>
          </a:prstGeom>
          <a:noFill/>
          <a:ln w="9525" algn="ctr">
            <a:noFill/>
            <a:miter lim="800000"/>
            <a:headEnd/>
            <a:tailEnd/>
          </a:ln>
          <a:effectLst/>
        </p:spPr>
        <p:txBody>
          <a:bodyPr>
            <a:spAutoFit/>
          </a:bodyPr>
          <a:lstStyle/>
          <a:p>
            <a:pPr>
              <a:lnSpc>
                <a:spcPct val="115000"/>
              </a:lnSpc>
              <a:spcBef>
                <a:spcPct val="50000"/>
              </a:spcBef>
              <a:buClr>
                <a:schemeClr val="folHlink"/>
              </a:buClr>
              <a:buSzPct val="80000"/>
              <a:buFont typeface="Wingdings" pitchFamily="2" charset="2"/>
              <a:buChar char="n"/>
            </a:pPr>
            <a:r>
              <a:rPr lang="en-US" altLang="zh-CN" sz="2400"/>
              <a:t>   </a:t>
            </a:r>
            <a:r>
              <a:rPr lang="zh-CN" altLang="en-US" sz="2400"/>
              <a:t>熵具有可加性。系统的熵等于系统内各部分的熵之和。 </a:t>
            </a:r>
          </a:p>
        </p:txBody>
      </p:sp>
      <p:sp>
        <p:nvSpPr>
          <p:cNvPr id="598022" name="Text Box 6"/>
          <p:cNvSpPr txBox="1">
            <a:spLocks noChangeArrowheads="1"/>
          </p:cNvSpPr>
          <p:nvPr/>
        </p:nvSpPr>
        <p:spPr bwMode="auto">
          <a:xfrm>
            <a:off x="612775" y="4876800"/>
            <a:ext cx="7921625" cy="933450"/>
          </a:xfrm>
          <a:prstGeom prst="rect">
            <a:avLst/>
          </a:prstGeom>
          <a:noFill/>
          <a:ln w="9525" algn="ctr">
            <a:noFill/>
            <a:miter lim="800000"/>
            <a:headEnd/>
            <a:tailEnd/>
          </a:ln>
          <a:effectLst/>
        </p:spPr>
        <p:txBody>
          <a:bodyPr>
            <a:spAutoFit/>
          </a:bodyPr>
          <a:lstStyle/>
          <a:p>
            <a:pPr>
              <a:lnSpc>
                <a:spcPct val="115000"/>
              </a:lnSpc>
              <a:spcBef>
                <a:spcPct val="50000"/>
              </a:spcBef>
              <a:buClr>
                <a:schemeClr val="folHlink"/>
              </a:buClr>
              <a:buSzPct val="80000"/>
              <a:buFont typeface="Wingdings" pitchFamily="2" charset="2"/>
              <a:buChar char="n"/>
            </a:pPr>
            <a:r>
              <a:rPr lang="en-US" altLang="zh-CN" sz="2400"/>
              <a:t>   </a:t>
            </a:r>
            <a:r>
              <a:rPr lang="zh-CN" altLang="en-US" sz="2400">
                <a:solidFill>
                  <a:srgbClr val="0000CC"/>
                </a:solidFill>
              </a:rPr>
              <a:t>克劳修斯熵只能用于描述</a:t>
            </a:r>
            <a:r>
              <a:rPr lang="zh-CN" altLang="en-US" sz="2400">
                <a:solidFill>
                  <a:srgbClr val="FF3300"/>
                </a:solidFill>
              </a:rPr>
              <a:t>平衡</a:t>
            </a:r>
            <a:r>
              <a:rPr lang="zh-CN" altLang="en-US" sz="2400">
                <a:solidFill>
                  <a:srgbClr val="0000CC"/>
                </a:solidFill>
              </a:rPr>
              <a:t>状态</a:t>
            </a:r>
            <a:r>
              <a:rPr lang="zh-CN" altLang="en-US" sz="2400"/>
              <a:t>，而</a:t>
            </a:r>
            <a:r>
              <a:rPr lang="zh-CN" altLang="en-US" sz="2400">
                <a:solidFill>
                  <a:srgbClr val="FF3300"/>
                </a:solidFill>
              </a:rPr>
              <a:t>玻耳兹曼熵则可以用以描述非平衡态</a:t>
            </a:r>
            <a:r>
              <a:rPr lang="zh-CN" altLang="en-US" sz="240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8020"/>
                                        </p:tgtEl>
                                        <p:attrNameLst>
                                          <p:attrName>style.visibility</p:attrName>
                                        </p:attrNameLst>
                                      </p:cBhvr>
                                      <p:to>
                                        <p:strVal val="visible"/>
                                      </p:to>
                                    </p:set>
                                    <p:animEffect transition="in" filter="wipe(left)">
                                      <p:cBhvr>
                                        <p:cTn id="7" dur="500"/>
                                        <p:tgtEl>
                                          <p:spTgt spid="5980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8021"/>
                                        </p:tgtEl>
                                        <p:attrNameLst>
                                          <p:attrName>style.visibility</p:attrName>
                                        </p:attrNameLst>
                                      </p:cBhvr>
                                      <p:to>
                                        <p:strVal val="visible"/>
                                      </p:to>
                                    </p:set>
                                    <p:animEffect transition="in" filter="wipe(left)">
                                      <p:cBhvr>
                                        <p:cTn id="12" dur="500"/>
                                        <p:tgtEl>
                                          <p:spTgt spid="5980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8022"/>
                                        </p:tgtEl>
                                        <p:attrNameLst>
                                          <p:attrName>style.visibility</p:attrName>
                                        </p:attrNameLst>
                                      </p:cBhvr>
                                      <p:to>
                                        <p:strVal val="visible"/>
                                      </p:to>
                                    </p:set>
                                    <p:animEffect transition="in" filter="wipe(left)">
                                      <p:cBhvr>
                                        <p:cTn id="17" dur="500"/>
                                        <p:tgtEl>
                                          <p:spTgt spid="598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20" grpId="0"/>
      <p:bldP spid="598021" grpId="0"/>
      <p:bldP spid="59802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24" name="灯片编号占位符 4"/>
          <p:cNvSpPr>
            <a:spLocks noGrp="1"/>
          </p:cNvSpPr>
          <p:nvPr>
            <p:ph type="sldNum" sz="quarter" idx="12"/>
          </p:nvPr>
        </p:nvSpPr>
        <p:spPr/>
        <p:txBody>
          <a:bodyPr/>
          <a:lstStyle/>
          <a:p>
            <a:fld id="{70E490E7-D190-40F3-976A-ACDCCB623869}" type="slidenum">
              <a:rPr lang="en-US" altLang="zh-CN"/>
              <a:pPr/>
              <a:t>89</a:t>
            </a:fld>
            <a:endParaRPr lang="en-US" altLang="zh-CN"/>
          </a:p>
        </p:txBody>
      </p:sp>
      <p:sp>
        <p:nvSpPr>
          <p:cNvPr id="599043" name="Text Box 3"/>
          <p:cNvSpPr txBox="1">
            <a:spLocks noChangeArrowheads="1"/>
          </p:cNvSpPr>
          <p:nvPr/>
        </p:nvSpPr>
        <p:spPr bwMode="auto">
          <a:xfrm>
            <a:off x="381000" y="1143000"/>
            <a:ext cx="8458200" cy="1354138"/>
          </a:xfrm>
          <a:prstGeom prst="rect">
            <a:avLst/>
          </a:prstGeom>
          <a:noFill/>
          <a:ln w="9525">
            <a:noFill/>
            <a:miter lim="800000"/>
            <a:headEnd/>
            <a:tailEnd/>
          </a:ln>
          <a:effectLst/>
        </p:spPr>
        <p:txBody>
          <a:bodyPr>
            <a:spAutoFit/>
          </a:bodyPr>
          <a:lstStyle/>
          <a:p>
            <a:pPr>
              <a:lnSpc>
                <a:spcPct val="115000"/>
              </a:lnSpc>
              <a:spcBef>
                <a:spcPct val="50000"/>
              </a:spcBef>
            </a:pPr>
            <a:r>
              <a:rPr kumimoji="1" lang="zh-CN" altLang="en-US" sz="2400"/>
              <a:t>例</a:t>
            </a:r>
            <a:r>
              <a:rPr kumimoji="1" lang="en-US" altLang="zh-CN" sz="2400"/>
              <a:t>10.10   </a:t>
            </a:r>
            <a:r>
              <a:rPr kumimoji="1" lang="zh-CN" altLang="en-US" sz="2400"/>
              <a:t>试求</a:t>
            </a:r>
            <a:r>
              <a:rPr kumimoji="1" lang="en-US" altLang="zh-CN" sz="2400"/>
              <a:t>1mol</a:t>
            </a:r>
            <a:r>
              <a:rPr kumimoji="1" lang="zh-CN" altLang="en-US" sz="2400"/>
              <a:t>理想气体由初态（ </a:t>
            </a:r>
            <a:r>
              <a:rPr kumimoji="1" lang="en-US" altLang="zh-CN" sz="2400" i="1"/>
              <a:t>T</a:t>
            </a:r>
            <a:r>
              <a:rPr kumimoji="1" lang="en-US" altLang="zh-CN" sz="2400" baseline="-25000"/>
              <a:t>1</a:t>
            </a:r>
            <a:r>
              <a:rPr kumimoji="1" lang="zh-CN" altLang="en-US" sz="2400"/>
              <a:t>，</a:t>
            </a:r>
            <a:r>
              <a:rPr kumimoji="1" lang="en-US" altLang="zh-CN" sz="2400" i="1"/>
              <a:t>V</a:t>
            </a:r>
            <a:r>
              <a:rPr kumimoji="1" lang="en-US" altLang="zh-CN" sz="2400" baseline="-25000"/>
              <a:t>1</a:t>
            </a:r>
            <a:r>
              <a:rPr kumimoji="1" lang="zh-CN" altLang="en-US" sz="2400"/>
              <a:t>）经某一过程到达终态（ </a:t>
            </a:r>
            <a:r>
              <a:rPr kumimoji="1" lang="en-US" altLang="zh-CN" sz="2400" i="1"/>
              <a:t>T</a:t>
            </a:r>
            <a:r>
              <a:rPr kumimoji="1" lang="en-US" altLang="zh-CN" sz="2400" baseline="-25000"/>
              <a:t>2</a:t>
            </a:r>
            <a:r>
              <a:rPr kumimoji="1" lang="zh-CN" altLang="en-US" sz="2400"/>
              <a:t>，</a:t>
            </a:r>
            <a:r>
              <a:rPr kumimoji="1" lang="en-US" altLang="zh-CN" sz="2400" i="1"/>
              <a:t>V</a:t>
            </a:r>
            <a:r>
              <a:rPr kumimoji="1" lang="en-US" altLang="zh-CN" sz="2400" baseline="-25000"/>
              <a:t>2</a:t>
            </a:r>
            <a:r>
              <a:rPr kumimoji="1" lang="zh-CN" altLang="en-US" sz="2400"/>
              <a:t>）的熵变。假定气体的摩尔定容热容 </a:t>
            </a:r>
            <a:r>
              <a:rPr kumimoji="1" lang="en-US" altLang="zh-CN" sz="2400" i="1"/>
              <a:t>C</a:t>
            </a:r>
            <a:r>
              <a:rPr kumimoji="1" lang="en-US" altLang="zh-CN" sz="2400" i="1" baseline="-25000"/>
              <a:t>V</a:t>
            </a:r>
            <a:r>
              <a:rPr kumimoji="1" lang="en-US" altLang="zh-CN" sz="2400" baseline="-25000"/>
              <a:t>,m</a:t>
            </a:r>
            <a:r>
              <a:rPr kumimoji="1" lang="zh-CN" altLang="en-US" sz="2400"/>
              <a:t>为一恒量。</a:t>
            </a:r>
          </a:p>
        </p:txBody>
      </p:sp>
      <p:sp>
        <p:nvSpPr>
          <p:cNvPr id="599044" name="Rectangle 4"/>
          <p:cNvSpPr>
            <a:spLocks noChangeArrowheads="1"/>
          </p:cNvSpPr>
          <p:nvPr/>
        </p:nvSpPr>
        <p:spPr bwMode="auto">
          <a:xfrm>
            <a:off x="381000" y="2590800"/>
            <a:ext cx="793750" cy="457200"/>
          </a:xfrm>
          <a:prstGeom prst="rect">
            <a:avLst/>
          </a:prstGeom>
          <a:noFill/>
          <a:ln w="9525">
            <a:noFill/>
            <a:miter lim="800000"/>
            <a:headEnd/>
            <a:tailEnd/>
          </a:ln>
          <a:effectLst/>
        </p:spPr>
        <p:txBody>
          <a:bodyPr wrap="none">
            <a:spAutoFit/>
          </a:bodyPr>
          <a:lstStyle/>
          <a:p>
            <a:r>
              <a:rPr kumimoji="1" lang="zh-CN" altLang="en-US" sz="2400"/>
              <a:t>解：</a:t>
            </a:r>
          </a:p>
        </p:txBody>
      </p:sp>
      <p:sp>
        <p:nvSpPr>
          <p:cNvPr id="599045" name="Rectangle 5"/>
          <p:cNvSpPr>
            <a:spLocks noChangeArrowheads="1"/>
          </p:cNvSpPr>
          <p:nvPr/>
        </p:nvSpPr>
        <p:spPr bwMode="auto">
          <a:xfrm>
            <a:off x="1219200" y="2590800"/>
            <a:ext cx="1098550" cy="457200"/>
          </a:xfrm>
          <a:prstGeom prst="rect">
            <a:avLst/>
          </a:prstGeom>
          <a:noFill/>
          <a:ln w="9525">
            <a:noFill/>
            <a:miter lim="800000"/>
            <a:headEnd/>
            <a:tailEnd/>
          </a:ln>
          <a:effectLst/>
        </p:spPr>
        <p:txBody>
          <a:bodyPr wrap="none">
            <a:spAutoFit/>
          </a:bodyPr>
          <a:lstStyle/>
          <a:p>
            <a:r>
              <a:rPr kumimoji="1" lang="zh-CN" altLang="en-US" sz="2400"/>
              <a:t>解法一</a:t>
            </a:r>
          </a:p>
        </p:txBody>
      </p:sp>
      <p:grpSp>
        <p:nvGrpSpPr>
          <p:cNvPr id="599046" name="Group 6"/>
          <p:cNvGrpSpPr>
            <a:grpSpLocks/>
          </p:cNvGrpSpPr>
          <p:nvPr/>
        </p:nvGrpSpPr>
        <p:grpSpPr bwMode="auto">
          <a:xfrm>
            <a:off x="2667000" y="2057400"/>
            <a:ext cx="5957888" cy="684213"/>
            <a:chOff x="1338" y="1195"/>
            <a:chExt cx="3753" cy="431"/>
          </a:xfrm>
        </p:grpSpPr>
        <p:sp>
          <p:nvSpPr>
            <p:cNvPr id="599047" name="Rectangle 7"/>
            <p:cNvSpPr>
              <a:spLocks noChangeArrowheads="1"/>
            </p:cNvSpPr>
            <p:nvPr/>
          </p:nvSpPr>
          <p:spPr bwMode="auto">
            <a:xfrm>
              <a:off x="1338" y="1338"/>
              <a:ext cx="852" cy="288"/>
            </a:xfrm>
            <a:prstGeom prst="rect">
              <a:avLst/>
            </a:prstGeom>
            <a:noFill/>
            <a:ln w="9525">
              <a:noFill/>
              <a:miter lim="800000"/>
              <a:headEnd/>
              <a:tailEnd/>
            </a:ln>
            <a:effectLst/>
          </p:spPr>
          <p:txBody>
            <a:bodyPr wrap="none">
              <a:spAutoFit/>
            </a:bodyPr>
            <a:lstStyle/>
            <a:p>
              <a:r>
                <a:rPr kumimoji="1" lang="zh-CN" altLang="en-US" sz="2400"/>
                <a:t>（</a:t>
              </a:r>
              <a:r>
                <a:rPr kumimoji="1" lang="en-US" altLang="zh-CN" sz="2400" i="1"/>
                <a:t>T</a:t>
              </a:r>
              <a:r>
                <a:rPr kumimoji="1" lang="en-US" altLang="zh-CN" sz="2400" baseline="-25000"/>
                <a:t>1</a:t>
              </a:r>
              <a:r>
                <a:rPr kumimoji="1" lang="en-US" altLang="zh-CN" sz="2400" i="1"/>
                <a:t>V</a:t>
              </a:r>
              <a:r>
                <a:rPr kumimoji="1" lang="en-US" altLang="zh-CN" sz="2400" baseline="-25000"/>
                <a:t>1</a:t>
              </a:r>
              <a:r>
                <a:rPr kumimoji="1" lang="zh-CN" altLang="en-US" sz="2400"/>
                <a:t>）</a:t>
              </a:r>
            </a:p>
          </p:txBody>
        </p:sp>
        <p:sp>
          <p:nvSpPr>
            <p:cNvPr id="599048" name="Rectangle 8"/>
            <p:cNvSpPr>
              <a:spLocks noChangeArrowheads="1"/>
            </p:cNvSpPr>
            <p:nvPr/>
          </p:nvSpPr>
          <p:spPr bwMode="auto">
            <a:xfrm>
              <a:off x="3498" y="1330"/>
              <a:ext cx="852" cy="288"/>
            </a:xfrm>
            <a:prstGeom prst="rect">
              <a:avLst/>
            </a:prstGeom>
            <a:noFill/>
            <a:ln w="9525">
              <a:noFill/>
              <a:miter lim="800000"/>
              <a:headEnd/>
              <a:tailEnd/>
            </a:ln>
            <a:effectLst/>
          </p:spPr>
          <p:txBody>
            <a:bodyPr wrap="none">
              <a:spAutoFit/>
            </a:bodyPr>
            <a:lstStyle/>
            <a:p>
              <a:r>
                <a:rPr kumimoji="1" lang="zh-CN" altLang="en-US" sz="2400"/>
                <a:t>（</a:t>
              </a:r>
              <a:r>
                <a:rPr kumimoji="1" lang="en-US" altLang="zh-CN" sz="2400" i="1"/>
                <a:t>T</a:t>
              </a:r>
              <a:r>
                <a:rPr kumimoji="1" lang="en-US" altLang="zh-CN" sz="2400" baseline="-25000"/>
                <a:t>2</a:t>
              </a:r>
              <a:r>
                <a:rPr kumimoji="1" lang="en-US" altLang="zh-CN" sz="2400" i="1"/>
                <a:t>V</a:t>
              </a:r>
              <a:r>
                <a:rPr kumimoji="1" lang="en-US" altLang="zh-CN" sz="2400" baseline="-25000"/>
                <a:t>1</a:t>
              </a:r>
              <a:r>
                <a:rPr kumimoji="1" lang="zh-CN" altLang="en-US" sz="2400"/>
                <a:t>）</a:t>
              </a:r>
            </a:p>
          </p:txBody>
        </p:sp>
        <p:sp>
          <p:nvSpPr>
            <p:cNvPr id="599049" name="Line 9"/>
            <p:cNvSpPr>
              <a:spLocks noChangeShapeType="1"/>
            </p:cNvSpPr>
            <p:nvPr/>
          </p:nvSpPr>
          <p:spPr bwMode="auto">
            <a:xfrm>
              <a:off x="2394" y="1498"/>
              <a:ext cx="1104" cy="0"/>
            </a:xfrm>
            <a:prstGeom prst="line">
              <a:avLst/>
            </a:prstGeom>
            <a:noFill/>
            <a:ln w="28575">
              <a:solidFill>
                <a:schemeClr val="tx1"/>
              </a:solidFill>
              <a:round/>
              <a:headEnd/>
              <a:tailEnd type="stealth" w="lg" len="lg"/>
            </a:ln>
            <a:effectLst/>
          </p:spPr>
          <p:txBody>
            <a:bodyPr wrap="none" anchor="ctr"/>
            <a:lstStyle/>
            <a:p>
              <a:endParaRPr lang="zh-CN" altLang="en-US"/>
            </a:p>
          </p:txBody>
        </p:sp>
        <p:sp>
          <p:nvSpPr>
            <p:cNvPr id="599050" name="Rectangle 10"/>
            <p:cNvSpPr>
              <a:spLocks noChangeArrowheads="1"/>
            </p:cNvSpPr>
            <p:nvPr/>
          </p:nvSpPr>
          <p:spPr bwMode="auto">
            <a:xfrm>
              <a:off x="2381" y="1195"/>
              <a:ext cx="884" cy="288"/>
            </a:xfrm>
            <a:prstGeom prst="rect">
              <a:avLst/>
            </a:prstGeom>
            <a:noFill/>
            <a:ln w="9525">
              <a:noFill/>
              <a:miter lim="800000"/>
              <a:headEnd/>
              <a:tailEnd/>
            </a:ln>
            <a:effectLst/>
          </p:spPr>
          <p:txBody>
            <a:bodyPr wrap="none">
              <a:spAutoFit/>
            </a:bodyPr>
            <a:lstStyle/>
            <a:p>
              <a:pPr>
                <a:spcBef>
                  <a:spcPct val="50000"/>
                </a:spcBef>
              </a:pPr>
              <a:r>
                <a:rPr kumimoji="1" lang="zh-CN" altLang="en-US" sz="2400"/>
                <a:t>等体升温</a:t>
              </a:r>
            </a:p>
          </p:txBody>
        </p:sp>
        <p:sp>
          <p:nvSpPr>
            <p:cNvPr id="599051" name="Rectangle 11"/>
            <p:cNvSpPr>
              <a:spLocks noChangeArrowheads="1"/>
            </p:cNvSpPr>
            <p:nvPr/>
          </p:nvSpPr>
          <p:spPr bwMode="auto">
            <a:xfrm>
              <a:off x="4698" y="1330"/>
              <a:ext cx="393" cy="288"/>
            </a:xfrm>
            <a:prstGeom prst="rect">
              <a:avLst/>
            </a:prstGeom>
            <a:noFill/>
            <a:ln w="9525">
              <a:noFill/>
              <a:miter lim="800000"/>
              <a:headEnd/>
              <a:tailEnd/>
            </a:ln>
            <a:effectLst/>
          </p:spPr>
          <p:txBody>
            <a:bodyPr wrap="none">
              <a:spAutoFit/>
            </a:bodyPr>
            <a:lstStyle/>
            <a:p>
              <a:r>
                <a:rPr kumimoji="1" lang="en-US" altLang="zh-CN" sz="2400">
                  <a:sym typeface="Symbol" pitchFamily="18" charset="2"/>
                </a:rPr>
                <a:t></a:t>
              </a:r>
              <a:r>
                <a:rPr kumimoji="1" lang="en-US" altLang="zh-CN" sz="2400" i="1">
                  <a:sym typeface="Symbol" pitchFamily="18" charset="2"/>
                </a:rPr>
                <a:t>S</a:t>
              </a:r>
              <a:r>
                <a:rPr kumimoji="1" lang="en-US" altLang="zh-CN" sz="2400" baseline="-25000">
                  <a:sym typeface="Symbol" pitchFamily="18" charset="2"/>
                </a:rPr>
                <a:t>1</a:t>
              </a:r>
              <a:endParaRPr kumimoji="1" lang="en-US" altLang="zh-CN" sz="2400">
                <a:sym typeface="Symbol" pitchFamily="18" charset="2"/>
              </a:endParaRPr>
            </a:p>
          </p:txBody>
        </p:sp>
      </p:grpSp>
      <p:grpSp>
        <p:nvGrpSpPr>
          <p:cNvPr id="599052" name="Group 12"/>
          <p:cNvGrpSpPr>
            <a:grpSpLocks/>
          </p:cNvGrpSpPr>
          <p:nvPr/>
        </p:nvGrpSpPr>
        <p:grpSpPr bwMode="auto">
          <a:xfrm>
            <a:off x="2667000" y="2743200"/>
            <a:ext cx="6034088" cy="698500"/>
            <a:chOff x="1104" y="1713"/>
            <a:chExt cx="3801" cy="440"/>
          </a:xfrm>
        </p:grpSpPr>
        <p:sp>
          <p:nvSpPr>
            <p:cNvPr id="599053" name="Rectangle 13"/>
            <p:cNvSpPr>
              <a:spLocks noChangeArrowheads="1"/>
            </p:cNvSpPr>
            <p:nvPr/>
          </p:nvSpPr>
          <p:spPr bwMode="auto">
            <a:xfrm>
              <a:off x="1104" y="1856"/>
              <a:ext cx="852" cy="288"/>
            </a:xfrm>
            <a:prstGeom prst="rect">
              <a:avLst/>
            </a:prstGeom>
            <a:noFill/>
            <a:ln w="9525">
              <a:noFill/>
              <a:miter lim="800000"/>
              <a:headEnd/>
              <a:tailEnd/>
            </a:ln>
            <a:effectLst/>
          </p:spPr>
          <p:txBody>
            <a:bodyPr wrap="none">
              <a:spAutoFit/>
            </a:bodyPr>
            <a:lstStyle/>
            <a:p>
              <a:r>
                <a:rPr kumimoji="1" lang="zh-CN" altLang="en-US" sz="2400" dirty="0"/>
                <a:t>（</a:t>
              </a:r>
              <a:r>
                <a:rPr kumimoji="1" lang="en-US" altLang="zh-CN" sz="2400" i="1" dirty="0"/>
                <a:t>T</a:t>
              </a:r>
              <a:r>
                <a:rPr kumimoji="1" lang="en-US" altLang="zh-CN" sz="2400" baseline="-25000" dirty="0"/>
                <a:t>2</a:t>
              </a:r>
              <a:r>
                <a:rPr kumimoji="1" lang="en-US" altLang="zh-CN" sz="2400" i="1" dirty="0"/>
                <a:t>V</a:t>
              </a:r>
              <a:r>
                <a:rPr kumimoji="1" lang="en-US" altLang="zh-CN" sz="2400" baseline="-25000" dirty="0"/>
                <a:t>1</a:t>
              </a:r>
              <a:r>
                <a:rPr kumimoji="1" lang="zh-CN" altLang="en-US" sz="2400" dirty="0"/>
                <a:t>）</a:t>
              </a:r>
            </a:p>
          </p:txBody>
        </p:sp>
        <p:sp>
          <p:nvSpPr>
            <p:cNvPr id="599054" name="Rectangle 14"/>
            <p:cNvSpPr>
              <a:spLocks noChangeArrowheads="1"/>
            </p:cNvSpPr>
            <p:nvPr/>
          </p:nvSpPr>
          <p:spPr bwMode="auto">
            <a:xfrm>
              <a:off x="3264" y="1865"/>
              <a:ext cx="852" cy="288"/>
            </a:xfrm>
            <a:prstGeom prst="rect">
              <a:avLst/>
            </a:prstGeom>
            <a:noFill/>
            <a:ln w="9525">
              <a:noFill/>
              <a:miter lim="800000"/>
              <a:headEnd/>
              <a:tailEnd/>
            </a:ln>
            <a:effectLst/>
          </p:spPr>
          <p:txBody>
            <a:bodyPr wrap="none">
              <a:spAutoFit/>
            </a:bodyPr>
            <a:lstStyle/>
            <a:p>
              <a:r>
                <a:rPr kumimoji="1" lang="zh-CN" altLang="en-US" sz="2400"/>
                <a:t>（</a:t>
              </a:r>
              <a:r>
                <a:rPr kumimoji="1" lang="en-US" altLang="zh-CN" sz="2400" i="1"/>
                <a:t>T</a:t>
              </a:r>
              <a:r>
                <a:rPr kumimoji="1" lang="en-US" altLang="zh-CN" sz="2400" baseline="-25000"/>
                <a:t>2</a:t>
              </a:r>
              <a:r>
                <a:rPr kumimoji="1" lang="en-US" altLang="zh-CN" sz="2400" i="1"/>
                <a:t>V</a:t>
              </a:r>
              <a:r>
                <a:rPr kumimoji="1" lang="en-US" altLang="zh-CN" sz="2400" baseline="-25000"/>
                <a:t>2</a:t>
              </a:r>
              <a:r>
                <a:rPr kumimoji="1" lang="zh-CN" altLang="en-US" sz="2400"/>
                <a:t>）</a:t>
              </a:r>
            </a:p>
          </p:txBody>
        </p:sp>
        <p:sp>
          <p:nvSpPr>
            <p:cNvPr id="599055" name="Line 15"/>
            <p:cNvSpPr>
              <a:spLocks noChangeShapeType="1"/>
            </p:cNvSpPr>
            <p:nvPr/>
          </p:nvSpPr>
          <p:spPr bwMode="auto">
            <a:xfrm>
              <a:off x="2160" y="2016"/>
              <a:ext cx="1104" cy="0"/>
            </a:xfrm>
            <a:prstGeom prst="line">
              <a:avLst/>
            </a:prstGeom>
            <a:noFill/>
            <a:ln w="28575">
              <a:solidFill>
                <a:schemeClr val="tx1"/>
              </a:solidFill>
              <a:round/>
              <a:headEnd/>
              <a:tailEnd type="stealth" w="lg" len="lg"/>
            </a:ln>
            <a:effectLst/>
          </p:spPr>
          <p:txBody>
            <a:bodyPr wrap="none" anchor="ctr"/>
            <a:lstStyle/>
            <a:p>
              <a:endParaRPr lang="zh-CN" altLang="en-US"/>
            </a:p>
          </p:txBody>
        </p:sp>
        <p:sp>
          <p:nvSpPr>
            <p:cNvPr id="599056" name="Rectangle 16"/>
            <p:cNvSpPr>
              <a:spLocks noChangeArrowheads="1"/>
            </p:cNvSpPr>
            <p:nvPr/>
          </p:nvSpPr>
          <p:spPr bwMode="auto">
            <a:xfrm>
              <a:off x="2160" y="1713"/>
              <a:ext cx="884" cy="288"/>
            </a:xfrm>
            <a:prstGeom prst="rect">
              <a:avLst/>
            </a:prstGeom>
            <a:noFill/>
            <a:ln w="9525">
              <a:noFill/>
              <a:miter lim="800000"/>
              <a:headEnd/>
              <a:tailEnd/>
            </a:ln>
            <a:effectLst/>
          </p:spPr>
          <p:txBody>
            <a:bodyPr wrap="none">
              <a:spAutoFit/>
            </a:bodyPr>
            <a:lstStyle/>
            <a:p>
              <a:pPr>
                <a:spcBef>
                  <a:spcPct val="50000"/>
                </a:spcBef>
              </a:pPr>
              <a:r>
                <a:rPr kumimoji="1" lang="zh-CN" altLang="en-US" sz="2400"/>
                <a:t>等温膨胀</a:t>
              </a:r>
            </a:p>
          </p:txBody>
        </p:sp>
        <p:sp>
          <p:nvSpPr>
            <p:cNvPr id="599057" name="Rectangle 17"/>
            <p:cNvSpPr>
              <a:spLocks noChangeArrowheads="1"/>
            </p:cNvSpPr>
            <p:nvPr/>
          </p:nvSpPr>
          <p:spPr bwMode="auto">
            <a:xfrm>
              <a:off x="4512" y="1865"/>
              <a:ext cx="393" cy="288"/>
            </a:xfrm>
            <a:prstGeom prst="rect">
              <a:avLst/>
            </a:prstGeom>
            <a:noFill/>
            <a:ln w="9525">
              <a:noFill/>
              <a:miter lim="800000"/>
              <a:headEnd/>
              <a:tailEnd/>
            </a:ln>
            <a:effectLst/>
          </p:spPr>
          <p:txBody>
            <a:bodyPr wrap="none">
              <a:spAutoFit/>
            </a:bodyPr>
            <a:lstStyle/>
            <a:p>
              <a:r>
                <a:rPr kumimoji="1" lang="en-US" altLang="zh-CN" sz="2400">
                  <a:sym typeface="Symbol" pitchFamily="18" charset="2"/>
                </a:rPr>
                <a:t></a:t>
              </a:r>
              <a:r>
                <a:rPr kumimoji="1" lang="en-US" altLang="zh-CN" sz="2400" i="1">
                  <a:sym typeface="Symbol" pitchFamily="18" charset="2"/>
                </a:rPr>
                <a:t>S</a:t>
              </a:r>
              <a:r>
                <a:rPr kumimoji="1" lang="en-US" altLang="zh-CN" sz="2400" baseline="-25000">
                  <a:sym typeface="Symbol" pitchFamily="18" charset="2"/>
                </a:rPr>
                <a:t>2</a:t>
              </a:r>
            </a:p>
          </p:txBody>
        </p:sp>
      </p:grpSp>
      <p:graphicFrame>
        <p:nvGraphicFramePr>
          <p:cNvPr id="599058" name="Object 18"/>
          <p:cNvGraphicFramePr>
            <a:graphicFrameLocks noChangeAspect="1"/>
          </p:cNvGraphicFramePr>
          <p:nvPr/>
        </p:nvGraphicFramePr>
        <p:xfrm>
          <a:off x="990600" y="3670300"/>
          <a:ext cx="965200" cy="215900"/>
        </p:xfrm>
        <a:graphic>
          <a:graphicData uri="http://schemas.openxmlformats.org/presentationml/2006/ole">
            <mc:AlternateContent xmlns:mc="http://schemas.openxmlformats.org/markup-compatibility/2006">
              <mc:Choice xmlns:v="urn:schemas-microsoft-com:vml" Requires="v">
                <p:oleObj name="公式" r:id="rId2" imgW="965160" imgH="215640" progId="Equation.3">
                  <p:embed/>
                </p:oleObj>
              </mc:Choice>
              <mc:Fallback>
                <p:oleObj name="公式" r:id="rId2" imgW="965160" imgH="215640" progId="Equation.3">
                  <p:embed/>
                  <p:pic>
                    <p:nvPicPr>
                      <p:cNvPr id="599058"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670300"/>
                        <a:ext cx="9652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9059" name="Object 19"/>
          <p:cNvGraphicFramePr>
            <a:graphicFrameLocks noChangeAspect="1"/>
          </p:cNvGraphicFramePr>
          <p:nvPr/>
        </p:nvGraphicFramePr>
        <p:xfrm>
          <a:off x="990600" y="4212696"/>
          <a:ext cx="2266950" cy="442913"/>
        </p:xfrm>
        <a:graphic>
          <a:graphicData uri="http://schemas.openxmlformats.org/presentationml/2006/ole">
            <mc:AlternateContent xmlns:mc="http://schemas.openxmlformats.org/markup-compatibility/2006">
              <mc:Choice xmlns:v="urn:schemas-microsoft-com:vml" Requires="v">
                <p:oleObj name="公式" r:id="rId4" imgW="2273040" imgH="444240" progId="Equation.3">
                  <p:embed/>
                </p:oleObj>
              </mc:Choice>
              <mc:Fallback>
                <p:oleObj name="公式" r:id="rId4" imgW="2273040" imgH="444240" progId="Equation.3">
                  <p:embed/>
                  <p:pic>
                    <p:nvPicPr>
                      <p:cNvPr id="599059"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212696"/>
                        <a:ext cx="2266950"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9060" name="Object 20"/>
          <p:cNvGraphicFramePr>
            <a:graphicFrameLocks noChangeAspect="1"/>
          </p:cNvGraphicFramePr>
          <p:nvPr/>
        </p:nvGraphicFramePr>
        <p:xfrm>
          <a:off x="990600" y="4982105"/>
          <a:ext cx="2451100" cy="431800"/>
        </p:xfrm>
        <a:graphic>
          <a:graphicData uri="http://schemas.openxmlformats.org/presentationml/2006/ole">
            <mc:AlternateContent xmlns:mc="http://schemas.openxmlformats.org/markup-compatibility/2006">
              <mc:Choice xmlns:v="urn:schemas-microsoft-com:vml" Requires="v">
                <p:oleObj name="公式" r:id="rId6" imgW="2450880" imgH="431640" progId="Equation.3">
                  <p:embed/>
                </p:oleObj>
              </mc:Choice>
              <mc:Fallback>
                <p:oleObj name="公式" r:id="rId6" imgW="2450880" imgH="431640" progId="Equation.3">
                  <p:embed/>
                  <p:pic>
                    <p:nvPicPr>
                      <p:cNvPr id="59906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4982105"/>
                        <a:ext cx="24511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9061" name="Object 21"/>
          <p:cNvGraphicFramePr>
            <a:graphicFrameLocks noChangeAspect="1"/>
          </p:cNvGraphicFramePr>
          <p:nvPr/>
        </p:nvGraphicFramePr>
        <p:xfrm>
          <a:off x="990600" y="5740400"/>
          <a:ext cx="1536700" cy="431800"/>
        </p:xfrm>
        <a:graphic>
          <a:graphicData uri="http://schemas.openxmlformats.org/presentationml/2006/ole">
            <mc:AlternateContent xmlns:mc="http://schemas.openxmlformats.org/markup-compatibility/2006">
              <mc:Choice xmlns:v="urn:schemas-microsoft-com:vml" Requires="v">
                <p:oleObj name="公式" r:id="rId8" imgW="1536480" imgH="431640" progId="Equation.3">
                  <p:embed/>
                </p:oleObj>
              </mc:Choice>
              <mc:Fallback>
                <p:oleObj name="公式" r:id="rId8" imgW="1536480" imgH="431640" progId="Equation.3">
                  <p:embed/>
                  <p:pic>
                    <p:nvPicPr>
                      <p:cNvPr id="599061"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5740400"/>
                        <a:ext cx="15367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99046"/>
                                        </p:tgtEl>
                                        <p:attrNameLst>
                                          <p:attrName>style.visibility</p:attrName>
                                        </p:attrNameLst>
                                      </p:cBhvr>
                                      <p:to>
                                        <p:strVal val="visible"/>
                                      </p:to>
                                    </p:set>
                                    <p:animEffect transition="in" filter="wipe(left)">
                                      <p:cBhvr>
                                        <p:cTn id="7" dur="500"/>
                                        <p:tgtEl>
                                          <p:spTgt spid="5990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9052"/>
                                        </p:tgtEl>
                                        <p:attrNameLst>
                                          <p:attrName>style.visibility</p:attrName>
                                        </p:attrNameLst>
                                      </p:cBhvr>
                                      <p:to>
                                        <p:strVal val="visible"/>
                                      </p:to>
                                    </p:set>
                                    <p:animEffect transition="in" filter="wipe(left)">
                                      <p:cBhvr>
                                        <p:cTn id="12" dur="500"/>
                                        <p:tgtEl>
                                          <p:spTgt spid="59905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599058"/>
                                        </p:tgtEl>
                                        <p:attrNameLst>
                                          <p:attrName>style.visibility</p:attrName>
                                        </p:attrNameLst>
                                      </p:cBhvr>
                                      <p:to>
                                        <p:strVal val="visible"/>
                                      </p:to>
                                    </p:set>
                                    <p:animEffect transition="in" filter="strips(upRight)">
                                      <p:cBhvr>
                                        <p:cTn id="17" dur="500"/>
                                        <p:tgtEl>
                                          <p:spTgt spid="59905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599059"/>
                                        </p:tgtEl>
                                        <p:attrNameLst>
                                          <p:attrName>style.visibility</p:attrName>
                                        </p:attrNameLst>
                                      </p:cBhvr>
                                      <p:to>
                                        <p:strVal val="visible"/>
                                      </p:to>
                                    </p:set>
                                    <p:animEffect transition="in" filter="strips(upRight)">
                                      <p:cBhvr>
                                        <p:cTn id="22" dur="500"/>
                                        <p:tgtEl>
                                          <p:spTgt spid="59905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599060"/>
                                        </p:tgtEl>
                                        <p:attrNameLst>
                                          <p:attrName>style.visibility</p:attrName>
                                        </p:attrNameLst>
                                      </p:cBhvr>
                                      <p:to>
                                        <p:strVal val="visible"/>
                                      </p:to>
                                    </p:set>
                                    <p:animEffect transition="in" filter="strips(upRight)">
                                      <p:cBhvr>
                                        <p:cTn id="27" dur="500"/>
                                        <p:tgtEl>
                                          <p:spTgt spid="59906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599061"/>
                                        </p:tgtEl>
                                        <p:attrNameLst>
                                          <p:attrName>style.visibility</p:attrName>
                                        </p:attrNameLst>
                                      </p:cBhvr>
                                      <p:to>
                                        <p:strVal val="visible"/>
                                      </p:to>
                                    </p:set>
                                    <p:animEffect transition="in" filter="strips(upRight)">
                                      <p:cBhvr>
                                        <p:cTn id="32" dur="500"/>
                                        <p:tgtEl>
                                          <p:spTgt spid="599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type="title"/>
          </p:nvPr>
        </p:nvSpPr>
        <p:spPr/>
        <p:txBody>
          <a:bodyPr/>
          <a:lstStyle/>
          <a:p>
            <a:r>
              <a:rPr lang="en-US" altLang="zh-CN"/>
              <a:t>10.8 </a:t>
            </a:r>
            <a:r>
              <a:rPr lang="zh-CN" altLang="en-US"/>
              <a:t>热力学第二定律的统计意义</a:t>
            </a:r>
          </a:p>
        </p:txBody>
      </p:sp>
      <p:sp>
        <p:nvSpPr>
          <p:cNvPr id="21" name="灯片编号占位符 4"/>
          <p:cNvSpPr>
            <a:spLocks noGrp="1"/>
          </p:cNvSpPr>
          <p:nvPr>
            <p:ph type="sldNum" sz="quarter" idx="12"/>
          </p:nvPr>
        </p:nvSpPr>
        <p:spPr/>
        <p:txBody>
          <a:bodyPr/>
          <a:lstStyle/>
          <a:p>
            <a:fld id="{A3955FD2-884B-4D2A-B8F3-5849F2EEB650}" type="slidenum">
              <a:rPr lang="en-US" altLang="zh-CN"/>
              <a:pPr/>
              <a:t>90</a:t>
            </a:fld>
            <a:endParaRPr lang="en-US" altLang="zh-CN"/>
          </a:p>
        </p:txBody>
      </p:sp>
      <p:grpSp>
        <p:nvGrpSpPr>
          <p:cNvPr id="600067" name="Group 3"/>
          <p:cNvGrpSpPr>
            <a:grpSpLocks/>
          </p:cNvGrpSpPr>
          <p:nvPr/>
        </p:nvGrpSpPr>
        <p:grpSpPr bwMode="auto">
          <a:xfrm>
            <a:off x="1905000" y="1160462"/>
            <a:ext cx="6169025" cy="744538"/>
            <a:chOff x="1111" y="1966"/>
            <a:chExt cx="3886" cy="469"/>
          </a:xfrm>
        </p:grpSpPr>
        <p:sp>
          <p:nvSpPr>
            <p:cNvPr id="600068" name="Rectangle 4"/>
            <p:cNvSpPr>
              <a:spLocks noChangeArrowheads="1"/>
            </p:cNvSpPr>
            <p:nvPr/>
          </p:nvSpPr>
          <p:spPr bwMode="auto">
            <a:xfrm>
              <a:off x="1111" y="2147"/>
              <a:ext cx="852" cy="288"/>
            </a:xfrm>
            <a:prstGeom prst="rect">
              <a:avLst/>
            </a:prstGeom>
            <a:noFill/>
            <a:ln w="9525">
              <a:noFill/>
              <a:miter lim="800000"/>
              <a:headEnd/>
              <a:tailEnd/>
            </a:ln>
            <a:effectLst/>
          </p:spPr>
          <p:txBody>
            <a:bodyPr wrap="none">
              <a:spAutoFit/>
            </a:bodyPr>
            <a:lstStyle/>
            <a:p>
              <a:r>
                <a:rPr kumimoji="1" lang="zh-CN" altLang="en-US" sz="2400" dirty="0"/>
                <a:t>（</a:t>
              </a:r>
              <a:r>
                <a:rPr kumimoji="1" lang="en-US" altLang="zh-CN" sz="2400" i="1" dirty="0"/>
                <a:t>T</a:t>
              </a:r>
              <a:r>
                <a:rPr kumimoji="1" lang="en-US" altLang="zh-CN" sz="2400" baseline="-25000" dirty="0"/>
                <a:t>1</a:t>
              </a:r>
              <a:r>
                <a:rPr kumimoji="1" lang="en-US" altLang="zh-CN" sz="2400" i="1" dirty="0"/>
                <a:t>V</a:t>
              </a:r>
              <a:r>
                <a:rPr kumimoji="1" lang="en-US" altLang="zh-CN" sz="2400" baseline="-25000" dirty="0"/>
                <a:t>1</a:t>
              </a:r>
              <a:r>
                <a:rPr kumimoji="1" lang="zh-CN" altLang="en-US" sz="2400" dirty="0"/>
                <a:t>）</a:t>
              </a:r>
            </a:p>
          </p:txBody>
        </p:sp>
        <p:sp>
          <p:nvSpPr>
            <p:cNvPr id="600069" name="Rectangle 5"/>
            <p:cNvSpPr>
              <a:spLocks noChangeArrowheads="1"/>
            </p:cNvSpPr>
            <p:nvPr/>
          </p:nvSpPr>
          <p:spPr bwMode="auto">
            <a:xfrm>
              <a:off x="3404" y="2147"/>
              <a:ext cx="980" cy="288"/>
            </a:xfrm>
            <a:prstGeom prst="rect">
              <a:avLst/>
            </a:prstGeom>
            <a:noFill/>
            <a:ln w="9525">
              <a:noFill/>
              <a:miter lim="800000"/>
              <a:headEnd/>
              <a:tailEnd/>
            </a:ln>
            <a:effectLst/>
          </p:spPr>
          <p:txBody>
            <a:bodyPr wrap="none">
              <a:spAutoFit/>
            </a:bodyPr>
            <a:lstStyle/>
            <a:p>
              <a:r>
                <a:rPr kumimoji="1" lang="zh-CN" altLang="en-US" sz="2400"/>
                <a:t>（</a:t>
              </a:r>
              <a:r>
                <a:rPr kumimoji="1" lang="en-US" altLang="zh-CN" sz="2400" i="1"/>
                <a:t>T</a:t>
              </a:r>
              <a:r>
                <a:rPr kumimoji="1" lang="en-US" altLang="zh-CN" sz="2400" baseline="-25000"/>
                <a:t>1</a:t>
              </a:r>
              <a:r>
                <a:rPr kumimoji="1" lang="zh-CN" altLang="en-US" sz="2400" baseline="-25000"/>
                <a:t>，</a:t>
              </a:r>
              <a:r>
                <a:rPr kumimoji="1" lang="en-US" altLang="zh-CN" sz="2400" i="1"/>
                <a:t>V</a:t>
              </a:r>
              <a:r>
                <a:rPr kumimoji="1" lang="en-US" altLang="zh-CN" sz="2400" baseline="-25000"/>
                <a:t>2</a:t>
              </a:r>
              <a:r>
                <a:rPr kumimoji="1" lang="zh-CN" altLang="en-US" sz="2400"/>
                <a:t>）</a:t>
              </a:r>
            </a:p>
          </p:txBody>
        </p:sp>
        <p:sp>
          <p:nvSpPr>
            <p:cNvPr id="600070" name="Line 6"/>
            <p:cNvSpPr>
              <a:spLocks noChangeShapeType="1"/>
            </p:cNvSpPr>
            <p:nvPr/>
          </p:nvSpPr>
          <p:spPr bwMode="auto">
            <a:xfrm>
              <a:off x="2245" y="2296"/>
              <a:ext cx="1104" cy="0"/>
            </a:xfrm>
            <a:prstGeom prst="line">
              <a:avLst/>
            </a:prstGeom>
            <a:noFill/>
            <a:ln w="28575">
              <a:solidFill>
                <a:schemeClr val="tx1"/>
              </a:solidFill>
              <a:round/>
              <a:headEnd/>
              <a:tailEnd type="stealth" w="lg" len="lg"/>
            </a:ln>
            <a:effectLst/>
          </p:spPr>
          <p:txBody>
            <a:bodyPr wrap="none" anchor="ctr"/>
            <a:lstStyle/>
            <a:p>
              <a:endParaRPr lang="zh-CN" altLang="en-US"/>
            </a:p>
          </p:txBody>
        </p:sp>
        <p:sp>
          <p:nvSpPr>
            <p:cNvPr id="600071" name="Rectangle 7"/>
            <p:cNvSpPr>
              <a:spLocks noChangeArrowheads="1"/>
            </p:cNvSpPr>
            <p:nvPr/>
          </p:nvSpPr>
          <p:spPr bwMode="auto">
            <a:xfrm>
              <a:off x="2245" y="1966"/>
              <a:ext cx="884" cy="288"/>
            </a:xfrm>
            <a:prstGeom prst="rect">
              <a:avLst/>
            </a:prstGeom>
            <a:noFill/>
            <a:ln w="9525">
              <a:noFill/>
              <a:miter lim="800000"/>
              <a:headEnd/>
              <a:tailEnd/>
            </a:ln>
            <a:effectLst/>
          </p:spPr>
          <p:txBody>
            <a:bodyPr wrap="none">
              <a:spAutoFit/>
            </a:bodyPr>
            <a:lstStyle/>
            <a:p>
              <a:pPr>
                <a:spcBef>
                  <a:spcPct val="50000"/>
                </a:spcBef>
              </a:pPr>
              <a:r>
                <a:rPr kumimoji="1" lang="zh-CN" altLang="en-US" sz="2400"/>
                <a:t>等温膨胀</a:t>
              </a:r>
            </a:p>
          </p:txBody>
        </p:sp>
        <p:sp>
          <p:nvSpPr>
            <p:cNvPr id="600072" name="Rectangle 8"/>
            <p:cNvSpPr>
              <a:spLocks noChangeArrowheads="1"/>
            </p:cNvSpPr>
            <p:nvPr/>
          </p:nvSpPr>
          <p:spPr bwMode="auto">
            <a:xfrm>
              <a:off x="4604" y="2147"/>
              <a:ext cx="393" cy="288"/>
            </a:xfrm>
            <a:prstGeom prst="rect">
              <a:avLst/>
            </a:prstGeom>
            <a:noFill/>
            <a:ln w="9525">
              <a:noFill/>
              <a:miter lim="800000"/>
              <a:headEnd/>
              <a:tailEnd/>
            </a:ln>
            <a:effectLst/>
          </p:spPr>
          <p:txBody>
            <a:bodyPr wrap="none">
              <a:spAutoFit/>
            </a:bodyPr>
            <a:lstStyle/>
            <a:p>
              <a:r>
                <a:rPr kumimoji="1" lang="en-US" altLang="zh-CN" sz="2400">
                  <a:sym typeface="Symbol" pitchFamily="18" charset="2"/>
                </a:rPr>
                <a:t></a:t>
              </a:r>
              <a:r>
                <a:rPr kumimoji="1" lang="en-US" altLang="zh-CN" sz="2400" i="1">
                  <a:sym typeface="Symbol" pitchFamily="18" charset="2"/>
                </a:rPr>
                <a:t>S</a:t>
              </a:r>
              <a:r>
                <a:rPr kumimoji="1" lang="en-US" altLang="zh-CN" sz="2400" baseline="-25000">
                  <a:sym typeface="Symbol" pitchFamily="18" charset="2"/>
                </a:rPr>
                <a:t>1</a:t>
              </a:r>
              <a:endParaRPr kumimoji="1" lang="en-US" altLang="zh-CN" sz="2400">
                <a:sym typeface="Symbol" pitchFamily="18" charset="2"/>
              </a:endParaRPr>
            </a:p>
          </p:txBody>
        </p:sp>
      </p:grpSp>
      <p:grpSp>
        <p:nvGrpSpPr>
          <p:cNvPr id="600073" name="Group 9"/>
          <p:cNvGrpSpPr>
            <a:grpSpLocks/>
          </p:cNvGrpSpPr>
          <p:nvPr/>
        </p:nvGrpSpPr>
        <p:grpSpPr bwMode="auto">
          <a:xfrm>
            <a:off x="1905000" y="1828800"/>
            <a:ext cx="6110288" cy="687388"/>
            <a:chOff x="1140" y="2700"/>
            <a:chExt cx="3849" cy="433"/>
          </a:xfrm>
        </p:grpSpPr>
        <p:sp>
          <p:nvSpPr>
            <p:cNvPr id="600074" name="Rectangle 10"/>
            <p:cNvSpPr>
              <a:spLocks noChangeArrowheads="1"/>
            </p:cNvSpPr>
            <p:nvPr/>
          </p:nvSpPr>
          <p:spPr bwMode="auto">
            <a:xfrm>
              <a:off x="1140" y="2843"/>
              <a:ext cx="852" cy="288"/>
            </a:xfrm>
            <a:prstGeom prst="rect">
              <a:avLst/>
            </a:prstGeom>
            <a:noFill/>
            <a:ln w="9525">
              <a:noFill/>
              <a:miter lim="800000"/>
              <a:headEnd/>
              <a:tailEnd/>
            </a:ln>
            <a:effectLst/>
          </p:spPr>
          <p:txBody>
            <a:bodyPr wrap="none">
              <a:spAutoFit/>
            </a:bodyPr>
            <a:lstStyle/>
            <a:p>
              <a:r>
                <a:rPr kumimoji="1" lang="zh-CN" altLang="en-US" sz="2400" dirty="0"/>
                <a:t>（</a:t>
              </a:r>
              <a:r>
                <a:rPr kumimoji="1" lang="en-US" altLang="zh-CN" sz="2400" i="1" dirty="0"/>
                <a:t>T</a:t>
              </a:r>
              <a:r>
                <a:rPr kumimoji="1" lang="en-US" altLang="zh-CN" sz="2400" baseline="-25000" dirty="0"/>
                <a:t>1</a:t>
              </a:r>
              <a:r>
                <a:rPr kumimoji="1" lang="en-US" altLang="zh-CN" sz="2400" i="1" dirty="0"/>
                <a:t>V</a:t>
              </a:r>
              <a:r>
                <a:rPr kumimoji="1" lang="en-US" altLang="zh-CN" sz="2400" baseline="-25000" dirty="0"/>
                <a:t>2</a:t>
              </a:r>
              <a:r>
                <a:rPr kumimoji="1" lang="zh-CN" altLang="en-US" sz="2400" dirty="0"/>
                <a:t>）</a:t>
              </a:r>
            </a:p>
          </p:txBody>
        </p:sp>
        <p:sp>
          <p:nvSpPr>
            <p:cNvPr id="600075" name="Rectangle 11"/>
            <p:cNvSpPr>
              <a:spLocks noChangeArrowheads="1"/>
            </p:cNvSpPr>
            <p:nvPr/>
          </p:nvSpPr>
          <p:spPr bwMode="auto">
            <a:xfrm>
              <a:off x="3348" y="2845"/>
              <a:ext cx="1076" cy="288"/>
            </a:xfrm>
            <a:prstGeom prst="rect">
              <a:avLst/>
            </a:prstGeom>
            <a:noFill/>
            <a:ln w="9525">
              <a:noFill/>
              <a:miter lim="800000"/>
              <a:headEnd/>
              <a:tailEnd/>
            </a:ln>
            <a:effectLst/>
          </p:spPr>
          <p:txBody>
            <a:bodyPr wrap="none">
              <a:spAutoFit/>
            </a:bodyPr>
            <a:lstStyle/>
            <a:p>
              <a:r>
                <a:rPr kumimoji="1" lang="en-US" altLang="zh-CN" sz="2400"/>
                <a:t>  </a:t>
              </a:r>
              <a:r>
                <a:rPr kumimoji="1" lang="zh-CN" altLang="en-US" sz="2400"/>
                <a:t>（</a:t>
              </a:r>
              <a:r>
                <a:rPr kumimoji="1" lang="en-US" altLang="zh-CN" sz="2400" i="1"/>
                <a:t>T</a:t>
              </a:r>
              <a:r>
                <a:rPr kumimoji="1" lang="en-US" altLang="zh-CN" sz="2400" baseline="-25000"/>
                <a:t>2</a:t>
              </a:r>
              <a:r>
                <a:rPr kumimoji="1" lang="zh-CN" altLang="en-US" sz="2400" baseline="-25000"/>
                <a:t>，</a:t>
              </a:r>
              <a:r>
                <a:rPr kumimoji="1" lang="en-US" altLang="zh-CN" sz="2400" i="1"/>
                <a:t>V</a:t>
              </a:r>
              <a:r>
                <a:rPr kumimoji="1" lang="en-US" altLang="zh-CN" sz="2400" baseline="-25000"/>
                <a:t>2</a:t>
              </a:r>
              <a:r>
                <a:rPr kumimoji="1" lang="zh-CN" altLang="en-US" sz="2400"/>
                <a:t>）</a:t>
              </a:r>
            </a:p>
          </p:txBody>
        </p:sp>
        <p:sp>
          <p:nvSpPr>
            <p:cNvPr id="600076" name="Line 12"/>
            <p:cNvSpPr>
              <a:spLocks noChangeShapeType="1"/>
            </p:cNvSpPr>
            <p:nvPr/>
          </p:nvSpPr>
          <p:spPr bwMode="auto">
            <a:xfrm>
              <a:off x="2244" y="3003"/>
              <a:ext cx="1104" cy="0"/>
            </a:xfrm>
            <a:prstGeom prst="line">
              <a:avLst/>
            </a:prstGeom>
            <a:noFill/>
            <a:ln w="28575">
              <a:solidFill>
                <a:schemeClr val="tx1"/>
              </a:solidFill>
              <a:round/>
              <a:headEnd/>
              <a:tailEnd type="stealth" w="lg" len="lg"/>
            </a:ln>
            <a:effectLst/>
          </p:spPr>
          <p:txBody>
            <a:bodyPr wrap="none" anchor="ctr"/>
            <a:lstStyle/>
            <a:p>
              <a:endParaRPr lang="zh-CN" altLang="en-US"/>
            </a:p>
          </p:txBody>
        </p:sp>
        <p:sp>
          <p:nvSpPr>
            <p:cNvPr id="600077" name="Rectangle 13"/>
            <p:cNvSpPr>
              <a:spLocks noChangeArrowheads="1"/>
            </p:cNvSpPr>
            <p:nvPr/>
          </p:nvSpPr>
          <p:spPr bwMode="auto">
            <a:xfrm>
              <a:off x="2244" y="2700"/>
              <a:ext cx="884" cy="288"/>
            </a:xfrm>
            <a:prstGeom prst="rect">
              <a:avLst/>
            </a:prstGeom>
            <a:noFill/>
            <a:ln w="9525">
              <a:noFill/>
              <a:miter lim="800000"/>
              <a:headEnd/>
              <a:tailEnd/>
            </a:ln>
            <a:effectLst/>
          </p:spPr>
          <p:txBody>
            <a:bodyPr wrap="none">
              <a:spAutoFit/>
            </a:bodyPr>
            <a:lstStyle/>
            <a:p>
              <a:pPr>
                <a:spcBef>
                  <a:spcPct val="50000"/>
                </a:spcBef>
              </a:pPr>
              <a:r>
                <a:rPr kumimoji="1" lang="zh-CN" altLang="en-US" sz="2400"/>
                <a:t>等体升温</a:t>
              </a:r>
            </a:p>
          </p:txBody>
        </p:sp>
        <p:sp>
          <p:nvSpPr>
            <p:cNvPr id="600078" name="Rectangle 14"/>
            <p:cNvSpPr>
              <a:spLocks noChangeArrowheads="1"/>
            </p:cNvSpPr>
            <p:nvPr/>
          </p:nvSpPr>
          <p:spPr bwMode="auto">
            <a:xfrm>
              <a:off x="4596" y="2845"/>
              <a:ext cx="393" cy="288"/>
            </a:xfrm>
            <a:prstGeom prst="rect">
              <a:avLst/>
            </a:prstGeom>
            <a:noFill/>
            <a:ln w="9525">
              <a:noFill/>
              <a:miter lim="800000"/>
              <a:headEnd/>
              <a:tailEnd/>
            </a:ln>
            <a:effectLst/>
          </p:spPr>
          <p:txBody>
            <a:bodyPr wrap="none">
              <a:spAutoFit/>
            </a:bodyPr>
            <a:lstStyle/>
            <a:p>
              <a:r>
                <a:rPr kumimoji="1" lang="en-US" altLang="zh-CN" sz="2400">
                  <a:sym typeface="Symbol" pitchFamily="18" charset="2"/>
                </a:rPr>
                <a:t></a:t>
              </a:r>
              <a:r>
                <a:rPr kumimoji="1" lang="en-US" altLang="zh-CN" sz="2400" i="1">
                  <a:sym typeface="Symbol" pitchFamily="18" charset="2"/>
                </a:rPr>
                <a:t>S</a:t>
              </a:r>
              <a:r>
                <a:rPr kumimoji="1" lang="en-US" altLang="zh-CN" sz="2400" baseline="-25000">
                  <a:sym typeface="Symbol" pitchFamily="18" charset="2"/>
                </a:rPr>
                <a:t>2</a:t>
              </a:r>
            </a:p>
          </p:txBody>
        </p:sp>
      </p:grpSp>
      <p:sp>
        <p:nvSpPr>
          <p:cNvPr id="600079" name="Text Box 15"/>
          <p:cNvSpPr txBox="1">
            <a:spLocks noChangeArrowheads="1"/>
          </p:cNvSpPr>
          <p:nvPr/>
        </p:nvSpPr>
        <p:spPr bwMode="auto">
          <a:xfrm>
            <a:off x="409575" y="1219200"/>
            <a:ext cx="1728788" cy="457200"/>
          </a:xfrm>
          <a:prstGeom prst="rect">
            <a:avLst/>
          </a:prstGeom>
          <a:noFill/>
          <a:ln w="9525">
            <a:noFill/>
            <a:miter lim="800000"/>
            <a:headEnd/>
            <a:tailEnd/>
          </a:ln>
          <a:effectLst/>
        </p:spPr>
        <p:txBody>
          <a:bodyPr>
            <a:spAutoFit/>
          </a:bodyPr>
          <a:lstStyle/>
          <a:p>
            <a:pPr>
              <a:spcBef>
                <a:spcPct val="50000"/>
              </a:spcBef>
            </a:pPr>
            <a:r>
              <a:rPr kumimoji="1" lang="zh-CN" altLang="en-US" sz="2400"/>
              <a:t>解法二</a:t>
            </a:r>
          </a:p>
        </p:txBody>
      </p:sp>
      <p:graphicFrame>
        <p:nvGraphicFramePr>
          <p:cNvPr id="600080" name="Object 16"/>
          <p:cNvGraphicFramePr>
            <a:graphicFrameLocks noChangeAspect="1"/>
          </p:cNvGraphicFramePr>
          <p:nvPr/>
        </p:nvGraphicFramePr>
        <p:xfrm>
          <a:off x="1066800" y="2692400"/>
          <a:ext cx="2397125" cy="431800"/>
        </p:xfrm>
        <a:graphic>
          <a:graphicData uri="http://schemas.openxmlformats.org/presentationml/2006/ole">
            <mc:AlternateContent xmlns:mc="http://schemas.openxmlformats.org/markup-compatibility/2006">
              <mc:Choice xmlns:v="urn:schemas-microsoft-com:vml" Requires="v">
                <p:oleObj name="公式" r:id="rId2" imgW="2387520" imgH="431640" progId="Equation.3">
                  <p:embed/>
                </p:oleObj>
              </mc:Choice>
              <mc:Fallback>
                <p:oleObj name="公式" r:id="rId2" imgW="2387520" imgH="431640" progId="Equation.3">
                  <p:embed/>
                  <p:pic>
                    <p:nvPicPr>
                      <p:cNvPr id="60008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692400"/>
                        <a:ext cx="239712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81" name="Object 17"/>
          <p:cNvGraphicFramePr>
            <a:graphicFrameLocks noChangeAspect="1"/>
          </p:cNvGraphicFramePr>
          <p:nvPr/>
        </p:nvGraphicFramePr>
        <p:xfrm>
          <a:off x="1066800" y="3367088"/>
          <a:ext cx="2281238" cy="442912"/>
        </p:xfrm>
        <a:graphic>
          <a:graphicData uri="http://schemas.openxmlformats.org/presentationml/2006/ole">
            <mc:AlternateContent xmlns:mc="http://schemas.openxmlformats.org/markup-compatibility/2006">
              <mc:Choice xmlns:v="urn:schemas-microsoft-com:vml" Requires="v">
                <p:oleObj name="公式" r:id="rId4" imgW="2286000" imgH="444240" progId="Equation.3">
                  <p:embed/>
                </p:oleObj>
              </mc:Choice>
              <mc:Fallback>
                <p:oleObj name="公式" r:id="rId4" imgW="2286000" imgH="444240" progId="Equation.3">
                  <p:embed/>
                  <p:pic>
                    <p:nvPicPr>
                      <p:cNvPr id="600081"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367088"/>
                        <a:ext cx="2281238"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82" name="Object 18"/>
          <p:cNvGraphicFramePr>
            <a:graphicFrameLocks noChangeAspect="1"/>
          </p:cNvGraphicFramePr>
          <p:nvPr/>
        </p:nvGraphicFramePr>
        <p:xfrm>
          <a:off x="4724400" y="2997200"/>
          <a:ext cx="2286000" cy="431800"/>
        </p:xfrm>
        <a:graphic>
          <a:graphicData uri="http://schemas.openxmlformats.org/presentationml/2006/ole">
            <mc:AlternateContent xmlns:mc="http://schemas.openxmlformats.org/markup-compatibility/2006">
              <mc:Choice xmlns:v="urn:schemas-microsoft-com:vml" Requires="v">
                <p:oleObj name="公式" r:id="rId6" imgW="2286000" imgH="431640" progId="Equation.3">
                  <p:embed/>
                </p:oleObj>
              </mc:Choice>
              <mc:Fallback>
                <p:oleObj name="公式" r:id="rId6" imgW="2286000" imgH="431640" progId="Equation.3">
                  <p:embed/>
                  <p:pic>
                    <p:nvPicPr>
                      <p:cNvPr id="600082"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2997200"/>
                        <a:ext cx="22860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 Box 3"/>
          <p:cNvSpPr txBox="1">
            <a:spLocks noChangeArrowheads="1"/>
          </p:cNvSpPr>
          <p:nvPr/>
        </p:nvSpPr>
        <p:spPr bwMode="auto">
          <a:xfrm>
            <a:off x="409575" y="4343400"/>
            <a:ext cx="1800225" cy="457200"/>
          </a:xfrm>
          <a:prstGeom prst="rect">
            <a:avLst/>
          </a:prstGeom>
          <a:noFill/>
          <a:ln w="9525">
            <a:noFill/>
            <a:miter lim="800000"/>
            <a:headEnd/>
            <a:tailEnd/>
          </a:ln>
          <a:effectLst/>
        </p:spPr>
        <p:txBody>
          <a:bodyPr>
            <a:spAutoFit/>
          </a:bodyPr>
          <a:lstStyle/>
          <a:p>
            <a:pPr>
              <a:spcBef>
                <a:spcPct val="50000"/>
              </a:spcBef>
            </a:pPr>
            <a:r>
              <a:rPr kumimoji="1" lang="zh-CN" altLang="en-US" sz="2400" dirty="0"/>
              <a:t>解法三</a:t>
            </a:r>
          </a:p>
        </p:txBody>
      </p:sp>
      <p:graphicFrame>
        <p:nvGraphicFramePr>
          <p:cNvPr id="22" name="Object 4"/>
          <p:cNvGraphicFramePr>
            <a:graphicFrameLocks noChangeAspect="1"/>
          </p:cNvGraphicFramePr>
          <p:nvPr/>
        </p:nvGraphicFramePr>
        <p:xfrm>
          <a:off x="2286000" y="4419600"/>
          <a:ext cx="1695450" cy="392113"/>
        </p:xfrm>
        <a:graphic>
          <a:graphicData uri="http://schemas.openxmlformats.org/presentationml/2006/ole">
            <mc:AlternateContent xmlns:mc="http://schemas.openxmlformats.org/markup-compatibility/2006">
              <mc:Choice xmlns:v="urn:schemas-microsoft-com:vml" Requires="v">
                <p:oleObj name="公式" r:id="rId8" imgW="1701720" imgH="393480" progId="Equation.3">
                  <p:embed/>
                </p:oleObj>
              </mc:Choice>
              <mc:Fallback>
                <p:oleObj name="公式" r:id="rId8" imgW="1701720" imgH="393480" progId="Equation.3">
                  <p:embed/>
                  <p:pic>
                    <p:nvPicPr>
                      <p:cNvPr id="22"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0" y="4419600"/>
                        <a:ext cx="169545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5"/>
          <p:cNvGraphicFramePr>
            <a:graphicFrameLocks noChangeAspect="1"/>
          </p:cNvGraphicFramePr>
          <p:nvPr/>
        </p:nvGraphicFramePr>
        <p:xfrm>
          <a:off x="2514600" y="5092700"/>
          <a:ext cx="1482725" cy="417513"/>
        </p:xfrm>
        <a:graphic>
          <a:graphicData uri="http://schemas.openxmlformats.org/presentationml/2006/ole">
            <mc:AlternateContent xmlns:mc="http://schemas.openxmlformats.org/markup-compatibility/2006">
              <mc:Choice xmlns:v="urn:schemas-microsoft-com:vml" Requires="v">
                <p:oleObj name="公式" r:id="rId10" imgW="1485720" imgH="419040" progId="Equation.3">
                  <p:embed/>
                </p:oleObj>
              </mc:Choice>
              <mc:Fallback>
                <p:oleObj name="公式" r:id="rId10" imgW="1485720" imgH="419040" progId="Equation.3">
                  <p:embed/>
                  <p:pic>
                    <p:nvPicPr>
                      <p:cNvPr id="23"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4600" y="5092700"/>
                        <a:ext cx="1482725"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6"/>
          <p:cNvGraphicFramePr>
            <a:graphicFrameLocks noChangeAspect="1"/>
          </p:cNvGraphicFramePr>
          <p:nvPr/>
        </p:nvGraphicFramePr>
        <p:xfrm>
          <a:off x="2514600" y="5791200"/>
          <a:ext cx="1320800" cy="431800"/>
        </p:xfrm>
        <a:graphic>
          <a:graphicData uri="http://schemas.openxmlformats.org/presentationml/2006/ole">
            <mc:AlternateContent xmlns:mc="http://schemas.openxmlformats.org/markup-compatibility/2006">
              <mc:Choice xmlns:v="urn:schemas-microsoft-com:vml" Requires="v">
                <p:oleObj name="公式" r:id="rId12" imgW="1320480" imgH="431640" progId="Equation.3">
                  <p:embed/>
                </p:oleObj>
              </mc:Choice>
              <mc:Fallback>
                <p:oleObj name="公式" r:id="rId12" imgW="1320480" imgH="431640" progId="Equation.3">
                  <p:embed/>
                  <p:pic>
                    <p:nvPicPr>
                      <p:cNvPr id="24"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14600" y="5791200"/>
                        <a:ext cx="13208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00067"/>
                                        </p:tgtEl>
                                        <p:attrNameLst>
                                          <p:attrName>style.visibility</p:attrName>
                                        </p:attrNameLst>
                                      </p:cBhvr>
                                      <p:to>
                                        <p:strVal val="visible"/>
                                      </p:to>
                                    </p:set>
                                    <p:animEffect transition="in" filter="wipe(left)">
                                      <p:cBhvr>
                                        <p:cTn id="7" dur="500"/>
                                        <p:tgtEl>
                                          <p:spTgt spid="6000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00073"/>
                                        </p:tgtEl>
                                        <p:attrNameLst>
                                          <p:attrName>style.visibility</p:attrName>
                                        </p:attrNameLst>
                                      </p:cBhvr>
                                      <p:to>
                                        <p:strVal val="visible"/>
                                      </p:to>
                                    </p:set>
                                    <p:animEffect transition="in" filter="wipe(left)">
                                      <p:cBhvr>
                                        <p:cTn id="12" dur="500"/>
                                        <p:tgtEl>
                                          <p:spTgt spid="60007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600080"/>
                                        </p:tgtEl>
                                        <p:attrNameLst>
                                          <p:attrName>style.visibility</p:attrName>
                                        </p:attrNameLst>
                                      </p:cBhvr>
                                      <p:to>
                                        <p:strVal val="visible"/>
                                      </p:to>
                                    </p:set>
                                    <p:animEffect transition="in" filter="strips(upRight)">
                                      <p:cBhvr>
                                        <p:cTn id="17" dur="500"/>
                                        <p:tgtEl>
                                          <p:spTgt spid="60008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600081"/>
                                        </p:tgtEl>
                                        <p:attrNameLst>
                                          <p:attrName>style.visibility</p:attrName>
                                        </p:attrNameLst>
                                      </p:cBhvr>
                                      <p:to>
                                        <p:strVal val="visible"/>
                                      </p:to>
                                    </p:set>
                                    <p:animEffect transition="in" filter="strips(upRight)">
                                      <p:cBhvr>
                                        <p:cTn id="22" dur="500"/>
                                        <p:tgtEl>
                                          <p:spTgt spid="60008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600082"/>
                                        </p:tgtEl>
                                        <p:attrNameLst>
                                          <p:attrName>style.visibility</p:attrName>
                                        </p:attrNameLst>
                                      </p:cBhvr>
                                      <p:to>
                                        <p:strVal val="visible"/>
                                      </p:to>
                                    </p:set>
                                    <p:animEffect transition="in" filter="strips(upRight)">
                                      <p:cBhvr>
                                        <p:cTn id="27" dur="500"/>
                                        <p:tgtEl>
                                          <p:spTgt spid="60008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linds(vertical)">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strips(upRigh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strips(upRight)">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strips(upRight)">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r>
              <a:rPr lang="zh-CN" altLang="en-US"/>
              <a:t>第</a:t>
            </a:r>
            <a:r>
              <a:rPr lang="en-US" altLang="zh-CN"/>
              <a:t>10</a:t>
            </a:r>
            <a:r>
              <a:rPr lang="zh-CN" altLang="en-US"/>
              <a:t>章 气体分子运动论</a:t>
            </a:r>
          </a:p>
        </p:txBody>
      </p:sp>
      <p:sp>
        <p:nvSpPr>
          <p:cNvPr id="7" name="灯片编号占位符 4"/>
          <p:cNvSpPr>
            <a:spLocks noGrp="1"/>
          </p:cNvSpPr>
          <p:nvPr>
            <p:ph type="sldNum" sz="quarter" idx="12"/>
          </p:nvPr>
        </p:nvSpPr>
        <p:spPr/>
        <p:txBody>
          <a:bodyPr/>
          <a:lstStyle/>
          <a:p>
            <a:fld id="{9831F60C-D419-4FF5-AB80-6BB8890C7D23}" type="slidenum">
              <a:rPr lang="en-US" altLang="zh-CN"/>
              <a:pPr/>
              <a:t>91</a:t>
            </a:fld>
            <a:endParaRPr lang="en-US" altLang="zh-CN"/>
          </a:p>
        </p:txBody>
      </p:sp>
      <p:sp>
        <p:nvSpPr>
          <p:cNvPr id="602115" name="Rectangle 3"/>
          <p:cNvSpPr>
            <a:spLocks noChangeArrowheads="1"/>
          </p:cNvSpPr>
          <p:nvPr/>
        </p:nvSpPr>
        <p:spPr bwMode="auto">
          <a:xfrm>
            <a:off x="762000" y="1600200"/>
            <a:ext cx="793750" cy="457200"/>
          </a:xfrm>
          <a:prstGeom prst="rect">
            <a:avLst/>
          </a:prstGeom>
          <a:solidFill>
            <a:srgbClr val="CCFFCC">
              <a:alpha val="80000"/>
            </a:srgbClr>
          </a:solidFill>
          <a:ln w="9525">
            <a:noFill/>
            <a:miter lim="800000"/>
            <a:headEnd/>
            <a:tailEnd/>
          </a:ln>
          <a:effectLst/>
        </p:spPr>
        <p:txBody>
          <a:bodyPr wrap="none" anchor="ctr">
            <a:spAutoFit/>
          </a:bodyPr>
          <a:lstStyle/>
          <a:p>
            <a:r>
              <a:rPr lang="zh-CN" altLang="en-US" sz="2400">
                <a:latin typeface="Arial" charset="0"/>
              </a:rPr>
              <a:t>作业</a:t>
            </a:r>
          </a:p>
        </p:txBody>
      </p:sp>
      <p:sp>
        <p:nvSpPr>
          <p:cNvPr id="602116" name="Rectangle 4"/>
          <p:cNvSpPr>
            <a:spLocks noChangeArrowheads="1"/>
          </p:cNvSpPr>
          <p:nvPr/>
        </p:nvSpPr>
        <p:spPr bwMode="auto">
          <a:xfrm>
            <a:off x="1143000" y="2362200"/>
            <a:ext cx="5213350" cy="457200"/>
          </a:xfrm>
          <a:prstGeom prst="rect">
            <a:avLst/>
          </a:prstGeom>
          <a:noFill/>
          <a:ln w="9525">
            <a:noFill/>
            <a:miter lim="800000"/>
            <a:headEnd/>
            <a:tailEnd/>
          </a:ln>
          <a:effectLst/>
        </p:spPr>
        <p:txBody>
          <a:bodyPr wrap="none" anchor="ctr">
            <a:spAutoFit/>
          </a:bodyPr>
          <a:lstStyle/>
          <a:p>
            <a:r>
              <a:rPr lang="en-US" altLang="zh-CN" sz="2400" dirty="0">
                <a:solidFill>
                  <a:srgbClr val="0000CC"/>
                </a:solidFill>
              </a:rPr>
              <a:t>10-1</a:t>
            </a:r>
            <a:r>
              <a:rPr lang="zh-CN" altLang="en-US" sz="2400" dirty="0">
                <a:solidFill>
                  <a:srgbClr val="0000CC"/>
                </a:solidFill>
              </a:rPr>
              <a:t>、</a:t>
            </a:r>
            <a:r>
              <a:rPr lang="en-US" altLang="zh-CN" sz="2400" dirty="0">
                <a:solidFill>
                  <a:srgbClr val="0000CC"/>
                </a:solidFill>
              </a:rPr>
              <a:t>10-2</a:t>
            </a:r>
            <a:r>
              <a:rPr lang="zh-CN" altLang="en-US" sz="2400" dirty="0">
                <a:solidFill>
                  <a:srgbClr val="0000CC"/>
                </a:solidFill>
              </a:rPr>
              <a:t>、</a:t>
            </a:r>
            <a:r>
              <a:rPr lang="en-US" altLang="zh-CN" sz="2400" dirty="0">
                <a:solidFill>
                  <a:srgbClr val="0000CC"/>
                </a:solidFill>
              </a:rPr>
              <a:t>10-5</a:t>
            </a:r>
            <a:r>
              <a:rPr lang="zh-CN" altLang="en-US" sz="2400" dirty="0">
                <a:solidFill>
                  <a:srgbClr val="0000CC"/>
                </a:solidFill>
              </a:rPr>
              <a:t>、</a:t>
            </a:r>
            <a:r>
              <a:rPr lang="en-US" altLang="zh-CN" sz="2400" dirty="0">
                <a:solidFill>
                  <a:srgbClr val="FF3300"/>
                </a:solidFill>
              </a:rPr>
              <a:t>10-6</a:t>
            </a:r>
            <a:r>
              <a:rPr lang="zh-CN" altLang="en-US" sz="2400" dirty="0">
                <a:solidFill>
                  <a:srgbClr val="FF3300"/>
                </a:solidFill>
              </a:rPr>
              <a:t>、</a:t>
            </a:r>
            <a:r>
              <a:rPr lang="en-US" altLang="zh-CN" sz="2400" dirty="0">
                <a:solidFill>
                  <a:srgbClr val="FF3300"/>
                </a:solidFill>
              </a:rPr>
              <a:t>10-7</a:t>
            </a:r>
            <a:r>
              <a:rPr lang="zh-CN" altLang="en-US" sz="2400" dirty="0">
                <a:solidFill>
                  <a:srgbClr val="FF3300"/>
                </a:solidFill>
              </a:rPr>
              <a:t>、</a:t>
            </a:r>
            <a:r>
              <a:rPr lang="en-US" altLang="zh-CN" sz="2400" dirty="0"/>
              <a:t>10-11</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质朴">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vanPPT">
      <a:majorFont>
        <a:latin typeface="Georgia"/>
        <a:ea typeface="华文行楷"/>
        <a:cs typeface=""/>
      </a:majorFont>
      <a:minorFont>
        <a:latin typeface="Times New Roman"/>
        <a:ea typeface="宋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4265</TotalTime>
  <Words>4659</Words>
  <Application>Microsoft Macintosh PowerPoint</Application>
  <PresentationFormat>全屏显示(4:3)</PresentationFormat>
  <Paragraphs>590</Paragraphs>
  <Slides>91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5</vt:i4>
      </vt:variant>
      <vt:variant>
        <vt:lpstr>幻灯片标题</vt:lpstr>
      </vt:variant>
      <vt:variant>
        <vt:i4>91</vt:i4>
      </vt:variant>
    </vt:vector>
  </HeadingPairs>
  <TitlesOfParts>
    <vt:vector size="105" baseType="lpstr">
      <vt:lpstr>华文行楷</vt:lpstr>
      <vt:lpstr>宋体</vt:lpstr>
      <vt:lpstr>Arial</vt:lpstr>
      <vt:lpstr>Book Antiqua</vt:lpstr>
      <vt:lpstr>Georgia</vt:lpstr>
      <vt:lpstr>Times New Roman</vt:lpstr>
      <vt:lpstr>Wingdings</vt:lpstr>
      <vt:lpstr>Wingdings 3</vt:lpstr>
      <vt:lpstr>质朴</vt:lpstr>
      <vt:lpstr>Document</vt:lpstr>
      <vt:lpstr>公式</vt:lpstr>
      <vt:lpstr>Equation</vt:lpstr>
      <vt:lpstr>文档</vt:lpstr>
      <vt:lpstr>Image</vt:lpstr>
      <vt:lpstr>第10章 气体分子运动论</vt:lpstr>
      <vt:lpstr>10.1 气体动理论的基本概念</vt:lpstr>
      <vt:lpstr>10.1 气体动理论的基本概念</vt:lpstr>
      <vt:lpstr>10.1 气体动理论的基本概念</vt:lpstr>
      <vt:lpstr>10.1 气体动理论的基本概念</vt:lpstr>
      <vt:lpstr>10.1 气体动理论的基本概念</vt:lpstr>
      <vt:lpstr>10.1 气体动理论的基本概念</vt:lpstr>
      <vt:lpstr>10.1 气体动理论的基本概念</vt:lpstr>
      <vt:lpstr>10.1 气体动理论的基本概念</vt:lpstr>
      <vt:lpstr>10.1 气体动理论的基本概念</vt:lpstr>
      <vt:lpstr>10.1 气体动理论的基本概念</vt:lpstr>
      <vt:lpstr>10.2 理想气体的压强与温度的微观解释</vt:lpstr>
      <vt:lpstr>10.2 理想气体的压强与温度的微观解释</vt:lpstr>
      <vt:lpstr>10.2 理想气体的压强与温度的微观解释</vt:lpstr>
      <vt:lpstr>10.2 理想气体的压强与温度的微观解释</vt:lpstr>
      <vt:lpstr>10.2 理想气体的压强与温度的微观解释</vt:lpstr>
      <vt:lpstr>10.2 理想气体的压强与温度的微观解释</vt:lpstr>
      <vt:lpstr>10.2 理想气体的压强与温度的微观解释</vt:lpstr>
      <vt:lpstr>10.2 理想气体的压强与温度的微观解释</vt:lpstr>
      <vt:lpstr>10.2 理想气体的压强与温度的微观解释</vt:lpstr>
      <vt:lpstr>10.2 理想气体的压强与温度的微观解释</vt:lpstr>
      <vt:lpstr>10.2 理想气体的压强与温度的微观解释</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10.3 能量均分原理（气体的内能）</vt:lpstr>
      <vt:lpstr>第10章 气体分子运动论</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10.4 麦克斯韦速率分布</vt:lpstr>
      <vt:lpstr>第10章 气体分子运动论</vt:lpstr>
      <vt:lpstr>10.5 真实气体范德瓦尔斯方程（简介）</vt:lpstr>
      <vt:lpstr>10.5 真实气体范德瓦尔斯方程（简介）</vt:lpstr>
      <vt:lpstr>10.5 真实气体范德瓦尔斯方程（简介）</vt:lpstr>
      <vt:lpstr>10.5 真实气体范德瓦尔斯方程（简介）</vt:lpstr>
      <vt:lpstr>10.6 气体分子的平均自由程和碰撞频率</vt:lpstr>
      <vt:lpstr>10.6 气体分子的平均自由程和碰撞频率</vt:lpstr>
      <vt:lpstr>10.6 气体分子的平均自由程和碰撞频率</vt:lpstr>
      <vt:lpstr>10.6 气体分子的平均自由程和碰撞频率</vt:lpstr>
      <vt:lpstr>10.7 气体的输运现象（简介） </vt:lpstr>
      <vt:lpstr>10.7 气体的输运现象（简介） </vt:lpstr>
      <vt:lpstr>10.7 气体的输运现象（简介） </vt:lpstr>
      <vt:lpstr>10.7 气体的输运现象（简介） </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10.8 热力学第二定律的统计意义</vt:lpstr>
      <vt:lpstr>第10章 气体分子运动论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气体分子运动论</dc:title>
  <dc:creator>S.Q. Wu</dc:creator>
  <cp:lastModifiedBy>ZhangZS</cp:lastModifiedBy>
  <cp:revision>2343</cp:revision>
  <cp:lastPrinted>2022-05-16T09:34:08Z</cp:lastPrinted>
  <dcterms:created xsi:type="dcterms:W3CDTF">2010-09-14T09:01:38Z</dcterms:created>
  <dcterms:modified xsi:type="dcterms:W3CDTF">2022-05-16T09:47:24Z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