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99" r:id="rId3"/>
    <p:sldId id="486" r:id="rId5"/>
    <p:sldId id="258" r:id="rId6"/>
    <p:sldId id="623" r:id="rId7"/>
    <p:sldId id="624" r:id="rId8"/>
    <p:sldId id="718" r:id="rId9"/>
    <p:sldId id="719" r:id="rId10"/>
    <p:sldId id="625" r:id="rId11"/>
    <p:sldId id="626" r:id="rId12"/>
    <p:sldId id="627" r:id="rId13"/>
    <p:sldId id="628" r:id="rId14"/>
    <p:sldId id="629" r:id="rId15"/>
    <p:sldId id="694" r:id="rId16"/>
    <p:sldId id="617" r:id="rId17"/>
    <p:sldId id="618" r:id="rId18"/>
    <p:sldId id="619" r:id="rId19"/>
    <p:sldId id="622" r:id="rId20"/>
    <p:sldId id="528" r:id="rId21"/>
    <p:sldId id="332" r:id="rId22"/>
    <p:sldId id="521" r:id="rId23"/>
    <p:sldId id="500" r:id="rId24"/>
    <p:sldId id="502" r:id="rId25"/>
    <p:sldId id="503" r:id="rId26"/>
    <p:sldId id="504" r:id="rId27"/>
    <p:sldId id="505" r:id="rId28"/>
    <p:sldId id="506" r:id="rId29"/>
    <p:sldId id="507" r:id="rId30"/>
    <p:sldId id="508" r:id="rId31"/>
    <p:sldId id="509" r:id="rId32"/>
    <p:sldId id="510" r:id="rId33"/>
    <p:sldId id="511" r:id="rId34"/>
    <p:sldId id="512" r:id="rId35"/>
    <p:sldId id="513" r:id="rId36"/>
    <p:sldId id="514" r:id="rId37"/>
    <p:sldId id="515" r:id="rId38"/>
    <p:sldId id="516" r:id="rId39"/>
    <p:sldId id="529" r:id="rId40"/>
    <p:sldId id="530" r:id="rId41"/>
    <p:sldId id="388" r:id="rId42"/>
    <p:sldId id="699" r:id="rId43"/>
    <p:sldId id="700" r:id="rId44"/>
    <p:sldId id="717" r:id="rId45"/>
    <p:sldId id="713" r:id="rId46"/>
    <p:sldId id="714" r:id="rId47"/>
    <p:sldId id="715" r:id="rId48"/>
    <p:sldId id="716" r:id="rId49"/>
    <p:sldId id="358" r:id="rId50"/>
    <p:sldId id="359" r:id="rId51"/>
    <p:sldId id="360" r:id="rId52"/>
    <p:sldId id="361" r:id="rId53"/>
    <p:sldId id="701" r:id="rId54"/>
    <p:sldId id="702" r:id="rId55"/>
    <p:sldId id="703" r:id="rId56"/>
    <p:sldId id="704" r:id="rId57"/>
    <p:sldId id="705" r:id="rId58"/>
    <p:sldId id="706" r:id="rId59"/>
    <p:sldId id="707" r:id="rId60"/>
    <p:sldId id="708" r:id="rId61"/>
    <p:sldId id="276" r:id="rId62"/>
  </p:sldIdLst>
  <p:sldSz cx="12192000" cy="6858000"/>
  <p:notesSz cx="7099300" cy="10234295"/>
  <p:custDataLst>
    <p:tags r:id="rId6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ngsoft" initials="k" lastIdx="0"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7F7FBF"/>
    <a:srgbClr val="3366FF"/>
    <a:srgbClr val="FFFFFF"/>
    <a:srgbClr val="FF3300"/>
    <a:srgbClr val="99FF33"/>
    <a:srgbClr val="FFFF99"/>
    <a:srgbClr val="FF9900"/>
    <a:srgbClr val="00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71" autoAdjust="0"/>
    <p:restoredTop sz="96366" autoAdjust="0"/>
  </p:normalViewPr>
  <p:slideViewPr>
    <p:cSldViewPr showGuides="1">
      <p:cViewPr varScale="1">
        <p:scale>
          <a:sx n="74" d="100"/>
          <a:sy n="74" d="100"/>
        </p:scale>
        <p:origin x="45" y="735"/>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howGuides="1">
      <p:cViewPr varScale="1">
        <p:scale>
          <a:sx n="28" d="100"/>
          <a:sy n="28" d="100"/>
        </p:scale>
        <p:origin x="-1262" y="-72"/>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tags" Target="tags/tag8.xml"/><Relationship Id="rId66" Type="http://schemas.openxmlformats.org/officeDocument/2006/relationships/commentAuthors" Target="commentAuthors.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1.emf"/><Relationship Id="rId8" Type="http://schemas.openxmlformats.org/officeDocument/2006/relationships/image" Target="../media/image10.emf"/><Relationship Id="rId7" Type="http://schemas.openxmlformats.org/officeDocument/2006/relationships/image" Target="../media/image9.emf"/><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 Id="rId3" Type="http://schemas.openxmlformats.org/officeDocument/2006/relationships/image" Target="../media/image5.emf"/><Relationship Id="rId2" Type="http://schemas.openxmlformats.org/officeDocument/2006/relationships/image" Target="../media/image4.emf"/><Relationship Id="rId10" Type="http://schemas.openxmlformats.org/officeDocument/2006/relationships/image" Target="../media/image12.e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7" Type="http://schemas.openxmlformats.org/officeDocument/2006/relationships/image" Target="../media/image20.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7" Type="http://schemas.openxmlformats.org/officeDocument/2006/relationships/image" Target="../media/image27.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7" Type="http://schemas.openxmlformats.org/officeDocument/2006/relationships/image" Target="../media/image20.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10.vml.rels><?xml version="1.0" encoding="UTF-8" standalone="yes"?>
<Relationships xmlns="http://schemas.openxmlformats.org/package/2006/relationships"><Relationship Id="rId7" Type="http://schemas.openxmlformats.org/officeDocument/2006/relationships/image" Target="../media/image27.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54.wmf"/><Relationship Id="rId7" Type="http://schemas.openxmlformats.org/officeDocument/2006/relationships/image" Target="../media/image53.wmf"/><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wmf"/><Relationship Id="rId3" Type="http://schemas.openxmlformats.org/officeDocument/2006/relationships/image" Target="../media/image33.wmf"/><Relationship Id="rId2" Type="http://schemas.openxmlformats.org/officeDocument/2006/relationships/image" Target="../media/image49.wmf"/><Relationship Id="rId1" Type="http://schemas.openxmlformats.org/officeDocument/2006/relationships/image" Target="../media/image38.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57.wmf"/><Relationship Id="rId3" Type="http://schemas.openxmlformats.org/officeDocument/2006/relationships/image" Target="../media/image56.wmf"/><Relationship Id="rId2" Type="http://schemas.openxmlformats.org/officeDocument/2006/relationships/image" Target="../media/image33.wmf"/><Relationship Id="rId1" Type="http://schemas.openxmlformats.org/officeDocument/2006/relationships/image" Target="../media/image55.wmf"/></Relationships>
</file>

<file path=ppt/drawings/_rels/vmlDrawing14.vml.rels><?xml version="1.0" encoding="UTF-8" standalone="yes"?>
<Relationships xmlns="http://schemas.openxmlformats.org/package/2006/relationships"><Relationship Id="rId5" Type="http://schemas.openxmlformats.org/officeDocument/2006/relationships/image" Target="../media/image56.wmf"/><Relationship Id="rId4" Type="http://schemas.openxmlformats.org/officeDocument/2006/relationships/image" Target="../media/image60.wmf"/><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3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s>
</file>

<file path=ppt/drawings/_rels/vmlDrawing16.vml.rels><?xml version="1.0" encoding="UTF-8" standalone="yes"?>
<Relationships xmlns="http://schemas.openxmlformats.org/package/2006/relationships"><Relationship Id="rId5" Type="http://schemas.openxmlformats.org/officeDocument/2006/relationships/image" Target="../media/image68.wmf"/><Relationship Id="rId4" Type="http://schemas.openxmlformats.org/officeDocument/2006/relationships/image" Target="../media/image67.wmf"/><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71.wmf"/><Relationship Id="rId3" Type="http://schemas.openxmlformats.org/officeDocument/2006/relationships/image" Target="../media/image70.wmf"/><Relationship Id="rId2" Type="http://schemas.openxmlformats.org/officeDocument/2006/relationships/image" Target="../media/image33.wmf"/><Relationship Id="rId1" Type="http://schemas.openxmlformats.org/officeDocument/2006/relationships/image" Target="../media/image69.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2.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78.wmf"/><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88.wmf"/><Relationship Id="rId1" Type="http://schemas.openxmlformats.org/officeDocument/2006/relationships/image" Target="../media/image87.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26.vml.rels><?xml version="1.0" encoding="UTF-8" standalone="yes"?>
<Relationships xmlns="http://schemas.openxmlformats.org/package/2006/relationships"><Relationship Id="rId4" Type="http://schemas.openxmlformats.org/officeDocument/2006/relationships/image" Target="../media/image95.wmf"/><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s>
</file>

<file path=ppt/drawings/_rels/vmlDrawing27.vml.rels><?xml version="1.0" encoding="UTF-8" standalone="yes"?>
<Relationships xmlns="http://schemas.openxmlformats.org/package/2006/relationships"><Relationship Id="rId5" Type="http://schemas.openxmlformats.org/officeDocument/2006/relationships/image" Target="../media/image100.emf"/><Relationship Id="rId4" Type="http://schemas.openxmlformats.org/officeDocument/2006/relationships/image" Target="../media/image99.emf"/><Relationship Id="rId3" Type="http://schemas.openxmlformats.org/officeDocument/2006/relationships/image" Target="../media/image98.emf"/><Relationship Id="rId2" Type="http://schemas.openxmlformats.org/officeDocument/2006/relationships/image" Target="../media/image97.emf"/><Relationship Id="rId1" Type="http://schemas.openxmlformats.org/officeDocument/2006/relationships/image" Target="../media/image96.w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109.emf"/><Relationship Id="rId8" Type="http://schemas.openxmlformats.org/officeDocument/2006/relationships/image" Target="../media/image108.emf"/><Relationship Id="rId7" Type="http://schemas.openxmlformats.org/officeDocument/2006/relationships/image" Target="../media/image107.emf"/><Relationship Id="rId6" Type="http://schemas.openxmlformats.org/officeDocument/2006/relationships/image" Target="../media/image106.emf"/><Relationship Id="rId5" Type="http://schemas.openxmlformats.org/officeDocument/2006/relationships/image" Target="../media/image105.emf"/><Relationship Id="rId4" Type="http://schemas.openxmlformats.org/officeDocument/2006/relationships/image" Target="../media/image104.emf"/><Relationship Id="rId3" Type="http://schemas.openxmlformats.org/officeDocument/2006/relationships/image" Target="../media/image103.emf"/><Relationship Id="rId2" Type="http://schemas.openxmlformats.org/officeDocument/2006/relationships/image" Target="../media/image102.emf"/><Relationship Id="rId1" Type="http://schemas.openxmlformats.org/officeDocument/2006/relationships/image" Target="../media/image101.emf"/></Relationships>
</file>

<file path=ppt/drawings/_rels/vmlDrawing29.vml.rels><?xml version="1.0" encoding="UTF-8" standalone="yes"?>
<Relationships xmlns="http://schemas.openxmlformats.org/package/2006/relationships"><Relationship Id="rId7" Type="http://schemas.openxmlformats.org/officeDocument/2006/relationships/image" Target="../media/image115.emf"/><Relationship Id="rId6" Type="http://schemas.openxmlformats.org/officeDocument/2006/relationships/image" Target="../media/image114.emf"/><Relationship Id="rId5" Type="http://schemas.openxmlformats.org/officeDocument/2006/relationships/image" Target="../media/image113.emf"/><Relationship Id="rId4" Type="http://schemas.openxmlformats.org/officeDocument/2006/relationships/image" Target="../media/image112.emf"/><Relationship Id="rId3" Type="http://schemas.openxmlformats.org/officeDocument/2006/relationships/image" Target="../media/image111.emf"/><Relationship Id="rId2" Type="http://schemas.openxmlformats.org/officeDocument/2006/relationships/image" Target="../media/image110.emf"/><Relationship Id="rId1" Type="http://schemas.openxmlformats.org/officeDocument/2006/relationships/image" Target="../media/image101.e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123.emf"/><Relationship Id="rId8" Type="http://schemas.openxmlformats.org/officeDocument/2006/relationships/image" Target="../media/image122.emf"/><Relationship Id="rId7" Type="http://schemas.openxmlformats.org/officeDocument/2006/relationships/image" Target="../media/image121.emf"/><Relationship Id="rId6" Type="http://schemas.openxmlformats.org/officeDocument/2006/relationships/image" Target="../media/image120.emf"/><Relationship Id="rId5" Type="http://schemas.openxmlformats.org/officeDocument/2006/relationships/image" Target="../media/image119.emf"/><Relationship Id="rId4" Type="http://schemas.openxmlformats.org/officeDocument/2006/relationships/image" Target="../media/image118.emf"/><Relationship Id="rId3" Type="http://schemas.openxmlformats.org/officeDocument/2006/relationships/image" Target="../media/image117.emf"/><Relationship Id="rId2" Type="http://schemas.openxmlformats.org/officeDocument/2006/relationships/image" Target="../media/image116.emf"/><Relationship Id="rId13" Type="http://schemas.openxmlformats.org/officeDocument/2006/relationships/image" Target="../media/image127.emf"/><Relationship Id="rId12" Type="http://schemas.openxmlformats.org/officeDocument/2006/relationships/image" Target="../media/image126.emf"/><Relationship Id="rId11" Type="http://schemas.openxmlformats.org/officeDocument/2006/relationships/image" Target="../media/image125.emf"/><Relationship Id="rId10" Type="http://schemas.openxmlformats.org/officeDocument/2006/relationships/image" Target="../media/image124.emf"/><Relationship Id="rId1" Type="http://schemas.openxmlformats.org/officeDocument/2006/relationships/image" Target="../media/image101.emf"/></Relationships>
</file>

<file path=ppt/drawings/_rels/vmlDrawing31.vml.rels><?xml version="1.0" encoding="UTF-8" standalone="yes"?>
<Relationships xmlns="http://schemas.openxmlformats.org/package/2006/relationships"><Relationship Id="rId9" Type="http://schemas.openxmlformats.org/officeDocument/2006/relationships/image" Target="../media/image136.emf"/><Relationship Id="rId8" Type="http://schemas.openxmlformats.org/officeDocument/2006/relationships/image" Target="../media/image135.emf"/><Relationship Id="rId7" Type="http://schemas.openxmlformats.org/officeDocument/2006/relationships/image" Target="../media/image134.emf"/><Relationship Id="rId6" Type="http://schemas.openxmlformats.org/officeDocument/2006/relationships/image" Target="../media/image133.emf"/><Relationship Id="rId5" Type="http://schemas.openxmlformats.org/officeDocument/2006/relationships/image" Target="../media/image132.emf"/><Relationship Id="rId4" Type="http://schemas.openxmlformats.org/officeDocument/2006/relationships/image" Target="../media/image131.emf"/><Relationship Id="rId3" Type="http://schemas.openxmlformats.org/officeDocument/2006/relationships/image" Target="../media/image130.emf"/><Relationship Id="rId2" Type="http://schemas.openxmlformats.org/officeDocument/2006/relationships/image" Target="../media/image129.emf"/><Relationship Id="rId11" Type="http://schemas.openxmlformats.org/officeDocument/2006/relationships/image" Target="../media/image138.emf"/><Relationship Id="rId10" Type="http://schemas.openxmlformats.org/officeDocument/2006/relationships/image" Target="../media/image137.emf"/><Relationship Id="rId1" Type="http://schemas.openxmlformats.org/officeDocument/2006/relationships/image" Target="../media/image128.emf"/></Relationships>
</file>

<file path=ppt/drawings/_rels/vmlDrawing32.vml.rels><?xml version="1.0" encoding="UTF-8" standalone="yes"?>
<Relationships xmlns="http://schemas.openxmlformats.org/package/2006/relationships"><Relationship Id="rId9" Type="http://schemas.openxmlformats.org/officeDocument/2006/relationships/image" Target="../media/image147.emf"/><Relationship Id="rId8" Type="http://schemas.openxmlformats.org/officeDocument/2006/relationships/image" Target="../media/image146.emf"/><Relationship Id="rId7" Type="http://schemas.openxmlformats.org/officeDocument/2006/relationships/image" Target="../media/image145.emf"/><Relationship Id="rId6" Type="http://schemas.openxmlformats.org/officeDocument/2006/relationships/image" Target="../media/image144.emf"/><Relationship Id="rId5" Type="http://schemas.openxmlformats.org/officeDocument/2006/relationships/image" Target="../media/image143.emf"/><Relationship Id="rId4" Type="http://schemas.openxmlformats.org/officeDocument/2006/relationships/image" Target="../media/image142.emf"/><Relationship Id="rId3" Type="http://schemas.openxmlformats.org/officeDocument/2006/relationships/image" Target="../media/image141.emf"/><Relationship Id="rId2" Type="http://schemas.openxmlformats.org/officeDocument/2006/relationships/image" Target="../media/image140.emf"/><Relationship Id="rId1" Type="http://schemas.openxmlformats.org/officeDocument/2006/relationships/image" Target="../media/image139.emf"/></Relationships>
</file>

<file path=ppt/drawings/_rels/vmlDrawing33.vml.rels><?xml version="1.0" encoding="UTF-8" standalone="yes"?>
<Relationships xmlns="http://schemas.openxmlformats.org/package/2006/relationships"><Relationship Id="rId9" Type="http://schemas.openxmlformats.org/officeDocument/2006/relationships/image" Target="../media/image156.emf"/><Relationship Id="rId8" Type="http://schemas.openxmlformats.org/officeDocument/2006/relationships/image" Target="../media/image155.emf"/><Relationship Id="rId7" Type="http://schemas.openxmlformats.org/officeDocument/2006/relationships/image" Target="../media/image154.emf"/><Relationship Id="rId6" Type="http://schemas.openxmlformats.org/officeDocument/2006/relationships/image" Target="../media/image153.emf"/><Relationship Id="rId5" Type="http://schemas.openxmlformats.org/officeDocument/2006/relationships/image" Target="../media/image152.emf"/><Relationship Id="rId4" Type="http://schemas.openxmlformats.org/officeDocument/2006/relationships/image" Target="../media/image151.emf"/><Relationship Id="rId3" Type="http://schemas.openxmlformats.org/officeDocument/2006/relationships/image" Target="../media/image150.emf"/><Relationship Id="rId2" Type="http://schemas.openxmlformats.org/officeDocument/2006/relationships/image" Target="../media/image149.emf"/><Relationship Id="rId13" Type="http://schemas.openxmlformats.org/officeDocument/2006/relationships/image" Target="../media/image160.emf"/><Relationship Id="rId12" Type="http://schemas.openxmlformats.org/officeDocument/2006/relationships/image" Target="../media/image159.emf"/><Relationship Id="rId11" Type="http://schemas.openxmlformats.org/officeDocument/2006/relationships/image" Target="../media/image158.emf"/><Relationship Id="rId10" Type="http://schemas.openxmlformats.org/officeDocument/2006/relationships/image" Target="../media/image157.emf"/><Relationship Id="rId1" Type="http://schemas.openxmlformats.org/officeDocument/2006/relationships/image" Target="../media/image148.emf"/></Relationships>
</file>

<file path=ppt/drawings/_rels/vmlDrawing34.vml.rels><?xml version="1.0" encoding="UTF-8" standalone="yes"?>
<Relationships xmlns="http://schemas.openxmlformats.org/package/2006/relationships"><Relationship Id="rId9" Type="http://schemas.openxmlformats.org/officeDocument/2006/relationships/image" Target="../media/image169.emf"/><Relationship Id="rId8" Type="http://schemas.openxmlformats.org/officeDocument/2006/relationships/image" Target="../media/image168.emf"/><Relationship Id="rId7" Type="http://schemas.openxmlformats.org/officeDocument/2006/relationships/image" Target="../media/image167.emf"/><Relationship Id="rId6" Type="http://schemas.openxmlformats.org/officeDocument/2006/relationships/image" Target="../media/image166.emf"/><Relationship Id="rId5" Type="http://schemas.openxmlformats.org/officeDocument/2006/relationships/image" Target="../media/image165.emf"/><Relationship Id="rId4" Type="http://schemas.openxmlformats.org/officeDocument/2006/relationships/image" Target="../media/image164.emf"/><Relationship Id="rId3" Type="http://schemas.openxmlformats.org/officeDocument/2006/relationships/image" Target="../media/image163.emf"/><Relationship Id="rId2" Type="http://schemas.openxmlformats.org/officeDocument/2006/relationships/image" Target="../media/image162.emf"/><Relationship Id="rId1" Type="http://schemas.openxmlformats.org/officeDocument/2006/relationships/image" Target="../media/image16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l" eaLnBrk="1" hangingPunct="1">
              <a:defRPr sz="1300"/>
            </a:lvl1pPr>
          </a:lstStyle>
          <a:p>
            <a:pPr>
              <a:defRPr/>
            </a:pPr>
            <a:endParaRPr lang="en-US" altLang="zh-CN"/>
          </a:p>
        </p:txBody>
      </p:sp>
      <p:sp>
        <p:nvSpPr>
          <p:cNvPr id="21507" name="Rectangle 3"/>
          <p:cNvSpPr>
            <a:spLocks noGrp="1" noChangeArrowheads="1"/>
          </p:cNvSpPr>
          <p:nvPr>
            <p:ph type="dt" idx="1"/>
          </p:nvPr>
        </p:nvSpPr>
        <p:spPr bwMode="auto">
          <a:xfrm>
            <a:off x="4022937" y="0"/>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eaLnBrk="1" hangingPunct="1">
              <a:defRPr sz="1300"/>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9" name="Rectangle 5"/>
          <p:cNvSpPr>
            <a:spLocks noGrp="1" noChangeArrowheads="1"/>
          </p:cNvSpPr>
          <p:nvPr>
            <p:ph type="body" sz="quarter" idx="3"/>
          </p:nvPr>
        </p:nvSpPr>
        <p:spPr bwMode="auto">
          <a:xfrm>
            <a:off x="946574" y="4861441"/>
            <a:ext cx="5206153" cy="4605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1510" name="Rectangle 6"/>
          <p:cNvSpPr>
            <a:spLocks noGrp="1" noChangeArrowheads="1"/>
          </p:cNvSpPr>
          <p:nvPr>
            <p:ph type="ftr" sz="quarter" idx="4"/>
          </p:nvPr>
        </p:nvSpPr>
        <p:spPr bwMode="auto">
          <a:xfrm>
            <a:off x="0" y="9722882"/>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l" eaLnBrk="1" hangingPunct="1">
              <a:defRPr sz="1300"/>
            </a:lvl1pPr>
          </a:lstStyle>
          <a:p>
            <a:pPr>
              <a:defRPr/>
            </a:pPr>
            <a:endParaRPr lang="en-US" altLang="zh-CN"/>
          </a:p>
        </p:txBody>
      </p:sp>
      <p:sp>
        <p:nvSpPr>
          <p:cNvPr id="21511" name="Rectangle 7"/>
          <p:cNvSpPr>
            <a:spLocks noGrp="1" noChangeArrowheads="1"/>
          </p:cNvSpPr>
          <p:nvPr>
            <p:ph type="sldNum" sz="quarter" idx="5"/>
          </p:nvPr>
        </p:nvSpPr>
        <p:spPr bwMode="auto">
          <a:xfrm>
            <a:off x="4022937" y="9722882"/>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eaLnBrk="1" hangingPunct="1">
              <a:defRPr sz="1300"/>
            </a:lvl1pPr>
          </a:lstStyle>
          <a:p>
            <a:pPr>
              <a:defRPr/>
            </a:pPr>
            <a:fld id="{15885289-4832-46C1-B355-6FB86A8D593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这讲，我们来具体讨论点估计问题。</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F32AC2-5CA0-41E2-900C-4A9051C0A65C}" type="slidenum">
              <a:rPr kumimoji="1"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F32AC2-5CA0-41E2-900C-4A9051C0A65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A079521-0288-4C32-AD3E-7173F2029AB9}"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通俗地说，这个定理就是，在试验不变的条件下，重复试验多次，随机事件的频率近似于它的概率。偶然中包含着某种必然。</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r>
              <a:rPr lang="zh-CN" altLang="en-US" dirty="0"/>
              <a:t>大数定律研究的是随机现象统计规律性的一类定理，</a:t>
            </a:r>
            <a:endParaRPr lang="en-US" altLang="zh-CN" dirty="0"/>
          </a:p>
          <a:p>
            <a:r>
              <a:rPr lang="zh-CN" altLang="en-US" dirty="0"/>
              <a:t>当我们大量重复某一相同的实验的时候，其最后的实验结果可能会稳定在某一数值附近。</a:t>
            </a:r>
            <a:endParaRPr lang="en-US" altLang="zh-CN" dirty="0"/>
          </a:p>
          <a:p>
            <a:r>
              <a:rPr lang="zh-CN" altLang="en-US" dirty="0"/>
              <a:t>就像抛硬币一样，当我们不断地抛，抛个上千次，甚至上万次，我们会发现，正面或者反面向上的次数都会接近一半。</a:t>
            </a:r>
            <a:endParaRPr lang="en-US" altLang="zh-CN" dirty="0"/>
          </a:p>
          <a:p>
            <a:r>
              <a:rPr lang="zh-CN" altLang="en-US" dirty="0"/>
              <a:t>除了抛硬币，现实中还有许许多多这样的例子</a:t>
            </a:r>
            <a:endParaRPr lang="en-US" altLang="zh-CN" dirty="0"/>
          </a:p>
          <a:p>
            <a:r>
              <a:rPr lang="zh-CN" altLang="en-US" dirty="0"/>
              <a:t>这些实验都像我们传达了一个共同的信息，那就是大量重复实验最终的结果都会比较稳定。</a:t>
            </a:r>
            <a:endParaRPr lang="en-US" altLang="zh-CN" dirty="0"/>
          </a:p>
          <a:p>
            <a:r>
              <a:rPr lang="zh-CN" altLang="en-US" dirty="0"/>
              <a:t>那稳定性到底是什么？怎样去用数学语言把它表达出来？</a:t>
            </a:r>
            <a:endParaRPr lang="en-US" altLang="zh-CN" dirty="0"/>
          </a:p>
          <a:p>
            <a:r>
              <a:rPr lang="zh-CN" altLang="en-US" dirty="0"/>
              <a:t>这其中会不会有某种规律性？是必然的还是偶然的？</a:t>
            </a:r>
            <a:endParaRPr lang="en-US" altLang="zh-CN" dirty="0"/>
          </a:p>
          <a:p>
            <a:endParaRPr lang="en-US" altLang="zh-CN" dirty="0"/>
          </a:p>
          <a:p>
            <a:r>
              <a:rPr lang="zh-CN" altLang="en-US" dirty="0"/>
              <a:t>大数定律</a:t>
            </a:r>
            <a:r>
              <a:rPr lang="en-US" altLang="zh-CN" dirty="0"/>
              <a:t>(law of large numbers)</a:t>
            </a:r>
            <a:r>
              <a:rPr lang="zh-CN" altLang="en-US" dirty="0"/>
              <a:t>，就是一种描述当试验次数很大时所呈现的概率性质的定律。</a:t>
            </a:r>
            <a:endParaRPr lang="en-US" altLang="zh-CN" dirty="0"/>
          </a:p>
          <a:p>
            <a:r>
              <a:rPr lang="zh-CN" altLang="en-US" dirty="0"/>
              <a:t>但是注意到，大数定律并不是经验规律，而是在一些附加条件上经严格证明了的定理，它是一种自然规律因而通常不叫定理而是大数“定律”。</a:t>
            </a:r>
            <a:endParaRPr lang="en-US" altLang="zh-CN" dirty="0"/>
          </a:p>
          <a:p>
            <a:r>
              <a:rPr lang="zh-CN" altLang="en-US" dirty="0"/>
              <a:t>而我们说的大数定理通常是经数学家证明并以数学家名字命名的大数定理</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3EFDA001-D39D-4536-B5A8-AAA8093AD8B3}"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接下来，我们介绍一下什么是依概率收敛</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这讲，我们来具体讨论点估计问题。</a:t>
            </a:r>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7BA6769-F23B-44FD-A440-267F7A20B61E}"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7BA6769-F23B-44FD-A440-267F7A20B61E}"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fld id="{2173F2D7-611A-4A77-9554-CD97EA819D37}" type="slidenum">
              <a:rPr lang="en-US" altLang="zh-CN"/>
            </a:fld>
            <a:endParaRPr lang="en-US" altLang="zh-CN"/>
          </a:p>
        </p:txBody>
      </p:sp>
      <p:sp>
        <p:nvSpPr>
          <p:cNvPr id="1055746" name="Rectangle 2"/>
          <p:cNvSpPr>
            <a:spLocks noGrp="1" noRot="1" noChangeAspect="1" noChangeArrowheads="1" noTextEdit="1"/>
          </p:cNvSpPr>
          <p:nvPr>
            <p:ph type="sldImg"/>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fld id="{510001D5-BE02-48FB-9B11-AE17341DF9E4}" type="slidenum">
              <a:rPr lang="en-US" altLang="zh-CN"/>
            </a:fld>
            <a:endParaRPr lang="en-US" altLang="zh-CN"/>
          </a:p>
        </p:txBody>
      </p:sp>
      <p:sp>
        <p:nvSpPr>
          <p:cNvPr id="1057794" name="Rectangle 2"/>
          <p:cNvSpPr>
            <a:spLocks noGrp="1" noRot="1" noChangeAspect="1" noChangeArrowheads="1" noTextEdit="1"/>
          </p:cNvSpPr>
          <p:nvPr>
            <p:ph type="sldImg"/>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fld id="{A7D4DEF8-CA8D-4283-BCEA-CFF76F9AAD76}" type="slidenum">
              <a:rPr lang="en-US" altLang="zh-CN"/>
            </a:fld>
            <a:endParaRPr lang="en-US" altLang="zh-CN"/>
          </a:p>
        </p:txBody>
      </p:sp>
      <p:sp>
        <p:nvSpPr>
          <p:cNvPr id="1059842" name="Rectangle 2"/>
          <p:cNvSpPr>
            <a:spLocks noGrp="1" noRot="1" noChangeAspect="1" noChangeArrowheads="1" noTextEdit="1"/>
          </p:cNvSpPr>
          <p:nvPr>
            <p:ph type="sldImg"/>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fld id="{0FEC7A61-800E-4479-A59D-0FC672A9C167}" type="slidenum">
              <a:rPr lang="en-US" altLang="zh-CN"/>
            </a:fld>
            <a:endParaRPr lang="en-US" altLang="zh-CN"/>
          </a:p>
        </p:txBody>
      </p:sp>
      <p:sp>
        <p:nvSpPr>
          <p:cNvPr id="1061890" name="Rectangle 2"/>
          <p:cNvSpPr>
            <a:spLocks noGrp="1" noRot="1" noChangeAspect="1" noChangeArrowheads="1" noTextEdit="1"/>
          </p:cNvSpPr>
          <p:nvPr>
            <p:ph type="sldImg"/>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幻灯片图像占位符 1"/>
          <p:cNvSpPr>
            <a:spLocks noGrp="1" noRot="1" noChangeAspect="1" noChangeArrowheads="1" noTextEdit="1"/>
          </p:cNvSpPr>
          <p:nvPr>
            <p:ph type="sldImg" idx="4294967295"/>
          </p:nvPr>
        </p:nvSpPr>
        <p:spPr bwMode="auto">
          <a:ln>
            <a:solidFill>
              <a:srgbClr val="000000"/>
            </a:solidFill>
            <a:miter lim="800000"/>
          </a:ln>
        </p:spPr>
      </p:sp>
      <p:sp>
        <p:nvSpPr>
          <p:cNvPr id="20482" name="备注占位符 2"/>
          <p:cNvSpPr>
            <a:spLocks noGrp="1" noChangeArrowheads="1"/>
          </p:cNvSpPr>
          <p:nvPr>
            <p:ph type="body" idx="4294967295"/>
          </p:nvPr>
        </p:nvSpPr>
        <p:spPr/>
        <p:txBody>
          <a:bodyPr/>
          <a:lstStyle/>
          <a:p>
            <a:pPr eaLnBrk="1" hangingPunct="1">
              <a:spcBef>
                <a:spcPct val="0"/>
              </a:spcBef>
            </a:pPr>
            <a:endParaRPr lang="zh-CN" altLang="en-US"/>
          </a:p>
        </p:txBody>
      </p:sp>
      <p:sp>
        <p:nvSpPr>
          <p:cNvPr id="20483" name="幻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sz="2400">
                <a:solidFill>
                  <a:schemeClr val="tx1"/>
                </a:solidFill>
                <a:latin typeface="Times New Roman" panose="02020603050405020304" pitchFamily="18" charset="0"/>
                <a:ea typeface="宋体" panose="02010600030101010101" pitchFamily="2" charset="-122"/>
              </a:defRPr>
            </a:lvl1pPr>
            <a:lvl2pPr eaLnBrk="0" hangingPunct="0">
              <a:defRPr sz="2400">
                <a:solidFill>
                  <a:schemeClr val="tx1"/>
                </a:solidFill>
                <a:latin typeface="Times New Roman" panose="02020603050405020304" pitchFamily="18" charset="0"/>
                <a:ea typeface="宋体" panose="02010600030101010101" pitchFamily="2" charset="-122"/>
              </a:defRPr>
            </a:lvl2pPr>
            <a:lvl3pPr eaLnBrk="0" hangingPunct="0">
              <a:defRPr sz="2400">
                <a:solidFill>
                  <a:schemeClr val="tx1"/>
                </a:solidFill>
                <a:latin typeface="Times New Roman" panose="02020603050405020304" pitchFamily="18" charset="0"/>
                <a:ea typeface="宋体" panose="02010600030101010101" pitchFamily="2" charset="-122"/>
              </a:defRPr>
            </a:lvl3pPr>
            <a:lvl4pPr eaLnBrk="0" hangingPunct="0">
              <a:defRPr sz="2400">
                <a:solidFill>
                  <a:schemeClr val="tx1"/>
                </a:solidFill>
                <a:latin typeface="Times New Roman" panose="02020603050405020304" pitchFamily="18" charset="0"/>
                <a:ea typeface="宋体" panose="02010600030101010101" pitchFamily="2" charset="-122"/>
              </a:defRPr>
            </a:lvl4pPr>
            <a:lvl5pPr eaLnBrk="0" hangingPunct="0">
              <a:defRPr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pPr>
            <a:r>
              <a:rPr kumimoji="0" lang="zh-CN" altLang="en-US" sz="1200"/>
              <a:t>*</a:t>
            </a:r>
            <a:endParaRPr kumimoji="0" lang="zh-CN" alt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p:cNvSpPr>
            <a:spLocks noGrp="1" noRot="1" noChangeAspect="1" noChangeArrowheads="1" noTextEdit="1"/>
          </p:cNvSpPr>
          <p:nvPr>
            <p:ph type="sldImg" idx="4294967295"/>
          </p:nvPr>
        </p:nvSpPr>
        <p:spPr bwMode="auto">
          <a:ln>
            <a:solidFill>
              <a:srgbClr val="000000"/>
            </a:solidFill>
            <a:miter lim="800000"/>
          </a:ln>
        </p:spPr>
      </p:sp>
      <p:sp>
        <p:nvSpPr>
          <p:cNvPr id="29698" name="备注占位符 2"/>
          <p:cNvSpPr>
            <a:spLocks noGrp="1" noChangeArrowheads="1"/>
          </p:cNvSpPr>
          <p:nvPr>
            <p:ph type="body" idx="4294967295"/>
          </p:nvPr>
        </p:nvSpPr>
        <p:spPr/>
        <p:txBody>
          <a:bodyPr/>
          <a:lstStyle/>
          <a:p>
            <a:pPr eaLnBrk="1" hangingPunct="1">
              <a:spcBef>
                <a:spcPct val="0"/>
              </a:spcBef>
            </a:pPr>
            <a:endParaRPr lang="zh-CN" altLang="en-US"/>
          </a:p>
        </p:txBody>
      </p:sp>
      <p:sp>
        <p:nvSpPr>
          <p:cNvPr id="2969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sz="2400">
                <a:solidFill>
                  <a:schemeClr val="tx1"/>
                </a:solidFill>
                <a:latin typeface="Times New Roman" panose="02020603050405020304" pitchFamily="18" charset="0"/>
                <a:ea typeface="宋体" panose="02010600030101010101" pitchFamily="2" charset="-122"/>
              </a:defRPr>
            </a:lvl1pPr>
            <a:lvl2pPr eaLnBrk="0" hangingPunct="0">
              <a:defRPr sz="2400">
                <a:solidFill>
                  <a:schemeClr val="tx1"/>
                </a:solidFill>
                <a:latin typeface="Times New Roman" panose="02020603050405020304" pitchFamily="18" charset="0"/>
                <a:ea typeface="宋体" panose="02010600030101010101" pitchFamily="2" charset="-122"/>
              </a:defRPr>
            </a:lvl2pPr>
            <a:lvl3pPr eaLnBrk="0" hangingPunct="0">
              <a:defRPr sz="2400">
                <a:solidFill>
                  <a:schemeClr val="tx1"/>
                </a:solidFill>
                <a:latin typeface="Times New Roman" panose="02020603050405020304" pitchFamily="18" charset="0"/>
                <a:ea typeface="宋体" panose="02010600030101010101" pitchFamily="2" charset="-122"/>
              </a:defRPr>
            </a:lvl3pPr>
            <a:lvl4pPr eaLnBrk="0" hangingPunct="0">
              <a:defRPr sz="2400">
                <a:solidFill>
                  <a:schemeClr val="tx1"/>
                </a:solidFill>
                <a:latin typeface="Times New Roman" panose="02020603050405020304" pitchFamily="18" charset="0"/>
                <a:ea typeface="宋体" panose="02010600030101010101" pitchFamily="2" charset="-122"/>
              </a:defRPr>
            </a:lvl4pPr>
            <a:lvl5pPr eaLnBrk="0" hangingPunct="0">
              <a:defRPr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None/>
            </a:pPr>
            <a:r>
              <a:rPr kumimoji="0" lang="zh-CN" altLang="en-US" sz="1200"/>
              <a:t>*</a:t>
            </a:r>
            <a:endParaRPr kumimoji="0"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hyperlink" Target="../&#27010;&#29575;&#35770;&#19982;&#25968;&#29702;&#32479;&#35745;&#20027;&#30028;&#38754;.PPT#-1,5,&#24187;&#28783;&#29255;%205" TargetMode="Externa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7" name="Oval 36">
            <a:hlinkClick r:id="rId12" action="ppaction://hlinkpres?slideindex=5&amp;slidetitle=幻灯片 5" highlightClick="1"/>
          </p:cNvPr>
          <p:cNvSpPr>
            <a:spLocks noChangeArrowheads="1"/>
          </p:cNvSpPr>
          <p:nvPr userDrawn="1"/>
        </p:nvSpPr>
        <p:spPr bwMode="auto">
          <a:xfrm>
            <a:off x="10369551" y="188914"/>
            <a:ext cx="1488016" cy="395287"/>
          </a:xfrm>
          <a:prstGeom prst="ellipse">
            <a:avLst/>
          </a:prstGeom>
          <a:gradFill rotWithShape="1">
            <a:gsLst>
              <a:gs pos="0">
                <a:srgbClr val="660033">
                  <a:alpha val="73000"/>
                </a:srgbClr>
              </a:gs>
              <a:gs pos="50000">
                <a:srgbClr val="33CCCC">
                  <a:alpha val="89000"/>
                </a:srgbClr>
              </a:gs>
              <a:gs pos="100000">
                <a:srgbClr val="660033">
                  <a:alpha val="73000"/>
                </a:srgbClr>
              </a:gs>
            </a:gsLst>
            <a:lin ang="5400000" scaled="1"/>
          </a:gradFill>
          <a:ln>
            <a:noFill/>
          </a:ln>
          <a:effectLst/>
          <a:scene3d>
            <a:camera prst="legacyObliqueRight"/>
            <a:lightRig rig="legacyFlat3" dir="b"/>
          </a:scene3d>
          <a:sp3d extrusionH="2016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zh-CN" altLang="en-US" sz="1800" b="1">
                <a:solidFill>
                  <a:srgbClr val="FFFF99"/>
                </a:solidFill>
              </a:rPr>
              <a:t>概率论 </a:t>
            </a:r>
            <a:endParaRPr lang="zh-CN" altLang="en-US" sz="2400">
              <a:solidFill>
                <a:srgbClr val="FFFF99"/>
              </a:solidFill>
            </a:endParaRPr>
          </a:p>
        </p:txBody>
      </p:sp>
      <p:grpSp>
        <p:nvGrpSpPr>
          <p:cNvPr id="8" name="Group 37"/>
          <p:cNvGrpSpPr/>
          <p:nvPr userDrawn="1"/>
        </p:nvGrpSpPr>
        <p:grpSpPr bwMode="auto">
          <a:xfrm>
            <a:off x="9408584" y="6346825"/>
            <a:ext cx="719667" cy="395288"/>
            <a:chOff x="4740" y="3453"/>
            <a:chExt cx="340" cy="249"/>
          </a:xfrm>
        </p:grpSpPr>
        <p:sp>
          <p:nvSpPr>
            <p:cNvPr id="9" name="Oval 38">
              <a:hlinkClick r:id="" action="ppaction://hlinkshowjump?jump=nextslide" highlightClick="1"/>
            </p:cNvPr>
            <p:cNvSpPr>
              <a:spLocks noChangeArrowheads="1"/>
            </p:cNvSpPr>
            <p:nvPr userDrawn="1"/>
          </p:nvSpPr>
          <p:spPr bwMode="auto">
            <a:xfrm rot="-5400000">
              <a:off x="4785"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Righ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0" name="AutoShape 39">
              <a:hlinkClick r:id="" action="ppaction://hlinkshowjump?jump=previousslide" highlightClick="1"/>
            </p:cNvPr>
            <p:cNvSpPr>
              <a:spLocks noChangeArrowheads="1"/>
            </p:cNvSpPr>
            <p:nvPr userDrawn="1"/>
          </p:nvSpPr>
          <p:spPr bwMode="auto">
            <a:xfrm>
              <a:off x="4808"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11" name="Group 40"/>
          <p:cNvGrpSpPr/>
          <p:nvPr userDrawn="1"/>
        </p:nvGrpSpPr>
        <p:grpSpPr bwMode="auto">
          <a:xfrm>
            <a:off x="10369551" y="6346825"/>
            <a:ext cx="719667" cy="395288"/>
            <a:chOff x="5239" y="3453"/>
            <a:chExt cx="340" cy="249"/>
          </a:xfrm>
        </p:grpSpPr>
        <p:sp>
          <p:nvSpPr>
            <p:cNvPr id="12" name="Oval 41">
              <a:hlinkClick r:id="" action="ppaction://hlinkshowjump?jump=nextslide" highlightClick="1"/>
            </p:cNvPr>
            <p:cNvSpPr>
              <a:spLocks noChangeArrowheads="1"/>
            </p:cNvSpPr>
            <p:nvPr userDrawn="1"/>
          </p:nvSpPr>
          <p:spPr bwMode="auto">
            <a:xfrm rot="-5400000">
              <a:off x="5284"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3" name="AutoShape 42">
              <a:hlinkClick r:id="" action="ppaction://hlinkshowjump?jump=previousslide" highlightClick="1"/>
            </p:cNvPr>
            <p:cNvSpPr>
              <a:spLocks noChangeArrowheads="1"/>
            </p:cNvSpPr>
            <p:nvPr userDrawn="1"/>
          </p:nvSpPr>
          <p:spPr bwMode="auto">
            <a:xfrm flipH="1">
              <a:off x="5307"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14" name="Group 43"/>
          <p:cNvGrpSpPr/>
          <p:nvPr userDrawn="1"/>
        </p:nvGrpSpPr>
        <p:grpSpPr bwMode="auto">
          <a:xfrm>
            <a:off x="9408584" y="6346825"/>
            <a:ext cx="719667" cy="395288"/>
            <a:chOff x="4740" y="3453"/>
            <a:chExt cx="340" cy="249"/>
          </a:xfrm>
        </p:grpSpPr>
        <p:sp>
          <p:nvSpPr>
            <p:cNvPr id="15" name="Oval 44">
              <a:hlinkClick r:id="" action="ppaction://hlinkshowjump?jump=nextslide" highlightClick="1"/>
            </p:cNvPr>
            <p:cNvSpPr>
              <a:spLocks noChangeArrowheads="1"/>
            </p:cNvSpPr>
            <p:nvPr userDrawn="1"/>
          </p:nvSpPr>
          <p:spPr bwMode="auto">
            <a:xfrm rot="-5400000">
              <a:off x="4785"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Righ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6" name="AutoShape 45">
              <a:hlinkClick r:id="" action="ppaction://hlinkshowjump?jump=previousslide" highlightClick="1"/>
            </p:cNvPr>
            <p:cNvSpPr>
              <a:spLocks noChangeArrowheads="1"/>
            </p:cNvSpPr>
            <p:nvPr userDrawn="1"/>
          </p:nvSpPr>
          <p:spPr bwMode="auto">
            <a:xfrm>
              <a:off x="4808"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17" name="Group 46"/>
          <p:cNvGrpSpPr/>
          <p:nvPr userDrawn="1"/>
        </p:nvGrpSpPr>
        <p:grpSpPr bwMode="auto">
          <a:xfrm>
            <a:off x="10369551" y="6346825"/>
            <a:ext cx="719667" cy="395288"/>
            <a:chOff x="5239" y="3453"/>
            <a:chExt cx="340" cy="249"/>
          </a:xfrm>
        </p:grpSpPr>
        <p:sp>
          <p:nvSpPr>
            <p:cNvPr id="18" name="Oval 47">
              <a:hlinkClick r:id="" action="ppaction://hlinkshowjump?jump=nextslide" highlightClick="1"/>
            </p:cNvPr>
            <p:cNvSpPr>
              <a:spLocks noChangeArrowheads="1"/>
            </p:cNvSpPr>
            <p:nvPr userDrawn="1"/>
          </p:nvSpPr>
          <p:spPr bwMode="auto">
            <a:xfrm rot="-5400000">
              <a:off x="5284"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9" name="AutoShape 48">
              <a:hlinkClick r:id="" action="ppaction://hlinkshowjump?jump=previousslide" highlightClick="1"/>
            </p:cNvPr>
            <p:cNvSpPr>
              <a:spLocks noChangeArrowheads="1"/>
            </p:cNvSpPr>
            <p:nvPr userDrawn="1"/>
          </p:nvSpPr>
          <p:spPr bwMode="auto">
            <a:xfrm flipH="1">
              <a:off x="5307"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20" name="Group 49"/>
          <p:cNvGrpSpPr/>
          <p:nvPr userDrawn="1"/>
        </p:nvGrpSpPr>
        <p:grpSpPr bwMode="auto">
          <a:xfrm>
            <a:off x="11233151" y="6346825"/>
            <a:ext cx="719667" cy="395288"/>
            <a:chOff x="5307" y="3998"/>
            <a:chExt cx="340" cy="249"/>
          </a:xfrm>
        </p:grpSpPr>
        <p:sp>
          <p:nvSpPr>
            <p:cNvPr id="21" name="Oval 50">
              <a:hlinkClick r:id="" action="ppaction://hlinkshowjump?jump=firstslide" highlightClick="1"/>
            </p:cNvPr>
            <p:cNvSpPr>
              <a:spLocks noChangeArrowheads="1"/>
            </p:cNvSpPr>
            <p:nvPr userDrawn="1"/>
          </p:nvSpPr>
          <p:spPr bwMode="auto">
            <a:xfrm rot="-5400000">
              <a:off x="5352" y="3953"/>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22" name="AutoShape 51">
              <a:hlinkClick r:id="" action="ppaction://hlinkshowjump?jump=firstslide"/>
            </p:cNvPr>
            <p:cNvSpPr>
              <a:spLocks noChangeArrowheads="1"/>
            </p:cNvSpPr>
            <p:nvPr userDrawn="1"/>
          </p:nvSpPr>
          <p:spPr bwMode="auto">
            <a:xfrm>
              <a:off x="5409" y="4021"/>
              <a:ext cx="136" cy="204"/>
            </a:xfrm>
            <a:prstGeom prst="upArrow">
              <a:avLst>
                <a:gd name="adj1" fmla="val 49676"/>
                <a:gd name="adj2" fmla="val 70979"/>
              </a:avLst>
            </a:prstGeom>
            <a:solidFill>
              <a:srgbClr val="660033"/>
            </a:soli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sp>
        <p:nvSpPr>
          <p:cNvPr id="23" name="矩形 22"/>
          <p:cNvSpPr/>
          <p:nvPr userDrawn="1"/>
        </p:nvSpPr>
        <p:spPr>
          <a:xfrm>
            <a:off x="0" y="0"/>
            <a:ext cx="12192000" cy="6858000"/>
          </a:xfrm>
          <a:prstGeom prst="rect">
            <a:avLst/>
          </a:prstGeom>
          <a:gradFill flip="none" rotWithShape="1">
            <a:gsLst>
              <a:gs pos="0">
                <a:srgbClr val="F5F5F5"/>
              </a:gs>
              <a:gs pos="73000">
                <a:srgbClr val="F3F3F3"/>
              </a:gs>
              <a:gs pos="100000">
                <a:srgbClr val="E2DEDF"/>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rtlCol="0" anchor="ctr"/>
          <a:lstStyle/>
          <a:p>
            <a:pPr algn="ctr" defTabSz="913765"/>
            <a:endParaRPr lang="zh-CN" altLang="en-US" sz="1865">
              <a:solidFill>
                <a:prstClr val="white"/>
              </a:solidFill>
            </a:endParaRPr>
          </a:p>
        </p:txBody>
      </p:sp>
      <p:pic>
        <p:nvPicPr>
          <p:cNvPr id="24" name="图片 2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5414" y="0"/>
            <a:ext cx="12179586" cy="685958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6.emf"/><Relationship Id="rId7" Type="http://schemas.openxmlformats.org/officeDocument/2006/relationships/oleObject" Target="../embeddings/oleObject4.bin"/><Relationship Id="rId6" Type="http://schemas.openxmlformats.org/officeDocument/2006/relationships/image" Target="../media/image5.emf"/><Relationship Id="rId5" Type="http://schemas.openxmlformats.org/officeDocument/2006/relationships/oleObject" Target="../embeddings/oleObject3.bin"/><Relationship Id="rId4" Type="http://schemas.openxmlformats.org/officeDocument/2006/relationships/image" Target="../media/image4.emf"/><Relationship Id="rId3" Type="http://schemas.openxmlformats.org/officeDocument/2006/relationships/oleObject" Target="../embeddings/oleObject2.bin"/><Relationship Id="rId22" Type="http://schemas.openxmlformats.org/officeDocument/2006/relationships/vmlDrawing" Target="../drawings/vmlDrawing1.vml"/><Relationship Id="rId21" Type="http://schemas.openxmlformats.org/officeDocument/2006/relationships/slideLayout" Target="../slideLayouts/slideLayout2.xml"/><Relationship Id="rId20" Type="http://schemas.openxmlformats.org/officeDocument/2006/relationships/image" Target="../media/image12.emf"/><Relationship Id="rId2" Type="http://schemas.openxmlformats.org/officeDocument/2006/relationships/image" Target="../media/image3.wmf"/><Relationship Id="rId19" Type="http://schemas.openxmlformats.org/officeDocument/2006/relationships/oleObject" Target="../embeddings/oleObject10.bin"/><Relationship Id="rId18" Type="http://schemas.openxmlformats.org/officeDocument/2006/relationships/image" Target="../media/image11.emf"/><Relationship Id="rId17" Type="http://schemas.openxmlformats.org/officeDocument/2006/relationships/oleObject" Target="../embeddings/oleObject9.bin"/><Relationship Id="rId16" Type="http://schemas.openxmlformats.org/officeDocument/2006/relationships/image" Target="../media/image10.emf"/><Relationship Id="rId15" Type="http://schemas.openxmlformats.org/officeDocument/2006/relationships/oleObject" Target="../embeddings/oleObject8.bin"/><Relationship Id="rId14" Type="http://schemas.openxmlformats.org/officeDocument/2006/relationships/image" Target="../media/image9.emf"/><Relationship Id="rId13" Type="http://schemas.openxmlformats.org/officeDocument/2006/relationships/oleObject" Target="../embeddings/oleObject7.bin"/><Relationship Id="rId12" Type="http://schemas.openxmlformats.org/officeDocument/2006/relationships/image" Target="../media/image8.emf"/><Relationship Id="rId11" Type="http://schemas.openxmlformats.org/officeDocument/2006/relationships/oleObject" Target="../embeddings/oleObject6.bin"/><Relationship Id="rId10" Type="http://schemas.openxmlformats.org/officeDocument/2006/relationships/image" Target="../media/image7.e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17.wmf"/><Relationship Id="rId7" Type="http://schemas.openxmlformats.org/officeDocument/2006/relationships/oleObject" Target="../embeddings/oleObject14.bin"/><Relationship Id="rId6" Type="http://schemas.openxmlformats.org/officeDocument/2006/relationships/image" Target="../media/image16.wmf"/><Relationship Id="rId5" Type="http://schemas.openxmlformats.org/officeDocument/2006/relationships/oleObject" Target="../embeddings/oleObject13.bin"/><Relationship Id="rId4" Type="http://schemas.openxmlformats.org/officeDocument/2006/relationships/image" Target="../media/image15.wmf"/><Relationship Id="rId3" Type="http://schemas.openxmlformats.org/officeDocument/2006/relationships/oleObject" Target="../embeddings/oleObject12.bin"/><Relationship Id="rId2" Type="http://schemas.openxmlformats.org/officeDocument/2006/relationships/image" Target="../media/image14.wmf"/><Relationship Id="rId16" Type="http://schemas.openxmlformats.org/officeDocument/2006/relationships/vmlDrawing" Target="../drawings/vmlDrawing2.vml"/><Relationship Id="rId15" Type="http://schemas.openxmlformats.org/officeDocument/2006/relationships/slideLayout" Target="../slideLayouts/slideLayout7.xml"/><Relationship Id="rId14" Type="http://schemas.openxmlformats.org/officeDocument/2006/relationships/image" Target="../media/image20.wmf"/><Relationship Id="rId13" Type="http://schemas.openxmlformats.org/officeDocument/2006/relationships/oleObject" Target="../embeddings/oleObject17.bin"/><Relationship Id="rId12" Type="http://schemas.openxmlformats.org/officeDocument/2006/relationships/image" Target="../media/image19.wmf"/><Relationship Id="rId11" Type="http://schemas.openxmlformats.org/officeDocument/2006/relationships/oleObject" Target="../embeddings/oleObject16.bin"/><Relationship Id="rId10" Type="http://schemas.openxmlformats.org/officeDocument/2006/relationships/image" Target="../media/image18.wmf"/><Relationship Id="rId1"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22.bin"/><Relationship Id="rId8" Type="http://schemas.openxmlformats.org/officeDocument/2006/relationships/image" Target="../media/image24.wmf"/><Relationship Id="rId7" Type="http://schemas.openxmlformats.org/officeDocument/2006/relationships/oleObject" Target="../embeddings/oleObject21.bin"/><Relationship Id="rId6" Type="http://schemas.openxmlformats.org/officeDocument/2006/relationships/image" Target="../media/image23.wmf"/><Relationship Id="rId5" Type="http://schemas.openxmlformats.org/officeDocument/2006/relationships/oleObject" Target="../embeddings/oleObject20.bin"/><Relationship Id="rId4" Type="http://schemas.openxmlformats.org/officeDocument/2006/relationships/image" Target="../media/image22.wmf"/><Relationship Id="rId3" Type="http://schemas.openxmlformats.org/officeDocument/2006/relationships/oleObject" Target="../embeddings/oleObject19.bin"/><Relationship Id="rId2" Type="http://schemas.openxmlformats.org/officeDocument/2006/relationships/image" Target="../media/image21.wmf"/><Relationship Id="rId16" Type="http://schemas.openxmlformats.org/officeDocument/2006/relationships/vmlDrawing" Target="../drawings/vmlDrawing3.vml"/><Relationship Id="rId15" Type="http://schemas.openxmlformats.org/officeDocument/2006/relationships/slideLayout" Target="../slideLayouts/slideLayout7.xml"/><Relationship Id="rId14" Type="http://schemas.openxmlformats.org/officeDocument/2006/relationships/image" Target="../media/image27.wmf"/><Relationship Id="rId13" Type="http://schemas.openxmlformats.org/officeDocument/2006/relationships/oleObject" Target="../embeddings/oleObject24.bin"/><Relationship Id="rId12" Type="http://schemas.openxmlformats.org/officeDocument/2006/relationships/image" Target="../media/image26.wmf"/><Relationship Id="rId11" Type="http://schemas.openxmlformats.org/officeDocument/2006/relationships/oleObject" Target="../embeddings/oleObject23.bin"/><Relationship Id="rId10" Type="http://schemas.openxmlformats.org/officeDocument/2006/relationships/image" Target="../media/image25.wmf"/><Relationship Id="rId1" Type="http://schemas.openxmlformats.org/officeDocument/2006/relationships/oleObject" Target="../embeddings/oleObject18.bin"/></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28.wmf"/><Relationship Id="rId1" Type="http://schemas.openxmlformats.org/officeDocument/2006/relationships/oleObject" Target="../embeddings/oleObject25.bin"/></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29.wmf"/><Relationship Id="rId1" Type="http://schemas.openxmlformats.org/officeDocument/2006/relationships/oleObject" Target="../embeddings/oleObject26.bin"/></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vmlDrawing" Target="../drawings/vmlDrawing6.vml"/><Relationship Id="rId7" Type="http://schemas.openxmlformats.org/officeDocument/2006/relationships/slideLayout" Target="../slideLayouts/slideLayout7.xml"/><Relationship Id="rId6" Type="http://schemas.openxmlformats.org/officeDocument/2006/relationships/oleObject" Target="../embeddings/oleObject28.bin"/><Relationship Id="rId5" Type="http://schemas.openxmlformats.org/officeDocument/2006/relationships/image" Target="../media/image33.wmf"/><Relationship Id="rId4" Type="http://schemas.openxmlformats.org/officeDocument/2006/relationships/oleObject" Target="../embeddings/oleObject27.bin"/><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image" Target="../media/image30.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5.emf"/><Relationship Id="rId1" Type="http://schemas.openxmlformats.org/officeDocument/2006/relationships/image" Target="../media/image34.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37.wmf"/><Relationship Id="rId2" Type="http://schemas.openxmlformats.org/officeDocument/2006/relationships/oleObject" Target="../embeddings/oleObject29.bin"/><Relationship Id="rId1" Type="http://schemas.openxmlformats.org/officeDocument/2006/relationships/image" Target="../media/image36.jpe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6.jpeg"/><Relationship Id="rId7" Type="http://schemas.openxmlformats.org/officeDocument/2006/relationships/image" Target="../media/image40.wmf"/><Relationship Id="rId6" Type="http://schemas.openxmlformats.org/officeDocument/2006/relationships/oleObject" Target="../embeddings/oleObject33.bin"/><Relationship Id="rId5" Type="http://schemas.openxmlformats.org/officeDocument/2006/relationships/image" Target="../media/image39.wmf"/><Relationship Id="rId4" Type="http://schemas.openxmlformats.org/officeDocument/2006/relationships/oleObject" Target="../embeddings/oleObject32.bin"/><Relationship Id="rId3" Type="http://schemas.openxmlformats.org/officeDocument/2006/relationships/oleObject" Target="../embeddings/oleObject31.bin"/><Relationship Id="rId2" Type="http://schemas.openxmlformats.org/officeDocument/2006/relationships/image" Target="../media/image38.wmf"/><Relationship Id="rId10" Type="http://schemas.openxmlformats.org/officeDocument/2006/relationships/vmlDrawing" Target="../drawings/vmlDrawing8.vml"/><Relationship Id="rId1" Type="http://schemas.openxmlformats.org/officeDocument/2006/relationships/oleObject" Target="../embeddings/oleObject30.bin"/></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2.jpeg"/><Relationship Id="rId3" Type="http://schemas.openxmlformats.org/officeDocument/2006/relationships/tags" Target="../tags/tag7.xml"/><Relationship Id="rId2" Type="http://schemas.openxmlformats.org/officeDocument/2006/relationships/image" Target="../media/image41.png"/><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38.bin"/><Relationship Id="rId8" Type="http://schemas.openxmlformats.org/officeDocument/2006/relationships/image" Target="../media/image17.wmf"/><Relationship Id="rId7" Type="http://schemas.openxmlformats.org/officeDocument/2006/relationships/oleObject" Target="../embeddings/oleObject37.bin"/><Relationship Id="rId6" Type="http://schemas.openxmlformats.org/officeDocument/2006/relationships/image" Target="../media/image16.wmf"/><Relationship Id="rId5" Type="http://schemas.openxmlformats.org/officeDocument/2006/relationships/oleObject" Target="../embeddings/oleObject36.bin"/><Relationship Id="rId4" Type="http://schemas.openxmlformats.org/officeDocument/2006/relationships/image" Target="../media/image15.wmf"/><Relationship Id="rId3" Type="http://schemas.openxmlformats.org/officeDocument/2006/relationships/oleObject" Target="../embeddings/oleObject35.bin"/><Relationship Id="rId2" Type="http://schemas.openxmlformats.org/officeDocument/2006/relationships/image" Target="../media/image14.wmf"/><Relationship Id="rId16" Type="http://schemas.openxmlformats.org/officeDocument/2006/relationships/vmlDrawing" Target="../drawings/vmlDrawing9.vml"/><Relationship Id="rId15" Type="http://schemas.openxmlformats.org/officeDocument/2006/relationships/slideLayout" Target="../slideLayouts/slideLayout7.xml"/><Relationship Id="rId14" Type="http://schemas.openxmlformats.org/officeDocument/2006/relationships/image" Target="../media/image20.wmf"/><Relationship Id="rId13" Type="http://schemas.openxmlformats.org/officeDocument/2006/relationships/oleObject" Target="../embeddings/oleObject40.bin"/><Relationship Id="rId12" Type="http://schemas.openxmlformats.org/officeDocument/2006/relationships/image" Target="../media/image19.wmf"/><Relationship Id="rId11" Type="http://schemas.openxmlformats.org/officeDocument/2006/relationships/oleObject" Target="../embeddings/oleObject39.bin"/><Relationship Id="rId10" Type="http://schemas.openxmlformats.org/officeDocument/2006/relationships/image" Target="../media/image18.wmf"/><Relationship Id="rId1" Type="http://schemas.openxmlformats.org/officeDocument/2006/relationships/oleObject" Target="../embeddings/oleObject34.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45.bin"/><Relationship Id="rId8" Type="http://schemas.openxmlformats.org/officeDocument/2006/relationships/image" Target="../media/image24.wmf"/><Relationship Id="rId7" Type="http://schemas.openxmlformats.org/officeDocument/2006/relationships/oleObject" Target="../embeddings/oleObject44.bin"/><Relationship Id="rId6" Type="http://schemas.openxmlformats.org/officeDocument/2006/relationships/image" Target="../media/image23.wmf"/><Relationship Id="rId5" Type="http://schemas.openxmlformats.org/officeDocument/2006/relationships/oleObject" Target="../embeddings/oleObject43.bin"/><Relationship Id="rId4" Type="http://schemas.openxmlformats.org/officeDocument/2006/relationships/image" Target="../media/image22.wmf"/><Relationship Id="rId3" Type="http://schemas.openxmlformats.org/officeDocument/2006/relationships/oleObject" Target="../embeddings/oleObject42.bin"/><Relationship Id="rId2" Type="http://schemas.openxmlformats.org/officeDocument/2006/relationships/image" Target="../media/image21.wmf"/><Relationship Id="rId16" Type="http://schemas.openxmlformats.org/officeDocument/2006/relationships/vmlDrawing" Target="../drawings/vmlDrawing10.vml"/><Relationship Id="rId15" Type="http://schemas.openxmlformats.org/officeDocument/2006/relationships/slideLayout" Target="../slideLayouts/slideLayout7.xml"/><Relationship Id="rId14" Type="http://schemas.openxmlformats.org/officeDocument/2006/relationships/image" Target="../media/image27.wmf"/><Relationship Id="rId13" Type="http://schemas.openxmlformats.org/officeDocument/2006/relationships/oleObject" Target="../embeddings/oleObject47.bin"/><Relationship Id="rId12" Type="http://schemas.openxmlformats.org/officeDocument/2006/relationships/image" Target="../media/image26.wmf"/><Relationship Id="rId11" Type="http://schemas.openxmlformats.org/officeDocument/2006/relationships/oleObject" Target="../embeddings/oleObject46.bin"/><Relationship Id="rId10" Type="http://schemas.openxmlformats.org/officeDocument/2006/relationships/image" Target="../media/image25.wmf"/><Relationship Id="rId1" Type="http://schemas.openxmlformats.org/officeDocument/2006/relationships/oleObject" Target="../embeddings/oleObject41.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4.jpeg"/><Relationship Id="rId1"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jpeg"/><Relationship Id="rId1" Type="http://schemas.openxmlformats.org/officeDocument/2006/relationships/image" Target="../media/image45.jpeg"/></Relationships>
</file>

<file path=ppt/slides/_rels/slide24.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7.xml"/><Relationship Id="rId4" Type="http://schemas.openxmlformats.org/officeDocument/2006/relationships/image" Target="../media/image48.wmf"/><Relationship Id="rId3" Type="http://schemas.openxmlformats.org/officeDocument/2006/relationships/oleObject" Target="../embeddings/oleObject49.bin"/><Relationship Id="rId2" Type="http://schemas.openxmlformats.org/officeDocument/2006/relationships/image" Target="../media/image47.wmf"/><Relationship Id="rId1" Type="http://schemas.openxmlformats.org/officeDocument/2006/relationships/oleObject" Target="../embeddings/oleObject48.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9" Type="http://schemas.openxmlformats.org/officeDocument/2006/relationships/image" Target="../media/image50.wmf"/><Relationship Id="rId8" Type="http://schemas.openxmlformats.org/officeDocument/2006/relationships/oleObject" Target="../embeddings/oleObject54.bin"/><Relationship Id="rId7" Type="http://schemas.openxmlformats.org/officeDocument/2006/relationships/image" Target="../media/image33.wmf"/><Relationship Id="rId6" Type="http://schemas.openxmlformats.org/officeDocument/2006/relationships/oleObject" Target="../embeddings/oleObject53.bin"/><Relationship Id="rId5" Type="http://schemas.openxmlformats.org/officeDocument/2006/relationships/image" Target="../media/image49.wmf"/><Relationship Id="rId4" Type="http://schemas.openxmlformats.org/officeDocument/2006/relationships/oleObject" Target="../embeddings/oleObject52.bin"/><Relationship Id="rId3" Type="http://schemas.openxmlformats.org/officeDocument/2006/relationships/oleObject" Target="../embeddings/oleObject51.bin"/><Relationship Id="rId2" Type="http://schemas.openxmlformats.org/officeDocument/2006/relationships/image" Target="../media/image38.wmf"/><Relationship Id="rId19" Type="http://schemas.openxmlformats.org/officeDocument/2006/relationships/vmlDrawing" Target="../drawings/vmlDrawing12.vml"/><Relationship Id="rId18" Type="http://schemas.openxmlformats.org/officeDocument/2006/relationships/slideLayout" Target="../slideLayouts/slideLayout7.xml"/><Relationship Id="rId17" Type="http://schemas.openxmlformats.org/officeDocument/2006/relationships/image" Target="../media/image54.wmf"/><Relationship Id="rId16" Type="http://schemas.openxmlformats.org/officeDocument/2006/relationships/oleObject" Target="../embeddings/oleObject58.bin"/><Relationship Id="rId15" Type="http://schemas.openxmlformats.org/officeDocument/2006/relationships/image" Target="../media/image53.wmf"/><Relationship Id="rId14" Type="http://schemas.openxmlformats.org/officeDocument/2006/relationships/oleObject" Target="../embeddings/oleObject57.bin"/><Relationship Id="rId13" Type="http://schemas.openxmlformats.org/officeDocument/2006/relationships/image" Target="../media/image52.wmf"/><Relationship Id="rId12" Type="http://schemas.openxmlformats.org/officeDocument/2006/relationships/oleObject" Target="../embeddings/oleObject56.bin"/><Relationship Id="rId11" Type="http://schemas.openxmlformats.org/officeDocument/2006/relationships/image" Target="../media/image51.wmf"/><Relationship Id="rId10" Type="http://schemas.openxmlformats.org/officeDocument/2006/relationships/oleObject" Target="../embeddings/oleObject55.bin"/><Relationship Id="rId1" Type="http://schemas.openxmlformats.org/officeDocument/2006/relationships/oleObject" Target="../embeddings/oleObject50.bin"/></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7.wmf"/><Relationship Id="rId7" Type="http://schemas.openxmlformats.org/officeDocument/2006/relationships/oleObject" Target="../embeddings/oleObject62.bin"/><Relationship Id="rId6" Type="http://schemas.openxmlformats.org/officeDocument/2006/relationships/image" Target="../media/image56.wmf"/><Relationship Id="rId5" Type="http://schemas.openxmlformats.org/officeDocument/2006/relationships/oleObject" Target="../embeddings/oleObject61.bin"/><Relationship Id="rId4" Type="http://schemas.openxmlformats.org/officeDocument/2006/relationships/image" Target="../media/image33.wmf"/><Relationship Id="rId3" Type="http://schemas.openxmlformats.org/officeDocument/2006/relationships/oleObject" Target="../embeddings/oleObject60.bin"/><Relationship Id="rId2" Type="http://schemas.openxmlformats.org/officeDocument/2006/relationships/image" Target="../media/image55.wmf"/><Relationship Id="rId11" Type="http://schemas.openxmlformats.org/officeDocument/2006/relationships/notesSlide" Target="../notesSlides/notesSlide9.xml"/><Relationship Id="rId10" Type="http://schemas.openxmlformats.org/officeDocument/2006/relationships/vmlDrawing" Target="../drawings/vmlDrawing13.vml"/><Relationship Id="rId1" Type="http://schemas.openxmlformats.org/officeDocument/2006/relationships/oleObject" Target="../embeddings/oleObject59.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67.bin"/><Relationship Id="rId8" Type="http://schemas.openxmlformats.org/officeDocument/2006/relationships/image" Target="../media/image60.wmf"/><Relationship Id="rId7" Type="http://schemas.openxmlformats.org/officeDocument/2006/relationships/oleObject" Target="../embeddings/oleObject66.bin"/><Relationship Id="rId6" Type="http://schemas.openxmlformats.org/officeDocument/2006/relationships/image" Target="../media/image59.wmf"/><Relationship Id="rId5" Type="http://schemas.openxmlformats.org/officeDocument/2006/relationships/oleObject" Target="../embeddings/oleObject65.bin"/><Relationship Id="rId4" Type="http://schemas.openxmlformats.org/officeDocument/2006/relationships/image" Target="../media/image58.wmf"/><Relationship Id="rId3" Type="http://schemas.openxmlformats.org/officeDocument/2006/relationships/oleObject" Target="../embeddings/oleObject64.bin"/><Relationship Id="rId2" Type="http://schemas.openxmlformats.org/officeDocument/2006/relationships/image" Target="../media/image33.wmf"/><Relationship Id="rId12" Type="http://schemas.openxmlformats.org/officeDocument/2006/relationships/vmlDrawing" Target="../drawings/vmlDrawing14.vml"/><Relationship Id="rId11" Type="http://schemas.openxmlformats.org/officeDocument/2006/relationships/slideLayout" Target="../slideLayouts/slideLayout7.xml"/><Relationship Id="rId10" Type="http://schemas.openxmlformats.org/officeDocument/2006/relationships/image" Target="../media/image56.wmf"/><Relationship Id="rId1" Type="http://schemas.openxmlformats.org/officeDocument/2006/relationships/oleObject" Target="../embeddings/oleObject63.bin"/></Relationships>
</file>

<file path=ppt/slides/_rels/slide29.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vmlDrawing" Target="../drawings/vmlDrawing15.vml"/><Relationship Id="rId7" Type="http://schemas.openxmlformats.org/officeDocument/2006/relationships/slideLayout" Target="../slideLayouts/slideLayout7.xml"/><Relationship Id="rId6" Type="http://schemas.openxmlformats.org/officeDocument/2006/relationships/image" Target="../media/image63.wmf"/><Relationship Id="rId5" Type="http://schemas.openxmlformats.org/officeDocument/2006/relationships/oleObject" Target="../embeddings/oleObject70.bin"/><Relationship Id="rId4" Type="http://schemas.openxmlformats.org/officeDocument/2006/relationships/image" Target="../media/image62.wmf"/><Relationship Id="rId3" Type="http://schemas.openxmlformats.org/officeDocument/2006/relationships/oleObject" Target="../embeddings/oleObject69.bin"/><Relationship Id="rId2" Type="http://schemas.openxmlformats.org/officeDocument/2006/relationships/image" Target="../media/image61.wmf"/><Relationship Id="rId1" Type="http://schemas.openxmlformats.org/officeDocument/2006/relationships/oleObject" Target="../embeddings/oleObject68.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75.bin"/><Relationship Id="rId8" Type="http://schemas.openxmlformats.org/officeDocument/2006/relationships/image" Target="../media/image67.wmf"/><Relationship Id="rId7" Type="http://schemas.openxmlformats.org/officeDocument/2006/relationships/oleObject" Target="../embeddings/oleObject74.bin"/><Relationship Id="rId6" Type="http://schemas.openxmlformats.org/officeDocument/2006/relationships/image" Target="../media/image66.wmf"/><Relationship Id="rId5" Type="http://schemas.openxmlformats.org/officeDocument/2006/relationships/oleObject" Target="../embeddings/oleObject73.bin"/><Relationship Id="rId4" Type="http://schemas.openxmlformats.org/officeDocument/2006/relationships/image" Target="../media/image65.wmf"/><Relationship Id="rId3" Type="http://schemas.openxmlformats.org/officeDocument/2006/relationships/oleObject" Target="../embeddings/oleObject72.bin"/><Relationship Id="rId2" Type="http://schemas.openxmlformats.org/officeDocument/2006/relationships/image" Target="../media/image64.wmf"/><Relationship Id="rId12" Type="http://schemas.openxmlformats.org/officeDocument/2006/relationships/vmlDrawing" Target="../drawings/vmlDrawing16.vml"/><Relationship Id="rId11" Type="http://schemas.openxmlformats.org/officeDocument/2006/relationships/slideLayout" Target="../slideLayouts/slideLayout7.xml"/><Relationship Id="rId10" Type="http://schemas.openxmlformats.org/officeDocument/2006/relationships/image" Target="../media/image68.wmf"/><Relationship Id="rId1" Type="http://schemas.openxmlformats.org/officeDocument/2006/relationships/oleObject" Target="../embeddings/oleObject71.bin"/></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1.wmf"/><Relationship Id="rId7" Type="http://schemas.openxmlformats.org/officeDocument/2006/relationships/oleObject" Target="../embeddings/oleObject79.bin"/><Relationship Id="rId6" Type="http://schemas.openxmlformats.org/officeDocument/2006/relationships/image" Target="../media/image70.wmf"/><Relationship Id="rId5" Type="http://schemas.openxmlformats.org/officeDocument/2006/relationships/oleObject" Target="../embeddings/oleObject78.bin"/><Relationship Id="rId4" Type="http://schemas.openxmlformats.org/officeDocument/2006/relationships/image" Target="../media/image33.wmf"/><Relationship Id="rId3" Type="http://schemas.openxmlformats.org/officeDocument/2006/relationships/oleObject" Target="../embeddings/oleObject77.bin"/><Relationship Id="rId2" Type="http://schemas.openxmlformats.org/officeDocument/2006/relationships/image" Target="../media/image69.wmf"/><Relationship Id="rId10" Type="http://schemas.openxmlformats.org/officeDocument/2006/relationships/vmlDrawing" Target="../drawings/vmlDrawing17.vml"/><Relationship Id="rId1" Type="http://schemas.openxmlformats.org/officeDocument/2006/relationships/oleObject" Target="../embeddings/oleObject76.bin"/></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18.vml"/><Relationship Id="rId5" Type="http://schemas.openxmlformats.org/officeDocument/2006/relationships/slideLayout" Target="../slideLayouts/slideLayout7.xml"/><Relationship Id="rId4" Type="http://schemas.openxmlformats.org/officeDocument/2006/relationships/image" Target="../media/image73.wmf"/><Relationship Id="rId3" Type="http://schemas.openxmlformats.org/officeDocument/2006/relationships/oleObject" Target="../embeddings/oleObject81.bin"/><Relationship Id="rId2" Type="http://schemas.openxmlformats.org/officeDocument/2006/relationships/image" Target="../media/image72.wmf"/><Relationship Id="rId1" Type="http://schemas.openxmlformats.org/officeDocument/2006/relationships/oleObject" Target="../embeddings/oleObject80.bin"/></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7.xml"/><Relationship Id="rId4" Type="http://schemas.openxmlformats.org/officeDocument/2006/relationships/image" Target="../media/image74.wmf"/><Relationship Id="rId3" Type="http://schemas.openxmlformats.org/officeDocument/2006/relationships/oleObject" Target="../embeddings/oleObject83.bin"/><Relationship Id="rId2" Type="http://schemas.openxmlformats.org/officeDocument/2006/relationships/image" Target="../media/image72.wmf"/><Relationship Id="rId1" Type="http://schemas.openxmlformats.org/officeDocument/2006/relationships/oleObject" Target="../embeddings/oleObject82.bin"/></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8.wmf"/><Relationship Id="rId7" Type="http://schemas.openxmlformats.org/officeDocument/2006/relationships/oleObject" Target="../embeddings/oleObject87.bin"/><Relationship Id="rId6" Type="http://schemas.openxmlformats.org/officeDocument/2006/relationships/image" Target="../media/image77.wmf"/><Relationship Id="rId5" Type="http://schemas.openxmlformats.org/officeDocument/2006/relationships/oleObject" Target="../embeddings/oleObject86.bin"/><Relationship Id="rId4" Type="http://schemas.openxmlformats.org/officeDocument/2006/relationships/image" Target="../media/image76.wmf"/><Relationship Id="rId3" Type="http://schemas.openxmlformats.org/officeDocument/2006/relationships/oleObject" Target="../embeddings/oleObject85.bin"/><Relationship Id="rId2" Type="http://schemas.openxmlformats.org/officeDocument/2006/relationships/image" Target="../media/image75.wmf"/><Relationship Id="rId10" Type="http://schemas.openxmlformats.org/officeDocument/2006/relationships/vmlDrawing" Target="../drawings/vmlDrawing20.vml"/><Relationship Id="rId1" Type="http://schemas.openxmlformats.org/officeDocument/2006/relationships/oleObject" Target="../embeddings/oleObject84.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79.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9.png"/><Relationship Id="rId1" Type="http://schemas.openxmlformats.org/officeDocument/2006/relationships/image" Target="../media/image82.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4.emf"/><Relationship Id="rId1" Type="http://schemas.openxmlformats.org/officeDocument/2006/relationships/image" Target="../media/image83.emf"/></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4.emf"/><Relationship Id="rId1" Type="http://schemas.openxmlformats.org/officeDocument/2006/relationships/image" Target="../media/image83.emf"/></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4.emf"/><Relationship Id="rId1" Type="http://schemas.openxmlformats.org/officeDocument/2006/relationships/image" Target="../media/image83.e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6.xml"/><Relationship Id="rId2" Type="http://schemas.openxmlformats.org/officeDocument/2006/relationships/image" Target="../media/image85.wmf"/><Relationship Id="rId1" Type="http://schemas.openxmlformats.org/officeDocument/2006/relationships/oleObject" Target="../embeddings/oleObject88.bin"/></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2.xml"/><Relationship Id="rId2" Type="http://schemas.openxmlformats.org/officeDocument/2006/relationships/image" Target="../media/image85.wmf"/><Relationship Id="rId1" Type="http://schemas.openxmlformats.org/officeDocument/2006/relationships/oleObject" Target="../embeddings/oleObject89.bin"/></Relationships>
</file>

<file path=ppt/slides/_rels/slide46.xml.rels><?xml version="1.0" encoding="UTF-8" standalone="yes"?>
<Relationships xmlns="http://schemas.openxmlformats.org/package/2006/relationships"><Relationship Id="rId7" Type="http://schemas.openxmlformats.org/officeDocument/2006/relationships/vmlDrawing" Target="../drawings/vmlDrawing23.vml"/><Relationship Id="rId6" Type="http://schemas.openxmlformats.org/officeDocument/2006/relationships/slideLayout" Target="../slideLayouts/slideLayout7.xml"/><Relationship Id="rId5" Type="http://schemas.openxmlformats.org/officeDocument/2006/relationships/image" Target="../media/image88.wmf"/><Relationship Id="rId4" Type="http://schemas.openxmlformats.org/officeDocument/2006/relationships/oleObject" Target="../embeddings/oleObject91.bin"/><Relationship Id="rId3" Type="http://schemas.openxmlformats.org/officeDocument/2006/relationships/image" Target="../media/image87.wmf"/><Relationship Id="rId2" Type="http://schemas.openxmlformats.org/officeDocument/2006/relationships/oleObject" Target="../embeddings/oleObject90.bin"/><Relationship Id="rId1" Type="http://schemas.openxmlformats.org/officeDocument/2006/relationships/image" Target="../media/image86.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vmlDrawing" Target="../drawings/vmlDrawing24.vml"/><Relationship Id="rId3" Type="http://schemas.openxmlformats.org/officeDocument/2006/relationships/slideLayout" Target="../slideLayouts/slideLayout2.xml"/><Relationship Id="rId2" Type="http://schemas.openxmlformats.org/officeDocument/2006/relationships/image" Target="../media/image89.wmf"/><Relationship Id="rId1" Type="http://schemas.openxmlformats.org/officeDocument/2006/relationships/oleObject" Target="../embeddings/oleObject92.bin"/></Relationships>
</file>

<file path=ppt/slides/_rels/slide49.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vmlDrawing" Target="../drawings/vmlDrawing25.vml"/><Relationship Id="rId5" Type="http://schemas.openxmlformats.org/officeDocument/2006/relationships/slideLayout" Target="../slideLayouts/slideLayout2.xml"/><Relationship Id="rId4" Type="http://schemas.openxmlformats.org/officeDocument/2006/relationships/image" Target="../media/image91.wmf"/><Relationship Id="rId3" Type="http://schemas.openxmlformats.org/officeDocument/2006/relationships/oleObject" Target="../embeddings/oleObject94.bin"/><Relationship Id="rId2" Type="http://schemas.openxmlformats.org/officeDocument/2006/relationships/image" Target="../media/image90.wmf"/><Relationship Id="rId1" Type="http://schemas.openxmlformats.org/officeDocument/2006/relationships/oleObject" Target="../embeddings/oleObject93.bin"/></Relationships>
</file>

<file path=ppt/slides/_rels/slide5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5.wmf"/><Relationship Id="rId7" Type="http://schemas.openxmlformats.org/officeDocument/2006/relationships/oleObject" Target="../embeddings/oleObject98.bin"/><Relationship Id="rId6" Type="http://schemas.openxmlformats.org/officeDocument/2006/relationships/image" Target="../media/image94.wmf"/><Relationship Id="rId5" Type="http://schemas.openxmlformats.org/officeDocument/2006/relationships/oleObject" Target="../embeddings/oleObject97.bin"/><Relationship Id="rId4" Type="http://schemas.openxmlformats.org/officeDocument/2006/relationships/image" Target="../media/image93.wmf"/><Relationship Id="rId3" Type="http://schemas.openxmlformats.org/officeDocument/2006/relationships/oleObject" Target="../embeddings/oleObject96.bin"/><Relationship Id="rId2" Type="http://schemas.openxmlformats.org/officeDocument/2006/relationships/image" Target="../media/image92.wmf"/><Relationship Id="rId11" Type="http://schemas.openxmlformats.org/officeDocument/2006/relationships/notesSlide" Target="../notesSlides/notesSlide16.xml"/><Relationship Id="rId10" Type="http://schemas.openxmlformats.org/officeDocument/2006/relationships/vmlDrawing" Target="../drawings/vmlDrawing26.vml"/><Relationship Id="rId1" Type="http://schemas.openxmlformats.org/officeDocument/2006/relationships/oleObject" Target="../embeddings/oleObject95.bin"/></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103.bin"/><Relationship Id="rId8" Type="http://schemas.openxmlformats.org/officeDocument/2006/relationships/image" Target="../media/image99.emf"/><Relationship Id="rId7" Type="http://schemas.openxmlformats.org/officeDocument/2006/relationships/oleObject" Target="../embeddings/oleObject102.bin"/><Relationship Id="rId6" Type="http://schemas.openxmlformats.org/officeDocument/2006/relationships/image" Target="../media/image98.emf"/><Relationship Id="rId5" Type="http://schemas.openxmlformats.org/officeDocument/2006/relationships/oleObject" Target="../embeddings/oleObject101.bin"/><Relationship Id="rId4" Type="http://schemas.openxmlformats.org/officeDocument/2006/relationships/image" Target="../media/image97.emf"/><Relationship Id="rId3" Type="http://schemas.openxmlformats.org/officeDocument/2006/relationships/oleObject" Target="../embeddings/oleObject100.bin"/><Relationship Id="rId2" Type="http://schemas.openxmlformats.org/officeDocument/2006/relationships/image" Target="../media/image96.wmf"/><Relationship Id="rId12" Type="http://schemas.openxmlformats.org/officeDocument/2006/relationships/vmlDrawing" Target="../drawings/vmlDrawing27.vml"/><Relationship Id="rId11" Type="http://schemas.openxmlformats.org/officeDocument/2006/relationships/slideLayout" Target="../slideLayouts/slideLayout2.xml"/><Relationship Id="rId10" Type="http://schemas.openxmlformats.org/officeDocument/2006/relationships/image" Target="../media/image100.emf"/><Relationship Id="rId1" Type="http://schemas.openxmlformats.org/officeDocument/2006/relationships/oleObject" Target="../embeddings/oleObject99.bin"/></Relationships>
</file>

<file path=ppt/slides/_rels/slide52.xml.rels><?xml version="1.0" encoding="UTF-8" standalone="yes"?>
<Relationships xmlns="http://schemas.openxmlformats.org/package/2006/relationships"><Relationship Id="rId9" Type="http://schemas.openxmlformats.org/officeDocument/2006/relationships/oleObject" Target="../embeddings/oleObject108.bin"/><Relationship Id="rId8" Type="http://schemas.openxmlformats.org/officeDocument/2006/relationships/image" Target="../media/image104.emf"/><Relationship Id="rId7" Type="http://schemas.openxmlformats.org/officeDocument/2006/relationships/oleObject" Target="../embeddings/oleObject107.bin"/><Relationship Id="rId6" Type="http://schemas.openxmlformats.org/officeDocument/2006/relationships/image" Target="../media/image103.emf"/><Relationship Id="rId5" Type="http://schemas.openxmlformats.org/officeDocument/2006/relationships/oleObject" Target="../embeddings/oleObject106.bin"/><Relationship Id="rId4" Type="http://schemas.openxmlformats.org/officeDocument/2006/relationships/image" Target="../media/image102.emf"/><Relationship Id="rId3" Type="http://schemas.openxmlformats.org/officeDocument/2006/relationships/oleObject" Target="../embeddings/oleObject105.bin"/><Relationship Id="rId20" Type="http://schemas.openxmlformats.org/officeDocument/2006/relationships/vmlDrawing" Target="../drawings/vmlDrawing28.vml"/><Relationship Id="rId2" Type="http://schemas.openxmlformats.org/officeDocument/2006/relationships/image" Target="../media/image101.emf"/><Relationship Id="rId19" Type="http://schemas.openxmlformats.org/officeDocument/2006/relationships/slideLayout" Target="../slideLayouts/slideLayout2.xml"/><Relationship Id="rId18" Type="http://schemas.openxmlformats.org/officeDocument/2006/relationships/image" Target="../media/image109.emf"/><Relationship Id="rId17" Type="http://schemas.openxmlformats.org/officeDocument/2006/relationships/oleObject" Target="../embeddings/oleObject112.bin"/><Relationship Id="rId16" Type="http://schemas.openxmlformats.org/officeDocument/2006/relationships/image" Target="../media/image108.emf"/><Relationship Id="rId15" Type="http://schemas.openxmlformats.org/officeDocument/2006/relationships/oleObject" Target="../embeddings/oleObject111.bin"/><Relationship Id="rId14" Type="http://schemas.openxmlformats.org/officeDocument/2006/relationships/image" Target="../media/image107.emf"/><Relationship Id="rId13" Type="http://schemas.openxmlformats.org/officeDocument/2006/relationships/oleObject" Target="../embeddings/oleObject110.bin"/><Relationship Id="rId12" Type="http://schemas.openxmlformats.org/officeDocument/2006/relationships/image" Target="../media/image106.emf"/><Relationship Id="rId11" Type="http://schemas.openxmlformats.org/officeDocument/2006/relationships/oleObject" Target="../embeddings/oleObject109.bin"/><Relationship Id="rId10" Type="http://schemas.openxmlformats.org/officeDocument/2006/relationships/image" Target="../media/image105.emf"/><Relationship Id="rId1" Type="http://schemas.openxmlformats.org/officeDocument/2006/relationships/oleObject" Target="../embeddings/oleObject104.bin"/></Relationships>
</file>

<file path=ppt/slides/_rels/slide53.xml.rels><?xml version="1.0" encoding="UTF-8" standalone="yes"?>
<Relationships xmlns="http://schemas.openxmlformats.org/package/2006/relationships"><Relationship Id="rId9" Type="http://schemas.openxmlformats.org/officeDocument/2006/relationships/oleObject" Target="../embeddings/oleObject117.bin"/><Relationship Id="rId8" Type="http://schemas.openxmlformats.org/officeDocument/2006/relationships/image" Target="../media/image112.emf"/><Relationship Id="rId7" Type="http://schemas.openxmlformats.org/officeDocument/2006/relationships/oleObject" Target="../embeddings/oleObject116.bin"/><Relationship Id="rId6" Type="http://schemas.openxmlformats.org/officeDocument/2006/relationships/image" Target="../media/image111.emf"/><Relationship Id="rId5" Type="http://schemas.openxmlformats.org/officeDocument/2006/relationships/oleObject" Target="../embeddings/oleObject115.bin"/><Relationship Id="rId4" Type="http://schemas.openxmlformats.org/officeDocument/2006/relationships/image" Target="../media/image110.emf"/><Relationship Id="rId3" Type="http://schemas.openxmlformats.org/officeDocument/2006/relationships/oleObject" Target="../embeddings/oleObject114.bin"/><Relationship Id="rId2" Type="http://schemas.openxmlformats.org/officeDocument/2006/relationships/image" Target="../media/image101.emf"/><Relationship Id="rId16" Type="http://schemas.openxmlformats.org/officeDocument/2006/relationships/vmlDrawing" Target="../drawings/vmlDrawing29.vml"/><Relationship Id="rId15" Type="http://schemas.openxmlformats.org/officeDocument/2006/relationships/slideLayout" Target="../slideLayouts/slideLayout2.xml"/><Relationship Id="rId14" Type="http://schemas.openxmlformats.org/officeDocument/2006/relationships/image" Target="../media/image115.emf"/><Relationship Id="rId13" Type="http://schemas.openxmlformats.org/officeDocument/2006/relationships/oleObject" Target="../embeddings/oleObject119.bin"/><Relationship Id="rId12" Type="http://schemas.openxmlformats.org/officeDocument/2006/relationships/image" Target="../media/image114.emf"/><Relationship Id="rId11" Type="http://schemas.openxmlformats.org/officeDocument/2006/relationships/oleObject" Target="../embeddings/oleObject118.bin"/><Relationship Id="rId10" Type="http://schemas.openxmlformats.org/officeDocument/2006/relationships/image" Target="../media/image113.emf"/><Relationship Id="rId1" Type="http://schemas.openxmlformats.org/officeDocument/2006/relationships/oleObject" Target="../embeddings/oleObject113.bin"/></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124.bin"/><Relationship Id="rId8" Type="http://schemas.openxmlformats.org/officeDocument/2006/relationships/image" Target="../media/image118.emf"/><Relationship Id="rId7" Type="http://schemas.openxmlformats.org/officeDocument/2006/relationships/oleObject" Target="../embeddings/oleObject123.bin"/><Relationship Id="rId6" Type="http://schemas.openxmlformats.org/officeDocument/2006/relationships/image" Target="../media/image117.emf"/><Relationship Id="rId5" Type="http://schemas.openxmlformats.org/officeDocument/2006/relationships/oleObject" Target="../embeddings/oleObject122.bin"/><Relationship Id="rId4" Type="http://schemas.openxmlformats.org/officeDocument/2006/relationships/image" Target="../media/image116.emf"/><Relationship Id="rId3" Type="http://schemas.openxmlformats.org/officeDocument/2006/relationships/oleObject" Target="../embeddings/oleObject121.bin"/><Relationship Id="rId28" Type="http://schemas.openxmlformats.org/officeDocument/2006/relationships/vmlDrawing" Target="../drawings/vmlDrawing30.vml"/><Relationship Id="rId27" Type="http://schemas.openxmlformats.org/officeDocument/2006/relationships/slideLayout" Target="../slideLayouts/slideLayout2.xml"/><Relationship Id="rId26" Type="http://schemas.openxmlformats.org/officeDocument/2006/relationships/image" Target="../media/image127.emf"/><Relationship Id="rId25" Type="http://schemas.openxmlformats.org/officeDocument/2006/relationships/oleObject" Target="../embeddings/oleObject132.bin"/><Relationship Id="rId24" Type="http://schemas.openxmlformats.org/officeDocument/2006/relationships/image" Target="../media/image126.emf"/><Relationship Id="rId23" Type="http://schemas.openxmlformats.org/officeDocument/2006/relationships/oleObject" Target="../embeddings/oleObject131.bin"/><Relationship Id="rId22" Type="http://schemas.openxmlformats.org/officeDocument/2006/relationships/image" Target="../media/image125.emf"/><Relationship Id="rId21" Type="http://schemas.openxmlformats.org/officeDocument/2006/relationships/oleObject" Target="../embeddings/oleObject130.bin"/><Relationship Id="rId20" Type="http://schemas.openxmlformats.org/officeDocument/2006/relationships/image" Target="../media/image124.emf"/><Relationship Id="rId2" Type="http://schemas.openxmlformats.org/officeDocument/2006/relationships/image" Target="../media/image101.emf"/><Relationship Id="rId19" Type="http://schemas.openxmlformats.org/officeDocument/2006/relationships/oleObject" Target="../embeddings/oleObject129.bin"/><Relationship Id="rId18" Type="http://schemas.openxmlformats.org/officeDocument/2006/relationships/image" Target="../media/image123.emf"/><Relationship Id="rId17" Type="http://schemas.openxmlformats.org/officeDocument/2006/relationships/oleObject" Target="../embeddings/oleObject128.bin"/><Relationship Id="rId16" Type="http://schemas.openxmlformats.org/officeDocument/2006/relationships/image" Target="../media/image122.emf"/><Relationship Id="rId15" Type="http://schemas.openxmlformats.org/officeDocument/2006/relationships/oleObject" Target="../embeddings/oleObject127.bin"/><Relationship Id="rId14" Type="http://schemas.openxmlformats.org/officeDocument/2006/relationships/image" Target="../media/image121.emf"/><Relationship Id="rId13" Type="http://schemas.openxmlformats.org/officeDocument/2006/relationships/oleObject" Target="../embeddings/oleObject126.bin"/><Relationship Id="rId12" Type="http://schemas.openxmlformats.org/officeDocument/2006/relationships/image" Target="../media/image120.emf"/><Relationship Id="rId11" Type="http://schemas.openxmlformats.org/officeDocument/2006/relationships/oleObject" Target="../embeddings/oleObject125.bin"/><Relationship Id="rId10" Type="http://schemas.openxmlformats.org/officeDocument/2006/relationships/image" Target="../media/image119.emf"/><Relationship Id="rId1" Type="http://schemas.openxmlformats.org/officeDocument/2006/relationships/oleObject" Target="../embeddings/oleObject120.bin"/></Relationships>
</file>

<file path=ppt/slides/_rels/slide55.xml.rels><?xml version="1.0" encoding="UTF-8" standalone="yes"?>
<Relationships xmlns="http://schemas.openxmlformats.org/package/2006/relationships"><Relationship Id="rId9" Type="http://schemas.openxmlformats.org/officeDocument/2006/relationships/oleObject" Target="../embeddings/oleObject137.bin"/><Relationship Id="rId8" Type="http://schemas.openxmlformats.org/officeDocument/2006/relationships/image" Target="../media/image131.emf"/><Relationship Id="rId7" Type="http://schemas.openxmlformats.org/officeDocument/2006/relationships/oleObject" Target="../embeddings/oleObject136.bin"/><Relationship Id="rId6" Type="http://schemas.openxmlformats.org/officeDocument/2006/relationships/image" Target="../media/image130.emf"/><Relationship Id="rId5" Type="http://schemas.openxmlformats.org/officeDocument/2006/relationships/oleObject" Target="../embeddings/oleObject135.bin"/><Relationship Id="rId4" Type="http://schemas.openxmlformats.org/officeDocument/2006/relationships/image" Target="../media/image129.emf"/><Relationship Id="rId3" Type="http://schemas.openxmlformats.org/officeDocument/2006/relationships/oleObject" Target="../embeddings/oleObject134.bin"/><Relationship Id="rId25" Type="http://schemas.openxmlformats.org/officeDocument/2006/relationships/notesSlide" Target="../notesSlides/notesSlide17.xml"/><Relationship Id="rId24" Type="http://schemas.openxmlformats.org/officeDocument/2006/relationships/vmlDrawing" Target="../drawings/vmlDrawing31.vml"/><Relationship Id="rId23" Type="http://schemas.openxmlformats.org/officeDocument/2006/relationships/slideLayout" Target="../slideLayouts/slideLayout2.xml"/><Relationship Id="rId22" Type="http://schemas.openxmlformats.org/officeDocument/2006/relationships/image" Target="../media/image138.emf"/><Relationship Id="rId21" Type="http://schemas.openxmlformats.org/officeDocument/2006/relationships/oleObject" Target="../embeddings/oleObject143.bin"/><Relationship Id="rId20" Type="http://schemas.openxmlformats.org/officeDocument/2006/relationships/image" Target="../media/image137.emf"/><Relationship Id="rId2" Type="http://schemas.openxmlformats.org/officeDocument/2006/relationships/image" Target="../media/image128.emf"/><Relationship Id="rId19" Type="http://schemas.openxmlformats.org/officeDocument/2006/relationships/oleObject" Target="../embeddings/oleObject142.bin"/><Relationship Id="rId18" Type="http://schemas.openxmlformats.org/officeDocument/2006/relationships/image" Target="../media/image136.emf"/><Relationship Id="rId17" Type="http://schemas.openxmlformats.org/officeDocument/2006/relationships/oleObject" Target="../embeddings/oleObject141.bin"/><Relationship Id="rId16" Type="http://schemas.openxmlformats.org/officeDocument/2006/relationships/image" Target="../media/image135.emf"/><Relationship Id="rId15" Type="http://schemas.openxmlformats.org/officeDocument/2006/relationships/oleObject" Target="../embeddings/oleObject140.bin"/><Relationship Id="rId14" Type="http://schemas.openxmlformats.org/officeDocument/2006/relationships/image" Target="../media/image134.emf"/><Relationship Id="rId13" Type="http://schemas.openxmlformats.org/officeDocument/2006/relationships/oleObject" Target="../embeddings/oleObject139.bin"/><Relationship Id="rId12" Type="http://schemas.openxmlformats.org/officeDocument/2006/relationships/image" Target="../media/image133.emf"/><Relationship Id="rId11" Type="http://schemas.openxmlformats.org/officeDocument/2006/relationships/oleObject" Target="../embeddings/oleObject138.bin"/><Relationship Id="rId10" Type="http://schemas.openxmlformats.org/officeDocument/2006/relationships/image" Target="../media/image132.emf"/><Relationship Id="rId1" Type="http://schemas.openxmlformats.org/officeDocument/2006/relationships/oleObject" Target="../embeddings/oleObject133.bin"/></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148.bin"/><Relationship Id="rId8" Type="http://schemas.openxmlformats.org/officeDocument/2006/relationships/image" Target="../media/image142.emf"/><Relationship Id="rId7" Type="http://schemas.openxmlformats.org/officeDocument/2006/relationships/oleObject" Target="../embeddings/oleObject147.bin"/><Relationship Id="rId6" Type="http://schemas.openxmlformats.org/officeDocument/2006/relationships/image" Target="../media/image141.emf"/><Relationship Id="rId5" Type="http://schemas.openxmlformats.org/officeDocument/2006/relationships/oleObject" Target="../embeddings/oleObject146.bin"/><Relationship Id="rId4" Type="http://schemas.openxmlformats.org/officeDocument/2006/relationships/image" Target="../media/image140.emf"/><Relationship Id="rId3" Type="http://schemas.openxmlformats.org/officeDocument/2006/relationships/oleObject" Target="../embeddings/oleObject145.bin"/><Relationship Id="rId20" Type="http://schemas.openxmlformats.org/officeDocument/2006/relationships/vmlDrawing" Target="../drawings/vmlDrawing32.vml"/><Relationship Id="rId2" Type="http://schemas.openxmlformats.org/officeDocument/2006/relationships/image" Target="../media/image139.emf"/><Relationship Id="rId19" Type="http://schemas.openxmlformats.org/officeDocument/2006/relationships/slideLayout" Target="../slideLayouts/slideLayout2.xml"/><Relationship Id="rId18" Type="http://schemas.openxmlformats.org/officeDocument/2006/relationships/image" Target="../media/image147.emf"/><Relationship Id="rId17" Type="http://schemas.openxmlformats.org/officeDocument/2006/relationships/oleObject" Target="../embeddings/oleObject152.bin"/><Relationship Id="rId16" Type="http://schemas.openxmlformats.org/officeDocument/2006/relationships/image" Target="../media/image146.emf"/><Relationship Id="rId15" Type="http://schemas.openxmlformats.org/officeDocument/2006/relationships/oleObject" Target="../embeddings/oleObject151.bin"/><Relationship Id="rId14" Type="http://schemas.openxmlformats.org/officeDocument/2006/relationships/image" Target="../media/image145.emf"/><Relationship Id="rId13" Type="http://schemas.openxmlformats.org/officeDocument/2006/relationships/oleObject" Target="../embeddings/oleObject150.bin"/><Relationship Id="rId12" Type="http://schemas.openxmlformats.org/officeDocument/2006/relationships/image" Target="../media/image144.emf"/><Relationship Id="rId11" Type="http://schemas.openxmlformats.org/officeDocument/2006/relationships/oleObject" Target="../embeddings/oleObject149.bin"/><Relationship Id="rId10" Type="http://schemas.openxmlformats.org/officeDocument/2006/relationships/image" Target="../media/image143.emf"/><Relationship Id="rId1" Type="http://schemas.openxmlformats.org/officeDocument/2006/relationships/oleObject" Target="../embeddings/oleObject144.bin"/></Relationships>
</file>

<file path=ppt/slides/_rels/slide57.xml.rels><?xml version="1.0" encoding="UTF-8" standalone="yes"?>
<Relationships xmlns="http://schemas.openxmlformats.org/package/2006/relationships"><Relationship Id="rId9" Type="http://schemas.openxmlformats.org/officeDocument/2006/relationships/oleObject" Target="../embeddings/oleObject157.bin"/><Relationship Id="rId8" Type="http://schemas.openxmlformats.org/officeDocument/2006/relationships/image" Target="../media/image151.emf"/><Relationship Id="rId7" Type="http://schemas.openxmlformats.org/officeDocument/2006/relationships/oleObject" Target="../embeddings/oleObject156.bin"/><Relationship Id="rId6" Type="http://schemas.openxmlformats.org/officeDocument/2006/relationships/image" Target="../media/image150.emf"/><Relationship Id="rId5" Type="http://schemas.openxmlformats.org/officeDocument/2006/relationships/oleObject" Target="../embeddings/oleObject155.bin"/><Relationship Id="rId4" Type="http://schemas.openxmlformats.org/officeDocument/2006/relationships/image" Target="../media/image149.emf"/><Relationship Id="rId3" Type="http://schemas.openxmlformats.org/officeDocument/2006/relationships/oleObject" Target="../embeddings/oleObject154.bin"/><Relationship Id="rId28" Type="http://schemas.openxmlformats.org/officeDocument/2006/relationships/vmlDrawing" Target="../drawings/vmlDrawing33.vml"/><Relationship Id="rId27" Type="http://schemas.openxmlformats.org/officeDocument/2006/relationships/slideLayout" Target="../slideLayouts/slideLayout2.xml"/><Relationship Id="rId26" Type="http://schemas.openxmlformats.org/officeDocument/2006/relationships/image" Target="../media/image160.emf"/><Relationship Id="rId25" Type="http://schemas.openxmlformats.org/officeDocument/2006/relationships/oleObject" Target="../embeddings/oleObject165.bin"/><Relationship Id="rId24" Type="http://schemas.openxmlformats.org/officeDocument/2006/relationships/image" Target="../media/image159.emf"/><Relationship Id="rId23" Type="http://schemas.openxmlformats.org/officeDocument/2006/relationships/oleObject" Target="../embeddings/oleObject164.bin"/><Relationship Id="rId22" Type="http://schemas.openxmlformats.org/officeDocument/2006/relationships/image" Target="../media/image158.emf"/><Relationship Id="rId21" Type="http://schemas.openxmlformats.org/officeDocument/2006/relationships/oleObject" Target="../embeddings/oleObject163.bin"/><Relationship Id="rId20" Type="http://schemas.openxmlformats.org/officeDocument/2006/relationships/image" Target="../media/image157.emf"/><Relationship Id="rId2" Type="http://schemas.openxmlformats.org/officeDocument/2006/relationships/image" Target="../media/image148.emf"/><Relationship Id="rId19" Type="http://schemas.openxmlformats.org/officeDocument/2006/relationships/oleObject" Target="../embeddings/oleObject162.bin"/><Relationship Id="rId18" Type="http://schemas.openxmlformats.org/officeDocument/2006/relationships/image" Target="../media/image156.emf"/><Relationship Id="rId17" Type="http://schemas.openxmlformats.org/officeDocument/2006/relationships/oleObject" Target="../embeddings/oleObject161.bin"/><Relationship Id="rId16" Type="http://schemas.openxmlformats.org/officeDocument/2006/relationships/image" Target="../media/image155.emf"/><Relationship Id="rId15" Type="http://schemas.openxmlformats.org/officeDocument/2006/relationships/oleObject" Target="../embeddings/oleObject160.bin"/><Relationship Id="rId14" Type="http://schemas.openxmlformats.org/officeDocument/2006/relationships/image" Target="../media/image154.emf"/><Relationship Id="rId13" Type="http://schemas.openxmlformats.org/officeDocument/2006/relationships/oleObject" Target="../embeddings/oleObject159.bin"/><Relationship Id="rId12" Type="http://schemas.openxmlformats.org/officeDocument/2006/relationships/image" Target="../media/image153.emf"/><Relationship Id="rId11" Type="http://schemas.openxmlformats.org/officeDocument/2006/relationships/oleObject" Target="../embeddings/oleObject158.bin"/><Relationship Id="rId10" Type="http://schemas.openxmlformats.org/officeDocument/2006/relationships/image" Target="../media/image152.emf"/><Relationship Id="rId1" Type="http://schemas.openxmlformats.org/officeDocument/2006/relationships/oleObject" Target="../embeddings/oleObject153.bin"/></Relationships>
</file>

<file path=ppt/slides/_rels/slide58.xml.rels><?xml version="1.0" encoding="UTF-8" standalone="yes"?>
<Relationships xmlns="http://schemas.openxmlformats.org/package/2006/relationships"><Relationship Id="rId9" Type="http://schemas.openxmlformats.org/officeDocument/2006/relationships/oleObject" Target="../embeddings/oleObject170.bin"/><Relationship Id="rId8" Type="http://schemas.openxmlformats.org/officeDocument/2006/relationships/image" Target="../media/image164.emf"/><Relationship Id="rId7" Type="http://schemas.openxmlformats.org/officeDocument/2006/relationships/oleObject" Target="../embeddings/oleObject169.bin"/><Relationship Id="rId6" Type="http://schemas.openxmlformats.org/officeDocument/2006/relationships/image" Target="../media/image163.emf"/><Relationship Id="rId5" Type="http://schemas.openxmlformats.org/officeDocument/2006/relationships/oleObject" Target="../embeddings/oleObject168.bin"/><Relationship Id="rId4" Type="http://schemas.openxmlformats.org/officeDocument/2006/relationships/image" Target="../media/image162.emf"/><Relationship Id="rId3" Type="http://schemas.openxmlformats.org/officeDocument/2006/relationships/oleObject" Target="../embeddings/oleObject167.bin"/><Relationship Id="rId20" Type="http://schemas.openxmlformats.org/officeDocument/2006/relationships/vmlDrawing" Target="../drawings/vmlDrawing34.vml"/><Relationship Id="rId2" Type="http://schemas.openxmlformats.org/officeDocument/2006/relationships/image" Target="../media/image161.emf"/><Relationship Id="rId19" Type="http://schemas.openxmlformats.org/officeDocument/2006/relationships/slideLayout" Target="../slideLayouts/slideLayout2.xml"/><Relationship Id="rId18" Type="http://schemas.openxmlformats.org/officeDocument/2006/relationships/image" Target="../media/image169.emf"/><Relationship Id="rId17" Type="http://schemas.openxmlformats.org/officeDocument/2006/relationships/oleObject" Target="../embeddings/oleObject174.bin"/><Relationship Id="rId16" Type="http://schemas.openxmlformats.org/officeDocument/2006/relationships/image" Target="../media/image168.emf"/><Relationship Id="rId15" Type="http://schemas.openxmlformats.org/officeDocument/2006/relationships/oleObject" Target="../embeddings/oleObject173.bin"/><Relationship Id="rId14" Type="http://schemas.openxmlformats.org/officeDocument/2006/relationships/image" Target="../media/image167.emf"/><Relationship Id="rId13" Type="http://schemas.openxmlformats.org/officeDocument/2006/relationships/oleObject" Target="../embeddings/oleObject172.bin"/><Relationship Id="rId12" Type="http://schemas.openxmlformats.org/officeDocument/2006/relationships/image" Target="../media/image166.emf"/><Relationship Id="rId11" Type="http://schemas.openxmlformats.org/officeDocument/2006/relationships/oleObject" Target="../embeddings/oleObject171.bin"/><Relationship Id="rId10" Type="http://schemas.openxmlformats.org/officeDocument/2006/relationships/image" Target="../media/image165.emf"/><Relationship Id="rId1" Type="http://schemas.openxmlformats.org/officeDocument/2006/relationships/oleObject" Target="../embeddings/oleObject166.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bwMode="auto">
          <a:xfrm>
            <a:off x="7928887" y="1529674"/>
            <a:ext cx="4263114" cy="3801676"/>
          </a:xfrm>
          <a:prstGeom prst="rect">
            <a:avLst/>
          </a:prstGeom>
          <a:solidFill>
            <a:srgbClr val="FEFEFE"/>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矩形 19"/>
          <p:cNvSpPr/>
          <p:nvPr/>
        </p:nvSpPr>
        <p:spPr>
          <a:xfrm>
            <a:off x="0" y="1529673"/>
            <a:ext cx="7939595" cy="3801677"/>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865"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154876" y="3082680"/>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文本框 22"/>
          <p:cNvSpPr txBox="1"/>
          <p:nvPr/>
        </p:nvSpPr>
        <p:spPr>
          <a:xfrm>
            <a:off x="1" y="2947584"/>
            <a:ext cx="7939594" cy="768350"/>
          </a:xfrm>
          <a:prstGeom prst="rect">
            <a:avLst/>
          </a:prstGeom>
          <a:noFill/>
        </p:spPr>
        <p:txBody>
          <a:bodyPr wrap="square" rtlCol="0">
            <a:spAutoFit/>
          </a:bodyPr>
          <a:lstStyle/>
          <a:p>
            <a:pPr algn="ctr" defTabSz="685800">
              <a:spcAft>
                <a:spcPts val="0"/>
              </a:spcAft>
            </a:pPr>
            <a:r>
              <a:rPr kumimoji="1" lang="zh-CN" altLang="en-US" sz="4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第</a:t>
            </a:r>
            <a:r>
              <a:rPr kumimoji="1" lang="zh-CN" altLang="en-US" sz="4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十九讲  </a:t>
            </a:r>
            <a:r>
              <a:rPr kumimoji="1" lang="en-US" altLang="zh-CN" sz="4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2026.5.13</a:t>
            </a:r>
            <a:endParaRPr kumimoji="1" lang="zh-CN" altLang="en-US" sz="4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1" name="矩形 370"/>
          <p:cNvSpPr/>
          <p:nvPr/>
        </p:nvSpPr>
        <p:spPr>
          <a:xfrm>
            <a:off x="998964" y="3934298"/>
            <a:ext cx="5628092" cy="737235"/>
          </a:xfrm>
          <a:prstGeom prst="rect">
            <a:avLst/>
          </a:prstGeom>
        </p:spPr>
        <p:txBody>
          <a:bodyPr wrap="square">
            <a:spAutoFit/>
          </a:bodyPr>
          <a:lstStyle/>
          <a:p>
            <a:pPr marL="0" marR="0" lvl="0" indent="0" algn="ctr" defTabSz="914400" rtl="0" eaLnBrk="0" fontAlgn="base" latinLnBrk="0" hangingPunct="0">
              <a:lnSpc>
                <a:spcPct val="150000"/>
              </a:lnSpc>
              <a:spcBef>
                <a:spcPct val="0"/>
              </a:spcBef>
              <a:spcAft>
                <a:spcPts val="0"/>
              </a:spcAft>
              <a:buClrTx/>
              <a:buSzTx/>
              <a:buFontTx/>
              <a:buNone/>
              <a:defRPr/>
            </a:pPr>
            <a:r>
              <a:rPr kumimoji="1"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主讲人：曾华琳</a:t>
            </a:r>
            <a:endParaRPr kumimoji="1"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 name="组合 3"/>
          <p:cNvGrpSpPr/>
          <p:nvPr/>
        </p:nvGrpSpPr>
        <p:grpSpPr>
          <a:xfrm>
            <a:off x="8102254" y="1704658"/>
            <a:ext cx="3881691" cy="3433977"/>
            <a:chOff x="8226111" y="1728368"/>
            <a:chExt cx="3881691" cy="3433977"/>
          </a:xfrm>
        </p:grpSpPr>
        <p:pic>
          <p:nvPicPr>
            <p:cNvPr id="187" name="图片 186"/>
            <p:cNvPicPr>
              <a:picLocks noChangeAspect="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84928" y="1728368"/>
              <a:ext cx="2561629" cy="2561629"/>
            </a:xfrm>
            <a:prstGeom prst="rect">
              <a:avLst/>
            </a:prstGeom>
          </p:spPr>
        </p:pic>
        <p:sp>
          <p:nvSpPr>
            <p:cNvPr id="188" name="文本框 187"/>
            <p:cNvSpPr txBox="1"/>
            <p:nvPr/>
          </p:nvSpPr>
          <p:spPr>
            <a:xfrm>
              <a:off x="8226111" y="4578780"/>
              <a:ext cx="3881691" cy="583565"/>
            </a:xfrm>
            <a:prstGeom prst="rect">
              <a:avLst/>
            </a:prstGeom>
            <a:noFill/>
            <a:effectLst/>
          </p:spPr>
          <p:txBody>
            <a:bodyPr wrap="square" rtlCol="0">
              <a:spAutoFit/>
            </a:bodyPr>
            <a:lstStyle/>
            <a:p>
              <a:pPr marL="0" marR="0" lvl="0" indent="0" algn="dist" defTabSz="914400" rtl="0" eaLnBrk="0" fontAlgn="base" latinLnBrk="0" hangingPunct="0">
                <a:lnSpc>
                  <a:spcPct val="100000"/>
                </a:lnSpc>
                <a:spcBef>
                  <a:spcPct val="0"/>
                </a:spcBef>
                <a:spcAft>
                  <a:spcPts val="0"/>
                </a:spcAft>
                <a:buClrTx/>
                <a:buSzTx/>
                <a:buFontTx/>
                <a:buNone/>
                <a:defRPr/>
              </a:pPr>
              <a:r>
                <a:rPr kumimoji="1"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信息学院</a:t>
              </a:r>
              <a:endParaRPr kumimoji="1"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4" name="文本框 183"/>
          <p:cNvSpPr txBox="1"/>
          <p:nvPr/>
        </p:nvSpPr>
        <p:spPr>
          <a:xfrm>
            <a:off x="1203740" y="1982910"/>
            <a:ext cx="5423316" cy="829945"/>
          </a:xfrm>
          <a:prstGeom prst="rect">
            <a:avLst/>
          </a:prstGeom>
          <a:noFill/>
          <a:effectLst/>
        </p:spPr>
        <p:txBody>
          <a:bodyPr wrap="square" rtlCol="0">
            <a:spAutoFit/>
          </a:bodyPr>
          <a:lstStyle/>
          <a:p>
            <a:pPr lvl="0" algn="ctr" defTabSz="914400" eaLnBrk="0" fontAlgn="base" hangingPunct="0">
              <a:spcBef>
                <a:spcPct val="0"/>
              </a:spcBef>
              <a:spcAft>
                <a:spcPts val="0"/>
              </a:spcAft>
              <a:defRPr/>
            </a:pPr>
            <a:r>
              <a:rPr kumimoji="1"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概率统计</a:t>
            </a:r>
            <a:r>
              <a:rPr kumimoji="1" lang="en-US" altLang="zh-CN"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(A)</a:t>
            </a:r>
            <a:endParaRPr kumimoji="1" lang="zh-CN" altLang="en-US" sz="4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159897" y="2348880"/>
            <a:ext cx="5832647" cy="829945"/>
          </a:xfrm>
          <a:prstGeom prst="rect">
            <a:avLst/>
          </a:prstGeom>
          <a:noFill/>
        </p:spPr>
        <p:txBody>
          <a:bodyPr wrap="square" rtlCol="0">
            <a:spAutoFit/>
          </a:bodyPr>
          <a:lstStyle/>
          <a:p>
            <a:pPr lvl="0" algn="ctr" defTabSz="914400">
              <a:spcAft>
                <a:spcPts val="0"/>
              </a:spcAft>
            </a:pPr>
            <a:r>
              <a:rPr lang="zh-CN" altLang="en-US" sz="4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入门测</a:t>
            </a:r>
            <a:endParaRPr lang="zh-CN" altLang="en-US" sz="4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57336" cy="118786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800" b="1"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01</a:t>
              </a:r>
              <a:endParaRPr kumimoji="0" lang="zh-CN" altLang="en-US" sz="13800" b="1" i="0" u="none" strike="noStrike" kern="1200" cap="none" spc="0" normalizeH="0" baseline="0" noProof="0" dirty="0">
                <a:ln>
                  <a:noFill/>
                </a:ln>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Scale>
                                      <p:cBhvr>
                                        <p:cTn id="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
                                        </p:tgtEl>
                                        <p:attrNameLst>
                                          <p:attrName>ppt_x</p:attrName>
                                          <p:attrName>ppt_y</p:attrName>
                                        </p:attrNameLst>
                                      </p:cBhvr>
                                    </p:animMotion>
                                    <p:animEffect transition="in" filter="fade">
                                      <p:cBhvr>
                                        <p:cTn id="9" dur="1000"/>
                                        <p:tgtEl>
                                          <p:spTgt spid="2"/>
                                        </p:tgtEl>
                                      </p:cBhvr>
                                    </p:animEffect>
                                  </p:childTnLst>
                                </p:cTn>
                              </p:par>
                              <p:par>
                                <p:cTn id="10" presetID="22" presetClass="entr" presetSubtype="4" fill="hold" grpId="0" nodeType="withEffect">
                                  <p:stCondLst>
                                    <p:cond delay="70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par>
                                <p:cTn id="13" presetID="22" presetClass="entr" presetSubtype="8" fill="hold" nodeType="withEffect">
                                  <p:stCondLst>
                                    <p:cond delay="70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5" name="Object 15"/>
          <p:cNvGraphicFramePr>
            <a:graphicFrameLocks noChangeAspect="1"/>
          </p:cNvGraphicFramePr>
          <p:nvPr/>
        </p:nvGraphicFramePr>
        <p:xfrm>
          <a:off x="5229225" y="2771775"/>
          <a:ext cx="190500" cy="419100"/>
        </p:xfrm>
        <a:graphic>
          <a:graphicData uri="http://schemas.openxmlformats.org/presentationml/2006/ole">
            <mc:AlternateContent xmlns:mc="http://schemas.openxmlformats.org/markup-compatibility/2006">
              <mc:Choice xmlns:v="urn:schemas-microsoft-com:vml" Requires="v">
                <p:oleObj spid="_x0000_s2" name="" r:id="rId1" imgW="190500" imgH="419100" progId="Equation.3">
                  <p:embed/>
                </p:oleObj>
              </mc:Choice>
              <mc:Fallback>
                <p:oleObj name="" r:id="rId1" imgW="190500" imgH="419100" progId="Equation.3">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9225" y="2771775"/>
                        <a:ext cx="1905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66" name="标题 1"/>
          <p:cNvSpPr>
            <a:spLocks noGrp="1" noChangeArrowheads="1"/>
          </p:cNvSpPr>
          <p:nvPr>
            <p:ph type="title"/>
          </p:nvPr>
        </p:nvSpPr>
        <p:spPr>
          <a:xfrm>
            <a:off x="1316038" y="365125"/>
            <a:ext cx="5537200" cy="393700"/>
          </a:xfrm>
        </p:spPr>
        <p:txBody>
          <a:bodyPr>
            <a:normAutofit fontScale="90000"/>
          </a:bodyPr>
          <a:lstStyle/>
          <a:p>
            <a:pPr defTabSz="913130">
              <a:spcAft>
                <a:spcPts val="0"/>
              </a:spcAft>
              <a:buFontTx/>
              <a:buNone/>
            </a:pPr>
            <a:r>
              <a:rPr lang="zh-CN" altLang="en-US" sz="2900"/>
              <a:t>一、填空题</a:t>
            </a:r>
            <a:endParaRPr lang="zh-CN" altLang="en-US" sz="2900"/>
          </a:p>
        </p:txBody>
      </p:sp>
      <p:graphicFrame>
        <p:nvGraphicFramePr>
          <p:cNvPr id="11267" name="Object 14"/>
          <p:cNvGraphicFramePr>
            <a:graphicFrameLocks noChangeAspect="1"/>
          </p:cNvGraphicFramePr>
          <p:nvPr/>
        </p:nvGraphicFramePr>
        <p:xfrm>
          <a:off x="1316038" y="1306513"/>
          <a:ext cx="9436100" cy="1992312"/>
        </p:xfrm>
        <a:graphic>
          <a:graphicData uri="http://schemas.openxmlformats.org/presentationml/2006/ole">
            <mc:AlternateContent xmlns:mc="http://schemas.openxmlformats.org/markup-compatibility/2006">
              <mc:Choice xmlns:v="urn:schemas-microsoft-com:vml" Requires="v">
                <p:oleObj spid="_x0000_s3" name="" r:id="rId3" imgW="10908665" imgH="2189480" progId="Word.Document.8">
                  <p:embed/>
                </p:oleObj>
              </mc:Choice>
              <mc:Fallback>
                <p:oleObj name="" r:id="rId3" imgW="10908665" imgH="2189480" progId="Word.Document.8">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6038" y="1306513"/>
                        <a:ext cx="9436100" cy="199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11"/>
          <p:cNvGraphicFramePr>
            <a:graphicFrameLocks noChangeAspect="1"/>
          </p:cNvGraphicFramePr>
          <p:nvPr/>
        </p:nvGraphicFramePr>
        <p:xfrm>
          <a:off x="9048750" y="1844675"/>
          <a:ext cx="1454150" cy="569913"/>
        </p:xfrm>
        <a:graphic>
          <a:graphicData uri="http://schemas.openxmlformats.org/presentationml/2006/ole">
            <mc:AlternateContent xmlns:mc="http://schemas.openxmlformats.org/markup-compatibility/2006">
              <mc:Choice xmlns:v="urn:schemas-microsoft-com:vml" Requires="v">
                <p:oleObj spid="_x0000_s4" name="" r:id="rId5" imgW="1351915" imgH="525145" progId="Equation.3">
                  <p:embed/>
                </p:oleObj>
              </mc:Choice>
              <mc:Fallback>
                <p:oleObj name="" r:id="rId5" imgW="1351915" imgH="525145"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48750" y="1844675"/>
                        <a:ext cx="1454150"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16"/>
          <p:cNvGraphicFramePr>
            <a:graphicFrameLocks noChangeAspect="1"/>
          </p:cNvGraphicFramePr>
          <p:nvPr/>
        </p:nvGraphicFramePr>
        <p:xfrm>
          <a:off x="1670050" y="3200400"/>
          <a:ext cx="508000" cy="392113"/>
        </p:xfrm>
        <a:graphic>
          <a:graphicData uri="http://schemas.openxmlformats.org/presentationml/2006/ole">
            <mc:AlternateContent xmlns:mc="http://schemas.openxmlformats.org/markup-compatibility/2006">
              <mc:Choice xmlns:v="urn:schemas-microsoft-com:vml" Requires="v">
                <p:oleObj spid="_x0000_s5" name="" r:id="rId7" imgW="593090" imgH="457200" progId="Equation.3">
                  <p:embed/>
                </p:oleObj>
              </mc:Choice>
              <mc:Fallback>
                <p:oleObj name="" r:id="rId7" imgW="593090" imgH="4572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0050" y="3200400"/>
                        <a:ext cx="5080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17"/>
          <p:cNvGraphicFramePr>
            <a:graphicFrameLocks noChangeAspect="1"/>
          </p:cNvGraphicFramePr>
          <p:nvPr/>
        </p:nvGraphicFramePr>
        <p:xfrm>
          <a:off x="2508250" y="3200400"/>
          <a:ext cx="1016000" cy="457200"/>
        </p:xfrm>
        <a:graphic>
          <a:graphicData uri="http://schemas.openxmlformats.org/presentationml/2006/ole">
            <mc:AlternateContent xmlns:mc="http://schemas.openxmlformats.org/markup-compatibility/2006">
              <mc:Choice xmlns:v="urn:schemas-microsoft-com:vml" Requires="v">
                <p:oleObj spid="_x0000_s6" name="" r:id="rId9" imgW="1216025" imgH="535305" progId="Equation.3">
                  <p:embed/>
                </p:oleObj>
              </mc:Choice>
              <mc:Fallback>
                <p:oleObj name="" r:id="rId9" imgW="1216025" imgH="535305"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08250" y="3200400"/>
                        <a:ext cx="101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18"/>
          <p:cNvGraphicFramePr>
            <a:graphicFrameLocks noChangeAspect="1"/>
          </p:cNvGraphicFramePr>
          <p:nvPr/>
        </p:nvGraphicFramePr>
        <p:xfrm>
          <a:off x="3575050" y="3175000"/>
          <a:ext cx="2921000" cy="508000"/>
        </p:xfrm>
        <a:graphic>
          <a:graphicData uri="http://schemas.openxmlformats.org/presentationml/2006/ole">
            <mc:AlternateContent xmlns:mc="http://schemas.openxmlformats.org/markup-compatibility/2006">
              <mc:Choice xmlns:v="urn:schemas-microsoft-com:vml" Requires="v">
                <p:oleObj spid="_x0000_s11" name="" r:id="rId11" imgW="3502025" imgH="593090" progId="Equation.3">
                  <p:embed/>
                </p:oleObj>
              </mc:Choice>
              <mc:Fallback>
                <p:oleObj name="" r:id="rId11" imgW="3502025" imgH="593090" progId="Equation.3">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75050" y="3175000"/>
                        <a:ext cx="29210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19"/>
          <p:cNvGraphicFramePr>
            <a:graphicFrameLocks noChangeAspect="1"/>
          </p:cNvGraphicFramePr>
          <p:nvPr/>
        </p:nvGraphicFramePr>
        <p:xfrm>
          <a:off x="6477000" y="3200400"/>
          <a:ext cx="1422400" cy="442913"/>
        </p:xfrm>
        <a:graphic>
          <a:graphicData uri="http://schemas.openxmlformats.org/presentationml/2006/ole">
            <mc:AlternateContent xmlns:mc="http://schemas.openxmlformats.org/markup-compatibility/2006">
              <mc:Choice xmlns:v="urn:schemas-microsoft-com:vml" Requires="v">
                <p:oleObj spid="_x0000_s13" name="" r:id="rId13" imgW="1692910" imgH="525145" progId="Equation.3">
                  <p:embed/>
                </p:oleObj>
              </mc:Choice>
              <mc:Fallback>
                <p:oleObj name="" r:id="rId13" imgW="1692910" imgH="525145" progId="Equation.3">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77000" y="3200400"/>
                        <a:ext cx="14224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20"/>
          <p:cNvGraphicFramePr>
            <a:graphicFrameLocks noChangeAspect="1"/>
          </p:cNvGraphicFramePr>
          <p:nvPr/>
        </p:nvGraphicFramePr>
        <p:xfrm>
          <a:off x="2444750" y="4211638"/>
          <a:ext cx="4305300" cy="457200"/>
        </p:xfrm>
        <a:graphic>
          <a:graphicData uri="http://schemas.openxmlformats.org/presentationml/2006/ole">
            <mc:AlternateContent xmlns:mc="http://schemas.openxmlformats.org/markup-compatibility/2006">
              <mc:Choice xmlns:v="urn:schemas-microsoft-com:vml" Requires="v">
                <p:oleObj spid="_x0000_s15" name="" r:id="rId15" imgW="5165090" imgH="535305" progId="Equation.3">
                  <p:embed/>
                </p:oleObj>
              </mc:Choice>
              <mc:Fallback>
                <p:oleObj name="" r:id="rId15" imgW="5165090" imgH="535305" progId="Equation.3">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44750" y="4211638"/>
                        <a:ext cx="430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Object 21"/>
          <p:cNvGraphicFramePr>
            <a:graphicFrameLocks noChangeAspect="1"/>
          </p:cNvGraphicFramePr>
          <p:nvPr/>
        </p:nvGraphicFramePr>
        <p:xfrm>
          <a:off x="8274050" y="3276600"/>
          <a:ext cx="1625600" cy="392113"/>
        </p:xfrm>
        <a:graphic>
          <a:graphicData uri="http://schemas.openxmlformats.org/presentationml/2006/ole">
            <mc:AlternateContent xmlns:mc="http://schemas.openxmlformats.org/markup-compatibility/2006">
              <mc:Choice xmlns:v="urn:schemas-microsoft-com:vml" Requires="v">
                <p:oleObj spid="_x0000_s17" name="" r:id="rId17" imgW="1945640" imgH="457200" progId="Equation.3">
                  <p:embed/>
                </p:oleObj>
              </mc:Choice>
              <mc:Fallback>
                <p:oleObj name="" r:id="rId17" imgW="1945640" imgH="457200" progId="Equation.3">
                  <p:embed/>
                  <p:pic>
                    <p:nvPicPr>
                      <p:cNvPr id="0"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74050" y="3276600"/>
                        <a:ext cx="16256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Object 22"/>
          <p:cNvGraphicFramePr>
            <a:graphicFrameLocks noChangeAspect="1"/>
          </p:cNvGraphicFramePr>
          <p:nvPr/>
        </p:nvGraphicFramePr>
        <p:xfrm>
          <a:off x="2444750" y="4894263"/>
          <a:ext cx="4051300" cy="927100"/>
        </p:xfrm>
        <a:graphic>
          <a:graphicData uri="http://schemas.openxmlformats.org/presentationml/2006/ole">
            <mc:AlternateContent xmlns:mc="http://schemas.openxmlformats.org/markup-compatibility/2006">
              <mc:Choice xmlns:v="urn:schemas-microsoft-com:vml" Requires="v">
                <p:oleObj spid="_x0000_s19" name="" r:id="rId19" imgW="4853940" imgH="1099185" progId="Equation.DSMT4">
                  <p:embed/>
                </p:oleObj>
              </mc:Choice>
              <mc:Fallback>
                <p:oleObj name="" r:id="rId19" imgW="4853940" imgH="1099185" progId="Equation.DSMT4">
                  <p:embed/>
                  <p:pic>
                    <p:nvPicPr>
                      <p:cNvPr id="0"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44750" y="4894263"/>
                        <a:ext cx="40513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par>
                                <p:cTn id="14" presetID="22" presetClass="entr" presetSubtype="8"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22" presetClass="entr" presetSubtype="8"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par>
                                <p:cTn id="20" presetID="22" presetClass="entr" presetSubtype="8"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par>
                                <p:cTn id="23" presetID="22" presetClass="entr" presetSubtype="8"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51535" y="1916430"/>
            <a:ext cx="10314305" cy="2718435"/>
          </a:xfrm>
          <a:prstGeom prst="rect">
            <a:avLst/>
          </a:prstGeom>
          <a:noFill/>
        </p:spPr>
        <p:txBody>
          <a:bodyPr wrap="square" rtlCol="0" anchor="t">
            <a:noAutofit/>
          </a:bodyPr>
          <a:p>
            <a:pPr>
              <a:lnSpc>
                <a:spcPct val="130000"/>
              </a:lnSpc>
              <a:spcAft>
                <a:spcPts val="0"/>
              </a:spcAft>
            </a:pP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rPr>
              <a:t>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极限定理是概率论的基本理论，在理论研究和应用中起着重要的作用，其中最重要的是称为“大数定律”与“中心极限定理”的一些定理。大数定律是叙述随机变量序列的前一些项的算术平均值在某种条件下收敛到这些项的均值的算术平均值；中心极限定理则是确定在什么条件下，大量随机变量之和的分布逼近于正态分布。本章介绍几个大数定理和中心极限定理。</a:t>
            </a:r>
            <a:endPar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endParaRPr>
          </a:p>
        </p:txBody>
      </p:sp>
      <p:cxnSp>
        <p:nvCxnSpPr>
          <p:cNvPr id="11"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92837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0" defTabSz="914400" eaLnBrk="1" fontAlgn="auto" hangingPunct="1">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引言</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descr="7b0a202020202262756c6c6574223a20227b5c2263617465676f727949645c223a5c225c222c5c2274656d706c61746549645c223a32303233313539347d220a7d0a"/>
          <p:cNvSpPr txBox="1"/>
          <p:nvPr/>
        </p:nvSpPr>
        <p:spPr>
          <a:xfrm>
            <a:off x="851535" y="1916430"/>
            <a:ext cx="10314305" cy="2718435"/>
          </a:xfrm>
          <a:prstGeom prst="rect">
            <a:avLst/>
          </a:prstGeom>
          <a:noFill/>
        </p:spPr>
        <p:txBody>
          <a:bodyPr wrap="square" rtlCol="0" anchor="t">
            <a:noAutofit/>
          </a:bodyPr>
          <a:p>
            <a:pPr marL="342900" indent="-342900">
              <a:lnSpc>
                <a:spcPct val="130000"/>
              </a:lnSpc>
              <a:spcAft>
                <a:spcPts val="0"/>
              </a:spcAft>
              <a:buFont typeface="Arial" panose="020B0604020202020204" pitchFamily="34" charset="0"/>
              <a:buBlip>
                <a:blip r:embed="rId1"/>
              </a:buBlip>
            </a:pP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大数定律是叙述随机变量序列的前一些项的</a:t>
            </a:r>
            <a:r>
              <a:rPr kumimoji="1" lang="zh-CN" altLang="en-US" sz="2400" b="1" dirty="0">
                <a:solidFill>
                  <a:srgbClr val="FF0000"/>
                </a:solidFill>
                <a:latin typeface="Times New Roman" panose="02020603050405020304" pitchFamily="18" charset="0"/>
                <a:ea typeface="微软雅黑" panose="020B0503020204020204" pitchFamily="34" charset="-122"/>
              </a:rPr>
              <a:t>算术平均值</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在某种条件下</a:t>
            </a:r>
            <a:r>
              <a:rPr kumimoji="1" lang="zh-CN" altLang="en-US" sz="2400" b="1" dirty="0">
                <a:solidFill>
                  <a:srgbClr val="FF0000"/>
                </a:solidFill>
                <a:latin typeface="Times New Roman" panose="02020603050405020304" pitchFamily="18" charset="0"/>
                <a:ea typeface="微软雅黑" panose="020B0503020204020204" pitchFamily="34" charset="-122"/>
              </a:rPr>
              <a:t>收敛</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到这些项的均值的算术平均值</a:t>
            </a:r>
            <a:endPar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endParaRPr>
          </a:p>
          <a:p>
            <a:pPr marL="342900" indent="-342900">
              <a:lnSpc>
                <a:spcPct val="130000"/>
              </a:lnSpc>
              <a:buFont typeface="Arial" panose="020B0604020202020204" pitchFamily="34" charset="0"/>
              <a:buBlip>
                <a:blip r:embed="rId1"/>
              </a:buBlip>
            </a:pPr>
            <a:endPar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endParaRPr>
          </a:p>
          <a:p>
            <a:pPr marL="342900" indent="-342900">
              <a:lnSpc>
                <a:spcPct val="130000"/>
              </a:lnSpc>
              <a:buFont typeface="Arial" panose="020B0604020202020204" pitchFamily="34" charset="0"/>
              <a:buBlip>
                <a:blip r:embed="rId1"/>
              </a:buBlip>
            </a:pP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中心极限定理则是确定在什么条件下，大量随机变量之</a:t>
            </a:r>
            <a:r>
              <a:rPr kumimoji="1" lang="zh-CN" altLang="en-US" sz="2400" b="1" dirty="0">
                <a:solidFill>
                  <a:srgbClr val="FF0000"/>
                </a:solidFill>
                <a:latin typeface="Times New Roman" panose="02020603050405020304" pitchFamily="18" charset="0"/>
                <a:ea typeface="微软雅黑" panose="020B0503020204020204" pitchFamily="34" charset="-122"/>
              </a:rPr>
              <a:t>和</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的分布逼近于</a:t>
            </a:r>
            <a:r>
              <a:rPr kumimoji="1" lang="zh-CN" altLang="en-US" sz="2400" b="1" dirty="0">
                <a:solidFill>
                  <a:srgbClr val="FF0000"/>
                </a:solidFill>
                <a:latin typeface="Times New Roman" panose="02020603050405020304" pitchFamily="18" charset="0"/>
                <a:ea typeface="微软雅黑" panose="020B0503020204020204" pitchFamily="34" charset="-122"/>
              </a:rPr>
              <a:t>正态分布</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a:t>
            </a:r>
            <a:endPar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endParaRPr>
          </a:p>
        </p:txBody>
      </p:sp>
      <p:cxnSp>
        <p:nvCxnSpPr>
          <p:cNvPr id="11"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92837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0" defTabSz="914400" eaLnBrk="1" fontAlgn="auto" hangingPunct="1">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引言</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59" name="Rectangle 15"/>
          <p:cNvSpPr>
            <a:spLocks noChangeArrowheads="1"/>
          </p:cNvSpPr>
          <p:nvPr/>
        </p:nvSpPr>
        <p:spPr bwMode="auto">
          <a:xfrm>
            <a:off x="1262440" y="1718500"/>
            <a:ext cx="647700" cy="206210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eaLnBrk="1" hangingPunct="1"/>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数</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eaLnBrk="1" hangingPunct="1"/>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定</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eaLnBrk="1" hangingPunct="1"/>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律</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2960" name="Rectangle 16"/>
          <p:cNvSpPr>
            <a:spLocks noChangeArrowheads="1"/>
          </p:cNvSpPr>
          <p:nvPr/>
        </p:nvSpPr>
        <p:spPr bwMode="auto">
          <a:xfrm>
            <a:off x="1945089" y="4880975"/>
            <a:ext cx="9550325" cy="4977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20000"/>
              </a:lnSpc>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大数定律以严格的数学形式表达了随机现象最根本的性质之一：</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2961" name="Rectangle 17"/>
          <p:cNvSpPr>
            <a:spLocks noChangeArrowheads="1"/>
          </p:cNvSpPr>
          <p:nvPr/>
        </p:nvSpPr>
        <p:spPr bwMode="auto">
          <a:xfrm>
            <a:off x="4244829" y="5707144"/>
            <a:ext cx="4321175" cy="523220"/>
          </a:xfrm>
          <a:prstGeom prst="rect">
            <a:avLst/>
          </a:prstGeom>
          <a:solidFill>
            <a:srgbClr val="C00000"/>
          </a:solidFill>
          <a:ln>
            <a:noFill/>
          </a:ln>
          <a:effectLst/>
        </p:spPr>
        <p:txBody>
          <a:bodyPr anchor="ctr">
            <a:spAutoFit/>
          </a:bodyPr>
          <a:lstStyle/>
          <a:p>
            <a:pPr algn="ctr" eaLnBrk="1" hangingPunct="1"/>
            <a:r>
              <a:rPr lang="zh-CN" altLang="en-US"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平均结果的稳定性</a:t>
            </a:r>
            <a:endParaRPr lang="zh-CN" altLang="en-US"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2968" name="Object 24"/>
          <p:cNvGraphicFramePr>
            <a:graphicFrameLocks noChangeAspect="1"/>
          </p:cNvGraphicFramePr>
          <p:nvPr/>
        </p:nvGraphicFramePr>
        <p:xfrm>
          <a:off x="1945089" y="1156525"/>
          <a:ext cx="502567" cy="3618485"/>
        </p:xfrm>
        <a:graphic>
          <a:graphicData uri="http://schemas.openxmlformats.org/presentationml/2006/ole">
            <mc:AlternateContent xmlns:mc="http://schemas.openxmlformats.org/markup-compatibility/2006">
              <mc:Choice xmlns:v="urn:schemas-microsoft-com:vml" Requires="v">
                <p:oleObj spid="_x0000_s324694" name="Equation" r:id="rId1" imgW="4572000" imgH="32918400" progId="Equation.DSMT4">
                  <p:embed/>
                </p:oleObj>
              </mc:Choice>
              <mc:Fallback>
                <p:oleObj name="Equation" r:id="rId1" imgW="4572000" imgH="32918400" progId="Equation.DSMT4">
                  <p:embed/>
                  <p:pic>
                    <p:nvPicPr>
                      <p:cNvPr id="0" name="Object 24"/>
                      <p:cNvPicPr>
                        <a:picLocks noChangeAspect="1" noChangeArrowheads="1"/>
                      </p:cNvPicPr>
                      <p:nvPr/>
                    </p:nvPicPr>
                    <p:blipFill>
                      <a:blip r:embed="rId2"/>
                      <a:srcRect/>
                      <a:stretch>
                        <a:fillRect/>
                      </a:stretch>
                    </p:blipFill>
                    <p:spPr bwMode="auto">
                      <a:xfrm>
                        <a:off x="1945089" y="1156525"/>
                        <a:ext cx="502567" cy="3618485"/>
                      </a:xfrm>
                      <a:prstGeom prst="rect">
                        <a:avLst/>
                      </a:prstGeom>
                      <a:noFill/>
                      <a:ln>
                        <a:noFill/>
                      </a:ln>
                      <a:effectLst/>
                    </p:spPr>
                  </p:pic>
                </p:oleObj>
              </mc:Fallback>
            </mc:AlternateContent>
          </a:graphicData>
        </a:graphic>
      </p:graphicFrame>
      <p:cxnSp>
        <p:nvCxnSpPr>
          <p:cNvPr id="13" name="直接连接符 12"/>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三、归纳总结</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5" name="组合 14"/>
          <p:cNvGrpSpPr/>
          <p:nvPr/>
        </p:nvGrpSpPr>
        <p:grpSpPr>
          <a:xfrm>
            <a:off x="851761" y="364781"/>
            <a:ext cx="263341" cy="395013"/>
            <a:chOff x="5284519" y="1508166"/>
            <a:chExt cx="213756" cy="427512"/>
          </a:xfrm>
        </p:grpSpPr>
        <p:cxnSp>
          <p:nvCxnSpPr>
            <p:cNvPr id="16" name="直接连接符 15"/>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7" name="直接连接符 16"/>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4" name="组合 3"/>
          <p:cNvGrpSpPr/>
          <p:nvPr/>
        </p:nvGrpSpPr>
        <p:grpSpPr>
          <a:xfrm>
            <a:off x="2482605" y="3671748"/>
            <a:ext cx="7437348" cy="1306512"/>
            <a:chOff x="2482605" y="3671748"/>
            <a:chExt cx="7437348" cy="1306512"/>
          </a:xfrm>
        </p:grpSpPr>
        <p:graphicFrame>
          <p:nvGraphicFramePr>
            <p:cNvPr id="82963" name="Object 19"/>
            <p:cNvGraphicFramePr>
              <a:graphicFrameLocks noChangeAspect="1"/>
            </p:cNvGraphicFramePr>
            <p:nvPr/>
          </p:nvGraphicFramePr>
          <p:xfrm>
            <a:off x="8202807" y="3797072"/>
            <a:ext cx="1717146" cy="561975"/>
          </p:xfrm>
          <a:graphic>
            <a:graphicData uri="http://schemas.openxmlformats.org/presentationml/2006/ole">
              <mc:AlternateContent xmlns:mc="http://schemas.openxmlformats.org/markup-compatibility/2006">
                <mc:Choice xmlns:v="urn:schemas-microsoft-com:vml" Requires="v">
                  <p:oleObj spid="_x0000_s324695" name="Equation" r:id="rId3" imgW="16764000" imgH="5486400" progId="Equation.DSMT4">
                    <p:embed/>
                  </p:oleObj>
                </mc:Choice>
                <mc:Fallback>
                  <p:oleObj name="Equation" r:id="rId3" imgW="16764000" imgH="5486400" progId="Equation.DSMT4">
                    <p:embed/>
                    <p:pic>
                      <p:nvPicPr>
                        <p:cNvPr id="0" name="Object 19"/>
                        <p:cNvPicPr>
                          <a:picLocks noChangeAspect="1" noChangeArrowheads="1"/>
                        </p:cNvPicPr>
                        <p:nvPr/>
                      </p:nvPicPr>
                      <p:blipFill>
                        <a:blip r:embed="rId4"/>
                        <a:srcRect/>
                        <a:stretch>
                          <a:fillRect/>
                        </a:stretch>
                      </p:blipFill>
                      <p:spPr bwMode="auto">
                        <a:xfrm>
                          <a:off x="8202807" y="3797072"/>
                          <a:ext cx="1717146" cy="561975"/>
                        </a:xfrm>
                        <a:prstGeom prst="rect">
                          <a:avLst/>
                        </a:prstGeom>
                        <a:noFill/>
                        <a:ln>
                          <a:noFill/>
                        </a:ln>
                        <a:effectLst/>
                      </p:spPr>
                    </p:pic>
                  </p:oleObj>
                </mc:Fallback>
              </mc:AlternateContent>
            </a:graphicData>
          </a:graphic>
        </p:graphicFrame>
        <p:grpSp>
          <p:nvGrpSpPr>
            <p:cNvPr id="3" name="组合 2"/>
            <p:cNvGrpSpPr/>
            <p:nvPr/>
          </p:nvGrpSpPr>
          <p:grpSpPr>
            <a:xfrm>
              <a:off x="2482605" y="3671748"/>
              <a:ext cx="4944344" cy="1306512"/>
              <a:chOff x="2482605" y="3671748"/>
              <a:chExt cx="4944344" cy="1306512"/>
            </a:xfrm>
          </p:grpSpPr>
          <p:graphicFrame>
            <p:nvGraphicFramePr>
              <p:cNvPr id="82967" name="Object 23"/>
              <p:cNvGraphicFramePr>
                <a:graphicFrameLocks noChangeAspect="1"/>
              </p:cNvGraphicFramePr>
              <p:nvPr/>
            </p:nvGraphicFramePr>
            <p:xfrm>
              <a:off x="4305924" y="3671748"/>
              <a:ext cx="3121025" cy="1306512"/>
            </p:xfrm>
            <a:graphic>
              <a:graphicData uri="http://schemas.openxmlformats.org/presentationml/2006/ole">
                <mc:AlternateContent xmlns:mc="http://schemas.openxmlformats.org/markup-compatibility/2006">
                  <mc:Choice xmlns:v="urn:schemas-microsoft-com:vml" Requires="v">
                    <p:oleObj spid="_x0000_s324696" name="Equation" r:id="rId5" imgW="40538400" imgH="15849600" progId="Equation.DSMT4">
                      <p:embed/>
                    </p:oleObj>
                  </mc:Choice>
                  <mc:Fallback>
                    <p:oleObj name="Equation" r:id="rId5" imgW="40538400" imgH="15849600" progId="Equation.DSMT4">
                      <p:embed/>
                      <p:pic>
                        <p:nvPicPr>
                          <p:cNvPr id="0" name="Object 23"/>
                          <p:cNvPicPr>
                            <a:picLocks noChangeAspect="1" noChangeArrowheads="1"/>
                          </p:cNvPicPr>
                          <p:nvPr/>
                        </p:nvPicPr>
                        <p:blipFill>
                          <a:blip r:embed="rId6"/>
                          <a:srcRect/>
                          <a:stretch>
                            <a:fillRect/>
                          </a:stretch>
                        </p:blipFill>
                        <p:spPr bwMode="auto">
                          <a:xfrm>
                            <a:off x="4305924" y="3671748"/>
                            <a:ext cx="3121025" cy="1306512"/>
                          </a:xfrm>
                          <a:prstGeom prst="rect">
                            <a:avLst/>
                          </a:prstGeom>
                          <a:noFill/>
                          <a:ln>
                            <a:noFill/>
                          </a:ln>
                          <a:effectLst/>
                        </p:spPr>
                      </p:pic>
                    </p:oleObj>
                  </mc:Fallback>
                </mc:AlternateContent>
              </a:graphicData>
            </a:graphic>
          </p:graphicFrame>
          <p:sp>
            <p:nvSpPr>
              <p:cNvPr id="18" name="Rectangle 16"/>
              <p:cNvSpPr>
                <a:spLocks noChangeArrowheads="1"/>
              </p:cNvSpPr>
              <p:nvPr/>
            </p:nvSpPr>
            <p:spPr bwMode="auto">
              <a:xfrm>
                <a:off x="2482605" y="3688647"/>
                <a:ext cx="1514490" cy="978729"/>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a:lnSpc>
                    <a:spcPct val="12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辛钦</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a:lnSpc>
                    <a:spcPct val="12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大数定律</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graphicFrame>
        <p:nvGraphicFramePr>
          <p:cNvPr id="82964" name="Object 20"/>
          <p:cNvGraphicFramePr>
            <a:graphicFrameLocks noChangeAspect="1"/>
          </p:cNvGraphicFramePr>
          <p:nvPr/>
        </p:nvGraphicFramePr>
        <p:xfrm>
          <a:off x="8202807" y="1311098"/>
          <a:ext cx="1873250" cy="561975"/>
        </p:xfrm>
        <a:graphic>
          <a:graphicData uri="http://schemas.openxmlformats.org/presentationml/2006/ole">
            <mc:AlternateContent xmlns:mc="http://schemas.openxmlformats.org/markup-compatibility/2006">
              <mc:Choice xmlns:v="urn:schemas-microsoft-com:vml" Requires="v">
                <p:oleObj spid="_x0000_s324697" name="Equation" r:id="rId7" imgW="18288000" imgH="5486400" progId="Equation.DSMT4">
                  <p:embed/>
                </p:oleObj>
              </mc:Choice>
              <mc:Fallback>
                <p:oleObj name="Equation" r:id="rId7" imgW="18288000" imgH="5486400" progId="Equation.DSMT4">
                  <p:embed/>
                  <p:pic>
                    <p:nvPicPr>
                      <p:cNvPr id="0" name="Object 20"/>
                      <p:cNvPicPr>
                        <a:picLocks noChangeAspect="1" noChangeArrowheads="1"/>
                      </p:cNvPicPr>
                      <p:nvPr/>
                    </p:nvPicPr>
                    <p:blipFill>
                      <a:blip r:embed="rId8"/>
                      <a:srcRect/>
                      <a:stretch>
                        <a:fillRect/>
                      </a:stretch>
                    </p:blipFill>
                    <p:spPr bwMode="auto">
                      <a:xfrm>
                        <a:off x="8202807" y="1311098"/>
                        <a:ext cx="1873250" cy="561975"/>
                      </a:xfrm>
                      <a:prstGeom prst="rect">
                        <a:avLst/>
                      </a:prstGeom>
                      <a:noFill/>
                      <a:ln>
                        <a:noFill/>
                      </a:ln>
                      <a:effectLst/>
                    </p:spPr>
                  </p:pic>
                </p:oleObj>
              </mc:Fallback>
            </mc:AlternateContent>
          </a:graphicData>
        </a:graphic>
      </p:graphicFrame>
      <p:grpSp>
        <p:nvGrpSpPr>
          <p:cNvPr id="2" name="组合 1"/>
          <p:cNvGrpSpPr/>
          <p:nvPr/>
        </p:nvGrpSpPr>
        <p:grpSpPr>
          <a:xfrm>
            <a:off x="2482605" y="1145217"/>
            <a:ext cx="4928563" cy="978729"/>
            <a:chOff x="2555313" y="1493138"/>
            <a:chExt cx="4928563" cy="978729"/>
          </a:xfrm>
        </p:grpSpPr>
        <p:graphicFrame>
          <p:nvGraphicFramePr>
            <p:cNvPr id="82965" name="Object 21"/>
            <p:cNvGraphicFramePr>
              <a:graphicFrameLocks noChangeAspect="1"/>
            </p:cNvGraphicFramePr>
            <p:nvPr/>
          </p:nvGraphicFramePr>
          <p:xfrm>
            <a:off x="4358089" y="1565783"/>
            <a:ext cx="3125787" cy="833438"/>
          </p:xfrm>
          <a:graphic>
            <a:graphicData uri="http://schemas.openxmlformats.org/presentationml/2006/ole">
              <mc:AlternateContent xmlns:mc="http://schemas.openxmlformats.org/markup-compatibility/2006">
                <mc:Choice xmlns:v="urn:schemas-microsoft-com:vml" Requires="v">
                  <p:oleObj spid="_x0000_s324698" name="Equation" r:id="rId9" imgW="34747200" imgH="9448800" progId="Equation.DSMT4">
                    <p:embed/>
                  </p:oleObj>
                </mc:Choice>
                <mc:Fallback>
                  <p:oleObj name="Equation" r:id="rId9" imgW="34747200" imgH="9448800" progId="Equation.DSMT4">
                    <p:embed/>
                    <p:pic>
                      <p:nvPicPr>
                        <p:cNvPr id="0" name="Object 21"/>
                        <p:cNvPicPr>
                          <a:picLocks noChangeAspect="1" noChangeArrowheads="1"/>
                        </p:cNvPicPr>
                        <p:nvPr/>
                      </p:nvPicPr>
                      <p:blipFill>
                        <a:blip r:embed="rId10"/>
                        <a:srcRect/>
                        <a:stretch>
                          <a:fillRect/>
                        </a:stretch>
                      </p:blipFill>
                      <p:spPr bwMode="auto">
                        <a:xfrm>
                          <a:off x="4358089" y="1565783"/>
                          <a:ext cx="3125787" cy="833438"/>
                        </a:xfrm>
                        <a:prstGeom prst="rect">
                          <a:avLst/>
                        </a:prstGeom>
                        <a:noFill/>
                        <a:ln>
                          <a:noFill/>
                        </a:ln>
                        <a:effectLst/>
                      </p:spPr>
                    </p:pic>
                  </p:oleObj>
                </mc:Fallback>
              </mc:AlternateContent>
            </a:graphicData>
          </a:graphic>
        </p:graphicFrame>
        <p:sp>
          <p:nvSpPr>
            <p:cNvPr id="19" name="Rectangle 16"/>
            <p:cNvSpPr>
              <a:spLocks noChangeArrowheads="1"/>
            </p:cNvSpPr>
            <p:nvPr/>
          </p:nvSpPr>
          <p:spPr bwMode="auto">
            <a:xfrm>
              <a:off x="2555313" y="1493138"/>
              <a:ext cx="1514490" cy="978729"/>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a:lnSpc>
                  <a:spcPct val="12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伯努利</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a:lnSpc>
                  <a:spcPct val="12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大数定律</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5" name="组合 4"/>
          <p:cNvGrpSpPr/>
          <p:nvPr/>
        </p:nvGrpSpPr>
        <p:grpSpPr>
          <a:xfrm>
            <a:off x="2482605" y="2223676"/>
            <a:ext cx="7843219" cy="1186392"/>
            <a:chOff x="2482605" y="2223676"/>
            <a:chExt cx="7843219" cy="1186392"/>
          </a:xfrm>
        </p:grpSpPr>
        <p:graphicFrame>
          <p:nvGraphicFramePr>
            <p:cNvPr id="82962" name="Object 18"/>
            <p:cNvGraphicFramePr>
              <a:graphicFrameLocks noChangeAspect="1"/>
            </p:cNvGraphicFramePr>
            <p:nvPr/>
          </p:nvGraphicFramePr>
          <p:xfrm>
            <a:off x="8202807" y="2223676"/>
            <a:ext cx="2123017" cy="1186392"/>
          </p:xfrm>
          <a:graphic>
            <a:graphicData uri="http://schemas.openxmlformats.org/presentationml/2006/ole">
              <mc:AlternateContent xmlns:mc="http://schemas.openxmlformats.org/markup-compatibility/2006">
                <mc:Choice xmlns:v="urn:schemas-microsoft-com:vml" Requires="v">
                  <p:oleObj spid="_x0000_s324699" name="Equation" r:id="rId11" imgW="20726400" imgH="11582400" progId="Equation.DSMT4">
                    <p:embed/>
                  </p:oleObj>
                </mc:Choice>
                <mc:Fallback>
                  <p:oleObj name="Equation" r:id="rId11" imgW="20726400" imgH="11582400" progId="Equation.DSMT4">
                    <p:embed/>
                    <p:pic>
                      <p:nvPicPr>
                        <p:cNvPr id="0" name="Object 18"/>
                        <p:cNvPicPr>
                          <a:picLocks noChangeAspect="1" noChangeArrowheads="1"/>
                        </p:cNvPicPr>
                        <p:nvPr/>
                      </p:nvPicPr>
                      <p:blipFill>
                        <a:blip r:embed="rId12"/>
                        <a:srcRect/>
                        <a:stretch>
                          <a:fillRect/>
                        </a:stretch>
                      </p:blipFill>
                      <p:spPr bwMode="auto">
                        <a:xfrm>
                          <a:off x="8202807" y="2223676"/>
                          <a:ext cx="2123017" cy="1186392"/>
                        </a:xfrm>
                        <a:prstGeom prst="rect">
                          <a:avLst/>
                        </a:prstGeom>
                        <a:noFill/>
                        <a:ln>
                          <a:noFill/>
                        </a:ln>
                        <a:effectLst/>
                      </p:spPr>
                    </p:pic>
                  </p:oleObj>
                </mc:Fallback>
              </mc:AlternateContent>
            </a:graphicData>
          </a:graphic>
        </p:graphicFrame>
        <p:graphicFrame>
          <p:nvGraphicFramePr>
            <p:cNvPr id="82966" name="Object 22"/>
            <p:cNvGraphicFramePr>
              <a:graphicFrameLocks noChangeAspect="1"/>
            </p:cNvGraphicFramePr>
            <p:nvPr/>
          </p:nvGraphicFramePr>
          <p:xfrm>
            <a:off x="4271569" y="2380681"/>
            <a:ext cx="3595687" cy="890587"/>
          </p:xfrm>
          <a:graphic>
            <a:graphicData uri="http://schemas.openxmlformats.org/presentationml/2006/ole">
              <mc:AlternateContent xmlns:mc="http://schemas.openxmlformats.org/markup-compatibility/2006">
                <mc:Choice xmlns:v="urn:schemas-microsoft-com:vml" Requires="v">
                  <p:oleObj spid="_x0000_s324700" name="Equation" r:id="rId13" imgW="40843200" imgH="10363200" progId="Equation.DSMT4">
                    <p:embed/>
                  </p:oleObj>
                </mc:Choice>
                <mc:Fallback>
                  <p:oleObj name="Equation" r:id="rId13" imgW="40843200" imgH="10363200" progId="Equation.DSMT4">
                    <p:embed/>
                    <p:pic>
                      <p:nvPicPr>
                        <p:cNvPr id="0" name="Object 22"/>
                        <p:cNvPicPr>
                          <a:picLocks noChangeAspect="1" noChangeArrowheads="1"/>
                        </p:cNvPicPr>
                        <p:nvPr/>
                      </p:nvPicPr>
                      <p:blipFill>
                        <a:blip r:embed="rId14"/>
                        <a:srcRect/>
                        <a:stretch>
                          <a:fillRect/>
                        </a:stretch>
                      </p:blipFill>
                      <p:spPr bwMode="auto">
                        <a:xfrm>
                          <a:off x="4271569" y="2380681"/>
                          <a:ext cx="3595687" cy="890587"/>
                        </a:xfrm>
                        <a:prstGeom prst="rect">
                          <a:avLst/>
                        </a:prstGeom>
                        <a:noFill/>
                        <a:ln>
                          <a:noFill/>
                        </a:ln>
                        <a:effectLst/>
                      </p:spPr>
                    </p:pic>
                  </p:oleObj>
                </mc:Fallback>
              </mc:AlternateContent>
            </a:graphicData>
          </a:graphic>
        </p:graphicFrame>
        <p:sp>
          <p:nvSpPr>
            <p:cNvPr id="20" name="Rectangle 16"/>
            <p:cNvSpPr>
              <a:spLocks noChangeArrowheads="1"/>
            </p:cNvSpPr>
            <p:nvPr/>
          </p:nvSpPr>
          <p:spPr bwMode="auto">
            <a:xfrm>
              <a:off x="2482605" y="2394055"/>
              <a:ext cx="1514490" cy="94096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a:lnSpc>
                  <a:spcPct val="12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切比雪夫大数定律</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2959"/>
                                        </p:tgtEl>
                                        <p:attrNameLst>
                                          <p:attrName>style.visibility</p:attrName>
                                        </p:attrNameLst>
                                      </p:cBhvr>
                                      <p:to>
                                        <p:strVal val="visible"/>
                                      </p:to>
                                    </p:set>
                                    <p:animEffect transition="in" filter="wipe(down)">
                                      <p:cBhvr>
                                        <p:cTn id="7" dur="500"/>
                                        <p:tgtEl>
                                          <p:spTgt spid="8295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2968"/>
                                        </p:tgtEl>
                                        <p:attrNameLst>
                                          <p:attrName>style.visibility</p:attrName>
                                        </p:attrNameLst>
                                      </p:cBhvr>
                                      <p:to>
                                        <p:strVal val="visible"/>
                                      </p:to>
                                    </p:set>
                                    <p:animEffect transition="in" filter="blinds(horizontal)">
                                      <p:cBhvr>
                                        <p:cTn id="12" dur="500"/>
                                        <p:tgtEl>
                                          <p:spTgt spid="8296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2964"/>
                                        </p:tgtEl>
                                        <p:attrNameLst>
                                          <p:attrName>style.visibility</p:attrName>
                                        </p:attrNameLst>
                                      </p:cBhvr>
                                      <p:to>
                                        <p:strVal val="visible"/>
                                      </p:to>
                                    </p:set>
                                    <p:animEffect transition="in" filter="wipe(down)">
                                      <p:cBhvr>
                                        <p:cTn id="22" dur="500"/>
                                        <p:tgtEl>
                                          <p:spTgt spid="829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2960"/>
                                        </p:tgtEl>
                                        <p:attrNameLst>
                                          <p:attrName>style.visibility</p:attrName>
                                        </p:attrNameLst>
                                      </p:cBhvr>
                                      <p:to>
                                        <p:strVal val="visible"/>
                                      </p:to>
                                    </p:set>
                                    <p:animEffect transition="in" filter="wipe(left)">
                                      <p:cBhvr>
                                        <p:cTn id="37" dur="500"/>
                                        <p:tgtEl>
                                          <p:spTgt spid="8296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82961"/>
                                        </p:tgtEl>
                                        <p:attrNameLst>
                                          <p:attrName>style.visibility</p:attrName>
                                        </p:attrNameLst>
                                      </p:cBhvr>
                                      <p:to>
                                        <p:strVal val="visible"/>
                                      </p:to>
                                    </p:set>
                                    <p:animEffect transition="in" filter="wipe(down)">
                                      <p:cBhvr>
                                        <p:cTn id="42" dur="500"/>
                                        <p:tgtEl>
                                          <p:spTgt spid="82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9" grpId="0" bldLvl="0" animBg="1"/>
      <p:bldP spid="82960" grpId="0" bldLvl="0" animBg="1" autoUpdateAnimBg="0"/>
      <p:bldP spid="82961"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60" name="Text Box 16"/>
          <p:cNvSpPr txBox="1">
            <a:spLocks noChangeArrowheads="1"/>
          </p:cNvSpPr>
          <p:nvPr/>
        </p:nvSpPr>
        <p:spPr bwMode="auto">
          <a:xfrm>
            <a:off x="1590150" y="1896177"/>
            <a:ext cx="589280" cy="304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Aft>
                <a:spcPts val="0"/>
              </a:spcAft>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中</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spcBef>
                <a:spcPts val="0"/>
              </a:spcBef>
              <a:spcAft>
                <a:spcPts val="0"/>
              </a:spcAft>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心</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spcBef>
                <a:spcPts val="0"/>
              </a:spcBef>
              <a:spcAft>
                <a:spcPts val="0"/>
              </a:spcAft>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极</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spcBef>
                <a:spcPts val="0"/>
              </a:spcBef>
              <a:spcAft>
                <a:spcPts val="0"/>
              </a:spcAft>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限</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spcBef>
                <a:spcPts val="0"/>
              </a:spcBef>
              <a:spcAft>
                <a:spcPts val="0"/>
              </a:spcAft>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定</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spcBef>
                <a:spcPts val="0"/>
              </a:spcBef>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理</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2961" name="Object 17"/>
          <p:cNvGraphicFramePr>
            <a:graphicFrameLocks noChangeAspect="1"/>
          </p:cNvGraphicFramePr>
          <p:nvPr/>
        </p:nvGraphicFramePr>
        <p:xfrm>
          <a:off x="3287688" y="1440475"/>
          <a:ext cx="1825625" cy="838801"/>
        </p:xfrm>
        <a:graphic>
          <a:graphicData uri="http://schemas.openxmlformats.org/presentationml/2006/ole">
            <mc:AlternateContent xmlns:mc="http://schemas.openxmlformats.org/markup-compatibility/2006">
              <mc:Choice xmlns:v="urn:schemas-microsoft-com:vml" Requires="v">
                <p:oleObj spid="_x0000_s2" name="Equation" r:id="rId1" imgW="22555200" imgH="10363200" progId="Equation.DSMT4">
                  <p:embed/>
                </p:oleObj>
              </mc:Choice>
              <mc:Fallback>
                <p:oleObj name="Equation" r:id="rId1" imgW="22555200" imgH="10363200" progId="Equation.DSMT4">
                  <p:embed/>
                  <p:pic>
                    <p:nvPicPr>
                      <p:cNvPr id="0" name="Object 17"/>
                      <p:cNvPicPr>
                        <a:picLocks noChangeAspect="1" noChangeArrowheads="1"/>
                      </p:cNvPicPr>
                      <p:nvPr/>
                    </p:nvPicPr>
                    <p:blipFill>
                      <a:blip r:embed="rId2"/>
                      <a:srcRect/>
                      <a:stretch>
                        <a:fillRect/>
                      </a:stretch>
                    </p:blipFill>
                    <p:spPr bwMode="auto">
                      <a:xfrm>
                        <a:off x="3287688" y="1440475"/>
                        <a:ext cx="1825625" cy="838801"/>
                      </a:xfrm>
                      <a:prstGeom prst="rect">
                        <a:avLst/>
                      </a:prstGeom>
                      <a:noFill/>
                      <a:ln>
                        <a:noFill/>
                      </a:ln>
                      <a:effectLst/>
                    </p:spPr>
                  </p:pic>
                </p:oleObj>
              </mc:Fallback>
            </mc:AlternateContent>
          </a:graphicData>
        </a:graphic>
      </p:graphicFrame>
      <p:graphicFrame>
        <p:nvGraphicFramePr>
          <p:cNvPr id="82962" name="Object 18"/>
          <p:cNvGraphicFramePr>
            <a:graphicFrameLocks noChangeAspect="1"/>
          </p:cNvGraphicFramePr>
          <p:nvPr/>
        </p:nvGraphicFramePr>
        <p:xfrm>
          <a:off x="2947749" y="3063470"/>
          <a:ext cx="2886461" cy="888142"/>
        </p:xfrm>
        <a:graphic>
          <a:graphicData uri="http://schemas.openxmlformats.org/presentationml/2006/ole">
            <mc:AlternateContent xmlns:mc="http://schemas.openxmlformats.org/markup-compatibility/2006">
              <mc:Choice xmlns:v="urn:schemas-microsoft-com:vml" Requires="v">
                <p:oleObj spid="_x0000_s3" name="Equation" r:id="rId3" imgW="35661600" imgH="10972800" progId="Equation.DSMT4">
                  <p:embed/>
                </p:oleObj>
              </mc:Choice>
              <mc:Fallback>
                <p:oleObj name="Equation" r:id="rId3" imgW="35661600" imgH="10972800" progId="Equation.DSMT4">
                  <p:embed/>
                  <p:pic>
                    <p:nvPicPr>
                      <p:cNvPr id="0" name="Object 18"/>
                      <p:cNvPicPr>
                        <a:picLocks noChangeAspect="1" noChangeArrowheads="1"/>
                      </p:cNvPicPr>
                      <p:nvPr/>
                    </p:nvPicPr>
                    <p:blipFill>
                      <a:blip r:embed="rId4"/>
                      <a:srcRect/>
                      <a:stretch>
                        <a:fillRect/>
                      </a:stretch>
                    </p:blipFill>
                    <p:spPr bwMode="auto">
                      <a:xfrm>
                        <a:off x="2947749" y="3063470"/>
                        <a:ext cx="2886461" cy="888142"/>
                      </a:xfrm>
                      <a:prstGeom prst="rect">
                        <a:avLst/>
                      </a:prstGeom>
                      <a:noFill/>
                      <a:ln>
                        <a:noFill/>
                      </a:ln>
                      <a:effectLst/>
                    </p:spPr>
                  </p:pic>
                </p:oleObj>
              </mc:Fallback>
            </mc:AlternateContent>
          </a:graphicData>
        </a:graphic>
      </p:graphicFrame>
      <p:graphicFrame>
        <p:nvGraphicFramePr>
          <p:cNvPr id="82963" name="Object 19"/>
          <p:cNvGraphicFramePr>
            <a:graphicFrameLocks noChangeAspect="1"/>
          </p:cNvGraphicFramePr>
          <p:nvPr/>
        </p:nvGraphicFramePr>
        <p:xfrm>
          <a:off x="5689747" y="1091099"/>
          <a:ext cx="3569317" cy="1537552"/>
        </p:xfrm>
        <a:graphic>
          <a:graphicData uri="http://schemas.openxmlformats.org/presentationml/2006/ole">
            <mc:AlternateContent xmlns:mc="http://schemas.openxmlformats.org/markup-compatibility/2006">
              <mc:Choice xmlns:v="urn:schemas-microsoft-com:vml" Requires="v">
                <p:oleObj spid="_x0000_s4" name="Equation" r:id="rId5" imgW="39624000" imgH="17068800" progId="Equation.DSMT4">
                  <p:embed/>
                </p:oleObj>
              </mc:Choice>
              <mc:Fallback>
                <p:oleObj name="Equation" r:id="rId5" imgW="39624000" imgH="17068800" progId="Equation.DSMT4">
                  <p:embed/>
                  <p:pic>
                    <p:nvPicPr>
                      <p:cNvPr id="0" name="Object 19"/>
                      <p:cNvPicPr>
                        <a:picLocks noChangeAspect="1" noChangeArrowheads="1"/>
                      </p:cNvPicPr>
                      <p:nvPr/>
                    </p:nvPicPr>
                    <p:blipFill>
                      <a:blip r:embed="rId6"/>
                      <a:srcRect/>
                      <a:stretch>
                        <a:fillRect/>
                      </a:stretch>
                    </p:blipFill>
                    <p:spPr bwMode="auto">
                      <a:xfrm>
                        <a:off x="5689747" y="1091099"/>
                        <a:ext cx="3569317" cy="1537552"/>
                      </a:xfrm>
                      <a:prstGeom prst="rect">
                        <a:avLst/>
                      </a:prstGeom>
                      <a:noFill/>
                      <a:ln>
                        <a:noFill/>
                      </a:ln>
                      <a:effectLst/>
                    </p:spPr>
                  </p:pic>
                </p:oleObj>
              </mc:Fallback>
            </mc:AlternateContent>
          </a:graphicData>
        </a:graphic>
      </p:graphicFrame>
      <p:graphicFrame>
        <p:nvGraphicFramePr>
          <p:cNvPr id="82964" name="Object 20"/>
          <p:cNvGraphicFramePr>
            <a:graphicFrameLocks noChangeAspect="1"/>
          </p:cNvGraphicFramePr>
          <p:nvPr/>
        </p:nvGraphicFramePr>
        <p:xfrm>
          <a:off x="5689748" y="2731890"/>
          <a:ext cx="3679143" cy="1262989"/>
        </p:xfrm>
        <a:graphic>
          <a:graphicData uri="http://schemas.openxmlformats.org/presentationml/2006/ole">
            <mc:AlternateContent xmlns:mc="http://schemas.openxmlformats.org/markup-compatibility/2006">
              <mc:Choice xmlns:v="urn:schemas-microsoft-com:vml" Requires="v">
                <p:oleObj spid="_x0000_s5" name="Equation" r:id="rId7" imgW="40843200" imgH="14020800" progId="Equation.DSMT4">
                  <p:embed/>
                </p:oleObj>
              </mc:Choice>
              <mc:Fallback>
                <p:oleObj name="Equation" r:id="rId7" imgW="40843200" imgH="14020800" progId="Equation.DSMT4">
                  <p:embed/>
                  <p:pic>
                    <p:nvPicPr>
                      <p:cNvPr id="0" name="Object 20"/>
                      <p:cNvPicPr>
                        <a:picLocks noChangeAspect="1" noChangeArrowheads="1"/>
                      </p:cNvPicPr>
                      <p:nvPr/>
                    </p:nvPicPr>
                    <p:blipFill>
                      <a:blip r:embed="rId8"/>
                      <a:srcRect/>
                      <a:stretch>
                        <a:fillRect/>
                      </a:stretch>
                    </p:blipFill>
                    <p:spPr bwMode="auto">
                      <a:xfrm>
                        <a:off x="5689748" y="2731890"/>
                        <a:ext cx="3679143" cy="1262989"/>
                      </a:xfrm>
                      <a:prstGeom prst="rect">
                        <a:avLst/>
                      </a:prstGeom>
                      <a:noFill/>
                      <a:ln>
                        <a:noFill/>
                      </a:ln>
                      <a:effectLst/>
                    </p:spPr>
                  </p:pic>
                </p:oleObj>
              </mc:Fallback>
            </mc:AlternateContent>
          </a:graphicData>
        </a:graphic>
      </p:graphicFrame>
      <p:graphicFrame>
        <p:nvGraphicFramePr>
          <p:cNvPr id="82965" name="Object 21"/>
          <p:cNvGraphicFramePr>
            <a:graphicFrameLocks noChangeAspect="1"/>
          </p:cNvGraphicFramePr>
          <p:nvPr/>
        </p:nvGraphicFramePr>
        <p:xfrm>
          <a:off x="3287688" y="4569527"/>
          <a:ext cx="1825625" cy="838200"/>
        </p:xfrm>
        <a:graphic>
          <a:graphicData uri="http://schemas.openxmlformats.org/presentationml/2006/ole">
            <mc:AlternateContent xmlns:mc="http://schemas.openxmlformats.org/markup-compatibility/2006">
              <mc:Choice xmlns:v="urn:schemas-microsoft-com:vml" Requires="v">
                <p:oleObj spid="_x0000_s6" name="Equation" r:id="rId9" imgW="22555200" imgH="10363200" progId="Equation.DSMT4">
                  <p:embed/>
                </p:oleObj>
              </mc:Choice>
              <mc:Fallback>
                <p:oleObj name="Equation" r:id="rId9" imgW="22555200" imgH="10363200" progId="Equation.DSMT4">
                  <p:embed/>
                  <p:pic>
                    <p:nvPicPr>
                      <p:cNvPr id="0" name="Object 21"/>
                      <p:cNvPicPr>
                        <a:picLocks noChangeAspect="1" noChangeArrowheads="1"/>
                      </p:cNvPicPr>
                      <p:nvPr/>
                    </p:nvPicPr>
                    <p:blipFill>
                      <a:blip r:embed="rId10"/>
                      <a:srcRect/>
                      <a:stretch>
                        <a:fillRect/>
                      </a:stretch>
                    </p:blipFill>
                    <p:spPr bwMode="auto">
                      <a:xfrm>
                        <a:off x="3287688" y="4569527"/>
                        <a:ext cx="1825625" cy="838200"/>
                      </a:xfrm>
                      <a:prstGeom prst="rect">
                        <a:avLst/>
                      </a:prstGeom>
                      <a:noFill/>
                      <a:ln>
                        <a:noFill/>
                      </a:ln>
                      <a:effectLst/>
                    </p:spPr>
                  </p:pic>
                </p:oleObj>
              </mc:Fallback>
            </mc:AlternateContent>
          </a:graphicData>
        </a:graphic>
      </p:graphicFrame>
      <p:graphicFrame>
        <p:nvGraphicFramePr>
          <p:cNvPr id="82966" name="Object 22"/>
          <p:cNvGraphicFramePr>
            <a:graphicFrameLocks noChangeAspect="1"/>
          </p:cNvGraphicFramePr>
          <p:nvPr/>
        </p:nvGraphicFramePr>
        <p:xfrm>
          <a:off x="5689747" y="4174389"/>
          <a:ext cx="3816424" cy="1537552"/>
        </p:xfrm>
        <a:graphic>
          <a:graphicData uri="http://schemas.openxmlformats.org/presentationml/2006/ole">
            <mc:AlternateContent xmlns:mc="http://schemas.openxmlformats.org/markup-compatibility/2006">
              <mc:Choice xmlns:v="urn:schemas-microsoft-com:vml" Requires="v">
                <p:oleObj spid="_x0000_s7" name="Equation" r:id="rId11" imgW="42367200" imgH="17068800" progId="Equation.DSMT4">
                  <p:embed/>
                </p:oleObj>
              </mc:Choice>
              <mc:Fallback>
                <p:oleObj name="Equation" r:id="rId11" imgW="42367200" imgH="17068800" progId="Equation.DSMT4">
                  <p:embed/>
                  <p:pic>
                    <p:nvPicPr>
                      <p:cNvPr id="0" name="Object 22"/>
                      <p:cNvPicPr>
                        <a:picLocks noChangeAspect="1" noChangeArrowheads="1"/>
                      </p:cNvPicPr>
                      <p:nvPr/>
                    </p:nvPicPr>
                    <p:blipFill>
                      <a:blip r:embed="rId12"/>
                      <a:srcRect/>
                      <a:stretch>
                        <a:fillRect/>
                      </a:stretch>
                    </p:blipFill>
                    <p:spPr bwMode="auto">
                      <a:xfrm>
                        <a:off x="5689747" y="4174389"/>
                        <a:ext cx="3816424" cy="1537552"/>
                      </a:xfrm>
                      <a:prstGeom prst="rect">
                        <a:avLst/>
                      </a:prstGeom>
                      <a:noFill/>
                      <a:ln>
                        <a:noFill/>
                      </a:ln>
                      <a:effectLst/>
                    </p:spPr>
                  </p:pic>
                </p:oleObj>
              </mc:Fallback>
            </mc:AlternateContent>
          </a:graphicData>
        </a:graphic>
      </p:graphicFrame>
      <p:graphicFrame>
        <p:nvGraphicFramePr>
          <p:cNvPr id="82967" name="Object 23"/>
          <p:cNvGraphicFramePr>
            <a:graphicFrameLocks noChangeAspect="1"/>
          </p:cNvGraphicFramePr>
          <p:nvPr/>
        </p:nvGraphicFramePr>
        <p:xfrm>
          <a:off x="2393284" y="1411546"/>
          <a:ext cx="515807" cy="4020325"/>
        </p:xfrm>
        <a:graphic>
          <a:graphicData uri="http://schemas.openxmlformats.org/presentationml/2006/ole">
            <mc:AlternateContent xmlns:mc="http://schemas.openxmlformats.org/markup-compatibility/2006">
              <mc:Choice xmlns:v="urn:schemas-microsoft-com:vml" Requires="v">
                <p:oleObj spid="_x0000_s8" name="Equation" r:id="rId13" imgW="4572000" imgH="38404800" progId="Equation.DSMT4">
                  <p:embed/>
                </p:oleObj>
              </mc:Choice>
              <mc:Fallback>
                <p:oleObj name="Equation" r:id="rId13" imgW="4572000" imgH="38404800" progId="Equation.DSMT4">
                  <p:embed/>
                  <p:pic>
                    <p:nvPicPr>
                      <p:cNvPr id="0" name="Object 23"/>
                      <p:cNvPicPr>
                        <a:picLocks noChangeAspect="1" noChangeArrowheads="1"/>
                      </p:cNvPicPr>
                      <p:nvPr/>
                    </p:nvPicPr>
                    <p:blipFill>
                      <a:blip r:embed="rId14"/>
                      <a:srcRect/>
                      <a:stretch>
                        <a:fillRect/>
                      </a:stretch>
                    </p:blipFill>
                    <p:spPr bwMode="auto">
                      <a:xfrm>
                        <a:off x="2393284" y="1411546"/>
                        <a:ext cx="515807" cy="4020325"/>
                      </a:xfrm>
                      <a:prstGeom prst="rect">
                        <a:avLst/>
                      </a:prstGeom>
                      <a:noFill/>
                      <a:ln>
                        <a:noFill/>
                      </a:ln>
                      <a:effectLst/>
                    </p:spPr>
                  </p:pic>
                </p:oleObj>
              </mc:Fallback>
            </mc:AlternateContent>
          </a:graphicData>
        </a:graphic>
      </p:graphicFrame>
      <p:cxnSp>
        <p:nvCxnSpPr>
          <p:cNvPr id="13"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5" name="组合 14"/>
          <p:cNvGrpSpPr/>
          <p:nvPr/>
        </p:nvGrpSpPr>
        <p:grpSpPr>
          <a:xfrm>
            <a:off x="851761" y="364781"/>
            <a:ext cx="263341" cy="395013"/>
            <a:chOff x="5284519" y="1508166"/>
            <a:chExt cx="213756" cy="427512"/>
          </a:xfrm>
        </p:grpSpPr>
        <p:cxnSp>
          <p:nvCxnSpPr>
            <p:cNvPr id="16" name="直接连接符 15"/>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7" name="直接连接符 16"/>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9" name="矩形 8"/>
          <p:cNvSpPr/>
          <p:nvPr/>
        </p:nvSpPr>
        <p:spPr>
          <a:xfrm>
            <a:off x="1590150" y="5806636"/>
            <a:ext cx="6134100" cy="521970"/>
          </a:xfrm>
          <a:prstGeom prst="rect">
            <a:avLst/>
          </a:prstGeom>
        </p:spPr>
        <p:txBody>
          <a:bodyPr wrap="none">
            <a:spAutoFit/>
          </a:bodyPr>
          <a:lstStyle/>
          <a:p>
            <a:pPr>
              <a:spcAft>
                <a:spcPts val="0"/>
              </a:spcAft>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注：</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随机变量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，是相互独立的</a:t>
            </a:r>
            <a:endParaRPr lang="zh-CN" altLang="en-US" sz="2800" dirty="0">
              <a:solidFill>
                <a:schemeClr val="tx1">
                  <a:lumMod val="85000"/>
                  <a:lumOff val="1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2960"/>
                                        </p:tgtEl>
                                        <p:attrNameLst>
                                          <p:attrName>style.visibility</p:attrName>
                                        </p:attrNameLst>
                                      </p:cBhvr>
                                      <p:to>
                                        <p:strVal val="visible"/>
                                      </p:to>
                                    </p:set>
                                    <p:animEffect transition="in" filter="wipe(down)">
                                      <p:cBhvr>
                                        <p:cTn id="7" dur="500"/>
                                        <p:tgtEl>
                                          <p:spTgt spid="8296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2967"/>
                                        </p:tgtEl>
                                        <p:attrNameLst>
                                          <p:attrName>style.visibility</p:attrName>
                                        </p:attrNameLst>
                                      </p:cBhvr>
                                      <p:to>
                                        <p:strVal val="visible"/>
                                      </p:to>
                                    </p:set>
                                    <p:anim calcmode="lin" valueType="num">
                                      <p:cBhvr additive="base">
                                        <p:cTn id="12" dur="500" fill="hold"/>
                                        <p:tgtEl>
                                          <p:spTgt spid="82967"/>
                                        </p:tgtEl>
                                        <p:attrNameLst>
                                          <p:attrName>ppt_x</p:attrName>
                                        </p:attrNameLst>
                                      </p:cBhvr>
                                      <p:tavLst>
                                        <p:tav tm="0">
                                          <p:val>
                                            <p:strVal val="#ppt_x"/>
                                          </p:val>
                                        </p:tav>
                                        <p:tav tm="100000">
                                          <p:val>
                                            <p:strVal val="#ppt_x"/>
                                          </p:val>
                                        </p:tav>
                                      </p:tavLst>
                                    </p:anim>
                                    <p:anim calcmode="lin" valueType="num">
                                      <p:cBhvr additive="base">
                                        <p:cTn id="13" dur="500" fill="hold"/>
                                        <p:tgtEl>
                                          <p:spTgt spid="8296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82961"/>
                                        </p:tgtEl>
                                        <p:attrNameLst>
                                          <p:attrName>style.visibility</p:attrName>
                                        </p:attrNameLst>
                                      </p:cBhvr>
                                      <p:to>
                                        <p:strVal val="visible"/>
                                      </p:to>
                                    </p:set>
                                    <p:animEffect transition="in" filter="wipe(left)">
                                      <p:cBhvr>
                                        <p:cTn id="18" dur="500"/>
                                        <p:tgtEl>
                                          <p:spTgt spid="8296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82963"/>
                                        </p:tgtEl>
                                        <p:attrNameLst>
                                          <p:attrName>style.visibility</p:attrName>
                                        </p:attrNameLst>
                                      </p:cBhvr>
                                      <p:to>
                                        <p:strVal val="visible"/>
                                      </p:to>
                                    </p:set>
                                    <p:animEffect transition="in" filter="wipe(left)">
                                      <p:cBhvr>
                                        <p:cTn id="23" dur="500"/>
                                        <p:tgtEl>
                                          <p:spTgt spid="8296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2962"/>
                                        </p:tgtEl>
                                        <p:attrNameLst>
                                          <p:attrName>style.visibility</p:attrName>
                                        </p:attrNameLst>
                                      </p:cBhvr>
                                      <p:to>
                                        <p:strVal val="visible"/>
                                      </p:to>
                                    </p:set>
                                    <p:animEffect transition="in" filter="wipe(left)">
                                      <p:cBhvr>
                                        <p:cTn id="28" dur="500"/>
                                        <p:tgtEl>
                                          <p:spTgt spid="8296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82964"/>
                                        </p:tgtEl>
                                        <p:attrNameLst>
                                          <p:attrName>style.visibility</p:attrName>
                                        </p:attrNameLst>
                                      </p:cBhvr>
                                      <p:to>
                                        <p:strVal val="visible"/>
                                      </p:to>
                                    </p:set>
                                    <p:animEffect transition="in" filter="wipe(left)">
                                      <p:cBhvr>
                                        <p:cTn id="33" dur="500"/>
                                        <p:tgtEl>
                                          <p:spTgt spid="8296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82965"/>
                                        </p:tgtEl>
                                        <p:attrNameLst>
                                          <p:attrName>style.visibility</p:attrName>
                                        </p:attrNameLst>
                                      </p:cBhvr>
                                      <p:to>
                                        <p:strVal val="visible"/>
                                      </p:to>
                                    </p:set>
                                    <p:animEffect transition="in" filter="wipe(down)">
                                      <p:cBhvr>
                                        <p:cTn id="38" dur="500"/>
                                        <p:tgtEl>
                                          <p:spTgt spid="8296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82966"/>
                                        </p:tgtEl>
                                        <p:attrNameLst>
                                          <p:attrName>style.visibility</p:attrName>
                                        </p:attrNameLst>
                                      </p:cBhvr>
                                      <p:to>
                                        <p:strVal val="visible"/>
                                      </p:to>
                                    </p:set>
                                    <p:animEffect transition="in" filter="wipe(left)">
                                      <p:cBhvr>
                                        <p:cTn id="43" dur="500"/>
                                        <p:tgtEl>
                                          <p:spTgt spid="82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60"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46" name="Object 48"/>
          <p:cNvGraphicFramePr>
            <a:graphicFrameLocks noChangeAspect="1"/>
          </p:cNvGraphicFramePr>
          <p:nvPr/>
        </p:nvGraphicFramePr>
        <p:xfrm>
          <a:off x="10649271" y="2138734"/>
          <a:ext cx="517525" cy="695658"/>
        </p:xfrm>
        <a:graphic>
          <a:graphicData uri="http://schemas.openxmlformats.org/presentationml/2006/ole">
            <mc:AlternateContent xmlns:mc="http://schemas.openxmlformats.org/markup-compatibility/2006">
              <mc:Choice xmlns:v="urn:schemas-microsoft-com:vml" Requires="v">
                <p:oleObj spid="_x0000_s62524" name="Equation" r:id="rId1" imgW="5791200" imgH="9448800" progId="Equation.DSMT4">
                  <p:embed/>
                </p:oleObj>
              </mc:Choice>
              <mc:Fallback>
                <p:oleObj name="Equation" r:id="rId1" imgW="5791200" imgH="9448800" progId="Equation.DSMT4">
                  <p:embed/>
                  <p:pic>
                    <p:nvPicPr>
                      <p:cNvPr id="0" name="Object 48"/>
                      <p:cNvPicPr>
                        <a:picLocks noChangeAspect="1" noChangeArrowheads="1"/>
                      </p:cNvPicPr>
                      <p:nvPr/>
                    </p:nvPicPr>
                    <p:blipFill>
                      <a:blip r:embed="rId2"/>
                      <a:srcRect/>
                      <a:stretch>
                        <a:fillRect/>
                      </a:stretch>
                    </p:blipFill>
                    <p:spPr bwMode="auto">
                      <a:xfrm>
                        <a:off x="10649271" y="2138734"/>
                        <a:ext cx="517525" cy="695658"/>
                      </a:xfrm>
                      <a:prstGeom prst="rect">
                        <a:avLst/>
                      </a:prstGeom>
                      <a:noFill/>
                      <a:ln>
                        <a:noFill/>
                      </a:ln>
                      <a:effectLst/>
                    </p:spPr>
                  </p:pic>
                </p:oleObj>
              </mc:Fallback>
            </mc:AlternateContent>
          </a:graphicData>
        </a:graphic>
      </p:graphicFrame>
      <p:sp>
        <p:nvSpPr>
          <p:cNvPr id="13" name="矩形 3"/>
          <p:cNvSpPr>
            <a:spLocks noChangeArrowheads="1"/>
          </p:cNvSpPr>
          <p:nvPr/>
        </p:nvSpPr>
        <p:spPr bwMode="auto">
          <a:xfrm>
            <a:off x="1684837" y="1498738"/>
            <a:ext cx="267081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800"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概率的统计定义</a:t>
            </a:r>
            <a:endParaRPr lang="zh-CN" altLang="en-US" sz="2800"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sp>
        <p:nvSpPr>
          <p:cNvPr id="14" name="椭圆 13"/>
          <p:cNvSpPr/>
          <p:nvPr/>
        </p:nvSpPr>
        <p:spPr>
          <a:xfrm>
            <a:off x="899561" y="1412776"/>
            <a:ext cx="695136" cy="695136"/>
          </a:xfrm>
          <a:prstGeom prst="ellipse">
            <a:avLst/>
          </a:prstGeom>
          <a:solidFill>
            <a:srgbClr val="C00000"/>
          </a:solidFill>
          <a:ln w="25400">
            <a:noFill/>
          </a:ln>
          <a:effectLst>
            <a:outerShdw blurRad="1778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solidFill>
                <a:srgbClr val="FEFAB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Freeform 207"/>
          <p:cNvSpPr>
            <a:spLocks noEditPoints="1"/>
          </p:cNvSpPr>
          <p:nvPr/>
        </p:nvSpPr>
        <p:spPr bwMode="auto">
          <a:xfrm>
            <a:off x="1060952" y="1607056"/>
            <a:ext cx="361559" cy="316213"/>
          </a:xfrm>
          <a:custGeom>
            <a:avLst/>
            <a:gdLst>
              <a:gd name="T0" fmla="*/ 112 w 128"/>
              <a:gd name="T1" fmla="*/ 60 h 112"/>
              <a:gd name="T2" fmla="*/ 104 w 128"/>
              <a:gd name="T3" fmla="*/ 60 h 112"/>
              <a:gd name="T4" fmla="*/ 104 w 128"/>
              <a:gd name="T5" fmla="*/ 16 h 112"/>
              <a:gd name="T6" fmla="*/ 88 w 128"/>
              <a:gd name="T7" fmla="*/ 0 h 112"/>
              <a:gd name="T8" fmla="*/ 40 w 128"/>
              <a:gd name="T9" fmla="*/ 0 h 112"/>
              <a:gd name="T10" fmla="*/ 24 w 128"/>
              <a:gd name="T11" fmla="*/ 16 h 112"/>
              <a:gd name="T12" fmla="*/ 24 w 128"/>
              <a:gd name="T13" fmla="*/ 52 h 112"/>
              <a:gd name="T14" fmla="*/ 24 w 128"/>
              <a:gd name="T15" fmla="*/ 56 h 112"/>
              <a:gd name="T16" fmla="*/ 24 w 128"/>
              <a:gd name="T17" fmla="*/ 56 h 112"/>
              <a:gd name="T18" fmla="*/ 24 w 128"/>
              <a:gd name="T19" fmla="*/ 60 h 112"/>
              <a:gd name="T20" fmla="*/ 16 w 128"/>
              <a:gd name="T21" fmla="*/ 60 h 112"/>
              <a:gd name="T22" fmla="*/ 0 w 128"/>
              <a:gd name="T23" fmla="*/ 76 h 112"/>
              <a:gd name="T24" fmla="*/ 0 w 128"/>
              <a:gd name="T25" fmla="*/ 84 h 112"/>
              <a:gd name="T26" fmla="*/ 16 w 128"/>
              <a:gd name="T27" fmla="*/ 100 h 112"/>
              <a:gd name="T28" fmla="*/ 25 w 128"/>
              <a:gd name="T29" fmla="*/ 100 h 112"/>
              <a:gd name="T30" fmla="*/ 40 w 128"/>
              <a:gd name="T31" fmla="*/ 112 h 112"/>
              <a:gd name="T32" fmla="*/ 88 w 128"/>
              <a:gd name="T33" fmla="*/ 112 h 112"/>
              <a:gd name="T34" fmla="*/ 103 w 128"/>
              <a:gd name="T35" fmla="*/ 100 h 112"/>
              <a:gd name="T36" fmla="*/ 112 w 128"/>
              <a:gd name="T37" fmla="*/ 100 h 112"/>
              <a:gd name="T38" fmla="*/ 128 w 128"/>
              <a:gd name="T39" fmla="*/ 84 h 112"/>
              <a:gd name="T40" fmla="*/ 128 w 128"/>
              <a:gd name="T41" fmla="*/ 76 h 112"/>
              <a:gd name="T42" fmla="*/ 112 w 128"/>
              <a:gd name="T43" fmla="*/ 60 h 112"/>
              <a:gd name="T44" fmla="*/ 32 w 128"/>
              <a:gd name="T45" fmla="*/ 16 h 112"/>
              <a:gd name="T46" fmla="*/ 40 w 128"/>
              <a:gd name="T47" fmla="*/ 8 h 112"/>
              <a:gd name="T48" fmla="*/ 88 w 128"/>
              <a:gd name="T49" fmla="*/ 8 h 112"/>
              <a:gd name="T50" fmla="*/ 96 w 128"/>
              <a:gd name="T51" fmla="*/ 16 h 112"/>
              <a:gd name="T52" fmla="*/ 96 w 128"/>
              <a:gd name="T53" fmla="*/ 60 h 112"/>
              <a:gd name="T54" fmla="*/ 32 w 128"/>
              <a:gd name="T55" fmla="*/ 60 h 112"/>
              <a:gd name="T56" fmla="*/ 32 w 128"/>
              <a:gd name="T57" fmla="*/ 16 h 112"/>
              <a:gd name="T58" fmla="*/ 88 w 128"/>
              <a:gd name="T59" fmla="*/ 104 h 112"/>
              <a:gd name="T60" fmla="*/ 40 w 128"/>
              <a:gd name="T61" fmla="*/ 104 h 112"/>
              <a:gd name="T62" fmla="*/ 32 w 128"/>
              <a:gd name="T63" fmla="*/ 96 h 112"/>
              <a:gd name="T64" fmla="*/ 40 w 128"/>
              <a:gd name="T65" fmla="*/ 88 h 112"/>
              <a:gd name="T66" fmla="*/ 88 w 128"/>
              <a:gd name="T67" fmla="*/ 88 h 112"/>
              <a:gd name="T68" fmla="*/ 96 w 128"/>
              <a:gd name="T69" fmla="*/ 96 h 112"/>
              <a:gd name="T70" fmla="*/ 88 w 128"/>
              <a:gd name="T71" fmla="*/ 104 h 112"/>
              <a:gd name="T72" fmla="*/ 120 w 128"/>
              <a:gd name="T73" fmla="*/ 84 h 112"/>
              <a:gd name="T74" fmla="*/ 112 w 128"/>
              <a:gd name="T75" fmla="*/ 92 h 112"/>
              <a:gd name="T76" fmla="*/ 103 w 128"/>
              <a:gd name="T77" fmla="*/ 92 h 112"/>
              <a:gd name="T78" fmla="*/ 88 w 128"/>
              <a:gd name="T79" fmla="*/ 80 h 112"/>
              <a:gd name="T80" fmla="*/ 40 w 128"/>
              <a:gd name="T81" fmla="*/ 80 h 112"/>
              <a:gd name="T82" fmla="*/ 25 w 128"/>
              <a:gd name="T83" fmla="*/ 92 h 112"/>
              <a:gd name="T84" fmla="*/ 16 w 128"/>
              <a:gd name="T85" fmla="*/ 92 h 112"/>
              <a:gd name="T86" fmla="*/ 8 w 128"/>
              <a:gd name="T87" fmla="*/ 84 h 112"/>
              <a:gd name="T88" fmla="*/ 8 w 128"/>
              <a:gd name="T89" fmla="*/ 76 h 112"/>
              <a:gd name="T90" fmla="*/ 16 w 128"/>
              <a:gd name="T91" fmla="*/ 68 h 112"/>
              <a:gd name="T92" fmla="*/ 112 w 128"/>
              <a:gd name="T93" fmla="*/ 68 h 112"/>
              <a:gd name="T94" fmla="*/ 120 w 128"/>
              <a:gd name="T95" fmla="*/ 76 h 112"/>
              <a:gd name="T96" fmla="*/ 120 w 128"/>
              <a:gd name="T97" fmla="*/ 8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 h="112">
                <a:moveTo>
                  <a:pt x="112" y="60"/>
                </a:moveTo>
                <a:cubicBezTo>
                  <a:pt x="104" y="60"/>
                  <a:pt x="104" y="60"/>
                  <a:pt x="104" y="60"/>
                </a:cubicBezTo>
                <a:cubicBezTo>
                  <a:pt x="104" y="16"/>
                  <a:pt x="104" y="16"/>
                  <a:pt x="104" y="16"/>
                </a:cubicBezTo>
                <a:cubicBezTo>
                  <a:pt x="104" y="7"/>
                  <a:pt x="97" y="0"/>
                  <a:pt x="88" y="0"/>
                </a:cubicBezTo>
                <a:cubicBezTo>
                  <a:pt x="40" y="0"/>
                  <a:pt x="40" y="0"/>
                  <a:pt x="40" y="0"/>
                </a:cubicBezTo>
                <a:cubicBezTo>
                  <a:pt x="31" y="0"/>
                  <a:pt x="24" y="7"/>
                  <a:pt x="24" y="16"/>
                </a:cubicBezTo>
                <a:cubicBezTo>
                  <a:pt x="24" y="52"/>
                  <a:pt x="24" y="52"/>
                  <a:pt x="24" y="52"/>
                </a:cubicBezTo>
                <a:cubicBezTo>
                  <a:pt x="24" y="55"/>
                  <a:pt x="24" y="56"/>
                  <a:pt x="24" y="56"/>
                </a:cubicBezTo>
                <a:cubicBezTo>
                  <a:pt x="24" y="56"/>
                  <a:pt x="24" y="56"/>
                  <a:pt x="24" y="56"/>
                </a:cubicBezTo>
                <a:cubicBezTo>
                  <a:pt x="24" y="56"/>
                  <a:pt x="24" y="57"/>
                  <a:pt x="24" y="60"/>
                </a:cubicBezTo>
                <a:cubicBezTo>
                  <a:pt x="16" y="60"/>
                  <a:pt x="16" y="60"/>
                  <a:pt x="16" y="60"/>
                </a:cubicBezTo>
                <a:cubicBezTo>
                  <a:pt x="7" y="60"/>
                  <a:pt x="0" y="67"/>
                  <a:pt x="0" y="76"/>
                </a:cubicBezTo>
                <a:cubicBezTo>
                  <a:pt x="0" y="84"/>
                  <a:pt x="0" y="84"/>
                  <a:pt x="0" y="84"/>
                </a:cubicBezTo>
                <a:cubicBezTo>
                  <a:pt x="0" y="93"/>
                  <a:pt x="7" y="100"/>
                  <a:pt x="16" y="100"/>
                </a:cubicBezTo>
                <a:cubicBezTo>
                  <a:pt x="25" y="100"/>
                  <a:pt x="25" y="100"/>
                  <a:pt x="25" y="100"/>
                </a:cubicBezTo>
                <a:cubicBezTo>
                  <a:pt x="26" y="107"/>
                  <a:pt x="33" y="112"/>
                  <a:pt x="40" y="112"/>
                </a:cubicBezTo>
                <a:cubicBezTo>
                  <a:pt x="88" y="112"/>
                  <a:pt x="88" y="112"/>
                  <a:pt x="88" y="112"/>
                </a:cubicBezTo>
                <a:cubicBezTo>
                  <a:pt x="95" y="112"/>
                  <a:pt x="102" y="107"/>
                  <a:pt x="103" y="100"/>
                </a:cubicBezTo>
                <a:cubicBezTo>
                  <a:pt x="112" y="100"/>
                  <a:pt x="112" y="100"/>
                  <a:pt x="112" y="100"/>
                </a:cubicBezTo>
                <a:cubicBezTo>
                  <a:pt x="121" y="100"/>
                  <a:pt x="128" y="93"/>
                  <a:pt x="128" y="84"/>
                </a:cubicBezTo>
                <a:cubicBezTo>
                  <a:pt x="128" y="76"/>
                  <a:pt x="128" y="76"/>
                  <a:pt x="128" y="76"/>
                </a:cubicBezTo>
                <a:cubicBezTo>
                  <a:pt x="128" y="67"/>
                  <a:pt x="121" y="60"/>
                  <a:pt x="112" y="60"/>
                </a:cubicBezTo>
                <a:close/>
                <a:moveTo>
                  <a:pt x="32" y="16"/>
                </a:moveTo>
                <a:cubicBezTo>
                  <a:pt x="32" y="12"/>
                  <a:pt x="36" y="8"/>
                  <a:pt x="40" y="8"/>
                </a:cubicBezTo>
                <a:cubicBezTo>
                  <a:pt x="88" y="8"/>
                  <a:pt x="88" y="8"/>
                  <a:pt x="88" y="8"/>
                </a:cubicBezTo>
                <a:cubicBezTo>
                  <a:pt x="92" y="8"/>
                  <a:pt x="96" y="12"/>
                  <a:pt x="96" y="16"/>
                </a:cubicBezTo>
                <a:cubicBezTo>
                  <a:pt x="96" y="60"/>
                  <a:pt x="96" y="60"/>
                  <a:pt x="96" y="60"/>
                </a:cubicBezTo>
                <a:cubicBezTo>
                  <a:pt x="32" y="60"/>
                  <a:pt x="32" y="60"/>
                  <a:pt x="32" y="60"/>
                </a:cubicBezTo>
                <a:lnTo>
                  <a:pt x="32" y="16"/>
                </a:lnTo>
                <a:close/>
                <a:moveTo>
                  <a:pt x="88" y="104"/>
                </a:moveTo>
                <a:cubicBezTo>
                  <a:pt x="40" y="104"/>
                  <a:pt x="40" y="104"/>
                  <a:pt x="40" y="104"/>
                </a:cubicBezTo>
                <a:cubicBezTo>
                  <a:pt x="36" y="104"/>
                  <a:pt x="32" y="100"/>
                  <a:pt x="32" y="96"/>
                </a:cubicBezTo>
                <a:cubicBezTo>
                  <a:pt x="32" y="92"/>
                  <a:pt x="36" y="88"/>
                  <a:pt x="40" y="88"/>
                </a:cubicBezTo>
                <a:cubicBezTo>
                  <a:pt x="88" y="88"/>
                  <a:pt x="88" y="88"/>
                  <a:pt x="88" y="88"/>
                </a:cubicBezTo>
                <a:cubicBezTo>
                  <a:pt x="92" y="88"/>
                  <a:pt x="96" y="92"/>
                  <a:pt x="96" y="96"/>
                </a:cubicBezTo>
                <a:cubicBezTo>
                  <a:pt x="96" y="100"/>
                  <a:pt x="92" y="104"/>
                  <a:pt x="88" y="104"/>
                </a:cubicBezTo>
                <a:close/>
                <a:moveTo>
                  <a:pt x="120" y="84"/>
                </a:moveTo>
                <a:cubicBezTo>
                  <a:pt x="120" y="88"/>
                  <a:pt x="116" y="92"/>
                  <a:pt x="112" y="92"/>
                </a:cubicBezTo>
                <a:cubicBezTo>
                  <a:pt x="103" y="92"/>
                  <a:pt x="103" y="92"/>
                  <a:pt x="103" y="92"/>
                </a:cubicBezTo>
                <a:cubicBezTo>
                  <a:pt x="102" y="85"/>
                  <a:pt x="95" y="80"/>
                  <a:pt x="88" y="80"/>
                </a:cubicBezTo>
                <a:cubicBezTo>
                  <a:pt x="40" y="80"/>
                  <a:pt x="40" y="80"/>
                  <a:pt x="40" y="80"/>
                </a:cubicBezTo>
                <a:cubicBezTo>
                  <a:pt x="33" y="80"/>
                  <a:pt x="26" y="85"/>
                  <a:pt x="25" y="92"/>
                </a:cubicBezTo>
                <a:cubicBezTo>
                  <a:pt x="16" y="92"/>
                  <a:pt x="16" y="92"/>
                  <a:pt x="16" y="92"/>
                </a:cubicBezTo>
                <a:cubicBezTo>
                  <a:pt x="12" y="92"/>
                  <a:pt x="8" y="88"/>
                  <a:pt x="8" y="84"/>
                </a:cubicBezTo>
                <a:cubicBezTo>
                  <a:pt x="8" y="76"/>
                  <a:pt x="8" y="76"/>
                  <a:pt x="8" y="76"/>
                </a:cubicBezTo>
                <a:cubicBezTo>
                  <a:pt x="8" y="72"/>
                  <a:pt x="12" y="68"/>
                  <a:pt x="16" y="68"/>
                </a:cubicBezTo>
                <a:cubicBezTo>
                  <a:pt x="112" y="68"/>
                  <a:pt x="112" y="68"/>
                  <a:pt x="112" y="68"/>
                </a:cubicBezTo>
                <a:cubicBezTo>
                  <a:pt x="116" y="68"/>
                  <a:pt x="120" y="72"/>
                  <a:pt x="120" y="76"/>
                </a:cubicBezTo>
                <a:lnTo>
                  <a:pt x="120" y="84"/>
                </a:lnTo>
                <a:close/>
              </a:path>
            </a:pathLst>
          </a:custGeom>
          <a:solidFill>
            <a:srgbClr val="F6F6F6"/>
          </a:solidFill>
          <a:ln>
            <a:noFill/>
          </a:ln>
        </p:spPr>
        <p:txBody>
          <a:bodyPr vert="horz" wrap="square" lIns="91440" tIns="45720" rIns="91440" bIns="45720" numCol="1" anchor="t" anchorCtr="0" compatLnSpc="1"/>
          <a:lstStyle/>
          <a:p>
            <a:endParaRPr lang="zh-CN" altLang="en-US">
              <a:solidFill>
                <a:schemeClr val="tx1">
                  <a:lumMod val="75000"/>
                  <a:lumOff val="2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6"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矩形 16"/>
          <p:cNvSpPr>
            <a:spLocks noChangeArrowheads="1"/>
          </p:cNvSpPr>
          <p:nvPr/>
        </p:nvSpPr>
        <p:spPr bwMode="auto">
          <a:xfrm>
            <a:off x="1406163" y="255069"/>
            <a:ext cx="204851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0" algn="l" defTabSz="914400" eaLnBrk="1" fontAlgn="auto" hangingPunct="1">
              <a:spcBef>
                <a:spcPct val="0"/>
              </a:spcBef>
              <a:spcAft>
                <a:spcPts val="0"/>
              </a:spcAft>
              <a:buNone/>
            </a:pPr>
            <a:r>
              <a:rPr lang="zh-CN" altLang="en-US" sz="2935" b="1" dirty="0">
                <a:solidFill>
                  <a:srgbClr val="C00000"/>
                </a:solidFill>
                <a:latin typeface="Times New Roman" panose="02020603050405020304" pitchFamily="18" charset="0"/>
                <a:cs typeface="Arial" panose="020B0604020202020204" pitchFamily="34" charset="0"/>
                <a:sym typeface="Times New Roman" panose="02020603050405020304" pitchFamily="18" charset="0"/>
              </a:rPr>
              <a:t>知识点回顾</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8" name="组合 17"/>
          <p:cNvGrpSpPr/>
          <p:nvPr/>
        </p:nvGrpSpPr>
        <p:grpSpPr>
          <a:xfrm>
            <a:off x="851761" y="364781"/>
            <a:ext cx="263341" cy="395013"/>
            <a:chOff x="5284519" y="1508166"/>
            <a:chExt cx="213756" cy="427512"/>
          </a:xfrm>
        </p:grpSpPr>
        <p:cxnSp>
          <p:nvCxnSpPr>
            <p:cNvPr id="19" name="直接连接符 18"/>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0" name="直接连接符 19"/>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2" name="组合 1"/>
          <p:cNvGrpSpPr/>
          <p:nvPr/>
        </p:nvGrpSpPr>
        <p:grpSpPr>
          <a:xfrm>
            <a:off x="1684655" y="2220725"/>
            <a:ext cx="9571405" cy="2276410"/>
            <a:chOff x="2653" y="3497"/>
            <a:chExt cx="15073" cy="3585"/>
          </a:xfrm>
        </p:grpSpPr>
        <p:sp>
          <p:nvSpPr>
            <p:cNvPr id="21" name="Text Box 55"/>
            <p:cNvSpPr txBox="1">
              <a:spLocks noChangeArrowheads="1"/>
            </p:cNvSpPr>
            <p:nvPr/>
          </p:nvSpPr>
          <p:spPr bwMode="auto">
            <a:xfrm>
              <a:off x="2672" y="3497"/>
              <a:ext cx="14666" cy="1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spcAft>
                  <a:spcPts val="0"/>
                </a:spcAft>
                <a:buFontTx/>
                <a:buNone/>
              </a:pP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在不变的一组条件下进行大量的重复试验，随机事件</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出现的频率</a:t>
              </a:r>
              <a:endPar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Text Box 55"/>
            <p:cNvSpPr txBox="1">
              <a:spLocks noChangeArrowheads="1"/>
            </p:cNvSpPr>
            <p:nvPr/>
          </p:nvSpPr>
          <p:spPr bwMode="auto">
            <a:xfrm>
              <a:off x="2653" y="4612"/>
              <a:ext cx="15073" cy="2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200000"/>
                </a:lnSpc>
                <a:spcBef>
                  <a:spcPct val="50000"/>
                </a:spcBef>
                <a:spcAft>
                  <a:spcPts val="0"/>
                </a:spcAft>
                <a:buFontTx/>
                <a:buNone/>
              </a:pP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会稳定地在某个固定的数值 </a:t>
              </a:r>
              <a:r>
                <a:rPr kumimoji="1"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的附近摆动，我们称这个稳定值为随机事件</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的概率，即</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 = </a:t>
              </a:r>
              <a:r>
                <a:rPr kumimoji="1"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par>
                                <p:cTn id="18" presetID="22" presetClass="entr" presetSubtype="8" fill="hold" nodeType="withEffect">
                                  <p:stCondLst>
                                    <p:cond delay="0"/>
                                  </p:stCondLst>
                                  <p:iterate type="lt">
                                    <p:tmPct val="30000"/>
                                  </p:iterate>
                                  <p:childTnLst>
                                    <p:set>
                                      <p:cBhvr>
                                        <p:cTn id="19" dur="1" fill="hold">
                                          <p:stCondLst>
                                            <p:cond delay="0"/>
                                          </p:stCondLst>
                                        </p:cTn>
                                        <p:tgtEl>
                                          <p:spTgt spid="14346"/>
                                        </p:tgtEl>
                                        <p:attrNameLst>
                                          <p:attrName>style.visibility</p:attrName>
                                        </p:attrNameLst>
                                      </p:cBhvr>
                                      <p:to>
                                        <p:strVal val="visible"/>
                                      </p:to>
                                    </p:set>
                                    <p:animEffect transition="in" filter="wipe(left)">
                                      <p:cBhvr>
                                        <p:cTn id="20" dur="1000"/>
                                        <p:tgtEl>
                                          <p:spTgt spid="14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Box 55"/>
          <p:cNvSpPr txBox="1">
            <a:spLocks noChangeArrowheads="1"/>
          </p:cNvSpPr>
          <p:nvPr/>
        </p:nvSpPr>
        <p:spPr bwMode="auto">
          <a:xfrm>
            <a:off x="1702440" y="2124553"/>
            <a:ext cx="8930063" cy="230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200000"/>
              </a:lnSpc>
              <a:spcBef>
                <a:spcPct val="50000"/>
              </a:spcBef>
              <a:spcAft>
                <a:spcPts val="0"/>
              </a:spcAft>
              <a:buFontTx/>
              <a:buNone/>
            </a:pP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设在 </a:t>
            </a:r>
            <a:r>
              <a:rPr kumimoji="1"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次重复试验中，事件</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出现了</a:t>
            </a:r>
            <a:r>
              <a:rPr kumimoji="1" lang="en-US" altLang="zh-CN" sz="24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kumimoji="1" lang="en-US" altLang="zh-CN" sz="2400" b="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kumimoji="1" lang="en-US" altLang="zh-CN" sz="2400" b="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次，则称 </a:t>
            </a:r>
            <a:r>
              <a:rPr kumimoji="1" lang="en-US" altLang="zh-CN" sz="24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kumimoji="1" lang="en-US" altLang="zh-CN" sz="2400" b="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kumimoji="1" lang="en-US" altLang="zh-CN" sz="2400" b="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为事件 </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在 </a:t>
            </a:r>
            <a:r>
              <a:rPr kumimoji="1"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次试验中出现的频数，比值为 </a:t>
            </a:r>
            <a:r>
              <a:rPr kumimoji="1" lang="en-US" altLang="zh-CN" sz="24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kumimoji="1" lang="en-US" altLang="zh-CN" sz="2400" b="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kumimoji="1"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n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事件 </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在 </a:t>
            </a:r>
            <a:r>
              <a:rPr kumimoji="1"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次试验中出现的频率，记为</a:t>
            </a:r>
            <a:r>
              <a:rPr kumimoji="1" lang="en-US" altLang="zh-CN" sz="24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f</a:t>
            </a:r>
            <a:r>
              <a:rPr kumimoji="1" lang="en-US" altLang="zh-CN" sz="24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a:t>
            </a:r>
            <a:endPar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0250" name="Object 79"/>
          <p:cNvGraphicFramePr>
            <a:graphicFrameLocks noChangeAspect="1"/>
          </p:cNvGraphicFramePr>
          <p:nvPr/>
        </p:nvGraphicFramePr>
        <p:xfrm>
          <a:off x="4808746" y="4423848"/>
          <a:ext cx="1598612" cy="898525"/>
        </p:xfrm>
        <a:graphic>
          <a:graphicData uri="http://schemas.openxmlformats.org/presentationml/2006/ole">
            <mc:AlternateContent xmlns:mc="http://schemas.openxmlformats.org/markup-compatibility/2006">
              <mc:Choice xmlns:v="urn:schemas-microsoft-com:vml" Requires="v">
                <p:oleObj spid="_x0000_s60476" name="Equation" r:id="rId1" imgW="17068800" imgH="9448800" progId="Equation.DSMT4">
                  <p:embed/>
                </p:oleObj>
              </mc:Choice>
              <mc:Fallback>
                <p:oleObj name="Equation" r:id="rId1" imgW="17068800" imgH="9448800" progId="Equation.DSMT4">
                  <p:embed/>
                  <p:pic>
                    <p:nvPicPr>
                      <p:cNvPr id="0" name="Object 79"/>
                      <p:cNvPicPr>
                        <a:picLocks noChangeAspect="1" noChangeArrowheads="1"/>
                      </p:cNvPicPr>
                      <p:nvPr/>
                    </p:nvPicPr>
                    <p:blipFill>
                      <a:blip r:embed="rId2"/>
                      <a:srcRect/>
                      <a:stretch>
                        <a:fillRect/>
                      </a:stretch>
                    </p:blipFill>
                    <p:spPr bwMode="auto">
                      <a:xfrm>
                        <a:off x="4808746" y="4423848"/>
                        <a:ext cx="1598612" cy="898525"/>
                      </a:xfrm>
                      <a:prstGeom prst="rect">
                        <a:avLst/>
                      </a:prstGeom>
                      <a:noFill/>
                      <a:ln>
                        <a:noFill/>
                      </a:ln>
                      <a:effectLst/>
                    </p:spPr>
                  </p:pic>
                </p:oleObj>
              </mc:Fallback>
            </mc:AlternateContent>
          </a:graphicData>
        </a:graphic>
      </p:graphicFrame>
      <p:cxnSp>
        <p:nvCxnSpPr>
          <p:cNvPr id="11"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204851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0" defTabSz="914400" eaLnBrk="1" fontAlgn="auto" hangingPunct="1">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知识点</a:t>
            </a: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回顾</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6" name="矩形 3"/>
          <p:cNvSpPr>
            <a:spLocks noChangeArrowheads="1"/>
          </p:cNvSpPr>
          <p:nvPr/>
        </p:nvSpPr>
        <p:spPr bwMode="auto">
          <a:xfrm>
            <a:off x="1684837" y="1498738"/>
            <a:ext cx="89281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800"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频率</a:t>
            </a:r>
            <a:endParaRPr lang="zh-CN" altLang="en-US" sz="2800"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sp>
        <p:nvSpPr>
          <p:cNvPr id="17" name="椭圆 16"/>
          <p:cNvSpPr/>
          <p:nvPr/>
        </p:nvSpPr>
        <p:spPr>
          <a:xfrm>
            <a:off x="899561" y="1412776"/>
            <a:ext cx="695136" cy="695136"/>
          </a:xfrm>
          <a:prstGeom prst="ellipse">
            <a:avLst/>
          </a:prstGeom>
          <a:solidFill>
            <a:srgbClr val="C00000"/>
          </a:solidFill>
          <a:ln w="25400">
            <a:noFill/>
          </a:ln>
          <a:effectLst>
            <a:outerShdw blurRad="177800" dist="38100" dir="5400000" sx="90000" sy="-19000"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4400">
              <a:solidFill>
                <a:srgbClr val="FEFABC"/>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8" name="Freeform 207"/>
          <p:cNvSpPr>
            <a:spLocks noEditPoints="1"/>
          </p:cNvSpPr>
          <p:nvPr/>
        </p:nvSpPr>
        <p:spPr bwMode="auto">
          <a:xfrm>
            <a:off x="1060952" y="1607056"/>
            <a:ext cx="361559" cy="316213"/>
          </a:xfrm>
          <a:custGeom>
            <a:avLst/>
            <a:gdLst>
              <a:gd name="T0" fmla="*/ 112 w 128"/>
              <a:gd name="T1" fmla="*/ 60 h 112"/>
              <a:gd name="T2" fmla="*/ 104 w 128"/>
              <a:gd name="T3" fmla="*/ 60 h 112"/>
              <a:gd name="T4" fmla="*/ 104 w 128"/>
              <a:gd name="T5" fmla="*/ 16 h 112"/>
              <a:gd name="T6" fmla="*/ 88 w 128"/>
              <a:gd name="T7" fmla="*/ 0 h 112"/>
              <a:gd name="T8" fmla="*/ 40 w 128"/>
              <a:gd name="T9" fmla="*/ 0 h 112"/>
              <a:gd name="T10" fmla="*/ 24 w 128"/>
              <a:gd name="T11" fmla="*/ 16 h 112"/>
              <a:gd name="T12" fmla="*/ 24 w 128"/>
              <a:gd name="T13" fmla="*/ 52 h 112"/>
              <a:gd name="T14" fmla="*/ 24 w 128"/>
              <a:gd name="T15" fmla="*/ 56 h 112"/>
              <a:gd name="T16" fmla="*/ 24 w 128"/>
              <a:gd name="T17" fmla="*/ 56 h 112"/>
              <a:gd name="T18" fmla="*/ 24 w 128"/>
              <a:gd name="T19" fmla="*/ 60 h 112"/>
              <a:gd name="T20" fmla="*/ 16 w 128"/>
              <a:gd name="T21" fmla="*/ 60 h 112"/>
              <a:gd name="T22" fmla="*/ 0 w 128"/>
              <a:gd name="T23" fmla="*/ 76 h 112"/>
              <a:gd name="T24" fmla="*/ 0 w 128"/>
              <a:gd name="T25" fmla="*/ 84 h 112"/>
              <a:gd name="T26" fmla="*/ 16 w 128"/>
              <a:gd name="T27" fmla="*/ 100 h 112"/>
              <a:gd name="T28" fmla="*/ 25 w 128"/>
              <a:gd name="T29" fmla="*/ 100 h 112"/>
              <a:gd name="T30" fmla="*/ 40 w 128"/>
              <a:gd name="T31" fmla="*/ 112 h 112"/>
              <a:gd name="T32" fmla="*/ 88 w 128"/>
              <a:gd name="T33" fmla="*/ 112 h 112"/>
              <a:gd name="T34" fmla="*/ 103 w 128"/>
              <a:gd name="T35" fmla="*/ 100 h 112"/>
              <a:gd name="T36" fmla="*/ 112 w 128"/>
              <a:gd name="T37" fmla="*/ 100 h 112"/>
              <a:gd name="T38" fmla="*/ 128 w 128"/>
              <a:gd name="T39" fmla="*/ 84 h 112"/>
              <a:gd name="T40" fmla="*/ 128 w 128"/>
              <a:gd name="T41" fmla="*/ 76 h 112"/>
              <a:gd name="T42" fmla="*/ 112 w 128"/>
              <a:gd name="T43" fmla="*/ 60 h 112"/>
              <a:gd name="T44" fmla="*/ 32 w 128"/>
              <a:gd name="T45" fmla="*/ 16 h 112"/>
              <a:gd name="T46" fmla="*/ 40 w 128"/>
              <a:gd name="T47" fmla="*/ 8 h 112"/>
              <a:gd name="T48" fmla="*/ 88 w 128"/>
              <a:gd name="T49" fmla="*/ 8 h 112"/>
              <a:gd name="T50" fmla="*/ 96 w 128"/>
              <a:gd name="T51" fmla="*/ 16 h 112"/>
              <a:gd name="T52" fmla="*/ 96 w 128"/>
              <a:gd name="T53" fmla="*/ 60 h 112"/>
              <a:gd name="T54" fmla="*/ 32 w 128"/>
              <a:gd name="T55" fmla="*/ 60 h 112"/>
              <a:gd name="T56" fmla="*/ 32 w 128"/>
              <a:gd name="T57" fmla="*/ 16 h 112"/>
              <a:gd name="T58" fmla="*/ 88 w 128"/>
              <a:gd name="T59" fmla="*/ 104 h 112"/>
              <a:gd name="T60" fmla="*/ 40 w 128"/>
              <a:gd name="T61" fmla="*/ 104 h 112"/>
              <a:gd name="T62" fmla="*/ 32 w 128"/>
              <a:gd name="T63" fmla="*/ 96 h 112"/>
              <a:gd name="T64" fmla="*/ 40 w 128"/>
              <a:gd name="T65" fmla="*/ 88 h 112"/>
              <a:gd name="T66" fmla="*/ 88 w 128"/>
              <a:gd name="T67" fmla="*/ 88 h 112"/>
              <a:gd name="T68" fmla="*/ 96 w 128"/>
              <a:gd name="T69" fmla="*/ 96 h 112"/>
              <a:gd name="T70" fmla="*/ 88 w 128"/>
              <a:gd name="T71" fmla="*/ 104 h 112"/>
              <a:gd name="T72" fmla="*/ 120 w 128"/>
              <a:gd name="T73" fmla="*/ 84 h 112"/>
              <a:gd name="T74" fmla="*/ 112 w 128"/>
              <a:gd name="T75" fmla="*/ 92 h 112"/>
              <a:gd name="T76" fmla="*/ 103 w 128"/>
              <a:gd name="T77" fmla="*/ 92 h 112"/>
              <a:gd name="T78" fmla="*/ 88 w 128"/>
              <a:gd name="T79" fmla="*/ 80 h 112"/>
              <a:gd name="T80" fmla="*/ 40 w 128"/>
              <a:gd name="T81" fmla="*/ 80 h 112"/>
              <a:gd name="T82" fmla="*/ 25 w 128"/>
              <a:gd name="T83" fmla="*/ 92 h 112"/>
              <a:gd name="T84" fmla="*/ 16 w 128"/>
              <a:gd name="T85" fmla="*/ 92 h 112"/>
              <a:gd name="T86" fmla="*/ 8 w 128"/>
              <a:gd name="T87" fmla="*/ 84 h 112"/>
              <a:gd name="T88" fmla="*/ 8 w 128"/>
              <a:gd name="T89" fmla="*/ 76 h 112"/>
              <a:gd name="T90" fmla="*/ 16 w 128"/>
              <a:gd name="T91" fmla="*/ 68 h 112"/>
              <a:gd name="T92" fmla="*/ 112 w 128"/>
              <a:gd name="T93" fmla="*/ 68 h 112"/>
              <a:gd name="T94" fmla="*/ 120 w 128"/>
              <a:gd name="T95" fmla="*/ 76 h 112"/>
              <a:gd name="T96" fmla="*/ 120 w 128"/>
              <a:gd name="T97" fmla="*/ 8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 h="112">
                <a:moveTo>
                  <a:pt x="112" y="60"/>
                </a:moveTo>
                <a:cubicBezTo>
                  <a:pt x="104" y="60"/>
                  <a:pt x="104" y="60"/>
                  <a:pt x="104" y="60"/>
                </a:cubicBezTo>
                <a:cubicBezTo>
                  <a:pt x="104" y="16"/>
                  <a:pt x="104" y="16"/>
                  <a:pt x="104" y="16"/>
                </a:cubicBezTo>
                <a:cubicBezTo>
                  <a:pt x="104" y="7"/>
                  <a:pt x="97" y="0"/>
                  <a:pt x="88" y="0"/>
                </a:cubicBezTo>
                <a:cubicBezTo>
                  <a:pt x="40" y="0"/>
                  <a:pt x="40" y="0"/>
                  <a:pt x="40" y="0"/>
                </a:cubicBezTo>
                <a:cubicBezTo>
                  <a:pt x="31" y="0"/>
                  <a:pt x="24" y="7"/>
                  <a:pt x="24" y="16"/>
                </a:cubicBezTo>
                <a:cubicBezTo>
                  <a:pt x="24" y="52"/>
                  <a:pt x="24" y="52"/>
                  <a:pt x="24" y="52"/>
                </a:cubicBezTo>
                <a:cubicBezTo>
                  <a:pt x="24" y="55"/>
                  <a:pt x="24" y="56"/>
                  <a:pt x="24" y="56"/>
                </a:cubicBezTo>
                <a:cubicBezTo>
                  <a:pt x="24" y="56"/>
                  <a:pt x="24" y="56"/>
                  <a:pt x="24" y="56"/>
                </a:cubicBezTo>
                <a:cubicBezTo>
                  <a:pt x="24" y="56"/>
                  <a:pt x="24" y="57"/>
                  <a:pt x="24" y="60"/>
                </a:cubicBezTo>
                <a:cubicBezTo>
                  <a:pt x="16" y="60"/>
                  <a:pt x="16" y="60"/>
                  <a:pt x="16" y="60"/>
                </a:cubicBezTo>
                <a:cubicBezTo>
                  <a:pt x="7" y="60"/>
                  <a:pt x="0" y="67"/>
                  <a:pt x="0" y="76"/>
                </a:cubicBezTo>
                <a:cubicBezTo>
                  <a:pt x="0" y="84"/>
                  <a:pt x="0" y="84"/>
                  <a:pt x="0" y="84"/>
                </a:cubicBezTo>
                <a:cubicBezTo>
                  <a:pt x="0" y="93"/>
                  <a:pt x="7" y="100"/>
                  <a:pt x="16" y="100"/>
                </a:cubicBezTo>
                <a:cubicBezTo>
                  <a:pt x="25" y="100"/>
                  <a:pt x="25" y="100"/>
                  <a:pt x="25" y="100"/>
                </a:cubicBezTo>
                <a:cubicBezTo>
                  <a:pt x="26" y="107"/>
                  <a:pt x="33" y="112"/>
                  <a:pt x="40" y="112"/>
                </a:cubicBezTo>
                <a:cubicBezTo>
                  <a:pt x="88" y="112"/>
                  <a:pt x="88" y="112"/>
                  <a:pt x="88" y="112"/>
                </a:cubicBezTo>
                <a:cubicBezTo>
                  <a:pt x="95" y="112"/>
                  <a:pt x="102" y="107"/>
                  <a:pt x="103" y="100"/>
                </a:cubicBezTo>
                <a:cubicBezTo>
                  <a:pt x="112" y="100"/>
                  <a:pt x="112" y="100"/>
                  <a:pt x="112" y="100"/>
                </a:cubicBezTo>
                <a:cubicBezTo>
                  <a:pt x="121" y="100"/>
                  <a:pt x="128" y="93"/>
                  <a:pt x="128" y="84"/>
                </a:cubicBezTo>
                <a:cubicBezTo>
                  <a:pt x="128" y="76"/>
                  <a:pt x="128" y="76"/>
                  <a:pt x="128" y="76"/>
                </a:cubicBezTo>
                <a:cubicBezTo>
                  <a:pt x="128" y="67"/>
                  <a:pt x="121" y="60"/>
                  <a:pt x="112" y="60"/>
                </a:cubicBezTo>
                <a:close/>
                <a:moveTo>
                  <a:pt x="32" y="16"/>
                </a:moveTo>
                <a:cubicBezTo>
                  <a:pt x="32" y="12"/>
                  <a:pt x="36" y="8"/>
                  <a:pt x="40" y="8"/>
                </a:cubicBezTo>
                <a:cubicBezTo>
                  <a:pt x="88" y="8"/>
                  <a:pt x="88" y="8"/>
                  <a:pt x="88" y="8"/>
                </a:cubicBezTo>
                <a:cubicBezTo>
                  <a:pt x="92" y="8"/>
                  <a:pt x="96" y="12"/>
                  <a:pt x="96" y="16"/>
                </a:cubicBezTo>
                <a:cubicBezTo>
                  <a:pt x="96" y="60"/>
                  <a:pt x="96" y="60"/>
                  <a:pt x="96" y="60"/>
                </a:cubicBezTo>
                <a:cubicBezTo>
                  <a:pt x="32" y="60"/>
                  <a:pt x="32" y="60"/>
                  <a:pt x="32" y="60"/>
                </a:cubicBezTo>
                <a:lnTo>
                  <a:pt x="32" y="16"/>
                </a:lnTo>
                <a:close/>
                <a:moveTo>
                  <a:pt x="88" y="104"/>
                </a:moveTo>
                <a:cubicBezTo>
                  <a:pt x="40" y="104"/>
                  <a:pt x="40" y="104"/>
                  <a:pt x="40" y="104"/>
                </a:cubicBezTo>
                <a:cubicBezTo>
                  <a:pt x="36" y="104"/>
                  <a:pt x="32" y="100"/>
                  <a:pt x="32" y="96"/>
                </a:cubicBezTo>
                <a:cubicBezTo>
                  <a:pt x="32" y="92"/>
                  <a:pt x="36" y="88"/>
                  <a:pt x="40" y="88"/>
                </a:cubicBezTo>
                <a:cubicBezTo>
                  <a:pt x="88" y="88"/>
                  <a:pt x="88" y="88"/>
                  <a:pt x="88" y="88"/>
                </a:cubicBezTo>
                <a:cubicBezTo>
                  <a:pt x="92" y="88"/>
                  <a:pt x="96" y="92"/>
                  <a:pt x="96" y="96"/>
                </a:cubicBezTo>
                <a:cubicBezTo>
                  <a:pt x="96" y="100"/>
                  <a:pt x="92" y="104"/>
                  <a:pt x="88" y="104"/>
                </a:cubicBezTo>
                <a:close/>
                <a:moveTo>
                  <a:pt x="120" y="84"/>
                </a:moveTo>
                <a:cubicBezTo>
                  <a:pt x="120" y="88"/>
                  <a:pt x="116" y="92"/>
                  <a:pt x="112" y="92"/>
                </a:cubicBezTo>
                <a:cubicBezTo>
                  <a:pt x="103" y="92"/>
                  <a:pt x="103" y="92"/>
                  <a:pt x="103" y="92"/>
                </a:cubicBezTo>
                <a:cubicBezTo>
                  <a:pt x="102" y="85"/>
                  <a:pt x="95" y="80"/>
                  <a:pt x="88" y="80"/>
                </a:cubicBezTo>
                <a:cubicBezTo>
                  <a:pt x="40" y="80"/>
                  <a:pt x="40" y="80"/>
                  <a:pt x="40" y="80"/>
                </a:cubicBezTo>
                <a:cubicBezTo>
                  <a:pt x="33" y="80"/>
                  <a:pt x="26" y="85"/>
                  <a:pt x="25" y="92"/>
                </a:cubicBezTo>
                <a:cubicBezTo>
                  <a:pt x="16" y="92"/>
                  <a:pt x="16" y="92"/>
                  <a:pt x="16" y="92"/>
                </a:cubicBezTo>
                <a:cubicBezTo>
                  <a:pt x="12" y="92"/>
                  <a:pt x="8" y="88"/>
                  <a:pt x="8" y="84"/>
                </a:cubicBezTo>
                <a:cubicBezTo>
                  <a:pt x="8" y="76"/>
                  <a:pt x="8" y="76"/>
                  <a:pt x="8" y="76"/>
                </a:cubicBezTo>
                <a:cubicBezTo>
                  <a:pt x="8" y="72"/>
                  <a:pt x="12" y="68"/>
                  <a:pt x="16" y="68"/>
                </a:cubicBezTo>
                <a:cubicBezTo>
                  <a:pt x="112" y="68"/>
                  <a:pt x="112" y="68"/>
                  <a:pt x="112" y="68"/>
                </a:cubicBezTo>
                <a:cubicBezTo>
                  <a:pt x="116" y="68"/>
                  <a:pt x="120" y="72"/>
                  <a:pt x="120" y="76"/>
                </a:cubicBezTo>
                <a:lnTo>
                  <a:pt x="120" y="84"/>
                </a:lnTo>
                <a:close/>
              </a:path>
            </a:pathLst>
          </a:custGeom>
          <a:solidFill>
            <a:srgbClr val="F6F6F6"/>
          </a:solidFill>
          <a:ln>
            <a:noFill/>
          </a:ln>
        </p:spPr>
        <p:txBody>
          <a:bodyPr vert="horz" wrap="square" lIns="91440" tIns="45720" rIns="91440" bIns="45720" numCol="1" anchor="t" anchorCtr="0" compatLnSpc="1"/>
          <a:lstStyle/>
          <a:p>
            <a:endParaRPr lang="zh-CN" altLang="en-US">
              <a:solidFill>
                <a:schemeClr val="tx1">
                  <a:lumMod val="75000"/>
                  <a:lumOff val="2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22" presetClass="entr" presetSubtype="8"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left)">
                                      <p:cBhvr>
                                        <p:cTn id="14" dur="500"/>
                                        <p:tgtEl>
                                          <p:spTgt spid="12"/>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left)">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500"/>
                                        <p:tgtEl>
                                          <p:spTgt spid="19"/>
                                        </p:tgtEl>
                                      </p:cBhvr>
                                    </p:animEffect>
                                  </p:childTnLst>
                                </p:cTn>
                              </p:par>
                              <p:par>
                                <p:cTn id="26" presetID="22" presetClass="entr" presetSubtype="8" fill="hold" nodeType="withEffect">
                                  <p:stCondLst>
                                    <p:cond delay="0"/>
                                  </p:stCondLst>
                                  <p:childTnLst>
                                    <p:set>
                                      <p:cBhvr>
                                        <p:cTn id="27" dur="1" fill="hold">
                                          <p:stCondLst>
                                            <p:cond delay="0"/>
                                          </p:stCondLst>
                                        </p:cTn>
                                        <p:tgtEl>
                                          <p:spTgt spid="10250"/>
                                        </p:tgtEl>
                                        <p:attrNameLst>
                                          <p:attrName>style.visibility</p:attrName>
                                        </p:attrNameLst>
                                      </p:cBhvr>
                                      <p:to>
                                        <p:strVal val="visible"/>
                                      </p:to>
                                    </p:set>
                                    <p:animEffect transition="in" filter="wipe(left)">
                                      <p:cBhvr>
                                        <p:cTn id="28" dur="500"/>
                                        <p:tgtEl>
                                          <p:spTgt spid="10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12" grpId="0"/>
      <p:bldP spid="16" grpId="0"/>
      <p:bldP spid="17"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Text Box 4"/>
          <p:cNvSpPr txBox="1">
            <a:spLocks noChangeArrowheads="1"/>
          </p:cNvSpPr>
          <p:nvPr/>
        </p:nvSpPr>
        <p:spPr bwMode="auto">
          <a:xfrm>
            <a:off x="1187449" y="1436916"/>
            <a:ext cx="3384550" cy="521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spcAft>
                <a:spcPts val="0"/>
              </a:spcAft>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大量随机试验中</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8"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9" name="矩形 18"/>
          <p:cNvSpPr>
            <a:spLocks noChangeArrowheads="1"/>
          </p:cNvSpPr>
          <p:nvPr/>
        </p:nvSpPr>
        <p:spPr bwMode="auto">
          <a:xfrm>
            <a:off x="1406163" y="255069"/>
            <a:ext cx="354203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大数定律的客观背景</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20" name="组合 19"/>
          <p:cNvGrpSpPr/>
          <p:nvPr/>
        </p:nvGrpSpPr>
        <p:grpSpPr>
          <a:xfrm>
            <a:off x="851761" y="364781"/>
            <a:ext cx="263341" cy="395013"/>
            <a:chOff x="5284519" y="1508166"/>
            <a:chExt cx="213756" cy="427512"/>
          </a:xfrm>
        </p:grpSpPr>
        <p:cxnSp>
          <p:nvCxnSpPr>
            <p:cNvPr id="21" name="直接连接符 20"/>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2" name="直接连接符 21"/>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6" name="组合 5"/>
          <p:cNvGrpSpPr/>
          <p:nvPr/>
        </p:nvGrpSpPr>
        <p:grpSpPr>
          <a:xfrm>
            <a:off x="1534920" y="2781112"/>
            <a:ext cx="2186783" cy="3302845"/>
            <a:chOff x="1534920" y="2781112"/>
            <a:chExt cx="2186783" cy="3302845"/>
          </a:xfrm>
        </p:grpSpPr>
        <p:pic>
          <p:nvPicPr>
            <p:cNvPr id="94215" name="Picture 7" descr="specl040"/>
            <p:cNvPicPr>
              <a:picLocks noChangeAspect="1" noChangeArrowheads="1"/>
            </p:cNvPicPr>
            <p:nvPr/>
          </p:nvPicPr>
          <p:blipFill>
            <a:blip r:embed="rId1">
              <a:extLst>
                <a:ext uri="{28A0092B-C50C-407E-A947-70E740481C1C}">
                  <a14:useLocalDpi xmlns:a14="http://schemas.microsoft.com/office/drawing/2010/main" val="0"/>
                </a:ext>
              </a:extLst>
            </a:blip>
            <a:srcRect l="16750" r="16750"/>
            <a:stretch>
              <a:fillRect/>
            </a:stretch>
          </p:blipFill>
          <p:spPr bwMode="auto">
            <a:xfrm>
              <a:off x="1534920" y="2781112"/>
              <a:ext cx="2186783" cy="21867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4216" name="Rectangle 8"/>
            <p:cNvSpPr>
              <a:spLocks noChangeArrowheads="1"/>
            </p:cNvSpPr>
            <p:nvPr/>
          </p:nvSpPr>
          <p:spPr bwMode="auto">
            <a:xfrm>
              <a:off x="1699076" y="5254012"/>
              <a:ext cx="2011680" cy="82994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大量抛掷硬币</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spcBef>
                  <a:spcPts val="0"/>
                </a:spcBef>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正面出现频率</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 name="组合 1"/>
          <p:cNvGrpSpPr/>
          <p:nvPr/>
        </p:nvGrpSpPr>
        <p:grpSpPr>
          <a:xfrm>
            <a:off x="8040216" y="2778808"/>
            <a:ext cx="2263512" cy="3055479"/>
            <a:chOff x="7896200" y="2778808"/>
            <a:chExt cx="2263512" cy="3055479"/>
          </a:xfrm>
        </p:grpSpPr>
        <p:pic>
          <p:nvPicPr>
            <p:cNvPr id="94218" name="Picture 10" descr="字母使用"/>
            <p:cNvPicPr>
              <a:picLocks noChangeAspect="1" noChangeArrowheads="1"/>
            </p:cNvPicPr>
            <p:nvPr/>
          </p:nvPicPr>
          <p:blipFill rotWithShape="1">
            <a:blip r:embed="rId2">
              <a:extLst>
                <a:ext uri="{28A0092B-C50C-407E-A947-70E740481C1C}">
                  <a14:useLocalDpi xmlns:a14="http://schemas.microsoft.com/office/drawing/2010/main" val="0"/>
                </a:ext>
              </a:extLst>
            </a:blip>
            <a:srcRect l="5844" t="3390" r="5844"/>
            <a:stretch>
              <a:fillRect/>
            </a:stretch>
          </p:blipFill>
          <p:spPr bwMode="auto">
            <a:xfrm>
              <a:off x="7896200" y="2778808"/>
              <a:ext cx="2263512" cy="21867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4219" name="Rectangle 11"/>
            <p:cNvSpPr>
              <a:spLocks noChangeArrowheads="1"/>
            </p:cNvSpPr>
            <p:nvPr/>
          </p:nvSpPr>
          <p:spPr bwMode="auto">
            <a:xfrm>
              <a:off x="8126535" y="5373912"/>
              <a:ext cx="2011680" cy="4603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字母使用频率</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3" name="组合 2"/>
          <p:cNvGrpSpPr/>
          <p:nvPr/>
        </p:nvGrpSpPr>
        <p:grpSpPr>
          <a:xfrm>
            <a:off x="4854625" y="2778808"/>
            <a:ext cx="2186783" cy="3305149"/>
            <a:chOff x="4854625" y="2778808"/>
            <a:chExt cx="2186783" cy="3305149"/>
          </a:xfrm>
        </p:grpSpPr>
        <p:pic>
          <p:nvPicPr>
            <p:cNvPr id="94221" name="Picture 13" descr="DW048"/>
            <p:cNvPicPr>
              <a:picLocks noChangeAspect="1" noChangeArrowheads="1"/>
            </p:cNvPicPr>
            <p:nvPr/>
          </p:nvPicPr>
          <p:blipFill>
            <a:blip r:embed="rId3" cstate="print">
              <a:extLst>
                <a:ext uri="{28A0092B-C50C-407E-A947-70E740481C1C}">
                  <a14:useLocalDpi xmlns:a14="http://schemas.microsoft.com/office/drawing/2010/main" val="0"/>
                </a:ext>
              </a:extLst>
            </a:blip>
            <a:srcRect t="10887" b="10887"/>
            <a:stretch>
              <a:fillRect/>
            </a:stretch>
          </p:blipFill>
          <p:spPr bwMode="auto">
            <a:xfrm>
              <a:off x="4854625" y="2778808"/>
              <a:ext cx="2186783" cy="21867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aphicFrame>
          <p:nvGraphicFramePr>
            <p:cNvPr id="94224" name="Object 16"/>
            <p:cNvGraphicFramePr>
              <a:graphicFrameLocks noChangeAspect="1"/>
            </p:cNvGraphicFramePr>
            <p:nvPr/>
          </p:nvGraphicFramePr>
          <p:xfrm>
            <a:off x="5856288" y="3249613"/>
            <a:ext cx="190500" cy="419100"/>
          </p:xfrm>
          <a:graphic>
            <a:graphicData uri="http://schemas.openxmlformats.org/presentationml/2006/ole">
              <mc:AlternateContent xmlns:mc="http://schemas.openxmlformats.org/markup-compatibility/2006">
                <mc:Choice xmlns:v="urn:schemas-microsoft-com:vml" Requires="v">
                  <p:oleObj spid="_x0000_s309274" name="公式" r:id="rId4" imgW="190500" imgH="419100" progId="Equation.3">
                    <p:embed/>
                  </p:oleObj>
                </mc:Choice>
                <mc:Fallback>
                  <p:oleObj name="公式" r:id="rId4" imgW="190500" imgH="419100" progId="Equation.3">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6288" y="3249613"/>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25" name="Object 17"/>
            <p:cNvGraphicFramePr>
              <a:graphicFrameLocks noChangeAspect="1"/>
            </p:cNvGraphicFramePr>
            <p:nvPr/>
          </p:nvGraphicFramePr>
          <p:xfrm>
            <a:off x="5856288" y="3249613"/>
            <a:ext cx="190500" cy="419100"/>
          </p:xfrm>
          <a:graphic>
            <a:graphicData uri="http://schemas.openxmlformats.org/presentationml/2006/ole">
              <mc:AlternateContent xmlns:mc="http://schemas.openxmlformats.org/markup-compatibility/2006">
                <mc:Choice xmlns:v="urn:schemas-microsoft-com:vml" Requires="v">
                  <p:oleObj spid="_x0000_s309275" name="公式" r:id="rId6" imgW="190500" imgH="419100" progId="Equation.3">
                    <p:embed/>
                  </p:oleObj>
                </mc:Choice>
                <mc:Fallback>
                  <p:oleObj name="公式" r:id="rId6" imgW="190500" imgH="419100" progId="Equation.3">
                    <p:embed/>
                    <p:pic>
                      <p:nvPicPr>
                        <p:cNvPr id="0"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6288" y="3249613"/>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22" name="Rectangle 14"/>
            <p:cNvSpPr>
              <a:spLocks noChangeArrowheads="1"/>
            </p:cNvSpPr>
            <p:nvPr/>
          </p:nvSpPr>
          <p:spPr bwMode="auto">
            <a:xfrm>
              <a:off x="4904988" y="5254012"/>
              <a:ext cx="2011680" cy="82994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生产过程中的</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spcBef>
                  <a:spcPts val="0"/>
                </a:spcBef>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废品率</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5" name="组合 4"/>
          <p:cNvGrpSpPr/>
          <p:nvPr/>
        </p:nvGrpSpPr>
        <p:grpSpPr>
          <a:xfrm>
            <a:off x="4079776" y="1152222"/>
            <a:ext cx="6059742" cy="942348"/>
            <a:chOff x="5375920" y="1191950"/>
            <a:chExt cx="6059742" cy="942348"/>
          </a:xfrm>
        </p:grpSpPr>
        <p:sp>
          <p:nvSpPr>
            <p:cNvPr id="25" name="Text Box 4"/>
            <p:cNvSpPr txBox="1">
              <a:spLocks noChangeArrowheads="1"/>
            </p:cNvSpPr>
            <p:nvPr/>
          </p:nvSpPr>
          <p:spPr bwMode="auto">
            <a:xfrm>
              <a:off x="5602840" y="1191950"/>
              <a:ext cx="5832822" cy="897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spcBef>
                  <a:spcPct val="50000"/>
                </a:spcBef>
                <a:spcAft>
                  <a:spcPts val="0"/>
                </a:spcAft>
              </a:pP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事件发生的频率</a:t>
              </a:r>
              <a:r>
                <a:rPr lang="zh-CN" altLang="en-US" sz="2600" b="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稳定</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于某一常数</a:t>
              </a:r>
              <a:endPar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spcBef>
                  <a:spcPts val="50"/>
                </a:spcBef>
              </a:pP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测量值的算数平均值具有稳定性</a:t>
              </a:r>
              <a:endPar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左大括号 3"/>
            <p:cNvSpPr/>
            <p:nvPr/>
          </p:nvSpPr>
          <p:spPr>
            <a:xfrm>
              <a:off x="5375920" y="1342210"/>
              <a:ext cx="178734" cy="792088"/>
            </a:xfrm>
            <a:prstGeom prst="leftBrace">
              <a:avLst>
                <a:gd name="adj1" fmla="val 49593"/>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94212"/>
                                        </p:tgtEl>
                                        <p:attrNameLst>
                                          <p:attrName>style.visibility</p:attrName>
                                        </p:attrNameLst>
                                      </p:cBhvr>
                                      <p:to>
                                        <p:strVal val="visible"/>
                                      </p:to>
                                    </p:set>
                                    <p:animEffect transition="in" filter="barn(outVertical)">
                                      <p:cBhvr>
                                        <p:cTn id="7" dur="500"/>
                                        <p:tgtEl>
                                          <p:spTgt spid="942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1000"/>
                                        <p:tgtEl>
                                          <p:spTgt spid="2"/>
                                        </p:tgtEl>
                                      </p:cBhvr>
                                    </p:animEffect>
                                    <p:anim calcmode="lin" valueType="num">
                                      <p:cBhvr>
                                        <p:cTn id="32" dur="1000" fill="hold"/>
                                        <p:tgtEl>
                                          <p:spTgt spid="2"/>
                                        </p:tgtEl>
                                        <p:attrNameLst>
                                          <p:attrName>ppt_x</p:attrName>
                                        </p:attrNameLst>
                                      </p:cBhvr>
                                      <p:tavLst>
                                        <p:tav tm="0">
                                          <p:val>
                                            <p:strVal val="#ppt_x"/>
                                          </p:val>
                                        </p:tav>
                                        <p:tav tm="100000">
                                          <p:val>
                                            <p:strVal val="#ppt_x"/>
                                          </p:val>
                                        </p:tav>
                                      </p:tavLst>
                                    </p:anim>
                                    <p:anim calcmode="lin" valueType="num">
                                      <p:cBhvr>
                                        <p:cTn id="3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466" name="Group 82"/>
          <p:cNvGraphicFramePr>
            <a:graphicFrameLocks noGrp="1"/>
          </p:cNvGraphicFramePr>
          <p:nvPr>
            <p:custDataLst>
              <p:tags r:id="rId1"/>
            </p:custDataLst>
          </p:nvPr>
        </p:nvGraphicFramePr>
        <p:xfrm>
          <a:off x="1005205" y="1196975"/>
          <a:ext cx="6553200" cy="3971290"/>
        </p:xfrm>
        <a:graphic>
          <a:graphicData uri="http://schemas.openxmlformats.org/drawingml/2006/table">
            <a:tbl>
              <a:tblPr/>
              <a:tblGrid>
                <a:gridCol w="1357630"/>
                <a:gridCol w="1297940"/>
                <a:gridCol w="1947545"/>
                <a:gridCol w="1950085"/>
              </a:tblGrid>
              <a:tr h="975360">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ts val="0"/>
                        </a:spcAft>
                        <a:buClrTx/>
                        <a:buSzTx/>
                        <a:buFontTx/>
                        <a:buNone/>
                      </a:pPr>
                      <a:r>
                        <a:rPr kumimoji="1" lang="zh-CN" altLang="en-US"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试验者</a:t>
                      </a:r>
                      <a:endParaRPr kumimoji="1" lang="zh-CN" altLang="en-US"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381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抛币次数</a:t>
                      </a: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n</a:t>
                      </a:r>
                      <a:endPar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 </a:t>
                      </a:r>
                      <a:r>
                        <a:rPr kumimoji="1" lang="zh-CN" altLang="en-US"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”正面向上”次数</a:t>
                      </a:r>
                      <a:endParaRPr kumimoji="1" lang="zh-CN" altLang="en-US"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   </a:t>
                      </a:r>
                      <a:r>
                        <a:rPr kumimoji="1" lang="zh-CN" altLang="en-US"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频率 </a:t>
                      </a: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f </a:t>
                      </a:r>
                      <a:r>
                        <a:rPr kumimoji="1" lang="en-US" altLang="zh-CN" sz="2400" b="1" i="1" u="none" strike="noStrike" cap="none" normalizeH="0" baseline="-2500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n</a:t>
                      </a: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 </a:t>
                      </a: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a:t>
                      </a: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A</a:t>
                      </a: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381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r>
              <a:tr h="763905">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De Morgan</a:t>
                      </a:r>
                      <a:endPar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381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2084</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1064</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rPr>
                        <a:t>0.518</a:t>
                      </a:r>
                      <a:endPar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381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r>
              <a:tr h="716915">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err="1">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Bufen</a:t>
                      </a:r>
                      <a:endParaRPr kumimoji="1" lang="en-US" altLang="zh-CN" sz="2400" b="1" i="1" u="none" strike="noStrike" cap="none" normalizeH="0" baseline="0" dirty="0" err="1">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381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4040</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2048</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rPr>
                        <a:t>0.5069</a:t>
                      </a:r>
                      <a:endPar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381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r>
              <a:tr h="735330">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Pearson</a:t>
                      </a:r>
                      <a:endPar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381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12000</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6019</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rPr>
                        <a:t>0.5016</a:t>
                      </a:r>
                      <a:endPar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381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r>
              <a:tr h="735965">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Pearson</a:t>
                      </a:r>
                      <a:endParaRPr kumimoji="1" lang="en-US" altLang="zh-CN" sz="2400" b="1" i="1"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381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24000</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rPr>
                        <a:t>12012</a:t>
                      </a:r>
                      <a:endParaRPr kumimoji="1" lang="en-US" altLang="zh-CN" sz="2400" b="1" i="0" u="none" strike="noStrike" cap="none" normalizeH="0" baseline="0" dirty="0">
                        <a:ln>
                          <a:noFill/>
                        </a:ln>
                        <a:solidFill>
                          <a:schemeClr val="tx1">
                            <a:lumMod val="85000"/>
                            <a:lumOff val="15000"/>
                          </a:schemeClr>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127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rPr>
                        <a:t>0.5005</a:t>
                      </a:r>
                      <a:endParaRPr kumimoji="1" lang="en-US" altLang="zh-CN" sz="2400" b="1"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sym typeface="Times New Roman" panose="02020603050405020304" pitchFamily="18" charset="0"/>
                      </a:endParaRPr>
                    </a:p>
                  </a:txBody>
                  <a:tcPr marL="76254" marR="76254" marT="38098" marB="38098" anchor="ctr" horzOverflow="overflow">
                    <a:lnL w="12700" cap="flat" cmpd="sng" algn="ctr">
                      <a:solidFill>
                        <a:srgbClr val="CC3300"/>
                      </a:solidFill>
                      <a:prstDash val="solid"/>
                      <a:miter lim="800000"/>
                      <a:headEnd type="none" w="med" len="med"/>
                      <a:tailEnd type="none" w="med" len="med"/>
                    </a:lnL>
                    <a:lnR w="38100" cap="flat" cmpd="sng" algn="ctr">
                      <a:solidFill>
                        <a:srgbClr val="CC3300"/>
                      </a:solidFill>
                      <a:prstDash val="solid"/>
                      <a:miter lim="800000"/>
                      <a:headEnd type="none" w="med" len="med"/>
                      <a:tailEnd type="none" w="med" len="med"/>
                    </a:lnR>
                    <a:lnT w="38100" cap="flat" cmpd="sng" algn="ctr">
                      <a:solidFill>
                        <a:srgbClr val="CC3300"/>
                      </a:solidFill>
                      <a:prstDash val="solid"/>
                      <a:miter lim="800000"/>
                      <a:headEnd type="none" w="med" len="med"/>
                      <a:tailEnd type="none" w="med" len="med"/>
                    </a:lnT>
                    <a:lnB w="38100" cap="flat" cmpd="sng" algn="ctr">
                      <a:solidFill>
                        <a:srgbClr val="CC3300"/>
                      </a:solidFill>
                      <a:prstDash val="solid"/>
                      <a:miter lim="800000"/>
                      <a:headEnd type="none" w="med" len="med"/>
                      <a:tailEnd type="none" w="med" len="med"/>
                    </a:lnB>
                    <a:lnTlToBr>
                      <a:noFill/>
                    </a:lnTlToBr>
                    <a:lnBlToTr>
                      <a:noFill/>
                    </a:lnBlToTr>
                    <a:noFill/>
                  </a:tcPr>
                </a:tc>
              </a:tr>
            </a:tbl>
          </a:graphicData>
        </a:graphic>
      </p:graphicFrame>
      <p:cxnSp>
        <p:nvCxnSpPr>
          <p:cNvPr id="6"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0" algn="l" defTabSz="914400" eaLnBrk="1" fontAlgn="auto" hangingPunct="1">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抛掷钱币试验记录</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8" name="组合 7"/>
          <p:cNvGrpSpPr/>
          <p:nvPr/>
        </p:nvGrpSpPr>
        <p:grpSpPr>
          <a:xfrm>
            <a:off x="851761" y="364781"/>
            <a:ext cx="263341" cy="395013"/>
            <a:chOff x="5284519" y="1508166"/>
            <a:chExt cx="213756" cy="427512"/>
          </a:xfrm>
        </p:grpSpPr>
        <p:cxnSp>
          <p:nvCxnSpPr>
            <p:cNvPr id="9" name="直接连接符 8"/>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0" name="直接连接符 9"/>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2" name="Text Box 55"/>
          <p:cNvSpPr txBox="1">
            <a:spLocks noChangeArrowheads="1"/>
          </p:cNvSpPr>
          <p:nvPr/>
        </p:nvSpPr>
        <p:spPr bwMode="auto">
          <a:xfrm>
            <a:off x="7823815" y="1341086"/>
            <a:ext cx="4032448" cy="3415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spcAft>
                <a:spcPts val="0"/>
              </a:spcAft>
              <a:buFontTx/>
              <a:buNone/>
            </a:pP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从上表中可以看出，出现</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正面向上 </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kumimoji="1" lang="en-US" altLang="zh-CN" sz="24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f</a:t>
            </a:r>
            <a:r>
              <a:rPr kumimoji="1" lang="en-US" altLang="zh-CN" sz="24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kumimoji="1"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的频率虽然随 </a:t>
            </a:r>
            <a:r>
              <a:rPr kumimoji="1"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的不同而变动，但是总的趋势是随着试验次数的增加而逐渐稳定在</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0.5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这个数值上。</a:t>
            </a:r>
            <a:endPar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Text Box 55"/>
          <p:cNvSpPr txBox="1">
            <a:spLocks noChangeArrowheads="1"/>
          </p:cNvSpPr>
          <p:nvPr/>
        </p:nvSpPr>
        <p:spPr bwMode="auto">
          <a:xfrm>
            <a:off x="1005127" y="5158584"/>
            <a:ext cx="10491473"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spcAft>
                <a:spcPts val="0"/>
              </a:spcAft>
              <a:buFontTx/>
              <a:buNone/>
            </a:pP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可见，在大量重复的试验中，随机事件出现的</a:t>
            </a:r>
            <a:r>
              <a:rPr kumimoji="1"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频率具有稳定性，</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即通常所说的</a:t>
            </a:r>
            <a:r>
              <a:rPr kumimoji="1"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统计规律性。</a:t>
            </a:r>
            <a:endParaRPr kumimoji="1"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466"/>
                                        </p:tgtEl>
                                        <p:attrNameLst>
                                          <p:attrName>style.visibility</p:attrName>
                                        </p:attrNameLst>
                                      </p:cBhvr>
                                      <p:to>
                                        <p:strVal val="visible"/>
                                      </p:to>
                                    </p:set>
                                    <p:animEffect transition="in" filter="wipe(left)">
                                      <p:cBhvr>
                                        <p:cTn id="7" dur="500"/>
                                        <p:tgtEl>
                                          <p:spTgt spid="164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1"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88035" y="908685"/>
            <a:ext cx="10970895" cy="5405755"/>
          </a:xfrm>
          <a:prstGeom prst="rect">
            <a:avLst/>
          </a:prstGeom>
          <a:noFill/>
        </p:spPr>
        <p:txBody>
          <a:bodyPr wrap="square" rtlCol="0" anchor="t">
            <a:spAutoFit/>
          </a:bodyPr>
          <a:p>
            <a:pPr>
              <a:lnSpc>
                <a:spcPct val="180000"/>
              </a:lnSpc>
              <a:spcAft>
                <a:spcPts val="0"/>
              </a:spcAft>
            </a:pP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rPr>
              <a:t>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在今天的课堂上，我们看到了前人数学家们进行的动手实验，在佩服他们对于数学的</a:t>
            </a:r>
            <a:r>
              <a:rPr kumimoji="1" lang="zh-CN" altLang="en-US" sz="2400" b="1" dirty="0">
                <a:solidFill>
                  <a:srgbClr val="FF0000"/>
                </a:solidFill>
                <a:latin typeface="Times New Roman" panose="02020603050405020304" pitchFamily="18" charset="0"/>
                <a:ea typeface="微软雅黑" panose="020B0503020204020204" pitchFamily="34" charset="-122"/>
              </a:rPr>
              <a:t>求知精神</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之余，大家是否有想过，结合计算机编程来对数学实验进行验证？</a:t>
            </a:r>
            <a:endPar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endParaRPr>
          </a:p>
          <a:p>
            <a:pPr>
              <a:lnSpc>
                <a:spcPct val="180000"/>
              </a:lnSpc>
              <a:spcBef>
                <a:spcPts val="0"/>
              </a:spcBef>
            </a:pP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 </a:t>
            </a:r>
            <a:r>
              <a:rPr kumimoji="1"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rPr>
              <a:t>       </a:t>
            </a: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线性代数课上曾经提到过，1973年诺贝尔经济学奖获得者列昂惕夫</a:t>
            </a:r>
            <a:b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br>
            <a:r>
              <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rPr>
              <a:t>（Wassily Leontief）用计算机计算出了由美国统计局的25万条经济数据所组成的42个未知数的42个方程的方程组，打开了研究经济数学模型的新时代的大门。计算机对于复杂数学问题的验证，一直以来都是很给力的，那我们就来试试，请大家用编程模拟抛硬币实验，并且验证实验结果是否如书上所述。</a:t>
            </a:r>
            <a:endParaRPr kumimoji="1"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endParaRPr>
          </a:p>
        </p:txBody>
      </p:sp>
      <p:cxnSp>
        <p:nvCxnSpPr>
          <p:cNvPr id="6" name="直接连接符 8"/>
          <p:cNvCxnSpPr/>
          <p:nvPr>
            <p:custDataLst>
              <p:tags r:id="rId1"/>
            </p:custDataLst>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custDataLst>
              <p:tags r:id="rId2"/>
            </p:custDataLst>
          </p:nvPr>
        </p:nvSpPr>
        <p:spPr bwMode="auto">
          <a:xfrm>
            <a:off x="1406163" y="255069"/>
            <a:ext cx="466217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0" algn="l" defTabSz="914400" eaLnBrk="1" fontAlgn="auto" hangingPunct="1">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拓展任务1  模拟抛硬币实验</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8" name="组合 7"/>
          <p:cNvGrpSpPr/>
          <p:nvPr/>
        </p:nvGrpSpPr>
        <p:grpSpPr>
          <a:xfrm>
            <a:off x="851761" y="364781"/>
            <a:ext cx="263341" cy="395013"/>
            <a:chOff x="5284519" y="1508166"/>
            <a:chExt cx="213756" cy="427512"/>
          </a:xfrm>
        </p:grpSpPr>
        <p:cxnSp>
          <p:nvCxnSpPr>
            <p:cNvPr id="9" name="直接连接符 8"/>
            <p:cNvCxnSpPr/>
            <p:nvPr>
              <p:custDataLst>
                <p:tags r:id="rId3"/>
              </p:custDataLst>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0" name="直接连接符 9"/>
            <p:cNvCxnSpPr/>
            <p:nvPr>
              <p:custDataLst>
                <p:tags r:id="rId4"/>
              </p:custDataLst>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4" name="图片 83"/>
          <p:cNvPicPr>
            <a:picLocks noChangeAspect="1"/>
          </p:cNvPicPr>
          <p:nvPr/>
        </p:nvPicPr>
        <p:blipFill>
          <a:blip r:embed="rId1"/>
          <a:stretch>
            <a:fillRect/>
          </a:stretch>
        </p:blipFill>
        <p:spPr>
          <a:xfrm>
            <a:off x="1053465" y="45085"/>
            <a:ext cx="10067290" cy="5698490"/>
          </a:xfrm>
          <a:prstGeom prst="rect">
            <a:avLst/>
          </a:prstGeom>
        </p:spPr>
      </p:pic>
      <p:pic>
        <p:nvPicPr>
          <p:cNvPr id="118" name="图片 117"/>
          <p:cNvPicPr>
            <a:picLocks noChangeAspect="1"/>
          </p:cNvPicPr>
          <p:nvPr/>
        </p:nvPicPr>
        <p:blipFill>
          <a:blip r:embed="rId2"/>
          <a:stretch>
            <a:fillRect/>
          </a:stretch>
        </p:blipFill>
        <p:spPr>
          <a:xfrm>
            <a:off x="2041525" y="5517515"/>
            <a:ext cx="8108950" cy="122110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771214" y="2806734"/>
            <a:ext cx="5040000" cy="922020"/>
          </a:xfrm>
          <a:prstGeom prst="rect">
            <a:avLst/>
          </a:prstGeom>
          <a:noFill/>
        </p:spPr>
        <p:txBody>
          <a:bodyPr wrap="square" rtlCol="0">
            <a:spAutoFit/>
          </a:bodyPr>
          <a:lstStyle/>
          <a:p>
            <a:pPr algn="ctr">
              <a:spcAft>
                <a:spcPts val="0"/>
              </a:spcAft>
            </a:pPr>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伯努利大数定律</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57336" cy="1187862"/>
            </a:xfrm>
            <a:prstGeom prst="rect">
              <a:avLst/>
            </a:prstGeom>
            <a:noFill/>
          </p:spPr>
          <p:txBody>
            <a:bodyPr wrap="none" rtlCol="0">
              <a:spAutoFit/>
            </a:bodyPr>
            <a:lstStyle/>
            <a:p>
              <a:pPr>
                <a:spcAft>
                  <a:spcPts val="0"/>
                </a:spcAft>
              </a:pPr>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02</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058508" y="1247237"/>
            <a:ext cx="1995120" cy="3785783"/>
            <a:chOff x="9058508" y="1247237"/>
            <a:chExt cx="1995120" cy="3785783"/>
          </a:xfrm>
        </p:grpSpPr>
        <p:pic>
          <p:nvPicPr>
            <p:cNvPr id="15433" name="Picture 73" descr="贝努里"/>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58508" y="1247237"/>
              <a:ext cx="1995120" cy="315578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5434" name="Rectangle 74"/>
            <p:cNvSpPr>
              <a:spLocks noChangeArrowheads="1"/>
            </p:cNvSpPr>
            <p:nvPr/>
          </p:nvSpPr>
          <p:spPr bwMode="auto">
            <a:xfrm>
              <a:off x="9408368" y="4572645"/>
              <a:ext cx="1295400" cy="4603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伯努利</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5435" name="Rectangle 75"/>
          <p:cNvSpPr>
            <a:spLocks noChangeArrowheads="1"/>
          </p:cNvSpPr>
          <p:nvPr/>
        </p:nvSpPr>
        <p:spPr bwMode="auto">
          <a:xfrm>
            <a:off x="1406163" y="1690265"/>
            <a:ext cx="6706061"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lnSpc>
                <a:spcPct val="150000"/>
              </a:lnSpc>
              <a:spcBef>
                <a:spcPct val="50000"/>
              </a:spcBef>
              <a:spcAft>
                <a:spcPts val="0"/>
              </a:spcAft>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400" b="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4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重贝努里试验中事件</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发生的次数，</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是事件</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发生的概率，</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5436" name="Object 76"/>
          <p:cNvGraphicFramePr>
            <a:graphicFrameLocks noChangeAspect="1"/>
          </p:cNvGraphicFramePr>
          <p:nvPr/>
        </p:nvGraphicFramePr>
        <p:xfrm>
          <a:off x="2111256" y="3022017"/>
          <a:ext cx="774700" cy="1038723"/>
        </p:xfrm>
        <a:graphic>
          <a:graphicData uri="http://schemas.openxmlformats.org/presentationml/2006/ole">
            <mc:AlternateContent xmlns:mc="http://schemas.openxmlformats.org/markup-compatibility/2006">
              <mc:Choice xmlns:v="urn:schemas-microsoft-com:vml" Requires="v">
                <p:oleObj spid="_x0000_s316430" name="Equation" r:id="rId2" imgW="5181600" imgH="9448800" progId="Equation.DSMT4">
                  <p:embed/>
                </p:oleObj>
              </mc:Choice>
              <mc:Fallback>
                <p:oleObj name="Equation" r:id="rId2" imgW="5181600" imgH="9448800" progId="Equation.DSMT4">
                  <p:embed/>
                  <p:pic>
                    <p:nvPicPr>
                      <p:cNvPr id="0" name="Object 76"/>
                      <p:cNvPicPr>
                        <a:picLocks noChangeAspect="1" noChangeArrowheads="1"/>
                      </p:cNvPicPr>
                      <p:nvPr/>
                    </p:nvPicPr>
                    <p:blipFill>
                      <a:blip r:embed="rId3"/>
                      <a:srcRect/>
                      <a:stretch>
                        <a:fillRect/>
                      </a:stretch>
                    </p:blipFill>
                    <p:spPr bwMode="auto">
                      <a:xfrm>
                        <a:off x="2111256" y="3022017"/>
                        <a:ext cx="774700" cy="1038723"/>
                      </a:xfrm>
                      <a:prstGeom prst="rect">
                        <a:avLst/>
                      </a:prstGeom>
                      <a:noFill/>
                      <a:ln>
                        <a:noFill/>
                      </a:ln>
                      <a:effectLst/>
                    </p:spPr>
                  </p:pic>
                </p:oleObj>
              </mc:Fallback>
            </mc:AlternateContent>
          </a:graphicData>
        </a:graphic>
      </p:graphicFrame>
      <p:sp>
        <p:nvSpPr>
          <p:cNvPr id="15437" name="Rectangle 77"/>
          <p:cNvSpPr>
            <a:spLocks noChangeArrowheads="1"/>
          </p:cNvSpPr>
          <p:nvPr/>
        </p:nvSpPr>
        <p:spPr bwMode="auto">
          <a:xfrm>
            <a:off x="3003924" y="3323995"/>
            <a:ext cx="28244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是事件</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发生的频率</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4" name="Text Box 71"/>
          <p:cNvSpPr txBox="1">
            <a:spLocks noChangeArrowheads="1"/>
          </p:cNvSpPr>
          <p:nvPr/>
        </p:nvSpPr>
        <p:spPr bwMode="auto">
          <a:xfrm>
            <a:off x="1352124" y="1133688"/>
            <a:ext cx="199512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Aft>
                <a:spcPts val="0"/>
              </a:spcAft>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问题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Rectangle 75"/>
          <p:cNvSpPr>
            <a:spLocks noChangeArrowheads="1"/>
          </p:cNvSpPr>
          <p:nvPr/>
        </p:nvSpPr>
        <p:spPr bwMode="auto">
          <a:xfrm>
            <a:off x="1406163" y="4307469"/>
            <a:ext cx="6850078"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lnSpc>
                <a:spcPct val="150000"/>
              </a:lnSpc>
              <a:spcBef>
                <a:spcPct val="50000"/>
              </a:spcBef>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事件发生的频率能否代替事件的概率，频率是否具有稳定性呢？</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矩形 14"/>
          <p:cNvSpPr>
            <a:spLocks noChangeArrowheads="1"/>
          </p:cNvSpPr>
          <p:nvPr/>
        </p:nvSpPr>
        <p:spPr bwMode="auto">
          <a:xfrm>
            <a:off x="1364343" y="255069"/>
            <a:ext cx="385246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a:t>
            </a:r>
            <a:r>
              <a:rPr lang="zh-CN" altLang="en-US"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贝努里大数定律</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921" name="Object 81"/>
          <p:cNvGraphicFramePr>
            <a:graphicFrameLocks noChangeAspect="1"/>
          </p:cNvGraphicFramePr>
          <p:nvPr/>
        </p:nvGraphicFramePr>
        <p:xfrm>
          <a:off x="5970588" y="3568701"/>
          <a:ext cx="112712" cy="214313"/>
        </p:xfrm>
        <a:graphic>
          <a:graphicData uri="http://schemas.openxmlformats.org/presentationml/2006/ole">
            <mc:AlternateContent xmlns:mc="http://schemas.openxmlformats.org/markup-compatibility/2006">
              <mc:Choice xmlns:v="urn:schemas-microsoft-com:vml" Requires="v">
                <p:oleObj spid="_x0000_s317490" name="公式" r:id="rId1" imgW="114300" imgH="215900" progId="Equation.3">
                  <p:embed/>
                </p:oleObj>
              </mc:Choice>
              <mc:Fallback>
                <p:oleObj name="公式" r:id="rId1" imgW="114300" imgH="215900" progId="Equation.3">
                  <p:embed/>
                  <p:pic>
                    <p:nvPicPr>
                      <p:cNvPr id="0" name="Object 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0588" y="3568701"/>
                        <a:ext cx="112712"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922" name="Object 82"/>
          <p:cNvGraphicFramePr>
            <a:graphicFrameLocks noChangeAspect="1"/>
          </p:cNvGraphicFramePr>
          <p:nvPr/>
        </p:nvGraphicFramePr>
        <p:xfrm>
          <a:off x="5970588" y="3568701"/>
          <a:ext cx="112712" cy="214313"/>
        </p:xfrm>
        <a:graphic>
          <a:graphicData uri="http://schemas.openxmlformats.org/presentationml/2006/ole">
            <mc:AlternateContent xmlns:mc="http://schemas.openxmlformats.org/markup-compatibility/2006">
              <mc:Choice xmlns:v="urn:schemas-microsoft-com:vml" Requires="v">
                <p:oleObj spid="_x0000_s317491" name="公式" r:id="rId3" imgW="114300" imgH="215900" progId="Equation.3">
                  <p:embed/>
                </p:oleObj>
              </mc:Choice>
              <mc:Fallback>
                <p:oleObj name="公式" r:id="rId3" imgW="114300" imgH="215900" progId="Equation.3">
                  <p:embed/>
                  <p:pic>
                    <p:nvPicPr>
                      <p:cNvPr id="0" name="Object 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0588" y="3568701"/>
                        <a:ext cx="112712"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923" name="Rectangle 83"/>
          <p:cNvSpPr>
            <a:spLocks noChangeArrowheads="1"/>
          </p:cNvSpPr>
          <p:nvPr/>
        </p:nvSpPr>
        <p:spPr bwMode="auto">
          <a:xfrm>
            <a:off x="1401218" y="1517624"/>
            <a:ext cx="6913213" cy="203009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spcAft>
                <a:spcPts val="0"/>
              </a:spcAft>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 </a:t>
            </a:r>
            <a:r>
              <a:rPr lang="en-US" altLang="zh-CN" sz="36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36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40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次独立重复试验中事件</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发生的次数，</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是事件</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在每次试验中发生的概率，则对于任意正数</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ε</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&gt; 0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，有 </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35925" name="Object 85"/>
          <p:cNvGraphicFramePr>
            <a:graphicFrameLocks noChangeAspect="1"/>
          </p:cNvGraphicFramePr>
          <p:nvPr/>
        </p:nvGraphicFramePr>
        <p:xfrm>
          <a:off x="3460073" y="3229729"/>
          <a:ext cx="3715580" cy="1031731"/>
        </p:xfrm>
        <a:graphic>
          <a:graphicData uri="http://schemas.openxmlformats.org/presentationml/2006/ole">
            <mc:AlternateContent xmlns:mc="http://schemas.openxmlformats.org/markup-compatibility/2006">
              <mc:Choice xmlns:v="urn:schemas-microsoft-com:vml" Requires="v">
                <p:oleObj spid="_x0000_s317492" name="Equation" r:id="rId4" imgW="33832800" imgH="9448800" progId="Equation.DSMT4">
                  <p:embed/>
                </p:oleObj>
              </mc:Choice>
              <mc:Fallback>
                <p:oleObj name="Equation" r:id="rId4" imgW="33832800" imgH="9448800" progId="Equation.DSMT4">
                  <p:embed/>
                  <p:pic>
                    <p:nvPicPr>
                      <p:cNvPr id="0" name="Object 85"/>
                      <p:cNvPicPr>
                        <a:picLocks noChangeAspect="1" noChangeArrowheads="1"/>
                      </p:cNvPicPr>
                      <p:nvPr/>
                    </p:nvPicPr>
                    <p:blipFill>
                      <a:blip r:embed="rId5"/>
                      <a:srcRect/>
                      <a:stretch>
                        <a:fillRect/>
                      </a:stretch>
                    </p:blipFill>
                    <p:spPr bwMode="auto">
                      <a:xfrm>
                        <a:off x="3460073" y="3229729"/>
                        <a:ext cx="3715580" cy="1031731"/>
                      </a:xfrm>
                      <a:prstGeom prst="rect">
                        <a:avLst/>
                      </a:prstGeom>
                      <a:noFill/>
                      <a:ln>
                        <a:noFill/>
                      </a:ln>
                      <a:effectLst/>
                    </p:spPr>
                  </p:pic>
                </p:oleObj>
              </mc:Fallback>
            </mc:AlternateContent>
          </a:graphicData>
        </a:graphic>
      </p:graphicFrame>
      <p:sp>
        <p:nvSpPr>
          <p:cNvPr id="35926" name="Rectangle 86"/>
          <p:cNvSpPr>
            <a:spLocks noChangeArrowheads="1"/>
          </p:cNvSpPr>
          <p:nvPr/>
        </p:nvSpPr>
        <p:spPr bwMode="auto">
          <a:xfrm>
            <a:off x="2567341" y="4428979"/>
            <a:ext cx="487680" cy="4603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或</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35929" name="Object 89"/>
          <p:cNvGraphicFramePr>
            <a:graphicFrameLocks noChangeAspect="1"/>
          </p:cNvGraphicFramePr>
          <p:nvPr/>
        </p:nvGraphicFramePr>
        <p:xfrm>
          <a:off x="3503191" y="4117902"/>
          <a:ext cx="3783013" cy="1031731"/>
        </p:xfrm>
        <a:graphic>
          <a:graphicData uri="http://schemas.openxmlformats.org/presentationml/2006/ole">
            <mc:AlternateContent xmlns:mc="http://schemas.openxmlformats.org/markup-compatibility/2006">
              <mc:Choice xmlns:v="urn:schemas-microsoft-com:vml" Requires="v">
                <p:oleObj spid="_x0000_s317493" name="Equation" r:id="rId6" imgW="34442400" imgH="9448800" progId="Equation.DSMT4">
                  <p:embed/>
                </p:oleObj>
              </mc:Choice>
              <mc:Fallback>
                <p:oleObj name="Equation" r:id="rId6" imgW="34442400" imgH="9448800" progId="Equation.DSMT4">
                  <p:embed/>
                  <p:pic>
                    <p:nvPicPr>
                      <p:cNvPr id="0" name="Object 89"/>
                      <p:cNvPicPr>
                        <a:picLocks noChangeAspect="1" noChangeArrowheads="1"/>
                      </p:cNvPicPr>
                      <p:nvPr/>
                    </p:nvPicPr>
                    <p:blipFill>
                      <a:blip r:embed="rId7"/>
                      <a:srcRect/>
                      <a:stretch>
                        <a:fillRect/>
                      </a:stretch>
                    </p:blipFill>
                    <p:spPr bwMode="auto">
                      <a:xfrm>
                        <a:off x="3503191" y="4117902"/>
                        <a:ext cx="3783013" cy="1031731"/>
                      </a:xfrm>
                      <a:prstGeom prst="rect">
                        <a:avLst/>
                      </a:prstGeom>
                      <a:noFill/>
                      <a:ln>
                        <a:noFill/>
                      </a:ln>
                      <a:effectLst/>
                    </p:spPr>
                  </p:pic>
                </p:oleObj>
              </mc:Fallback>
            </mc:AlternateContent>
          </a:graphicData>
        </a:graphic>
      </p:graphicFrame>
      <p:grpSp>
        <p:nvGrpSpPr>
          <p:cNvPr id="14" name="组合 13"/>
          <p:cNvGrpSpPr/>
          <p:nvPr/>
        </p:nvGrpSpPr>
        <p:grpSpPr>
          <a:xfrm>
            <a:off x="9058508" y="1247237"/>
            <a:ext cx="1995120" cy="3785783"/>
            <a:chOff x="9058508" y="1247237"/>
            <a:chExt cx="1995120" cy="3785783"/>
          </a:xfrm>
        </p:grpSpPr>
        <p:pic>
          <p:nvPicPr>
            <p:cNvPr id="15" name="Picture 73" descr="贝努里"/>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58508" y="1247237"/>
              <a:ext cx="1995120" cy="315578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6" name="Rectangle 74"/>
            <p:cNvSpPr>
              <a:spLocks noChangeArrowheads="1"/>
            </p:cNvSpPr>
            <p:nvPr/>
          </p:nvSpPr>
          <p:spPr bwMode="auto">
            <a:xfrm>
              <a:off x="9408368" y="4572645"/>
              <a:ext cx="1295400" cy="4603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伯努利</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cxnSp>
        <p:nvCxnSpPr>
          <p:cNvPr id="17" name="直接连接符 1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矩形 17"/>
          <p:cNvSpPr>
            <a:spLocks noChangeArrowheads="1"/>
          </p:cNvSpPr>
          <p:nvPr/>
        </p:nvSpPr>
        <p:spPr bwMode="auto">
          <a:xfrm>
            <a:off x="1364343" y="255069"/>
            <a:ext cx="385246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a:t>
            </a:r>
            <a:r>
              <a:rPr lang="zh-CN" altLang="en-US"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贝努里大数定律</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9" name="组合 18"/>
          <p:cNvGrpSpPr/>
          <p:nvPr/>
        </p:nvGrpSpPr>
        <p:grpSpPr>
          <a:xfrm>
            <a:off x="851761" y="364781"/>
            <a:ext cx="263341" cy="395013"/>
            <a:chOff x="5284519" y="1508166"/>
            <a:chExt cx="213756" cy="427512"/>
          </a:xfrm>
        </p:grpSpPr>
        <p:cxnSp>
          <p:nvCxnSpPr>
            <p:cNvPr id="20" name="直接连接符 1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1" name="直接连接符 2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22" name="Text Box 71"/>
          <p:cNvSpPr txBox="1">
            <a:spLocks noChangeArrowheads="1"/>
          </p:cNvSpPr>
          <p:nvPr/>
        </p:nvSpPr>
        <p:spPr bwMode="auto">
          <a:xfrm>
            <a:off x="1335307" y="1063183"/>
            <a:ext cx="4747993"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Aft>
                <a:spcPts val="0"/>
              </a:spcAft>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（贝努里大数定律）</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71" name="Rectangle 87"/>
          <p:cNvSpPr>
            <a:spLocks noChangeArrowheads="1"/>
          </p:cNvSpPr>
          <p:nvPr/>
        </p:nvSpPr>
        <p:spPr bwMode="auto">
          <a:xfrm>
            <a:off x="851693" y="4906646"/>
            <a:ext cx="9433048" cy="129159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p>
            <a:pPr>
              <a:lnSpc>
                <a:spcPct val="150000"/>
              </a:lnSpc>
              <a:spcAft>
                <a:spcPts val="0"/>
              </a:spcAft>
            </a:pP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注：</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贝努里大数定律表明，当重复试验次数</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充分大时，事件</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发生的频率</a:t>
            </a:r>
            <a:r>
              <a:rPr lang="en-US" altLang="zh-CN" sz="26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6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与事件</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有较大偏差的概率很小。</a:t>
            </a:r>
            <a:endPar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Rectangle 75"/>
          <p:cNvSpPr>
            <a:spLocks noChangeArrowheads="1"/>
          </p:cNvSpPr>
          <p:nvPr/>
        </p:nvSpPr>
        <p:spPr bwMode="auto">
          <a:xfrm>
            <a:off x="926648" y="6163281"/>
            <a:ext cx="7064737" cy="737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pPr algn="l" eaLnBrk="1" hangingPunct="1">
              <a:lnSpc>
                <a:spcPct val="150000"/>
              </a:lnSpc>
              <a:spcBef>
                <a:spcPct val="50000"/>
              </a:spcBef>
              <a:spcAft>
                <a:spcPts val="0"/>
              </a:spcAft>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事件发生的频率可以代替事件的概率。</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471"/>
                                        </p:tgtEl>
                                        <p:attrNameLst>
                                          <p:attrName>style.visibility</p:attrName>
                                        </p:attrNameLst>
                                      </p:cBhvr>
                                      <p:to>
                                        <p:strVal val="visible"/>
                                      </p:to>
                                    </p:set>
                                    <p:animEffect transition="in" filter="wipe(down)">
                                      <p:cBhvr>
                                        <p:cTn id="7" dur="500"/>
                                        <p:tgtEl>
                                          <p:spTgt spid="164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71" grpId="0" bldLvl="0" animBg="1"/>
      <p:bldP spid="11" grpId="0" bldLvl="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286250" y="644525"/>
            <a:ext cx="7153910" cy="3592195"/>
          </a:xfrm>
          <a:prstGeom prst="rect">
            <a:avLst/>
          </a:prstGeom>
          <a:noFill/>
        </p:spPr>
        <p:txBody>
          <a:bodyPr wrap="square" rtlCol="0" anchor="t">
            <a:noAutofit/>
          </a:bodyPr>
          <a:p>
            <a:pPr>
              <a:lnSpc>
                <a:spcPct val="150000"/>
              </a:lnSpc>
              <a:spcAft>
                <a:spcPts val="0"/>
              </a:spcAft>
            </a:pPr>
            <a:r>
              <a:rPr lang="en-US" altLang="zh-CN" sz="3600" b="1" dirty="0">
                <a:solidFill>
                  <a:schemeClr val="tx1">
                    <a:lumMod val="85000"/>
                    <a:lumOff val="15000"/>
                  </a:schemeClr>
                </a:solidFill>
                <a:latin typeface="Times New Roman" panose="02020603050405020304" pitchFamily="18" charset="0"/>
                <a:ea typeface="微软雅黑" panose="020B0503020204020204" pitchFamily="34" charset="-122"/>
              </a:rPr>
              <a:t>        </a:t>
            </a:r>
            <a:r>
              <a:rPr lang="zh-CN" altLang="en-US" sz="3600" b="1" dirty="0">
                <a:solidFill>
                  <a:schemeClr val="tx1">
                    <a:lumMod val="85000"/>
                    <a:lumOff val="15000"/>
                  </a:schemeClr>
                </a:solidFill>
                <a:latin typeface="Times New Roman" panose="02020603050405020304" pitchFamily="18" charset="0"/>
                <a:ea typeface="微软雅黑" panose="020B0503020204020204" pitchFamily="34" charset="-122"/>
              </a:rPr>
              <a:t>恩格斯说：“在表面偶然性起作用的地方，这种偶然性始终是受内部隐蔽规律支配的。而我们的问题只是在于发现这些规律”。</a:t>
            </a:r>
            <a:endParaRPr lang="zh-CN" altLang="en-US" sz="3600" b="1" dirty="0">
              <a:solidFill>
                <a:schemeClr val="tx1">
                  <a:lumMod val="85000"/>
                  <a:lumOff val="15000"/>
                </a:schemeClr>
              </a:solidFill>
              <a:latin typeface="Times New Roman" panose="02020603050405020304" pitchFamily="18" charset="0"/>
              <a:ea typeface="微软雅黑" panose="020B0503020204020204" pitchFamily="34" charset="-122"/>
            </a:endParaRPr>
          </a:p>
        </p:txBody>
      </p:sp>
      <p:pic>
        <p:nvPicPr>
          <p:cNvPr id="84272525" name="name21966387643283a4c" descr="file_166934496957524998.013.png"/>
          <p:cNvPicPr>
            <a:picLocks noChangeAspect="1"/>
          </p:cNvPicPr>
          <p:nvPr>
            <p:custDataLst>
              <p:tags r:id="rId1"/>
            </p:custDataLst>
          </p:nvPr>
        </p:nvPicPr>
        <p:blipFill>
          <a:blip r:embed="rId2" cstate="print"/>
          <a:stretch>
            <a:fillRect/>
          </a:stretch>
        </p:blipFill>
        <p:spPr>
          <a:xfrm>
            <a:off x="2135505" y="4797425"/>
            <a:ext cx="8338185" cy="2076450"/>
          </a:xfrm>
          <a:prstGeom prst="rect">
            <a:avLst/>
          </a:prstGeom>
          <a:ln w="0">
            <a:noFill/>
          </a:ln>
        </p:spPr>
      </p:pic>
      <p:pic>
        <p:nvPicPr>
          <p:cNvPr id="100" name="图片 99"/>
          <p:cNvPicPr/>
          <p:nvPr>
            <p:custDataLst>
              <p:tags r:id="rId3"/>
            </p:custDataLst>
          </p:nvPr>
        </p:nvPicPr>
        <p:blipFill>
          <a:blip r:embed="rId4"/>
          <a:stretch>
            <a:fillRect/>
          </a:stretch>
        </p:blipFill>
        <p:spPr>
          <a:xfrm>
            <a:off x="551180" y="412115"/>
            <a:ext cx="3060065" cy="4057015"/>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59" name="Rectangle 15"/>
          <p:cNvSpPr>
            <a:spLocks noChangeArrowheads="1"/>
          </p:cNvSpPr>
          <p:nvPr/>
        </p:nvSpPr>
        <p:spPr bwMode="auto">
          <a:xfrm>
            <a:off x="1262440" y="1718947"/>
            <a:ext cx="647700" cy="206121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spcAft>
                <a:spcPts val="0"/>
              </a:spcAft>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eaLnBrk="1" hangingPunct="1">
              <a:spcBef>
                <a:spcPts val="0"/>
              </a:spcBef>
              <a:spcAft>
                <a:spcPts val="0"/>
              </a:spcAft>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数</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eaLnBrk="1" hangingPunct="1">
              <a:spcBef>
                <a:spcPts val="0"/>
              </a:spcBef>
              <a:spcAft>
                <a:spcPts val="0"/>
              </a:spcAft>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定</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eaLnBrk="1" hangingPunct="1">
              <a:spcBef>
                <a:spcPts val="0"/>
              </a:spcBef>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律</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2960" name="Rectangle 16"/>
          <p:cNvSpPr>
            <a:spLocks noChangeArrowheads="1"/>
          </p:cNvSpPr>
          <p:nvPr/>
        </p:nvSpPr>
        <p:spPr bwMode="auto">
          <a:xfrm>
            <a:off x="1945089" y="4862840"/>
            <a:ext cx="9550325" cy="53403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20000"/>
              </a:lnSpc>
              <a:spcAft>
                <a:spcPts val="0"/>
              </a:spcAft>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大数定律以严格的数学形式表达了随机现象最根本的性质之一：</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2961" name="Rectangle 17"/>
          <p:cNvSpPr>
            <a:spLocks noChangeArrowheads="1"/>
          </p:cNvSpPr>
          <p:nvPr/>
        </p:nvSpPr>
        <p:spPr bwMode="auto">
          <a:xfrm>
            <a:off x="4244829" y="5707769"/>
            <a:ext cx="4321175" cy="521970"/>
          </a:xfrm>
          <a:prstGeom prst="rect">
            <a:avLst/>
          </a:prstGeom>
          <a:solidFill>
            <a:srgbClr val="C00000"/>
          </a:solidFill>
          <a:ln>
            <a:noFill/>
          </a:ln>
          <a:effectLst/>
        </p:spPr>
        <p:txBody>
          <a:bodyPr anchor="ctr">
            <a:spAutoFit/>
          </a:bodyPr>
          <a:lstStyle/>
          <a:p>
            <a:pPr algn="ctr" eaLnBrk="1" hangingPunct="1">
              <a:spcAft>
                <a:spcPts val="0"/>
              </a:spcAft>
            </a:pPr>
            <a:r>
              <a:rPr lang="zh-CN" altLang="en-US"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平均结果的稳定性</a:t>
            </a:r>
            <a:endParaRPr lang="zh-CN" altLang="en-US"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2968" name="Object 24"/>
          <p:cNvGraphicFramePr>
            <a:graphicFrameLocks noChangeAspect="1"/>
          </p:cNvGraphicFramePr>
          <p:nvPr/>
        </p:nvGraphicFramePr>
        <p:xfrm>
          <a:off x="1945089" y="1156525"/>
          <a:ext cx="502567" cy="3618485"/>
        </p:xfrm>
        <a:graphic>
          <a:graphicData uri="http://schemas.openxmlformats.org/presentationml/2006/ole">
            <mc:AlternateContent xmlns:mc="http://schemas.openxmlformats.org/markup-compatibility/2006">
              <mc:Choice xmlns:v="urn:schemas-microsoft-com:vml" Requires="v">
                <p:oleObj spid="_x0000_s2" name="Equation" r:id="rId1" imgW="4572000" imgH="32918400" progId="Equation.DSMT4">
                  <p:embed/>
                </p:oleObj>
              </mc:Choice>
              <mc:Fallback>
                <p:oleObj name="Equation" r:id="rId1" imgW="4572000" imgH="32918400" progId="Equation.DSMT4">
                  <p:embed/>
                  <p:pic>
                    <p:nvPicPr>
                      <p:cNvPr id="0" name="Object 24"/>
                      <p:cNvPicPr>
                        <a:picLocks noChangeAspect="1" noChangeArrowheads="1"/>
                      </p:cNvPicPr>
                      <p:nvPr/>
                    </p:nvPicPr>
                    <p:blipFill>
                      <a:blip r:embed="rId2"/>
                      <a:srcRect/>
                      <a:stretch>
                        <a:fillRect/>
                      </a:stretch>
                    </p:blipFill>
                    <p:spPr bwMode="auto">
                      <a:xfrm>
                        <a:off x="1945089" y="1156525"/>
                        <a:ext cx="502567" cy="3618485"/>
                      </a:xfrm>
                      <a:prstGeom prst="rect">
                        <a:avLst/>
                      </a:prstGeom>
                      <a:noFill/>
                      <a:ln>
                        <a:noFill/>
                      </a:ln>
                      <a:effectLst/>
                    </p:spPr>
                  </p:pic>
                </p:oleObj>
              </mc:Fallback>
            </mc:AlternateContent>
          </a:graphicData>
        </a:graphic>
      </p:graphicFrame>
      <p:cxnSp>
        <p:nvCxnSpPr>
          <p:cNvPr id="13" name="直接连接符 12"/>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1406163" y="255069"/>
            <a:ext cx="167513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大数定律</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5" name="组合 14"/>
          <p:cNvGrpSpPr/>
          <p:nvPr/>
        </p:nvGrpSpPr>
        <p:grpSpPr>
          <a:xfrm>
            <a:off x="851761" y="364781"/>
            <a:ext cx="263341" cy="395013"/>
            <a:chOff x="5284519" y="1508166"/>
            <a:chExt cx="213756" cy="427512"/>
          </a:xfrm>
        </p:grpSpPr>
        <p:cxnSp>
          <p:nvCxnSpPr>
            <p:cNvPr id="16" name="直接连接符 15"/>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7" name="直接连接符 16"/>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4" name="组合 3"/>
          <p:cNvGrpSpPr/>
          <p:nvPr/>
        </p:nvGrpSpPr>
        <p:grpSpPr>
          <a:xfrm>
            <a:off x="2482605" y="3671748"/>
            <a:ext cx="7437348" cy="1306512"/>
            <a:chOff x="2482605" y="3671748"/>
            <a:chExt cx="7437348" cy="1306512"/>
          </a:xfrm>
        </p:grpSpPr>
        <p:graphicFrame>
          <p:nvGraphicFramePr>
            <p:cNvPr id="82963" name="Object 19"/>
            <p:cNvGraphicFramePr>
              <a:graphicFrameLocks noChangeAspect="1"/>
            </p:cNvGraphicFramePr>
            <p:nvPr/>
          </p:nvGraphicFramePr>
          <p:xfrm>
            <a:off x="8202807" y="3797072"/>
            <a:ext cx="1717146" cy="561975"/>
          </p:xfrm>
          <a:graphic>
            <a:graphicData uri="http://schemas.openxmlformats.org/presentationml/2006/ole">
              <mc:AlternateContent xmlns:mc="http://schemas.openxmlformats.org/markup-compatibility/2006">
                <mc:Choice xmlns:v="urn:schemas-microsoft-com:vml" Requires="v">
                  <p:oleObj spid="_x0000_s3" name="Equation" r:id="rId3" imgW="16764000" imgH="5486400" progId="Equation.DSMT4">
                    <p:embed/>
                  </p:oleObj>
                </mc:Choice>
                <mc:Fallback>
                  <p:oleObj name="Equation" r:id="rId3" imgW="16764000" imgH="5486400" progId="Equation.DSMT4">
                    <p:embed/>
                    <p:pic>
                      <p:nvPicPr>
                        <p:cNvPr id="0" name="Object 19"/>
                        <p:cNvPicPr>
                          <a:picLocks noChangeAspect="1" noChangeArrowheads="1"/>
                        </p:cNvPicPr>
                        <p:nvPr/>
                      </p:nvPicPr>
                      <p:blipFill>
                        <a:blip r:embed="rId4"/>
                        <a:srcRect/>
                        <a:stretch>
                          <a:fillRect/>
                        </a:stretch>
                      </p:blipFill>
                      <p:spPr bwMode="auto">
                        <a:xfrm>
                          <a:off x="8202807" y="3797072"/>
                          <a:ext cx="1717146" cy="561975"/>
                        </a:xfrm>
                        <a:prstGeom prst="rect">
                          <a:avLst/>
                        </a:prstGeom>
                        <a:noFill/>
                        <a:ln>
                          <a:noFill/>
                        </a:ln>
                        <a:effectLst/>
                      </p:spPr>
                    </p:pic>
                  </p:oleObj>
                </mc:Fallback>
              </mc:AlternateContent>
            </a:graphicData>
          </a:graphic>
        </p:graphicFrame>
        <p:grpSp>
          <p:nvGrpSpPr>
            <p:cNvPr id="5" name="组合 4"/>
            <p:cNvGrpSpPr/>
            <p:nvPr/>
          </p:nvGrpSpPr>
          <p:grpSpPr>
            <a:xfrm>
              <a:off x="2482605" y="3671748"/>
              <a:ext cx="4944344" cy="1306512"/>
              <a:chOff x="2482605" y="3671748"/>
              <a:chExt cx="4944344" cy="1306512"/>
            </a:xfrm>
          </p:grpSpPr>
          <p:graphicFrame>
            <p:nvGraphicFramePr>
              <p:cNvPr id="82967" name="Object 23"/>
              <p:cNvGraphicFramePr>
                <a:graphicFrameLocks noChangeAspect="1"/>
              </p:cNvGraphicFramePr>
              <p:nvPr/>
            </p:nvGraphicFramePr>
            <p:xfrm>
              <a:off x="4305924" y="3671748"/>
              <a:ext cx="3121025" cy="1306512"/>
            </p:xfrm>
            <a:graphic>
              <a:graphicData uri="http://schemas.openxmlformats.org/presentationml/2006/ole">
                <mc:AlternateContent xmlns:mc="http://schemas.openxmlformats.org/markup-compatibility/2006">
                  <mc:Choice xmlns:v="urn:schemas-microsoft-com:vml" Requires="v">
                    <p:oleObj spid="_x0000_s6" name="Equation" r:id="rId5" imgW="40538400" imgH="15849600" progId="Equation.DSMT4">
                      <p:embed/>
                    </p:oleObj>
                  </mc:Choice>
                  <mc:Fallback>
                    <p:oleObj name="Equation" r:id="rId5" imgW="40538400" imgH="15849600" progId="Equation.DSMT4">
                      <p:embed/>
                      <p:pic>
                        <p:nvPicPr>
                          <p:cNvPr id="0" name="Object 23"/>
                          <p:cNvPicPr>
                            <a:picLocks noChangeAspect="1" noChangeArrowheads="1"/>
                          </p:cNvPicPr>
                          <p:nvPr/>
                        </p:nvPicPr>
                        <p:blipFill>
                          <a:blip r:embed="rId6"/>
                          <a:srcRect/>
                          <a:stretch>
                            <a:fillRect/>
                          </a:stretch>
                        </p:blipFill>
                        <p:spPr bwMode="auto">
                          <a:xfrm>
                            <a:off x="4305924" y="3671748"/>
                            <a:ext cx="3121025" cy="1306512"/>
                          </a:xfrm>
                          <a:prstGeom prst="rect">
                            <a:avLst/>
                          </a:prstGeom>
                          <a:noFill/>
                          <a:ln>
                            <a:noFill/>
                          </a:ln>
                          <a:effectLst/>
                        </p:spPr>
                      </p:pic>
                    </p:oleObj>
                  </mc:Fallback>
                </mc:AlternateContent>
              </a:graphicData>
            </a:graphic>
          </p:graphicFrame>
          <p:sp>
            <p:nvSpPr>
              <p:cNvPr id="18" name="Rectangle 16"/>
              <p:cNvSpPr>
                <a:spLocks noChangeArrowheads="1"/>
              </p:cNvSpPr>
              <p:nvPr/>
            </p:nvSpPr>
            <p:spPr bwMode="auto">
              <a:xfrm>
                <a:off x="2482605" y="3689379"/>
                <a:ext cx="1514490" cy="9772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a:lnSpc>
                    <a:spcPct val="120000"/>
                  </a:lnSpc>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辛钦</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a:lnSpc>
                    <a:spcPct val="120000"/>
                  </a:lnSpc>
                  <a:spcBef>
                    <a:spcPts val="0"/>
                  </a:spcBef>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大数定律</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graphicFrame>
        <p:nvGraphicFramePr>
          <p:cNvPr id="82964" name="Object 20"/>
          <p:cNvGraphicFramePr>
            <a:graphicFrameLocks noChangeAspect="1"/>
          </p:cNvGraphicFramePr>
          <p:nvPr/>
        </p:nvGraphicFramePr>
        <p:xfrm>
          <a:off x="8202807" y="1311098"/>
          <a:ext cx="1873250" cy="561975"/>
        </p:xfrm>
        <a:graphic>
          <a:graphicData uri="http://schemas.openxmlformats.org/presentationml/2006/ole">
            <mc:AlternateContent xmlns:mc="http://schemas.openxmlformats.org/markup-compatibility/2006">
              <mc:Choice xmlns:v="urn:schemas-microsoft-com:vml" Requires="v">
                <p:oleObj spid="_x0000_s7" name="Equation" r:id="rId7" imgW="18288000" imgH="5486400" progId="Equation.DSMT4">
                  <p:embed/>
                </p:oleObj>
              </mc:Choice>
              <mc:Fallback>
                <p:oleObj name="Equation" r:id="rId7" imgW="18288000" imgH="5486400" progId="Equation.DSMT4">
                  <p:embed/>
                  <p:pic>
                    <p:nvPicPr>
                      <p:cNvPr id="0" name="Object 20"/>
                      <p:cNvPicPr>
                        <a:picLocks noChangeAspect="1" noChangeArrowheads="1"/>
                      </p:cNvPicPr>
                      <p:nvPr/>
                    </p:nvPicPr>
                    <p:blipFill>
                      <a:blip r:embed="rId8"/>
                      <a:srcRect/>
                      <a:stretch>
                        <a:fillRect/>
                      </a:stretch>
                    </p:blipFill>
                    <p:spPr bwMode="auto">
                      <a:xfrm>
                        <a:off x="8202807" y="1311098"/>
                        <a:ext cx="1873250" cy="561975"/>
                      </a:xfrm>
                      <a:prstGeom prst="rect">
                        <a:avLst/>
                      </a:prstGeom>
                      <a:noFill/>
                      <a:ln>
                        <a:noFill/>
                      </a:ln>
                      <a:effectLst/>
                    </p:spPr>
                  </p:pic>
                </p:oleObj>
              </mc:Fallback>
            </mc:AlternateContent>
          </a:graphicData>
        </a:graphic>
      </p:graphicFrame>
      <p:grpSp>
        <p:nvGrpSpPr>
          <p:cNvPr id="8" name="组合 7"/>
          <p:cNvGrpSpPr/>
          <p:nvPr/>
        </p:nvGrpSpPr>
        <p:grpSpPr>
          <a:xfrm>
            <a:off x="2482605" y="1145949"/>
            <a:ext cx="4928563" cy="977265"/>
            <a:chOff x="2555313" y="1493870"/>
            <a:chExt cx="4928563" cy="977265"/>
          </a:xfrm>
        </p:grpSpPr>
        <p:graphicFrame>
          <p:nvGraphicFramePr>
            <p:cNvPr id="82965" name="Object 21"/>
            <p:cNvGraphicFramePr>
              <a:graphicFrameLocks noChangeAspect="1"/>
            </p:cNvGraphicFramePr>
            <p:nvPr/>
          </p:nvGraphicFramePr>
          <p:xfrm>
            <a:off x="4358089" y="1565783"/>
            <a:ext cx="3125787" cy="833438"/>
          </p:xfrm>
          <a:graphic>
            <a:graphicData uri="http://schemas.openxmlformats.org/presentationml/2006/ole">
              <mc:AlternateContent xmlns:mc="http://schemas.openxmlformats.org/markup-compatibility/2006">
                <mc:Choice xmlns:v="urn:schemas-microsoft-com:vml" Requires="v">
                  <p:oleObj spid="_x0000_s9" name="Equation" r:id="rId9" imgW="34747200" imgH="9448800" progId="Equation.DSMT4">
                    <p:embed/>
                  </p:oleObj>
                </mc:Choice>
                <mc:Fallback>
                  <p:oleObj name="Equation" r:id="rId9" imgW="34747200" imgH="9448800" progId="Equation.DSMT4">
                    <p:embed/>
                    <p:pic>
                      <p:nvPicPr>
                        <p:cNvPr id="0" name="Object 21"/>
                        <p:cNvPicPr>
                          <a:picLocks noChangeAspect="1" noChangeArrowheads="1"/>
                        </p:cNvPicPr>
                        <p:nvPr/>
                      </p:nvPicPr>
                      <p:blipFill>
                        <a:blip r:embed="rId10"/>
                        <a:srcRect/>
                        <a:stretch>
                          <a:fillRect/>
                        </a:stretch>
                      </p:blipFill>
                      <p:spPr bwMode="auto">
                        <a:xfrm>
                          <a:off x="4358089" y="1565783"/>
                          <a:ext cx="3125787" cy="833438"/>
                        </a:xfrm>
                        <a:prstGeom prst="rect">
                          <a:avLst/>
                        </a:prstGeom>
                        <a:noFill/>
                        <a:ln>
                          <a:noFill/>
                        </a:ln>
                        <a:effectLst/>
                      </p:spPr>
                    </p:pic>
                  </p:oleObj>
                </mc:Fallback>
              </mc:AlternateContent>
            </a:graphicData>
          </a:graphic>
        </p:graphicFrame>
        <p:sp>
          <p:nvSpPr>
            <p:cNvPr id="19" name="Rectangle 16"/>
            <p:cNvSpPr>
              <a:spLocks noChangeArrowheads="1"/>
            </p:cNvSpPr>
            <p:nvPr/>
          </p:nvSpPr>
          <p:spPr bwMode="auto">
            <a:xfrm>
              <a:off x="2555313" y="1493870"/>
              <a:ext cx="1514490" cy="9772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a:lnSpc>
                  <a:spcPct val="120000"/>
                </a:lnSpc>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伯努利</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a:lnSpc>
                  <a:spcPct val="120000"/>
                </a:lnSpc>
                <a:spcBef>
                  <a:spcPts val="0"/>
                </a:spcBef>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大数定律</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10" name="组合 9"/>
          <p:cNvGrpSpPr/>
          <p:nvPr/>
        </p:nvGrpSpPr>
        <p:grpSpPr>
          <a:xfrm>
            <a:off x="2482605" y="2223676"/>
            <a:ext cx="7843219" cy="1186392"/>
            <a:chOff x="2482605" y="2223676"/>
            <a:chExt cx="7843219" cy="1186392"/>
          </a:xfrm>
        </p:grpSpPr>
        <p:graphicFrame>
          <p:nvGraphicFramePr>
            <p:cNvPr id="82962" name="Object 18"/>
            <p:cNvGraphicFramePr>
              <a:graphicFrameLocks noChangeAspect="1"/>
            </p:cNvGraphicFramePr>
            <p:nvPr/>
          </p:nvGraphicFramePr>
          <p:xfrm>
            <a:off x="8202807" y="2223676"/>
            <a:ext cx="2123017" cy="1186392"/>
          </p:xfrm>
          <a:graphic>
            <a:graphicData uri="http://schemas.openxmlformats.org/presentationml/2006/ole">
              <mc:AlternateContent xmlns:mc="http://schemas.openxmlformats.org/markup-compatibility/2006">
                <mc:Choice xmlns:v="urn:schemas-microsoft-com:vml" Requires="v">
                  <p:oleObj spid="_x0000_s11" name="Equation" r:id="rId11" imgW="20726400" imgH="11582400" progId="Equation.DSMT4">
                    <p:embed/>
                  </p:oleObj>
                </mc:Choice>
                <mc:Fallback>
                  <p:oleObj name="Equation" r:id="rId11" imgW="20726400" imgH="11582400" progId="Equation.DSMT4">
                    <p:embed/>
                    <p:pic>
                      <p:nvPicPr>
                        <p:cNvPr id="0" name="Object 18"/>
                        <p:cNvPicPr>
                          <a:picLocks noChangeAspect="1" noChangeArrowheads="1"/>
                        </p:cNvPicPr>
                        <p:nvPr/>
                      </p:nvPicPr>
                      <p:blipFill>
                        <a:blip r:embed="rId12"/>
                        <a:srcRect/>
                        <a:stretch>
                          <a:fillRect/>
                        </a:stretch>
                      </p:blipFill>
                      <p:spPr bwMode="auto">
                        <a:xfrm>
                          <a:off x="8202807" y="2223676"/>
                          <a:ext cx="2123017" cy="1186392"/>
                        </a:xfrm>
                        <a:prstGeom prst="rect">
                          <a:avLst/>
                        </a:prstGeom>
                        <a:noFill/>
                        <a:ln>
                          <a:noFill/>
                        </a:ln>
                        <a:effectLst/>
                      </p:spPr>
                    </p:pic>
                  </p:oleObj>
                </mc:Fallback>
              </mc:AlternateContent>
            </a:graphicData>
          </a:graphic>
        </p:graphicFrame>
        <p:graphicFrame>
          <p:nvGraphicFramePr>
            <p:cNvPr id="82966" name="Object 22"/>
            <p:cNvGraphicFramePr>
              <a:graphicFrameLocks noChangeAspect="1"/>
            </p:cNvGraphicFramePr>
            <p:nvPr/>
          </p:nvGraphicFramePr>
          <p:xfrm>
            <a:off x="4271569" y="2380681"/>
            <a:ext cx="3595687" cy="890587"/>
          </p:xfrm>
          <a:graphic>
            <a:graphicData uri="http://schemas.openxmlformats.org/presentationml/2006/ole">
              <mc:AlternateContent xmlns:mc="http://schemas.openxmlformats.org/markup-compatibility/2006">
                <mc:Choice xmlns:v="urn:schemas-microsoft-com:vml" Requires="v">
                  <p:oleObj spid="_x0000_s12" name="Equation" r:id="rId13" imgW="40843200" imgH="10363200" progId="Equation.DSMT4">
                    <p:embed/>
                  </p:oleObj>
                </mc:Choice>
                <mc:Fallback>
                  <p:oleObj name="Equation" r:id="rId13" imgW="40843200" imgH="10363200" progId="Equation.DSMT4">
                    <p:embed/>
                    <p:pic>
                      <p:nvPicPr>
                        <p:cNvPr id="0" name="Object 22"/>
                        <p:cNvPicPr>
                          <a:picLocks noChangeAspect="1" noChangeArrowheads="1"/>
                        </p:cNvPicPr>
                        <p:nvPr/>
                      </p:nvPicPr>
                      <p:blipFill>
                        <a:blip r:embed="rId14"/>
                        <a:srcRect/>
                        <a:stretch>
                          <a:fillRect/>
                        </a:stretch>
                      </p:blipFill>
                      <p:spPr bwMode="auto">
                        <a:xfrm>
                          <a:off x="4271569" y="2380681"/>
                          <a:ext cx="3595687" cy="890587"/>
                        </a:xfrm>
                        <a:prstGeom prst="rect">
                          <a:avLst/>
                        </a:prstGeom>
                        <a:noFill/>
                        <a:ln>
                          <a:noFill/>
                        </a:ln>
                        <a:effectLst/>
                      </p:spPr>
                    </p:pic>
                  </p:oleObj>
                </mc:Fallback>
              </mc:AlternateContent>
            </a:graphicData>
          </a:graphic>
        </p:graphicFrame>
        <p:sp>
          <p:nvSpPr>
            <p:cNvPr id="20" name="Rectangle 16"/>
            <p:cNvSpPr>
              <a:spLocks noChangeArrowheads="1"/>
            </p:cNvSpPr>
            <p:nvPr/>
          </p:nvSpPr>
          <p:spPr bwMode="auto">
            <a:xfrm>
              <a:off x="2482605" y="2375904"/>
              <a:ext cx="1514490" cy="97726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a:lnSpc>
                  <a:spcPct val="120000"/>
                </a:lnSpc>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切比雪夫大数定律</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bwMode="auto">
          <a:xfrm>
            <a:off x="7928887" y="1529674"/>
            <a:ext cx="4263114" cy="3801676"/>
          </a:xfrm>
          <a:prstGeom prst="rect">
            <a:avLst/>
          </a:prstGeom>
          <a:solidFill>
            <a:srgbClr val="FEFEFE"/>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endParaRPr lang="zh-CN" altLang="en-US" sz="2400"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矩形 19"/>
          <p:cNvSpPr/>
          <p:nvPr/>
        </p:nvSpPr>
        <p:spPr>
          <a:xfrm>
            <a:off x="0" y="1529673"/>
            <a:ext cx="7939595" cy="3801677"/>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154876" y="3082680"/>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文本框 22"/>
          <p:cNvSpPr txBox="1"/>
          <p:nvPr/>
        </p:nvSpPr>
        <p:spPr>
          <a:xfrm>
            <a:off x="1334473" y="3081773"/>
            <a:ext cx="4978298" cy="829945"/>
          </a:xfrm>
          <a:prstGeom prst="rect">
            <a:avLst/>
          </a:prstGeom>
          <a:noFill/>
        </p:spPr>
        <p:txBody>
          <a:bodyPr wrap="square" rtlCol="0">
            <a:spAutoFit/>
          </a:bodyPr>
          <a:lstStyle/>
          <a:p>
            <a:pPr algn="dist" defTabSz="685800">
              <a:spcAft>
                <a:spcPts val="0"/>
              </a:spcAft>
            </a:pPr>
            <a:r>
              <a:rPr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中心极限定理</a:t>
            </a:r>
            <a:endParaRPr kumimoji="0"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0" name="文本框 369"/>
          <p:cNvSpPr txBox="1"/>
          <p:nvPr/>
        </p:nvSpPr>
        <p:spPr>
          <a:xfrm>
            <a:off x="1777321" y="2073508"/>
            <a:ext cx="4559680" cy="829945"/>
          </a:xfrm>
          <a:prstGeom prst="rect">
            <a:avLst/>
          </a:prstGeom>
          <a:noFill/>
          <a:effectLst/>
        </p:spPr>
        <p:txBody>
          <a:bodyPr wrap="square" rtlCol="0">
            <a:spAutoFit/>
          </a:bodyPr>
          <a:lstStyle/>
          <a:p>
            <a:pPr algn="dist">
              <a:spcAft>
                <a:spcPts val="0"/>
              </a:spcAft>
            </a:pPr>
            <a:r>
              <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概率统计（</a:t>
            </a:r>
            <a:r>
              <a:rPr lang="en-US" altLang="zh-CN"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1" name="矩形 370"/>
          <p:cNvSpPr/>
          <p:nvPr/>
        </p:nvSpPr>
        <p:spPr>
          <a:xfrm>
            <a:off x="1018492" y="4013600"/>
            <a:ext cx="5628092" cy="737235"/>
          </a:xfrm>
          <a:prstGeom prst="rect">
            <a:avLst/>
          </a:prstGeom>
        </p:spPr>
        <p:txBody>
          <a:bodyPr wrap="square">
            <a:spAutoFit/>
          </a:bodyPr>
          <a:lstStyle/>
          <a:p>
            <a:pPr algn="ctr">
              <a:lnSpc>
                <a:spcPct val="150000"/>
              </a:lnSpc>
              <a:spcAft>
                <a:spcPts val="0"/>
              </a:spcAft>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主讲人：曾华琳</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 name="组合 3"/>
          <p:cNvGrpSpPr/>
          <p:nvPr/>
        </p:nvGrpSpPr>
        <p:grpSpPr>
          <a:xfrm>
            <a:off x="8102254" y="1704658"/>
            <a:ext cx="3881691" cy="3433977"/>
            <a:chOff x="8226111" y="1728368"/>
            <a:chExt cx="3881691" cy="3433977"/>
          </a:xfrm>
        </p:grpSpPr>
        <p:pic>
          <p:nvPicPr>
            <p:cNvPr id="187" name="图片 186"/>
            <p:cNvPicPr>
              <a:picLocks noChangeAspect="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84928" y="1728368"/>
              <a:ext cx="2561629" cy="2561629"/>
            </a:xfrm>
            <a:prstGeom prst="rect">
              <a:avLst/>
            </a:prstGeom>
          </p:spPr>
        </p:pic>
        <p:sp>
          <p:nvSpPr>
            <p:cNvPr id="188" name="文本框 187"/>
            <p:cNvSpPr txBox="1"/>
            <p:nvPr/>
          </p:nvSpPr>
          <p:spPr>
            <a:xfrm>
              <a:off x="8226111" y="4578780"/>
              <a:ext cx="3881691" cy="583565"/>
            </a:xfrm>
            <a:prstGeom prst="rect">
              <a:avLst/>
            </a:prstGeom>
            <a:noFill/>
            <a:effectLst/>
          </p:spPr>
          <p:txBody>
            <a:bodyPr wrap="square" rtlCol="0">
              <a:spAutoFit/>
            </a:bodyPr>
            <a:lstStyle/>
            <a:p>
              <a:pPr algn="dist">
                <a:spcAft>
                  <a:spcPts val="0"/>
                </a:spcAft>
              </a:pPr>
              <a:r>
                <a:rPr lang="zh-CN" altLang="en-US" sz="3200" b="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信息学院</a:t>
              </a:r>
              <a:endParaRPr lang="zh-CN" altLang="en-US" sz="32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60" name="Text Box 16"/>
          <p:cNvSpPr txBox="1">
            <a:spLocks noChangeArrowheads="1"/>
          </p:cNvSpPr>
          <p:nvPr/>
        </p:nvSpPr>
        <p:spPr bwMode="auto">
          <a:xfrm>
            <a:off x="1590150" y="1896177"/>
            <a:ext cx="589280" cy="304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Aft>
                <a:spcPts val="0"/>
              </a:spcAft>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中</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spcBef>
                <a:spcPts val="0"/>
              </a:spcBef>
              <a:spcAft>
                <a:spcPts val="0"/>
              </a:spcAft>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心</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spcBef>
                <a:spcPts val="0"/>
              </a:spcBef>
              <a:spcAft>
                <a:spcPts val="0"/>
              </a:spcAft>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极</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spcBef>
                <a:spcPts val="0"/>
              </a:spcBef>
              <a:spcAft>
                <a:spcPts val="0"/>
              </a:spcAft>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限</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spcBef>
                <a:spcPts val="0"/>
              </a:spcBef>
              <a:spcAft>
                <a:spcPts val="0"/>
              </a:spcAft>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定</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spcBef>
                <a:spcPts val="0"/>
              </a:spcBef>
            </a:pPr>
            <a:r>
              <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理</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2961" name="Object 17"/>
          <p:cNvGraphicFramePr>
            <a:graphicFrameLocks noChangeAspect="1"/>
          </p:cNvGraphicFramePr>
          <p:nvPr/>
        </p:nvGraphicFramePr>
        <p:xfrm>
          <a:off x="3287688" y="1440475"/>
          <a:ext cx="1825625" cy="838801"/>
        </p:xfrm>
        <a:graphic>
          <a:graphicData uri="http://schemas.openxmlformats.org/presentationml/2006/ole">
            <mc:AlternateContent xmlns:mc="http://schemas.openxmlformats.org/markup-compatibility/2006">
              <mc:Choice xmlns:v="urn:schemas-microsoft-com:vml" Requires="v">
                <p:oleObj spid="_x0000_s2" name="Equation" r:id="rId1" imgW="22555200" imgH="10363200" progId="Equation.DSMT4">
                  <p:embed/>
                </p:oleObj>
              </mc:Choice>
              <mc:Fallback>
                <p:oleObj name="Equation" r:id="rId1" imgW="22555200" imgH="10363200" progId="Equation.DSMT4">
                  <p:embed/>
                  <p:pic>
                    <p:nvPicPr>
                      <p:cNvPr id="0" name="Object 17"/>
                      <p:cNvPicPr>
                        <a:picLocks noChangeAspect="1" noChangeArrowheads="1"/>
                      </p:cNvPicPr>
                      <p:nvPr/>
                    </p:nvPicPr>
                    <p:blipFill>
                      <a:blip r:embed="rId2"/>
                      <a:srcRect/>
                      <a:stretch>
                        <a:fillRect/>
                      </a:stretch>
                    </p:blipFill>
                    <p:spPr bwMode="auto">
                      <a:xfrm>
                        <a:off x="3287688" y="1440475"/>
                        <a:ext cx="1825625" cy="838801"/>
                      </a:xfrm>
                      <a:prstGeom prst="rect">
                        <a:avLst/>
                      </a:prstGeom>
                      <a:noFill/>
                      <a:ln>
                        <a:noFill/>
                      </a:ln>
                      <a:effectLst/>
                    </p:spPr>
                  </p:pic>
                </p:oleObj>
              </mc:Fallback>
            </mc:AlternateContent>
          </a:graphicData>
        </a:graphic>
      </p:graphicFrame>
      <p:graphicFrame>
        <p:nvGraphicFramePr>
          <p:cNvPr id="82962" name="Object 18"/>
          <p:cNvGraphicFramePr>
            <a:graphicFrameLocks noChangeAspect="1"/>
          </p:cNvGraphicFramePr>
          <p:nvPr/>
        </p:nvGraphicFramePr>
        <p:xfrm>
          <a:off x="2947749" y="3063470"/>
          <a:ext cx="2886461" cy="888142"/>
        </p:xfrm>
        <a:graphic>
          <a:graphicData uri="http://schemas.openxmlformats.org/presentationml/2006/ole">
            <mc:AlternateContent xmlns:mc="http://schemas.openxmlformats.org/markup-compatibility/2006">
              <mc:Choice xmlns:v="urn:schemas-microsoft-com:vml" Requires="v">
                <p:oleObj spid="_x0000_s3" name="Equation" r:id="rId3" imgW="35661600" imgH="10972800" progId="Equation.DSMT4">
                  <p:embed/>
                </p:oleObj>
              </mc:Choice>
              <mc:Fallback>
                <p:oleObj name="Equation" r:id="rId3" imgW="35661600" imgH="10972800" progId="Equation.DSMT4">
                  <p:embed/>
                  <p:pic>
                    <p:nvPicPr>
                      <p:cNvPr id="0" name="Object 18"/>
                      <p:cNvPicPr>
                        <a:picLocks noChangeAspect="1" noChangeArrowheads="1"/>
                      </p:cNvPicPr>
                      <p:nvPr/>
                    </p:nvPicPr>
                    <p:blipFill>
                      <a:blip r:embed="rId4"/>
                      <a:srcRect/>
                      <a:stretch>
                        <a:fillRect/>
                      </a:stretch>
                    </p:blipFill>
                    <p:spPr bwMode="auto">
                      <a:xfrm>
                        <a:off x="2947749" y="3063470"/>
                        <a:ext cx="2886461" cy="888142"/>
                      </a:xfrm>
                      <a:prstGeom prst="rect">
                        <a:avLst/>
                      </a:prstGeom>
                      <a:noFill/>
                      <a:ln>
                        <a:noFill/>
                      </a:ln>
                      <a:effectLst/>
                    </p:spPr>
                  </p:pic>
                </p:oleObj>
              </mc:Fallback>
            </mc:AlternateContent>
          </a:graphicData>
        </a:graphic>
      </p:graphicFrame>
      <p:graphicFrame>
        <p:nvGraphicFramePr>
          <p:cNvPr id="82963" name="Object 19"/>
          <p:cNvGraphicFramePr>
            <a:graphicFrameLocks noChangeAspect="1"/>
          </p:cNvGraphicFramePr>
          <p:nvPr/>
        </p:nvGraphicFramePr>
        <p:xfrm>
          <a:off x="5689747" y="1091099"/>
          <a:ext cx="3569317" cy="1537552"/>
        </p:xfrm>
        <a:graphic>
          <a:graphicData uri="http://schemas.openxmlformats.org/presentationml/2006/ole">
            <mc:AlternateContent xmlns:mc="http://schemas.openxmlformats.org/markup-compatibility/2006">
              <mc:Choice xmlns:v="urn:schemas-microsoft-com:vml" Requires="v">
                <p:oleObj spid="_x0000_s4" name="Equation" r:id="rId5" imgW="39624000" imgH="17068800" progId="Equation.DSMT4">
                  <p:embed/>
                </p:oleObj>
              </mc:Choice>
              <mc:Fallback>
                <p:oleObj name="Equation" r:id="rId5" imgW="39624000" imgH="17068800" progId="Equation.DSMT4">
                  <p:embed/>
                  <p:pic>
                    <p:nvPicPr>
                      <p:cNvPr id="0" name="Object 19"/>
                      <p:cNvPicPr>
                        <a:picLocks noChangeAspect="1" noChangeArrowheads="1"/>
                      </p:cNvPicPr>
                      <p:nvPr/>
                    </p:nvPicPr>
                    <p:blipFill>
                      <a:blip r:embed="rId6"/>
                      <a:srcRect/>
                      <a:stretch>
                        <a:fillRect/>
                      </a:stretch>
                    </p:blipFill>
                    <p:spPr bwMode="auto">
                      <a:xfrm>
                        <a:off x="5689747" y="1091099"/>
                        <a:ext cx="3569317" cy="1537552"/>
                      </a:xfrm>
                      <a:prstGeom prst="rect">
                        <a:avLst/>
                      </a:prstGeom>
                      <a:noFill/>
                      <a:ln>
                        <a:noFill/>
                      </a:ln>
                      <a:effectLst/>
                    </p:spPr>
                  </p:pic>
                </p:oleObj>
              </mc:Fallback>
            </mc:AlternateContent>
          </a:graphicData>
        </a:graphic>
      </p:graphicFrame>
      <p:graphicFrame>
        <p:nvGraphicFramePr>
          <p:cNvPr id="82964" name="Object 20"/>
          <p:cNvGraphicFramePr>
            <a:graphicFrameLocks noChangeAspect="1"/>
          </p:cNvGraphicFramePr>
          <p:nvPr/>
        </p:nvGraphicFramePr>
        <p:xfrm>
          <a:off x="5689748" y="2731890"/>
          <a:ext cx="3679143" cy="1262989"/>
        </p:xfrm>
        <a:graphic>
          <a:graphicData uri="http://schemas.openxmlformats.org/presentationml/2006/ole">
            <mc:AlternateContent xmlns:mc="http://schemas.openxmlformats.org/markup-compatibility/2006">
              <mc:Choice xmlns:v="urn:schemas-microsoft-com:vml" Requires="v">
                <p:oleObj spid="_x0000_s5" name="Equation" r:id="rId7" imgW="40843200" imgH="14020800" progId="Equation.DSMT4">
                  <p:embed/>
                </p:oleObj>
              </mc:Choice>
              <mc:Fallback>
                <p:oleObj name="Equation" r:id="rId7" imgW="40843200" imgH="14020800" progId="Equation.DSMT4">
                  <p:embed/>
                  <p:pic>
                    <p:nvPicPr>
                      <p:cNvPr id="0" name="Object 20"/>
                      <p:cNvPicPr>
                        <a:picLocks noChangeAspect="1" noChangeArrowheads="1"/>
                      </p:cNvPicPr>
                      <p:nvPr/>
                    </p:nvPicPr>
                    <p:blipFill>
                      <a:blip r:embed="rId8"/>
                      <a:srcRect/>
                      <a:stretch>
                        <a:fillRect/>
                      </a:stretch>
                    </p:blipFill>
                    <p:spPr bwMode="auto">
                      <a:xfrm>
                        <a:off x="5689748" y="2731890"/>
                        <a:ext cx="3679143" cy="1262989"/>
                      </a:xfrm>
                      <a:prstGeom prst="rect">
                        <a:avLst/>
                      </a:prstGeom>
                      <a:noFill/>
                      <a:ln>
                        <a:noFill/>
                      </a:ln>
                      <a:effectLst/>
                    </p:spPr>
                  </p:pic>
                </p:oleObj>
              </mc:Fallback>
            </mc:AlternateContent>
          </a:graphicData>
        </a:graphic>
      </p:graphicFrame>
      <p:graphicFrame>
        <p:nvGraphicFramePr>
          <p:cNvPr id="82965" name="Object 21"/>
          <p:cNvGraphicFramePr>
            <a:graphicFrameLocks noChangeAspect="1"/>
          </p:cNvGraphicFramePr>
          <p:nvPr/>
        </p:nvGraphicFramePr>
        <p:xfrm>
          <a:off x="3287688" y="4569527"/>
          <a:ext cx="1825625" cy="838200"/>
        </p:xfrm>
        <a:graphic>
          <a:graphicData uri="http://schemas.openxmlformats.org/presentationml/2006/ole">
            <mc:AlternateContent xmlns:mc="http://schemas.openxmlformats.org/markup-compatibility/2006">
              <mc:Choice xmlns:v="urn:schemas-microsoft-com:vml" Requires="v">
                <p:oleObj spid="_x0000_s6" name="Equation" r:id="rId9" imgW="22555200" imgH="10363200" progId="Equation.DSMT4">
                  <p:embed/>
                </p:oleObj>
              </mc:Choice>
              <mc:Fallback>
                <p:oleObj name="Equation" r:id="rId9" imgW="22555200" imgH="10363200" progId="Equation.DSMT4">
                  <p:embed/>
                  <p:pic>
                    <p:nvPicPr>
                      <p:cNvPr id="0" name="Object 21"/>
                      <p:cNvPicPr>
                        <a:picLocks noChangeAspect="1" noChangeArrowheads="1"/>
                      </p:cNvPicPr>
                      <p:nvPr/>
                    </p:nvPicPr>
                    <p:blipFill>
                      <a:blip r:embed="rId10"/>
                      <a:srcRect/>
                      <a:stretch>
                        <a:fillRect/>
                      </a:stretch>
                    </p:blipFill>
                    <p:spPr bwMode="auto">
                      <a:xfrm>
                        <a:off x="3287688" y="4569527"/>
                        <a:ext cx="1825625" cy="838200"/>
                      </a:xfrm>
                      <a:prstGeom prst="rect">
                        <a:avLst/>
                      </a:prstGeom>
                      <a:noFill/>
                      <a:ln>
                        <a:noFill/>
                      </a:ln>
                      <a:effectLst/>
                    </p:spPr>
                  </p:pic>
                </p:oleObj>
              </mc:Fallback>
            </mc:AlternateContent>
          </a:graphicData>
        </a:graphic>
      </p:graphicFrame>
      <p:graphicFrame>
        <p:nvGraphicFramePr>
          <p:cNvPr id="82966" name="Object 22"/>
          <p:cNvGraphicFramePr>
            <a:graphicFrameLocks noChangeAspect="1"/>
          </p:cNvGraphicFramePr>
          <p:nvPr/>
        </p:nvGraphicFramePr>
        <p:xfrm>
          <a:off x="5689747" y="4174389"/>
          <a:ext cx="3816424" cy="1537552"/>
        </p:xfrm>
        <a:graphic>
          <a:graphicData uri="http://schemas.openxmlformats.org/presentationml/2006/ole">
            <mc:AlternateContent xmlns:mc="http://schemas.openxmlformats.org/markup-compatibility/2006">
              <mc:Choice xmlns:v="urn:schemas-microsoft-com:vml" Requires="v">
                <p:oleObj spid="_x0000_s7" name="Equation" r:id="rId11" imgW="42367200" imgH="17068800" progId="Equation.DSMT4">
                  <p:embed/>
                </p:oleObj>
              </mc:Choice>
              <mc:Fallback>
                <p:oleObj name="Equation" r:id="rId11" imgW="42367200" imgH="17068800" progId="Equation.DSMT4">
                  <p:embed/>
                  <p:pic>
                    <p:nvPicPr>
                      <p:cNvPr id="0" name="Object 22"/>
                      <p:cNvPicPr>
                        <a:picLocks noChangeAspect="1" noChangeArrowheads="1"/>
                      </p:cNvPicPr>
                      <p:nvPr/>
                    </p:nvPicPr>
                    <p:blipFill>
                      <a:blip r:embed="rId12"/>
                      <a:srcRect/>
                      <a:stretch>
                        <a:fillRect/>
                      </a:stretch>
                    </p:blipFill>
                    <p:spPr bwMode="auto">
                      <a:xfrm>
                        <a:off x="5689747" y="4174389"/>
                        <a:ext cx="3816424" cy="1537552"/>
                      </a:xfrm>
                      <a:prstGeom prst="rect">
                        <a:avLst/>
                      </a:prstGeom>
                      <a:noFill/>
                      <a:ln>
                        <a:noFill/>
                      </a:ln>
                      <a:effectLst/>
                    </p:spPr>
                  </p:pic>
                </p:oleObj>
              </mc:Fallback>
            </mc:AlternateContent>
          </a:graphicData>
        </a:graphic>
      </p:graphicFrame>
      <p:graphicFrame>
        <p:nvGraphicFramePr>
          <p:cNvPr id="82967" name="Object 23"/>
          <p:cNvGraphicFramePr>
            <a:graphicFrameLocks noChangeAspect="1"/>
          </p:cNvGraphicFramePr>
          <p:nvPr/>
        </p:nvGraphicFramePr>
        <p:xfrm>
          <a:off x="2393284" y="1411546"/>
          <a:ext cx="515807" cy="4020325"/>
        </p:xfrm>
        <a:graphic>
          <a:graphicData uri="http://schemas.openxmlformats.org/presentationml/2006/ole">
            <mc:AlternateContent xmlns:mc="http://schemas.openxmlformats.org/markup-compatibility/2006">
              <mc:Choice xmlns:v="urn:schemas-microsoft-com:vml" Requires="v">
                <p:oleObj spid="_x0000_s8" name="Equation" r:id="rId13" imgW="4572000" imgH="38404800" progId="Equation.DSMT4">
                  <p:embed/>
                </p:oleObj>
              </mc:Choice>
              <mc:Fallback>
                <p:oleObj name="Equation" r:id="rId13" imgW="4572000" imgH="38404800" progId="Equation.DSMT4">
                  <p:embed/>
                  <p:pic>
                    <p:nvPicPr>
                      <p:cNvPr id="0" name="Object 23"/>
                      <p:cNvPicPr>
                        <a:picLocks noChangeAspect="1" noChangeArrowheads="1"/>
                      </p:cNvPicPr>
                      <p:nvPr/>
                    </p:nvPicPr>
                    <p:blipFill>
                      <a:blip r:embed="rId14"/>
                      <a:srcRect/>
                      <a:stretch>
                        <a:fillRect/>
                      </a:stretch>
                    </p:blipFill>
                    <p:spPr bwMode="auto">
                      <a:xfrm>
                        <a:off x="2393284" y="1411546"/>
                        <a:ext cx="515807" cy="4020325"/>
                      </a:xfrm>
                      <a:prstGeom prst="rect">
                        <a:avLst/>
                      </a:prstGeom>
                      <a:noFill/>
                      <a:ln>
                        <a:noFill/>
                      </a:ln>
                      <a:effectLst/>
                    </p:spPr>
                  </p:pic>
                </p:oleObj>
              </mc:Fallback>
            </mc:AlternateContent>
          </a:graphicData>
        </a:graphic>
      </p:graphicFrame>
      <p:cxnSp>
        <p:nvCxnSpPr>
          <p:cNvPr id="13"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5" name="组合 14"/>
          <p:cNvGrpSpPr/>
          <p:nvPr/>
        </p:nvGrpSpPr>
        <p:grpSpPr>
          <a:xfrm>
            <a:off x="851761" y="364781"/>
            <a:ext cx="263341" cy="395013"/>
            <a:chOff x="5284519" y="1508166"/>
            <a:chExt cx="213756" cy="427512"/>
          </a:xfrm>
        </p:grpSpPr>
        <p:cxnSp>
          <p:nvCxnSpPr>
            <p:cNvPr id="16" name="直接连接符 15"/>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7" name="直接连接符 16"/>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9" name="矩形 8"/>
          <p:cNvSpPr/>
          <p:nvPr/>
        </p:nvSpPr>
        <p:spPr>
          <a:xfrm>
            <a:off x="1590150" y="5806636"/>
            <a:ext cx="6134100" cy="521970"/>
          </a:xfrm>
          <a:prstGeom prst="rect">
            <a:avLst/>
          </a:prstGeom>
        </p:spPr>
        <p:txBody>
          <a:bodyPr wrap="none">
            <a:spAutoFit/>
          </a:bodyPr>
          <a:lstStyle/>
          <a:p>
            <a:pPr>
              <a:spcAft>
                <a:spcPts val="0"/>
              </a:spcAft>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注：</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随机变量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，是相互独立的</a:t>
            </a:r>
            <a:endParaRPr lang="zh-CN" altLang="en-US" sz="2800" dirty="0">
              <a:solidFill>
                <a:schemeClr val="tx1">
                  <a:lumMod val="85000"/>
                  <a:lumOff val="1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2960"/>
                                        </p:tgtEl>
                                        <p:attrNameLst>
                                          <p:attrName>style.visibility</p:attrName>
                                        </p:attrNameLst>
                                      </p:cBhvr>
                                      <p:to>
                                        <p:strVal val="visible"/>
                                      </p:to>
                                    </p:set>
                                    <p:animEffect transition="in" filter="wipe(down)">
                                      <p:cBhvr>
                                        <p:cTn id="7" dur="500"/>
                                        <p:tgtEl>
                                          <p:spTgt spid="8296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2967"/>
                                        </p:tgtEl>
                                        <p:attrNameLst>
                                          <p:attrName>style.visibility</p:attrName>
                                        </p:attrNameLst>
                                      </p:cBhvr>
                                      <p:to>
                                        <p:strVal val="visible"/>
                                      </p:to>
                                    </p:set>
                                    <p:anim calcmode="lin" valueType="num">
                                      <p:cBhvr additive="base">
                                        <p:cTn id="12" dur="500" fill="hold"/>
                                        <p:tgtEl>
                                          <p:spTgt spid="82967"/>
                                        </p:tgtEl>
                                        <p:attrNameLst>
                                          <p:attrName>ppt_x</p:attrName>
                                        </p:attrNameLst>
                                      </p:cBhvr>
                                      <p:tavLst>
                                        <p:tav tm="0">
                                          <p:val>
                                            <p:strVal val="#ppt_x"/>
                                          </p:val>
                                        </p:tav>
                                        <p:tav tm="100000">
                                          <p:val>
                                            <p:strVal val="#ppt_x"/>
                                          </p:val>
                                        </p:tav>
                                      </p:tavLst>
                                    </p:anim>
                                    <p:anim calcmode="lin" valueType="num">
                                      <p:cBhvr additive="base">
                                        <p:cTn id="13" dur="500" fill="hold"/>
                                        <p:tgtEl>
                                          <p:spTgt spid="8296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82961"/>
                                        </p:tgtEl>
                                        <p:attrNameLst>
                                          <p:attrName>style.visibility</p:attrName>
                                        </p:attrNameLst>
                                      </p:cBhvr>
                                      <p:to>
                                        <p:strVal val="visible"/>
                                      </p:to>
                                    </p:set>
                                    <p:animEffect transition="in" filter="wipe(left)">
                                      <p:cBhvr>
                                        <p:cTn id="18" dur="500"/>
                                        <p:tgtEl>
                                          <p:spTgt spid="8296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82963"/>
                                        </p:tgtEl>
                                        <p:attrNameLst>
                                          <p:attrName>style.visibility</p:attrName>
                                        </p:attrNameLst>
                                      </p:cBhvr>
                                      <p:to>
                                        <p:strVal val="visible"/>
                                      </p:to>
                                    </p:set>
                                    <p:animEffect transition="in" filter="wipe(left)">
                                      <p:cBhvr>
                                        <p:cTn id="23" dur="500"/>
                                        <p:tgtEl>
                                          <p:spTgt spid="8296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2962"/>
                                        </p:tgtEl>
                                        <p:attrNameLst>
                                          <p:attrName>style.visibility</p:attrName>
                                        </p:attrNameLst>
                                      </p:cBhvr>
                                      <p:to>
                                        <p:strVal val="visible"/>
                                      </p:to>
                                    </p:set>
                                    <p:animEffect transition="in" filter="wipe(left)">
                                      <p:cBhvr>
                                        <p:cTn id="28" dur="500"/>
                                        <p:tgtEl>
                                          <p:spTgt spid="8296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82964"/>
                                        </p:tgtEl>
                                        <p:attrNameLst>
                                          <p:attrName>style.visibility</p:attrName>
                                        </p:attrNameLst>
                                      </p:cBhvr>
                                      <p:to>
                                        <p:strVal val="visible"/>
                                      </p:to>
                                    </p:set>
                                    <p:animEffect transition="in" filter="wipe(left)">
                                      <p:cBhvr>
                                        <p:cTn id="33" dur="500"/>
                                        <p:tgtEl>
                                          <p:spTgt spid="8296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82965"/>
                                        </p:tgtEl>
                                        <p:attrNameLst>
                                          <p:attrName>style.visibility</p:attrName>
                                        </p:attrNameLst>
                                      </p:cBhvr>
                                      <p:to>
                                        <p:strVal val="visible"/>
                                      </p:to>
                                    </p:set>
                                    <p:animEffect transition="in" filter="wipe(down)">
                                      <p:cBhvr>
                                        <p:cTn id="38" dur="500"/>
                                        <p:tgtEl>
                                          <p:spTgt spid="8296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82966"/>
                                        </p:tgtEl>
                                        <p:attrNameLst>
                                          <p:attrName>style.visibility</p:attrName>
                                        </p:attrNameLst>
                                      </p:cBhvr>
                                      <p:to>
                                        <p:strVal val="visible"/>
                                      </p:to>
                                    </p:set>
                                    <p:animEffect transition="in" filter="wipe(left)">
                                      <p:cBhvr>
                                        <p:cTn id="43" dur="500"/>
                                        <p:tgtEl>
                                          <p:spTgt spid="82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60"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0"/>
            <a:ext cx="3949908" cy="6858000"/>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 name="组合 5"/>
          <p:cNvGrpSpPr/>
          <p:nvPr/>
        </p:nvGrpSpPr>
        <p:grpSpPr>
          <a:xfrm>
            <a:off x="0" y="5764053"/>
            <a:ext cx="3949910" cy="1043740"/>
            <a:chOff x="4782847" y="4094267"/>
            <a:chExt cx="4170084" cy="782805"/>
          </a:xfrm>
        </p:grpSpPr>
        <p:sp>
          <p:nvSpPr>
            <p:cNvPr id="7" name="矩形 6"/>
            <p:cNvSpPr/>
            <p:nvPr/>
          </p:nvSpPr>
          <p:spPr>
            <a:xfrm flipH="1">
              <a:off x="4972448" y="4396100"/>
              <a:ext cx="3980483" cy="36000"/>
            </a:xfrm>
            <a:prstGeom prst="rect">
              <a:avLst/>
            </a:prstGeom>
            <a:gradFill flip="none" rotWithShape="1">
              <a:gsLst>
                <a:gs pos="0">
                  <a:schemeClr val="bg1">
                    <a:lumMod val="95000"/>
                    <a:alpha val="0"/>
                  </a:schemeClr>
                </a:gs>
                <a:gs pos="48000">
                  <a:schemeClr val="bg1">
                    <a:lumMod val="95000"/>
                    <a:alpha val="55000"/>
                  </a:schemeClr>
                </a:gs>
                <a:gs pos="100000">
                  <a:schemeClr val="bg1">
                    <a:lumMod val="95000"/>
                    <a:alpha val="6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8" name="直接连接符 7"/>
            <p:cNvCxnSpPr/>
            <p:nvPr/>
          </p:nvCxnSpPr>
          <p:spPr>
            <a:xfrm>
              <a:off x="5622744" y="4472521"/>
              <a:ext cx="3151522" cy="0"/>
            </a:xfrm>
            <a:prstGeom prst="line">
              <a:avLst/>
            </a:prstGeom>
            <a:ln w="19050">
              <a:gradFill flip="none" rotWithShape="1">
                <a:gsLst>
                  <a:gs pos="0">
                    <a:schemeClr val="accent1">
                      <a:lumMod val="5000"/>
                      <a:lumOff val="95000"/>
                      <a:alpha val="16000"/>
                    </a:schemeClr>
                  </a:gs>
                  <a:gs pos="60000">
                    <a:schemeClr val="bg1">
                      <a:lumMod val="95000"/>
                      <a:alpha val="55000"/>
                    </a:schemeClr>
                  </a:gs>
                  <a:gs pos="100000">
                    <a:schemeClr val="bg1">
                      <a:lumMod val="95000"/>
                      <a:alpha val="13000"/>
                    </a:schemeClr>
                  </a:gs>
                </a:gsLst>
                <a:lin ang="0" scaled="1"/>
                <a:tileRect/>
              </a:gra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768612" y="4645497"/>
              <a:ext cx="819227" cy="0"/>
            </a:xfrm>
            <a:prstGeom prst="line">
              <a:avLst/>
            </a:prstGeom>
            <a:ln w="19050">
              <a:gradFill flip="none" rotWithShape="1">
                <a:gsLst>
                  <a:gs pos="0">
                    <a:schemeClr val="accent1">
                      <a:lumMod val="5000"/>
                      <a:lumOff val="95000"/>
                      <a:alpha val="0"/>
                    </a:schemeClr>
                  </a:gs>
                  <a:gs pos="55000">
                    <a:schemeClr val="bg1">
                      <a:lumMod val="95000"/>
                      <a:alpha val="79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723086" y="4559944"/>
              <a:ext cx="819227" cy="0"/>
            </a:xfrm>
            <a:prstGeom prst="line">
              <a:avLst/>
            </a:prstGeom>
            <a:ln w="19050">
              <a:gradFill flip="none" rotWithShape="1">
                <a:gsLst>
                  <a:gs pos="0">
                    <a:schemeClr val="accent1">
                      <a:lumMod val="5000"/>
                      <a:lumOff val="95000"/>
                      <a:alpha val="0"/>
                    </a:schemeClr>
                  </a:gs>
                  <a:gs pos="55000">
                    <a:schemeClr val="bg1">
                      <a:lumMod val="95000"/>
                      <a:alpha val="79000"/>
                    </a:schemeClr>
                  </a:gs>
                  <a:gs pos="100000">
                    <a:schemeClr val="bg1">
                      <a:lumMod val="95000"/>
                      <a:alpha val="18000"/>
                    </a:schemeClr>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
          <p:nvSpPr>
            <p:cNvPr id="11" name="任意多边形 10"/>
            <p:cNvSpPr/>
            <p:nvPr/>
          </p:nvSpPr>
          <p:spPr>
            <a:xfrm>
              <a:off x="7467298" y="4279163"/>
              <a:ext cx="260022" cy="422967"/>
            </a:xfrm>
            <a:custGeom>
              <a:avLst/>
              <a:gdLst>
                <a:gd name="connsiteX0" fmla="*/ 87369 w 260022"/>
                <a:gd name="connsiteY0" fmla="*/ 59184 h 422967"/>
                <a:gd name="connsiteX1" fmla="*/ 120540 w 260022"/>
                <a:gd name="connsiteY1" fmla="*/ 59184 h 422967"/>
                <a:gd name="connsiteX2" fmla="*/ 120540 w 260022"/>
                <a:gd name="connsiteY2" fmla="*/ 419184 h 422967"/>
                <a:gd name="connsiteX3" fmla="*/ 87369 w 260022"/>
                <a:gd name="connsiteY3" fmla="*/ 419184 h 422967"/>
                <a:gd name="connsiteX4" fmla="*/ 0 w 260022"/>
                <a:gd name="connsiteY4" fmla="*/ 59184 h 422967"/>
                <a:gd name="connsiteX5" fmla="*/ 33171 w 260022"/>
                <a:gd name="connsiteY5" fmla="*/ 59184 h 422967"/>
                <a:gd name="connsiteX6" fmla="*/ 33171 w 260022"/>
                <a:gd name="connsiteY6" fmla="*/ 419184 h 422967"/>
                <a:gd name="connsiteX7" fmla="*/ 0 w 260022"/>
                <a:gd name="connsiteY7" fmla="*/ 419184 h 422967"/>
                <a:gd name="connsiteX8" fmla="*/ 226851 w 260022"/>
                <a:gd name="connsiteY8" fmla="*/ 0 h 422967"/>
                <a:gd name="connsiteX9" fmla="*/ 260022 w 260022"/>
                <a:gd name="connsiteY9" fmla="*/ 0 h 422967"/>
                <a:gd name="connsiteX10" fmla="*/ 260022 w 260022"/>
                <a:gd name="connsiteY10" fmla="*/ 422967 h 422967"/>
                <a:gd name="connsiteX11" fmla="*/ 226851 w 260022"/>
                <a:gd name="connsiteY11" fmla="*/ 422967 h 422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0022" h="422967">
                  <a:moveTo>
                    <a:pt x="87369" y="59184"/>
                  </a:moveTo>
                  <a:lnTo>
                    <a:pt x="120540" y="59184"/>
                  </a:lnTo>
                  <a:lnTo>
                    <a:pt x="120540" y="419184"/>
                  </a:lnTo>
                  <a:lnTo>
                    <a:pt x="87369" y="419184"/>
                  </a:lnTo>
                  <a:close/>
                  <a:moveTo>
                    <a:pt x="0" y="59184"/>
                  </a:moveTo>
                  <a:lnTo>
                    <a:pt x="33171" y="59184"/>
                  </a:lnTo>
                  <a:lnTo>
                    <a:pt x="33171" y="419184"/>
                  </a:lnTo>
                  <a:lnTo>
                    <a:pt x="0" y="419184"/>
                  </a:lnTo>
                  <a:close/>
                  <a:moveTo>
                    <a:pt x="226851" y="0"/>
                  </a:moveTo>
                  <a:lnTo>
                    <a:pt x="260022" y="0"/>
                  </a:lnTo>
                  <a:lnTo>
                    <a:pt x="260022" y="422967"/>
                  </a:lnTo>
                  <a:lnTo>
                    <a:pt x="226851" y="422967"/>
                  </a:lnTo>
                  <a:close/>
                </a:path>
              </a:pathLst>
            </a:custGeom>
            <a:solidFill>
              <a:schemeClr val="bg1">
                <a:lumMod val="95000"/>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任意多边形 11"/>
            <p:cNvSpPr/>
            <p:nvPr/>
          </p:nvSpPr>
          <p:spPr>
            <a:xfrm>
              <a:off x="6862061" y="4110149"/>
              <a:ext cx="248780" cy="241514"/>
            </a:xfrm>
            <a:custGeom>
              <a:avLst/>
              <a:gdLst>
                <a:gd name="connsiteX0" fmla="*/ 15832 w 270000"/>
                <a:gd name="connsiteY0" fmla="*/ 216314 h 241514"/>
                <a:gd name="connsiteX1" fmla="*/ 238570 w 270000"/>
                <a:gd name="connsiteY1" fmla="*/ 216314 h 241514"/>
                <a:gd name="connsiteX2" fmla="*/ 238570 w 270000"/>
                <a:gd name="connsiteY2" fmla="*/ 241514 h 241514"/>
                <a:gd name="connsiteX3" fmla="*/ 15832 w 270000"/>
                <a:gd name="connsiteY3" fmla="*/ 241514 h 241514"/>
                <a:gd name="connsiteX4" fmla="*/ 0 w 270000"/>
                <a:gd name="connsiteY4" fmla="*/ 177270 h 241514"/>
                <a:gd name="connsiteX5" fmla="*/ 270000 w 270000"/>
                <a:gd name="connsiteY5" fmla="*/ 177270 h 241514"/>
                <a:gd name="connsiteX6" fmla="*/ 270000 w 270000"/>
                <a:gd name="connsiteY6" fmla="*/ 202470 h 241514"/>
                <a:gd name="connsiteX7" fmla="*/ 0 w 270000"/>
                <a:gd name="connsiteY7" fmla="*/ 202470 h 241514"/>
                <a:gd name="connsiteX8" fmla="*/ 0 w 270000"/>
                <a:gd name="connsiteY8" fmla="*/ 135151 h 241514"/>
                <a:gd name="connsiteX9" fmla="*/ 270000 w 270000"/>
                <a:gd name="connsiteY9" fmla="*/ 135151 h 241514"/>
                <a:gd name="connsiteX10" fmla="*/ 270000 w 270000"/>
                <a:gd name="connsiteY10" fmla="*/ 160351 h 241514"/>
                <a:gd name="connsiteX11" fmla="*/ 0 w 270000"/>
                <a:gd name="connsiteY11" fmla="*/ 160351 h 241514"/>
                <a:gd name="connsiteX12" fmla="*/ 0 w 270000"/>
                <a:gd name="connsiteY12" fmla="*/ 94740 h 241514"/>
                <a:gd name="connsiteX13" fmla="*/ 270000 w 270000"/>
                <a:gd name="connsiteY13" fmla="*/ 94740 h 241514"/>
                <a:gd name="connsiteX14" fmla="*/ 270000 w 270000"/>
                <a:gd name="connsiteY14" fmla="*/ 119940 h 241514"/>
                <a:gd name="connsiteX15" fmla="*/ 0 w 270000"/>
                <a:gd name="connsiteY15" fmla="*/ 119940 h 241514"/>
                <a:gd name="connsiteX16" fmla="*/ 0 w 270000"/>
                <a:gd name="connsiteY16" fmla="*/ 50253 h 241514"/>
                <a:gd name="connsiteX17" fmla="*/ 270000 w 270000"/>
                <a:gd name="connsiteY17" fmla="*/ 50253 h 241514"/>
                <a:gd name="connsiteX18" fmla="*/ 270000 w 270000"/>
                <a:gd name="connsiteY18" fmla="*/ 75453 h 241514"/>
                <a:gd name="connsiteX19" fmla="*/ 0 w 270000"/>
                <a:gd name="connsiteY19" fmla="*/ 75453 h 241514"/>
                <a:gd name="connsiteX20" fmla="*/ 15832 w 270000"/>
                <a:gd name="connsiteY20" fmla="*/ 0 h 241514"/>
                <a:gd name="connsiteX21" fmla="*/ 238570 w 270000"/>
                <a:gd name="connsiteY21" fmla="*/ 0 h 241514"/>
                <a:gd name="connsiteX22" fmla="*/ 238570 w 270000"/>
                <a:gd name="connsiteY22" fmla="*/ 25200 h 241514"/>
                <a:gd name="connsiteX23" fmla="*/ 15832 w 270000"/>
                <a:gd name="connsiteY23" fmla="*/ 25200 h 24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0000" h="241514">
                  <a:moveTo>
                    <a:pt x="15832" y="216314"/>
                  </a:moveTo>
                  <a:lnTo>
                    <a:pt x="238570" y="216314"/>
                  </a:lnTo>
                  <a:lnTo>
                    <a:pt x="238570" y="241514"/>
                  </a:lnTo>
                  <a:lnTo>
                    <a:pt x="15832" y="241514"/>
                  </a:lnTo>
                  <a:close/>
                  <a:moveTo>
                    <a:pt x="0" y="177270"/>
                  </a:moveTo>
                  <a:lnTo>
                    <a:pt x="270000" y="177270"/>
                  </a:lnTo>
                  <a:lnTo>
                    <a:pt x="270000" y="202470"/>
                  </a:lnTo>
                  <a:lnTo>
                    <a:pt x="0" y="202470"/>
                  </a:lnTo>
                  <a:close/>
                  <a:moveTo>
                    <a:pt x="0" y="135151"/>
                  </a:moveTo>
                  <a:lnTo>
                    <a:pt x="270000" y="135151"/>
                  </a:lnTo>
                  <a:lnTo>
                    <a:pt x="270000" y="160351"/>
                  </a:lnTo>
                  <a:lnTo>
                    <a:pt x="0" y="160351"/>
                  </a:lnTo>
                  <a:close/>
                  <a:moveTo>
                    <a:pt x="0" y="94740"/>
                  </a:moveTo>
                  <a:lnTo>
                    <a:pt x="270000" y="94740"/>
                  </a:lnTo>
                  <a:lnTo>
                    <a:pt x="270000" y="119940"/>
                  </a:lnTo>
                  <a:lnTo>
                    <a:pt x="0" y="119940"/>
                  </a:lnTo>
                  <a:close/>
                  <a:moveTo>
                    <a:pt x="0" y="50253"/>
                  </a:moveTo>
                  <a:lnTo>
                    <a:pt x="270000" y="50253"/>
                  </a:lnTo>
                  <a:lnTo>
                    <a:pt x="270000" y="75453"/>
                  </a:lnTo>
                  <a:lnTo>
                    <a:pt x="0" y="75453"/>
                  </a:lnTo>
                  <a:close/>
                  <a:moveTo>
                    <a:pt x="15832" y="0"/>
                  </a:moveTo>
                  <a:lnTo>
                    <a:pt x="238570" y="0"/>
                  </a:lnTo>
                  <a:lnTo>
                    <a:pt x="238570" y="25200"/>
                  </a:lnTo>
                  <a:lnTo>
                    <a:pt x="15832" y="25200"/>
                  </a:lnTo>
                  <a:close/>
                </a:path>
              </a:pathLst>
            </a:custGeom>
            <a:gradFill flip="none" rotWithShape="1">
              <a:gsLst>
                <a:gs pos="0">
                  <a:schemeClr val="accent3">
                    <a:lumMod val="5000"/>
                    <a:lumOff val="95000"/>
                    <a:alpha val="25000"/>
                  </a:schemeClr>
                </a:gs>
                <a:gs pos="45000">
                  <a:schemeClr val="bg1">
                    <a:lumMod val="95000"/>
                    <a:alpha val="50000"/>
                  </a:schemeClr>
                </a:gs>
                <a:gs pos="73000">
                  <a:schemeClr val="bg1">
                    <a:lumMod val="95000"/>
                    <a:alpha val="48000"/>
                  </a:schemeClr>
                </a:gs>
                <a:gs pos="100000">
                  <a:schemeClr val="accent3">
                    <a:lumMod val="30000"/>
                    <a:lumOff val="70000"/>
                    <a:alpha val="48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3" name="直接连接符 12"/>
            <p:cNvCxnSpPr/>
            <p:nvPr/>
          </p:nvCxnSpPr>
          <p:spPr>
            <a:xfrm>
              <a:off x="7847564" y="4665047"/>
              <a:ext cx="551121" cy="0"/>
            </a:xfrm>
            <a:prstGeom prst="line">
              <a:avLst/>
            </a:prstGeom>
            <a:ln w="19050">
              <a:gradFill flip="none" rotWithShape="1">
                <a:gsLst>
                  <a:gs pos="0">
                    <a:schemeClr val="accent1">
                      <a:lumMod val="5000"/>
                      <a:lumOff val="95000"/>
                      <a:alpha val="0"/>
                    </a:schemeClr>
                  </a:gs>
                  <a:gs pos="55000">
                    <a:schemeClr val="bg1">
                      <a:lumMod val="95000"/>
                      <a:alpha val="52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8052185" y="4523125"/>
              <a:ext cx="819227" cy="0"/>
            </a:xfrm>
            <a:prstGeom prst="line">
              <a:avLst/>
            </a:prstGeom>
            <a:ln w="19050">
              <a:gradFill flip="none" rotWithShape="1">
                <a:gsLst>
                  <a:gs pos="0">
                    <a:schemeClr val="accent1">
                      <a:lumMod val="5000"/>
                      <a:lumOff val="95000"/>
                      <a:alpha val="0"/>
                    </a:schemeClr>
                  </a:gs>
                  <a:gs pos="55000">
                    <a:schemeClr val="bg1">
                      <a:lumMod val="95000"/>
                      <a:alpha val="55000"/>
                    </a:schemeClr>
                  </a:gs>
                  <a:gs pos="100000">
                    <a:schemeClr val="bg1">
                      <a:lumMod val="95000"/>
                      <a:alpha val="18000"/>
                    </a:schemeClr>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
          <p:nvSpPr>
            <p:cNvPr id="15" name="任意多边形 14"/>
            <p:cNvSpPr/>
            <p:nvPr/>
          </p:nvSpPr>
          <p:spPr>
            <a:xfrm>
              <a:off x="7366021" y="4804172"/>
              <a:ext cx="139317" cy="72900"/>
            </a:xfrm>
            <a:custGeom>
              <a:avLst/>
              <a:gdLst>
                <a:gd name="connsiteX0" fmla="*/ 7034 w 151200"/>
                <a:gd name="connsiteY0" fmla="*/ 47700 h 72900"/>
                <a:gd name="connsiteX1" fmla="*/ 143834 w 151200"/>
                <a:gd name="connsiteY1" fmla="*/ 47700 h 72900"/>
                <a:gd name="connsiteX2" fmla="*/ 143834 w 151200"/>
                <a:gd name="connsiteY2" fmla="*/ 72900 h 72900"/>
                <a:gd name="connsiteX3" fmla="*/ 7034 w 151200"/>
                <a:gd name="connsiteY3" fmla="*/ 72900 h 72900"/>
                <a:gd name="connsiteX4" fmla="*/ 0 w 151200"/>
                <a:gd name="connsiteY4" fmla="*/ 0 h 72900"/>
                <a:gd name="connsiteX5" fmla="*/ 151200 w 151200"/>
                <a:gd name="connsiteY5" fmla="*/ 0 h 72900"/>
                <a:gd name="connsiteX6" fmla="*/ 151200 w 151200"/>
                <a:gd name="connsiteY6" fmla="*/ 25200 h 72900"/>
                <a:gd name="connsiteX7" fmla="*/ 0 w 151200"/>
                <a:gd name="connsiteY7" fmla="*/ 25200 h 7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200" h="72900">
                  <a:moveTo>
                    <a:pt x="7034" y="47700"/>
                  </a:moveTo>
                  <a:lnTo>
                    <a:pt x="143834" y="47700"/>
                  </a:lnTo>
                  <a:lnTo>
                    <a:pt x="143834" y="72900"/>
                  </a:lnTo>
                  <a:lnTo>
                    <a:pt x="7034" y="72900"/>
                  </a:lnTo>
                  <a:close/>
                  <a:moveTo>
                    <a:pt x="0" y="0"/>
                  </a:moveTo>
                  <a:lnTo>
                    <a:pt x="151200" y="0"/>
                  </a:lnTo>
                  <a:lnTo>
                    <a:pt x="151200" y="25200"/>
                  </a:lnTo>
                  <a:lnTo>
                    <a:pt x="0" y="25200"/>
                  </a:lnTo>
                  <a:close/>
                </a:path>
              </a:pathLst>
            </a:custGeom>
            <a:gradFill>
              <a:gsLst>
                <a:gs pos="0">
                  <a:schemeClr val="accent1">
                    <a:lumMod val="5000"/>
                    <a:lumOff val="95000"/>
                    <a:alpha val="21000"/>
                  </a:schemeClr>
                </a:gs>
                <a:gs pos="55000">
                  <a:schemeClr val="bg1">
                    <a:lumMod val="95000"/>
                    <a:alpha val="52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矩形 15"/>
            <p:cNvSpPr/>
            <p:nvPr/>
          </p:nvSpPr>
          <p:spPr>
            <a:xfrm>
              <a:off x="6303499" y="4176900"/>
              <a:ext cx="139317" cy="25200"/>
            </a:xfrm>
            <a:prstGeom prst="rect">
              <a:avLst/>
            </a:prstGeom>
            <a:gradFill>
              <a:gsLst>
                <a:gs pos="0">
                  <a:schemeClr val="accent1">
                    <a:lumMod val="5000"/>
                    <a:lumOff val="95000"/>
                    <a:alpha val="12000"/>
                  </a:schemeClr>
                </a:gs>
                <a:gs pos="47000">
                  <a:schemeClr val="bg1">
                    <a:lumMod val="95000"/>
                    <a:alpha val="79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7" name="直接连接符 16"/>
            <p:cNvCxnSpPr/>
            <p:nvPr/>
          </p:nvCxnSpPr>
          <p:spPr>
            <a:xfrm>
              <a:off x="7903128" y="4323221"/>
              <a:ext cx="275560" cy="0"/>
            </a:xfrm>
            <a:prstGeom prst="line">
              <a:avLst/>
            </a:prstGeom>
            <a:ln w="19050">
              <a:gradFill flip="none" rotWithShape="1">
                <a:gsLst>
                  <a:gs pos="0">
                    <a:schemeClr val="accent1">
                      <a:lumMod val="5000"/>
                      <a:lumOff val="95000"/>
                      <a:alpha val="0"/>
                    </a:schemeClr>
                  </a:gs>
                  <a:gs pos="55000">
                    <a:schemeClr val="bg1">
                      <a:lumMod val="95000"/>
                      <a:alpha val="55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sp>
          <p:nvSpPr>
            <p:cNvPr id="18" name="任意多边形 17"/>
            <p:cNvSpPr/>
            <p:nvPr/>
          </p:nvSpPr>
          <p:spPr>
            <a:xfrm>
              <a:off x="8707918" y="4304986"/>
              <a:ext cx="72976" cy="72900"/>
            </a:xfrm>
            <a:custGeom>
              <a:avLst/>
              <a:gdLst>
                <a:gd name="connsiteX0" fmla="*/ 7034 w 151200"/>
                <a:gd name="connsiteY0" fmla="*/ 47700 h 72900"/>
                <a:gd name="connsiteX1" fmla="*/ 143834 w 151200"/>
                <a:gd name="connsiteY1" fmla="*/ 47700 h 72900"/>
                <a:gd name="connsiteX2" fmla="*/ 143834 w 151200"/>
                <a:gd name="connsiteY2" fmla="*/ 72900 h 72900"/>
                <a:gd name="connsiteX3" fmla="*/ 7034 w 151200"/>
                <a:gd name="connsiteY3" fmla="*/ 72900 h 72900"/>
                <a:gd name="connsiteX4" fmla="*/ 0 w 151200"/>
                <a:gd name="connsiteY4" fmla="*/ 0 h 72900"/>
                <a:gd name="connsiteX5" fmla="*/ 151200 w 151200"/>
                <a:gd name="connsiteY5" fmla="*/ 0 h 72900"/>
                <a:gd name="connsiteX6" fmla="*/ 151200 w 151200"/>
                <a:gd name="connsiteY6" fmla="*/ 25200 h 72900"/>
                <a:gd name="connsiteX7" fmla="*/ 0 w 151200"/>
                <a:gd name="connsiteY7" fmla="*/ 25200 h 7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200" h="72900">
                  <a:moveTo>
                    <a:pt x="7034" y="47700"/>
                  </a:moveTo>
                  <a:lnTo>
                    <a:pt x="143834" y="47700"/>
                  </a:lnTo>
                  <a:lnTo>
                    <a:pt x="143834" y="72900"/>
                  </a:lnTo>
                  <a:lnTo>
                    <a:pt x="7034" y="72900"/>
                  </a:lnTo>
                  <a:close/>
                  <a:moveTo>
                    <a:pt x="0" y="0"/>
                  </a:moveTo>
                  <a:lnTo>
                    <a:pt x="151200" y="0"/>
                  </a:lnTo>
                  <a:lnTo>
                    <a:pt x="151200" y="25200"/>
                  </a:lnTo>
                  <a:lnTo>
                    <a:pt x="0" y="25200"/>
                  </a:lnTo>
                  <a:close/>
                </a:path>
              </a:pathLst>
            </a:custGeom>
            <a:gradFill>
              <a:gsLst>
                <a:gs pos="0">
                  <a:schemeClr val="accent1">
                    <a:lumMod val="5000"/>
                    <a:lumOff val="95000"/>
                    <a:alpha val="24000"/>
                  </a:schemeClr>
                </a:gs>
                <a:gs pos="55000">
                  <a:schemeClr val="bg1">
                    <a:lumMod val="95000"/>
                    <a:alpha val="55000"/>
                  </a:schemeClr>
                </a:gs>
                <a:gs pos="100000">
                  <a:schemeClr val="bg1">
                    <a:lumMod val="95000"/>
                    <a:alpha val="24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9" name="直接连接符 18"/>
            <p:cNvCxnSpPr/>
            <p:nvPr/>
          </p:nvCxnSpPr>
          <p:spPr>
            <a:xfrm>
              <a:off x="7985344" y="4609497"/>
              <a:ext cx="866267" cy="0"/>
            </a:xfrm>
            <a:prstGeom prst="line">
              <a:avLst/>
            </a:prstGeom>
            <a:ln w="19050">
              <a:gradFill flip="none" rotWithShape="1">
                <a:gsLst>
                  <a:gs pos="0">
                    <a:schemeClr val="accent1">
                      <a:lumMod val="5000"/>
                      <a:lumOff val="95000"/>
                      <a:alpha val="12000"/>
                    </a:schemeClr>
                  </a:gs>
                  <a:gs pos="66000">
                    <a:srgbClr val="F2F2F2">
                      <a:alpha val="0"/>
                    </a:srgbClr>
                  </a:gs>
                  <a:gs pos="28000">
                    <a:schemeClr val="bg1">
                      <a:lumMod val="95000"/>
                      <a:alpha val="55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4782847" y="4262142"/>
              <a:ext cx="139317" cy="25200"/>
            </a:xfrm>
            <a:prstGeom prst="rect">
              <a:avLst/>
            </a:prstGeom>
            <a:gradFill>
              <a:gsLst>
                <a:gs pos="0">
                  <a:schemeClr val="accent1">
                    <a:lumMod val="5000"/>
                    <a:lumOff val="95000"/>
                    <a:alpha val="12000"/>
                  </a:schemeClr>
                </a:gs>
                <a:gs pos="47000">
                  <a:schemeClr val="bg1">
                    <a:lumMod val="95000"/>
                    <a:alpha val="49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矩形 20"/>
            <p:cNvSpPr/>
            <p:nvPr/>
          </p:nvSpPr>
          <p:spPr>
            <a:xfrm>
              <a:off x="5913529" y="4094267"/>
              <a:ext cx="139317" cy="25200"/>
            </a:xfrm>
            <a:prstGeom prst="rect">
              <a:avLst/>
            </a:prstGeom>
            <a:gradFill>
              <a:gsLst>
                <a:gs pos="0">
                  <a:schemeClr val="accent1">
                    <a:lumMod val="5000"/>
                    <a:lumOff val="95000"/>
                    <a:alpha val="12000"/>
                  </a:schemeClr>
                </a:gs>
                <a:gs pos="47000">
                  <a:schemeClr val="bg1">
                    <a:lumMod val="95000"/>
                    <a:alpha val="40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矩形 21"/>
            <p:cNvSpPr/>
            <p:nvPr/>
          </p:nvSpPr>
          <p:spPr>
            <a:xfrm>
              <a:off x="6909857" y="4707644"/>
              <a:ext cx="139317" cy="25200"/>
            </a:xfrm>
            <a:prstGeom prst="rect">
              <a:avLst/>
            </a:prstGeom>
            <a:gradFill>
              <a:gsLst>
                <a:gs pos="0">
                  <a:schemeClr val="accent1">
                    <a:lumMod val="5000"/>
                    <a:lumOff val="95000"/>
                    <a:alpha val="12000"/>
                  </a:schemeClr>
                </a:gs>
                <a:gs pos="47000">
                  <a:schemeClr val="bg1">
                    <a:lumMod val="95000"/>
                    <a:alpha val="79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任意多边形 22"/>
            <p:cNvSpPr/>
            <p:nvPr/>
          </p:nvSpPr>
          <p:spPr>
            <a:xfrm>
              <a:off x="5113517" y="4164613"/>
              <a:ext cx="258731" cy="195058"/>
            </a:xfrm>
            <a:custGeom>
              <a:avLst/>
              <a:gdLst>
                <a:gd name="connsiteX0" fmla="*/ 19495 w 280800"/>
                <a:gd name="connsiteY0" fmla="*/ 169858 h 195058"/>
                <a:gd name="connsiteX1" fmla="*/ 242233 w 280800"/>
                <a:gd name="connsiteY1" fmla="*/ 169858 h 195058"/>
                <a:gd name="connsiteX2" fmla="*/ 242233 w 280800"/>
                <a:gd name="connsiteY2" fmla="*/ 195058 h 195058"/>
                <a:gd name="connsiteX3" fmla="*/ 19495 w 280800"/>
                <a:gd name="connsiteY3" fmla="*/ 195058 h 195058"/>
                <a:gd name="connsiteX4" fmla="*/ 11590 w 280800"/>
                <a:gd name="connsiteY4" fmla="*/ 129551 h 195058"/>
                <a:gd name="connsiteX5" fmla="*/ 263590 w 280800"/>
                <a:gd name="connsiteY5" fmla="*/ 129551 h 195058"/>
                <a:gd name="connsiteX6" fmla="*/ 263590 w 280800"/>
                <a:gd name="connsiteY6" fmla="*/ 154751 h 195058"/>
                <a:gd name="connsiteX7" fmla="*/ 11590 w 280800"/>
                <a:gd name="connsiteY7" fmla="*/ 154751 h 195058"/>
                <a:gd name="connsiteX8" fmla="*/ 912 w 280800"/>
                <a:gd name="connsiteY8" fmla="*/ 91334 h 195058"/>
                <a:gd name="connsiteX9" fmla="*/ 274512 w 280800"/>
                <a:gd name="connsiteY9" fmla="*/ 91334 h 195058"/>
                <a:gd name="connsiteX10" fmla="*/ 274512 w 280800"/>
                <a:gd name="connsiteY10" fmla="*/ 116534 h 195058"/>
                <a:gd name="connsiteX11" fmla="*/ 912 w 280800"/>
                <a:gd name="connsiteY11" fmla="*/ 116534 h 195058"/>
                <a:gd name="connsiteX12" fmla="*/ 0 w 280800"/>
                <a:gd name="connsiteY12" fmla="*/ 48059 h 195058"/>
                <a:gd name="connsiteX13" fmla="*/ 280800 w 280800"/>
                <a:gd name="connsiteY13" fmla="*/ 48059 h 195058"/>
                <a:gd name="connsiteX14" fmla="*/ 280800 w 280800"/>
                <a:gd name="connsiteY14" fmla="*/ 73259 h 195058"/>
                <a:gd name="connsiteX15" fmla="*/ 0 w 280800"/>
                <a:gd name="connsiteY15" fmla="*/ 73259 h 195058"/>
                <a:gd name="connsiteX16" fmla="*/ 19495 w 280800"/>
                <a:gd name="connsiteY16" fmla="*/ 0 h 195058"/>
                <a:gd name="connsiteX17" fmla="*/ 242233 w 280800"/>
                <a:gd name="connsiteY17" fmla="*/ 0 h 195058"/>
                <a:gd name="connsiteX18" fmla="*/ 242233 w 280800"/>
                <a:gd name="connsiteY18" fmla="*/ 25200 h 195058"/>
                <a:gd name="connsiteX19" fmla="*/ 19495 w 280800"/>
                <a:gd name="connsiteY19" fmla="*/ 25200 h 19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0800" h="195058">
                  <a:moveTo>
                    <a:pt x="19495" y="169858"/>
                  </a:moveTo>
                  <a:lnTo>
                    <a:pt x="242233" y="169858"/>
                  </a:lnTo>
                  <a:lnTo>
                    <a:pt x="242233" y="195058"/>
                  </a:lnTo>
                  <a:lnTo>
                    <a:pt x="19495" y="195058"/>
                  </a:lnTo>
                  <a:close/>
                  <a:moveTo>
                    <a:pt x="11590" y="129551"/>
                  </a:moveTo>
                  <a:lnTo>
                    <a:pt x="263590" y="129551"/>
                  </a:lnTo>
                  <a:lnTo>
                    <a:pt x="263590" y="154751"/>
                  </a:lnTo>
                  <a:lnTo>
                    <a:pt x="11590" y="154751"/>
                  </a:lnTo>
                  <a:close/>
                  <a:moveTo>
                    <a:pt x="912" y="91334"/>
                  </a:moveTo>
                  <a:lnTo>
                    <a:pt x="274512" y="91334"/>
                  </a:lnTo>
                  <a:lnTo>
                    <a:pt x="274512" y="116534"/>
                  </a:lnTo>
                  <a:lnTo>
                    <a:pt x="912" y="116534"/>
                  </a:lnTo>
                  <a:close/>
                  <a:moveTo>
                    <a:pt x="0" y="48059"/>
                  </a:moveTo>
                  <a:lnTo>
                    <a:pt x="280800" y="48059"/>
                  </a:lnTo>
                  <a:lnTo>
                    <a:pt x="280800" y="73259"/>
                  </a:lnTo>
                  <a:lnTo>
                    <a:pt x="0" y="73259"/>
                  </a:lnTo>
                  <a:close/>
                  <a:moveTo>
                    <a:pt x="19495" y="0"/>
                  </a:moveTo>
                  <a:lnTo>
                    <a:pt x="242233" y="0"/>
                  </a:lnTo>
                  <a:lnTo>
                    <a:pt x="242233" y="25200"/>
                  </a:lnTo>
                  <a:lnTo>
                    <a:pt x="19495" y="25200"/>
                  </a:lnTo>
                  <a:close/>
                </a:path>
              </a:pathLst>
            </a:custGeom>
            <a:gradFill flip="none" rotWithShape="1">
              <a:gsLst>
                <a:gs pos="0">
                  <a:schemeClr val="accent3">
                    <a:lumMod val="5000"/>
                    <a:lumOff val="95000"/>
                    <a:alpha val="25000"/>
                  </a:schemeClr>
                </a:gs>
                <a:gs pos="45000">
                  <a:schemeClr val="bg1">
                    <a:lumMod val="95000"/>
                    <a:alpha val="60000"/>
                  </a:schemeClr>
                </a:gs>
                <a:gs pos="73000">
                  <a:schemeClr val="bg1">
                    <a:lumMod val="95000"/>
                    <a:alpha val="70000"/>
                  </a:schemeClr>
                </a:gs>
                <a:gs pos="100000">
                  <a:schemeClr val="accent3">
                    <a:lumMod val="30000"/>
                    <a:lumOff val="70000"/>
                    <a:alpha val="48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4" name="组合 23"/>
          <p:cNvGrpSpPr/>
          <p:nvPr/>
        </p:nvGrpSpPr>
        <p:grpSpPr>
          <a:xfrm>
            <a:off x="319548" y="5249589"/>
            <a:ext cx="1104000" cy="1689600"/>
            <a:chOff x="5152583" y="3833274"/>
            <a:chExt cx="828000" cy="1267200"/>
          </a:xfrm>
        </p:grpSpPr>
        <p:sp>
          <p:nvSpPr>
            <p:cNvPr id="25" name="椭圆 24"/>
            <p:cNvSpPr/>
            <p:nvPr/>
          </p:nvSpPr>
          <p:spPr>
            <a:xfrm>
              <a:off x="5175983" y="4076274"/>
              <a:ext cx="781200" cy="781200"/>
            </a:xfrm>
            <a:prstGeom prst="ellipse">
              <a:avLst/>
            </a:prstGeom>
            <a:no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空心弧 25"/>
            <p:cNvSpPr/>
            <p:nvPr/>
          </p:nvSpPr>
          <p:spPr>
            <a:xfrm>
              <a:off x="5152583" y="4052874"/>
              <a:ext cx="828000" cy="828000"/>
            </a:xfrm>
            <a:prstGeom prst="blockArc">
              <a:avLst>
                <a:gd name="adj1" fmla="val 20421311"/>
                <a:gd name="adj2" fmla="val 4186973"/>
                <a:gd name="adj3" fmla="val 5992"/>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black"/>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 name="空心弧 26"/>
            <p:cNvSpPr/>
            <p:nvPr/>
          </p:nvSpPr>
          <p:spPr>
            <a:xfrm>
              <a:off x="5262793" y="4163084"/>
              <a:ext cx="607581" cy="607581"/>
            </a:xfrm>
            <a:prstGeom prst="blockArc">
              <a:avLst>
                <a:gd name="adj1" fmla="val 3457982"/>
                <a:gd name="adj2" fmla="val 696183"/>
                <a:gd name="adj3" fmla="val 13291"/>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black"/>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p:cNvSpPr/>
            <p:nvPr/>
          </p:nvSpPr>
          <p:spPr>
            <a:xfrm rot="2700000" flipV="1">
              <a:off x="4932983" y="4452474"/>
              <a:ext cx="1267200" cy="28800"/>
            </a:xfrm>
            <a:prstGeom prst="rect">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18" name="组合 217"/>
          <p:cNvGrpSpPr/>
          <p:nvPr/>
        </p:nvGrpSpPr>
        <p:grpSpPr>
          <a:xfrm>
            <a:off x="6110990" y="2039631"/>
            <a:ext cx="684290" cy="654310"/>
            <a:chOff x="6130971" y="1234452"/>
            <a:chExt cx="684290" cy="654310"/>
          </a:xfrm>
        </p:grpSpPr>
        <p:sp>
          <p:nvSpPr>
            <p:cNvPr id="219" name="圆角矩形 218"/>
            <p:cNvSpPr/>
            <p:nvPr/>
          </p:nvSpPr>
          <p:spPr>
            <a:xfrm>
              <a:off x="6175941" y="1249442"/>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文本框 219"/>
            <p:cNvSpPr txBox="1"/>
            <p:nvPr/>
          </p:nvSpPr>
          <p:spPr>
            <a:xfrm>
              <a:off x="6130971" y="1234452"/>
              <a:ext cx="614680" cy="645160"/>
            </a:xfrm>
            <a:prstGeom prst="rect">
              <a:avLst/>
            </a:prstGeom>
            <a:noFill/>
            <a:effectLst/>
          </p:spPr>
          <p:txBody>
            <a:bodyPr wrap="none" rtlCol="0">
              <a:spAutoFit/>
            </a:bodyPr>
            <a:lstStyle/>
            <a:p>
              <a:pPr>
                <a:spcAft>
                  <a:spcPts val="0"/>
                </a:spcAft>
              </a:pPr>
              <a:r>
                <a:rPr lang="en-US" altLang="zh-CN" sz="32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36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a:t>
              </a:r>
              <a:endPar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21" name="组合 220"/>
          <p:cNvGrpSpPr/>
          <p:nvPr/>
        </p:nvGrpSpPr>
        <p:grpSpPr>
          <a:xfrm>
            <a:off x="6110990" y="3101845"/>
            <a:ext cx="699280" cy="654310"/>
            <a:chOff x="6115981" y="2180826"/>
            <a:chExt cx="699280" cy="654310"/>
          </a:xfrm>
        </p:grpSpPr>
        <p:sp>
          <p:nvSpPr>
            <p:cNvPr id="222" name="圆角矩形 221"/>
            <p:cNvSpPr/>
            <p:nvPr/>
          </p:nvSpPr>
          <p:spPr>
            <a:xfrm>
              <a:off x="6175941" y="2195816"/>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文本框 222"/>
            <p:cNvSpPr txBox="1"/>
            <p:nvPr/>
          </p:nvSpPr>
          <p:spPr>
            <a:xfrm>
              <a:off x="6115981" y="2180826"/>
              <a:ext cx="614680" cy="645160"/>
            </a:xfrm>
            <a:prstGeom prst="rect">
              <a:avLst/>
            </a:prstGeom>
            <a:noFill/>
            <a:effectLst/>
          </p:spPr>
          <p:txBody>
            <a:bodyPr wrap="none" rtlCol="0">
              <a:spAutoFit/>
            </a:bodyPr>
            <a:lstStyle/>
            <a:p>
              <a:pPr>
                <a:spcAft>
                  <a:spcPts val="0"/>
                </a:spcAft>
              </a:pPr>
              <a:r>
                <a:rPr lang="en-US" altLang="zh-CN" sz="32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36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24" name="组合 223"/>
          <p:cNvGrpSpPr/>
          <p:nvPr/>
        </p:nvGrpSpPr>
        <p:grpSpPr>
          <a:xfrm>
            <a:off x="6096000" y="4142327"/>
            <a:ext cx="699280" cy="654310"/>
            <a:chOff x="6115981" y="3147492"/>
            <a:chExt cx="699280" cy="654310"/>
          </a:xfrm>
        </p:grpSpPr>
        <p:sp>
          <p:nvSpPr>
            <p:cNvPr id="225" name="圆角矩形 224"/>
            <p:cNvSpPr/>
            <p:nvPr/>
          </p:nvSpPr>
          <p:spPr>
            <a:xfrm>
              <a:off x="6175941" y="3162482"/>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文本框 225"/>
            <p:cNvSpPr txBox="1"/>
            <p:nvPr/>
          </p:nvSpPr>
          <p:spPr>
            <a:xfrm>
              <a:off x="6115981" y="3147492"/>
              <a:ext cx="614680" cy="645160"/>
            </a:xfrm>
            <a:prstGeom prst="rect">
              <a:avLst/>
            </a:prstGeom>
            <a:noFill/>
            <a:effectLst/>
          </p:spPr>
          <p:txBody>
            <a:bodyPr wrap="none" rtlCol="0">
              <a:spAutoFit/>
            </a:bodyPr>
            <a:lstStyle/>
            <a:p>
              <a:pPr>
                <a:spcAft>
                  <a:spcPts val="0"/>
                </a:spcAft>
              </a:pPr>
              <a:r>
                <a:rPr lang="en-US" altLang="zh-CN" sz="32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36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endPar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27" name="组合 226"/>
          <p:cNvGrpSpPr/>
          <p:nvPr/>
        </p:nvGrpSpPr>
        <p:grpSpPr>
          <a:xfrm>
            <a:off x="6096000" y="5121790"/>
            <a:ext cx="699280" cy="654310"/>
            <a:chOff x="6115981" y="4126955"/>
            <a:chExt cx="699280" cy="654310"/>
          </a:xfrm>
        </p:grpSpPr>
        <p:sp>
          <p:nvSpPr>
            <p:cNvPr id="228" name="圆角矩形 227"/>
            <p:cNvSpPr/>
            <p:nvPr/>
          </p:nvSpPr>
          <p:spPr>
            <a:xfrm>
              <a:off x="6175941" y="4141945"/>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文本框 228"/>
            <p:cNvSpPr txBox="1"/>
            <p:nvPr/>
          </p:nvSpPr>
          <p:spPr>
            <a:xfrm>
              <a:off x="6115981" y="4126955"/>
              <a:ext cx="614680" cy="645160"/>
            </a:xfrm>
            <a:prstGeom prst="rect">
              <a:avLst/>
            </a:prstGeom>
            <a:noFill/>
            <a:effectLst/>
          </p:spPr>
          <p:txBody>
            <a:bodyPr wrap="none" rtlCol="0">
              <a:spAutoFit/>
            </a:bodyPr>
            <a:lstStyle/>
            <a:p>
              <a:pPr>
                <a:spcAft>
                  <a:spcPts val="0"/>
                </a:spcAft>
              </a:pPr>
              <a:r>
                <a:rPr lang="en-US" altLang="zh-CN" sz="32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36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endPar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3" name="文本框 232"/>
          <p:cNvSpPr txBox="1"/>
          <p:nvPr/>
        </p:nvSpPr>
        <p:spPr>
          <a:xfrm>
            <a:off x="7254340" y="2070408"/>
            <a:ext cx="2316480" cy="521970"/>
          </a:xfrm>
          <a:prstGeom prst="rect">
            <a:avLst/>
          </a:prstGeom>
          <a:noFill/>
        </p:spPr>
        <p:txBody>
          <a:bodyPr wrap="none" rtlCol="0">
            <a:spAutoFit/>
          </a:bodyPr>
          <a:lstStyle/>
          <a:p>
            <a:pPr>
              <a:spcAft>
                <a:spcPts val="0"/>
              </a:spcAft>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中心极限定理</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文本框 233"/>
          <p:cNvSpPr txBox="1"/>
          <p:nvPr/>
        </p:nvSpPr>
        <p:spPr>
          <a:xfrm>
            <a:off x="7254340" y="4173104"/>
            <a:ext cx="1605280" cy="521970"/>
          </a:xfrm>
          <a:prstGeom prst="rect">
            <a:avLst/>
          </a:prstGeom>
          <a:noFill/>
        </p:spPr>
        <p:txBody>
          <a:bodyPr wrap="none" rtlCol="0">
            <a:spAutoFit/>
          </a:bodyPr>
          <a:lstStyle/>
          <a:p>
            <a:pPr>
              <a:spcAft>
                <a:spcPts val="0"/>
              </a:spcAft>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课堂练习</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文本框 235"/>
          <p:cNvSpPr txBox="1"/>
          <p:nvPr/>
        </p:nvSpPr>
        <p:spPr>
          <a:xfrm>
            <a:off x="7254340" y="5152567"/>
            <a:ext cx="3116580" cy="521970"/>
          </a:xfrm>
          <a:prstGeom prst="rect">
            <a:avLst/>
          </a:prstGeom>
          <a:noFill/>
        </p:spPr>
        <p:txBody>
          <a:bodyPr wrap="none" rtlCol="0">
            <a:spAutoFit/>
          </a:bodyPr>
          <a:lstStyle/>
          <a:p>
            <a:pPr>
              <a:spcAft>
                <a:spcPts val="0"/>
              </a:spcAft>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归纳总结 布置作业</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文本框 237"/>
          <p:cNvSpPr txBox="1"/>
          <p:nvPr/>
        </p:nvSpPr>
        <p:spPr>
          <a:xfrm>
            <a:off x="1506344" y="513425"/>
            <a:ext cx="4417060" cy="1014730"/>
          </a:xfrm>
          <a:prstGeom prst="rect">
            <a:avLst/>
          </a:prstGeom>
          <a:noFill/>
        </p:spPr>
        <p:txBody>
          <a:bodyPr wrap="none" rtlCol="0">
            <a:spAutoFit/>
          </a:bodyPr>
          <a:lstStyle/>
          <a:p>
            <a:pPr>
              <a:spcAft>
                <a:spcPts val="0"/>
              </a:spcAft>
            </a:pPr>
            <a:r>
              <a:rPr lang="en-US" altLang="zh-CN" sz="6000" b="1" dirty="0">
                <a:solidFill>
                  <a:srgbClr val="FFFFFF"/>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rPr>
              <a:t>CONC</a:t>
            </a:r>
            <a:r>
              <a:rPr lang="en-US" altLang="zh-CN" sz="60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rPr>
              <a:t>ENTS</a:t>
            </a:r>
            <a:endParaRPr lang="zh-CN" altLang="en-US" sz="60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endParaRPr>
          </a:p>
        </p:txBody>
      </p:sp>
      <p:sp>
        <p:nvSpPr>
          <p:cNvPr id="239" name="文本框 20"/>
          <p:cNvSpPr>
            <a:spLocks noChangeArrowheads="1"/>
          </p:cNvSpPr>
          <p:nvPr/>
        </p:nvSpPr>
        <p:spPr bwMode="auto">
          <a:xfrm>
            <a:off x="698481" y="2769188"/>
            <a:ext cx="2487930"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Aft>
                <a:spcPts val="0"/>
              </a:spcAft>
            </a:pPr>
            <a:r>
              <a:rPr lang="zh-CN" altLang="en-US" sz="6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目   录</a:t>
            </a:r>
            <a:endParaRPr lang="en-US" sz="6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文本框 234"/>
          <p:cNvSpPr txBox="1"/>
          <p:nvPr/>
        </p:nvSpPr>
        <p:spPr>
          <a:xfrm>
            <a:off x="7254340" y="3163400"/>
            <a:ext cx="2586076" cy="521970"/>
          </a:xfrm>
          <a:prstGeom prst="rect">
            <a:avLst/>
          </a:prstGeom>
          <a:noFill/>
        </p:spPr>
        <p:txBody>
          <a:bodyPr wrap="square" rtlCol="0">
            <a:spAutoFit/>
          </a:bodyPr>
          <a:lstStyle/>
          <a:p>
            <a:pPr>
              <a:spcAft>
                <a:spcPts val="0"/>
              </a:spcAft>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例题</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750"/>
                                        <p:tgtEl>
                                          <p:spTgt spid="5"/>
                                        </p:tgtEl>
                                      </p:cBhvr>
                                    </p:animEffect>
                                  </p:childTnLst>
                                </p:cTn>
                              </p:par>
                              <p:par>
                                <p:cTn id="8" presetID="22" presetClass="entr" presetSubtype="2"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right)">
                                      <p:cBhvr>
                                        <p:cTn id="10" dur="1000"/>
                                        <p:tgtEl>
                                          <p:spTgt spid="6"/>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childTnLst>
                                </p:cTn>
                              </p:par>
                            </p:childTnLst>
                          </p:cTn>
                        </p:par>
                        <p:par>
                          <p:cTn id="15" fill="hold">
                            <p:stCondLst>
                              <p:cond delay="1500"/>
                            </p:stCondLst>
                            <p:childTnLst>
                              <p:par>
                                <p:cTn id="16" presetID="8" presetClass="emph" presetSubtype="0" repeatCount="indefinite" fill="hold" nodeType="afterEffect">
                                  <p:stCondLst>
                                    <p:cond delay="0"/>
                                  </p:stCondLst>
                                  <p:childTnLst>
                                    <p:animRot by="21600000">
                                      <p:cBhvr>
                                        <p:cTn id="17" dur="2500" fill="hold"/>
                                        <p:tgtEl>
                                          <p:spTgt spid="24"/>
                                        </p:tgtEl>
                                        <p:attrNameLst>
                                          <p:attrName>r</p:attrName>
                                        </p:attrNameLst>
                                      </p:cBhvr>
                                    </p:animRot>
                                  </p:childTnLst>
                                </p:cTn>
                              </p:par>
                              <p:par>
                                <p:cTn id="18" presetID="22" presetClass="entr" presetSubtype="8" fill="hold" grpId="0" nodeType="withEffect">
                                  <p:stCondLst>
                                    <p:cond delay="0"/>
                                  </p:stCondLst>
                                  <p:childTnLst>
                                    <p:set>
                                      <p:cBhvr>
                                        <p:cTn id="19" dur="1" fill="hold">
                                          <p:stCondLst>
                                            <p:cond delay="0"/>
                                          </p:stCondLst>
                                        </p:cTn>
                                        <p:tgtEl>
                                          <p:spTgt spid="238"/>
                                        </p:tgtEl>
                                        <p:attrNameLst>
                                          <p:attrName>style.visibility</p:attrName>
                                        </p:attrNameLst>
                                      </p:cBhvr>
                                      <p:to>
                                        <p:strVal val="visible"/>
                                      </p:to>
                                    </p:set>
                                    <p:animEffect transition="in" filter="wipe(left)">
                                      <p:cBhvr>
                                        <p:cTn id="20" dur="750"/>
                                        <p:tgtEl>
                                          <p:spTgt spid="23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39"/>
                                        </p:tgtEl>
                                        <p:attrNameLst>
                                          <p:attrName>style.visibility</p:attrName>
                                        </p:attrNameLst>
                                      </p:cBhvr>
                                      <p:to>
                                        <p:strVal val="visible"/>
                                      </p:to>
                                    </p:set>
                                    <p:animEffect transition="in" filter="fade">
                                      <p:cBhvr>
                                        <p:cTn id="23" dur="750"/>
                                        <p:tgtEl>
                                          <p:spTgt spid="239"/>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218"/>
                                        </p:tgtEl>
                                        <p:attrNameLst>
                                          <p:attrName>style.visibility</p:attrName>
                                        </p:attrNameLst>
                                      </p:cBhvr>
                                      <p:to>
                                        <p:strVal val="visible"/>
                                      </p:to>
                                    </p:set>
                                    <p:anim calcmode="lin" valueType="num">
                                      <p:cBhvr additive="base">
                                        <p:cTn id="28" dur="750" fill="hold"/>
                                        <p:tgtEl>
                                          <p:spTgt spid="218"/>
                                        </p:tgtEl>
                                        <p:attrNameLst>
                                          <p:attrName>ppt_x</p:attrName>
                                        </p:attrNameLst>
                                      </p:cBhvr>
                                      <p:tavLst>
                                        <p:tav tm="0">
                                          <p:val>
                                            <p:strVal val="0-#ppt_w/2"/>
                                          </p:val>
                                        </p:tav>
                                        <p:tav tm="100000">
                                          <p:val>
                                            <p:strVal val="#ppt_x"/>
                                          </p:val>
                                        </p:tav>
                                      </p:tavLst>
                                    </p:anim>
                                    <p:anim calcmode="lin" valueType="num">
                                      <p:cBhvr additive="base">
                                        <p:cTn id="29" dur="750" fill="hold"/>
                                        <p:tgtEl>
                                          <p:spTgt spid="218"/>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233"/>
                                        </p:tgtEl>
                                        <p:attrNameLst>
                                          <p:attrName>style.visibility</p:attrName>
                                        </p:attrNameLst>
                                      </p:cBhvr>
                                      <p:to>
                                        <p:strVal val="visible"/>
                                      </p:to>
                                    </p:set>
                                    <p:anim calcmode="lin" valueType="num">
                                      <p:cBhvr additive="base">
                                        <p:cTn id="32" dur="750" fill="hold"/>
                                        <p:tgtEl>
                                          <p:spTgt spid="233"/>
                                        </p:tgtEl>
                                        <p:attrNameLst>
                                          <p:attrName>ppt_x</p:attrName>
                                        </p:attrNameLst>
                                      </p:cBhvr>
                                      <p:tavLst>
                                        <p:tav tm="0">
                                          <p:val>
                                            <p:strVal val="1+#ppt_w/2"/>
                                          </p:val>
                                        </p:tav>
                                        <p:tav tm="100000">
                                          <p:val>
                                            <p:strVal val="#ppt_x"/>
                                          </p:val>
                                        </p:tav>
                                      </p:tavLst>
                                    </p:anim>
                                    <p:anim calcmode="lin" valueType="num">
                                      <p:cBhvr additive="base">
                                        <p:cTn id="33" dur="750" fill="hold"/>
                                        <p:tgtEl>
                                          <p:spTgt spid="233"/>
                                        </p:tgtEl>
                                        <p:attrNameLst>
                                          <p:attrName>ppt_y</p:attrName>
                                        </p:attrNameLst>
                                      </p:cBhvr>
                                      <p:tavLst>
                                        <p:tav tm="0">
                                          <p:val>
                                            <p:strVal val="#ppt_y"/>
                                          </p:val>
                                        </p:tav>
                                        <p:tav tm="100000">
                                          <p:val>
                                            <p:strVal val="#ppt_y"/>
                                          </p:val>
                                        </p:tav>
                                      </p:tavLst>
                                    </p:anim>
                                  </p:childTnLst>
                                </p:cTn>
                              </p:par>
                            </p:childTnLst>
                          </p:cTn>
                        </p:par>
                        <p:par>
                          <p:cTn id="34" fill="hold">
                            <p:stCondLst>
                              <p:cond delay="1000"/>
                            </p:stCondLst>
                            <p:childTnLst>
                              <p:par>
                                <p:cTn id="35" presetID="2" presetClass="entr" presetSubtype="8" fill="hold" nodeType="afterEffect">
                                  <p:stCondLst>
                                    <p:cond delay="0"/>
                                  </p:stCondLst>
                                  <p:childTnLst>
                                    <p:set>
                                      <p:cBhvr>
                                        <p:cTn id="36" dur="1" fill="hold">
                                          <p:stCondLst>
                                            <p:cond delay="0"/>
                                          </p:stCondLst>
                                        </p:cTn>
                                        <p:tgtEl>
                                          <p:spTgt spid="221"/>
                                        </p:tgtEl>
                                        <p:attrNameLst>
                                          <p:attrName>style.visibility</p:attrName>
                                        </p:attrNameLst>
                                      </p:cBhvr>
                                      <p:to>
                                        <p:strVal val="visible"/>
                                      </p:to>
                                    </p:set>
                                    <p:anim calcmode="lin" valueType="num">
                                      <p:cBhvr additive="base">
                                        <p:cTn id="37" dur="750" fill="hold"/>
                                        <p:tgtEl>
                                          <p:spTgt spid="221"/>
                                        </p:tgtEl>
                                        <p:attrNameLst>
                                          <p:attrName>ppt_x</p:attrName>
                                        </p:attrNameLst>
                                      </p:cBhvr>
                                      <p:tavLst>
                                        <p:tav tm="0">
                                          <p:val>
                                            <p:strVal val="0-#ppt_w/2"/>
                                          </p:val>
                                        </p:tav>
                                        <p:tav tm="100000">
                                          <p:val>
                                            <p:strVal val="#ppt_x"/>
                                          </p:val>
                                        </p:tav>
                                      </p:tavLst>
                                    </p:anim>
                                    <p:anim calcmode="lin" valueType="num">
                                      <p:cBhvr additive="base">
                                        <p:cTn id="38" dur="750" fill="hold"/>
                                        <p:tgtEl>
                                          <p:spTgt spid="221"/>
                                        </p:tgtEl>
                                        <p:attrNameLst>
                                          <p:attrName>ppt_y</p:attrName>
                                        </p:attrNameLst>
                                      </p:cBhvr>
                                      <p:tavLst>
                                        <p:tav tm="0">
                                          <p:val>
                                            <p:strVal val="#ppt_y"/>
                                          </p:val>
                                        </p:tav>
                                        <p:tav tm="100000">
                                          <p:val>
                                            <p:strVal val="#ppt_y"/>
                                          </p:val>
                                        </p:tav>
                                      </p:tavLst>
                                    </p:anim>
                                  </p:childTnLst>
                                </p:cTn>
                              </p:par>
                            </p:childTnLst>
                          </p:cTn>
                        </p:par>
                        <p:par>
                          <p:cTn id="39" fill="hold">
                            <p:stCondLst>
                              <p:cond delay="2000"/>
                            </p:stCondLst>
                            <p:childTnLst>
                              <p:par>
                                <p:cTn id="40" presetID="2" presetClass="entr" presetSubtype="8" fill="hold" nodeType="afterEffect">
                                  <p:stCondLst>
                                    <p:cond delay="0"/>
                                  </p:stCondLst>
                                  <p:childTnLst>
                                    <p:set>
                                      <p:cBhvr>
                                        <p:cTn id="41" dur="1" fill="hold">
                                          <p:stCondLst>
                                            <p:cond delay="0"/>
                                          </p:stCondLst>
                                        </p:cTn>
                                        <p:tgtEl>
                                          <p:spTgt spid="224"/>
                                        </p:tgtEl>
                                        <p:attrNameLst>
                                          <p:attrName>style.visibility</p:attrName>
                                        </p:attrNameLst>
                                      </p:cBhvr>
                                      <p:to>
                                        <p:strVal val="visible"/>
                                      </p:to>
                                    </p:set>
                                    <p:anim calcmode="lin" valueType="num">
                                      <p:cBhvr additive="base">
                                        <p:cTn id="42" dur="750" fill="hold"/>
                                        <p:tgtEl>
                                          <p:spTgt spid="224"/>
                                        </p:tgtEl>
                                        <p:attrNameLst>
                                          <p:attrName>ppt_x</p:attrName>
                                        </p:attrNameLst>
                                      </p:cBhvr>
                                      <p:tavLst>
                                        <p:tav tm="0">
                                          <p:val>
                                            <p:strVal val="0-#ppt_w/2"/>
                                          </p:val>
                                        </p:tav>
                                        <p:tav tm="100000">
                                          <p:val>
                                            <p:strVal val="#ppt_x"/>
                                          </p:val>
                                        </p:tav>
                                      </p:tavLst>
                                    </p:anim>
                                    <p:anim calcmode="lin" valueType="num">
                                      <p:cBhvr additive="base">
                                        <p:cTn id="43" dur="750" fill="hold"/>
                                        <p:tgtEl>
                                          <p:spTgt spid="224"/>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0"/>
                                  </p:stCondLst>
                                  <p:childTnLst>
                                    <p:set>
                                      <p:cBhvr>
                                        <p:cTn id="45" dur="1" fill="hold">
                                          <p:stCondLst>
                                            <p:cond delay="0"/>
                                          </p:stCondLst>
                                        </p:cTn>
                                        <p:tgtEl>
                                          <p:spTgt spid="234"/>
                                        </p:tgtEl>
                                        <p:attrNameLst>
                                          <p:attrName>style.visibility</p:attrName>
                                        </p:attrNameLst>
                                      </p:cBhvr>
                                      <p:to>
                                        <p:strVal val="visible"/>
                                      </p:to>
                                    </p:set>
                                    <p:anim calcmode="lin" valueType="num">
                                      <p:cBhvr additive="base">
                                        <p:cTn id="46" dur="750" fill="hold"/>
                                        <p:tgtEl>
                                          <p:spTgt spid="234"/>
                                        </p:tgtEl>
                                        <p:attrNameLst>
                                          <p:attrName>ppt_x</p:attrName>
                                        </p:attrNameLst>
                                      </p:cBhvr>
                                      <p:tavLst>
                                        <p:tav tm="0">
                                          <p:val>
                                            <p:strVal val="1+#ppt_w/2"/>
                                          </p:val>
                                        </p:tav>
                                        <p:tav tm="100000">
                                          <p:val>
                                            <p:strVal val="#ppt_x"/>
                                          </p:val>
                                        </p:tav>
                                      </p:tavLst>
                                    </p:anim>
                                    <p:anim calcmode="lin" valueType="num">
                                      <p:cBhvr additive="base">
                                        <p:cTn id="47" dur="750" fill="hold"/>
                                        <p:tgtEl>
                                          <p:spTgt spid="234"/>
                                        </p:tgtEl>
                                        <p:attrNameLst>
                                          <p:attrName>ppt_y</p:attrName>
                                        </p:attrNameLst>
                                      </p:cBhvr>
                                      <p:tavLst>
                                        <p:tav tm="0">
                                          <p:val>
                                            <p:strVal val="#ppt_y"/>
                                          </p:val>
                                        </p:tav>
                                        <p:tav tm="100000">
                                          <p:val>
                                            <p:strVal val="#ppt_y"/>
                                          </p:val>
                                        </p:tav>
                                      </p:tavLst>
                                    </p:anim>
                                  </p:childTnLst>
                                </p:cTn>
                              </p:par>
                            </p:childTnLst>
                          </p:cTn>
                        </p:par>
                        <p:par>
                          <p:cTn id="48" fill="hold">
                            <p:stCondLst>
                              <p:cond delay="3000"/>
                            </p:stCondLst>
                            <p:childTnLst>
                              <p:par>
                                <p:cTn id="49" presetID="2" presetClass="entr" presetSubtype="8" fill="hold" nodeType="afterEffect">
                                  <p:stCondLst>
                                    <p:cond delay="0"/>
                                  </p:stCondLst>
                                  <p:childTnLst>
                                    <p:set>
                                      <p:cBhvr>
                                        <p:cTn id="50" dur="1" fill="hold">
                                          <p:stCondLst>
                                            <p:cond delay="0"/>
                                          </p:stCondLst>
                                        </p:cTn>
                                        <p:tgtEl>
                                          <p:spTgt spid="227"/>
                                        </p:tgtEl>
                                        <p:attrNameLst>
                                          <p:attrName>style.visibility</p:attrName>
                                        </p:attrNameLst>
                                      </p:cBhvr>
                                      <p:to>
                                        <p:strVal val="visible"/>
                                      </p:to>
                                    </p:set>
                                    <p:anim calcmode="lin" valueType="num">
                                      <p:cBhvr additive="base">
                                        <p:cTn id="51" dur="750" fill="hold"/>
                                        <p:tgtEl>
                                          <p:spTgt spid="227"/>
                                        </p:tgtEl>
                                        <p:attrNameLst>
                                          <p:attrName>ppt_x</p:attrName>
                                        </p:attrNameLst>
                                      </p:cBhvr>
                                      <p:tavLst>
                                        <p:tav tm="0">
                                          <p:val>
                                            <p:strVal val="0-#ppt_w/2"/>
                                          </p:val>
                                        </p:tav>
                                        <p:tav tm="100000">
                                          <p:val>
                                            <p:strVal val="#ppt_x"/>
                                          </p:val>
                                        </p:tav>
                                      </p:tavLst>
                                    </p:anim>
                                    <p:anim calcmode="lin" valueType="num">
                                      <p:cBhvr additive="base">
                                        <p:cTn id="52" dur="750" fill="hold"/>
                                        <p:tgtEl>
                                          <p:spTgt spid="227"/>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236"/>
                                        </p:tgtEl>
                                        <p:attrNameLst>
                                          <p:attrName>style.visibility</p:attrName>
                                        </p:attrNameLst>
                                      </p:cBhvr>
                                      <p:to>
                                        <p:strVal val="visible"/>
                                      </p:to>
                                    </p:set>
                                    <p:anim calcmode="lin" valueType="num">
                                      <p:cBhvr additive="base">
                                        <p:cTn id="55" dur="750" fill="hold"/>
                                        <p:tgtEl>
                                          <p:spTgt spid="236"/>
                                        </p:tgtEl>
                                        <p:attrNameLst>
                                          <p:attrName>ppt_x</p:attrName>
                                        </p:attrNameLst>
                                      </p:cBhvr>
                                      <p:tavLst>
                                        <p:tav tm="0">
                                          <p:val>
                                            <p:strVal val="1+#ppt_w/2"/>
                                          </p:val>
                                        </p:tav>
                                        <p:tav tm="100000">
                                          <p:val>
                                            <p:strVal val="#ppt_x"/>
                                          </p:val>
                                        </p:tav>
                                      </p:tavLst>
                                    </p:anim>
                                    <p:anim calcmode="lin" valueType="num">
                                      <p:cBhvr additive="base">
                                        <p:cTn id="56" dur="750" fill="hold"/>
                                        <p:tgtEl>
                                          <p:spTgt spid="2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33" grpId="0"/>
      <p:bldP spid="234" grpId="0"/>
      <p:bldP spid="236" grpId="0"/>
      <p:bldP spid="238" grpId="0"/>
      <p:bldP spid="23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5" name="Text Box 107"/>
          <p:cNvSpPr txBox="1">
            <a:spLocks noChangeArrowheads="1"/>
          </p:cNvSpPr>
          <p:nvPr/>
        </p:nvSpPr>
        <p:spPr bwMode="auto">
          <a:xfrm>
            <a:off x="2424113" y="1855788"/>
            <a:ext cx="7162800"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en-US" altLang="zh-CN" b="1">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b="1">
              <a:solidFill>
                <a:schemeClr val="tx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76" name="Text Box 108"/>
          <p:cNvSpPr txBox="1">
            <a:spLocks noChangeArrowheads="1"/>
          </p:cNvSpPr>
          <p:nvPr/>
        </p:nvSpPr>
        <p:spPr bwMode="auto">
          <a:xfrm>
            <a:off x="671513" y="712788"/>
            <a:ext cx="8077201"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en-US" altLang="zh-CN" b="1">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78" name="Rectangle 110"/>
          <p:cNvSpPr>
            <a:spLocks noChangeArrowheads="1"/>
          </p:cNvSpPr>
          <p:nvPr/>
        </p:nvSpPr>
        <p:spPr bwMode="auto">
          <a:xfrm>
            <a:off x="1335307" y="1021056"/>
            <a:ext cx="9873261" cy="119888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spcAft>
                <a:spcPts val="0"/>
              </a:spcAft>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在实际问题中许多随机变量是由相互独立随机因素的综合（或和）影响所形成的。</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81" name="Rectangle 113"/>
          <p:cNvSpPr>
            <a:spLocks noChangeArrowheads="1"/>
          </p:cNvSpPr>
          <p:nvPr/>
        </p:nvSpPr>
        <p:spPr bwMode="auto">
          <a:xfrm>
            <a:off x="1368574" y="2370866"/>
            <a:ext cx="9454851" cy="34150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例如：炮弹射击的</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lnSpc>
                <a:spcPct val="150000"/>
              </a:lnSpc>
              <a:spcBef>
                <a:spcPts val="0"/>
              </a:spcBef>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落点与目标的偏差，</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lnSpc>
                <a:spcPct val="150000"/>
              </a:lnSpc>
              <a:spcBef>
                <a:spcPts val="0"/>
              </a:spcBef>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就受着许多随机因</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lnSpc>
                <a:spcPct val="150000"/>
              </a:lnSpc>
              <a:spcBef>
                <a:spcPts val="0"/>
              </a:spcBef>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素（如瞄准，空气</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lnSpc>
                <a:spcPct val="150000"/>
              </a:lnSpc>
              <a:spcBef>
                <a:spcPts val="0"/>
              </a:spcBef>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阻力，炮弹或炮身结构等）综合影响的。</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每个随机因素</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的对弹着点（随机变量和）</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所起的作用都是很小的</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。那么弹着点服从怎样分布哪 ？</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42887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中心极限定理的客观背景</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pic>
        <p:nvPicPr>
          <p:cNvPr id="7279" name="Picture 111" descr="火炮"/>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75589" y="2349501"/>
            <a:ext cx="2020887" cy="2087563"/>
          </a:xfrm>
          <a:prstGeom prst="rect">
            <a:avLst/>
          </a:prstGeom>
          <a:noFill/>
          <a:extLst>
            <a:ext uri="{909E8E84-426E-40DD-AFC4-6F175D3DCCD1}">
              <a14:hiddenFill xmlns:a14="http://schemas.microsoft.com/office/drawing/2010/main">
                <a:solidFill>
                  <a:srgbClr val="FFFFFF"/>
                </a:solidFill>
              </a14:hiddenFill>
            </a:ext>
          </a:extLst>
        </p:spPr>
      </p:pic>
      <p:pic>
        <p:nvPicPr>
          <p:cNvPr id="7280" name="Picture 112" descr="射击误差"/>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9989" y="2420939"/>
            <a:ext cx="2568575" cy="20081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77" name="Rectangle 57"/>
          <p:cNvSpPr>
            <a:spLocks noChangeArrowheads="1"/>
          </p:cNvSpPr>
          <p:nvPr/>
        </p:nvSpPr>
        <p:spPr bwMode="auto">
          <a:xfrm>
            <a:off x="1343473" y="942818"/>
            <a:ext cx="9433047" cy="119888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spcAft>
                <a:spcPts val="0"/>
              </a:spcAft>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自从高斯指出测量误差服从正态分布之后，人们发现，正态分布在自然界中极为常见。</a:t>
            </a:r>
            <a:endPar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379" name="Text Box 59"/>
          <p:cNvSpPr txBox="1">
            <a:spLocks noChangeArrowheads="1"/>
          </p:cNvSpPr>
          <p:nvPr/>
        </p:nvSpPr>
        <p:spPr bwMode="auto">
          <a:xfrm>
            <a:off x="4007768" y="4256744"/>
            <a:ext cx="6768752" cy="119888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spcAft>
                <a:spcPts val="0"/>
              </a:spcAft>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现在我们就来研究独立随机变量之和所特有的规律性问题。</a:t>
            </a:r>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376" name="Text Box 56"/>
          <p:cNvSpPr txBox="1">
            <a:spLocks noChangeArrowheads="1"/>
          </p:cNvSpPr>
          <p:nvPr/>
        </p:nvSpPr>
        <p:spPr bwMode="auto">
          <a:xfrm>
            <a:off x="4007768" y="2028800"/>
            <a:ext cx="6768752" cy="230695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spcAft>
                <a:spcPts val="0"/>
              </a:spcAft>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如果一个随机变量是由大量相互独立的随机因素的综合影响所造成，而每一个别因素对这种综合影响中所起的作用不大。则这种随机变量一般都服从或近似服从正态分布。</a:t>
            </a:r>
            <a:endParaRPr lang="en-US" altLang="zh-CN" sz="2400"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2" name="Group 5"/>
          <p:cNvGrpSpPr/>
          <p:nvPr/>
        </p:nvGrpSpPr>
        <p:grpSpPr bwMode="auto">
          <a:xfrm>
            <a:off x="1559496" y="2236560"/>
            <a:ext cx="1652587" cy="2791327"/>
            <a:chOff x="3840" y="1056"/>
            <a:chExt cx="1041" cy="1897"/>
          </a:xfrm>
        </p:grpSpPr>
        <p:pic>
          <p:nvPicPr>
            <p:cNvPr id="13" name="Picture 6" descr="GAOS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40" y="1056"/>
              <a:ext cx="1041" cy="14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rgbClr val="000000"/>
                  </a:solidFill>
                  <a:miter lim="800000"/>
                  <a:headEnd/>
                  <a:tailEnd/>
                </a14:hiddenLine>
              </a:ext>
            </a:extLst>
          </p:spPr>
        </p:pic>
        <p:sp>
          <p:nvSpPr>
            <p:cNvPr id="14" name="Rectangle 7"/>
            <p:cNvSpPr>
              <a:spLocks noChangeArrowheads="1"/>
            </p:cNvSpPr>
            <p:nvPr/>
          </p:nvSpPr>
          <p:spPr bwMode="auto">
            <a:xfrm>
              <a:off x="3962" y="2556"/>
              <a:ext cx="785"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Aft>
                  <a:spcPts val="0"/>
                </a:spcAft>
              </a:pPr>
              <a:r>
                <a:rPr lang="en-US" altLang="zh-CN" sz="3200" b="1" dirty="0">
                  <a:solidFill>
                    <a:srgbClr val="C00000"/>
                  </a:solidFill>
                  <a:ea typeface="微软雅黑" panose="020B0503020204020204" pitchFamily="34" charset="-122"/>
                  <a:sym typeface="Times New Roman" panose="02020603050405020304" pitchFamily="18" charset="0"/>
                </a:rPr>
                <a:t>Gauss</a:t>
              </a:r>
              <a:endParaRPr lang="en-US" altLang="zh-CN" sz="3200" b="1" dirty="0">
                <a:solidFill>
                  <a:srgbClr val="C00000"/>
                </a:solidFill>
                <a:ea typeface="微软雅黑" panose="020B0503020204020204" pitchFamily="34" charset="-122"/>
                <a:sym typeface="Times New Roman" panose="02020603050405020304" pitchFamily="18" charset="0"/>
              </a:endParaRPr>
            </a:p>
          </p:txBody>
        </p:sp>
      </p:grpSp>
      <p:sp>
        <p:nvSpPr>
          <p:cNvPr id="56381" name="Rectangle 61"/>
          <p:cNvSpPr>
            <a:spLocks noChangeArrowheads="1"/>
          </p:cNvSpPr>
          <p:nvPr/>
        </p:nvSpPr>
        <p:spPr bwMode="auto">
          <a:xfrm>
            <a:off x="4007485" y="5517198"/>
            <a:ext cx="8361045" cy="64516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lnSpc>
                <a:spcPct val="150000"/>
              </a:lnSpc>
              <a:spcAft>
                <a:spcPts val="0"/>
              </a:spcAft>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当 </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无限增大时，这个和的极限分布是什么呢？</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5" name="直接连接符 14"/>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矩形 15"/>
          <p:cNvSpPr>
            <a:spLocks noChangeArrowheads="1"/>
          </p:cNvSpPr>
          <p:nvPr/>
        </p:nvSpPr>
        <p:spPr bwMode="auto">
          <a:xfrm>
            <a:off x="1406163" y="255069"/>
            <a:ext cx="42887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中心极限定理的客观背景</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7" name="组合 16"/>
          <p:cNvGrpSpPr/>
          <p:nvPr/>
        </p:nvGrpSpPr>
        <p:grpSpPr>
          <a:xfrm>
            <a:off x="851761" y="364781"/>
            <a:ext cx="263341" cy="395013"/>
            <a:chOff x="5284519" y="1508166"/>
            <a:chExt cx="213756" cy="427512"/>
          </a:xfrm>
        </p:grpSpPr>
        <p:cxnSp>
          <p:nvCxnSpPr>
            <p:cNvPr id="18" name="直接连接符 17"/>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9" name="直接连接符 18"/>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pic>
        <p:nvPicPr>
          <p:cNvPr id="116" name="图片 115"/>
          <p:cNvPicPr/>
          <p:nvPr/>
        </p:nvPicPr>
        <p:blipFill>
          <a:blip r:embed="rId2"/>
          <a:stretch>
            <a:fillRect/>
          </a:stretch>
        </p:blipFill>
        <p:spPr>
          <a:xfrm>
            <a:off x="407289" y="4923282"/>
            <a:ext cx="3593592" cy="1728216"/>
          </a:xfrm>
          <a:prstGeom prst="rect">
            <a:avLst/>
          </a:prstGeom>
          <a:noFill/>
          <a:ln w="9525">
            <a:noFill/>
          </a:ln>
        </p:spPr>
      </p:pic>
      <p:sp>
        <p:nvSpPr>
          <p:cNvPr id="2" name="文本框 1"/>
          <p:cNvSpPr txBox="1"/>
          <p:nvPr/>
        </p:nvSpPr>
        <p:spPr>
          <a:xfrm>
            <a:off x="335280" y="6453505"/>
            <a:ext cx="11403330" cy="368300"/>
          </a:xfrm>
          <a:prstGeom prst="rect">
            <a:avLst/>
          </a:prstGeom>
          <a:noFill/>
        </p:spPr>
        <p:txBody>
          <a:bodyPr wrap="square" rtlCol="0" anchor="t">
            <a:spAutoFit/>
          </a:bodyPr>
          <a:p>
            <a:pPr>
              <a:spcAft>
                <a:spcPts val="0"/>
              </a:spcAft>
            </a:pPr>
            <a:r>
              <a:rPr lang="zh-CN" altLang="en-US"/>
              <a:t>面值10德国马克，1993年在德国发行。 纸币正面印有高斯肖像，和他给出的正态分布函数（曲线）</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06" name="Text Box 98"/>
          <p:cNvSpPr txBox="1">
            <a:spLocks noChangeArrowheads="1"/>
          </p:cNvSpPr>
          <p:nvPr/>
        </p:nvSpPr>
        <p:spPr bwMode="auto">
          <a:xfrm>
            <a:off x="1335307" y="918675"/>
            <a:ext cx="9585229" cy="119888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lnSpc>
                <a:spcPct val="150000"/>
              </a:lnSpc>
              <a:spcAft>
                <a:spcPts val="0"/>
              </a:spcAft>
            </a:pP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由于无穷个随机变量之和可能趋于∞，故我们不研究 </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个随机变量之和本身而考虑它的标准化的随机变量。</a:t>
            </a:r>
            <a:endParaRPr lang="en-US" altLang="zh-CN" sz="24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3107" name="Object 99"/>
          <p:cNvGraphicFramePr>
            <a:graphicFrameLocks noChangeAspect="1"/>
          </p:cNvGraphicFramePr>
          <p:nvPr/>
        </p:nvGraphicFramePr>
        <p:xfrm>
          <a:off x="3305970" y="2872324"/>
          <a:ext cx="3096344" cy="1697321"/>
        </p:xfrm>
        <a:graphic>
          <a:graphicData uri="http://schemas.openxmlformats.org/presentationml/2006/ole">
            <mc:AlternateContent xmlns:mc="http://schemas.openxmlformats.org/markup-compatibility/2006">
              <mc:Choice xmlns:v="urn:schemas-microsoft-com:vml" Requires="v">
                <p:oleObj spid="_x0000_s2" name="Equation" r:id="rId1" imgW="34442400" imgH="21031200" progId="Equation.DSMT4">
                  <p:embed/>
                </p:oleObj>
              </mc:Choice>
              <mc:Fallback>
                <p:oleObj name="Equation" r:id="rId1" imgW="34442400" imgH="21031200" progId="Equation.DSMT4">
                  <p:embed/>
                  <p:pic>
                    <p:nvPicPr>
                      <p:cNvPr id="0" name="Object 99"/>
                      <p:cNvPicPr>
                        <a:picLocks noChangeAspect="1" noChangeArrowheads="1"/>
                      </p:cNvPicPr>
                      <p:nvPr/>
                    </p:nvPicPr>
                    <p:blipFill>
                      <a:blip r:embed="rId2"/>
                      <a:srcRect/>
                      <a:stretch>
                        <a:fillRect/>
                      </a:stretch>
                    </p:blipFill>
                    <p:spPr bwMode="auto">
                      <a:xfrm>
                        <a:off x="3305970" y="2872324"/>
                        <a:ext cx="3096344" cy="1697321"/>
                      </a:xfrm>
                      <a:prstGeom prst="rect">
                        <a:avLst/>
                      </a:prstGeom>
                      <a:solidFill>
                        <a:srgbClr val="C00000"/>
                      </a:solidFill>
                      <a:ln>
                        <a:noFill/>
                      </a:ln>
                      <a:effectLst/>
                    </p:spPr>
                  </p:pic>
                </p:oleObj>
              </mc:Fallback>
            </mc:AlternateContent>
          </a:graphicData>
        </a:graphic>
      </p:graphicFrame>
      <p:sp>
        <p:nvSpPr>
          <p:cNvPr id="43109" name="Rectangle 101"/>
          <p:cNvSpPr>
            <a:spLocks noChangeArrowheads="1"/>
          </p:cNvSpPr>
          <p:nvPr/>
        </p:nvSpPr>
        <p:spPr bwMode="auto">
          <a:xfrm>
            <a:off x="1406163" y="5294950"/>
            <a:ext cx="9514373" cy="119888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spcAft>
                <a:spcPts val="0"/>
              </a:spcAft>
            </a:pP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在概率论中，习惯于把和的分布收敛于正态分布这一类定理都叫做</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中心极限定理</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7" name="直接连接符 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42887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中心极限定理的客观背景</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2" name="Rectangle 101"/>
          <p:cNvSpPr>
            <a:spLocks noChangeArrowheads="1"/>
          </p:cNvSpPr>
          <p:nvPr/>
        </p:nvSpPr>
        <p:spPr bwMode="auto">
          <a:xfrm>
            <a:off x="2063553" y="4634623"/>
            <a:ext cx="6120680" cy="64516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spcAft>
                <a:spcPts val="0"/>
              </a:spcAft>
            </a:pPr>
            <a:r>
              <a:rPr lang="en-US" altLang="zh-CN" sz="24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4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讨论的极限分布是否为标准的正态分布</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 name="组合 2"/>
          <p:cNvGrpSpPr/>
          <p:nvPr/>
        </p:nvGrpSpPr>
        <p:grpSpPr>
          <a:xfrm>
            <a:off x="1991544" y="1999901"/>
            <a:ext cx="6120680" cy="1046163"/>
            <a:chOff x="1991544" y="1999901"/>
            <a:chExt cx="6120680" cy="1046163"/>
          </a:xfrm>
        </p:grpSpPr>
        <p:graphicFrame>
          <p:nvGraphicFramePr>
            <p:cNvPr id="43110" name="Object 102"/>
            <p:cNvGraphicFramePr>
              <a:graphicFrameLocks noChangeAspect="1"/>
            </p:cNvGraphicFramePr>
            <p:nvPr/>
          </p:nvGraphicFramePr>
          <p:xfrm>
            <a:off x="6672064" y="1999901"/>
            <a:ext cx="1028700" cy="1046163"/>
          </p:xfrm>
          <a:graphic>
            <a:graphicData uri="http://schemas.openxmlformats.org/presentationml/2006/ole">
              <mc:AlternateContent xmlns:mc="http://schemas.openxmlformats.org/markup-compatibility/2006">
                <mc:Choice xmlns:v="urn:schemas-microsoft-com:vml" Requires="v">
                  <p:oleObj spid="_x0000_s4" name="Equation" r:id="rId3" imgW="10058400" imgH="10363200" progId="Equation.DSMT4">
                    <p:embed/>
                  </p:oleObj>
                </mc:Choice>
                <mc:Fallback>
                  <p:oleObj name="Equation" r:id="rId3" imgW="10058400" imgH="10363200" progId="Equation.DSMT4">
                    <p:embed/>
                    <p:pic>
                      <p:nvPicPr>
                        <p:cNvPr id="0" name="Object 102"/>
                        <p:cNvPicPr>
                          <a:picLocks noChangeAspect="1" noChangeArrowheads="1"/>
                        </p:cNvPicPr>
                        <p:nvPr/>
                      </p:nvPicPr>
                      <p:blipFill>
                        <a:blip r:embed="rId4"/>
                        <a:srcRect/>
                        <a:stretch>
                          <a:fillRect/>
                        </a:stretch>
                      </p:blipFill>
                      <p:spPr bwMode="auto">
                        <a:xfrm>
                          <a:off x="6672064" y="1999901"/>
                          <a:ext cx="1028700" cy="1046163"/>
                        </a:xfrm>
                        <a:prstGeom prst="rect">
                          <a:avLst/>
                        </a:prstGeom>
                        <a:noFill/>
                        <a:ln>
                          <a:noFill/>
                        </a:ln>
                        <a:effectLst/>
                      </p:spPr>
                    </p:pic>
                  </p:oleObj>
                </mc:Fallback>
              </mc:AlternateContent>
            </a:graphicData>
          </a:graphic>
        </p:graphicFrame>
        <p:sp>
          <p:nvSpPr>
            <p:cNvPr id="13" name="Rectangle 101"/>
            <p:cNvSpPr>
              <a:spLocks noChangeArrowheads="1"/>
            </p:cNvSpPr>
            <p:nvPr/>
          </p:nvSpPr>
          <p:spPr bwMode="auto">
            <a:xfrm>
              <a:off x="1991544" y="2123680"/>
              <a:ext cx="6120680" cy="64516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即考虑随机变量</a:t>
              </a:r>
              <a:r>
                <a:rPr lang="en-US" altLang="zh-CN" sz="24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k=1,…n</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的和</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05313" y="2951717"/>
            <a:ext cx="5040000" cy="922020"/>
          </a:xfrm>
          <a:prstGeom prst="rect">
            <a:avLst/>
          </a:prstGeom>
          <a:noFill/>
        </p:spPr>
        <p:txBody>
          <a:bodyPr wrap="square" rtlCol="0">
            <a:spAutoFit/>
          </a:bodyPr>
          <a:lstStyle/>
          <a:p>
            <a:pPr algn="dist">
              <a:spcAft>
                <a:spcPts val="0"/>
              </a:spcAft>
            </a:pPr>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中心极限定理</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57336" cy="1187862"/>
            </a:xfrm>
            <a:prstGeom prst="rect">
              <a:avLst/>
            </a:prstGeom>
            <a:noFill/>
          </p:spPr>
          <p:txBody>
            <a:bodyPr wrap="none" rtlCol="0">
              <a:spAutoFit/>
            </a:bodyPr>
            <a:lstStyle/>
            <a:p>
              <a:pPr>
                <a:spcAft>
                  <a:spcPts val="0"/>
                </a:spcAft>
              </a:pPr>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01</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429" name="Object 61"/>
          <p:cNvGraphicFramePr>
            <a:graphicFrameLocks noChangeAspect="1"/>
          </p:cNvGraphicFramePr>
          <p:nvPr/>
        </p:nvGraphicFramePr>
        <p:xfrm>
          <a:off x="6038851" y="3609976"/>
          <a:ext cx="248562" cy="472617"/>
        </p:xfrm>
        <a:graphic>
          <a:graphicData uri="http://schemas.openxmlformats.org/presentationml/2006/ole">
            <mc:AlternateContent xmlns:mc="http://schemas.openxmlformats.org/markup-compatibility/2006">
              <mc:Choice xmlns:v="urn:schemas-microsoft-com:vml" Requires="v">
                <p:oleObj spid="_x0000_s2" name="公式" r:id="rId1" imgW="114300" imgH="215900" progId="Equation.3">
                  <p:embed/>
                </p:oleObj>
              </mc:Choice>
              <mc:Fallback>
                <p:oleObj name="公式" r:id="rId1" imgW="114300" imgH="215900" progId="Equation.3">
                  <p:embed/>
                  <p:pic>
                    <p:nvPicPr>
                      <p:cNvPr id="0" name="Object 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8851" y="3609976"/>
                        <a:ext cx="248562" cy="472617"/>
                      </a:xfrm>
                      <a:prstGeom prst="rect">
                        <a:avLst/>
                      </a:prstGeom>
                      <a:noFill/>
                      <a:ln>
                        <a:noFill/>
                      </a:ln>
                      <a:effectLst/>
                    </p:spPr>
                  </p:pic>
                </p:oleObj>
              </mc:Fallback>
            </mc:AlternateContent>
          </a:graphicData>
        </a:graphic>
      </p:graphicFrame>
      <p:graphicFrame>
        <p:nvGraphicFramePr>
          <p:cNvPr id="58430" name="Object 62"/>
          <p:cNvGraphicFramePr>
            <a:graphicFrameLocks noChangeAspect="1"/>
          </p:cNvGraphicFramePr>
          <p:nvPr/>
        </p:nvGraphicFramePr>
        <p:xfrm>
          <a:off x="6038851" y="3609976"/>
          <a:ext cx="248562" cy="472617"/>
        </p:xfrm>
        <a:graphic>
          <a:graphicData uri="http://schemas.openxmlformats.org/presentationml/2006/ole">
            <mc:AlternateContent xmlns:mc="http://schemas.openxmlformats.org/markup-compatibility/2006">
              <mc:Choice xmlns:v="urn:schemas-microsoft-com:vml" Requires="v">
                <p:oleObj spid="_x0000_s3" name="公式" r:id="rId3" imgW="114300" imgH="215900" progId="Equation.3">
                  <p:embed/>
                </p:oleObj>
              </mc:Choice>
              <mc:Fallback>
                <p:oleObj name="公式" r:id="rId3" imgW="114300" imgH="215900" progId="Equation.3">
                  <p:embed/>
                  <p:pic>
                    <p:nvPicPr>
                      <p:cNvPr id="0" name="Object 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8851" y="3609976"/>
                        <a:ext cx="248562" cy="472617"/>
                      </a:xfrm>
                      <a:prstGeom prst="rect">
                        <a:avLst/>
                      </a:prstGeom>
                      <a:noFill/>
                      <a:ln>
                        <a:noFill/>
                      </a:ln>
                      <a:effectLst/>
                    </p:spPr>
                  </p:pic>
                </p:oleObj>
              </mc:Fallback>
            </mc:AlternateContent>
          </a:graphicData>
        </a:graphic>
      </p:graphicFrame>
      <p:sp>
        <p:nvSpPr>
          <p:cNvPr id="58433" name="Rectangle 65"/>
          <p:cNvSpPr>
            <a:spLocks noChangeArrowheads="1"/>
          </p:cNvSpPr>
          <p:nvPr/>
        </p:nvSpPr>
        <p:spPr bwMode="auto">
          <a:xfrm>
            <a:off x="1335307" y="1108870"/>
            <a:ext cx="7649943" cy="4603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spcAft>
                <a:spcPts val="0"/>
              </a:spcAft>
            </a:pP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（独立同分布下的中心极限定理）</a:t>
            </a:r>
            <a:endPar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8434" name="Object 66"/>
          <p:cNvGraphicFramePr>
            <a:graphicFrameLocks noChangeAspect="1"/>
          </p:cNvGraphicFramePr>
          <p:nvPr/>
        </p:nvGraphicFramePr>
        <p:xfrm>
          <a:off x="1419733" y="1748907"/>
          <a:ext cx="8813800" cy="1439863"/>
        </p:xfrm>
        <a:graphic>
          <a:graphicData uri="http://schemas.openxmlformats.org/presentationml/2006/ole">
            <mc:AlternateContent xmlns:mc="http://schemas.openxmlformats.org/markup-compatibility/2006">
              <mc:Choice xmlns:v="urn:schemas-microsoft-com:vml" Requires="v">
                <p:oleObj spid="_x0000_s4" name="Equation" r:id="rId4" imgW="98450400" imgH="16764000" progId="Equation.DSMT4">
                  <p:embed/>
                </p:oleObj>
              </mc:Choice>
              <mc:Fallback>
                <p:oleObj name="Equation" r:id="rId4" imgW="98450400" imgH="16764000" progId="Equation.DSMT4">
                  <p:embed/>
                  <p:pic>
                    <p:nvPicPr>
                      <p:cNvPr id="0" name="Object 66"/>
                      <p:cNvPicPr>
                        <a:picLocks noChangeAspect="1" noChangeArrowheads="1"/>
                      </p:cNvPicPr>
                      <p:nvPr/>
                    </p:nvPicPr>
                    <p:blipFill>
                      <a:blip r:embed="rId5"/>
                      <a:srcRect/>
                      <a:stretch>
                        <a:fillRect/>
                      </a:stretch>
                    </p:blipFill>
                    <p:spPr bwMode="auto">
                      <a:xfrm>
                        <a:off x="1419733" y="1748907"/>
                        <a:ext cx="8813800" cy="1439863"/>
                      </a:xfrm>
                      <a:prstGeom prst="rect">
                        <a:avLst/>
                      </a:prstGeom>
                      <a:noFill/>
                      <a:ln>
                        <a:noFill/>
                      </a:ln>
                      <a:effectLst/>
                    </p:spPr>
                  </p:pic>
                </p:oleObj>
              </mc:Fallback>
            </mc:AlternateContent>
          </a:graphicData>
        </a:graphic>
      </p:graphicFrame>
      <p:graphicFrame>
        <p:nvGraphicFramePr>
          <p:cNvPr id="58435" name="Object 67"/>
          <p:cNvGraphicFramePr>
            <a:graphicFrameLocks noChangeAspect="1"/>
          </p:cNvGraphicFramePr>
          <p:nvPr/>
        </p:nvGraphicFramePr>
        <p:xfrm>
          <a:off x="5638799" y="3508375"/>
          <a:ext cx="2016493" cy="924226"/>
        </p:xfrm>
        <a:graphic>
          <a:graphicData uri="http://schemas.openxmlformats.org/presentationml/2006/ole">
            <mc:AlternateContent xmlns:mc="http://schemas.openxmlformats.org/markup-compatibility/2006">
              <mc:Choice xmlns:v="urn:schemas-microsoft-com:vml" Requires="v">
                <p:oleObj spid="_x0000_s5" name="公式" r:id="rId6" imgW="190500" imgH="419100" progId="Equation.3">
                  <p:embed/>
                </p:oleObj>
              </mc:Choice>
              <mc:Fallback>
                <p:oleObj name="公式" r:id="rId6" imgW="190500" imgH="419100" progId="Equation.3">
                  <p:embed/>
                  <p:pic>
                    <p:nvPicPr>
                      <p:cNvPr id="0" name="Object 6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8799" y="3508375"/>
                        <a:ext cx="2016493" cy="924226"/>
                      </a:xfrm>
                      <a:prstGeom prst="rect">
                        <a:avLst/>
                      </a:prstGeom>
                      <a:noFill/>
                      <a:ln>
                        <a:noFill/>
                      </a:ln>
                      <a:effectLst/>
                    </p:spPr>
                  </p:pic>
                </p:oleObj>
              </mc:Fallback>
            </mc:AlternateContent>
          </a:graphicData>
        </a:graphic>
      </p:graphicFrame>
      <p:graphicFrame>
        <p:nvGraphicFramePr>
          <p:cNvPr id="58436" name="Object 68"/>
          <p:cNvGraphicFramePr>
            <a:graphicFrameLocks noChangeAspect="1"/>
          </p:cNvGraphicFramePr>
          <p:nvPr/>
        </p:nvGraphicFramePr>
        <p:xfrm>
          <a:off x="2202713" y="3427693"/>
          <a:ext cx="2295525" cy="1400175"/>
        </p:xfrm>
        <a:graphic>
          <a:graphicData uri="http://schemas.openxmlformats.org/presentationml/2006/ole">
            <mc:AlternateContent xmlns:mc="http://schemas.openxmlformats.org/markup-compatibility/2006">
              <mc:Choice xmlns:v="urn:schemas-microsoft-com:vml" Requires="v">
                <p:oleObj spid="_x0000_s6" name="Equation" r:id="rId8" imgW="24993600" imgH="15240000" progId="Equation.DSMT4">
                  <p:embed/>
                </p:oleObj>
              </mc:Choice>
              <mc:Fallback>
                <p:oleObj name="Equation" r:id="rId8" imgW="24993600" imgH="15240000" progId="Equation.DSMT4">
                  <p:embed/>
                  <p:pic>
                    <p:nvPicPr>
                      <p:cNvPr id="0" name="Object 68"/>
                      <p:cNvPicPr>
                        <a:picLocks noChangeAspect="1" noChangeArrowheads="1"/>
                      </p:cNvPicPr>
                      <p:nvPr/>
                    </p:nvPicPr>
                    <p:blipFill>
                      <a:blip r:embed="rId9"/>
                      <a:srcRect/>
                      <a:stretch>
                        <a:fillRect/>
                      </a:stretch>
                    </p:blipFill>
                    <p:spPr bwMode="auto">
                      <a:xfrm>
                        <a:off x="2202713" y="3427693"/>
                        <a:ext cx="2295525" cy="1400175"/>
                      </a:xfrm>
                      <a:prstGeom prst="rect">
                        <a:avLst/>
                      </a:prstGeom>
                      <a:noFill/>
                      <a:ln>
                        <a:noFill/>
                      </a:ln>
                      <a:effectLst/>
                    </p:spPr>
                  </p:pic>
                </p:oleObj>
              </mc:Fallback>
            </mc:AlternateContent>
          </a:graphicData>
        </a:graphic>
      </p:graphicFrame>
      <p:graphicFrame>
        <p:nvGraphicFramePr>
          <p:cNvPr id="58437" name="Object 69"/>
          <p:cNvGraphicFramePr>
            <a:graphicFrameLocks noChangeAspect="1"/>
          </p:cNvGraphicFramePr>
          <p:nvPr/>
        </p:nvGraphicFramePr>
        <p:xfrm>
          <a:off x="4545465" y="3942023"/>
          <a:ext cx="4439785" cy="484341"/>
        </p:xfrm>
        <a:graphic>
          <a:graphicData uri="http://schemas.openxmlformats.org/presentationml/2006/ole">
            <mc:AlternateContent xmlns:mc="http://schemas.openxmlformats.org/markup-compatibility/2006">
              <mc:Choice xmlns:v="urn:schemas-microsoft-com:vml" Requires="v">
                <p:oleObj spid="_x0000_s7" name="Equation" r:id="rId10" imgW="50292000" imgH="5486400" progId="Equation.DSMT4">
                  <p:embed/>
                </p:oleObj>
              </mc:Choice>
              <mc:Fallback>
                <p:oleObj name="Equation" r:id="rId10" imgW="50292000" imgH="5486400" progId="Equation.DSMT4">
                  <p:embed/>
                  <p:pic>
                    <p:nvPicPr>
                      <p:cNvPr id="0" name="Object 69"/>
                      <p:cNvPicPr>
                        <a:picLocks noChangeAspect="1" noChangeArrowheads="1"/>
                      </p:cNvPicPr>
                      <p:nvPr/>
                    </p:nvPicPr>
                    <p:blipFill>
                      <a:blip r:embed="rId11"/>
                      <a:srcRect/>
                      <a:stretch>
                        <a:fillRect/>
                      </a:stretch>
                    </p:blipFill>
                    <p:spPr bwMode="auto">
                      <a:xfrm>
                        <a:off x="4545465" y="3942023"/>
                        <a:ext cx="4439785" cy="484341"/>
                      </a:xfrm>
                      <a:prstGeom prst="rect">
                        <a:avLst/>
                      </a:prstGeom>
                      <a:noFill/>
                      <a:ln>
                        <a:noFill/>
                      </a:ln>
                      <a:effectLst/>
                    </p:spPr>
                  </p:pic>
                </p:oleObj>
              </mc:Fallback>
            </mc:AlternateContent>
          </a:graphicData>
        </a:graphic>
      </p:graphicFrame>
      <p:graphicFrame>
        <p:nvGraphicFramePr>
          <p:cNvPr id="58438" name="Object 70"/>
          <p:cNvGraphicFramePr>
            <a:graphicFrameLocks noChangeAspect="1"/>
          </p:cNvGraphicFramePr>
          <p:nvPr/>
        </p:nvGraphicFramePr>
        <p:xfrm>
          <a:off x="3142942" y="2565132"/>
          <a:ext cx="2771501" cy="914864"/>
        </p:xfrm>
        <a:graphic>
          <a:graphicData uri="http://schemas.openxmlformats.org/presentationml/2006/ole">
            <mc:AlternateContent xmlns:mc="http://schemas.openxmlformats.org/markup-compatibility/2006">
              <mc:Choice xmlns:v="urn:schemas-microsoft-com:vml" Requires="v">
                <p:oleObj spid="_x0000_s8" name="Equation" r:id="rId12" imgW="31394400" imgH="10363200" progId="Equation.DSMT4">
                  <p:embed/>
                </p:oleObj>
              </mc:Choice>
              <mc:Fallback>
                <p:oleObj name="Equation" r:id="rId12" imgW="31394400" imgH="10363200" progId="Equation.DSMT4">
                  <p:embed/>
                  <p:pic>
                    <p:nvPicPr>
                      <p:cNvPr id="0" name="Object 70"/>
                      <p:cNvPicPr>
                        <a:picLocks noChangeAspect="1" noChangeArrowheads="1"/>
                      </p:cNvPicPr>
                      <p:nvPr/>
                    </p:nvPicPr>
                    <p:blipFill>
                      <a:blip r:embed="rId13"/>
                      <a:srcRect/>
                      <a:stretch>
                        <a:fillRect/>
                      </a:stretch>
                    </p:blipFill>
                    <p:spPr bwMode="auto">
                      <a:xfrm>
                        <a:off x="3142942" y="2565132"/>
                        <a:ext cx="2771501" cy="914864"/>
                      </a:xfrm>
                      <a:prstGeom prst="rect">
                        <a:avLst/>
                      </a:prstGeom>
                      <a:noFill/>
                      <a:ln>
                        <a:noFill/>
                      </a:ln>
                      <a:effectLst/>
                    </p:spPr>
                  </p:pic>
                </p:oleObj>
              </mc:Fallback>
            </mc:AlternateContent>
          </a:graphicData>
        </a:graphic>
      </p:graphicFrame>
      <p:cxnSp>
        <p:nvCxnSpPr>
          <p:cNvPr id="14" name="直接连接符 13"/>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6" name="组合 15"/>
          <p:cNvGrpSpPr/>
          <p:nvPr/>
        </p:nvGrpSpPr>
        <p:grpSpPr>
          <a:xfrm>
            <a:off x="851761" y="364781"/>
            <a:ext cx="263341" cy="395013"/>
            <a:chOff x="5284519" y="1508166"/>
            <a:chExt cx="213756" cy="427512"/>
          </a:xfrm>
        </p:grpSpPr>
        <p:cxnSp>
          <p:nvCxnSpPr>
            <p:cNvPr id="17" name="直接连接符 1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8" name="直接连接符 1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9" name="组合 8"/>
          <p:cNvGrpSpPr/>
          <p:nvPr/>
        </p:nvGrpSpPr>
        <p:grpSpPr>
          <a:xfrm>
            <a:off x="2567608" y="5013176"/>
            <a:ext cx="7056784" cy="1439862"/>
            <a:chOff x="2567608" y="5013176"/>
            <a:chExt cx="7056784" cy="1439862"/>
          </a:xfrm>
        </p:grpSpPr>
        <p:grpSp>
          <p:nvGrpSpPr>
            <p:cNvPr id="10" name="组合 9"/>
            <p:cNvGrpSpPr/>
            <p:nvPr/>
          </p:nvGrpSpPr>
          <p:grpSpPr>
            <a:xfrm>
              <a:off x="2927648" y="5053066"/>
              <a:ext cx="6391496" cy="1366600"/>
              <a:chOff x="2927648" y="5053066"/>
              <a:chExt cx="6391496" cy="1366600"/>
            </a:xfrm>
          </p:grpSpPr>
          <p:graphicFrame>
            <p:nvGraphicFramePr>
              <p:cNvPr id="58432" name="Object 64"/>
              <p:cNvGraphicFramePr>
                <a:graphicFrameLocks noChangeAspect="1"/>
              </p:cNvGraphicFramePr>
              <p:nvPr/>
            </p:nvGraphicFramePr>
            <p:xfrm>
              <a:off x="2927648" y="5053066"/>
              <a:ext cx="3572714" cy="1366600"/>
            </p:xfrm>
            <a:graphic>
              <a:graphicData uri="http://schemas.openxmlformats.org/presentationml/2006/ole">
                <mc:AlternateContent xmlns:mc="http://schemas.openxmlformats.org/markup-compatibility/2006">
                  <mc:Choice xmlns:v="urn:schemas-microsoft-com:vml" Requires="v">
                    <p:oleObj spid="_x0000_s11" name="Equation" r:id="rId14" imgW="52120800" imgH="20726400" progId="Equation.DSMT4">
                      <p:embed/>
                    </p:oleObj>
                  </mc:Choice>
                  <mc:Fallback>
                    <p:oleObj name="Equation" r:id="rId14" imgW="52120800" imgH="20726400" progId="Equation.DSMT4">
                      <p:embed/>
                      <p:pic>
                        <p:nvPicPr>
                          <p:cNvPr id="0" name="Object 64"/>
                          <p:cNvPicPr>
                            <a:picLocks noChangeAspect="1" noChangeArrowheads="1"/>
                          </p:cNvPicPr>
                          <p:nvPr/>
                        </p:nvPicPr>
                        <p:blipFill>
                          <a:blip r:embed="rId15"/>
                          <a:srcRect/>
                          <a:stretch>
                            <a:fillRect/>
                          </a:stretch>
                        </p:blipFill>
                        <p:spPr bwMode="auto">
                          <a:xfrm>
                            <a:off x="2927648" y="5053066"/>
                            <a:ext cx="3572714" cy="1366600"/>
                          </a:xfrm>
                          <a:prstGeom prst="rect">
                            <a:avLst/>
                          </a:prstGeom>
                          <a:noFill/>
                          <a:ln>
                            <a:noFill/>
                          </a:ln>
                          <a:effectLst/>
                        </p:spPr>
                      </p:pic>
                    </p:oleObj>
                  </mc:Fallback>
                </mc:AlternateContent>
              </a:graphicData>
            </a:graphic>
          </p:graphicFrame>
          <p:graphicFrame>
            <p:nvGraphicFramePr>
              <p:cNvPr id="58439" name="Object 71"/>
              <p:cNvGraphicFramePr>
                <a:graphicFrameLocks noChangeAspect="1"/>
              </p:cNvGraphicFramePr>
              <p:nvPr/>
            </p:nvGraphicFramePr>
            <p:xfrm>
              <a:off x="6655113" y="5406045"/>
              <a:ext cx="2664031" cy="660641"/>
            </p:xfrm>
            <a:graphic>
              <a:graphicData uri="http://schemas.openxmlformats.org/presentationml/2006/ole">
                <mc:AlternateContent xmlns:mc="http://schemas.openxmlformats.org/markup-compatibility/2006">
                  <mc:Choice xmlns:v="urn:schemas-microsoft-com:vml" Requires="v">
                    <p:oleObj spid="_x0000_s12" name="Equation" r:id="rId16" imgW="36576000" imgH="10058400" progId="Equation.DSMT4">
                      <p:embed/>
                    </p:oleObj>
                  </mc:Choice>
                  <mc:Fallback>
                    <p:oleObj name="Equation" r:id="rId16" imgW="36576000" imgH="10058400" progId="Equation.DSMT4">
                      <p:embed/>
                      <p:pic>
                        <p:nvPicPr>
                          <p:cNvPr id="0" name="Object 71"/>
                          <p:cNvPicPr>
                            <a:picLocks noChangeAspect="1" noChangeArrowheads="1"/>
                          </p:cNvPicPr>
                          <p:nvPr/>
                        </p:nvPicPr>
                        <p:blipFill>
                          <a:blip r:embed="rId17"/>
                          <a:srcRect/>
                          <a:stretch>
                            <a:fillRect/>
                          </a:stretch>
                        </p:blipFill>
                        <p:spPr bwMode="auto">
                          <a:xfrm>
                            <a:off x="6655113" y="5406045"/>
                            <a:ext cx="2664031" cy="660641"/>
                          </a:xfrm>
                          <a:prstGeom prst="rect">
                            <a:avLst/>
                          </a:prstGeom>
                          <a:noFill/>
                          <a:ln>
                            <a:noFill/>
                          </a:ln>
                          <a:effectLst/>
                        </p:spPr>
                      </p:pic>
                    </p:oleObj>
                  </mc:Fallback>
                </mc:AlternateContent>
              </a:graphicData>
            </a:graphic>
          </p:graphicFrame>
        </p:grpSp>
        <p:sp>
          <p:nvSpPr>
            <p:cNvPr id="13" name="矩形 12"/>
            <p:cNvSpPr/>
            <p:nvPr/>
          </p:nvSpPr>
          <p:spPr>
            <a:xfrm>
              <a:off x="2567608" y="5013176"/>
              <a:ext cx="7056784" cy="1439862"/>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07" name="Text Box 71"/>
          <p:cNvSpPr txBox="1">
            <a:spLocks noChangeArrowheads="1"/>
          </p:cNvSpPr>
          <p:nvPr/>
        </p:nvSpPr>
        <p:spPr bwMode="auto">
          <a:xfrm>
            <a:off x="1391682" y="1095182"/>
            <a:ext cx="8940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Aft>
                <a:spcPts val="0"/>
              </a:spcAft>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注：</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4408" name="Object 72"/>
          <p:cNvGraphicFramePr>
            <a:graphicFrameLocks noChangeAspect="1"/>
          </p:cNvGraphicFramePr>
          <p:nvPr/>
        </p:nvGraphicFramePr>
        <p:xfrm>
          <a:off x="2418110" y="3762672"/>
          <a:ext cx="3994150" cy="1057275"/>
        </p:xfrm>
        <a:graphic>
          <a:graphicData uri="http://schemas.openxmlformats.org/presentationml/2006/ole">
            <mc:AlternateContent xmlns:mc="http://schemas.openxmlformats.org/markup-compatibility/2006">
              <mc:Choice xmlns:v="urn:schemas-microsoft-com:vml" Requires="v">
                <p:oleObj spid="_x0000_s2" name="Equation" r:id="rId1" imgW="37490400" imgH="10363200" progId="Equation.DSMT4">
                  <p:embed/>
                </p:oleObj>
              </mc:Choice>
              <mc:Fallback>
                <p:oleObj name="Equation" r:id="rId1" imgW="37490400" imgH="10363200" progId="Equation.DSMT4">
                  <p:embed/>
                  <p:pic>
                    <p:nvPicPr>
                      <p:cNvPr id="0" name="Object 72"/>
                      <p:cNvPicPr>
                        <a:picLocks noChangeAspect="1" noChangeArrowheads="1"/>
                      </p:cNvPicPr>
                      <p:nvPr/>
                    </p:nvPicPr>
                    <p:blipFill>
                      <a:blip r:embed="rId2"/>
                      <a:srcRect/>
                      <a:stretch>
                        <a:fillRect/>
                      </a:stretch>
                    </p:blipFill>
                    <p:spPr bwMode="auto">
                      <a:xfrm>
                        <a:off x="2418110" y="3762672"/>
                        <a:ext cx="3994150" cy="1057275"/>
                      </a:xfrm>
                      <a:prstGeom prst="rect">
                        <a:avLst/>
                      </a:prstGeom>
                      <a:noFill/>
                      <a:ln>
                        <a:noFill/>
                      </a:ln>
                      <a:effectLst/>
                    </p:spPr>
                  </p:pic>
                </p:oleObj>
              </mc:Fallback>
            </mc:AlternateContent>
          </a:graphicData>
        </a:graphic>
      </p:graphicFrame>
      <p:graphicFrame>
        <p:nvGraphicFramePr>
          <p:cNvPr id="14411" name="Object 75"/>
          <p:cNvGraphicFramePr>
            <a:graphicFrameLocks noChangeAspect="1"/>
          </p:cNvGraphicFramePr>
          <p:nvPr/>
        </p:nvGraphicFramePr>
        <p:xfrm>
          <a:off x="5851525" y="3219450"/>
          <a:ext cx="190500" cy="419100"/>
        </p:xfrm>
        <a:graphic>
          <a:graphicData uri="http://schemas.openxmlformats.org/presentationml/2006/ole">
            <mc:AlternateContent xmlns:mc="http://schemas.openxmlformats.org/markup-compatibility/2006">
              <mc:Choice xmlns:v="urn:schemas-microsoft-com:vml" Requires="v">
                <p:oleObj spid="_x0000_s3" name="公式" r:id="rId3" imgW="190500" imgH="419100" progId="Equation.3">
                  <p:embed/>
                </p:oleObj>
              </mc:Choice>
              <mc:Fallback>
                <p:oleObj name="公式" r:id="rId3" imgW="190500" imgH="419100" progId="Equation.3">
                  <p:embed/>
                  <p:pic>
                    <p:nvPicPr>
                      <p:cNvPr id="0" name="Object 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1525" y="3219450"/>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76"/>
          <p:cNvSpPr>
            <a:spLocks noChangeArrowheads="1"/>
          </p:cNvSpPr>
          <p:nvPr/>
        </p:nvSpPr>
        <p:spPr bwMode="auto">
          <a:xfrm>
            <a:off x="1843088" y="1601436"/>
            <a:ext cx="9077447" cy="156845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marL="457200" indent="-457200" algn="l" eaLnBrk="1" hangingPunct="1">
              <a:lnSpc>
                <a:spcPct val="200000"/>
              </a:lnSpc>
              <a:spcAft>
                <a:spcPts val="0"/>
              </a:spcAft>
              <a:buFont typeface="+mj-lt"/>
              <a:buAutoNum type="arabicPeriod"/>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定理表明，独立同分布的随机变量之和             ，当 </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充分大时，随机变量之和与其标准化变量分别有</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0" name="Object 77"/>
          <p:cNvGraphicFramePr>
            <a:graphicFrameLocks noChangeAspect="1"/>
          </p:cNvGraphicFramePr>
          <p:nvPr/>
        </p:nvGraphicFramePr>
        <p:xfrm>
          <a:off x="7608168" y="1656647"/>
          <a:ext cx="921455" cy="949378"/>
        </p:xfrm>
        <a:graphic>
          <a:graphicData uri="http://schemas.openxmlformats.org/presentationml/2006/ole">
            <mc:AlternateContent xmlns:mc="http://schemas.openxmlformats.org/markup-compatibility/2006">
              <mc:Choice xmlns:v="urn:schemas-microsoft-com:vml" Requires="v">
                <p:oleObj spid="_x0000_s4" name="Equation" r:id="rId5" imgW="10058400" imgH="10363200" progId="Equation.DSMT4">
                  <p:embed/>
                </p:oleObj>
              </mc:Choice>
              <mc:Fallback>
                <p:oleObj name="Equation" r:id="rId5" imgW="10058400" imgH="10363200" progId="Equation.DSMT4">
                  <p:embed/>
                  <p:pic>
                    <p:nvPicPr>
                      <p:cNvPr id="0" name="Object 77"/>
                      <p:cNvPicPr>
                        <a:picLocks noChangeAspect="1" noChangeArrowheads="1"/>
                      </p:cNvPicPr>
                      <p:nvPr/>
                    </p:nvPicPr>
                    <p:blipFill>
                      <a:blip r:embed="rId6"/>
                      <a:srcRect/>
                      <a:stretch>
                        <a:fillRect/>
                      </a:stretch>
                    </p:blipFill>
                    <p:spPr bwMode="auto">
                      <a:xfrm>
                        <a:off x="7608168" y="1656647"/>
                        <a:ext cx="921455" cy="949378"/>
                      </a:xfrm>
                      <a:prstGeom prst="rect">
                        <a:avLst/>
                      </a:prstGeom>
                      <a:noFill/>
                      <a:ln>
                        <a:noFill/>
                      </a:ln>
                      <a:effectLst/>
                    </p:spPr>
                  </p:pic>
                </p:oleObj>
              </mc:Fallback>
            </mc:AlternateContent>
          </a:graphicData>
        </a:graphic>
      </p:graphicFrame>
      <p:graphicFrame>
        <p:nvGraphicFramePr>
          <p:cNvPr id="11" name="Object 72"/>
          <p:cNvGraphicFramePr>
            <a:graphicFrameLocks noChangeAspect="1"/>
          </p:cNvGraphicFramePr>
          <p:nvPr/>
        </p:nvGraphicFramePr>
        <p:xfrm>
          <a:off x="6600056" y="3583608"/>
          <a:ext cx="3400425" cy="1306513"/>
        </p:xfrm>
        <a:graphic>
          <a:graphicData uri="http://schemas.openxmlformats.org/presentationml/2006/ole">
            <mc:AlternateContent xmlns:mc="http://schemas.openxmlformats.org/markup-compatibility/2006">
              <mc:Choice xmlns:v="urn:schemas-microsoft-com:vml" Requires="v">
                <p:oleObj spid="_x0000_s5" name="Equation" r:id="rId7" imgW="38100000" imgH="15240000" progId="Equation.DSMT4">
                  <p:embed/>
                </p:oleObj>
              </mc:Choice>
              <mc:Fallback>
                <p:oleObj name="Equation" r:id="rId7" imgW="38100000" imgH="15240000" progId="Equation.DSMT4">
                  <p:embed/>
                  <p:pic>
                    <p:nvPicPr>
                      <p:cNvPr id="0" name="Object 72"/>
                      <p:cNvPicPr>
                        <a:picLocks noChangeAspect="1" noChangeArrowheads="1"/>
                      </p:cNvPicPr>
                      <p:nvPr/>
                    </p:nvPicPr>
                    <p:blipFill>
                      <a:blip r:embed="rId8"/>
                      <a:srcRect/>
                      <a:stretch>
                        <a:fillRect/>
                      </a:stretch>
                    </p:blipFill>
                    <p:spPr bwMode="auto">
                      <a:xfrm>
                        <a:off x="6600056" y="3583608"/>
                        <a:ext cx="3400425" cy="1306513"/>
                      </a:xfrm>
                      <a:prstGeom prst="rect">
                        <a:avLst/>
                      </a:prstGeom>
                      <a:noFill/>
                      <a:ln>
                        <a:noFill/>
                      </a:ln>
                      <a:effectLst/>
                    </p:spPr>
                  </p:pic>
                </p:oleObj>
              </mc:Fallback>
            </mc:AlternateContent>
          </a:graphicData>
        </a:graphic>
      </p:graphicFrame>
      <p:cxnSp>
        <p:nvCxnSpPr>
          <p:cNvPr id="12" name="直接连接符 11"/>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4" name="组合 13"/>
          <p:cNvGrpSpPr/>
          <p:nvPr/>
        </p:nvGrpSpPr>
        <p:grpSpPr>
          <a:xfrm>
            <a:off x="851761" y="364781"/>
            <a:ext cx="263341" cy="395013"/>
            <a:chOff x="5284519" y="1508166"/>
            <a:chExt cx="213756" cy="427512"/>
          </a:xfrm>
        </p:grpSpPr>
        <p:cxnSp>
          <p:nvCxnSpPr>
            <p:cNvPr id="15" name="直接连接符 14"/>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6" name="直接连接符 15"/>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411" name="Object 75"/>
          <p:cNvGraphicFramePr>
            <a:graphicFrameLocks noChangeAspect="1"/>
          </p:cNvGraphicFramePr>
          <p:nvPr/>
        </p:nvGraphicFramePr>
        <p:xfrm>
          <a:off x="5851525" y="3219450"/>
          <a:ext cx="190500" cy="419100"/>
        </p:xfrm>
        <a:graphic>
          <a:graphicData uri="http://schemas.openxmlformats.org/presentationml/2006/ole">
            <mc:AlternateContent xmlns:mc="http://schemas.openxmlformats.org/markup-compatibility/2006">
              <mc:Choice xmlns:v="urn:schemas-microsoft-com:vml" Requires="v">
                <p:oleObj spid="_x0000_s2" name="公式" r:id="rId1" imgW="190500" imgH="419100" progId="Equation.3">
                  <p:embed/>
                </p:oleObj>
              </mc:Choice>
              <mc:Fallback>
                <p:oleObj name="公式" r:id="rId1" imgW="190500" imgH="419100" progId="Equation.3">
                  <p:embed/>
                  <p:pic>
                    <p:nvPicPr>
                      <p:cNvPr id="0" name="Object 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1525" y="3219450"/>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74"/>
          <p:cNvGraphicFramePr>
            <a:graphicFrameLocks noChangeAspect="1"/>
          </p:cNvGraphicFramePr>
          <p:nvPr/>
        </p:nvGraphicFramePr>
        <p:xfrm>
          <a:off x="2434337" y="3353431"/>
          <a:ext cx="2271787" cy="887825"/>
        </p:xfrm>
        <a:graphic>
          <a:graphicData uri="http://schemas.openxmlformats.org/presentationml/2006/ole">
            <mc:AlternateContent xmlns:mc="http://schemas.openxmlformats.org/markup-compatibility/2006">
              <mc:Choice xmlns:v="urn:schemas-microsoft-com:vml" Requires="v">
                <p:oleObj spid="_x0000_s3" name="Equation" r:id="rId3" imgW="26517600" imgH="10363200" progId="Equation.DSMT4">
                  <p:embed/>
                </p:oleObj>
              </mc:Choice>
              <mc:Fallback>
                <p:oleObj name="Equation" r:id="rId3" imgW="26517600" imgH="10363200" progId="Equation.DSMT4">
                  <p:embed/>
                  <p:pic>
                    <p:nvPicPr>
                      <p:cNvPr id="0" name="Object 74"/>
                      <p:cNvPicPr>
                        <a:picLocks noChangeAspect="1" noChangeArrowheads="1"/>
                      </p:cNvPicPr>
                      <p:nvPr/>
                    </p:nvPicPr>
                    <p:blipFill>
                      <a:blip r:embed="rId4"/>
                      <a:srcRect/>
                      <a:stretch>
                        <a:fillRect/>
                      </a:stretch>
                    </p:blipFill>
                    <p:spPr bwMode="auto">
                      <a:xfrm>
                        <a:off x="2434337" y="3353431"/>
                        <a:ext cx="2271787" cy="887825"/>
                      </a:xfrm>
                      <a:prstGeom prst="rect">
                        <a:avLst/>
                      </a:prstGeom>
                      <a:noFill/>
                      <a:ln>
                        <a:noFill/>
                      </a:ln>
                      <a:effectLst/>
                    </p:spPr>
                  </p:pic>
                </p:oleObj>
              </mc:Fallback>
            </mc:AlternateContent>
          </a:graphicData>
        </a:graphic>
      </p:graphicFrame>
      <p:grpSp>
        <p:nvGrpSpPr>
          <p:cNvPr id="4" name="组合 3"/>
          <p:cNvGrpSpPr/>
          <p:nvPr/>
        </p:nvGrpSpPr>
        <p:grpSpPr>
          <a:xfrm>
            <a:off x="1861732" y="1659442"/>
            <a:ext cx="9077447" cy="1740979"/>
            <a:chOff x="1843088" y="1885026"/>
            <a:chExt cx="9077447" cy="1740979"/>
          </a:xfrm>
        </p:grpSpPr>
        <p:sp>
          <p:nvSpPr>
            <p:cNvPr id="9" name="Rectangle 76"/>
            <p:cNvSpPr>
              <a:spLocks noChangeArrowheads="1"/>
            </p:cNvSpPr>
            <p:nvPr/>
          </p:nvSpPr>
          <p:spPr bwMode="auto">
            <a:xfrm>
              <a:off x="1843088" y="1885026"/>
              <a:ext cx="9077447" cy="4603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marL="457200" indent="-457200" algn="l" eaLnBrk="1" hangingPunct="1">
                <a:spcAft>
                  <a:spcPts val="0"/>
                </a:spcAft>
                <a:buFont typeface="+mj-lt"/>
                <a:buAutoNum type="arabicPeriod" startAt="2"/>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独立同分布中心极限定理的另一种形式可写为</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 name="Object 73"/>
            <p:cNvGraphicFramePr>
              <a:graphicFrameLocks noChangeAspect="1"/>
            </p:cNvGraphicFramePr>
            <p:nvPr/>
          </p:nvGraphicFramePr>
          <p:xfrm>
            <a:off x="2129509" y="2602166"/>
            <a:ext cx="3365572" cy="840902"/>
          </p:xfrm>
          <a:graphic>
            <a:graphicData uri="http://schemas.openxmlformats.org/presentationml/2006/ole">
              <mc:AlternateContent xmlns:mc="http://schemas.openxmlformats.org/markup-compatibility/2006">
                <mc:Choice xmlns:v="urn:schemas-microsoft-com:vml" Requires="v">
                  <p:oleObj spid="_x0000_s5" name="Equation" r:id="rId5" imgW="31394400" imgH="7924800" progId="Equation.DSMT4">
                    <p:embed/>
                  </p:oleObj>
                </mc:Choice>
                <mc:Fallback>
                  <p:oleObj name="Equation" r:id="rId5" imgW="31394400" imgH="7924800" progId="Equation.DSMT4">
                    <p:embed/>
                    <p:pic>
                      <p:nvPicPr>
                        <p:cNvPr id="0" name="Object 73"/>
                        <p:cNvPicPr>
                          <a:picLocks noChangeAspect="1" noChangeArrowheads="1"/>
                        </p:cNvPicPr>
                        <p:nvPr/>
                      </p:nvPicPr>
                      <p:blipFill>
                        <a:blip r:embed="rId6"/>
                        <a:srcRect/>
                        <a:stretch>
                          <a:fillRect/>
                        </a:stretch>
                      </p:blipFill>
                      <p:spPr bwMode="auto">
                        <a:xfrm>
                          <a:off x="2129509" y="2602166"/>
                          <a:ext cx="3365572" cy="840902"/>
                        </a:xfrm>
                        <a:prstGeom prst="rect">
                          <a:avLst/>
                        </a:prstGeom>
                        <a:noFill/>
                        <a:ln>
                          <a:noFill/>
                        </a:ln>
                        <a:effectLst/>
                      </p:spPr>
                    </p:pic>
                  </p:oleObj>
                </mc:Fallback>
              </mc:AlternateContent>
            </a:graphicData>
          </a:graphic>
        </p:graphicFrame>
        <p:graphicFrame>
          <p:nvGraphicFramePr>
            <p:cNvPr id="13" name="Object 73"/>
            <p:cNvGraphicFramePr>
              <a:graphicFrameLocks noChangeAspect="1"/>
            </p:cNvGraphicFramePr>
            <p:nvPr/>
          </p:nvGraphicFramePr>
          <p:xfrm>
            <a:off x="6168008" y="2462888"/>
            <a:ext cx="3104265" cy="1163117"/>
          </p:xfrm>
          <a:graphic>
            <a:graphicData uri="http://schemas.openxmlformats.org/presentationml/2006/ole">
              <mc:AlternateContent xmlns:mc="http://schemas.openxmlformats.org/markup-compatibility/2006">
                <mc:Choice xmlns:v="urn:schemas-microsoft-com:vml" Requires="v">
                  <p:oleObj spid="_x0000_s6" name="Equation" r:id="rId7" imgW="28956000" imgH="10972800" progId="Equation.DSMT4">
                    <p:embed/>
                  </p:oleObj>
                </mc:Choice>
                <mc:Fallback>
                  <p:oleObj name="Equation" r:id="rId7" imgW="28956000" imgH="10972800" progId="Equation.DSMT4">
                    <p:embed/>
                    <p:pic>
                      <p:nvPicPr>
                        <p:cNvPr id="0" name="Object 73"/>
                        <p:cNvPicPr>
                          <a:picLocks noChangeAspect="1" noChangeArrowheads="1"/>
                        </p:cNvPicPr>
                        <p:nvPr/>
                      </p:nvPicPr>
                      <p:blipFill>
                        <a:blip r:embed="rId8"/>
                        <a:srcRect/>
                        <a:stretch>
                          <a:fillRect/>
                        </a:stretch>
                      </p:blipFill>
                      <p:spPr bwMode="auto">
                        <a:xfrm>
                          <a:off x="6168008" y="2462888"/>
                          <a:ext cx="3104265" cy="1163117"/>
                        </a:xfrm>
                        <a:prstGeom prst="rect">
                          <a:avLst/>
                        </a:prstGeom>
                        <a:noFill/>
                        <a:ln>
                          <a:noFill/>
                        </a:ln>
                        <a:effectLst/>
                      </p:spPr>
                    </p:pic>
                  </p:oleObj>
                </mc:Fallback>
              </mc:AlternateContent>
            </a:graphicData>
          </a:graphic>
        </p:graphicFrame>
        <p:sp>
          <p:nvSpPr>
            <p:cNvPr id="14" name="Rectangle 76"/>
            <p:cNvSpPr>
              <a:spLocks noChangeArrowheads="1"/>
            </p:cNvSpPr>
            <p:nvPr/>
          </p:nvSpPr>
          <p:spPr bwMode="auto">
            <a:xfrm>
              <a:off x="5541292" y="2792429"/>
              <a:ext cx="580504" cy="4603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或</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7" name="组合 6"/>
          <p:cNvGrpSpPr/>
          <p:nvPr/>
        </p:nvGrpSpPr>
        <p:grpSpPr>
          <a:xfrm>
            <a:off x="1843088" y="4149080"/>
            <a:ext cx="9077447" cy="1657609"/>
            <a:chOff x="1843087" y="4250378"/>
            <a:chExt cx="9077447" cy="1657609"/>
          </a:xfrm>
        </p:grpSpPr>
        <p:sp>
          <p:nvSpPr>
            <p:cNvPr id="15" name="Rectangle 76"/>
            <p:cNvSpPr>
              <a:spLocks noChangeArrowheads="1"/>
            </p:cNvSpPr>
            <p:nvPr/>
          </p:nvSpPr>
          <p:spPr bwMode="auto">
            <a:xfrm>
              <a:off x="1843087" y="4339537"/>
              <a:ext cx="9077447" cy="156845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marL="457200" indent="-457200" algn="l" eaLnBrk="1" hangingPunct="1">
                <a:lnSpc>
                  <a:spcPct val="200000"/>
                </a:lnSpc>
                <a:spcAft>
                  <a:spcPts val="0"/>
                </a:spcAft>
                <a:buFont typeface="+mj-lt"/>
                <a:buAutoNum type="arabicPeriod" startAt="3"/>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虽然在一般情况下，我们很难求出  </a:t>
              </a:r>
              <a:r>
                <a:rPr lang="zh-CN" altLang="en-US"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的分布的确切形式，但当 </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很大时，可以求出近似分布。</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6" name="Object 77"/>
            <p:cNvGraphicFramePr>
              <a:graphicFrameLocks noChangeAspect="1"/>
            </p:cNvGraphicFramePr>
            <p:nvPr/>
          </p:nvGraphicFramePr>
          <p:xfrm>
            <a:off x="6960095" y="4250378"/>
            <a:ext cx="1184175" cy="1220059"/>
          </p:xfrm>
          <a:graphic>
            <a:graphicData uri="http://schemas.openxmlformats.org/presentationml/2006/ole">
              <mc:AlternateContent xmlns:mc="http://schemas.openxmlformats.org/markup-compatibility/2006">
                <mc:Choice xmlns:v="urn:schemas-microsoft-com:vml" Requires="v">
                  <p:oleObj spid="_x0000_s10" name="Equation" r:id="rId9" imgW="10058400" imgH="10363200" progId="Equation.DSMT4">
                    <p:embed/>
                  </p:oleObj>
                </mc:Choice>
                <mc:Fallback>
                  <p:oleObj name="Equation" r:id="rId9" imgW="10058400" imgH="10363200" progId="Equation.DSMT4">
                    <p:embed/>
                    <p:pic>
                      <p:nvPicPr>
                        <p:cNvPr id="0" name="Object 77"/>
                        <p:cNvPicPr>
                          <a:picLocks noChangeAspect="1" noChangeArrowheads="1"/>
                        </p:cNvPicPr>
                        <p:nvPr/>
                      </p:nvPicPr>
                      <p:blipFill>
                        <a:blip r:embed="rId10"/>
                        <a:srcRect/>
                        <a:stretch>
                          <a:fillRect/>
                        </a:stretch>
                      </p:blipFill>
                      <p:spPr bwMode="auto">
                        <a:xfrm>
                          <a:off x="6960095" y="4250378"/>
                          <a:ext cx="1184175" cy="1220059"/>
                        </a:xfrm>
                        <a:prstGeom prst="rect">
                          <a:avLst/>
                        </a:prstGeom>
                        <a:noFill/>
                        <a:ln>
                          <a:noFill/>
                        </a:ln>
                        <a:effectLst/>
                      </p:spPr>
                    </p:pic>
                  </p:oleObj>
                </mc:Fallback>
              </mc:AlternateContent>
            </a:graphicData>
          </a:graphic>
        </p:graphicFrame>
      </p:grpSp>
      <p:cxnSp>
        <p:nvCxnSpPr>
          <p:cNvPr id="17" name="直接连接符 1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矩形 17"/>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9" name="组合 18"/>
          <p:cNvGrpSpPr/>
          <p:nvPr/>
        </p:nvGrpSpPr>
        <p:grpSpPr>
          <a:xfrm>
            <a:off x="851761" y="364781"/>
            <a:ext cx="263341" cy="395013"/>
            <a:chOff x="5284519" y="1508166"/>
            <a:chExt cx="213756" cy="427512"/>
          </a:xfrm>
        </p:grpSpPr>
        <p:cxnSp>
          <p:nvCxnSpPr>
            <p:cNvPr id="20" name="直接连接符 1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1" name="直接连接符 2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22" name="Text Box 71"/>
          <p:cNvSpPr txBox="1">
            <a:spLocks noChangeArrowheads="1"/>
          </p:cNvSpPr>
          <p:nvPr/>
        </p:nvSpPr>
        <p:spPr bwMode="auto">
          <a:xfrm>
            <a:off x="1391682" y="1095182"/>
            <a:ext cx="8940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Aft>
                <a:spcPts val="0"/>
              </a:spcAft>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注：</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34" name="Text Box 74"/>
          <p:cNvSpPr txBox="1">
            <a:spLocks noChangeArrowheads="1"/>
          </p:cNvSpPr>
          <p:nvPr/>
        </p:nvSpPr>
        <p:spPr bwMode="auto">
          <a:xfrm>
            <a:off x="1335307" y="1126204"/>
            <a:ext cx="536130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Aft>
                <a:spcPts val="0"/>
              </a:spcAft>
            </a:pP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（李雅普诺夫</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Liapounov</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5435" name="Object 75"/>
          <p:cNvGraphicFramePr>
            <a:graphicFrameLocks noChangeAspect="1"/>
          </p:cNvGraphicFramePr>
          <p:nvPr/>
        </p:nvGraphicFramePr>
        <p:xfrm>
          <a:off x="1417912" y="1936170"/>
          <a:ext cx="8774112" cy="1012825"/>
        </p:xfrm>
        <a:graphic>
          <a:graphicData uri="http://schemas.openxmlformats.org/presentationml/2006/ole">
            <mc:AlternateContent xmlns:mc="http://schemas.openxmlformats.org/markup-compatibility/2006">
              <mc:Choice xmlns:v="urn:schemas-microsoft-com:vml" Requires="v">
                <p:oleObj spid="_x0000_s2" name="Equation" r:id="rId1" imgW="97840800" imgH="11582400" progId="Equation.DSMT4">
                  <p:embed/>
                </p:oleObj>
              </mc:Choice>
              <mc:Fallback>
                <p:oleObj name="Equation" r:id="rId1" imgW="97840800" imgH="11582400" progId="Equation.DSMT4">
                  <p:embed/>
                  <p:pic>
                    <p:nvPicPr>
                      <p:cNvPr id="0" name="Object 75"/>
                      <p:cNvPicPr>
                        <a:picLocks noChangeAspect="1" noChangeArrowheads="1"/>
                      </p:cNvPicPr>
                      <p:nvPr/>
                    </p:nvPicPr>
                    <p:blipFill>
                      <a:blip r:embed="rId2"/>
                      <a:srcRect/>
                      <a:stretch>
                        <a:fillRect/>
                      </a:stretch>
                    </p:blipFill>
                    <p:spPr bwMode="auto">
                      <a:xfrm>
                        <a:off x="1417912" y="1936170"/>
                        <a:ext cx="8774112" cy="1012825"/>
                      </a:xfrm>
                      <a:prstGeom prst="rect">
                        <a:avLst/>
                      </a:prstGeom>
                      <a:noFill/>
                      <a:ln>
                        <a:noFill/>
                      </a:ln>
                      <a:effectLst/>
                    </p:spPr>
                  </p:pic>
                </p:oleObj>
              </mc:Fallback>
            </mc:AlternateContent>
          </a:graphicData>
        </a:graphic>
      </p:graphicFrame>
      <p:graphicFrame>
        <p:nvGraphicFramePr>
          <p:cNvPr id="15436" name="Object 76"/>
          <p:cNvGraphicFramePr>
            <a:graphicFrameLocks noChangeAspect="1"/>
          </p:cNvGraphicFramePr>
          <p:nvPr/>
        </p:nvGraphicFramePr>
        <p:xfrm>
          <a:off x="2152362" y="3061334"/>
          <a:ext cx="3327400" cy="904875"/>
        </p:xfrm>
        <a:graphic>
          <a:graphicData uri="http://schemas.openxmlformats.org/presentationml/2006/ole">
            <mc:AlternateContent xmlns:mc="http://schemas.openxmlformats.org/markup-compatibility/2006">
              <mc:Choice xmlns:v="urn:schemas-microsoft-com:vml" Requires="v">
                <p:oleObj spid="_x0000_s3" name="Equation" r:id="rId3" imgW="38100000" imgH="10363200" progId="Equation.DSMT4">
                  <p:embed/>
                </p:oleObj>
              </mc:Choice>
              <mc:Fallback>
                <p:oleObj name="Equation" r:id="rId3" imgW="38100000" imgH="10363200" progId="Equation.DSMT4">
                  <p:embed/>
                  <p:pic>
                    <p:nvPicPr>
                      <p:cNvPr id="0" name="Object 76"/>
                      <p:cNvPicPr>
                        <a:picLocks noChangeAspect="1" noChangeArrowheads="1"/>
                      </p:cNvPicPr>
                      <p:nvPr/>
                    </p:nvPicPr>
                    <p:blipFill>
                      <a:blip r:embed="rId4"/>
                      <a:srcRect/>
                      <a:stretch>
                        <a:fillRect/>
                      </a:stretch>
                    </p:blipFill>
                    <p:spPr bwMode="auto">
                      <a:xfrm>
                        <a:off x="2152362" y="3061334"/>
                        <a:ext cx="3327400" cy="904875"/>
                      </a:xfrm>
                      <a:prstGeom prst="rect">
                        <a:avLst/>
                      </a:prstGeom>
                      <a:noFill/>
                      <a:ln>
                        <a:noFill/>
                      </a:ln>
                      <a:effectLst/>
                    </p:spPr>
                  </p:pic>
                </p:oleObj>
              </mc:Fallback>
            </mc:AlternateContent>
          </a:graphicData>
        </a:graphic>
      </p:graphicFrame>
      <p:graphicFrame>
        <p:nvGraphicFramePr>
          <p:cNvPr id="15437" name="Object 77"/>
          <p:cNvGraphicFramePr>
            <a:graphicFrameLocks noChangeAspect="1"/>
          </p:cNvGraphicFramePr>
          <p:nvPr/>
        </p:nvGraphicFramePr>
        <p:xfrm>
          <a:off x="2152362" y="4285470"/>
          <a:ext cx="5508625" cy="1436688"/>
        </p:xfrm>
        <a:graphic>
          <a:graphicData uri="http://schemas.openxmlformats.org/presentationml/2006/ole">
            <mc:AlternateContent xmlns:mc="http://schemas.openxmlformats.org/markup-compatibility/2006">
              <mc:Choice xmlns:v="urn:schemas-microsoft-com:vml" Requires="v">
                <p:oleObj spid="_x0000_s4" name="Equation" r:id="rId5" imgW="63093600" imgH="16459200" progId="Equation.DSMT4">
                  <p:embed/>
                </p:oleObj>
              </mc:Choice>
              <mc:Fallback>
                <p:oleObj name="Equation" r:id="rId5" imgW="63093600" imgH="16459200" progId="Equation.DSMT4">
                  <p:embed/>
                  <p:pic>
                    <p:nvPicPr>
                      <p:cNvPr id="0" name="Object 77"/>
                      <p:cNvPicPr>
                        <a:picLocks noChangeAspect="1" noChangeArrowheads="1"/>
                      </p:cNvPicPr>
                      <p:nvPr/>
                    </p:nvPicPr>
                    <p:blipFill>
                      <a:blip r:embed="rId6"/>
                      <a:srcRect/>
                      <a:stretch>
                        <a:fillRect/>
                      </a:stretch>
                    </p:blipFill>
                    <p:spPr bwMode="auto">
                      <a:xfrm>
                        <a:off x="2152362" y="4285470"/>
                        <a:ext cx="5508625" cy="1436688"/>
                      </a:xfrm>
                      <a:prstGeom prst="rect">
                        <a:avLst/>
                      </a:prstGeom>
                      <a:noFill/>
                      <a:ln>
                        <a:noFill/>
                      </a:ln>
                      <a:effectLst/>
                    </p:spPr>
                  </p:pic>
                </p:oleObj>
              </mc:Fallback>
            </mc:AlternateContent>
          </a:graphicData>
        </a:graphic>
      </p:graphicFrame>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921" name="Object 81"/>
          <p:cNvGraphicFramePr>
            <a:graphicFrameLocks noChangeAspect="1"/>
          </p:cNvGraphicFramePr>
          <p:nvPr/>
        </p:nvGraphicFramePr>
        <p:xfrm>
          <a:off x="3198021" y="1938935"/>
          <a:ext cx="5162336" cy="1826673"/>
        </p:xfrm>
        <a:graphic>
          <a:graphicData uri="http://schemas.openxmlformats.org/presentationml/2006/ole">
            <mc:AlternateContent xmlns:mc="http://schemas.openxmlformats.org/markup-compatibility/2006">
              <mc:Choice xmlns:v="urn:schemas-microsoft-com:vml" Requires="v">
                <p:oleObj spid="_x0000_s2" name="Equation" r:id="rId1" imgW="59436000" imgH="21031200" progId="Equation.DSMT4">
                  <p:embed/>
                </p:oleObj>
              </mc:Choice>
              <mc:Fallback>
                <p:oleObj name="Equation" r:id="rId1" imgW="59436000" imgH="21031200" progId="Equation.DSMT4">
                  <p:embed/>
                  <p:pic>
                    <p:nvPicPr>
                      <p:cNvPr id="0" name="Object 81"/>
                      <p:cNvPicPr>
                        <a:picLocks noChangeAspect="1" noChangeArrowheads="1"/>
                      </p:cNvPicPr>
                      <p:nvPr/>
                    </p:nvPicPr>
                    <p:blipFill>
                      <a:blip r:embed="rId2"/>
                      <a:srcRect/>
                      <a:stretch>
                        <a:fillRect/>
                      </a:stretch>
                    </p:blipFill>
                    <p:spPr bwMode="auto">
                      <a:xfrm>
                        <a:off x="3198021" y="1938935"/>
                        <a:ext cx="5162336" cy="1826673"/>
                      </a:xfrm>
                      <a:prstGeom prst="rect">
                        <a:avLst/>
                      </a:prstGeom>
                      <a:noFill/>
                      <a:ln>
                        <a:noFill/>
                      </a:ln>
                      <a:effectLst/>
                    </p:spPr>
                  </p:pic>
                </p:oleObj>
              </mc:Fallback>
            </mc:AlternateContent>
          </a:graphicData>
        </a:graphic>
      </p:graphicFrame>
      <p:graphicFrame>
        <p:nvGraphicFramePr>
          <p:cNvPr id="35922" name="Object 82"/>
          <p:cNvGraphicFramePr>
            <a:graphicFrameLocks noChangeAspect="1"/>
          </p:cNvGraphicFramePr>
          <p:nvPr/>
        </p:nvGraphicFramePr>
        <p:xfrm>
          <a:off x="2027751" y="3967537"/>
          <a:ext cx="4659344" cy="476524"/>
        </p:xfrm>
        <a:graphic>
          <a:graphicData uri="http://schemas.openxmlformats.org/presentationml/2006/ole">
            <mc:AlternateContent xmlns:mc="http://schemas.openxmlformats.org/markup-compatibility/2006">
              <mc:Choice xmlns:v="urn:schemas-microsoft-com:vml" Requires="v">
                <p:oleObj spid="_x0000_s3" name="Equation" r:id="rId3" imgW="53644800" imgH="5486400" progId="Equation.DSMT4">
                  <p:embed/>
                </p:oleObj>
              </mc:Choice>
              <mc:Fallback>
                <p:oleObj name="Equation" r:id="rId3" imgW="53644800" imgH="5486400" progId="Equation.DSMT4">
                  <p:embed/>
                  <p:pic>
                    <p:nvPicPr>
                      <p:cNvPr id="0" name="Object 82"/>
                      <p:cNvPicPr>
                        <a:picLocks noChangeAspect="1" noChangeArrowheads="1"/>
                      </p:cNvPicPr>
                      <p:nvPr/>
                    </p:nvPicPr>
                    <p:blipFill>
                      <a:blip r:embed="rId4"/>
                      <a:srcRect/>
                      <a:stretch>
                        <a:fillRect/>
                      </a:stretch>
                    </p:blipFill>
                    <p:spPr bwMode="auto">
                      <a:xfrm>
                        <a:off x="2027751" y="3967537"/>
                        <a:ext cx="4659344" cy="476524"/>
                      </a:xfrm>
                      <a:prstGeom prst="rect">
                        <a:avLst/>
                      </a:prstGeom>
                      <a:noFill/>
                      <a:ln>
                        <a:noFill/>
                      </a:ln>
                      <a:effectLst/>
                    </p:spPr>
                  </p:pic>
                </p:oleObj>
              </mc:Fallback>
            </mc:AlternateContent>
          </a:graphicData>
        </a:graphic>
      </p:graphicFrame>
      <p:graphicFrame>
        <p:nvGraphicFramePr>
          <p:cNvPr id="35923" name="Object 83"/>
          <p:cNvGraphicFramePr>
            <a:graphicFrameLocks noChangeAspect="1"/>
          </p:cNvGraphicFramePr>
          <p:nvPr/>
        </p:nvGraphicFramePr>
        <p:xfrm>
          <a:off x="1952531" y="4509120"/>
          <a:ext cx="4924076" cy="1800200"/>
        </p:xfrm>
        <a:graphic>
          <a:graphicData uri="http://schemas.openxmlformats.org/presentationml/2006/ole">
            <mc:AlternateContent xmlns:mc="http://schemas.openxmlformats.org/markup-compatibility/2006">
              <mc:Choice xmlns:v="urn:schemas-microsoft-com:vml" Requires="v">
                <p:oleObj spid="_x0000_s4" name="Equation" r:id="rId5" imgW="56692800" imgH="20726400" progId="Equation.DSMT4">
                  <p:embed/>
                </p:oleObj>
              </mc:Choice>
              <mc:Fallback>
                <p:oleObj name="Equation" r:id="rId5" imgW="56692800" imgH="20726400" progId="Equation.DSMT4">
                  <p:embed/>
                  <p:pic>
                    <p:nvPicPr>
                      <p:cNvPr id="0" name="Object 83"/>
                      <p:cNvPicPr>
                        <a:picLocks noChangeAspect="1" noChangeArrowheads="1"/>
                      </p:cNvPicPr>
                      <p:nvPr/>
                    </p:nvPicPr>
                    <p:blipFill>
                      <a:blip r:embed="rId6"/>
                      <a:srcRect/>
                      <a:stretch>
                        <a:fillRect/>
                      </a:stretch>
                    </p:blipFill>
                    <p:spPr bwMode="auto">
                      <a:xfrm>
                        <a:off x="1952531" y="4509120"/>
                        <a:ext cx="4924076" cy="1800200"/>
                      </a:xfrm>
                      <a:prstGeom prst="rect">
                        <a:avLst/>
                      </a:prstGeom>
                      <a:noFill/>
                      <a:ln>
                        <a:noFill/>
                      </a:ln>
                      <a:effectLst/>
                    </p:spPr>
                  </p:pic>
                </p:oleObj>
              </mc:Fallback>
            </mc:AlternateContent>
          </a:graphicData>
        </a:graphic>
      </p:graphicFrame>
      <p:graphicFrame>
        <p:nvGraphicFramePr>
          <p:cNvPr id="35924" name="Object 84"/>
          <p:cNvGraphicFramePr>
            <a:graphicFrameLocks noChangeAspect="1"/>
          </p:cNvGraphicFramePr>
          <p:nvPr/>
        </p:nvGraphicFramePr>
        <p:xfrm>
          <a:off x="7053872" y="4998361"/>
          <a:ext cx="3176823" cy="873626"/>
        </p:xfrm>
        <a:graphic>
          <a:graphicData uri="http://schemas.openxmlformats.org/presentationml/2006/ole">
            <mc:AlternateContent xmlns:mc="http://schemas.openxmlformats.org/markup-compatibility/2006">
              <mc:Choice xmlns:v="urn:schemas-microsoft-com:vml" Requires="v">
                <p:oleObj spid="_x0000_s5" name="Equation" r:id="rId7" imgW="36576000" imgH="10058400" progId="Equation.DSMT4">
                  <p:embed/>
                </p:oleObj>
              </mc:Choice>
              <mc:Fallback>
                <p:oleObj name="Equation" r:id="rId7" imgW="36576000" imgH="10058400" progId="Equation.DSMT4">
                  <p:embed/>
                  <p:pic>
                    <p:nvPicPr>
                      <p:cNvPr id="0" name="Object 84"/>
                      <p:cNvPicPr>
                        <a:picLocks noChangeAspect="1" noChangeArrowheads="1"/>
                      </p:cNvPicPr>
                      <p:nvPr/>
                    </p:nvPicPr>
                    <p:blipFill>
                      <a:blip r:embed="rId8"/>
                      <a:srcRect/>
                      <a:stretch>
                        <a:fillRect/>
                      </a:stretch>
                    </p:blipFill>
                    <p:spPr bwMode="auto">
                      <a:xfrm>
                        <a:off x="7053872" y="4998361"/>
                        <a:ext cx="3176823" cy="873626"/>
                      </a:xfrm>
                      <a:prstGeom prst="rect">
                        <a:avLst/>
                      </a:prstGeom>
                      <a:noFill/>
                      <a:ln>
                        <a:noFill/>
                      </a:ln>
                      <a:effectLst/>
                    </p:spPr>
                  </p:pic>
                </p:oleObj>
              </mc:Fallback>
            </mc:AlternateContent>
          </a:graphicData>
        </a:graphic>
      </p:graphicFrame>
      <p:graphicFrame>
        <p:nvGraphicFramePr>
          <p:cNvPr id="7" name="Object 78"/>
          <p:cNvGraphicFramePr>
            <a:graphicFrameLocks noChangeAspect="1"/>
          </p:cNvGraphicFramePr>
          <p:nvPr/>
        </p:nvGraphicFramePr>
        <p:xfrm>
          <a:off x="1847528" y="956333"/>
          <a:ext cx="5400600" cy="904702"/>
        </p:xfrm>
        <a:graphic>
          <a:graphicData uri="http://schemas.openxmlformats.org/presentationml/2006/ole">
            <mc:AlternateContent xmlns:mc="http://schemas.openxmlformats.org/markup-compatibility/2006">
              <mc:Choice xmlns:v="urn:schemas-microsoft-com:vml" Requires="v">
                <p:oleObj spid="_x0000_s6" name="Equation" r:id="rId9" imgW="57607200" imgH="10363200" progId="Equation.DSMT4">
                  <p:embed/>
                </p:oleObj>
              </mc:Choice>
              <mc:Fallback>
                <p:oleObj name="Equation" r:id="rId9" imgW="57607200" imgH="10363200" progId="Equation.DSMT4">
                  <p:embed/>
                  <p:pic>
                    <p:nvPicPr>
                      <p:cNvPr id="0" name="Object 78"/>
                      <p:cNvPicPr>
                        <a:picLocks noChangeAspect="1" noChangeArrowheads="1"/>
                      </p:cNvPicPr>
                      <p:nvPr/>
                    </p:nvPicPr>
                    <p:blipFill>
                      <a:blip r:embed="rId10"/>
                      <a:srcRect/>
                      <a:stretch>
                        <a:fillRect/>
                      </a:stretch>
                    </p:blipFill>
                    <p:spPr bwMode="auto">
                      <a:xfrm>
                        <a:off x="1847528" y="956333"/>
                        <a:ext cx="5400600" cy="904702"/>
                      </a:xfrm>
                      <a:prstGeom prst="rect">
                        <a:avLst/>
                      </a:prstGeom>
                      <a:noFill/>
                      <a:ln>
                        <a:noFill/>
                      </a:ln>
                      <a:effectLst/>
                    </p:spPr>
                  </p:pic>
                </p:oleObj>
              </mc:Fallback>
            </mc:AlternateContent>
          </a:graphicData>
        </a:graphic>
      </p:graphicFrame>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66" name="Text Box 82"/>
          <p:cNvSpPr txBox="1">
            <a:spLocks noChangeArrowheads="1"/>
          </p:cNvSpPr>
          <p:nvPr/>
        </p:nvSpPr>
        <p:spPr bwMode="auto">
          <a:xfrm>
            <a:off x="1558131" y="1067310"/>
            <a:ext cx="12750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Aft>
                <a:spcPts val="0"/>
              </a:spcAft>
            </a:pP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请注意 </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6467" name="Object 83"/>
          <p:cNvGraphicFramePr>
            <a:graphicFrameLocks noChangeAspect="1"/>
          </p:cNvGraphicFramePr>
          <p:nvPr/>
        </p:nvGraphicFramePr>
        <p:xfrm>
          <a:off x="1558131" y="1500796"/>
          <a:ext cx="8956675" cy="1292225"/>
        </p:xfrm>
        <a:graphic>
          <a:graphicData uri="http://schemas.openxmlformats.org/presentationml/2006/ole">
            <mc:AlternateContent xmlns:mc="http://schemas.openxmlformats.org/markup-compatibility/2006">
              <mc:Choice xmlns:v="urn:schemas-microsoft-com:vml" Requires="v">
                <p:oleObj spid="_x0000_s2" name="Equation" r:id="rId1" imgW="100279200" imgH="15240000" progId="Equation.DSMT4">
                  <p:embed/>
                </p:oleObj>
              </mc:Choice>
              <mc:Fallback>
                <p:oleObj name="Equation" r:id="rId1" imgW="100279200" imgH="15240000" progId="Equation.DSMT4">
                  <p:embed/>
                  <p:pic>
                    <p:nvPicPr>
                      <p:cNvPr id="0" name="Object 83"/>
                      <p:cNvPicPr>
                        <a:picLocks noChangeAspect="1" noChangeArrowheads="1"/>
                      </p:cNvPicPr>
                      <p:nvPr/>
                    </p:nvPicPr>
                    <p:blipFill>
                      <a:blip r:embed="rId2"/>
                      <a:srcRect/>
                      <a:stretch>
                        <a:fillRect/>
                      </a:stretch>
                    </p:blipFill>
                    <p:spPr bwMode="auto">
                      <a:xfrm>
                        <a:off x="1558131" y="1500796"/>
                        <a:ext cx="8956675" cy="1292225"/>
                      </a:xfrm>
                      <a:prstGeom prst="rect">
                        <a:avLst/>
                      </a:prstGeom>
                      <a:noFill/>
                      <a:ln>
                        <a:noFill/>
                      </a:ln>
                      <a:effectLst/>
                    </p:spPr>
                  </p:pic>
                </p:oleObj>
              </mc:Fallback>
            </mc:AlternateContent>
          </a:graphicData>
        </a:graphic>
      </p:graphicFrame>
      <p:graphicFrame>
        <p:nvGraphicFramePr>
          <p:cNvPr id="16468" name="Object 84"/>
          <p:cNvGraphicFramePr>
            <a:graphicFrameLocks noChangeAspect="1"/>
          </p:cNvGraphicFramePr>
          <p:nvPr/>
        </p:nvGraphicFramePr>
        <p:xfrm>
          <a:off x="3489326" y="3646290"/>
          <a:ext cx="1862326" cy="853566"/>
        </p:xfrm>
        <a:graphic>
          <a:graphicData uri="http://schemas.openxmlformats.org/presentationml/2006/ole">
            <mc:AlternateContent xmlns:mc="http://schemas.openxmlformats.org/markup-compatibility/2006">
              <mc:Choice xmlns:v="urn:schemas-microsoft-com:vml" Requires="v">
                <p:oleObj spid="_x0000_s3" name="公式" r:id="rId3" imgW="190500" imgH="419100" progId="Equation.3">
                  <p:embed/>
                </p:oleObj>
              </mc:Choice>
              <mc:Fallback>
                <p:oleObj name="公式" r:id="rId3" imgW="190500" imgH="419100" progId="Equation.3">
                  <p:embed/>
                  <p:pic>
                    <p:nvPicPr>
                      <p:cNvPr id="0" name="Object 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9326" y="3646290"/>
                        <a:ext cx="1862326" cy="853566"/>
                      </a:xfrm>
                      <a:prstGeom prst="rect">
                        <a:avLst/>
                      </a:prstGeom>
                      <a:noFill/>
                      <a:ln>
                        <a:noFill/>
                      </a:ln>
                      <a:effectLst/>
                    </p:spPr>
                  </p:pic>
                </p:oleObj>
              </mc:Fallback>
            </mc:AlternateContent>
          </a:graphicData>
        </a:graphic>
      </p:graphicFrame>
      <p:graphicFrame>
        <p:nvGraphicFramePr>
          <p:cNvPr id="16469" name="Object 85"/>
          <p:cNvGraphicFramePr>
            <a:graphicFrameLocks noChangeAspect="1"/>
          </p:cNvGraphicFramePr>
          <p:nvPr/>
        </p:nvGraphicFramePr>
        <p:xfrm>
          <a:off x="3287688" y="2921748"/>
          <a:ext cx="6233621" cy="879432"/>
        </p:xfrm>
        <a:graphic>
          <a:graphicData uri="http://schemas.openxmlformats.org/presentationml/2006/ole">
            <mc:AlternateContent xmlns:mc="http://schemas.openxmlformats.org/markup-compatibility/2006">
              <mc:Choice xmlns:v="urn:schemas-microsoft-com:vml" Requires="v">
                <p:oleObj spid="_x0000_s4" name="Equation" r:id="rId5" imgW="73456800" imgH="10363200" progId="Equation.DSMT4">
                  <p:embed/>
                </p:oleObj>
              </mc:Choice>
              <mc:Fallback>
                <p:oleObj name="Equation" r:id="rId5" imgW="73456800" imgH="10363200" progId="Equation.DSMT4">
                  <p:embed/>
                  <p:pic>
                    <p:nvPicPr>
                      <p:cNvPr id="0" name="Object 85"/>
                      <p:cNvPicPr>
                        <a:picLocks noChangeAspect="1" noChangeArrowheads="1"/>
                      </p:cNvPicPr>
                      <p:nvPr/>
                    </p:nvPicPr>
                    <p:blipFill>
                      <a:blip r:embed="rId6"/>
                      <a:srcRect/>
                      <a:stretch>
                        <a:fillRect/>
                      </a:stretch>
                    </p:blipFill>
                    <p:spPr bwMode="auto">
                      <a:xfrm>
                        <a:off x="3287688" y="2921748"/>
                        <a:ext cx="6233621" cy="879432"/>
                      </a:xfrm>
                      <a:prstGeom prst="rect">
                        <a:avLst/>
                      </a:prstGeom>
                      <a:noFill/>
                      <a:ln>
                        <a:noFill/>
                      </a:ln>
                      <a:effectLst/>
                    </p:spPr>
                  </p:pic>
                </p:oleObj>
              </mc:Fallback>
            </mc:AlternateContent>
          </a:graphicData>
        </a:graphic>
      </p:graphicFrame>
      <p:graphicFrame>
        <p:nvGraphicFramePr>
          <p:cNvPr id="16470" name="Object 86"/>
          <p:cNvGraphicFramePr>
            <a:graphicFrameLocks noChangeAspect="1"/>
          </p:cNvGraphicFramePr>
          <p:nvPr/>
        </p:nvGraphicFramePr>
        <p:xfrm>
          <a:off x="1558131" y="4221088"/>
          <a:ext cx="9075738" cy="1809750"/>
        </p:xfrm>
        <a:graphic>
          <a:graphicData uri="http://schemas.openxmlformats.org/presentationml/2006/ole">
            <mc:AlternateContent xmlns:mc="http://schemas.openxmlformats.org/markup-compatibility/2006">
              <mc:Choice xmlns:v="urn:schemas-microsoft-com:vml" Requires="v">
                <p:oleObj spid="_x0000_s5" name="Equation" r:id="rId7" imgW="103936800" imgH="21336000" progId="Equation.DSMT4">
                  <p:embed/>
                </p:oleObj>
              </mc:Choice>
              <mc:Fallback>
                <p:oleObj name="Equation" r:id="rId7" imgW="103936800" imgH="21336000" progId="Equation.DSMT4">
                  <p:embed/>
                  <p:pic>
                    <p:nvPicPr>
                      <p:cNvPr id="0" name="Object 86"/>
                      <p:cNvPicPr>
                        <a:picLocks noChangeAspect="1" noChangeArrowheads="1"/>
                      </p:cNvPicPr>
                      <p:nvPr/>
                    </p:nvPicPr>
                    <p:blipFill>
                      <a:blip r:embed="rId8"/>
                      <a:srcRect/>
                      <a:stretch>
                        <a:fillRect/>
                      </a:stretch>
                    </p:blipFill>
                    <p:spPr bwMode="auto">
                      <a:xfrm>
                        <a:off x="1558131" y="4221088"/>
                        <a:ext cx="9075738" cy="1809750"/>
                      </a:xfrm>
                      <a:prstGeom prst="rect">
                        <a:avLst/>
                      </a:prstGeom>
                      <a:noFill/>
                      <a:ln>
                        <a:noFill/>
                      </a:ln>
                      <a:effectLst/>
                    </p:spPr>
                  </p:pic>
                </p:oleObj>
              </mc:Fallback>
            </mc:AlternateContent>
          </a:graphicData>
        </a:graphic>
      </p:graphicFrame>
      <p:cxnSp>
        <p:nvCxnSpPr>
          <p:cNvPr id="7" name="直接连接符 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50" name="Text Box 42"/>
          <p:cNvSpPr txBox="1">
            <a:spLocks noChangeArrowheads="1"/>
          </p:cNvSpPr>
          <p:nvPr/>
        </p:nvSpPr>
        <p:spPr bwMode="auto">
          <a:xfrm>
            <a:off x="1309305" y="1355209"/>
            <a:ext cx="7694612"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spcAft>
                <a:spcPts val="0"/>
              </a:spcAft>
            </a:pP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3</a:t>
            </a:r>
            <a:r>
              <a:rPr lang="en-US" altLang="zh-CN"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棣莫佛－拉普拉斯（</a:t>
            </a:r>
            <a:r>
              <a:rPr lang="en-US" altLang="zh-CN"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De Laplace</a:t>
            </a: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endPar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7452" name="Group 44"/>
          <p:cNvGrpSpPr/>
          <p:nvPr/>
        </p:nvGrpSpPr>
        <p:grpSpPr bwMode="auto">
          <a:xfrm>
            <a:off x="1406163" y="1794332"/>
            <a:ext cx="9521825" cy="2060572"/>
            <a:chOff x="340" y="527"/>
            <a:chExt cx="5998" cy="1298"/>
          </a:xfrm>
        </p:grpSpPr>
        <p:sp>
          <p:nvSpPr>
            <p:cNvPr id="17453" name="Text Box 45"/>
            <p:cNvSpPr txBox="1">
              <a:spLocks noChangeArrowheads="1"/>
            </p:cNvSpPr>
            <p:nvPr/>
          </p:nvSpPr>
          <p:spPr bwMode="auto">
            <a:xfrm>
              <a:off x="340" y="527"/>
              <a:ext cx="5998" cy="1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200000"/>
                </a:lnSpc>
                <a:spcAft>
                  <a:spcPts val="0"/>
                </a:spcAft>
              </a:pPr>
              <a:r>
                <a:rPr lang="en-US" altLang="zh-CN" sz="4000" b="1"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设随机变量      </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(n=1,2,‥‥)</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服从参数</a:t>
              </a:r>
              <a:r>
                <a:rPr lang="en-US" altLang="zh-CN" sz="3200" b="1" i="1" dirty="0" err="1">
                  <a:latin typeface="Times New Roman" panose="02020603050405020304" pitchFamily="18" charset="0"/>
                  <a:ea typeface="微软雅黑" panose="020B0503020204020204" pitchFamily="34" charset="-122"/>
                  <a:sym typeface="Times New Roman" panose="02020603050405020304" pitchFamily="18" charset="0"/>
                </a:rPr>
                <a:t>n,p</a:t>
              </a:r>
              <a:r>
                <a:rPr lang="en-US" altLang="zh-CN" sz="3200" b="1" dirty="0">
                  <a:latin typeface="Times New Roman" panose="02020603050405020304" pitchFamily="18" charset="0"/>
                  <a:ea typeface="微软雅黑" panose="020B0503020204020204" pitchFamily="34" charset="-122"/>
                  <a:sym typeface="Times New Roman" panose="02020603050405020304" pitchFamily="18" charset="0"/>
                </a:rPr>
                <a:t>(0&lt;</a:t>
              </a:r>
              <a:r>
                <a:rPr lang="en-US" altLang="zh-CN" sz="32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3200" b="1" dirty="0">
                  <a:latin typeface="Times New Roman" panose="02020603050405020304" pitchFamily="18" charset="0"/>
                  <a:ea typeface="微软雅黑" panose="020B0503020204020204" pitchFamily="34" charset="-122"/>
                  <a:sym typeface="Times New Roman" panose="02020603050405020304" pitchFamily="18" charset="0"/>
                </a:rPr>
                <a:t>&lt;1)</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的二项分布，则对任意</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，有</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7454" name="Object 46"/>
            <p:cNvGraphicFramePr>
              <a:graphicFrameLocks noChangeAspect="1"/>
            </p:cNvGraphicFramePr>
            <p:nvPr/>
          </p:nvGraphicFramePr>
          <p:xfrm>
            <a:off x="1751" y="847"/>
            <a:ext cx="345" cy="424"/>
          </p:xfrm>
          <a:graphic>
            <a:graphicData uri="http://schemas.openxmlformats.org/presentationml/2006/ole">
              <mc:AlternateContent xmlns:mc="http://schemas.openxmlformats.org/markup-compatibility/2006">
                <mc:Choice xmlns:v="urn:schemas-microsoft-com:vml" Requires="v">
                  <p:oleObj spid="_x0000_s2" name="Equation" r:id="rId1" imgW="4267200" imgH="5486400" progId="Equation.DSMT4">
                    <p:embed/>
                  </p:oleObj>
                </mc:Choice>
                <mc:Fallback>
                  <p:oleObj name="Equation" r:id="rId1" imgW="4267200" imgH="5486400" progId="Equation.DSMT4">
                    <p:embed/>
                    <p:pic>
                      <p:nvPicPr>
                        <p:cNvPr id="0" name="Object 46"/>
                        <p:cNvPicPr>
                          <a:picLocks noChangeAspect="1" noChangeArrowheads="1"/>
                        </p:cNvPicPr>
                        <p:nvPr/>
                      </p:nvPicPr>
                      <p:blipFill>
                        <a:blip r:embed="rId2"/>
                        <a:srcRect/>
                        <a:stretch>
                          <a:fillRect/>
                        </a:stretch>
                      </p:blipFill>
                      <p:spPr bwMode="auto">
                        <a:xfrm>
                          <a:off x="1751" y="847"/>
                          <a:ext cx="345" cy="424"/>
                        </a:xfrm>
                        <a:prstGeom prst="rect">
                          <a:avLst/>
                        </a:prstGeom>
                        <a:noFill/>
                        <a:ln>
                          <a:noFill/>
                        </a:ln>
                        <a:effectLst/>
                      </p:spPr>
                    </p:pic>
                  </p:oleObj>
                </mc:Fallback>
              </mc:AlternateContent>
            </a:graphicData>
          </a:graphic>
        </p:graphicFrame>
      </p:grpSp>
      <p:cxnSp>
        <p:nvCxnSpPr>
          <p:cNvPr id="13" name="直接连接符 12"/>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5" name="组合 14"/>
          <p:cNvGrpSpPr/>
          <p:nvPr/>
        </p:nvGrpSpPr>
        <p:grpSpPr>
          <a:xfrm>
            <a:off x="851761" y="364781"/>
            <a:ext cx="263341" cy="395013"/>
            <a:chOff x="5284519" y="1508166"/>
            <a:chExt cx="213756" cy="427512"/>
          </a:xfrm>
        </p:grpSpPr>
        <p:cxnSp>
          <p:nvCxnSpPr>
            <p:cNvPr id="16" name="直接连接符 15"/>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7" name="直接连接符 16"/>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aphicFrame>
        <p:nvGraphicFramePr>
          <p:cNvPr id="17451" name="Object 43"/>
          <p:cNvGraphicFramePr>
            <a:graphicFrameLocks noChangeAspect="1"/>
          </p:cNvGraphicFramePr>
          <p:nvPr/>
        </p:nvGraphicFramePr>
        <p:xfrm>
          <a:off x="3006129" y="3881206"/>
          <a:ext cx="5903813" cy="1272259"/>
        </p:xfrm>
        <a:graphic>
          <a:graphicData uri="http://schemas.openxmlformats.org/presentationml/2006/ole">
            <mc:AlternateContent xmlns:mc="http://schemas.openxmlformats.org/markup-compatibility/2006">
              <mc:Choice xmlns:v="urn:schemas-microsoft-com:vml" Requires="v">
                <p:oleObj spid="_x0000_s3" name="Equation" r:id="rId3" imgW="69189600" imgH="11887200" progId="Equation.DSMT4">
                  <p:embed/>
                </p:oleObj>
              </mc:Choice>
              <mc:Fallback>
                <p:oleObj name="Equation" r:id="rId3" imgW="69189600" imgH="11887200" progId="Equation.DSMT4">
                  <p:embed/>
                  <p:pic>
                    <p:nvPicPr>
                      <p:cNvPr id="0" name="Object 43"/>
                      <p:cNvPicPr>
                        <a:picLocks noChangeAspect="1" noChangeArrowheads="1"/>
                      </p:cNvPicPr>
                      <p:nvPr/>
                    </p:nvPicPr>
                    <p:blipFill>
                      <a:blip r:embed="rId4"/>
                      <a:srcRect/>
                      <a:stretch>
                        <a:fillRect/>
                      </a:stretch>
                    </p:blipFill>
                    <p:spPr bwMode="auto">
                      <a:xfrm>
                        <a:off x="3006129" y="3881206"/>
                        <a:ext cx="5903813" cy="1272259"/>
                      </a:xfrm>
                      <a:prstGeom prst="rect">
                        <a:avLst/>
                      </a:prstGeom>
                      <a:noFill/>
                      <a:ln>
                        <a:noFill/>
                      </a:ln>
                      <a:effec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57" name="Text Box 49"/>
          <p:cNvSpPr txBox="1">
            <a:spLocks noChangeArrowheads="1"/>
          </p:cNvSpPr>
          <p:nvPr/>
        </p:nvSpPr>
        <p:spPr bwMode="auto">
          <a:xfrm>
            <a:off x="1703512" y="2130136"/>
            <a:ext cx="8940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Aft>
                <a:spcPts val="0"/>
              </a:spcAft>
            </a:pP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证：</a:t>
            </a:r>
            <a:endPar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3" name="直接连接符 12"/>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5" name="组合 14"/>
          <p:cNvGrpSpPr/>
          <p:nvPr/>
        </p:nvGrpSpPr>
        <p:grpSpPr>
          <a:xfrm>
            <a:off x="851761" y="364781"/>
            <a:ext cx="263341" cy="395013"/>
            <a:chOff x="5284519" y="1508166"/>
            <a:chExt cx="213756" cy="427512"/>
          </a:xfrm>
        </p:grpSpPr>
        <p:cxnSp>
          <p:nvCxnSpPr>
            <p:cNvPr id="16" name="直接连接符 15"/>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7" name="直接连接符 16"/>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19" name="Group 44"/>
          <p:cNvGrpSpPr/>
          <p:nvPr/>
        </p:nvGrpSpPr>
        <p:grpSpPr bwMode="auto">
          <a:xfrm>
            <a:off x="2580810" y="2058209"/>
            <a:ext cx="8025213" cy="1198561"/>
            <a:chOff x="340" y="527"/>
            <a:chExt cx="5998" cy="755"/>
          </a:xfrm>
        </p:grpSpPr>
        <p:sp>
          <p:nvSpPr>
            <p:cNvPr id="20" name="Text Box 45"/>
            <p:cNvSpPr txBox="1">
              <a:spLocks noChangeArrowheads="1"/>
            </p:cNvSpPr>
            <p:nvPr/>
          </p:nvSpPr>
          <p:spPr bwMode="auto">
            <a:xfrm>
              <a:off x="340" y="527"/>
              <a:ext cx="5998" cy="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Aft>
                  <a:spcPts val="0"/>
                </a:spcAft>
              </a:pP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由第四章知识知可将      分解成为</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个互相独立、服从同一</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(0-1)</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 分布的诸随机变量 </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err="1">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err="1">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400" b="1" i="1" baseline="-25000" dirty="0">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之和，</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1" name="Object 46"/>
            <p:cNvGraphicFramePr>
              <a:graphicFrameLocks noChangeAspect="1"/>
            </p:cNvGraphicFramePr>
            <p:nvPr/>
          </p:nvGraphicFramePr>
          <p:xfrm>
            <a:off x="2488" y="527"/>
            <a:ext cx="345" cy="424"/>
          </p:xfrm>
          <a:graphic>
            <a:graphicData uri="http://schemas.openxmlformats.org/presentationml/2006/ole">
              <mc:AlternateContent xmlns:mc="http://schemas.openxmlformats.org/markup-compatibility/2006">
                <mc:Choice xmlns:v="urn:schemas-microsoft-com:vml" Requires="v">
                  <p:oleObj spid="_x0000_s2" name="Equation" r:id="rId1" imgW="4267200" imgH="5486400" progId="Equation.DSMT4">
                    <p:embed/>
                  </p:oleObj>
                </mc:Choice>
                <mc:Fallback>
                  <p:oleObj name="Equation" r:id="rId1" imgW="4267200" imgH="5486400" progId="Equation.DSMT4">
                    <p:embed/>
                    <p:pic>
                      <p:nvPicPr>
                        <p:cNvPr id="0" name="Object 46"/>
                        <p:cNvPicPr>
                          <a:picLocks noChangeAspect="1" noChangeArrowheads="1"/>
                        </p:cNvPicPr>
                        <p:nvPr/>
                      </p:nvPicPr>
                      <p:blipFill>
                        <a:blip r:embed="rId2"/>
                        <a:srcRect/>
                        <a:stretch>
                          <a:fillRect/>
                        </a:stretch>
                      </p:blipFill>
                      <p:spPr bwMode="auto">
                        <a:xfrm>
                          <a:off x="2488" y="527"/>
                          <a:ext cx="345" cy="424"/>
                        </a:xfrm>
                        <a:prstGeom prst="rect">
                          <a:avLst/>
                        </a:prstGeom>
                        <a:noFill/>
                        <a:ln>
                          <a:noFill/>
                        </a:ln>
                        <a:effectLst/>
                      </p:spPr>
                    </p:pic>
                  </p:oleObj>
                </mc:Fallback>
              </mc:AlternateContent>
            </a:graphicData>
          </a:graphic>
        </p:graphicFrame>
      </p:grpSp>
      <p:grpSp>
        <p:nvGrpSpPr>
          <p:cNvPr id="3" name="组合 2"/>
          <p:cNvGrpSpPr/>
          <p:nvPr/>
        </p:nvGrpSpPr>
        <p:grpSpPr>
          <a:xfrm>
            <a:off x="2592016" y="3220689"/>
            <a:ext cx="4566165" cy="998538"/>
            <a:chOff x="2592016" y="3220689"/>
            <a:chExt cx="4566165" cy="998538"/>
          </a:xfrm>
        </p:grpSpPr>
        <p:graphicFrame>
          <p:nvGraphicFramePr>
            <p:cNvPr id="17459" name="Object 51"/>
            <p:cNvGraphicFramePr>
              <a:graphicFrameLocks noChangeAspect="1"/>
            </p:cNvGraphicFramePr>
            <p:nvPr/>
          </p:nvGraphicFramePr>
          <p:xfrm>
            <a:off x="5454794" y="3220689"/>
            <a:ext cx="1703387" cy="998538"/>
          </p:xfrm>
          <a:graphic>
            <a:graphicData uri="http://schemas.openxmlformats.org/presentationml/2006/ole">
              <mc:AlternateContent xmlns:mc="http://schemas.openxmlformats.org/markup-compatibility/2006">
                <mc:Choice xmlns:v="urn:schemas-microsoft-com:vml" Requires="v">
                  <p:oleObj spid="_x0000_s4" name="Equation" r:id="rId3" imgW="17678400" imgH="10363200" progId="Equation.DSMT4">
                    <p:embed/>
                  </p:oleObj>
                </mc:Choice>
                <mc:Fallback>
                  <p:oleObj name="Equation" r:id="rId3" imgW="17678400" imgH="10363200" progId="Equation.DSMT4">
                    <p:embed/>
                    <p:pic>
                      <p:nvPicPr>
                        <p:cNvPr id="0" name="Object 51"/>
                        <p:cNvPicPr>
                          <a:picLocks noChangeAspect="1" noChangeArrowheads="1"/>
                        </p:cNvPicPr>
                        <p:nvPr/>
                      </p:nvPicPr>
                      <p:blipFill>
                        <a:blip r:embed="rId4"/>
                        <a:srcRect/>
                        <a:stretch>
                          <a:fillRect/>
                        </a:stretch>
                      </p:blipFill>
                      <p:spPr bwMode="auto">
                        <a:xfrm>
                          <a:off x="5454794" y="3220689"/>
                          <a:ext cx="1703387" cy="998538"/>
                        </a:xfrm>
                        <a:prstGeom prst="rect">
                          <a:avLst/>
                        </a:prstGeom>
                        <a:noFill/>
                        <a:ln>
                          <a:noFill/>
                        </a:ln>
                        <a:effectLst/>
                      </p:spPr>
                    </p:pic>
                  </p:oleObj>
                </mc:Fallback>
              </mc:AlternateContent>
            </a:graphicData>
          </a:graphic>
        </p:graphicFrame>
        <p:sp>
          <p:nvSpPr>
            <p:cNvPr id="23" name="Text Box 45"/>
            <p:cNvSpPr txBox="1">
              <a:spLocks noChangeArrowheads="1"/>
            </p:cNvSpPr>
            <p:nvPr/>
          </p:nvSpPr>
          <p:spPr bwMode="auto">
            <a:xfrm>
              <a:off x="2592016" y="3374219"/>
              <a:ext cx="897389"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Aft>
                  <a:spcPts val="0"/>
                </a:spcAft>
              </a:pPr>
              <a:r>
                <a:rPr lang="zh-CN" altLang="en-US"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即有</a:t>
              </a:r>
              <a:endParaRPr lang="zh-CN" altLang="en-US" sz="2400" b="1" dirty="0">
                <a:solidFill>
                  <a:schemeClr val="bg2">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5" name="Text Box 45"/>
          <p:cNvSpPr txBox="1">
            <a:spLocks noChangeArrowheads="1"/>
          </p:cNvSpPr>
          <p:nvPr/>
        </p:nvSpPr>
        <p:spPr bwMode="auto">
          <a:xfrm>
            <a:off x="1703512" y="4136192"/>
            <a:ext cx="8902511" cy="1291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Aft>
                <a:spcPts val="0"/>
              </a:spcAft>
            </a:pP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其中</a:t>
            </a:r>
            <a:r>
              <a:rPr lang="en-US" altLang="zh-CN" sz="2400" b="1" i="1" dirty="0" err="1">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i="1" baseline="-25000" dirty="0" err="1">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=1,2,…,</a:t>
            </a:r>
            <a:r>
              <a:rPr lang="en-US" altLang="zh-CN" sz="2400" b="1" i="1" dirty="0">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rPr>
              <a:t>的分布律为</a:t>
            </a:r>
            <a:endPar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spcBef>
                <a:spcPts val="0"/>
              </a:spcBef>
            </a:pP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                                   P</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err="1">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i="1" baseline="30000" dirty="0">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baseline="30000" dirty="0">
                <a:latin typeface="Times New Roman" panose="02020603050405020304" pitchFamily="18" charset="0"/>
                <a:ea typeface="微软雅黑" panose="020B0503020204020204" pitchFamily="34" charset="-122"/>
                <a:sym typeface="Times New Roman" panose="02020603050405020304" pitchFamily="18" charset="0"/>
              </a:rPr>
              <a:t>1-i</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=0,1</a:t>
            </a:r>
            <a:endPar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Text Box 42"/>
          <p:cNvSpPr txBox="1">
            <a:spLocks noChangeArrowheads="1"/>
          </p:cNvSpPr>
          <p:nvPr/>
        </p:nvSpPr>
        <p:spPr bwMode="auto">
          <a:xfrm>
            <a:off x="1309305" y="1355209"/>
            <a:ext cx="7694612"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spcAft>
                <a:spcPts val="0"/>
              </a:spcAft>
            </a:pP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en-US" altLang="zh-CN"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3</a:t>
            </a:r>
            <a:r>
              <a:rPr lang="en-US" altLang="zh-CN"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棣莫佛－拉普拉斯（</a:t>
            </a:r>
            <a:r>
              <a:rPr lang="en-US" altLang="zh-CN"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De Laplace</a:t>
            </a:r>
            <a:r>
              <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endParaRPr lang="zh-CN" altLang="en-US" sz="2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212" name="Group 4"/>
          <p:cNvGrpSpPr/>
          <p:nvPr/>
        </p:nvGrpSpPr>
        <p:grpSpPr bwMode="auto">
          <a:xfrm>
            <a:off x="1729224" y="3850948"/>
            <a:ext cx="9020175" cy="1198563"/>
            <a:chOff x="476" y="2341"/>
            <a:chExt cx="5682" cy="755"/>
          </a:xfrm>
        </p:grpSpPr>
        <p:sp>
          <p:nvSpPr>
            <p:cNvPr id="94213" name="Rectangle 5"/>
            <p:cNvSpPr>
              <a:spLocks noChangeArrowheads="1"/>
            </p:cNvSpPr>
            <p:nvPr/>
          </p:nvSpPr>
          <p:spPr bwMode="auto">
            <a:xfrm>
              <a:off x="476" y="2341"/>
              <a:ext cx="5682" cy="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Aft>
                  <a:spcPts val="0"/>
                </a:spcAft>
              </a:pP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定理表明</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，当 </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很大，</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0&lt;</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&lt;1</a:t>
              </a:r>
              <a:r>
                <a:rPr lang="zh-CN"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是一个定值时（或者说，</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np</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4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也不太小时），</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二项变量      的分布近似正态分布 </a:t>
              </a:r>
              <a:r>
                <a:rPr lang="en-US" altLang="zh-CN" sz="24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np</a:t>
              </a:r>
              <a:r>
                <a:rPr lang="en-US" altLang="zh-CN" sz="2400" b="1"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np</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4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4214" name="Object 6"/>
            <p:cNvGraphicFramePr>
              <a:graphicFrameLocks noChangeAspect="1"/>
            </p:cNvGraphicFramePr>
            <p:nvPr/>
          </p:nvGraphicFramePr>
          <p:xfrm>
            <a:off x="2635" y="2676"/>
            <a:ext cx="335" cy="414"/>
          </p:xfrm>
          <a:graphic>
            <a:graphicData uri="http://schemas.openxmlformats.org/presentationml/2006/ole">
              <mc:AlternateContent xmlns:mc="http://schemas.openxmlformats.org/markup-compatibility/2006">
                <mc:Choice xmlns:v="urn:schemas-microsoft-com:vml" Requires="v">
                  <p:oleObj spid="_x0000_s2" name="Equation" r:id="rId1" imgW="4267200" imgH="5486400" progId="Equation.DSMT4">
                    <p:embed/>
                  </p:oleObj>
                </mc:Choice>
                <mc:Fallback>
                  <p:oleObj name="Equation" r:id="rId1" imgW="4267200" imgH="5486400" progId="Equation.DSMT4">
                    <p:embed/>
                    <p:pic>
                      <p:nvPicPr>
                        <p:cNvPr id="0" name="Object 6"/>
                        <p:cNvPicPr>
                          <a:picLocks noChangeAspect="1" noChangeArrowheads="1"/>
                        </p:cNvPicPr>
                        <p:nvPr/>
                      </p:nvPicPr>
                      <p:blipFill>
                        <a:blip r:embed="rId2"/>
                        <a:srcRect/>
                        <a:stretch>
                          <a:fillRect/>
                        </a:stretch>
                      </p:blipFill>
                      <p:spPr bwMode="auto">
                        <a:xfrm>
                          <a:off x="2635" y="2676"/>
                          <a:ext cx="335" cy="414"/>
                        </a:xfrm>
                        <a:prstGeom prst="rect">
                          <a:avLst/>
                        </a:prstGeom>
                        <a:noFill/>
                        <a:ln>
                          <a:noFill/>
                        </a:ln>
                        <a:effectLst/>
                      </p:spPr>
                    </p:pic>
                  </p:oleObj>
                </mc:Fallback>
              </mc:AlternateContent>
            </a:graphicData>
          </a:graphic>
        </p:graphicFrame>
      </p:grpSp>
      <p:graphicFrame>
        <p:nvGraphicFramePr>
          <p:cNvPr id="94217" name="Object 9"/>
          <p:cNvGraphicFramePr>
            <a:graphicFrameLocks noChangeAspect="1"/>
          </p:cNvGraphicFramePr>
          <p:nvPr/>
        </p:nvGraphicFramePr>
        <p:xfrm>
          <a:off x="2279576" y="2101623"/>
          <a:ext cx="4920828" cy="1398465"/>
        </p:xfrm>
        <a:graphic>
          <a:graphicData uri="http://schemas.openxmlformats.org/presentationml/2006/ole">
            <mc:AlternateContent xmlns:mc="http://schemas.openxmlformats.org/markup-compatibility/2006">
              <mc:Choice xmlns:v="urn:schemas-microsoft-com:vml" Requires="v">
                <p:oleObj spid="_x0000_s3" name="Equation" r:id="rId3" imgW="69799200" imgH="15849600" progId="Equation.DSMT4">
                  <p:embed/>
                </p:oleObj>
              </mc:Choice>
              <mc:Fallback>
                <p:oleObj name="Equation" r:id="rId3" imgW="69799200" imgH="15849600" progId="Equation.DSMT4">
                  <p:embed/>
                  <p:pic>
                    <p:nvPicPr>
                      <p:cNvPr id="0" name="Object 9"/>
                      <p:cNvPicPr>
                        <a:picLocks noChangeAspect="1" noChangeArrowheads="1"/>
                      </p:cNvPicPr>
                      <p:nvPr/>
                    </p:nvPicPr>
                    <p:blipFill>
                      <a:blip r:embed="rId4"/>
                      <a:srcRect/>
                      <a:stretch>
                        <a:fillRect/>
                      </a:stretch>
                    </p:blipFill>
                    <p:spPr bwMode="auto">
                      <a:xfrm>
                        <a:off x="2279576" y="2101623"/>
                        <a:ext cx="4920828" cy="1398465"/>
                      </a:xfrm>
                      <a:prstGeom prst="rect">
                        <a:avLst/>
                      </a:prstGeom>
                      <a:noFill/>
                      <a:ln>
                        <a:noFill/>
                      </a:ln>
                      <a:effectLst/>
                    </p:spPr>
                  </p:pic>
                </p:oleObj>
              </mc:Fallback>
            </mc:AlternateContent>
          </a:graphicData>
        </a:graphic>
      </p:graphicFrame>
      <p:graphicFrame>
        <p:nvGraphicFramePr>
          <p:cNvPr id="94218" name="Object 10"/>
          <p:cNvGraphicFramePr>
            <a:graphicFrameLocks noChangeAspect="1"/>
          </p:cNvGraphicFramePr>
          <p:nvPr/>
        </p:nvGraphicFramePr>
        <p:xfrm>
          <a:off x="7320136" y="2345151"/>
          <a:ext cx="3581759" cy="1123376"/>
        </p:xfrm>
        <a:graphic>
          <a:graphicData uri="http://schemas.openxmlformats.org/presentationml/2006/ole">
            <mc:AlternateContent xmlns:mc="http://schemas.openxmlformats.org/markup-compatibility/2006">
              <mc:Choice xmlns:v="urn:schemas-microsoft-com:vml" Requires="v">
                <p:oleObj spid="_x0000_s4" name="Equation" r:id="rId5" imgW="35966400" imgH="11277600" progId="Equation.DSMT4">
                  <p:embed/>
                </p:oleObj>
              </mc:Choice>
              <mc:Fallback>
                <p:oleObj name="Equation" r:id="rId5" imgW="35966400" imgH="11277600" progId="Equation.DSMT4">
                  <p:embed/>
                  <p:pic>
                    <p:nvPicPr>
                      <p:cNvPr id="0" name="Object 10"/>
                      <p:cNvPicPr>
                        <a:picLocks noChangeAspect="1" noChangeArrowheads="1"/>
                      </p:cNvPicPr>
                      <p:nvPr/>
                    </p:nvPicPr>
                    <p:blipFill>
                      <a:blip r:embed="rId6"/>
                      <a:srcRect/>
                      <a:stretch>
                        <a:fillRect/>
                      </a:stretch>
                    </p:blipFill>
                    <p:spPr bwMode="auto">
                      <a:xfrm>
                        <a:off x="7320136" y="2345151"/>
                        <a:ext cx="3581759" cy="1123376"/>
                      </a:xfrm>
                      <a:prstGeom prst="rect">
                        <a:avLst/>
                      </a:prstGeom>
                      <a:noFill/>
                      <a:ln>
                        <a:noFill/>
                      </a:ln>
                      <a:effectLst/>
                    </p:spPr>
                  </p:pic>
                </p:oleObj>
              </mc:Fallback>
            </mc:AlternateContent>
          </a:graphicData>
        </a:graphic>
      </p:graphicFrame>
      <p:grpSp>
        <p:nvGrpSpPr>
          <p:cNvPr id="5" name="组合 4"/>
          <p:cNvGrpSpPr/>
          <p:nvPr/>
        </p:nvGrpSpPr>
        <p:grpSpPr>
          <a:xfrm>
            <a:off x="3171094" y="5301208"/>
            <a:ext cx="5613763" cy="1032880"/>
            <a:chOff x="3171094" y="5301208"/>
            <a:chExt cx="5613763" cy="1032880"/>
          </a:xfrm>
        </p:grpSpPr>
        <p:graphicFrame>
          <p:nvGraphicFramePr>
            <p:cNvPr id="94222" name="Object 14"/>
            <p:cNvGraphicFramePr>
              <a:graphicFrameLocks noChangeAspect="1"/>
            </p:cNvGraphicFramePr>
            <p:nvPr/>
          </p:nvGraphicFramePr>
          <p:xfrm>
            <a:off x="4295800" y="5301208"/>
            <a:ext cx="4489057" cy="1032880"/>
          </p:xfrm>
          <a:graphic>
            <a:graphicData uri="http://schemas.openxmlformats.org/presentationml/2006/ole">
              <mc:AlternateContent xmlns:mc="http://schemas.openxmlformats.org/markup-compatibility/2006">
                <mc:Choice xmlns:v="urn:schemas-microsoft-com:vml" Requires="v">
                  <p:oleObj spid="_x0000_s6" name="Equation" r:id="rId7" imgW="34442400" imgH="7924800" progId="Equation.DSMT4">
                    <p:embed/>
                  </p:oleObj>
                </mc:Choice>
                <mc:Fallback>
                  <p:oleObj name="Equation" r:id="rId7" imgW="34442400" imgH="7924800" progId="Equation.DSMT4">
                    <p:embed/>
                    <p:pic>
                      <p:nvPicPr>
                        <p:cNvPr id="0" name="Object 14"/>
                        <p:cNvPicPr>
                          <a:picLocks noChangeAspect="1" noChangeArrowheads="1"/>
                        </p:cNvPicPr>
                        <p:nvPr/>
                      </p:nvPicPr>
                      <p:blipFill>
                        <a:blip r:embed="rId8"/>
                        <a:srcRect/>
                        <a:stretch>
                          <a:fillRect/>
                        </a:stretch>
                      </p:blipFill>
                      <p:spPr bwMode="auto">
                        <a:xfrm>
                          <a:off x="4295800" y="5301208"/>
                          <a:ext cx="4489057" cy="1032880"/>
                        </a:xfrm>
                        <a:prstGeom prst="rect">
                          <a:avLst/>
                        </a:prstGeom>
                        <a:noFill/>
                        <a:ln>
                          <a:noFill/>
                        </a:ln>
                        <a:effectLst/>
                      </p:spPr>
                    </p:pic>
                  </p:oleObj>
                </mc:Fallback>
              </mc:AlternateContent>
            </a:graphicData>
          </a:graphic>
        </p:graphicFrame>
        <p:sp>
          <p:nvSpPr>
            <p:cNvPr id="94223" name="Text Box 15"/>
            <p:cNvSpPr txBox="1">
              <a:spLocks noChangeArrowheads="1"/>
            </p:cNvSpPr>
            <p:nvPr/>
          </p:nvSpPr>
          <p:spPr bwMode="auto">
            <a:xfrm>
              <a:off x="3171094" y="5659106"/>
              <a:ext cx="5384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Aft>
                  <a:spcPts val="0"/>
                </a:spcAft>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7" name="矩形 6"/>
          <p:cNvSpPr/>
          <p:nvPr/>
        </p:nvSpPr>
        <p:spPr>
          <a:xfrm>
            <a:off x="1729224" y="1846990"/>
            <a:ext cx="1590040" cy="460375"/>
          </a:xfrm>
          <a:prstGeom prst="rect">
            <a:avLst/>
          </a:prstGeom>
        </p:spPr>
        <p:txBody>
          <a:bodyPr wrap="none">
            <a:spAutoFit/>
          </a:bodyPr>
          <a:lstStyle/>
          <a:p>
            <a:pPr>
              <a:spcAft>
                <a:spcPts val="0"/>
              </a:spcAft>
            </a:pP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由定理</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rPr>
              <a:t>4</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得</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5" name="矩形 14"/>
          <p:cNvSpPr/>
          <p:nvPr/>
        </p:nvSpPr>
        <p:spPr>
          <a:xfrm>
            <a:off x="2338904" y="1195982"/>
            <a:ext cx="6985000" cy="521970"/>
          </a:xfrm>
          <a:prstGeom prst="rect">
            <a:avLst/>
          </a:prstGeom>
        </p:spPr>
        <p:txBody>
          <a:bodyPr wrap="none">
            <a:spAutoFit/>
          </a:bodyPr>
          <a:lstStyle/>
          <a:p>
            <a:pPr>
              <a:spcAft>
                <a:spcPts val="0"/>
              </a:spcAft>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rPr>
              <a:t>由于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rPr>
              <a:t>X</a:t>
            </a:r>
            <a:r>
              <a:rPr lang="en-US" altLang="zh-CN" sz="2800" b="1" i="1" baseline="-25000" dirty="0" err="1">
                <a:solidFill>
                  <a:schemeClr val="tx1">
                    <a:lumMod val="85000"/>
                    <a:lumOff val="15000"/>
                  </a:schemeClr>
                </a:solidFill>
                <a:latin typeface="Times New Roman" panose="02020603050405020304" pitchFamily="18" charset="0"/>
                <a:ea typeface="微软雅黑" panose="020B0503020204020204" pitchFamily="34" charset="-122"/>
              </a:rPr>
              <a:t>k</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p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rPr>
              <a:t>X</a:t>
            </a:r>
            <a:r>
              <a:rPr lang="en-US" altLang="zh-CN" sz="2800" b="1" i="1" baseline="-25000" dirty="0" err="1">
                <a:solidFill>
                  <a:schemeClr val="tx1">
                    <a:lumMod val="85000"/>
                    <a:lumOff val="15000"/>
                  </a:schemeClr>
                </a:solidFill>
                <a:latin typeface="Times New Roman" panose="02020603050405020304" pitchFamily="18" charset="0"/>
                <a:ea typeface="微软雅黑" panose="020B0503020204020204" pitchFamily="34" charset="-122"/>
              </a:rPr>
              <a:t>k</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p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(1-</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k</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=1,2,…,</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rPr>
              <a:t>n</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rPr>
              <a:t>),</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endParaRPr>
          </a:p>
        </p:txBody>
      </p:sp>
      <p:cxnSp>
        <p:nvCxnSpPr>
          <p:cNvPr id="16" name="直接连接符 15"/>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矩形 16"/>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8" name="组合 17"/>
          <p:cNvGrpSpPr/>
          <p:nvPr/>
        </p:nvGrpSpPr>
        <p:grpSpPr>
          <a:xfrm>
            <a:off x="851761" y="364781"/>
            <a:ext cx="263341" cy="395013"/>
            <a:chOff x="5284519" y="1508166"/>
            <a:chExt cx="213756" cy="427512"/>
          </a:xfrm>
        </p:grpSpPr>
        <p:cxnSp>
          <p:nvCxnSpPr>
            <p:cNvPr id="19" name="直接连接符 18"/>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0" name="直接连接符 19"/>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Rectangle 4"/>
          <p:cNvSpPr>
            <a:spLocks noChangeArrowheads="1"/>
          </p:cNvSpPr>
          <p:nvPr/>
        </p:nvSpPr>
        <p:spPr bwMode="auto">
          <a:xfrm>
            <a:off x="1155734" y="1132242"/>
            <a:ext cx="9692794" cy="52197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eaLnBrk="1" hangingPunct="1">
              <a:spcAft>
                <a:spcPts val="0"/>
              </a:spcAft>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中心极限定理的客观背景</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 name="组合 2"/>
          <p:cNvGrpSpPr/>
          <p:nvPr/>
        </p:nvGrpSpPr>
        <p:grpSpPr>
          <a:xfrm>
            <a:off x="1033757" y="2310891"/>
            <a:ext cx="4495800" cy="2592388"/>
            <a:chOff x="1631950" y="1701800"/>
            <a:chExt cx="4495800" cy="2592388"/>
          </a:xfrm>
        </p:grpSpPr>
        <p:grpSp>
          <p:nvGrpSpPr>
            <p:cNvPr id="2" name="组合 1"/>
            <p:cNvGrpSpPr/>
            <p:nvPr/>
          </p:nvGrpSpPr>
          <p:grpSpPr>
            <a:xfrm>
              <a:off x="1631950" y="1701800"/>
              <a:ext cx="4495800" cy="1905000"/>
              <a:chOff x="1631950" y="1701800"/>
              <a:chExt cx="4495800" cy="1905000"/>
            </a:xfrm>
          </p:grpSpPr>
          <p:sp>
            <p:nvSpPr>
              <p:cNvPr id="95241" name="Line 9"/>
              <p:cNvSpPr>
                <a:spLocks noChangeShapeType="1"/>
              </p:cNvSpPr>
              <p:nvPr/>
            </p:nvSpPr>
            <p:spPr bwMode="auto">
              <a:xfrm>
                <a:off x="1631950" y="3454400"/>
                <a:ext cx="44958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2" name="Line 10"/>
              <p:cNvSpPr>
                <a:spLocks noChangeShapeType="1"/>
              </p:cNvSpPr>
              <p:nvPr/>
            </p:nvSpPr>
            <p:spPr bwMode="auto">
              <a:xfrm flipV="1">
                <a:off x="1936750" y="1701800"/>
                <a:ext cx="0" cy="19050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3" name="Line 11"/>
              <p:cNvSpPr>
                <a:spLocks noChangeShapeType="1"/>
              </p:cNvSpPr>
              <p:nvPr/>
            </p:nvSpPr>
            <p:spPr bwMode="auto">
              <a:xfrm>
                <a:off x="4146550" y="2540000"/>
                <a:ext cx="0" cy="9144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4" name="Line 12"/>
              <p:cNvSpPr>
                <a:spLocks noChangeShapeType="1"/>
              </p:cNvSpPr>
              <p:nvPr/>
            </p:nvSpPr>
            <p:spPr bwMode="auto">
              <a:xfrm>
                <a:off x="3994150" y="2692400"/>
                <a:ext cx="0" cy="7620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5" name="Line 13"/>
              <p:cNvSpPr>
                <a:spLocks noChangeShapeType="1"/>
              </p:cNvSpPr>
              <p:nvPr/>
            </p:nvSpPr>
            <p:spPr bwMode="auto">
              <a:xfrm>
                <a:off x="4298950" y="2616200"/>
                <a:ext cx="0" cy="8382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6" name="Line 14"/>
              <p:cNvSpPr>
                <a:spLocks noChangeShapeType="1"/>
              </p:cNvSpPr>
              <p:nvPr/>
            </p:nvSpPr>
            <p:spPr bwMode="auto">
              <a:xfrm>
                <a:off x="3841750" y="2921000"/>
                <a:ext cx="0" cy="5334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7" name="Line 15"/>
              <p:cNvSpPr>
                <a:spLocks noChangeShapeType="1"/>
              </p:cNvSpPr>
              <p:nvPr/>
            </p:nvSpPr>
            <p:spPr bwMode="auto">
              <a:xfrm>
                <a:off x="3689350" y="3073400"/>
                <a:ext cx="0" cy="3810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8" name="Line 16"/>
              <p:cNvSpPr>
                <a:spLocks noChangeShapeType="1"/>
              </p:cNvSpPr>
              <p:nvPr/>
            </p:nvSpPr>
            <p:spPr bwMode="auto">
              <a:xfrm>
                <a:off x="3536950" y="3225800"/>
                <a:ext cx="0" cy="2286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49" name="Line 17"/>
              <p:cNvSpPr>
                <a:spLocks noChangeShapeType="1"/>
              </p:cNvSpPr>
              <p:nvPr/>
            </p:nvSpPr>
            <p:spPr bwMode="auto">
              <a:xfrm>
                <a:off x="4451350" y="2844800"/>
                <a:ext cx="0" cy="6096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50" name="Line 18"/>
              <p:cNvSpPr>
                <a:spLocks noChangeShapeType="1"/>
              </p:cNvSpPr>
              <p:nvPr/>
            </p:nvSpPr>
            <p:spPr bwMode="auto">
              <a:xfrm>
                <a:off x="4603750" y="3149600"/>
                <a:ext cx="0" cy="3048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51" name="Line 19"/>
              <p:cNvSpPr>
                <a:spLocks noChangeShapeType="1"/>
              </p:cNvSpPr>
              <p:nvPr/>
            </p:nvSpPr>
            <p:spPr bwMode="auto">
              <a:xfrm>
                <a:off x="4756150" y="3302000"/>
                <a:ext cx="0" cy="1524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52" name="Line 20"/>
              <p:cNvSpPr>
                <a:spLocks noChangeShapeType="1"/>
              </p:cNvSpPr>
              <p:nvPr/>
            </p:nvSpPr>
            <p:spPr bwMode="auto">
              <a:xfrm>
                <a:off x="3384550" y="3378200"/>
                <a:ext cx="0" cy="762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53" name="Line 21"/>
              <p:cNvSpPr>
                <a:spLocks noChangeShapeType="1"/>
              </p:cNvSpPr>
              <p:nvPr/>
            </p:nvSpPr>
            <p:spPr bwMode="auto">
              <a:xfrm>
                <a:off x="4908550" y="3378200"/>
                <a:ext cx="0" cy="76200"/>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95254" name="Rectangle 22"/>
            <p:cNvSpPr>
              <a:spLocks noChangeArrowheads="1"/>
            </p:cNvSpPr>
            <p:nvPr/>
          </p:nvSpPr>
          <p:spPr bwMode="auto">
            <a:xfrm>
              <a:off x="1852613" y="3833813"/>
              <a:ext cx="3942080" cy="4603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20</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个</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0-1</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分布的和的分布</a:t>
              </a:r>
              <a:endParaRPr lang="zh-CN" altLang="en-US"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95255" name="Group 23"/>
          <p:cNvGrpSpPr/>
          <p:nvPr/>
        </p:nvGrpSpPr>
        <p:grpSpPr bwMode="auto">
          <a:xfrm>
            <a:off x="6675733" y="5138744"/>
            <a:ext cx="3317875" cy="1123950"/>
            <a:chOff x="3078" y="2496"/>
            <a:chExt cx="2090" cy="708"/>
          </a:xfrm>
        </p:grpSpPr>
        <p:sp>
          <p:nvSpPr>
            <p:cNvPr id="95256" name="Rectangle 24"/>
            <p:cNvSpPr>
              <a:spLocks noChangeArrowheads="1"/>
            </p:cNvSpPr>
            <p:nvPr/>
          </p:nvSpPr>
          <p:spPr bwMode="auto">
            <a:xfrm>
              <a:off x="3078" y="2496"/>
              <a:ext cx="725" cy="290"/>
            </a:xfrm>
            <a:prstGeom prst="rect">
              <a:avLst/>
            </a:prstGeom>
            <a:solidFill>
              <a:srgbClr val="C00000"/>
            </a:solidFill>
            <a:ln w="9525">
              <a:no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 </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f</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57" name="Rectangle 25"/>
            <p:cNvSpPr>
              <a:spLocks noChangeArrowheads="1"/>
            </p:cNvSpPr>
            <p:nvPr/>
          </p:nvSpPr>
          <p:spPr bwMode="auto">
            <a:xfrm>
              <a:off x="4111" y="2496"/>
              <a:ext cx="1057" cy="290"/>
            </a:xfrm>
            <a:prstGeom prst="rect">
              <a:avLst/>
            </a:prstGeom>
            <a:solidFill>
              <a:srgbClr val="C00000"/>
            </a:solidFill>
            <a:ln w="9525">
              <a:no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 </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g</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58" name="Rectangle 26"/>
            <p:cNvSpPr>
              <a:spLocks noChangeArrowheads="1"/>
            </p:cNvSpPr>
            <p:nvPr/>
          </p:nvSpPr>
          <p:spPr bwMode="auto">
            <a:xfrm>
              <a:off x="3351" y="2914"/>
              <a:ext cx="1416" cy="290"/>
            </a:xfrm>
            <a:prstGeom prst="rect">
              <a:avLst/>
            </a:prstGeom>
            <a:solidFill>
              <a:srgbClr val="C00000"/>
            </a:solidFill>
            <a:ln w="9525">
              <a:no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 </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h</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4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95260" name="Rectangle 28"/>
          <p:cNvSpPr>
            <a:spLocks noChangeArrowheads="1"/>
          </p:cNvSpPr>
          <p:nvPr/>
        </p:nvSpPr>
        <p:spPr bwMode="auto">
          <a:xfrm>
            <a:off x="5834357" y="4442904"/>
            <a:ext cx="4424680" cy="4603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几个</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(0,1)</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上均匀分布的和的分布</a:t>
            </a:r>
            <a:endPar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3" name="Line 31"/>
          <p:cNvSpPr>
            <a:spLocks noChangeShapeType="1"/>
          </p:cNvSpPr>
          <p:nvPr/>
        </p:nvSpPr>
        <p:spPr bwMode="auto">
          <a:xfrm>
            <a:off x="6445545" y="3779329"/>
            <a:ext cx="3286125"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4" name="Line 32"/>
          <p:cNvSpPr>
            <a:spLocks noChangeShapeType="1"/>
          </p:cNvSpPr>
          <p:nvPr/>
        </p:nvSpPr>
        <p:spPr bwMode="auto">
          <a:xfrm flipV="1">
            <a:off x="6736058" y="2309304"/>
            <a:ext cx="0" cy="15748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5" name="Line 33"/>
          <p:cNvSpPr>
            <a:spLocks noChangeShapeType="1"/>
          </p:cNvSpPr>
          <p:nvPr/>
        </p:nvSpPr>
        <p:spPr bwMode="auto">
          <a:xfrm flipH="1">
            <a:off x="6750345" y="2623629"/>
            <a:ext cx="773113" cy="11557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6" name="Rectangle 34"/>
          <p:cNvSpPr>
            <a:spLocks noChangeArrowheads="1"/>
          </p:cNvSpPr>
          <p:nvPr/>
        </p:nvSpPr>
        <p:spPr bwMode="auto">
          <a:xfrm>
            <a:off x="6645570" y="3757898"/>
            <a:ext cx="335280" cy="4603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en-US" altLang="zh-CN" sz="2400" b="1">
                <a:latin typeface="Times New Roman" panose="02020603050405020304" pitchFamily="18" charset="0"/>
                <a:ea typeface="微软雅黑" panose="020B0503020204020204" pitchFamily="34" charset="-122"/>
                <a:sym typeface="Times New Roman" panose="02020603050405020304" pitchFamily="18" charset="0"/>
              </a:rPr>
              <a:t>0</a:t>
            </a:r>
            <a:endParaRPr lang="en-US" altLang="zh-CN" sz="24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7" name="Rectangle 35"/>
          <p:cNvSpPr>
            <a:spLocks noChangeArrowheads="1"/>
          </p:cNvSpPr>
          <p:nvPr/>
        </p:nvSpPr>
        <p:spPr bwMode="auto">
          <a:xfrm>
            <a:off x="7432970" y="3787902"/>
            <a:ext cx="309880" cy="39878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en-US" altLang="zh-CN" sz="2000" b="1" dirty="0">
                <a:latin typeface="Times New Roman" panose="02020603050405020304" pitchFamily="18" charset="0"/>
                <a:ea typeface="微软雅黑" panose="020B0503020204020204" pitchFamily="34" charset="-122"/>
                <a:sym typeface="Times New Roman" panose="02020603050405020304" pitchFamily="18" charset="0"/>
              </a:rPr>
              <a:t>1</a:t>
            </a:r>
            <a:endPar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8" name="Rectangle 36"/>
          <p:cNvSpPr>
            <a:spLocks noChangeArrowheads="1"/>
          </p:cNvSpPr>
          <p:nvPr/>
        </p:nvSpPr>
        <p:spPr bwMode="auto">
          <a:xfrm>
            <a:off x="8217195" y="3746627"/>
            <a:ext cx="309880" cy="39878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en-US" altLang="zh-CN" sz="2000" b="1">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4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69" name="Rectangle 37"/>
          <p:cNvSpPr>
            <a:spLocks noChangeArrowheads="1"/>
          </p:cNvSpPr>
          <p:nvPr/>
        </p:nvSpPr>
        <p:spPr bwMode="auto">
          <a:xfrm>
            <a:off x="8998245" y="3746627"/>
            <a:ext cx="309880" cy="39878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en-US" altLang="zh-CN" sz="2000" b="1">
                <a:latin typeface="Times New Roman" panose="02020603050405020304" pitchFamily="18" charset="0"/>
                <a:ea typeface="微软雅黑" panose="020B0503020204020204" pitchFamily="34" charset="-122"/>
                <a:sym typeface="Times New Roman" panose="02020603050405020304" pitchFamily="18" charset="0"/>
              </a:rPr>
              <a:t>3</a:t>
            </a:r>
            <a:endParaRPr lang="en-US" altLang="zh-CN" sz="24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0" name="Rectangle 38"/>
          <p:cNvSpPr>
            <a:spLocks noChangeArrowheads="1"/>
          </p:cNvSpPr>
          <p:nvPr/>
        </p:nvSpPr>
        <p:spPr bwMode="auto">
          <a:xfrm>
            <a:off x="9860258" y="3538665"/>
            <a:ext cx="309880" cy="39878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en-US" altLang="zh-CN" sz="2000" b="1">
                <a:latin typeface="Times New Roman" panose="02020603050405020304" pitchFamily="18" charset="0"/>
                <a:ea typeface="微软雅黑" panose="020B0503020204020204" pitchFamily="34" charset="-122"/>
                <a:sym typeface="Times New Roman" panose="02020603050405020304" pitchFamily="18" charset="0"/>
              </a:rPr>
              <a:t>x</a:t>
            </a:r>
            <a:endParaRPr lang="en-US" altLang="zh-CN" sz="24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1" name="Line 39"/>
          <p:cNvSpPr>
            <a:spLocks noChangeShapeType="1"/>
          </p:cNvSpPr>
          <p:nvPr/>
        </p:nvSpPr>
        <p:spPr bwMode="auto">
          <a:xfrm>
            <a:off x="6750345" y="2614104"/>
            <a:ext cx="762000" cy="0"/>
          </a:xfrm>
          <a:prstGeom prst="line">
            <a:avLst/>
          </a:prstGeom>
          <a:noFill/>
          <a:ln w="28575">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2" name="Line 40"/>
          <p:cNvSpPr>
            <a:spLocks noChangeShapeType="1"/>
          </p:cNvSpPr>
          <p:nvPr/>
        </p:nvSpPr>
        <p:spPr bwMode="auto">
          <a:xfrm>
            <a:off x="7512345" y="2614104"/>
            <a:ext cx="838200" cy="11430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3" name="Freeform 41"/>
          <p:cNvSpPr/>
          <p:nvPr/>
        </p:nvSpPr>
        <p:spPr bwMode="auto">
          <a:xfrm>
            <a:off x="6750345" y="2920492"/>
            <a:ext cx="1219200" cy="838200"/>
          </a:xfrm>
          <a:custGeom>
            <a:avLst/>
            <a:gdLst>
              <a:gd name="T0" fmla="*/ 0 w 768"/>
              <a:gd name="T1" fmla="*/ 528 h 528"/>
              <a:gd name="T2" fmla="*/ 336 w 768"/>
              <a:gd name="T3" fmla="*/ 480 h 528"/>
              <a:gd name="T4" fmla="*/ 576 w 768"/>
              <a:gd name="T5" fmla="*/ 240 h 528"/>
              <a:gd name="T6" fmla="*/ 672 w 768"/>
              <a:gd name="T7" fmla="*/ 48 h 528"/>
              <a:gd name="T8" fmla="*/ 768 w 768"/>
              <a:gd name="T9" fmla="*/ 0 h 528"/>
            </a:gdLst>
            <a:ahLst/>
            <a:cxnLst>
              <a:cxn ang="0">
                <a:pos x="T0" y="T1"/>
              </a:cxn>
              <a:cxn ang="0">
                <a:pos x="T2" y="T3"/>
              </a:cxn>
              <a:cxn ang="0">
                <a:pos x="T4" y="T5"/>
              </a:cxn>
              <a:cxn ang="0">
                <a:pos x="T6" y="T7"/>
              </a:cxn>
              <a:cxn ang="0">
                <a:pos x="T8" y="T9"/>
              </a:cxn>
            </a:cxnLst>
            <a:rect l="0" t="0" r="r" b="b"/>
            <a:pathLst>
              <a:path w="768" h="528">
                <a:moveTo>
                  <a:pt x="0" y="528"/>
                </a:moveTo>
                <a:cubicBezTo>
                  <a:pt x="120" y="528"/>
                  <a:pt x="240" y="528"/>
                  <a:pt x="336" y="480"/>
                </a:cubicBezTo>
                <a:cubicBezTo>
                  <a:pt x="432" y="432"/>
                  <a:pt x="520" y="312"/>
                  <a:pt x="576" y="240"/>
                </a:cubicBezTo>
                <a:cubicBezTo>
                  <a:pt x="632" y="168"/>
                  <a:pt x="640" y="88"/>
                  <a:pt x="672" y="48"/>
                </a:cubicBezTo>
                <a:cubicBezTo>
                  <a:pt x="704" y="8"/>
                  <a:pt x="752" y="8"/>
                  <a:pt x="768" y="0"/>
                </a:cubicBezTo>
              </a:path>
            </a:pathLst>
          </a:custGeom>
          <a:noFill/>
          <a:ln w="28575" cap="flat" cmpd="sng">
            <a:solidFill>
              <a:srgbClr val="C00000"/>
            </a:solidFill>
            <a:prstDash val="solid"/>
            <a:round/>
          </a:ln>
          <a:effectLst/>
          <a:extLst>
            <a:ext uri="{909E8E84-426E-40DD-AFC4-6F175D3DCCD1}">
              <a14:hiddenFill xmlns:a14="http://schemas.microsoft.com/office/drawing/2010/main">
                <a:solidFill>
                  <a:srgbClr val="0000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4" name="Freeform 42"/>
          <p:cNvSpPr/>
          <p:nvPr/>
        </p:nvSpPr>
        <p:spPr bwMode="auto">
          <a:xfrm flipH="1">
            <a:off x="8045745" y="2920492"/>
            <a:ext cx="1219200" cy="838200"/>
          </a:xfrm>
          <a:custGeom>
            <a:avLst/>
            <a:gdLst>
              <a:gd name="T0" fmla="*/ 0 w 768"/>
              <a:gd name="T1" fmla="*/ 528 h 528"/>
              <a:gd name="T2" fmla="*/ 336 w 768"/>
              <a:gd name="T3" fmla="*/ 480 h 528"/>
              <a:gd name="T4" fmla="*/ 576 w 768"/>
              <a:gd name="T5" fmla="*/ 240 h 528"/>
              <a:gd name="T6" fmla="*/ 672 w 768"/>
              <a:gd name="T7" fmla="*/ 48 h 528"/>
              <a:gd name="T8" fmla="*/ 768 w 768"/>
              <a:gd name="T9" fmla="*/ 0 h 528"/>
            </a:gdLst>
            <a:ahLst/>
            <a:cxnLst>
              <a:cxn ang="0">
                <a:pos x="T0" y="T1"/>
              </a:cxn>
              <a:cxn ang="0">
                <a:pos x="T2" y="T3"/>
              </a:cxn>
              <a:cxn ang="0">
                <a:pos x="T4" y="T5"/>
              </a:cxn>
              <a:cxn ang="0">
                <a:pos x="T6" y="T7"/>
              </a:cxn>
              <a:cxn ang="0">
                <a:pos x="T8" y="T9"/>
              </a:cxn>
            </a:cxnLst>
            <a:rect l="0" t="0" r="r" b="b"/>
            <a:pathLst>
              <a:path w="768" h="528">
                <a:moveTo>
                  <a:pt x="0" y="528"/>
                </a:moveTo>
                <a:cubicBezTo>
                  <a:pt x="120" y="528"/>
                  <a:pt x="240" y="528"/>
                  <a:pt x="336" y="480"/>
                </a:cubicBezTo>
                <a:cubicBezTo>
                  <a:pt x="432" y="432"/>
                  <a:pt x="520" y="312"/>
                  <a:pt x="576" y="240"/>
                </a:cubicBezTo>
                <a:cubicBezTo>
                  <a:pt x="632" y="168"/>
                  <a:pt x="640" y="88"/>
                  <a:pt x="672" y="48"/>
                </a:cubicBezTo>
                <a:cubicBezTo>
                  <a:pt x="704" y="8"/>
                  <a:pt x="752" y="8"/>
                  <a:pt x="768" y="0"/>
                </a:cubicBezTo>
              </a:path>
            </a:pathLst>
          </a:custGeom>
          <a:noFill/>
          <a:ln w="28575" cap="flat" cmpd="sng">
            <a:solidFill>
              <a:srgbClr val="C00000"/>
            </a:solidFill>
            <a:prstDash val="solid"/>
            <a:round/>
          </a:ln>
          <a:effectLst/>
          <a:extLst>
            <a:ext uri="{909E8E84-426E-40DD-AFC4-6F175D3DCCD1}">
              <a14:hiddenFill xmlns:a14="http://schemas.microsoft.com/office/drawing/2010/main">
                <a:solidFill>
                  <a:srgbClr val="0000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5" name="Line 43"/>
          <p:cNvSpPr>
            <a:spLocks noChangeShapeType="1"/>
          </p:cNvSpPr>
          <p:nvPr/>
        </p:nvSpPr>
        <p:spPr bwMode="auto">
          <a:xfrm>
            <a:off x="7969545" y="2920492"/>
            <a:ext cx="76200" cy="0"/>
          </a:xfrm>
          <a:prstGeom prst="line">
            <a:avLst/>
          </a:prstGeom>
          <a:noFill/>
          <a:ln w="28575">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6" name="Rectangle 44"/>
          <p:cNvSpPr>
            <a:spLocks noChangeArrowheads="1"/>
          </p:cNvSpPr>
          <p:nvPr/>
        </p:nvSpPr>
        <p:spPr bwMode="auto">
          <a:xfrm>
            <a:off x="6921795" y="2233104"/>
            <a:ext cx="284480" cy="4603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f</a:t>
            </a:r>
            <a:endParaRPr lang="en-US" altLang="zh-CN" sz="24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7" name="Rectangle 45"/>
          <p:cNvSpPr>
            <a:spLocks noChangeArrowheads="1"/>
          </p:cNvSpPr>
          <p:nvPr/>
        </p:nvSpPr>
        <p:spPr bwMode="auto">
          <a:xfrm>
            <a:off x="6794795" y="2842704"/>
            <a:ext cx="335280" cy="4603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en-US" altLang="zh-CN" sz="2400" b="1">
                <a:solidFill>
                  <a:schemeClr val="tx2"/>
                </a:solidFill>
                <a:latin typeface="Times New Roman" panose="02020603050405020304" pitchFamily="18" charset="0"/>
                <a:ea typeface="微软雅黑" panose="020B0503020204020204" pitchFamily="34" charset="-122"/>
                <a:sym typeface="Times New Roman" panose="02020603050405020304" pitchFamily="18" charset="0"/>
              </a:rPr>
              <a:t>g</a:t>
            </a:r>
            <a:endParaRPr lang="en-US" altLang="zh-CN" sz="2400" b="1">
              <a:solidFill>
                <a:schemeClr val="tx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5278" name="Rectangle 46"/>
          <p:cNvSpPr>
            <a:spLocks noChangeArrowheads="1"/>
          </p:cNvSpPr>
          <p:nvPr/>
        </p:nvSpPr>
        <p:spPr bwMode="auto">
          <a:xfrm>
            <a:off x="8301333" y="2766504"/>
            <a:ext cx="352425" cy="4603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Aft>
                <a:spcPts val="0"/>
              </a:spcAft>
            </a:pPr>
            <a:r>
              <a:rPr lang="en-US" altLang="zh-CN" sz="2400" b="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h</a:t>
            </a:r>
            <a:endParaRPr lang="en-US" altLang="zh-CN" sz="2400" b="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47" name="直接连接符 4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48" name="矩形 47"/>
          <p:cNvSpPr>
            <a:spLocks noChangeArrowheads="1"/>
          </p:cNvSpPr>
          <p:nvPr/>
        </p:nvSpPr>
        <p:spPr bwMode="auto">
          <a:xfrm>
            <a:off x="1406163" y="255069"/>
            <a:ext cx="316865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一、中心极限定理</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49" name="组合 48"/>
          <p:cNvGrpSpPr/>
          <p:nvPr/>
        </p:nvGrpSpPr>
        <p:grpSpPr>
          <a:xfrm>
            <a:off x="851761" y="364781"/>
            <a:ext cx="263341" cy="395013"/>
            <a:chOff x="5284519" y="1508166"/>
            <a:chExt cx="213756" cy="427512"/>
          </a:xfrm>
        </p:grpSpPr>
        <p:cxnSp>
          <p:nvCxnSpPr>
            <p:cNvPr id="50" name="直接连接符 4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51" name="直接连接符 5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05313" y="2951717"/>
            <a:ext cx="5040000" cy="922020"/>
          </a:xfrm>
          <a:prstGeom prst="rect">
            <a:avLst/>
          </a:prstGeom>
          <a:noFill/>
        </p:spPr>
        <p:txBody>
          <a:bodyPr wrap="square" rtlCol="0">
            <a:spAutoFit/>
          </a:bodyPr>
          <a:lstStyle/>
          <a:p>
            <a:pPr algn="dist">
              <a:spcAft>
                <a:spcPts val="0"/>
              </a:spcAft>
            </a:pPr>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例题解析</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57336" cy="1187862"/>
            </a:xfrm>
            <a:prstGeom prst="rect">
              <a:avLst/>
            </a:prstGeom>
            <a:noFill/>
          </p:spPr>
          <p:txBody>
            <a:bodyPr wrap="none" rtlCol="0">
              <a:spAutoFit/>
            </a:bodyPr>
            <a:lstStyle/>
            <a:p>
              <a:pPr>
                <a:spcAft>
                  <a:spcPts val="0"/>
                </a:spcAft>
              </a:pPr>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02</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839248"/>
            <a:ext cx="12072664" cy="1617148"/>
          </a:xfrm>
          <a:prstGeom prst="rect">
            <a:avLst/>
          </a:prstGeom>
        </p:spPr>
      </p:pic>
      <p:pic>
        <p:nvPicPr>
          <p:cNvPr id="3" name="图片 2"/>
          <p:cNvPicPr>
            <a:picLocks noChangeAspect="1"/>
          </p:cNvPicPr>
          <p:nvPr/>
        </p:nvPicPr>
        <p:blipFill>
          <a:blip r:embed="rId2"/>
          <a:stretch>
            <a:fillRect/>
          </a:stretch>
        </p:blipFill>
        <p:spPr>
          <a:xfrm>
            <a:off x="0" y="2417465"/>
            <a:ext cx="12095266" cy="2529662"/>
          </a:xfrm>
          <a:prstGeom prst="rect">
            <a:avLst/>
          </a:prstGeom>
        </p:spPr>
      </p:pic>
      <p:pic>
        <p:nvPicPr>
          <p:cNvPr id="4" name="图片 3"/>
          <p:cNvPicPr>
            <a:picLocks noChangeAspect="1"/>
          </p:cNvPicPr>
          <p:nvPr/>
        </p:nvPicPr>
        <p:blipFill>
          <a:blip r:embed="rId3"/>
          <a:stretch>
            <a:fillRect/>
          </a:stretch>
        </p:blipFill>
        <p:spPr>
          <a:xfrm>
            <a:off x="-10641" y="4895428"/>
            <a:ext cx="11795273" cy="1629916"/>
          </a:xfrm>
          <a:prstGeom prst="rect">
            <a:avLst/>
          </a:prstGeom>
        </p:spPr>
      </p:pic>
      <p:cxnSp>
        <p:nvCxnSpPr>
          <p:cNvPr id="5" name="直接连接符 4"/>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二、例题解析</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7" name="组合 6"/>
          <p:cNvGrpSpPr/>
          <p:nvPr/>
        </p:nvGrpSpPr>
        <p:grpSpPr>
          <a:xfrm>
            <a:off x="851761" y="364781"/>
            <a:ext cx="263341" cy="395013"/>
            <a:chOff x="5284519" y="1508166"/>
            <a:chExt cx="213756" cy="427512"/>
          </a:xfrm>
        </p:grpSpPr>
        <p:cxnSp>
          <p:nvCxnSpPr>
            <p:cNvPr id="8" name="直接连接符 7"/>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9" name="直接连接符 8"/>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7328" y="2309844"/>
            <a:ext cx="11913432" cy="4536504"/>
          </a:xfrm>
          <a:prstGeom prst="rect">
            <a:avLst/>
          </a:prstGeom>
        </p:spPr>
      </p:pic>
      <p:pic>
        <p:nvPicPr>
          <p:cNvPr id="3" name="图片 2"/>
          <p:cNvPicPr>
            <a:picLocks noChangeAspect="1"/>
          </p:cNvPicPr>
          <p:nvPr/>
        </p:nvPicPr>
        <p:blipFill>
          <a:blip r:embed="rId2"/>
          <a:stretch>
            <a:fillRect/>
          </a:stretch>
        </p:blipFill>
        <p:spPr>
          <a:xfrm>
            <a:off x="47328" y="692696"/>
            <a:ext cx="12072664" cy="1617148"/>
          </a:xfrm>
          <a:prstGeom prst="rect">
            <a:avLst/>
          </a:prstGeom>
        </p:spPr>
      </p:pic>
      <p:cxnSp>
        <p:nvCxnSpPr>
          <p:cNvPr id="4" name="直接连接符 3"/>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矩形 4"/>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二、例题解析</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6" name="组合 5"/>
          <p:cNvGrpSpPr/>
          <p:nvPr/>
        </p:nvGrpSpPr>
        <p:grpSpPr>
          <a:xfrm>
            <a:off x="851761" y="364781"/>
            <a:ext cx="263341" cy="395013"/>
            <a:chOff x="5284519" y="1508166"/>
            <a:chExt cx="213756" cy="427512"/>
          </a:xfrm>
        </p:grpSpPr>
        <p:cxnSp>
          <p:nvCxnSpPr>
            <p:cNvPr id="7" name="直接连接符 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8" name="直接连接符 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63" name="Text Box 11"/>
          <p:cNvSpPr txBox="1">
            <a:spLocks noChangeArrowheads="1"/>
          </p:cNvSpPr>
          <p:nvPr/>
        </p:nvSpPr>
        <p:spPr bwMode="auto">
          <a:xfrm>
            <a:off x="1335307" y="1196752"/>
            <a:ext cx="10018493" cy="189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lnSpc>
                <a:spcPct val="150000"/>
              </a:lnSpc>
              <a:spcAft>
                <a:spcPts val="0"/>
              </a:spcAft>
            </a:pPr>
            <a:r>
              <a:rPr lang="zh-CN" altLang="en-US" sz="2600" b="1"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例</a:t>
            </a:r>
            <a:r>
              <a:rPr lang="en-US" altLang="zh-CN" sz="2600" b="1"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3</a:t>
            </a:r>
            <a:r>
              <a:rPr lang="zh-CN" altLang="en-US" sz="2600" b="1"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 </a:t>
            </a:r>
            <a:r>
              <a:rPr lang="zh-CN" altLang="en-US"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设某工厂有</a:t>
            </a:r>
            <a:r>
              <a:rPr lang="en-US" altLang="zh-CN"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400</a:t>
            </a:r>
            <a:r>
              <a:rPr lang="zh-CN" altLang="en-US"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台同类机器，各台机器发生故障的概率都是</a:t>
            </a:r>
            <a:r>
              <a:rPr lang="en-US" altLang="zh-CN"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0.02</a:t>
            </a:r>
            <a:r>
              <a:rPr lang="zh-CN" altLang="en-US"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，各台机器工作是相互独立的，试求机器出故障的台数不小于</a:t>
            </a:r>
            <a:r>
              <a:rPr lang="en-US" altLang="zh-CN"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2</a:t>
            </a:r>
            <a:r>
              <a:rPr lang="zh-CN" altLang="en-US"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的概率。</a:t>
            </a:r>
            <a:endParaRPr lang="en-US" altLang="zh-CN"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endParaRPr>
          </a:p>
        </p:txBody>
      </p:sp>
      <p:cxnSp>
        <p:nvCxnSpPr>
          <p:cNvPr id="11" name="直接连接符 10"/>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二、例题解析</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pic>
        <p:nvPicPr>
          <p:cNvPr id="2" name="图片 1"/>
          <p:cNvPicPr>
            <a:picLocks noChangeAspect="1"/>
          </p:cNvPicPr>
          <p:nvPr/>
        </p:nvPicPr>
        <p:blipFill>
          <a:blip r:embed="rId1">
            <a:duotone>
              <a:prstClr val="black"/>
              <a:schemeClr val="tx2">
                <a:tint val="45000"/>
                <a:satMod val="400000"/>
              </a:schemeClr>
            </a:duotone>
            <a:lum bright="-40000" contrast="-40000"/>
          </a:blip>
          <a:stretch>
            <a:fillRect/>
          </a:stretch>
        </p:blipFill>
        <p:spPr>
          <a:xfrm>
            <a:off x="1406162" y="3218440"/>
            <a:ext cx="9634083" cy="498592"/>
          </a:xfrm>
          <a:prstGeom prst="rect">
            <a:avLst/>
          </a:prstGeom>
        </p:spPr>
      </p:pic>
      <p:pic>
        <p:nvPicPr>
          <p:cNvPr id="3" name="图片 2"/>
          <p:cNvPicPr>
            <a:picLocks noChangeAspect="1"/>
          </p:cNvPicPr>
          <p:nvPr/>
        </p:nvPicPr>
        <p:blipFill rotWithShape="1">
          <a:blip r:embed="rId2">
            <a:duotone>
              <a:prstClr val="black"/>
              <a:schemeClr val="tx2">
                <a:tint val="45000"/>
                <a:satMod val="400000"/>
              </a:schemeClr>
            </a:duotone>
            <a:lum bright="-40000" contrast="-40000"/>
          </a:blip>
          <a:srcRect b="79075"/>
          <a:stretch>
            <a:fillRect/>
          </a:stretch>
        </p:blipFill>
        <p:spPr>
          <a:xfrm>
            <a:off x="1431132" y="3845895"/>
            <a:ext cx="9297533" cy="11672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0363"/>
                                        </p:tgtEl>
                                        <p:attrNameLst>
                                          <p:attrName>style.visibility</p:attrName>
                                        </p:attrNameLst>
                                      </p:cBhvr>
                                      <p:to>
                                        <p:strVal val="visible"/>
                                      </p:to>
                                    </p:set>
                                    <p:animEffect transition="in" filter="wipe(down)">
                                      <p:cBhvr>
                                        <p:cTn id="7" dur="500"/>
                                        <p:tgtEl>
                                          <p:spTgt spid="1003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63"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63" name="Text Box 11"/>
          <p:cNvSpPr txBox="1">
            <a:spLocks noChangeArrowheads="1"/>
          </p:cNvSpPr>
          <p:nvPr/>
        </p:nvSpPr>
        <p:spPr bwMode="auto">
          <a:xfrm>
            <a:off x="1335307" y="1196752"/>
            <a:ext cx="10018493" cy="189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lnSpc>
                <a:spcPct val="150000"/>
              </a:lnSpc>
              <a:spcAft>
                <a:spcPts val="0"/>
              </a:spcAft>
            </a:pPr>
            <a:r>
              <a:rPr lang="zh-CN" altLang="en-US" sz="2600" b="1"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例</a:t>
            </a:r>
            <a:r>
              <a:rPr lang="en-US" altLang="zh-CN" sz="2600" b="1"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3</a:t>
            </a:r>
            <a:r>
              <a:rPr lang="zh-CN" altLang="en-US" sz="2600" b="1"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 </a:t>
            </a:r>
            <a:r>
              <a:rPr lang="zh-CN" altLang="en-US"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设某工厂有</a:t>
            </a:r>
            <a:r>
              <a:rPr lang="en-US" altLang="zh-CN"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400</a:t>
            </a:r>
            <a:r>
              <a:rPr lang="zh-CN" altLang="en-US"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台同类机器，各台机器发生故障的概率都是</a:t>
            </a:r>
            <a:r>
              <a:rPr lang="en-US" altLang="zh-CN"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0.02</a:t>
            </a:r>
            <a:r>
              <a:rPr lang="zh-CN" altLang="en-US"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，各台机器工作是相互独立的，试求机器出故障的台数不小于</a:t>
            </a:r>
            <a:r>
              <a:rPr lang="en-US" altLang="zh-CN"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2</a:t>
            </a:r>
            <a:r>
              <a:rPr lang="zh-CN" altLang="en-US"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的概率。</a:t>
            </a:r>
            <a:endParaRPr lang="en-US" altLang="zh-CN"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endParaRPr>
          </a:p>
        </p:txBody>
      </p:sp>
      <p:cxnSp>
        <p:nvCxnSpPr>
          <p:cNvPr id="11" name="直接连接符 10"/>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二、例题解析</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pic>
        <p:nvPicPr>
          <p:cNvPr id="2" name="图片 1"/>
          <p:cNvPicPr>
            <a:picLocks noChangeAspect="1"/>
          </p:cNvPicPr>
          <p:nvPr/>
        </p:nvPicPr>
        <p:blipFill>
          <a:blip r:embed="rId1">
            <a:duotone>
              <a:prstClr val="black"/>
              <a:schemeClr val="tx2">
                <a:tint val="45000"/>
                <a:satMod val="400000"/>
              </a:schemeClr>
            </a:duotone>
            <a:lum bright="-40000" contrast="-40000"/>
          </a:blip>
          <a:stretch>
            <a:fillRect/>
          </a:stretch>
        </p:blipFill>
        <p:spPr>
          <a:xfrm>
            <a:off x="1406162" y="3218440"/>
            <a:ext cx="9634083" cy="498592"/>
          </a:xfrm>
          <a:prstGeom prst="rect">
            <a:avLst/>
          </a:prstGeom>
        </p:spPr>
      </p:pic>
      <p:pic>
        <p:nvPicPr>
          <p:cNvPr id="4" name="图片 3"/>
          <p:cNvPicPr>
            <a:picLocks noChangeAspect="1"/>
          </p:cNvPicPr>
          <p:nvPr/>
        </p:nvPicPr>
        <p:blipFill rotWithShape="1">
          <a:blip r:embed="rId2">
            <a:duotone>
              <a:prstClr val="black"/>
              <a:schemeClr val="tx2">
                <a:tint val="45000"/>
                <a:satMod val="400000"/>
              </a:schemeClr>
            </a:duotone>
            <a:lum bright="-40000" contrast="-40000"/>
          </a:blip>
          <a:srcRect t="19634" b="51080"/>
          <a:stretch>
            <a:fillRect/>
          </a:stretch>
        </p:blipFill>
        <p:spPr>
          <a:xfrm>
            <a:off x="1406163" y="3893526"/>
            <a:ext cx="10005312" cy="17581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63" name="Text Box 11"/>
          <p:cNvSpPr txBox="1">
            <a:spLocks noChangeArrowheads="1"/>
          </p:cNvSpPr>
          <p:nvPr/>
        </p:nvSpPr>
        <p:spPr bwMode="auto">
          <a:xfrm>
            <a:off x="1335307" y="1196752"/>
            <a:ext cx="10018493" cy="189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lnSpc>
                <a:spcPct val="150000"/>
              </a:lnSpc>
              <a:spcAft>
                <a:spcPts val="0"/>
              </a:spcAft>
            </a:pPr>
            <a:r>
              <a:rPr lang="zh-CN" altLang="en-US" sz="2600" b="1"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例</a:t>
            </a:r>
            <a:r>
              <a:rPr lang="en-US" altLang="zh-CN" sz="2600" b="1"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3</a:t>
            </a:r>
            <a:r>
              <a:rPr lang="zh-CN" altLang="en-US" sz="2600" b="1"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 </a:t>
            </a:r>
            <a:r>
              <a:rPr lang="zh-CN" altLang="en-US"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设某工厂有</a:t>
            </a:r>
            <a:r>
              <a:rPr lang="en-US" altLang="zh-CN"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400</a:t>
            </a:r>
            <a:r>
              <a:rPr lang="zh-CN" altLang="en-US"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台同类机器，各台机器发生故障的概率都是</a:t>
            </a:r>
            <a:r>
              <a:rPr lang="en-US" altLang="zh-CN"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0.02</a:t>
            </a:r>
            <a:r>
              <a:rPr lang="zh-CN" altLang="en-US"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，各台机器工作是相互独立的，试求机器出故障的台数不小于</a:t>
            </a:r>
            <a:r>
              <a:rPr lang="en-US" altLang="zh-CN"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2</a:t>
            </a:r>
            <a:r>
              <a:rPr lang="zh-CN" altLang="en-US"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rPr>
              <a:t>的概率。</a:t>
            </a:r>
            <a:endParaRPr lang="en-US" altLang="zh-CN" sz="2600" b="1" dirty="0">
              <a:solidFill>
                <a:schemeClr val="tx1">
                  <a:lumMod val="85000"/>
                  <a:lumOff val="15000"/>
                </a:schemeClr>
              </a:solidFill>
              <a:latin typeface="微软雅黑" panose="020B0503020204020204" pitchFamily="34" charset="-122"/>
              <a:ea typeface="微软雅黑" panose="020B0503020204020204" pitchFamily="34" charset="-122"/>
              <a:sym typeface="Times New Roman" panose="02020603050405020304" pitchFamily="18" charset="0"/>
            </a:endParaRPr>
          </a:p>
        </p:txBody>
      </p:sp>
      <p:cxnSp>
        <p:nvCxnSpPr>
          <p:cNvPr id="11" name="直接连接符 10"/>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二、例题解析</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pic>
        <p:nvPicPr>
          <p:cNvPr id="2" name="图片 1"/>
          <p:cNvPicPr>
            <a:picLocks noChangeAspect="1"/>
          </p:cNvPicPr>
          <p:nvPr/>
        </p:nvPicPr>
        <p:blipFill>
          <a:blip r:embed="rId1">
            <a:duotone>
              <a:prstClr val="black"/>
              <a:schemeClr val="tx2">
                <a:tint val="45000"/>
                <a:satMod val="400000"/>
              </a:schemeClr>
            </a:duotone>
            <a:lum bright="-40000" contrast="-40000"/>
          </a:blip>
          <a:stretch>
            <a:fillRect/>
          </a:stretch>
        </p:blipFill>
        <p:spPr>
          <a:xfrm>
            <a:off x="1406162" y="3218440"/>
            <a:ext cx="9634083" cy="498592"/>
          </a:xfrm>
          <a:prstGeom prst="rect">
            <a:avLst/>
          </a:prstGeom>
        </p:spPr>
      </p:pic>
      <p:pic>
        <p:nvPicPr>
          <p:cNvPr id="8" name="图片 7"/>
          <p:cNvPicPr>
            <a:picLocks noChangeAspect="1"/>
          </p:cNvPicPr>
          <p:nvPr/>
        </p:nvPicPr>
        <p:blipFill rotWithShape="1">
          <a:blip r:embed="rId2">
            <a:duotone>
              <a:prstClr val="black"/>
              <a:schemeClr val="tx2">
                <a:tint val="45000"/>
                <a:satMod val="400000"/>
              </a:schemeClr>
            </a:duotone>
            <a:lum bright="-40000" contrast="-40000"/>
          </a:blip>
          <a:srcRect t="48920" b="1"/>
          <a:stretch>
            <a:fillRect/>
          </a:stretch>
        </p:blipFill>
        <p:spPr>
          <a:xfrm>
            <a:off x="1406163" y="3786004"/>
            <a:ext cx="10005312" cy="30664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08488" y="2276712"/>
            <a:ext cx="5040000" cy="1753235"/>
          </a:xfrm>
          <a:prstGeom prst="rect">
            <a:avLst/>
          </a:prstGeom>
          <a:noFill/>
        </p:spPr>
        <p:txBody>
          <a:bodyPr wrap="square" rtlCol="0">
            <a:spAutoFit/>
          </a:bodyPr>
          <a:lstStyle/>
          <a:p>
            <a:pPr algn="dist">
              <a:spcAft>
                <a:spcPts val="0"/>
              </a:spcAft>
            </a:pPr>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关于计算机中</a:t>
            </a:r>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的随机数</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57336" cy="1187862"/>
            </a:xfrm>
            <a:prstGeom prst="rect">
              <a:avLst/>
            </a:prstGeom>
            <a:noFill/>
          </p:spPr>
          <p:txBody>
            <a:bodyPr wrap="none" rtlCol="0">
              <a:spAutoFit/>
            </a:bodyPr>
            <a:lstStyle/>
            <a:p>
              <a:pPr>
                <a:spcAft>
                  <a:spcPts val="0"/>
                </a:spcAft>
              </a:pPr>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03</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灯片编号占位符 6"/>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Aft>
                <a:spcPts val="0"/>
              </a:spcAft>
              <a:buSzTx/>
            </a:pPr>
            <a:fld id="{9A0DB2DC-4C9A-4742-B13C-FB6460FD3503}" type="slidenum">
              <a:rPr lang="en-US" altLang="zh-CN" sz="1000" dirty="0"/>
            </a:fld>
            <a:endParaRPr lang="en-US" altLang="zh-CN" sz="1000" dirty="0"/>
          </a:p>
        </p:txBody>
      </p:sp>
      <p:sp>
        <p:nvSpPr>
          <p:cNvPr id="18434" name="Rectangle 5"/>
          <p:cNvSpPr>
            <a:spLocks noGrp="1"/>
          </p:cNvSpPr>
          <p:nvPr>
            <p:ph sz="half" idx="1"/>
          </p:nvPr>
        </p:nvSpPr>
        <p:spPr>
          <a:xfrm>
            <a:off x="1483360" y="765175"/>
            <a:ext cx="4547870" cy="5904230"/>
          </a:xfrm>
        </p:spPr>
        <p:txBody>
          <a:bodyPr vert="horz" wrap="square" lIns="91440" tIns="45720" rIns="91440" bIns="45720" anchor="t" anchorCtr="0"/>
          <a:p>
            <a:pPr eaLnBrk="1" hangingPunct="1">
              <a:lnSpc>
                <a:spcPct val="80000"/>
              </a:lnSpc>
              <a:spcAft>
                <a:spcPts val="0"/>
              </a:spcAft>
              <a:buClr>
                <a:schemeClr val="tx2"/>
              </a:buClr>
              <a:buSzPct val="70000"/>
              <a:buFont typeface="Wingdings" panose="05000000000000000000" pitchFamily="2" charset="2"/>
            </a:pPr>
            <a:r>
              <a:rPr lang="en-US" altLang="zh-CN" sz="1700" dirty="0"/>
              <a:t>const unsigned long maxshort=65536L;</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const unsigned long multiplier=1194211693L;</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const unsigned long adder=12345L;</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class RandomNumber</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private:</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a:t>
            </a:r>
            <a:r>
              <a:rPr lang="zh-CN" altLang="en-US" sz="1700" dirty="0"/>
              <a:t>当前种子</a:t>
            </a:r>
            <a:endParaRPr lang="zh-CN" altLang="en-US" sz="1700" dirty="0"/>
          </a:p>
          <a:p>
            <a:pPr eaLnBrk="1" hangingPunct="1">
              <a:lnSpc>
                <a:spcPct val="80000"/>
              </a:lnSpc>
              <a:buClr>
                <a:schemeClr val="tx2"/>
              </a:buClr>
              <a:buSzPct val="70000"/>
              <a:buFont typeface="Wingdings" panose="05000000000000000000" pitchFamily="2" charset="2"/>
            </a:pPr>
            <a:r>
              <a:rPr lang="zh-CN" altLang="en-US" sz="1700" dirty="0"/>
              <a:t>          </a:t>
            </a:r>
            <a:r>
              <a:rPr lang="en-US" altLang="zh-CN" sz="1700" dirty="0"/>
              <a:t>unsigned long randseed;</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public:</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a:t>
            </a:r>
            <a:r>
              <a:rPr lang="zh-CN" altLang="en-US" sz="1700" dirty="0"/>
              <a:t>构造函数，缺省值</a:t>
            </a:r>
            <a:r>
              <a:rPr lang="en-US" altLang="zh-CN" sz="1700" dirty="0"/>
              <a:t>0</a:t>
            </a:r>
            <a:r>
              <a:rPr lang="zh-CN" altLang="en-US" sz="1700" dirty="0"/>
              <a:t>表示由系统自动产生种子</a:t>
            </a:r>
            <a:endParaRPr lang="zh-CN" altLang="en-US" sz="1700" dirty="0"/>
          </a:p>
          <a:p>
            <a:pPr eaLnBrk="1" hangingPunct="1">
              <a:lnSpc>
                <a:spcPct val="80000"/>
              </a:lnSpc>
              <a:buClr>
                <a:schemeClr val="tx2"/>
              </a:buClr>
              <a:buSzPct val="70000"/>
              <a:buFont typeface="Wingdings" panose="05000000000000000000" pitchFamily="2" charset="2"/>
            </a:pPr>
            <a:r>
              <a:rPr lang="zh-CN" altLang="en-US" sz="1700" dirty="0"/>
              <a:t>          </a:t>
            </a:r>
            <a:r>
              <a:rPr lang="en-US" altLang="zh-CN" sz="1700" dirty="0"/>
              <a:t>RandomNumber(unsigned long s=0);</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a:t>
            </a:r>
            <a:r>
              <a:rPr lang="zh-CN" altLang="en-US" sz="1700" dirty="0"/>
              <a:t>产生</a:t>
            </a:r>
            <a:r>
              <a:rPr lang="en-US" altLang="zh-CN" sz="1700" dirty="0"/>
              <a:t>0-n-1</a:t>
            </a:r>
            <a:r>
              <a:rPr lang="zh-CN" altLang="en-US" sz="1700" dirty="0"/>
              <a:t>之间的随机整数</a:t>
            </a:r>
            <a:endParaRPr lang="zh-CN" altLang="en-US" sz="1700" dirty="0"/>
          </a:p>
          <a:p>
            <a:pPr eaLnBrk="1" hangingPunct="1">
              <a:lnSpc>
                <a:spcPct val="80000"/>
              </a:lnSpc>
              <a:buClr>
                <a:schemeClr val="tx2"/>
              </a:buClr>
              <a:buSzPct val="70000"/>
              <a:buFont typeface="Wingdings" panose="05000000000000000000" pitchFamily="2" charset="2"/>
            </a:pPr>
            <a:r>
              <a:rPr lang="zh-CN" altLang="en-US" sz="1700" dirty="0"/>
              <a:t>          </a:t>
            </a:r>
            <a:r>
              <a:rPr lang="en-US" altLang="zh-CN" sz="1700" dirty="0"/>
              <a:t>unsigned short Random(unsigned long n);</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a:t>
            </a:r>
            <a:r>
              <a:rPr lang="zh-CN" altLang="en-US" sz="1700" dirty="0"/>
              <a:t>产生</a:t>
            </a:r>
            <a:r>
              <a:rPr lang="en-US" altLang="zh-CN" sz="1700" dirty="0"/>
              <a:t>[0</a:t>
            </a:r>
            <a:r>
              <a:rPr lang="zh-CN" altLang="en-US" sz="1700" dirty="0"/>
              <a:t>，</a:t>
            </a:r>
            <a:r>
              <a:rPr lang="en-US" altLang="zh-CN" sz="1700" dirty="0"/>
              <a:t>1)</a:t>
            </a:r>
            <a:r>
              <a:rPr lang="zh-CN" altLang="en-US" sz="1700" dirty="0"/>
              <a:t>之间的随机实数</a:t>
            </a:r>
            <a:endParaRPr lang="zh-CN" altLang="en-US" sz="1700" dirty="0"/>
          </a:p>
          <a:p>
            <a:pPr eaLnBrk="1" hangingPunct="1">
              <a:lnSpc>
                <a:spcPct val="80000"/>
              </a:lnSpc>
              <a:buClr>
                <a:schemeClr val="tx2"/>
              </a:buClr>
              <a:buSzPct val="70000"/>
              <a:buFont typeface="Wingdings" panose="05000000000000000000" pitchFamily="2" charset="2"/>
            </a:pPr>
            <a:r>
              <a:rPr lang="zh-CN" altLang="en-US" sz="1700" dirty="0"/>
              <a:t>          </a:t>
            </a:r>
            <a:r>
              <a:rPr lang="en-US" altLang="zh-CN" sz="1700" dirty="0"/>
              <a:t>double fRandom(void);</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a:t>
            </a:r>
            <a:endParaRPr lang="en-US" altLang="zh-CN" sz="1700" dirty="0"/>
          </a:p>
        </p:txBody>
      </p:sp>
      <p:sp>
        <p:nvSpPr>
          <p:cNvPr id="18435" name="Rectangle 6"/>
          <p:cNvSpPr>
            <a:spLocks noGrp="1"/>
          </p:cNvSpPr>
          <p:nvPr>
            <p:ph sz="half" idx="2"/>
          </p:nvPr>
        </p:nvSpPr>
        <p:spPr>
          <a:xfrm>
            <a:off x="6172200" y="692150"/>
            <a:ext cx="4687570" cy="6165850"/>
          </a:xfrm>
          <a:solidFill>
            <a:schemeClr val="bg1"/>
          </a:solidFill>
        </p:spPr>
        <p:txBody>
          <a:bodyPr vert="horz" wrap="square" lIns="91440" tIns="45720" rIns="91440" bIns="45720" anchor="t" anchorCtr="0"/>
          <a:p>
            <a:pPr eaLnBrk="1" hangingPunct="1">
              <a:lnSpc>
                <a:spcPct val="80000"/>
              </a:lnSpc>
              <a:spcAft>
                <a:spcPts val="0"/>
              </a:spcAft>
              <a:buClr>
                <a:schemeClr val="tx2"/>
              </a:buClr>
              <a:buSzPct val="70000"/>
              <a:buFont typeface="Wingdings" panose="05000000000000000000" pitchFamily="2" charset="2"/>
            </a:pPr>
            <a:r>
              <a:rPr lang="en-US" altLang="zh-CN" sz="1700" dirty="0"/>
              <a:t>RandomNumber::RandomNumber(unsigned long s)</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if(s==0)</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randseed=time(0);</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else</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randseed=s;</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unsigned short RandomNumber::Random(unsigned long n)</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randseed=multiplier*randseed+adder;</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return (unsigned short)((randseed&gt;&gt;16)%n);</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double RandomNumber::fRandom(void)</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return Random(maxshort)/double(maxshort);</a:t>
            </a:r>
            <a:endParaRPr lang="en-US" altLang="zh-CN" sz="1700" dirty="0"/>
          </a:p>
          <a:p>
            <a:pPr eaLnBrk="1" hangingPunct="1">
              <a:lnSpc>
                <a:spcPct val="80000"/>
              </a:lnSpc>
              <a:buClr>
                <a:schemeClr val="tx2"/>
              </a:buClr>
              <a:buSzPct val="70000"/>
              <a:buFont typeface="Wingdings" panose="05000000000000000000" pitchFamily="2" charset="2"/>
            </a:pPr>
            <a:r>
              <a:rPr lang="en-US" altLang="zh-CN" sz="1700" dirty="0"/>
              <a:t>} </a:t>
            </a:r>
            <a:endParaRPr lang="en-US" altLang="zh-CN" sz="1700" dirty="0"/>
          </a:p>
          <a:p>
            <a:pPr eaLnBrk="1" hangingPunct="1">
              <a:lnSpc>
                <a:spcPct val="80000"/>
              </a:lnSpc>
              <a:buClr>
                <a:schemeClr val="tx2"/>
              </a:buClr>
              <a:buSzPct val="70000"/>
              <a:buFont typeface="Wingdings" panose="05000000000000000000" pitchFamily="2" charset="2"/>
            </a:pPr>
            <a:endParaRPr lang="zh-CN" altLang="en-US" sz="1700" dirty="0"/>
          </a:p>
          <a:p>
            <a:pPr eaLnBrk="1" hangingPunct="1">
              <a:lnSpc>
                <a:spcPct val="80000"/>
              </a:lnSpc>
              <a:buClr>
                <a:schemeClr val="tx2"/>
              </a:buClr>
              <a:buSzPct val="70000"/>
              <a:buFont typeface="Wingdings" panose="05000000000000000000" pitchFamily="2" charset="2"/>
            </a:pPr>
            <a:endParaRPr lang="zh-CN" altLang="en-US" sz="1700" dirty="0"/>
          </a:p>
        </p:txBody>
      </p:sp>
      <p:sp>
        <p:nvSpPr>
          <p:cNvPr id="2" name="文本框 1"/>
          <p:cNvSpPr txBox="1"/>
          <p:nvPr/>
        </p:nvSpPr>
        <p:spPr>
          <a:xfrm>
            <a:off x="551180" y="44450"/>
            <a:ext cx="6096000" cy="829945"/>
          </a:xfrm>
          <a:prstGeom prst="rect">
            <a:avLst/>
          </a:prstGeom>
          <a:noFill/>
        </p:spPr>
        <p:txBody>
          <a:bodyPr wrap="square" rtlCol="0" anchor="t">
            <a:spAutoFit/>
            <a:scene3d>
              <a:camera prst="orthographicFront"/>
              <a:lightRig rig="threePt" dir="t"/>
            </a:scene3d>
          </a:bodyPr>
          <a:p>
            <a:pPr eaLnBrk="1" hangingPunct="1">
              <a:spcAft>
                <a:spcPts val="0"/>
              </a:spcAft>
            </a:pPr>
            <a:r>
              <a:rPr lang="en-US" altLang="zh-CN" sz="2400" dirty="0">
                <a:ln w="22225">
                  <a:solidFill>
                    <a:schemeClr val="accent2"/>
                  </a:solidFill>
                  <a:prstDash val="solid"/>
                </a:ln>
                <a:solidFill>
                  <a:schemeClr val="accent2">
                    <a:lumMod val="40000"/>
                    <a:lumOff val="60000"/>
                  </a:schemeClr>
                </a:solidFill>
                <a:effectLst/>
                <a:sym typeface="+mn-ea"/>
              </a:rPr>
              <a:t>random</a:t>
            </a:r>
            <a:endParaRPr lang="en-US" altLang="zh-CN" sz="2400" dirty="0">
              <a:ln w="22225">
                <a:solidFill>
                  <a:schemeClr val="accent2"/>
                </a:solidFill>
                <a:prstDash val="solid"/>
              </a:ln>
              <a:solidFill>
                <a:schemeClr val="accent2">
                  <a:lumMod val="40000"/>
                  <a:lumOff val="60000"/>
                </a:schemeClr>
              </a:solidFill>
              <a:effectLst/>
            </a:endParaRPr>
          </a:p>
          <a:p>
            <a:pPr eaLnBrk="1" hangingPunct="1">
              <a:spcBef>
                <a:spcPts val="0"/>
              </a:spcBef>
            </a:pPr>
            <a:r>
              <a:rPr lang="en-US" altLang="zh-CN" sz="2400" dirty="0">
                <a:ln w="22225">
                  <a:solidFill>
                    <a:schemeClr val="accent2"/>
                  </a:solidFill>
                  <a:prstDash val="solid"/>
                </a:ln>
                <a:solidFill>
                  <a:schemeClr val="accent2">
                    <a:lumMod val="40000"/>
                    <a:lumOff val="60000"/>
                  </a:schemeClr>
                </a:solidFill>
                <a:effectLst/>
                <a:sym typeface="+mn-ea"/>
              </a:rPr>
              <a:t>frandom</a:t>
            </a:r>
            <a:endParaRPr lang="en-US" altLang="zh-CN" sz="2400" dirty="0">
              <a:ln w="22225">
                <a:solidFill>
                  <a:schemeClr val="accent2"/>
                </a:solidFill>
                <a:prstDash val="solid"/>
              </a:ln>
              <a:solidFill>
                <a:schemeClr val="accent2">
                  <a:lumMod val="40000"/>
                  <a:lumOff val="60000"/>
                </a:schemeClr>
              </a:solidFill>
              <a:effectLst/>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灯片编号占位符 4"/>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Aft>
                <a:spcPts val="0"/>
              </a:spcAft>
              <a:buSzTx/>
            </a:pPr>
            <a:fld id="{9A0DB2DC-4C9A-4742-B13C-FB6460FD3503}" type="slidenum">
              <a:rPr lang="en-US" altLang="zh-CN" sz="1000" dirty="0"/>
            </a:fld>
            <a:endParaRPr lang="en-US" altLang="zh-CN" sz="1000" dirty="0"/>
          </a:p>
        </p:txBody>
      </p:sp>
      <p:sp>
        <p:nvSpPr>
          <p:cNvPr id="11266" name="Rectangle 4"/>
          <p:cNvSpPr>
            <a:spLocks noGrp="1"/>
          </p:cNvSpPr>
          <p:nvPr>
            <p:ph type="title"/>
          </p:nvPr>
        </p:nvSpPr>
        <p:spPr>
          <a:xfrm>
            <a:off x="1919288" y="620713"/>
            <a:ext cx="7772400" cy="803275"/>
          </a:xfrm>
        </p:spPr>
        <p:txBody>
          <a:bodyPr vert="horz" wrap="square" lIns="91440" tIns="45720" rIns="91440" bIns="45720" anchor="b" anchorCtr="0"/>
          <a:p>
            <a:pPr eaLnBrk="1" hangingPunct="1">
              <a:spcAft>
                <a:spcPts val="0"/>
              </a:spcAft>
            </a:pPr>
            <a:r>
              <a:rPr lang="zh-CN" altLang="en-US" dirty="0">
                <a:ea typeface="黑体" panose="02010609060101010101" pitchFamily="49" charset="-122"/>
              </a:rPr>
              <a:t>随机数</a:t>
            </a:r>
            <a:endParaRPr lang="zh-CN" altLang="en-US" dirty="0">
              <a:ea typeface="黑体" panose="02010609060101010101" pitchFamily="49" charset="-122"/>
            </a:endParaRPr>
          </a:p>
        </p:txBody>
      </p:sp>
      <p:sp>
        <p:nvSpPr>
          <p:cNvPr id="11267" name="Rectangle 7"/>
          <p:cNvSpPr/>
          <p:nvPr/>
        </p:nvSpPr>
        <p:spPr>
          <a:xfrm>
            <a:off x="1524000" y="3021013"/>
            <a:ext cx="309880" cy="368300"/>
          </a:xfrm>
          <a:prstGeom prst="rect">
            <a:avLst/>
          </a:prstGeom>
          <a:noFill/>
          <a:ln w="6350">
            <a:noFill/>
          </a:ln>
        </p:spPr>
        <p:txBody>
          <a:bodyPr wrap="none" anchor="ctr" anchorCtr="0">
            <a:spAutoFit/>
          </a:bodyPr>
          <a:p>
            <a:endParaRPr lang="zh-CN" altLang="en-US" dirty="0">
              <a:latin typeface="Arial" panose="020B0604020202020204" pitchFamily="34" charset="0"/>
            </a:endParaRPr>
          </a:p>
        </p:txBody>
      </p:sp>
      <p:sp>
        <p:nvSpPr>
          <p:cNvPr id="11268" name="Rectangle 9"/>
          <p:cNvSpPr/>
          <p:nvPr/>
        </p:nvSpPr>
        <p:spPr>
          <a:xfrm>
            <a:off x="1524000" y="3001963"/>
            <a:ext cx="309880" cy="368300"/>
          </a:xfrm>
          <a:prstGeom prst="rect">
            <a:avLst/>
          </a:prstGeom>
          <a:noFill/>
          <a:ln w="6350">
            <a:noFill/>
          </a:ln>
        </p:spPr>
        <p:txBody>
          <a:bodyPr wrap="none" anchor="ctr" anchorCtr="0">
            <a:spAutoFit/>
          </a:bodyPr>
          <a:p>
            <a:endParaRPr lang="zh-CN" altLang="en-US" dirty="0">
              <a:latin typeface="Arial" panose="020B0604020202020204" pitchFamily="34" charset="0"/>
            </a:endParaRPr>
          </a:p>
        </p:txBody>
      </p:sp>
      <p:sp>
        <p:nvSpPr>
          <p:cNvPr id="11269" name="Rectangle 11"/>
          <p:cNvSpPr/>
          <p:nvPr/>
        </p:nvSpPr>
        <p:spPr>
          <a:xfrm>
            <a:off x="1524000" y="3030538"/>
            <a:ext cx="309880" cy="368300"/>
          </a:xfrm>
          <a:prstGeom prst="rect">
            <a:avLst/>
          </a:prstGeom>
          <a:noFill/>
          <a:ln w="6350">
            <a:noFill/>
          </a:ln>
        </p:spPr>
        <p:txBody>
          <a:bodyPr wrap="none" anchor="ctr" anchorCtr="0">
            <a:spAutoFit/>
          </a:bodyPr>
          <a:p>
            <a:endParaRPr lang="zh-CN" altLang="en-US" dirty="0">
              <a:latin typeface="Arial" panose="020B0604020202020204" pitchFamily="34" charset="0"/>
            </a:endParaRPr>
          </a:p>
        </p:txBody>
      </p:sp>
      <p:sp>
        <p:nvSpPr>
          <p:cNvPr id="282636" name="Text Box 12"/>
          <p:cNvSpPr txBox="1"/>
          <p:nvPr/>
        </p:nvSpPr>
        <p:spPr>
          <a:xfrm>
            <a:off x="1774825" y="1689100"/>
            <a:ext cx="8734425" cy="2093595"/>
          </a:xfrm>
          <a:prstGeom prst="rect">
            <a:avLst/>
          </a:prstGeom>
          <a:noFill/>
          <a:ln w="6350">
            <a:noFill/>
          </a:ln>
        </p:spPr>
        <p:txBody>
          <a:bodyPr anchor="t" anchorCtr="0">
            <a:noAutofit/>
          </a:bodyPr>
          <a:p>
            <a:pPr>
              <a:spcAft>
                <a:spcPts val="0"/>
              </a:spcAft>
            </a:pPr>
            <a:r>
              <a:rPr lang="zh-CN" altLang="en-US" sz="2400" dirty="0">
                <a:latin typeface="Arial" panose="020B0604020202020204" pitchFamily="34" charset="0"/>
                <a:ea typeface="楷体_GB2312" panose="02010609030101010101" pitchFamily="49" charset="-122"/>
              </a:rPr>
              <a:t>随机数在随机化算法设计中扮演着十分重要的角色。在现实计算机上无法产生真正的随机数，因此在随机化算法中使用的随机数都是一定程度上随机的，即伪随机数。</a:t>
            </a:r>
            <a:endParaRPr lang="zh-CN" altLang="en-US" sz="2400" dirty="0">
              <a:latin typeface="Arial" panose="020B0604020202020204" pitchFamily="34" charset="0"/>
              <a:ea typeface="楷体_GB2312" panose="02010609030101010101" pitchFamily="49" charset="-122"/>
            </a:endParaRPr>
          </a:p>
          <a:p>
            <a:endParaRPr lang="zh-CN" altLang="en-US" sz="2400" dirty="0">
              <a:latin typeface="Arial" panose="020B0604020202020204" pitchFamily="34" charset="0"/>
              <a:ea typeface="楷体_GB2312" panose="02010609030101010101" pitchFamily="49" charset="-122"/>
            </a:endParaRPr>
          </a:p>
          <a:p>
            <a:pPr>
              <a:spcBef>
                <a:spcPts val="0"/>
              </a:spcBef>
            </a:pPr>
            <a:r>
              <a:rPr lang="zh-CN" altLang="en-US" sz="2400" dirty="0">
                <a:latin typeface="Arial" panose="020B0604020202020204" pitchFamily="34" charset="0"/>
                <a:ea typeface="黑体" panose="02010609060101010101" pitchFamily="49" charset="-122"/>
              </a:rPr>
              <a:t>线性同余法</a:t>
            </a:r>
            <a:r>
              <a:rPr lang="zh-CN" altLang="en-US" sz="2400" dirty="0">
                <a:latin typeface="Arial" panose="020B0604020202020204" pitchFamily="34" charset="0"/>
                <a:ea typeface="楷体_GB2312" panose="02010609030101010101" pitchFamily="49" charset="-122"/>
              </a:rPr>
              <a:t>是产生伪随机数的最常用的方法。由线性同余法产生的随机序列</a:t>
            </a:r>
            <a:r>
              <a:rPr lang="en-US" altLang="zh-CN" sz="2400" dirty="0">
                <a:latin typeface="Arial" panose="020B0604020202020204" pitchFamily="34" charset="0"/>
                <a:ea typeface="楷体_GB2312" panose="02010609030101010101" pitchFamily="49" charset="-122"/>
              </a:rPr>
              <a:t>a</a:t>
            </a:r>
            <a:r>
              <a:rPr lang="en-US" altLang="zh-CN" sz="2400" baseline="-25000" dirty="0">
                <a:latin typeface="Arial" panose="020B0604020202020204" pitchFamily="34" charset="0"/>
                <a:ea typeface="楷体_GB2312" panose="02010609030101010101" pitchFamily="49" charset="-122"/>
              </a:rPr>
              <a:t>0</a:t>
            </a:r>
            <a:r>
              <a:rPr lang="en-US" altLang="zh-CN" sz="2400" dirty="0">
                <a:latin typeface="Arial" panose="020B0604020202020204" pitchFamily="34" charset="0"/>
                <a:ea typeface="楷体_GB2312" panose="02010609030101010101" pitchFamily="49" charset="-122"/>
              </a:rPr>
              <a:t>,a</a:t>
            </a:r>
            <a:r>
              <a:rPr lang="en-US" altLang="zh-CN" sz="2400" baseline="-25000" dirty="0">
                <a:latin typeface="Arial" panose="020B0604020202020204" pitchFamily="34" charset="0"/>
                <a:ea typeface="楷体_GB2312" panose="02010609030101010101" pitchFamily="49" charset="-122"/>
              </a:rPr>
              <a:t>1</a:t>
            </a:r>
            <a:r>
              <a:rPr lang="en-US" altLang="zh-CN" sz="2400" dirty="0">
                <a:latin typeface="Arial" panose="020B0604020202020204" pitchFamily="34" charset="0"/>
                <a:ea typeface="楷体_GB2312" panose="02010609030101010101" pitchFamily="49" charset="-122"/>
              </a:rPr>
              <a:t>,…,a</a:t>
            </a:r>
            <a:r>
              <a:rPr lang="en-US" altLang="zh-CN" sz="2400" baseline="-25000" dirty="0">
                <a:latin typeface="Arial" panose="020B0604020202020204" pitchFamily="34" charset="0"/>
                <a:ea typeface="楷体_GB2312" panose="02010609030101010101" pitchFamily="49" charset="-122"/>
              </a:rPr>
              <a:t>n</a:t>
            </a:r>
            <a:r>
              <a:rPr lang="zh-CN" altLang="en-US" sz="2400" dirty="0">
                <a:latin typeface="Arial" panose="020B0604020202020204" pitchFamily="34" charset="0"/>
                <a:ea typeface="楷体_GB2312" panose="02010609030101010101" pitchFamily="49" charset="-122"/>
              </a:rPr>
              <a:t>满足</a:t>
            </a:r>
            <a:endParaRPr lang="zh-CN" altLang="en-US" sz="2400" dirty="0">
              <a:latin typeface="Arial" panose="020B0604020202020204" pitchFamily="34" charset="0"/>
              <a:ea typeface="楷体_GB2312" panose="02010609030101010101" pitchFamily="49" charset="-122"/>
            </a:endParaRPr>
          </a:p>
        </p:txBody>
      </p:sp>
      <p:sp>
        <p:nvSpPr>
          <p:cNvPr id="11271" name="Rectangle 14"/>
          <p:cNvSpPr/>
          <p:nvPr/>
        </p:nvSpPr>
        <p:spPr>
          <a:xfrm>
            <a:off x="1524000" y="3001963"/>
            <a:ext cx="309880" cy="368300"/>
          </a:xfrm>
          <a:prstGeom prst="rect">
            <a:avLst/>
          </a:prstGeom>
          <a:noFill/>
          <a:ln w="6350">
            <a:noFill/>
          </a:ln>
        </p:spPr>
        <p:txBody>
          <a:bodyPr wrap="none" anchor="ctr" anchorCtr="0">
            <a:spAutoFit/>
          </a:bodyPr>
          <a:p>
            <a:endParaRPr lang="zh-CN" altLang="en-US" dirty="0">
              <a:latin typeface="Arial" panose="020B0604020202020204" pitchFamily="34" charset="0"/>
            </a:endParaRPr>
          </a:p>
        </p:txBody>
      </p:sp>
      <p:graphicFrame>
        <p:nvGraphicFramePr>
          <p:cNvPr id="282637" name="Object 13"/>
          <p:cNvGraphicFramePr>
            <a:graphicFrameLocks noChangeAspect="1"/>
          </p:cNvGraphicFramePr>
          <p:nvPr/>
        </p:nvGraphicFramePr>
        <p:xfrm>
          <a:off x="3648075" y="4076700"/>
          <a:ext cx="5040313" cy="1023938"/>
        </p:xfrm>
        <a:graphic>
          <a:graphicData uri="http://schemas.openxmlformats.org/presentationml/2006/ole">
            <mc:AlternateContent xmlns:mc="http://schemas.openxmlformats.org/markup-compatibility/2006">
              <mc:Choice xmlns:v="urn:schemas-microsoft-com:vml" Requires="v">
                <p:oleObj spid="_x0000_s3076" name="" r:id="rId1" imgW="2387600" imgH="482600" progId="Equation.3">
                  <p:embed/>
                </p:oleObj>
              </mc:Choice>
              <mc:Fallback>
                <p:oleObj name="" r:id="rId1" imgW="2387600" imgH="482600" progId="Equation.3">
                  <p:embed/>
                  <p:pic>
                    <p:nvPicPr>
                      <p:cNvPr id="0" name="图片 3075"/>
                      <p:cNvPicPr/>
                      <p:nvPr/>
                    </p:nvPicPr>
                    <p:blipFill>
                      <a:blip r:embed="rId2"/>
                      <a:stretch>
                        <a:fillRect/>
                      </a:stretch>
                    </p:blipFill>
                    <p:spPr>
                      <a:xfrm>
                        <a:off x="3648075" y="4076700"/>
                        <a:ext cx="5040313" cy="1023938"/>
                      </a:xfrm>
                      <a:prstGeom prst="rect">
                        <a:avLst/>
                      </a:prstGeom>
                      <a:noFill/>
                      <a:ln w="38100">
                        <a:noFill/>
                        <a:miter/>
                      </a:ln>
                    </p:spPr>
                  </p:pic>
                </p:oleObj>
              </mc:Fallback>
            </mc:AlternateContent>
          </a:graphicData>
        </a:graphic>
      </p:graphicFrame>
      <p:sp>
        <p:nvSpPr>
          <p:cNvPr id="282640" name="Rectangle 16"/>
          <p:cNvSpPr/>
          <p:nvPr/>
        </p:nvSpPr>
        <p:spPr>
          <a:xfrm>
            <a:off x="1847850" y="5441315"/>
            <a:ext cx="8528050" cy="829945"/>
          </a:xfrm>
          <a:prstGeom prst="rect">
            <a:avLst/>
          </a:prstGeom>
          <a:noFill/>
          <a:ln w="9525">
            <a:noFill/>
          </a:ln>
        </p:spPr>
        <p:txBody>
          <a:bodyPr anchor="ctr" anchorCtr="0">
            <a:spAutoFit/>
          </a:bodyPr>
          <a:p>
            <a:pPr>
              <a:spcAft>
                <a:spcPts val="0"/>
              </a:spcAft>
            </a:pPr>
            <a:r>
              <a:rPr lang="zh-CN" altLang="en-US" sz="2400" dirty="0">
                <a:latin typeface="Arial" panose="020B0604020202020204" pitchFamily="34" charset="0"/>
                <a:ea typeface="楷体_GB2312" panose="02010609030101010101" pitchFamily="49" charset="-122"/>
              </a:rPr>
              <a:t>设</a:t>
            </a:r>
            <a:r>
              <a:rPr lang="en-US" altLang="zh-CN" sz="2400" dirty="0">
                <a:latin typeface="Arial" panose="020B0604020202020204" pitchFamily="34" charset="0"/>
                <a:ea typeface="楷体_GB2312" panose="02010609030101010101" pitchFamily="49" charset="-122"/>
              </a:rPr>
              <a:t>m</a:t>
            </a:r>
            <a:r>
              <a:rPr lang="zh-CN" altLang="en-US" sz="2400" dirty="0">
                <a:latin typeface="Arial" panose="020B0604020202020204" pitchFamily="34" charset="0"/>
                <a:ea typeface="楷体_GB2312" panose="02010609030101010101" pitchFamily="49" charset="-122"/>
              </a:rPr>
              <a:t>是一个给定的正整数，如果两个整数</a:t>
            </a:r>
            <a:r>
              <a:rPr lang="en-US" altLang="zh-CN" sz="2400" dirty="0">
                <a:latin typeface="Arial" panose="020B0604020202020204" pitchFamily="34" charset="0"/>
                <a:ea typeface="楷体_GB2312" panose="02010609030101010101" pitchFamily="49" charset="-122"/>
              </a:rPr>
              <a:t>a</a:t>
            </a:r>
            <a:r>
              <a:rPr lang="zh-CN" altLang="en-US" sz="2400" dirty="0">
                <a:latin typeface="Arial" panose="020B0604020202020204" pitchFamily="34" charset="0"/>
                <a:ea typeface="楷体_GB2312" panose="02010609030101010101" pitchFamily="49" charset="-122"/>
              </a:rPr>
              <a:t>，</a:t>
            </a:r>
            <a:r>
              <a:rPr lang="en-US" altLang="zh-CN" sz="2400" dirty="0">
                <a:latin typeface="Arial" panose="020B0604020202020204" pitchFamily="34" charset="0"/>
                <a:ea typeface="楷体_GB2312" panose="02010609030101010101" pitchFamily="49" charset="-122"/>
              </a:rPr>
              <a:t>b</a:t>
            </a:r>
            <a:r>
              <a:rPr lang="zh-CN" altLang="en-US" sz="2400" dirty="0">
                <a:latin typeface="Arial" panose="020B0604020202020204" pitchFamily="34" charset="0"/>
                <a:ea typeface="楷体_GB2312" panose="02010609030101010101" pitchFamily="49" charset="-122"/>
              </a:rPr>
              <a:t>用</a:t>
            </a:r>
            <a:r>
              <a:rPr lang="en-US" altLang="zh-CN" sz="2400" dirty="0">
                <a:latin typeface="Arial" panose="020B0604020202020204" pitchFamily="34" charset="0"/>
                <a:ea typeface="楷体_GB2312" panose="02010609030101010101" pitchFamily="49" charset="-122"/>
              </a:rPr>
              <a:t>m</a:t>
            </a:r>
            <a:r>
              <a:rPr lang="zh-CN" altLang="en-US" sz="2400" dirty="0">
                <a:latin typeface="Arial" panose="020B0604020202020204" pitchFamily="34" charset="0"/>
                <a:ea typeface="楷体_GB2312" panose="02010609030101010101" pitchFamily="49" charset="-122"/>
              </a:rPr>
              <a:t>除，所得的余数相同，则称</a:t>
            </a:r>
            <a:r>
              <a:rPr lang="en-US" altLang="zh-CN" sz="2400" dirty="0">
                <a:latin typeface="Arial" panose="020B0604020202020204" pitchFamily="34" charset="0"/>
                <a:ea typeface="楷体_GB2312" panose="02010609030101010101" pitchFamily="49" charset="-122"/>
              </a:rPr>
              <a:t>a</a:t>
            </a:r>
            <a:r>
              <a:rPr lang="zh-CN" altLang="en-US" sz="2400" dirty="0">
                <a:latin typeface="Arial" panose="020B0604020202020204" pitchFamily="34" charset="0"/>
                <a:ea typeface="楷体_GB2312" panose="02010609030101010101" pitchFamily="49" charset="-122"/>
              </a:rPr>
              <a:t>，</a:t>
            </a:r>
            <a:r>
              <a:rPr lang="en-US" altLang="zh-CN" sz="2400" dirty="0">
                <a:latin typeface="Arial" panose="020B0604020202020204" pitchFamily="34" charset="0"/>
                <a:ea typeface="楷体_GB2312" panose="02010609030101010101" pitchFamily="49" charset="-122"/>
              </a:rPr>
              <a:t>b</a:t>
            </a:r>
            <a:r>
              <a:rPr lang="zh-CN" altLang="en-US" sz="2400" dirty="0">
                <a:latin typeface="Arial" panose="020B0604020202020204" pitchFamily="34" charset="0"/>
                <a:ea typeface="楷体_GB2312" panose="02010609030101010101" pitchFamily="49" charset="-122"/>
              </a:rPr>
              <a:t>对模</a:t>
            </a:r>
            <a:r>
              <a:rPr lang="en-US" altLang="zh-CN" sz="2400" dirty="0">
                <a:latin typeface="Arial" panose="020B0604020202020204" pitchFamily="34" charset="0"/>
                <a:ea typeface="楷体_GB2312" panose="02010609030101010101" pitchFamily="49" charset="-122"/>
              </a:rPr>
              <a:t>m</a:t>
            </a:r>
            <a:r>
              <a:rPr lang="zh-CN" altLang="en-US" sz="2400" dirty="0">
                <a:latin typeface="Arial" panose="020B0604020202020204" pitchFamily="34" charset="0"/>
                <a:ea typeface="楷体_GB2312" panose="02010609030101010101" pitchFamily="49" charset="-122"/>
              </a:rPr>
              <a:t>同余。</a:t>
            </a:r>
            <a:r>
              <a:rPr lang="zh-CN" altLang="en-US" dirty="0">
                <a:latin typeface="Arial" panose="020B0604020202020204" pitchFamily="34" charset="0"/>
              </a:rPr>
              <a:t> </a:t>
            </a:r>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82637"/>
                                        </p:tgtEl>
                                        <p:attrNameLst>
                                          <p:attrName>style.visibility</p:attrName>
                                        </p:attrNameLst>
                                      </p:cBhvr>
                                      <p:to>
                                        <p:strVal val="visible"/>
                                      </p:to>
                                    </p:set>
                                    <p:anim calcmode="lin" valueType="num">
                                      <p:cBhvr additive="base">
                                        <p:cTn id="7" dur="500" fill="hold"/>
                                        <p:tgtEl>
                                          <p:spTgt spid="282637"/>
                                        </p:tgtEl>
                                        <p:attrNameLst>
                                          <p:attrName>ppt_x</p:attrName>
                                        </p:attrNameLst>
                                      </p:cBhvr>
                                      <p:tavLst>
                                        <p:tav tm="0">
                                          <p:val>
                                            <p:strVal val="#ppt_x"/>
                                          </p:val>
                                        </p:tav>
                                        <p:tav tm="100000">
                                          <p:val>
                                            <p:strVal val="#ppt_x"/>
                                          </p:val>
                                        </p:tav>
                                      </p:tavLst>
                                    </p:anim>
                                    <p:anim calcmode="lin" valueType="num">
                                      <p:cBhvr additive="base">
                                        <p:cTn id="8" dur="500" fill="hold"/>
                                        <p:tgtEl>
                                          <p:spTgt spid="28263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82640"/>
                                        </p:tgtEl>
                                        <p:attrNameLst>
                                          <p:attrName>style.visibility</p:attrName>
                                        </p:attrNameLst>
                                      </p:cBhvr>
                                      <p:to>
                                        <p:strVal val="visible"/>
                                      </p:to>
                                    </p:set>
                                    <p:anim calcmode="lin" valueType="num">
                                      <p:cBhvr additive="base">
                                        <p:cTn id="11" dur="500" fill="hold"/>
                                        <p:tgtEl>
                                          <p:spTgt spid="282640"/>
                                        </p:tgtEl>
                                        <p:attrNameLst>
                                          <p:attrName>ppt_x</p:attrName>
                                        </p:attrNameLst>
                                      </p:cBhvr>
                                      <p:tavLst>
                                        <p:tav tm="0">
                                          <p:val>
                                            <p:strVal val="#ppt_x"/>
                                          </p:val>
                                        </p:tav>
                                        <p:tav tm="100000">
                                          <p:val>
                                            <p:strVal val="#ppt_x"/>
                                          </p:val>
                                        </p:tav>
                                      </p:tavLst>
                                    </p:anim>
                                    <p:anim calcmode="lin" valueType="num">
                                      <p:cBhvr additive="base">
                                        <p:cTn id="12" dur="500" fill="hold"/>
                                        <p:tgtEl>
                                          <p:spTgt spid="2826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4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Aft>
                <a:spcPts val="0"/>
              </a:spcAft>
              <a:buSzTx/>
            </a:pPr>
            <a:fld id="{9A0DB2DC-4C9A-4742-B13C-FB6460FD3503}" type="slidenum">
              <a:rPr lang="en-US" altLang="zh-CN" sz="1000" dirty="0"/>
            </a:fld>
            <a:endParaRPr lang="en-US" altLang="zh-CN" sz="1000" dirty="0"/>
          </a:p>
        </p:txBody>
      </p:sp>
      <p:sp>
        <p:nvSpPr>
          <p:cNvPr id="12290" name="Rectangle 6"/>
          <p:cNvSpPr>
            <a:spLocks noGrp="1"/>
          </p:cNvSpPr>
          <p:nvPr>
            <p:ph type="title"/>
          </p:nvPr>
        </p:nvSpPr>
        <p:spPr/>
        <p:txBody>
          <a:bodyPr vert="horz" wrap="square" lIns="91440" tIns="45720" rIns="91440" bIns="45720" anchor="b" anchorCtr="0"/>
          <a:p>
            <a:pPr eaLnBrk="1" hangingPunct="1">
              <a:spcAft>
                <a:spcPts val="0"/>
              </a:spcAft>
            </a:pPr>
            <a:r>
              <a:rPr lang="zh-CN" altLang="en-US" dirty="0">
                <a:ea typeface="黑体" panose="02010609060101010101" pitchFamily="49" charset="-122"/>
              </a:rPr>
              <a:t>线性同余法</a:t>
            </a:r>
            <a:endParaRPr lang="zh-CN" altLang="en-US" dirty="0">
              <a:ea typeface="黑体" panose="02010609060101010101" pitchFamily="49" charset="-122"/>
            </a:endParaRPr>
          </a:p>
        </p:txBody>
      </p:sp>
      <p:sp>
        <p:nvSpPr>
          <p:cNvPr id="12291" name="Text Box 4"/>
          <p:cNvSpPr txBox="1"/>
          <p:nvPr/>
        </p:nvSpPr>
        <p:spPr>
          <a:xfrm>
            <a:off x="1774825" y="3644900"/>
            <a:ext cx="8443913" cy="1938020"/>
          </a:xfrm>
          <a:prstGeom prst="rect">
            <a:avLst/>
          </a:prstGeom>
          <a:noFill/>
          <a:ln w="6350">
            <a:noFill/>
          </a:ln>
        </p:spPr>
        <p:txBody>
          <a:bodyPr anchor="t" anchorCtr="0">
            <a:spAutoFit/>
          </a:bodyPr>
          <a:p>
            <a:pPr>
              <a:spcAft>
                <a:spcPts val="0"/>
              </a:spcAft>
            </a:pPr>
            <a:r>
              <a:rPr lang="zh-CN" altLang="en-US" sz="2400" dirty="0">
                <a:latin typeface="Arial" panose="020B0604020202020204" pitchFamily="34" charset="0"/>
                <a:ea typeface="楷体_GB2312" panose="02010609030101010101" pitchFamily="49" charset="-122"/>
              </a:rPr>
              <a:t>其中</a:t>
            </a:r>
            <a:r>
              <a:rPr lang="en-US" altLang="zh-CN" sz="2400" dirty="0">
                <a:latin typeface="Arial" panose="020B0604020202020204" pitchFamily="34" charset="0"/>
                <a:ea typeface="楷体_GB2312" panose="02010609030101010101" pitchFamily="49" charset="-122"/>
              </a:rPr>
              <a:t>b</a:t>
            </a:r>
            <a:r>
              <a:rPr lang="en-US" altLang="zh-CN" sz="2400" dirty="0">
                <a:latin typeface="Arial" panose="020B0604020202020204" pitchFamily="34" charset="0"/>
                <a:ea typeface="楷体_GB2312" panose="02010609030101010101" pitchFamily="49" charset="-122"/>
                <a:sym typeface="Symbol" panose="05050102010706020507" pitchFamily="18" charset="2"/>
              </a:rPr>
              <a:t></a:t>
            </a:r>
            <a:r>
              <a:rPr lang="en-US" altLang="zh-CN" sz="2400" dirty="0">
                <a:latin typeface="Arial" panose="020B0604020202020204" pitchFamily="34" charset="0"/>
                <a:ea typeface="楷体_GB2312" panose="02010609030101010101" pitchFamily="49" charset="-122"/>
              </a:rPr>
              <a:t>0</a:t>
            </a:r>
            <a:r>
              <a:rPr lang="zh-CN" altLang="en-US" sz="2400" dirty="0">
                <a:latin typeface="Arial" panose="020B0604020202020204" pitchFamily="34" charset="0"/>
                <a:ea typeface="楷体_GB2312" panose="02010609030101010101" pitchFamily="49" charset="-122"/>
              </a:rPr>
              <a:t>，</a:t>
            </a:r>
            <a:r>
              <a:rPr lang="en-US" altLang="zh-CN" sz="2400" dirty="0">
                <a:latin typeface="Arial" panose="020B0604020202020204" pitchFamily="34" charset="0"/>
                <a:ea typeface="楷体_GB2312" panose="02010609030101010101" pitchFamily="49" charset="-122"/>
              </a:rPr>
              <a:t>c</a:t>
            </a:r>
            <a:r>
              <a:rPr lang="en-US" altLang="zh-CN" sz="2400" dirty="0">
                <a:latin typeface="Arial" panose="020B0604020202020204" pitchFamily="34" charset="0"/>
                <a:ea typeface="楷体_GB2312" panose="02010609030101010101" pitchFamily="49" charset="-122"/>
                <a:sym typeface="Symbol" panose="05050102010706020507" pitchFamily="18" charset="2"/>
              </a:rPr>
              <a:t></a:t>
            </a:r>
            <a:r>
              <a:rPr lang="en-US" altLang="zh-CN" sz="2400" dirty="0">
                <a:latin typeface="Arial" panose="020B0604020202020204" pitchFamily="34" charset="0"/>
                <a:ea typeface="楷体_GB2312" panose="02010609030101010101" pitchFamily="49" charset="-122"/>
              </a:rPr>
              <a:t>0</a:t>
            </a:r>
            <a:r>
              <a:rPr lang="zh-CN" altLang="en-US" sz="2400" dirty="0">
                <a:latin typeface="Arial" panose="020B0604020202020204" pitchFamily="34" charset="0"/>
                <a:ea typeface="楷体_GB2312" panose="02010609030101010101" pitchFamily="49" charset="-122"/>
              </a:rPr>
              <a:t>，</a:t>
            </a:r>
            <a:r>
              <a:rPr lang="en-US" altLang="zh-CN" sz="2400" dirty="0">
                <a:latin typeface="Arial" panose="020B0604020202020204" pitchFamily="34" charset="0"/>
                <a:ea typeface="楷体_GB2312" panose="02010609030101010101" pitchFamily="49" charset="-122"/>
              </a:rPr>
              <a:t>d</a:t>
            </a:r>
            <a:r>
              <a:rPr lang="en-US" altLang="zh-CN" sz="2400" dirty="0">
                <a:latin typeface="Arial" panose="020B0604020202020204" pitchFamily="34" charset="0"/>
                <a:ea typeface="楷体_GB2312" panose="02010609030101010101" pitchFamily="49" charset="-122"/>
                <a:sym typeface="Symbol" panose="05050102010706020507" pitchFamily="18" charset="2"/>
              </a:rPr>
              <a:t></a:t>
            </a:r>
            <a:r>
              <a:rPr lang="en-US" altLang="zh-CN" sz="2400" dirty="0">
                <a:latin typeface="Arial" panose="020B0604020202020204" pitchFamily="34" charset="0"/>
                <a:ea typeface="楷体_GB2312" panose="02010609030101010101" pitchFamily="49" charset="-122"/>
              </a:rPr>
              <a:t>m</a:t>
            </a:r>
            <a:r>
              <a:rPr lang="zh-CN" altLang="en-US" sz="2400" dirty="0">
                <a:latin typeface="Arial" panose="020B0604020202020204" pitchFamily="34" charset="0"/>
                <a:ea typeface="楷体_GB2312" panose="02010609030101010101" pitchFamily="49" charset="-122"/>
              </a:rPr>
              <a:t>。</a:t>
            </a:r>
            <a:r>
              <a:rPr lang="en-US" altLang="zh-CN" sz="2400" dirty="0">
                <a:latin typeface="Arial" panose="020B0604020202020204" pitchFamily="34" charset="0"/>
                <a:ea typeface="楷体_GB2312" panose="02010609030101010101" pitchFamily="49" charset="-122"/>
              </a:rPr>
              <a:t>d</a:t>
            </a:r>
            <a:r>
              <a:rPr lang="zh-CN" altLang="en-US" sz="2400" dirty="0">
                <a:latin typeface="Arial" panose="020B0604020202020204" pitchFamily="34" charset="0"/>
                <a:ea typeface="楷体_GB2312" panose="02010609030101010101" pitchFamily="49" charset="-122"/>
              </a:rPr>
              <a:t>称为该随机序列的种子。如何选取该方法中的常数</a:t>
            </a:r>
            <a:r>
              <a:rPr lang="en-US" altLang="zh-CN" sz="2400" dirty="0">
                <a:latin typeface="Arial" panose="020B0604020202020204" pitchFamily="34" charset="0"/>
                <a:ea typeface="楷体_GB2312" panose="02010609030101010101" pitchFamily="49" charset="-122"/>
              </a:rPr>
              <a:t>b</a:t>
            </a:r>
            <a:r>
              <a:rPr lang="zh-CN" altLang="en-US" sz="2400" dirty="0">
                <a:latin typeface="Arial" panose="020B0604020202020204" pitchFamily="34" charset="0"/>
                <a:ea typeface="楷体_GB2312" panose="02010609030101010101" pitchFamily="49" charset="-122"/>
              </a:rPr>
              <a:t>、</a:t>
            </a:r>
            <a:r>
              <a:rPr lang="en-US" altLang="zh-CN" sz="2400" dirty="0">
                <a:latin typeface="Arial" panose="020B0604020202020204" pitchFamily="34" charset="0"/>
                <a:ea typeface="楷体_GB2312" panose="02010609030101010101" pitchFamily="49" charset="-122"/>
              </a:rPr>
              <a:t>c</a:t>
            </a:r>
            <a:r>
              <a:rPr lang="zh-CN" altLang="en-US" sz="2400" dirty="0">
                <a:latin typeface="Arial" panose="020B0604020202020204" pitchFamily="34" charset="0"/>
                <a:ea typeface="楷体_GB2312" panose="02010609030101010101" pitchFamily="49" charset="-122"/>
              </a:rPr>
              <a:t>和</a:t>
            </a:r>
            <a:r>
              <a:rPr lang="en-US" altLang="zh-CN" sz="2400" dirty="0">
                <a:latin typeface="Arial" panose="020B0604020202020204" pitchFamily="34" charset="0"/>
                <a:ea typeface="楷体_GB2312" panose="02010609030101010101" pitchFamily="49" charset="-122"/>
              </a:rPr>
              <a:t>m</a:t>
            </a:r>
            <a:r>
              <a:rPr lang="zh-CN" altLang="en-US" sz="2400" dirty="0">
                <a:latin typeface="Arial" panose="020B0604020202020204" pitchFamily="34" charset="0"/>
                <a:ea typeface="楷体_GB2312" panose="02010609030101010101" pitchFamily="49" charset="-122"/>
              </a:rPr>
              <a:t>直接关系到所产生的随机序列的随机性能。这是随机性理论研究的内容，已超出本书讨论的范围。从直观上看，</a:t>
            </a:r>
            <a:r>
              <a:rPr lang="en-US" altLang="zh-CN" sz="2400" dirty="0">
                <a:latin typeface="Arial" panose="020B0604020202020204" pitchFamily="34" charset="0"/>
                <a:ea typeface="楷体_GB2312" panose="02010609030101010101" pitchFamily="49" charset="-122"/>
              </a:rPr>
              <a:t>m</a:t>
            </a:r>
            <a:r>
              <a:rPr lang="zh-CN" altLang="en-US" sz="2400" dirty="0">
                <a:latin typeface="Arial" panose="020B0604020202020204" pitchFamily="34" charset="0"/>
                <a:ea typeface="楷体_GB2312" panose="02010609030101010101" pitchFamily="49" charset="-122"/>
              </a:rPr>
              <a:t>应取得充分大，因此可取</a:t>
            </a:r>
            <a:r>
              <a:rPr lang="en-US" altLang="zh-CN" sz="2400" dirty="0">
                <a:latin typeface="Arial" panose="020B0604020202020204" pitchFamily="34" charset="0"/>
                <a:ea typeface="楷体_GB2312" panose="02010609030101010101" pitchFamily="49" charset="-122"/>
              </a:rPr>
              <a:t>m</a:t>
            </a:r>
            <a:r>
              <a:rPr lang="zh-CN" altLang="en-US" sz="2400" dirty="0">
                <a:latin typeface="Arial" panose="020B0604020202020204" pitchFamily="34" charset="0"/>
                <a:ea typeface="楷体_GB2312" panose="02010609030101010101" pitchFamily="49" charset="-122"/>
              </a:rPr>
              <a:t>为机器大数，另外应取</a:t>
            </a:r>
            <a:r>
              <a:rPr lang="en-US" altLang="zh-CN" sz="2400" dirty="0">
                <a:latin typeface="Arial" panose="020B0604020202020204" pitchFamily="34" charset="0"/>
                <a:ea typeface="楷体_GB2312" panose="02010609030101010101" pitchFamily="49" charset="-122"/>
              </a:rPr>
              <a:t>gcd(m,b)=1</a:t>
            </a:r>
            <a:r>
              <a:rPr lang="zh-CN" altLang="en-US" sz="2400" dirty="0">
                <a:latin typeface="Arial" panose="020B0604020202020204" pitchFamily="34" charset="0"/>
                <a:ea typeface="楷体_GB2312" panose="02010609030101010101" pitchFamily="49" charset="-122"/>
              </a:rPr>
              <a:t>，因此可取</a:t>
            </a:r>
            <a:r>
              <a:rPr lang="en-US" altLang="zh-CN" sz="2400" dirty="0">
                <a:latin typeface="Arial" panose="020B0604020202020204" pitchFamily="34" charset="0"/>
                <a:ea typeface="楷体_GB2312" panose="02010609030101010101" pitchFamily="49" charset="-122"/>
              </a:rPr>
              <a:t>b</a:t>
            </a:r>
            <a:r>
              <a:rPr lang="zh-CN" altLang="en-US" sz="2400" dirty="0">
                <a:latin typeface="Arial" panose="020B0604020202020204" pitchFamily="34" charset="0"/>
                <a:ea typeface="楷体_GB2312" panose="02010609030101010101" pitchFamily="49" charset="-122"/>
              </a:rPr>
              <a:t>为一素数。</a:t>
            </a:r>
            <a:endParaRPr lang="zh-CN" altLang="en-US" sz="2400" dirty="0">
              <a:latin typeface="Arial" panose="020B0604020202020204" pitchFamily="34" charset="0"/>
              <a:ea typeface="楷体_GB2312" panose="02010609030101010101" pitchFamily="49" charset="-122"/>
            </a:endParaRPr>
          </a:p>
        </p:txBody>
      </p:sp>
      <p:graphicFrame>
        <p:nvGraphicFramePr>
          <p:cNvPr id="12292" name="Object 5"/>
          <p:cNvGraphicFramePr>
            <a:graphicFrameLocks noGrp="1" noChangeAspect="1"/>
          </p:cNvGraphicFramePr>
          <p:nvPr>
            <p:ph idx="1"/>
          </p:nvPr>
        </p:nvGraphicFramePr>
        <p:xfrm>
          <a:off x="3071813" y="2133600"/>
          <a:ext cx="6049962" cy="1222375"/>
        </p:xfrm>
        <a:graphic>
          <a:graphicData uri="http://schemas.openxmlformats.org/presentationml/2006/ole">
            <mc:AlternateContent xmlns:mc="http://schemas.openxmlformats.org/markup-compatibility/2006">
              <mc:Choice xmlns:v="urn:schemas-microsoft-com:vml" Requires="v">
                <p:oleObj spid="_x0000_s3077" name="" r:id="rId1" imgW="2387600" imgH="482600" progId="Equation.3">
                  <p:embed/>
                </p:oleObj>
              </mc:Choice>
              <mc:Fallback>
                <p:oleObj name="" r:id="rId1" imgW="2387600" imgH="482600" progId="Equation.3">
                  <p:embed/>
                  <p:pic>
                    <p:nvPicPr>
                      <p:cNvPr id="0" name="图片 3076"/>
                      <p:cNvPicPr/>
                      <p:nvPr/>
                    </p:nvPicPr>
                    <p:blipFill>
                      <a:blip r:embed="rId2"/>
                      <a:stretch>
                        <a:fillRect/>
                      </a:stretch>
                    </p:blipFill>
                    <p:spPr>
                      <a:xfrm>
                        <a:off x="3071813" y="2133600"/>
                        <a:ext cx="6049962" cy="1222375"/>
                      </a:xfrm>
                      <a:prstGeom prst="rect">
                        <a:avLst/>
                      </a:prstGeom>
                      <a:noFill/>
                      <a:ln w="38100">
                        <a:miter/>
                      </a:ln>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spcAft>
                <a:spcPts val="0"/>
              </a:spcAft>
              <a:buSzTx/>
            </a:pPr>
            <a:fld id="{9A0DB2DC-4C9A-4742-B13C-FB6460FD3503}" type="slidenum">
              <a:rPr lang="en-US" altLang="zh-CN" sz="1000" dirty="0"/>
            </a:fld>
            <a:endParaRPr lang="en-US" altLang="zh-CN" sz="1000" dirty="0"/>
          </a:p>
        </p:txBody>
      </p:sp>
      <p:sp>
        <p:nvSpPr>
          <p:cNvPr id="24578" name="Rectangle 4"/>
          <p:cNvSpPr/>
          <p:nvPr/>
        </p:nvSpPr>
        <p:spPr>
          <a:xfrm>
            <a:off x="1755458" y="0"/>
            <a:ext cx="7772400" cy="803275"/>
          </a:xfrm>
          <a:prstGeom prst="rect">
            <a:avLst/>
          </a:prstGeom>
          <a:noFill/>
          <a:ln w="9525">
            <a:noFill/>
          </a:ln>
        </p:spPr>
        <p:txBody>
          <a:bodyPr anchor="ctr" anchorCtr="0"/>
          <a:p>
            <a:pPr>
              <a:spcAft>
                <a:spcPts val="0"/>
              </a:spcAft>
            </a:pPr>
            <a:r>
              <a:rPr lang="zh-CN" altLang="en-US" sz="3200" dirty="0">
                <a:latin typeface="Times New Roman" panose="02020603050405020304" pitchFamily="18" charset="0"/>
                <a:ea typeface="黑体" panose="02010609060101010101" pitchFamily="49" charset="-122"/>
              </a:rPr>
              <a:t>用随机投点法计算</a:t>
            </a:r>
            <a:r>
              <a:rPr lang="zh-CN" altLang="en-US" sz="3200" dirty="0">
                <a:latin typeface="Times New Roman" panose="02020603050405020304" pitchFamily="18" charset="0"/>
                <a:sym typeface="Symbol" panose="05050102010706020507" pitchFamily="18" charset="2"/>
              </a:rPr>
              <a:t></a:t>
            </a:r>
            <a:r>
              <a:rPr lang="zh-CN" altLang="en-US" sz="3200" dirty="0">
                <a:latin typeface="Times New Roman" panose="02020603050405020304" pitchFamily="18" charset="0"/>
                <a:ea typeface="黑体" panose="02010609060101010101" pitchFamily="49" charset="-122"/>
              </a:rPr>
              <a:t>值</a:t>
            </a:r>
            <a:r>
              <a:rPr lang="zh-CN" altLang="en-US" sz="3200" dirty="0">
                <a:latin typeface="Times New Roman" panose="02020603050405020304" pitchFamily="18" charset="0"/>
              </a:rPr>
              <a:t> </a:t>
            </a:r>
            <a:endParaRPr lang="zh-CN" altLang="en-US" sz="3200" dirty="0">
              <a:latin typeface="Times New Roman" panose="02020603050405020304" pitchFamily="18" charset="0"/>
            </a:endParaRPr>
          </a:p>
        </p:txBody>
      </p:sp>
      <p:sp>
        <p:nvSpPr>
          <p:cNvPr id="24579" name="Text Box 5"/>
          <p:cNvSpPr txBox="1"/>
          <p:nvPr/>
        </p:nvSpPr>
        <p:spPr>
          <a:xfrm>
            <a:off x="1755775" y="790575"/>
            <a:ext cx="8732838" cy="1938020"/>
          </a:xfrm>
          <a:prstGeom prst="rect">
            <a:avLst/>
          </a:prstGeom>
          <a:solidFill>
            <a:schemeClr val="bg1"/>
          </a:solidFill>
          <a:ln w="6350">
            <a:noFill/>
          </a:ln>
        </p:spPr>
        <p:txBody>
          <a:bodyPr anchor="t" anchorCtr="0">
            <a:spAutoFit/>
          </a:bodyPr>
          <a:p>
            <a:pPr>
              <a:spcAft>
                <a:spcPts val="0"/>
              </a:spcAft>
            </a:pPr>
            <a:r>
              <a:rPr lang="zh-CN" altLang="en-US" sz="2400" dirty="0">
                <a:latin typeface="Arial" panose="020B0604020202020204" pitchFamily="34" charset="0"/>
                <a:ea typeface="楷体_GB2312" panose="02010609030101010101" pitchFamily="49" charset="-122"/>
              </a:rPr>
              <a:t>设有一半径为</a:t>
            </a:r>
            <a:r>
              <a:rPr lang="en-US" altLang="zh-CN" sz="2400" dirty="0">
                <a:latin typeface="Arial" panose="020B0604020202020204" pitchFamily="34" charset="0"/>
                <a:ea typeface="楷体_GB2312" panose="02010609030101010101" pitchFamily="49" charset="-122"/>
              </a:rPr>
              <a:t>r</a:t>
            </a:r>
            <a:r>
              <a:rPr lang="zh-CN" altLang="en-US" sz="2400" dirty="0">
                <a:latin typeface="Arial" panose="020B0604020202020204" pitchFamily="34" charset="0"/>
                <a:ea typeface="楷体_GB2312" panose="02010609030101010101" pitchFamily="49" charset="-122"/>
              </a:rPr>
              <a:t>的圆及其外切四边形。向该正方形随机地投掷</a:t>
            </a:r>
            <a:r>
              <a:rPr lang="en-US" altLang="zh-CN" sz="2400" dirty="0">
                <a:latin typeface="Arial" panose="020B0604020202020204" pitchFamily="34" charset="0"/>
                <a:ea typeface="楷体_GB2312" panose="02010609030101010101" pitchFamily="49" charset="-122"/>
              </a:rPr>
              <a:t>n</a:t>
            </a:r>
            <a:r>
              <a:rPr lang="zh-CN" altLang="en-US" sz="2400" dirty="0">
                <a:latin typeface="Arial" panose="020B0604020202020204" pitchFamily="34" charset="0"/>
                <a:ea typeface="楷体_GB2312" panose="02010609030101010101" pitchFamily="49" charset="-122"/>
              </a:rPr>
              <a:t>个点。设落入圆内的点数为</a:t>
            </a:r>
            <a:r>
              <a:rPr lang="en-US" altLang="zh-CN" sz="2400" dirty="0">
                <a:latin typeface="Arial" panose="020B0604020202020204" pitchFamily="34" charset="0"/>
                <a:ea typeface="楷体_GB2312" panose="02010609030101010101" pitchFamily="49" charset="-122"/>
              </a:rPr>
              <a:t>k</a:t>
            </a:r>
            <a:r>
              <a:rPr lang="zh-CN" altLang="en-US" sz="2400" dirty="0">
                <a:latin typeface="Arial" panose="020B0604020202020204" pitchFamily="34" charset="0"/>
                <a:ea typeface="楷体_GB2312" panose="02010609030101010101" pitchFamily="49" charset="-122"/>
              </a:rPr>
              <a:t>。由于所投入的点在正方形上均匀分布，因而所投入的点落入圆内的概率为           。所以当</a:t>
            </a:r>
            <a:r>
              <a:rPr lang="en-US" altLang="zh-CN" sz="2400" dirty="0">
                <a:latin typeface="Arial" panose="020B0604020202020204" pitchFamily="34" charset="0"/>
                <a:ea typeface="楷体_GB2312" panose="02010609030101010101" pitchFamily="49" charset="-122"/>
              </a:rPr>
              <a:t>n</a:t>
            </a:r>
            <a:r>
              <a:rPr lang="zh-CN" altLang="en-US" sz="2400" dirty="0">
                <a:latin typeface="Arial" panose="020B0604020202020204" pitchFamily="34" charset="0"/>
                <a:ea typeface="楷体_GB2312" panose="02010609030101010101" pitchFamily="49" charset="-122"/>
              </a:rPr>
              <a:t>足够大</a:t>
            </a:r>
            <a:endParaRPr lang="zh-CN" altLang="en-US" sz="2400" dirty="0">
              <a:latin typeface="Arial" panose="020B0604020202020204" pitchFamily="34" charset="0"/>
              <a:ea typeface="楷体_GB2312" panose="02010609030101010101" pitchFamily="49" charset="-122"/>
            </a:endParaRPr>
          </a:p>
          <a:p>
            <a:endParaRPr lang="zh-CN" altLang="en-US" sz="2400" dirty="0">
              <a:latin typeface="Arial" panose="020B0604020202020204" pitchFamily="34" charset="0"/>
              <a:ea typeface="楷体_GB2312" panose="02010609030101010101" pitchFamily="49" charset="-122"/>
            </a:endParaRPr>
          </a:p>
          <a:p>
            <a:pPr>
              <a:spcBef>
                <a:spcPts val="0"/>
              </a:spcBef>
            </a:pPr>
            <a:r>
              <a:rPr lang="zh-CN" altLang="en-US" sz="2400" dirty="0">
                <a:latin typeface="Arial" panose="020B0604020202020204" pitchFamily="34" charset="0"/>
                <a:ea typeface="楷体_GB2312" panose="02010609030101010101" pitchFamily="49" charset="-122"/>
              </a:rPr>
              <a:t>时，</a:t>
            </a:r>
            <a:r>
              <a:rPr lang="en-US" altLang="zh-CN" sz="2400" dirty="0">
                <a:latin typeface="Arial" panose="020B0604020202020204" pitchFamily="34" charset="0"/>
                <a:ea typeface="楷体_GB2312" panose="02010609030101010101" pitchFamily="49" charset="-122"/>
              </a:rPr>
              <a:t>k</a:t>
            </a:r>
            <a:r>
              <a:rPr lang="zh-CN" altLang="en-US" sz="2400" dirty="0">
                <a:latin typeface="Arial" panose="020B0604020202020204" pitchFamily="34" charset="0"/>
                <a:ea typeface="楷体_GB2312" panose="02010609030101010101" pitchFamily="49" charset="-122"/>
              </a:rPr>
              <a:t>与</a:t>
            </a:r>
            <a:r>
              <a:rPr lang="en-US" altLang="zh-CN" sz="2400" dirty="0">
                <a:latin typeface="Arial" panose="020B0604020202020204" pitchFamily="34" charset="0"/>
                <a:ea typeface="楷体_GB2312" panose="02010609030101010101" pitchFamily="49" charset="-122"/>
              </a:rPr>
              <a:t>n</a:t>
            </a:r>
            <a:r>
              <a:rPr lang="zh-CN" altLang="en-US" sz="2400" dirty="0">
                <a:latin typeface="Arial" panose="020B0604020202020204" pitchFamily="34" charset="0"/>
                <a:ea typeface="楷体_GB2312" panose="02010609030101010101" pitchFamily="49" charset="-122"/>
              </a:rPr>
              <a:t>之比就逼近这一概率。从而</a:t>
            </a:r>
            <a:endParaRPr lang="zh-CN" altLang="en-US" sz="2400" dirty="0">
              <a:latin typeface="Arial" panose="020B0604020202020204" pitchFamily="34" charset="0"/>
              <a:ea typeface="楷体_GB2312" panose="02010609030101010101" pitchFamily="49" charset="-122"/>
            </a:endParaRPr>
          </a:p>
        </p:txBody>
      </p:sp>
      <p:pic>
        <p:nvPicPr>
          <p:cNvPr id="24580" name="Picture 6" descr="t71"/>
          <p:cNvPicPr>
            <a:picLocks noChangeAspect="1"/>
          </p:cNvPicPr>
          <p:nvPr/>
        </p:nvPicPr>
        <p:blipFill>
          <a:blip r:embed="rId1"/>
          <a:stretch>
            <a:fillRect/>
          </a:stretch>
        </p:blipFill>
        <p:spPr>
          <a:xfrm>
            <a:off x="6167438" y="3500438"/>
            <a:ext cx="3311525" cy="2146300"/>
          </a:xfrm>
          <a:prstGeom prst="rect">
            <a:avLst/>
          </a:prstGeom>
          <a:noFill/>
          <a:ln w="9525">
            <a:noFill/>
          </a:ln>
        </p:spPr>
      </p:pic>
      <p:sp>
        <p:nvSpPr>
          <p:cNvPr id="24581" name="Rectangle 8"/>
          <p:cNvSpPr/>
          <p:nvPr/>
        </p:nvSpPr>
        <p:spPr>
          <a:xfrm>
            <a:off x="1524000" y="3035300"/>
            <a:ext cx="309880" cy="368300"/>
          </a:xfrm>
          <a:prstGeom prst="rect">
            <a:avLst/>
          </a:prstGeom>
          <a:noFill/>
          <a:ln w="6350">
            <a:noFill/>
          </a:ln>
        </p:spPr>
        <p:txBody>
          <a:bodyPr wrap="none" anchor="ctr" anchorCtr="0">
            <a:spAutoFit/>
          </a:bodyPr>
          <a:p>
            <a:endParaRPr lang="zh-CN" altLang="en-US" dirty="0">
              <a:latin typeface="Arial" panose="020B0604020202020204" pitchFamily="34" charset="0"/>
            </a:endParaRPr>
          </a:p>
        </p:txBody>
      </p:sp>
      <p:graphicFrame>
        <p:nvGraphicFramePr>
          <p:cNvPr id="24582" name="Object 7"/>
          <p:cNvGraphicFramePr>
            <a:graphicFrameLocks noChangeAspect="1"/>
          </p:cNvGraphicFramePr>
          <p:nvPr/>
        </p:nvGraphicFramePr>
        <p:xfrm>
          <a:off x="7032625" y="1484313"/>
          <a:ext cx="936625" cy="676275"/>
        </p:xfrm>
        <a:graphic>
          <a:graphicData uri="http://schemas.openxmlformats.org/presentationml/2006/ole">
            <mc:AlternateContent xmlns:mc="http://schemas.openxmlformats.org/markup-compatibility/2006">
              <mc:Choice xmlns:v="urn:schemas-microsoft-com:vml" Requires="v">
                <p:oleObj spid="_x0000_s3084" name="" r:id="rId2" imgW="584200" imgH="419100" progId="Equation.3">
                  <p:embed/>
                </p:oleObj>
              </mc:Choice>
              <mc:Fallback>
                <p:oleObj name="" r:id="rId2" imgW="584200" imgH="419100" progId="Equation.3">
                  <p:embed/>
                  <p:pic>
                    <p:nvPicPr>
                      <p:cNvPr id="0" name="图片 3083"/>
                      <p:cNvPicPr/>
                      <p:nvPr/>
                    </p:nvPicPr>
                    <p:blipFill>
                      <a:blip r:embed="rId3"/>
                      <a:stretch>
                        <a:fillRect/>
                      </a:stretch>
                    </p:blipFill>
                    <p:spPr>
                      <a:xfrm>
                        <a:off x="7032625" y="1484313"/>
                        <a:ext cx="936625" cy="676275"/>
                      </a:xfrm>
                      <a:prstGeom prst="rect">
                        <a:avLst/>
                      </a:prstGeom>
                      <a:noFill/>
                      <a:ln w="38100">
                        <a:noFill/>
                        <a:miter/>
                      </a:ln>
                    </p:spPr>
                  </p:pic>
                </p:oleObj>
              </mc:Fallback>
            </mc:AlternateContent>
          </a:graphicData>
        </a:graphic>
      </p:graphicFrame>
      <p:sp>
        <p:nvSpPr>
          <p:cNvPr id="24583" name="Rectangle 10"/>
          <p:cNvSpPr/>
          <p:nvPr/>
        </p:nvSpPr>
        <p:spPr>
          <a:xfrm>
            <a:off x="1524000" y="3049588"/>
            <a:ext cx="309880" cy="368300"/>
          </a:xfrm>
          <a:prstGeom prst="rect">
            <a:avLst/>
          </a:prstGeom>
          <a:noFill/>
          <a:ln w="6350">
            <a:noFill/>
          </a:ln>
        </p:spPr>
        <p:txBody>
          <a:bodyPr wrap="none" anchor="ctr" anchorCtr="0">
            <a:spAutoFit/>
          </a:bodyPr>
          <a:p>
            <a:endParaRPr lang="zh-CN" altLang="en-US" dirty="0">
              <a:latin typeface="Arial" panose="020B0604020202020204" pitchFamily="34" charset="0"/>
            </a:endParaRPr>
          </a:p>
        </p:txBody>
      </p:sp>
      <p:graphicFrame>
        <p:nvGraphicFramePr>
          <p:cNvPr id="24584" name="Object 9"/>
          <p:cNvGraphicFramePr>
            <a:graphicFrameLocks noChangeAspect="1"/>
          </p:cNvGraphicFramePr>
          <p:nvPr/>
        </p:nvGraphicFramePr>
        <p:xfrm>
          <a:off x="6743700" y="2133600"/>
          <a:ext cx="936625" cy="752475"/>
        </p:xfrm>
        <a:graphic>
          <a:graphicData uri="http://schemas.openxmlformats.org/presentationml/2006/ole">
            <mc:AlternateContent xmlns:mc="http://schemas.openxmlformats.org/markup-compatibility/2006">
              <mc:Choice xmlns:v="urn:schemas-microsoft-com:vml" Requires="v">
                <p:oleObj spid="_x0000_s3082" name="" r:id="rId4" imgW="482600" imgH="393700" progId="Equation.3">
                  <p:embed/>
                </p:oleObj>
              </mc:Choice>
              <mc:Fallback>
                <p:oleObj name="" r:id="rId4" imgW="482600" imgH="393700" progId="Equation.3">
                  <p:embed/>
                  <p:pic>
                    <p:nvPicPr>
                      <p:cNvPr id="0" name="图片 3081"/>
                      <p:cNvPicPr/>
                      <p:nvPr/>
                    </p:nvPicPr>
                    <p:blipFill>
                      <a:blip r:embed="rId5"/>
                      <a:stretch>
                        <a:fillRect/>
                      </a:stretch>
                    </p:blipFill>
                    <p:spPr>
                      <a:xfrm>
                        <a:off x="6743700" y="2133600"/>
                        <a:ext cx="936625" cy="752475"/>
                      </a:xfrm>
                      <a:prstGeom prst="rect">
                        <a:avLst/>
                      </a:prstGeom>
                      <a:noFill/>
                      <a:ln w="38100">
                        <a:noFill/>
                        <a:miter/>
                      </a:ln>
                    </p:spPr>
                  </p:pic>
                </p:oleObj>
              </mc:Fallback>
            </mc:AlternateContent>
          </a:graphicData>
        </a:graphic>
      </p:graphicFrame>
      <p:sp>
        <p:nvSpPr>
          <p:cNvPr id="24585" name="Text Box 11"/>
          <p:cNvSpPr txBox="1"/>
          <p:nvPr/>
        </p:nvSpPr>
        <p:spPr>
          <a:xfrm>
            <a:off x="1847850" y="2997200"/>
            <a:ext cx="3230880" cy="3138170"/>
          </a:xfrm>
          <a:prstGeom prst="rect">
            <a:avLst/>
          </a:prstGeom>
          <a:noFill/>
          <a:ln w="6350">
            <a:noFill/>
          </a:ln>
        </p:spPr>
        <p:txBody>
          <a:bodyPr wrap="none" anchor="t" anchorCtr="0">
            <a:spAutoFit/>
          </a:bodyPr>
          <a:p>
            <a:pPr>
              <a:spcAft>
                <a:spcPts val="0"/>
              </a:spcAft>
            </a:pPr>
            <a:r>
              <a:rPr lang="en-US" altLang="zh-CN" dirty="0">
                <a:latin typeface="Arial" panose="020B0604020202020204" pitchFamily="34" charset="0"/>
              </a:rPr>
              <a:t>double </a:t>
            </a:r>
            <a:r>
              <a:rPr lang="en-US" altLang="zh-CN" b="1" dirty="0">
                <a:latin typeface="Arial" panose="020B0604020202020204" pitchFamily="34" charset="0"/>
              </a:rPr>
              <a:t>Darts</a:t>
            </a:r>
            <a:r>
              <a:rPr lang="en-US" altLang="zh-CN" dirty="0">
                <a:latin typeface="Arial" panose="020B0604020202020204" pitchFamily="34" charset="0"/>
              </a:rPr>
              <a:t>(int n)</a:t>
            </a:r>
            <a:endParaRPr lang="en-US" altLang="zh-CN" dirty="0">
              <a:latin typeface="Arial" panose="020B0604020202020204" pitchFamily="34" charset="0"/>
            </a:endParaRPr>
          </a:p>
          <a:p>
            <a:pPr>
              <a:spcBef>
                <a:spcPts val="0"/>
              </a:spcBef>
              <a:spcAft>
                <a:spcPts val="0"/>
              </a:spcAft>
            </a:pPr>
            <a:r>
              <a:rPr lang="en-US" altLang="zh-CN" dirty="0">
                <a:latin typeface="Arial" panose="020B0604020202020204" pitchFamily="34" charset="0"/>
              </a:rPr>
              <a:t>{ // </a:t>
            </a:r>
            <a:r>
              <a:rPr lang="zh-CN" altLang="en-US" dirty="0">
                <a:latin typeface="Arial" panose="020B0604020202020204" pitchFamily="34" charset="0"/>
              </a:rPr>
              <a:t>用随机投点法计算</a:t>
            </a:r>
            <a:r>
              <a:rPr lang="zh-CN" altLang="en-US" dirty="0">
                <a:latin typeface="Arial" panose="020B0604020202020204" pitchFamily="34" charset="0"/>
                <a:sym typeface="Symbol" panose="05050102010706020507" pitchFamily="18" charset="2"/>
              </a:rPr>
              <a:t></a:t>
            </a:r>
            <a:r>
              <a:rPr lang="zh-CN" altLang="en-US" dirty="0">
                <a:latin typeface="Arial" panose="020B0604020202020204" pitchFamily="34" charset="0"/>
              </a:rPr>
              <a:t>值</a:t>
            </a:r>
            <a:endParaRPr lang="zh-CN" altLang="en-US" dirty="0">
              <a:latin typeface="Arial" panose="020B0604020202020204" pitchFamily="34" charset="0"/>
            </a:endParaRPr>
          </a:p>
          <a:p>
            <a:r>
              <a:rPr lang="zh-CN" altLang="en-US" dirty="0">
                <a:latin typeface="Arial" panose="020B0604020202020204" pitchFamily="34" charset="0"/>
              </a:rPr>
              <a:t>    </a:t>
            </a:r>
            <a:r>
              <a:rPr lang="en-US" altLang="zh-CN" dirty="0">
                <a:latin typeface="Arial" panose="020B0604020202020204" pitchFamily="34" charset="0"/>
              </a:rPr>
              <a:t>static RandomNumber dart;</a:t>
            </a:r>
            <a:endParaRPr lang="en-US" altLang="zh-CN" dirty="0">
              <a:latin typeface="Arial" panose="020B0604020202020204" pitchFamily="34" charset="0"/>
            </a:endParaRPr>
          </a:p>
          <a:p>
            <a:r>
              <a:rPr lang="en-US" altLang="zh-CN" dirty="0">
                <a:latin typeface="Arial" panose="020B0604020202020204" pitchFamily="34" charset="0"/>
              </a:rPr>
              <a:t>    int k=0;</a:t>
            </a:r>
            <a:endParaRPr lang="en-US" altLang="zh-CN" dirty="0">
              <a:latin typeface="Arial" panose="020B0604020202020204" pitchFamily="34" charset="0"/>
            </a:endParaRPr>
          </a:p>
          <a:p>
            <a:r>
              <a:rPr lang="en-US" altLang="zh-CN" dirty="0">
                <a:latin typeface="Arial" panose="020B0604020202020204" pitchFamily="34" charset="0"/>
              </a:rPr>
              <a:t>    for (int i=1;i &lt;=n;i++) {</a:t>
            </a:r>
            <a:endParaRPr lang="en-US" altLang="zh-CN" dirty="0">
              <a:latin typeface="Arial" panose="020B0604020202020204" pitchFamily="34" charset="0"/>
            </a:endParaRPr>
          </a:p>
          <a:p>
            <a:r>
              <a:rPr lang="en-US" altLang="zh-CN" dirty="0">
                <a:latin typeface="Arial" panose="020B0604020202020204" pitchFamily="34" charset="0"/>
              </a:rPr>
              <a:t>      double x=dart.fRandom();</a:t>
            </a:r>
            <a:endParaRPr lang="en-US" altLang="zh-CN" dirty="0">
              <a:latin typeface="Arial" panose="020B0604020202020204" pitchFamily="34" charset="0"/>
            </a:endParaRPr>
          </a:p>
          <a:p>
            <a:r>
              <a:rPr lang="en-US" altLang="zh-CN" dirty="0">
                <a:latin typeface="Arial" panose="020B0604020202020204" pitchFamily="34" charset="0"/>
              </a:rPr>
              <a:t>      double y=dart.fRandom();</a:t>
            </a:r>
            <a:endParaRPr lang="en-US" altLang="zh-CN" dirty="0">
              <a:latin typeface="Arial" panose="020B0604020202020204" pitchFamily="34" charset="0"/>
            </a:endParaRPr>
          </a:p>
          <a:p>
            <a:r>
              <a:rPr lang="en-US" altLang="zh-CN" dirty="0">
                <a:latin typeface="Arial" panose="020B0604020202020204" pitchFamily="34" charset="0"/>
              </a:rPr>
              <a:t>      if ((x*x+y*y)&lt;=1) k++;</a:t>
            </a:r>
            <a:endParaRPr lang="en-US" altLang="zh-CN" dirty="0">
              <a:latin typeface="Arial" panose="020B0604020202020204" pitchFamily="34" charset="0"/>
            </a:endParaRPr>
          </a:p>
          <a:p>
            <a:r>
              <a:rPr lang="en-US" altLang="zh-CN" dirty="0">
                <a:latin typeface="Arial" panose="020B0604020202020204" pitchFamily="34" charset="0"/>
              </a:rPr>
              <a:t>      }</a:t>
            </a:r>
            <a:endParaRPr lang="en-US" altLang="zh-CN" dirty="0">
              <a:latin typeface="Arial" panose="020B0604020202020204" pitchFamily="34" charset="0"/>
            </a:endParaRPr>
          </a:p>
          <a:p>
            <a:r>
              <a:rPr lang="en-US" altLang="zh-CN" dirty="0">
                <a:latin typeface="Arial" panose="020B0604020202020204" pitchFamily="34" charset="0"/>
              </a:rPr>
              <a:t>    return 4*k/double(n);</a:t>
            </a:r>
            <a:endParaRPr lang="en-US" altLang="zh-CN" dirty="0">
              <a:latin typeface="Arial" panose="020B0604020202020204" pitchFamily="34" charset="0"/>
            </a:endParaRPr>
          </a:p>
          <a:p>
            <a:r>
              <a:rPr lang="en-US" altLang="zh-CN" dirty="0">
                <a:latin typeface="Arial" panose="020B0604020202020204" pitchFamily="34" charset="0"/>
              </a:rPr>
              <a:t>}</a:t>
            </a:r>
            <a:endParaRPr lang="en-US" altLang="zh-CN" dirty="0">
              <a:latin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23" name="Rectangle 3"/>
          <p:cNvSpPr>
            <a:spLocks noGrp="1" noChangeArrowheads="1"/>
          </p:cNvSpPr>
          <p:nvPr>
            <p:ph type="title"/>
          </p:nvPr>
        </p:nvSpPr>
        <p:spPr bwMode="auto">
          <a:xfrm>
            <a:off x="1248568" y="692696"/>
            <a:ext cx="3935413" cy="652462"/>
          </a:xfrm>
          <a:noFill/>
          <a:ln w="38100">
            <a:solidFill>
              <a:srgbClr val="FF0000"/>
            </a:solidFill>
            <a:miter lim="800000"/>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normAutofit/>
          </a:bodyPr>
          <a:lstStyle/>
          <a:p>
            <a:pPr>
              <a:spcAft>
                <a:spcPts val="0"/>
              </a:spcAft>
            </a:pPr>
            <a:r>
              <a:rPr lang="zh-CN" altLang="en-US" sz="3700" b="1">
                <a:solidFill>
                  <a:srgbClr val="FF0000"/>
                </a:solidFill>
                <a:ea typeface="楷体_GB2312" panose="02010609030101010101" pitchFamily="49" charset="-122"/>
              </a:rPr>
              <a:t>注 意 点</a:t>
            </a:r>
            <a:endParaRPr lang="zh-CN" altLang="en-US" sz="3700" b="1">
              <a:solidFill>
                <a:srgbClr val="FF0000"/>
              </a:solidFill>
              <a:ea typeface="楷体_GB2312" panose="02010609030101010101" pitchFamily="49" charset="-122"/>
            </a:endParaRPr>
          </a:p>
        </p:txBody>
      </p:sp>
      <p:sp>
        <p:nvSpPr>
          <p:cNvPr id="1054722" name="Rectangle 2"/>
          <p:cNvSpPr>
            <a:spLocks noGrp="1" noChangeArrowheads="1"/>
          </p:cNvSpPr>
          <p:nvPr>
            <p:ph idx="1"/>
          </p:nvPr>
        </p:nvSpPr>
        <p:spPr bwMode="auto">
          <a:xfrm>
            <a:off x="2351088" y="2133600"/>
            <a:ext cx="63246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FF00"/>
                </a:solidFill>
                <a:miter lim="800000"/>
                <a:headEnd/>
                <a:tailEnd/>
              </a14:hiddenLine>
            </a:ext>
          </a:extLst>
        </p:spPr>
        <p:txBody>
          <a:bodyPr vert="horz" wrap="square" lIns="91440" tIns="45720" rIns="91440" bIns="45720" numCol="1" rtlCol="0" anchor="t" anchorCtr="0" compatLnSpc="1">
            <a:normAutofit/>
          </a:bodyPr>
          <a:lstStyle/>
          <a:p>
            <a:pPr marL="609600" indent="-609600">
              <a:spcBef>
                <a:spcPct val="0"/>
              </a:spcBef>
              <a:spcAft>
                <a:spcPts val="0"/>
              </a:spcAft>
              <a:buNone/>
            </a:pPr>
            <a:r>
              <a:rPr lang="en-US" altLang="zh-CN" b="1" dirty="0">
                <a:ea typeface="楷体_GB2312" panose="02010609030101010101" pitchFamily="49" charset="-122"/>
              </a:rPr>
              <a:t>     </a:t>
            </a:r>
            <a:r>
              <a:rPr lang="zh-CN" altLang="en-US" b="1" dirty="0">
                <a:ea typeface="楷体_GB2312" panose="02010609030101010101" pitchFamily="49" charset="-122"/>
              </a:rPr>
              <a:t>中心极限定理的应用有三大类：</a:t>
            </a:r>
            <a:r>
              <a:rPr lang="zh-CN" altLang="en-US" b="1" dirty="0">
                <a:solidFill>
                  <a:schemeClr val="bg1"/>
                </a:solidFill>
                <a:ea typeface="楷体_GB2312" panose="02010609030101010101" pitchFamily="49" charset="-122"/>
              </a:rPr>
              <a:t>   </a:t>
            </a:r>
            <a:endParaRPr lang="zh-CN" altLang="en-US" b="1" dirty="0">
              <a:solidFill>
                <a:schemeClr val="bg1"/>
              </a:solidFill>
              <a:ea typeface="楷体_GB2312" panose="02010609030101010101" pitchFamily="49" charset="-122"/>
            </a:endParaRPr>
          </a:p>
        </p:txBody>
      </p:sp>
      <p:sp>
        <p:nvSpPr>
          <p:cNvPr id="1054724" name="Rectangle 4"/>
          <p:cNvSpPr>
            <a:spLocks noChangeArrowheads="1"/>
          </p:cNvSpPr>
          <p:nvPr/>
        </p:nvSpPr>
        <p:spPr bwMode="auto">
          <a:xfrm>
            <a:off x="3071813" y="3429000"/>
            <a:ext cx="5486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defRPr kumimoji="1" sz="2400">
                <a:solidFill>
                  <a:schemeClr val="tx1"/>
                </a:solidFill>
                <a:latin typeface="Times New Roman" panose="02020603050405020304" pitchFamily="18" charset="0"/>
                <a:ea typeface="宋体" panose="02010600030101010101" pitchFamily="2" charset="-122"/>
              </a:defRPr>
            </a:lvl1pPr>
            <a:lvl2pPr marL="1333500" indent="-533400">
              <a:defRPr kumimoji="1" sz="2400">
                <a:solidFill>
                  <a:schemeClr val="tx1"/>
                </a:solidFill>
                <a:latin typeface="Times New Roman" panose="02020603050405020304" pitchFamily="18" charset="0"/>
                <a:ea typeface="宋体" panose="02010600030101010101" pitchFamily="2" charset="-122"/>
              </a:defRPr>
            </a:lvl2pPr>
            <a:lvl3pPr marL="1981200" indent="-457200">
              <a:defRPr kumimoji="1" sz="2400">
                <a:solidFill>
                  <a:schemeClr val="tx1"/>
                </a:solidFill>
                <a:latin typeface="Times New Roman" panose="02020603050405020304" pitchFamily="18" charset="0"/>
                <a:ea typeface="宋体" panose="02010600030101010101" pitchFamily="2" charset="-122"/>
              </a:defRPr>
            </a:lvl3pPr>
            <a:lvl4pPr marL="2552700" indent="-381000">
              <a:defRPr kumimoji="1" sz="2400">
                <a:solidFill>
                  <a:schemeClr val="tx1"/>
                </a:solidFill>
                <a:latin typeface="Times New Roman" panose="02020603050405020304" pitchFamily="18" charset="0"/>
                <a:ea typeface="宋体" panose="02010600030101010101" pitchFamily="2" charset="-122"/>
              </a:defRPr>
            </a:lvl4pPr>
            <a:lvl5pPr marL="3124200" indent="-381000">
              <a:defRPr kumimoji="1" sz="2400">
                <a:solidFill>
                  <a:schemeClr val="tx1"/>
                </a:solidFill>
                <a:latin typeface="Times New Roman" panose="02020603050405020304" pitchFamily="18" charset="0"/>
                <a:ea typeface="宋体" panose="02010600030101010101" pitchFamily="2" charset="-122"/>
              </a:defRPr>
            </a:lvl5pPr>
            <a:lvl6pPr marL="35814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40386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44958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9530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Aft>
                <a:spcPts val="0"/>
              </a:spcAft>
            </a:pPr>
            <a:r>
              <a:rPr lang="en-US" altLang="zh-CN" sz="3200" b="1">
                <a:solidFill>
                  <a:schemeClr val="bg1"/>
                </a:solidFill>
                <a:ea typeface="楷体_GB2312" panose="02010609030101010101" pitchFamily="49" charset="-122"/>
              </a:rPr>
              <a:t> </a:t>
            </a:r>
            <a:r>
              <a:rPr lang="en-US" altLang="zh-CN" sz="2800" b="1">
                <a:ea typeface="楷体_GB2312" panose="02010609030101010101" pitchFamily="49" charset="-122"/>
              </a:rPr>
              <a:t>ii)   </a:t>
            </a:r>
            <a:r>
              <a:rPr lang="zh-CN" altLang="en-US" sz="2800" b="1">
                <a:ea typeface="楷体_GB2312" panose="02010609030101010101" pitchFamily="49" charset="-122"/>
              </a:rPr>
              <a:t>已知 </a:t>
            </a:r>
            <a:r>
              <a:rPr lang="en-US" altLang="zh-CN" sz="2800" b="1" i="1">
                <a:ea typeface="楷体_GB2312" panose="02010609030101010101" pitchFamily="49" charset="-122"/>
              </a:rPr>
              <a:t>n</a:t>
            </a:r>
            <a:r>
              <a:rPr lang="en-US" altLang="zh-CN" sz="2800" b="1">
                <a:ea typeface="楷体_GB2312" panose="02010609030101010101" pitchFamily="49" charset="-122"/>
              </a:rPr>
              <a:t> </a:t>
            </a:r>
            <a:r>
              <a:rPr lang="zh-CN" altLang="en-US" sz="2800" b="1">
                <a:ea typeface="楷体_GB2312" panose="02010609030101010101" pitchFamily="49" charset="-122"/>
              </a:rPr>
              <a:t>和概率，求</a:t>
            </a:r>
            <a:r>
              <a:rPr lang="en-US" altLang="zh-CN" sz="2800" b="1" i="1">
                <a:ea typeface="楷体_GB2312" panose="02010609030101010101" pitchFamily="49" charset="-122"/>
              </a:rPr>
              <a:t>y</a:t>
            </a:r>
            <a:r>
              <a:rPr lang="en-US" altLang="zh-CN" sz="2800" b="1">
                <a:ea typeface="楷体_GB2312" panose="02010609030101010101" pitchFamily="49" charset="-122"/>
              </a:rPr>
              <a:t> </a:t>
            </a:r>
            <a:r>
              <a:rPr lang="zh-CN" altLang="en-US" sz="2800" b="1">
                <a:ea typeface="楷体_GB2312" panose="02010609030101010101" pitchFamily="49" charset="-122"/>
              </a:rPr>
              <a:t>；</a:t>
            </a:r>
            <a:endParaRPr lang="zh-CN" altLang="en-US" sz="2800" b="1">
              <a:ea typeface="楷体_GB2312" panose="02010609030101010101" pitchFamily="49" charset="-122"/>
            </a:endParaRPr>
          </a:p>
        </p:txBody>
      </p:sp>
      <p:sp>
        <p:nvSpPr>
          <p:cNvPr id="1054725" name="Rectangle 5"/>
          <p:cNvSpPr>
            <a:spLocks noChangeArrowheads="1"/>
          </p:cNvSpPr>
          <p:nvPr/>
        </p:nvSpPr>
        <p:spPr bwMode="auto">
          <a:xfrm>
            <a:off x="3000375" y="4149725"/>
            <a:ext cx="4953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defRPr kumimoji="1" sz="2400">
                <a:solidFill>
                  <a:schemeClr val="tx1"/>
                </a:solidFill>
                <a:latin typeface="Times New Roman" panose="02020603050405020304" pitchFamily="18" charset="0"/>
                <a:ea typeface="宋体" panose="02010600030101010101" pitchFamily="2" charset="-122"/>
              </a:defRPr>
            </a:lvl1pPr>
            <a:lvl2pPr marL="1333500" indent="-533400">
              <a:defRPr kumimoji="1" sz="2400">
                <a:solidFill>
                  <a:schemeClr val="tx1"/>
                </a:solidFill>
                <a:latin typeface="Times New Roman" panose="02020603050405020304" pitchFamily="18" charset="0"/>
                <a:ea typeface="宋体" panose="02010600030101010101" pitchFamily="2" charset="-122"/>
              </a:defRPr>
            </a:lvl2pPr>
            <a:lvl3pPr marL="1981200" indent="-457200">
              <a:defRPr kumimoji="1" sz="2400">
                <a:solidFill>
                  <a:schemeClr val="tx1"/>
                </a:solidFill>
                <a:latin typeface="Times New Roman" panose="02020603050405020304" pitchFamily="18" charset="0"/>
                <a:ea typeface="宋体" panose="02010600030101010101" pitchFamily="2" charset="-122"/>
              </a:defRPr>
            </a:lvl3pPr>
            <a:lvl4pPr marL="2552700" indent="-381000">
              <a:defRPr kumimoji="1" sz="2400">
                <a:solidFill>
                  <a:schemeClr val="tx1"/>
                </a:solidFill>
                <a:latin typeface="Times New Roman" panose="02020603050405020304" pitchFamily="18" charset="0"/>
                <a:ea typeface="宋体" panose="02010600030101010101" pitchFamily="2" charset="-122"/>
              </a:defRPr>
            </a:lvl4pPr>
            <a:lvl5pPr marL="3124200" indent="-381000">
              <a:defRPr kumimoji="1" sz="2400">
                <a:solidFill>
                  <a:schemeClr val="tx1"/>
                </a:solidFill>
                <a:latin typeface="Times New Roman" panose="02020603050405020304" pitchFamily="18" charset="0"/>
                <a:ea typeface="宋体" panose="02010600030101010101" pitchFamily="2" charset="-122"/>
              </a:defRPr>
            </a:lvl5pPr>
            <a:lvl6pPr marL="35814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40386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44958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9530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Aft>
                <a:spcPts val="0"/>
              </a:spcAft>
            </a:pPr>
            <a:r>
              <a:rPr lang="en-US" altLang="zh-CN" sz="3200" b="1">
                <a:solidFill>
                  <a:schemeClr val="bg1"/>
                </a:solidFill>
                <a:ea typeface="楷体_GB2312" panose="02010609030101010101" pitchFamily="49" charset="-122"/>
              </a:rPr>
              <a:t> </a:t>
            </a:r>
            <a:r>
              <a:rPr lang="en-US" altLang="zh-CN" sz="2800" b="1">
                <a:ea typeface="楷体_GB2312" panose="02010609030101010101" pitchFamily="49" charset="-122"/>
              </a:rPr>
              <a:t>iii)   </a:t>
            </a:r>
            <a:r>
              <a:rPr lang="zh-CN" altLang="en-US" sz="2800" b="1">
                <a:ea typeface="楷体_GB2312" panose="02010609030101010101" pitchFamily="49" charset="-122"/>
              </a:rPr>
              <a:t>已知 </a:t>
            </a:r>
            <a:r>
              <a:rPr lang="en-US" altLang="zh-CN" sz="2800" b="1" i="1">
                <a:ea typeface="楷体_GB2312" panose="02010609030101010101" pitchFamily="49" charset="-122"/>
              </a:rPr>
              <a:t>y</a:t>
            </a:r>
            <a:r>
              <a:rPr lang="en-US" altLang="zh-CN" sz="2800" b="1">
                <a:ea typeface="楷体_GB2312" panose="02010609030101010101" pitchFamily="49" charset="-122"/>
              </a:rPr>
              <a:t> </a:t>
            </a:r>
            <a:r>
              <a:rPr lang="zh-CN" altLang="en-US" sz="2800" b="1">
                <a:ea typeface="楷体_GB2312" panose="02010609030101010101" pitchFamily="49" charset="-122"/>
              </a:rPr>
              <a:t>和概率，求 </a:t>
            </a:r>
            <a:r>
              <a:rPr lang="en-US" altLang="zh-CN" sz="2800" b="1" i="1">
                <a:ea typeface="楷体_GB2312" panose="02010609030101010101" pitchFamily="49" charset="-122"/>
              </a:rPr>
              <a:t>n</a:t>
            </a:r>
            <a:r>
              <a:rPr lang="en-US" altLang="zh-CN" sz="2800" b="1">
                <a:ea typeface="楷体_GB2312" panose="02010609030101010101" pitchFamily="49" charset="-122"/>
              </a:rPr>
              <a:t> .</a:t>
            </a:r>
            <a:endParaRPr lang="en-US" altLang="zh-CN" sz="2800" b="1">
              <a:ea typeface="楷体_GB2312" panose="02010609030101010101" pitchFamily="49" charset="-122"/>
            </a:endParaRPr>
          </a:p>
        </p:txBody>
      </p:sp>
      <p:sp>
        <p:nvSpPr>
          <p:cNvPr id="1054726" name="Rectangle 6"/>
          <p:cNvSpPr>
            <a:spLocks noChangeArrowheads="1"/>
          </p:cNvSpPr>
          <p:nvPr/>
        </p:nvSpPr>
        <p:spPr bwMode="auto">
          <a:xfrm>
            <a:off x="3216275" y="2781300"/>
            <a:ext cx="5486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defRPr kumimoji="1" sz="2400">
                <a:solidFill>
                  <a:schemeClr val="tx1"/>
                </a:solidFill>
                <a:latin typeface="Times New Roman" panose="02020603050405020304" pitchFamily="18" charset="0"/>
                <a:ea typeface="宋体" panose="02010600030101010101" pitchFamily="2" charset="-122"/>
              </a:defRPr>
            </a:lvl1pPr>
            <a:lvl2pPr marL="1333500" indent="-533400">
              <a:defRPr kumimoji="1" sz="2400">
                <a:solidFill>
                  <a:schemeClr val="tx1"/>
                </a:solidFill>
                <a:latin typeface="Times New Roman" panose="02020603050405020304" pitchFamily="18" charset="0"/>
                <a:ea typeface="宋体" panose="02010600030101010101" pitchFamily="2" charset="-122"/>
              </a:defRPr>
            </a:lvl2pPr>
            <a:lvl3pPr marL="1981200" indent="-457200">
              <a:defRPr kumimoji="1" sz="2400">
                <a:solidFill>
                  <a:schemeClr val="tx1"/>
                </a:solidFill>
                <a:latin typeface="Times New Roman" panose="02020603050405020304" pitchFamily="18" charset="0"/>
                <a:ea typeface="宋体" panose="02010600030101010101" pitchFamily="2" charset="-122"/>
              </a:defRPr>
            </a:lvl3pPr>
            <a:lvl4pPr marL="2552700" indent="-381000">
              <a:defRPr kumimoji="1" sz="2400">
                <a:solidFill>
                  <a:schemeClr val="tx1"/>
                </a:solidFill>
                <a:latin typeface="Times New Roman" panose="02020603050405020304" pitchFamily="18" charset="0"/>
                <a:ea typeface="宋体" panose="02010600030101010101" pitchFamily="2" charset="-122"/>
              </a:defRPr>
            </a:lvl4pPr>
            <a:lvl5pPr marL="3124200" indent="-381000">
              <a:defRPr kumimoji="1" sz="2400">
                <a:solidFill>
                  <a:schemeClr val="tx1"/>
                </a:solidFill>
                <a:latin typeface="Times New Roman" panose="02020603050405020304" pitchFamily="18" charset="0"/>
                <a:ea typeface="宋体" panose="02010600030101010101" pitchFamily="2" charset="-122"/>
              </a:defRPr>
            </a:lvl5pPr>
            <a:lvl6pPr marL="35814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40386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44958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9530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Aft>
                <a:spcPts val="0"/>
              </a:spcAft>
            </a:pPr>
            <a:r>
              <a:rPr lang="en-US" altLang="zh-CN" sz="2800" b="1">
                <a:ea typeface="楷体_GB2312" panose="02010609030101010101" pitchFamily="49" charset="-122"/>
              </a:rPr>
              <a:t>i)    </a:t>
            </a:r>
            <a:r>
              <a:rPr lang="zh-CN" altLang="en-US" sz="2800" b="1">
                <a:ea typeface="楷体_GB2312" panose="02010609030101010101" pitchFamily="49" charset="-122"/>
              </a:rPr>
              <a:t>已知 </a:t>
            </a:r>
            <a:r>
              <a:rPr lang="en-US" altLang="zh-CN" sz="2800" b="1" i="1">
                <a:ea typeface="楷体_GB2312" panose="02010609030101010101" pitchFamily="49" charset="-122"/>
              </a:rPr>
              <a:t>n</a:t>
            </a:r>
            <a:r>
              <a:rPr lang="en-US" altLang="zh-CN" sz="2800" b="1">
                <a:ea typeface="楷体_GB2312" panose="02010609030101010101" pitchFamily="49" charset="-122"/>
              </a:rPr>
              <a:t> </a:t>
            </a:r>
            <a:r>
              <a:rPr lang="zh-CN" altLang="en-US" sz="2800" b="1">
                <a:ea typeface="楷体_GB2312" panose="02010609030101010101" pitchFamily="49" charset="-122"/>
              </a:rPr>
              <a:t>和 </a:t>
            </a:r>
            <a:r>
              <a:rPr lang="en-US" altLang="zh-CN" sz="2800" b="1" i="1">
                <a:ea typeface="楷体_GB2312" panose="02010609030101010101" pitchFamily="49" charset="-122"/>
              </a:rPr>
              <a:t>y</a:t>
            </a:r>
            <a:r>
              <a:rPr lang="zh-CN" altLang="en-US" sz="2800" b="1">
                <a:ea typeface="楷体_GB2312" panose="02010609030101010101" pitchFamily="49" charset="-122"/>
              </a:rPr>
              <a:t>，求概率；</a:t>
            </a:r>
            <a:r>
              <a:rPr lang="zh-CN" altLang="en-US" sz="2800" b="1">
                <a:solidFill>
                  <a:schemeClr val="bg1"/>
                </a:solidFill>
                <a:ea typeface="楷体_GB2312" panose="02010609030101010101" pitchFamily="49" charset="-122"/>
              </a:rPr>
              <a:t>       </a:t>
            </a:r>
            <a:endParaRPr lang="zh-CN" altLang="en-US" sz="2800" b="1">
              <a:solidFill>
                <a:schemeClr val="bg1"/>
              </a:solidFill>
              <a:ea typeface="楷体_GB2312" panose="0201060903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54723"/>
                                        </p:tgtEl>
                                        <p:attrNameLst>
                                          <p:attrName>style.visibility</p:attrName>
                                        </p:attrNameLst>
                                      </p:cBhvr>
                                      <p:to>
                                        <p:strVal val="visible"/>
                                      </p:to>
                                    </p:set>
                                    <p:animEffect transition="in" filter="dissolve">
                                      <p:cBhvr>
                                        <p:cTn id="7" dur="500"/>
                                        <p:tgtEl>
                                          <p:spTgt spid="10547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4722">
                                            <p:txEl>
                                              <p:pRg st="0" end="0"/>
                                            </p:txEl>
                                          </p:spTgt>
                                        </p:tgtEl>
                                        <p:attrNameLst>
                                          <p:attrName>style.visibility</p:attrName>
                                        </p:attrNameLst>
                                      </p:cBhvr>
                                      <p:to>
                                        <p:strVal val="visible"/>
                                      </p:to>
                                    </p:set>
                                    <p:animEffect transition="in" filter="wipe(left)">
                                      <p:cBhvr>
                                        <p:cTn id="12" dur="500"/>
                                        <p:tgtEl>
                                          <p:spTgt spid="105472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54726">
                                            <p:txEl>
                                              <p:pRg st="0" end="0"/>
                                            </p:txEl>
                                          </p:spTgt>
                                        </p:tgtEl>
                                        <p:attrNameLst>
                                          <p:attrName>style.visibility</p:attrName>
                                        </p:attrNameLst>
                                      </p:cBhvr>
                                      <p:to>
                                        <p:strVal val="visible"/>
                                      </p:to>
                                    </p:set>
                                    <p:animEffect transition="in" filter="wipe(left)">
                                      <p:cBhvr>
                                        <p:cTn id="17" dur="500"/>
                                        <p:tgtEl>
                                          <p:spTgt spid="105472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54724">
                                            <p:txEl>
                                              <p:pRg st="0" end="0"/>
                                            </p:txEl>
                                          </p:spTgt>
                                        </p:tgtEl>
                                        <p:attrNameLst>
                                          <p:attrName>style.visibility</p:attrName>
                                        </p:attrNameLst>
                                      </p:cBhvr>
                                      <p:to>
                                        <p:strVal val="visible"/>
                                      </p:to>
                                    </p:set>
                                    <p:animEffect transition="in" filter="wipe(left)">
                                      <p:cBhvr>
                                        <p:cTn id="22" dur="500"/>
                                        <p:tgtEl>
                                          <p:spTgt spid="105472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54725">
                                            <p:txEl>
                                              <p:pRg st="0" end="0"/>
                                            </p:txEl>
                                          </p:spTgt>
                                        </p:tgtEl>
                                        <p:attrNameLst>
                                          <p:attrName>style.visibility</p:attrName>
                                        </p:attrNameLst>
                                      </p:cBhvr>
                                      <p:to>
                                        <p:strVal val="visible"/>
                                      </p:to>
                                    </p:set>
                                    <p:animEffect transition="in" filter="wipe(left)">
                                      <p:cBhvr>
                                        <p:cTn id="27" dur="500"/>
                                        <p:tgtEl>
                                          <p:spTgt spid="10547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23" grpId="0" animBg="1" autoUpdateAnimBg="0"/>
      <p:bldP spid="1054722" grpId="0" autoUpdateAnimBg="0" build="p"/>
      <p:bldP spid="1054724" grpId="0" autoUpdateAnimBg="0" build="p"/>
      <p:bldP spid="1054725" grpId="0" autoUpdateAnimBg="0" build="p"/>
      <p:bldP spid="1054726" grpId="0" autoUpdateAnimBg="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6770" name="Rectangle 2"/>
          <p:cNvSpPr>
            <a:spLocks noGrp="1" noChangeArrowheads="1"/>
          </p:cNvSpPr>
          <p:nvPr>
            <p:ph type="title"/>
          </p:nvPr>
        </p:nvSpPr>
        <p:spPr bwMode="auto">
          <a:xfrm>
            <a:off x="3333751" y="401638"/>
            <a:ext cx="6086475" cy="762000"/>
          </a:xfrm>
          <a:noFill/>
          <a:ln w="38100">
            <a:solidFill>
              <a:srgbClr val="FF0000"/>
            </a:solidFill>
            <a:miter lim="800000"/>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normAutofit/>
          </a:bodyPr>
          <a:lstStyle/>
          <a:p>
            <a:pPr>
              <a:spcAft>
                <a:spcPts val="0"/>
              </a:spcAft>
            </a:pPr>
            <a:r>
              <a:rPr lang="zh-CN" altLang="en-US" sz="3700" b="1">
                <a:solidFill>
                  <a:srgbClr val="FF0000"/>
                </a:solidFill>
                <a:ea typeface="楷体_GB2312" panose="02010609030101010101" pitchFamily="49" charset="-122"/>
              </a:rPr>
              <a:t>一、给定 </a:t>
            </a:r>
            <a:r>
              <a:rPr lang="en-US" altLang="zh-CN" sz="3700" b="1" i="1">
                <a:solidFill>
                  <a:srgbClr val="FF0000"/>
                </a:solidFill>
                <a:ea typeface="楷体_GB2312" panose="02010609030101010101" pitchFamily="49" charset="-122"/>
              </a:rPr>
              <a:t>n </a:t>
            </a:r>
            <a:r>
              <a:rPr lang="zh-CN" altLang="en-US" sz="3700" b="1">
                <a:solidFill>
                  <a:srgbClr val="FF0000"/>
                </a:solidFill>
                <a:ea typeface="楷体_GB2312" panose="02010609030101010101" pitchFamily="49" charset="-122"/>
              </a:rPr>
              <a:t>和 </a:t>
            </a:r>
            <a:r>
              <a:rPr lang="en-US" altLang="zh-CN" sz="3700" b="1" i="1">
                <a:solidFill>
                  <a:srgbClr val="FF0000"/>
                </a:solidFill>
                <a:ea typeface="楷体_GB2312" panose="02010609030101010101" pitchFamily="49" charset="-122"/>
              </a:rPr>
              <a:t>y</a:t>
            </a:r>
            <a:r>
              <a:rPr lang="zh-CN" altLang="en-US" sz="3700" b="1">
                <a:solidFill>
                  <a:srgbClr val="FF0000"/>
                </a:solidFill>
                <a:ea typeface="楷体_GB2312" panose="02010609030101010101" pitchFamily="49" charset="-122"/>
              </a:rPr>
              <a:t>，求概率</a:t>
            </a:r>
            <a:endParaRPr lang="zh-CN" altLang="en-US" sz="3700" b="1">
              <a:solidFill>
                <a:srgbClr val="FF0000"/>
              </a:solidFill>
              <a:ea typeface="楷体_GB2312" panose="02010609030101010101" pitchFamily="49" charset="-122"/>
            </a:endParaRPr>
          </a:p>
        </p:txBody>
      </p:sp>
      <p:sp>
        <p:nvSpPr>
          <p:cNvPr id="1056771" name="Text Box 3"/>
          <p:cNvSpPr txBox="1">
            <a:spLocks noChangeArrowheads="1"/>
          </p:cNvSpPr>
          <p:nvPr/>
        </p:nvSpPr>
        <p:spPr bwMode="auto">
          <a:xfrm>
            <a:off x="1952625" y="1485827"/>
            <a:ext cx="8286750" cy="1124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Aft>
                <a:spcPts val="0"/>
              </a:spcAft>
            </a:pPr>
            <a:r>
              <a:rPr lang="zh-CN" altLang="en-US" sz="2800" b="1" dirty="0">
                <a:solidFill>
                  <a:srgbClr val="FF0000"/>
                </a:solidFill>
                <a:ea typeface="楷体_GB2312" panose="02010609030101010101" pitchFamily="49" charset="-122"/>
              </a:rPr>
              <a:t>例</a:t>
            </a:r>
            <a:r>
              <a:rPr lang="zh-CN" altLang="en-US" sz="2800" b="1" dirty="0">
                <a:ea typeface="楷体_GB2312" panose="02010609030101010101" pitchFamily="49" charset="-122"/>
              </a:rPr>
              <a:t>  </a:t>
            </a:r>
            <a:r>
              <a:rPr lang="en-US" altLang="zh-CN" sz="2800" b="1" dirty="0">
                <a:ea typeface="楷体_GB2312" panose="02010609030101010101" pitchFamily="49" charset="-122"/>
              </a:rPr>
              <a:t>100</a:t>
            </a:r>
            <a:r>
              <a:rPr lang="zh-CN" altLang="en-US" sz="2800" b="1" dirty="0">
                <a:ea typeface="楷体_GB2312" panose="02010609030101010101" pitchFamily="49" charset="-122"/>
              </a:rPr>
              <a:t>个独立工作</a:t>
            </a:r>
            <a:r>
              <a:rPr lang="en-US" altLang="zh-CN" sz="2800" b="1" dirty="0">
                <a:ea typeface="楷体_GB2312" panose="02010609030101010101" pitchFamily="49" charset="-122"/>
              </a:rPr>
              <a:t>(</a:t>
            </a:r>
            <a:r>
              <a:rPr lang="zh-CN" altLang="en-US" sz="2800" b="1" dirty="0">
                <a:ea typeface="楷体_GB2312" panose="02010609030101010101" pitchFamily="49" charset="-122"/>
              </a:rPr>
              <a:t>工作的概率为</a:t>
            </a:r>
            <a:r>
              <a:rPr lang="en-US" altLang="zh-CN" sz="2800" b="1" dirty="0">
                <a:ea typeface="楷体_GB2312" panose="02010609030101010101" pitchFamily="49" charset="-122"/>
              </a:rPr>
              <a:t>0.9)</a:t>
            </a:r>
            <a:r>
              <a:rPr lang="zh-CN" altLang="en-US" sz="2800" b="1" dirty="0">
                <a:ea typeface="楷体_GB2312" panose="02010609030101010101" pitchFamily="49" charset="-122"/>
              </a:rPr>
              <a:t>的部件组成一个系统，求系统中至少有</a:t>
            </a:r>
            <a:r>
              <a:rPr lang="en-US" altLang="zh-CN" sz="2800" b="1" dirty="0">
                <a:ea typeface="楷体_GB2312" panose="02010609030101010101" pitchFamily="49" charset="-122"/>
              </a:rPr>
              <a:t>85</a:t>
            </a:r>
            <a:r>
              <a:rPr lang="zh-CN" altLang="en-US" sz="2800" b="1" dirty="0">
                <a:ea typeface="楷体_GB2312" panose="02010609030101010101" pitchFamily="49" charset="-122"/>
              </a:rPr>
              <a:t>个部件工作的概率</a:t>
            </a:r>
            <a:r>
              <a:rPr lang="en-US" altLang="zh-CN" sz="2800" b="1" dirty="0">
                <a:ea typeface="楷体_GB2312" panose="02010609030101010101" pitchFamily="49" charset="-122"/>
              </a:rPr>
              <a:t>.</a:t>
            </a:r>
            <a:endParaRPr lang="en-US" altLang="zh-CN" sz="2800" b="1" dirty="0">
              <a:ea typeface="楷体_GB2312" panose="02010609030101010101" pitchFamily="49" charset="-122"/>
            </a:endParaRPr>
          </a:p>
        </p:txBody>
      </p:sp>
      <p:sp>
        <p:nvSpPr>
          <p:cNvPr id="1056772" name="Text Box 4"/>
          <p:cNvSpPr txBox="1">
            <a:spLocks noChangeArrowheads="1"/>
          </p:cNvSpPr>
          <p:nvPr/>
        </p:nvSpPr>
        <p:spPr bwMode="auto">
          <a:xfrm>
            <a:off x="1966913" y="2939333"/>
            <a:ext cx="143986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800" b="1" dirty="0">
                <a:solidFill>
                  <a:srgbClr val="FF0000"/>
                </a:solidFill>
                <a:ea typeface="楷体_GB2312" panose="02010609030101010101" pitchFamily="49" charset="-122"/>
              </a:rPr>
              <a:t>解：</a:t>
            </a:r>
            <a:r>
              <a:rPr lang="zh-CN" altLang="en-US" sz="2800" b="1" dirty="0">
                <a:ea typeface="楷体_GB2312" panose="02010609030101010101" pitchFamily="49" charset="-122"/>
              </a:rPr>
              <a:t>用</a:t>
            </a:r>
            <a:endParaRPr lang="zh-CN" altLang="en-US" sz="2800" b="1" dirty="0">
              <a:ea typeface="楷体_GB2312" panose="02010609030101010101" pitchFamily="49" charset="-122"/>
            </a:endParaRPr>
          </a:p>
        </p:txBody>
      </p:sp>
      <p:sp>
        <p:nvSpPr>
          <p:cNvPr id="1056773" name="Text Box 5"/>
          <p:cNvSpPr txBox="1">
            <a:spLocks noChangeArrowheads="1"/>
          </p:cNvSpPr>
          <p:nvPr/>
        </p:nvSpPr>
        <p:spPr bwMode="auto">
          <a:xfrm>
            <a:off x="2686050" y="4090271"/>
            <a:ext cx="1944688"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800" b="1">
                <a:ea typeface="楷体_GB2312" panose="02010609030101010101" pitchFamily="49" charset="-122"/>
              </a:rPr>
              <a:t>由此得：</a:t>
            </a:r>
            <a:endParaRPr lang="zh-CN" altLang="en-US" sz="2800" b="1">
              <a:ea typeface="楷体_GB2312" panose="02010609030101010101" pitchFamily="49" charset="-122"/>
            </a:endParaRPr>
          </a:p>
        </p:txBody>
      </p:sp>
      <p:sp>
        <p:nvSpPr>
          <p:cNvPr id="1056774" name="Text Box 6"/>
          <p:cNvSpPr txBox="1">
            <a:spLocks noChangeArrowheads="1"/>
          </p:cNvSpPr>
          <p:nvPr/>
        </p:nvSpPr>
        <p:spPr bwMode="auto">
          <a:xfrm>
            <a:off x="3333751" y="2939333"/>
            <a:ext cx="7129463"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en-US" altLang="zh-CN" sz="2800" b="1" i="1" dirty="0">
                <a:ea typeface="楷体_GB2312" panose="02010609030101010101" pitchFamily="49" charset="-122"/>
              </a:rPr>
              <a:t>X</a:t>
            </a:r>
            <a:r>
              <a:rPr lang="en-US" altLang="zh-CN" sz="2800" b="1" i="1" baseline="-25000" dirty="0">
                <a:ea typeface="楷体_GB2312" panose="02010609030101010101" pitchFamily="49" charset="-122"/>
              </a:rPr>
              <a:t>i</a:t>
            </a:r>
            <a:r>
              <a:rPr lang="en-US" altLang="zh-CN" sz="2800" b="1" dirty="0">
                <a:ea typeface="楷体_GB2312" panose="02010609030101010101" pitchFamily="49" charset="-122"/>
              </a:rPr>
              <a:t>=1</a:t>
            </a:r>
            <a:r>
              <a:rPr lang="zh-CN" altLang="en-US" sz="2800" b="1" dirty="0">
                <a:ea typeface="楷体_GB2312" panose="02010609030101010101" pitchFamily="49" charset="-122"/>
              </a:rPr>
              <a:t>表示第</a:t>
            </a:r>
            <a:r>
              <a:rPr lang="en-US" altLang="zh-CN" sz="2800" b="1" i="1" dirty="0" err="1">
                <a:ea typeface="楷体_GB2312" panose="02010609030101010101" pitchFamily="49" charset="-122"/>
              </a:rPr>
              <a:t>i</a:t>
            </a:r>
            <a:r>
              <a:rPr lang="zh-CN" altLang="en-US" sz="2800" b="1" dirty="0">
                <a:ea typeface="楷体_GB2312" panose="02010609030101010101" pitchFamily="49" charset="-122"/>
              </a:rPr>
              <a:t>个部件正常工作</a:t>
            </a:r>
            <a:r>
              <a:rPr lang="en-US" altLang="zh-CN" sz="2800" b="1" dirty="0">
                <a:ea typeface="楷体_GB2312" panose="02010609030101010101" pitchFamily="49" charset="-122"/>
              </a:rPr>
              <a:t>, </a:t>
            </a:r>
            <a:r>
              <a:rPr lang="zh-CN" altLang="en-US" sz="2800" b="1" dirty="0">
                <a:ea typeface="楷体_GB2312" panose="02010609030101010101" pitchFamily="49" charset="-122"/>
              </a:rPr>
              <a:t>反之记为</a:t>
            </a:r>
            <a:r>
              <a:rPr lang="en-US" altLang="zh-CN" sz="2800" b="1" i="1" dirty="0"/>
              <a:t>X</a:t>
            </a:r>
            <a:r>
              <a:rPr lang="en-US" altLang="zh-CN" sz="2800" b="1" i="1" baseline="-25000" dirty="0"/>
              <a:t>i</a:t>
            </a:r>
            <a:r>
              <a:rPr lang="en-US" altLang="zh-CN" sz="2800" b="1" dirty="0"/>
              <a:t>=0.</a:t>
            </a:r>
            <a:endParaRPr lang="en-US" altLang="zh-CN" sz="2800" b="1" dirty="0"/>
          </a:p>
        </p:txBody>
      </p:sp>
      <p:sp>
        <p:nvSpPr>
          <p:cNvPr id="1056775" name="Text Box 7"/>
          <p:cNvSpPr txBox="1">
            <a:spLocks noChangeArrowheads="1"/>
          </p:cNvSpPr>
          <p:nvPr/>
        </p:nvSpPr>
        <p:spPr bwMode="auto">
          <a:xfrm>
            <a:off x="2686050" y="3442571"/>
            <a:ext cx="7488238" cy="60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spcAft>
                <a:spcPts val="0"/>
              </a:spcAft>
            </a:pPr>
            <a:r>
              <a:rPr lang="zh-CN" altLang="en-US" sz="2800" b="1">
                <a:ea typeface="楷体_GB2312" panose="02010609030101010101" pitchFamily="49" charset="-122"/>
              </a:rPr>
              <a:t>又记</a:t>
            </a:r>
            <a:r>
              <a:rPr lang="en-US" altLang="zh-CN" sz="2800" b="1" i="1">
                <a:ea typeface="楷体_GB2312" panose="02010609030101010101" pitchFamily="49" charset="-122"/>
              </a:rPr>
              <a:t>Y</a:t>
            </a:r>
            <a:r>
              <a:rPr lang="en-US" altLang="zh-CN" sz="2800" b="1">
                <a:ea typeface="楷体_GB2312" panose="02010609030101010101" pitchFamily="49" charset="-122"/>
              </a:rPr>
              <a:t>=</a:t>
            </a:r>
            <a:r>
              <a:rPr lang="en-US" altLang="zh-CN" sz="2800" b="1" i="1"/>
              <a:t>X</a:t>
            </a:r>
            <a:r>
              <a:rPr lang="en-US" altLang="zh-CN" sz="2800" b="1" baseline="-25000"/>
              <a:t>1</a:t>
            </a:r>
            <a:r>
              <a:rPr lang="en-US" altLang="zh-CN" sz="2800" b="1">
                <a:ea typeface="楷体_GB2312" panose="02010609030101010101" pitchFamily="49" charset="-122"/>
              </a:rPr>
              <a:t>+</a:t>
            </a:r>
            <a:r>
              <a:rPr lang="en-US" altLang="zh-CN" sz="2800" b="1" i="1"/>
              <a:t>X</a:t>
            </a:r>
            <a:r>
              <a:rPr lang="en-US" altLang="zh-CN" sz="2800" b="1" baseline="-25000"/>
              <a:t>2</a:t>
            </a:r>
            <a:r>
              <a:rPr lang="en-US" altLang="zh-CN" sz="2800" b="1">
                <a:ea typeface="楷体_GB2312" panose="02010609030101010101" pitchFamily="49" charset="-122"/>
              </a:rPr>
              <a:t>+…+</a:t>
            </a:r>
            <a:r>
              <a:rPr lang="en-US" altLang="zh-CN" sz="2800" b="1" i="1"/>
              <a:t>X</a:t>
            </a:r>
            <a:r>
              <a:rPr lang="en-US" altLang="zh-CN" sz="2800" b="1" baseline="-25000"/>
              <a:t>100</a:t>
            </a:r>
            <a:r>
              <a:rPr lang="zh-CN" altLang="en-US" sz="2800" b="1"/>
              <a:t>，</a:t>
            </a:r>
            <a:r>
              <a:rPr lang="zh-CN" altLang="en-US" sz="2800" b="1">
                <a:ea typeface="楷体_GB2312" panose="02010609030101010101" pitchFamily="49" charset="-122"/>
              </a:rPr>
              <a:t>则 </a:t>
            </a:r>
            <a:r>
              <a:rPr lang="en-US" altLang="zh-CN" sz="2800" b="1" i="1"/>
              <a:t>E</a:t>
            </a:r>
            <a:r>
              <a:rPr lang="en-US" altLang="zh-CN" sz="2800" b="1"/>
              <a:t>(</a:t>
            </a:r>
            <a:r>
              <a:rPr lang="en-US" altLang="zh-CN" sz="2800" b="1" i="1"/>
              <a:t>Y</a:t>
            </a:r>
            <a:r>
              <a:rPr lang="en-US" altLang="zh-CN" sz="2800" b="1"/>
              <a:t>)=90</a:t>
            </a:r>
            <a:r>
              <a:rPr lang="zh-CN" altLang="en-US" sz="2800" b="1"/>
              <a:t>，</a:t>
            </a:r>
            <a:r>
              <a:rPr lang="en-US" altLang="zh-CN" sz="2800" b="1"/>
              <a:t>Var(</a:t>
            </a:r>
            <a:r>
              <a:rPr lang="en-US" altLang="zh-CN" sz="2800" b="1" i="1"/>
              <a:t>Y</a:t>
            </a:r>
            <a:r>
              <a:rPr lang="en-US" altLang="zh-CN" sz="2800" b="1"/>
              <a:t>)=9.</a:t>
            </a:r>
            <a:endParaRPr lang="en-US" altLang="zh-CN" sz="2800" b="1"/>
          </a:p>
        </p:txBody>
      </p:sp>
      <p:graphicFrame>
        <p:nvGraphicFramePr>
          <p:cNvPr id="1056776" name="Object 8"/>
          <p:cNvGraphicFramePr>
            <a:graphicFrameLocks noChangeAspect="1"/>
          </p:cNvGraphicFramePr>
          <p:nvPr/>
        </p:nvGraphicFramePr>
        <p:xfrm>
          <a:off x="3968751" y="4523658"/>
          <a:ext cx="4524375" cy="1052512"/>
        </p:xfrm>
        <a:graphic>
          <a:graphicData uri="http://schemas.openxmlformats.org/presentationml/2006/ole">
            <mc:AlternateContent xmlns:mc="http://schemas.openxmlformats.org/markup-compatibility/2006">
              <mc:Choice xmlns:v="urn:schemas-microsoft-com:vml" Requires="v">
                <p:oleObj spid="_x0000_s2" name="Equation" r:id="rId1" imgW="49682400" imgH="10363200" progId="Equation.DSMT4">
                  <p:embed/>
                </p:oleObj>
              </mc:Choice>
              <mc:Fallback>
                <p:oleObj name="Equation" r:id="rId1" imgW="49682400" imgH="10363200" progId="Equation.DSMT4">
                  <p:embed/>
                  <p:pic>
                    <p:nvPicPr>
                      <p:cNvPr id="0" name="Object 8"/>
                      <p:cNvPicPr>
                        <a:picLocks noChangeAspect="1" noChangeArrowheads="1"/>
                      </p:cNvPicPr>
                      <p:nvPr/>
                    </p:nvPicPr>
                    <p:blipFill>
                      <a:blip r:embed="rId2"/>
                      <a:srcRect/>
                      <a:stretch>
                        <a:fillRect/>
                      </a:stretch>
                    </p:blipFill>
                    <p:spPr bwMode="auto">
                      <a:xfrm>
                        <a:off x="3968751" y="4523658"/>
                        <a:ext cx="4524375" cy="1052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56770"/>
                                        </p:tgtEl>
                                        <p:attrNameLst>
                                          <p:attrName>style.visibility</p:attrName>
                                        </p:attrNameLst>
                                      </p:cBhvr>
                                      <p:to>
                                        <p:strVal val="visible"/>
                                      </p:to>
                                    </p:set>
                                    <p:animEffect transition="in" filter="wipe(left)">
                                      <p:cBhvr>
                                        <p:cTn id="7" dur="500"/>
                                        <p:tgtEl>
                                          <p:spTgt spid="10567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6771">
                                            <p:txEl>
                                              <p:pRg st="4294967295" end="4294967295"/>
                                            </p:txEl>
                                          </p:spTgt>
                                        </p:tgtEl>
                                        <p:attrNameLst>
                                          <p:attrName>style.visibility</p:attrName>
                                        </p:attrNameLst>
                                      </p:cBhvr>
                                      <p:to>
                                        <p:strVal val="visible"/>
                                      </p:to>
                                    </p:set>
                                    <p:animEffect transition="in" filter="wipe(left)">
                                      <p:cBhvr>
                                        <p:cTn id="12" dur="500"/>
                                        <p:tgtEl>
                                          <p:spTgt spid="1056771">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56771">
                                            <p:txEl>
                                              <p:pRg st="0" end="0"/>
                                            </p:txEl>
                                          </p:spTgt>
                                        </p:tgtEl>
                                        <p:attrNameLst>
                                          <p:attrName>style.visibility</p:attrName>
                                        </p:attrNameLst>
                                      </p:cBhvr>
                                      <p:to>
                                        <p:strVal val="visible"/>
                                      </p:to>
                                    </p:set>
                                    <p:animEffect transition="in" filter="wipe(left)">
                                      <p:cBhvr>
                                        <p:cTn id="17" dur="500"/>
                                        <p:tgtEl>
                                          <p:spTgt spid="105677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056772"/>
                                        </p:tgtEl>
                                        <p:attrNameLst>
                                          <p:attrName>style.visibility</p:attrName>
                                        </p:attrNameLst>
                                      </p:cBhvr>
                                      <p:to>
                                        <p:strVal val="visible"/>
                                      </p:to>
                                    </p:set>
                                    <p:anim calcmode="lin" valueType="num">
                                      <p:cBhvr additive="base">
                                        <p:cTn id="22" dur="500" fill="hold"/>
                                        <p:tgtEl>
                                          <p:spTgt spid="1056772"/>
                                        </p:tgtEl>
                                        <p:attrNameLst>
                                          <p:attrName>ppt_x</p:attrName>
                                        </p:attrNameLst>
                                      </p:cBhvr>
                                      <p:tavLst>
                                        <p:tav tm="0">
                                          <p:val>
                                            <p:strVal val="0-#ppt_w/2"/>
                                          </p:val>
                                        </p:tav>
                                        <p:tav tm="100000">
                                          <p:val>
                                            <p:strVal val="#ppt_x"/>
                                          </p:val>
                                        </p:tav>
                                      </p:tavLst>
                                    </p:anim>
                                    <p:anim calcmode="lin" valueType="num">
                                      <p:cBhvr additive="base">
                                        <p:cTn id="23" dur="500" fill="hold"/>
                                        <p:tgtEl>
                                          <p:spTgt spid="105677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1056774"/>
                                        </p:tgtEl>
                                        <p:attrNameLst>
                                          <p:attrName>style.visibility</p:attrName>
                                        </p:attrNameLst>
                                      </p:cBhvr>
                                      <p:to>
                                        <p:strVal val="visible"/>
                                      </p:to>
                                    </p:set>
                                    <p:anim calcmode="lin" valueType="num">
                                      <p:cBhvr additive="base">
                                        <p:cTn id="28" dur="500" fill="hold"/>
                                        <p:tgtEl>
                                          <p:spTgt spid="1056774"/>
                                        </p:tgtEl>
                                        <p:attrNameLst>
                                          <p:attrName>ppt_x</p:attrName>
                                        </p:attrNameLst>
                                      </p:cBhvr>
                                      <p:tavLst>
                                        <p:tav tm="0">
                                          <p:val>
                                            <p:strVal val="1+#ppt_w/2"/>
                                          </p:val>
                                        </p:tav>
                                        <p:tav tm="100000">
                                          <p:val>
                                            <p:strVal val="#ppt_x"/>
                                          </p:val>
                                        </p:tav>
                                      </p:tavLst>
                                    </p:anim>
                                    <p:anim calcmode="lin" valueType="num">
                                      <p:cBhvr additive="base">
                                        <p:cTn id="29" dur="500" fill="hold"/>
                                        <p:tgtEl>
                                          <p:spTgt spid="1056774"/>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1056775"/>
                                        </p:tgtEl>
                                        <p:attrNameLst>
                                          <p:attrName>style.visibility</p:attrName>
                                        </p:attrNameLst>
                                      </p:cBhvr>
                                      <p:to>
                                        <p:strVal val="visible"/>
                                      </p:to>
                                    </p:set>
                                    <p:anim calcmode="lin" valueType="num">
                                      <p:cBhvr additive="base">
                                        <p:cTn id="34" dur="500" fill="hold"/>
                                        <p:tgtEl>
                                          <p:spTgt spid="1056775"/>
                                        </p:tgtEl>
                                        <p:attrNameLst>
                                          <p:attrName>ppt_x</p:attrName>
                                        </p:attrNameLst>
                                      </p:cBhvr>
                                      <p:tavLst>
                                        <p:tav tm="0">
                                          <p:val>
                                            <p:strVal val="0-#ppt_w/2"/>
                                          </p:val>
                                        </p:tav>
                                        <p:tav tm="100000">
                                          <p:val>
                                            <p:strVal val="#ppt_x"/>
                                          </p:val>
                                        </p:tav>
                                      </p:tavLst>
                                    </p:anim>
                                    <p:anim calcmode="lin" valueType="num">
                                      <p:cBhvr additive="base">
                                        <p:cTn id="35" dur="500" fill="hold"/>
                                        <p:tgtEl>
                                          <p:spTgt spid="1056775"/>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056773"/>
                                        </p:tgtEl>
                                        <p:attrNameLst>
                                          <p:attrName>style.visibility</p:attrName>
                                        </p:attrNameLst>
                                      </p:cBhvr>
                                      <p:to>
                                        <p:strVal val="visible"/>
                                      </p:to>
                                    </p:set>
                                    <p:anim calcmode="lin" valueType="num">
                                      <p:cBhvr additive="base">
                                        <p:cTn id="40" dur="500" fill="hold"/>
                                        <p:tgtEl>
                                          <p:spTgt spid="1056773"/>
                                        </p:tgtEl>
                                        <p:attrNameLst>
                                          <p:attrName>ppt_x</p:attrName>
                                        </p:attrNameLst>
                                      </p:cBhvr>
                                      <p:tavLst>
                                        <p:tav tm="0">
                                          <p:val>
                                            <p:strVal val="#ppt_x"/>
                                          </p:val>
                                        </p:tav>
                                        <p:tav tm="100000">
                                          <p:val>
                                            <p:strVal val="#ppt_x"/>
                                          </p:val>
                                        </p:tav>
                                      </p:tavLst>
                                    </p:anim>
                                    <p:anim calcmode="lin" valueType="num">
                                      <p:cBhvr additive="base">
                                        <p:cTn id="41" dur="500" fill="hold"/>
                                        <p:tgtEl>
                                          <p:spTgt spid="1056773"/>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056776"/>
                                        </p:tgtEl>
                                        <p:attrNameLst>
                                          <p:attrName>style.visibility</p:attrName>
                                        </p:attrNameLst>
                                      </p:cBhvr>
                                      <p:to>
                                        <p:strVal val="visible"/>
                                      </p:to>
                                    </p:set>
                                    <p:anim calcmode="lin" valueType="num">
                                      <p:cBhvr additive="base">
                                        <p:cTn id="46" dur="500" fill="hold"/>
                                        <p:tgtEl>
                                          <p:spTgt spid="1056776"/>
                                        </p:tgtEl>
                                        <p:attrNameLst>
                                          <p:attrName>ppt_x</p:attrName>
                                        </p:attrNameLst>
                                      </p:cBhvr>
                                      <p:tavLst>
                                        <p:tav tm="0">
                                          <p:val>
                                            <p:strVal val="#ppt_x"/>
                                          </p:val>
                                        </p:tav>
                                        <p:tav tm="100000">
                                          <p:val>
                                            <p:strVal val="#ppt_x"/>
                                          </p:val>
                                        </p:tav>
                                      </p:tavLst>
                                    </p:anim>
                                    <p:anim calcmode="lin" valueType="num">
                                      <p:cBhvr additive="base">
                                        <p:cTn id="47" dur="500" fill="hold"/>
                                        <p:tgtEl>
                                          <p:spTgt spid="10567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6770" grpId="0" animBg="1" autoUpdateAnimBg="0"/>
      <p:bldP spid="1056771" grpId="0" autoUpdateAnimBg="0" build="p"/>
      <p:bldP spid="1056772" grpId="0" bldLvl="0" animBg="1" autoUpdateAnimBg="0"/>
      <p:bldP spid="1056773" grpId="0" bldLvl="0" animBg="1" autoUpdateAnimBg="0"/>
      <p:bldP spid="1056774" grpId="0" bldLvl="0" animBg="1" autoUpdateAnimBg="0"/>
      <p:bldP spid="1056775" grpId="0" bldLvl="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8818" name="Rectangle 2"/>
          <p:cNvSpPr>
            <a:spLocks noGrp="1" noChangeArrowheads="1"/>
          </p:cNvSpPr>
          <p:nvPr>
            <p:ph type="title"/>
          </p:nvPr>
        </p:nvSpPr>
        <p:spPr bwMode="auto">
          <a:xfrm>
            <a:off x="3333751" y="465139"/>
            <a:ext cx="6086475" cy="636587"/>
          </a:xfrm>
          <a:noFill/>
          <a:ln w="38100">
            <a:solidFill>
              <a:srgbClr val="FF0000"/>
            </a:solidFill>
            <a:miter lim="800000"/>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normAutofit fontScale="90000"/>
          </a:bodyPr>
          <a:lstStyle/>
          <a:p>
            <a:pPr>
              <a:spcAft>
                <a:spcPts val="0"/>
              </a:spcAft>
            </a:pPr>
            <a:r>
              <a:rPr lang="zh-CN" altLang="en-US" sz="3700" b="1" dirty="0">
                <a:solidFill>
                  <a:srgbClr val="FF0000"/>
                </a:solidFill>
                <a:ea typeface="楷体_GB2312" panose="02010609030101010101" pitchFamily="49" charset="-122"/>
              </a:rPr>
              <a:t>二、给定 </a:t>
            </a:r>
            <a:r>
              <a:rPr lang="en-US" altLang="zh-CN" sz="3700" b="1" i="1" dirty="0">
                <a:solidFill>
                  <a:srgbClr val="FF0000"/>
                </a:solidFill>
                <a:ea typeface="楷体_GB2312" panose="02010609030101010101" pitchFamily="49" charset="-122"/>
              </a:rPr>
              <a:t>n </a:t>
            </a:r>
            <a:r>
              <a:rPr lang="zh-CN" altLang="en-US" sz="3700" b="1" dirty="0">
                <a:solidFill>
                  <a:srgbClr val="FF0000"/>
                </a:solidFill>
                <a:ea typeface="楷体_GB2312" panose="02010609030101010101" pitchFamily="49" charset="-122"/>
              </a:rPr>
              <a:t>和概率，求 </a:t>
            </a:r>
            <a:r>
              <a:rPr lang="en-US" altLang="zh-CN" sz="3700" b="1" i="1" dirty="0">
                <a:solidFill>
                  <a:srgbClr val="FF0000"/>
                </a:solidFill>
                <a:ea typeface="楷体_GB2312" panose="02010609030101010101" pitchFamily="49" charset="-122"/>
              </a:rPr>
              <a:t>y</a:t>
            </a:r>
            <a:endParaRPr lang="en-US" altLang="zh-CN" sz="3700" b="1" i="1" dirty="0">
              <a:solidFill>
                <a:srgbClr val="FF0000"/>
              </a:solidFill>
              <a:ea typeface="楷体_GB2312" panose="02010609030101010101" pitchFamily="49" charset="-122"/>
            </a:endParaRPr>
          </a:p>
        </p:txBody>
      </p:sp>
      <p:sp>
        <p:nvSpPr>
          <p:cNvPr id="1058819" name="Text Box 3"/>
          <p:cNvSpPr txBox="1">
            <a:spLocks noChangeArrowheads="1"/>
          </p:cNvSpPr>
          <p:nvPr/>
        </p:nvSpPr>
        <p:spPr bwMode="auto">
          <a:xfrm>
            <a:off x="2063750" y="1628776"/>
            <a:ext cx="8153400" cy="1322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Aft>
                <a:spcPts val="0"/>
              </a:spcAft>
            </a:pPr>
            <a:r>
              <a:rPr lang="zh-CN" altLang="en-US" sz="2800" b="1" dirty="0">
                <a:solidFill>
                  <a:srgbClr val="FF0000"/>
                </a:solidFill>
                <a:ea typeface="楷体_GB2312" panose="02010609030101010101" pitchFamily="49" charset="-122"/>
              </a:rPr>
              <a:t>例</a:t>
            </a:r>
            <a:r>
              <a:rPr lang="zh-CN" altLang="en-US" sz="2800" b="1" dirty="0">
                <a:solidFill>
                  <a:srgbClr val="00FF00"/>
                </a:solidFill>
                <a:ea typeface="楷体_GB2312" panose="02010609030101010101" pitchFamily="49" charset="-122"/>
              </a:rPr>
              <a:t>    </a:t>
            </a:r>
            <a:r>
              <a:rPr lang="zh-CN" altLang="en-US" sz="2600" b="1" dirty="0">
                <a:ea typeface="楷体_GB2312" panose="02010609030101010101" pitchFamily="49" charset="-122"/>
              </a:rPr>
              <a:t>有</a:t>
            </a:r>
            <a:r>
              <a:rPr lang="en-US" altLang="zh-CN" sz="2600" b="1" dirty="0">
                <a:ea typeface="楷体_GB2312" panose="02010609030101010101" pitchFamily="49" charset="-122"/>
              </a:rPr>
              <a:t>200</a:t>
            </a:r>
            <a:r>
              <a:rPr lang="zh-CN" altLang="en-US" sz="2600" b="1" dirty="0">
                <a:ea typeface="楷体_GB2312" panose="02010609030101010101" pitchFamily="49" charset="-122"/>
              </a:rPr>
              <a:t>台独立工作</a:t>
            </a:r>
            <a:r>
              <a:rPr lang="en-US" altLang="zh-CN" sz="2600" b="1" dirty="0">
                <a:ea typeface="楷体_GB2312" panose="02010609030101010101" pitchFamily="49" charset="-122"/>
              </a:rPr>
              <a:t>(</a:t>
            </a:r>
            <a:r>
              <a:rPr lang="zh-CN" altLang="en-US" sz="2600" b="1" dirty="0">
                <a:ea typeface="楷体_GB2312" panose="02010609030101010101" pitchFamily="49" charset="-122"/>
              </a:rPr>
              <a:t>工作的概率为</a:t>
            </a:r>
            <a:r>
              <a:rPr lang="en-US" altLang="zh-CN" sz="2600" b="1" dirty="0">
                <a:ea typeface="楷体_GB2312" panose="02010609030101010101" pitchFamily="49" charset="-122"/>
              </a:rPr>
              <a:t>0.7)</a:t>
            </a:r>
            <a:r>
              <a:rPr lang="zh-CN" altLang="en-US" sz="2600" b="1" dirty="0">
                <a:ea typeface="楷体_GB2312" panose="02010609030101010101" pitchFamily="49" charset="-122"/>
              </a:rPr>
              <a:t>的机床，</a:t>
            </a:r>
            <a:endParaRPr lang="zh-CN" altLang="en-US" sz="2600" b="1" dirty="0">
              <a:ea typeface="楷体_GB2312" panose="02010609030101010101" pitchFamily="49" charset="-122"/>
            </a:endParaRPr>
          </a:p>
          <a:p>
            <a:pPr>
              <a:spcBef>
                <a:spcPts val="0"/>
              </a:spcBef>
              <a:spcAft>
                <a:spcPts val="0"/>
              </a:spcAft>
            </a:pPr>
            <a:r>
              <a:rPr lang="zh-CN" altLang="en-US" sz="2600" b="1" dirty="0">
                <a:ea typeface="楷体_GB2312" panose="02010609030101010101" pitchFamily="49" charset="-122"/>
              </a:rPr>
              <a:t>    每台机床工作时需</a:t>
            </a:r>
            <a:r>
              <a:rPr lang="en-US" altLang="zh-CN" sz="2600" b="1" dirty="0">
                <a:ea typeface="楷体_GB2312" panose="02010609030101010101" pitchFamily="49" charset="-122"/>
              </a:rPr>
              <a:t>15kw</a:t>
            </a:r>
            <a:r>
              <a:rPr lang="zh-CN" altLang="en-US" sz="2600" b="1" dirty="0">
                <a:ea typeface="楷体_GB2312" panose="02010609030101010101" pitchFamily="49" charset="-122"/>
              </a:rPr>
              <a:t>电力</a:t>
            </a:r>
            <a:r>
              <a:rPr lang="en-US" altLang="zh-CN" sz="2600" b="1" dirty="0">
                <a:ea typeface="楷体_GB2312" panose="02010609030101010101" pitchFamily="49" charset="-122"/>
              </a:rPr>
              <a:t>. </a:t>
            </a:r>
            <a:r>
              <a:rPr lang="zh-CN" altLang="en-US" sz="2600" b="1" dirty="0">
                <a:ea typeface="楷体_GB2312" panose="02010609030101010101" pitchFamily="49" charset="-122"/>
              </a:rPr>
              <a:t>问共需多少电力</a:t>
            </a:r>
            <a:r>
              <a:rPr lang="en-US" altLang="zh-CN" sz="2600" b="1" dirty="0">
                <a:ea typeface="楷体_GB2312" panose="02010609030101010101" pitchFamily="49" charset="-122"/>
              </a:rPr>
              <a:t>, </a:t>
            </a:r>
            <a:r>
              <a:rPr lang="zh-CN" altLang="en-US" sz="2600" b="1" dirty="0">
                <a:ea typeface="楷体_GB2312" panose="02010609030101010101" pitchFamily="49" charset="-122"/>
              </a:rPr>
              <a:t>才可</a:t>
            </a:r>
            <a:endParaRPr lang="zh-CN" altLang="en-US" sz="2600" b="1" dirty="0">
              <a:ea typeface="楷体_GB2312" panose="02010609030101010101" pitchFamily="49" charset="-122"/>
            </a:endParaRPr>
          </a:p>
          <a:p>
            <a:pPr>
              <a:spcBef>
                <a:spcPts val="0"/>
              </a:spcBef>
            </a:pPr>
            <a:r>
              <a:rPr lang="zh-CN" altLang="en-US" sz="2600" b="1" dirty="0">
                <a:ea typeface="楷体_GB2312" panose="02010609030101010101" pitchFamily="49" charset="-122"/>
              </a:rPr>
              <a:t>    有</a:t>
            </a:r>
            <a:r>
              <a:rPr lang="en-US" altLang="zh-CN" sz="2600" b="1" dirty="0">
                <a:ea typeface="楷体_GB2312" panose="02010609030101010101" pitchFamily="49" charset="-122"/>
              </a:rPr>
              <a:t>95%</a:t>
            </a:r>
            <a:r>
              <a:rPr lang="zh-CN" altLang="en-US" sz="2600" b="1" dirty="0">
                <a:ea typeface="楷体_GB2312" panose="02010609030101010101" pitchFamily="49" charset="-122"/>
              </a:rPr>
              <a:t>的可能性保证正常生产</a:t>
            </a:r>
            <a:r>
              <a:rPr lang="en-US" altLang="zh-CN" sz="2600" b="1" dirty="0">
                <a:ea typeface="楷体_GB2312" panose="02010609030101010101" pitchFamily="49" charset="-122"/>
              </a:rPr>
              <a:t>?</a:t>
            </a:r>
            <a:endParaRPr lang="en-US" altLang="zh-CN" sz="2600" b="1" dirty="0">
              <a:ea typeface="楷体_GB2312" panose="02010609030101010101" pitchFamily="49" charset="-122"/>
            </a:endParaRPr>
          </a:p>
        </p:txBody>
      </p:sp>
      <p:sp>
        <p:nvSpPr>
          <p:cNvPr id="1058820" name="Text Box 4"/>
          <p:cNvSpPr txBox="1">
            <a:spLocks noChangeArrowheads="1"/>
          </p:cNvSpPr>
          <p:nvPr/>
        </p:nvSpPr>
        <p:spPr bwMode="auto">
          <a:xfrm>
            <a:off x="1992313" y="3357563"/>
            <a:ext cx="143986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800" b="1" dirty="0">
                <a:solidFill>
                  <a:srgbClr val="FF0000"/>
                </a:solidFill>
                <a:ea typeface="楷体_GB2312" panose="02010609030101010101" pitchFamily="49" charset="-122"/>
              </a:rPr>
              <a:t>解：</a:t>
            </a:r>
            <a:r>
              <a:rPr lang="zh-CN" altLang="en-US" sz="2600" b="1" dirty="0">
                <a:ea typeface="楷体_GB2312" panose="02010609030101010101" pitchFamily="49" charset="-122"/>
              </a:rPr>
              <a:t>用</a:t>
            </a:r>
            <a:endParaRPr lang="zh-CN" altLang="en-US" sz="2600" b="1" dirty="0">
              <a:ea typeface="楷体_GB2312" panose="02010609030101010101" pitchFamily="49" charset="-122"/>
            </a:endParaRPr>
          </a:p>
        </p:txBody>
      </p:sp>
      <p:sp>
        <p:nvSpPr>
          <p:cNvPr id="1058821" name="Text Box 5"/>
          <p:cNvSpPr txBox="1">
            <a:spLocks noChangeArrowheads="1"/>
          </p:cNvSpPr>
          <p:nvPr/>
        </p:nvSpPr>
        <p:spPr bwMode="auto">
          <a:xfrm>
            <a:off x="2711450" y="4365625"/>
            <a:ext cx="2952750"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600" b="1">
                <a:ea typeface="楷体_GB2312" panose="02010609030101010101" pitchFamily="49" charset="-122"/>
              </a:rPr>
              <a:t>设供电量为</a:t>
            </a:r>
            <a:r>
              <a:rPr lang="en-US" altLang="zh-CN" sz="2600" b="1" i="1">
                <a:ea typeface="楷体_GB2312" panose="02010609030101010101" pitchFamily="49" charset="-122"/>
              </a:rPr>
              <a:t>y</a:t>
            </a:r>
            <a:r>
              <a:rPr lang="en-US" altLang="zh-CN" sz="2600" b="1">
                <a:ea typeface="楷体_GB2312" panose="02010609030101010101" pitchFamily="49" charset="-122"/>
              </a:rPr>
              <a:t>, </a:t>
            </a:r>
            <a:r>
              <a:rPr lang="zh-CN" altLang="en-US" sz="2600" b="1">
                <a:ea typeface="楷体_GB2312" panose="02010609030101010101" pitchFamily="49" charset="-122"/>
              </a:rPr>
              <a:t>则从</a:t>
            </a:r>
            <a:endParaRPr lang="zh-CN" altLang="en-US" sz="2600" b="1">
              <a:ea typeface="楷体_GB2312" panose="02010609030101010101" pitchFamily="49" charset="-122"/>
            </a:endParaRPr>
          </a:p>
        </p:txBody>
      </p:sp>
      <p:sp>
        <p:nvSpPr>
          <p:cNvPr id="1058822" name="Text Box 6"/>
          <p:cNvSpPr txBox="1">
            <a:spLocks noChangeArrowheads="1"/>
          </p:cNvSpPr>
          <p:nvPr/>
        </p:nvSpPr>
        <p:spPr bwMode="auto">
          <a:xfrm>
            <a:off x="3359151" y="3357563"/>
            <a:ext cx="7129463"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en-US" altLang="zh-CN" sz="2600" b="1" i="1">
                <a:ea typeface="楷体_GB2312" panose="02010609030101010101" pitchFamily="49" charset="-122"/>
              </a:rPr>
              <a:t>X</a:t>
            </a:r>
            <a:r>
              <a:rPr lang="en-US" altLang="zh-CN" sz="2600" b="1" i="1" baseline="-25000">
                <a:ea typeface="楷体_GB2312" panose="02010609030101010101" pitchFamily="49" charset="-122"/>
              </a:rPr>
              <a:t>i</a:t>
            </a:r>
            <a:r>
              <a:rPr lang="en-US" altLang="zh-CN" sz="2600" b="1">
                <a:ea typeface="楷体_GB2312" panose="02010609030101010101" pitchFamily="49" charset="-122"/>
              </a:rPr>
              <a:t>=1</a:t>
            </a:r>
            <a:r>
              <a:rPr lang="zh-CN" altLang="en-US" sz="2600" b="1">
                <a:ea typeface="楷体_GB2312" panose="02010609030101010101" pitchFamily="49" charset="-122"/>
              </a:rPr>
              <a:t>表示第</a:t>
            </a:r>
            <a:r>
              <a:rPr lang="en-US" altLang="zh-CN" sz="2600" b="1" i="1">
                <a:ea typeface="楷体_GB2312" panose="02010609030101010101" pitchFamily="49" charset="-122"/>
              </a:rPr>
              <a:t>i</a:t>
            </a:r>
            <a:r>
              <a:rPr lang="zh-CN" altLang="en-US" sz="2600" b="1">
                <a:ea typeface="楷体_GB2312" panose="02010609030101010101" pitchFamily="49" charset="-122"/>
              </a:rPr>
              <a:t>台机床正常工作</a:t>
            </a:r>
            <a:r>
              <a:rPr lang="en-US" altLang="zh-CN" sz="2600" b="1">
                <a:ea typeface="楷体_GB2312" panose="02010609030101010101" pitchFamily="49" charset="-122"/>
              </a:rPr>
              <a:t>, </a:t>
            </a:r>
            <a:r>
              <a:rPr lang="zh-CN" altLang="en-US" sz="2600" b="1">
                <a:ea typeface="楷体_GB2312" panose="02010609030101010101" pitchFamily="49" charset="-122"/>
              </a:rPr>
              <a:t>反之记为</a:t>
            </a:r>
            <a:r>
              <a:rPr lang="en-US" altLang="zh-CN" sz="2600" b="1" i="1"/>
              <a:t>X</a:t>
            </a:r>
            <a:r>
              <a:rPr lang="en-US" altLang="zh-CN" sz="2600" b="1" i="1" baseline="-25000"/>
              <a:t>i</a:t>
            </a:r>
            <a:r>
              <a:rPr lang="en-US" altLang="zh-CN" sz="2600" b="1"/>
              <a:t>=0.</a:t>
            </a:r>
            <a:endParaRPr lang="en-US" altLang="zh-CN" sz="2600" b="1"/>
          </a:p>
        </p:txBody>
      </p:sp>
      <p:sp>
        <p:nvSpPr>
          <p:cNvPr id="1058823" name="Text Box 7"/>
          <p:cNvSpPr txBox="1">
            <a:spLocks noChangeArrowheads="1"/>
          </p:cNvSpPr>
          <p:nvPr/>
        </p:nvSpPr>
        <p:spPr bwMode="auto">
          <a:xfrm>
            <a:off x="2711450" y="3789363"/>
            <a:ext cx="7488238" cy="5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spcAft>
                <a:spcPts val="0"/>
              </a:spcAft>
            </a:pPr>
            <a:r>
              <a:rPr lang="zh-CN" altLang="en-US" sz="2600" b="1">
                <a:ea typeface="楷体_GB2312" panose="02010609030101010101" pitchFamily="49" charset="-122"/>
              </a:rPr>
              <a:t>又记</a:t>
            </a:r>
            <a:r>
              <a:rPr lang="en-US" altLang="zh-CN" sz="2600" b="1" i="1">
                <a:ea typeface="楷体_GB2312" panose="02010609030101010101" pitchFamily="49" charset="-122"/>
              </a:rPr>
              <a:t>Y</a:t>
            </a:r>
            <a:r>
              <a:rPr lang="en-US" altLang="zh-CN" sz="2600" b="1">
                <a:ea typeface="楷体_GB2312" panose="02010609030101010101" pitchFamily="49" charset="-122"/>
              </a:rPr>
              <a:t>=</a:t>
            </a:r>
            <a:r>
              <a:rPr lang="en-US" altLang="zh-CN" sz="2600" b="1" i="1"/>
              <a:t>X</a:t>
            </a:r>
            <a:r>
              <a:rPr lang="en-US" altLang="zh-CN" sz="2600" b="1" baseline="-25000"/>
              <a:t>1</a:t>
            </a:r>
            <a:r>
              <a:rPr lang="en-US" altLang="zh-CN" sz="2600" b="1">
                <a:ea typeface="楷体_GB2312" panose="02010609030101010101" pitchFamily="49" charset="-122"/>
              </a:rPr>
              <a:t>+</a:t>
            </a:r>
            <a:r>
              <a:rPr lang="en-US" altLang="zh-CN" sz="2600" b="1" i="1"/>
              <a:t>X</a:t>
            </a:r>
            <a:r>
              <a:rPr lang="en-US" altLang="zh-CN" sz="2600" b="1" baseline="-25000"/>
              <a:t>2</a:t>
            </a:r>
            <a:r>
              <a:rPr lang="en-US" altLang="zh-CN" sz="2600" b="1">
                <a:ea typeface="楷体_GB2312" panose="02010609030101010101" pitchFamily="49" charset="-122"/>
              </a:rPr>
              <a:t>+…+</a:t>
            </a:r>
            <a:r>
              <a:rPr lang="en-US" altLang="zh-CN" sz="2600" b="1" i="1"/>
              <a:t>X</a:t>
            </a:r>
            <a:r>
              <a:rPr lang="en-US" altLang="zh-CN" sz="2600" b="1" baseline="-25000"/>
              <a:t>200</a:t>
            </a:r>
            <a:r>
              <a:rPr lang="zh-CN" altLang="en-US" sz="2600" b="1"/>
              <a:t>，</a:t>
            </a:r>
            <a:r>
              <a:rPr lang="zh-CN" altLang="en-US" sz="2600" b="1">
                <a:ea typeface="楷体_GB2312" panose="02010609030101010101" pitchFamily="49" charset="-122"/>
              </a:rPr>
              <a:t>则 </a:t>
            </a:r>
            <a:r>
              <a:rPr lang="en-US" altLang="zh-CN" sz="2600" b="1" i="1"/>
              <a:t>E</a:t>
            </a:r>
            <a:r>
              <a:rPr lang="en-US" altLang="zh-CN" sz="2600" b="1"/>
              <a:t>(</a:t>
            </a:r>
            <a:r>
              <a:rPr lang="en-US" altLang="zh-CN" sz="2600" b="1" i="1"/>
              <a:t>Y</a:t>
            </a:r>
            <a:r>
              <a:rPr lang="en-US" altLang="zh-CN" sz="2600" b="1"/>
              <a:t>)=140</a:t>
            </a:r>
            <a:r>
              <a:rPr lang="zh-CN" altLang="en-US" sz="2600" b="1"/>
              <a:t>，</a:t>
            </a:r>
            <a:r>
              <a:rPr lang="en-US" altLang="zh-CN" sz="2600" b="1"/>
              <a:t>Var(</a:t>
            </a:r>
            <a:r>
              <a:rPr lang="en-US" altLang="zh-CN" sz="2600" b="1" i="1"/>
              <a:t>Y</a:t>
            </a:r>
            <a:r>
              <a:rPr lang="en-US" altLang="zh-CN" sz="2600" b="1"/>
              <a:t>)=42.</a:t>
            </a:r>
            <a:endParaRPr lang="en-US" altLang="zh-CN" sz="2600" b="1"/>
          </a:p>
        </p:txBody>
      </p:sp>
      <p:graphicFrame>
        <p:nvGraphicFramePr>
          <p:cNvPr id="1058824" name="Object 8"/>
          <p:cNvGraphicFramePr>
            <a:graphicFrameLocks noChangeAspect="1"/>
          </p:cNvGraphicFramePr>
          <p:nvPr/>
        </p:nvGraphicFramePr>
        <p:xfrm>
          <a:off x="4175125" y="4638676"/>
          <a:ext cx="4605338" cy="1052513"/>
        </p:xfrm>
        <a:graphic>
          <a:graphicData uri="http://schemas.openxmlformats.org/presentationml/2006/ole">
            <mc:AlternateContent xmlns:mc="http://schemas.openxmlformats.org/markup-compatibility/2006">
              <mc:Choice xmlns:v="urn:schemas-microsoft-com:vml" Requires="v">
                <p:oleObj spid="_x0000_s2" name="Equation" r:id="rId1" imgW="50596800" imgH="10363200" progId="Equation.DSMT4">
                  <p:embed/>
                </p:oleObj>
              </mc:Choice>
              <mc:Fallback>
                <p:oleObj name="Equation" r:id="rId1" imgW="50596800" imgH="10363200" progId="Equation.DSMT4">
                  <p:embed/>
                  <p:pic>
                    <p:nvPicPr>
                      <p:cNvPr id="0" name="Object 8"/>
                      <p:cNvPicPr>
                        <a:picLocks noChangeAspect="1" noChangeArrowheads="1"/>
                      </p:cNvPicPr>
                      <p:nvPr/>
                    </p:nvPicPr>
                    <p:blipFill>
                      <a:blip r:embed="rId2"/>
                      <a:srcRect/>
                      <a:stretch>
                        <a:fillRect/>
                      </a:stretch>
                    </p:blipFill>
                    <p:spPr bwMode="auto">
                      <a:xfrm>
                        <a:off x="4175125" y="4638676"/>
                        <a:ext cx="4605338" cy="1052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8825" name="Object 9"/>
          <p:cNvGraphicFramePr>
            <a:graphicFrameLocks noChangeAspect="1"/>
          </p:cNvGraphicFramePr>
          <p:nvPr/>
        </p:nvGraphicFramePr>
        <p:xfrm>
          <a:off x="4094164" y="5516563"/>
          <a:ext cx="1360487" cy="495300"/>
        </p:xfrm>
        <a:graphic>
          <a:graphicData uri="http://schemas.openxmlformats.org/presentationml/2006/ole">
            <mc:AlternateContent xmlns:mc="http://schemas.openxmlformats.org/markup-compatibility/2006">
              <mc:Choice xmlns:v="urn:schemas-microsoft-com:vml" Requires="v">
                <p:oleObj spid="_x0000_s3" name="Equation" r:id="rId3" imgW="14935200" imgH="4876800" progId="Equation.DSMT4">
                  <p:embed/>
                </p:oleObj>
              </mc:Choice>
              <mc:Fallback>
                <p:oleObj name="Equation" r:id="rId3" imgW="14935200" imgH="4876800" progId="Equation.DSMT4">
                  <p:embed/>
                  <p:pic>
                    <p:nvPicPr>
                      <p:cNvPr id="0" name="Object 9"/>
                      <p:cNvPicPr>
                        <a:picLocks noChangeAspect="1" noChangeArrowheads="1"/>
                      </p:cNvPicPr>
                      <p:nvPr/>
                    </p:nvPicPr>
                    <p:blipFill>
                      <a:blip r:embed="rId4"/>
                      <a:srcRect/>
                      <a:stretch>
                        <a:fillRect/>
                      </a:stretch>
                    </p:blipFill>
                    <p:spPr bwMode="auto">
                      <a:xfrm>
                        <a:off x="4094164" y="5516563"/>
                        <a:ext cx="1360487"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8826" name="Text Box 10"/>
          <p:cNvSpPr txBox="1">
            <a:spLocks noChangeArrowheads="1"/>
          </p:cNvSpPr>
          <p:nvPr/>
        </p:nvSpPr>
        <p:spPr bwMode="auto">
          <a:xfrm>
            <a:off x="2855913" y="5516563"/>
            <a:ext cx="1511300"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600" b="1">
                <a:ea typeface="楷体_GB2312" panose="02010609030101010101" pitchFamily="49" charset="-122"/>
              </a:rPr>
              <a:t>中解得</a:t>
            </a:r>
            <a:endParaRPr lang="zh-CN" altLang="en-US" sz="2600" b="1">
              <a:ea typeface="楷体_GB2312" panose="0201060903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58818"/>
                                        </p:tgtEl>
                                        <p:attrNameLst>
                                          <p:attrName>style.visibility</p:attrName>
                                        </p:attrNameLst>
                                      </p:cBhvr>
                                      <p:to>
                                        <p:strVal val="visible"/>
                                      </p:to>
                                    </p:set>
                                    <p:animEffect transition="in" filter="wipe(left)">
                                      <p:cBhvr>
                                        <p:cTn id="7" dur="500"/>
                                        <p:tgtEl>
                                          <p:spTgt spid="10588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58819">
                                            <p:txEl>
                                              <p:pRg st="4294967295" end="4294967295"/>
                                            </p:txEl>
                                          </p:spTgt>
                                        </p:tgtEl>
                                        <p:attrNameLst>
                                          <p:attrName>style.visibility</p:attrName>
                                        </p:attrNameLst>
                                      </p:cBhvr>
                                      <p:to>
                                        <p:strVal val="visible"/>
                                      </p:to>
                                    </p:set>
                                    <p:animEffect transition="in" filter="wipe(up)">
                                      <p:cBhvr>
                                        <p:cTn id="12" dur="500"/>
                                        <p:tgtEl>
                                          <p:spTgt spid="1058819">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58819">
                                            <p:txEl>
                                              <p:pRg st="0" end="0"/>
                                            </p:txEl>
                                          </p:spTgt>
                                        </p:tgtEl>
                                        <p:attrNameLst>
                                          <p:attrName>style.visibility</p:attrName>
                                        </p:attrNameLst>
                                      </p:cBhvr>
                                      <p:to>
                                        <p:strVal val="visible"/>
                                      </p:to>
                                    </p:set>
                                    <p:animEffect transition="in" filter="wipe(up)">
                                      <p:cBhvr>
                                        <p:cTn id="17" dur="500"/>
                                        <p:tgtEl>
                                          <p:spTgt spid="105881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58819">
                                            <p:txEl>
                                              <p:pRg st="1" end="1"/>
                                            </p:txEl>
                                          </p:spTgt>
                                        </p:tgtEl>
                                        <p:attrNameLst>
                                          <p:attrName>style.visibility</p:attrName>
                                        </p:attrNameLst>
                                      </p:cBhvr>
                                      <p:to>
                                        <p:strVal val="visible"/>
                                      </p:to>
                                    </p:set>
                                    <p:animEffect transition="in" filter="wipe(up)">
                                      <p:cBhvr>
                                        <p:cTn id="22" dur="500"/>
                                        <p:tgtEl>
                                          <p:spTgt spid="105881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58819">
                                            <p:txEl>
                                              <p:pRg st="2" end="2"/>
                                            </p:txEl>
                                          </p:spTgt>
                                        </p:tgtEl>
                                        <p:attrNameLst>
                                          <p:attrName>style.visibility</p:attrName>
                                        </p:attrNameLst>
                                      </p:cBhvr>
                                      <p:to>
                                        <p:strVal val="visible"/>
                                      </p:to>
                                    </p:set>
                                    <p:animEffect transition="in" filter="wipe(up)">
                                      <p:cBhvr>
                                        <p:cTn id="27" dur="500"/>
                                        <p:tgtEl>
                                          <p:spTgt spid="1058819">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1058820"/>
                                        </p:tgtEl>
                                        <p:attrNameLst>
                                          <p:attrName>style.visibility</p:attrName>
                                        </p:attrNameLst>
                                      </p:cBhvr>
                                      <p:to>
                                        <p:strVal val="visible"/>
                                      </p:to>
                                    </p:set>
                                    <p:anim calcmode="lin" valueType="num">
                                      <p:cBhvr additive="base">
                                        <p:cTn id="32" dur="500" fill="hold"/>
                                        <p:tgtEl>
                                          <p:spTgt spid="1058820"/>
                                        </p:tgtEl>
                                        <p:attrNameLst>
                                          <p:attrName>ppt_x</p:attrName>
                                        </p:attrNameLst>
                                      </p:cBhvr>
                                      <p:tavLst>
                                        <p:tav tm="0">
                                          <p:val>
                                            <p:strVal val="0-#ppt_w/2"/>
                                          </p:val>
                                        </p:tav>
                                        <p:tav tm="100000">
                                          <p:val>
                                            <p:strVal val="#ppt_x"/>
                                          </p:val>
                                        </p:tav>
                                      </p:tavLst>
                                    </p:anim>
                                    <p:anim calcmode="lin" valueType="num">
                                      <p:cBhvr additive="base">
                                        <p:cTn id="33" dur="500" fill="hold"/>
                                        <p:tgtEl>
                                          <p:spTgt spid="1058820"/>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1058822"/>
                                        </p:tgtEl>
                                        <p:attrNameLst>
                                          <p:attrName>style.visibility</p:attrName>
                                        </p:attrNameLst>
                                      </p:cBhvr>
                                      <p:to>
                                        <p:strVal val="visible"/>
                                      </p:to>
                                    </p:set>
                                    <p:anim calcmode="lin" valueType="num">
                                      <p:cBhvr additive="base">
                                        <p:cTn id="38" dur="500" fill="hold"/>
                                        <p:tgtEl>
                                          <p:spTgt spid="1058822"/>
                                        </p:tgtEl>
                                        <p:attrNameLst>
                                          <p:attrName>ppt_x</p:attrName>
                                        </p:attrNameLst>
                                      </p:cBhvr>
                                      <p:tavLst>
                                        <p:tav tm="0">
                                          <p:val>
                                            <p:strVal val="1+#ppt_w/2"/>
                                          </p:val>
                                        </p:tav>
                                        <p:tav tm="100000">
                                          <p:val>
                                            <p:strVal val="#ppt_x"/>
                                          </p:val>
                                        </p:tav>
                                      </p:tavLst>
                                    </p:anim>
                                    <p:anim calcmode="lin" valueType="num">
                                      <p:cBhvr additive="base">
                                        <p:cTn id="39" dur="500" fill="hold"/>
                                        <p:tgtEl>
                                          <p:spTgt spid="1058822"/>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058823"/>
                                        </p:tgtEl>
                                        <p:attrNameLst>
                                          <p:attrName>style.visibility</p:attrName>
                                        </p:attrNameLst>
                                      </p:cBhvr>
                                      <p:to>
                                        <p:strVal val="visible"/>
                                      </p:to>
                                    </p:set>
                                    <p:anim calcmode="lin" valueType="num">
                                      <p:cBhvr additive="base">
                                        <p:cTn id="44" dur="500" fill="hold"/>
                                        <p:tgtEl>
                                          <p:spTgt spid="1058823"/>
                                        </p:tgtEl>
                                        <p:attrNameLst>
                                          <p:attrName>ppt_x</p:attrName>
                                        </p:attrNameLst>
                                      </p:cBhvr>
                                      <p:tavLst>
                                        <p:tav tm="0">
                                          <p:val>
                                            <p:strVal val="0-#ppt_w/2"/>
                                          </p:val>
                                        </p:tav>
                                        <p:tav tm="100000">
                                          <p:val>
                                            <p:strVal val="#ppt_x"/>
                                          </p:val>
                                        </p:tav>
                                      </p:tavLst>
                                    </p:anim>
                                    <p:anim calcmode="lin" valueType="num">
                                      <p:cBhvr additive="base">
                                        <p:cTn id="45" dur="500" fill="hold"/>
                                        <p:tgtEl>
                                          <p:spTgt spid="1058823"/>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1058821"/>
                                        </p:tgtEl>
                                        <p:attrNameLst>
                                          <p:attrName>style.visibility</p:attrName>
                                        </p:attrNameLst>
                                      </p:cBhvr>
                                      <p:to>
                                        <p:strVal val="visible"/>
                                      </p:to>
                                    </p:set>
                                    <p:anim calcmode="lin" valueType="num">
                                      <p:cBhvr additive="base">
                                        <p:cTn id="50" dur="500" fill="hold"/>
                                        <p:tgtEl>
                                          <p:spTgt spid="1058821"/>
                                        </p:tgtEl>
                                        <p:attrNameLst>
                                          <p:attrName>ppt_x</p:attrName>
                                        </p:attrNameLst>
                                      </p:cBhvr>
                                      <p:tavLst>
                                        <p:tav tm="0">
                                          <p:val>
                                            <p:strVal val="0-#ppt_w/2"/>
                                          </p:val>
                                        </p:tav>
                                        <p:tav tm="100000">
                                          <p:val>
                                            <p:strVal val="#ppt_x"/>
                                          </p:val>
                                        </p:tav>
                                      </p:tavLst>
                                    </p:anim>
                                    <p:anim calcmode="lin" valueType="num">
                                      <p:cBhvr additive="base">
                                        <p:cTn id="51" dur="500" fill="hold"/>
                                        <p:tgtEl>
                                          <p:spTgt spid="1058821"/>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1058824"/>
                                        </p:tgtEl>
                                        <p:attrNameLst>
                                          <p:attrName>style.visibility</p:attrName>
                                        </p:attrNameLst>
                                      </p:cBhvr>
                                      <p:to>
                                        <p:strVal val="visible"/>
                                      </p:to>
                                    </p:set>
                                    <p:anim calcmode="lin" valueType="num">
                                      <p:cBhvr additive="base">
                                        <p:cTn id="56" dur="500" fill="hold"/>
                                        <p:tgtEl>
                                          <p:spTgt spid="1058824"/>
                                        </p:tgtEl>
                                        <p:attrNameLst>
                                          <p:attrName>ppt_x</p:attrName>
                                        </p:attrNameLst>
                                      </p:cBhvr>
                                      <p:tavLst>
                                        <p:tav tm="0">
                                          <p:val>
                                            <p:strVal val="#ppt_x"/>
                                          </p:val>
                                        </p:tav>
                                        <p:tav tm="100000">
                                          <p:val>
                                            <p:strVal val="#ppt_x"/>
                                          </p:val>
                                        </p:tav>
                                      </p:tavLst>
                                    </p:anim>
                                    <p:anim calcmode="lin" valueType="num">
                                      <p:cBhvr additive="base">
                                        <p:cTn id="57" dur="500" fill="hold"/>
                                        <p:tgtEl>
                                          <p:spTgt spid="1058824"/>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grpId="0" nodeType="clickEffect">
                                  <p:stCondLst>
                                    <p:cond delay="0"/>
                                  </p:stCondLst>
                                  <p:childTnLst>
                                    <p:set>
                                      <p:cBhvr>
                                        <p:cTn id="61" dur="1" fill="hold">
                                          <p:stCondLst>
                                            <p:cond delay="0"/>
                                          </p:stCondLst>
                                        </p:cTn>
                                        <p:tgtEl>
                                          <p:spTgt spid="1058826"/>
                                        </p:tgtEl>
                                        <p:attrNameLst>
                                          <p:attrName>style.visibility</p:attrName>
                                        </p:attrNameLst>
                                      </p:cBhvr>
                                      <p:to>
                                        <p:strVal val="visible"/>
                                      </p:to>
                                    </p:set>
                                    <p:anim calcmode="lin" valueType="num">
                                      <p:cBhvr additive="base">
                                        <p:cTn id="62" dur="500" fill="hold"/>
                                        <p:tgtEl>
                                          <p:spTgt spid="1058826"/>
                                        </p:tgtEl>
                                        <p:attrNameLst>
                                          <p:attrName>ppt_x</p:attrName>
                                        </p:attrNameLst>
                                      </p:cBhvr>
                                      <p:tavLst>
                                        <p:tav tm="0">
                                          <p:val>
                                            <p:strVal val="0-#ppt_w/2"/>
                                          </p:val>
                                        </p:tav>
                                        <p:tav tm="100000">
                                          <p:val>
                                            <p:strVal val="#ppt_x"/>
                                          </p:val>
                                        </p:tav>
                                      </p:tavLst>
                                    </p:anim>
                                    <p:anim calcmode="lin" valueType="num">
                                      <p:cBhvr additive="base">
                                        <p:cTn id="63" dur="500" fill="hold"/>
                                        <p:tgtEl>
                                          <p:spTgt spid="1058826"/>
                                        </p:tgtEl>
                                        <p:attrNameLst>
                                          <p:attrName>ppt_y</p:attrName>
                                        </p:attrNameLst>
                                      </p:cBhvr>
                                      <p:tavLst>
                                        <p:tav tm="0">
                                          <p:val>
                                            <p:strVal val="#ppt_y"/>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5" presetClass="entr" presetSubtype="10" fill="hold" nodeType="clickEffect">
                                  <p:stCondLst>
                                    <p:cond delay="0"/>
                                  </p:stCondLst>
                                  <p:childTnLst>
                                    <p:set>
                                      <p:cBhvr>
                                        <p:cTn id="67" dur="1" fill="hold">
                                          <p:stCondLst>
                                            <p:cond delay="0"/>
                                          </p:stCondLst>
                                        </p:cTn>
                                        <p:tgtEl>
                                          <p:spTgt spid="1058825"/>
                                        </p:tgtEl>
                                        <p:attrNameLst>
                                          <p:attrName>style.visibility</p:attrName>
                                        </p:attrNameLst>
                                      </p:cBhvr>
                                      <p:to>
                                        <p:strVal val="visible"/>
                                      </p:to>
                                    </p:set>
                                    <p:animEffect transition="in" filter="checkerboard(across)">
                                      <p:cBhvr>
                                        <p:cTn id="68" dur="500"/>
                                        <p:tgtEl>
                                          <p:spTgt spid="1058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8818" grpId="0" animBg="1" autoUpdateAnimBg="0"/>
      <p:bldP spid="1058819" grpId="0" autoUpdateAnimBg="0" build="p"/>
      <p:bldP spid="1058820" grpId="0" bldLvl="0" animBg="1" autoUpdateAnimBg="0"/>
      <p:bldP spid="1058821" grpId="0" bldLvl="0" animBg="1" autoUpdateAnimBg="0"/>
      <p:bldP spid="1058822" grpId="0" bldLvl="0" animBg="1" autoUpdateAnimBg="0"/>
      <p:bldP spid="1058823" grpId="0" bldLvl="0" animBg="1" autoUpdateAnimBg="0"/>
      <p:bldP spid="1058826" grpId="0" bldLvl="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0866" name="Rectangle 2"/>
          <p:cNvSpPr>
            <a:spLocks noGrp="1" noChangeArrowheads="1"/>
          </p:cNvSpPr>
          <p:nvPr>
            <p:ph type="title"/>
          </p:nvPr>
        </p:nvSpPr>
        <p:spPr bwMode="auto">
          <a:xfrm>
            <a:off x="3333751" y="465139"/>
            <a:ext cx="6086475" cy="636587"/>
          </a:xfrm>
          <a:noFill/>
          <a:ln w="38100">
            <a:solidFill>
              <a:srgbClr val="FF0000"/>
            </a:solidFill>
            <a:miter lim="800000"/>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normAutofit fontScale="90000"/>
          </a:bodyPr>
          <a:lstStyle/>
          <a:p>
            <a:pPr>
              <a:spcAft>
                <a:spcPts val="0"/>
              </a:spcAft>
            </a:pPr>
            <a:r>
              <a:rPr lang="zh-CN" altLang="en-US" sz="3700" b="1" dirty="0">
                <a:solidFill>
                  <a:srgbClr val="FF0000"/>
                </a:solidFill>
                <a:ea typeface="楷体_GB2312" panose="02010609030101010101" pitchFamily="49" charset="-122"/>
              </a:rPr>
              <a:t>三、给定 </a:t>
            </a:r>
            <a:r>
              <a:rPr lang="en-US" altLang="zh-CN" sz="3700" b="1" i="1" dirty="0">
                <a:solidFill>
                  <a:srgbClr val="FF0000"/>
                </a:solidFill>
                <a:ea typeface="楷体_GB2312" panose="02010609030101010101" pitchFamily="49" charset="-122"/>
              </a:rPr>
              <a:t>y</a:t>
            </a:r>
            <a:r>
              <a:rPr lang="en-US" altLang="zh-CN" sz="3700" b="1" dirty="0">
                <a:solidFill>
                  <a:srgbClr val="FF0000"/>
                </a:solidFill>
                <a:ea typeface="楷体_GB2312" panose="02010609030101010101" pitchFamily="49" charset="-122"/>
              </a:rPr>
              <a:t> </a:t>
            </a:r>
            <a:r>
              <a:rPr lang="zh-CN" altLang="en-US" sz="3700" b="1" dirty="0">
                <a:solidFill>
                  <a:srgbClr val="FF0000"/>
                </a:solidFill>
                <a:ea typeface="楷体_GB2312" panose="02010609030101010101" pitchFamily="49" charset="-122"/>
              </a:rPr>
              <a:t>和概率，求 </a:t>
            </a:r>
            <a:r>
              <a:rPr lang="en-US" altLang="zh-CN" sz="3700" b="1" i="1" dirty="0">
                <a:solidFill>
                  <a:srgbClr val="FF0000"/>
                </a:solidFill>
                <a:ea typeface="楷体_GB2312" panose="02010609030101010101" pitchFamily="49" charset="-122"/>
              </a:rPr>
              <a:t>n</a:t>
            </a:r>
            <a:endParaRPr lang="en-US" altLang="zh-CN" sz="3700" b="1" i="1" dirty="0">
              <a:solidFill>
                <a:srgbClr val="FF0000"/>
              </a:solidFill>
              <a:ea typeface="楷体_GB2312" panose="02010609030101010101" pitchFamily="49" charset="-122"/>
            </a:endParaRPr>
          </a:p>
        </p:txBody>
      </p:sp>
      <p:sp>
        <p:nvSpPr>
          <p:cNvPr id="1060867" name="Text Box 3"/>
          <p:cNvSpPr txBox="1">
            <a:spLocks noChangeArrowheads="1"/>
          </p:cNvSpPr>
          <p:nvPr/>
        </p:nvSpPr>
        <p:spPr bwMode="auto">
          <a:xfrm>
            <a:off x="2063750" y="1700213"/>
            <a:ext cx="8077200" cy="1322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Aft>
                <a:spcPts val="0"/>
              </a:spcAft>
            </a:pPr>
            <a:r>
              <a:rPr lang="zh-CN" altLang="en-US" sz="2800" b="1" dirty="0">
                <a:solidFill>
                  <a:srgbClr val="FF0000"/>
                </a:solidFill>
                <a:ea typeface="楷体_GB2312" panose="02010609030101010101" pitchFamily="49" charset="-122"/>
              </a:rPr>
              <a:t>例</a:t>
            </a:r>
            <a:r>
              <a:rPr lang="zh-CN" altLang="en-US" sz="2800" b="1" dirty="0">
                <a:solidFill>
                  <a:srgbClr val="00FF00"/>
                </a:solidFill>
                <a:ea typeface="楷体_GB2312" panose="02010609030101010101" pitchFamily="49" charset="-122"/>
              </a:rPr>
              <a:t>     </a:t>
            </a:r>
            <a:r>
              <a:rPr lang="zh-CN" altLang="en-US" sz="2600" b="1" dirty="0">
                <a:ea typeface="楷体_GB2312" panose="02010609030101010101" pitchFamily="49" charset="-122"/>
              </a:rPr>
              <a:t>用调查对象中的收看比例 </a:t>
            </a:r>
            <a:r>
              <a:rPr lang="en-US" altLang="zh-CN" sz="2600" b="1" i="1" dirty="0">
                <a:ea typeface="楷体_GB2312" panose="02010609030101010101" pitchFamily="49" charset="-122"/>
              </a:rPr>
              <a:t>k</a:t>
            </a:r>
            <a:r>
              <a:rPr lang="en-US" altLang="zh-CN" sz="2600" b="1" dirty="0">
                <a:ea typeface="楷体_GB2312" panose="02010609030101010101" pitchFamily="49" charset="-122"/>
              </a:rPr>
              <a:t>/</a:t>
            </a:r>
            <a:r>
              <a:rPr lang="en-US" altLang="zh-CN" sz="2600" b="1" i="1" dirty="0">
                <a:ea typeface="楷体_GB2312" panose="02010609030101010101" pitchFamily="49" charset="-122"/>
              </a:rPr>
              <a:t>n </a:t>
            </a:r>
            <a:r>
              <a:rPr lang="zh-CN" altLang="en-US" sz="2600" b="1" dirty="0">
                <a:ea typeface="楷体_GB2312" panose="02010609030101010101" pitchFamily="49" charset="-122"/>
              </a:rPr>
              <a:t>作为某电视节</a:t>
            </a:r>
            <a:endParaRPr lang="zh-CN" altLang="en-US" sz="2600" b="1" dirty="0">
              <a:ea typeface="楷体_GB2312" panose="02010609030101010101" pitchFamily="49" charset="-122"/>
            </a:endParaRPr>
          </a:p>
          <a:p>
            <a:pPr>
              <a:spcBef>
                <a:spcPts val="0"/>
              </a:spcBef>
              <a:spcAft>
                <a:spcPts val="0"/>
              </a:spcAft>
            </a:pPr>
            <a:r>
              <a:rPr lang="zh-CN" altLang="en-US" sz="2600" b="1" dirty="0">
                <a:ea typeface="楷体_GB2312" panose="02010609030101010101" pitchFamily="49" charset="-122"/>
              </a:rPr>
              <a:t>    目的收视率 </a:t>
            </a:r>
            <a:r>
              <a:rPr lang="en-US" altLang="zh-CN" sz="2600" b="1" i="1" dirty="0">
                <a:ea typeface="楷体_GB2312" panose="02010609030101010101" pitchFamily="49" charset="-122"/>
              </a:rPr>
              <a:t>p </a:t>
            </a:r>
            <a:r>
              <a:rPr lang="zh-CN" altLang="en-US" sz="2600" b="1" dirty="0">
                <a:ea typeface="楷体_GB2312" panose="02010609030101010101" pitchFamily="49" charset="-122"/>
              </a:rPr>
              <a:t>的估计。 要有 </a:t>
            </a:r>
            <a:r>
              <a:rPr lang="en-US" altLang="zh-CN" sz="2600" b="1" dirty="0">
                <a:ea typeface="楷体_GB2312" panose="02010609030101010101" pitchFamily="49" charset="-122"/>
              </a:rPr>
              <a:t>90</a:t>
            </a:r>
            <a:r>
              <a:rPr lang="zh-CN" altLang="en-US" sz="2600" b="1" dirty="0">
                <a:ea typeface="楷体_GB2312" panose="02010609030101010101" pitchFamily="49" charset="-122"/>
              </a:rPr>
              <a:t>％ 的把握，使</a:t>
            </a:r>
            <a:r>
              <a:rPr lang="en-US" altLang="zh-CN" sz="2600" b="1" i="1" dirty="0"/>
              <a:t>k</a:t>
            </a:r>
            <a:r>
              <a:rPr lang="en-US" altLang="zh-CN" sz="2600" b="1" dirty="0"/>
              <a:t>/</a:t>
            </a:r>
            <a:r>
              <a:rPr lang="en-US" altLang="zh-CN" sz="2600" b="1" i="1" dirty="0"/>
              <a:t>n</a:t>
            </a:r>
            <a:r>
              <a:rPr lang="zh-CN" altLang="en-US" sz="2600" b="1" dirty="0">
                <a:ea typeface="楷体_GB2312" panose="02010609030101010101" pitchFamily="49" charset="-122"/>
              </a:rPr>
              <a:t>与</a:t>
            </a:r>
            <a:r>
              <a:rPr lang="en-US" altLang="zh-CN" sz="2600" b="1" i="1" dirty="0"/>
              <a:t>p </a:t>
            </a:r>
            <a:endParaRPr lang="en-US" altLang="zh-CN" sz="2600" b="1" i="1" dirty="0"/>
          </a:p>
          <a:p>
            <a:pPr>
              <a:spcBef>
                <a:spcPts val="0"/>
              </a:spcBef>
            </a:pPr>
            <a:r>
              <a:rPr lang="en-US" altLang="zh-CN" sz="2600" b="1" i="1" dirty="0"/>
              <a:t>    </a:t>
            </a:r>
            <a:r>
              <a:rPr lang="zh-CN" altLang="en-US" sz="2600" b="1" dirty="0">
                <a:ea typeface="楷体_GB2312" panose="02010609030101010101" pitchFamily="49" charset="-122"/>
              </a:rPr>
              <a:t>的差异不大于</a:t>
            </a:r>
            <a:r>
              <a:rPr lang="en-US" altLang="zh-CN" sz="2600" b="1" dirty="0">
                <a:ea typeface="楷体_GB2312" panose="02010609030101010101" pitchFamily="49" charset="-122"/>
              </a:rPr>
              <a:t>0.05</a:t>
            </a:r>
            <a:r>
              <a:rPr lang="zh-CN" altLang="en-US" sz="2600" b="1" dirty="0">
                <a:ea typeface="楷体_GB2312" panose="02010609030101010101" pitchFamily="49" charset="-122"/>
              </a:rPr>
              <a:t>，问至少要调查多少对象？</a:t>
            </a:r>
            <a:endParaRPr lang="zh-CN" altLang="en-US" sz="2600" b="1" dirty="0">
              <a:ea typeface="楷体_GB2312" panose="02010609030101010101" pitchFamily="49" charset="-122"/>
            </a:endParaRPr>
          </a:p>
        </p:txBody>
      </p:sp>
      <p:sp>
        <p:nvSpPr>
          <p:cNvPr id="1060868" name="Text Box 4"/>
          <p:cNvSpPr txBox="1">
            <a:spLocks noChangeArrowheads="1"/>
          </p:cNvSpPr>
          <p:nvPr/>
        </p:nvSpPr>
        <p:spPr bwMode="auto">
          <a:xfrm>
            <a:off x="1992313" y="3357563"/>
            <a:ext cx="143986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800" b="1" dirty="0">
                <a:solidFill>
                  <a:srgbClr val="FF0000"/>
                </a:solidFill>
                <a:ea typeface="楷体_GB2312" panose="02010609030101010101" pitchFamily="49" charset="-122"/>
              </a:rPr>
              <a:t>解：</a:t>
            </a:r>
            <a:r>
              <a:rPr lang="zh-CN" altLang="en-US" sz="2600" b="1" dirty="0">
                <a:ea typeface="楷体_GB2312" panose="02010609030101010101" pitchFamily="49" charset="-122"/>
              </a:rPr>
              <a:t>用</a:t>
            </a:r>
            <a:endParaRPr lang="zh-CN" altLang="en-US" sz="2600" b="1" dirty="0">
              <a:ea typeface="楷体_GB2312" panose="02010609030101010101" pitchFamily="49" charset="-122"/>
            </a:endParaRPr>
          </a:p>
        </p:txBody>
      </p:sp>
      <p:sp>
        <p:nvSpPr>
          <p:cNvPr id="1060869" name="Text Box 5"/>
          <p:cNvSpPr txBox="1">
            <a:spLocks noChangeArrowheads="1"/>
          </p:cNvSpPr>
          <p:nvPr/>
        </p:nvSpPr>
        <p:spPr bwMode="auto">
          <a:xfrm>
            <a:off x="8616950" y="3789363"/>
            <a:ext cx="1727200"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600" b="1">
                <a:ea typeface="楷体_GB2312" panose="02010609030101010101" pitchFamily="49" charset="-122"/>
              </a:rPr>
              <a:t>根据题意</a:t>
            </a:r>
            <a:endParaRPr lang="zh-CN" altLang="en-US" sz="2600" b="1">
              <a:ea typeface="楷体_GB2312" panose="02010609030101010101" pitchFamily="49" charset="-122"/>
            </a:endParaRPr>
          </a:p>
        </p:txBody>
      </p:sp>
      <p:sp>
        <p:nvSpPr>
          <p:cNvPr id="1060870" name="Text Box 6"/>
          <p:cNvSpPr txBox="1">
            <a:spLocks noChangeArrowheads="1"/>
          </p:cNvSpPr>
          <p:nvPr/>
        </p:nvSpPr>
        <p:spPr bwMode="auto">
          <a:xfrm>
            <a:off x="3179764" y="3357564"/>
            <a:ext cx="7164387" cy="5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spcAft>
                <a:spcPts val="0"/>
              </a:spcAft>
            </a:pPr>
            <a:r>
              <a:rPr lang="en-US" altLang="zh-CN" sz="2600" b="1" i="1">
                <a:ea typeface="楷体_GB2312" panose="02010609030101010101" pitchFamily="49" charset="-122"/>
              </a:rPr>
              <a:t>Y</a:t>
            </a:r>
            <a:r>
              <a:rPr lang="en-US" altLang="zh-CN" sz="2600" b="1" i="1" baseline="-25000">
                <a:ea typeface="楷体_GB2312" panose="02010609030101010101" pitchFamily="49" charset="-122"/>
              </a:rPr>
              <a:t>n</a:t>
            </a:r>
            <a:r>
              <a:rPr lang="zh-CN" altLang="en-US" sz="2600" b="1">
                <a:ea typeface="楷体_GB2312" panose="02010609030101010101" pitchFamily="49" charset="-122"/>
              </a:rPr>
              <a:t>表示</a:t>
            </a:r>
            <a:r>
              <a:rPr lang="en-US" altLang="zh-CN" sz="2600" b="1" i="1">
                <a:ea typeface="楷体_GB2312" panose="02010609030101010101" pitchFamily="49" charset="-122"/>
              </a:rPr>
              <a:t>n</a:t>
            </a:r>
            <a:r>
              <a:rPr lang="en-US" altLang="zh-CN" sz="2600" b="1">
                <a:ea typeface="楷体_GB2312" panose="02010609030101010101" pitchFamily="49" charset="-122"/>
              </a:rPr>
              <a:t> </a:t>
            </a:r>
            <a:r>
              <a:rPr lang="zh-CN" altLang="en-US" sz="2600" b="1">
                <a:ea typeface="楷体_GB2312" panose="02010609030101010101" pitchFamily="49" charset="-122"/>
              </a:rPr>
              <a:t>个调查对象中收看此节目的人数，则</a:t>
            </a:r>
            <a:endParaRPr lang="zh-CN" altLang="en-US" sz="2600" b="1"/>
          </a:p>
        </p:txBody>
      </p:sp>
      <p:graphicFrame>
        <p:nvGraphicFramePr>
          <p:cNvPr id="1060871" name="Object 7"/>
          <p:cNvGraphicFramePr>
            <a:graphicFrameLocks noChangeAspect="1"/>
          </p:cNvGraphicFramePr>
          <p:nvPr/>
        </p:nvGraphicFramePr>
        <p:xfrm>
          <a:off x="3087688" y="4278313"/>
          <a:ext cx="6491287" cy="681037"/>
        </p:xfrm>
        <a:graphic>
          <a:graphicData uri="http://schemas.openxmlformats.org/presentationml/2006/ole">
            <mc:AlternateContent xmlns:mc="http://schemas.openxmlformats.org/markup-compatibility/2006">
              <mc:Choice xmlns:v="urn:schemas-microsoft-com:vml" Requires="v">
                <p:oleObj spid="_x0000_s2" name="Equation" r:id="rId1" imgW="71323200" imgH="6705600" progId="Equation.DSMT4">
                  <p:embed/>
                </p:oleObj>
              </mc:Choice>
              <mc:Fallback>
                <p:oleObj name="Equation" r:id="rId1" imgW="71323200" imgH="6705600" progId="Equation.DSMT4">
                  <p:embed/>
                  <p:pic>
                    <p:nvPicPr>
                      <p:cNvPr id="0" name="Object 7"/>
                      <p:cNvPicPr>
                        <a:picLocks noChangeAspect="1" noChangeArrowheads="1"/>
                      </p:cNvPicPr>
                      <p:nvPr/>
                    </p:nvPicPr>
                    <p:blipFill>
                      <a:blip r:embed="rId2"/>
                      <a:srcRect/>
                      <a:stretch>
                        <a:fillRect/>
                      </a:stretch>
                    </p:blipFill>
                    <p:spPr bwMode="auto">
                      <a:xfrm>
                        <a:off x="3087688" y="4278313"/>
                        <a:ext cx="6491287" cy="68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0872" name="Object 8"/>
          <p:cNvGraphicFramePr>
            <a:graphicFrameLocks noChangeAspect="1"/>
          </p:cNvGraphicFramePr>
          <p:nvPr/>
        </p:nvGraphicFramePr>
        <p:xfrm>
          <a:off x="4281488" y="4941888"/>
          <a:ext cx="3028950" cy="619125"/>
        </p:xfrm>
        <a:graphic>
          <a:graphicData uri="http://schemas.openxmlformats.org/presentationml/2006/ole">
            <mc:AlternateContent xmlns:mc="http://schemas.openxmlformats.org/markup-compatibility/2006">
              <mc:Choice xmlns:v="urn:schemas-microsoft-com:vml" Requires="v">
                <p:oleObj spid="_x0000_s3" name="Equation" r:id="rId3" imgW="33223200" imgH="6096000" progId="Equation.DSMT4">
                  <p:embed/>
                </p:oleObj>
              </mc:Choice>
              <mc:Fallback>
                <p:oleObj name="Equation" r:id="rId3" imgW="33223200" imgH="6096000" progId="Equation.DSMT4">
                  <p:embed/>
                  <p:pic>
                    <p:nvPicPr>
                      <p:cNvPr id="0" name="Object 8"/>
                      <p:cNvPicPr>
                        <a:picLocks noChangeAspect="1" noChangeArrowheads="1"/>
                      </p:cNvPicPr>
                      <p:nvPr/>
                    </p:nvPicPr>
                    <p:blipFill>
                      <a:blip r:embed="rId4"/>
                      <a:srcRect/>
                      <a:stretch>
                        <a:fillRect/>
                      </a:stretch>
                    </p:blipFill>
                    <p:spPr bwMode="auto">
                      <a:xfrm>
                        <a:off x="4281488" y="4941888"/>
                        <a:ext cx="3028950"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0873" name="Text Box 9"/>
          <p:cNvSpPr txBox="1">
            <a:spLocks noChangeArrowheads="1"/>
          </p:cNvSpPr>
          <p:nvPr/>
        </p:nvSpPr>
        <p:spPr bwMode="auto">
          <a:xfrm>
            <a:off x="2782888" y="5013325"/>
            <a:ext cx="1511300"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600" b="1">
                <a:ea typeface="楷体_GB2312" panose="02010609030101010101" pitchFamily="49" charset="-122"/>
              </a:rPr>
              <a:t>从中解得</a:t>
            </a:r>
            <a:endParaRPr lang="zh-CN" altLang="en-US" sz="2600" b="1">
              <a:ea typeface="楷体_GB2312" panose="02010609030101010101" pitchFamily="49" charset="-122"/>
            </a:endParaRPr>
          </a:p>
        </p:txBody>
      </p:sp>
      <p:sp>
        <p:nvSpPr>
          <p:cNvPr id="1060874" name="Text Box 10"/>
          <p:cNvSpPr txBox="1">
            <a:spLocks noChangeArrowheads="1"/>
          </p:cNvSpPr>
          <p:nvPr/>
        </p:nvSpPr>
        <p:spPr bwMode="auto">
          <a:xfrm>
            <a:off x="2782889" y="3789364"/>
            <a:ext cx="7488237" cy="5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spcAft>
                <a:spcPts val="0"/>
              </a:spcAft>
            </a:pPr>
            <a:r>
              <a:rPr lang="en-US" altLang="zh-CN" sz="2600" b="1" i="1">
                <a:ea typeface="楷体_GB2312" panose="02010609030101010101" pitchFamily="49" charset="-122"/>
              </a:rPr>
              <a:t>Y</a:t>
            </a:r>
            <a:r>
              <a:rPr lang="en-US" altLang="zh-CN" sz="2600" b="1" i="1" baseline="-25000">
                <a:ea typeface="楷体_GB2312" panose="02010609030101010101" pitchFamily="49" charset="-122"/>
              </a:rPr>
              <a:t>n </a:t>
            </a:r>
            <a:r>
              <a:rPr lang="zh-CN" altLang="en-US" sz="2600" b="1">
                <a:ea typeface="楷体_GB2312" panose="02010609030101010101" pitchFamily="49" charset="-122"/>
              </a:rPr>
              <a:t>服从 </a:t>
            </a:r>
            <a:r>
              <a:rPr lang="en-US" altLang="zh-CN" sz="2600" b="1" i="1">
                <a:ea typeface="楷体_GB2312" panose="02010609030101010101" pitchFamily="49" charset="-122"/>
              </a:rPr>
              <a:t>b</a:t>
            </a:r>
            <a:r>
              <a:rPr lang="en-US" altLang="zh-CN" sz="2600" b="1">
                <a:ea typeface="楷体_GB2312" panose="02010609030101010101" pitchFamily="49" charset="-122"/>
              </a:rPr>
              <a:t>(</a:t>
            </a:r>
            <a:r>
              <a:rPr lang="en-US" altLang="zh-CN" sz="2600" b="1" i="1">
                <a:ea typeface="楷体_GB2312" panose="02010609030101010101" pitchFamily="49" charset="-122"/>
              </a:rPr>
              <a:t>n, p</a:t>
            </a:r>
            <a:r>
              <a:rPr lang="en-US" altLang="zh-CN" sz="2600" b="1">
                <a:ea typeface="楷体_GB2312" panose="02010609030101010101" pitchFamily="49" charset="-122"/>
              </a:rPr>
              <a:t>) </a:t>
            </a:r>
            <a:r>
              <a:rPr lang="zh-CN" altLang="en-US" sz="2600" b="1">
                <a:ea typeface="楷体_GB2312" panose="02010609030101010101" pitchFamily="49" charset="-122"/>
              </a:rPr>
              <a:t>分布，</a:t>
            </a:r>
            <a:r>
              <a:rPr lang="en-US" altLang="zh-CN" sz="2600" b="1" i="1">
                <a:ea typeface="楷体_GB2312" panose="02010609030101010101" pitchFamily="49" charset="-122"/>
              </a:rPr>
              <a:t>k </a:t>
            </a:r>
            <a:r>
              <a:rPr lang="zh-CN" altLang="en-US" sz="2600" b="1">
                <a:ea typeface="楷体_GB2312" panose="02010609030101010101" pitchFamily="49" charset="-122"/>
              </a:rPr>
              <a:t>为</a:t>
            </a:r>
            <a:r>
              <a:rPr lang="en-US" altLang="zh-CN" sz="2600" b="1" i="1">
                <a:ea typeface="楷体_GB2312" panose="02010609030101010101" pitchFamily="49" charset="-122"/>
              </a:rPr>
              <a:t>Y</a:t>
            </a:r>
            <a:r>
              <a:rPr lang="en-US" altLang="zh-CN" sz="2600" b="1" i="1" baseline="-25000">
                <a:ea typeface="楷体_GB2312" panose="02010609030101010101" pitchFamily="49" charset="-122"/>
              </a:rPr>
              <a:t>n</a:t>
            </a:r>
            <a:r>
              <a:rPr lang="zh-CN" altLang="en-US" sz="2600" b="1">
                <a:ea typeface="楷体_GB2312" panose="02010609030101010101" pitchFamily="49" charset="-122"/>
              </a:rPr>
              <a:t>的实际取值。</a:t>
            </a:r>
            <a:endParaRPr lang="zh-CN" altLang="en-US" sz="2600" b="1"/>
          </a:p>
        </p:txBody>
      </p:sp>
      <p:sp>
        <p:nvSpPr>
          <p:cNvPr id="1060875" name="Text Box 11"/>
          <p:cNvSpPr txBox="1">
            <a:spLocks noChangeArrowheads="1"/>
          </p:cNvSpPr>
          <p:nvPr/>
        </p:nvSpPr>
        <p:spPr bwMode="auto">
          <a:xfrm>
            <a:off x="2782888" y="5516563"/>
            <a:ext cx="1008062"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600" b="1">
                <a:ea typeface="楷体_GB2312" panose="02010609030101010101" pitchFamily="49" charset="-122"/>
              </a:rPr>
              <a:t>又由</a:t>
            </a:r>
            <a:endParaRPr lang="zh-CN" altLang="en-US" sz="2600" b="1">
              <a:ea typeface="楷体_GB2312" panose="02010609030101010101" pitchFamily="49" charset="-122"/>
            </a:endParaRPr>
          </a:p>
        </p:txBody>
      </p:sp>
      <p:graphicFrame>
        <p:nvGraphicFramePr>
          <p:cNvPr id="1060876" name="Object 12"/>
          <p:cNvGraphicFramePr>
            <a:graphicFrameLocks noChangeAspect="1"/>
          </p:cNvGraphicFramePr>
          <p:nvPr/>
        </p:nvGraphicFramePr>
        <p:xfrm>
          <a:off x="3733800" y="5516563"/>
          <a:ext cx="1944688" cy="495300"/>
        </p:xfrm>
        <a:graphic>
          <a:graphicData uri="http://schemas.openxmlformats.org/presentationml/2006/ole">
            <mc:AlternateContent xmlns:mc="http://schemas.openxmlformats.org/markup-compatibility/2006">
              <mc:Choice xmlns:v="urn:schemas-microsoft-com:vml" Requires="v">
                <p:oleObj spid="_x0000_s4" name="Equation" r:id="rId5" imgW="21336000" imgH="4876800" progId="Equation.DSMT4">
                  <p:embed/>
                </p:oleObj>
              </mc:Choice>
              <mc:Fallback>
                <p:oleObj name="Equation" r:id="rId5" imgW="21336000" imgH="4876800" progId="Equation.DSMT4">
                  <p:embed/>
                  <p:pic>
                    <p:nvPicPr>
                      <p:cNvPr id="0" name="Object 12"/>
                      <p:cNvPicPr>
                        <a:picLocks noChangeAspect="1" noChangeArrowheads="1"/>
                      </p:cNvPicPr>
                      <p:nvPr/>
                    </p:nvPicPr>
                    <p:blipFill>
                      <a:blip r:embed="rId6"/>
                      <a:srcRect/>
                      <a:stretch>
                        <a:fillRect/>
                      </a:stretch>
                    </p:blipFill>
                    <p:spPr bwMode="auto">
                      <a:xfrm>
                        <a:off x="3733800" y="5516563"/>
                        <a:ext cx="1944688"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0877" name="Text Box 13"/>
          <p:cNvSpPr txBox="1">
            <a:spLocks noChangeArrowheads="1"/>
          </p:cNvSpPr>
          <p:nvPr/>
        </p:nvSpPr>
        <p:spPr bwMode="auto">
          <a:xfrm>
            <a:off x="5808663" y="5516563"/>
            <a:ext cx="1511300"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zh-CN" altLang="en-US" sz="2600" b="1">
                <a:ea typeface="楷体_GB2312" panose="02010609030101010101" pitchFamily="49" charset="-122"/>
              </a:rPr>
              <a:t>可解得</a:t>
            </a:r>
            <a:endParaRPr lang="zh-CN" altLang="en-US" sz="2600" b="1">
              <a:ea typeface="楷体_GB2312" panose="02010609030101010101" pitchFamily="49" charset="-122"/>
            </a:endParaRPr>
          </a:p>
        </p:txBody>
      </p:sp>
      <p:graphicFrame>
        <p:nvGraphicFramePr>
          <p:cNvPr id="1060878" name="Object 14"/>
          <p:cNvGraphicFramePr>
            <a:graphicFrameLocks noChangeAspect="1"/>
          </p:cNvGraphicFramePr>
          <p:nvPr/>
        </p:nvGraphicFramePr>
        <p:xfrm>
          <a:off x="7032104" y="5546502"/>
          <a:ext cx="1277938" cy="403225"/>
        </p:xfrm>
        <a:graphic>
          <a:graphicData uri="http://schemas.openxmlformats.org/presentationml/2006/ole">
            <mc:AlternateContent xmlns:mc="http://schemas.openxmlformats.org/markup-compatibility/2006">
              <mc:Choice xmlns:v="urn:schemas-microsoft-com:vml" Requires="v">
                <p:oleObj spid="_x0000_s5" name="Equation" r:id="rId7" imgW="14020800" imgH="3962400" progId="Equation.DSMT4">
                  <p:embed/>
                </p:oleObj>
              </mc:Choice>
              <mc:Fallback>
                <p:oleObj name="Equation" r:id="rId7" imgW="14020800" imgH="3962400" progId="Equation.DSMT4">
                  <p:embed/>
                  <p:pic>
                    <p:nvPicPr>
                      <p:cNvPr id="0" name="Object 14"/>
                      <p:cNvPicPr>
                        <a:picLocks noChangeAspect="1" noChangeArrowheads="1"/>
                      </p:cNvPicPr>
                      <p:nvPr/>
                    </p:nvPicPr>
                    <p:blipFill>
                      <a:blip r:embed="rId8"/>
                      <a:srcRect/>
                      <a:stretch>
                        <a:fillRect/>
                      </a:stretch>
                    </p:blipFill>
                    <p:spPr bwMode="auto">
                      <a:xfrm>
                        <a:off x="7032104" y="5546502"/>
                        <a:ext cx="1277938"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0879" name="Text Box 15"/>
          <p:cNvSpPr txBox="1">
            <a:spLocks noChangeArrowheads="1"/>
          </p:cNvSpPr>
          <p:nvPr/>
        </p:nvSpPr>
        <p:spPr bwMode="auto">
          <a:xfrm>
            <a:off x="8543925" y="5445125"/>
            <a:ext cx="1511300"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spcAft>
                <a:spcPts val="0"/>
              </a:spcAft>
            </a:pPr>
            <a:r>
              <a:rPr lang="en-US" altLang="zh-CN" sz="2600" b="1" i="1" u="sng" dirty="0">
                <a:solidFill>
                  <a:srgbClr val="FF0000"/>
                </a:solidFill>
                <a:ea typeface="楷体_GB2312" panose="02010609030101010101" pitchFamily="49" charset="-122"/>
              </a:rPr>
              <a:t>n</a:t>
            </a:r>
            <a:r>
              <a:rPr lang="en-US" altLang="zh-CN" sz="2600" b="1" u="sng" dirty="0">
                <a:solidFill>
                  <a:srgbClr val="FF0000"/>
                </a:solidFill>
                <a:ea typeface="楷体_GB2312" panose="02010609030101010101" pitchFamily="49" charset="-122"/>
              </a:rPr>
              <a:t> = 271</a:t>
            </a:r>
            <a:endParaRPr lang="en-US" altLang="zh-CN" sz="2600" b="1" dirty="0">
              <a:solidFill>
                <a:srgbClr val="FF0000"/>
              </a:solidFill>
              <a:ea typeface="楷体_GB2312" panose="0201060903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60866"/>
                                        </p:tgtEl>
                                        <p:attrNameLst>
                                          <p:attrName>style.visibility</p:attrName>
                                        </p:attrNameLst>
                                      </p:cBhvr>
                                      <p:to>
                                        <p:strVal val="visible"/>
                                      </p:to>
                                    </p:set>
                                    <p:animEffect transition="in" filter="wipe(left)">
                                      <p:cBhvr>
                                        <p:cTn id="7" dur="500"/>
                                        <p:tgtEl>
                                          <p:spTgt spid="10608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60867">
                                            <p:txEl>
                                              <p:pRg st="4294967295" end="4294967295"/>
                                            </p:txEl>
                                          </p:spTgt>
                                        </p:tgtEl>
                                        <p:attrNameLst>
                                          <p:attrName>style.visibility</p:attrName>
                                        </p:attrNameLst>
                                      </p:cBhvr>
                                      <p:to>
                                        <p:strVal val="visible"/>
                                      </p:to>
                                    </p:set>
                                    <p:animEffect transition="in" filter="wipe(up)">
                                      <p:cBhvr>
                                        <p:cTn id="12" dur="500"/>
                                        <p:tgtEl>
                                          <p:spTgt spid="1060867">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60867">
                                            <p:txEl>
                                              <p:pRg st="0" end="0"/>
                                            </p:txEl>
                                          </p:spTgt>
                                        </p:tgtEl>
                                        <p:attrNameLst>
                                          <p:attrName>style.visibility</p:attrName>
                                        </p:attrNameLst>
                                      </p:cBhvr>
                                      <p:to>
                                        <p:strVal val="visible"/>
                                      </p:to>
                                    </p:set>
                                    <p:animEffect transition="in" filter="wipe(up)">
                                      <p:cBhvr>
                                        <p:cTn id="17" dur="500"/>
                                        <p:tgtEl>
                                          <p:spTgt spid="106086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60867">
                                            <p:txEl>
                                              <p:pRg st="1" end="1"/>
                                            </p:txEl>
                                          </p:spTgt>
                                        </p:tgtEl>
                                        <p:attrNameLst>
                                          <p:attrName>style.visibility</p:attrName>
                                        </p:attrNameLst>
                                      </p:cBhvr>
                                      <p:to>
                                        <p:strVal val="visible"/>
                                      </p:to>
                                    </p:set>
                                    <p:animEffect transition="in" filter="wipe(up)">
                                      <p:cBhvr>
                                        <p:cTn id="22" dur="500"/>
                                        <p:tgtEl>
                                          <p:spTgt spid="106086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60867">
                                            <p:txEl>
                                              <p:pRg st="2" end="2"/>
                                            </p:txEl>
                                          </p:spTgt>
                                        </p:tgtEl>
                                        <p:attrNameLst>
                                          <p:attrName>style.visibility</p:attrName>
                                        </p:attrNameLst>
                                      </p:cBhvr>
                                      <p:to>
                                        <p:strVal val="visible"/>
                                      </p:to>
                                    </p:set>
                                    <p:animEffect transition="in" filter="wipe(up)">
                                      <p:cBhvr>
                                        <p:cTn id="27" dur="500"/>
                                        <p:tgtEl>
                                          <p:spTgt spid="106086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1060868"/>
                                        </p:tgtEl>
                                        <p:attrNameLst>
                                          <p:attrName>style.visibility</p:attrName>
                                        </p:attrNameLst>
                                      </p:cBhvr>
                                      <p:to>
                                        <p:strVal val="visible"/>
                                      </p:to>
                                    </p:set>
                                    <p:anim calcmode="lin" valueType="num">
                                      <p:cBhvr additive="base">
                                        <p:cTn id="32" dur="500" fill="hold"/>
                                        <p:tgtEl>
                                          <p:spTgt spid="1060868"/>
                                        </p:tgtEl>
                                        <p:attrNameLst>
                                          <p:attrName>ppt_x</p:attrName>
                                        </p:attrNameLst>
                                      </p:cBhvr>
                                      <p:tavLst>
                                        <p:tav tm="0">
                                          <p:val>
                                            <p:strVal val="0-#ppt_w/2"/>
                                          </p:val>
                                        </p:tav>
                                        <p:tav tm="100000">
                                          <p:val>
                                            <p:strVal val="#ppt_x"/>
                                          </p:val>
                                        </p:tav>
                                      </p:tavLst>
                                    </p:anim>
                                    <p:anim calcmode="lin" valueType="num">
                                      <p:cBhvr additive="base">
                                        <p:cTn id="33" dur="500" fill="hold"/>
                                        <p:tgtEl>
                                          <p:spTgt spid="1060868"/>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060870"/>
                                        </p:tgtEl>
                                        <p:attrNameLst>
                                          <p:attrName>style.visibility</p:attrName>
                                        </p:attrNameLst>
                                      </p:cBhvr>
                                      <p:to>
                                        <p:strVal val="visible"/>
                                      </p:to>
                                    </p:set>
                                    <p:anim calcmode="lin" valueType="num">
                                      <p:cBhvr additive="base">
                                        <p:cTn id="38" dur="500" fill="hold"/>
                                        <p:tgtEl>
                                          <p:spTgt spid="1060870"/>
                                        </p:tgtEl>
                                        <p:attrNameLst>
                                          <p:attrName>ppt_x</p:attrName>
                                        </p:attrNameLst>
                                      </p:cBhvr>
                                      <p:tavLst>
                                        <p:tav tm="0">
                                          <p:val>
                                            <p:strVal val="#ppt_x"/>
                                          </p:val>
                                        </p:tav>
                                        <p:tav tm="100000">
                                          <p:val>
                                            <p:strVal val="#ppt_x"/>
                                          </p:val>
                                        </p:tav>
                                      </p:tavLst>
                                    </p:anim>
                                    <p:anim calcmode="lin" valueType="num">
                                      <p:cBhvr additive="base">
                                        <p:cTn id="39" dur="500" fill="hold"/>
                                        <p:tgtEl>
                                          <p:spTgt spid="1060870"/>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060874"/>
                                        </p:tgtEl>
                                        <p:attrNameLst>
                                          <p:attrName>style.visibility</p:attrName>
                                        </p:attrNameLst>
                                      </p:cBhvr>
                                      <p:to>
                                        <p:strVal val="visible"/>
                                      </p:to>
                                    </p:set>
                                    <p:anim calcmode="lin" valueType="num">
                                      <p:cBhvr additive="base">
                                        <p:cTn id="44" dur="500" fill="hold"/>
                                        <p:tgtEl>
                                          <p:spTgt spid="1060874"/>
                                        </p:tgtEl>
                                        <p:attrNameLst>
                                          <p:attrName>ppt_x</p:attrName>
                                        </p:attrNameLst>
                                      </p:cBhvr>
                                      <p:tavLst>
                                        <p:tav tm="0">
                                          <p:val>
                                            <p:strVal val="0-#ppt_w/2"/>
                                          </p:val>
                                        </p:tav>
                                        <p:tav tm="100000">
                                          <p:val>
                                            <p:strVal val="#ppt_x"/>
                                          </p:val>
                                        </p:tav>
                                      </p:tavLst>
                                    </p:anim>
                                    <p:anim calcmode="lin" valueType="num">
                                      <p:cBhvr additive="base">
                                        <p:cTn id="45" dur="500" fill="hold"/>
                                        <p:tgtEl>
                                          <p:spTgt spid="1060874"/>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fill="hold" grpId="0" nodeType="clickEffect">
                                  <p:stCondLst>
                                    <p:cond delay="0"/>
                                  </p:stCondLst>
                                  <p:childTnLst>
                                    <p:set>
                                      <p:cBhvr>
                                        <p:cTn id="49" dur="1" fill="hold">
                                          <p:stCondLst>
                                            <p:cond delay="0"/>
                                          </p:stCondLst>
                                        </p:cTn>
                                        <p:tgtEl>
                                          <p:spTgt spid="1060869"/>
                                        </p:tgtEl>
                                        <p:attrNameLst>
                                          <p:attrName>style.visibility</p:attrName>
                                        </p:attrNameLst>
                                      </p:cBhvr>
                                      <p:to>
                                        <p:strVal val="visible"/>
                                      </p:to>
                                    </p:set>
                                    <p:anim calcmode="lin" valueType="num">
                                      <p:cBhvr additive="base">
                                        <p:cTn id="50" dur="500" fill="hold"/>
                                        <p:tgtEl>
                                          <p:spTgt spid="1060869"/>
                                        </p:tgtEl>
                                        <p:attrNameLst>
                                          <p:attrName>ppt_x</p:attrName>
                                        </p:attrNameLst>
                                      </p:cBhvr>
                                      <p:tavLst>
                                        <p:tav tm="0">
                                          <p:val>
                                            <p:strVal val="1+#ppt_w/2"/>
                                          </p:val>
                                        </p:tav>
                                        <p:tav tm="100000">
                                          <p:val>
                                            <p:strVal val="#ppt_x"/>
                                          </p:val>
                                        </p:tav>
                                      </p:tavLst>
                                    </p:anim>
                                    <p:anim calcmode="lin" valueType="num">
                                      <p:cBhvr additive="base">
                                        <p:cTn id="51" dur="500" fill="hold"/>
                                        <p:tgtEl>
                                          <p:spTgt spid="1060869"/>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1060871"/>
                                        </p:tgtEl>
                                        <p:attrNameLst>
                                          <p:attrName>style.visibility</p:attrName>
                                        </p:attrNameLst>
                                      </p:cBhvr>
                                      <p:to>
                                        <p:strVal val="visible"/>
                                      </p:to>
                                    </p:set>
                                    <p:anim calcmode="lin" valueType="num">
                                      <p:cBhvr additive="base">
                                        <p:cTn id="56" dur="500" fill="hold"/>
                                        <p:tgtEl>
                                          <p:spTgt spid="1060871"/>
                                        </p:tgtEl>
                                        <p:attrNameLst>
                                          <p:attrName>ppt_x</p:attrName>
                                        </p:attrNameLst>
                                      </p:cBhvr>
                                      <p:tavLst>
                                        <p:tav tm="0">
                                          <p:val>
                                            <p:strVal val="#ppt_x"/>
                                          </p:val>
                                        </p:tav>
                                        <p:tav tm="100000">
                                          <p:val>
                                            <p:strVal val="#ppt_x"/>
                                          </p:val>
                                        </p:tav>
                                      </p:tavLst>
                                    </p:anim>
                                    <p:anim calcmode="lin" valueType="num">
                                      <p:cBhvr additive="base">
                                        <p:cTn id="57" dur="500" fill="hold"/>
                                        <p:tgtEl>
                                          <p:spTgt spid="1060871"/>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grpId="0" nodeType="clickEffect">
                                  <p:stCondLst>
                                    <p:cond delay="0"/>
                                  </p:stCondLst>
                                  <p:childTnLst>
                                    <p:set>
                                      <p:cBhvr>
                                        <p:cTn id="61" dur="1" fill="hold">
                                          <p:stCondLst>
                                            <p:cond delay="0"/>
                                          </p:stCondLst>
                                        </p:cTn>
                                        <p:tgtEl>
                                          <p:spTgt spid="1060873"/>
                                        </p:tgtEl>
                                        <p:attrNameLst>
                                          <p:attrName>style.visibility</p:attrName>
                                        </p:attrNameLst>
                                      </p:cBhvr>
                                      <p:to>
                                        <p:strVal val="visible"/>
                                      </p:to>
                                    </p:set>
                                    <p:anim calcmode="lin" valueType="num">
                                      <p:cBhvr additive="base">
                                        <p:cTn id="62" dur="500" fill="hold"/>
                                        <p:tgtEl>
                                          <p:spTgt spid="1060873"/>
                                        </p:tgtEl>
                                        <p:attrNameLst>
                                          <p:attrName>ppt_x</p:attrName>
                                        </p:attrNameLst>
                                      </p:cBhvr>
                                      <p:tavLst>
                                        <p:tav tm="0">
                                          <p:val>
                                            <p:strVal val="0-#ppt_w/2"/>
                                          </p:val>
                                        </p:tav>
                                        <p:tav tm="100000">
                                          <p:val>
                                            <p:strVal val="#ppt_x"/>
                                          </p:val>
                                        </p:tav>
                                      </p:tavLst>
                                    </p:anim>
                                    <p:anim calcmode="lin" valueType="num">
                                      <p:cBhvr additive="base">
                                        <p:cTn id="63" dur="500" fill="hold"/>
                                        <p:tgtEl>
                                          <p:spTgt spid="1060873"/>
                                        </p:tgtEl>
                                        <p:attrNameLst>
                                          <p:attrName>ppt_y</p:attrName>
                                        </p:attrNameLst>
                                      </p:cBhvr>
                                      <p:tavLst>
                                        <p:tav tm="0">
                                          <p:val>
                                            <p:strVal val="#ppt_y"/>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5" presetClass="entr" presetSubtype="10" fill="hold" nodeType="clickEffect">
                                  <p:stCondLst>
                                    <p:cond delay="0"/>
                                  </p:stCondLst>
                                  <p:childTnLst>
                                    <p:set>
                                      <p:cBhvr>
                                        <p:cTn id="67" dur="1" fill="hold">
                                          <p:stCondLst>
                                            <p:cond delay="0"/>
                                          </p:stCondLst>
                                        </p:cTn>
                                        <p:tgtEl>
                                          <p:spTgt spid="1060872"/>
                                        </p:tgtEl>
                                        <p:attrNameLst>
                                          <p:attrName>style.visibility</p:attrName>
                                        </p:attrNameLst>
                                      </p:cBhvr>
                                      <p:to>
                                        <p:strVal val="visible"/>
                                      </p:to>
                                    </p:set>
                                    <p:animEffect transition="in" filter="checkerboard(across)">
                                      <p:cBhvr>
                                        <p:cTn id="68" dur="500"/>
                                        <p:tgtEl>
                                          <p:spTgt spid="1060872"/>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060875"/>
                                        </p:tgtEl>
                                        <p:attrNameLst>
                                          <p:attrName>style.visibility</p:attrName>
                                        </p:attrNameLst>
                                      </p:cBhvr>
                                      <p:to>
                                        <p:strVal val="visible"/>
                                      </p:to>
                                    </p:set>
                                    <p:anim calcmode="lin" valueType="num">
                                      <p:cBhvr additive="base">
                                        <p:cTn id="73" dur="500" fill="hold"/>
                                        <p:tgtEl>
                                          <p:spTgt spid="1060875"/>
                                        </p:tgtEl>
                                        <p:attrNameLst>
                                          <p:attrName>ppt_x</p:attrName>
                                        </p:attrNameLst>
                                      </p:cBhvr>
                                      <p:tavLst>
                                        <p:tav tm="0">
                                          <p:val>
                                            <p:strVal val="0-#ppt_w/2"/>
                                          </p:val>
                                        </p:tav>
                                        <p:tav tm="100000">
                                          <p:val>
                                            <p:strVal val="#ppt_x"/>
                                          </p:val>
                                        </p:tav>
                                      </p:tavLst>
                                    </p:anim>
                                    <p:anim calcmode="lin" valueType="num">
                                      <p:cBhvr additive="base">
                                        <p:cTn id="74" dur="500" fill="hold"/>
                                        <p:tgtEl>
                                          <p:spTgt spid="1060875"/>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5" presetClass="entr" presetSubtype="10" fill="hold" nodeType="clickEffect">
                                  <p:stCondLst>
                                    <p:cond delay="0"/>
                                  </p:stCondLst>
                                  <p:childTnLst>
                                    <p:set>
                                      <p:cBhvr>
                                        <p:cTn id="78" dur="1" fill="hold">
                                          <p:stCondLst>
                                            <p:cond delay="0"/>
                                          </p:stCondLst>
                                        </p:cTn>
                                        <p:tgtEl>
                                          <p:spTgt spid="1060876"/>
                                        </p:tgtEl>
                                        <p:attrNameLst>
                                          <p:attrName>style.visibility</p:attrName>
                                        </p:attrNameLst>
                                      </p:cBhvr>
                                      <p:to>
                                        <p:strVal val="visible"/>
                                      </p:to>
                                    </p:set>
                                    <p:animEffect transition="in" filter="checkerboard(across)">
                                      <p:cBhvr>
                                        <p:cTn id="79" dur="500"/>
                                        <p:tgtEl>
                                          <p:spTgt spid="1060876"/>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2" fill="hold" grpId="0" nodeType="clickEffect">
                                  <p:stCondLst>
                                    <p:cond delay="0"/>
                                  </p:stCondLst>
                                  <p:childTnLst>
                                    <p:set>
                                      <p:cBhvr>
                                        <p:cTn id="83" dur="1" fill="hold">
                                          <p:stCondLst>
                                            <p:cond delay="0"/>
                                          </p:stCondLst>
                                        </p:cTn>
                                        <p:tgtEl>
                                          <p:spTgt spid="1060877"/>
                                        </p:tgtEl>
                                        <p:attrNameLst>
                                          <p:attrName>style.visibility</p:attrName>
                                        </p:attrNameLst>
                                      </p:cBhvr>
                                      <p:to>
                                        <p:strVal val="visible"/>
                                      </p:to>
                                    </p:set>
                                    <p:anim calcmode="lin" valueType="num">
                                      <p:cBhvr additive="base">
                                        <p:cTn id="84" dur="500" fill="hold"/>
                                        <p:tgtEl>
                                          <p:spTgt spid="1060877"/>
                                        </p:tgtEl>
                                        <p:attrNameLst>
                                          <p:attrName>ppt_x</p:attrName>
                                        </p:attrNameLst>
                                      </p:cBhvr>
                                      <p:tavLst>
                                        <p:tav tm="0">
                                          <p:val>
                                            <p:strVal val="1+#ppt_w/2"/>
                                          </p:val>
                                        </p:tav>
                                        <p:tav tm="100000">
                                          <p:val>
                                            <p:strVal val="#ppt_x"/>
                                          </p:val>
                                        </p:tav>
                                      </p:tavLst>
                                    </p:anim>
                                    <p:anim calcmode="lin" valueType="num">
                                      <p:cBhvr additive="base">
                                        <p:cTn id="85" dur="500" fill="hold"/>
                                        <p:tgtEl>
                                          <p:spTgt spid="1060877"/>
                                        </p:tgtEl>
                                        <p:attrNameLst>
                                          <p:attrName>ppt_y</p:attrName>
                                        </p:attrNameLst>
                                      </p:cBhvr>
                                      <p:tavLst>
                                        <p:tav tm="0">
                                          <p:val>
                                            <p:strVal val="#ppt_y"/>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5" presetClass="entr" presetSubtype="10" fill="hold" nodeType="clickEffect">
                                  <p:stCondLst>
                                    <p:cond delay="0"/>
                                  </p:stCondLst>
                                  <p:childTnLst>
                                    <p:set>
                                      <p:cBhvr>
                                        <p:cTn id="89" dur="1" fill="hold">
                                          <p:stCondLst>
                                            <p:cond delay="0"/>
                                          </p:stCondLst>
                                        </p:cTn>
                                        <p:tgtEl>
                                          <p:spTgt spid="1060878"/>
                                        </p:tgtEl>
                                        <p:attrNameLst>
                                          <p:attrName>style.visibility</p:attrName>
                                        </p:attrNameLst>
                                      </p:cBhvr>
                                      <p:to>
                                        <p:strVal val="visible"/>
                                      </p:to>
                                    </p:set>
                                    <p:animEffect transition="in" filter="checkerboard(across)">
                                      <p:cBhvr>
                                        <p:cTn id="90" dur="500"/>
                                        <p:tgtEl>
                                          <p:spTgt spid="1060878"/>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1060879"/>
                                        </p:tgtEl>
                                        <p:attrNameLst>
                                          <p:attrName>style.visibility</p:attrName>
                                        </p:attrNameLst>
                                      </p:cBhvr>
                                      <p:to>
                                        <p:strVal val="visible"/>
                                      </p:to>
                                    </p:set>
                                    <p:anim calcmode="lin" valueType="num">
                                      <p:cBhvr additive="base">
                                        <p:cTn id="95" dur="500" fill="hold"/>
                                        <p:tgtEl>
                                          <p:spTgt spid="1060879"/>
                                        </p:tgtEl>
                                        <p:attrNameLst>
                                          <p:attrName>ppt_x</p:attrName>
                                        </p:attrNameLst>
                                      </p:cBhvr>
                                      <p:tavLst>
                                        <p:tav tm="0">
                                          <p:val>
                                            <p:strVal val="#ppt_x"/>
                                          </p:val>
                                        </p:tav>
                                        <p:tav tm="100000">
                                          <p:val>
                                            <p:strVal val="#ppt_x"/>
                                          </p:val>
                                        </p:tav>
                                      </p:tavLst>
                                    </p:anim>
                                    <p:anim calcmode="lin" valueType="num">
                                      <p:cBhvr additive="base">
                                        <p:cTn id="96" dur="500" fill="hold"/>
                                        <p:tgtEl>
                                          <p:spTgt spid="10608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0866" grpId="0" animBg="1" autoUpdateAnimBg="0"/>
      <p:bldP spid="1060867" grpId="0" autoUpdateAnimBg="0" build="p"/>
      <p:bldP spid="1060868" grpId="0" bldLvl="0" animBg="1" autoUpdateAnimBg="0"/>
      <p:bldP spid="1060869" grpId="0" bldLvl="0" animBg="1" autoUpdateAnimBg="0"/>
      <p:bldP spid="1060870" grpId="0" bldLvl="0" animBg="1" autoUpdateAnimBg="0"/>
      <p:bldP spid="1060873" grpId="0" bldLvl="0" animBg="1" autoUpdateAnimBg="0"/>
      <p:bldP spid="1060874" grpId="0" bldLvl="0" animBg="1" autoUpdateAnimBg="0"/>
      <p:bldP spid="1060875" grpId="0" bldLvl="0" animBg="1" autoUpdateAnimBg="0"/>
      <p:bldP spid="1060877" grpId="0" bldLvl="0" animBg="1" autoUpdateAnimBg="0"/>
      <p:bldP spid="1060879" grpId="0" bldLvl="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14"/>
          <p:cNvGraphicFramePr>
            <a:graphicFrameLocks noChangeAspect="1"/>
          </p:cNvGraphicFramePr>
          <p:nvPr/>
        </p:nvGraphicFramePr>
        <p:xfrm>
          <a:off x="1919288" y="1452563"/>
          <a:ext cx="7843837" cy="3952875"/>
        </p:xfrm>
        <a:graphic>
          <a:graphicData uri="http://schemas.openxmlformats.org/presentationml/2006/ole">
            <mc:AlternateContent xmlns:mc="http://schemas.openxmlformats.org/markup-compatibility/2006">
              <mc:Choice xmlns:v="urn:schemas-microsoft-com:vml" Requires="v">
                <p:oleObj spid="_x0000_s352353" name="" r:id="rId1" imgW="8171180" imgH="4130040" progId="Word.Document.8">
                  <p:embed/>
                </p:oleObj>
              </mc:Choice>
              <mc:Fallback>
                <p:oleObj name="" r:id="rId1" imgW="8171180" imgH="4130040" progId="Word.Document.8">
                  <p:embed/>
                  <p:pic>
                    <p:nvPicPr>
                      <p:cNvPr id="0" name="Object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288" y="1452563"/>
                        <a:ext cx="784383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15"/>
          <p:cNvGraphicFramePr>
            <a:graphicFrameLocks noChangeAspect="1"/>
          </p:cNvGraphicFramePr>
          <p:nvPr/>
        </p:nvGraphicFramePr>
        <p:xfrm>
          <a:off x="7118350" y="2427288"/>
          <a:ext cx="1409700" cy="862012"/>
        </p:xfrm>
        <a:graphic>
          <a:graphicData uri="http://schemas.openxmlformats.org/presentationml/2006/ole">
            <mc:AlternateContent xmlns:mc="http://schemas.openxmlformats.org/markup-compatibility/2006">
              <mc:Choice xmlns:v="urn:schemas-microsoft-com:vml" Requires="v">
                <p:oleObj spid="_x0000_s352354" name="" r:id="rId3" imgW="1682750" imgH="1031240" progId="Equation.3">
                  <p:embed/>
                </p:oleObj>
              </mc:Choice>
              <mc:Fallback>
                <p:oleObj name="" r:id="rId3" imgW="1682750" imgH="1031240"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8350" y="2427288"/>
                        <a:ext cx="14097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16"/>
          <p:cNvGraphicFramePr>
            <a:graphicFrameLocks noChangeAspect="1"/>
          </p:cNvGraphicFramePr>
          <p:nvPr/>
        </p:nvGraphicFramePr>
        <p:xfrm>
          <a:off x="3490913" y="3289300"/>
          <a:ext cx="1028700" cy="392113"/>
        </p:xfrm>
        <a:graphic>
          <a:graphicData uri="http://schemas.openxmlformats.org/presentationml/2006/ole">
            <mc:AlternateContent xmlns:mc="http://schemas.openxmlformats.org/markup-compatibility/2006">
              <mc:Choice xmlns:v="urn:schemas-microsoft-com:vml" Requires="v">
                <p:oleObj spid="_x0000_s352355" name="" r:id="rId5" imgW="1225550" imgH="457200" progId="Equation.3">
                  <p:embed/>
                </p:oleObj>
              </mc:Choice>
              <mc:Fallback>
                <p:oleObj name="" r:id="rId5" imgW="1225550" imgH="457200"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0913" y="3289300"/>
                        <a:ext cx="10287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17"/>
          <p:cNvGraphicFramePr>
            <a:graphicFrameLocks noChangeAspect="1"/>
          </p:cNvGraphicFramePr>
          <p:nvPr/>
        </p:nvGraphicFramePr>
        <p:xfrm>
          <a:off x="2865438" y="4408488"/>
          <a:ext cx="1409700" cy="862012"/>
        </p:xfrm>
        <a:graphic>
          <a:graphicData uri="http://schemas.openxmlformats.org/presentationml/2006/ole">
            <mc:AlternateContent xmlns:mc="http://schemas.openxmlformats.org/markup-compatibility/2006">
              <mc:Choice xmlns:v="urn:schemas-microsoft-com:vml" Requires="v">
                <p:oleObj spid="_x0000_s352356" name="" r:id="rId7" imgW="1682750" imgH="1031240" progId="Equation.3">
                  <p:embed/>
                </p:oleObj>
              </mc:Choice>
              <mc:Fallback>
                <p:oleObj name="" r:id="rId7" imgW="1682750" imgH="1031240"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65438" y="4408488"/>
                        <a:ext cx="14097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18"/>
          <p:cNvGraphicFramePr>
            <a:graphicFrameLocks noChangeAspect="1"/>
          </p:cNvGraphicFramePr>
          <p:nvPr/>
        </p:nvGraphicFramePr>
        <p:xfrm>
          <a:off x="6677025" y="4643438"/>
          <a:ext cx="1028700" cy="392112"/>
        </p:xfrm>
        <a:graphic>
          <a:graphicData uri="http://schemas.openxmlformats.org/presentationml/2006/ole">
            <mc:AlternateContent xmlns:mc="http://schemas.openxmlformats.org/markup-compatibility/2006">
              <mc:Choice xmlns:v="urn:schemas-microsoft-com:vml" Requires="v">
                <p:oleObj spid="_x0000_s352357" name="" r:id="rId9" imgW="1225550" imgH="457200" progId="Equation.3">
                  <p:embed/>
                </p:oleObj>
              </mc:Choice>
              <mc:Fallback>
                <p:oleObj name="" r:id="rId9" imgW="1225550" imgH="45720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77025" y="4643438"/>
                        <a:ext cx="10287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4" name="直接连接符 3"/>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矩形 4"/>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三、课堂练习</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3" name="组合 2"/>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8"/>
          <p:cNvGraphicFramePr>
            <a:graphicFrameLocks noChangeAspect="1"/>
          </p:cNvGraphicFramePr>
          <p:nvPr/>
        </p:nvGraphicFramePr>
        <p:xfrm>
          <a:off x="1319213" y="1046163"/>
          <a:ext cx="9240837" cy="2238375"/>
        </p:xfrm>
        <a:graphic>
          <a:graphicData uri="http://schemas.openxmlformats.org/presentationml/2006/ole">
            <mc:AlternateContent xmlns:mc="http://schemas.openxmlformats.org/markup-compatibility/2006">
              <mc:Choice xmlns:v="urn:schemas-microsoft-com:vml" Requires="v">
                <p:oleObj spid="_x0000_s358573" name="" r:id="rId1" imgW="11725275" imgH="2718435" progId="Word.Document.8">
                  <p:embed/>
                </p:oleObj>
              </mc:Choice>
              <mc:Fallback>
                <p:oleObj name="" r:id="rId1" imgW="11725275" imgH="2718435" progId="Word.Document.8">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213" y="1046163"/>
                        <a:ext cx="9240837"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9"/>
          <p:cNvGraphicFramePr>
            <a:graphicFrameLocks noChangeAspect="1"/>
          </p:cNvGraphicFramePr>
          <p:nvPr/>
        </p:nvGraphicFramePr>
        <p:xfrm>
          <a:off x="1820863" y="3582988"/>
          <a:ext cx="508000" cy="392112"/>
        </p:xfrm>
        <a:graphic>
          <a:graphicData uri="http://schemas.openxmlformats.org/presentationml/2006/ole">
            <mc:AlternateContent xmlns:mc="http://schemas.openxmlformats.org/markup-compatibility/2006">
              <mc:Choice xmlns:v="urn:schemas-microsoft-com:vml" Requires="v">
                <p:oleObj spid="_x0000_s358574" name="" r:id="rId3" imgW="593090" imgH="457200" progId="Equation.3">
                  <p:embed/>
                </p:oleObj>
              </mc:Choice>
              <mc:Fallback>
                <p:oleObj name="" r:id="rId3" imgW="593090" imgH="4572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0863" y="3582988"/>
                        <a:ext cx="5080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10"/>
          <p:cNvGraphicFramePr>
            <a:graphicFrameLocks noChangeAspect="1"/>
          </p:cNvGraphicFramePr>
          <p:nvPr/>
        </p:nvGraphicFramePr>
        <p:xfrm>
          <a:off x="2566988" y="3582988"/>
          <a:ext cx="5270500" cy="430212"/>
        </p:xfrm>
        <a:graphic>
          <a:graphicData uri="http://schemas.openxmlformats.org/presentationml/2006/ole">
            <mc:AlternateContent xmlns:mc="http://schemas.openxmlformats.org/markup-compatibility/2006">
              <mc:Choice xmlns:v="urn:schemas-microsoft-com:vml" Requires="v">
                <p:oleObj spid="_x0000_s358575" name="" r:id="rId5" imgW="6322695" imgH="506095" progId="Equation.3">
                  <p:embed/>
                </p:oleObj>
              </mc:Choice>
              <mc:Fallback>
                <p:oleObj name="" r:id="rId5" imgW="6322695" imgH="506095"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6988" y="3582988"/>
                        <a:ext cx="52705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11"/>
          <p:cNvGraphicFramePr>
            <a:graphicFrameLocks noChangeAspect="1"/>
          </p:cNvGraphicFramePr>
          <p:nvPr/>
        </p:nvGraphicFramePr>
        <p:xfrm>
          <a:off x="2505075" y="4351338"/>
          <a:ext cx="2959100" cy="430212"/>
        </p:xfrm>
        <a:graphic>
          <a:graphicData uri="http://schemas.openxmlformats.org/presentationml/2006/ole">
            <mc:AlternateContent xmlns:mc="http://schemas.openxmlformats.org/markup-compatibility/2006">
              <mc:Choice xmlns:v="urn:schemas-microsoft-com:vml" Requires="v">
                <p:oleObj spid="_x0000_s358576" name="" r:id="rId7" imgW="3550285" imgH="506095" progId="Equation.3">
                  <p:embed/>
                </p:oleObj>
              </mc:Choice>
              <mc:Fallback>
                <p:oleObj name="" r:id="rId7" imgW="3550285" imgH="506095"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5075" y="4351338"/>
                        <a:ext cx="29591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12"/>
          <p:cNvGraphicFramePr>
            <a:graphicFrameLocks noChangeAspect="1"/>
          </p:cNvGraphicFramePr>
          <p:nvPr/>
        </p:nvGraphicFramePr>
        <p:xfrm>
          <a:off x="5781675" y="4427538"/>
          <a:ext cx="2057400" cy="392112"/>
        </p:xfrm>
        <a:graphic>
          <a:graphicData uri="http://schemas.openxmlformats.org/presentationml/2006/ole">
            <mc:AlternateContent xmlns:mc="http://schemas.openxmlformats.org/markup-compatibility/2006">
              <mc:Choice xmlns:v="urn:schemas-microsoft-com:vml" Requires="v">
                <p:oleObj spid="_x0000_s358577" name="" r:id="rId9" imgW="2461260" imgH="457200" progId="Equation.3">
                  <p:embed/>
                </p:oleObj>
              </mc:Choice>
              <mc:Fallback>
                <p:oleObj name="" r:id="rId9" imgW="2461260" imgH="45720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81675" y="4427538"/>
                        <a:ext cx="20574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13"/>
          <p:cNvGraphicFramePr>
            <a:graphicFrameLocks noChangeAspect="1"/>
          </p:cNvGraphicFramePr>
          <p:nvPr/>
        </p:nvGraphicFramePr>
        <p:xfrm>
          <a:off x="8067675" y="4427538"/>
          <a:ext cx="2057400" cy="392112"/>
        </p:xfrm>
        <a:graphic>
          <a:graphicData uri="http://schemas.openxmlformats.org/presentationml/2006/ole">
            <mc:AlternateContent xmlns:mc="http://schemas.openxmlformats.org/markup-compatibility/2006">
              <mc:Choice xmlns:v="urn:schemas-microsoft-com:vml" Requires="v">
                <p:oleObj spid="_x0000_s358578" name="" r:id="rId11" imgW="2461260" imgH="457200" progId="Equation.3">
                  <p:embed/>
                </p:oleObj>
              </mc:Choice>
              <mc:Fallback>
                <p:oleObj name="" r:id="rId11" imgW="2461260" imgH="4572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67675" y="4427538"/>
                        <a:ext cx="20574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14"/>
          <p:cNvGraphicFramePr>
            <a:graphicFrameLocks noChangeAspect="1"/>
          </p:cNvGraphicFramePr>
          <p:nvPr/>
        </p:nvGraphicFramePr>
        <p:xfrm>
          <a:off x="2579688" y="5264150"/>
          <a:ext cx="2870200" cy="430213"/>
        </p:xfrm>
        <a:graphic>
          <a:graphicData uri="http://schemas.openxmlformats.org/presentationml/2006/ole">
            <mc:AlternateContent xmlns:mc="http://schemas.openxmlformats.org/markup-compatibility/2006">
              <mc:Choice xmlns:v="urn:schemas-microsoft-com:vml" Requires="v">
                <p:oleObj spid="_x0000_s358579" name="" r:id="rId13" imgW="3434080" imgH="506095" progId="Equation.3">
                  <p:embed/>
                </p:oleObj>
              </mc:Choice>
              <mc:Fallback>
                <p:oleObj name="" r:id="rId13" imgW="3434080" imgH="506095"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79688" y="5264150"/>
                        <a:ext cx="28702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3" name="Group 22"/>
          <p:cNvGrpSpPr/>
          <p:nvPr/>
        </p:nvGrpSpPr>
        <p:grpSpPr bwMode="auto">
          <a:xfrm>
            <a:off x="5705475" y="5008563"/>
            <a:ext cx="3238500" cy="927100"/>
            <a:chOff x="2400" y="2784"/>
            <a:chExt cx="2040" cy="584"/>
          </a:xfrm>
        </p:grpSpPr>
        <p:graphicFrame>
          <p:nvGraphicFramePr>
            <p:cNvPr id="16394" name="Object 15"/>
            <p:cNvGraphicFramePr>
              <a:graphicFrameLocks noChangeAspect="1"/>
            </p:cNvGraphicFramePr>
            <p:nvPr/>
          </p:nvGraphicFramePr>
          <p:xfrm>
            <a:off x="2400" y="2784"/>
            <a:ext cx="2040" cy="584"/>
          </p:xfrm>
          <a:graphic>
            <a:graphicData uri="http://schemas.openxmlformats.org/presentationml/2006/ole">
              <mc:AlternateContent xmlns:mc="http://schemas.openxmlformats.org/markup-compatibility/2006">
                <mc:Choice xmlns:v="urn:schemas-microsoft-com:vml" Requires="v">
                  <p:oleObj spid="_x0000_s358580" name="" r:id="rId15" imgW="3881120" imgH="1099185" progId="Equation.3">
                    <p:embed/>
                  </p:oleObj>
                </mc:Choice>
                <mc:Fallback>
                  <p:oleObj name="" r:id="rId15" imgW="3881120" imgH="1099185"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00" y="2784"/>
                          <a:ext cx="204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395" name="Object 21"/>
            <p:cNvGraphicFramePr>
              <a:graphicFrameLocks noChangeAspect="1"/>
            </p:cNvGraphicFramePr>
            <p:nvPr/>
          </p:nvGraphicFramePr>
          <p:xfrm>
            <a:off x="3456" y="2880"/>
            <a:ext cx="316" cy="165"/>
          </p:xfrm>
          <a:graphic>
            <a:graphicData uri="http://schemas.openxmlformats.org/presentationml/2006/ole">
              <mc:AlternateContent xmlns:mc="http://schemas.openxmlformats.org/markup-compatibility/2006">
                <mc:Choice xmlns:v="urn:schemas-microsoft-com:vml" Requires="v">
                  <p:oleObj spid="_x0000_s358581" name="" r:id="rId17" imgW="894715" imgH="457200" progId="Equation.3">
                    <p:embed/>
                  </p:oleObj>
                </mc:Choice>
                <mc:Fallback>
                  <p:oleObj name="" r:id="rId17" imgW="894715" imgH="457200" progId="Equation.3">
                    <p:embed/>
                    <p:pic>
                      <p:nvPicPr>
                        <p:cNvPr id="0"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56" y="2880"/>
                          <a:ext cx="31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cxnSp>
        <p:nvCxnSpPr>
          <p:cNvPr id="4" name="直接连接符 3"/>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矩形 4"/>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三、课堂练习</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6" name="组合 5"/>
          <p:cNvGrpSpPr/>
          <p:nvPr/>
        </p:nvGrpSpPr>
        <p:grpSpPr>
          <a:xfrm>
            <a:off x="851761" y="364781"/>
            <a:ext cx="263341" cy="395013"/>
            <a:chOff x="5284519" y="1508166"/>
            <a:chExt cx="213756" cy="427512"/>
          </a:xfrm>
        </p:grpSpPr>
        <p:cxnSp>
          <p:nvCxnSpPr>
            <p:cNvPr id="3" name="直接连接符 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Object 8"/>
          <p:cNvGraphicFramePr>
            <a:graphicFrameLocks noChangeAspect="1"/>
          </p:cNvGraphicFramePr>
          <p:nvPr/>
        </p:nvGraphicFramePr>
        <p:xfrm>
          <a:off x="1319213" y="1046163"/>
          <a:ext cx="9240837" cy="2238375"/>
        </p:xfrm>
        <a:graphic>
          <a:graphicData uri="http://schemas.openxmlformats.org/presentationml/2006/ole">
            <mc:AlternateContent xmlns:mc="http://schemas.openxmlformats.org/markup-compatibility/2006">
              <mc:Choice xmlns:v="urn:schemas-microsoft-com:vml" Requires="v">
                <p:oleObj spid="_x0000_s359559" name="" r:id="rId1" imgW="11725275" imgH="2718435" progId="Word.Document.8">
                  <p:embed/>
                </p:oleObj>
              </mc:Choice>
              <mc:Fallback>
                <p:oleObj name="" r:id="rId1" imgW="11725275" imgH="2718435" progId="Word.Document.8">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213" y="1046163"/>
                        <a:ext cx="9240837"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2"/>
          <p:cNvGraphicFramePr>
            <a:graphicFrameLocks noChangeAspect="1"/>
          </p:cNvGraphicFramePr>
          <p:nvPr/>
        </p:nvGraphicFramePr>
        <p:xfrm>
          <a:off x="5561013" y="4221163"/>
          <a:ext cx="3224212" cy="741362"/>
        </p:xfrm>
        <a:graphic>
          <a:graphicData uri="http://schemas.openxmlformats.org/presentationml/2006/ole">
            <mc:AlternateContent xmlns:mc="http://schemas.openxmlformats.org/markup-compatibility/2006">
              <mc:Choice xmlns:v="urn:schemas-microsoft-com:vml" Requires="v">
                <p:oleObj spid="_x0000_s359560" name="" r:id="rId3" imgW="4707890" imgH="1079500" progId="Equation.3">
                  <p:embed/>
                </p:oleObj>
              </mc:Choice>
              <mc:Fallback>
                <p:oleObj name="" r:id="rId3" imgW="4707890" imgH="1079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1013" y="4221163"/>
                        <a:ext cx="3224212"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3"/>
          <p:cNvGraphicFramePr>
            <a:graphicFrameLocks noChangeAspect="1"/>
          </p:cNvGraphicFramePr>
          <p:nvPr/>
        </p:nvGraphicFramePr>
        <p:xfrm>
          <a:off x="1282700" y="3384550"/>
          <a:ext cx="4191000" cy="495300"/>
        </p:xfrm>
        <a:graphic>
          <a:graphicData uri="http://schemas.openxmlformats.org/presentationml/2006/ole">
            <mc:AlternateContent xmlns:mc="http://schemas.openxmlformats.org/markup-compatibility/2006">
              <mc:Choice xmlns:v="urn:schemas-microsoft-com:vml" Requires="v">
                <p:oleObj spid="_x0000_s359561" name="" r:id="rId5" imgW="5029200" imgH="583565" progId="Equation.DSMT4">
                  <p:embed/>
                </p:oleObj>
              </mc:Choice>
              <mc:Fallback>
                <p:oleObj name="" r:id="rId5" imgW="5029200" imgH="583565"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2700" y="3384550"/>
                        <a:ext cx="41910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4"/>
          <p:cNvGraphicFramePr>
            <a:graphicFrameLocks noChangeAspect="1"/>
          </p:cNvGraphicFramePr>
          <p:nvPr/>
        </p:nvGraphicFramePr>
        <p:xfrm>
          <a:off x="5557838" y="3262313"/>
          <a:ext cx="5468937" cy="739775"/>
        </p:xfrm>
        <a:graphic>
          <a:graphicData uri="http://schemas.openxmlformats.org/presentationml/2006/ole">
            <mc:AlternateContent xmlns:mc="http://schemas.openxmlformats.org/markup-compatibility/2006">
              <mc:Choice xmlns:v="urn:schemas-microsoft-com:vml" Requires="v">
                <p:oleObj spid="_x0000_s359562" name="" r:id="rId7" imgW="7995920" imgH="1079500" progId="Equation.3">
                  <p:embed/>
                </p:oleObj>
              </mc:Choice>
              <mc:Fallback>
                <p:oleObj name="" r:id="rId7" imgW="7995920" imgH="10795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57838" y="3262313"/>
                        <a:ext cx="5468937"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5"/>
          <p:cNvGraphicFramePr>
            <a:graphicFrameLocks noChangeAspect="1"/>
          </p:cNvGraphicFramePr>
          <p:nvPr/>
        </p:nvGraphicFramePr>
        <p:xfrm>
          <a:off x="9051925" y="4221163"/>
          <a:ext cx="2159000" cy="741362"/>
        </p:xfrm>
        <a:graphic>
          <a:graphicData uri="http://schemas.openxmlformats.org/presentationml/2006/ole">
            <mc:AlternateContent xmlns:mc="http://schemas.openxmlformats.org/markup-compatibility/2006">
              <mc:Choice xmlns:v="urn:schemas-microsoft-com:vml" Requires="v">
                <p:oleObj spid="_x0000_s359563" name="" r:id="rId9" imgW="3151505" imgH="1079500" progId="Equation.3">
                  <p:embed/>
                </p:oleObj>
              </mc:Choice>
              <mc:Fallback>
                <p:oleObj name="" r:id="rId9" imgW="3151505" imgH="10795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51925" y="4221163"/>
                        <a:ext cx="2159000"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6"/>
          <p:cNvGraphicFramePr>
            <a:graphicFrameLocks noChangeAspect="1"/>
          </p:cNvGraphicFramePr>
          <p:nvPr/>
        </p:nvGraphicFramePr>
        <p:xfrm>
          <a:off x="5557838" y="5268913"/>
          <a:ext cx="2489200" cy="404812"/>
        </p:xfrm>
        <a:graphic>
          <a:graphicData uri="http://schemas.openxmlformats.org/presentationml/2006/ole">
            <mc:AlternateContent xmlns:mc="http://schemas.openxmlformats.org/markup-compatibility/2006">
              <mc:Choice xmlns:v="urn:schemas-microsoft-com:vml" Requires="v">
                <p:oleObj spid="_x0000_s359564" name="" r:id="rId11" imgW="2976880" imgH="476885" progId="Equation.3">
                  <p:embed/>
                </p:oleObj>
              </mc:Choice>
              <mc:Fallback>
                <p:oleObj name="" r:id="rId11" imgW="2976880" imgH="476885"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57838" y="5268913"/>
                        <a:ext cx="24892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7"/>
          <p:cNvGraphicFramePr>
            <a:graphicFrameLocks noChangeAspect="1"/>
          </p:cNvGraphicFramePr>
          <p:nvPr/>
        </p:nvGraphicFramePr>
        <p:xfrm>
          <a:off x="5557838" y="5903913"/>
          <a:ext cx="469900" cy="303212"/>
        </p:xfrm>
        <a:graphic>
          <a:graphicData uri="http://schemas.openxmlformats.org/presentationml/2006/ole">
            <mc:AlternateContent xmlns:mc="http://schemas.openxmlformats.org/markup-compatibility/2006">
              <mc:Choice xmlns:v="urn:schemas-microsoft-com:vml" Requires="v">
                <p:oleObj spid="_x0000_s359565" name="" r:id="rId13" imgW="554355" imgH="349885" progId="Equation.3">
                  <p:embed/>
                </p:oleObj>
              </mc:Choice>
              <mc:Fallback>
                <p:oleObj name="" r:id="rId13" imgW="554355" imgH="349885"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57838" y="5903913"/>
                        <a:ext cx="4699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4" name="直接连接符 3"/>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矩形 4"/>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三、课堂练习</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6" name="组合 5"/>
          <p:cNvGrpSpPr/>
          <p:nvPr/>
        </p:nvGrpSpPr>
        <p:grpSpPr>
          <a:xfrm>
            <a:off x="851761" y="364781"/>
            <a:ext cx="263341" cy="395013"/>
            <a:chOff x="5284519" y="1508166"/>
            <a:chExt cx="213756" cy="427512"/>
          </a:xfrm>
        </p:grpSpPr>
        <p:cxnSp>
          <p:nvCxnSpPr>
            <p:cNvPr id="3" name="直接连接符 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8"/>
          <p:cNvGraphicFramePr>
            <a:graphicFrameLocks noChangeAspect="1"/>
          </p:cNvGraphicFramePr>
          <p:nvPr/>
        </p:nvGraphicFramePr>
        <p:xfrm>
          <a:off x="1319213" y="1046163"/>
          <a:ext cx="9240837" cy="2238375"/>
        </p:xfrm>
        <a:graphic>
          <a:graphicData uri="http://schemas.openxmlformats.org/presentationml/2006/ole">
            <mc:AlternateContent xmlns:mc="http://schemas.openxmlformats.org/markup-compatibility/2006">
              <mc:Choice xmlns:v="urn:schemas-microsoft-com:vml" Requires="v">
                <p:oleObj spid="_x0000_s360697" name="" r:id="rId1" imgW="11725275" imgH="2718435" progId="Word.Document.8">
                  <p:embed/>
                </p:oleObj>
              </mc:Choice>
              <mc:Fallback>
                <p:oleObj name="" r:id="rId1" imgW="11725275" imgH="2718435" progId="Word.Document.8">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213" y="1046163"/>
                        <a:ext cx="9240837"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3"/>
          <p:cNvGraphicFramePr>
            <a:graphicFrameLocks noChangeAspect="1"/>
          </p:cNvGraphicFramePr>
          <p:nvPr/>
        </p:nvGraphicFramePr>
        <p:xfrm>
          <a:off x="1722438" y="3149600"/>
          <a:ext cx="508000" cy="392113"/>
        </p:xfrm>
        <a:graphic>
          <a:graphicData uri="http://schemas.openxmlformats.org/presentationml/2006/ole">
            <mc:AlternateContent xmlns:mc="http://schemas.openxmlformats.org/markup-compatibility/2006">
              <mc:Choice xmlns:v="urn:schemas-microsoft-com:vml" Requires="v">
                <p:oleObj spid="_x0000_s360698" name="" r:id="rId3" imgW="593090" imgH="457200" progId="Equation.3">
                  <p:embed/>
                </p:oleObj>
              </mc:Choice>
              <mc:Fallback>
                <p:oleObj name="" r:id="rId3" imgW="593090" imgH="457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2438" y="3149600"/>
                        <a:ext cx="5080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4"/>
          <p:cNvGraphicFramePr>
            <a:graphicFrameLocks noChangeAspect="1"/>
          </p:cNvGraphicFramePr>
          <p:nvPr/>
        </p:nvGraphicFramePr>
        <p:xfrm>
          <a:off x="2306638" y="3141663"/>
          <a:ext cx="5295900" cy="430212"/>
        </p:xfrm>
        <a:graphic>
          <a:graphicData uri="http://schemas.openxmlformats.org/presentationml/2006/ole">
            <mc:AlternateContent xmlns:mc="http://schemas.openxmlformats.org/markup-compatibility/2006">
              <mc:Choice xmlns:v="urn:schemas-microsoft-com:vml" Requires="v">
                <p:oleObj spid="_x0000_s360699" name="" r:id="rId5" imgW="6351905" imgH="506095" progId="Equation.3">
                  <p:embed/>
                </p:oleObj>
              </mc:Choice>
              <mc:Fallback>
                <p:oleObj name="" r:id="rId5" imgW="6351905" imgH="50609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6638" y="3141663"/>
                        <a:ext cx="52959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 name="Object 5"/>
          <p:cNvGraphicFramePr>
            <a:graphicFrameLocks noChangeAspect="1"/>
          </p:cNvGraphicFramePr>
          <p:nvPr/>
        </p:nvGraphicFramePr>
        <p:xfrm>
          <a:off x="2390775" y="3721100"/>
          <a:ext cx="2959100" cy="430213"/>
        </p:xfrm>
        <a:graphic>
          <a:graphicData uri="http://schemas.openxmlformats.org/presentationml/2006/ole">
            <mc:AlternateContent xmlns:mc="http://schemas.openxmlformats.org/markup-compatibility/2006">
              <mc:Choice xmlns:v="urn:schemas-microsoft-com:vml" Requires="v">
                <p:oleObj spid="_x0000_s360700" name="" r:id="rId7" imgW="3550285" imgH="506095" progId="Equation.3">
                  <p:embed/>
                </p:oleObj>
              </mc:Choice>
              <mc:Fallback>
                <p:oleObj name="" r:id="rId7" imgW="3550285" imgH="50609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90775" y="3721100"/>
                        <a:ext cx="29591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Object 6"/>
          <p:cNvGraphicFramePr>
            <a:graphicFrameLocks noChangeAspect="1"/>
          </p:cNvGraphicFramePr>
          <p:nvPr/>
        </p:nvGraphicFramePr>
        <p:xfrm>
          <a:off x="5888038" y="3759200"/>
          <a:ext cx="2057400" cy="392113"/>
        </p:xfrm>
        <a:graphic>
          <a:graphicData uri="http://schemas.openxmlformats.org/presentationml/2006/ole">
            <mc:AlternateContent xmlns:mc="http://schemas.openxmlformats.org/markup-compatibility/2006">
              <mc:Choice xmlns:v="urn:schemas-microsoft-com:vml" Requires="v">
                <p:oleObj spid="_x0000_s360701" name="" r:id="rId9" imgW="2461260" imgH="457200" progId="Equation.3">
                  <p:embed/>
                </p:oleObj>
              </mc:Choice>
              <mc:Fallback>
                <p:oleObj name="" r:id="rId9" imgW="2461260" imgH="4572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88038" y="3759200"/>
                        <a:ext cx="20574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 name="Object 7"/>
          <p:cNvGraphicFramePr>
            <a:graphicFrameLocks noChangeAspect="1"/>
          </p:cNvGraphicFramePr>
          <p:nvPr/>
        </p:nvGraphicFramePr>
        <p:xfrm>
          <a:off x="8174038" y="3759200"/>
          <a:ext cx="2057400" cy="392113"/>
        </p:xfrm>
        <a:graphic>
          <a:graphicData uri="http://schemas.openxmlformats.org/presentationml/2006/ole">
            <mc:AlternateContent xmlns:mc="http://schemas.openxmlformats.org/markup-compatibility/2006">
              <mc:Choice xmlns:v="urn:schemas-microsoft-com:vml" Requires="v">
                <p:oleObj spid="_x0000_s360702" name="" r:id="rId11" imgW="2461260" imgH="457200" progId="Equation.3">
                  <p:embed/>
                </p:oleObj>
              </mc:Choice>
              <mc:Fallback>
                <p:oleObj name="" r:id="rId11" imgW="2461260" imgH="4572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74038" y="3759200"/>
                        <a:ext cx="20574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Object 8"/>
          <p:cNvGraphicFramePr>
            <a:graphicFrameLocks noChangeAspect="1"/>
          </p:cNvGraphicFramePr>
          <p:nvPr/>
        </p:nvGraphicFramePr>
        <p:xfrm>
          <a:off x="2397125" y="4370388"/>
          <a:ext cx="3225800" cy="430212"/>
        </p:xfrm>
        <a:graphic>
          <a:graphicData uri="http://schemas.openxmlformats.org/presentationml/2006/ole">
            <mc:AlternateContent xmlns:mc="http://schemas.openxmlformats.org/markup-compatibility/2006">
              <mc:Choice xmlns:v="urn:schemas-microsoft-com:vml" Requires="v">
                <p:oleObj spid="_x0000_s360703" name="" r:id="rId13" imgW="3871595" imgH="506095" progId="Equation.3">
                  <p:embed/>
                </p:oleObj>
              </mc:Choice>
              <mc:Fallback>
                <p:oleObj name="" r:id="rId13" imgW="3871595" imgH="506095"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97125" y="4370388"/>
                        <a:ext cx="32258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 name="Object 9"/>
          <p:cNvGraphicFramePr>
            <a:graphicFrameLocks noChangeAspect="1"/>
          </p:cNvGraphicFramePr>
          <p:nvPr/>
        </p:nvGraphicFramePr>
        <p:xfrm>
          <a:off x="5900738" y="4178300"/>
          <a:ext cx="4660900" cy="838200"/>
        </p:xfrm>
        <a:graphic>
          <a:graphicData uri="http://schemas.openxmlformats.org/presentationml/2006/ole">
            <mc:AlternateContent xmlns:mc="http://schemas.openxmlformats.org/markup-compatibility/2006">
              <mc:Choice xmlns:v="urn:schemas-microsoft-com:vml" Requires="v">
                <p:oleObj spid="_x0000_s360704" name="" r:id="rId15" imgW="5583555" imgH="992505" progId="Equation.3">
                  <p:embed/>
                </p:oleObj>
              </mc:Choice>
              <mc:Fallback>
                <p:oleObj name="" r:id="rId15" imgW="5583555" imgH="992505"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00738" y="4178300"/>
                        <a:ext cx="46609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 name="Object 10"/>
          <p:cNvGraphicFramePr>
            <a:graphicFrameLocks noChangeAspect="1"/>
          </p:cNvGraphicFramePr>
          <p:nvPr/>
        </p:nvGraphicFramePr>
        <p:xfrm>
          <a:off x="2306638" y="5154613"/>
          <a:ext cx="3835400" cy="495300"/>
        </p:xfrm>
        <a:graphic>
          <a:graphicData uri="http://schemas.openxmlformats.org/presentationml/2006/ole">
            <mc:AlternateContent xmlns:mc="http://schemas.openxmlformats.org/markup-compatibility/2006">
              <mc:Choice xmlns:v="urn:schemas-microsoft-com:vml" Requires="v">
                <p:oleObj spid="_x0000_s360705" name="" r:id="rId17" imgW="4601210" imgH="583565" progId="Equation.DSMT4">
                  <p:embed/>
                </p:oleObj>
              </mc:Choice>
              <mc:Fallback>
                <p:oleObj name="" r:id="rId17" imgW="4601210" imgH="583565"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06638" y="5154613"/>
                        <a:ext cx="38354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 name="Object 11"/>
          <p:cNvGraphicFramePr>
            <a:graphicFrameLocks noChangeAspect="1"/>
          </p:cNvGraphicFramePr>
          <p:nvPr/>
        </p:nvGraphicFramePr>
        <p:xfrm>
          <a:off x="6224588" y="5232400"/>
          <a:ext cx="3302000" cy="392113"/>
        </p:xfrm>
        <a:graphic>
          <a:graphicData uri="http://schemas.openxmlformats.org/presentationml/2006/ole">
            <mc:AlternateContent xmlns:mc="http://schemas.openxmlformats.org/markup-compatibility/2006">
              <mc:Choice xmlns:v="urn:schemas-microsoft-com:vml" Requires="v">
                <p:oleObj spid="_x0000_s360706" name="" r:id="rId19" imgW="3959225" imgH="457200" progId="Equation.3">
                  <p:embed/>
                </p:oleObj>
              </mc:Choice>
              <mc:Fallback>
                <p:oleObj name="" r:id="rId19" imgW="3959225" imgH="457200"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224588" y="5232400"/>
                        <a:ext cx="33020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 name="Object 12"/>
          <p:cNvGraphicFramePr>
            <a:graphicFrameLocks noChangeAspect="1"/>
          </p:cNvGraphicFramePr>
          <p:nvPr/>
        </p:nvGraphicFramePr>
        <p:xfrm>
          <a:off x="2973388" y="5662613"/>
          <a:ext cx="1536700" cy="838200"/>
        </p:xfrm>
        <a:graphic>
          <a:graphicData uri="http://schemas.openxmlformats.org/presentationml/2006/ole">
            <mc:AlternateContent xmlns:mc="http://schemas.openxmlformats.org/markup-compatibility/2006">
              <mc:Choice xmlns:v="urn:schemas-microsoft-com:vml" Requires="v">
                <p:oleObj spid="_x0000_s360707" name="" r:id="rId21" imgW="1828800" imgH="992505" progId="Equation.3">
                  <p:embed/>
                </p:oleObj>
              </mc:Choice>
              <mc:Fallback>
                <p:oleObj name="" r:id="rId21" imgW="1828800" imgH="992505"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973388" y="5662613"/>
                        <a:ext cx="15367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 name="Object 13"/>
          <p:cNvGraphicFramePr>
            <a:graphicFrameLocks noChangeAspect="1"/>
          </p:cNvGraphicFramePr>
          <p:nvPr/>
        </p:nvGraphicFramePr>
        <p:xfrm>
          <a:off x="4516438" y="5857875"/>
          <a:ext cx="1295400" cy="315913"/>
        </p:xfrm>
        <a:graphic>
          <a:graphicData uri="http://schemas.openxmlformats.org/presentationml/2006/ole">
            <mc:AlternateContent xmlns:mc="http://schemas.openxmlformats.org/markup-compatibility/2006">
              <mc:Choice xmlns:v="urn:schemas-microsoft-com:vml" Requires="v">
                <p:oleObj spid="_x0000_s360708" name="" r:id="rId23" imgW="1546860" imgH="369570" progId="Equation.3">
                  <p:embed/>
                </p:oleObj>
              </mc:Choice>
              <mc:Fallback>
                <p:oleObj name="" r:id="rId23" imgW="1546860" imgH="369570" progId="Equation.3">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516438" y="5857875"/>
                        <a:ext cx="12954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 name="Object 14"/>
          <p:cNvGraphicFramePr>
            <a:graphicFrameLocks noChangeAspect="1"/>
          </p:cNvGraphicFramePr>
          <p:nvPr/>
        </p:nvGraphicFramePr>
        <p:xfrm>
          <a:off x="6319838" y="5803900"/>
          <a:ext cx="1092200" cy="392113"/>
        </p:xfrm>
        <a:graphic>
          <a:graphicData uri="http://schemas.openxmlformats.org/presentationml/2006/ole">
            <mc:AlternateContent xmlns:mc="http://schemas.openxmlformats.org/markup-compatibility/2006">
              <mc:Choice xmlns:v="urn:schemas-microsoft-com:vml" Requires="v">
                <p:oleObj spid="_x0000_s360709" name="" r:id="rId25" imgW="1303655" imgH="457200" progId="Equation.3">
                  <p:embed/>
                </p:oleObj>
              </mc:Choice>
              <mc:Fallback>
                <p:oleObj name="" r:id="rId25" imgW="1303655" imgH="457200" progId="Equation.3">
                  <p:embed/>
                  <p:pic>
                    <p:nvPicPr>
                      <p:cNvPr id="0" name="Object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319838" y="5803900"/>
                        <a:ext cx="10922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4" name="直接连接符 3"/>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矩形 4"/>
          <p:cNvSpPr>
            <a:spLocks noChangeArrowheads="1"/>
          </p:cNvSpPr>
          <p:nvPr/>
        </p:nvSpPr>
        <p:spPr bwMode="auto">
          <a:xfrm>
            <a:off x="1406163" y="255069"/>
            <a:ext cx="2421890" cy="54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spcAft>
                <a:spcPts val="0"/>
              </a:spcAft>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三、课堂练习</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6" name="组合 5"/>
          <p:cNvGrpSpPr/>
          <p:nvPr/>
        </p:nvGrpSpPr>
        <p:grpSpPr>
          <a:xfrm>
            <a:off x="851761" y="364781"/>
            <a:ext cx="263341" cy="395013"/>
            <a:chOff x="5284519" y="1508166"/>
            <a:chExt cx="213756" cy="427512"/>
          </a:xfrm>
        </p:grpSpPr>
        <p:cxnSp>
          <p:nvCxnSpPr>
            <p:cNvPr id="7" name="直接连接符 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8" name="直接连接符 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wipe(left)">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wipe(left)">
                                      <p:cBhvr>
                                        <p:cTn id="57" dur="50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left)">
                                      <p:cBhvr>
                                        <p:cTn id="6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2"/>
          <p:cNvGraphicFramePr>
            <a:graphicFrameLocks noChangeAspect="1"/>
          </p:cNvGraphicFramePr>
          <p:nvPr/>
        </p:nvGraphicFramePr>
        <p:xfrm>
          <a:off x="1404938" y="1112838"/>
          <a:ext cx="9574212" cy="2582862"/>
        </p:xfrm>
        <a:graphic>
          <a:graphicData uri="http://schemas.openxmlformats.org/presentationml/2006/ole">
            <mc:AlternateContent xmlns:mc="http://schemas.openxmlformats.org/markup-compatibility/2006">
              <mc:Choice xmlns:v="urn:schemas-microsoft-com:vml" Requires="v">
                <p:oleObj spid="_x0000_s361683" name="" r:id="rId1" imgW="11565890" imgH="2880995" progId="Word.Document.8">
                  <p:embed/>
                </p:oleObj>
              </mc:Choice>
              <mc:Fallback>
                <p:oleObj name="" r:id="rId1" imgW="11565890" imgH="2880995" progId="Word.Document.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4938" y="1112838"/>
                        <a:ext cx="9574212" cy="25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3"/>
          <p:cNvGraphicFramePr>
            <a:graphicFrameLocks noChangeAspect="1"/>
          </p:cNvGraphicFramePr>
          <p:nvPr/>
        </p:nvGraphicFramePr>
        <p:xfrm>
          <a:off x="1570038" y="3446463"/>
          <a:ext cx="508000" cy="392112"/>
        </p:xfrm>
        <a:graphic>
          <a:graphicData uri="http://schemas.openxmlformats.org/presentationml/2006/ole">
            <mc:AlternateContent xmlns:mc="http://schemas.openxmlformats.org/markup-compatibility/2006">
              <mc:Choice xmlns:v="urn:schemas-microsoft-com:vml" Requires="v">
                <p:oleObj spid="_x0000_s361684" name="" r:id="rId3" imgW="593090" imgH="457200" progId="Equation.3">
                  <p:embed/>
                </p:oleObj>
              </mc:Choice>
              <mc:Fallback>
                <p:oleObj name="" r:id="rId3" imgW="593090" imgH="457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0038" y="3446463"/>
                        <a:ext cx="5080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4"/>
          <p:cNvGraphicFramePr>
            <a:graphicFrameLocks noChangeAspect="1"/>
          </p:cNvGraphicFramePr>
          <p:nvPr/>
        </p:nvGraphicFramePr>
        <p:xfrm>
          <a:off x="2217738" y="3440113"/>
          <a:ext cx="5170487" cy="442912"/>
        </p:xfrm>
        <a:graphic>
          <a:graphicData uri="http://schemas.openxmlformats.org/presentationml/2006/ole">
            <mc:AlternateContent xmlns:mc="http://schemas.openxmlformats.org/markup-compatibility/2006">
              <mc:Choice xmlns:v="urn:schemas-microsoft-com:vml" Requires="v">
                <p:oleObj spid="_x0000_s361685" name="" r:id="rId5" imgW="6206490" imgH="525145" progId="Equation.3">
                  <p:embed/>
                </p:oleObj>
              </mc:Choice>
              <mc:Fallback>
                <p:oleObj name="" r:id="rId5" imgW="6206490" imgH="52514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7738" y="3440113"/>
                        <a:ext cx="5170487"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5"/>
          <p:cNvGraphicFramePr>
            <a:graphicFrameLocks noChangeAspect="1"/>
          </p:cNvGraphicFramePr>
          <p:nvPr/>
        </p:nvGraphicFramePr>
        <p:xfrm>
          <a:off x="2632075" y="4094163"/>
          <a:ext cx="2286000" cy="430212"/>
        </p:xfrm>
        <a:graphic>
          <a:graphicData uri="http://schemas.openxmlformats.org/presentationml/2006/ole">
            <mc:AlternateContent xmlns:mc="http://schemas.openxmlformats.org/markup-compatibility/2006">
              <mc:Choice xmlns:v="urn:schemas-microsoft-com:vml" Requires="v">
                <p:oleObj spid="_x0000_s361686" name="" r:id="rId7" imgW="2733675" imgH="506095" progId="Equation.3">
                  <p:embed/>
                </p:oleObj>
              </mc:Choice>
              <mc:Fallback>
                <p:oleObj name="" r:id="rId7" imgW="2733675" imgH="50609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32075" y="4094163"/>
                        <a:ext cx="22860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6"/>
          <p:cNvGraphicFramePr>
            <a:graphicFrameLocks noChangeAspect="1"/>
          </p:cNvGraphicFramePr>
          <p:nvPr/>
        </p:nvGraphicFramePr>
        <p:xfrm>
          <a:off x="5194300" y="4152900"/>
          <a:ext cx="1993900" cy="392113"/>
        </p:xfrm>
        <a:graphic>
          <a:graphicData uri="http://schemas.openxmlformats.org/presentationml/2006/ole">
            <mc:AlternateContent xmlns:mc="http://schemas.openxmlformats.org/markup-compatibility/2006">
              <mc:Choice xmlns:v="urn:schemas-microsoft-com:vml" Requires="v">
                <p:oleObj spid="_x0000_s361687" name="" r:id="rId9" imgW="2383155" imgH="457200" progId="Equation.3">
                  <p:embed/>
                </p:oleObj>
              </mc:Choice>
              <mc:Fallback>
                <p:oleObj name="" r:id="rId9" imgW="2383155" imgH="4572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94300" y="4152900"/>
                        <a:ext cx="19939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7"/>
          <p:cNvGraphicFramePr>
            <a:graphicFrameLocks noChangeAspect="1"/>
          </p:cNvGraphicFramePr>
          <p:nvPr/>
        </p:nvGraphicFramePr>
        <p:xfrm>
          <a:off x="7388225" y="4170363"/>
          <a:ext cx="2171700" cy="392112"/>
        </p:xfrm>
        <a:graphic>
          <a:graphicData uri="http://schemas.openxmlformats.org/presentationml/2006/ole">
            <mc:AlternateContent xmlns:mc="http://schemas.openxmlformats.org/markup-compatibility/2006">
              <mc:Choice xmlns:v="urn:schemas-microsoft-com:vml" Requires="v">
                <p:oleObj spid="_x0000_s361688" name="" r:id="rId11" imgW="2597150" imgH="457200" progId="Equation.3">
                  <p:embed/>
                </p:oleObj>
              </mc:Choice>
              <mc:Fallback>
                <p:oleObj name="" r:id="rId11" imgW="2597150" imgH="4572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88225" y="4170363"/>
                        <a:ext cx="21717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8"/>
          <p:cNvGraphicFramePr>
            <a:graphicFrameLocks noChangeAspect="1"/>
          </p:cNvGraphicFramePr>
          <p:nvPr/>
        </p:nvGraphicFramePr>
        <p:xfrm>
          <a:off x="2667000" y="4918075"/>
          <a:ext cx="2870200" cy="430213"/>
        </p:xfrm>
        <a:graphic>
          <a:graphicData uri="http://schemas.openxmlformats.org/presentationml/2006/ole">
            <mc:AlternateContent xmlns:mc="http://schemas.openxmlformats.org/markup-compatibility/2006">
              <mc:Choice xmlns:v="urn:schemas-microsoft-com:vml" Requires="v">
                <p:oleObj spid="_x0000_s361689" name="" r:id="rId13" imgW="3434080" imgH="506095" progId="Equation.3">
                  <p:embed/>
                </p:oleObj>
              </mc:Choice>
              <mc:Fallback>
                <p:oleObj name="" r:id="rId13" imgW="3434080" imgH="506095"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67000" y="4918075"/>
                        <a:ext cx="28702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9"/>
          <p:cNvGraphicFramePr>
            <a:graphicFrameLocks noChangeAspect="1"/>
          </p:cNvGraphicFramePr>
          <p:nvPr/>
        </p:nvGraphicFramePr>
        <p:xfrm>
          <a:off x="2667000" y="5788025"/>
          <a:ext cx="3263900" cy="419100"/>
        </p:xfrm>
        <a:graphic>
          <a:graphicData uri="http://schemas.openxmlformats.org/presentationml/2006/ole">
            <mc:AlternateContent xmlns:mc="http://schemas.openxmlformats.org/markup-compatibility/2006">
              <mc:Choice xmlns:v="urn:schemas-microsoft-com:vml" Requires="v">
                <p:oleObj spid="_x0000_s361690" name="" r:id="rId15" imgW="3920490" imgH="495935" progId="Equation.DSMT4">
                  <p:embed/>
                </p:oleObj>
              </mc:Choice>
              <mc:Fallback>
                <p:oleObj name="" r:id="rId15" imgW="3920490" imgH="495935"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67000" y="5788025"/>
                        <a:ext cx="32639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10"/>
          <p:cNvGraphicFramePr>
            <a:graphicFrameLocks noChangeAspect="1"/>
          </p:cNvGraphicFramePr>
          <p:nvPr/>
        </p:nvGraphicFramePr>
        <p:xfrm>
          <a:off x="6073775" y="5589588"/>
          <a:ext cx="5326063" cy="812800"/>
        </p:xfrm>
        <a:graphic>
          <a:graphicData uri="http://schemas.openxmlformats.org/presentationml/2006/ole">
            <mc:AlternateContent xmlns:mc="http://schemas.openxmlformats.org/markup-compatibility/2006">
              <mc:Choice xmlns:v="urn:schemas-microsoft-com:vml" Requires="v">
                <p:oleObj spid="_x0000_s361691" name="" r:id="rId17" imgW="7091680" imgH="1079500" progId="Equation.3">
                  <p:embed/>
                </p:oleObj>
              </mc:Choice>
              <mc:Fallback>
                <p:oleObj name="" r:id="rId17" imgW="7091680" imgH="1079500" progId="Equation.3">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73775" y="5589588"/>
                        <a:ext cx="5326063"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5" name="Group 14"/>
          <p:cNvGrpSpPr/>
          <p:nvPr/>
        </p:nvGrpSpPr>
        <p:grpSpPr bwMode="auto">
          <a:xfrm>
            <a:off x="5484813" y="4740275"/>
            <a:ext cx="2736850" cy="793750"/>
            <a:chOff x="2375" y="3004"/>
            <a:chExt cx="1848" cy="536"/>
          </a:xfrm>
        </p:grpSpPr>
        <p:graphicFrame>
          <p:nvGraphicFramePr>
            <p:cNvPr id="19468" name="Object 12"/>
            <p:cNvGraphicFramePr>
              <a:graphicFrameLocks noChangeAspect="1"/>
            </p:cNvGraphicFramePr>
            <p:nvPr/>
          </p:nvGraphicFramePr>
          <p:xfrm>
            <a:off x="2375" y="3004"/>
            <a:ext cx="1848" cy="536"/>
          </p:xfrm>
          <a:graphic>
            <a:graphicData uri="http://schemas.openxmlformats.org/presentationml/2006/ole">
              <mc:AlternateContent xmlns:mc="http://schemas.openxmlformats.org/markup-compatibility/2006">
                <mc:Choice xmlns:v="urn:schemas-microsoft-com:vml" Requires="v">
                  <p:oleObj spid="_x0000_s361692" name="" r:id="rId19" imgW="3511550" imgH="1002030" progId="Equation.3">
                    <p:embed/>
                  </p:oleObj>
                </mc:Choice>
                <mc:Fallback>
                  <p:oleObj name="" r:id="rId19" imgW="3511550" imgH="1002030" progId="Equation.3">
                    <p:embed/>
                    <p:pic>
                      <p:nvPicPr>
                        <p:cNvPr id="0" name="Object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75" y="3004"/>
                          <a:ext cx="1848"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469" name="Object 13"/>
            <p:cNvGraphicFramePr>
              <a:graphicFrameLocks noChangeAspect="1"/>
            </p:cNvGraphicFramePr>
            <p:nvPr/>
          </p:nvGraphicFramePr>
          <p:xfrm>
            <a:off x="3288" y="3065"/>
            <a:ext cx="316" cy="165"/>
          </p:xfrm>
          <a:graphic>
            <a:graphicData uri="http://schemas.openxmlformats.org/presentationml/2006/ole">
              <mc:AlternateContent xmlns:mc="http://schemas.openxmlformats.org/markup-compatibility/2006">
                <mc:Choice xmlns:v="urn:schemas-microsoft-com:vml" Requires="v">
                  <p:oleObj spid="_x0000_s361693" name="" r:id="rId21" imgW="894715" imgH="457200" progId="Equation.3">
                    <p:embed/>
                  </p:oleObj>
                </mc:Choice>
                <mc:Fallback>
                  <p:oleObj name="" r:id="rId21" imgW="894715" imgH="457200" progId="Equation.3">
                    <p:embed/>
                    <p:pic>
                      <p:nvPicPr>
                        <p:cNvPr id="0" name="Object 1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88" y="3065"/>
                          <a:ext cx="31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2"/>
          <p:cNvGraphicFramePr>
            <a:graphicFrameLocks noChangeAspect="1"/>
          </p:cNvGraphicFramePr>
          <p:nvPr/>
        </p:nvGraphicFramePr>
        <p:xfrm>
          <a:off x="1282700" y="1309688"/>
          <a:ext cx="3619500" cy="419100"/>
        </p:xfrm>
        <a:graphic>
          <a:graphicData uri="http://schemas.openxmlformats.org/presentationml/2006/ole">
            <mc:AlternateContent xmlns:mc="http://schemas.openxmlformats.org/markup-compatibility/2006">
              <mc:Choice xmlns:v="urn:schemas-microsoft-com:vml" Requires="v">
                <p:oleObj spid="_x0000_s362669" name="" r:id="rId1" imgW="4338320" imgH="495935" progId="Equation.DSMT4">
                  <p:embed/>
                </p:oleObj>
              </mc:Choice>
              <mc:Fallback>
                <p:oleObj name="" r:id="rId1" imgW="4338320" imgH="495935"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2700" y="1309688"/>
                        <a:ext cx="36195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4"/>
          <p:cNvGraphicFramePr>
            <a:graphicFrameLocks noChangeAspect="1"/>
          </p:cNvGraphicFramePr>
          <p:nvPr/>
        </p:nvGraphicFramePr>
        <p:xfrm>
          <a:off x="5016500" y="2276475"/>
          <a:ext cx="2565400" cy="901700"/>
        </p:xfrm>
        <a:graphic>
          <a:graphicData uri="http://schemas.openxmlformats.org/presentationml/2006/ole">
            <mc:AlternateContent xmlns:mc="http://schemas.openxmlformats.org/markup-compatibility/2006">
              <mc:Choice xmlns:v="urn:schemas-microsoft-com:vml" Requires="v">
                <p:oleObj spid="_x0000_s362670" name="" r:id="rId3" imgW="3064510" imgH="1079500" progId="Equation.3">
                  <p:embed/>
                </p:oleObj>
              </mc:Choice>
              <mc:Fallback>
                <p:oleObj name="" r:id="rId3" imgW="3064510" imgH="1079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6500" y="2276475"/>
                        <a:ext cx="25654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6"/>
          <p:cNvGraphicFramePr>
            <a:graphicFrameLocks noChangeAspect="1"/>
          </p:cNvGraphicFramePr>
          <p:nvPr/>
        </p:nvGraphicFramePr>
        <p:xfrm>
          <a:off x="7829550" y="2551113"/>
          <a:ext cx="939800" cy="315912"/>
        </p:xfrm>
        <a:graphic>
          <a:graphicData uri="http://schemas.openxmlformats.org/presentationml/2006/ole">
            <mc:AlternateContent xmlns:mc="http://schemas.openxmlformats.org/markup-compatibility/2006">
              <mc:Choice xmlns:v="urn:schemas-microsoft-com:vml" Requires="v">
                <p:oleObj spid="_x0000_s362671" name="" r:id="rId5" imgW="1118870" imgH="369570" progId="Equation.3">
                  <p:embed/>
                </p:oleObj>
              </mc:Choice>
              <mc:Fallback>
                <p:oleObj name="" r:id="rId5" imgW="1118870" imgH="36957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29550" y="2551113"/>
                        <a:ext cx="9398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7"/>
          <p:cNvGraphicFramePr>
            <a:graphicFrameLocks noChangeAspect="1"/>
          </p:cNvGraphicFramePr>
          <p:nvPr/>
        </p:nvGraphicFramePr>
        <p:xfrm>
          <a:off x="1487488" y="4678363"/>
          <a:ext cx="3225800" cy="417512"/>
        </p:xfrm>
        <a:graphic>
          <a:graphicData uri="http://schemas.openxmlformats.org/presentationml/2006/ole">
            <mc:AlternateContent xmlns:mc="http://schemas.openxmlformats.org/markup-compatibility/2006">
              <mc:Choice xmlns:v="urn:schemas-microsoft-com:vml" Requires="v">
                <p:oleObj spid="_x0000_s362672" name="" r:id="rId7" imgW="3871595" imgH="495935" progId="Equation.DSMT4">
                  <p:embed/>
                </p:oleObj>
              </mc:Choice>
              <mc:Fallback>
                <p:oleObj name="" r:id="rId7" imgW="3871595" imgH="495935"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87488" y="4678363"/>
                        <a:ext cx="3225800"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8"/>
          <p:cNvGraphicFramePr>
            <a:graphicFrameLocks noChangeAspect="1"/>
          </p:cNvGraphicFramePr>
          <p:nvPr/>
        </p:nvGraphicFramePr>
        <p:xfrm>
          <a:off x="5016500" y="4437063"/>
          <a:ext cx="3162300" cy="901700"/>
        </p:xfrm>
        <a:graphic>
          <a:graphicData uri="http://schemas.openxmlformats.org/presentationml/2006/ole">
            <mc:AlternateContent xmlns:mc="http://schemas.openxmlformats.org/markup-compatibility/2006">
              <mc:Choice xmlns:v="urn:schemas-microsoft-com:vml" Requires="v">
                <p:oleObj spid="_x0000_s362673" name="" r:id="rId9" imgW="3793490" imgH="1079500" progId="Equation.DSMT4">
                  <p:embed/>
                </p:oleObj>
              </mc:Choice>
              <mc:Fallback>
                <p:oleObj name="" r:id="rId9" imgW="3793490" imgH="10795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16500" y="4437063"/>
                        <a:ext cx="31623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9"/>
          <p:cNvGraphicFramePr>
            <a:graphicFrameLocks noChangeAspect="1"/>
          </p:cNvGraphicFramePr>
          <p:nvPr/>
        </p:nvGraphicFramePr>
        <p:xfrm>
          <a:off x="1457325" y="5514975"/>
          <a:ext cx="2806700" cy="417513"/>
        </p:xfrm>
        <a:graphic>
          <a:graphicData uri="http://schemas.openxmlformats.org/presentationml/2006/ole">
            <mc:AlternateContent xmlns:mc="http://schemas.openxmlformats.org/markup-compatibility/2006">
              <mc:Choice xmlns:v="urn:schemas-microsoft-com:vml" Requires="v">
                <p:oleObj spid="_x0000_s362674" name="" r:id="rId11" imgW="3365500" imgH="495935" progId="Equation.DSMT4">
                  <p:embed/>
                </p:oleObj>
              </mc:Choice>
              <mc:Fallback>
                <p:oleObj name="" r:id="rId11" imgW="3365500" imgH="495935"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57325" y="5514975"/>
                        <a:ext cx="2806700"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10"/>
          <p:cNvGraphicFramePr>
            <a:graphicFrameLocks noChangeAspect="1"/>
          </p:cNvGraphicFramePr>
          <p:nvPr/>
        </p:nvGraphicFramePr>
        <p:xfrm>
          <a:off x="5021263" y="5516563"/>
          <a:ext cx="1600200" cy="415925"/>
        </p:xfrm>
        <a:graphic>
          <a:graphicData uri="http://schemas.openxmlformats.org/presentationml/2006/ole">
            <mc:AlternateContent xmlns:mc="http://schemas.openxmlformats.org/markup-compatibility/2006">
              <mc:Choice xmlns:v="urn:schemas-microsoft-com:vml" Requires="v">
                <p:oleObj spid="_x0000_s362675" name="" r:id="rId13" imgW="1916430" imgH="495935" progId="Equation.DSMT4">
                  <p:embed/>
                </p:oleObj>
              </mc:Choice>
              <mc:Fallback>
                <p:oleObj name="" r:id="rId13" imgW="1916430" imgH="495935" progId="Equation.DSMT4">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21263" y="5516563"/>
                        <a:ext cx="16002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13"/>
          <p:cNvGraphicFramePr>
            <a:graphicFrameLocks noChangeAspect="1"/>
          </p:cNvGraphicFramePr>
          <p:nvPr/>
        </p:nvGraphicFramePr>
        <p:xfrm>
          <a:off x="5016500" y="1154113"/>
          <a:ext cx="5346700" cy="815975"/>
        </p:xfrm>
        <a:graphic>
          <a:graphicData uri="http://schemas.openxmlformats.org/presentationml/2006/ole">
            <mc:AlternateContent xmlns:mc="http://schemas.openxmlformats.org/markup-compatibility/2006">
              <mc:Choice xmlns:v="urn:schemas-microsoft-com:vml" Requires="v">
                <p:oleObj spid="_x0000_s362676" name="" r:id="rId15" imgW="7091680" imgH="1079500" progId="Equation.3">
                  <p:embed/>
                </p:oleObj>
              </mc:Choice>
              <mc:Fallback>
                <p:oleObj name="" r:id="rId15" imgW="7091680" imgH="1079500"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16500" y="1154113"/>
                        <a:ext cx="5346700"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14"/>
          <p:cNvGraphicFramePr>
            <a:graphicFrameLocks noChangeAspect="1"/>
          </p:cNvGraphicFramePr>
          <p:nvPr/>
        </p:nvGraphicFramePr>
        <p:xfrm>
          <a:off x="1487488" y="3413125"/>
          <a:ext cx="3098800" cy="901700"/>
        </p:xfrm>
        <a:graphic>
          <a:graphicData uri="http://schemas.openxmlformats.org/presentationml/2006/ole">
            <mc:AlternateContent xmlns:mc="http://schemas.openxmlformats.org/markup-compatibility/2006">
              <mc:Choice xmlns:v="urn:schemas-microsoft-com:vml" Requires="v">
                <p:oleObj spid="_x0000_s362677" name="" r:id="rId17" imgW="3706495" imgH="1079500" progId="Equation.3">
                  <p:embed/>
                </p:oleObj>
              </mc:Choice>
              <mc:Fallback>
                <p:oleObj name="" r:id="rId17" imgW="3706495" imgH="1079500" progId="Equation.3">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87488" y="3413125"/>
                        <a:ext cx="30988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30" name="Object 3"/>
          <p:cNvGraphicFramePr>
            <a:graphicFrameLocks noChangeAspect="1"/>
          </p:cNvGraphicFramePr>
          <p:nvPr/>
        </p:nvGraphicFramePr>
        <p:xfrm>
          <a:off x="1373188" y="1117600"/>
          <a:ext cx="9026525" cy="1646238"/>
        </p:xfrm>
        <a:graphic>
          <a:graphicData uri="http://schemas.openxmlformats.org/presentationml/2006/ole">
            <mc:AlternateContent xmlns:mc="http://schemas.openxmlformats.org/markup-compatibility/2006">
              <mc:Choice xmlns:v="urn:schemas-microsoft-com:vml" Requires="v">
                <p:oleObj spid="_x0000_s363769" name="" r:id="rId1" imgW="10819765" imgH="1975485" progId="Word.Document.8">
                  <p:embed/>
                </p:oleObj>
              </mc:Choice>
              <mc:Fallback>
                <p:oleObj name="" r:id="rId1" imgW="10819765" imgH="1975485"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3188" y="1117600"/>
                        <a:ext cx="9026525"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6"/>
          <p:cNvGraphicFramePr>
            <a:graphicFrameLocks noChangeAspect="1"/>
          </p:cNvGraphicFramePr>
          <p:nvPr/>
        </p:nvGraphicFramePr>
        <p:xfrm>
          <a:off x="1509713" y="2876550"/>
          <a:ext cx="508000" cy="392113"/>
        </p:xfrm>
        <a:graphic>
          <a:graphicData uri="http://schemas.openxmlformats.org/presentationml/2006/ole">
            <mc:AlternateContent xmlns:mc="http://schemas.openxmlformats.org/markup-compatibility/2006">
              <mc:Choice xmlns:v="urn:schemas-microsoft-com:vml" Requires="v">
                <p:oleObj spid="_x0000_s363770" name="" r:id="rId3" imgW="593090" imgH="457200" progId="Equation.3">
                  <p:embed/>
                </p:oleObj>
              </mc:Choice>
              <mc:Fallback>
                <p:oleObj name="" r:id="rId3" imgW="593090" imgH="457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9713" y="2876550"/>
                        <a:ext cx="5080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7"/>
          <p:cNvGraphicFramePr>
            <a:graphicFrameLocks noChangeAspect="1"/>
          </p:cNvGraphicFramePr>
          <p:nvPr/>
        </p:nvGraphicFramePr>
        <p:xfrm>
          <a:off x="2379663" y="2870200"/>
          <a:ext cx="4724400" cy="442913"/>
        </p:xfrm>
        <a:graphic>
          <a:graphicData uri="http://schemas.openxmlformats.org/presentationml/2006/ole">
            <mc:AlternateContent xmlns:mc="http://schemas.openxmlformats.org/markup-compatibility/2006">
              <mc:Choice xmlns:v="urn:schemas-microsoft-com:vml" Requires="v">
                <p:oleObj spid="_x0000_s363771" name="" r:id="rId5" imgW="5671185" imgH="525145" progId="Equation.3">
                  <p:embed/>
                </p:oleObj>
              </mc:Choice>
              <mc:Fallback>
                <p:oleObj name="" r:id="rId5" imgW="5671185" imgH="525145"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9663" y="2870200"/>
                        <a:ext cx="47244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8"/>
          <p:cNvGraphicFramePr>
            <a:graphicFrameLocks noChangeAspect="1"/>
          </p:cNvGraphicFramePr>
          <p:nvPr/>
        </p:nvGraphicFramePr>
        <p:xfrm>
          <a:off x="2740025" y="3535363"/>
          <a:ext cx="2781300" cy="430212"/>
        </p:xfrm>
        <a:graphic>
          <a:graphicData uri="http://schemas.openxmlformats.org/presentationml/2006/ole">
            <mc:AlternateContent xmlns:mc="http://schemas.openxmlformats.org/markup-compatibility/2006">
              <mc:Choice xmlns:v="urn:schemas-microsoft-com:vml" Requires="v">
                <p:oleObj spid="_x0000_s363772" name="" r:id="rId7" imgW="3336290" imgH="506095" progId="Equation.3">
                  <p:embed/>
                </p:oleObj>
              </mc:Choice>
              <mc:Fallback>
                <p:oleObj name="" r:id="rId7" imgW="3336290" imgH="506095"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0025" y="3535363"/>
                        <a:ext cx="27813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9"/>
          <p:cNvGraphicFramePr>
            <a:graphicFrameLocks noChangeAspect="1"/>
          </p:cNvGraphicFramePr>
          <p:nvPr/>
        </p:nvGraphicFramePr>
        <p:xfrm>
          <a:off x="5780088" y="3589338"/>
          <a:ext cx="1879600" cy="392112"/>
        </p:xfrm>
        <a:graphic>
          <a:graphicData uri="http://schemas.openxmlformats.org/presentationml/2006/ole">
            <mc:AlternateContent xmlns:mc="http://schemas.openxmlformats.org/markup-compatibility/2006">
              <mc:Choice xmlns:v="urn:schemas-microsoft-com:vml" Requires="v">
                <p:oleObj spid="_x0000_s363773" name="" r:id="rId9" imgW="2247265" imgH="457200" progId="Equation.3">
                  <p:embed/>
                </p:oleObj>
              </mc:Choice>
              <mc:Fallback>
                <p:oleObj name="" r:id="rId9" imgW="2247265" imgH="4572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80088" y="3589338"/>
                        <a:ext cx="18796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10"/>
          <p:cNvGraphicFramePr>
            <a:graphicFrameLocks noChangeAspect="1"/>
          </p:cNvGraphicFramePr>
          <p:nvPr/>
        </p:nvGraphicFramePr>
        <p:xfrm>
          <a:off x="8066088" y="3602038"/>
          <a:ext cx="1879600" cy="392112"/>
        </p:xfrm>
        <a:graphic>
          <a:graphicData uri="http://schemas.openxmlformats.org/presentationml/2006/ole">
            <mc:AlternateContent xmlns:mc="http://schemas.openxmlformats.org/markup-compatibility/2006">
              <mc:Choice xmlns:v="urn:schemas-microsoft-com:vml" Requires="v">
                <p:oleObj spid="_x0000_s363774" name="" r:id="rId11" imgW="2247265" imgH="457200" progId="Equation.3">
                  <p:embed/>
                </p:oleObj>
              </mc:Choice>
              <mc:Fallback>
                <p:oleObj name="" r:id="rId11" imgW="2247265" imgH="45720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66088" y="3602038"/>
                        <a:ext cx="18796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11"/>
          <p:cNvGraphicFramePr>
            <a:graphicFrameLocks noChangeAspect="1"/>
          </p:cNvGraphicFramePr>
          <p:nvPr/>
        </p:nvGraphicFramePr>
        <p:xfrm>
          <a:off x="2740025" y="4252913"/>
          <a:ext cx="2870200" cy="430212"/>
        </p:xfrm>
        <a:graphic>
          <a:graphicData uri="http://schemas.openxmlformats.org/presentationml/2006/ole">
            <mc:AlternateContent xmlns:mc="http://schemas.openxmlformats.org/markup-compatibility/2006">
              <mc:Choice xmlns:v="urn:schemas-microsoft-com:vml" Requires="v">
                <p:oleObj spid="_x0000_s363775" name="" r:id="rId13" imgW="3434080" imgH="506095" progId="Equation.3">
                  <p:embed/>
                </p:oleObj>
              </mc:Choice>
              <mc:Fallback>
                <p:oleObj name="" r:id="rId13" imgW="3434080" imgH="506095" progId="Equation.3">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40025" y="4252913"/>
                        <a:ext cx="28702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12"/>
          <p:cNvGraphicFramePr>
            <a:graphicFrameLocks noChangeAspect="1"/>
          </p:cNvGraphicFramePr>
          <p:nvPr/>
        </p:nvGraphicFramePr>
        <p:xfrm>
          <a:off x="2740025" y="4921250"/>
          <a:ext cx="2387600" cy="419100"/>
        </p:xfrm>
        <a:graphic>
          <a:graphicData uri="http://schemas.openxmlformats.org/presentationml/2006/ole">
            <mc:AlternateContent xmlns:mc="http://schemas.openxmlformats.org/markup-compatibility/2006">
              <mc:Choice xmlns:v="urn:schemas-microsoft-com:vml" Requires="v">
                <p:oleObj spid="_x0000_s363776" name="" r:id="rId15" imgW="2860040" imgH="495935" progId="Equation.DSMT4">
                  <p:embed/>
                </p:oleObj>
              </mc:Choice>
              <mc:Fallback>
                <p:oleObj name="" r:id="rId15" imgW="2860040" imgH="495935" progId="Equation.DSMT4">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40025" y="4921250"/>
                        <a:ext cx="23876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13"/>
          <p:cNvGraphicFramePr>
            <a:graphicFrameLocks noChangeAspect="1"/>
          </p:cNvGraphicFramePr>
          <p:nvPr/>
        </p:nvGraphicFramePr>
        <p:xfrm>
          <a:off x="3479800" y="5383213"/>
          <a:ext cx="3771900" cy="901700"/>
        </p:xfrm>
        <a:graphic>
          <a:graphicData uri="http://schemas.openxmlformats.org/presentationml/2006/ole">
            <mc:AlternateContent xmlns:mc="http://schemas.openxmlformats.org/markup-compatibility/2006">
              <mc:Choice xmlns:v="urn:schemas-microsoft-com:vml" Requires="v">
                <p:oleObj spid="_x0000_s363777" name="" r:id="rId17" imgW="4523105" imgH="1079500" progId="Equation.3">
                  <p:embed/>
                </p:oleObj>
              </mc:Choice>
              <mc:Fallback>
                <p:oleObj name="" r:id="rId17" imgW="4523105" imgH="1079500" progId="Equation.3">
                  <p:embed/>
                  <p:pic>
                    <p:nvPicPr>
                      <p:cNvPr id="0" name="Object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79800" y="5383213"/>
                        <a:ext cx="37719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4" name="Group 20"/>
          <p:cNvGrpSpPr/>
          <p:nvPr/>
        </p:nvGrpSpPr>
        <p:grpSpPr bwMode="auto">
          <a:xfrm>
            <a:off x="5564188" y="4086225"/>
            <a:ext cx="2819400" cy="850900"/>
            <a:chOff x="2417" y="3013"/>
            <a:chExt cx="1776" cy="536"/>
          </a:xfrm>
        </p:grpSpPr>
        <p:graphicFrame>
          <p:nvGraphicFramePr>
            <p:cNvPr id="22540" name="Object 15"/>
            <p:cNvGraphicFramePr>
              <a:graphicFrameLocks noChangeAspect="1"/>
            </p:cNvGraphicFramePr>
            <p:nvPr/>
          </p:nvGraphicFramePr>
          <p:xfrm>
            <a:off x="2417" y="3013"/>
            <a:ext cx="1776" cy="536"/>
          </p:xfrm>
          <a:graphic>
            <a:graphicData uri="http://schemas.openxmlformats.org/presentationml/2006/ole">
              <mc:AlternateContent xmlns:mc="http://schemas.openxmlformats.org/markup-compatibility/2006">
                <mc:Choice xmlns:v="urn:schemas-microsoft-com:vml" Requires="v">
                  <p:oleObj spid="_x0000_s363778" name="" r:id="rId19" imgW="3375660" imgH="1002030" progId="Equation.3">
                    <p:embed/>
                  </p:oleObj>
                </mc:Choice>
                <mc:Fallback>
                  <p:oleObj name="" r:id="rId19" imgW="3375660" imgH="1002030" progId="Equation.3">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17" y="3013"/>
                          <a:ext cx="1776"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41" name="Object 16"/>
            <p:cNvGraphicFramePr>
              <a:graphicFrameLocks noChangeAspect="1"/>
            </p:cNvGraphicFramePr>
            <p:nvPr/>
          </p:nvGraphicFramePr>
          <p:xfrm>
            <a:off x="3212" y="3053"/>
            <a:ext cx="316" cy="165"/>
          </p:xfrm>
          <a:graphic>
            <a:graphicData uri="http://schemas.openxmlformats.org/presentationml/2006/ole">
              <mc:AlternateContent xmlns:mc="http://schemas.openxmlformats.org/markup-compatibility/2006">
                <mc:Choice xmlns:v="urn:schemas-microsoft-com:vml" Requires="v">
                  <p:oleObj spid="_x0000_s363779" name="" r:id="rId21" imgW="894715" imgH="457200" progId="Equation.3">
                    <p:embed/>
                  </p:oleObj>
                </mc:Choice>
                <mc:Fallback>
                  <p:oleObj name="" r:id="rId21" imgW="894715" imgH="457200" progId="Equation.3">
                    <p:embed/>
                    <p:pic>
                      <p:nvPicPr>
                        <p:cNvPr id="0" name="Object 1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12" y="3053"/>
                          <a:ext cx="31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17" name="Object 17"/>
          <p:cNvGraphicFramePr>
            <a:graphicFrameLocks noChangeAspect="1"/>
          </p:cNvGraphicFramePr>
          <p:nvPr/>
        </p:nvGraphicFramePr>
        <p:xfrm>
          <a:off x="7327900" y="5383213"/>
          <a:ext cx="2667000" cy="901700"/>
        </p:xfrm>
        <a:graphic>
          <a:graphicData uri="http://schemas.openxmlformats.org/presentationml/2006/ole">
            <mc:AlternateContent xmlns:mc="http://schemas.openxmlformats.org/markup-compatibility/2006">
              <mc:Choice xmlns:v="urn:schemas-microsoft-com:vml" Requires="v">
                <p:oleObj spid="_x0000_s363780" name="" r:id="rId23" imgW="3190875" imgH="1079500" progId="Equation.3">
                  <p:embed/>
                </p:oleObj>
              </mc:Choice>
              <mc:Fallback>
                <p:oleObj name="" r:id="rId23" imgW="3190875" imgH="1079500" progId="Equation.3">
                  <p:embed/>
                  <p:pic>
                    <p:nvPicPr>
                      <p:cNvPr id="0" name="Object 1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327900" y="5383213"/>
                        <a:ext cx="26670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Object 21"/>
          <p:cNvGraphicFramePr>
            <a:graphicFrameLocks noChangeAspect="1"/>
          </p:cNvGraphicFramePr>
          <p:nvPr/>
        </p:nvGraphicFramePr>
        <p:xfrm>
          <a:off x="7094538" y="2884488"/>
          <a:ext cx="2540000" cy="442912"/>
        </p:xfrm>
        <a:graphic>
          <a:graphicData uri="http://schemas.openxmlformats.org/presentationml/2006/ole">
            <mc:AlternateContent xmlns:mc="http://schemas.openxmlformats.org/markup-compatibility/2006">
              <mc:Choice xmlns:v="urn:schemas-microsoft-com:vml" Requires="v">
                <p:oleObj spid="_x0000_s363781" name="" r:id="rId25" imgW="3044825" imgH="525145" progId="Equation.3">
                  <p:embed/>
                </p:oleObj>
              </mc:Choice>
              <mc:Fallback>
                <p:oleObj name="" r:id="rId25" imgW="3044825" imgH="525145" progId="Equation.3">
                  <p:embed/>
                  <p:pic>
                    <p:nvPicPr>
                      <p:cNvPr id="0" name="Object 2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094538" y="2884488"/>
                        <a:ext cx="25400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2"/>
          <p:cNvGraphicFramePr>
            <a:graphicFrameLocks noChangeAspect="1"/>
          </p:cNvGraphicFramePr>
          <p:nvPr/>
        </p:nvGraphicFramePr>
        <p:xfrm>
          <a:off x="2370138" y="1414463"/>
          <a:ext cx="2743200" cy="419100"/>
        </p:xfrm>
        <a:graphic>
          <a:graphicData uri="http://schemas.openxmlformats.org/presentationml/2006/ole">
            <mc:AlternateContent xmlns:mc="http://schemas.openxmlformats.org/markup-compatibility/2006">
              <mc:Choice xmlns:v="urn:schemas-microsoft-com:vml" Requires="v">
                <p:oleObj spid="_x0000_s364717" name="" r:id="rId1" imgW="3288030" imgH="495935" progId="Equation.DSMT4">
                  <p:embed/>
                </p:oleObj>
              </mc:Choice>
              <mc:Fallback>
                <p:oleObj name="" r:id="rId1" imgW="3288030" imgH="495935"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0138" y="1414463"/>
                        <a:ext cx="27432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3"/>
          <p:cNvGraphicFramePr>
            <a:graphicFrameLocks noChangeAspect="1"/>
          </p:cNvGraphicFramePr>
          <p:nvPr/>
        </p:nvGraphicFramePr>
        <p:xfrm>
          <a:off x="5232400" y="1173163"/>
          <a:ext cx="3771900" cy="901700"/>
        </p:xfrm>
        <a:graphic>
          <a:graphicData uri="http://schemas.openxmlformats.org/presentationml/2006/ole">
            <mc:AlternateContent xmlns:mc="http://schemas.openxmlformats.org/markup-compatibility/2006">
              <mc:Choice xmlns:v="urn:schemas-microsoft-com:vml" Requires="v">
                <p:oleObj spid="_x0000_s364718" name="" r:id="rId3" imgW="4523105" imgH="1079500" progId="Equation.3">
                  <p:embed/>
                </p:oleObj>
              </mc:Choice>
              <mc:Fallback>
                <p:oleObj name="" r:id="rId3" imgW="4523105" imgH="10795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2400" y="1173163"/>
                        <a:ext cx="37719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4"/>
          <p:cNvGraphicFramePr>
            <a:graphicFrameLocks noChangeAspect="1"/>
          </p:cNvGraphicFramePr>
          <p:nvPr/>
        </p:nvGraphicFramePr>
        <p:xfrm>
          <a:off x="5253038" y="2227263"/>
          <a:ext cx="2667000" cy="901700"/>
        </p:xfrm>
        <a:graphic>
          <a:graphicData uri="http://schemas.openxmlformats.org/presentationml/2006/ole">
            <mc:AlternateContent xmlns:mc="http://schemas.openxmlformats.org/markup-compatibility/2006">
              <mc:Choice xmlns:v="urn:schemas-microsoft-com:vml" Requires="v">
                <p:oleObj spid="_x0000_s364719" name="" r:id="rId5" imgW="3190875" imgH="1079500" progId="Equation.3">
                  <p:embed/>
                </p:oleObj>
              </mc:Choice>
              <mc:Fallback>
                <p:oleObj name="" r:id="rId5" imgW="3190875" imgH="10795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3038" y="2227263"/>
                        <a:ext cx="26670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Object 5"/>
          <p:cNvGraphicFramePr>
            <a:graphicFrameLocks noChangeAspect="1"/>
          </p:cNvGraphicFramePr>
          <p:nvPr/>
        </p:nvGraphicFramePr>
        <p:xfrm>
          <a:off x="7996238" y="2455863"/>
          <a:ext cx="825500" cy="315912"/>
        </p:xfrm>
        <a:graphic>
          <a:graphicData uri="http://schemas.openxmlformats.org/presentationml/2006/ole">
            <mc:AlternateContent xmlns:mc="http://schemas.openxmlformats.org/markup-compatibility/2006">
              <mc:Choice xmlns:v="urn:schemas-microsoft-com:vml" Requires="v">
                <p:oleObj spid="_x0000_s364720" name="" r:id="rId7" imgW="982345" imgH="369570" progId="Equation.3">
                  <p:embed/>
                </p:oleObj>
              </mc:Choice>
              <mc:Fallback>
                <p:oleObj name="" r:id="rId7" imgW="982345" imgH="36957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96238" y="2455863"/>
                        <a:ext cx="8255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 name="Object 6"/>
          <p:cNvGraphicFramePr>
            <a:graphicFrameLocks noChangeAspect="1"/>
          </p:cNvGraphicFramePr>
          <p:nvPr/>
        </p:nvGraphicFramePr>
        <p:xfrm>
          <a:off x="2433638" y="3268663"/>
          <a:ext cx="3302000" cy="901700"/>
        </p:xfrm>
        <a:graphic>
          <a:graphicData uri="http://schemas.openxmlformats.org/presentationml/2006/ole">
            <mc:AlternateContent xmlns:mc="http://schemas.openxmlformats.org/markup-compatibility/2006">
              <mc:Choice xmlns:v="urn:schemas-microsoft-com:vml" Requires="v">
                <p:oleObj spid="_x0000_s364721" name="" r:id="rId9" imgW="3959225" imgH="1079500" progId="Equation.3">
                  <p:embed/>
                </p:oleObj>
              </mc:Choice>
              <mc:Fallback>
                <p:oleObj name="" r:id="rId9" imgW="3959225" imgH="10795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33638" y="3268663"/>
                        <a:ext cx="33020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7"/>
          <p:cNvGraphicFramePr>
            <a:graphicFrameLocks noChangeAspect="1"/>
          </p:cNvGraphicFramePr>
          <p:nvPr/>
        </p:nvGraphicFramePr>
        <p:xfrm>
          <a:off x="2451100" y="4564063"/>
          <a:ext cx="3098800" cy="417512"/>
        </p:xfrm>
        <a:graphic>
          <a:graphicData uri="http://schemas.openxmlformats.org/presentationml/2006/ole">
            <mc:AlternateContent xmlns:mc="http://schemas.openxmlformats.org/markup-compatibility/2006">
              <mc:Choice xmlns:v="urn:schemas-microsoft-com:vml" Requires="v">
                <p:oleObj spid="_x0000_s364722" name="" r:id="rId11" imgW="3706495" imgH="495935" progId="Equation.DSMT4">
                  <p:embed/>
                </p:oleObj>
              </mc:Choice>
              <mc:Fallback>
                <p:oleObj name="" r:id="rId11" imgW="3706495" imgH="495935"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51100" y="4564063"/>
                        <a:ext cx="3098800"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8"/>
          <p:cNvGraphicFramePr>
            <a:graphicFrameLocks noChangeAspect="1"/>
          </p:cNvGraphicFramePr>
          <p:nvPr/>
        </p:nvGraphicFramePr>
        <p:xfrm>
          <a:off x="6062663" y="4322763"/>
          <a:ext cx="3581400" cy="901700"/>
        </p:xfrm>
        <a:graphic>
          <a:graphicData uri="http://schemas.openxmlformats.org/presentationml/2006/ole">
            <mc:AlternateContent xmlns:mc="http://schemas.openxmlformats.org/markup-compatibility/2006">
              <mc:Choice xmlns:v="urn:schemas-microsoft-com:vml" Requires="v">
                <p:oleObj spid="_x0000_s364723" name="" r:id="rId13" imgW="4290060" imgH="1079500" progId="Equation.DSMT4">
                  <p:embed/>
                </p:oleObj>
              </mc:Choice>
              <mc:Fallback>
                <p:oleObj name="" r:id="rId13" imgW="4290060" imgH="10795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62663" y="4322763"/>
                        <a:ext cx="35814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9"/>
          <p:cNvGraphicFramePr>
            <a:graphicFrameLocks noChangeAspect="1"/>
          </p:cNvGraphicFramePr>
          <p:nvPr/>
        </p:nvGraphicFramePr>
        <p:xfrm>
          <a:off x="2433638" y="5434013"/>
          <a:ext cx="2755900" cy="417512"/>
        </p:xfrm>
        <a:graphic>
          <a:graphicData uri="http://schemas.openxmlformats.org/presentationml/2006/ole">
            <mc:AlternateContent xmlns:mc="http://schemas.openxmlformats.org/markup-compatibility/2006">
              <mc:Choice xmlns:v="urn:schemas-microsoft-com:vml" Requires="v">
                <p:oleObj spid="_x0000_s364724" name="" r:id="rId15" imgW="3297555" imgH="495935" progId="Equation.DSMT4">
                  <p:embed/>
                </p:oleObj>
              </mc:Choice>
              <mc:Fallback>
                <p:oleObj name="" r:id="rId15" imgW="3297555" imgH="495935"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33638" y="5434013"/>
                        <a:ext cx="2755900"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10"/>
          <p:cNvGraphicFramePr>
            <a:graphicFrameLocks noChangeAspect="1"/>
          </p:cNvGraphicFramePr>
          <p:nvPr/>
        </p:nvGraphicFramePr>
        <p:xfrm>
          <a:off x="6096000" y="5434013"/>
          <a:ext cx="1917700" cy="417512"/>
        </p:xfrm>
        <a:graphic>
          <a:graphicData uri="http://schemas.openxmlformats.org/presentationml/2006/ole">
            <mc:AlternateContent xmlns:mc="http://schemas.openxmlformats.org/markup-compatibility/2006">
              <mc:Choice xmlns:v="urn:schemas-microsoft-com:vml" Requires="v">
                <p:oleObj spid="_x0000_s364725" name="" r:id="rId17" imgW="2286000" imgH="495935" progId="Equation.DSMT4">
                  <p:embed/>
                </p:oleObj>
              </mc:Choice>
              <mc:Fallback>
                <p:oleObj name="" r:id="rId17" imgW="2286000" imgH="495935"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96000" y="5434013"/>
                        <a:ext cx="1917700"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2" y="2077752"/>
            <a:ext cx="12191998" cy="2841660"/>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defTabSz="912495">
              <a:defRPr kumimoji="1" sz="2400">
                <a:solidFill>
                  <a:schemeClr val="tx1"/>
                </a:solidFill>
                <a:latin typeface="Times New Roman" panose="02020603050405020304" pitchFamily="18" charset="0"/>
                <a:ea typeface="宋体" panose="02010600030101010101" pitchFamily="2" charset="-122"/>
              </a:defRPr>
            </a:lvl1pPr>
            <a:lvl2pPr marL="742950" indent="-285750" defTabSz="912495">
              <a:defRPr kumimoji="1" sz="2400">
                <a:solidFill>
                  <a:schemeClr val="tx1"/>
                </a:solidFill>
                <a:latin typeface="Times New Roman" panose="02020603050405020304" pitchFamily="18" charset="0"/>
                <a:ea typeface="宋体" panose="02010600030101010101" pitchFamily="2" charset="-122"/>
              </a:defRPr>
            </a:lvl2pPr>
            <a:lvl3pPr marL="1143000" indent="-228600" defTabSz="912495">
              <a:defRPr kumimoji="1" sz="2400">
                <a:solidFill>
                  <a:schemeClr val="tx1"/>
                </a:solidFill>
                <a:latin typeface="Times New Roman" panose="02020603050405020304" pitchFamily="18" charset="0"/>
                <a:ea typeface="宋体" panose="02010600030101010101" pitchFamily="2" charset="-122"/>
              </a:defRPr>
            </a:lvl3pPr>
            <a:lvl4pPr marL="1600200" indent="-228600" defTabSz="912495">
              <a:defRPr kumimoji="1" sz="2400">
                <a:solidFill>
                  <a:schemeClr val="tx1"/>
                </a:solidFill>
                <a:latin typeface="Times New Roman" panose="02020603050405020304" pitchFamily="18" charset="0"/>
                <a:ea typeface="宋体" panose="02010600030101010101" pitchFamily="2" charset="-122"/>
              </a:defRPr>
            </a:lvl4pPr>
            <a:lvl5pPr marL="2057400" indent="-228600" defTabSz="912495">
              <a:defRPr kumimoji="1" sz="2400">
                <a:solidFill>
                  <a:schemeClr val="tx1"/>
                </a:solidFill>
                <a:latin typeface="Times New Roman" panose="02020603050405020304" pitchFamily="18" charset="0"/>
                <a:ea typeface="宋体" panose="02010600030101010101" pitchFamily="2" charset="-122"/>
              </a:defRPr>
            </a:lvl5pPr>
            <a:lvl6pPr marL="2514600" indent="-228600" defTabSz="912495"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12495"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12495"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12495"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hangingPunct="0">
              <a:buFontTx/>
              <a:buNone/>
              <a:defRPr/>
            </a:pPr>
            <a:endParaRPr lang="zh-CN" altLang="en-US" sz="1800">
              <a:solidFill>
                <a:srgbClr val="FFFFFF"/>
              </a:solidFill>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886184" y="2495916"/>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defTabSz="913765" eaLnBrk="0" hangingPunct="0">
                <a:buFontTx/>
                <a:buNone/>
                <a:defRPr/>
              </a:pPr>
              <a:endParaRPr kumimoji="1" lang="zh-CN" altLang="zh-CN" sz="1865">
                <a:solidFill>
                  <a:srgbClr val="000000"/>
                </a:solidFill>
                <a:ea typeface="微软雅黑" panose="020B0503020204020204" pitchFamily="34" charset="-122"/>
                <a:sym typeface="Times New Roman" panose="02020603050405020304" pitchFamily="18" charset="0"/>
              </a:endParaRPr>
            </a:p>
          </p:txBody>
        </p:sp>
      </p:grpSp>
      <p:sp>
        <p:nvSpPr>
          <p:cNvPr id="23" name="文本框 22"/>
          <p:cNvSpPr txBox="1">
            <a:spLocks noChangeArrowheads="1"/>
          </p:cNvSpPr>
          <p:nvPr/>
        </p:nvSpPr>
        <p:spPr bwMode="auto">
          <a:xfrm>
            <a:off x="3825875" y="2905125"/>
            <a:ext cx="4787900"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3130" eaLnBrk="0" hangingPunct="0">
              <a:defRPr sz="2400">
                <a:solidFill>
                  <a:schemeClr val="tx1"/>
                </a:solidFill>
                <a:latin typeface="Times New Roman" panose="02020603050405020304" pitchFamily="18" charset="0"/>
                <a:ea typeface="宋体" panose="02010600030101010101" pitchFamily="2" charset="-122"/>
              </a:defRPr>
            </a:lvl1pPr>
            <a:lvl2pPr defTabSz="913130" eaLnBrk="0" hangingPunct="0">
              <a:defRPr sz="2400">
                <a:solidFill>
                  <a:schemeClr val="tx1"/>
                </a:solidFill>
                <a:latin typeface="Times New Roman" panose="02020603050405020304" pitchFamily="18" charset="0"/>
                <a:ea typeface="宋体" panose="02010600030101010101" pitchFamily="2" charset="-122"/>
              </a:defRPr>
            </a:lvl2pPr>
            <a:lvl3pPr defTabSz="913130" eaLnBrk="0" hangingPunct="0">
              <a:defRPr sz="2400">
                <a:solidFill>
                  <a:schemeClr val="tx1"/>
                </a:solidFill>
                <a:latin typeface="Times New Roman" panose="02020603050405020304" pitchFamily="18" charset="0"/>
                <a:ea typeface="宋体" panose="02010600030101010101" pitchFamily="2" charset="-122"/>
              </a:defRPr>
            </a:lvl3pPr>
            <a:lvl4pPr defTabSz="913130" eaLnBrk="0" hangingPunct="0">
              <a:defRPr sz="2400">
                <a:solidFill>
                  <a:schemeClr val="tx1"/>
                </a:solidFill>
                <a:latin typeface="Times New Roman" panose="02020603050405020304" pitchFamily="18" charset="0"/>
                <a:ea typeface="宋体" panose="02010600030101010101" pitchFamily="2" charset="-122"/>
              </a:defRPr>
            </a:lvl4pPr>
            <a:lvl5pPr defTabSz="913130" eaLnBrk="0" hangingPunct="0">
              <a:defRPr sz="2400">
                <a:solidFill>
                  <a:schemeClr val="tx1"/>
                </a:solidFill>
                <a:latin typeface="Times New Roman" panose="02020603050405020304" pitchFamily="18" charset="0"/>
                <a:ea typeface="宋体" panose="02010600030101010101" pitchFamily="2" charset="-122"/>
              </a:defRPr>
            </a:lvl5pPr>
            <a:lvl6pPr defTabSz="91313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defTabSz="91313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defTabSz="91313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defTabSz="91313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dist">
              <a:spcAft>
                <a:spcPts val="0"/>
              </a:spcAft>
            </a:pPr>
            <a:r>
              <a:rPr lang="zh-CN" altLang="en-US" sz="6600" b="1">
                <a:solidFill>
                  <a:srgbClr val="F2F2F2"/>
                </a:solidFill>
                <a:cs typeface="Kartika" panose="02020503030404060203" pitchFamily="18" charset="0"/>
                <a:sym typeface="Times New Roman" panose="02020603050405020304" pitchFamily="18" charset="0"/>
              </a:rPr>
              <a:t>谢谢大家</a:t>
            </a:r>
            <a:endParaRPr lang="zh-CN" altLang="en-US" sz="6600" b="1">
              <a:solidFill>
                <a:srgbClr val="F2F2F2"/>
              </a:solidFill>
              <a:cs typeface="Kartika" panose="02020503030404060203" pitchFamily="18" charset="0"/>
              <a:sym typeface="Times New Roman" panose="02020603050405020304" pitchFamily="18" charset="0"/>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withEffect">
                                  <p:stCondLst>
                                    <p:cond delay="250"/>
                                  </p:stCondLst>
                                  <p:childTnLst>
                                    <p:set>
                                      <p:cBhvr>
                                        <p:cTn id="6" dur="1" fill="hold">
                                          <p:stCondLst>
                                            <p:cond delay="0"/>
                                          </p:stCondLst>
                                        </p:cTn>
                                        <p:tgtEl>
                                          <p:spTgt spid="23"/>
                                        </p:tgtEl>
                                        <p:attrNameLst>
                                          <p:attrName>style.visibility</p:attrName>
                                        </p:attrNameLst>
                                      </p:cBhvr>
                                      <p:to>
                                        <p:strVal val="visible"/>
                                      </p:to>
                                    </p:set>
                                    <p:animScale>
                                      <p:cBhvr>
                                        <p:cTn id="7" dur="1500" decel="50000" fill="hold">
                                          <p:stCondLst>
                                            <p:cond delay="0"/>
                                          </p:stCondLst>
                                        </p:cTn>
                                        <p:tgtEl>
                                          <p:spTgt spid="2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8" dur="1500" decel="50000" fill="hold">
                                          <p:stCondLst>
                                            <p:cond delay="0"/>
                                          </p:stCondLst>
                                        </p:cTn>
                                        <p:tgtEl>
                                          <p:spTgt spid="23"/>
                                        </p:tgtEl>
                                        <p:attrNameLst>
                                          <p:attrName>ppt_x</p:attrName>
                                          <p:attrName>ppt_y</p:attrName>
                                        </p:attrNameLst>
                                      </p:cBhvr>
                                      <p:rCtr x="0" y="0"/>
                                    </p:animMotion>
                                    <p:animEffect transition="in" filter="fade">
                                      <p:cBhvr>
                                        <p:cTn id="9" dur="1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ags/tag1.xml><?xml version="1.0" encoding="utf-8"?>
<p:tagLst xmlns:p="http://schemas.openxmlformats.org/presentationml/2006/main">
  <p:tag name="KSO_WM_UNIT_TABLE_BEAUTIFY" val="smartTable{a4210cb0-1b29-422e-b6b2-dba745a6a940}"/>
  <p:tag name="TABLE_ENDDRAG_ORIGIN_RECT" val="487*279"/>
  <p:tag name="TABLE_ENDDRAG_RECT" val="79*112*487*279"/>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COMMONDATA" val="eyJoZGlkIjoiN2M3ZjA1YmVjZmY1YzBmYjc3NTczZWMyYWYzNGE4MTcifQ=="/>
  <p:tag name="KSO_WPP_MARK_KEY" val="6e89b7c0-510e-4b43-8468-a041de793777"/>
</p:tagLst>
</file>

<file path=ppt/theme/theme1.xml><?xml version="1.0" encoding="utf-8"?>
<a:theme xmlns:a="http://schemas.openxmlformats.org/drawingml/2006/main" name="111">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5286</Words>
  <Application>WPS 演示</Application>
  <PresentationFormat>宽屏</PresentationFormat>
  <Paragraphs>522</Paragraphs>
  <Slides>59</Slides>
  <Notes>25</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174</vt:i4>
      </vt:variant>
      <vt:variant>
        <vt:lpstr>幻灯片标题</vt:lpstr>
      </vt:variant>
      <vt:variant>
        <vt:i4>59</vt:i4>
      </vt:variant>
    </vt:vector>
  </HeadingPairs>
  <TitlesOfParts>
    <vt:vector size="251" baseType="lpstr">
      <vt:lpstr>Arial</vt:lpstr>
      <vt:lpstr>宋体</vt:lpstr>
      <vt:lpstr>Wingdings</vt:lpstr>
      <vt:lpstr>Times New Roman</vt:lpstr>
      <vt:lpstr>微软雅黑</vt:lpstr>
      <vt:lpstr>Kartika</vt:lpstr>
      <vt:lpstr>DejaVu Math TeX Gyre</vt:lpstr>
      <vt:lpstr>等线</vt:lpstr>
      <vt:lpstr>Calibri</vt:lpstr>
      <vt:lpstr>Arial Unicode MS</vt:lpstr>
      <vt:lpstr>等线 Light</vt:lpstr>
      <vt:lpstr>Calibri Light</vt:lpstr>
      <vt:lpstr>黑体</vt:lpstr>
      <vt:lpstr>楷体_GB2312</vt:lpstr>
      <vt:lpstr>Symbol</vt:lpstr>
      <vt:lpstr>Symbol</vt:lpstr>
      <vt:lpstr>Wingdings</vt:lpstr>
      <vt:lpstr>111</vt:lpstr>
      <vt:lpstr>Equation.3</vt:lpstr>
      <vt:lpstr>Equation.DSMT4</vt:lpstr>
      <vt:lpstr>Equation.3</vt:lpstr>
      <vt:lpstr>Equation.3</vt:lpstr>
      <vt:lpstr>Equation.3</vt:lpstr>
      <vt:lpstr>Equation.3</vt:lpstr>
      <vt:lpstr>Word.Document.8</vt:lpstr>
      <vt:lpstr>Equation.3</vt:lpstr>
      <vt:lpstr>Equation.3</vt:lpstr>
      <vt:lpstr>Equation.3</vt:lpstr>
      <vt:lpstr>Equation.3</vt:lpstr>
      <vt:lpstr>Equation.3</vt:lpstr>
      <vt:lpstr>Equation.DSMT4</vt:lpstr>
      <vt:lpstr>Equation.3</vt:lpstr>
      <vt:lpstr>Equation.3</vt:lpstr>
      <vt:lpstr>Equation.3</vt:lpstr>
      <vt:lpstr>Word.Document.8</vt:lpstr>
      <vt:lpstr>Equation.3</vt:lpstr>
      <vt:lpstr>Equation.DSMT4</vt:lpstr>
      <vt:lpstr>Equation.3</vt:lpstr>
      <vt:lpstr>Equation.3</vt:lpstr>
      <vt:lpstr>Equation.3</vt:lpstr>
      <vt:lpstr>Equation.3</vt:lpstr>
      <vt:lpstr>Equation.DSMT4</vt:lpstr>
      <vt:lpstr>Word.Document.8</vt:lpstr>
      <vt:lpstr>Equation.3</vt:lpstr>
      <vt:lpstr>Equation.3</vt:lpstr>
      <vt:lpstr>Equation.3</vt:lpstr>
      <vt:lpstr>Equation.3</vt:lpstr>
      <vt:lpstr>Equation.3</vt:lpstr>
      <vt:lpstr>Equation.3</vt:lpstr>
      <vt:lpstr>Equation.3</vt:lpstr>
      <vt:lpstr>Equation.DSMT4</vt:lpstr>
      <vt:lpstr>Equation.3</vt:lpstr>
      <vt:lpstr>Equation.DSMT4</vt:lpstr>
      <vt:lpstr>Equation.3</vt:lpstr>
      <vt:lpstr>Equation.3</vt:lpstr>
      <vt:lpstr>Equation.3</vt:lpstr>
      <vt:lpstr>Word.Document.8</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Equation.DSMT4</vt:lpstr>
      <vt:lpstr>Equation.3</vt:lpstr>
      <vt:lpstr>Equation.3</vt:lpstr>
      <vt:lpstr>Equation.DSMT4</vt:lpstr>
      <vt:lpstr>Equation.DSMT4</vt:lpstr>
      <vt:lpstr>Equation.DSMT4</vt:lpstr>
      <vt:lpstr>Equation.DSMT4</vt:lpstr>
      <vt:lpstr>Equation.DSMT4</vt:lpstr>
      <vt:lpstr>Equation.3</vt:lpstr>
      <vt:lpstr>Equation.3</vt:lpstr>
      <vt:lpstr>Word.Document.8</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Equation.DSMT4</vt:lpstr>
      <vt:lpstr>Equation.3</vt:lpstr>
      <vt:lpstr>Equation.3</vt:lpstr>
      <vt:lpstr>Equation.3</vt:lpstr>
      <vt:lpstr>Equation.DSMT4</vt:lpstr>
      <vt:lpstr>Equation.3</vt:lpstr>
      <vt:lpstr>Equation.DSMT4</vt:lpstr>
      <vt:lpstr>Equation.DSMT4</vt:lpstr>
      <vt:lpstr>Equation.DSMT4</vt:lpstr>
      <vt:lpstr>Equation.DSMT4</vt:lpstr>
      <vt:lpstr>Equation.DSMT4</vt:lpstr>
      <vt:lpstr>Equation.DSMT4</vt:lpstr>
      <vt:lpstr>Word.Document.8</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Equation.DSMT4</vt:lpstr>
      <vt:lpstr>Equation.3</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Equation.3</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Word.Document.8</vt:lpstr>
      <vt:lpstr>PowerPoint 演示文稿</vt:lpstr>
      <vt:lpstr>PowerPoint 演示文稿</vt:lpstr>
      <vt:lpstr>一、填空题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随机数</vt:lpstr>
      <vt:lpstr>线性同余法</vt:lpstr>
      <vt:lpstr>PowerPoint 演示文稿</vt:lpstr>
      <vt:lpstr>注 意 点</vt:lpstr>
      <vt:lpstr>一、给定 n 和 y，求概率</vt:lpstr>
      <vt:lpstr>二、给定 n 和概率，求 y</vt:lpstr>
      <vt:lpstr>三、给定 y 和概率，求 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哈理工概率论与数理统计课题组</dc:creator>
  <cp:lastModifiedBy>eye</cp:lastModifiedBy>
  <cp:revision>579</cp:revision>
  <cp:lastPrinted>2020-03-18T15:54:00Z</cp:lastPrinted>
  <dcterms:created xsi:type="dcterms:W3CDTF">2020-03-18T15:54:00Z</dcterms:created>
  <dcterms:modified xsi:type="dcterms:W3CDTF">2026-05-12T15:51:33Z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AD00252BB3AA4EF49E5332B305EA3196_13</vt:lpwstr>
  </property>
</Properties>
</file>