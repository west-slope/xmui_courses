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9" r:id="rId3"/>
    <p:sldId id="556" r:id="rId5"/>
    <p:sldId id="329" r:id="rId6"/>
    <p:sldId id="563" r:id="rId7"/>
    <p:sldId id="392" r:id="rId8"/>
    <p:sldId id="393" r:id="rId9"/>
    <p:sldId id="400" r:id="rId10"/>
    <p:sldId id="568" r:id="rId11"/>
    <p:sldId id="569" r:id="rId12"/>
    <p:sldId id="570" r:id="rId13"/>
    <p:sldId id="571" r:id="rId14"/>
    <p:sldId id="572" r:id="rId15"/>
    <p:sldId id="573" r:id="rId16"/>
    <p:sldId id="574" r:id="rId17"/>
    <p:sldId id="575" r:id="rId18"/>
    <p:sldId id="576" r:id="rId19"/>
    <p:sldId id="577" r:id="rId20"/>
    <p:sldId id="578" r:id="rId21"/>
    <p:sldId id="579" r:id="rId22"/>
    <p:sldId id="580" r:id="rId23"/>
    <p:sldId id="581" r:id="rId24"/>
    <p:sldId id="582" r:id="rId25"/>
    <p:sldId id="583" r:id="rId26"/>
    <p:sldId id="584" r:id="rId27"/>
    <p:sldId id="585" r:id="rId28"/>
    <p:sldId id="586" r:id="rId29"/>
    <p:sldId id="587" r:id="rId30"/>
    <p:sldId id="588" r:id="rId31"/>
    <p:sldId id="589" r:id="rId32"/>
    <p:sldId id="590" r:id="rId33"/>
    <p:sldId id="591" r:id="rId34"/>
    <p:sldId id="592" r:id="rId35"/>
    <p:sldId id="593" r:id="rId36"/>
    <p:sldId id="594" r:id="rId37"/>
    <p:sldId id="595" r:id="rId38"/>
    <p:sldId id="596" r:id="rId39"/>
    <p:sldId id="597" r:id="rId40"/>
    <p:sldId id="598" r:id="rId41"/>
    <p:sldId id="599" r:id="rId42"/>
    <p:sldId id="600" r:id="rId43"/>
    <p:sldId id="601" r:id="rId44"/>
    <p:sldId id="602" r:id="rId45"/>
    <p:sldId id="603" r:id="rId46"/>
    <p:sldId id="604" r:id="rId47"/>
    <p:sldId id="605" r:id="rId48"/>
    <p:sldId id="606" r:id="rId49"/>
    <p:sldId id="607" r:id="rId50"/>
    <p:sldId id="608" r:id="rId51"/>
    <p:sldId id="609" r:id="rId52"/>
    <p:sldId id="610" r:id="rId53"/>
    <p:sldId id="611" r:id="rId54"/>
    <p:sldId id="612" r:id="rId55"/>
    <p:sldId id="613" r:id="rId56"/>
    <p:sldId id="614" r:id="rId57"/>
    <p:sldId id="615" r:id="rId58"/>
    <p:sldId id="616" r:id="rId59"/>
    <p:sldId id="617" r:id="rId60"/>
    <p:sldId id="618" r:id="rId61"/>
    <p:sldId id="619" r:id="rId62"/>
    <p:sldId id="620" r:id="rId63"/>
    <p:sldId id="621" r:id="rId64"/>
    <p:sldId id="324" r:id="rId65"/>
  </p:sldIdLst>
  <p:sldSz cx="12192000" cy="6858000"/>
  <p:notesSz cx="7099300" cy="10234295"/>
  <p:custDataLst>
    <p:tags r:id="rId6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FFFFFF"/>
    <a:srgbClr val="7F7FBF"/>
    <a:srgbClr val="3366FF"/>
    <a:srgbClr val="FF3300"/>
    <a:srgbClr val="99FF33"/>
    <a:srgbClr val="FFFF99"/>
    <a:srgbClr val="FF9900"/>
    <a:srgbClr val="00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59" autoAdjust="0"/>
    <p:restoredTop sz="96366" autoAdjust="0"/>
  </p:normalViewPr>
  <p:slideViewPr>
    <p:cSldViewPr showGuides="1">
      <p:cViewPr varScale="1">
        <p:scale>
          <a:sx n="83" d="100"/>
          <a:sy n="83" d="100"/>
        </p:scale>
        <p:origin x="57" y="54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28" d="100"/>
          <a:sy n="28" d="100"/>
        </p:scale>
        <p:origin x="-1262" y="-7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9" Type="http://schemas.openxmlformats.org/officeDocument/2006/relationships/tags" Target="tags/tag2.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2.wmf"/><Relationship Id="rId8" Type="http://schemas.openxmlformats.org/officeDocument/2006/relationships/image" Target="../media/image11.wmf"/><Relationship Id="rId7" Type="http://schemas.openxmlformats.org/officeDocument/2006/relationships/image" Target="../media/image10.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5" Type="http://schemas.openxmlformats.org/officeDocument/2006/relationships/image" Target="../media/image18.wmf"/><Relationship Id="rId14" Type="http://schemas.openxmlformats.org/officeDocument/2006/relationships/image" Target="../media/image17.wmf"/><Relationship Id="rId13" Type="http://schemas.openxmlformats.org/officeDocument/2006/relationships/image" Target="../media/image16.wmf"/><Relationship Id="rId12" Type="http://schemas.openxmlformats.org/officeDocument/2006/relationships/image" Target="../media/image15.wmf"/><Relationship Id="rId11" Type="http://schemas.openxmlformats.org/officeDocument/2006/relationships/image" Target="../media/image14.wmf"/><Relationship Id="rId10" Type="http://schemas.openxmlformats.org/officeDocument/2006/relationships/image" Target="../media/image13.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66.emf"/><Relationship Id="rId8" Type="http://schemas.openxmlformats.org/officeDocument/2006/relationships/image" Target="../media/image65.emf"/><Relationship Id="rId7" Type="http://schemas.openxmlformats.org/officeDocument/2006/relationships/image" Target="../media/image64.emf"/><Relationship Id="rId6" Type="http://schemas.openxmlformats.org/officeDocument/2006/relationships/image" Target="../media/image63.emf"/><Relationship Id="rId5" Type="http://schemas.openxmlformats.org/officeDocument/2006/relationships/image" Target="../media/image62.emf"/><Relationship Id="rId4" Type="http://schemas.openxmlformats.org/officeDocument/2006/relationships/image" Target="../media/image61.emf"/><Relationship Id="rId3" Type="http://schemas.openxmlformats.org/officeDocument/2006/relationships/image" Target="../media/image60.emf"/><Relationship Id="rId22" Type="http://schemas.openxmlformats.org/officeDocument/2006/relationships/image" Target="../media/image79.emf"/><Relationship Id="rId21" Type="http://schemas.openxmlformats.org/officeDocument/2006/relationships/image" Target="../media/image78.emf"/><Relationship Id="rId20" Type="http://schemas.openxmlformats.org/officeDocument/2006/relationships/image" Target="../media/image77.emf"/><Relationship Id="rId2" Type="http://schemas.openxmlformats.org/officeDocument/2006/relationships/image" Target="../media/image59.emf"/><Relationship Id="rId19" Type="http://schemas.openxmlformats.org/officeDocument/2006/relationships/image" Target="../media/image76.emf"/><Relationship Id="rId18" Type="http://schemas.openxmlformats.org/officeDocument/2006/relationships/image" Target="../media/image75.emf"/><Relationship Id="rId17" Type="http://schemas.openxmlformats.org/officeDocument/2006/relationships/image" Target="../media/image74.emf"/><Relationship Id="rId16" Type="http://schemas.openxmlformats.org/officeDocument/2006/relationships/image" Target="../media/image73.emf"/><Relationship Id="rId15" Type="http://schemas.openxmlformats.org/officeDocument/2006/relationships/image" Target="../media/image72.emf"/><Relationship Id="rId14" Type="http://schemas.openxmlformats.org/officeDocument/2006/relationships/image" Target="../media/image71.emf"/><Relationship Id="rId13" Type="http://schemas.openxmlformats.org/officeDocument/2006/relationships/image" Target="../media/image70.emf"/><Relationship Id="rId12" Type="http://schemas.openxmlformats.org/officeDocument/2006/relationships/image" Target="../media/image69.wmf"/><Relationship Id="rId11" Type="http://schemas.openxmlformats.org/officeDocument/2006/relationships/image" Target="../media/image68.emf"/><Relationship Id="rId10" Type="http://schemas.openxmlformats.org/officeDocument/2006/relationships/image" Target="../media/image67.emf"/><Relationship Id="rId1"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88.emf"/><Relationship Id="rId8" Type="http://schemas.openxmlformats.org/officeDocument/2006/relationships/image" Target="../media/image87.emf"/><Relationship Id="rId7" Type="http://schemas.openxmlformats.org/officeDocument/2006/relationships/image" Target="../media/image86.emf"/><Relationship Id="rId6" Type="http://schemas.openxmlformats.org/officeDocument/2006/relationships/image" Target="../media/image85.emf"/><Relationship Id="rId5" Type="http://schemas.openxmlformats.org/officeDocument/2006/relationships/image" Target="../media/image84.emf"/><Relationship Id="rId4" Type="http://schemas.openxmlformats.org/officeDocument/2006/relationships/image" Target="../media/image83.emf"/><Relationship Id="rId3" Type="http://schemas.openxmlformats.org/officeDocument/2006/relationships/image" Target="../media/image82.emf"/><Relationship Id="rId20" Type="http://schemas.openxmlformats.org/officeDocument/2006/relationships/image" Target="../media/image99.emf"/><Relationship Id="rId2" Type="http://schemas.openxmlformats.org/officeDocument/2006/relationships/image" Target="../media/image81.emf"/><Relationship Id="rId19" Type="http://schemas.openxmlformats.org/officeDocument/2006/relationships/image" Target="../media/image98.emf"/><Relationship Id="rId18" Type="http://schemas.openxmlformats.org/officeDocument/2006/relationships/image" Target="../media/image97.emf"/><Relationship Id="rId17" Type="http://schemas.openxmlformats.org/officeDocument/2006/relationships/image" Target="../media/image96.emf"/><Relationship Id="rId16" Type="http://schemas.openxmlformats.org/officeDocument/2006/relationships/image" Target="../media/image95.emf"/><Relationship Id="rId15" Type="http://schemas.openxmlformats.org/officeDocument/2006/relationships/image" Target="../media/image94.emf"/><Relationship Id="rId14" Type="http://schemas.openxmlformats.org/officeDocument/2006/relationships/image" Target="../media/image93.emf"/><Relationship Id="rId13" Type="http://schemas.openxmlformats.org/officeDocument/2006/relationships/image" Target="../media/image92.emf"/><Relationship Id="rId12" Type="http://schemas.openxmlformats.org/officeDocument/2006/relationships/image" Target="../media/image91.emf"/><Relationship Id="rId11" Type="http://schemas.openxmlformats.org/officeDocument/2006/relationships/image" Target="../media/image90.emf"/><Relationship Id="rId10" Type="http://schemas.openxmlformats.org/officeDocument/2006/relationships/image" Target="../media/image89.emf"/><Relationship Id="rId1" Type="http://schemas.openxmlformats.org/officeDocument/2006/relationships/image" Target="../media/image80.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18.vml.rels><?xml version="1.0" encoding="UTF-8" standalone="yes"?>
<Relationships xmlns="http://schemas.openxmlformats.org/package/2006/relationships"><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18.wmf"/><Relationship Id="rId7" Type="http://schemas.openxmlformats.org/officeDocument/2006/relationships/image" Target="../media/image117.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s>
</file>

<file path=ppt/drawings/_rels/vmlDrawing21.vml.rels><?xml version="1.0" encoding="UTF-8" standalone="yes"?>
<Relationships xmlns="http://schemas.openxmlformats.org/package/2006/relationships"><Relationship Id="rId6" Type="http://schemas.openxmlformats.org/officeDocument/2006/relationships/image" Target="../media/image127.wmf"/><Relationship Id="rId5" Type="http://schemas.openxmlformats.org/officeDocument/2006/relationships/image" Target="../media/image126.wmf"/><Relationship Id="rId4" Type="http://schemas.openxmlformats.org/officeDocument/2006/relationships/image" Target="../media/image125.wmf"/><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22.vml.rels><?xml version="1.0" encoding="UTF-8" standalone="yes"?>
<Relationships xmlns="http://schemas.openxmlformats.org/package/2006/relationships"><Relationship Id="rId6" Type="http://schemas.openxmlformats.org/officeDocument/2006/relationships/image" Target="../media/image133.wmf"/><Relationship Id="rId5" Type="http://schemas.openxmlformats.org/officeDocument/2006/relationships/image" Target="../media/image132.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142.wmf"/><Relationship Id="rId8" Type="http://schemas.openxmlformats.org/officeDocument/2006/relationships/image" Target="../media/image141.wmf"/><Relationship Id="rId7" Type="http://schemas.openxmlformats.org/officeDocument/2006/relationships/image" Target="../media/image140.wmf"/><Relationship Id="rId6" Type="http://schemas.openxmlformats.org/officeDocument/2006/relationships/image" Target="../media/image139.wmf"/><Relationship Id="rId5" Type="http://schemas.openxmlformats.org/officeDocument/2006/relationships/image" Target="../media/image138.wmf"/><Relationship Id="rId4" Type="http://schemas.openxmlformats.org/officeDocument/2006/relationships/image" Target="../media/image137.wmf"/><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46.wmf"/><Relationship Id="rId1" Type="http://schemas.openxmlformats.org/officeDocument/2006/relationships/image" Target="../media/image14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48.wmf"/><Relationship Id="rId1" Type="http://schemas.openxmlformats.org/officeDocument/2006/relationships/image" Target="../media/image14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65.wmf"/><Relationship Id="rId7" Type="http://schemas.openxmlformats.org/officeDocument/2006/relationships/image" Target="../media/image164.wmf"/><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61.wmf"/><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s>
</file>

<file path=ppt/drawings/_rels/vmlDrawing30.vml.rels><?xml version="1.0" encoding="UTF-8" standalone="yes"?>
<Relationships xmlns="http://schemas.openxmlformats.org/package/2006/relationships"><Relationship Id="rId4" Type="http://schemas.openxmlformats.org/officeDocument/2006/relationships/image" Target="../media/image168.wmf"/><Relationship Id="rId3" Type="http://schemas.openxmlformats.org/officeDocument/2006/relationships/image" Target="../media/image107.wmf"/><Relationship Id="rId2" Type="http://schemas.openxmlformats.org/officeDocument/2006/relationships/image" Target="../media/image167.wmf"/><Relationship Id="rId1" Type="http://schemas.openxmlformats.org/officeDocument/2006/relationships/image" Target="../media/image166.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70.wmf"/><Relationship Id="rId1" Type="http://schemas.openxmlformats.org/officeDocument/2006/relationships/image" Target="../media/image169.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71.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74.wmf"/><Relationship Id="rId1" Type="http://schemas.openxmlformats.org/officeDocument/2006/relationships/image" Target="../media/image173.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78.wmf"/></Relationships>
</file>

<file path=ppt/drawings/_rels/vmlDrawing36.vml.rels><?xml version="1.0" encoding="UTF-8" standalone="yes"?>
<Relationships xmlns="http://schemas.openxmlformats.org/package/2006/relationships"><Relationship Id="rId6" Type="http://schemas.openxmlformats.org/officeDocument/2006/relationships/image" Target="../media/image184.wmf"/><Relationship Id="rId5" Type="http://schemas.openxmlformats.org/officeDocument/2006/relationships/image" Target="../media/image183.wmf"/><Relationship Id="rId4" Type="http://schemas.openxmlformats.org/officeDocument/2006/relationships/image" Target="../media/image182.wmf"/><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86.wmf"/><Relationship Id="rId1" Type="http://schemas.openxmlformats.org/officeDocument/2006/relationships/image" Target="../media/image1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l" eaLnBrk="1" hangingPunct="1">
              <a:defRPr sz="1300"/>
            </a:lvl1pPr>
          </a:lstStyle>
          <a:p>
            <a:pPr>
              <a:defRPr/>
            </a:pPr>
            <a:endParaRPr lang="en-US" altLang="zh-CN"/>
          </a:p>
        </p:txBody>
      </p:sp>
      <p:sp>
        <p:nvSpPr>
          <p:cNvPr id="21507" name="Rectangle 3"/>
          <p:cNvSpPr>
            <a:spLocks noGrp="1" noChangeArrowheads="1"/>
          </p:cNvSpPr>
          <p:nvPr>
            <p:ph type="dt" idx="1"/>
          </p:nvPr>
        </p:nvSpPr>
        <p:spPr bwMode="auto">
          <a:xfrm>
            <a:off x="4022937"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eaLnBrk="1" hangingPunct="1">
              <a:defRPr sz="13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9" name="Rectangle 5"/>
          <p:cNvSpPr>
            <a:spLocks noGrp="1" noChangeArrowheads="1"/>
          </p:cNvSpPr>
          <p:nvPr>
            <p:ph type="body" sz="quarter" idx="3"/>
          </p:nvPr>
        </p:nvSpPr>
        <p:spPr bwMode="auto">
          <a:xfrm>
            <a:off x="946574" y="4861441"/>
            <a:ext cx="5206153" cy="460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1510" name="Rectangle 6"/>
          <p:cNvSpPr>
            <a:spLocks noGrp="1" noChangeArrowheads="1"/>
          </p:cNvSpPr>
          <p:nvPr>
            <p:ph type="ftr" sz="quarter" idx="4"/>
          </p:nvPr>
        </p:nvSpPr>
        <p:spPr bwMode="auto">
          <a:xfrm>
            <a:off x="0" y="9722882"/>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l" eaLnBrk="1" hangingPunct="1">
              <a:defRPr sz="1300"/>
            </a:lvl1pPr>
          </a:lstStyle>
          <a:p>
            <a:pPr>
              <a:defRPr/>
            </a:pPr>
            <a:endParaRPr lang="en-US" altLang="zh-CN"/>
          </a:p>
        </p:txBody>
      </p:sp>
      <p:sp>
        <p:nvSpPr>
          <p:cNvPr id="21511" name="Rectangle 7"/>
          <p:cNvSpPr>
            <a:spLocks noGrp="1" noChangeArrowheads="1"/>
          </p:cNvSpPr>
          <p:nvPr>
            <p:ph type="sldNum" sz="quarter" idx="5"/>
          </p:nvPr>
        </p:nvSpPr>
        <p:spPr bwMode="auto">
          <a:xfrm>
            <a:off x="4022937" y="9722882"/>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eaLnBrk="1" hangingPunct="1">
              <a:defRPr sz="1300"/>
            </a:lvl1pPr>
          </a:lstStyle>
          <a:p>
            <a:pPr>
              <a:defRPr/>
            </a:pPr>
            <a:fld id="{15885289-4832-46C1-B355-6FB86A8D593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F32AC2-5CA0-41E2-900C-4A9051C0A65C}"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F32AC2-5CA0-41E2-900C-4A9051C0A65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754774B-09EC-4BC6-B57C-E54507BD7AB2}" type="slidenum">
              <a:rPr lang="en-US" altLang="zh-CN"/>
            </a:fld>
            <a:endParaRPr lang="en-US" altLang="zh-CN"/>
          </a:p>
        </p:txBody>
      </p:sp>
      <p:sp>
        <p:nvSpPr>
          <p:cNvPr id="25602" name="Rectangle 2"/>
          <p:cNvSpPr>
            <a:spLocks noGrp="1" noRot="1" noChangeAspect="1" noChangeArrowheads="1"/>
          </p:cNvSpPr>
          <p:nvPr>
            <p:ph type="sldImg"/>
          </p:nvPr>
        </p:nvSpPr>
        <p:spPr>
          <a:xfrm>
            <a:off x="381000" y="685800"/>
            <a:ext cx="6096000" cy="3429000"/>
          </a:xfrm>
        </p:spPr>
      </p:sp>
      <p:sp>
        <p:nvSpPr>
          <p:cNvPr id="256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8334C63-2912-4B5E-B540-55731B920A09}" type="slidenum">
              <a:rPr lang="en-US" altLang="zh-CN"/>
            </a:fld>
            <a:endParaRPr lang="en-US" altLang="zh-CN"/>
          </a:p>
        </p:txBody>
      </p:sp>
      <p:sp>
        <p:nvSpPr>
          <p:cNvPr id="52226" name="Rectangle 2"/>
          <p:cNvSpPr>
            <a:spLocks noGrp="1" noRot="1" noChangeAspect="1" noChangeArrowheads="1"/>
          </p:cNvSpPr>
          <p:nvPr>
            <p:ph type="sldImg"/>
          </p:nvPr>
        </p:nvSpPr>
        <p:spPr>
          <a:xfrm>
            <a:off x="381000" y="685800"/>
            <a:ext cx="6096000" cy="3429000"/>
          </a:xfrm>
        </p:spPr>
      </p:sp>
      <p:sp>
        <p:nvSpPr>
          <p:cNvPr id="52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981200"/>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981200"/>
            <a:ext cx="508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4114800"/>
            <a:ext cx="508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lvl1pPr algn="ctr">
              <a:defRPr kumimoji="1" b="0"/>
            </a:lvl1pPr>
          </a:lstStyle>
          <a:p>
            <a:pPr>
              <a:defRPr/>
            </a:pPr>
            <a:fld id="{6DE8BBB3-0BE2-4ABC-892E-79B8A64B4E84}" type="datetime1">
              <a:rPr lang="zh-CN" altLang="en-US"/>
            </a:fld>
            <a:endParaRPr lang="en-US" altLang="zh-CN"/>
          </a:p>
        </p:txBody>
      </p:sp>
      <p:sp>
        <p:nvSpPr>
          <p:cNvPr id="7" name="页脚占位符 6"/>
          <p:cNvSpPr>
            <a:spLocks noGrp="1"/>
          </p:cNvSpPr>
          <p:nvPr>
            <p:ph type="ftr" sz="quarter" idx="11"/>
          </p:nvPr>
        </p:nvSpPr>
        <p:spPr/>
        <p:txBody>
          <a:bodyPr/>
          <a:lstStyle>
            <a:lvl1pPr>
              <a:defRPr kumimoji="1" b="0"/>
            </a:lvl1pPr>
          </a:lstStyle>
          <a:p>
            <a:pPr>
              <a:defRPr/>
            </a:pPr>
            <a:endParaRPr lang="en-US" altLang="zh-CN"/>
          </a:p>
        </p:txBody>
      </p:sp>
      <p:sp>
        <p:nvSpPr>
          <p:cNvPr id="8" name="灯片编号占位符 7"/>
          <p:cNvSpPr>
            <a:spLocks noGrp="1"/>
          </p:cNvSpPr>
          <p:nvPr>
            <p:ph type="sldNum" sz="quarter" idx="12"/>
          </p:nvPr>
        </p:nvSpPr>
        <p:spPr/>
        <p:txBody>
          <a:bodyPr/>
          <a:lstStyle>
            <a:lvl1pPr>
              <a:defRPr kumimoji="1" b="0"/>
            </a:lvl1pPr>
          </a:lstStyle>
          <a:p>
            <a:fld id="{742228D8-1E47-47CB-A0CC-5924B2EBD4AC}" type="slidenum">
              <a:rPr lang="en-US" altLang="zh-CN"/>
            </a:fld>
            <a:endParaRPr lang="en-US" altLang="zh-CN"/>
          </a:p>
        </p:txBody>
      </p:sp>
    </p:spTree>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hyperlink" Target="../&#27010;&#29575;&#35770;&#19982;&#25968;&#29702;&#32479;&#35745;&#20027;&#30028;&#38754;.PPT#-1,5,&#24187;&#28783;&#29255;%205" TargetMode="Externa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7" name="Oval 36">
            <a:hlinkClick r:id="rId13" action="ppaction://hlinkpres?slideindex=5&amp;slidetitle=幻灯片 5" highlightClick="1"/>
          </p:cNvPr>
          <p:cNvSpPr>
            <a:spLocks noChangeArrowheads="1"/>
          </p:cNvSpPr>
          <p:nvPr userDrawn="1"/>
        </p:nvSpPr>
        <p:spPr bwMode="auto">
          <a:xfrm>
            <a:off x="10369551" y="188914"/>
            <a:ext cx="1488016" cy="395287"/>
          </a:xfrm>
          <a:prstGeom prst="ellipse">
            <a:avLst/>
          </a:prstGeom>
          <a:gradFill rotWithShape="1">
            <a:gsLst>
              <a:gs pos="0">
                <a:srgbClr val="660033">
                  <a:alpha val="73000"/>
                </a:srgbClr>
              </a:gs>
              <a:gs pos="50000">
                <a:srgbClr val="33CCCC">
                  <a:alpha val="89000"/>
                </a:srgbClr>
              </a:gs>
              <a:gs pos="100000">
                <a:srgbClr val="660033">
                  <a:alpha val="73000"/>
                </a:srgbClr>
              </a:gs>
            </a:gsLst>
            <a:lin ang="5400000" scaled="1"/>
          </a:gradFill>
          <a:ln>
            <a:noFill/>
          </a:ln>
          <a:effectLst/>
          <a:scene3d>
            <a:camera prst="legacyObliqueRight"/>
            <a:lightRig rig="legacyFlat3" dir="b"/>
          </a:scene3d>
          <a:sp3d extrusionH="2016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zh-CN" altLang="en-US" sz="1800" b="1">
                <a:solidFill>
                  <a:srgbClr val="FFFF99"/>
                </a:solidFill>
              </a:rPr>
              <a:t>概率论 </a:t>
            </a:r>
            <a:endParaRPr lang="zh-CN" altLang="en-US" sz="2400">
              <a:solidFill>
                <a:srgbClr val="FFFF99"/>
              </a:solidFill>
            </a:endParaRPr>
          </a:p>
        </p:txBody>
      </p:sp>
      <p:grpSp>
        <p:nvGrpSpPr>
          <p:cNvPr id="8" name="Group 37"/>
          <p:cNvGrpSpPr/>
          <p:nvPr userDrawn="1"/>
        </p:nvGrpSpPr>
        <p:grpSpPr bwMode="auto">
          <a:xfrm>
            <a:off x="9408584" y="6346825"/>
            <a:ext cx="719667" cy="395288"/>
            <a:chOff x="4740" y="3453"/>
            <a:chExt cx="340" cy="249"/>
          </a:xfrm>
        </p:grpSpPr>
        <p:sp>
          <p:nvSpPr>
            <p:cNvPr id="9" name="Oval 38">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0" name="AutoShape 39">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1" name="Group 40"/>
          <p:cNvGrpSpPr/>
          <p:nvPr userDrawn="1"/>
        </p:nvGrpSpPr>
        <p:grpSpPr bwMode="auto">
          <a:xfrm>
            <a:off x="10369551" y="6346825"/>
            <a:ext cx="719667" cy="395288"/>
            <a:chOff x="5239" y="3453"/>
            <a:chExt cx="340" cy="249"/>
          </a:xfrm>
        </p:grpSpPr>
        <p:sp>
          <p:nvSpPr>
            <p:cNvPr id="12" name="Oval 41">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3" name="AutoShape 42">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4" name="Group 43"/>
          <p:cNvGrpSpPr/>
          <p:nvPr userDrawn="1"/>
        </p:nvGrpSpPr>
        <p:grpSpPr bwMode="auto">
          <a:xfrm>
            <a:off x="9408584" y="6346825"/>
            <a:ext cx="719667" cy="395288"/>
            <a:chOff x="4740" y="3453"/>
            <a:chExt cx="340" cy="249"/>
          </a:xfrm>
        </p:grpSpPr>
        <p:sp>
          <p:nvSpPr>
            <p:cNvPr id="15" name="Oval 44">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6" name="AutoShape 45">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7" name="Group 46"/>
          <p:cNvGrpSpPr/>
          <p:nvPr userDrawn="1"/>
        </p:nvGrpSpPr>
        <p:grpSpPr bwMode="auto">
          <a:xfrm>
            <a:off x="10369551" y="6346825"/>
            <a:ext cx="719667" cy="395288"/>
            <a:chOff x="5239" y="3453"/>
            <a:chExt cx="340" cy="249"/>
          </a:xfrm>
        </p:grpSpPr>
        <p:sp>
          <p:nvSpPr>
            <p:cNvPr id="18" name="Oval 47">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9" name="AutoShape 48">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20" name="Group 49"/>
          <p:cNvGrpSpPr/>
          <p:nvPr userDrawn="1"/>
        </p:nvGrpSpPr>
        <p:grpSpPr bwMode="auto">
          <a:xfrm>
            <a:off x="11233151" y="6346825"/>
            <a:ext cx="719667" cy="395288"/>
            <a:chOff x="5307" y="3998"/>
            <a:chExt cx="340" cy="249"/>
          </a:xfrm>
        </p:grpSpPr>
        <p:sp>
          <p:nvSpPr>
            <p:cNvPr id="21" name="Oval 50">
              <a:hlinkClick r:id="" action="ppaction://hlinkshowjump?jump=firstslide" highlightClick="1"/>
            </p:cNvPr>
            <p:cNvSpPr>
              <a:spLocks noChangeArrowheads="1"/>
            </p:cNvSpPr>
            <p:nvPr userDrawn="1"/>
          </p:nvSpPr>
          <p:spPr bwMode="auto">
            <a:xfrm rot="-5400000">
              <a:off x="5352" y="3953"/>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22" name="AutoShape 51">
              <a:hlinkClick r:id="" action="ppaction://hlinkshowjump?jump=firstslide"/>
            </p:cNvPr>
            <p:cNvSpPr>
              <a:spLocks noChangeArrowheads="1"/>
            </p:cNvSpPr>
            <p:nvPr userDrawn="1"/>
          </p:nvSpPr>
          <p:spPr bwMode="auto">
            <a:xfrm>
              <a:off x="5409" y="4021"/>
              <a:ext cx="136" cy="204"/>
            </a:xfrm>
            <a:prstGeom prst="upArrow">
              <a:avLst>
                <a:gd name="adj1" fmla="val 49676"/>
                <a:gd name="adj2" fmla="val 70979"/>
              </a:avLst>
            </a:prstGeom>
            <a:solidFill>
              <a:srgbClr val="660033"/>
            </a:soli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sp>
        <p:nvSpPr>
          <p:cNvPr id="23" name="矩形 22"/>
          <p:cNvSpPr/>
          <p:nvPr userDrawn="1"/>
        </p:nvSpPr>
        <p:spPr>
          <a:xfrm>
            <a:off x="0" y="0"/>
            <a:ext cx="12192000" cy="6858000"/>
          </a:xfrm>
          <a:prstGeom prst="rect">
            <a:avLst/>
          </a:prstGeom>
          <a:gradFill flip="none" rotWithShape="1">
            <a:gsLst>
              <a:gs pos="0">
                <a:srgbClr val="F5F5F5"/>
              </a:gs>
              <a:gs pos="73000">
                <a:srgbClr val="F3F3F3"/>
              </a:gs>
              <a:gs pos="100000">
                <a:srgbClr val="E2DEDF"/>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rtlCol="0" anchor="ctr"/>
          <a:lstStyle/>
          <a:p>
            <a:pPr algn="ctr" defTabSz="913765"/>
            <a:endParaRPr lang="zh-CN" altLang="en-US" sz="1865">
              <a:solidFill>
                <a:prstClr val="white"/>
              </a:solidFill>
            </a:endParaRPr>
          </a:p>
        </p:txBody>
      </p:sp>
      <p:pic>
        <p:nvPicPr>
          <p:cNvPr id="24" name="图片 23"/>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5414" y="0"/>
            <a:ext cx="12179586" cy="68595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9" Type="http://schemas.openxmlformats.org/officeDocument/2006/relationships/image" Target="../media/image7.wmf"/><Relationship Id="rId8" Type="http://schemas.openxmlformats.org/officeDocument/2006/relationships/oleObject" Target="../embeddings/oleObject4.bin"/><Relationship Id="rId7" Type="http://schemas.openxmlformats.org/officeDocument/2006/relationships/image" Target="../media/image6.wmf"/><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 Id="rId33" Type="http://schemas.openxmlformats.org/officeDocument/2006/relationships/vmlDrawing" Target="../drawings/vmlDrawing1.vml"/><Relationship Id="rId32" Type="http://schemas.openxmlformats.org/officeDocument/2006/relationships/slideLayout" Target="../slideLayouts/slideLayout12.xml"/><Relationship Id="rId31" Type="http://schemas.openxmlformats.org/officeDocument/2006/relationships/image" Target="../media/image18.wmf"/><Relationship Id="rId30" Type="http://schemas.openxmlformats.org/officeDocument/2006/relationships/oleObject" Target="../embeddings/oleObject15.bin"/><Relationship Id="rId3" Type="http://schemas.openxmlformats.org/officeDocument/2006/relationships/image" Target="../media/image4.wmf"/><Relationship Id="rId29" Type="http://schemas.openxmlformats.org/officeDocument/2006/relationships/image" Target="../media/image17.wmf"/><Relationship Id="rId28" Type="http://schemas.openxmlformats.org/officeDocument/2006/relationships/oleObject" Target="../embeddings/oleObject14.bin"/><Relationship Id="rId27" Type="http://schemas.openxmlformats.org/officeDocument/2006/relationships/image" Target="../media/image16.wmf"/><Relationship Id="rId26" Type="http://schemas.openxmlformats.org/officeDocument/2006/relationships/oleObject" Target="../embeddings/oleObject13.bin"/><Relationship Id="rId25" Type="http://schemas.openxmlformats.org/officeDocument/2006/relationships/image" Target="../media/image15.wmf"/><Relationship Id="rId24" Type="http://schemas.openxmlformats.org/officeDocument/2006/relationships/oleObject" Target="../embeddings/oleObject12.bin"/><Relationship Id="rId23" Type="http://schemas.openxmlformats.org/officeDocument/2006/relationships/image" Target="../media/image14.wmf"/><Relationship Id="rId22" Type="http://schemas.openxmlformats.org/officeDocument/2006/relationships/oleObject" Target="../embeddings/oleObject11.bin"/><Relationship Id="rId21" Type="http://schemas.openxmlformats.org/officeDocument/2006/relationships/image" Target="../media/image13.wmf"/><Relationship Id="rId20" Type="http://schemas.openxmlformats.org/officeDocument/2006/relationships/oleObject" Target="../embeddings/oleObject10.bin"/><Relationship Id="rId2" Type="http://schemas.openxmlformats.org/officeDocument/2006/relationships/oleObject" Target="../embeddings/oleObject1.bin"/><Relationship Id="rId19" Type="http://schemas.openxmlformats.org/officeDocument/2006/relationships/image" Target="../media/image12.wmf"/><Relationship Id="rId18" Type="http://schemas.openxmlformats.org/officeDocument/2006/relationships/oleObject" Target="../embeddings/oleObject9.bin"/><Relationship Id="rId17" Type="http://schemas.openxmlformats.org/officeDocument/2006/relationships/image" Target="../media/image11.wmf"/><Relationship Id="rId16" Type="http://schemas.openxmlformats.org/officeDocument/2006/relationships/oleObject" Target="../embeddings/oleObject8.bin"/><Relationship Id="rId15" Type="http://schemas.openxmlformats.org/officeDocument/2006/relationships/image" Target="../media/image10.wmf"/><Relationship Id="rId14" Type="http://schemas.openxmlformats.org/officeDocument/2006/relationships/oleObject" Target="../embeddings/oleObject7.bin"/><Relationship Id="rId13" Type="http://schemas.openxmlformats.org/officeDocument/2006/relationships/image" Target="../media/image9.wmf"/><Relationship Id="rId12" Type="http://schemas.openxmlformats.org/officeDocument/2006/relationships/oleObject" Target="../embeddings/oleObject6.bin"/><Relationship Id="rId11" Type="http://schemas.openxmlformats.org/officeDocument/2006/relationships/image" Target="../media/image8.wmf"/><Relationship Id="rId10" Type="http://schemas.openxmlformats.org/officeDocument/2006/relationships/oleObject" Target="../embeddings/oleObject5.bin"/><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0.png"/><Relationship Id="rId2" Type="http://schemas.openxmlformats.org/officeDocument/2006/relationships/tags" Target="../tags/tag1.xml"/><Relationship Id="rId1"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emf"/><Relationship Id="rId1" Type="http://schemas.openxmlformats.org/officeDocument/2006/relationships/image" Target="../media/image21.emf"/></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24.wmf"/><Relationship Id="rId3" Type="http://schemas.openxmlformats.org/officeDocument/2006/relationships/oleObject" Target="../embeddings/oleObject17.bin"/><Relationship Id="rId2" Type="http://schemas.openxmlformats.org/officeDocument/2006/relationships/image" Target="../media/image23.wmf"/><Relationship Id="rId1" Type="http://schemas.openxmlformats.org/officeDocument/2006/relationships/oleObject" Target="../embeddings/oleObject16.bin"/></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6.wmf"/><Relationship Id="rId3" Type="http://schemas.openxmlformats.org/officeDocument/2006/relationships/oleObject" Target="../embeddings/oleObject19.bin"/><Relationship Id="rId2" Type="http://schemas.openxmlformats.org/officeDocument/2006/relationships/image" Target="../media/image25.wmf"/><Relationship Id="rId1" Type="http://schemas.openxmlformats.org/officeDocument/2006/relationships/oleObject" Target="../embeddings/oleObject18.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28.wmf"/><Relationship Id="rId3" Type="http://schemas.openxmlformats.org/officeDocument/2006/relationships/oleObject" Target="../embeddings/oleObject21.bin"/><Relationship Id="rId2" Type="http://schemas.openxmlformats.org/officeDocument/2006/relationships/image" Target="../media/image27.wmf"/><Relationship Id="rId1"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image" Target="../media/image33.wmf"/><Relationship Id="rId1" Type="http://schemas.openxmlformats.org/officeDocument/2006/relationships/oleObject" Target="../embeddings/oleObject22.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35.wmf"/><Relationship Id="rId1" Type="http://schemas.openxmlformats.org/officeDocument/2006/relationships/oleObject" Target="../embeddings/oleObject23.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37.wmf"/><Relationship Id="rId3" Type="http://schemas.openxmlformats.org/officeDocument/2006/relationships/oleObject" Target="../embeddings/oleObject25.bin"/><Relationship Id="rId2" Type="http://schemas.openxmlformats.org/officeDocument/2006/relationships/image" Target="../media/image36.wmf"/><Relationship Id="rId1" Type="http://schemas.openxmlformats.org/officeDocument/2006/relationships/oleObject" Target="../embeddings/oleObject24.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41.wmf"/><Relationship Id="rId7" Type="http://schemas.openxmlformats.org/officeDocument/2006/relationships/oleObject" Target="../embeddings/oleObject29.bin"/><Relationship Id="rId6" Type="http://schemas.openxmlformats.org/officeDocument/2006/relationships/image" Target="../media/image40.wmf"/><Relationship Id="rId5" Type="http://schemas.openxmlformats.org/officeDocument/2006/relationships/oleObject" Target="../embeddings/oleObject28.bin"/><Relationship Id="rId4" Type="http://schemas.openxmlformats.org/officeDocument/2006/relationships/image" Target="../media/image39.wmf"/><Relationship Id="rId3" Type="http://schemas.openxmlformats.org/officeDocument/2006/relationships/oleObject" Target="../embeddings/oleObject27.bin"/><Relationship Id="rId2" Type="http://schemas.openxmlformats.org/officeDocument/2006/relationships/image" Target="../media/image38.wmf"/><Relationship Id="rId14" Type="http://schemas.openxmlformats.org/officeDocument/2006/relationships/vmlDrawing" Target="../drawings/vmlDrawing8.vml"/><Relationship Id="rId13" Type="http://schemas.openxmlformats.org/officeDocument/2006/relationships/slideLayout" Target="../slideLayouts/slideLayout7.xml"/><Relationship Id="rId12" Type="http://schemas.openxmlformats.org/officeDocument/2006/relationships/image" Target="../media/image43.wmf"/><Relationship Id="rId11" Type="http://schemas.openxmlformats.org/officeDocument/2006/relationships/oleObject" Target="../embeddings/oleObject31.bin"/><Relationship Id="rId10" Type="http://schemas.openxmlformats.org/officeDocument/2006/relationships/image" Target="../media/image42.wmf"/><Relationship Id="rId1" Type="http://schemas.openxmlformats.org/officeDocument/2006/relationships/oleObject" Target="../embeddings/oleObject26.bin"/></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45.wmf"/><Relationship Id="rId3" Type="http://schemas.openxmlformats.org/officeDocument/2006/relationships/oleObject" Target="../embeddings/oleObject33.bin"/><Relationship Id="rId2" Type="http://schemas.openxmlformats.org/officeDocument/2006/relationships/image" Target="../media/image44.wmf"/><Relationship Id="rId1" Type="http://schemas.openxmlformats.org/officeDocument/2006/relationships/oleObject" Target="../embeddings/oleObject32.bin"/></Relationships>
</file>

<file path=ppt/slides/_rels/slide18.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48.wmf"/><Relationship Id="rId5" Type="http://schemas.openxmlformats.org/officeDocument/2006/relationships/oleObject" Target="../embeddings/oleObject36.bin"/><Relationship Id="rId4" Type="http://schemas.openxmlformats.org/officeDocument/2006/relationships/image" Target="../media/image47.wmf"/><Relationship Id="rId3" Type="http://schemas.openxmlformats.org/officeDocument/2006/relationships/oleObject" Target="../embeddings/oleObject35.bin"/><Relationship Id="rId2" Type="http://schemas.openxmlformats.org/officeDocument/2006/relationships/image" Target="../media/image46.wmf"/><Relationship Id="rId1" Type="http://schemas.openxmlformats.org/officeDocument/2006/relationships/oleObject" Target="../embeddings/oleObject3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7.xml"/><Relationship Id="rId6" Type="http://schemas.openxmlformats.org/officeDocument/2006/relationships/image" Target="../media/image51.wmf"/><Relationship Id="rId5" Type="http://schemas.openxmlformats.org/officeDocument/2006/relationships/oleObject" Target="../embeddings/oleObject39.bin"/><Relationship Id="rId4" Type="http://schemas.openxmlformats.org/officeDocument/2006/relationships/image" Target="../media/image50.wmf"/><Relationship Id="rId3" Type="http://schemas.openxmlformats.org/officeDocument/2006/relationships/oleObject" Target="../embeddings/oleObject38.bin"/><Relationship Id="rId2" Type="http://schemas.openxmlformats.org/officeDocument/2006/relationships/image" Target="../media/image49.wmf"/><Relationship Id="rId1" Type="http://schemas.openxmlformats.org/officeDocument/2006/relationships/oleObject" Target="../embeddings/oleObject37.bin"/></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53.wmf"/><Relationship Id="rId3" Type="http://schemas.openxmlformats.org/officeDocument/2006/relationships/oleObject" Target="../embeddings/oleObject41.bin"/><Relationship Id="rId2" Type="http://schemas.openxmlformats.org/officeDocument/2006/relationships/image" Target="../media/image52.wmf"/><Relationship Id="rId1" Type="http://schemas.openxmlformats.org/officeDocument/2006/relationships/oleObject" Target="../embeddings/oleObject40.bin"/></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46.bin"/><Relationship Id="rId8" Type="http://schemas.openxmlformats.org/officeDocument/2006/relationships/image" Target="../media/image61.emf"/><Relationship Id="rId7" Type="http://schemas.openxmlformats.org/officeDocument/2006/relationships/oleObject" Target="../embeddings/oleObject45.bin"/><Relationship Id="rId6" Type="http://schemas.openxmlformats.org/officeDocument/2006/relationships/image" Target="../media/image60.emf"/><Relationship Id="rId5" Type="http://schemas.openxmlformats.org/officeDocument/2006/relationships/oleObject" Target="../embeddings/oleObject44.bin"/><Relationship Id="rId47" Type="http://schemas.openxmlformats.org/officeDocument/2006/relationships/vmlDrawing" Target="../drawings/vmlDrawing13.vml"/><Relationship Id="rId46" Type="http://schemas.openxmlformats.org/officeDocument/2006/relationships/slideLayout" Target="../slideLayouts/slideLayout7.xml"/><Relationship Id="rId45" Type="http://schemas.openxmlformats.org/officeDocument/2006/relationships/audio" Target="../media/audio1.wav"/><Relationship Id="rId44" Type="http://schemas.openxmlformats.org/officeDocument/2006/relationships/image" Target="../media/image79.emf"/><Relationship Id="rId43" Type="http://schemas.openxmlformats.org/officeDocument/2006/relationships/oleObject" Target="../embeddings/oleObject63.bin"/><Relationship Id="rId42" Type="http://schemas.openxmlformats.org/officeDocument/2006/relationships/image" Target="../media/image78.emf"/><Relationship Id="rId41" Type="http://schemas.openxmlformats.org/officeDocument/2006/relationships/oleObject" Target="../embeddings/oleObject62.bin"/><Relationship Id="rId40" Type="http://schemas.openxmlformats.org/officeDocument/2006/relationships/image" Target="../media/image77.emf"/><Relationship Id="rId4" Type="http://schemas.openxmlformats.org/officeDocument/2006/relationships/image" Target="../media/image59.emf"/><Relationship Id="rId39" Type="http://schemas.openxmlformats.org/officeDocument/2006/relationships/oleObject" Target="../embeddings/oleObject61.bin"/><Relationship Id="rId38" Type="http://schemas.openxmlformats.org/officeDocument/2006/relationships/image" Target="../media/image76.emf"/><Relationship Id="rId37" Type="http://schemas.openxmlformats.org/officeDocument/2006/relationships/oleObject" Target="../embeddings/oleObject60.bin"/><Relationship Id="rId36" Type="http://schemas.openxmlformats.org/officeDocument/2006/relationships/image" Target="../media/image75.emf"/><Relationship Id="rId35" Type="http://schemas.openxmlformats.org/officeDocument/2006/relationships/oleObject" Target="../embeddings/oleObject59.bin"/><Relationship Id="rId34" Type="http://schemas.openxmlformats.org/officeDocument/2006/relationships/image" Target="../media/image74.emf"/><Relationship Id="rId33" Type="http://schemas.openxmlformats.org/officeDocument/2006/relationships/oleObject" Target="../embeddings/oleObject58.bin"/><Relationship Id="rId32" Type="http://schemas.openxmlformats.org/officeDocument/2006/relationships/image" Target="../media/image73.emf"/><Relationship Id="rId31" Type="http://schemas.openxmlformats.org/officeDocument/2006/relationships/oleObject" Target="../embeddings/oleObject57.bin"/><Relationship Id="rId30" Type="http://schemas.openxmlformats.org/officeDocument/2006/relationships/image" Target="../media/image72.emf"/><Relationship Id="rId3" Type="http://schemas.openxmlformats.org/officeDocument/2006/relationships/oleObject" Target="../embeddings/oleObject43.bin"/><Relationship Id="rId29" Type="http://schemas.openxmlformats.org/officeDocument/2006/relationships/oleObject" Target="../embeddings/oleObject56.bin"/><Relationship Id="rId28" Type="http://schemas.openxmlformats.org/officeDocument/2006/relationships/image" Target="../media/image71.emf"/><Relationship Id="rId27" Type="http://schemas.openxmlformats.org/officeDocument/2006/relationships/oleObject" Target="../embeddings/oleObject55.bin"/><Relationship Id="rId26" Type="http://schemas.openxmlformats.org/officeDocument/2006/relationships/image" Target="../media/image70.emf"/><Relationship Id="rId25" Type="http://schemas.openxmlformats.org/officeDocument/2006/relationships/oleObject" Target="../embeddings/oleObject54.bin"/><Relationship Id="rId24" Type="http://schemas.openxmlformats.org/officeDocument/2006/relationships/image" Target="../media/image69.wmf"/><Relationship Id="rId23" Type="http://schemas.openxmlformats.org/officeDocument/2006/relationships/oleObject" Target="../embeddings/oleObject53.bin"/><Relationship Id="rId22" Type="http://schemas.openxmlformats.org/officeDocument/2006/relationships/image" Target="../media/image68.emf"/><Relationship Id="rId21" Type="http://schemas.openxmlformats.org/officeDocument/2006/relationships/oleObject" Target="../embeddings/oleObject52.bin"/><Relationship Id="rId20" Type="http://schemas.openxmlformats.org/officeDocument/2006/relationships/image" Target="../media/image67.emf"/><Relationship Id="rId2" Type="http://schemas.openxmlformats.org/officeDocument/2006/relationships/image" Target="../media/image58.wmf"/><Relationship Id="rId19" Type="http://schemas.openxmlformats.org/officeDocument/2006/relationships/oleObject" Target="../embeddings/oleObject51.bin"/><Relationship Id="rId18" Type="http://schemas.openxmlformats.org/officeDocument/2006/relationships/image" Target="../media/image66.emf"/><Relationship Id="rId17" Type="http://schemas.openxmlformats.org/officeDocument/2006/relationships/oleObject" Target="../embeddings/oleObject50.bin"/><Relationship Id="rId16" Type="http://schemas.openxmlformats.org/officeDocument/2006/relationships/image" Target="../media/image65.emf"/><Relationship Id="rId15" Type="http://schemas.openxmlformats.org/officeDocument/2006/relationships/oleObject" Target="../embeddings/oleObject49.bin"/><Relationship Id="rId14" Type="http://schemas.openxmlformats.org/officeDocument/2006/relationships/image" Target="../media/image64.emf"/><Relationship Id="rId13" Type="http://schemas.openxmlformats.org/officeDocument/2006/relationships/oleObject" Target="../embeddings/oleObject48.bin"/><Relationship Id="rId12" Type="http://schemas.openxmlformats.org/officeDocument/2006/relationships/image" Target="../media/image63.emf"/><Relationship Id="rId11" Type="http://schemas.openxmlformats.org/officeDocument/2006/relationships/oleObject" Target="../embeddings/oleObject47.bin"/><Relationship Id="rId10" Type="http://schemas.openxmlformats.org/officeDocument/2006/relationships/image" Target="../media/image62.emf"/><Relationship Id="rId1" Type="http://schemas.openxmlformats.org/officeDocument/2006/relationships/oleObject" Target="../embeddings/oleObject42.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68.bin"/><Relationship Id="rId8" Type="http://schemas.openxmlformats.org/officeDocument/2006/relationships/image" Target="../media/image83.emf"/><Relationship Id="rId7" Type="http://schemas.openxmlformats.org/officeDocument/2006/relationships/oleObject" Target="../embeddings/oleObject67.bin"/><Relationship Id="rId6" Type="http://schemas.openxmlformats.org/officeDocument/2006/relationships/image" Target="../media/image82.emf"/><Relationship Id="rId5" Type="http://schemas.openxmlformats.org/officeDocument/2006/relationships/oleObject" Target="../embeddings/oleObject66.bin"/><Relationship Id="rId43" Type="http://schemas.openxmlformats.org/officeDocument/2006/relationships/vmlDrawing" Target="../drawings/vmlDrawing14.vml"/><Relationship Id="rId42" Type="http://schemas.openxmlformats.org/officeDocument/2006/relationships/slideLayout" Target="../slideLayouts/slideLayout7.xml"/><Relationship Id="rId41" Type="http://schemas.openxmlformats.org/officeDocument/2006/relationships/audio" Target="../media/audio2.wav"/><Relationship Id="rId40" Type="http://schemas.openxmlformats.org/officeDocument/2006/relationships/image" Target="../media/image99.emf"/><Relationship Id="rId4" Type="http://schemas.openxmlformats.org/officeDocument/2006/relationships/image" Target="../media/image81.emf"/><Relationship Id="rId39" Type="http://schemas.openxmlformats.org/officeDocument/2006/relationships/oleObject" Target="../embeddings/oleObject83.bin"/><Relationship Id="rId38" Type="http://schemas.openxmlformats.org/officeDocument/2006/relationships/image" Target="../media/image98.emf"/><Relationship Id="rId37" Type="http://schemas.openxmlformats.org/officeDocument/2006/relationships/oleObject" Target="../embeddings/oleObject82.bin"/><Relationship Id="rId36" Type="http://schemas.openxmlformats.org/officeDocument/2006/relationships/image" Target="../media/image97.emf"/><Relationship Id="rId35" Type="http://schemas.openxmlformats.org/officeDocument/2006/relationships/oleObject" Target="../embeddings/oleObject81.bin"/><Relationship Id="rId34" Type="http://schemas.openxmlformats.org/officeDocument/2006/relationships/image" Target="../media/image96.emf"/><Relationship Id="rId33" Type="http://schemas.openxmlformats.org/officeDocument/2006/relationships/oleObject" Target="../embeddings/oleObject80.bin"/><Relationship Id="rId32" Type="http://schemas.openxmlformats.org/officeDocument/2006/relationships/image" Target="../media/image95.emf"/><Relationship Id="rId31" Type="http://schemas.openxmlformats.org/officeDocument/2006/relationships/oleObject" Target="../embeddings/oleObject79.bin"/><Relationship Id="rId30" Type="http://schemas.openxmlformats.org/officeDocument/2006/relationships/image" Target="../media/image94.emf"/><Relationship Id="rId3" Type="http://schemas.openxmlformats.org/officeDocument/2006/relationships/oleObject" Target="../embeddings/oleObject65.bin"/><Relationship Id="rId29" Type="http://schemas.openxmlformats.org/officeDocument/2006/relationships/oleObject" Target="../embeddings/oleObject78.bin"/><Relationship Id="rId28" Type="http://schemas.openxmlformats.org/officeDocument/2006/relationships/image" Target="../media/image93.emf"/><Relationship Id="rId27" Type="http://schemas.openxmlformats.org/officeDocument/2006/relationships/oleObject" Target="../embeddings/oleObject77.bin"/><Relationship Id="rId26" Type="http://schemas.openxmlformats.org/officeDocument/2006/relationships/image" Target="../media/image92.emf"/><Relationship Id="rId25" Type="http://schemas.openxmlformats.org/officeDocument/2006/relationships/oleObject" Target="../embeddings/oleObject76.bin"/><Relationship Id="rId24" Type="http://schemas.openxmlformats.org/officeDocument/2006/relationships/image" Target="../media/image91.emf"/><Relationship Id="rId23" Type="http://schemas.openxmlformats.org/officeDocument/2006/relationships/oleObject" Target="../embeddings/oleObject75.bin"/><Relationship Id="rId22" Type="http://schemas.openxmlformats.org/officeDocument/2006/relationships/image" Target="../media/image90.emf"/><Relationship Id="rId21" Type="http://schemas.openxmlformats.org/officeDocument/2006/relationships/oleObject" Target="../embeddings/oleObject74.bin"/><Relationship Id="rId20" Type="http://schemas.openxmlformats.org/officeDocument/2006/relationships/image" Target="../media/image89.emf"/><Relationship Id="rId2" Type="http://schemas.openxmlformats.org/officeDocument/2006/relationships/image" Target="../media/image80.emf"/><Relationship Id="rId19" Type="http://schemas.openxmlformats.org/officeDocument/2006/relationships/oleObject" Target="../embeddings/oleObject73.bin"/><Relationship Id="rId18" Type="http://schemas.openxmlformats.org/officeDocument/2006/relationships/image" Target="../media/image88.emf"/><Relationship Id="rId17" Type="http://schemas.openxmlformats.org/officeDocument/2006/relationships/oleObject" Target="../embeddings/oleObject72.bin"/><Relationship Id="rId16" Type="http://schemas.openxmlformats.org/officeDocument/2006/relationships/image" Target="../media/image87.emf"/><Relationship Id="rId15" Type="http://schemas.openxmlformats.org/officeDocument/2006/relationships/oleObject" Target="../embeddings/oleObject71.bin"/><Relationship Id="rId14" Type="http://schemas.openxmlformats.org/officeDocument/2006/relationships/image" Target="../media/image86.emf"/><Relationship Id="rId13" Type="http://schemas.openxmlformats.org/officeDocument/2006/relationships/oleObject" Target="../embeddings/oleObject70.bin"/><Relationship Id="rId12" Type="http://schemas.openxmlformats.org/officeDocument/2006/relationships/image" Target="../media/image85.emf"/><Relationship Id="rId11" Type="http://schemas.openxmlformats.org/officeDocument/2006/relationships/oleObject" Target="../embeddings/oleObject69.bin"/><Relationship Id="rId10" Type="http://schemas.openxmlformats.org/officeDocument/2006/relationships/image" Target="../media/image84.emf"/><Relationship Id="rId1" Type="http://schemas.openxmlformats.org/officeDocument/2006/relationships/oleObject" Target="../embeddings/oleObject64.bin"/></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101.wmf"/><Relationship Id="rId3" Type="http://schemas.openxmlformats.org/officeDocument/2006/relationships/oleObject" Target="../embeddings/oleObject85.bin"/><Relationship Id="rId2" Type="http://schemas.openxmlformats.org/officeDocument/2006/relationships/image" Target="../media/image100.wmf"/><Relationship Id="rId1" Type="http://schemas.openxmlformats.org/officeDocument/2006/relationships/oleObject" Target="../embeddings/oleObject84.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102.wmf"/><Relationship Id="rId1" Type="http://schemas.openxmlformats.org/officeDocument/2006/relationships/oleObject" Target="../embeddings/oleObject86.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7" Type="http://schemas.openxmlformats.org/officeDocument/2006/relationships/vmlDrawing" Target="../drawings/vmlDrawing17.vml"/><Relationship Id="rId6" Type="http://schemas.openxmlformats.org/officeDocument/2006/relationships/slideLayout" Target="../slideLayouts/slideLayout7.xml"/><Relationship Id="rId5" Type="http://schemas.openxmlformats.org/officeDocument/2006/relationships/image" Target="../media/image104.wmf"/><Relationship Id="rId4" Type="http://schemas.openxmlformats.org/officeDocument/2006/relationships/oleObject" Target="../embeddings/oleObject89.bin"/><Relationship Id="rId3" Type="http://schemas.openxmlformats.org/officeDocument/2006/relationships/oleObject" Target="../embeddings/oleObject88.bin"/><Relationship Id="rId2" Type="http://schemas.openxmlformats.org/officeDocument/2006/relationships/image" Target="../media/image103.wmf"/><Relationship Id="rId1" Type="http://schemas.openxmlformats.org/officeDocument/2006/relationships/oleObject" Target="../embeddings/oleObject87.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94.bin"/><Relationship Id="rId8" Type="http://schemas.openxmlformats.org/officeDocument/2006/relationships/image" Target="../media/image108.wmf"/><Relationship Id="rId7" Type="http://schemas.openxmlformats.org/officeDocument/2006/relationships/oleObject" Target="../embeddings/oleObject93.bin"/><Relationship Id="rId6" Type="http://schemas.openxmlformats.org/officeDocument/2006/relationships/image" Target="../media/image107.wmf"/><Relationship Id="rId5" Type="http://schemas.openxmlformats.org/officeDocument/2006/relationships/oleObject" Target="../embeddings/oleObject92.bin"/><Relationship Id="rId4" Type="http://schemas.openxmlformats.org/officeDocument/2006/relationships/image" Target="../media/image106.wmf"/><Relationship Id="rId3" Type="http://schemas.openxmlformats.org/officeDocument/2006/relationships/oleObject" Target="../embeddings/oleObject91.bin"/><Relationship Id="rId2" Type="http://schemas.openxmlformats.org/officeDocument/2006/relationships/image" Target="../media/image105.wmf"/><Relationship Id="rId14" Type="http://schemas.openxmlformats.org/officeDocument/2006/relationships/vmlDrawing" Target="../drawings/vmlDrawing18.vml"/><Relationship Id="rId13" Type="http://schemas.openxmlformats.org/officeDocument/2006/relationships/slideLayout" Target="../slideLayouts/slideLayout7.xml"/><Relationship Id="rId12" Type="http://schemas.openxmlformats.org/officeDocument/2006/relationships/image" Target="../media/image110.wmf"/><Relationship Id="rId11" Type="http://schemas.openxmlformats.org/officeDocument/2006/relationships/oleObject" Target="../embeddings/oleObject95.bin"/><Relationship Id="rId10" Type="http://schemas.openxmlformats.org/officeDocument/2006/relationships/image" Target="../media/image109.wmf"/><Relationship Id="rId1" Type="http://schemas.openxmlformats.org/officeDocument/2006/relationships/oleObject" Target="../embeddings/oleObject90.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100.bin"/><Relationship Id="rId8" Type="http://schemas.openxmlformats.org/officeDocument/2006/relationships/image" Target="../media/image114.wmf"/><Relationship Id="rId7" Type="http://schemas.openxmlformats.org/officeDocument/2006/relationships/oleObject" Target="../embeddings/oleObject99.bin"/><Relationship Id="rId6" Type="http://schemas.openxmlformats.org/officeDocument/2006/relationships/image" Target="../media/image113.wmf"/><Relationship Id="rId5" Type="http://schemas.openxmlformats.org/officeDocument/2006/relationships/oleObject" Target="../embeddings/oleObject98.bin"/><Relationship Id="rId4" Type="http://schemas.openxmlformats.org/officeDocument/2006/relationships/image" Target="../media/image112.wmf"/><Relationship Id="rId3" Type="http://schemas.openxmlformats.org/officeDocument/2006/relationships/oleObject" Target="../embeddings/oleObject97.bin"/><Relationship Id="rId2" Type="http://schemas.openxmlformats.org/officeDocument/2006/relationships/image" Target="../media/image111.wmf"/><Relationship Id="rId18" Type="http://schemas.openxmlformats.org/officeDocument/2006/relationships/vmlDrawing" Target="../drawings/vmlDrawing19.vml"/><Relationship Id="rId17" Type="http://schemas.openxmlformats.org/officeDocument/2006/relationships/slideLayout" Target="../slideLayouts/slideLayout7.xml"/><Relationship Id="rId16" Type="http://schemas.openxmlformats.org/officeDocument/2006/relationships/image" Target="../media/image118.wmf"/><Relationship Id="rId15" Type="http://schemas.openxmlformats.org/officeDocument/2006/relationships/oleObject" Target="../embeddings/oleObject103.bin"/><Relationship Id="rId14" Type="http://schemas.openxmlformats.org/officeDocument/2006/relationships/image" Target="../media/image117.wmf"/><Relationship Id="rId13" Type="http://schemas.openxmlformats.org/officeDocument/2006/relationships/oleObject" Target="../embeddings/oleObject102.bin"/><Relationship Id="rId12" Type="http://schemas.openxmlformats.org/officeDocument/2006/relationships/image" Target="../media/image116.wmf"/><Relationship Id="rId11" Type="http://schemas.openxmlformats.org/officeDocument/2006/relationships/oleObject" Target="../embeddings/oleObject101.bin"/><Relationship Id="rId10" Type="http://schemas.openxmlformats.org/officeDocument/2006/relationships/image" Target="../media/image115.wmf"/><Relationship Id="rId1" Type="http://schemas.openxmlformats.org/officeDocument/2006/relationships/oleObject" Target="../embeddings/oleObject96.bin"/></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121.wmf"/><Relationship Id="rId5" Type="http://schemas.openxmlformats.org/officeDocument/2006/relationships/oleObject" Target="../embeddings/oleObject106.bin"/><Relationship Id="rId4" Type="http://schemas.openxmlformats.org/officeDocument/2006/relationships/image" Target="../media/image120.wmf"/><Relationship Id="rId3" Type="http://schemas.openxmlformats.org/officeDocument/2006/relationships/oleObject" Target="../embeddings/oleObject105.bin"/><Relationship Id="rId2" Type="http://schemas.openxmlformats.org/officeDocument/2006/relationships/image" Target="../media/image119.wmf"/><Relationship Id="rId1" Type="http://schemas.openxmlformats.org/officeDocument/2006/relationships/oleObject" Target="../embeddings/oleObject104.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11.bin"/><Relationship Id="rId8" Type="http://schemas.openxmlformats.org/officeDocument/2006/relationships/image" Target="../media/image125.wmf"/><Relationship Id="rId7" Type="http://schemas.openxmlformats.org/officeDocument/2006/relationships/oleObject" Target="../embeddings/oleObject110.bin"/><Relationship Id="rId6" Type="http://schemas.openxmlformats.org/officeDocument/2006/relationships/image" Target="../media/image124.wmf"/><Relationship Id="rId5" Type="http://schemas.openxmlformats.org/officeDocument/2006/relationships/oleObject" Target="../embeddings/oleObject109.bin"/><Relationship Id="rId4" Type="http://schemas.openxmlformats.org/officeDocument/2006/relationships/image" Target="../media/image123.wmf"/><Relationship Id="rId3" Type="http://schemas.openxmlformats.org/officeDocument/2006/relationships/oleObject" Target="../embeddings/oleObject108.bin"/><Relationship Id="rId2" Type="http://schemas.openxmlformats.org/officeDocument/2006/relationships/image" Target="../media/image122.wmf"/><Relationship Id="rId14" Type="http://schemas.openxmlformats.org/officeDocument/2006/relationships/vmlDrawing" Target="../drawings/vmlDrawing21.vml"/><Relationship Id="rId13" Type="http://schemas.openxmlformats.org/officeDocument/2006/relationships/slideLayout" Target="../slideLayouts/slideLayout7.xml"/><Relationship Id="rId12" Type="http://schemas.openxmlformats.org/officeDocument/2006/relationships/image" Target="../media/image127.wmf"/><Relationship Id="rId11" Type="http://schemas.openxmlformats.org/officeDocument/2006/relationships/oleObject" Target="../embeddings/oleObject112.bin"/><Relationship Id="rId10" Type="http://schemas.openxmlformats.org/officeDocument/2006/relationships/image" Target="../media/image126.wmf"/><Relationship Id="rId1" Type="http://schemas.openxmlformats.org/officeDocument/2006/relationships/oleObject" Target="../embeddings/oleObject107.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17.bin"/><Relationship Id="rId8" Type="http://schemas.openxmlformats.org/officeDocument/2006/relationships/image" Target="../media/image131.wmf"/><Relationship Id="rId7" Type="http://schemas.openxmlformats.org/officeDocument/2006/relationships/oleObject" Target="../embeddings/oleObject116.bin"/><Relationship Id="rId6" Type="http://schemas.openxmlformats.org/officeDocument/2006/relationships/image" Target="../media/image130.wmf"/><Relationship Id="rId5" Type="http://schemas.openxmlformats.org/officeDocument/2006/relationships/oleObject" Target="../embeddings/oleObject115.bin"/><Relationship Id="rId4" Type="http://schemas.openxmlformats.org/officeDocument/2006/relationships/image" Target="../media/image129.wmf"/><Relationship Id="rId3" Type="http://schemas.openxmlformats.org/officeDocument/2006/relationships/oleObject" Target="../embeddings/oleObject114.bin"/><Relationship Id="rId2" Type="http://schemas.openxmlformats.org/officeDocument/2006/relationships/image" Target="../media/image128.wmf"/><Relationship Id="rId14" Type="http://schemas.openxmlformats.org/officeDocument/2006/relationships/vmlDrawing" Target="../drawings/vmlDrawing22.vml"/><Relationship Id="rId13" Type="http://schemas.openxmlformats.org/officeDocument/2006/relationships/slideLayout" Target="../slideLayouts/slideLayout7.xml"/><Relationship Id="rId12" Type="http://schemas.openxmlformats.org/officeDocument/2006/relationships/image" Target="../media/image133.wmf"/><Relationship Id="rId11" Type="http://schemas.openxmlformats.org/officeDocument/2006/relationships/oleObject" Target="../embeddings/oleObject118.bin"/><Relationship Id="rId10" Type="http://schemas.openxmlformats.org/officeDocument/2006/relationships/image" Target="../media/image132.wmf"/><Relationship Id="rId1" Type="http://schemas.openxmlformats.org/officeDocument/2006/relationships/oleObject" Target="../embeddings/oleObject113.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137.wmf"/><Relationship Id="rId7" Type="http://schemas.openxmlformats.org/officeDocument/2006/relationships/oleObject" Target="../embeddings/oleObject122.bin"/><Relationship Id="rId6" Type="http://schemas.openxmlformats.org/officeDocument/2006/relationships/image" Target="../media/image136.wmf"/><Relationship Id="rId5" Type="http://schemas.openxmlformats.org/officeDocument/2006/relationships/oleObject" Target="../embeddings/oleObject121.bin"/><Relationship Id="rId4" Type="http://schemas.openxmlformats.org/officeDocument/2006/relationships/image" Target="../media/image135.wmf"/><Relationship Id="rId3" Type="http://schemas.openxmlformats.org/officeDocument/2006/relationships/oleObject" Target="../embeddings/oleObject120.bin"/><Relationship Id="rId20" Type="http://schemas.openxmlformats.org/officeDocument/2006/relationships/vmlDrawing" Target="../drawings/vmlDrawing23.vml"/><Relationship Id="rId2" Type="http://schemas.openxmlformats.org/officeDocument/2006/relationships/image" Target="../media/image134.wmf"/><Relationship Id="rId19" Type="http://schemas.openxmlformats.org/officeDocument/2006/relationships/slideLayout" Target="../slideLayouts/slideLayout7.xml"/><Relationship Id="rId18" Type="http://schemas.openxmlformats.org/officeDocument/2006/relationships/image" Target="../media/image142.wmf"/><Relationship Id="rId17" Type="http://schemas.openxmlformats.org/officeDocument/2006/relationships/oleObject" Target="../embeddings/oleObject127.bin"/><Relationship Id="rId16" Type="http://schemas.openxmlformats.org/officeDocument/2006/relationships/image" Target="../media/image141.wmf"/><Relationship Id="rId15" Type="http://schemas.openxmlformats.org/officeDocument/2006/relationships/oleObject" Target="../embeddings/oleObject126.bin"/><Relationship Id="rId14" Type="http://schemas.openxmlformats.org/officeDocument/2006/relationships/image" Target="../media/image140.wmf"/><Relationship Id="rId13" Type="http://schemas.openxmlformats.org/officeDocument/2006/relationships/oleObject" Target="../embeddings/oleObject125.bin"/><Relationship Id="rId12" Type="http://schemas.openxmlformats.org/officeDocument/2006/relationships/image" Target="../media/image139.wmf"/><Relationship Id="rId11" Type="http://schemas.openxmlformats.org/officeDocument/2006/relationships/oleObject" Target="../embeddings/oleObject124.bin"/><Relationship Id="rId10" Type="http://schemas.openxmlformats.org/officeDocument/2006/relationships/image" Target="../media/image138.wmf"/><Relationship Id="rId1" Type="http://schemas.openxmlformats.org/officeDocument/2006/relationships/oleObject" Target="../embeddings/oleObject119.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5" Type="http://schemas.openxmlformats.org/officeDocument/2006/relationships/vmlDrawing" Target="../drawings/vmlDrawing24.vml"/><Relationship Id="rId4" Type="http://schemas.openxmlformats.org/officeDocument/2006/relationships/slideLayout" Target="../slideLayouts/slideLayout7.xml"/><Relationship Id="rId3" Type="http://schemas.openxmlformats.org/officeDocument/2006/relationships/image" Target="../media/image144.png"/><Relationship Id="rId2" Type="http://schemas.openxmlformats.org/officeDocument/2006/relationships/image" Target="../media/image143.wmf"/><Relationship Id="rId1" Type="http://schemas.openxmlformats.org/officeDocument/2006/relationships/oleObject" Target="../embeddings/oleObject128.bin"/></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7.xml"/><Relationship Id="rId4" Type="http://schemas.openxmlformats.org/officeDocument/2006/relationships/image" Target="../media/image146.wmf"/><Relationship Id="rId3" Type="http://schemas.openxmlformats.org/officeDocument/2006/relationships/oleObject" Target="../embeddings/oleObject130.bin"/><Relationship Id="rId2" Type="http://schemas.openxmlformats.org/officeDocument/2006/relationships/image" Target="../media/image145.wmf"/><Relationship Id="rId1" Type="http://schemas.openxmlformats.org/officeDocument/2006/relationships/oleObject" Target="../embeddings/oleObject129.bin"/></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vmlDrawing" Target="../drawings/vmlDrawing26.vml"/><Relationship Id="rId5" Type="http://schemas.openxmlformats.org/officeDocument/2006/relationships/slideLayout" Target="../slideLayouts/slideLayout7.xml"/><Relationship Id="rId4" Type="http://schemas.openxmlformats.org/officeDocument/2006/relationships/image" Target="../media/image148.wmf"/><Relationship Id="rId3" Type="http://schemas.openxmlformats.org/officeDocument/2006/relationships/oleObject" Target="../embeddings/oleObject132.bin"/><Relationship Id="rId2" Type="http://schemas.openxmlformats.org/officeDocument/2006/relationships/image" Target="../media/image147.wmf"/><Relationship Id="rId1" Type="http://schemas.openxmlformats.org/officeDocument/2006/relationships/oleObject" Target="../embeddings/oleObject131.bin"/></Relationships>
</file>

<file path=ppt/slides/_rels/slide48.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vmlDrawing" Target="../drawings/vmlDrawing27.vml"/><Relationship Id="rId7" Type="http://schemas.openxmlformats.org/officeDocument/2006/relationships/slideLayout" Target="../slideLayouts/slideLayout7.xml"/><Relationship Id="rId6" Type="http://schemas.openxmlformats.org/officeDocument/2006/relationships/image" Target="../media/image151.wmf"/><Relationship Id="rId5" Type="http://schemas.openxmlformats.org/officeDocument/2006/relationships/oleObject" Target="../embeddings/oleObject135.bin"/><Relationship Id="rId4" Type="http://schemas.openxmlformats.org/officeDocument/2006/relationships/image" Target="../media/image150.wmf"/><Relationship Id="rId3" Type="http://schemas.openxmlformats.org/officeDocument/2006/relationships/oleObject" Target="../embeddings/oleObject134.bin"/><Relationship Id="rId2" Type="http://schemas.openxmlformats.org/officeDocument/2006/relationships/image" Target="../media/image149.wmf"/><Relationship Id="rId1" Type="http://schemas.openxmlformats.org/officeDocument/2006/relationships/oleObject" Target="../embeddings/oleObject133.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55.wmf"/><Relationship Id="rId7" Type="http://schemas.openxmlformats.org/officeDocument/2006/relationships/oleObject" Target="../embeddings/oleObject139.bin"/><Relationship Id="rId6" Type="http://schemas.openxmlformats.org/officeDocument/2006/relationships/image" Target="../media/image154.wmf"/><Relationship Id="rId5" Type="http://schemas.openxmlformats.org/officeDocument/2006/relationships/oleObject" Target="../embeddings/oleObject138.bin"/><Relationship Id="rId4" Type="http://schemas.openxmlformats.org/officeDocument/2006/relationships/image" Target="../media/image153.wmf"/><Relationship Id="rId3" Type="http://schemas.openxmlformats.org/officeDocument/2006/relationships/oleObject" Target="../embeddings/oleObject137.bin"/><Relationship Id="rId2" Type="http://schemas.openxmlformats.org/officeDocument/2006/relationships/image" Target="../media/image152.wmf"/><Relationship Id="rId14" Type="http://schemas.openxmlformats.org/officeDocument/2006/relationships/vmlDrawing" Target="../drawings/vmlDrawing28.vml"/><Relationship Id="rId13" Type="http://schemas.openxmlformats.org/officeDocument/2006/relationships/slideLayout" Target="../slideLayouts/slideLayout7.xml"/><Relationship Id="rId12" Type="http://schemas.openxmlformats.org/officeDocument/2006/relationships/image" Target="../media/image157.wmf"/><Relationship Id="rId11" Type="http://schemas.openxmlformats.org/officeDocument/2006/relationships/oleObject" Target="../embeddings/oleObject141.bin"/><Relationship Id="rId10" Type="http://schemas.openxmlformats.org/officeDocument/2006/relationships/image" Target="../media/image156.wmf"/><Relationship Id="rId1" Type="http://schemas.openxmlformats.org/officeDocument/2006/relationships/oleObject" Target="../embeddings/oleObject136.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46.bin"/><Relationship Id="rId8" Type="http://schemas.openxmlformats.org/officeDocument/2006/relationships/image" Target="../media/image161.wmf"/><Relationship Id="rId7" Type="http://schemas.openxmlformats.org/officeDocument/2006/relationships/oleObject" Target="../embeddings/oleObject145.bin"/><Relationship Id="rId6" Type="http://schemas.openxmlformats.org/officeDocument/2006/relationships/image" Target="../media/image160.wmf"/><Relationship Id="rId5" Type="http://schemas.openxmlformats.org/officeDocument/2006/relationships/oleObject" Target="../embeddings/oleObject144.bin"/><Relationship Id="rId4" Type="http://schemas.openxmlformats.org/officeDocument/2006/relationships/image" Target="../media/image159.wmf"/><Relationship Id="rId3" Type="http://schemas.openxmlformats.org/officeDocument/2006/relationships/oleObject" Target="../embeddings/oleObject143.bin"/><Relationship Id="rId2" Type="http://schemas.openxmlformats.org/officeDocument/2006/relationships/image" Target="../media/image158.wmf"/><Relationship Id="rId18" Type="http://schemas.openxmlformats.org/officeDocument/2006/relationships/vmlDrawing" Target="../drawings/vmlDrawing29.vml"/><Relationship Id="rId17" Type="http://schemas.openxmlformats.org/officeDocument/2006/relationships/slideLayout" Target="../slideLayouts/slideLayout7.xml"/><Relationship Id="rId16" Type="http://schemas.openxmlformats.org/officeDocument/2006/relationships/image" Target="../media/image165.wmf"/><Relationship Id="rId15" Type="http://schemas.openxmlformats.org/officeDocument/2006/relationships/oleObject" Target="../embeddings/oleObject149.bin"/><Relationship Id="rId14" Type="http://schemas.openxmlformats.org/officeDocument/2006/relationships/image" Target="../media/image164.wmf"/><Relationship Id="rId13" Type="http://schemas.openxmlformats.org/officeDocument/2006/relationships/oleObject" Target="../embeddings/oleObject148.bin"/><Relationship Id="rId12" Type="http://schemas.openxmlformats.org/officeDocument/2006/relationships/image" Target="../media/image163.wmf"/><Relationship Id="rId11" Type="http://schemas.openxmlformats.org/officeDocument/2006/relationships/oleObject" Target="../embeddings/oleObject147.bin"/><Relationship Id="rId10" Type="http://schemas.openxmlformats.org/officeDocument/2006/relationships/image" Target="../media/image162.wmf"/><Relationship Id="rId1" Type="http://schemas.openxmlformats.org/officeDocument/2006/relationships/oleObject" Target="../embeddings/oleObject142.bin"/></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68.wmf"/><Relationship Id="rId7" Type="http://schemas.openxmlformats.org/officeDocument/2006/relationships/oleObject" Target="../embeddings/oleObject153.bin"/><Relationship Id="rId6" Type="http://schemas.openxmlformats.org/officeDocument/2006/relationships/image" Target="../media/image107.wmf"/><Relationship Id="rId5" Type="http://schemas.openxmlformats.org/officeDocument/2006/relationships/oleObject" Target="../embeddings/oleObject152.bin"/><Relationship Id="rId4" Type="http://schemas.openxmlformats.org/officeDocument/2006/relationships/image" Target="../media/image167.wmf"/><Relationship Id="rId3" Type="http://schemas.openxmlformats.org/officeDocument/2006/relationships/oleObject" Target="../embeddings/oleObject151.bin"/><Relationship Id="rId2" Type="http://schemas.openxmlformats.org/officeDocument/2006/relationships/image" Target="../media/image166.wmf"/><Relationship Id="rId10" Type="http://schemas.openxmlformats.org/officeDocument/2006/relationships/vmlDrawing" Target="../drawings/vmlDrawing30.vml"/><Relationship Id="rId1" Type="http://schemas.openxmlformats.org/officeDocument/2006/relationships/oleObject" Target="../embeddings/oleObject150.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31.vml"/><Relationship Id="rId5" Type="http://schemas.openxmlformats.org/officeDocument/2006/relationships/slideLayout" Target="../slideLayouts/slideLayout7.xml"/><Relationship Id="rId4" Type="http://schemas.openxmlformats.org/officeDocument/2006/relationships/image" Target="../media/image170.wmf"/><Relationship Id="rId3" Type="http://schemas.openxmlformats.org/officeDocument/2006/relationships/oleObject" Target="../embeddings/oleObject155.bin"/><Relationship Id="rId2" Type="http://schemas.openxmlformats.org/officeDocument/2006/relationships/image" Target="../media/image169.wmf"/><Relationship Id="rId1" Type="http://schemas.openxmlformats.org/officeDocument/2006/relationships/oleObject" Target="../embeddings/oleObject154.bin"/></Relationships>
</file>

<file path=ppt/slides/_rels/slide54.xml.rels><?xml version="1.0" encoding="UTF-8" standalone="yes"?>
<Relationships xmlns="http://schemas.openxmlformats.org/package/2006/relationships"><Relationship Id="rId5" Type="http://schemas.openxmlformats.org/officeDocument/2006/relationships/vmlDrawing" Target="../drawings/vmlDrawing32.vml"/><Relationship Id="rId4" Type="http://schemas.openxmlformats.org/officeDocument/2006/relationships/slideLayout" Target="../slideLayouts/slideLayout7.xml"/><Relationship Id="rId3" Type="http://schemas.openxmlformats.org/officeDocument/2006/relationships/image" Target="../media/image172.png"/><Relationship Id="rId2" Type="http://schemas.openxmlformats.org/officeDocument/2006/relationships/image" Target="../media/image171.wmf"/><Relationship Id="rId1" Type="http://schemas.openxmlformats.org/officeDocument/2006/relationships/oleObject" Target="../embeddings/oleObject156.bin"/></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7.xml"/><Relationship Id="rId4" Type="http://schemas.openxmlformats.org/officeDocument/2006/relationships/image" Target="../media/image174.wmf"/><Relationship Id="rId3" Type="http://schemas.openxmlformats.org/officeDocument/2006/relationships/oleObject" Target="../embeddings/oleObject158.bin"/><Relationship Id="rId2" Type="http://schemas.openxmlformats.org/officeDocument/2006/relationships/image" Target="../media/image173.wmf"/><Relationship Id="rId1" Type="http://schemas.openxmlformats.org/officeDocument/2006/relationships/oleObject" Target="../embeddings/oleObject157.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34.vml"/><Relationship Id="rId7" Type="http://schemas.openxmlformats.org/officeDocument/2006/relationships/slideLayout" Target="../slideLayouts/slideLayout7.xml"/><Relationship Id="rId6" Type="http://schemas.openxmlformats.org/officeDocument/2006/relationships/image" Target="../media/image177.wmf"/><Relationship Id="rId5" Type="http://schemas.openxmlformats.org/officeDocument/2006/relationships/oleObject" Target="../embeddings/oleObject161.bin"/><Relationship Id="rId4" Type="http://schemas.openxmlformats.org/officeDocument/2006/relationships/image" Target="../media/image176.wmf"/><Relationship Id="rId3" Type="http://schemas.openxmlformats.org/officeDocument/2006/relationships/oleObject" Target="../embeddings/oleObject160.bin"/><Relationship Id="rId2" Type="http://schemas.openxmlformats.org/officeDocument/2006/relationships/image" Target="../media/image175.wmf"/><Relationship Id="rId1" Type="http://schemas.openxmlformats.org/officeDocument/2006/relationships/oleObject" Target="../embeddings/oleObject159.bin"/></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7.xml"/><Relationship Id="rId2" Type="http://schemas.openxmlformats.org/officeDocument/2006/relationships/image" Target="../media/image178.wmf"/><Relationship Id="rId1" Type="http://schemas.openxmlformats.org/officeDocument/2006/relationships/oleObject" Target="../embeddings/oleObject162.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167.bin"/><Relationship Id="rId8" Type="http://schemas.openxmlformats.org/officeDocument/2006/relationships/image" Target="../media/image182.wmf"/><Relationship Id="rId7" Type="http://schemas.openxmlformats.org/officeDocument/2006/relationships/oleObject" Target="../embeddings/oleObject166.bin"/><Relationship Id="rId6" Type="http://schemas.openxmlformats.org/officeDocument/2006/relationships/image" Target="../media/image181.wmf"/><Relationship Id="rId5" Type="http://schemas.openxmlformats.org/officeDocument/2006/relationships/oleObject" Target="../embeddings/oleObject165.bin"/><Relationship Id="rId4" Type="http://schemas.openxmlformats.org/officeDocument/2006/relationships/image" Target="../media/image180.wmf"/><Relationship Id="rId3" Type="http://schemas.openxmlformats.org/officeDocument/2006/relationships/oleObject" Target="../embeddings/oleObject164.bin"/><Relationship Id="rId2" Type="http://schemas.openxmlformats.org/officeDocument/2006/relationships/image" Target="../media/image179.wmf"/><Relationship Id="rId14" Type="http://schemas.openxmlformats.org/officeDocument/2006/relationships/vmlDrawing" Target="../drawings/vmlDrawing36.vml"/><Relationship Id="rId13" Type="http://schemas.openxmlformats.org/officeDocument/2006/relationships/slideLayout" Target="../slideLayouts/slideLayout7.xml"/><Relationship Id="rId12" Type="http://schemas.openxmlformats.org/officeDocument/2006/relationships/image" Target="../media/image184.wmf"/><Relationship Id="rId11" Type="http://schemas.openxmlformats.org/officeDocument/2006/relationships/oleObject" Target="../embeddings/oleObject168.bin"/><Relationship Id="rId10" Type="http://schemas.openxmlformats.org/officeDocument/2006/relationships/image" Target="../media/image183.wmf"/><Relationship Id="rId1" Type="http://schemas.openxmlformats.org/officeDocument/2006/relationships/oleObject" Target="../embeddings/oleObject163.bin"/></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7.xml"/><Relationship Id="rId4" Type="http://schemas.openxmlformats.org/officeDocument/2006/relationships/image" Target="../media/image186.wmf"/><Relationship Id="rId3" Type="http://schemas.openxmlformats.org/officeDocument/2006/relationships/oleObject" Target="../embeddings/oleObject170.bin"/><Relationship Id="rId2" Type="http://schemas.openxmlformats.org/officeDocument/2006/relationships/image" Target="../media/image185.wmf"/><Relationship Id="rId1" Type="http://schemas.openxmlformats.org/officeDocument/2006/relationships/oleObject" Target="../embeddings/oleObject169.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865"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 y="2947584"/>
            <a:ext cx="7939594" cy="768350"/>
          </a:xfrm>
          <a:prstGeom prst="rect">
            <a:avLst/>
          </a:prstGeom>
          <a:noFill/>
        </p:spPr>
        <p:txBody>
          <a:bodyPr wrap="square" rtlCol="0">
            <a:spAutoFit/>
          </a:bodyPr>
          <a:lstStyle/>
          <a:p>
            <a:pPr algn="ctr" defTabSz="685800"/>
            <a:r>
              <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第十五讲  </a:t>
            </a:r>
            <a:r>
              <a:rPr kumimoji="1" lang="en-US" altLang="zh-CN"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2026.4.22</a:t>
            </a:r>
            <a:endPar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998964" y="3934298"/>
            <a:ext cx="5628092" cy="669863"/>
          </a:xfrm>
          <a:prstGeom prst="rect">
            <a:avLst/>
          </a:prstGeom>
        </p:spPr>
        <p:txBody>
          <a:bodyPr wrap="square">
            <a:spAutoFit/>
          </a:bodyPr>
          <a:lstStyle/>
          <a:p>
            <a:pPr marL="0" marR="0" lvl="0" indent="0" algn="ctr" defTabSz="914400" rtl="0" eaLnBrk="0" fontAlgn="base" latinLnBrk="0" hangingPunct="0">
              <a:lnSpc>
                <a:spcPct val="150000"/>
              </a:lnSpc>
              <a:spcBef>
                <a:spcPct val="0"/>
              </a:spcBef>
              <a:spcAft>
                <a:spcPct val="0"/>
              </a:spcAft>
              <a:buClrTx/>
              <a:buSzTx/>
              <a:buFontTx/>
              <a:buNone/>
              <a:defRPr/>
            </a:pPr>
            <a:r>
              <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3977"/>
            <a:chOff x="8226111" y="1728368"/>
            <a:chExt cx="3881691" cy="343397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3565"/>
            </a:xfrm>
            <a:prstGeom prst="rect">
              <a:avLst/>
            </a:prstGeom>
            <a:noFill/>
            <a:effectLst/>
          </p:spPr>
          <p:txBody>
            <a:bodyPr wrap="square" rtlCol="0">
              <a:spAutoFit/>
            </a:bodyPr>
            <a:lstStyle/>
            <a:p>
              <a:pPr marL="0" marR="0" lvl="0" indent="0" algn="dist"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信息学院</a:t>
              </a:r>
              <a:endPar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4" name="文本框 183"/>
          <p:cNvSpPr txBox="1"/>
          <p:nvPr/>
        </p:nvSpPr>
        <p:spPr>
          <a:xfrm>
            <a:off x="1203740" y="1982910"/>
            <a:ext cx="5423316" cy="830997"/>
          </a:xfrm>
          <a:prstGeom prst="rect">
            <a:avLst/>
          </a:prstGeom>
          <a:noFill/>
          <a:effectLst/>
        </p:spPr>
        <p:txBody>
          <a:bodyPr wrap="square" rtlCol="0">
            <a:spAutoFit/>
          </a:bodyPr>
          <a:lstStyle/>
          <a:p>
            <a:pPr lvl="0" algn="ctr" defTabSz="914400" eaLnBrk="0" fontAlgn="base" hangingPunct="0">
              <a:spcBef>
                <a:spcPct val="0"/>
              </a:spcBef>
              <a:spcAft>
                <a:spcPct val="0"/>
              </a:spcAft>
              <a:defRPr/>
            </a:pPr>
            <a:r>
              <a:rPr kumimoji="1"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kumimoji="1" lang="en-US" altLang="zh-CN"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(A)</a:t>
            </a:r>
            <a:endParaRPr kumimoji="1" lang="zh-CN" altLang="en-US" sz="4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59897" y="2348880"/>
            <a:ext cx="5832647" cy="830997"/>
          </a:xfrm>
          <a:prstGeom prst="rect">
            <a:avLst/>
          </a:prstGeom>
          <a:noFill/>
        </p:spPr>
        <p:txBody>
          <a:bodyPr wrap="square" rtlCol="0">
            <a:spAutoFit/>
          </a:bodyPr>
          <a:lstStyle/>
          <a:p>
            <a:pPr lvl="0" algn="ctr" defTabSz="914400"/>
            <a:r>
              <a:rPr lang="zh-CN" altLang="en-US" sz="4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入门测</a:t>
            </a:r>
            <a:endParaRPr lang="zh-CN" altLang="en-US" sz="4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8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kumimoji="0" lang="zh-CN" altLang="en-US" sz="13800" b="1" i="0" u="none" strike="noStrike" kern="1200" cap="none" spc="0" normalizeH="0" baseline="0" noProof="0" dirty="0">
                <a:ln>
                  <a:noFill/>
                </a:ln>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par>
                                <p:cTn id="10" presetID="22" presetClass="entr" presetSubtype="4" fill="hold" grpId="0" nodeType="withEffect">
                                  <p:stCondLst>
                                    <p:cond delay="70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par>
                                <p:cTn id="13" presetID="22" presetClass="entr" presetSubtype="8" fill="hold" nodeType="withEffect">
                                  <p:stCondLst>
                                    <p:cond delay="70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0177" name="Rectangle 65"/>
          <p:cNvSpPr>
            <a:spLocks noChangeArrowheads="1"/>
          </p:cNvSpPr>
          <p:nvPr/>
        </p:nvSpPr>
        <p:spPr bwMode="auto">
          <a:xfrm>
            <a:off x="7075489" y="5647563"/>
            <a:ext cx="3144837" cy="525401"/>
          </a:xfrm>
          <a:prstGeom prst="rect">
            <a:avLst/>
          </a:prstGeom>
          <a:solidFill>
            <a:srgbClr val="FFFFFF"/>
          </a:solidFill>
          <a:ln w="25400"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sz="3200" b="1" i="1">
                <a:solidFill>
                  <a:schemeClr val="tx1"/>
                </a:solidFill>
                <a:latin typeface="Times" panose="02020603050405020304" pitchFamily="18" charset="0"/>
              </a:defRPr>
            </a:lvl1pPr>
            <a:lvl2pPr marL="742950" indent="-285750">
              <a:spcBef>
                <a:spcPct val="20000"/>
              </a:spcBef>
              <a:buChar char="–"/>
              <a:defRPr sz="2800" b="1" i="1">
                <a:solidFill>
                  <a:schemeClr val="tx1"/>
                </a:solidFill>
                <a:latin typeface="Times" panose="02020603050405020304" pitchFamily="18" charset="0"/>
              </a:defRPr>
            </a:lvl2pPr>
            <a:lvl3pPr marL="1143000" indent="-228600">
              <a:spcBef>
                <a:spcPct val="20000"/>
              </a:spcBef>
              <a:buChar char="•"/>
              <a:defRPr sz="2400" b="1" i="1">
                <a:solidFill>
                  <a:schemeClr val="tx1"/>
                </a:solidFill>
                <a:latin typeface="Times" panose="02020603050405020304" pitchFamily="18" charset="0"/>
              </a:defRPr>
            </a:lvl3pPr>
            <a:lvl4pPr marL="1600200" indent="-228600">
              <a:spcBef>
                <a:spcPct val="20000"/>
              </a:spcBef>
              <a:buChar char="–"/>
              <a:defRPr sz="2000" b="1" i="1">
                <a:solidFill>
                  <a:schemeClr val="tx1"/>
                </a:solidFill>
                <a:latin typeface="Times" panose="02020603050405020304" pitchFamily="18" charset="0"/>
              </a:defRPr>
            </a:lvl4pPr>
            <a:lvl5pPr marL="2057400" indent="-228600">
              <a:spcBef>
                <a:spcPct val="20000"/>
              </a:spcBef>
              <a:buChar char="»"/>
              <a:defRPr sz="2000" b="1" i="1">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b="1" i="1">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b="1" i="1">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b="1" i="1">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b="1" i="1">
                <a:solidFill>
                  <a:schemeClr val="tx1"/>
                </a:solidFill>
                <a:latin typeface="Times" panose="02020603050405020304" pitchFamily="18" charset="0"/>
              </a:defRPr>
            </a:lvl9pPr>
          </a:lstStyle>
          <a:p>
            <a:pPr algn="ctr">
              <a:spcBef>
                <a:spcPct val="0"/>
              </a:spcBef>
              <a:buFontTx/>
              <a:buNone/>
            </a:pPr>
            <a:endParaRPr lang="zh-CN" altLang="en-US" sz="2800" b="0" i="0">
              <a:latin typeface="Times New Roman" panose="02020603050405020304" pitchFamily="18" charset="0"/>
            </a:endParaRPr>
          </a:p>
        </p:txBody>
      </p:sp>
      <p:sp>
        <p:nvSpPr>
          <p:cNvPr id="109571" name="Rectangle 3"/>
          <p:cNvSpPr>
            <a:spLocks noGrp="1" noChangeArrowheads="1"/>
          </p:cNvSpPr>
          <p:nvPr>
            <p:ph type="body" sz="half" idx="1"/>
          </p:nvPr>
        </p:nvSpPr>
        <p:spPr>
          <a:xfrm>
            <a:off x="1768475" y="295276"/>
            <a:ext cx="8185150" cy="1903413"/>
          </a:xfrm>
        </p:spPr>
        <p:txBody>
          <a:bodyPr/>
          <a:lstStyle/>
          <a:p>
            <a:pPr marL="0" indent="0">
              <a:buBlip>
                <a:blip r:embed="rId1"/>
              </a:buBlip>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例</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：设随机变量</a:t>
            </a:r>
            <a:r>
              <a:rPr lang="en-US" altLang="zh-CN" dirty="0">
                <a:latin typeface="宋体" panose="02010600030101010101" pitchFamily="2" charset="-122"/>
                <a:ea typeface="宋体" panose="02010600030101010101" pitchFamily="2" charset="-122"/>
              </a:rPr>
              <a:t>(X,Y)</a:t>
            </a:r>
            <a:r>
              <a:rPr lang="zh-CN" altLang="en-US" dirty="0">
                <a:latin typeface="宋体" panose="02010600030101010101" pitchFamily="2" charset="-122"/>
                <a:ea typeface="宋体" panose="02010600030101010101" pitchFamily="2" charset="-122"/>
              </a:rPr>
              <a:t>的概率密度为：</a:t>
            </a:r>
            <a:endParaRPr lang="zh-CN" altLang="en-US"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	   					</a:t>
            </a:r>
            <a:endParaRPr lang="zh-CN" altLang="en-US" dirty="0">
              <a:latin typeface="宋体" panose="02010600030101010101" pitchFamily="2" charset="-122"/>
              <a:ea typeface="宋体" panose="02010600030101010101" pitchFamily="2" charset="-122"/>
            </a:endParaRPr>
          </a:p>
          <a:p>
            <a:pPr marL="0" indent="0">
              <a:buNone/>
            </a:pPr>
            <a:endParaRPr lang="en-US" altLang="zh-CN" dirty="0">
              <a:latin typeface="宋体" panose="02010600030101010101" pitchFamily="2" charset="-122"/>
              <a:ea typeface="宋体" panose="02010600030101010101" pitchFamily="2" charset="-122"/>
            </a:endParaRPr>
          </a:p>
        </p:txBody>
      </p:sp>
      <p:graphicFrame>
        <p:nvGraphicFramePr>
          <p:cNvPr id="109572" name="Object 4"/>
          <p:cNvGraphicFramePr>
            <a:graphicFrameLocks noGrp="1" noChangeAspect="1"/>
          </p:cNvGraphicFramePr>
          <p:nvPr>
            <p:ph sz="quarter" idx="2"/>
          </p:nvPr>
        </p:nvGraphicFramePr>
        <p:xfrm>
          <a:off x="3257550" y="866775"/>
          <a:ext cx="6529388" cy="895350"/>
        </p:xfrm>
        <a:graphic>
          <a:graphicData uri="http://schemas.openxmlformats.org/presentationml/2006/ole">
            <mc:AlternateContent xmlns:mc="http://schemas.openxmlformats.org/markup-compatibility/2006">
              <mc:Choice xmlns:v="urn:schemas-microsoft-com:vml" Requires="v">
                <p:oleObj spid="_x0000_s166949" name="Equation" r:id="rId2" imgW="4813300" imgH="660400" progId="Equation.DSMT4">
                  <p:embed/>
                </p:oleObj>
              </mc:Choice>
              <mc:Fallback>
                <p:oleObj name="Equation" r:id="rId2" imgW="4813300" imgH="6604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7550" y="866775"/>
                        <a:ext cx="6529388"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45" name="Object 33"/>
          <p:cNvGraphicFramePr>
            <a:graphicFrameLocks noChangeAspect="1"/>
          </p:cNvGraphicFramePr>
          <p:nvPr/>
        </p:nvGraphicFramePr>
        <p:xfrm>
          <a:off x="2603500" y="1822451"/>
          <a:ext cx="3244850" cy="530225"/>
        </p:xfrm>
        <a:graphic>
          <a:graphicData uri="http://schemas.openxmlformats.org/presentationml/2006/ole">
            <mc:AlternateContent xmlns:mc="http://schemas.openxmlformats.org/markup-compatibility/2006">
              <mc:Choice xmlns:v="urn:schemas-microsoft-com:vml" Requires="v">
                <p:oleObj spid="_x0000_s2" name="Equation" r:id="rId4" imgW="2019300" imgH="330200" progId="Equation.DSMT4">
                  <p:embed/>
                </p:oleObj>
              </mc:Choice>
              <mc:Fallback>
                <p:oleObj name="Equation" r:id="rId4" imgW="2019300" imgH="330200" progId="Equation.DSMT4">
                  <p:embed/>
                  <p:pic>
                    <p:nvPicPr>
                      <p:cNvPr id="0"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3500" y="1822451"/>
                        <a:ext cx="32448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47" name="Object 35"/>
          <p:cNvGraphicFramePr>
            <a:graphicFrameLocks noChangeAspect="1"/>
          </p:cNvGraphicFramePr>
          <p:nvPr/>
        </p:nvGraphicFramePr>
        <p:xfrm>
          <a:off x="3562351" y="5097464"/>
          <a:ext cx="6488113" cy="1677987"/>
        </p:xfrm>
        <a:graphic>
          <a:graphicData uri="http://schemas.openxmlformats.org/presentationml/2006/ole">
            <mc:AlternateContent xmlns:mc="http://schemas.openxmlformats.org/markup-compatibility/2006">
              <mc:Choice xmlns:v="urn:schemas-microsoft-com:vml" Requires="v">
                <p:oleObj spid="_x0000_s3" name="Equation" r:id="rId6" imgW="4711700" imgH="1219200" progId="Equation.DSMT4">
                  <p:embed/>
                </p:oleObj>
              </mc:Choice>
              <mc:Fallback>
                <p:oleObj name="Equation" r:id="rId6" imgW="4711700" imgH="1219200" progId="Equation.DSMT4">
                  <p:embed/>
                  <p:pic>
                    <p:nvPicPr>
                      <p:cNvPr id="0"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2351" y="5097464"/>
                        <a:ext cx="6488113"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58" name="Object 46"/>
          <p:cNvGraphicFramePr>
            <a:graphicFrameLocks noChangeAspect="1"/>
          </p:cNvGraphicFramePr>
          <p:nvPr/>
        </p:nvGraphicFramePr>
        <p:xfrm>
          <a:off x="5910263" y="1844676"/>
          <a:ext cx="2000250" cy="633413"/>
        </p:xfrm>
        <a:graphic>
          <a:graphicData uri="http://schemas.openxmlformats.org/presentationml/2006/ole">
            <mc:AlternateContent xmlns:mc="http://schemas.openxmlformats.org/markup-compatibility/2006">
              <mc:Choice xmlns:v="urn:schemas-microsoft-com:vml" Requires="v">
                <p:oleObj spid="_x0000_s4" name="Equation" r:id="rId8" imgW="1244600" imgH="393700" progId="Equation.DSMT4">
                  <p:embed/>
                </p:oleObj>
              </mc:Choice>
              <mc:Fallback>
                <p:oleObj name="Equation" r:id="rId8" imgW="1244600" imgH="393700" progId="Equation.DSMT4">
                  <p:embed/>
                  <p:pic>
                    <p:nvPicPr>
                      <p:cNvPr id="0"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10263" y="1844676"/>
                        <a:ext cx="2000250"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59" name="Object 47"/>
          <p:cNvGraphicFramePr>
            <a:graphicFrameLocks noChangeAspect="1"/>
          </p:cNvGraphicFramePr>
          <p:nvPr/>
        </p:nvGraphicFramePr>
        <p:xfrm>
          <a:off x="3605214" y="2436814"/>
          <a:ext cx="2039937" cy="612775"/>
        </p:xfrm>
        <a:graphic>
          <a:graphicData uri="http://schemas.openxmlformats.org/presentationml/2006/ole">
            <mc:AlternateContent xmlns:mc="http://schemas.openxmlformats.org/markup-compatibility/2006">
              <mc:Choice xmlns:v="urn:schemas-microsoft-com:vml" Requires="v">
                <p:oleObj spid="_x0000_s5" name="Equation" r:id="rId10" imgW="1269365" imgH="381000" progId="Equation.DSMT4">
                  <p:embed/>
                </p:oleObj>
              </mc:Choice>
              <mc:Fallback>
                <p:oleObj name="Equation" r:id="rId10" imgW="1269365" imgH="381000" progId="Equation.DSMT4">
                  <p:embed/>
                  <p:pic>
                    <p:nvPicPr>
                      <p:cNvPr id="0"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5214" y="2436814"/>
                        <a:ext cx="2039937"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60" name="Object 48"/>
          <p:cNvGraphicFramePr>
            <a:graphicFrameLocks noChangeAspect="1"/>
          </p:cNvGraphicFramePr>
          <p:nvPr/>
        </p:nvGraphicFramePr>
        <p:xfrm>
          <a:off x="5899150" y="2457450"/>
          <a:ext cx="1346200" cy="592138"/>
        </p:xfrm>
        <a:graphic>
          <a:graphicData uri="http://schemas.openxmlformats.org/presentationml/2006/ole">
            <mc:AlternateContent xmlns:mc="http://schemas.openxmlformats.org/markup-compatibility/2006">
              <mc:Choice xmlns:v="urn:schemas-microsoft-com:vml" Requires="v">
                <p:oleObj spid="_x0000_s6" name="Equation" r:id="rId12" imgW="838200" imgH="368300" progId="Equation.DSMT4">
                  <p:embed/>
                </p:oleObj>
              </mc:Choice>
              <mc:Fallback>
                <p:oleObj name="Equation" r:id="rId12" imgW="838200" imgH="368300" progId="Equation.DSMT4">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99150" y="2457450"/>
                        <a:ext cx="1346200"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61" name="Object 49"/>
          <p:cNvGraphicFramePr>
            <a:graphicFrameLocks noChangeAspect="1"/>
          </p:cNvGraphicFramePr>
          <p:nvPr/>
        </p:nvGraphicFramePr>
        <p:xfrm>
          <a:off x="3629026" y="3057525"/>
          <a:ext cx="3205163" cy="592138"/>
        </p:xfrm>
        <a:graphic>
          <a:graphicData uri="http://schemas.openxmlformats.org/presentationml/2006/ole">
            <mc:AlternateContent xmlns:mc="http://schemas.openxmlformats.org/markup-compatibility/2006">
              <mc:Choice xmlns:v="urn:schemas-microsoft-com:vml" Requires="v">
                <p:oleObj spid="_x0000_s7" name="Equation" r:id="rId14" imgW="1993900" imgH="368300" progId="Equation.DSMT4">
                  <p:embed/>
                </p:oleObj>
              </mc:Choice>
              <mc:Fallback>
                <p:oleObj name="Equation" r:id="rId14" imgW="1993900" imgH="368300" progId="Equation.DSMT4">
                  <p:embed/>
                  <p:pic>
                    <p:nvPicPr>
                      <p:cNvPr id="0" name="Object 4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29026" y="3057525"/>
                        <a:ext cx="320516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65" name="Object 53"/>
          <p:cNvGraphicFramePr>
            <a:graphicFrameLocks noChangeAspect="1"/>
          </p:cNvGraphicFramePr>
          <p:nvPr/>
        </p:nvGraphicFramePr>
        <p:xfrm>
          <a:off x="2776539" y="3890964"/>
          <a:ext cx="3328987" cy="612775"/>
        </p:xfrm>
        <a:graphic>
          <a:graphicData uri="http://schemas.openxmlformats.org/presentationml/2006/ole">
            <mc:AlternateContent xmlns:mc="http://schemas.openxmlformats.org/markup-compatibility/2006">
              <mc:Choice xmlns:v="urn:schemas-microsoft-com:vml" Requires="v">
                <p:oleObj spid="_x0000_s8" name="Equation" r:id="rId16" imgW="2070100" imgH="381000" progId="Equation.DSMT4">
                  <p:embed/>
                </p:oleObj>
              </mc:Choice>
              <mc:Fallback>
                <p:oleObj name="Equation" r:id="rId16" imgW="2070100" imgH="381000" progId="Equation.DSMT4">
                  <p:embed/>
                  <p:pic>
                    <p:nvPicPr>
                      <p:cNvPr id="0" name="Object 5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76539" y="3890964"/>
                        <a:ext cx="3328987"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66" name="Object 54"/>
          <p:cNvGraphicFramePr>
            <a:graphicFrameLocks noChangeAspect="1"/>
          </p:cNvGraphicFramePr>
          <p:nvPr/>
        </p:nvGraphicFramePr>
        <p:xfrm>
          <a:off x="6257925" y="3905251"/>
          <a:ext cx="2020888" cy="633413"/>
        </p:xfrm>
        <a:graphic>
          <a:graphicData uri="http://schemas.openxmlformats.org/presentationml/2006/ole">
            <mc:AlternateContent xmlns:mc="http://schemas.openxmlformats.org/markup-compatibility/2006">
              <mc:Choice xmlns:v="urn:schemas-microsoft-com:vml" Requires="v">
                <p:oleObj spid="_x0000_s9" name="Equation" r:id="rId18" imgW="1256665" imgH="393700" progId="Equation.DSMT4">
                  <p:embed/>
                </p:oleObj>
              </mc:Choice>
              <mc:Fallback>
                <p:oleObj name="Equation" r:id="rId18" imgW="1256665" imgH="393700" progId="Equation.DSMT4">
                  <p:embed/>
                  <p:pic>
                    <p:nvPicPr>
                      <p:cNvPr id="0" name="Object 5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257925" y="3905251"/>
                        <a:ext cx="2020888"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67" name="Object 55"/>
          <p:cNvGraphicFramePr>
            <a:graphicFrameLocks noChangeAspect="1"/>
          </p:cNvGraphicFramePr>
          <p:nvPr/>
        </p:nvGraphicFramePr>
        <p:xfrm>
          <a:off x="3590925" y="4489451"/>
          <a:ext cx="2387600" cy="633413"/>
        </p:xfrm>
        <a:graphic>
          <a:graphicData uri="http://schemas.openxmlformats.org/presentationml/2006/ole">
            <mc:AlternateContent xmlns:mc="http://schemas.openxmlformats.org/markup-compatibility/2006">
              <mc:Choice xmlns:v="urn:schemas-microsoft-com:vml" Requires="v">
                <p:oleObj spid="_x0000_s10" name="Equation" r:id="rId20" imgW="1485900" imgH="393700" progId="Equation.DSMT4">
                  <p:embed/>
                </p:oleObj>
              </mc:Choice>
              <mc:Fallback>
                <p:oleObj name="Equation" r:id="rId20" imgW="1485900" imgH="393700" progId="Equation.DSMT4">
                  <p:embed/>
                  <p:pic>
                    <p:nvPicPr>
                      <p:cNvPr id="0" name="Object 5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590925" y="4489451"/>
                        <a:ext cx="2387600"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71" name="Object 59"/>
          <p:cNvGraphicFramePr>
            <a:graphicFrameLocks noChangeAspect="1"/>
          </p:cNvGraphicFramePr>
          <p:nvPr/>
        </p:nvGraphicFramePr>
        <p:xfrm>
          <a:off x="6084888" y="4468814"/>
          <a:ext cx="2286000" cy="592137"/>
        </p:xfrm>
        <a:graphic>
          <a:graphicData uri="http://schemas.openxmlformats.org/presentationml/2006/ole">
            <mc:AlternateContent xmlns:mc="http://schemas.openxmlformats.org/markup-compatibility/2006">
              <mc:Choice xmlns:v="urn:schemas-microsoft-com:vml" Requires="v">
                <p:oleObj spid="_x0000_s11" name="Equation" r:id="rId22" imgW="1422400" imgH="368300" progId="Equation.DSMT4">
                  <p:embed/>
                </p:oleObj>
              </mc:Choice>
              <mc:Fallback>
                <p:oleObj name="Equation" r:id="rId22" imgW="1422400" imgH="368300" progId="Equation.DSMT4">
                  <p:embed/>
                  <p:pic>
                    <p:nvPicPr>
                      <p:cNvPr id="0" name="Object 5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84888" y="4468814"/>
                        <a:ext cx="2286000" cy="59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75" name="Object 63"/>
          <p:cNvGraphicFramePr>
            <a:graphicFrameLocks noChangeAspect="1"/>
          </p:cNvGraphicFramePr>
          <p:nvPr/>
        </p:nvGraphicFramePr>
        <p:xfrm>
          <a:off x="8448675" y="4503739"/>
          <a:ext cx="1816100" cy="530225"/>
        </p:xfrm>
        <a:graphic>
          <a:graphicData uri="http://schemas.openxmlformats.org/presentationml/2006/ole">
            <mc:AlternateContent xmlns:mc="http://schemas.openxmlformats.org/markup-compatibility/2006">
              <mc:Choice xmlns:v="urn:schemas-microsoft-com:vml" Requires="v">
                <p:oleObj spid="_x0000_s12" name="Equation" r:id="rId24" imgW="1129665" imgH="330200" progId="Equation.DSMT4">
                  <p:embed/>
                </p:oleObj>
              </mc:Choice>
              <mc:Fallback>
                <p:oleObj name="Equation" r:id="rId24" imgW="1129665" imgH="330200" progId="Equation.DSMT4">
                  <p:embed/>
                  <p:pic>
                    <p:nvPicPr>
                      <p:cNvPr id="0" name="Object 6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448675" y="4503739"/>
                        <a:ext cx="18161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0178" name="Object 66"/>
          <p:cNvGraphicFramePr>
            <a:graphicFrameLocks noChangeAspect="1"/>
          </p:cNvGraphicFramePr>
          <p:nvPr/>
        </p:nvGraphicFramePr>
        <p:xfrm>
          <a:off x="3560764" y="6380163"/>
          <a:ext cx="2676525" cy="279400"/>
        </p:xfrm>
        <a:graphic>
          <a:graphicData uri="http://schemas.openxmlformats.org/presentationml/2006/ole">
            <mc:AlternateContent xmlns:mc="http://schemas.openxmlformats.org/markup-compatibility/2006">
              <mc:Choice xmlns:v="urn:schemas-microsoft-com:vml" Requires="v">
                <p:oleObj spid="_x0000_s13" name="Equation" r:id="rId26" imgW="1943100" imgH="203200" progId="Equation.DSMT4">
                  <p:embed/>
                </p:oleObj>
              </mc:Choice>
              <mc:Fallback>
                <p:oleObj name="Equation" r:id="rId26" imgW="1943100" imgH="203200" progId="Equation.DSMT4">
                  <p:embed/>
                  <p:pic>
                    <p:nvPicPr>
                      <p:cNvPr id="0" name="Object 6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560764" y="6380163"/>
                        <a:ext cx="2676525"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5" name="Group 32"/>
          <p:cNvGrpSpPr/>
          <p:nvPr/>
        </p:nvGrpSpPr>
        <p:grpSpPr bwMode="auto">
          <a:xfrm>
            <a:off x="8705056" y="1798638"/>
            <a:ext cx="2270125" cy="2127250"/>
            <a:chOff x="1678" y="2046"/>
            <a:chExt cx="1430" cy="1340"/>
          </a:xfrm>
        </p:grpSpPr>
        <p:grpSp>
          <p:nvGrpSpPr>
            <p:cNvPr id="36" name="Group 31"/>
            <p:cNvGrpSpPr/>
            <p:nvPr/>
          </p:nvGrpSpPr>
          <p:grpSpPr bwMode="auto">
            <a:xfrm>
              <a:off x="1678" y="2046"/>
              <a:ext cx="1430" cy="1340"/>
              <a:chOff x="1688" y="2056"/>
              <a:chExt cx="1430" cy="1340"/>
            </a:xfrm>
          </p:grpSpPr>
          <p:sp>
            <p:nvSpPr>
              <p:cNvPr id="42" name="Line 16"/>
              <p:cNvSpPr>
                <a:spLocks noChangeShapeType="1"/>
              </p:cNvSpPr>
              <p:nvPr/>
            </p:nvSpPr>
            <p:spPr bwMode="auto">
              <a:xfrm>
                <a:off x="2304" y="2761"/>
                <a:ext cx="0" cy="31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3" name="Text Box 17"/>
              <p:cNvSpPr txBox="1">
                <a:spLocks noChangeArrowheads="1"/>
              </p:cNvSpPr>
              <p:nvPr/>
            </p:nvSpPr>
            <p:spPr bwMode="auto">
              <a:xfrm>
                <a:off x="2128" y="3047"/>
                <a:ext cx="3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228600" indent="-228600">
                  <a:spcBef>
                    <a:spcPct val="20000"/>
                  </a:spcBef>
                  <a:buChar char="•"/>
                  <a:defRPr sz="3200" b="1" i="1">
                    <a:solidFill>
                      <a:schemeClr val="tx1"/>
                    </a:solidFill>
                    <a:latin typeface="Times" panose="02020603050405020304" pitchFamily="18" charset="0"/>
                  </a:defRPr>
                </a:lvl1pPr>
                <a:lvl2pPr marL="742950" indent="-285750">
                  <a:spcBef>
                    <a:spcPct val="20000"/>
                  </a:spcBef>
                  <a:buChar char="–"/>
                  <a:defRPr sz="2800" b="1" i="1">
                    <a:solidFill>
                      <a:schemeClr val="tx1"/>
                    </a:solidFill>
                    <a:latin typeface="Times" panose="02020603050405020304" pitchFamily="18" charset="0"/>
                  </a:defRPr>
                </a:lvl2pPr>
                <a:lvl3pPr marL="1143000" indent="-228600">
                  <a:spcBef>
                    <a:spcPct val="20000"/>
                  </a:spcBef>
                  <a:buChar char="•"/>
                  <a:defRPr sz="2400" b="1" i="1">
                    <a:solidFill>
                      <a:schemeClr val="tx1"/>
                    </a:solidFill>
                    <a:latin typeface="Times" panose="02020603050405020304" pitchFamily="18" charset="0"/>
                  </a:defRPr>
                </a:lvl3pPr>
                <a:lvl4pPr marL="1600200" indent="-228600">
                  <a:spcBef>
                    <a:spcPct val="20000"/>
                  </a:spcBef>
                  <a:buChar char="–"/>
                  <a:defRPr sz="2000" b="1" i="1">
                    <a:solidFill>
                      <a:schemeClr val="tx1"/>
                    </a:solidFill>
                    <a:latin typeface="Times" panose="02020603050405020304" pitchFamily="18" charset="0"/>
                  </a:defRPr>
                </a:lvl4pPr>
                <a:lvl5pPr marL="2057400" indent="-228600">
                  <a:spcBef>
                    <a:spcPct val="20000"/>
                  </a:spcBef>
                  <a:buChar char="»"/>
                  <a:defRPr sz="2000" b="1" i="1">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b="1" i="1">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b="1" i="1">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b="1" i="1">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b="1" i="1">
                    <a:solidFill>
                      <a:schemeClr val="tx1"/>
                    </a:solidFill>
                    <a:latin typeface="Times" panose="02020603050405020304" pitchFamily="18" charset="0"/>
                  </a:defRPr>
                </a:lvl9pPr>
              </a:lstStyle>
              <a:p>
                <a:pPr algn="ctr">
                  <a:buFontTx/>
                  <a:buNone/>
                </a:pPr>
                <a:r>
                  <a:rPr lang="en-US" altLang="zh-CN" sz="1800" b="0" i="0">
                    <a:solidFill>
                      <a:srgbClr val="000066"/>
                    </a:solidFill>
                    <a:latin typeface="Arial" panose="020B0604020202020204" pitchFamily="34" charset="0"/>
                  </a:rPr>
                  <a:t>X=1</a:t>
                </a:r>
                <a:endParaRPr lang="en-US" altLang="zh-CN" sz="1800" b="0" i="0">
                  <a:solidFill>
                    <a:srgbClr val="000066"/>
                  </a:solidFill>
                  <a:latin typeface="Arial" panose="020B0604020202020204" pitchFamily="34" charset="0"/>
                </a:endParaRPr>
              </a:p>
            </p:txBody>
          </p:sp>
          <p:grpSp>
            <p:nvGrpSpPr>
              <p:cNvPr id="44" name="Group 30"/>
              <p:cNvGrpSpPr/>
              <p:nvPr/>
            </p:nvGrpSpPr>
            <p:grpSpPr bwMode="auto">
              <a:xfrm>
                <a:off x="1688" y="2056"/>
                <a:ext cx="1430" cy="1340"/>
                <a:chOff x="1688" y="2056"/>
                <a:chExt cx="1430" cy="1340"/>
              </a:xfrm>
            </p:grpSpPr>
            <p:grpSp>
              <p:nvGrpSpPr>
                <p:cNvPr id="45" name="Group 28"/>
                <p:cNvGrpSpPr/>
                <p:nvPr/>
              </p:nvGrpSpPr>
              <p:grpSpPr bwMode="auto">
                <a:xfrm>
                  <a:off x="1688" y="2056"/>
                  <a:ext cx="1430" cy="1340"/>
                  <a:chOff x="1688" y="2056"/>
                  <a:chExt cx="1430" cy="1340"/>
                </a:xfrm>
              </p:grpSpPr>
              <p:sp>
                <p:nvSpPr>
                  <p:cNvPr id="49" name="Line 12"/>
                  <p:cNvSpPr>
                    <a:spLocks noChangeShapeType="1"/>
                  </p:cNvSpPr>
                  <p:nvPr/>
                </p:nvSpPr>
                <p:spPr bwMode="auto">
                  <a:xfrm>
                    <a:off x="1688" y="3079"/>
                    <a:ext cx="1430" cy="0"/>
                  </a:xfrm>
                  <a:prstGeom prst="line">
                    <a:avLst/>
                  </a:prstGeom>
                  <a:noFill/>
                  <a:ln w="254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0" name="Line 13"/>
                  <p:cNvSpPr>
                    <a:spLocks noChangeShapeType="1"/>
                  </p:cNvSpPr>
                  <p:nvPr/>
                </p:nvSpPr>
                <p:spPr bwMode="auto">
                  <a:xfrm flipV="1">
                    <a:off x="2006" y="2056"/>
                    <a:ext cx="0" cy="1340"/>
                  </a:xfrm>
                  <a:prstGeom prst="line">
                    <a:avLst/>
                  </a:prstGeom>
                  <a:noFill/>
                  <a:ln w="254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1" name="Line 14"/>
                  <p:cNvSpPr>
                    <a:spLocks noChangeShapeType="1"/>
                  </p:cNvSpPr>
                  <p:nvPr/>
                </p:nvSpPr>
                <p:spPr bwMode="auto">
                  <a:xfrm flipV="1">
                    <a:off x="1996" y="2324"/>
                    <a:ext cx="745" cy="75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 name="Arc 15"/>
                  <p:cNvSpPr/>
                  <p:nvPr/>
                </p:nvSpPr>
                <p:spPr bwMode="auto">
                  <a:xfrm flipH="1" flipV="1">
                    <a:off x="2157" y="2259"/>
                    <a:ext cx="651" cy="764"/>
                  </a:xfrm>
                  <a:custGeom>
                    <a:avLst/>
                    <a:gdLst>
                      <a:gd name="T0" fmla="*/ 0 w 24001"/>
                      <a:gd name="T1" fmla="*/ 0 h 21600"/>
                      <a:gd name="T2" fmla="*/ 18 w 24001"/>
                      <a:gd name="T3" fmla="*/ 24 h 21600"/>
                      <a:gd name="T4" fmla="*/ 2 w 24001"/>
                      <a:gd name="T5" fmla="*/ 27 h 21600"/>
                      <a:gd name="T6" fmla="*/ 0 60000 65536"/>
                      <a:gd name="T7" fmla="*/ 0 60000 65536"/>
                      <a:gd name="T8" fmla="*/ 0 60000 65536"/>
                    </a:gdLst>
                    <a:ahLst/>
                    <a:cxnLst>
                      <a:cxn ang="T6">
                        <a:pos x="T0" y="T1"/>
                      </a:cxn>
                      <a:cxn ang="T7">
                        <a:pos x="T2" y="T3"/>
                      </a:cxn>
                      <a:cxn ang="T8">
                        <a:pos x="T4" y="T5"/>
                      </a:cxn>
                    </a:cxnLst>
                    <a:rect l="0" t="0" r="r" b="b"/>
                    <a:pathLst>
                      <a:path w="24001" h="21600" fill="none" extrusionOk="0">
                        <a:moveTo>
                          <a:pt x="-1" y="144"/>
                        </a:moveTo>
                        <a:cubicBezTo>
                          <a:pt x="829" y="48"/>
                          <a:pt x="1663" y="-1"/>
                          <a:pt x="2498" y="0"/>
                        </a:cubicBezTo>
                        <a:cubicBezTo>
                          <a:pt x="13633" y="0"/>
                          <a:pt x="22944" y="8465"/>
                          <a:pt x="24000" y="19551"/>
                        </a:cubicBezTo>
                      </a:path>
                      <a:path w="24001" h="21600" stroke="0" extrusionOk="0">
                        <a:moveTo>
                          <a:pt x="-1" y="144"/>
                        </a:moveTo>
                        <a:cubicBezTo>
                          <a:pt x="829" y="48"/>
                          <a:pt x="1663" y="-1"/>
                          <a:pt x="2498" y="0"/>
                        </a:cubicBezTo>
                        <a:cubicBezTo>
                          <a:pt x="13633" y="0"/>
                          <a:pt x="22944" y="8465"/>
                          <a:pt x="24000" y="19551"/>
                        </a:cubicBezTo>
                        <a:lnTo>
                          <a:pt x="2498" y="21600"/>
                        </a:lnTo>
                        <a:lnTo>
                          <a:pt x="-1" y="144"/>
                        </a:lnTo>
                        <a:close/>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46" name="Group 29"/>
                <p:cNvGrpSpPr/>
                <p:nvPr/>
              </p:nvGrpSpPr>
              <p:grpSpPr bwMode="auto">
                <a:xfrm>
                  <a:off x="2008" y="2056"/>
                  <a:ext cx="1060" cy="339"/>
                  <a:chOff x="2008" y="2056"/>
                  <a:chExt cx="1060" cy="339"/>
                </a:xfrm>
              </p:grpSpPr>
              <p:graphicFrame>
                <p:nvGraphicFramePr>
                  <p:cNvPr id="47" name="Object 20"/>
                  <p:cNvGraphicFramePr>
                    <a:graphicFrameLocks noChangeAspect="1"/>
                  </p:cNvGraphicFramePr>
                  <p:nvPr/>
                </p:nvGraphicFramePr>
                <p:xfrm>
                  <a:off x="2008" y="2056"/>
                  <a:ext cx="443" cy="339"/>
                </p:xfrm>
                <a:graphic>
                  <a:graphicData uri="http://schemas.openxmlformats.org/presentationml/2006/ole">
                    <mc:AlternateContent xmlns:mc="http://schemas.openxmlformats.org/markup-compatibility/2006">
                      <mc:Choice xmlns:v="urn:schemas-microsoft-com:vml" Requires="v">
                        <p:oleObj spid="_x0000_s14" name="Equation" r:id="rId28" imgW="431800" imgH="330200" progId="Equation.DSMT4">
                          <p:embed/>
                        </p:oleObj>
                      </mc:Choice>
                      <mc:Fallback>
                        <p:oleObj name="Equation" r:id="rId28" imgW="431800" imgH="330200" progId="Equation.DSMT4">
                          <p:embed/>
                          <p:pic>
                            <p:nvPicPr>
                              <p:cNvPr id="0" name="Object 2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008" y="2056"/>
                                <a:ext cx="443"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21"/>
                  <p:cNvGraphicFramePr>
                    <a:graphicFrameLocks noChangeAspect="1"/>
                  </p:cNvGraphicFramePr>
                  <p:nvPr/>
                </p:nvGraphicFramePr>
                <p:xfrm>
                  <a:off x="2690" y="2154"/>
                  <a:ext cx="378" cy="169"/>
                </p:xfrm>
                <a:graphic>
                  <a:graphicData uri="http://schemas.openxmlformats.org/presentationml/2006/ole">
                    <mc:AlternateContent xmlns:mc="http://schemas.openxmlformats.org/markup-compatibility/2006">
                      <mc:Choice xmlns:v="urn:schemas-microsoft-com:vml" Requires="v">
                        <p:oleObj spid="_x0000_s15" name="Equation" r:id="rId30" imgW="368300" imgH="165100" progId="Equation.DSMT4">
                          <p:embed/>
                        </p:oleObj>
                      </mc:Choice>
                      <mc:Fallback>
                        <p:oleObj name="Equation" r:id="rId30" imgW="368300" imgH="165100" progId="Equation.DSMT4">
                          <p:embed/>
                          <p:pic>
                            <p:nvPicPr>
                              <p:cNvPr id="0" name="Object 2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690" y="2154"/>
                                <a:ext cx="378" cy="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nvGrpSpPr>
            <p:cNvPr id="37" name="Group 27"/>
            <p:cNvGrpSpPr/>
            <p:nvPr/>
          </p:nvGrpSpPr>
          <p:grpSpPr bwMode="auto">
            <a:xfrm>
              <a:off x="2393" y="2345"/>
              <a:ext cx="508" cy="626"/>
              <a:chOff x="2393" y="2345"/>
              <a:chExt cx="508" cy="626"/>
            </a:xfrm>
          </p:grpSpPr>
          <p:sp>
            <p:nvSpPr>
              <p:cNvPr id="38" name="Line 23"/>
              <p:cNvSpPr>
                <a:spLocks noChangeShapeType="1"/>
              </p:cNvSpPr>
              <p:nvPr/>
            </p:nvSpPr>
            <p:spPr bwMode="auto">
              <a:xfrm flipH="1">
                <a:off x="2393" y="2562"/>
                <a:ext cx="109" cy="31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9" name="Line 24"/>
              <p:cNvSpPr>
                <a:spLocks noChangeShapeType="1"/>
              </p:cNvSpPr>
              <p:nvPr/>
            </p:nvSpPr>
            <p:spPr bwMode="auto">
              <a:xfrm flipH="1">
                <a:off x="2470" y="2460"/>
                <a:ext cx="179" cy="46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0" name="Line 25"/>
              <p:cNvSpPr>
                <a:spLocks noChangeShapeType="1"/>
              </p:cNvSpPr>
              <p:nvPr/>
            </p:nvSpPr>
            <p:spPr bwMode="auto">
              <a:xfrm flipH="1">
                <a:off x="2575" y="2387"/>
                <a:ext cx="208" cy="55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1" name="Line 26"/>
              <p:cNvSpPr>
                <a:spLocks noChangeShapeType="1"/>
              </p:cNvSpPr>
              <p:nvPr/>
            </p:nvSpPr>
            <p:spPr bwMode="auto">
              <a:xfrm flipH="1">
                <a:off x="2673" y="2345"/>
                <a:ext cx="228" cy="62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grpSp>
      <p:sp>
        <p:nvSpPr>
          <p:cNvPr id="16" name="太阳形 15"/>
          <p:cNvSpPr/>
          <p:nvPr/>
        </p:nvSpPr>
        <p:spPr>
          <a:xfrm>
            <a:off x="10483057" y="476672"/>
            <a:ext cx="1013543" cy="1008110"/>
          </a:xfrm>
          <a:prstGeom prst="su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30145"/>
                                        </p:tgtEl>
                                        <p:attrNameLst>
                                          <p:attrName>style.visibility</p:attrName>
                                        </p:attrNameLst>
                                      </p:cBhvr>
                                      <p:to>
                                        <p:strVal val="visible"/>
                                      </p:to>
                                    </p:set>
                                    <p:animEffect transition="in" filter="checkerboard(across)">
                                      <p:cBhvr>
                                        <p:cTn id="7" dur="1000"/>
                                        <p:tgtEl>
                                          <p:spTgt spid="73014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30158"/>
                                        </p:tgtEl>
                                        <p:attrNameLst>
                                          <p:attrName>style.visibility</p:attrName>
                                        </p:attrNameLst>
                                      </p:cBhvr>
                                      <p:to>
                                        <p:strVal val="visible"/>
                                      </p:to>
                                    </p:set>
                                    <p:animEffect transition="in" filter="checkerboard(across)">
                                      <p:cBhvr>
                                        <p:cTn id="12" dur="1000"/>
                                        <p:tgtEl>
                                          <p:spTgt spid="73015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30159"/>
                                        </p:tgtEl>
                                        <p:attrNameLst>
                                          <p:attrName>style.visibility</p:attrName>
                                        </p:attrNameLst>
                                      </p:cBhvr>
                                      <p:to>
                                        <p:strVal val="visible"/>
                                      </p:to>
                                    </p:set>
                                    <p:animEffect transition="in" filter="checkerboard(across)">
                                      <p:cBhvr>
                                        <p:cTn id="17" dur="1000"/>
                                        <p:tgtEl>
                                          <p:spTgt spid="73015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30160"/>
                                        </p:tgtEl>
                                        <p:attrNameLst>
                                          <p:attrName>style.visibility</p:attrName>
                                        </p:attrNameLst>
                                      </p:cBhvr>
                                      <p:to>
                                        <p:strVal val="visible"/>
                                      </p:to>
                                    </p:set>
                                    <p:animEffect transition="in" filter="checkerboard(across)">
                                      <p:cBhvr>
                                        <p:cTn id="22" dur="1000"/>
                                        <p:tgtEl>
                                          <p:spTgt spid="730160"/>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730161"/>
                                        </p:tgtEl>
                                        <p:attrNameLst>
                                          <p:attrName>style.visibility</p:attrName>
                                        </p:attrNameLst>
                                      </p:cBhvr>
                                      <p:to>
                                        <p:strVal val="visible"/>
                                      </p:to>
                                    </p:set>
                                    <p:animEffect transition="in" filter="checkerboard(across)">
                                      <p:cBhvr>
                                        <p:cTn id="27" dur="1000"/>
                                        <p:tgtEl>
                                          <p:spTgt spid="73016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730165"/>
                                        </p:tgtEl>
                                        <p:attrNameLst>
                                          <p:attrName>style.visibility</p:attrName>
                                        </p:attrNameLst>
                                      </p:cBhvr>
                                      <p:to>
                                        <p:strVal val="visible"/>
                                      </p:to>
                                    </p:set>
                                    <p:animEffect transition="in" filter="checkerboard(across)">
                                      <p:cBhvr>
                                        <p:cTn id="32" dur="1000"/>
                                        <p:tgtEl>
                                          <p:spTgt spid="730165"/>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730166"/>
                                        </p:tgtEl>
                                        <p:attrNameLst>
                                          <p:attrName>style.visibility</p:attrName>
                                        </p:attrNameLst>
                                      </p:cBhvr>
                                      <p:to>
                                        <p:strVal val="visible"/>
                                      </p:to>
                                    </p:set>
                                    <p:animEffect transition="in" filter="checkerboard(across)">
                                      <p:cBhvr>
                                        <p:cTn id="37" dur="1000"/>
                                        <p:tgtEl>
                                          <p:spTgt spid="730166"/>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730167"/>
                                        </p:tgtEl>
                                        <p:attrNameLst>
                                          <p:attrName>style.visibility</p:attrName>
                                        </p:attrNameLst>
                                      </p:cBhvr>
                                      <p:to>
                                        <p:strVal val="visible"/>
                                      </p:to>
                                    </p:set>
                                    <p:animEffect transition="in" filter="checkerboard(across)">
                                      <p:cBhvr>
                                        <p:cTn id="42" dur="1000"/>
                                        <p:tgtEl>
                                          <p:spTgt spid="730167"/>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730171"/>
                                        </p:tgtEl>
                                        <p:attrNameLst>
                                          <p:attrName>style.visibility</p:attrName>
                                        </p:attrNameLst>
                                      </p:cBhvr>
                                      <p:to>
                                        <p:strVal val="visible"/>
                                      </p:to>
                                    </p:set>
                                    <p:animEffect transition="in" filter="checkerboard(across)">
                                      <p:cBhvr>
                                        <p:cTn id="47" dur="1000"/>
                                        <p:tgtEl>
                                          <p:spTgt spid="730171"/>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730175"/>
                                        </p:tgtEl>
                                        <p:attrNameLst>
                                          <p:attrName>style.visibility</p:attrName>
                                        </p:attrNameLst>
                                      </p:cBhvr>
                                      <p:to>
                                        <p:strVal val="visible"/>
                                      </p:to>
                                    </p:set>
                                    <p:animEffect transition="in" filter="checkerboard(across)">
                                      <p:cBhvr>
                                        <p:cTn id="52" dur="1000"/>
                                        <p:tgtEl>
                                          <p:spTgt spid="730175"/>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730147"/>
                                        </p:tgtEl>
                                        <p:attrNameLst>
                                          <p:attrName>style.visibility</p:attrName>
                                        </p:attrNameLst>
                                      </p:cBhvr>
                                      <p:to>
                                        <p:strVal val="visible"/>
                                      </p:to>
                                    </p:set>
                                    <p:anim calcmode="lin" valueType="num">
                                      <p:cBhvr additive="base">
                                        <p:cTn id="57" dur="1000" fill="hold"/>
                                        <p:tgtEl>
                                          <p:spTgt spid="730147"/>
                                        </p:tgtEl>
                                        <p:attrNameLst>
                                          <p:attrName>ppt_x</p:attrName>
                                        </p:attrNameLst>
                                      </p:cBhvr>
                                      <p:tavLst>
                                        <p:tav tm="0">
                                          <p:val>
                                            <p:strVal val="#ppt_x"/>
                                          </p:val>
                                        </p:tav>
                                        <p:tav tm="100000">
                                          <p:val>
                                            <p:strVal val="#ppt_x"/>
                                          </p:val>
                                        </p:tav>
                                      </p:tavLst>
                                    </p:anim>
                                    <p:anim calcmode="lin" valueType="num">
                                      <p:cBhvr additive="base">
                                        <p:cTn id="58" dur="1000" fill="hold"/>
                                        <p:tgtEl>
                                          <p:spTgt spid="730147"/>
                                        </p:tgtEl>
                                        <p:attrNameLst>
                                          <p:attrName>ppt_y</p:attrName>
                                        </p:attrNameLst>
                                      </p:cBhvr>
                                      <p:tavLst>
                                        <p:tav tm="0">
                                          <p:val>
                                            <p:strVal val="1+#ppt_h/2"/>
                                          </p:val>
                                        </p:tav>
                                        <p:tav tm="100000">
                                          <p:val>
                                            <p:strVal val="#ppt_y"/>
                                          </p:val>
                                        </p:tav>
                                      </p:tavLst>
                                    </p:anim>
                                  </p:childTnLst>
                                </p:cTn>
                              </p:par>
                            </p:childTnLst>
                          </p:cTn>
                        </p:par>
                        <p:par>
                          <p:cTn id="59" fill="hold">
                            <p:stCondLst>
                              <p:cond delay="1000"/>
                            </p:stCondLst>
                            <p:childTnLst>
                              <p:par>
                                <p:cTn id="60" presetID="3" presetClass="entr" presetSubtype="10" fill="hold" grpId="0" nodeType="afterEffect">
                                  <p:stCondLst>
                                    <p:cond delay="0"/>
                                  </p:stCondLst>
                                  <p:childTnLst>
                                    <p:set>
                                      <p:cBhvr>
                                        <p:cTn id="61" dur="1" fill="hold">
                                          <p:stCondLst>
                                            <p:cond delay="0"/>
                                          </p:stCondLst>
                                        </p:cTn>
                                        <p:tgtEl>
                                          <p:spTgt spid="730177"/>
                                        </p:tgtEl>
                                        <p:attrNameLst>
                                          <p:attrName>style.visibility</p:attrName>
                                        </p:attrNameLst>
                                      </p:cBhvr>
                                      <p:to>
                                        <p:strVal val="visible"/>
                                      </p:to>
                                    </p:set>
                                    <p:animEffect transition="in" filter="blinds(horizontal)">
                                      <p:cBhvr>
                                        <p:cTn id="62" dur="1000"/>
                                        <p:tgtEl>
                                          <p:spTgt spid="730177"/>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30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7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 name="图片 6"/>
          <p:cNvPicPr>
            <a:picLocks noChangeAspect="1"/>
          </p:cNvPicPr>
          <p:nvPr/>
        </p:nvPicPr>
        <p:blipFill>
          <a:blip r:embed="rId1"/>
          <a:stretch>
            <a:fillRect/>
          </a:stretch>
        </p:blipFill>
        <p:spPr>
          <a:xfrm>
            <a:off x="335280" y="188595"/>
            <a:ext cx="10991850" cy="2816860"/>
          </a:xfrm>
          <a:prstGeom prst="rect">
            <a:avLst/>
          </a:prstGeom>
        </p:spPr>
      </p:pic>
      <p:pic>
        <p:nvPicPr>
          <p:cNvPr id="6" name="内容占位符 5"/>
          <p:cNvPicPr>
            <a:picLocks noChangeAspect="1"/>
          </p:cNvPicPr>
          <p:nvPr>
            <p:ph sz="quarter" idx="2"/>
            <p:custDataLst>
              <p:tags r:id="rId2"/>
            </p:custDataLst>
          </p:nvPr>
        </p:nvPicPr>
        <p:blipFill>
          <a:blip r:embed="rId3"/>
          <a:stretch>
            <a:fillRect/>
          </a:stretch>
        </p:blipFill>
        <p:spPr>
          <a:xfrm>
            <a:off x="3479165" y="1412875"/>
            <a:ext cx="5233670" cy="5130165"/>
          </a:xfrm>
          <a:prstGeom prst="rect">
            <a:avLst/>
          </a:prstGeom>
        </p:spPr>
      </p:pic>
    </p:spTree>
  </p:cSld>
  <p:clrMapOvr>
    <a:masterClrMapping/>
  </p:clrMapOvr>
  <p:transition spd="slow">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Rectangle 38"/>
          <p:cNvSpPr>
            <a:spLocks noChangeArrowheads="1"/>
          </p:cNvSpPr>
          <p:nvPr/>
        </p:nvSpPr>
        <p:spPr bwMode="auto">
          <a:xfrm>
            <a:off x="1335307" y="1131289"/>
            <a:ext cx="101627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10</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508182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三、随机变量函数的数学期望</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3" name="图片 2"/>
          <p:cNvPicPr>
            <a:picLocks noChangeAspect="1"/>
          </p:cNvPicPr>
          <p:nvPr/>
        </p:nvPicPr>
        <p:blipFill rotWithShape="1">
          <a:blip r:embed="rId1"/>
          <a:srcRect l="9241"/>
          <a:stretch>
            <a:fillRect/>
          </a:stretch>
        </p:blipFill>
        <p:spPr>
          <a:xfrm>
            <a:off x="2351584" y="1327058"/>
            <a:ext cx="7704856" cy="2173950"/>
          </a:xfrm>
          <a:prstGeom prst="rect">
            <a:avLst/>
          </a:prstGeom>
        </p:spPr>
      </p:pic>
      <p:pic>
        <p:nvPicPr>
          <p:cNvPr id="4" name="图片 3"/>
          <p:cNvPicPr>
            <a:picLocks noChangeAspect="1"/>
          </p:cNvPicPr>
          <p:nvPr/>
        </p:nvPicPr>
        <p:blipFill>
          <a:blip r:embed="rId2"/>
          <a:stretch>
            <a:fillRect/>
          </a:stretch>
        </p:blipFill>
        <p:spPr>
          <a:xfrm>
            <a:off x="1888507" y="3978947"/>
            <a:ext cx="5389211" cy="13229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508182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三、随机变量函数的数学期望</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4" name="Object 25"/>
          <p:cNvGraphicFramePr>
            <a:graphicFrameLocks noChangeAspect="1"/>
          </p:cNvGraphicFramePr>
          <p:nvPr/>
        </p:nvGraphicFramePr>
        <p:xfrm>
          <a:off x="1449388" y="1694925"/>
          <a:ext cx="6205196" cy="1594171"/>
        </p:xfrm>
        <a:graphic>
          <a:graphicData uri="http://schemas.openxmlformats.org/presentationml/2006/ole">
            <mc:AlternateContent xmlns:mc="http://schemas.openxmlformats.org/markup-compatibility/2006">
              <mc:Choice xmlns:v="urn:schemas-microsoft-com:vml" Requires="v">
                <p:oleObj spid="_x0000_s166949" name="Equation" r:id="rId1" imgW="2768600" imgH="711200" progId="Equation.DSMT4">
                  <p:embed/>
                </p:oleObj>
              </mc:Choice>
              <mc:Fallback>
                <p:oleObj name="Equation" r:id="rId1" imgW="2768600" imgH="711200" progId="Equation.DSMT4">
                  <p:embed/>
                  <p:pic>
                    <p:nvPicPr>
                      <p:cNvPr id="0" name="Object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388" y="1694925"/>
                        <a:ext cx="6205196" cy="1594171"/>
                      </a:xfrm>
                      <a:prstGeom prst="rect">
                        <a:avLst/>
                      </a:prstGeom>
                      <a:noFill/>
                      <a:ln>
                        <a:noFill/>
                      </a:ln>
                      <a:effectLst/>
                    </p:spPr>
                  </p:pic>
                </p:oleObj>
              </mc:Fallback>
            </mc:AlternateContent>
          </a:graphicData>
        </a:graphic>
      </p:graphicFrame>
      <p:graphicFrame>
        <p:nvGraphicFramePr>
          <p:cNvPr id="15" name="Object 26"/>
          <p:cNvGraphicFramePr>
            <a:graphicFrameLocks noChangeAspect="1"/>
          </p:cNvGraphicFramePr>
          <p:nvPr/>
        </p:nvGraphicFramePr>
        <p:xfrm>
          <a:off x="1538287" y="3645024"/>
          <a:ext cx="8631959" cy="2016224"/>
        </p:xfrm>
        <a:graphic>
          <a:graphicData uri="http://schemas.openxmlformats.org/presentationml/2006/ole">
            <mc:AlternateContent xmlns:mc="http://schemas.openxmlformats.org/markup-compatibility/2006">
              <mc:Choice xmlns:v="urn:schemas-microsoft-com:vml" Requires="v">
                <p:oleObj spid="_x0000_s2" name="Equation" r:id="rId3" imgW="3860800" imgH="901700" progId="Equation.DSMT4">
                  <p:embed/>
                </p:oleObj>
              </mc:Choice>
              <mc:Fallback>
                <p:oleObj name="Equation" r:id="rId3" imgW="3860800" imgH="901700" progId="Equation.DSMT4">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287" y="3645024"/>
                        <a:ext cx="8631959" cy="2016224"/>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0-#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9446" name="Object 6"/>
          <p:cNvGraphicFramePr>
            <a:graphicFrameLocks noChangeAspect="1"/>
          </p:cNvGraphicFramePr>
          <p:nvPr/>
        </p:nvGraphicFramePr>
        <p:xfrm>
          <a:off x="1317625" y="1233488"/>
          <a:ext cx="9124950" cy="1858962"/>
        </p:xfrm>
        <a:graphic>
          <a:graphicData uri="http://schemas.openxmlformats.org/presentationml/2006/ole">
            <mc:AlternateContent xmlns:mc="http://schemas.openxmlformats.org/markup-compatibility/2006">
              <mc:Choice xmlns:v="urn:schemas-microsoft-com:vml" Requires="v">
                <p:oleObj spid="_x0000_s166949" name="Equation" r:id="rId1" imgW="80772000" imgH="16459200" progId="Equation.DSMT4">
                  <p:embed/>
                </p:oleObj>
              </mc:Choice>
              <mc:Fallback>
                <p:oleObj name="Equation" r:id="rId1" imgW="80772000" imgH="16459200" progId="Equation.DSMT4">
                  <p:embed/>
                  <p:pic>
                    <p:nvPicPr>
                      <p:cNvPr id="0" name="Object 6"/>
                      <p:cNvPicPr>
                        <a:picLocks noChangeAspect="1" noChangeArrowheads="1"/>
                      </p:cNvPicPr>
                      <p:nvPr/>
                    </p:nvPicPr>
                    <p:blipFill>
                      <a:blip r:embed="rId2"/>
                      <a:srcRect/>
                      <a:stretch>
                        <a:fillRect/>
                      </a:stretch>
                    </p:blipFill>
                    <p:spPr bwMode="auto">
                      <a:xfrm>
                        <a:off x="1317625" y="1233488"/>
                        <a:ext cx="9124950" cy="1858962"/>
                      </a:xfrm>
                      <a:prstGeom prst="rect">
                        <a:avLst/>
                      </a:prstGeom>
                      <a:noFill/>
                      <a:ln>
                        <a:noFill/>
                      </a:ln>
                      <a:effectLst/>
                    </p:spPr>
                  </p:pic>
                </p:oleObj>
              </mc:Fallback>
            </mc:AlternateContent>
          </a:graphicData>
        </a:graphic>
      </p:graphicFrame>
      <p:graphicFrame>
        <p:nvGraphicFramePr>
          <p:cNvPr id="189447" name="Object 7"/>
          <p:cNvGraphicFramePr>
            <a:graphicFrameLocks noChangeAspect="1"/>
          </p:cNvGraphicFramePr>
          <p:nvPr/>
        </p:nvGraphicFramePr>
        <p:xfrm>
          <a:off x="1775520" y="3573016"/>
          <a:ext cx="7573472" cy="2203192"/>
        </p:xfrm>
        <a:graphic>
          <a:graphicData uri="http://schemas.openxmlformats.org/presentationml/2006/ole">
            <mc:AlternateContent xmlns:mc="http://schemas.openxmlformats.org/markup-compatibility/2006">
              <mc:Choice xmlns:v="urn:schemas-microsoft-com:vml" Requires="v">
                <p:oleObj spid="_x0000_s2" name="Equation" r:id="rId3" imgW="67056000" imgH="19507200" progId="Equation.DSMT4">
                  <p:embed/>
                </p:oleObj>
              </mc:Choice>
              <mc:Fallback>
                <p:oleObj name="Equation" r:id="rId3" imgW="67056000" imgH="19507200" progId="Equation.DSMT4">
                  <p:embed/>
                  <p:pic>
                    <p:nvPicPr>
                      <p:cNvPr id="0" name="Object 7"/>
                      <p:cNvPicPr>
                        <a:picLocks noChangeAspect="1" noChangeArrowheads="1"/>
                      </p:cNvPicPr>
                      <p:nvPr/>
                    </p:nvPicPr>
                    <p:blipFill>
                      <a:blip r:embed="rId4"/>
                      <a:srcRect/>
                      <a:stretch>
                        <a:fillRect/>
                      </a:stretch>
                    </p:blipFill>
                    <p:spPr bwMode="auto">
                      <a:xfrm>
                        <a:off x="1775520" y="3573016"/>
                        <a:ext cx="7573472" cy="2203192"/>
                      </a:xfrm>
                      <a:prstGeom prst="rect">
                        <a:avLst/>
                      </a:prstGeom>
                      <a:noFill/>
                      <a:ln>
                        <a:noFill/>
                      </a:ln>
                      <a:effectLst/>
                    </p:spPr>
                  </p:pic>
                </p:oleObj>
              </mc:Fallback>
            </mc:AlternateContent>
          </a:graphicData>
        </a:graphic>
      </p:graphicFrame>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二、选择题</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3" name="文本框 2"/>
          <p:cNvSpPr txBox="1"/>
          <p:nvPr/>
        </p:nvSpPr>
        <p:spPr>
          <a:xfrm>
            <a:off x="2574044" y="1839803"/>
            <a:ext cx="432048" cy="646331"/>
          </a:xfrm>
          <a:prstGeom prst="rect">
            <a:avLst/>
          </a:prstGeom>
          <a:noFill/>
        </p:spPr>
        <p:txBody>
          <a:bodyPr wrap="square" rtlCol="0">
            <a:spAutoFit/>
          </a:bodyPr>
          <a:lstStyle/>
          <a:p>
            <a:r>
              <a:rPr lang="en-US" altLang="zh-CN" sz="3600" b="1" dirty="0">
                <a:solidFill>
                  <a:srgbClr val="FF0000"/>
                </a:solidFill>
              </a:rPr>
              <a:t>B</a:t>
            </a:r>
            <a:endParaRPr lang="zh-CN" altLang="en-US" sz="36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9446"/>
                                        </p:tgtEl>
                                        <p:attrNameLst>
                                          <p:attrName>style.visibility</p:attrName>
                                        </p:attrNameLst>
                                      </p:cBhvr>
                                      <p:to>
                                        <p:strVal val="visible"/>
                                      </p:to>
                                    </p:set>
                                    <p:animEffect transition="in" filter="wipe(left)">
                                      <p:cBhvr>
                                        <p:cTn id="7" dur="500"/>
                                        <p:tgtEl>
                                          <p:spTgt spid="1894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9447"/>
                                        </p:tgtEl>
                                        <p:attrNameLst>
                                          <p:attrName>style.visibility</p:attrName>
                                        </p:attrNameLst>
                                      </p:cBhvr>
                                      <p:to>
                                        <p:strVal val="visible"/>
                                      </p:to>
                                    </p:set>
                                    <p:animEffect transition="in" filter="wipe(left)">
                                      <p:cBhvr>
                                        <p:cTn id="12" dur="500"/>
                                        <p:tgtEl>
                                          <p:spTgt spid="18944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94469" y="2811243"/>
            <a:ext cx="5040000" cy="923330"/>
          </a:xfrm>
          <a:prstGeom prst="rect">
            <a:avLst/>
          </a:prstGeom>
          <a:noFill/>
        </p:spPr>
        <p:txBody>
          <a:bodyPr wrap="square" rtlCol="0">
            <a:spAutoFit/>
          </a:bodyPr>
          <a:lstStyle/>
          <a:p>
            <a:pPr algn="ct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数学期望的性质</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04</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4" name="Rectangle 20"/>
          <p:cNvSpPr>
            <a:spLocks noChangeArrowheads="1"/>
          </p:cNvSpPr>
          <p:nvPr/>
        </p:nvSpPr>
        <p:spPr bwMode="auto">
          <a:xfrm>
            <a:off x="1309275" y="1195387"/>
            <a:ext cx="775735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是常数，则</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45" name="Rectangle 21"/>
          <p:cNvSpPr>
            <a:spLocks noChangeArrowheads="1"/>
          </p:cNvSpPr>
          <p:nvPr/>
        </p:nvSpPr>
        <p:spPr bwMode="auto">
          <a:xfrm>
            <a:off x="1309273" y="4311919"/>
            <a:ext cx="791168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4.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相互独立，则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46" name="Rectangle 22"/>
          <p:cNvSpPr>
            <a:spLocks noChangeArrowheads="1"/>
          </p:cNvSpPr>
          <p:nvPr/>
        </p:nvSpPr>
        <p:spPr bwMode="auto">
          <a:xfrm>
            <a:off x="1309275" y="1881187"/>
            <a:ext cx="775735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是常数，则</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47" name="Rectangle 23"/>
          <p:cNvSpPr>
            <a:spLocks noChangeArrowheads="1"/>
          </p:cNvSpPr>
          <p:nvPr/>
        </p:nvSpPr>
        <p:spPr bwMode="auto">
          <a:xfrm>
            <a:off x="1309274" y="2565276"/>
            <a:ext cx="775735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3.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7848" name="Object 24"/>
          <p:cNvGraphicFramePr>
            <a:graphicFrameLocks noChangeAspect="1"/>
          </p:cNvGraphicFramePr>
          <p:nvPr/>
        </p:nvGraphicFramePr>
        <p:xfrm>
          <a:off x="1778587" y="3199692"/>
          <a:ext cx="4756150" cy="950912"/>
        </p:xfrm>
        <a:graphic>
          <a:graphicData uri="http://schemas.openxmlformats.org/presentationml/2006/ole">
            <mc:AlternateContent xmlns:mc="http://schemas.openxmlformats.org/markup-compatibility/2006">
              <mc:Choice xmlns:v="urn:schemas-microsoft-com:vml" Requires="v">
                <p:oleObj spid="_x0000_s139294" name="Equation" r:id="rId1" imgW="43281600" imgH="10363200" progId="Equation.DSMT4">
                  <p:embed/>
                </p:oleObj>
              </mc:Choice>
              <mc:Fallback>
                <p:oleObj name="Equation" r:id="rId1" imgW="43281600" imgH="10363200" progId="Equation.DSMT4">
                  <p:embed/>
                  <p:pic>
                    <p:nvPicPr>
                      <p:cNvPr id="0" name="Object 24"/>
                      <p:cNvPicPr>
                        <a:picLocks noChangeAspect="1" noChangeArrowheads="1"/>
                      </p:cNvPicPr>
                      <p:nvPr/>
                    </p:nvPicPr>
                    <p:blipFill>
                      <a:blip r:embed="rId2"/>
                      <a:srcRect/>
                      <a:stretch>
                        <a:fillRect/>
                      </a:stretch>
                    </p:blipFill>
                    <p:spPr bwMode="auto">
                      <a:xfrm>
                        <a:off x="1778587" y="3199692"/>
                        <a:ext cx="4756150" cy="95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9" name="Object 25"/>
          <p:cNvGraphicFramePr>
            <a:graphicFrameLocks noChangeAspect="1"/>
          </p:cNvGraphicFramePr>
          <p:nvPr/>
        </p:nvGraphicFramePr>
        <p:xfrm>
          <a:off x="2131721" y="4996008"/>
          <a:ext cx="4856162" cy="995362"/>
        </p:xfrm>
        <a:graphic>
          <a:graphicData uri="http://schemas.openxmlformats.org/presentationml/2006/ole">
            <mc:AlternateContent xmlns:mc="http://schemas.openxmlformats.org/markup-compatibility/2006">
              <mc:Choice xmlns:v="urn:schemas-microsoft-com:vml" Requires="v">
                <p:oleObj spid="_x0000_s139295" name="Equation" r:id="rId3" imgW="44196000" imgH="10363200" progId="Equation.DSMT4">
                  <p:embed/>
                </p:oleObj>
              </mc:Choice>
              <mc:Fallback>
                <p:oleObj name="Equation" r:id="rId3" imgW="44196000" imgH="10363200" progId="Equation.DSMT4">
                  <p:embed/>
                  <p:pic>
                    <p:nvPicPr>
                      <p:cNvPr id="0" name="Object 25"/>
                      <p:cNvPicPr>
                        <a:picLocks noChangeAspect="1" noChangeArrowheads="1"/>
                      </p:cNvPicPr>
                      <p:nvPr/>
                    </p:nvPicPr>
                    <p:blipFill>
                      <a:blip r:embed="rId4"/>
                      <a:srcRect/>
                      <a:stretch>
                        <a:fillRect/>
                      </a:stretch>
                    </p:blipFill>
                    <p:spPr bwMode="auto">
                      <a:xfrm>
                        <a:off x="2131721" y="4996008"/>
                        <a:ext cx="4856162"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50" name="Rectangle 26"/>
          <p:cNvSpPr>
            <a:spLocks noChangeArrowheads="1"/>
          </p:cNvSpPr>
          <p:nvPr/>
        </p:nvSpPr>
        <p:spPr bwMode="auto">
          <a:xfrm>
            <a:off x="6963228" y="5202754"/>
            <a:ext cx="336181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（诸</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i</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相互独立时）</a:t>
            </a:r>
            <a:endParaRPr lang="zh-CN" altLang="en-US"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1" name="AutoShape 27"/>
          <p:cNvSpPr>
            <a:spLocks noChangeArrowheads="1"/>
          </p:cNvSpPr>
          <p:nvPr/>
        </p:nvSpPr>
        <p:spPr bwMode="auto">
          <a:xfrm>
            <a:off x="7464152" y="1990615"/>
            <a:ext cx="3672408" cy="1562814"/>
          </a:xfrm>
          <a:prstGeom prst="wedgeRectCallout">
            <a:avLst>
              <a:gd name="adj1" fmla="val -51704"/>
              <a:gd name="adj2" fmla="val 103835"/>
            </a:avLst>
          </a:prstGeom>
          <a:solidFill>
            <a:srgbClr val="C00000"/>
          </a:solidFill>
          <a:ln w="9525">
            <a:solidFill>
              <a:schemeClr val="tx1"/>
            </a:solidFill>
            <a:miter lim="800000"/>
          </a:ln>
          <a:effectLst/>
        </p:spPr>
        <p:txBody>
          <a:bodyPr wrap="none" anchor="ctr"/>
          <a:lstStyle/>
          <a:p>
            <a:pPr algn="ctr" eaLnBrk="1" hangingPunct="1">
              <a:lnSpc>
                <a:spcPct val="115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请注意</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115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由</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不</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115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一定能推出</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独立</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1" name="直接连接符 10"/>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3669576"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 四、数学期望的性质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844"/>
                                        </p:tgtEl>
                                        <p:attrNameLst>
                                          <p:attrName>style.visibility</p:attrName>
                                        </p:attrNameLst>
                                      </p:cBhvr>
                                      <p:to>
                                        <p:strVal val="visible"/>
                                      </p:to>
                                    </p:set>
                                    <p:anim calcmode="lin" valueType="num">
                                      <p:cBhvr additive="base">
                                        <p:cTn id="7" dur="500" fill="hold"/>
                                        <p:tgtEl>
                                          <p:spTgt spid="77844"/>
                                        </p:tgtEl>
                                        <p:attrNameLst>
                                          <p:attrName>ppt_x</p:attrName>
                                        </p:attrNameLst>
                                      </p:cBhvr>
                                      <p:tavLst>
                                        <p:tav tm="0">
                                          <p:val>
                                            <p:strVal val="0-#ppt_w/2"/>
                                          </p:val>
                                        </p:tav>
                                        <p:tav tm="100000">
                                          <p:val>
                                            <p:strVal val="#ppt_x"/>
                                          </p:val>
                                        </p:tav>
                                      </p:tavLst>
                                    </p:anim>
                                    <p:anim calcmode="lin" valueType="num">
                                      <p:cBhvr additive="base">
                                        <p:cTn id="8" dur="500" fill="hold"/>
                                        <p:tgtEl>
                                          <p:spTgt spid="778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846"/>
                                        </p:tgtEl>
                                        <p:attrNameLst>
                                          <p:attrName>style.visibility</p:attrName>
                                        </p:attrNameLst>
                                      </p:cBhvr>
                                      <p:to>
                                        <p:strVal val="visible"/>
                                      </p:to>
                                    </p:set>
                                    <p:anim calcmode="lin" valueType="num">
                                      <p:cBhvr additive="base">
                                        <p:cTn id="13" dur="500" fill="hold"/>
                                        <p:tgtEl>
                                          <p:spTgt spid="77846"/>
                                        </p:tgtEl>
                                        <p:attrNameLst>
                                          <p:attrName>ppt_x</p:attrName>
                                        </p:attrNameLst>
                                      </p:cBhvr>
                                      <p:tavLst>
                                        <p:tav tm="0">
                                          <p:val>
                                            <p:strVal val="0-#ppt_w/2"/>
                                          </p:val>
                                        </p:tav>
                                        <p:tav tm="100000">
                                          <p:val>
                                            <p:strVal val="#ppt_x"/>
                                          </p:val>
                                        </p:tav>
                                      </p:tavLst>
                                    </p:anim>
                                    <p:anim calcmode="lin" valueType="num">
                                      <p:cBhvr additive="base">
                                        <p:cTn id="14" dur="500" fill="hold"/>
                                        <p:tgtEl>
                                          <p:spTgt spid="7784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7847"/>
                                        </p:tgtEl>
                                        <p:attrNameLst>
                                          <p:attrName>style.visibility</p:attrName>
                                        </p:attrNameLst>
                                      </p:cBhvr>
                                      <p:to>
                                        <p:strVal val="visible"/>
                                      </p:to>
                                    </p:set>
                                    <p:anim calcmode="lin" valueType="num">
                                      <p:cBhvr additive="base">
                                        <p:cTn id="19" dur="500" fill="hold"/>
                                        <p:tgtEl>
                                          <p:spTgt spid="77847"/>
                                        </p:tgtEl>
                                        <p:attrNameLst>
                                          <p:attrName>ppt_x</p:attrName>
                                        </p:attrNameLst>
                                      </p:cBhvr>
                                      <p:tavLst>
                                        <p:tav tm="0">
                                          <p:val>
                                            <p:strVal val="0-#ppt_w/2"/>
                                          </p:val>
                                        </p:tav>
                                        <p:tav tm="100000">
                                          <p:val>
                                            <p:strVal val="#ppt_x"/>
                                          </p:val>
                                        </p:tav>
                                      </p:tavLst>
                                    </p:anim>
                                    <p:anim calcmode="lin" valueType="num">
                                      <p:cBhvr additive="base">
                                        <p:cTn id="20" dur="500" fill="hold"/>
                                        <p:tgtEl>
                                          <p:spTgt spid="7784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7848"/>
                                        </p:tgtEl>
                                        <p:attrNameLst>
                                          <p:attrName>style.visibility</p:attrName>
                                        </p:attrNameLst>
                                      </p:cBhvr>
                                      <p:to>
                                        <p:strVal val="visible"/>
                                      </p:to>
                                    </p:set>
                                    <p:anim calcmode="lin" valueType="num">
                                      <p:cBhvr additive="base">
                                        <p:cTn id="25" dur="500" fill="hold"/>
                                        <p:tgtEl>
                                          <p:spTgt spid="77848"/>
                                        </p:tgtEl>
                                        <p:attrNameLst>
                                          <p:attrName>ppt_x</p:attrName>
                                        </p:attrNameLst>
                                      </p:cBhvr>
                                      <p:tavLst>
                                        <p:tav tm="0">
                                          <p:val>
                                            <p:strVal val="0-#ppt_w/2"/>
                                          </p:val>
                                        </p:tav>
                                        <p:tav tm="100000">
                                          <p:val>
                                            <p:strVal val="#ppt_x"/>
                                          </p:val>
                                        </p:tav>
                                      </p:tavLst>
                                    </p:anim>
                                    <p:anim calcmode="lin" valueType="num">
                                      <p:cBhvr additive="base">
                                        <p:cTn id="26" dur="500" fill="hold"/>
                                        <p:tgtEl>
                                          <p:spTgt spid="7784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7845"/>
                                        </p:tgtEl>
                                        <p:attrNameLst>
                                          <p:attrName>style.visibility</p:attrName>
                                        </p:attrNameLst>
                                      </p:cBhvr>
                                      <p:to>
                                        <p:strVal val="visible"/>
                                      </p:to>
                                    </p:set>
                                    <p:anim calcmode="lin" valueType="num">
                                      <p:cBhvr additive="base">
                                        <p:cTn id="31" dur="500" fill="hold"/>
                                        <p:tgtEl>
                                          <p:spTgt spid="77845"/>
                                        </p:tgtEl>
                                        <p:attrNameLst>
                                          <p:attrName>ppt_x</p:attrName>
                                        </p:attrNameLst>
                                      </p:cBhvr>
                                      <p:tavLst>
                                        <p:tav tm="0">
                                          <p:val>
                                            <p:strVal val="0-#ppt_w/2"/>
                                          </p:val>
                                        </p:tav>
                                        <p:tav tm="100000">
                                          <p:val>
                                            <p:strVal val="#ppt_x"/>
                                          </p:val>
                                        </p:tav>
                                      </p:tavLst>
                                    </p:anim>
                                    <p:anim calcmode="lin" valueType="num">
                                      <p:cBhvr additive="base">
                                        <p:cTn id="32" dur="500" fill="hold"/>
                                        <p:tgtEl>
                                          <p:spTgt spid="7784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7851"/>
                                        </p:tgtEl>
                                        <p:attrNameLst>
                                          <p:attrName>style.visibility</p:attrName>
                                        </p:attrNameLst>
                                      </p:cBhvr>
                                      <p:to>
                                        <p:strVal val="visible"/>
                                      </p:to>
                                    </p:set>
                                    <p:anim calcmode="lin" valueType="num">
                                      <p:cBhvr additive="base">
                                        <p:cTn id="37" dur="500" fill="hold"/>
                                        <p:tgtEl>
                                          <p:spTgt spid="77851"/>
                                        </p:tgtEl>
                                        <p:attrNameLst>
                                          <p:attrName>ppt_x</p:attrName>
                                        </p:attrNameLst>
                                      </p:cBhvr>
                                      <p:tavLst>
                                        <p:tav tm="0">
                                          <p:val>
                                            <p:strVal val="1+#ppt_w/2"/>
                                          </p:val>
                                        </p:tav>
                                        <p:tav tm="100000">
                                          <p:val>
                                            <p:strVal val="#ppt_x"/>
                                          </p:val>
                                        </p:tav>
                                      </p:tavLst>
                                    </p:anim>
                                    <p:anim calcmode="lin" valueType="num">
                                      <p:cBhvr additive="base">
                                        <p:cTn id="38" dur="500" fill="hold"/>
                                        <p:tgtEl>
                                          <p:spTgt spid="7785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77849"/>
                                        </p:tgtEl>
                                        <p:attrNameLst>
                                          <p:attrName>style.visibility</p:attrName>
                                        </p:attrNameLst>
                                      </p:cBhvr>
                                      <p:to>
                                        <p:strVal val="visible"/>
                                      </p:to>
                                    </p:set>
                                    <p:anim calcmode="lin" valueType="num">
                                      <p:cBhvr additive="base">
                                        <p:cTn id="43" dur="500" fill="hold"/>
                                        <p:tgtEl>
                                          <p:spTgt spid="77849"/>
                                        </p:tgtEl>
                                        <p:attrNameLst>
                                          <p:attrName>ppt_x</p:attrName>
                                        </p:attrNameLst>
                                      </p:cBhvr>
                                      <p:tavLst>
                                        <p:tav tm="0">
                                          <p:val>
                                            <p:strVal val="0-#ppt_w/2"/>
                                          </p:val>
                                        </p:tav>
                                        <p:tav tm="100000">
                                          <p:val>
                                            <p:strVal val="#ppt_x"/>
                                          </p:val>
                                        </p:tav>
                                      </p:tavLst>
                                    </p:anim>
                                    <p:anim calcmode="lin" valueType="num">
                                      <p:cBhvr additive="base">
                                        <p:cTn id="44" dur="500" fill="hold"/>
                                        <p:tgtEl>
                                          <p:spTgt spid="77849"/>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2" presetClass="entr" presetSubtype="8" fill="hold" grpId="0" nodeType="afterEffect">
                                  <p:stCondLst>
                                    <p:cond delay="0"/>
                                  </p:stCondLst>
                                  <p:childTnLst>
                                    <p:set>
                                      <p:cBhvr>
                                        <p:cTn id="47" dur="1" fill="hold">
                                          <p:stCondLst>
                                            <p:cond delay="0"/>
                                          </p:stCondLst>
                                        </p:cTn>
                                        <p:tgtEl>
                                          <p:spTgt spid="77850"/>
                                        </p:tgtEl>
                                        <p:attrNameLst>
                                          <p:attrName>style.visibility</p:attrName>
                                        </p:attrNameLst>
                                      </p:cBhvr>
                                      <p:to>
                                        <p:strVal val="visible"/>
                                      </p:to>
                                    </p:set>
                                    <p:anim calcmode="lin" valueType="num">
                                      <p:cBhvr additive="base">
                                        <p:cTn id="48" dur="500" fill="hold"/>
                                        <p:tgtEl>
                                          <p:spTgt spid="77850"/>
                                        </p:tgtEl>
                                        <p:attrNameLst>
                                          <p:attrName>ppt_x</p:attrName>
                                        </p:attrNameLst>
                                      </p:cBhvr>
                                      <p:tavLst>
                                        <p:tav tm="0">
                                          <p:val>
                                            <p:strVal val="0-#ppt_w/2"/>
                                          </p:val>
                                        </p:tav>
                                        <p:tav tm="100000">
                                          <p:val>
                                            <p:strVal val="#ppt_x"/>
                                          </p:val>
                                        </p:tav>
                                      </p:tavLst>
                                    </p:anim>
                                    <p:anim calcmode="lin" valueType="num">
                                      <p:cBhvr additive="base">
                                        <p:cTn id="49" dur="500" fill="hold"/>
                                        <p:tgtEl>
                                          <p:spTgt spid="778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4" grpId="0" bldLvl="0" animBg="1" autoUpdateAnimBg="0"/>
      <p:bldP spid="77845" grpId="0" bldLvl="0" animBg="1" autoUpdateAnimBg="0"/>
      <p:bldP spid="77846" grpId="0" bldLvl="0" animBg="1" autoUpdateAnimBg="0"/>
      <p:bldP spid="77847" grpId="0" bldLvl="0" animBg="1" autoUpdateAnimBg="0"/>
      <p:bldP spid="77850" grpId="0" bldLvl="0" animBg="1" autoUpdateAnimBg="0"/>
      <p:bldP spid="77851"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1406163" y="255069"/>
            <a:ext cx="3669576"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 四、数学期望的性质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2" name="组合 1"/>
          <p:cNvGrpSpPr/>
          <p:nvPr/>
        </p:nvGrpSpPr>
        <p:grpSpPr>
          <a:xfrm>
            <a:off x="1313002" y="1832361"/>
            <a:ext cx="9565996" cy="523220"/>
            <a:chOff x="1313002" y="1832361"/>
            <a:chExt cx="9565996" cy="523220"/>
          </a:xfrm>
        </p:grpSpPr>
        <p:sp>
          <p:nvSpPr>
            <p:cNvPr id="5" name="Rectangle 23"/>
            <p:cNvSpPr>
              <a:spLocks noChangeArrowheads="1"/>
            </p:cNvSpPr>
            <p:nvPr/>
          </p:nvSpPr>
          <p:spPr bwMode="auto">
            <a:xfrm>
              <a:off x="1313002" y="1832361"/>
              <a:ext cx="1218335"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Object 4"/>
                <p:cNvSpPr txBox="1"/>
                <p:nvPr/>
              </p:nvSpPr>
              <p:spPr bwMode="auto">
                <a:xfrm>
                  <a:off x="2423592" y="1872155"/>
                  <a:ext cx="8455406" cy="43815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b="1" i="0">
                            <a:solidFill>
                              <a:srgbClr val="000000"/>
                            </a:solidFill>
                            <a:latin typeface="Cambria Math" panose="02040503050406030204" pitchFamily="18" charset="0"/>
                          </a:rPr>
                          <m:t> </m:t>
                        </m:r>
                        <m:r>
                          <a:rPr lang="zh-CN" altLang="en-US" sz="2800" b="1" i="1">
                            <a:solidFill>
                              <a:srgbClr val="000000"/>
                            </a:solidFill>
                            <a:latin typeface="Cambria Math" panose="02040503050406030204" pitchFamily="18" charset="0"/>
                          </a:rPr>
                          <m:t>𝑪</m:t>
                        </m:r>
                        <m:r>
                          <a:rPr lang="zh-CN" altLang="en-US" sz="2800" b="1" i="1">
                            <a:solidFill>
                              <a:srgbClr val="000000"/>
                            </a:solidFill>
                            <a:latin typeface="Cambria Math" panose="02040503050406030204" pitchFamily="18" charset="0"/>
                          </a:rPr>
                          <m:t>是常数，</m:t>
                        </m:r>
                        <m:r>
                          <a:rPr lang="zh-CN" altLang="en-US" sz="2800" b="1" i="1">
                            <a:solidFill>
                              <a:srgbClr val="000000"/>
                            </a:solidFill>
                            <a:latin typeface="Cambria Math" panose="02040503050406030204" pitchFamily="18" charset="0"/>
                          </a:rPr>
                          <m:t>𝑷</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𝑿</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𝑬</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𝑿</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𝑬</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𝟏</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m:t>
                        </m:r>
                      </m:oMath>
                    </m:oMathPara>
                  </a14:m>
                  <a:endParaRPr lang="zh-CN" altLang="en-US" sz="2800" b="1" dirty="0"/>
                </a:p>
              </p:txBody>
            </p:sp>
          </mc:Choice>
          <mc:Fallback>
            <p:sp>
              <p:nvSpPr>
                <p:cNvPr id="12" name="Object 4"/>
                <p:cNvSpPr txBox="1">
                  <a:spLocks noRot="1" noChangeAspect="1" noMove="1" noResize="1" noEditPoints="1" noAdjustHandles="1" noChangeArrowheads="1" noChangeShapeType="1" noTextEdit="1"/>
                </p:cNvSpPr>
                <p:nvPr/>
              </p:nvSpPr>
              <p:spPr bwMode="auto">
                <a:xfrm>
                  <a:off x="2423592" y="1872155"/>
                  <a:ext cx="8455406" cy="438150"/>
                </a:xfrm>
                <a:prstGeom prst="rect">
                  <a:avLst/>
                </a:prstGeom>
                <a:blipFill rotWithShape="1">
                  <a:blip r:embed="rId1"/>
                </a:blipFill>
                <a:ln>
                  <a:noFill/>
                </a:ln>
                <a:effectLst/>
              </p:spPr>
              <p:txBody>
                <a:bodyPr/>
                <a:lstStyle/>
                <a:p>
                  <a:r>
                    <a:rPr lang="zh-CN" altLang="en-US">
                      <a:noFill/>
                    </a:rPr>
                    <a:t> </a:t>
                  </a:r>
                </a:p>
              </p:txBody>
            </p:sp>
          </mc:Fallback>
        </mc:AlternateContent>
      </p:grpSp>
      <p:grpSp>
        <p:nvGrpSpPr>
          <p:cNvPr id="3" name="组合 2"/>
          <p:cNvGrpSpPr/>
          <p:nvPr/>
        </p:nvGrpSpPr>
        <p:grpSpPr>
          <a:xfrm>
            <a:off x="1335307" y="3376178"/>
            <a:ext cx="9709709" cy="1094059"/>
            <a:chOff x="1335307" y="3376178"/>
            <a:chExt cx="9709709" cy="1094059"/>
          </a:xfrm>
        </p:grpSpPr>
        <p:sp>
          <p:nvSpPr>
            <p:cNvPr id="11" name="Rectangle 23"/>
            <p:cNvSpPr>
              <a:spLocks noChangeArrowheads="1"/>
            </p:cNvSpPr>
            <p:nvPr/>
          </p:nvSpPr>
          <p:spPr bwMode="auto">
            <a:xfrm>
              <a:off x="1335307" y="3645024"/>
              <a:ext cx="1218335"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mc:AlternateContent xmlns:mc="http://schemas.openxmlformats.org/markup-compatibility/2006">
          <mc:Choice xmlns:a14="http://schemas.microsoft.com/office/drawing/2010/main" Requires="a14">
            <p:sp>
              <p:nvSpPr>
                <p:cNvPr id="13" name="Object 5"/>
                <p:cNvSpPr txBox="1"/>
                <p:nvPr/>
              </p:nvSpPr>
              <p:spPr bwMode="auto">
                <a:xfrm>
                  <a:off x="2589610" y="3376178"/>
                  <a:ext cx="8455406" cy="1094059"/>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b="1" i="1">
                            <a:solidFill>
                              <a:srgbClr val="000000"/>
                            </a:solidFill>
                            <a:latin typeface="Cambria Math" panose="02040503050406030204" pitchFamily="18" charset="0"/>
                          </a:rPr>
                          <m:t>𝑬</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𝑪𝑿</m:t>
                        </m:r>
                        <m:r>
                          <a:rPr lang="zh-CN" altLang="en-US" sz="2800" b="1" i="1">
                            <a:solidFill>
                              <a:srgbClr val="000000"/>
                            </a:solidFill>
                            <a:latin typeface="Cambria Math" panose="02040503050406030204" pitchFamily="18" charset="0"/>
                          </a:rPr>
                          <m:t>)=</m:t>
                        </m:r>
                        <m:nary>
                          <m:naryPr>
                            <m:ctrlPr>
                              <a:rPr lang="zh-CN" altLang="en-US" sz="2800" b="1" i="1">
                                <a:solidFill>
                                  <a:srgbClr val="000000"/>
                                </a:solidFill>
                                <a:latin typeface="Cambria Math" panose="02040503050406030204" pitchFamily="18" charset="0"/>
                              </a:rPr>
                            </m:ctrlPr>
                          </m:naryPr>
                          <m:sub>
                            <m:r>
                              <a:rPr lang="zh-CN" altLang="en-US" sz="2800" b="1" i="1">
                                <a:solidFill>
                                  <a:srgbClr val="000000"/>
                                </a:solidFill>
                                <a:latin typeface="Cambria Math" panose="02040503050406030204" pitchFamily="18" charset="0"/>
                              </a:rPr>
                              <m:t>−∞</m:t>
                            </m:r>
                          </m:sub>
                          <m:sup>
                            <m:r>
                              <a:rPr lang="zh-CN" altLang="en-US" sz="2800" b="1" i="1">
                                <a:solidFill>
                                  <a:srgbClr val="000000"/>
                                </a:solidFill>
                                <a:latin typeface="Cambria Math" panose="02040503050406030204" pitchFamily="18" charset="0"/>
                              </a:rPr>
                              <m:t>+∞</m:t>
                            </m:r>
                          </m:sup>
                          <m:e>
                            <m:r>
                              <a:rPr lang="zh-CN" altLang="en-US" sz="2800" b="1" i="1">
                                <a:solidFill>
                                  <a:srgbClr val="000000"/>
                                </a:solidFill>
                                <a:latin typeface="Cambria Math" panose="02040503050406030204" pitchFamily="18" charset="0"/>
                              </a:rPr>
                              <m:t>𝑪𝒙𝒇</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𝒙</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𝒅𝒙</m:t>
                            </m:r>
                          </m:e>
                        </m:nary>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m:t>
                        </m:r>
                        <m:nary>
                          <m:naryPr>
                            <m:ctrlPr>
                              <a:rPr lang="zh-CN" altLang="en-US" sz="2800" b="1" i="1">
                                <a:solidFill>
                                  <a:srgbClr val="000000"/>
                                </a:solidFill>
                                <a:latin typeface="Cambria Math" panose="02040503050406030204" pitchFamily="18" charset="0"/>
                              </a:rPr>
                            </m:ctrlPr>
                          </m:naryPr>
                          <m:sub>
                            <m:r>
                              <a:rPr lang="zh-CN" altLang="en-US" sz="2800" b="1" i="1">
                                <a:solidFill>
                                  <a:srgbClr val="000000"/>
                                </a:solidFill>
                                <a:latin typeface="Cambria Math" panose="02040503050406030204" pitchFamily="18" charset="0"/>
                              </a:rPr>
                              <m:t>−∞</m:t>
                            </m:r>
                          </m:sub>
                          <m:sup>
                            <m:r>
                              <a:rPr lang="zh-CN" altLang="en-US" sz="2800" b="1" i="1">
                                <a:solidFill>
                                  <a:srgbClr val="000000"/>
                                </a:solidFill>
                                <a:latin typeface="Cambria Math" panose="02040503050406030204" pitchFamily="18" charset="0"/>
                              </a:rPr>
                              <m:t>+∞</m:t>
                            </m:r>
                          </m:sup>
                          <m:e>
                            <m:r>
                              <a:rPr lang="zh-CN" altLang="en-US" sz="2800" b="1" i="1">
                                <a:solidFill>
                                  <a:srgbClr val="000000"/>
                                </a:solidFill>
                                <a:latin typeface="Cambria Math" panose="02040503050406030204" pitchFamily="18" charset="0"/>
                              </a:rPr>
                              <m:t>𝒙𝒇</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𝒙</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𝒅𝒙</m:t>
                            </m:r>
                          </m:e>
                        </m:nary>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𝑪𝑬</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𝑿</m:t>
                        </m:r>
                        <m:r>
                          <a:rPr lang="zh-CN" altLang="en-US" sz="2800" b="1" i="1">
                            <a:solidFill>
                              <a:srgbClr val="000000"/>
                            </a:solidFill>
                            <a:latin typeface="Cambria Math" panose="02040503050406030204" pitchFamily="18" charset="0"/>
                          </a:rPr>
                          <m:t>)</m:t>
                        </m:r>
                      </m:oMath>
                    </m:oMathPara>
                  </a14:m>
                  <a:endParaRPr lang="zh-CN" altLang="en-US" sz="2800" b="1" dirty="0"/>
                </a:p>
              </p:txBody>
            </p:sp>
          </mc:Choice>
          <mc:Fallback>
            <p:sp>
              <p:nvSpPr>
                <p:cNvPr id="13" name="Object 5"/>
                <p:cNvSpPr txBox="1">
                  <a:spLocks noRot="1" noChangeAspect="1" noMove="1" noResize="1" noEditPoints="1" noAdjustHandles="1" noChangeArrowheads="1" noChangeShapeType="1" noTextEdit="1"/>
                </p:cNvSpPr>
                <p:nvPr/>
              </p:nvSpPr>
              <p:spPr bwMode="auto">
                <a:xfrm>
                  <a:off x="2589610" y="3376178"/>
                  <a:ext cx="8455406" cy="1094059"/>
                </a:xfrm>
                <a:prstGeom prst="rect">
                  <a:avLst/>
                </a:prstGeom>
                <a:blipFill rotWithShape="1">
                  <a:blip r:embed="rId2"/>
                </a:blipFill>
                <a:ln>
                  <a:noFill/>
                </a:ln>
                <a:effectLst/>
              </p:spPr>
              <p:txBody>
                <a:bodyPr/>
                <a:lstStyle/>
                <a:p>
                  <a:r>
                    <a:rPr lang="zh-CN" altLang="en-US">
                      <a:noFill/>
                    </a:rPr>
                    <a:t> </a:t>
                  </a:r>
                </a:p>
              </p:txBody>
            </p:sp>
          </mc:Fallback>
        </mc:AlternateContent>
      </p:grpSp>
      <p:sp>
        <p:nvSpPr>
          <p:cNvPr id="14" name="Text Box 8"/>
          <p:cNvSpPr txBox="1">
            <a:spLocks noChangeArrowheads="1"/>
          </p:cNvSpPr>
          <p:nvPr/>
        </p:nvSpPr>
        <p:spPr bwMode="auto">
          <a:xfrm>
            <a:off x="2447546" y="2656594"/>
            <a:ext cx="510618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228600" indent="-228600">
              <a:spcBef>
                <a:spcPct val="20000"/>
              </a:spcBef>
              <a:buChar char="•"/>
              <a:defRPr sz="3200" b="1" i="1">
                <a:solidFill>
                  <a:schemeClr val="tx1"/>
                </a:solidFill>
                <a:latin typeface="Times" panose="02020603050405020304" pitchFamily="18" charset="0"/>
              </a:defRPr>
            </a:lvl1pPr>
            <a:lvl2pPr marL="742950" indent="-285750">
              <a:spcBef>
                <a:spcPct val="20000"/>
              </a:spcBef>
              <a:buChar char="–"/>
              <a:defRPr sz="2800" b="1" i="1">
                <a:solidFill>
                  <a:schemeClr val="tx1"/>
                </a:solidFill>
                <a:latin typeface="Times" panose="02020603050405020304" pitchFamily="18" charset="0"/>
              </a:defRPr>
            </a:lvl2pPr>
            <a:lvl3pPr marL="1143000" indent="-228600">
              <a:spcBef>
                <a:spcPct val="20000"/>
              </a:spcBef>
              <a:buChar char="•"/>
              <a:defRPr sz="2400" b="1" i="1">
                <a:solidFill>
                  <a:schemeClr val="tx1"/>
                </a:solidFill>
                <a:latin typeface="Times" panose="02020603050405020304" pitchFamily="18" charset="0"/>
              </a:defRPr>
            </a:lvl3pPr>
            <a:lvl4pPr marL="1600200" indent="-228600">
              <a:spcBef>
                <a:spcPct val="20000"/>
              </a:spcBef>
              <a:buChar char="–"/>
              <a:defRPr sz="2000" b="1" i="1">
                <a:solidFill>
                  <a:schemeClr val="tx1"/>
                </a:solidFill>
                <a:latin typeface="Times" panose="02020603050405020304" pitchFamily="18" charset="0"/>
              </a:defRPr>
            </a:lvl4pPr>
            <a:lvl5pPr marL="2057400" indent="-228600">
              <a:spcBef>
                <a:spcPct val="20000"/>
              </a:spcBef>
              <a:buChar char="»"/>
              <a:defRPr sz="2000" b="1" i="1">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b="1" i="1">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b="1" i="1">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b="1" i="1">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b="1" i="1">
                <a:solidFill>
                  <a:schemeClr val="tx1"/>
                </a:solidFill>
                <a:latin typeface="Times" panose="02020603050405020304" pitchFamily="18" charset="0"/>
              </a:defRPr>
            </a:lvl9pPr>
          </a:lstStyle>
          <a:p>
            <a:pPr eaLnBrk="1" hangingPunct="1">
              <a:buClr>
                <a:srgbClr val="000000"/>
              </a:buClr>
              <a:buSzPct val="80000"/>
              <a:buFontTx/>
              <a:buNone/>
            </a:pPr>
            <a:r>
              <a:rPr lang="zh-CN" altLang="en-US" sz="2400" b="0" i="0" dirty="0">
                <a:solidFill>
                  <a:srgbClr val="FF0000"/>
                </a:solidFill>
                <a:latin typeface="Times New Roman" panose="02020603050405020304" pitchFamily="18" charset="0"/>
                <a:ea typeface="微软雅黑" panose="020B0503020204020204" pitchFamily="34" charset="-122"/>
              </a:rPr>
              <a:t>下面仅对连续型随机变量给予证明：</a:t>
            </a:r>
            <a:endParaRPr lang="zh-CN" altLang="en-US" sz="2400" b="0" i="0" dirty="0">
              <a:solidFill>
                <a:srgbClr val="FF0000"/>
              </a:solidFill>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Top)">
                                      <p:cBhvr>
                                        <p:cTn id="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8865" name="Object 17"/>
              <p:cNvSpPr txBox="1"/>
              <p:nvPr/>
            </p:nvSpPr>
            <p:spPr bwMode="auto">
              <a:xfrm>
                <a:off x="1559496" y="1669959"/>
                <a:ext cx="7776864" cy="1050925"/>
              </a:xfrm>
              <a:prstGeom prst="rect">
                <a:avLst/>
              </a:prstGeom>
              <a:noFill/>
              <a:ln>
                <a:noFill/>
              </a:ln>
              <a:effectLst/>
            </p:spPr>
            <p:txBody>
              <a:bodyPr>
                <a:noAutofit/>
              </a:bodyPr>
              <a:lstStyle/>
              <a:p>
                <a:pPr>
                  <a:lnSpc>
                    <a:spcPct val="150000"/>
                  </a:lnSpc>
                </a:pPr>
                <a14:m>
                  <m:oMathPara xmlns:m="http://schemas.openxmlformats.org/officeDocument/2006/math">
                    <m:oMathParaPr>
                      <m:jc m:val="left"/>
                    </m:oMathParaPr>
                    <m:oMath xmlns:m="http://schemas.openxmlformats.org/officeDocument/2006/math">
                      <m:m>
                        <m:mPr>
                          <m:mcs>
                            <m:mc>
                              <m:mcPr>
                                <m:count m:val="2"/>
                                <m:mcJc m:val="center"/>
                              </m:mcPr>
                            </m:mc>
                          </m:mcs>
                          <m:plcHide m:val="on"/>
                          <m:ctrlPr>
                            <a:rPr lang="zh-CN" altLang="en-US" sz="2800" b="1" i="1" smtClean="0">
                              <a:solidFill>
                                <a:srgbClr val="000000"/>
                              </a:solidFill>
                              <a:latin typeface="Cambria Math" panose="02040503050406030204" pitchFamily="18" charset="0"/>
                            </a:rPr>
                          </m:ctrlPr>
                        </m:mPr>
                        <m:mr>
                          <m:e>
                            <m:r>
                              <a:rPr lang="zh-CN" altLang="en-US" sz="2800" b="1" i="1">
                                <a:solidFill>
                                  <a:srgbClr val="000000"/>
                                </a:solidFill>
                                <a:latin typeface="Cambria Math" panose="02040503050406030204" pitchFamily="18" charset="0"/>
                              </a:rPr>
                              <m:t>证</m:t>
                            </m:r>
                          </m:e>
                          <m:e/>
                        </m:mr>
                      </m:m>
                      <m:r>
                        <a:rPr lang="zh-CN" altLang="en-US" sz="2800" b="1" i="1">
                          <a:solidFill>
                            <a:srgbClr val="000000"/>
                          </a:solidFill>
                          <a:latin typeface="Cambria Math" panose="02040503050406030204" pitchFamily="18" charset="0"/>
                        </a:rPr>
                        <m:t>设二维随机变量</m:t>
                      </m:r>
                      <m:d>
                        <m:dPr>
                          <m:begChr m:val="（"/>
                          <m:endChr m:val="）"/>
                          <m:ctrlPr>
                            <a:rPr lang="zh-CN" altLang="en-US" sz="2800" b="1" i="1">
                              <a:solidFill>
                                <a:srgbClr val="000000"/>
                              </a:solidFill>
                              <a:latin typeface="Cambria Math" panose="02040503050406030204" pitchFamily="18" charset="0"/>
                            </a:rPr>
                          </m:ctrlPr>
                        </m:dPr>
                        <m:e>
                          <m:r>
                            <a:rPr lang="zh-CN" altLang="en-US" sz="2800" b="1" i="1">
                              <a:solidFill>
                                <a:srgbClr val="000000"/>
                              </a:solidFill>
                              <a:latin typeface="Cambria Math" panose="02040503050406030204" pitchFamily="18" charset="0"/>
                            </a:rPr>
                            <m:t>𝑿</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𝒀</m:t>
                          </m:r>
                        </m:e>
                      </m:d>
                      <m:r>
                        <a:rPr lang="zh-CN" altLang="en-US" sz="2800" b="1" i="1">
                          <a:solidFill>
                            <a:srgbClr val="000000"/>
                          </a:solidFill>
                          <a:latin typeface="Cambria Math" panose="02040503050406030204" pitchFamily="18" charset="0"/>
                        </a:rPr>
                        <m:t>的概率密度</m:t>
                      </m:r>
                      <m:r>
                        <a:rPr lang="zh-CN" altLang="en-US" sz="2800" b="1" i="1">
                          <a:solidFill>
                            <a:srgbClr val="000000"/>
                          </a:solidFill>
                          <a:latin typeface="Cambria Math" panose="02040503050406030204" pitchFamily="18" charset="0"/>
                        </a:rPr>
                        <m:t>𝒇</m:t>
                      </m:r>
                      <m:d>
                        <m:dPr>
                          <m:ctrlPr>
                            <a:rPr lang="zh-CN" altLang="en-US" sz="2800" b="1" i="1">
                              <a:solidFill>
                                <a:srgbClr val="000000"/>
                              </a:solidFill>
                              <a:latin typeface="Cambria Math" panose="02040503050406030204" pitchFamily="18" charset="0"/>
                            </a:rPr>
                          </m:ctrlPr>
                        </m:dPr>
                        <m:e>
                          <m:r>
                            <a:rPr lang="zh-CN" altLang="en-US" sz="2800" b="1" i="1">
                              <a:solidFill>
                                <a:srgbClr val="000000"/>
                              </a:solidFill>
                              <a:latin typeface="Cambria Math" panose="02040503050406030204" pitchFamily="18" charset="0"/>
                            </a:rPr>
                            <m:t>𝒙</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𝒚</m:t>
                          </m:r>
                        </m:e>
                      </m:d>
                      <m:r>
                        <a:rPr lang="zh-CN" altLang="en-US" sz="2800" b="1" i="1">
                          <a:solidFill>
                            <a:srgbClr val="000000"/>
                          </a:solidFill>
                          <a:latin typeface="Cambria Math" panose="02040503050406030204" pitchFamily="18" charset="0"/>
                        </a:rPr>
                        <m:t>。</m:t>
                      </m:r>
                    </m:oMath>
                  </m:oMathPara>
                </a14:m>
                <a:endParaRPr lang="en-US" altLang="zh-CN" sz="2800" b="1" i="1" dirty="0">
                  <a:solidFill>
                    <a:srgbClr val="00000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zh-CN" altLang="en-US" sz="2800" b="1" i="1">
                          <a:solidFill>
                            <a:srgbClr val="000000"/>
                          </a:solidFill>
                          <a:latin typeface="Cambria Math" panose="02040503050406030204" pitchFamily="18" charset="0"/>
                        </a:rPr>
                        <m:t>其边缘概率密度为</m:t>
                      </m:r>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𝒇</m:t>
                          </m:r>
                        </m:e>
                        <m:sub>
                          <m:r>
                            <a:rPr lang="zh-CN" altLang="en-US" sz="2800" b="1" i="1">
                              <a:solidFill>
                                <a:srgbClr val="000000"/>
                              </a:solidFill>
                              <a:latin typeface="Cambria Math" panose="02040503050406030204" pitchFamily="18" charset="0"/>
                            </a:rPr>
                            <m:t>𝑿</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𝒙</m:t>
                      </m:r>
                      <m:r>
                        <a:rPr lang="zh-CN" altLang="en-US" sz="2800" b="1" i="1">
                          <a:solidFill>
                            <a:srgbClr val="000000"/>
                          </a:solidFill>
                          <a:latin typeface="Cambria Math" panose="02040503050406030204" pitchFamily="18" charset="0"/>
                        </a:rPr>
                        <m:t>),</m:t>
                      </m:r>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𝒇</m:t>
                          </m:r>
                        </m:e>
                        <m:sub>
                          <m:r>
                            <a:rPr lang="zh-CN" altLang="en-US" sz="2800" b="1" i="1">
                              <a:solidFill>
                                <a:srgbClr val="000000"/>
                              </a:solidFill>
                              <a:latin typeface="Cambria Math" panose="02040503050406030204" pitchFamily="18" charset="0"/>
                            </a:rPr>
                            <m:t>𝒀</m:t>
                          </m:r>
                        </m:sub>
                      </m:sSub>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𝒚</m:t>
                      </m:r>
                      <m:r>
                        <a:rPr lang="zh-CN" altLang="en-US" sz="2800" b="1"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于是有</m:t>
                      </m:r>
                    </m:oMath>
                  </m:oMathPara>
                </a14:m>
                <a:endParaRPr lang="zh-CN" altLang="en-US" sz="2800" b="1" dirty="0"/>
              </a:p>
            </p:txBody>
          </p:sp>
        </mc:Choice>
        <mc:Fallback>
          <p:sp>
            <p:nvSpPr>
              <p:cNvPr id="78865" name="Object 17"/>
              <p:cNvSpPr txBox="1">
                <a:spLocks noRot="1" noChangeAspect="1" noMove="1" noResize="1" noEditPoints="1" noAdjustHandles="1" noChangeArrowheads="1" noChangeShapeType="1" noTextEdit="1"/>
              </p:cNvSpPr>
              <p:nvPr/>
            </p:nvSpPr>
            <p:spPr bwMode="auto">
              <a:xfrm>
                <a:off x="1559496" y="1669959"/>
                <a:ext cx="7776864" cy="1050925"/>
              </a:xfrm>
              <a:prstGeom prst="rect">
                <a:avLst/>
              </a:prstGeom>
              <a:blipFill rotWithShape="1">
                <a:blip r:embed="rId1"/>
                <a:stretch>
                  <a:fillRect l="-7" t="-52" r="8" b="-2834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8866" name="Object 18"/>
              <p:cNvSpPr txBox="1"/>
              <p:nvPr/>
            </p:nvSpPr>
            <p:spPr bwMode="auto">
              <a:xfrm>
                <a:off x="2466443" y="2996952"/>
                <a:ext cx="6797909" cy="28844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200" b="1" i="1">
                          <a:solidFill>
                            <a:srgbClr val="000000"/>
                          </a:solidFill>
                          <a:latin typeface="Cambria Math" panose="02040503050406030204" pitchFamily="18" charset="0"/>
                        </a:rPr>
                        <m:t>𝑬</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𝑿</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𝒀</m:t>
                      </m:r>
                      <m:r>
                        <a:rPr lang="zh-CN" altLang="en-US" sz="2200" b="1" i="1">
                          <a:solidFill>
                            <a:srgbClr val="000000"/>
                          </a:solidFill>
                          <a:latin typeface="Cambria Math" panose="02040503050406030204" pitchFamily="18" charset="0"/>
                        </a:rPr>
                        <m:t>)=</m:t>
                      </m:r>
                      <m:nary>
                        <m:naryPr>
                          <m:limLoc m:val="undOvr"/>
                          <m:ctrlPr>
                            <a:rPr lang="zh-CN" altLang="en-US" sz="2200" b="1" i="1">
                              <a:solidFill>
                                <a:srgbClr val="000000"/>
                              </a:solidFill>
                              <a:latin typeface="Cambria Math" panose="02040503050406030204" pitchFamily="18" charset="0"/>
                            </a:rPr>
                          </m:ctrlPr>
                        </m:naryPr>
                        <m:sub>
                          <m:r>
                            <a:rPr lang="zh-CN" altLang="en-US" sz="2200" b="1" i="1">
                              <a:solidFill>
                                <a:srgbClr val="000000"/>
                              </a:solidFill>
                              <a:latin typeface="Cambria Math" panose="02040503050406030204" pitchFamily="18" charset="0"/>
                            </a:rPr>
                            <m:t>−∞</m:t>
                          </m:r>
                        </m:sub>
                        <m:sup>
                          <m:r>
                            <a:rPr lang="zh-CN" altLang="en-US" sz="2200" b="1" i="1">
                              <a:solidFill>
                                <a:srgbClr val="000000"/>
                              </a:solidFill>
                              <a:latin typeface="Cambria Math" panose="02040503050406030204" pitchFamily="18" charset="0"/>
                            </a:rPr>
                            <m:t>+∞</m:t>
                          </m:r>
                        </m:sup>
                        <m:e>
                          <m:nary>
                            <m:naryPr>
                              <m:limLoc m:val="undOvr"/>
                              <m:ctrlPr>
                                <a:rPr lang="zh-CN" altLang="en-US" sz="2200" b="1" i="1">
                                  <a:solidFill>
                                    <a:srgbClr val="000000"/>
                                  </a:solidFill>
                                  <a:latin typeface="Cambria Math" panose="02040503050406030204" pitchFamily="18" charset="0"/>
                                </a:rPr>
                              </m:ctrlPr>
                            </m:naryPr>
                            <m:sub>
                              <m:r>
                                <a:rPr lang="zh-CN" altLang="en-US" sz="2200" b="1" i="1">
                                  <a:solidFill>
                                    <a:srgbClr val="000000"/>
                                  </a:solidFill>
                                  <a:latin typeface="Cambria Math" panose="02040503050406030204" pitchFamily="18" charset="0"/>
                                </a:rPr>
                                <m:t>−∞</m:t>
                              </m:r>
                            </m:sub>
                            <m:sup>
                              <m:r>
                                <a:rPr lang="zh-CN" altLang="en-US" sz="2200" b="1" i="1">
                                  <a:solidFill>
                                    <a:srgbClr val="000000"/>
                                  </a:solidFill>
                                  <a:latin typeface="Cambria Math" panose="02040503050406030204" pitchFamily="18" charset="0"/>
                                </a:rPr>
                                <m:t>+∞</m:t>
                              </m:r>
                            </m:sup>
                            <m:e>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𝒙</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𝒚</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𝒇</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𝒙</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𝒚</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𝒅𝒙𝒅𝒚</m:t>
                              </m:r>
                            </m:e>
                          </m:nary>
                        </m:e>
                      </m:nary>
                    </m:oMath>
                    <m:oMath xmlns:m="http://schemas.openxmlformats.org/officeDocument/2006/math">
                      <m:r>
                        <a:rPr lang="zh-CN" altLang="en-US" sz="2200" b="1" i="1">
                          <a:solidFill>
                            <a:srgbClr val="000000"/>
                          </a:solidFill>
                          <a:latin typeface="Cambria Math" panose="02040503050406030204" pitchFamily="18" charset="0"/>
                        </a:rPr>
                        <m:t>=</m:t>
                      </m:r>
                      <m:nary>
                        <m:naryPr>
                          <m:limLoc m:val="undOvr"/>
                          <m:ctrlPr>
                            <a:rPr lang="zh-CN" altLang="en-US" sz="2200" b="1" i="1">
                              <a:solidFill>
                                <a:srgbClr val="000000"/>
                              </a:solidFill>
                              <a:latin typeface="Cambria Math" panose="02040503050406030204" pitchFamily="18" charset="0"/>
                            </a:rPr>
                          </m:ctrlPr>
                        </m:naryPr>
                        <m:sub>
                          <m:r>
                            <a:rPr lang="zh-CN" altLang="en-US" sz="2200" b="1" i="1">
                              <a:solidFill>
                                <a:srgbClr val="000000"/>
                              </a:solidFill>
                              <a:latin typeface="Cambria Math" panose="02040503050406030204" pitchFamily="18" charset="0"/>
                            </a:rPr>
                            <m:t>−∞</m:t>
                          </m:r>
                        </m:sub>
                        <m:sup>
                          <m:r>
                            <a:rPr lang="zh-CN" altLang="en-US" sz="2200" b="1" i="1">
                              <a:solidFill>
                                <a:srgbClr val="000000"/>
                              </a:solidFill>
                              <a:latin typeface="Cambria Math" panose="02040503050406030204" pitchFamily="18" charset="0"/>
                            </a:rPr>
                            <m:t>+∞</m:t>
                          </m:r>
                        </m:sup>
                        <m:e>
                          <m:nary>
                            <m:naryPr>
                              <m:limLoc m:val="undOvr"/>
                              <m:ctrlPr>
                                <a:rPr lang="zh-CN" altLang="en-US" sz="2200" b="1" i="1">
                                  <a:solidFill>
                                    <a:srgbClr val="000000"/>
                                  </a:solidFill>
                                  <a:latin typeface="Cambria Math" panose="02040503050406030204" pitchFamily="18" charset="0"/>
                                </a:rPr>
                              </m:ctrlPr>
                            </m:naryPr>
                            <m:sub>
                              <m:r>
                                <a:rPr lang="zh-CN" altLang="en-US" sz="2200" b="1" i="1">
                                  <a:solidFill>
                                    <a:srgbClr val="000000"/>
                                  </a:solidFill>
                                  <a:latin typeface="Cambria Math" panose="02040503050406030204" pitchFamily="18" charset="0"/>
                                </a:rPr>
                                <m:t>−∞</m:t>
                              </m:r>
                            </m:sub>
                            <m:sup>
                              <m:r>
                                <a:rPr lang="zh-CN" altLang="en-US" sz="2200" b="1" i="1">
                                  <a:solidFill>
                                    <a:srgbClr val="000000"/>
                                  </a:solidFill>
                                  <a:latin typeface="Cambria Math" panose="02040503050406030204" pitchFamily="18" charset="0"/>
                                </a:rPr>
                                <m:t>+∞</m:t>
                              </m:r>
                            </m:sup>
                            <m:e>
                              <m:r>
                                <a:rPr lang="zh-CN" altLang="en-US" sz="2200" b="1" i="1">
                                  <a:solidFill>
                                    <a:srgbClr val="000000"/>
                                  </a:solidFill>
                                  <a:latin typeface="Cambria Math" panose="02040503050406030204" pitchFamily="18" charset="0"/>
                                </a:rPr>
                                <m:t>𝒙𝒇</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𝒙</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𝒚</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𝒅𝒙𝒅𝒚</m:t>
                              </m:r>
                            </m:e>
                          </m:nary>
                        </m:e>
                      </m:nary>
                      <m:r>
                        <a:rPr lang="zh-CN" altLang="en-US" sz="2200" b="1" i="1">
                          <a:solidFill>
                            <a:srgbClr val="000000"/>
                          </a:solidFill>
                          <a:latin typeface="Cambria Math" panose="02040503050406030204" pitchFamily="18" charset="0"/>
                        </a:rPr>
                        <m:t>+</m:t>
                      </m:r>
                      <m:nary>
                        <m:naryPr>
                          <m:limLoc m:val="undOvr"/>
                          <m:ctrlPr>
                            <a:rPr lang="zh-CN" altLang="en-US" sz="2200" b="1" i="1">
                              <a:solidFill>
                                <a:srgbClr val="000000"/>
                              </a:solidFill>
                              <a:latin typeface="Cambria Math" panose="02040503050406030204" pitchFamily="18" charset="0"/>
                            </a:rPr>
                          </m:ctrlPr>
                        </m:naryPr>
                        <m:sub>
                          <m:r>
                            <a:rPr lang="zh-CN" altLang="en-US" sz="2200" b="1" i="1">
                              <a:solidFill>
                                <a:srgbClr val="000000"/>
                              </a:solidFill>
                              <a:latin typeface="Cambria Math" panose="02040503050406030204" pitchFamily="18" charset="0"/>
                            </a:rPr>
                            <m:t>−∞</m:t>
                          </m:r>
                        </m:sub>
                        <m:sup>
                          <m:r>
                            <a:rPr lang="zh-CN" altLang="en-US" sz="2200" b="1" i="1">
                              <a:solidFill>
                                <a:srgbClr val="000000"/>
                              </a:solidFill>
                              <a:latin typeface="Cambria Math" panose="02040503050406030204" pitchFamily="18" charset="0"/>
                            </a:rPr>
                            <m:t>+∞</m:t>
                          </m:r>
                        </m:sup>
                        <m:e>
                          <m:nary>
                            <m:naryPr>
                              <m:limLoc m:val="undOvr"/>
                              <m:ctrlPr>
                                <a:rPr lang="zh-CN" altLang="en-US" sz="2200" b="1" i="1">
                                  <a:solidFill>
                                    <a:srgbClr val="000000"/>
                                  </a:solidFill>
                                  <a:latin typeface="Cambria Math" panose="02040503050406030204" pitchFamily="18" charset="0"/>
                                </a:rPr>
                              </m:ctrlPr>
                            </m:naryPr>
                            <m:sub>
                              <m:r>
                                <a:rPr lang="zh-CN" altLang="en-US" sz="2200" b="1" i="1">
                                  <a:solidFill>
                                    <a:srgbClr val="000000"/>
                                  </a:solidFill>
                                  <a:latin typeface="Cambria Math" panose="02040503050406030204" pitchFamily="18" charset="0"/>
                                </a:rPr>
                                <m:t>−∞</m:t>
                              </m:r>
                            </m:sub>
                            <m:sup>
                              <m:r>
                                <a:rPr lang="zh-CN" altLang="en-US" sz="2200" b="1" i="1">
                                  <a:solidFill>
                                    <a:srgbClr val="000000"/>
                                  </a:solidFill>
                                  <a:latin typeface="Cambria Math" panose="02040503050406030204" pitchFamily="18" charset="0"/>
                                </a:rPr>
                                <m:t>+∞</m:t>
                              </m:r>
                            </m:sup>
                            <m:e>
                              <m:r>
                                <a:rPr lang="zh-CN" altLang="en-US" sz="2200" b="1" i="1">
                                  <a:solidFill>
                                    <a:srgbClr val="000000"/>
                                  </a:solidFill>
                                  <a:latin typeface="Cambria Math" panose="02040503050406030204" pitchFamily="18" charset="0"/>
                                </a:rPr>
                                <m:t>𝒚𝒇</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𝒙</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𝒚</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𝒅𝒙𝒅𝒚</m:t>
                              </m:r>
                            </m:e>
                          </m:nary>
                        </m:e>
                      </m:nary>
                    </m:oMath>
                    <m:oMath xmlns:m="http://schemas.openxmlformats.org/officeDocument/2006/math">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𝑬</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𝑿</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𝑬</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𝒀</m:t>
                      </m:r>
                      <m:r>
                        <a:rPr lang="zh-CN" altLang="en-US" sz="2200" b="1" i="1">
                          <a:solidFill>
                            <a:srgbClr val="000000"/>
                          </a:solidFill>
                          <a:latin typeface="Cambria Math" panose="02040503050406030204" pitchFamily="18" charset="0"/>
                        </a:rPr>
                        <m:t>)</m:t>
                      </m:r>
                      <m:m>
                        <m:mPr>
                          <m:mcs>
                            <m:mc>
                              <m:mcPr>
                                <m:count m:val="3"/>
                                <m:mcJc m:val="center"/>
                              </m:mcPr>
                            </m:mc>
                          </m:mcs>
                          <m:plcHide m:val="on"/>
                          <m:ctrlPr>
                            <a:rPr lang="zh-CN" altLang="en-US" sz="2200" b="1" i="1">
                              <a:solidFill>
                                <a:srgbClr val="000000"/>
                              </a:solidFill>
                              <a:latin typeface="Cambria Math" panose="02040503050406030204" pitchFamily="18" charset="0"/>
                            </a:rPr>
                          </m:ctrlPr>
                        </m:mPr>
                        <m:mr>
                          <m:e>
                            <m:m>
                              <m:mPr>
                                <m:mcs>
                                  <m:mc>
                                    <m:mcPr>
                                      <m:count m:val="2"/>
                                      <m:mcJc m:val="center"/>
                                    </m:mcPr>
                                  </m:mc>
                                </m:mcs>
                                <m:plcHide m:val="on"/>
                                <m:ctrlPr>
                                  <a:rPr lang="zh-CN" altLang="en-US" sz="2200" b="1" i="1">
                                    <a:solidFill>
                                      <a:srgbClr val="000000"/>
                                    </a:solidFill>
                                    <a:latin typeface="Cambria Math" panose="02040503050406030204" pitchFamily="18" charset="0"/>
                                  </a:rPr>
                                </m:ctrlPr>
                              </m:mPr>
                              <m:mr>
                                <m:e/>
                                <m:e/>
                              </m:mr>
                            </m:m>
                          </m:e>
                          <m:e/>
                          <m:e/>
                        </m:mr>
                      </m:m>
                      <m:m>
                        <m:mPr>
                          <m:mcs>
                            <m:mc>
                              <m:mcPr>
                                <m:count m:val="2"/>
                                <m:mcJc m:val="center"/>
                              </m:mcPr>
                            </m:mc>
                          </m:mcs>
                          <m:plcHide m:val="on"/>
                          <m:ctrlPr>
                            <a:rPr lang="zh-CN" altLang="en-US" sz="2200" b="1" i="1">
                              <a:solidFill>
                                <a:srgbClr val="000000"/>
                              </a:solidFill>
                              <a:latin typeface="Cambria Math" panose="02040503050406030204" pitchFamily="18" charset="0"/>
                            </a:rPr>
                          </m:ctrlPr>
                        </m:mPr>
                        <m:mr>
                          <m:e/>
                          <m:e/>
                        </m:mr>
                      </m:m>
                    </m:oMath>
                  </m:oMathPara>
                </a14:m>
                <a:endParaRPr lang="zh-CN" altLang="en-US" sz="2200" b="1" dirty="0"/>
              </a:p>
            </p:txBody>
          </p:sp>
        </mc:Choice>
        <mc:Fallback>
          <p:sp>
            <p:nvSpPr>
              <p:cNvPr id="78866" name="Object 18"/>
              <p:cNvSpPr txBox="1">
                <a:spLocks noRot="1" noChangeAspect="1" noMove="1" noResize="1" noEditPoints="1" noAdjustHandles="1" noChangeArrowheads="1" noChangeShapeType="1" noTextEdit="1"/>
              </p:cNvSpPr>
              <p:nvPr/>
            </p:nvSpPr>
            <p:spPr bwMode="auto">
              <a:xfrm>
                <a:off x="2466443" y="2996952"/>
                <a:ext cx="6797909" cy="2884488"/>
              </a:xfrm>
              <a:prstGeom prst="rect">
                <a:avLst/>
              </a:prstGeom>
              <a:blipFill rotWithShape="1">
                <a:blip r:embed="rId2"/>
                <a:stretch>
                  <a:fillRect l="-2" t="-13" r="5" b="2"/>
                </a:stretch>
              </a:blipFill>
              <a:ln>
                <a:noFill/>
              </a:ln>
              <a:effectLst/>
            </p:spPr>
            <p:txBody>
              <a:bodyPr/>
              <a:lstStyle/>
              <a:p>
                <a:r>
                  <a:rPr lang="zh-CN" altLang="en-US">
                    <a:noFill/>
                  </a:rPr>
                  <a:t> </a:t>
                </a:r>
              </a:p>
            </p:txBody>
          </p:sp>
        </mc:Fallback>
      </mc:AlternateContent>
      <p:sp>
        <p:nvSpPr>
          <p:cNvPr id="5" name="Rectangle 23"/>
          <p:cNvSpPr>
            <a:spLocks noChangeArrowheads="1"/>
          </p:cNvSpPr>
          <p:nvPr/>
        </p:nvSpPr>
        <p:spPr bwMode="auto">
          <a:xfrm>
            <a:off x="1349273" y="1147484"/>
            <a:ext cx="597086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3.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6" name="直接连接符 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1406163" y="255069"/>
            <a:ext cx="3669576"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 四、数学期望的性质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2" name="Rectangle 23"/>
          <p:cNvSpPr>
            <a:spLocks noChangeArrowheads="1"/>
          </p:cNvSpPr>
          <p:nvPr/>
        </p:nvSpPr>
        <p:spPr bwMode="auto">
          <a:xfrm>
            <a:off x="1406163" y="5619830"/>
            <a:ext cx="245758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3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得证。</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865"/>
                                        </p:tgtEl>
                                        <p:attrNameLst>
                                          <p:attrName>style.visibility</p:attrName>
                                        </p:attrNameLst>
                                      </p:cBhvr>
                                      <p:to>
                                        <p:strVal val="visible"/>
                                      </p:to>
                                    </p:set>
                                    <p:anim calcmode="lin" valueType="num">
                                      <p:cBhvr additive="base">
                                        <p:cTn id="13" dur="500" fill="hold"/>
                                        <p:tgtEl>
                                          <p:spTgt spid="78865"/>
                                        </p:tgtEl>
                                        <p:attrNameLst>
                                          <p:attrName>ppt_x</p:attrName>
                                        </p:attrNameLst>
                                      </p:cBhvr>
                                      <p:tavLst>
                                        <p:tav tm="0">
                                          <p:val>
                                            <p:strVal val="0-#ppt_w/2"/>
                                          </p:val>
                                        </p:tav>
                                        <p:tav tm="100000">
                                          <p:val>
                                            <p:strVal val="#ppt_x"/>
                                          </p:val>
                                        </p:tav>
                                      </p:tavLst>
                                    </p:anim>
                                    <p:anim calcmode="lin" valueType="num">
                                      <p:cBhvr additive="base">
                                        <p:cTn id="14" dur="500" fill="hold"/>
                                        <p:tgtEl>
                                          <p:spTgt spid="7886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8866"/>
                                        </p:tgtEl>
                                        <p:attrNameLst>
                                          <p:attrName>style.visibility</p:attrName>
                                        </p:attrNameLst>
                                      </p:cBhvr>
                                      <p:to>
                                        <p:strVal val="visible"/>
                                      </p:to>
                                    </p:set>
                                    <p:anim calcmode="lin" valueType="num">
                                      <p:cBhvr additive="base">
                                        <p:cTn id="19" dur="500" fill="hold"/>
                                        <p:tgtEl>
                                          <p:spTgt spid="78866"/>
                                        </p:tgtEl>
                                        <p:attrNameLst>
                                          <p:attrName>ppt_x</p:attrName>
                                        </p:attrNameLst>
                                      </p:cBhvr>
                                      <p:tavLst>
                                        <p:tav tm="0">
                                          <p:val>
                                            <p:strVal val="0-#ppt_w/2"/>
                                          </p:val>
                                        </p:tav>
                                        <p:tav tm="100000">
                                          <p:val>
                                            <p:strVal val="#ppt_x"/>
                                          </p:val>
                                        </p:tav>
                                      </p:tavLst>
                                    </p:anim>
                                    <p:anim calcmode="lin" valueType="num">
                                      <p:cBhvr additive="base">
                                        <p:cTn id="20" dur="500" fill="hold"/>
                                        <p:tgtEl>
                                          <p:spTgt spid="7886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5" grpId="0" bldLvl="0" animBg="1"/>
      <p:bldP spid="78866" grpId="0" bldLvl="0" animBg="1"/>
      <p:bldP spid="5" grpId="0" bldLvl="0" animBg="1" autoUpdateAnimBg="0"/>
      <p:bldP spid="1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92" name="Object 20"/>
          <p:cNvGraphicFramePr>
            <a:graphicFrameLocks noChangeAspect="1"/>
          </p:cNvGraphicFramePr>
          <p:nvPr/>
        </p:nvGraphicFramePr>
        <p:xfrm>
          <a:off x="2009767" y="1890531"/>
          <a:ext cx="3065972" cy="526480"/>
        </p:xfrm>
        <a:graphic>
          <a:graphicData uri="http://schemas.openxmlformats.org/presentationml/2006/ole">
            <mc:AlternateContent xmlns:mc="http://schemas.openxmlformats.org/markup-compatibility/2006">
              <mc:Choice xmlns:v="urn:schemas-microsoft-com:vml" Requires="v">
                <p:oleObj spid="_x0000_s140304" name="Equation" r:id="rId1" imgW="30175200" imgH="5181600" progId="Equation.DSMT4">
                  <p:embed/>
                </p:oleObj>
              </mc:Choice>
              <mc:Fallback>
                <p:oleObj name="Equation" r:id="rId1" imgW="30175200" imgH="5181600" progId="Equation.DSMT4">
                  <p:embed/>
                  <p:pic>
                    <p:nvPicPr>
                      <p:cNvPr id="0" name="Object 20"/>
                      <p:cNvPicPr>
                        <a:picLocks noChangeAspect="1" noChangeArrowheads="1"/>
                      </p:cNvPicPr>
                      <p:nvPr/>
                    </p:nvPicPr>
                    <p:blipFill>
                      <a:blip r:embed="rId2"/>
                      <a:srcRect/>
                      <a:stretch>
                        <a:fillRect/>
                      </a:stretch>
                    </p:blipFill>
                    <p:spPr bwMode="auto">
                      <a:xfrm>
                        <a:off x="2009767" y="1890531"/>
                        <a:ext cx="3065972" cy="526480"/>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79893" name="Object 21"/>
              <p:cNvSpPr txBox="1"/>
              <p:nvPr/>
            </p:nvSpPr>
            <p:spPr bwMode="auto">
              <a:xfrm>
                <a:off x="1703388" y="2636838"/>
                <a:ext cx="7835900" cy="229235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𝑋𝑌</m:t>
                      </m:r>
                      <m:r>
                        <a:rPr lang="zh-CN" altLang="en-US" sz="2400" i="1">
                          <a:solidFill>
                            <a:srgbClr val="000000"/>
                          </a:solidFill>
                          <a:latin typeface="Cambria Math" panose="02040503050406030204" pitchFamily="18" charset="0"/>
                        </a:rPr>
                        <m:t>)=</m:t>
                      </m:r>
                      <m:nary>
                        <m:naryPr>
                          <m:limLoc m:val="undOv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m:t>
                          </m:r>
                        </m:sub>
                        <m:sup>
                          <m:r>
                            <a:rPr lang="zh-CN" altLang="en-US" sz="2400" i="1">
                              <a:solidFill>
                                <a:srgbClr val="000000"/>
                              </a:solidFill>
                              <a:latin typeface="Cambria Math" panose="02040503050406030204" pitchFamily="18" charset="0"/>
                            </a:rPr>
                            <m:t>+∞</m:t>
                          </m:r>
                        </m:sup>
                        <m:e>
                          <m:nary>
                            <m:naryPr>
                              <m:limLoc m:val="undOv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m:t>
                              </m:r>
                            </m:sub>
                            <m:sup>
                              <m:r>
                                <a:rPr lang="zh-CN" altLang="en-US" sz="2400" i="1">
                                  <a:solidFill>
                                    <a:srgbClr val="000000"/>
                                  </a:solidFill>
                                  <a:latin typeface="Cambria Math" panose="02040503050406030204" pitchFamily="18" charset="0"/>
                                </a:rPr>
                                <m:t>+∞</m:t>
                              </m:r>
                            </m:sup>
                            <m:e>
                              <m:r>
                                <a:rPr lang="zh-CN" altLang="en-US" sz="2400" i="1">
                                  <a:solidFill>
                                    <a:srgbClr val="000000"/>
                                  </a:solidFill>
                                  <a:latin typeface="Cambria Math" panose="02040503050406030204" pitchFamily="18" charset="0"/>
                                </a:rPr>
                                <m:t>𝑥𝑦𝑓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𝑑𝑥𝑑𝑦</m:t>
                              </m:r>
                            </m:e>
                          </m:nary>
                        </m:e>
                      </m:nary>
                    </m:oMath>
                    <m:oMath xmlns:m="http://schemas.openxmlformats.org/officeDocument/2006/math">
                      <m:r>
                        <a:rPr lang="zh-CN" altLang="en-US" sz="2400" i="1">
                          <a:solidFill>
                            <a:srgbClr val="000000"/>
                          </a:solidFill>
                          <a:latin typeface="Cambria Math" panose="02040503050406030204" pitchFamily="18" charset="0"/>
                        </a:rPr>
                        <m:t>=</m:t>
                      </m:r>
                      <m:nary>
                        <m:naryPr>
                          <m:limLoc m:val="undOv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m:t>
                          </m:r>
                        </m:sub>
                        <m:sup>
                          <m:r>
                            <a:rPr lang="zh-CN" altLang="en-US" sz="2400" i="1">
                              <a:solidFill>
                                <a:srgbClr val="000000"/>
                              </a:solidFill>
                              <a:latin typeface="Cambria Math" panose="02040503050406030204" pitchFamily="18" charset="0"/>
                            </a:rPr>
                            <m:t>+∞</m:t>
                          </m:r>
                        </m:sup>
                        <m:e>
                          <m:nary>
                            <m:naryPr>
                              <m:limLoc m:val="undOv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m:t>
                              </m:r>
                            </m:sub>
                            <m:sup>
                              <m:r>
                                <a:rPr lang="zh-CN" altLang="en-US" sz="2400" i="1">
                                  <a:solidFill>
                                    <a:srgbClr val="000000"/>
                                  </a:solidFill>
                                  <a:latin typeface="Cambria Math" panose="02040503050406030204" pitchFamily="18" charset="0"/>
                                </a:rPr>
                                <m:t>+∞</m:t>
                              </m:r>
                            </m:sup>
                            <m:e>
                              <m:r>
                                <a:rPr lang="zh-CN" altLang="en-US" sz="2400" i="1">
                                  <a:solidFill>
                                    <a:srgbClr val="000000"/>
                                  </a:solidFill>
                                  <a:latin typeface="Cambria Math" panose="02040503050406030204" pitchFamily="18" charset="0"/>
                                </a:rPr>
                                <m:t>𝑥𝑦</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𝑓</m:t>
                                  </m:r>
                                </m:e>
                                <m:sub>
                                  <m:r>
                                    <a:rPr lang="zh-CN" altLang="en-US" sz="2400" i="1">
                                      <a:solidFill>
                                        <a:srgbClr val="000000"/>
                                      </a:solidFill>
                                      <a:latin typeface="Cambria Math" panose="02040503050406030204" pitchFamily="18" charset="0"/>
                                    </a:rPr>
                                    <m:t>𝑋</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𝑓</m:t>
                                  </m:r>
                                </m:e>
                                <m:sub>
                                  <m:r>
                                    <a:rPr lang="zh-CN" altLang="en-US" sz="2400" i="1">
                                      <a:solidFill>
                                        <a:srgbClr val="000000"/>
                                      </a:solidFill>
                                      <a:latin typeface="Cambria Math" panose="02040503050406030204" pitchFamily="18" charset="0"/>
                                    </a:rPr>
                                    <m:t>𝑦</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𝑑𝑥𝑑𝑦</m:t>
                              </m:r>
                              <m:r>
                                <a:rPr lang="zh-CN" altLang="en-US" sz="2400" i="1">
                                  <a:solidFill>
                                    <a:srgbClr val="000000"/>
                                  </a:solidFill>
                                  <a:latin typeface="Cambria Math" panose="02040503050406030204" pitchFamily="18" charset="0"/>
                                </a:rPr>
                                <m:t>=</m:t>
                              </m:r>
                            </m:e>
                          </m:nary>
                        </m:e>
                      </m:nary>
                      <m:r>
                        <a:rPr lang="zh-CN" altLang="en-US" sz="2400" i="1">
                          <a:solidFill>
                            <a:srgbClr val="000000"/>
                          </a:solidFill>
                          <a:latin typeface="Cambria Math" panose="02040503050406030204" pitchFamily="18" charset="0"/>
                        </a:rPr>
                        <m:t>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𝑌</m:t>
                      </m:r>
                      <m:r>
                        <a:rPr lang="zh-CN" altLang="en-US" sz="2400" i="1">
                          <a:solidFill>
                            <a:srgbClr val="000000"/>
                          </a:solidFill>
                          <a:latin typeface="Cambria Math" panose="02040503050406030204" pitchFamily="18" charset="0"/>
                        </a:rPr>
                        <m:t>)     </m:t>
                      </m:r>
                    </m:oMath>
                  </m:oMathPara>
                </a14:m>
                <a:endParaRPr lang="zh-CN" altLang="en-US" sz="2400" dirty="0"/>
              </a:p>
            </p:txBody>
          </p:sp>
        </mc:Choice>
        <mc:Fallback>
          <p:sp>
            <p:nvSpPr>
              <p:cNvPr id="79893" name="Object 21"/>
              <p:cNvSpPr txBox="1">
                <a:spLocks noRot="1" noChangeAspect="1" noMove="1" noResize="1" noEditPoints="1" noAdjustHandles="1" noChangeArrowheads="1" noChangeShapeType="1" noTextEdit="1"/>
              </p:cNvSpPr>
              <p:nvPr/>
            </p:nvSpPr>
            <p:spPr bwMode="auto">
              <a:xfrm>
                <a:off x="1703388" y="2636838"/>
                <a:ext cx="7835900" cy="2292350"/>
              </a:xfrm>
              <a:prstGeom prst="rect">
                <a:avLst/>
              </a:prstGeom>
              <a:blipFill rotWithShape="1">
                <a:blip r:embed="rId3"/>
                <a:stretch>
                  <a:fillRect l="-4" t="-14" r="4" b="14"/>
                </a:stretch>
              </a:blipFill>
              <a:ln>
                <a:noFill/>
              </a:ln>
              <a:effectLst/>
            </p:spPr>
            <p:txBody>
              <a:bodyPr/>
              <a:lstStyle/>
              <a:p>
                <a:r>
                  <a:rPr lang="zh-CN" altLang="en-US">
                    <a:noFill/>
                  </a:rPr>
                  <a:t> </a:t>
                </a:r>
              </a:p>
            </p:txBody>
          </p:sp>
        </mc:Fallback>
      </mc:AlternateContent>
      <p:sp>
        <p:nvSpPr>
          <p:cNvPr id="5" name="Rectangle 23"/>
          <p:cNvSpPr>
            <a:spLocks noChangeArrowheads="1"/>
          </p:cNvSpPr>
          <p:nvPr/>
        </p:nvSpPr>
        <p:spPr bwMode="auto">
          <a:xfrm>
            <a:off x="1349273" y="1147484"/>
            <a:ext cx="870716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4.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相互独立，则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6" name="直接连接符 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1406163" y="255069"/>
            <a:ext cx="3669576"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 四、数学期望的性质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1" name="Rectangle 23"/>
          <p:cNvSpPr>
            <a:spLocks noChangeArrowheads="1"/>
          </p:cNvSpPr>
          <p:nvPr/>
        </p:nvSpPr>
        <p:spPr bwMode="auto">
          <a:xfrm>
            <a:off x="1406163" y="5187296"/>
            <a:ext cx="267361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4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得证。</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9892"/>
                                        </p:tgtEl>
                                        <p:attrNameLst>
                                          <p:attrName>style.visibility</p:attrName>
                                        </p:attrNameLst>
                                      </p:cBhvr>
                                      <p:to>
                                        <p:strVal val="visible"/>
                                      </p:to>
                                    </p:set>
                                    <p:anim calcmode="lin" valueType="num">
                                      <p:cBhvr additive="base">
                                        <p:cTn id="13" dur="500" fill="hold"/>
                                        <p:tgtEl>
                                          <p:spTgt spid="79892"/>
                                        </p:tgtEl>
                                        <p:attrNameLst>
                                          <p:attrName>ppt_x</p:attrName>
                                        </p:attrNameLst>
                                      </p:cBhvr>
                                      <p:tavLst>
                                        <p:tav tm="0">
                                          <p:val>
                                            <p:strVal val="0-#ppt_w/2"/>
                                          </p:val>
                                        </p:tav>
                                        <p:tav tm="100000">
                                          <p:val>
                                            <p:strVal val="#ppt_x"/>
                                          </p:val>
                                        </p:tav>
                                      </p:tavLst>
                                    </p:anim>
                                    <p:anim calcmode="lin" valueType="num">
                                      <p:cBhvr additive="base">
                                        <p:cTn id="14" dur="500" fill="hold"/>
                                        <p:tgtEl>
                                          <p:spTgt spid="7989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9893"/>
                                        </p:tgtEl>
                                        <p:attrNameLst>
                                          <p:attrName>style.visibility</p:attrName>
                                        </p:attrNameLst>
                                      </p:cBhvr>
                                      <p:to>
                                        <p:strVal val="visible"/>
                                      </p:to>
                                    </p:set>
                                    <p:anim calcmode="lin" valueType="num">
                                      <p:cBhvr additive="base">
                                        <p:cTn id="19" dur="500" fill="hold"/>
                                        <p:tgtEl>
                                          <p:spTgt spid="79893"/>
                                        </p:tgtEl>
                                        <p:attrNameLst>
                                          <p:attrName>ppt_x</p:attrName>
                                        </p:attrNameLst>
                                      </p:cBhvr>
                                      <p:tavLst>
                                        <p:tav tm="0">
                                          <p:val>
                                            <p:strVal val="0-#ppt_w/2"/>
                                          </p:val>
                                        </p:tav>
                                        <p:tav tm="100000">
                                          <p:val>
                                            <p:strVal val="#ppt_x"/>
                                          </p:val>
                                        </p:tav>
                                      </p:tavLst>
                                    </p:anim>
                                    <p:anim calcmode="lin" valueType="num">
                                      <p:cBhvr additive="base">
                                        <p:cTn id="20" dur="500" fill="hold"/>
                                        <p:tgtEl>
                                          <p:spTgt spid="7989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0-#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93" grpId="0" bldLvl="0" animBg="1"/>
      <p:bldP spid="5" grpId="0" bldLvl="0" animBg="1"/>
      <p:bldP spid="11"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79676" y="2261758"/>
            <a:ext cx="5040000" cy="1754326"/>
          </a:xfrm>
          <a:prstGeom prst="rect">
            <a:avLst/>
          </a:prstGeom>
          <a:noFill/>
        </p:spPr>
        <p:txBody>
          <a:bodyPr wrap="square" rtlCol="0">
            <a:spAutoFit/>
          </a:bodyPr>
          <a:lstStyle/>
          <a:p>
            <a:pPr algn="ct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数学期望性质的应用</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05</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6" name="Rectangle 10"/>
          <p:cNvSpPr>
            <a:spLocks noChangeArrowheads="1"/>
          </p:cNvSpPr>
          <p:nvPr/>
        </p:nvSpPr>
        <p:spPr bwMode="auto">
          <a:xfrm>
            <a:off x="1271464" y="1407669"/>
            <a:ext cx="476284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8</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求二项分布的数学期望</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6027" name="Rectangle 11"/>
          <p:cNvSpPr>
            <a:spLocks noChangeArrowheads="1"/>
          </p:cNvSpPr>
          <p:nvPr/>
        </p:nvSpPr>
        <p:spPr bwMode="auto">
          <a:xfrm>
            <a:off x="1862756" y="2278212"/>
            <a:ext cx="935865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，则</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表示</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重贝努里试验中的“成功”次数。</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6029" name="Rectangle 13"/>
          <p:cNvSpPr>
            <a:spLocks noChangeArrowheads="1"/>
          </p:cNvSpPr>
          <p:nvPr/>
        </p:nvSpPr>
        <p:spPr bwMode="auto">
          <a:xfrm>
            <a:off x="1121012" y="3284984"/>
            <a:ext cx="4732386"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现在我们来求</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的数学期望。</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五、数学期望性质的应用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2" name="Rectangle 6"/>
          <p:cNvSpPr>
            <a:spLocks noChangeArrowheads="1"/>
          </p:cNvSpPr>
          <p:nvPr/>
        </p:nvSpPr>
        <p:spPr bwMode="auto">
          <a:xfrm>
            <a:off x="2058364" y="4276747"/>
            <a:ext cx="90281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若设</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Rectangle 7"/>
          <p:cNvSpPr>
            <a:spLocks noChangeArrowheads="1"/>
          </p:cNvSpPr>
          <p:nvPr/>
        </p:nvSpPr>
        <p:spPr bwMode="auto">
          <a:xfrm>
            <a:off x="1204132" y="5148351"/>
            <a:ext cx="359104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4" name="Object 9"/>
          <p:cNvGraphicFramePr>
            <a:graphicFrameLocks noChangeAspect="1"/>
          </p:cNvGraphicFramePr>
          <p:nvPr/>
        </p:nvGraphicFramePr>
        <p:xfrm>
          <a:off x="2999656" y="4006599"/>
          <a:ext cx="4267200" cy="1155700"/>
        </p:xfrm>
        <a:graphic>
          <a:graphicData uri="http://schemas.openxmlformats.org/presentationml/2006/ole">
            <mc:AlternateContent xmlns:mc="http://schemas.openxmlformats.org/markup-compatibility/2006">
              <mc:Choice xmlns:v="urn:schemas-microsoft-com:vml" Requires="v">
                <p:oleObj spid="_x0000_s141328" name="Equation" r:id="rId1" imgW="42672000" imgH="11582400" progId="Equation.DSMT4">
                  <p:embed/>
                </p:oleObj>
              </mc:Choice>
              <mc:Fallback>
                <p:oleObj name="Equation" r:id="rId1" imgW="42672000" imgH="11582400" progId="Equation.DSMT4">
                  <p:embed/>
                  <p:pic>
                    <p:nvPicPr>
                      <p:cNvPr id="0" name="Object 9"/>
                      <p:cNvPicPr>
                        <a:picLocks noChangeAspect="1" noChangeArrowheads="1"/>
                      </p:cNvPicPr>
                      <p:nvPr/>
                    </p:nvPicPr>
                    <p:blipFill>
                      <a:blip r:embed="rId2"/>
                      <a:srcRect/>
                      <a:stretch>
                        <a:fillRect/>
                      </a:stretch>
                    </p:blipFill>
                    <p:spPr bwMode="auto">
                      <a:xfrm>
                        <a:off x="2999656" y="4006599"/>
                        <a:ext cx="4267200" cy="11557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10"/>
          <p:cNvSpPr>
            <a:spLocks noChangeArrowheads="1"/>
          </p:cNvSpPr>
          <p:nvPr/>
        </p:nvSpPr>
        <p:spPr bwMode="auto">
          <a:xfrm>
            <a:off x="7374575" y="4276747"/>
            <a:ext cx="221567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=1,2</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026"/>
                                        </p:tgtEl>
                                        <p:attrNameLst>
                                          <p:attrName>style.visibility</p:attrName>
                                        </p:attrNameLst>
                                      </p:cBhvr>
                                      <p:to>
                                        <p:strVal val="visible"/>
                                      </p:to>
                                    </p:set>
                                    <p:anim calcmode="lin" valueType="num">
                                      <p:cBhvr additive="base">
                                        <p:cTn id="7" dur="500" fill="hold"/>
                                        <p:tgtEl>
                                          <p:spTgt spid="86026"/>
                                        </p:tgtEl>
                                        <p:attrNameLst>
                                          <p:attrName>ppt_x</p:attrName>
                                        </p:attrNameLst>
                                      </p:cBhvr>
                                      <p:tavLst>
                                        <p:tav tm="0">
                                          <p:val>
                                            <p:strVal val="0-#ppt_w/2"/>
                                          </p:val>
                                        </p:tav>
                                        <p:tav tm="100000">
                                          <p:val>
                                            <p:strVal val="#ppt_x"/>
                                          </p:val>
                                        </p:tav>
                                      </p:tavLst>
                                    </p:anim>
                                    <p:anim calcmode="lin" valueType="num">
                                      <p:cBhvr additive="base">
                                        <p:cTn id="8" dur="500" fill="hold"/>
                                        <p:tgtEl>
                                          <p:spTgt spid="860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6027"/>
                                        </p:tgtEl>
                                        <p:attrNameLst>
                                          <p:attrName>style.visibility</p:attrName>
                                        </p:attrNameLst>
                                      </p:cBhvr>
                                      <p:to>
                                        <p:strVal val="visible"/>
                                      </p:to>
                                    </p:set>
                                    <p:anim calcmode="lin" valueType="num">
                                      <p:cBhvr additive="base">
                                        <p:cTn id="13" dur="500" fill="hold"/>
                                        <p:tgtEl>
                                          <p:spTgt spid="86027"/>
                                        </p:tgtEl>
                                        <p:attrNameLst>
                                          <p:attrName>ppt_x</p:attrName>
                                        </p:attrNameLst>
                                      </p:cBhvr>
                                      <p:tavLst>
                                        <p:tav tm="0">
                                          <p:val>
                                            <p:strVal val="0-#ppt_w/2"/>
                                          </p:val>
                                        </p:tav>
                                        <p:tav tm="100000">
                                          <p:val>
                                            <p:strVal val="#ppt_x"/>
                                          </p:val>
                                        </p:tav>
                                      </p:tavLst>
                                    </p:anim>
                                    <p:anim calcmode="lin" valueType="num">
                                      <p:cBhvr additive="base">
                                        <p:cTn id="14" dur="500" fill="hold"/>
                                        <p:tgtEl>
                                          <p:spTgt spid="860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6029"/>
                                        </p:tgtEl>
                                        <p:attrNameLst>
                                          <p:attrName>style.visibility</p:attrName>
                                        </p:attrNameLst>
                                      </p:cBhvr>
                                      <p:to>
                                        <p:strVal val="visible"/>
                                      </p:to>
                                    </p:set>
                                    <p:anim calcmode="lin" valueType="num">
                                      <p:cBhvr additive="base">
                                        <p:cTn id="19" dur="500" fill="hold"/>
                                        <p:tgtEl>
                                          <p:spTgt spid="86029"/>
                                        </p:tgtEl>
                                        <p:attrNameLst>
                                          <p:attrName>ppt_x</p:attrName>
                                        </p:attrNameLst>
                                      </p:cBhvr>
                                      <p:tavLst>
                                        <p:tav tm="0">
                                          <p:val>
                                            <p:strVal val="0-#ppt_w/2"/>
                                          </p:val>
                                        </p:tav>
                                        <p:tav tm="100000">
                                          <p:val>
                                            <p:strVal val="#ppt_x"/>
                                          </p:val>
                                        </p:tav>
                                      </p:tavLst>
                                    </p:anim>
                                    <p:anim calcmode="lin" valueType="num">
                                      <p:cBhvr additive="base">
                                        <p:cTn id="20" dur="500" fill="hold"/>
                                        <p:tgtEl>
                                          <p:spTgt spid="8602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 presetClass="entr" presetSubtype="8"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0-#ppt_w/2"/>
                                          </p:val>
                                        </p:tav>
                                        <p:tav tm="100000">
                                          <p:val>
                                            <p:strVal val="#ppt_x"/>
                                          </p:val>
                                        </p:tav>
                                      </p:tavLst>
                                    </p:anim>
                                    <p:anim calcmode="lin" valueType="num">
                                      <p:cBhvr additive="base">
                                        <p:cTn id="31" dur="500" fill="hold"/>
                                        <p:tgtEl>
                                          <p:spTgt spid="14"/>
                                        </p:tgtEl>
                                        <p:attrNameLst>
                                          <p:attrName>ppt_y</p:attrName>
                                        </p:attrNameLst>
                                      </p:cBhvr>
                                      <p:tavLst>
                                        <p:tav tm="0">
                                          <p:val>
                                            <p:strVal val="#ppt_y"/>
                                          </p:val>
                                        </p:tav>
                                        <p:tav tm="100000">
                                          <p:val>
                                            <p:strVal val="#ppt_y"/>
                                          </p:val>
                                        </p:tav>
                                      </p:tavLst>
                                    </p:anim>
                                  </p:childTnLst>
                                </p:cTn>
                              </p:par>
                            </p:childTnLst>
                          </p:cTn>
                        </p:par>
                        <p:par>
                          <p:cTn id="32" fill="hold">
                            <p:stCondLst>
                              <p:cond delay="1000"/>
                            </p:stCondLst>
                            <p:childTnLst>
                              <p:par>
                                <p:cTn id="33" presetID="2" presetClass="entr" presetSubtype="8"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0-#ppt_w/2"/>
                                          </p:val>
                                        </p:tav>
                                        <p:tav tm="100000">
                                          <p:val>
                                            <p:strVal val="#ppt_x"/>
                                          </p:val>
                                        </p:tav>
                                      </p:tavLst>
                                    </p:anim>
                                    <p:anim calcmode="lin" valueType="num">
                                      <p:cBhvr additive="base">
                                        <p:cTn id="3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0-#ppt_w/2"/>
                                          </p:val>
                                        </p:tav>
                                        <p:tav tm="100000">
                                          <p:val>
                                            <p:strVal val="#ppt_x"/>
                                          </p:val>
                                        </p:tav>
                                      </p:tavLst>
                                    </p:anim>
                                    <p:anim calcmode="lin" valueType="num">
                                      <p:cBhvr additive="base">
                                        <p:cTn id="4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6" grpId="0" bldLvl="0" animBg="1" autoUpdateAnimBg="0"/>
      <p:bldP spid="86027" grpId="0" bldLvl="0" animBg="1" autoUpdateAnimBg="0"/>
      <p:bldP spid="86029" grpId="0" bldLvl="0" animBg="1" autoUpdateAnimBg="0"/>
      <p:bldP spid="12" grpId="0" bldLvl="0" animBg="1" autoUpdateAnimBg="0"/>
      <p:bldP spid="13" grpId="0" bldLvl="0" animBg="1" autoUpdateAnimBg="0"/>
      <p:bldP spid="15"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4"/>
          <p:cNvSpPr>
            <a:spLocks noChangeArrowheads="1"/>
          </p:cNvSpPr>
          <p:nvPr/>
        </p:nvSpPr>
        <p:spPr bwMode="auto">
          <a:xfrm>
            <a:off x="1314595" y="3921863"/>
            <a:ext cx="9212347" cy="13086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可见，服从参数为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和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的二项分布的随机变量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的数学期望是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p</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8072" name="Rectangle 8"/>
          <p:cNvSpPr>
            <a:spLocks noChangeArrowheads="1"/>
          </p:cNvSpPr>
          <p:nvPr/>
        </p:nvSpPr>
        <p:spPr bwMode="auto">
          <a:xfrm>
            <a:off x="5663610" y="3093544"/>
            <a:ext cx="85953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np</a:t>
            </a:r>
            <a:endPar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8075" name="Rectangle 11"/>
          <p:cNvSpPr>
            <a:spLocks noChangeArrowheads="1"/>
          </p:cNvSpPr>
          <p:nvPr/>
        </p:nvSpPr>
        <p:spPr bwMode="auto">
          <a:xfrm>
            <a:off x="2250699" y="1484784"/>
            <a:ext cx="2885726"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因为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=1)=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8076" name="Rectangle 12"/>
          <p:cNvSpPr>
            <a:spLocks noChangeArrowheads="1"/>
          </p:cNvSpPr>
          <p:nvPr/>
        </p:nvSpPr>
        <p:spPr bwMode="auto">
          <a:xfrm>
            <a:off x="5247351" y="1484784"/>
            <a:ext cx="219803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=0)= 1-</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88077" name="Group 13"/>
          <p:cNvGrpSpPr/>
          <p:nvPr/>
        </p:nvGrpSpPr>
        <p:grpSpPr bwMode="auto">
          <a:xfrm>
            <a:off x="2190161" y="2913036"/>
            <a:ext cx="3511550" cy="968375"/>
            <a:chOff x="667" y="2462"/>
            <a:chExt cx="2212" cy="610"/>
          </a:xfrm>
        </p:grpSpPr>
        <p:graphicFrame>
          <p:nvGraphicFramePr>
            <p:cNvPr id="88078" name="Object 14"/>
            <p:cNvGraphicFramePr>
              <a:graphicFrameLocks noChangeAspect="1"/>
            </p:cNvGraphicFramePr>
            <p:nvPr/>
          </p:nvGraphicFramePr>
          <p:xfrm>
            <a:off x="2017" y="2462"/>
            <a:ext cx="862" cy="610"/>
          </p:xfrm>
          <a:graphic>
            <a:graphicData uri="http://schemas.openxmlformats.org/presentationml/2006/ole">
              <mc:AlternateContent xmlns:mc="http://schemas.openxmlformats.org/markup-compatibility/2006">
                <mc:Choice xmlns:v="urn:schemas-microsoft-com:vml" Requires="v">
                  <p:oleObj spid="_x0000_s142366" name="Equation" r:id="rId1" imgW="14630400" imgH="10363200" progId="Equation.DSMT4">
                    <p:embed/>
                  </p:oleObj>
                </mc:Choice>
                <mc:Fallback>
                  <p:oleObj name="Equation" r:id="rId1" imgW="14630400" imgH="10363200" progId="Equation.DSMT4">
                    <p:embed/>
                    <p:pic>
                      <p:nvPicPr>
                        <p:cNvPr id="0" name="Object 14"/>
                        <p:cNvPicPr>
                          <a:picLocks noChangeAspect="1" noChangeArrowheads="1"/>
                        </p:cNvPicPr>
                        <p:nvPr/>
                      </p:nvPicPr>
                      <p:blipFill>
                        <a:blip r:embed="rId2"/>
                        <a:srcRect/>
                        <a:stretch>
                          <a:fillRect/>
                        </a:stretch>
                      </p:blipFill>
                      <p:spPr bwMode="auto">
                        <a:xfrm>
                          <a:off x="2017" y="2462"/>
                          <a:ext cx="862" cy="61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79" name="Rectangle 15"/>
            <p:cNvSpPr>
              <a:spLocks noChangeArrowheads="1"/>
            </p:cNvSpPr>
            <p:nvPr/>
          </p:nvSpPr>
          <p:spPr bwMode="auto">
            <a:xfrm>
              <a:off x="667" y="2595"/>
              <a:ext cx="1320"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所以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88081" name="Group 17"/>
          <p:cNvGrpSpPr/>
          <p:nvPr/>
        </p:nvGrpSpPr>
        <p:grpSpPr bwMode="auto">
          <a:xfrm>
            <a:off x="3131831" y="2206775"/>
            <a:ext cx="4408488" cy="557213"/>
            <a:chOff x="921" y="2162"/>
            <a:chExt cx="2777" cy="351"/>
          </a:xfrm>
        </p:grpSpPr>
        <p:sp>
          <p:nvSpPr>
            <p:cNvPr id="88082" name="Rectangle 18"/>
            <p:cNvSpPr>
              <a:spLocks noChangeArrowheads="1"/>
            </p:cNvSpPr>
            <p:nvPr/>
          </p:nvSpPr>
          <p:spPr bwMode="auto">
            <a:xfrm>
              <a:off x="921" y="2162"/>
              <a:ext cx="796"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8083" name="Object 19"/>
            <p:cNvGraphicFramePr>
              <a:graphicFrameLocks noChangeAspect="1"/>
            </p:cNvGraphicFramePr>
            <p:nvPr/>
          </p:nvGraphicFramePr>
          <p:xfrm>
            <a:off x="1740" y="2174"/>
            <a:ext cx="1581" cy="339"/>
          </p:xfrm>
          <a:graphic>
            <a:graphicData uri="http://schemas.openxmlformats.org/presentationml/2006/ole">
              <mc:AlternateContent xmlns:mc="http://schemas.openxmlformats.org/markup-compatibility/2006">
                <mc:Choice xmlns:v="urn:schemas-microsoft-com:vml" Requires="v">
                  <p:oleObj spid="_x0000_s142367" name="Equation" r:id="rId3" imgW="22555200" imgH="4876800" progId="Equation.DSMT4">
                    <p:embed/>
                  </p:oleObj>
                </mc:Choice>
                <mc:Fallback>
                  <p:oleObj name="Equation" r:id="rId3" imgW="22555200" imgH="4876800" progId="Equation.DSMT4">
                    <p:embed/>
                    <p:pic>
                      <p:nvPicPr>
                        <p:cNvPr id="0" name="Object 19"/>
                        <p:cNvPicPr>
                          <a:picLocks noChangeAspect="1" noChangeArrowheads="1"/>
                        </p:cNvPicPr>
                        <p:nvPr/>
                      </p:nvPicPr>
                      <p:blipFill>
                        <a:blip r:embed="rId4"/>
                        <a:srcRect/>
                        <a:stretch>
                          <a:fillRect/>
                        </a:stretch>
                      </p:blipFill>
                      <p:spPr bwMode="auto">
                        <a:xfrm>
                          <a:off x="1740" y="2174"/>
                          <a:ext cx="1581" cy="33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84" name="Rectangle 20"/>
            <p:cNvSpPr>
              <a:spLocks noChangeArrowheads="1"/>
            </p:cNvSpPr>
            <p:nvPr/>
          </p:nvSpPr>
          <p:spPr bwMode="auto">
            <a:xfrm>
              <a:off x="3283" y="2163"/>
              <a:ext cx="415"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endPar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cxnSp>
        <p:nvCxnSpPr>
          <p:cNvPr id="20" name="直接连接符 1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五、数学期望性质的应用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2" name="组合 21"/>
          <p:cNvGrpSpPr/>
          <p:nvPr/>
        </p:nvGrpSpPr>
        <p:grpSpPr>
          <a:xfrm>
            <a:off x="851761" y="364781"/>
            <a:ext cx="263341" cy="395013"/>
            <a:chOff x="5284519" y="1508166"/>
            <a:chExt cx="213756" cy="427512"/>
          </a:xfrm>
        </p:grpSpPr>
        <p:cxnSp>
          <p:nvCxnSpPr>
            <p:cNvPr id="23" name="直接连接符 2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4" name="直接连接符 2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8075"/>
                                        </p:tgtEl>
                                        <p:attrNameLst>
                                          <p:attrName>style.visibility</p:attrName>
                                        </p:attrNameLst>
                                      </p:cBhvr>
                                      <p:to>
                                        <p:strVal val="visible"/>
                                      </p:to>
                                    </p:set>
                                    <p:anim calcmode="lin" valueType="num">
                                      <p:cBhvr additive="base">
                                        <p:cTn id="7" dur="500" fill="hold"/>
                                        <p:tgtEl>
                                          <p:spTgt spid="88075"/>
                                        </p:tgtEl>
                                        <p:attrNameLst>
                                          <p:attrName>ppt_x</p:attrName>
                                        </p:attrNameLst>
                                      </p:cBhvr>
                                      <p:tavLst>
                                        <p:tav tm="0">
                                          <p:val>
                                            <p:strVal val="0-#ppt_w/2"/>
                                          </p:val>
                                        </p:tav>
                                        <p:tav tm="100000">
                                          <p:val>
                                            <p:strVal val="#ppt_x"/>
                                          </p:val>
                                        </p:tav>
                                      </p:tavLst>
                                    </p:anim>
                                    <p:anim calcmode="lin" valueType="num">
                                      <p:cBhvr additive="base">
                                        <p:cTn id="8" dur="500" fill="hold"/>
                                        <p:tgtEl>
                                          <p:spTgt spid="880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8076"/>
                                        </p:tgtEl>
                                        <p:attrNameLst>
                                          <p:attrName>style.visibility</p:attrName>
                                        </p:attrNameLst>
                                      </p:cBhvr>
                                      <p:to>
                                        <p:strVal val="visible"/>
                                      </p:to>
                                    </p:set>
                                    <p:anim calcmode="lin" valueType="num">
                                      <p:cBhvr additive="base">
                                        <p:cTn id="13" dur="500" fill="hold"/>
                                        <p:tgtEl>
                                          <p:spTgt spid="88076"/>
                                        </p:tgtEl>
                                        <p:attrNameLst>
                                          <p:attrName>ppt_x</p:attrName>
                                        </p:attrNameLst>
                                      </p:cBhvr>
                                      <p:tavLst>
                                        <p:tav tm="0">
                                          <p:val>
                                            <p:strVal val="0-#ppt_w/2"/>
                                          </p:val>
                                        </p:tav>
                                        <p:tav tm="100000">
                                          <p:val>
                                            <p:strVal val="#ppt_x"/>
                                          </p:val>
                                        </p:tav>
                                      </p:tavLst>
                                    </p:anim>
                                    <p:anim calcmode="lin" valueType="num">
                                      <p:cBhvr additive="base">
                                        <p:cTn id="14" dur="500" fill="hold"/>
                                        <p:tgtEl>
                                          <p:spTgt spid="8807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8081"/>
                                        </p:tgtEl>
                                        <p:attrNameLst>
                                          <p:attrName>style.visibility</p:attrName>
                                        </p:attrNameLst>
                                      </p:cBhvr>
                                      <p:to>
                                        <p:strVal val="visible"/>
                                      </p:to>
                                    </p:set>
                                    <p:anim calcmode="lin" valueType="num">
                                      <p:cBhvr additive="base">
                                        <p:cTn id="19" dur="500" fill="hold"/>
                                        <p:tgtEl>
                                          <p:spTgt spid="88081"/>
                                        </p:tgtEl>
                                        <p:attrNameLst>
                                          <p:attrName>ppt_x</p:attrName>
                                        </p:attrNameLst>
                                      </p:cBhvr>
                                      <p:tavLst>
                                        <p:tav tm="0">
                                          <p:val>
                                            <p:strVal val="0-#ppt_w/2"/>
                                          </p:val>
                                        </p:tav>
                                        <p:tav tm="100000">
                                          <p:val>
                                            <p:strVal val="#ppt_x"/>
                                          </p:val>
                                        </p:tav>
                                      </p:tavLst>
                                    </p:anim>
                                    <p:anim calcmode="lin" valueType="num">
                                      <p:cBhvr additive="base">
                                        <p:cTn id="20" dur="500" fill="hold"/>
                                        <p:tgtEl>
                                          <p:spTgt spid="8808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8077"/>
                                        </p:tgtEl>
                                        <p:attrNameLst>
                                          <p:attrName>style.visibility</p:attrName>
                                        </p:attrNameLst>
                                      </p:cBhvr>
                                      <p:to>
                                        <p:strVal val="visible"/>
                                      </p:to>
                                    </p:set>
                                    <p:anim calcmode="lin" valueType="num">
                                      <p:cBhvr additive="base">
                                        <p:cTn id="25" dur="500" fill="hold"/>
                                        <p:tgtEl>
                                          <p:spTgt spid="88077"/>
                                        </p:tgtEl>
                                        <p:attrNameLst>
                                          <p:attrName>ppt_x</p:attrName>
                                        </p:attrNameLst>
                                      </p:cBhvr>
                                      <p:tavLst>
                                        <p:tav tm="0">
                                          <p:val>
                                            <p:strVal val="0-#ppt_w/2"/>
                                          </p:val>
                                        </p:tav>
                                        <p:tav tm="100000">
                                          <p:val>
                                            <p:strVal val="#ppt_x"/>
                                          </p:val>
                                        </p:tav>
                                      </p:tavLst>
                                    </p:anim>
                                    <p:anim calcmode="lin" valueType="num">
                                      <p:cBhvr additive="base">
                                        <p:cTn id="26" dur="500" fill="hold"/>
                                        <p:tgtEl>
                                          <p:spTgt spid="8807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8072"/>
                                        </p:tgtEl>
                                        <p:attrNameLst>
                                          <p:attrName>style.visibility</p:attrName>
                                        </p:attrNameLst>
                                      </p:cBhvr>
                                      <p:to>
                                        <p:strVal val="visible"/>
                                      </p:to>
                                    </p:set>
                                    <p:anim calcmode="lin" valueType="num">
                                      <p:cBhvr additive="base">
                                        <p:cTn id="31" dur="500" fill="hold"/>
                                        <p:tgtEl>
                                          <p:spTgt spid="88072"/>
                                        </p:tgtEl>
                                        <p:attrNameLst>
                                          <p:attrName>ppt_x</p:attrName>
                                        </p:attrNameLst>
                                      </p:cBhvr>
                                      <p:tavLst>
                                        <p:tav tm="0">
                                          <p:val>
                                            <p:strVal val="0-#ppt_w/2"/>
                                          </p:val>
                                        </p:tav>
                                        <p:tav tm="100000">
                                          <p:val>
                                            <p:strVal val="#ppt_x"/>
                                          </p:val>
                                        </p:tav>
                                      </p:tavLst>
                                    </p:anim>
                                    <p:anim calcmode="lin" valueType="num">
                                      <p:cBhvr additive="base">
                                        <p:cTn id="32" dur="500" fill="hold"/>
                                        <p:tgtEl>
                                          <p:spTgt spid="8807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8068"/>
                                        </p:tgtEl>
                                        <p:attrNameLst>
                                          <p:attrName>style.visibility</p:attrName>
                                        </p:attrNameLst>
                                      </p:cBhvr>
                                      <p:to>
                                        <p:strVal val="visible"/>
                                      </p:to>
                                    </p:set>
                                    <p:anim calcmode="lin" valueType="num">
                                      <p:cBhvr additive="base">
                                        <p:cTn id="37" dur="500" fill="hold"/>
                                        <p:tgtEl>
                                          <p:spTgt spid="88068"/>
                                        </p:tgtEl>
                                        <p:attrNameLst>
                                          <p:attrName>ppt_x</p:attrName>
                                        </p:attrNameLst>
                                      </p:cBhvr>
                                      <p:tavLst>
                                        <p:tav tm="0">
                                          <p:val>
                                            <p:strVal val="0-#ppt_w/2"/>
                                          </p:val>
                                        </p:tav>
                                        <p:tav tm="100000">
                                          <p:val>
                                            <p:strVal val="#ppt_x"/>
                                          </p:val>
                                        </p:tav>
                                      </p:tavLst>
                                    </p:anim>
                                    <p:anim calcmode="lin" valueType="num">
                                      <p:cBhvr additive="base">
                                        <p:cTn id="38" dur="500" fill="hold"/>
                                        <p:tgtEl>
                                          <p:spTgt spid="880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bldLvl="0" animBg="1" autoUpdateAnimBg="0"/>
      <p:bldP spid="88072" grpId="0" bldLvl="0" animBg="1" autoUpdateAnimBg="0"/>
      <p:bldP spid="88075" grpId="0" bldLvl="0" animBg="1" autoUpdateAnimBg="0"/>
      <p:bldP spid="88076"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Text Box 4"/>
          <p:cNvSpPr txBox="1">
            <a:spLocks noChangeArrowheads="1"/>
          </p:cNvSpPr>
          <p:nvPr/>
        </p:nvSpPr>
        <p:spPr bwMode="auto">
          <a:xfrm>
            <a:off x="1271464" y="961691"/>
            <a:ext cx="9361040" cy="1221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50000"/>
              </a:lnSpc>
            </a:pP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9</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把数字</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1,2,…,</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任意地排成一列，如果数字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恰好出现在第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个位置上，则称为一个巧合，求巧合个数的数学期望。</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9093" name="Rectangle 5"/>
          <p:cNvSpPr>
            <a:spLocks noChangeArrowheads="1"/>
          </p:cNvSpPr>
          <p:nvPr/>
        </p:nvSpPr>
        <p:spPr bwMode="auto">
          <a:xfrm>
            <a:off x="4727848" y="4581525"/>
            <a:ext cx="3602268" cy="49244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由于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6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6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=1)   </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9094" name="Rectangle 6"/>
          <p:cNvSpPr>
            <a:spLocks noChangeArrowheads="1"/>
          </p:cNvSpPr>
          <p:nvPr/>
        </p:nvSpPr>
        <p:spPr bwMode="auto">
          <a:xfrm>
            <a:off x="1630017" y="2387440"/>
            <a:ext cx="3158237" cy="49244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解：设巧合个数为</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9095" name="Object 7"/>
          <p:cNvGraphicFramePr>
            <a:graphicFrameLocks noChangeAspect="1"/>
          </p:cNvGraphicFramePr>
          <p:nvPr/>
        </p:nvGraphicFramePr>
        <p:xfrm>
          <a:off x="2406226" y="3015560"/>
          <a:ext cx="5692775" cy="1028710"/>
        </p:xfrm>
        <a:graphic>
          <a:graphicData uri="http://schemas.openxmlformats.org/presentationml/2006/ole">
            <mc:AlternateContent xmlns:mc="http://schemas.openxmlformats.org/markup-compatibility/2006">
              <mc:Choice xmlns:v="urn:schemas-microsoft-com:vml" Requires="v">
                <p:oleObj spid="_x0000_s143446" name="Equation" r:id="rId1" imgW="64008000" imgH="11582400" progId="Equation.DSMT4">
                  <p:embed/>
                </p:oleObj>
              </mc:Choice>
              <mc:Fallback>
                <p:oleObj name="Equation" r:id="rId1" imgW="64008000" imgH="11582400" progId="Equation.DSMT4">
                  <p:embed/>
                  <p:pic>
                    <p:nvPicPr>
                      <p:cNvPr id="0" name="Object 7"/>
                      <p:cNvPicPr>
                        <a:picLocks noChangeAspect="1" noChangeArrowheads="1"/>
                      </p:cNvPicPr>
                      <p:nvPr/>
                    </p:nvPicPr>
                    <p:blipFill>
                      <a:blip r:embed="rId2"/>
                      <a:srcRect/>
                      <a:stretch>
                        <a:fillRect/>
                      </a:stretch>
                    </p:blipFill>
                    <p:spPr bwMode="auto">
                      <a:xfrm>
                        <a:off x="2406226" y="3015560"/>
                        <a:ext cx="5692775" cy="1028710"/>
                      </a:xfrm>
                      <a:prstGeom prst="rect">
                        <a:avLst/>
                      </a:prstGeom>
                      <a:noFill/>
                      <a:ln>
                        <a:noFill/>
                      </a:ln>
                      <a:effectLst/>
                    </p:spPr>
                  </p:pic>
                </p:oleObj>
              </mc:Fallback>
            </mc:AlternateContent>
          </a:graphicData>
        </a:graphic>
      </p:graphicFrame>
      <p:sp>
        <p:nvSpPr>
          <p:cNvPr id="89096" name="Text Box 8"/>
          <p:cNvSpPr txBox="1">
            <a:spLocks noChangeArrowheads="1"/>
          </p:cNvSpPr>
          <p:nvPr/>
        </p:nvSpPr>
        <p:spPr bwMode="auto">
          <a:xfrm>
            <a:off x="8099001" y="3183058"/>
            <a:ext cx="1811714" cy="49244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sz="2600"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=1,2,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6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89097" name="Group 9"/>
          <p:cNvGrpSpPr/>
          <p:nvPr/>
        </p:nvGrpSpPr>
        <p:grpSpPr bwMode="auto">
          <a:xfrm>
            <a:off x="1908447" y="4293217"/>
            <a:ext cx="2432050" cy="1081088"/>
            <a:chOff x="617" y="1920"/>
            <a:chExt cx="1532" cy="681"/>
          </a:xfrm>
        </p:grpSpPr>
        <p:graphicFrame>
          <p:nvGraphicFramePr>
            <p:cNvPr id="89098" name="Object 10"/>
            <p:cNvGraphicFramePr>
              <a:graphicFrameLocks noChangeAspect="1"/>
            </p:cNvGraphicFramePr>
            <p:nvPr/>
          </p:nvGraphicFramePr>
          <p:xfrm>
            <a:off x="1042" y="1920"/>
            <a:ext cx="1107" cy="681"/>
          </p:xfrm>
          <a:graphic>
            <a:graphicData uri="http://schemas.openxmlformats.org/presentationml/2006/ole">
              <mc:AlternateContent xmlns:mc="http://schemas.openxmlformats.org/markup-compatibility/2006">
                <mc:Choice xmlns:v="urn:schemas-microsoft-com:vml" Requires="v">
                  <p:oleObj spid="_x0000_s143447" name="Equation" r:id="rId3" imgW="16764000" imgH="10363200" progId="Equation.DSMT4">
                    <p:embed/>
                  </p:oleObj>
                </mc:Choice>
                <mc:Fallback>
                  <p:oleObj name="Equation" r:id="rId3" imgW="16764000" imgH="10363200" progId="Equation.DSMT4">
                    <p:embed/>
                    <p:pic>
                      <p:nvPicPr>
                        <p:cNvPr id="0" name="Object 10"/>
                        <p:cNvPicPr>
                          <a:picLocks noChangeAspect="1" noChangeArrowheads="1"/>
                        </p:cNvPicPr>
                        <p:nvPr/>
                      </p:nvPicPr>
                      <p:blipFill>
                        <a:blip r:embed="rId4"/>
                        <a:srcRect/>
                        <a:stretch>
                          <a:fillRect/>
                        </a:stretch>
                      </p:blipFill>
                      <p:spPr bwMode="auto">
                        <a:xfrm>
                          <a:off x="1042" y="1920"/>
                          <a:ext cx="1107" cy="68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9" name="Rectangle 11"/>
            <p:cNvSpPr>
              <a:spLocks noChangeArrowheads="1"/>
            </p:cNvSpPr>
            <p:nvPr/>
          </p:nvSpPr>
          <p:spPr bwMode="auto">
            <a:xfrm>
              <a:off x="617" y="2096"/>
              <a:ext cx="326" cy="31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aphicFrame>
        <p:nvGraphicFramePr>
          <p:cNvPr id="89100" name="Object 12"/>
          <p:cNvGraphicFramePr>
            <a:graphicFrameLocks noChangeAspect="1"/>
          </p:cNvGraphicFramePr>
          <p:nvPr/>
        </p:nvGraphicFramePr>
        <p:xfrm>
          <a:off x="8021758" y="4365603"/>
          <a:ext cx="1391416" cy="916330"/>
        </p:xfrm>
        <a:graphic>
          <a:graphicData uri="http://schemas.openxmlformats.org/presentationml/2006/ole">
            <mc:AlternateContent xmlns:mc="http://schemas.openxmlformats.org/markup-compatibility/2006">
              <mc:Choice xmlns:v="urn:schemas-microsoft-com:vml" Requires="v">
                <p:oleObj spid="_x0000_s143448" name="Equation" r:id="rId5" imgW="14325600" imgH="9448800" progId="Equation.DSMT4">
                  <p:embed/>
                </p:oleObj>
              </mc:Choice>
              <mc:Fallback>
                <p:oleObj name="Equation" r:id="rId5" imgW="14325600" imgH="9448800" progId="Equation.DSMT4">
                  <p:embed/>
                  <p:pic>
                    <p:nvPicPr>
                      <p:cNvPr id="0" name="Object 12"/>
                      <p:cNvPicPr>
                        <a:picLocks noChangeAspect="1" noChangeArrowheads="1"/>
                      </p:cNvPicPr>
                      <p:nvPr/>
                    </p:nvPicPr>
                    <p:blipFill>
                      <a:blip r:embed="rId6"/>
                      <a:srcRect/>
                      <a:stretch>
                        <a:fillRect/>
                      </a:stretch>
                    </p:blipFill>
                    <p:spPr bwMode="auto">
                      <a:xfrm>
                        <a:off x="8021758" y="4365603"/>
                        <a:ext cx="1391416" cy="916330"/>
                      </a:xfrm>
                      <a:prstGeom prst="rect">
                        <a:avLst/>
                      </a:prstGeom>
                      <a:noFill/>
                      <a:ln>
                        <a:noFill/>
                      </a:ln>
                      <a:effectLst/>
                    </p:spPr>
                  </p:pic>
                </p:oleObj>
              </mc:Fallback>
            </mc:AlternateContent>
          </a:graphicData>
        </a:graphic>
      </p:graphicFrame>
      <p:graphicFrame>
        <p:nvGraphicFramePr>
          <p:cNvPr id="89101" name="Object 13"/>
          <p:cNvGraphicFramePr>
            <a:graphicFrameLocks noChangeAspect="1"/>
          </p:cNvGraphicFramePr>
          <p:nvPr/>
        </p:nvGraphicFramePr>
        <p:xfrm>
          <a:off x="9413174" y="4344777"/>
          <a:ext cx="637787" cy="937156"/>
        </p:xfrm>
        <a:graphic>
          <a:graphicData uri="http://schemas.openxmlformats.org/presentationml/2006/ole">
            <mc:AlternateContent xmlns:mc="http://schemas.openxmlformats.org/markup-compatibility/2006">
              <mc:Choice xmlns:v="urn:schemas-microsoft-com:vml" Requires="v">
                <p:oleObj spid="_x0000_s143449" name="Equation" r:id="rId7" imgW="6400800" imgH="9448800" progId="Equation.DSMT4">
                  <p:embed/>
                </p:oleObj>
              </mc:Choice>
              <mc:Fallback>
                <p:oleObj name="Equation" r:id="rId7" imgW="6400800" imgH="9448800" progId="Equation.DSMT4">
                  <p:embed/>
                  <p:pic>
                    <p:nvPicPr>
                      <p:cNvPr id="0" name="Object 13"/>
                      <p:cNvPicPr>
                        <a:picLocks noChangeAspect="1" noChangeArrowheads="1"/>
                      </p:cNvPicPr>
                      <p:nvPr/>
                    </p:nvPicPr>
                    <p:blipFill>
                      <a:blip r:embed="rId8"/>
                      <a:srcRect/>
                      <a:stretch>
                        <a:fillRect/>
                      </a:stretch>
                    </p:blipFill>
                    <p:spPr bwMode="auto">
                      <a:xfrm>
                        <a:off x="9413174" y="4344777"/>
                        <a:ext cx="637787" cy="937156"/>
                      </a:xfrm>
                      <a:prstGeom prst="rect">
                        <a:avLst/>
                      </a:prstGeom>
                      <a:noFill/>
                      <a:ln>
                        <a:noFill/>
                      </a:ln>
                      <a:effectLst/>
                    </p:spPr>
                  </p:pic>
                </p:oleObj>
              </mc:Fallback>
            </mc:AlternateContent>
          </a:graphicData>
        </a:graphic>
      </p:graphicFrame>
      <p:graphicFrame>
        <p:nvGraphicFramePr>
          <p:cNvPr id="89102" name="Object 14"/>
          <p:cNvGraphicFramePr>
            <a:graphicFrameLocks noChangeAspect="1"/>
          </p:cNvGraphicFramePr>
          <p:nvPr/>
        </p:nvGraphicFramePr>
        <p:xfrm>
          <a:off x="2465630" y="5504281"/>
          <a:ext cx="2487366" cy="946267"/>
        </p:xfrm>
        <a:graphic>
          <a:graphicData uri="http://schemas.openxmlformats.org/presentationml/2006/ole">
            <mc:AlternateContent xmlns:mc="http://schemas.openxmlformats.org/markup-compatibility/2006">
              <mc:Choice xmlns:v="urn:schemas-microsoft-com:vml" Requires="v">
                <p:oleObj spid="_x0000_s143450" name="Equation" r:id="rId9" imgW="27127200" imgH="10363200" progId="Equation.DSMT4">
                  <p:embed/>
                </p:oleObj>
              </mc:Choice>
              <mc:Fallback>
                <p:oleObj name="Equation" r:id="rId9" imgW="27127200" imgH="10363200" progId="Equation.DSMT4">
                  <p:embed/>
                  <p:pic>
                    <p:nvPicPr>
                      <p:cNvPr id="0" name="Object 14"/>
                      <p:cNvPicPr>
                        <a:picLocks noChangeAspect="1" noChangeArrowheads="1"/>
                      </p:cNvPicPr>
                      <p:nvPr/>
                    </p:nvPicPr>
                    <p:blipFill>
                      <a:blip r:embed="rId10"/>
                      <a:srcRect/>
                      <a:stretch>
                        <a:fillRect/>
                      </a:stretch>
                    </p:blipFill>
                    <p:spPr bwMode="auto">
                      <a:xfrm>
                        <a:off x="2465630" y="5504281"/>
                        <a:ext cx="2487366" cy="946267"/>
                      </a:xfrm>
                      <a:prstGeom prst="rect">
                        <a:avLst/>
                      </a:prstGeom>
                      <a:noFill/>
                      <a:ln>
                        <a:noFill/>
                      </a:ln>
                      <a:effectLst/>
                    </p:spPr>
                  </p:pic>
                </p:oleObj>
              </mc:Fallback>
            </mc:AlternateContent>
          </a:graphicData>
        </a:graphic>
      </p:graphicFrame>
      <p:sp>
        <p:nvSpPr>
          <p:cNvPr id="89103" name="Rectangle 15"/>
          <p:cNvSpPr>
            <a:spLocks noChangeArrowheads="1"/>
          </p:cNvSpPr>
          <p:nvPr/>
        </p:nvSpPr>
        <p:spPr bwMode="auto">
          <a:xfrm>
            <a:off x="1888135" y="5731194"/>
            <a:ext cx="518091" cy="49244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故</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9104" name="Object 16"/>
          <p:cNvGraphicFramePr>
            <a:graphicFrameLocks noChangeAspect="1"/>
          </p:cNvGraphicFramePr>
          <p:nvPr/>
        </p:nvGraphicFramePr>
        <p:xfrm>
          <a:off x="4994425" y="5504281"/>
          <a:ext cx="1391417" cy="874679"/>
        </p:xfrm>
        <a:graphic>
          <a:graphicData uri="http://schemas.openxmlformats.org/presentationml/2006/ole">
            <mc:AlternateContent xmlns:mc="http://schemas.openxmlformats.org/markup-compatibility/2006">
              <mc:Choice xmlns:v="urn:schemas-microsoft-com:vml" Requires="v">
                <p:oleObj spid="_x0000_s143451" name="Equation" r:id="rId11" imgW="14935200" imgH="9448800" progId="Equation.DSMT4">
                  <p:embed/>
                </p:oleObj>
              </mc:Choice>
              <mc:Fallback>
                <p:oleObj name="Equation" r:id="rId11" imgW="14935200" imgH="9448800" progId="Equation.DSMT4">
                  <p:embed/>
                  <p:pic>
                    <p:nvPicPr>
                      <p:cNvPr id="0" name="Object 16"/>
                      <p:cNvPicPr>
                        <a:picLocks noChangeAspect="1" noChangeArrowheads="1"/>
                      </p:cNvPicPr>
                      <p:nvPr/>
                    </p:nvPicPr>
                    <p:blipFill>
                      <a:blip r:embed="rId12"/>
                      <a:srcRect/>
                      <a:stretch>
                        <a:fillRect/>
                      </a:stretch>
                    </p:blipFill>
                    <p:spPr bwMode="auto">
                      <a:xfrm>
                        <a:off x="4994425" y="5504281"/>
                        <a:ext cx="1391417" cy="874679"/>
                      </a:xfrm>
                      <a:prstGeom prst="rect">
                        <a:avLst/>
                      </a:prstGeom>
                      <a:noFill/>
                      <a:ln>
                        <a:noFill/>
                      </a:ln>
                      <a:effectLst/>
                    </p:spPr>
                  </p:pic>
                </p:oleObj>
              </mc:Fallback>
            </mc:AlternateContent>
          </a:graphicData>
        </a:graphic>
      </p:graphicFrame>
      <p:sp>
        <p:nvSpPr>
          <p:cNvPr id="89105" name="Rectangle 17"/>
          <p:cNvSpPr>
            <a:spLocks noChangeArrowheads="1"/>
          </p:cNvSpPr>
          <p:nvPr/>
        </p:nvSpPr>
        <p:spPr bwMode="auto">
          <a:xfrm>
            <a:off x="4788254" y="2393017"/>
            <a:ext cx="851515" cy="49244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引入</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6" name="直接连接符 1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矩形 16"/>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五、数学期望性质的应用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8" name="组合 17"/>
          <p:cNvGrpSpPr/>
          <p:nvPr/>
        </p:nvGrpSpPr>
        <p:grpSpPr>
          <a:xfrm>
            <a:off x="851761" y="364781"/>
            <a:ext cx="263341" cy="395013"/>
            <a:chOff x="5284519" y="1508166"/>
            <a:chExt cx="213756" cy="427512"/>
          </a:xfrm>
        </p:grpSpPr>
        <p:cxnSp>
          <p:nvCxnSpPr>
            <p:cNvPr id="19" name="直接连接符 1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0" name="直接连接符 1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9092"/>
                                        </p:tgtEl>
                                        <p:attrNameLst>
                                          <p:attrName>style.visibility</p:attrName>
                                        </p:attrNameLst>
                                      </p:cBhvr>
                                      <p:to>
                                        <p:strVal val="visible"/>
                                      </p:to>
                                    </p:set>
                                    <p:anim calcmode="lin" valueType="num">
                                      <p:cBhvr additive="base">
                                        <p:cTn id="7" dur="500" fill="hold"/>
                                        <p:tgtEl>
                                          <p:spTgt spid="89092"/>
                                        </p:tgtEl>
                                        <p:attrNameLst>
                                          <p:attrName>ppt_x</p:attrName>
                                        </p:attrNameLst>
                                      </p:cBhvr>
                                      <p:tavLst>
                                        <p:tav tm="0">
                                          <p:val>
                                            <p:strVal val="0-#ppt_w/2"/>
                                          </p:val>
                                        </p:tav>
                                        <p:tav tm="100000">
                                          <p:val>
                                            <p:strVal val="#ppt_x"/>
                                          </p:val>
                                        </p:tav>
                                      </p:tavLst>
                                    </p:anim>
                                    <p:anim calcmode="lin" valueType="num">
                                      <p:cBhvr additive="base">
                                        <p:cTn id="8" dur="500" fill="hold"/>
                                        <p:tgtEl>
                                          <p:spTgt spid="890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4"/>
                                        </p:tgtEl>
                                        <p:attrNameLst>
                                          <p:attrName>style.visibility</p:attrName>
                                        </p:attrNameLst>
                                      </p:cBhvr>
                                      <p:to>
                                        <p:strVal val="visible"/>
                                      </p:to>
                                    </p:set>
                                    <p:anim calcmode="lin" valueType="num">
                                      <p:cBhvr additive="base">
                                        <p:cTn id="13" dur="500" fill="hold"/>
                                        <p:tgtEl>
                                          <p:spTgt spid="89094"/>
                                        </p:tgtEl>
                                        <p:attrNameLst>
                                          <p:attrName>ppt_x</p:attrName>
                                        </p:attrNameLst>
                                      </p:cBhvr>
                                      <p:tavLst>
                                        <p:tav tm="0">
                                          <p:val>
                                            <p:strVal val="0-#ppt_w/2"/>
                                          </p:val>
                                        </p:tav>
                                        <p:tav tm="100000">
                                          <p:val>
                                            <p:strVal val="#ppt_x"/>
                                          </p:val>
                                        </p:tav>
                                      </p:tavLst>
                                    </p:anim>
                                    <p:anim calcmode="lin" valueType="num">
                                      <p:cBhvr additive="base">
                                        <p:cTn id="14" dur="500" fill="hold"/>
                                        <p:tgtEl>
                                          <p:spTgt spid="8909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105"/>
                                        </p:tgtEl>
                                        <p:attrNameLst>
                                          <p:attrName>style.visibility</p:attrName>
                                        </p:attrNameLst>
                                      </p:cBhvr>
                                      <p:to>
                                        <p:strVal val="visible"/>
                                      </p:to>
                                    </p:set>
                                    <p:anim calcmode="lin" valueType="num">
                                      <p:cBhvr additive="base">
                                        <p:cTn id="19" dur="500" fill="hold"/>
                                        <p:tgtEl>
                                          <p:spTgt spid="89105"/>
                                        </p:tgtEl>
                                        <p:attrNameLst>
                                          <p:attrName>ppt_x</p:attrName>
                                        </p:attrNameLst>
                                      </p:cBhvr>
                                      <p:tavLst>
                                        <p:tav tm="0">
                                          <p:val>
                                            <p:strVal val="0-#ppt_w/2"/>
                                          </p:val>
                                        </p:tav>
                                        <p:tav tm="100000">
                                          <p:val>
                                            <p:strVal val="#ppt_x"/>
                                          </p:val>
                                        </p:tav>
                                      </p:tavLst>
                                    </p:anim>
                                    <p:anim calcmode="lin" valueType="num">
                                      <p:cBhvr additive="base">
                                        <p:cTn id="20" dur="500" fill="hold"/>
                                        <p:tgtEl>
                                          <p:spTgt spid="89105"/>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nodeType="afterEffect">
                                  <p:stCondLst>
                                    <p:cond delay="0"/>
                                  </p:stCondLst>
                                  <p:childTnLst>
                                    <p:set>
                                      <p:cBhvr>
                                        <p:cTn id="23" dur="1" fill="hold">
                                          <p:stCondLst>
                                            <p:cond delay="0"/>
                                          </p:stCondLst>
                                        </p:cTn>
                                        <p:tgtEl>
                                          <p:spTgt spid="89095"/>
                                        </p:tgtEl>
                                        <p:attrNameLst>
                                          <p:attrName>style.visibility</p:attrName>
                                        </p:attrNameLst>
                                      </p:cBhvr>
                                      <p:to>
                                        <p:strVal val="visible"/>
                                      </p:to>
                                    </p:set>
                                    <p:anim calcmode="lin" valueType="num">
                                      <p:cBhvr additive="base">
                                        <p:cTn id="24" dur="500" fill="hold"/>
                                        <p:tgtEl>
                                          <p:spTgt spid="89095"/>
                                        </p:tgtEl>
                                        <p:attrNameLst>
                                          <p:attrName>ppt_x</p:attrName>
                                        </p:attrNameLst>
                                      </p:cBhvr>
                                      <p:tavLst>
                                        <p:tav tm="0">
                                          <p:val>
                                            <p:strVal val="0-#ppt_w/2"/>
                                          </p:val>
                                        </p:tav>
                                        <p:tav tm="100000">
                                          <p:val>
                                            <p:strVal val="#ppt_x"/>
                                          </p:val>
                                        </p:tav>
                                      </p:tavLst>
                                    </p:anim>
                                    <p:anim calcmode="lin" valueType="num">
                                      <p:cBhvr additive="base">
                                        <p:cTn id="25" dur="500" fill="hold"/>
                                        <p:tgtEl>
                                          <p:spTgt spid="89095"/>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89096"/>
                                        </p:tgtEl>
                                        <p:attrNameLst>
                                          <p:attrName>style.visibility</p:attrName>
                                        </p:attrNameLst>
                                      </p:cBhvr>
                                      <p:to>
                                        <p:strVal val="visible"/>
                                      </p:to>
                                    </p:set>
                                    <p:anim calcmode="lin" valueType="num">
                                      <p:cBhvr additive="base">
                                        <p:cTn id="29" dur="500" fill="hold"/>
                                        <p:tgtEl>
                                          <p:spTgt spid="89096"/>
                                        </p:tgtEl>
                                        <p:attrNameLst>
                                          <p:attrName>ppt_x</p:attrName>
                                        </p:attrNameLst>
                                      </p:cBhvr>
                                      <p:tavLst>
                                        <p:tav tm="0">
                                          <p:val>
                                            <p:strVal val="0-#ppt_w/2"/>
                                          </p:val>
                                        </p:tav>
                                        <p:tav tm="100000">
                                          <p:val>
                                            <p:strVal val="#ppt_x"/>
                                          </p:val>
                                        </p:tav>
                                      </p:tavLst>
                                    </p:anim>
                                    <p:anim calcmode="lin" valueType="num">
                                      <p:cBhvr additive="base">
                                        <p:cTn id="30" dur="500" fill="hold"/>
                                        <p:tgtEl>
                                          <p:spTgt spid="8909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89097"/>
                                        </p:tgtEl>
                                        <p:attrNameLst>
                                          <p:attrName>style.visibility</p:attrName>
                                        </p:attrNameLst>
                                      </p:cBhvr>
                                      <p:to>
                                        <p:strVal val="visible"/>
                                      </p:to>
                                    </p:set>
                                    <p:anim calcmode="lin" valueType="num">
                                      <p:cBhvr additive="base">
                                        <p:cTn id="35" dur="500" fill="hold"/>
                                        <p:tgtEl>
                                          <p:spTgt spid="89097"/>
                                        </p:tgtEl>
                                        <p:attrNameLst>
                                          <p:attrName>ppt_x</p:attrName>
                                        </p:attrNameLst>
                                      </p:cBhvr>
                                      <p:tavLst>
                                        <p:tav tm="0">
                                          <p:val>
                                            <p:strVal val="0-#ppt_w/2"/>
                                          </p:val>
                                        </p:tav>
                                        <p:tav tm="100000">
                                          <p:val>
                                            <p:strVal val="#ppt_x"/>
                                          </p:val>
                                        </p:tav>
                                      </p:tavLst>
                                    </p:anim>
                                    <p:anim calcmode="lin" valueType="num">
                                      <p:cBhvr additive="base">
                                        <p:cTn id="36" dur="500" fill="hold"/>
                                        <p:tgtEl>
                                          <p:spTgt spid="89097"/>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89093"/>
                                        </p:tgtEl>
                                        <p:attrNameLst>
                                          <p:attrName>style.visibility</p:attrName>
                                        </p:attrNameLst>
                                      </p:cBhvr>
                                      <p:to>
                                        <p:strVal val="visible"/>
                                      </p:to>
                                    </p:set>
                                    <p:anim calcmode="lin" valueType="num">
                                      <p:cBhvr additive="base">
                                        <p:cTn id="41" dur="500" fill="hold"/>
                                        <p:tgtEl>
                                          <p:spTgt spid="89093"/>
                                        </p:tgtEl>
                                        <p:attrNameLst>
                                          <p:attrName>ppt_x</p:attrName>
                                        </p:attrNameLst>
                                      </p:cBhvr>
                                      <p:tavLst>
                                        <p:tav tm="0">
                                          <p:val>
                                            <p:strVal val="0-#ppt_w/2"/>
                                          </p:val>
                                        </p:tav>
                                        <p:tav tm="100000">
                                          <p:val>
                                            <p:strVal val="#ppt_x"/>
                                          </p:val>
                                        </p:tav>
                                      </p:tavLst>
                                    </p:anim>
                                    <p:anim calcmode="lin" valueType="num">
                                      <p:cBhvr additive="base">
                                        <p:cTn id="42" dur="500" fill="hold"/>
                                        <p:tgtEl>
                                          <p:spTgt spid="89093"/>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89100"/>
                                        </p:tgtEl>
                                        <p:attrNameLst>
                                          <p:attrName>style.visibility</p:attrName>
                                        </p:attrNameLst>
                                      </p:cBhvr>
                                      <p:to>
                                        <p:strVal val="visible"/>
                                      </p:to>
                                    </p:set>
                                    <p:anim calcmode="lin" valueType="num">
                                      <p:cBhvr additive="base">
                                        <p:cTn id="47" dur="500" fill="hold"/>
                                        <p:tgtEl>
                                          <p:spTgt spid="89100"/>
                                        </p:tgtEl>
                                        <p:attrNameLst>
                                          <p:attrName>ppt_x</p:attrName>
                                        </p:attrNameLst>
                                      </p:cBhvr>
                                      <p:tavLst>
                                        <p:tav tm="0">
                                          <p:val>
                                            <p:strVal val="0-#ppt_w/2"/>
                                          </p:val>
                                        </p:tav>
                                        <p:tav tm="100000">
                                          <p:val>
                                            <p:strVal val="#ppt_x"/>
                                          </p:val>
                                        </p:tav>
                                      </p:tavLst>
                                    </p:anim>
                                    <p:anim calcmode="lin" valueType="num">
                                      <p:cBhvr additive="base">
                                        <p:cTn id="48" dur="500" fill="hold"/>
                                        <p:tgtEl>
                                          <p:spTgt spid="89100"/>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89101"/>
                                        </p:tgtEl>
                                        <p:attrNameLst>
                                          <p:attrName>style.visibility</p:attrName>
                                        </p:attrNameLst>
                                      </p:cBhvr>
                                      <p:to>
                                        <p:strVal val="visible"/>
                                      </p:to>
                                    </p:set>
                                    <p:anim calcmode="lin" valueType="num">
                                      <p:cBhvr additive="base">
                                        <p:cTn id="53" dur="500" fill="hold"/>
                                        <p:tgtEl>
                                          <p:spTgt spid="89101"/>
                                        </p:tgtEl>
                                        <p:attrNameLst>
                                          <p:attrName>ppt_x</p:attrName>
                                        </p:attrNameLst>
                                      </p:cBhvr>
                                      <p:tavLst>
                                        <p:tav tm="0">
                                          <p:val>
                                            <p:strVal val="0-#ppt_w/2"/>
                                          </p:val>
                                        </p:tav>
                                        <p:tav tm="100000">
                                          <p:val>
                                            <p:strVal val="#ppt_x"/>
                                          </p:val>
                                        </p:tav>
                                      </p:tavLst>
                                    </p:anim>
                                    <p:anim calcmode="lin" valueType="num">
                                      <p:cBhvr additive="base">
                                        <p:cTn id="54" dur="500" fill="hold"/>
                                        <p:tgtEl>
                                          <p:spTgt spid="89101"/>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89103"/>
                                        </p:tgtEl>
                                        <p:attrNameLst>
                                          <p:attrName>style.visibility</p:attrName>
                                        </p:attrNameLst>
                                      </p:cBhvr>
                                      <p:to>
                                        <p:strVal val="visible"/>
                                      </p:to>
                                    </p:set>
                                    <p:anim calcmode="lin" valueType="num">
                                      <p:cBhvr additive="base">
                                        <p:cTn id="59" dur="500" fill="hold"/>
                                        <p:tgtEl>
                                          <p:spTgt spid="89103"/>
                                        </p:tgtEl>
                                        <p:attrNameLst>
                                          <p:attrName>ppt_x</p:attrName>
                                        </p:attrNameLst>
                                      </p:cBhvr>
                                      <p:tavLst>
                                        <p:tav tm="0">
                                          <p:val>
                                            <p:strVal val="0-#ppt_w/2"/>
                                          </p:val>
                                        </p:tav>
                                        <p:tav tm="100000">
                                          <p:val>
                                            <p:strVal val="#ppt_x"/>
                                          </p:val>
                                        </p:tav>
                                      </p:tavLst>
                                    </p:anim>
                                    <p:anim calcmode="lin" valueType="num">
                                      <p:cBhvr additive="base">
                                        <p:cTn id="60" dur="500" fill="hold"/>
                                        <p:tgtEl>
                                          <p:spTgt spid="89103"/>
                                        </p:tgtEl>
                                        <p:attrNameLst>
                                          <p:attrName>ppt_y</p:attrName>
                                        </p:attrNameLst>
                                      </p:cBhvr>
                                      <p:tavLst>
                                        <p:tav tm="0">
                                          <p:val>
                                            <p:strVal val="#ppt_y"/>
                                          </p:val>
                                        </p:tav>
                                        <p:tav tm="100000">
                                          <p:val>
                                            <p:strVal val="#ppt_y"/>
                                          </p:val>
                                        </p:tav>
                                      </p:tavLst>
                                    </p:anim>
                                  </p:childTnLst>
                                </p:cTn>
                              </p:par>
                            </p:childTnLst>
                          </p:cTn>
                        </p:par>
                        <p:par>
                          <p:cTn id="61" fill="hold">
                            <p:stCondLst>
                              <p:cond delay="500"/>
                            </p:stCondLst>
                            <p:childTnLst>
                              <p:par>
                                <p:cTn id="62" presetID="2" presetClass="entr" presetSubtype="8" fill="hold" nodeType="afterEffect">
                                  <p:stCondLst>
                                    <p:cond delay="0"/>
                                  </p:stCondLst>
                                  <p:childTnLst>
                                    <p:set>
                                      <p:cBhvr>
                                        <p:cTn id="63" dur="1" fill="hold">
                                          <p:stCondLst>
                                            <p:cond delay="0"/>
                                          </p:stCondLst>
                                        </p:cTn>
                                        <p:tgtEl>
                                          <p:spTgt spid="89102"/>
                                        </p:tgtEl>
                                        <p:attrNameLst>
                                          <p:attrName>style.visibility</p:attrName>
                                        </p:attrNameLst>
                                      </p:cBhvr>
                                      <p:to>
                                        <p:strVal val="visible"/>
                                      </p:to>
                                    </p:set>
                                    <p:anim calcmode="lin" valueType="num">
                                      <p:cBhvr additive="base">
                                        <p:cTn id="64" dur="500" fill="hold"/>
                                        <p:tgtEl>
                                          <p:spTgt spid="89102"/>
                                        </p:tgtEl>
                                        <p:attrNameLst>
                                          <p:attrName>ppt_x</p:attrName>
                                        </p:attrNameLst>
                                      </p:cBhvr>
                                      <p:tavLst>
                                        <p:tav tm="0">
                                          <p:val>
                                            <p:strVal val="0-#ppt_w/2"/>
                                          </p:val>
                                        </p:tav>
                                        <p:tav tm="100000">
                                          <p:val>
                                            <p:strVal val="#ppt_x"/>
                                          </p:val>
                                        </p:tav>
                                      </p:tavLst>
                                    </p:anim>
                                    <p:anim calcmode="lin" valueType="num">
                                      <p:cBhvr additive="base">
                                        <p:cTn id="65" dur="500" fill="hold"/>
                                        <p:tgtEl>
                                          <p:spTgt spid="89102"/>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8" fill="hold" nodeType="clickEffect">
                                  <p:stCondLst>
                                    <p:cond delay="0"/>
                                  </p:stCondLst>
                                  <p:childTnLst>
                                    <p:set>
                                      <p:cBhvr>
                                        <p:cTn id="69" dur="1" fill="hold">
                                          <p:stCondLst>
                                            <p:cond delay="0"/>
                                          </p:stCondLst>
                                        </p:cTn>
                                        <p:tgtEl>
                                          <p:spTgt spid="89104"/>
                                        </p:tgtEl>
                                        <p:attrNameLst>
                                          <p:attrName>style.visibility</p:attrName>
                                        </p:attrNameLst>
                                      </p:cBhvr>
                                      <p:to>
                                        <p:strVal val="visible"/>
                                      </p:to>
                                    </p:set>
                                    <p:anim calcmode="lin" valueType="num">
                                      <p:cBhvr additive="base">
                                        <p:cTn id="70" dur="500" fill="hold"/>
                                        <p:tgtEl>
                                          <p:spTgt spid="89104"/>
                                        </p:tgtEl>
                                        <p:attrNameLst>
                                          <p:attrName>ppt_x</p:attrName>
                                        </p:attrNameLst>
                                      </p:cBhvr>
                                      <p:tavLst>
                                        <p:tav tm="0">
                                          <p:val>
                                            <p:strVal val="0-#ppt_w/2"/>
                                          </p:val>
                                        </p:tav>
                                        <p:tav tm="100000">
                                          <p:val>
                                            <p:strVal val="#ppt_x"/>
                                          </p:val>
                                        </p:tav>
                                      </p:tavLst>
                                    </p:anim>
                                    <p:anim calcmode="lin" valueType="num">
                                      <p:cBhvr additive="base">
                                        <p:cTn id="71" dur="500" fill="hold"/>
                                        <p:tgtEl>
                                          <p:spTgt spid="891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P spid="89093" grpId="0" bldLvl="0" animBg="1" autoUpdateAnimBg="0"/>
      <p:bldP spid="89094" grpId="0" bldLvl="0" animBg="1" autoUpdateAnimBg="0"/>
      <p:bldP spid="89096" grpId="0" bldLvl="0" animBg="1" autoUpdateAnimBg="0"/>
      <p:bldP spid="89103" grpId="0" bldLvl="0" animBg="1" autoUpdateAnimBg="0"/>
      <p:bldP spid="89105"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ChangeArrowheads="1"/>
          </p:cNvSpPr>
          <p:nvPr/>
        </p:nvSpPr>
        <p:spPr bwMode="auto">
          <a:xfrm>
            <a:off x="1335306" y="1051132"/>
            <a:ext cx="9441213" cy="224285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10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一民航送客车载有</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20</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位旅客自机场开出，旅客有</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10</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个车站可以下车，如到达一个车站没有旅客下车就不停车。以</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表示停车的次数，求</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E(X)</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设每位旅客在各个车站下车是等可能的，并设各旅客是否下车相互独立</a:t>
            </a:r>
            <a:r>
              <a:rPr lang="en-US" altLang="zh-CN" sz="2400"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0117" name="Object 5"/>
          <p:cNvGraphicFramePr>
            <a:graphicFrameLocks noChangeAspect="1"/>
          </p:cNvGraphicFramePr>
          <p:nvPr/>
        </p:nvGraphicFramePr>
        <p:xfrm>
          <a:off x="1895194" y="3470261"/>
          <a:ext cx="7873214" cy="1708915"/>
        </p:xfrm>
        <a:graphic>
          <a:graphicData uri="http://schemas.openxmlformats.org/presentationml/2006/ole">
            <mc:AlternateContent xmlns:mc="http://schemas.openxmlformats.org/markup-compatibility/2006">
              <mc:Choice xmlns:v="urn:schemas-microsoft-com:vml" Requires="v">
                <p:oleObj spid="_x0000_s144414" name="Equation" r:id="rId1" imgW="78638400" imgH="17068800" progId="Equation.DSMT4">
                  <p:embed/>
                </p:oleObj>
              </mc:Choice>
              <mc:Fallback>
                <p:oleObj name="Equation" r:id="rId1" imgW="78638400" imgH="17068800" progId="Equation.DSMT4">
                  <p:embed/>
                  <p:pic>
                    <p:nvPicPr>
                      <p:cNvPr id="0" name="Object 5"/>
                      <p:cNvPicPr>
                        <a:picLocks noChangeAspect="1" noChangeArrowheads="1"/>
                      </p:cNvPicPr>
                      <p:nvPr/>
                    </p:nvPicPr>
                    <p:blipFill>
                      <a:blip r:embed="rId2"/>
                      <a:srcRect/>
                      <a:stretch>
                        <a:fillRect/>
                      </a:stretch>
                    </p:blipFill>
                    <p:spPr bwMode="auto">
                      <a:xfrm>
                        <a:off x="1895194" y="3470261"/>
                        <a:ext cx="7873214" cy="1708915"/>
                      </a:xfrm>
                      <a:prstGeom prst="rect">
                        <a:avLst/>
                      </a:prstGeom>
                      <a:noFill/>
                      <a:ln>
                        <a:noFill/>
                      </a:ln>
                      <a:effectLst/>
                    </p:spPr>
                  </p:pic>
                </p:oleObj>
              </mc:Fallback>
            </mc:AlternateContent>
          </a:graphicData>
        </a:graphic>
      </p:graphicFrame>
      <p:graphicFrame>
        <p:nvGraphicFramePr>
          <p:cNvPr id="90118" name="Object 6"/>
          <p:cNvGraphicFramePr>
            <a:graphicFrameLocks noChangeAspect="1"/>
          </p:cNvGraphicFramePr>
          <p:nvPr/>
        </p:nvGraphicFramePr>
        <p:xfrm>
          <a:off x="1895194" y="5443765"/>
          <a:ext cx="4977119" cy="570625"/>
        </p:xfrm>
        <a:graphic>
          <a:graphicData uri="http://schemas.openxmlformats.org/presentationml/2006/ole">
            <mc:AlternateContent xmlns:mc="http://schemas.openxmlformats.org/markup-compatibility/2006">
              <mc:Choice xmlns:v="urn:schemas-microsoft-com:vml" Requires="v">
                <p:oleObj spid="_x0000_s144415" name="Equation" r:id="rId3" imgW="47853600" imgH="5486400" progId="Equation.DSMT4">
                  <p:embed/>
                </p:oleObj>
              </mc:Choice>
              <mc:Fallback>
                <p:oleObj name="Equation" r:id="rId3" imgW="47853600" imgH="5486400" progId="Equation.DSMT4">
                  <p:embed/>
                  <p:pic>
                    <p:nvPicPr>
                      <p:cNvPr id="0" name="Object 6"/>
                      <p:cNvPicPr>
                        <a:picLocks noChangeAspect="1" noChangeArrowheads="1"/>
                      </p:cNvPicPr>
                      <p:nvPr/>
                    </p:nvPicPr>
                    <p:blipFill>
                      <a:blip r:embed="rId4"/>
                      <a:srcRect/>
                      <a:stretch>
                        <a:fillRect/>
                      </a:stretch>
                    </p:blipFill>
                    <p:spPr bwMode="auto">
                      <a:xfrm>
                        <a:off x="1895194" y="5443765"/>
                        <a:ext cx="4977119" cy="570625"/>
                      </a:xfrm>
                      <a:prstGeom prst="rect">
                        <a:avLst/>
                      </a:prstGeom>
                      <a:noFill/>
                      <a:ln>
                        <a:noFill/>
                      </a:ln>
                      <a:effectLst/>
                    </p:spPr>
                  </p:pic>
                </p:oleObj>
              </mc:Fallback>
            </mc:AlternateContent>
          </a:graphicData>
        </a:graphic>
      </p:graphicFrame>
      <p:cxnSp>
        <p:nvCxnSpPr>
          <p:cNvPr id="5" name="直接连接符 4"/>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五、数学期望性质的应用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7" name="组合 6"/>
          <p:cNvGrpSpPr/>
          <p:nvPr/>
        </p:nvGrpSpPr>
        <p:grpSpPr>
          <a:xfrm>
            <a:off x="851761" y="364781"/>
            <a:ext cx="263341" cy="395013"/>
            <a:chOff x="5284519" y="1508166"/>
            <a:chExt cx="213756" cy="427512"/>
          </a:xfrm>
        </p:grpSpPr>
        <p:cxnSp>
          <p:nvCxnSpPr>
            <p:cNvPr id="8" name="直接连接符 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9" name="直接连接符 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0116"/>
                                        </p:tgtEl>
                                        <p:attrNameLst>
                                          <p:attrName>style.visibility</p:attrName>
                                        </p:attrNameLst>
                                      </p:cBhvr>
                                      <p:to>
                                        <p:strVal val="visible"/>
                                      </p:to>
                                    </p:set>
                                    <p:anim calcmode="lin" valueType="num">
                                      <p:cBhvr additive="base">
                                        <p:cTn id="7" dur="500" fill="hold"/>
                                        <p:tgtEl>
                                          <p:spTgt spid="90116"/>
                                        </p:tgtEl>
                                        <p:attrNameLst>
                                          <p:attrName>ppt_x</p:attrName>
                                        </p:attrNameLst>
                                      </p:cBhvr>
                                      <p:tavLst>
                                        <p:tav tm="0">
                                          <p:val>
                                            <p:strVal val="0-#ppt_w/2"/>
                                          </p:val>
                                        </p:tav>
                                        <p:tav tm="100000">
                                          <p:val>
                                            <p:strVal val="#ppt_x"/>
                                          </p:val>
                                        </p:tav>
                                      </p:tavLst>
                                    </p:anim>
                                    <p:anim calcmode="lin" valueType="num">
                                      <p:cBhvr additive="base">
                                        <p:cTn id="8" dur="500" fill="hold"/>
                                        <p:tgtEl>
                                          <p:spTgt spid="901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0117"/>
                                        </p:tgtEl>
                                        <p:attrNameLst>
                                          <p:attrName>style.visibility</p:attrName>
                                        </p:attrNameLst>
                                      </p:cBhvr>
                                      <p:to>
                                        <p:strVal val="visible"/>
                                      </p:to>
                                    </p:set>
                                    <p:anim calcmode="lin" valueType="num">
                                      <p:cBhvr additive="base">
                                        <p:cTn id="13" dur="500" fill="hold"/>
                                        <p:tgtEl>
                                          <p:spTgt spid="90117"/>
                                        </p:tgtEl>
                                        <p:attrNameLst>
                                          <p:attrName>ppt_x</p:attrName>
                                        </p:attrNameLst>
                                      </p:cBhvr>
                                      <p:tavLst>
                                        <p:tav tm="0">
                                          <p:val>
                                            <p:strVal val="0-#ppt_w/2"/>
                                          </p:val>
                                        </p:tav>
                                        <p:tav tm="100000">
                                          <p:val>
                                            <p:strVal val="#ppt_x"/>
                                          </p:val>
                                        </p:tav>
                                      </p:tavLst>
                                    </p:anim>
                                    <p:anim calcmode="lin" valueType="num">
                                      <p:cBhvr additive="base">
                                        <p:cTn id="14" dur="500" fill="hold"/>
                                        <p:tgtEl>
                                          <p:spTgt spid="901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0118"/>
                                        </p:tgtEl>
                                        <p:attrNameLst>
                                          <p:attrName>style.visibility</p:attrName>
                                        </p:attrNameLst>
                                      </p:cBhvr>
                                      <p:to>
                                        <p:strVal val="visible"/>
                                      </p:to>
                                    </p:set>
                                    <p:anim calcmode="lin" valueType="num">
                                      <p:cBhvr additive="base">
                                        <p:cTn id="19" dur="500" fill="hold"/>
                                        <p:tgtEl>
                                          <p:spTgt spid="90118"/>
                                        </p:tgtEl>
                                        <p:attrNameLst>
                                          <p:attrName>ppt_x</p:attrName>
                                        </p:attrNameLst>
                                      </p:cBhvr>
                                      <p:tavLst>
                                        <p:tav tm="0">
                                          <p:val>
                                            <p:strVal val="0-#ppt_w/2"/>
                                          </p:val>
                                        </p:tav>
                                        <p:tav tm="100000">
                                          <p:val>
                                            <p:strVal val="#ppt_x"/>
                                          </p:val>
                                        </p:tav>
                                      </p:tavLst>
                                    </p:anim>
                                    <p:anim calcmode="lin" valueType="num">
                                      <p:cBhvr additive="base">
                                        <p:cTn id="20" dur="500" fill="hold"/>
                                        <p:tgtEl>
                                          <p:spTgt spid="901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Text Box 4"/>
          <p:cNvSpPr txBox="1">
            <a:spLocks noChangeArrowheads="1"/>
          </p:cNvSpPr>
          <p:nvPr/>
        </p:nvSpPr>
        <p:spPr bwMode="auto">
          <a:xfrm>
            <a:off x="1775520" y="1278307"/>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按题意</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1141" name="Object 5"/>
          <p:cNvGraphicFramePr>
            <a:graphicFrameLocks noChangeAspect="1"/>
          </p:cNvGraphicFramePr>
          <p:nvPr/>
        </p:nvGraphicFramePr>
        <p:xfrm>
          <a:off x="3359696" y="1074754"/>
          <a:ext cx="6621949" cy="914225"/>
        </p:xfrm>
        <a:graphic>
          <a:graphicData uri="http://schemas.openxmlformats.org/presentationml/2006/ole">
            <mc:AlternateContent xmlns:mc="http://schemas.openxmlformats.org/markup-compatibility/2006">
              <mc:Choice xmlns:v="urn:schemas-microsoft-com:vml" Requires="v">
                <p:oleObj spid="_x0000_s145452" name="Equation" r:id="rId1" imgW="81686400" imgH="11277600" progId="Equation.DSMT4">
                  <p:embed/>
                </p:oleObj>
              </mc:Choice>
              <mc:Fallback>
                <p:oleObj name="Equation" r:id="rId1" imgW="81686400" imgH="11277600" progId="Equation.DSMT4">
                  <p:embed/>
                  <p:pic>
                    <p:nvPicPr>
                      <p:cNvPr id="0" name="Object 5"/>
                      <p:cNvPicPr>
                        <a:picLocks noChangeAspect="1" noChangeArrowheads="1"/>
                      </p:cNvPicPr>
                      <p:nvPr/>
                    </p:nvPicPr>
                    <p:blipFill>
                      <a:blip r:embed="rId2"/>
                      <a:srcRect/>
                      <a:stretch>
                        <a:fillRect/>
                      </a:stretch>
                    </p:blipFill>
                    <p:spPr bwMode="auto">
                      <a:xfrm>
                        <a:off x="3359696" y="1074754"/>
                        <a:ext cx="6621949" cy="914225"/>
                      </a:xfrm>
                      <a:prstGeom prst="rect">
                        <a:avLst/>
                      </a:prstGeom>
                      <a:noFill/>
                      <a:ln>
                        <a:noFill/>
                      </a:ln>
                      <a:effectLst/>
                    </p:spPr>
                  </p:pic>
                </p:oleObj>
              </mc:Fallback>
            </mc:AlternateContent>
          </a:graphicData>
        </a:graphic>
      </p:graphicFrame>
      <p:graphicFrame>
        <p:nvGraphicFramePr>
          <p:cNvPr id="91142" name="Object 6"/>
          <p:cNvGraphicFramePr>
            <a:graphicFrameLocks noChangeAspect="1"/>
          </p:cNvGraphicFramePr>
          <p:nvPr/>
        </p:nvGraphicFramePr>
        <p:xfrm>
          <a:off x="2240011" y="2054796"/>
          <a:ext cx="4941753" cy="914225"/>
        </p:xfrm>
        <a:graphic>
          <a:graphicData uri="http://schemas.openxmlformats.org/presentationml/2006/ole">
            <mc:AlternateContent xmlns:mc="http://schemas.openxmlformats.org/markup-compatibility/2006">
              <mc:Choice xmlns:v="urn:schemas-microsoft-com:vml" Requires="v">
                <p:oleObj spid="_x0000_s145453" name="Equation" r:id="rId3" imgW="60960000" imgH="11277600" progId="Equation.DSMT4">
                  <p:embed/>
                </p:oleObj>
              </mc:Choice>
              <mc:Fallback>
                <p:oleObj name="Equation" r:id="rId3" imgW="60960000" imgH="11277600" progId="Equation.DSMT4">
                  <p:embed/>
                  <p:pic>
                    <p:nvPicPr>
                      <p:cNvPr id="0" name="Object 6"/>
                      <p:cNvPicPr>
                        <a:picLocks noChangeAspect="1" noChangeArrowheads="1"/>
                      </p:cNvPicPr>
                      <p:nvPr/>
                    </p:nvPicPr>
                    <p:blipFill>
                      <a:blip r:embed="rId4"/>
                      <a:srcRect/>
                      <a:stretch>
                        <a:fillRect/>
                      </a:stretch>
                    </p:blipFill>
                    <p:spPr bwMode="auto">
                      <a:xfrm>
                        <a:off x="2240011" y="2054796"/>
                        <a:ext cx="4941753" cy="914225"/>
                      </a:xfrm>
                      <a:prstGeom prst="rect">
                        <a:avLst/>
                      </a:prstGeom>
                      <a:noFill/>
                      <a:ln>
                        <a:noFill/>
                      </a:ln>
                      <a:effectLst/>
                    </p:spPr>
                  </p:pic>
                </p:oleObj>
              </mc:Fallback>
            </mc:AlternateContent>
          </a:graphicData>
        </a:graphic>
      </p:graphicFrame>
      <p:graphicFrame>
        <p:nvGraphicFramePr>
          <p:cNvPr id="91143" name="Object 7"/>
          <p:cNvGraphicFramePr>
            <a:graphicFrameLocks noChangeAspect="1"/>
          </p:cNvGraphicFramePr>
          <p:nvPr/>
        </p:nvGraphicFramePr>
        <p:xfrm>
          <a:off x="2231134" y="3075840"/>
          <a:ext cx="5584181" cy="1803740"/>
        </p:xfrm>
        <a:graphic>
          <a:graphicData uri="http://schemas.openxmlformats.org/presentationml/2006/ole">
            <mc:AlternateContent xmlns:mc="http://schemas.openxmlformats.org/markup-compatibility/2006">
              <mc:Choice xmlns:v="urn:schemas-microsoft-com:vml" Requires="v">
                <p:oleObj spid="_x0000_s145454" name="Equation" r:id="rId5" imgW="68884800" imgH="22250400" progId="Equation.DSMT4">
                  <p:embed/>
                </p:oleObj>
              </mc:Choice>
              <mc:Fallback>
                <p:oleObj name="Equation" r:id="rId5" imgW="68884800" imgH="22250400" progId="Equation.DSMT4">
                  <p:embed/>
                  <p:pic>
                    <p:nvPicPr>
                      <p:cNvPr id="0" name="Object 7"/>
                      <p:cNvPicPr>
                        <a:picLocks noChangeAspect="1" noChangeArrowheads="1"/>
                      </p:cNvPicPr>
                      <p:nvPr/>
                    </p:nvPicPr>
                    <p:blipFill>
                      <a:blip r:embed="rId6"/>
                      <a:srcRect/>
                      <a:stretch>
                        <a:fillRect/>
                      </a:stretch>
                    </p:blipFill>
                    <p:spPr bwMode="auto">
                      <a:xfrm>
                        <a:off x="2231134" y="3075840"/>
                        <a:ext cx="5584181" cy="1803740"/>
                      </a:xfrm>
                      <a:prstGeom prst="rect">
                        <a:avLst/>
                      </a:prstGeom>
                      <a:noFill/>
                      <a:ln>
                        <a:noFill/>
                      </a:ln>
                      <a:effectLst/>
                    </p:spPr>
                  </p:pic>
                </p:oleObj>
              </mc:Fallback>
            </mc:AlternateContent>
          </a:graphicData>
        </a:graphic>
      </p:graphicFrame>
      <p:sp>
        <p:nvSpPr>
          <p:cNvPr id="91144" name="Text Box 8"/>
          <p:cNvSpPr txBox="1">
            <a:spLocks noChangeArrowheads="1"/>
          </p:cNvSpPr>
          <p:nvPr/>
        </p:nvSpPr>
        <p:spPr bwMode="auto">
          <a:xfrm>
            <a:off x="1144794" y="4835765"/>
            <a:ext cx="9991766"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本题是将 </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分解成数个随机变量之和，然后利用随机变量和的数学期望等于随机变量数学期望的和来求数学期望的，此方法具有一定的意义。</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五、数学期望性质的应用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1140"/>
                                        </p:tgtEl>
                                        <p:attrNameLst>
                                          <p:attrName>style.visibility</p:attrName>
                                        </p:attrNameLst>
                                      </p:cBhvr>
                                      <p:to>
                                        <p:strVal val="visible"/>
                                      </p:to>
                                    </p:set>
                                    <p:anim calcmode="lin" valueType="num">
                                      <p:cBhvr additive="base">
                                        <p:cTn id="7" dur="500" fill="hold"/>
                                        <p:tgtEl>
                                          <p:spTgt spid="91140"/>
                                        </p:tgtEl>
                                        <p:attrNameLst>
                                          <p:attrName>ppt_x</p:attrName>
                                        </p:attrNameLst>
                                      </p:cBhvr>
                                      <p:tavLst>
                                        <p:tav tm="0">
                                          <p:val>
                                            <p:strVal val="0-#ppt_w/2"/>
                                          </p:val>
                                        </p:tav>
                                        <p:tav tm="100000">
                                          <p:val>
                                            <p:strVal val="#ppt_x"/>
                                          </p:val>
                                        </p:tav>
                                      </p:tavLst>
                                    </p:anim>
                                    <p:anim calcmode="lin" valueType="num">
                                      <p:cBhvr additive="base">
                                        <p:cTn id="8" dur="500" fill="hold"/>
                                        <p:tgtEl>
                                          <p:spTgt spid="911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1141"/>
                                        </p:tgtEl>
                                        <p:attrNameLst>
                                          <p:attrName>style.visibility</p:attrName>
                                        </p:attrNameLst>
                                      </p:cBhvr>
                                      <p:to>
                                        <p:strVal val="visible"/>
                                      </p:to>
                                    </p:set>
                                    <p:anim calcmode="lin" valueType="num">
                                      <p:cBhvr additive="base">
                                        <p:cTn id="13" dur="500" fill="hold"/>
                                        <p:tgtEl>
                                          <p:spTgt spid="91141"/>
                                        </p:tgtEl>
                                        <p:attrNameLst>
                                          <p:attrName>ppt_x</p:attrName>
                                        </p:attrNameLst>
                                      </p:cBhvr>
                                      <p:tavLst>
                                        <p:tav tm="0">
                                          <p:val>
                                            <p:strVal val="0-#ppt_w/2"/>
                                          </p:val>
                                        </p:tav>
                                        <p:tav tm="100000">
                                          <p:val>
                                            <p:strVal val="#ppt_x"/>
                                          </p:val>
                                        </p:tav>
                                      </p:tavLst>
                                    </p:anim>
                                    <p:anim calcmode="lin" valueType="num">
                                      <p:cBhvr additive="base">
                                        <p:cTn id="14" dur="500" fill="hold"/>
                                        <p:tgtEl>
                                          <p:spTgt spid="9114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1142"/>
                                        </p:tgtEl>
                                        <p:attrNameLst>
                                          <p:attrName>style.visibility</p:attrName>
                                        </p:attrNameLst>
                                      </p:cBhvr>
                                      <p:to>
                                        <p:strVal val="visible"/>
                                      </p:to>
                                    </p:set>
                                    <p:anim calcmode="lin" valueType="num">
                                      <p:cBhvr additive="base">
                                        <p:cTn id="19" dur="500" fill="hold"/>
                                        <p:tgtEl>
                                          <p:spTgt spid="91142"/>
                                        </p:tgtEl>
                                        <p:attrNameLst>
                                          <p:attrName>ppt_x</p:attrName>
                                        </p:attrNameLst>
                                      </p:cBhvr>
                                      <p:tavLst>
                                        <p:tav tm="0">
                                          <p:val>
                                            <p:strVal val="0-#ppt_w/2"/>
                                          </p:val>
                                        </p:tav>
                                        <p:tav tm="100000">
                                          <p:val>
                                            <p:strVal val="#ppt_x"/>
                                          </p:val>
                                        </p:tav>
                                      </p:tavLst>
                                    </p:anim>
                                    <p:anim calcmode="lin" valueType="num">
                                      <p:cBhvr additive="base">
                                        <p:cTn id="20" dur="500" fill="hold"/>
                                        <p:tgtEl>
                                          <p:spTgt spid="9114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1143"/>
                                        </p:tgtEl>
                                        <p:attrNameLst>
                                          <p:attrName>style.visibility</p:attrName>
                                        </p:attrNameLst>
                                      </p:cBhvr>
                                      <p:to>
                                        <p:strVal val="visible"/>
                                      </p:to>
                                    </p:set>
                                    <p:anim calcmode="lin" valueType="num">
                                      <p:cBhvr additive="base">
                                        <p:cTn id="25" dur="500" fill="hold"/>
                                        <p:tgtEl>
                                          <p:spTgt spid="91143"/>
                                        </p:tgtEl>
                                        <p:attrNameLst>
                                          <p:attrName>ppt_x</p:attrName>
                                        </p:attrNameLst>
                                      </p:cBhvr>
                                      <p:tavLst>
                                        <p:tav tm="0">
                                          <p:val>
                                            <p:strVal val="0-#ppt_w/2"/>
                                          </p:val>
                                        </p:tav>
                                        <p:tav tm="100000">
                                          <p:val>
                                            <p:strVal val="#ppt_x"/>
                                          </p:val>
                                        </p:tav>
                                      </p:tavLst>
                                    </p:anim>
                                    <p:anim calcmode="lin" valueType="num">
                                      <p:cBhvr additive="base">
                                        <p:cTn id="26" dur="500" fill="hold"/>
                                        <p:tgtEl>
                                          <p:spTgt spid="9114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1144"/>
                                        </p:tgtEl>
                                        <p:attrNameLst>
                                          <p:attrName>style.visibility</p:attrName>
                                        </p:attrNameLst>
                                      </p:cBhvr>
                                      <p:to>
                                        <p:strVal val="visible"/>
                                      </p:to>
                                    </p:set>
                                    <p:anim calcmode="lin" valueType="num">
                                      <p:cBhvr additive="base">
                                        <p:cTn id="31" dur="500" fill="hold"/>
                                        <p:tgtEl>
                                          <p:spTgt spid="91144"/>
                                        </p:tgtEl>
                                        <p:attrNameLst>
                                          <p:attrName>ppt_x</p:attrName>
                                        </p:attrNameLst>
                                      </p:cBhvr>
                                      <p:tavLst>
                                        <p:tav tm="0">
                                          <p:val>
                                            <p:strVal val="0-#ppt_w/2"/>
                                          </p:val>
                                        </p:tav>
                                        <p:tav tm="100000">
                                          <p:val>
                                            <p:strVal val="#ppt_x"/>
                                          </p:val>
                                        </p:tav>
                                      </p:tavLst>
                                    </p:anim>
                                    <p:anim calcmode="lin" valueType="num">
                                      <p:cBhvr additive="base">
                                        <p:cTn id="32" dur="500" fill="hold"/>
                                        <p:tgtEl>
                                          <p:spTgt spid="911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bldLvl="0" animBg="1"/>
      <p:bldP spid="91144" grpId="0" bldLvl="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Text Box 4"/>
          <p:cNvSpPr txBox="1">
            <a:spLocks noChangeArrowheads="1"/>
          </p:cNvSpPr>
          <p:nvPr/>
        </p:nvSpPr>
        <p:spPr bwMode="auto">
          <a:xfrm>
            <a:off x="1422594" y="1412776"/>
            <a:ext cx="956995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50000"/>
              </a:lnSpc>
              <a:buFont typeface="Arial" panose="020B0604020202020204" pitchFamily="34" charset="0"/>
              <a:buChar char="•"/>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数学期望的定义</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marL="457200" indent="-457200">
              <a:lnSpc>
                <a:spcPct val="150000"/>
              </a:lnSpc>
              <a:buFont typeface="Arial" panose="020B0604020202020204" pitchFamily="34" charset="0"/>
              <a:buChar char="•"/>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数学期望的性质</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marL="457200" indent="-457200">
              <a:lnSpc>
                <a:spcPct val="150000"/>
              </a:lnSpc>
              <a:buFont typeface="Arial" panose="020B0604020202020204" pitchFamily="34" charset="0"/>
              <a:buChar char="•"/>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随机变量函数的数学期望</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的方法：“</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分解成数个随机变量之和，利用</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E(X)=E(X</a:t>
            </a:r>
            <a:r>
              <a:rPr lang="en-US" altLang="zh-CN"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+X</a:t>
            </a:r>
            <a:r>
              <a:rPr lang="en-US" altLang="zh-CN"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E(X</a:t>
            </a:r>
            <a:r>
              <a:rPr lang="en-US" altLang="zh-CN"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E(X</a:t>
            </a:r>
            <a:r>
              <a:rPr lang="en-US" altLang="zh-CN"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+E(</a:t>
            </a:r>
            <a:r>
              <a:rPr lang="en-US" altLang="zh-CN" sz="2800" b="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根据题型，以上方法可能独立使用，也可能结合使用。</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总结数学期望的计算方法</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1140"/>
                                        </p:tgtEl>
                                        <p:attrNameLst>
                                          <p:attrName>style.visibility</p:attrName>
                                        </p:attrNameLst>
                                      </p:cBhvr>
                                      <p:to>
                                        <p:strVal val="visible"/>
                                      </p:to>
                                    </p:set>
                                    <p:anim calcmode="lin" valueType="num">
                                      <p:cBhvr additive="base">
                                        <p:cTn id="7" dur="500" fill="hold"/>
                                        <p:tgtEl>
                                          <p:spTgt spid="91140"/>
                                        </p:tgtEl>
                                        <p:attrNameLst>
                                          <p:attrName>ppt_x</p:attrName>
                                        </p:attrNameLst>
                                      </p:cBhvr>
                                      <p:tavLst>
                                        <p:tav tm="0">
                                          <p:val>
                                            <p:strVal val="0-#ppt_w/2"/>
                                          </p:val>
                                        </p:tav>
                                        <p:tav tm="100000">
                                          <p:val>
                                            <p:strVal val="#ppt_x"/>
                                          </p:val>
                                        </p:tav>
                                      </p:tavLst>
                                    </p:anim>
                                    <p:anim calcmode="lin" valueType="num">
                                      <p:cBhvr additive="base">
                                        <p:cTn id="8" dur="500" fill="hold"/>
                                        <p:tgtEl>
                                          <p:spTgt spid="911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94469" y="2811243"/>
            <a:ext cx="5040000" cy="923330"/>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课堂练习</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06</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9" name="Text Box 9"/>
          <p:cNvSpPr txBox="1">
            <a:spLocks noChangeArrowheads="1"/>
          </p:cNvSpPr>
          <p:nvPr/>
        </p:nvSpPr>
        <p:spPr bwMode="auto">
          <a:xfrm>
            <a:off x="1335307" y="1124744"/>
            <a:ext cx="9288463" cy="1821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某人的一串钥匙上有</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把钥匙，其中只有一把能打开自己的家门，他随意地试用这串钥匙中的某一把去开门，若每把钥匙试开一次后除去，求打开门时试开次数的数学期望。</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8" name="直接连接符 7"/>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矩形 8"/>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六、课堂练习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0" name="组合 9"/>
          <p:cNvGrpSpPr/>
          <p:nvPr/>
        </p:nvGrpSpPr>
        <p:grpSpPr>
          <a:xfrm>
            <a:off x="851761" y="364781"/>
            <a:ext cx="263341" cy="395013"/>
            <a:chOff x="5284519" y="1508166"/>
            <a:chExt cx="213756" cy="427512"/>
          </a:xfrm>
        </p:grpSpPr>
        <p:cxnSp>
          <p:nvCxnSpPr>
            <p:cNvPr id="11" name="直接连接符 10"/>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2" name="直接连接符 11"/>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4" name="Rectangle 5"/>
          <p:cNvSpPr>
            <a:spLocks noChangeArrowheads="1"/>
          </p:cNvSpPr>
          <p:nvPr/>
        </p:nvSpPr>
        <p:spPr bwMode="auto">
          <a:xfrm>
            <a:off x="1943100" y="3178624"/>
            <a:ext cx="777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解：设试开次数为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是离散型随机变量，</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Rectangle 8"/>
          <p:cNvSpPr>
            <a:spLocks noChangeArrowheads="1"/>
          </p:cNvSpPr>
          <p:nvPr/>
        </p:nvSpPr>
        <p:spPr bwMode="auto">
          <a:xfrm>
            <a:off x="1965390" y="5336975"/>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于是</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 name="Group 10"/>
          <p:cNvGrpSpPr/>
          <p:nvPr/>
        </p:nvGrpSpPr>
        <p:grpSpPr bwMode="auto">
          <a:xfrm>
            <a:off x="2984354" y="5035816"/>
            <a:ext cx="2520950" cy="1125537"/>
            <a:chOff x="1185" y="2400"/>
            <a:chExt cx="1588" cy="709"/>
          </a:xfrm>
        </p:grpSpPr>
        <p:sp>
          <p:nvSpPr>
            <p:cNvPr id="20" name="Rectangle 11"/>
            <p:cNvSpPr>
              <a:spLocks noChangeArrowheads="1"/>
            </p:cNvSpPr>
            <p:nvPr/>
          </p:nvSpPr>
          <p:spPr bwMode="auto">
            <a:xfrm>
              <a:off x="1185" y="2562"/>
              <a:ext cx="738"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1" name="Object 12"/>
            <p:cNvGraphicFramePr>
              <a:graphicFrameLocks noChangeAspect="1"/>
            </p:cNvGraphicFramePr>
            <p:nvPr/>
          </p:nvGraphicFramePr>
          <p:xfrm>
            <a:off x="1771" y="2400"/>
            <a:ext cx="1002" cy="709"/>
          </p:xfrm>
          <a:graphic>
            <a:graphicData uri="http://schemas.openxmlformats.org/presentationml/2006/ole">
              <mc:AlternateContent xmlns:mc="http://schemas.openxmlformats.org/markup-compatibility/2006">
                <mc:Choice xmlns:v="urn:schemas-microsoft-com:vml" Requires="v">
                  <p:oleObj spid="_x0000_s146476" name="Equation" r:id="rId1" imgW="14630400" imgH="10363200" progId="Equation.DSMT4">
                    <p:embed/>
                  </p:oleObj>
                </mc:Choice>
                <mc:Fallback>
                  <p:oleObj name="Equation" r:id="rId1" imgW="14630400" imgH="10363200" progId="Equation.DSMT4">
                    <p:embed/>
                    <p:pic>
                      <p:nvPicPr>
                        <p:cNvPr id="0" name="Object 12"/>
                        <p:cNvPicPr>
                          <a:picLocks noChangeAspect="1" noChangeArrowheads="1"/>
                        </p:cNvPicPr>
                        <p:nvPr/>
                      </p:nvPicPr>
                      <p:blipFill>
                        <a:blip r:embed="rId2"/>
                        <a:srcRect/>
                        <a:stretch>
                          <a:fillRect/>
                        </a:stretch>
                      </p:blipFill>
                      <p:spPr bwMode="auto">
                        <a:xfrm>
                          <a:off x="1771" y="2400"/>
                          <a:ext cx="1002" cy="70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2" name="Object 13"/>
          <p:cNvGraphicFramePr>
            <a:graphicFrameLocks noChangeAspect="1"/>
          </p:cNvGraphicFramePr>
          <p:nvPr/>
        </p:nvGraphicFramePr>
        <p:xfrm>
          <a:off x="5563017" y="5081059"/>
          <a:ext cx="2149475" cy="1035050"/>
        </p:xfrm>
        <a:graphic>
          <a:graphicData uri="http://schemas.openxmlformats.org/presentationml/2006/ole">
            <mc:AlternateContent xmlns:mc="http://schemas.openxmlformats.org/markup-compatibility/2006">
              <mc:Choice xmlns:v="urn:schemas-microsoft-com:vml" Requires="v">
                <p:oleObj spid="_x0000_s146477" name="Equation" r:id="rId3" imgW="19507200" imgH="9448800" progId="Equation.DSMT4">
                  <p:embed/>
                </p:oleObj>
              </mc:Choice>
              <mc:Fallback>
                <p:oleObj name="Equation" r:id="rId3" imgW="19507200" imgH="9448800" progId="Equation.DSMT4">
                  <p:embed/>
                  <p:pic>
                    <p:nvPicPr>
                      <p:cNvPr id="0" name="Object 13"/>
                      <p:cNvPicPr>
                        <a:picLocks noChangeAspect="1" noChangeArrowheads="1"/>
                      </p:cNvPicPr>
                      <p:nvPr/>
                    </p:nvPicPr>
                    <p:blipFill>
                      <a:blip r:embed="rId4"/>
                      <a:srcRect/>
                      <a:stretch>
                        <a:fillRect/>
                      </a:stretch>
                    </p:blipFill>
                    <p:spPr bwMode="auto">
                      <a:xfrm>
                        <a:off x="5563017" y="5081059"/>
                        <a:ext cx="2149475" cy="10350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4"/>
          <p:cNvGraphicFramePr>
            <a:graphicFrameLocks noChangeAspect="1"/>
          </p:cNvGraphicFramePr>
          <p:nvPr/>
        </p:nvGraphicFramePr>
        <p:xfrm>
          <a:off x="7724337" y="5094005"/>
          <a:ext cx="1208087" cy="1035050"/>
        </p:xfrm>
        <a:graphic>
          <a:graphicData uri="http://schemas.openxmlformats.org/presentationml/2006/ole">
            <mc:AlternateContent xmlns:mc="http://schemas.openxmlformats.org/markup-compatibility/2006">
              <mc:Choice xmlns:v="urn:schemas-microsoft-com:vml" Requires="v">
                <p:oleObj spid="_x0000_s146478" name="Equation" r:id="rId5" imgW="10972800" imgH="9448800" progId="Equation.DSMT4">
                  <p:embed/>
                </p:oleObj>
              </mc:Choice>
              <mc:Fallback>
                <p:oleObj name="Equation" r:id="rId5" imgW="10972800" imgH="9448800" progId="Equation.DSMT4">
                  <p:embed/>
                  <p:pic>
                    <p:nvPicPr>
                      <p:cNvPr id="0" name="Object 14"/>
                      <p:cNvPicPr>
                        <a:picLocks noChangeAspect="1" noChangeArrowheads="1"/>
                      </p:cNvPicPr>
                      <p:nvPr/>
                    </p:nvPicPr>
                    <p:blipFill>
                      <a:blip r:embed="rId6"/>
                      <a:srcRect/>
                      <a:stretch>
                        <a:fillRect/>
                      </a:stretch>
                    </p:blipFill>
                    <p:spPr bwMode="auto">
                      <a:xfrm>
                        <a:off x="7724337" y="5094005"/>
                        <a:ext cx="1208087" cy="10350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Rectangle 18"/>
          <p:cNvSpPr>
            <a:spLocks noChangeArrowheads="1"/>
          </p:cNvSpPr>
          <p:nvPr/>
        </p:nvSpPr>
        <p:spPr bwMode="auto">
          <a:xfrm>
            <a:off x="4916250" y="4093265"/>
            <a:ext cx="50688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P(X=k)=1/n,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2,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Rectangle 5"/>
          <p:cNvSpPr>
            <a:spLocks noChangeArrowheads="1"/>
          </p:cNvSpPr>
          <p:nvPr/>
        </p:nvSpPr>
        <p:spPr bwMode="auto">
          <a:xfrm>
            <a:off x="2628604" y="4093683"/>
            <a:ext cx="61172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其分布率为：</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2169"/>
                                        </p:tgtEl>
                                        <p:attrNameLst>
                                          <p:attrName>style.visibility</p:attrName>
                                        </p:attrNameLst>
                                      </p:cBhvr>
                                      <p:to>
                                        <p:strVal val="visible"/>
                                      </p:to>
                                    </p:set>
                                    <p:anim calcmode="lin" valueType="num">
                                      <p:cBhvr additive="base">
                                        <p:cTn id="7" dur="500" fill="hold"/>
                                        <p:tgtEl>
                                          <p:spTgt spid="92169"/>
                                        </p:tgtEl>
                                        <p:attrNameLst>
                                          <p:attrName>ppt_x</p:attrName>
                                        </p:attrNameLst>
                                      </p:cBhvr>
                                      <p:tavLst>
                                        <p:tav tm="0">
                                          <p:val>
                                            <p:strVal val="0-#ppt_w/2"/>
                                          </p:val>
                                        </p:tav>
                                        <p:tav tm="100000">
                                          <p:val>
                                            <p:strVal val="#ppt_x"/>
                                          </p:val>
                                        </p:tav>
                                      </p:tavLst>
                                    </p:anim>
                                    <p:anim calcmode="lin" valueType="num">
                                      <p:cBhvr additive="base">
                                        <p:cTn id="8" dur="500" fill="hold"/>
                                        <p:tgtEl>
                                          <p:spTgt spid="9216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0-#ppt_w/2"/>
                                          </p:val>
                                        </p:tav>
                                        <p:tav tm="100000">
                                          <p:val>
                                            <p:strVal val="#ppt_x"/>
                                          </p:val>
                                        </p:tav>
                                      </p:tavLst>
                                    </p:anim>
                                    <p:anim calcmode="lin" valueType="num">
                                      <p:cBhvr additive="base">
                                        <p:cTn id="13" dur="500" fill="hold"/>
                                        <p:tgtEl>
                                          <p:spTgt spid="1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0-#ppt_w/2"/>
                                          </p:val>
                                        </p:tav>
                                        <p:tav tm="100000">
                                          <p:val>
                                            <p:strVal val="#ppt_x"/>
                                          </p:val>
                                        </p:tav>
                                      </p:tavLst>
                                    </p:anim>
                                    <p:anim calcmode="lin" valueType="num">
                                      <p:cBhvr additive="base">
                                        <p:cTn id="18" dur="500" fill="hold"/>
                                        <p:tgtEl>
                                          <p:spTgt spid="25"/>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additive="base">
                                        <p:cTn id="22" dur="500" fill="hold"/>
                                        <p:tgtEl>
                                          <p:spTgt spid="24"/>
                                        </p:tgtEl>
                                        <p:attrNameLst>
                                          <p:attrName>ppt_x</p:attrName>
                                        </p:attrNameLst>
                                      </p:cBhvr>
                                      <p:tavLst>
                                        <p:tav tm="0">
                                          <p:val>
                                            <p:strVal val="0-#ppt_w/2"/>
                                          </p:val>
                                        </p:tav>
                                        <p:tav tm="100000">
                                          <p:val>
                                            <p:strVal val="#ppt_x"/>
                                          </p:val>
                                        </p:tav>
                                      </p:tavLst>
                                    </p:anim>
                                    <p:anim calcmode="lin" valueType="num">
                                      <p:cBhvr additive="base">
                                        <p:cTn id="23" dur="500" fill="hold"/>
                                        <p:tgtEl>
                                          <p:spTgt spid="24"/>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0-#ppt_w/2"/>
                                          </p:val>
                                        </p:tav>
                                        <p:tav tm="100000">
                                          <p:val>
                                            <p:strVal val="#ppt_x"/>
                                          </p:val>
                                        </p:tav>
                                      </p:tavLst>
                                    </p:anim>
                                    <p:anim calcmode="lin" valueType="num">
                                      <p:cBhvr additive="base">
                                        <p:cTn id="28" dur="500" fill="hold"/>
                                        <p:tgtEl>
                                          <p:spTgt spid="17"/>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0-#ppt_w/2"/>
                                          </p:val>
                                        </p:tav>
                                        <p:tav tm="100000">
                                          <p:val>
                                            <p:strVal val="#ppt_x"/>
                                          </p:val>
                                        </p:tav>
                                      </p:tavLst>
                                    </p:anim>
                                    <p:anim calcmode="lin" valueType="num">
                                      <p:cBhvr additive="base">
                                        <p:cTn id="33" dur="500" fill="hold"/>
                                        <p:tgtEl>
                                          <p:spTgt spid="19"/>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0-#ppt_w/2"/>
                                          </p:val>
                                        </p:tav>
                                        <p:tav tm="100000">
                                          <p:val>
                                            <p:strVal val="#ppt_x"/>
                                          </p:val>
                                        </p:tav>
                                      </p:tavLst>
                                    </p:anim>
                                    <p:anim calcmode="lin" valueType="num">
                                      <p:cBhvr additive="base">
                                        <p:cTn id="38" dur="500" fill="hold"/>
                                        <p:tgtEl>
                                          <p:spTgt spid="22"/>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0-#ppt_w/2"/>
                                          </p:val>
                                        </p:tav>
                                        <p:tav tm="100000">
                                          <p:val>
                                            <p:strVal val="#ppt_x"/>
                                          </p:val>
                                        </p:tav>
                                      </p:tavLst>
                                    </p:anim>
                                    <p:anim calcmode="lin" valueType="num">
                                      <p:cBhvr additive="base">
                                        <p:cTn id="43"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9" grpId="0" bldLvl="0" animBg="1"/>
      <p:bldP spid="14" grpId="0" bldLvl="0" animBg="1"/>
      <p:bldP spid="17" grpId="0" bldLvl="0" animBg="1"/>
      <p:bldP spid="24" grpId="0" bldLvl="0" animBg="1"/>
      <p:bldP spid="25"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矩形 8"/>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六、课堂练习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0" name="组合 9"/>
          <p:cNvGrpSpPr/>
          <p:nvPr/>
        </p:nvGrpSpPr>
        <p:grpSpPr>
          <a:xfrm>
            <a:off x="851761" y="364781"/>
            <a:ext cx="263341" cy="395013"/>
            <a:chOff x="5284519" y="1508166"/>
            <a:chExt cx="213756" cy="427512"/>
          </a:xfrm>
        </p:grpSpPr>
        <p:cxnSp>
          <p:nvCxnSpPr>
            <p:cNvPr id="11" name="直接连接符 10"/>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2" name="直接连接符 11"/>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2" name="组合 1"/>
          <p:cNvGrpSpPr/>
          <p:nvPr/>
        </p:nvGrpSpPr>
        <p:grpSpPr>
          <a:xfrm>
            <a:off x="1335307" y="1052736"/>
            <a:ext cx="7856538" cy="1984241"/>
            <a:chOff x="1324978" y="3480147"/>
            <a:chExt cx="7856538" cy="1984241"/>
          </a:xfrm>
        </p:grpSpPr>
        <p:grpSp>
          <p:nvGrpSpPr>
            <p:cNvPr id="92173" name="Group 13"/>
            <p:cNvGrpSpPr/>
            <p:nvPr/>
          </p:nvGrpSpPr>
          <p:grpSpPr bwMode="auto">
            <a:xfrm>
              <a:off x="1324978" y="3480147"/>
              <a:ext cx="7856538" cy="1238250"/>
              <a:chOff x="230" y="2293"/>
              <a:chExt cx="4949" cy="780"/>
            </a:xfrm>
          </p:grpSpPr>
          <p:sp>
            <p:nvSpPr>
              <p:cNvPr id="92170" name="Text Box 10"/>
              <p:cNvSpPr txBox="1">
                <a:spLocks noChangeArrowheads="1"/>
              </p:cNvSpPr>
              <p:nvPr/>
            </p:nvSpPr>
            <p:spPr bwMode="auto">
              <a:xfrm>
                <a:off x="230" y="2518"/>
                <a:ext cx="308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设随机变量</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的概率密度为</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2171" name="Object 11"/>
              <p:cNvGraphicFramePr>
                <a:graphicFrameLocks noChangeAspect="1"/>
              </p:cNvGraphicFramePr>
              <p:nvPr/>
            </p:nvGraphicFramePr>
            <p:xfrm>
              <a:off x="3229" y="2293"/>
              <a:ext cx="1950" cy="780"/>
            </p:xfrm>
            <a:graphic>
              <a:graphicData uri="http://schemas.openxmlformats.org/presentationml/2006/ole">
                <mc:AlternateContent xmlns:mc="http://schemas.openxmlformats.org/markup-compatibility/2006">
                  <mc:Choice xmlns:v="urn:schemas-microsoft-com:vml" Requires="v">
                    <p:oleObj spid="_x0000_s147486" name="Equation" r:id="rId1" imgW="28956000" imgH="11582400" progId="Equation.DSMT4">
                      <p:embed/>
                    </p:oleObj>
                  </mc:Choice>
                  <mc:Fallback>
                    <p:oleObj name="Equation" r:id="rId1" imgW="28956000" imgH="11582400" progId="Equation.DSMT4">
                      <p:embed/>
                      <p:pic>
                        <p:nvPicPr>
                          <p:cNvPr id="0" name="Object 11"/>
                          <p:cNvPicPr>
                            <a:picLocks noChangeAspect="1" noChangeArrowheads="1"/>
                          </p:cNvPicPr>
                          <p:nvPr/>
                        </p:nvPicPr>
                        <p:blipFill>
                          <a:blip r:embed="rId2"/>
                          <a:srcRect/>
                          <a:stretch>
                            <a:fillRect/>
                          </a:stretch>
                        </p:blipFill>
                        <p:spPr bwMode="auto">
                          <a:xfrm>
                            <a:off x="3229" y="2293"/>
                            <a:ext cx="1950" cy="780"/>
                          </a:xfrm>
                          <a:prstGeom prst="rect">
                            <a:avLst/>
                          </a:prstGeom>
                          <a:noFill/>
                          <a:ln>
                            <a:noFill/>
                          </a:ln>
                          <a:effectLst/>
                        </p:spPr>
                      </p:pic>
                    </p:oleObj>
                  </mc:Fallback>
                </mc:AlternateContent>
              </a:graphicData>
            </a:graphic>
          </p:graphicFrame>
        </p:grpSp>
        <p:sp>
          <p:nvSpPr>
            <p:cNvPr id="13" name="Text Box 10"/>
            <p:cNvSpPr txBox="1">
              <a:spLocks noChangeArrowheads="1"/>
            </p:cNvSpPr>
            <p:nvPr/>
          </p:nvSpPr>
          <p:spPr bwMode="auto">
            <a:xfrm>
              <a:off x="1703512" y="4941168"/>
              <a:ext cx="36551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求</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的数学期望。</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5" name="Text Box 16"/>
          <p:cNvSpPr txBox="1">
            <a:spLocks noChangeArrowheads="1"/>
          </p:cNvSpPr>
          <p:nvPr/>
        </p:nvSpPr>
        <p:spPr bwMode="auto">
          <a:xfrm>
            <a:off x="2048228" y="3297804"/>
            <a:ext cx="6400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是随机变量</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的函数</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6" name="Object 17"/>
          <p:cNvGraphicFramePr>
            <a:graphicFrameLocks noChangeAspect="1"/>
          </p:cNvGraphicFramePr>
          <p:nvPr/>
        </p:nvGraphicFramePr>
        <p:xfrm>
          <a:off x="2855640" y="4129585"/>
          <a:ext cx="6840760" cy="1346320"/>
        </p:xfrm>
        <a:graphic>
          <a:graphicData uri="http://schemas.openxmlformats.org/presentationml/2006/ole">
            <mc:AlternateContent xmlns:mc="http://schemas.openxmlformats.org/markup-compatibility/2006">
              <mc:Choice xmlns:v="urn:schemas-microsoft-com:vml" Requires="v">
                <p:oleObj spid="_x0000_s147487" name="Equation" r:id="rId3" imgW="57302400" imgH="11277600" progId="Equation.DSMT4">
                  <p:embed/>
                </p:oleObj>
              </mc:Choice>
              <mc:Fallback>
                <p:oleObj name="Equation" r:id="rId3" imgW="57302400" imgH="11277600" progId="Equation.DSMT4">
                  <p:embed/>
                  <p:pic>
                    <p:nvPicPr>
                      <p:cNvPr id="0" name="Object 17"/>
                      <p:cNvPicPr>
                        <a:picLocks noChangeAspect="1" noChangeArrowheads="1"/>
                      </p:cNvPicPr>
                      <p:nvPr/>
                    </p:nvPicPr>
                    <p:blipFill>
                      <a:blip r:embed="rId4"/>
                      <a:srcRect/>
                      <a:stretch>
                        <a:fillRect/>
                      </a:stretch>
                    </p:blipFill>
                    <p:spPr bwMode="auto">
                      <a:xfrm>
                        <a:off x="2855640" y="4129585"/>
                        <a:ext cx="6840760" cy="1346320"/>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0-#ppt_w/2"/>
                                          </p:val>
                                        </p:tav>
                                        <p:tav tm="100000">
                                          <p:val>
                                            <p:strVal val="#ppt_x"/>
                                          </p:val>
                                        </p:tav>
                                      </p:tavLst>
                                    </p:anim>
                                    <p:anim calcmode="lin" valueType="num">
                                      <p:cBhvr additive="base">
                                        <p:cTn id="13" dur="500" fill="hold"/>
                                        <p:tgtEl>
                                          <p:spTgt spid="1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0-#ppt_w/2"/>
                                          </p:val>
                                        </p:tav>
                                        <p:tav tm="100000">
                                          <p:val>
                                            <p:strVal val="#ppt_x"/>
                                          </p:val>
                                        </p:tav>
                                      </p:tavLst>
                                    </p:anim>
                                    <p:anim calcmode="lin" valueType="num">
                                      <p:cBhvr additive="base">
                                        <p:cTn id="1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87488" y="3068960"/>
            <a:ext cx="9865095" cy="33718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115102" y="1052736"/>
            <a:ext cx="10237481" cy="1954959"/>
          </a:xfrm>
          <a:prstGeom prst="rect">
            <a:avLst/>
          </a:prstGeom>
        </p:spPr>
        <p:txBody>
          <a:bodyPr wrap="square">
            <a:spAutoFit/>
          </a:bodyPr>
          <a:lstStyle/>
          <a:p>
            <a:pPr>
              <a:lnSpc>
                <a:spcPct val="150000"/>
              </a:lnSpc>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rPr>
              <a:t>某人在迷宫三叉口处，若进第一口走</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2</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rPr>
              <a:t>小时可走出迷宫，若进第二口走</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3</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rPr>
              <a:t>小时回到原处，若进第三口走</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4</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rPr>
              <a:t>小时回到原处，每次到达原处选择每个口都是等可能的。求走出迷宫平均要多长时间。</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六、课堂练习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29" name="图片 28"/>
          <p:cNvPicPr>
            <a:picLocks noChangeAspect="1"/>
          </p:cNvPicPr>
          <p:nvPr/>
        </p:nvPicPr>
        <p:blipFill>
          <a:blip r:embed="rId1"/>
          <a:stretch>
            <a:fillRect/>
          </a:stretch>
        </p:blipFill>
        <p:spPr>
          <a:xfrm>
            <a:off x="1487488" y="3068960"/>
            <a:ext cx="8010525" cy="1285875"/>
          </a:xfrm>
          <a:prstGeom prst="rect">
            <a:avLst/>
          </a:prstGeom>
        </p:spPr>
      </p:pic>
      <p:pic>
        <p:nvPicPr>
          <p:cNvPr id="30" name="图片 29"/>
          <p:cNvPicPr>
            <a:picLocks noChangeAspect="1"/>
          </p:cNvPicPr>
          <p:nvPr/>
        </p:nvPicPr>
        <p:blipFill>
          <a:blip r:embed="rId2"/>
          <a:stretch>
            <a:fillRect/>
          </a:stretch>
        </p:blipFill>
        <p:spPr>
          <a:xfrm>
            <a:off x="1487488" y="4354835"/>
            <a:ext cx="2152650" cy="1600200"/>
          </a:xfrm>
          <a:prstGeom prst="rect">
            <a:avLst/>
          </a:prstGeom>
        </p:spPr>
      </p:pic>
      <p:pic>
        <p:nvPicPr>
          <p:cNvPr id="31" name="图片 30"/>
          <p:cNvPicPr>
            <a:picLocks noChangeAspect="1"/>
          </p:cNvPicPr>
          <p:nvPr/>
        </p:nvPicPr>
        <p:blipFill>
          <a:blip r:embed="rId3"/>
          <a:stretch>
            <a:fillRect/>
          </a:stretch>
        </p:blipFill>
        <p:spPr>
          <a:xfrm>
            <a:off x="3640138" y="4354835"/>
            <a:ext cx="4953000" cy="2085975"/>
          </a:xfrm>
          <a:prstGeom prst="rect">
            <a:avLst/>
          </a:prstGeom>
        </p:spPr>
      </p:pic>
      <p:pic>
        <p:nvPicPr>
          <p:cNvPr id="32" name="图片 31"/>
          <p:cNvPicPr>
            <a:picLocks noChangeAspect="1"/>
          </p:cNvPicPr>
          <p:nvPr/>
        </p:nvPicPr>
        <p:blipFill>
          <a:blip r:embed="rId4"/>
          <a:stretch>
            <a:fillRect/>
          </a:stretch>
        </p:blipFill>
        <p:spPr>
          <a:xfrm>
            <a:off x="7190158" y="4869160"/>
            <a:ext cx="4162425" cy="13430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arn(inVertical)">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barn(inVertical)">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barn(inVertical)">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barn(inVertical)">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32640" y="2794719"/>
            <a:ext cx="5040000" cy="923330"/>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归纳总结</a:t>
            </a:r>
            <a:endParaRPr lang="en-US" altLang="zh-CN"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07</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406163" y="1556792"/>
            <a:ext cx="9373744" cy="4081088"/>
            <a:chOff x="1042739" y="2058271"/>
            <a:chExt cx="10106525" cy="4081088"/>
          </a:xfrm>
        </p:grpSpPr>
        <p:sp>
          <p:nvSpPr>
            <p:cNvPr id="11" name="矩形 10"/>
            <p:cNvSpPr/>
            <p:nvPr/>
          </p:nvSpPr>
          <p:spPr>
            <a:xfrm>
              <a:off x="1042739" y="2132314"/>
              <a:ext cx="10106525" cy="4007045"/>
            </a:xfrm>
            <a:prstGeom prst="rect">
              <a:avLst/>
            </a:prstGeom>
            <a:solidFill>
              <a:schemeClr val="bg1">
                <a:lumMod val="6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矩形 11"/>
            <p:cNvSpPr/>
            <p:nvPr/>
          </p:nvSpPr>
          <p:spPr>
            <a:xfrm>
              <a:off x="1177638" y="2058271"/>
              <a:ext cx="9836727" cy="395856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82969" name="Text Box 25"/>
          <p:cNvSpPr txBox="1">
            <a:spLocks noChangeArrowheads="1"/>
          </p:cNvSpPr>
          <p:nvPr/>
        </p:nvSpPr>
        <p:spPr bwMode="auto">
          <a:xfrm>
            <a:off x="1991544" y="2084588"/>
            <a:ext cx="8280920" cy="235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spcBef>
                <a:spcPct val="50000"/>
              </a:spcBef>
            </a:pPr>
            <a:r>
              <a:rPr lang="zh-CN" altLang="en-US" sz="34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       这一讲，我们介绍了随机变量的数学期望，它反映了随机变量取值的平均水平，是随机变量的一个重要的数字特征。</a:t>
            </a:r>
            <a:endParaRPr lang="en-US" altLang="zh-CN" sz="34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cxnSp>
        <p:nvCxnSpPr>
          <p:cNvPr id="5"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七、归纳总结</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7" name="组合 6"/>
          <p:cNvGrpSpPr/>
          <p:nvPr/>
        </p:nvGrpSpPr>
        <p:grpSpPr>
          <a:xfrm>
            <a:off x="851761" y="364781"/>
            <a:ext cx="263341" cy="395013"/>
            <a:chOff x="5284519" y="1508166"/>
            <a:chExt cx="213756" cy="427512"/>
          </a:xfrm>
        </p:grpSpPr>
        <p:cxnSp>
          <p:nvCxnSpPr>
            <p:cNvPr id="8" name="直接连接符 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9" name="直接连接符 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2969"/>
                                        </p:tgtEl>
                                        <p:attrNameLst>
                                          <p:attrName>style.visibility</p:attrName>
                                        </p:attrNameLst>
                                      </p:cBhvr>
                                      <p:to>
                                        <p:strVal val="visible"/>
                                      </p:to>
                                    </p:set>
                                    <p:anim calcmode="lin" valueType="num">
                                      <p:cBhvr>
                                        <p:cTn id="7" dur="500" fill="hold"/>
                                        <p:tgtEl>
                                          <p:spTgt spid="82969"/>
                                        </p:tgtEl>
                                        <p:attrNameLst>
                                          <p:attrName>ppt_w</p:attrName>
                                        </p:attrNameLst>
                                      </p:cBhvr>
                                      <p:tavLst>
                                        <p:tav tm="0">
                                          <p:val>
                                            <p:fltVal val="0"/>
                                          </p:val>
                                        </p:tav>
                                        <p:tav tm="100000">
                                          <p:val>
                                            <p:strVal val="#ppt_w"/>
                                          </p:val>
                                        </p:tav>
                                      </p:tavLst>
                                    </p:anim>
                                    <p:anim calcmode="lin" valueType="num">
                                      <p:cBhvr>
                                        <p:cTn id="8" dur="500" fill="hold"/>
                                        <p:tgtEl>
                                          <p:spTgt spid="82969"/>
                                        </p:tgtEl>
                                        <p:attrNameLst>
                                          <p:attrName>ppt_h</p:attrName>
                                        </p:attrNameLst>
                                      </p:cBhvr>
                                      <p:tavLst>
                                        <p:tav tm="0">
                                          <p:val>
                                            <p:fltVal val="0"/>
                                          </p:val>
                                        </p:tav>
                                        <p:tav tm="100000">
                                          <p:val>
                                            <p:strVal val="#ppt_h"/>
                                          </p:val>
                                        </p:tav>
                                      </p:tavLst>
                                    </p:anim>
                                    <p:animEffect transition="in" filter="fade">
                                      <p:cBhvr>
                                        <p:cTn id="9" dur="500"/>
                                        <p:tgtEl>
                                          <p:spTgt spid="82969"/>
                                        </p:tgtEl>
                                      </p:cBhvr>
                                    </p:animEffect>
                                  </p:childTnLst>
                                </p:cTn>
                              </p:par>
                              <p:par>
                                <p:cTn id="10" presetID="2" presetClass="entr" presetSubtype="4"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9"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endParaRPr lang="zh-CN" altLang="en-US" sz="2400"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3111229" y="3081773"/>
            <a:ext cx="1574865" cy="830997"/>
          </a:xfrm>
          <a:prstGeom prst="rect">
            <a:avLst/>
          </a:prstGeom>
          <a:noFill/>
        </p:spPr>
        <p:txBody>
          <a:bodyPr wrap="square" rtlCol="0">
            <a:spAutoFit/>
          </a:bodyPr>
          <a:lstStyle/>
          <a:p>
            <a:pPr algn="dist" defTabSz="685800"/>
            <a:r>
              <a:rPr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方差</a:t>
            </a:r>
            <a:endParaRPr kumimoji="0"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0" name="文本框 369"/>
          <p:cNvSpPr txBox="1"/>
          <p:nvPr/>
        </p:nvSpPr>
        <p:spPr>
          <a:xfrm>
            <a:off x="1777321" y="2073508"/>
            <a:ext cx="4559680" cy="830997"/>
          </a:xfrm>
          <a:prstGeom prst="rect">
            <a:avLst/>
          </a:prstGeom>
          <a:noFill/>
          <a:effectLst/>
        </p:spPr>
        <p:txBody>
          <a:bodyPr wrap="square" rtlCol="0">
            <a:spAutoFit/>
          </a:bodyPr>
          <a:lstStyle/>
          <a:p>
            <a:pPr algn="dist"/>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lang="en-US" altLang="zh-CN"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1018492" y="4013600"/>
            <a:ext cx="5628092" cy="669863"/>
          </a:xfrm>
          <a:prstGeom prst="rect">
            <a:avLst/>
          </a:prstGeom>
        </p:spPr>
        <p:txBody>
          <a:bodyPr wrap="square">
            <a:spAutoFit/>
          </a:bodyPr>
          <a:lstStyle/>
          <a:p>
            <a:pPr algn="ctr">
              <a:lnSpc>
                <a:spcPct val="150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5187"/>
            <a:chOff x="8226111" y="1728368"/>
            <a:chExt cx="3881691" cy="343518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4775"/>
            </a:xfrm>
            <a:prstGeom prst="rect">
              <a:avLst/>
            </a:prstGeom>
            <a:noFill/>
            <a:effectLst/>
          </p:spPr>
          <p:txBody>
            <a:bodyPr wrap="square" rtlCol="0">
              <a:spAutoFit/>
            </a:bodyPr>
            <a:lstStyle/>
            <a:p>
              <a:pPr algn="dist"/>
              <a:r>
                <a:rPr lang="zh-CN" altLang="en-US" sz="32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信息学院</a:t>
              </a:r>
              <a:endParaRPr lang="zh-CN" altLang="en-US" sz="32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0"/>
            <a:ext cx="3949908" cy="685800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组合 5"/>
          <p:cNvGrpSpPr/>
          <p:nvPr/>
        </p:nvGrpSpPr>
        <p:grpSpPr>
          <a:xfrm>
            <a:off x="0" y="5764053"/>
            <a:ext cx="3949910" cy="1043740"/>
            <a:chOff x="4782847" y="4094267"/>
            <a:chExt cx="4170084" cy="782805"/>
          </a:xfrm>
        </p:grpSpPr>
        <p:sp>
          <p:nvSpPr>
            <p:cNvPr id="7" name="矩形 6"/>
            <p:cNvSpPr/>
            <p:nvPr/>
          </p:nvSpPr>
          <p:spPr>
            <a:xfrm flipH="1">
              <a:off x="4972448" y="4396100"/>
              <a:ext cx="3980483" cy="36000"/>
            </a:xfrm>
            <a:prstGeom prst="rect">
              <a:avLst/>
            </a:prstGeom>
            <a:gradFill flip="none" rotWithShape="1">
              <a:gsLst>
                <a:gs pos="0">
                  <a:schemeClr val="bg1">
                    <a:lumMod val="95000"/>
                    <a:alpha val="0"/>
                  </a:schemeClr>
                </a:gs>
                <a:gs pos="48000">
                  <a:schemeClr val="bg1">
                    <a:lumMod val="95000"/>
                    <a:alpha val="55000"/>
                  </a:schemeClr>
                </a:gs>
                <a:gs pos="100000">
                  <a:schemeClr val="bg1">
                    <a:lumMod val="95000"/>
                    <a:alpha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8" name="直接连接符 7"/>
            <p:cNvCxnSpPr/>
            <p:nvPr/>
          </p:nvCxnSpPr>
          <p:spPr>
            <a:xfrm>
              <a:off x="5622744" y="4472521"/>
              <a:ext cx="3151522" cy="0"/>
            </a:xfrm>
            <a:prstGeom prst="line">
              <a:avLst/>
            </a:prstGeom>
            <a:ln w="19050">
              <a:gradFill flip="none" rotWithShape="1">
                <a:gsLst>
                  <a:gs pos="0">
                    <a:schemeClr val="accent1">
                      <a:lumMod val="5000"/>
                      <a:lumOff val="95000"/>
                      <a:alpha val="16000"/>
                    </a:schemeClr>
                  </a:gs>
                  <a:gs pos="60000">
                    <a:schemeClr val="bg1">
                      <a:lumMod val="95000"/>
                      <a:alpha val="55000"/>
                    </a:schemeClr>
                  </a:gs>
                  <a:gs pos="100000">
                    <a:schemeClr val="bg1">
                      <a:lumMod val="95000"/>
                      <a:alpha val="13000"/>
                    </a:schemeClr>
                  </a:gs>
                </a:gsLst>
                <a:lin ang="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768612" y="4645497"/>
              <a:ext cx="819227" cy="0"/>
            </a:xfrm>
            <a:prstGeom prst="line">
              <a:avLst/>
            </a:prstGeom>
            <a:ln w="19050">
              <a:gradFill flip="none" rotWithShape="1">
                <a:gsLst>
                  <a:gs pos="0">
                    <a:schemeClr val="accent1">
                      <a:lumMod val="5000"/>
                      <a:lumOff val="95000"/>
                      <a:alpha val="0"/>
                    </a:schemeClr>
                  </a:gs>
                  <a:gs pos="55000">
                    <a:schemeClr val="bg1">
                      <a:lumMod val="95000"/>
                      <a:alpha val="79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723086" y="4559944"/>
              <a:ext cx="819227" cy="0"/>
            </a:xfrm>
            <a:prstGeom prst="line">
              <a:avLst/>
            </a:prstGeom>
            <a:ln w="19050">
              <a:gradFill flip="none" rotWithShape="1">
                <a:gsLst>
                  <a:gs pos="0">
                    <a:schemeClr val="accent1">
                      <a:lumMod val="5000"/>
                      <a:lumOff val="95000"/>
                      <a:alpha val="0"/>
                    </a:schemeClr>
                  </a:gs>
                  <a:gs pos="55000">
                    <a:schemeClr val="bg1">
                      <a:lumMod val="95000"/>
                      <a:alpha val="79000"/>
                    </a:schemeClr>
                  </a:gs>
                  <a:gs pos="100000">
                    <a:schemeClr val="bg1">
                      <a:lumMod val="95000"/>
                      <a:alpha val="18000"/>
                    </a:schemeClr>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a:xfrm>
              <a:off x="7467298" y="4279163"/>
              <a:ext cx="260022" cy="422967"/>
            </a:xfrm>
            <a:custGeom>
              <a:avLst/>
              <a:gdLst>
                <a:gd name="connsiteX0" fmla="*/ 87369 w 260022"/>
                <a:gd name="connsiteY0" fmla="*/ 59184 h 422967"/>
                <a:gd name="connsiteX1" fmla="*/ 120540 w 260022"/>
                <a:gd name="connsiteY1" fmla="*/ 59184 h 422967"/>
                <a:gd name="connsiteX2" fmla="*/ 120540 w 260022"/>
                <a:gd name="connsiteY2" fmla="*/ 419184 h 422967"/>
                <a:gd name="connsiteX3" fmla="*/ 87369 w 260022"/>
                <a:gd name="connsiteY3" fmla="*/ 419184 h 422967"/>
                <a:gd name="connsiteX4" fmla="*/ 0 w 260022"/>
                <a:gd name="connsiteY4" fmla="*/ 59184 h 422967"/>
                <a:gd name="connsiteX5" fmla="*/ 33171 w 260022"/>
                <a:gd name="connsiteY5" fmla="*/ 59184 h 422967"/>
                <a:gd name="connsiteX6" fmla="*/ 33171 w 260022"/>
                <a:gd name="connsiteY6" fmla="*/ 419184 h 422967"/>
                <a:gd name="connsiteX7" fmla="*/ 0 w 260022"/>
                <a:gd name="connsiteY7" fmla="*/ 419184 h 422967"/>
                <a:gd name="connsiteX8" fmla="*/ 226851 w 260022"/>
                <a:gd name="connsiteY8" fmla="*/ 0 h 422967"/>
                <a:gd name="connsiteX9" fmla="*/ 260022 w 260022"/>
                <a:gd name="connsiteY9" fmla="*/ 0 h 422967"/>
                <a:gd name="connsiteX10" fmla="*/ 260022 w 260022"/>
                <a:gd name="connsiteY10" fmla="*/ 422967 h 422967"/>
                <a:gd name="connsiteX11" fmla="*/ 226851 w 260022"/>
                <a:gd name="connsiteY11" fmla="*/ 422967 h 422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022" h="422967">
                  <a:moveTo>
                    <a:pt x="87369" y="59184"/>
                  </a:moveTo>
                  <a:lnTo>
                    <a:pt x="120540" y="59184"/>
                  </a:lnTo>
                  <a:lnTo>
                    <a:pt x="120540" y="419184"/>
                  </a:lnTo>
                  <a:lnTo>
                    <a:pt x="87369" y="419184"/>
                  </a:lnTo>
                  <a:close/>
                  <a:moveTo>
                    <a:pt x="0" y="59184"/>
                  </a:moveTo>
                  <a:lnTo>
                    <a:pt x="33171" y="59184"/>
                  </a:lnTo>
                  <a:lnTo>
                    <a:pt x="33171" y="419184"/>
                  </a:lnTo>
                  <a:lnTo>
                    <a:pt x="0" y="419184"/>
                  </a:lnTo>
                  <a:close/>
                  <a:moveTo>
                    <a:pt x="226851" y="0"/>
                  </a:moveTo>
                  <a:lnTo>
                    <a:pt x="260022" y="0"/>
                  </a:lnTo>
                  <a:lnTo>
                    <a:pt x="260022" y="422967"/>
                  </a:lnTo>
                  <a:lnTo>
                    <a:pt x="226851" y="422967"/>
                  </a:lnTo>
                  <a:close/>
                </a:path>
              </a:pathLst>
            </a:custGeom>
            <a:solidFill>
              <a:schemeClr val="bg1">
                <a:lumMod val="9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任意多边形 11"/>
            <p:cNvSpPr/>
            <p:nvPr/>
          </p:nvSpPr>
          <p:spPr>
            <a:xfrm>
              <a:off x="6862061" y="4110149"/>
              <a:ext cx="248780" cy="241514"/>
            </a:xfrm>
            <a:custGeom>
              <a:avLst/>
              <a:gdLst>
                <a:gd name="connsiteX0" fmla="*/ 15832 w 270000"/>
                <a:gd name="connsiteY0" fmla="*/ 216314 h 241514"/>
                <a:gd name="connsiteX1" fmla="*/ 238570 w 270000"/>
                <a:gd name="connsiteY1" fmla="*/ 216314 h 241514"/>
                <a:gd name="connsiteX2" fmla="*/ 238570 w 270000"/>
                <a:gd name="connsiteY2" fmla="*/ 241514 h 241514"/>
                <a:gd name="connsiteX3" fmla="*/ 15832 w 270000"/>
                <a:gd name="connsiteY3" fmla="*/ 241514 h 241514"/>
                <a:gd name="connsiteX4" fmla="*/ 0 w 270000"/>
                <a:gd name="connsiteY4" fmla="*/ 177270 h 241514"/>
                <a:gd name="connsiteX5" fmla="*/ 270000 w 270000"/>
                <a:gd name="connsiteY5" fmla="*/ 177270 h 241514"/>
                <a:gd name="connsiteX6" fmla="*/ 270000 w 270000"/>
                <a:gd name="connsiteY6" fmla="*/ 202470 h 241514"/>
                <a:gd name="connsiteX7" fmla="*/ 0 w 270000"/>
                <a:gd name="connsiteY7" fmla="*/ 202470 h 241514"/>
                <a:gd name="connsiteX8" fmla="*/ 0 w 270000"/>
                <a:gd name="connsiteY8" fmla="*/ 135151 h 241514"/>
                <a:gd name="connsiteX9" fmla="*/ 270000 w 270000"/>
                <a:gd name="connsiteY9" fmla="*/ 135151 h 241514"/>
                <a:gd name="connsiteX10" fmla="*/ 270000 w 270000"/>
                <a:gd name="connsiteY10" fmla="*/ 160351 h 241514"/>
                <a:gd name="connsiteX11" fmla="*/ 0 w 270000"/>
                <a:gd name="connsiteY11" fmla="*/ 160351 h 241514"/>
                <a:gd name="connsiteX12" fmla="*/ 0 w 270000"/>
                <a:gd name="connsiteY12" fmla="*/ 94740 h 241514"/>
                <a:gd name="connsiteX13" fmla="*/ 270000 w 270000"/>
                <a:gd name="connsiteY13" fmla="*/ 94740 h 241514"/>
                <a:gd name="connsiteX14" fmla="*/ 270000 w 270000"/>
                <a:gd name="connsiteY14" fmla="*/ 119940 h 241514"/>
                <a:gd name="connsiteX15" fmla="*/ 0 w 270000"/>
                <a:gd name="connsiteY15" fmla="*/ 119940 h 241514"/>
                <a:gd name="connsiteX16" fmla="*/ 0 w 270000"/>
                <a:gd name="connsiteY16" fmla="*/ 50253 h 241514"/>
                <a:gd name="connsiteX17" fmla="*/ 270000 w 270000"/>
                <a:gd name="connsiteY17" fmla="*/ 50253 h 241514"/>
                <a:gd name="connsiteX18" fmla="*/ 270000 w 270000"/>
                <a:gd name="connsiteY18" fmla="*/ 75453 h 241514"/>
                <a:gd name="connsiteX19" fmla="*/ 0 w 270000"/>
                <a:gd name="connsiteY19" fmla="*/ 75453 h 241514"/>
                <a:gd name="connsiteX20" fmla="*/ 15832 w 270000"/>
                <a:gd name="connsiteY20" fmla="*/ 0 h 241514"/>
                <a:gd name="connsiteX21" fmla="*/ 238570 w 270000"/>
                <a:gd name="connsiteY21" fmla="*/ 0 h 241514"/>
                <a:gd name="connsiteX22" fmla="*/ 238570 w 270000"/>
                <a:gd name="connsiteY22" fmla="*/ 25200 h 241514"/>
                <a:gd name="connsiteX23" fmla="*/ 15832 w 270000"/>
                <a:gd name="connsiteY23" fmla="*/ 25200 h 24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0000" h="241514">
                  <a:moveTo>
                    <a:pt x="15832" y="216314"/>
                  </a:moveTo>
                  <a:lnTo>
                    <a:pt x="238570" y="216314"/>
                  </a:lnTo>
                  <a:lnTo>
                    <a:pt x="238570" y="241514"/>
                  </a:lnTo>
                  <a:lnTo>
                    <a:pt x="15832" y="241514"/>
                  </a:lnTo>
                  <a:close/>
                  <a:moveTo>
                    <a:pt x="0" y="177270"/>
                  </a:moveTo>
                  <a:lnTo>
                    <a:pt x="270000" y="177270"/>
                  </a:lnTo>
                  <a:lnTo>
                    <a:pt x="270000" y="202470"/>
                  </a:lnTo>
                  <a:lnTo>
                    <a:pt x="0" y="202470"/>
                  </a:lnTo>
                  <a:close/>
                  <a:moveTo>
                    <a:pt x="0" y="135151"/>
                  </a:moveTo>
                  <a:lnTo>
                    <a:pt x="270000" y="135151"/>
                  </a:lnTo>
                  <a:lnTo>
                    <a:pt x="270000" y="160351"/>
                  </a:lnTo>
                  <a:lnTo>
                    <a:pt x="0" y="160351"/>
                  </a:lnTo>
                  <a:close/>
                  <a:moveTo>
                    <a:pt x="0" y="94740"/>
                  </a:moveTo>
                  <a:lnTo>
                    <a:pt x="270000" y="94740"/>
                  </a:lnTo>
                  <a:lnTo>
                    <a:pt x="270000" y="119940"/>
                  </a:lnTo>
                  <a:lnTo>
                    <a:pt x="0" y="119940"/>
                  </a:lnTo>
                  <a:close/>
                  <a:moveTo>
                    <a:pt x="0" y="50253"/>
                  </a:moveTo>
                  <a:lnTo>
                    <a:pt x="270000" y="50253"/>
                  </a:lnTo>
                  <a:lnTo>
                    <a:pt x="270000" y="75453"/>
                  </a:lnTo>
                  <a:lnTo>
                    <a:pt x="0" y="75453"/>
                  </a:lnTo>
                  <a:close/>
                  <a:moveTo>
                    <a:pt x="15832" y="0"/>
                  </a:moveTo>
                  <a:lnTo>
                    <a:pt x="238570" y="0"/>
                  </a:lnTo>
                  <a:lnTo>
                    <a:pt x="238570" y="25200"/>
                  </a:lnTo>
                  <a:lnTo>
                    <a:pt x="15832" y="25200"/>
                  </a:lnTo>
                  <a:close/>
                </a:path>
              </a:pathLst>
            </a:custGeom>
            <a:gradFill flip="none" rotWithShape="1">
              <a:gsLst>
                <a:gs pos="0">
                  <a:schemeClr val="accent3">
                    <a:lumMod val="5000"/>
                    <a:lumOff val="95000"/>
                    <a:alpha val="25000"/>
                  </a:schemeClr>
                </a:gs>
                <a:gs pos="45000">
                  <a:schemeClr val="bg1">
                    <a:lumMod val="95000"/>
                    <a:alpha val="50000"/>
                  </a:schemeClr>
                </a:gs>
                <a:gs pos="73000">
                  <a:schemeClr val="bg1">
                    <a:lumMod val="95000"/>
                    <a:alpha val="48000"/>
                  </a:schemeClr>
                </a:gs>
                <a:gs pos="100000">
                  <a:schemeClr val="accent3">
                    <a:lumMod val="30000"/>
                    <a:lumOff val="70000"/>
                    <a:alpha val="48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3" name="直接连接符 12"/>
            <p:cNvCxnSpPr/>
            <p:nvPr/>
          </p:nvCxnSpPr>
          <p:spPr>
            <a:xfrm>
              <a:off x="7847564" y="4665047"/>
              <a:ext cx="551121" cy="0"/>
            </a:xfrm>
            <a:prstGeom prst="line">
              <a:avLst/>
            </a:prstGeom>
            <a:ln w="19050">
              <a:gradFill flip="none" rotWithShape="1">
                <a:gsLst>
                  <a:gs pos="0">
                    <a:schemeClr val="accent1">
                      <a:lumMod val="5000"/>
                      <a:lumOff val="95000"/>
                      <a:alpha val="0"/>
                    </a:schemeClr>
                  </a:gs>
                  <a:gs pos="55000">
                    <a:schemeClr val="bg1">
                      <a:lumMod val="95000"/>
                      <a:alpha val="52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8052185" y="4523125"/>
              <a:ext cx="819227" cy="0"/>
            </a:xfrm>
            <a:prstGeom prst="line">
              <a:avLst/>
            </a:prstGeom>
            <a:ln w="19050">
              <a:gradFill flip="none" rotWithShape="1">
                <a:gsLst>
                  <a:gs pos="0">
                    <a:schemeClr val="accent1">
                      <a:lumMod val="5000"/>
                      <a:lumOff val="95000"/>
                      <a:alpha val="0"/>
                    </a:schemeClr>
                  </a:gs>
                  <a:gs pos="55000">
                    <a:schemeClr val="bg1">
                      <a:lumMod val="95000"/>
                      <a:alpha val="55000"/>
                    </a:schemeClr>
                  </a:gs>
                  <a:gs pos="100000">
                    <a:schemeClr val="bg1">
                      <a:lumMod val="95000"/>
                      <a:alpha val="18000"/>
                    </a:schemeClr>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5" name="任意多边形 14"/>
            <p:cNvSpPr/>
            <p:nvPr/>
          </p:nvSpPr>
          <p:spPr>
            <a:xfrm>
              <a:off x="7366021" y="4804172"/>
              <a:ext cx="139317" cy="72900"/>
            </a:xfrm>
            <a:custGeom>
              <a:avLst/>
              <a:gdLst>
                <a:gd name="connsiteX0" fmla="*/ 7034 w 151200"/>
                <a:gd name="connsiteY0" fmla="*/ 47700 h 72900"/>
                <a:gd name="connsiteX1" fmla="*/ 143834 w 151200"/>
                <a:gd name="connsiteY1" fmla="*/ 47700 h 72900"/>
                <a:gd name="connsiteX2" fmla="*/ 143834 w 151200"/>
                <a:gd name="connsiteY2" fmla="*/ 72900 h 72900"/>
                <a:gd name="connsiteX3" fmla="*/ 7034 w 151200"/>
                <a:gd name="connsiteY3" fmla="*/ 72900 h 72900"/>
                <a:gd name="connsiteX4" fmla="*/ 0 w 151200"/>
                <a:gd name="connsiteY4" fmla="*/ 0 h 72900"/>
                <a:gd name="connsiteX5" fmla="*/ 151200 w 151200"/>
                <a:gd name="connsiteY5" fmla="*/ 0 h 72900"/>
                <a:gd name="connsiteX6" fmla="*/ 151200 w 151200"/>
                <a:gd name="connsiteY6" fmla="*/ 25200 h 72900"/>
                <a:gd name="connsiteX7" fmla="*/ 0 w 151200"/>
                <a:gd name="connsiteY7" fmla="*/ 25200 h 7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200" h="72900">
                  <a:moveTo>
                    <a:pt x="7034" y="47700"/>
                  </a:moveTo>
                  <a:lnTo>
                    <a:pt x="143834" y="47700"/>
                  </a:lnTo>
                  <a:lnTo>
                    <a:pt x="143834" y="72900"/>
                  </a:lnTo>
                  <a:lnTo>
                    <a:pt x="7034" y="72900"/>
                  </a:lnTo>
                  <a:close/>
                  <a:moveTo>
                    <a:pt x="0" y="0"/>
                  </a:moveTo>
                  <a:lnTo>
                    <a:pt x="151200" y="0"/>
                  </a:lnTo>
                  <a:lnTo>
                    <a:pt x="151200" y="25200"/>
                  </a:lnTo>
                  <a:lnTo>
                    <a:pt x="0" y="25200"/>
                  </a:lnTo>
                  <a:close/>
                </a:path>
              </a:pathLst>
            </a:custGeom>
            <a:gradFill>
              <a:gsLst>
                <a:gs pos="0">
                  <a:schemeClr val="accent1">
                    <a:lumMod val="5000"/>
                    <a:lumOff val="95000"/>
                    <a:alpha val="21000"/>
                  </a:schemeClr>
                </a:gs>
                <a:gs pos="55000">
                  <a:schemeClr val="bg1">
                    <a:lumMod val="95000"/>
                    <a:alpha val="52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矩形 15"/>
            <p:cNvSpPr/>
            <p:nvPr/>
          </p:nvSpPr>
          <p:spPr>
            <a:xfrm>
              <a:off x="6303499" y="4176900"/>
              <a:ext cx="139317" cy="25200"/>
            </a:xfrm>
            <a:prstGeom prst="rect">
              <a:avLst/>
            </a:prstGeom>
            <a:gradFill>
              <a:gsLst>
                <a:gs pos="0">
                  <a:schemeClr val="accent1">
                    <a:lumMod val="5000"/>
                    <a:lumOff val="95000"/>
                    <a:alpha val="12000"/>
                  </a:schemeClr>
                </a:gs>
                <a:gs pos="47000">
                  <a:schemeClr val="bg1">
                    <a:lumMod val="95000"/>
                    <a:alpha val="7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7" name="直接连接符 16"/>
            <p:cNvCxnSpPr/>
            <p:nvPr/>
          </p:nvCxnSpPr>
          <p:spPr>
            <a:xfrm>
              <a:off x="7903128" y="4323221"/>
              <a:ext cx="275560" cy="0"/>
            </a:xfrm>
            <a:prstGeom prst="line">
              <a:avLst/>
            </a:prstGeom>
            <a:ln w="19050">
              <a:gradFill flip="none" rotWithShape="1">
                <a:gsLst>
                  <a:gs pos="0">
                    <a:schemeClr val="accent1">
                      <a:lumMod val="5000"/>
                      <a:lumOff val="95000"/>
                      <a:alpha val="0"/>
                    </a:schemeClr>
                  </a:gs>
                  <a:gs pos="55000">
                    <a:schemeClr val="bg1">
                      <a:lumMod val="95000"/>
                      <a:alpha val="55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18" name="任意多边形 17"/>
            <p:cNvSpPr/>
            <p:nvPr/>
          </p:nvSpPr>
          <p:spPr>
            <a:xfrm>
              <a:off x="8707918" y="4304986"/>
              <a:ext cx="72976" cy="72900"/>
            </a:xfrm>
            <a:custGeom>
              <a:avLst/>
              <a:gdLst>
                <a:gd name="connsiteX0" fmla="*/ 7034 w 151200"/>
                <a:gd name="connsiteY0" fmla="*/ 47700 h 72900"/>
                <a:gd name="connsiteX1" fmla="*/ 143834 w 151200"/>
                <a:gd name="connsiteY1" fmla="*/ 47700 h 72900"/>
                <a:gd name="connsiteX2" fmla="*/ 143834 w 151200"/>
                <a:gd name="connsiteY2" fmla="*/ 72900 h 72900"/>
                <a:gd name="connsiteX3" fmla="*/ 7034 w 151200"/>
                <a:gd name="connsiteY3" fmla="*/ 72900 h 72900"/>
                <a:gd name="connsiteX4" fmla="*/ 0 w 151200"/>
                <a:gd name="connsiteY4" fmla="*/ 0 h 72900"/>
                <a:gd name="connsiteX5" fmla="*/ 151200 w 151200"/>
                <a:gd name="connsiteY5" fmla="*/ 0 h 72900"/>
                <a:gd name="connsiteX6" fmla="*/ 151200 w 151200"/>
                <a:gd name="connsiteY6" fmla="*/ 25200 h 72900"/>
                <a:gd name="connsiteX7" fmla="*/ 0 w 151200"/>
                <a:gd name="connsiteY7" fmla="*/ 25200 h 7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200" h="72900">
                  <a:moveTo>
                    <a:pt x="7034" y="47700"/>
                  </a:moveTo>
                  <a:lnTo>
                    <a:pt x="143834" y="47700"/>
                  </a:lnTo>
                  <a:lnTo>
                    <a:pt x="143834" y="72900"/>
                  </a:lnTo>
                  <a:lnTo>
                    <a:pt x="7034" y="72900"/>
                  </a:lnTo>
                  <a:close/>
                  <a:moveTo>
                    <a:pt x="0" y="0"/>
                  </a:moveTo>
                  <a:lnTo>
                    <a:pt x="151200" y="0"/>
                  </a:lnTo>
                  <a:lnTo>
                    <a:pt x="151200" y="25200"/>
                  </a:lnTo>
                  <a:lnTo>
                    <a:pt x="0" y="25200"/>
                  </a:lnTo>
                  <a:close/>
                </a:path>
              </a:pathLst>
            </a:custGeom>
            <a:gradFill>
              <a:gsLst>
                <a:gs pos="0">
                  <a:schemeClr val="accent1">
                    <a:lumMod val="5000"/>
                    <a:lumOff val="95000"/>
                    <a:alpha val="24000"/>
                  </a:schemeClr>
                </a:gs>
                <a:gs pos="55000">
                  <a:schemeClr val="bg1">
                    <a:lumMod val="95000"/>
                    <a:alpha val="55000"/>
                  </a:schemeClr>
                </a:gs>
                <a:gs pos="100000">
                  <a:schemeClr val="bg1">
                    <a:lumMod val="95000"/>
                    <a:alpha val="24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9" name="直接连接符 18"/>
            <p:cNvCxnSpPr/>
            <p:nvPr/>
          </p:nvCxnSpPr>
          <p:spPr>
            <a:xfrm>
              <a:off x="7985344" y="4609497"/>
              <a:ext cx="866267" cy="0"/>
            </a:xfrm>
            <a:prstGeom prst="line">
              <a:avLst/>
            </a:prstGeom>
            <a:ln w="19050">
              <a:gradFill flip="none" rotWithShape="1">
                <a:gsLst>
                  <a:gs pos="0">
                    <a:schemeClr val="accent1">
                      <a:lumMod val="5000"/>
                      <a:lumOff val="95000"/>
                      <a:alpha val="12000"/>
                    </a:schemeClr>
                  </a:gs>
                  <a:gs pos="66000">
                    <a:srgbClr val="F2F2F2">
                      <a:alpha val="0"/>
                    </a:srgbClr>
                  </a:gs>
                  <a:gs pos="28000">
                    <a:schemeClr val="bg1">
                      <a:lumMod val="95000"/>
                      <a:alpha val="55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782847" y="4262142"/>
              <a:ext cx="139317" cy="25200"/>
            </a:xfrm>
            <a:prstGeom prst="rect">
              <a:avLst/>
            </a:prstGeom>
            <a:gradFill>
              <a:gsLst>
                <a:gs pos="0">
                  <a:schemeClr val="accent1">
                    <a:lumMod val="5000"/>
                    <a:lumOff val="95000"/>
                    <a:alpha val="12000"/>
                  </a:schemeClr>
                </a:gs>
                <a:gs pos="47000">
                  <a:schemeClr val="bg1">
                    <a:lumMod val="95000"/>
                    <a:alpha val="4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矩形 20"/>
            <p:cNvSpPr/>
            <p:nvPr/>
          </p:nvSpPr>
          <p:spPr>
            <a:xfrm>
              <a:off x="5913529" y="4094267"/>
              <a:ext cx="139317" cy="25200"/>
            </a:xfrm>
            <a:prstGeom prst="rect">
              <a:avLst/>
            </a:prstGeom>
            <a:gradFill>
              <a:gsLst>
                <a:gs pos="0">
                  <a:schemeClr val="accent1">
                    <a:lumMod val="5000"/>
                    <a:lumOff val="95000"/>
                    <a:alpha val="12000"/>
                  </a:schemeClr>
                </a:gs>
                <a:gs pos="47000">
                  <a:schemeClr val="bg1">
                    <a:lumMod val="95000"/>
                    <a:alpha val="40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矩形 21"/>
            <p:cNvSpPr/>
            <p:nvPr/>
          </p:nvSpPr>
          <p:spPr>
            <a:xfrm>
              <a:off x="6909857" y="4707644"/>
              <a:ext cx="139317" cy="25200"/>
            </a:xfrm>
            <a:prstGeom prst="rect">
              <a:avLst/>
            </a:prstGeom>
            <a:gradFill>
              <a:gsLst>
                <a:gs pos="0">
                  <a:schemeClr val="accent1">
                    <a:lumMod val="5000"/>
                    <a:lumOff val="95000"/>
                    <a:alpha val="12000"/>
                  </a:schemeClr>
                </a:gs>
                <a:gs pos="47000">
                  <a:schemeClr val="bg1">
                    <a:lumMod val="95000"/>
                    <a:alpha val="7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任意多边形 22"/>
            <p:cNvSpPr/>
            <p:nvPr/>
          </p:nvSpPr>
          <p:spPr>
            <a:xfrm>
              <a:off x="5113517" y="4164613"/>
              <a:ext cx="258731" cy="195058"/>
            </a:xfrm>
            <a:custGeom>
              <a:avLst/>
              <a:gdLst>
                <a:gd name="connsiteX0" fmla="*/ 19495 w 280800"/>
                <a:gd name="connsiteY0" fmla="*/ 169858 h 195058"/>
                <a:gd name="connsiteX1" fmla="*/ 242233 w 280800"/>
                <a:gd name="connsiteY1" fmla="*/ 169858 h 195058"/>
                <a:gd name="connsiteX2" fmla="*/ 242233 w 280800"/>
                <a:gd name="connsiteY2" fmla="*/ 195058 h 195058"/>
                <a:gd name="connsiteX3" fmla="*/ 19495 w 280800"/>
                <a:gd name="connsiteY3" fmla="*/ 195058 h 195058"/>
                <a:gd name="connsiteX4" fmla="*/ 11590 w 280800"/>
                <a:gd name="connsiteY4" fmla="*/ 129551 h 195058"/>
                <a:gd name="connsiteX5" fmla="*/ 263590 w 280800"/>
                <a:gd name="connsiteY5" fmla="*/ 129551 h 195058"/>
                <a:gd name="connsiteX6" fmla="*/ 263590 w 280800"/>
                <a:gd name="connsiteY6" fmla="*/ 154751 h 195058"/>
                <a:gd name="connsiteX7" fmla="*/ 11590 w 280800"/>
                <a:gd name="connsiteY7" fmla="*/ 154751 h 195058"/>
                <a:gd name="connsiteX8" fmla="*/ 912 w 280800"/>
                <a:gd name="connsiteY8" fmla="*/ 91334 h 195058"/>
                <a:gd name="connsiteX9" fmla="*/ 274512 w 280800"/>
                <a:gd name="connsiteY9" fmla="*/ 91334 h 195058"/>
                <a:gd name="connsiteX10" fmla="*/ 274512 w 280800"/>
                <a:gd name="connsiteY10" fmla="*/ 116534 h 195058"/>
                <a:gd name="connsiteX11" fmla="*/ 912 w 280800"/>
                <a:gd name="connsiteY11" fmla="*/ 116534 h 195058"/>
                <a:gd name="connsiteX12" fmla="*/ 0 w 280800"/>
                <a:gd name="connsiteY12" fmla="*/ 48059 h 195058"/>
                <a:gd name="connsiteX13" fmla="*/ 280800 w 280800"/>
                <a:gd name="connsiteY13" fmla="*/ 48059 h 195058"/>
                <a:gd name="connsiteX14" fmla="*/ 280800 w 280800"/>
                <a:gd name="connsiteY14" fmla="*/ 73259 h 195058"/>
                <a:gd name="connsiteX15" fmla="*/ 0 w 280800"/>
                <a:gd name="connsiteY15" fmla="*/ 73259 h 195058"/>
                <a:gd name="connsiteX16" fmla="*/ 19495 w 280800"/>
                <a:gd name="connsiteY16" fmla="*/ 0 h 195058"/>
                <a:gd name="connsiteX17" fmla="*/ 242233 w 280800"/>
                <a:gd name="connsiteY17" fmla="*/ 0 h 195058"/>
                <a:gd name="connsiteX18" fmla="*/ 242233 w 280800"/>
                <a:gd name="connsiteY18" fmla="*/ 25200 h 195058"/>
                <a:gd name="connsiteX19" fmla="*/ 19495 w 280800"/>
                <a:gd name="connsiteY19" fmla="*/ 25200 h 1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0800" h="195058">
                  <a:moveTo>
                    <a:pt x="19495" y="169858"/>
                  </a:moveTo>
                  <a:lnTo>
                    <a:pt x="242233" y="169858"/>
                  </a:lnTo>
                  <a:lnTo>
                    <a:pt x="242233" y="195058"/>
                  </a:lnTo>
                  <a:lnTo>
                    <a:pt x="19495" y="195058"/>
                  </a:lnTo>
                  <a:close/>
                  <a:moveTo>
                    <a:pt x="11590" y="129551"/>
                  </a:moveTo>
                  <a:lnTo>
                    <a:pt x="263590" y="129551"/>
                  </a:lnTo>
                  <a:lnTo>
                    <a:pt x="263590" y="154751"/>
                  </a:lnTo>
                  <a:lnTo>
                    <a:pt x="11590" y="154751"/>
                  </a:lnTo>
                  <a:close/>
                  <a:moveTo>
                    <a:pt x="912" y="91334"/>
                  </a:moveTo>
                  <a:lnTo>
                    <a:pt x="274512" y="91334"/>
                  </a:lnTo>
                  <a:lnTo>
                    <a:pt x="274512" y="116534"/>
                  </a:lnTo>
                  <a:lnTo>
                    <a:pt x="912" y="116534"/>
                  </a:lnTo>
                  <a:close/>
                  <a:moveTo>
                    <a:pt x="0" y="48059"/>
                  </a:moveTo>
                  <a:lnTo>
                    <a:pt x="280800" y="48059"/>
                  </a:lnTo>
                  <a:lnTo>
                    <a:pt x="280800" y="73259"/>
                  </a:lnTo>
                  <a:lnTo>
                    <a:pt x="0" y="73259"/>
                  </a:lnTo>
                  <a:close/>
                  <a:moveTo>
                    <a:pt x="19495" y="0"/>
                  </a:moveTo>
                  <a:lnTo>
                    <a:pt x="242233" y="0"/>
                  </a:lnTo>
                  <a:lnTo>
                    <a:pt x="242233" y="25200"/>
                  </a:lnTo>
                  <a:lnTo>
                    <a:pt x="19495" y="25200"/>
                  </a:lnTo>
                  <a:close/>
                </a:path>
              </a:pathLst>
            </a:custGeom>
            <a:gradFill flip="none" rotWithShape="1">
              <a:gsLst>
                <a:gs pos="0">
                  <a:schemeClr val="accent3">
                    <a:lumMod val="5000"/>
                    <a:lumOff val="95000"/>
                    <a:alpha val="25000"/>
                  </a:schemeClr>
                </a:gs>
                <a:gs pos="45000">
                  <a:schemeClr val="bg1">
                    <a:lumMod val="95000"/>
                    <a:alpha val="60000"/>
                  </a:schemeClr>
                </a:gs>
                <a:gs pos="73000">
                  <a:schemeClr val="bg1">
                    <a:lumMod val="95000"/>
                    <a:alpha val="70000"/>
                  </a:schemeClr>
                </a:gs>
                <a:gs pos="100000">
                  <a:schemeClr val="accent3">
                    <a:lumMod val="30000"/>
                    <a:lumOff val="70000"/>
                    <a:alpha val="48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4" name="组合 23"/>
          <p:cNvGrpSpPr/>
          <p:nvPr/>
        </p:nvGrpSpPr>
        <p:grpSpPr>
          <a:xfrm>
            <a:off x="319548" y="5249589"/>
            <a:ext cx="1104000" cy="1689600"/>
            <a:chOff x="5152583" y="3833274"/>
            <a:chExt cx="828000" cy="1267200"/>
          </a:xfrm>
        </p:grpSpPr>
        <p:sp>
          <p:nvSpPr>
            <p:cNvPr id="25" name="椭圆 24"/>
            <p:cNvSpPr/>
            <p:nvPr/>
          </p:nvSpPr>
          <p:spPr>
            <a:xfrm>
              <a:off x="5175983" y="4076274"/>
              <a:ext cx="781200" cy="781200"/>
            </a:xfrm>
            <a:prstGeom prst="ellipse">
              <a:avLst/>
            </a:prstGeom>
            <a:no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空心弧 25"/>
            <p:cNvSpPr/>
            <p:nvPr/>
          </p:nvSpPr>
          <p:spPr>
            <a:xfrm>
              <a:off x="5152583" y="4052874"/>
              <a:ext cx="828000" cy="828000"/>
            </a:xfrm>
            <a:prstGeom prst="blockArc">
              <a:avLst>
                <a:gd name="adj1" fmla="val 20421311"/>
                <a:gd name="adj2" fmla="val 4186973"/>
                <a:gd name="adj3" fmla="val 5992"/>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空心弧 26"/>
            <p:cNvSpPr/>
            <p:nvPr/>
          </p:nvSpPr>
          <p:spPr>
            <a:xfrm>
              <a:off x="5262793" y="4163084"/>
              <a:ext cx="607581" cy="607581"/>
            </a:xfrm>
            <a:prstGeom prst="blockArc">
              <a:avLst>
                <a:gd name="adj1" fmla="val 3457982"/>
                <a:gd name="adj2" fmla="val 696183"/>
                <a:gd name="adj3" fmla="val 13291"/>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p:cNvSpPr/>
            <p:nvPr/>
          </p:nvSpPr>
          <p:spPr>
            <a:xfrm rot="2700000" flipV="1">
              <a:off x="4932983" y="4452474"/>
              <a:ext cx="1267200" cy="28800"/>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18" name="组合 217"/>
          <p:cNvGrpSpPr/>
          <p:nvPr/>
        </p:nvGrpSpPr>
        <p:grpSpPr>
          <a:xfrm>
            <a:off x="5596874" y="1628800"/>
            <a:ext cx="684290" cy="654310"/>
            <a:chOff x="6130971" y="1234452"/>
            <a:chExt cx="684290" cy="654310"/>
          </a:xfrm>
        </p:grpSpPr>
        <p:sp>
          <p:nvSpPr>
            <p:cNvPr id="219" name="圆角矩形 218"/>
            <p:cNvSpPr/>
            <p:nvPr/>
          </p:nvSpPr>
          <p:spPr>
            <a:xfrm>
              <a:off x="6175941" y="1249442"/>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20" name="文本框 219"/>
            <p:cNvSpPr txBox="1"/>
            <p:nvPr/>
          </p:nvSpPr>
          <p:spPr>
            <a:xfrm>
              <a:off x="6130971" y="1234452"/>
              <a:ext cx="591829" cy="646331"/>
            </a:xfrm>
            <a:prstGeom prst="rect">
              <a:avLst/>
            </a:prstGeom>
            <a:noFill/>
            <a:effectLst/>
          </p:spPr>
          <p:txBody>
            <a:bodyPr wrap="none" rtlCol="0">
              <a:spAutoFit/>
            </a:bodyPr>
            <a:lstStyle/>
            <a:p>
              <a:r>
                <a:rPr lang="en-US" altLang="zh-CN" sz="3200" b="1" dirty="0">
                  <a:latin typeface="微软雅黑" panose="020B0503020204020204" pitchFamily="34" charset="-122"/>
                  <a:ea typeface="微软雅黑" panose="020B0503020204020204" pitchFamily="34" charset="-122"/>
                  <a:sym typeface="Times New Roman" panose="02020603050405020304" pitchFamily="18" charset="0"/>
                </a:rPr>
                <a:t> </a:t>
              </a: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1</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221" name="组合 220"/>
          <p:cNvGrpSpPr/>
          <p:nvPr/>
        </p:nvGrpSpPr>
        <p:grpSpPr>
          <a:xfrm>
            <a:off x="5619738" y="2414531"/>
            <a:ext cx="699280" cy="654310"/>
            <a:chOff x="6115981" y="2180826"/>
            <a:chExt cx="699280" cy="654310"/>
          </a:xfrm>
        </p:grpSpPr>
        <p:sp>
          <p:nvSpPr>
            <p:cNvPr id="222" name="圆角矩形 221"/>
            <p:cNvSpPr/>
            <p:nvPr/>
          </p:nvSpPr>
          <p:spPr>
            <a:xfrm>
              <a:off x="6175941" y="2195816"/>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23" name="文本框 222"/>
            <p:cNvSpPr txBox="1"/>
            <p:nvPr/>
          </p:nvSpPr>
          <p:spPr>
            <a:xfrm>
              <a:off x="6115981" y="2180826"/>
              <a:ext cx="591829" cy="646331"/>
            </a:xfrm>
            <a:prstGeom prst="rect">
              <a:avLst/>
            </a:prstGeom>
            <a:noFill/>
            <a:effectLst/>
          </p:spPr>
          <p:txBody>
            <a:bodyPr wrap="none" rtlCol="0">
              <a:spAutoFit/>
            </a:bodyPr>
            <a:lstStyle/>
            <a:p>
              <a:r>
                <a:rPr lang="en-US" altLang="zh-CN" sz="3200" b="1" dirty="0">
                  <a:latin typeface="微软雅黑" panose="020B0503020204020204" pitchFamily="34" charset="-122"/>
                  <a:ea typeface="微软雅黑" panose="020B0503020204020204" pitchFamily="34" charset="-122"/>
                  <a:sym typeface="Times New Roman" panose="02020603050405020304" pitchFamily="18" charset="0"/>
                </a:rPr>
                <a:t> </a:t>
              </a: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2</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227" name="组合 226"/>
          <p:cNvGrpSpPr/>
          <p:nvPr/>
        </p:nvGrpSpPr>
        <p:grpSpPr>
          <a:xfrm>
            <a:off x="5594781" y="3243709"/>
            <a:ext cx="699280" cy="654310"/>
            <a:chOff x="6115981" y="4126955"/>
            <a:chExt cx="699280" cy="654310"/>
          </a:xfrm>
        </p:grpSpPr>
        <p:sp>
          <p:nvSpPr>
            <p:cNvPr id="228" name="圆角矩形 227"/>
            <p:cNvSpPr/>
            <p:nvPr/>
          </p:nvSpPr>
          <p:spPr>
            <a:xfrm>
              <a:off x="6175941" y="4141945"/>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29" name="文本框 228"/>
            <p:cNvSpPr txBox="1"/>
            <p:nvPr/>
          </p:nvSpPr>
          <p:spPr>
            <a:xfrm>
              <a:off x="6115981" y="4126955"/>
              <a:ext cx="591829" cy="646331"/>
            </a:xfrm>
            <a:prstGeom prst="rect">
              <a:avLst/>
            </a:prstGeom>
            <a:noFill/>
            <a:effectLst/>
          </p:spPr>
          <p:txBody>
            <a:bodyPr wrap="none" rtlCol="0">
              <a:spAutoFit/>
            </a:bodyPr>
            <a:lstStyle/>
            <a:p>
              <a:r>
                <a:rPr lang="en-US" altLang="zh-CN" sz="3200" b="1" dirty="0">
                  <a:latin typeface="微软雅黑" panose="020B0503020204020204" pitchFamily="34" charset="-122"/>
                  <a:ea typeface="微软雅黑" panose="020B0503020204020204" pitchFamily="34" charset="-122"/>
                  <a:sym typeface="Times New Roman" panose="02020603050405020304" pitchFamily="18" charset="0"/>
                </a:rPr>
                <a:t> </a:t>
              </a: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3</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sp>
        <p:nvSpPr>
          <p:cNvPr id="233" name="文本框 232"/>
          <p:cNvSpPr txBox="1"/>
          <p:nvPr/>
        </p:nvSpPr>
        <p:spPr>
          <a:xfrm>
            <a:off x="6740224" y="1690355"/>
            <a:ext cx="4674308"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方差的定义</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文本框 235"/>
          <p:cNvSpPr txBox="1"/>
          <p:nvPr/>
        </p:nvSpPr>
        <p:spPr>
          <a:xfrm>
            <a:off x="6743061" y="3306203"/>
            <a:ext cx="4398908"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方差的性质</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文本框 237"/>
          <p:cNvSpPr txBox="1"/>
          <p:nvPr/>
        </p:nvSpPr>
        <p:spPr>
          <a:xfrm>
            <a:off x="1506344" y="513425"/>
            <a:ext cx="4461478" cy="1015663"/>
          </a:xfrm>
          <a:prstGeom prst="rect">
            <a:avLst/>
          </a:prstGeom>
          <a:noFill/>
        </p:spPr>
        <p:txBody>
          <a:bodyPr wrap="none" rtlCol="0">
            <a:spAutoFit/>
          </a:bodyPr>
          <a:lstStyle/>
          <a:p>
            <a:r>
              <a:rPr lang="en-US" altLang="zh-CN" sz="6000" b="1" dirty="0">
                <a:solidFill>
                  <a:srgbClr val="FFFFFF"/>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CONC</a:t>
            </a:r>
            <a:r>
              <a:rPr lang="en-US" altLang="zh-CN" sz="60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ENTS</a:t>
            </a:r>
            <a:endParaRPr lang="zh-CN" altLang="en-US" sz="60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endParaRPr>
          </a:p>
        </p:txBody>
      </p:sp>
      <p:sp>
        <p:nvSpPr>
          <p:cNvPr id="239" name="文本框 20"/>
          <p:cNvSpPr>
            <a:spLocks noChangeArrowheads="1"/>
          </p:cNvSpPr>
          <p:nvPr/>
        </p:nvSpPr>
        <p:spPr bwMode="auto">
          <a:xfrm>
            <a:off x="698481" y="2769188"/>
            <a:ext cx="251222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6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目   录</a:t>
            </a:r>
            <a:endParaRPr lang="en-US" sz="6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文本框 234"/>
          <p:cNvSpPr txBox="1"/>
          <p:nvPr/>
        </p:nvSpPr>
        <p:spPr>
          <a:xfrm>
            <a:off x="6763088" y="2498279"/>
            <a:ext cx="4674308"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方差的计算</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0" name="组合 39"/>
          <p:cNvGrpSpPr/>
          <p:nvPr/>
        </p:nvGrpSpPr>
        <p:grpSpPr>
          <a:xfrm>
            <a:off x="5594781" y="4859613"/>
            <a:ext cx="699280" cy="654310"/>
            <a:chOff x="6115981" y="4126955"/>
            <a:chExt cx="699280" cy="654310"/>
          </a:xfrm>
        </p:grpSpPr>
        <p:sp>
          <p:nvSpPr>
            <p:cNvPr id="41" name="圆角矩形 227"/>
            <p:cNvSpPr/>
            <p:nvPr/>
          </p:nvSpPr>
          <p:spPr>
            <a:xfrm>
              <a:off x="6175941" y="4141945"/>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42" name="文本框 41"/>
            <p:cNvSpPr txBox="1"/>
            <p:nvPr/>
          </p:nvSpPr>
          <p:spPr>
            <a:xfrm>
              <a:off x="6115981" y="4126955"/>
              <a:ext cx="591829" cy="646331"/>
            </a:xfrm>
            <a:prstGeom prst="rect">
              <a:avLst/>
            </a:prstGeom>
            <a:noFill/>
            <a:effectLst/>
          </p:spPr>
          <p:txBody>
            <a:bodyPr wrap="none" rtlCol="0">
              <a:spAutoFit/>
            </a:bodyPr>
            <a:lstStyle/>
            <a:p>
              <a:r>
                <a:rPr lang="en-US" altLang="zh-CN" sz="3200" b="1" dirty="0">
                  <a:latin typeface="微软雅黑" panose="020B0503020204020204" pitchFamily="34" charset="-122"/>
                  <a:ea typeface="微软雅黑" panose="020B0503020204020204" pitchFamily="34" charset="-122"/>
                  <a:sym typeface="Times New Roman" panose="02020603050405020304" pitchFamily="18" charset="0"/>
                </a:rPr>
                <a:t> </a:t>
              </a: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5</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sp>
        <p:nvSpPr>
          <p:cNvPr id="43" name="文本框 42"/>
          <p:cNvSpPr txBox="1"/>
          <p:nvPr/>
        </p:nvSpPr>
        <p:spPr>
          <a:xfrm>
            <a:off x="6743061" y="4922051"/>
            <a:ext cx="3949908"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课堂练习 </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4" name="组合 43"/>
          <p:cNvGrpSpPr/>
          <p:nvPr/>
        </p:nvGrpSpPr>
        <p:grpSpPr>
          <a:xfrm>
            <a:off x="5594781" y="4017717"/>
            <a:ext cx="699280" cy="654310"/>
            <a:chOff x="6115981" y="4126955"/>
            <a:chExt cx="699280" cy="654310"/>
          </a:xfrm>
        </p:grpSpPr>
        <p:sp>
          <p:nvSpPr>
            <p:cNvPr id="45" name="圆角矩形 227"/>
            <p:cNvSpPr/>
            <p:nvPr/>
          </p:nvSpPr>
          <p:spPr>
            <a:xfrm>
              <a:off x="6175941" y="4141945"/>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46" name="文本框 45"/>
            <p:cNvSpPr txBox="1"/>
            <p:nvPr/>
          </p:nvSpPr>
          <p:spPr>
            <a:xfrm>
              <a:off x="6115981" y="4126955"/>
              <a:ext cx="591829" cy="646331"/>
            </a:xfrm>
            <a:prstGeom prst="rect">
              <a:avLst/>
            </a:prstGeom>
            <a:noFill/>
            <a:effectLst/>
          </p:spPr>
          <p:txBody>
            <a:bodyPr wrap="none" rtlCol="0">
              <a:spAutoFit/>
            </a:bodyPr>
            <a:lstStyle/>
            <a:p>
              <a:r>
                <a:rPr lang="en-US" altLang="zh-CN" sz="3200" b="1" dirty="0">
                  <a:latin typeface="微软雅黑" panose="020B0503020204020204" pitchFamily="34" charset="-122"/>
                  <a:ea typeface="微软雅黑" panose="020B0503020204020204" pitchFamily="34" charset="-122"/>
                  <a:sym typeface="Times New Roman" panose="02020603050405020304" pitchFamily="18" charset="0"/>
                </a:rPr>
                <a:t> </a:t>
              </a: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4</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sp>
        <p:nvSpPr>
          <p:cNvPr id="47" name="文本框 46"/>
          <p:cNvSpPr txBox="1"/>
          <p:nvPr/>
        </p:nvSpPr>
        <p:spPr>
          <a:xfrm>
            <a:off x="6743061" y="4114127"/>
            <a:ext cx="3949908"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切比雪夫不等式</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8" name="组合 47"/>
          <p:cNvGrpSpPr/>
          <p:nvPr/>
        </p:nvGrpSpPr>
        <p:grpSpPr>
          <a:xfrm>
            <a:off x="5614808" y="5628122"/>
            <a:ext cx="699280" cy="654310"/>
            <a:chOff x="6115981" y="4126955"/>
            <a:chExt cx="699280" cy="654310"/>
          </a:xfrm>
        </p:grpSpPr>
        <p:sp>
          <p:nvSpPr>
            <p:cNvPr id="49" name="圆角矩形 227"/>
            <p:cNvSpPr/>
            <p:nvPr/>
          </p:nvSpPr>
          <p:spPr>
            <a:xfrm>
              <a:off x="6175941" y="4141945"/>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50" name="文本框 49"/>
            <p:cNvSpPr txBox="1"/>
            <p:nvPr/>
          </p:nvSpPr>
          <p:spPr>
            <a:xfrm>
              <a:off x="6115981" y="4126955"/>
              <a:ext cx="591829" cy="646331"/>
            </a:xfrm>
            <a:prstGeom prst="rect">
              <a:avLst/>
            </a:prstGeom>
            <a:noFill/>
            <a:effectLst/>
          </p:spPr>
          <p:txBody>
            <a:bodyPr wrap="none" rtlCol="0">
              <a:spAutoFit/>
            </a:bodyPr>
            <a:lstStyle/>
            <a:p>
              <a:r>
                <a:rPr lang="en-US" altLang="zh-CN" sz="3200" b="1" dirty="0">
                  <a:latin typeface="微软雅黑" panose="020B0503020204020204" pitchFamily="34" charset="-122"/>
                  <a:ea typeface="微软雅黑" panose="020B0503020204020204" pitchFamily="34" charset="-122"/>
                  <a:sym typeface="Times New Roman" panose="02020603050405020304" pitchFamily="18" charset="0"/>
                </a:rPr>
                <a:t> </a:t>
              </a: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6</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sp>
        <p:nvSpPr>
          <p:cNvPr id="51" name="文本框 50"/>
          <p:cNvSpPr txBox="1"/>
          <p:nvPr/>
        </p:nvSpPr>
        <p:spPr>
          <a:xfrm>
            <a:off x="6743061" y="5729974"/>
            <a:ext cx="3949908"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归纳总结 布置作业</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750"/>
                                        <p:tgtEl>
                                          <p:spTgt spid="5"/>
                                        </p:tgtEl>
                                      </p:cBhvr>
                                    </p:animEffect>
                                  </p:childTnLst>
                                </p:cTn>
                              </p:par>
                              <p:par>
                                <p:cTn id="8" presetID="22" presetClass="entr" presetSubtype="2"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1000"/>
                                        <p:tgtEl>
                                          <p:spTgt spid="6"/>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childTnLst>
                          </p:cTn>
                        </p:par>
                        <p:par>
                          <p:cTn id="15" fill="hold">
                            <p:stCondLst>
                              <p:cond delay="1500"/>
                            </p:stCondLst>
                            <p:childTnLst>
                              <p:par>
                                <p:cTn id="16" presetID="8" presetClass="emph" presetSubtype="0" repeatCount="indefinite" fill="hold" nodeType="afterEffect">
                                  <p:stCondLst>
                                    <p:cond delay="0"/>
                                  </p:stCondLst>
                                  <p:childTnLst>
                                    <p:animRot by="21600000">
                                      <p:cBhvr>
                                        <p:cTn id="17" dur="2500" fill="hold"/>
                                        <p:tgtEl>
                                          <p:spTgt spid="24"/>
                                        </p:tgtEl>
                                        <p:attrNameLst>
                                          <p:attrName>r</p:attrName>
                                        </p:attrNameLst>
                                      </p:cBhvr>
                                    </p:animRot>
                                  </p:childTnLst>
                                </p:cTn>
                              </p:par>
                              <p:par>
                                <p:cTn id="18" presetID="22" presetClass="entr" presetSubtype="8" fill="hold" grpId="0" nodeType="withEffect">
                                  <p:stCondLst>
                                    <p:cond delay="0"/>
                                  </p:stCondLst>
                                  <p:childTnLst>
                                    <p:set>
                                      <p:cBhvr>
                                        <p:cTn id="19" dur="1" fill="hold">
                                          <p:stCondLst>
                                            <p:cond delay="0"/>
                                          </p:stCondLst>
                                        </p:cTn>
                                        <p:tgtEl>
                                          <p:spTgt spid="238"/>
                                        </p:tgtEl>
                                        <p:attrNameLst>
                                          <p:attrName>style.visibility</p:attrName>
                                        </p:attrNameLst>
                                      </p:cBhvr>
                                      <p:to>
                                        <p:strVal val="visible"/>
                                      </p:to>
                                    </p:set>
                                    <p:animEffect transition="in" filter="wipe(left)">
                                      <p:cBhvr>
                                        <p:cTn id="20" dur="750"/>
                                        <p:tgtEl>
                                          <p:spTgt spid="2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9"/>
                                        </p:tgtEl>
                                        <p:attrNameLst>
                                          <p:attrName>style.visibility</p:attrName>
                                        </p:attrNameLst>
                                      </p:cBhvr>
                                      <p:to>
                                        <p:strVal val="visible"/>
                                      </p:to>
                                    </p:set>
                                    <p:animEffect transition="in" filter="fade">
                                      <p:cBhvr>
                                        <p:cTn id="23" dur="750"/>
                                        <p:tgtEl>
                                          <p:spTgt spid="23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218"/>
                                        </p:tgtEl>
                                        <p:attrNameLst>
                                          <p:attrName>style.visibility</p:attrName>
                                        </p:attrNameLst>
                                      </p:cBhvr>
                                      <p:to>
                                        <p:strVal val="visible"/>
                                      </p:to>
                                    </p:set>
                                    <p:anim calcmode="lin" valueType="num">
                                      <p:cBhvr additive="base">
                                        <p:cTn id="28" dur="750" fill="hold"/>
                                        <p:tgtEl>
                                          <p:spTgt spid="218"/>
                                        </p:tgtEl>
                                        <p:attrNameLst>
                                          <p:attrName>ppt_x</p:attrName>
                                        </p:attrNameLst>
                                      </p:cBhvr>
                                      <p:tavLst>
                                        <p:tav tm="0">
                                          <p:val>
                                            <p:strVal val="0-#ppt_w/2"/>
                                          </p:val>
                                        </p:tav>
                                        <p:tav tm="100000">
                                          <p:val>
                                            <p:strVal val="#ppt_x"/>
                                          </p:val>
                                        </p:tav>
                                      </p:tavLst>
                                    </p:anim>
                                    <p:anim calcmode="lin" valueType="num">
                                      <p:cBhvr additive="base">
                                        <p:cTn id="29" dur="750" fill="hold"/>
                                        <p:tgtEl>
                                          <p:spTgt spid="218"/>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233"/>
                                        </p:tgtEl>
                                        <p:attrNameLst>
                                          <p:attrName>style.visibility</p:attrName>
                                        </p:attrNameLst>
                                      </p:cBhvr>
                                      <p:to>
                                        <p:strVal val="visible"/>
                                      </p:to>
                                    </p:set>
                                    <p:anim calcmode="lin" valueType="num">
                                      <p:cBhvr additive="base">
                                        <p:cTn id="32" dur="750" fill="hold"/>
                                        <p:tgtEl>
                                          <p:spTgt spid="233"/>
                                        </p:tgtEl>
                                        <p:attrNameLst>
                                          <p:attrName>ppt_x</p:attrName>
                                        </p:attrNameLst>
                                      </p:cBhvr>
                                      <p:tavLst>
                                        <p:tav tm="0">
                                          <p:val>
                                            <p:strVal val="1+#ppt_w/2"/>
                                          </p:val>
                                        </p:tav>
                                        <p:tav tm="100000">
                                          <p:val>
                                            <p:strVal val="#ppt_x"/>
                                          </p:val>
                                        </p:tav>
                                      </p:tavLst>
                                    </p:anim>
                                    <p:anim calcmode="lin" valueType="num">
                                      <p:cBhvr additive="base">
                                        <p:cTn id="33" dur="750" fill="hold"/>
                                        <p:tgtEl>
                                          <p:spTgt spid="233"/>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2" presetClass="entr" presetSubtype="8" fill="hold" nodeType="afterEffect">
                                  <p:stCondLst>
                                    <p:cond delay="0"/>
                                  </p:stCondLst>
                                  <p:childTnLst>
                                    <p:set>
                                      <p:cBhvr>
                                        <p:cTn id="36" dur="1" fill="hold">
                                          <p:stCondLst>
                                            <p:cond delay="0"/>
                                          </p:stCondLst>
                                        </p:cTn>
                                        <p:tgtEl>
                                          <p:spTgt spid="221"/>
                                        </p:tgtEl>
                                        <p:attrNameLst>
                                          <p:attrName>style.visibility</p:attrName>
                                        </p:attrNameLst>
                                      </p:cBhvr>
                                      <p:to>
                                        <p:strVal val="visible"/>
                                      </p:to>
                                    </p:set>
                                    <p:anim calcmode="lin" valueType="num">
                                      <p:cBhvr additive="base">
                                        <p:cTn id="37" dur="750" fill="hold"/>
                                        <p:tgtEl>
                                          <p:spTgt spid="221"/>
                                        </p:tgtEl>
                                        <p:attrNameLst>
                                          <p:attrName>ppt_x</p:attrName>
                                        </p:attrNameLst>
                                      </p:cBhvr>
                                      <p:tavLst>
                                        <p:tav tm="0">
                                          <p:val>
                                            <p:strVal val="0-#ppt_w/2"/>
                                          </p:val>
                                        </p:tav>
                                        <p:tav tm="100000">
                                          <p:val>
                                            <p:strVal val="#ppt_x"/>
                                          </p:val>
                                        </p:tav>
                                      </p:tavLst>
                                    </p:anim>
                                    <p:anim calcmode="lin" valueType="num">
                                      <p:cBhvr additive="base">
                                        <p:cTn id="38" dur="750" fill="hold"/>
                                        <p:tgtEl>
                                          <p:spTgt spid="221"/>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235"/>
                                        </p:tgtEl>
                                        <p:attrNameLst>
                                          <p:attrName>style.visibility</p:attrName>
                                        </p:attrNameLst>
                                      </p:cBhvr>
                                      <p:to>
                                        <p:strVal val="visible"/>
                                      </p:to>
                                    </p:set>
                                    <p:anim calcmode="lin" valueType="num">
                                      <p:cBhvr additive="base">
                                        <p:cTn id="41" dur="750" fill="hold"/>
                                        <p:tgtEl>
                                          <p:spTgt spid="235"/>
                                        </p:tgtEl>
                                        <p:attrNameLst>
                                          <p:attrName>ppt_x</p:attrName>
                                        </p:attrNameLst>
                                      </p:cBhvr>
                                      <p:tavLst>
                                        <p:tav tm="0">
                                          <p:val>
                                            <p:strVal val="1+#ppt_w/2"/>
                                          </p:val>
                                        </p:tav>
                                        <p:tav tm="100000">
                                          <p:val>
                                            <p:strVal val="#ppt_x"/>
                                          </p:val>
                                        </p:tav>
                                      </p:tavLst>
                                    </p:anim>
                                    <p:anim calcmode="lin" valueType="num">
                                      <p:cBhvr additive="base">
                                        <p:cTn id="42" dur="750" fill="hold"/>
                                        <p:tgtEl>
                                          <p:spTgt spid="235"/>
                                        </p:tgtEl>
                                        <p:attrNameLst>
                                          <p:attrName>ppt_y</p:attrName>
                                        </p:attrNameLst>
                                      </p:cBhvr>
                                      <p:tavLst>
                                        <p:tav tm="0">
                                          <p:val>
                                            <p:strVal val="#ppt_y"/>
                                          </p:val>
                                        </p:tav>
                                        <p:tav tm="100000">
                                          <p:val>
                                            <p:strVal val="#ppt_y"/>
                                          </p:val>
                                        </p:tav>
                                      </p:tavLst>
                                    </p:anim>
                                  </p:childTnLst>
                                </p:cTn>
                              </p:par>
                            </p:childTnLst>
                          </p:cTn>
                        </p:par>
                        <p:par>
                          <p:cTn id="43" fill="hold">
                            <p:stCondLst>
                              <p:cond delay="2000"/>
                            </p:stCondLst>
                            <p:childTnLst>
                              <p:par>
                                <p:cTn id="44" presetID="2" presetClass="entr" presetSubtype="8" fill="hold" nodeType="afterEffect">
                                  <p:stCondLst>
                                    <p:cond delay="0"/>
                                  </p:stCondLst>
                                  <p:childTnLst>
                                    <p:set>
                                      <p:cBhvr>
                                        <p:cTn id="45" dur="1" fill="hold">
                                          <p:stCondLst>
                                            <p:cond delay="0"/>
                                          </p:stCondLst>
                                        </p:cTn>
                                        <p:tgtEl>
                                          <p:spTgt spid="227"/>
                                        </p:tgtEl>
                                        <p:attrNameLst>
                                          <p:attrName>style.visibility</p:attrName>
                                        </p:attrNameLst>
                                      </p:cBhvr>
                                      <p:to>
                                        <p:strVal val="visible"/>
                                      </p:to>
                                    </p:set>
                                    <p:anim calcmode="lin" valueType="num">
                                      <p:cBhvr additive="base">
                                        <p:cTn id="46" dur="750" fill="hold"/>
                                        <p:tgtEl>
                                          <p:spTgt spid="227"/>
                                        </p:tgtEl>
                                        <p:attrNameLst>
                                          <p:attrName>ppt_x</p:attrName>
                                        </p:attrNameLst>
                                      </p:cBhvr>
                                      <p:tavLst>
                                        <p:tav tm="0">
                                          <p:val>
                                            <p:strVal val="0-#ppt_w/2"/>
                                          </p:val>
                                        </p:tav>
                                        <p:tav tm="100000">
                                          <p:val>
                                            <p:strVal val="#ppt_x"/>
                                          </p:val>
                                        </p:tav>
                                      </p:tavLst>
                                    </p:anim>
                                    <p:anim calcmode="lin" valueType="num">
                                      <p:cBhvr additive="base">
                                        <p:cTn id="47" dur="750" fill="hold"/>
                                        <p:tgtEl>
                                          <p:spTgt spid="227"/>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236"/>
                                        </p:tgtEl>
                                        <p:attrNameLst>
                                          <p:attrName>style.visibility</p:attrName>
                                        </p:attrNameLst>
                                      </p:cBhvr>
                                      <p:to>
                                        <p:strVal val="visible"/>
                                      </p:to>
                                    </p:set>
                                    <p:anim calcmode="lin" valueType="num">
                                      <p:cBhvr additive="base">
                                        <p:cTn id="50" dur="750" fill="hold"/>
                                        <p:tgtEl>
                                          <p:spTgt spid="236"/>
                                        </p:tgtEl>
                                        <p:attrNameLst>
                                          <p:attrName>ppt_x</p:attrName>
                                        </p:attrNameLst>
                                      </p:cBhvr>
                                      <p:tavLst>
                                        <p:tav tm="0">
                                          <p:val>
                                            <p:strVal val="1+#ppt_w/2"/>
                                          </p:val>
                                        </p:tav>
                                        <p:tav tm="100000">
                                          <p:val>
                                            <p:strVal val="#ppt_x"/>
                                          </p:val>
                                        </p:tav>
                                      </p:tavLst>
                                    </p:anim>
                                    <p:anim calcmode="lin" valueType="num">
                                      <p:cBhvr additive="base">
                                        <p:cTn id="51" dur="750" fill="hold"/>
                                        <p:tgtEl>
                                          <p:spTgt spid="236"/>
                                        </p:tgtEl>
                                        <p:attrNameLst>
                                          <p:attrName>ppt_y</p:attrName>
                                        </p:attrNameLst>
                                      </p:cBhvr>
                                      <p:tavLst>
                                        <p:tav tm="0">
                                          <p:val>
                                            <p:strVal val="#ppt_y"/>
                                          </p:val>
                                        </p:tav>
                                        <p:tav tm="100000">
                                          <p:val>
                                            <p:strVal val="#ppt_y"/>
                                          </p:val>
                                        </p:tav>
                                      </p:tavLst>
                                    </p:anim>
                                  </p:childTnLst>
                                </p:cTn>
                              </p:par>
                            </p:childTnLst>
                          </p:cTn>
                        </p:par>
                        <p:par>
                          <p:cTn id="52" fill="hold">
                            <p:stCondLst>
                              <p:cond delay="3000"/>
                            </p:stCondLst>
                            <p:childTnLst>
                              <p:par>
                                <p:cTn id="53" presetID="2" presetClass="entr" presetSubtype="8" fill="hold" nodeType="afterEffect">
                                  <p:stCondLst>
                                    <p:cond delay="0"/>
                                  </p:stCondLst>
                                  <p:childTnLst>
                                    <p:set>
                                      <p:cBhvr>
                                        <p:cTn id="54" dur="1" fill="hold">
                                          <p:stCondLst>
                                            <p:cond delay="0"/>
                                          </p:stCondLst>
                                        </p:cTn>
                                        <p:tgtEl>
                                          <p:spTgt spid="40"/>
                                        </p:tgtEl>
                                        <p:attrNameLst>
                                          <p:attrName>style.visibility</p:attrName>
                                        </p:attrNameLst>
                                      </p:cBhvr>
                                      <p:to>
                                        <p:strVal val="visible"/>
                                      </p:to>
                                    </p:set>
                                    <p:anim calcmode="lin" valueType="num">
                                      <p:cBhvr additive="base">
                                        <p:cTn id="55" dur="750" fill="hold"/>
                                        <p:tgtEl>
                                          <p:spTgt spid="40"/>
                                        </p:tgtEl>
                                        <p:attrNameLst>
                                          <p:attrName>ppt_x</p:attrName>
                                        </p:attrNameLst>
                                      </p:cBhvr>
                                      <p:tavLst>
                                        <p:tav tm="0">
                                          <p:val>
                                            <p:strVal val="0-#ppt_w/2"/>
                                          </p:val>
                                        </p:tav>
                                        <p:tav tm="100000">
                                          <p:val>
                                            <p:strVal val="#ppt_x"/>
                                          </p:val>
                                        </p:tav>
                                      </p:tavLst>
                                    </p:anim>
                                    <p:anim calcmode="lin" valueType="num">
                                      <p:cBhvr additive="base">
                                        <p:cTn id="56" dur="750" fill="hold"/>
                                        <p:tgtEl>
                                          <p:spTgt spid="40"/>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 calcmode="lin" valueType="num">
                                      <p:cBhvr additive="base">
                                        <p:cTn id="59" dur="750" fill="hold"/>
                                        <p:tgtEl>
                                          <p:spTgt spid="43"/>
                                        </p:tgtEl>
                                        <p:attrNameLst>
                                          <p:attrName>ppt_x</p:attrName>
                                        </p:attrNameLst>
                                      </p:cBhvr>
                                      <p:tavLst>
                                        <p:tav tm="0">
                                          <p:val>
                                            <p:strVal val="1+#ppt_w/2"/>
                                          </p:val>
                                        </p:tav>
                                        <p:tav tm="100000">
                                          <p:val>
                                            <p:strVal val="#ppt_x"/>
                                          </p:val>
                                        </p:tav>
                                      </p:tavLst>
                                    </p:anim>
                                    <p:anim calcmode="lin" valueType="num">
                                      <p:cBhvr additive="base">
                                        <p:cTn id="60" dur="750" fill="hold"/>
                                        <p:tgtEl>
                                          <p:spTgt spid="43"/>
                                        </p:tgtEl>
                                        <p:attrNameLst>
                                          <p:attrName>ppt_y</p:attrName>
                                        </p:attrNameLst>
                                      </p:cBhvr>
                                      <p:tavLst>
                                        <p:tav tm="0">
                                          <p:val>
                                            <p:strVal val="#ppt_y"/>
                                          </p:val>
                                        </p:tav>
                                        <p:tav tm="100000">
                                          <p:val>
                                            <p:strVal val="#ppt_y"/>
                                          </p:val>
                                        </p:tav>
                                      </p:tavLst>
                                    </p:anim>
                                  </p:childTnLst>
                                </p:cTn>
                              </p:par>
                            </p:childTnLst>
                          </p:cTn>
                        </p:par>
                        <p:par>
                          <p:cTn id="61" fill="hold">
                            <p:stCondLst>
                              <p:cond delay="4000"/>
                            </p:stCondLst>
                            <p:childTnLst>
                              <p:par>
                                <p:cTn id="62" presetID="2" presetClass="entr" presetSubtype="8" fill="hold" nodeType="afterEffect">
                                  <p:stCondLst>
                                    <p:cond delay="0"/>
                                  </p:stCondLst>
                                  <p:childTnLst>
                                    <p:set>
                                      <p:cBhvr>
                                        <p:cTn id="63" dur="1" fill="hold">
                                          <p:stCondLst>
                                            <p:cond delay="0"/>
                                          </p:stCondLst>
                                        </p:cTn>
                                        <p:tgtEl>
                                          <p:spTgt spid="44"/>
                                        </p:tgtEl>
                                        <p:attrNameLst>
                                          <p:attrName>style.visibility</p:attrName>
                                        </p:attrNameLst>
                                      </p:cBhvr>
                                      <p:to>
                                        <p:strVal val="visible"/>
                                      </p:to>
                                    </p:set>
                                    <p:anim calcmode="lin" valueType="num">
                                      <p:cBhvr additive="base">
                                        <p:cTn id="64" dur="750" fill="hold"/>
                                        <p:tgtEl>
                                          <p:spTgt spid="44"/>
                                        </p:tgtEl>
                                        <p:attrNameLst>
                                          <p:attrName>ppt_x</p:attrName>
                                        </p:attrNameLst>
                                      </p:cBhvr>
                                      <p:tavLst>
                                        <p:tav tm="0">
                                          <p:val>
                                            <p:strVal val="0-#ppt_w/2"/>
                                          </p:val>
                                        </p:tav>
                                        <p:tav tm="100000">
                                          <p:val>
                                            <p:strVal val="#ppt_x"/>
                                          </p:val>
                                        </p:tav>
                                      </p:tavLst>
                                    </p:anim>
                                    <p:anim calcmode="lin" valueType="num">
                                      <p:cBhvr additive="base">
                                        <p:cTn id="65" dur="750" fill="hold"/>
                                        <p:tgtEl>
                                          <p:spTgt spid="44"/>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0"/>
                                  </p:stCondLst>
                                  <p:childTnLst>
                                    <p:set>
                                      <p:cBhvr>
                                        <p:cTn id="67" dur="1" fill="hold">
                                          <p:stCondLst>
                                            <p:cond delay="0"/>
                                          </p:stCondLst>
                                        </p:cTn>
                                        <p:tgtEl>
                                          <p:spTgt spid="47"/>
                                        </p:tgtEl>
                                        <p:attrNameLst>
                                          <p:attrName>style.visibility</p:attrName>
                                        </p:attrNameLst>
                                      </p:cBhvr>
                                      <p:to>
                                        <p:strVal val="visible"/>
                                      </p:to>
                                    </p:set>
                                    <p:anim calcmode="lin" valueType="num">
                                      <p:cBhvr additive="base">
                                        <p:cTn id="68" dur="750" fill="hold"/>
                                        <p:tgtEl>
                                          <p:spTgt spid="47"/>
                                        </p:tgtEl>
                                        <p:attrNameLst>
                                          <p:attrName>ppt_x</p:attrName>
                                        </p:attrNameLst>
                                      </p:cBhvr>
                                      <p:tavLst>
                                        <p:tav tm="0">
                                          <p:val>
                                            <p:strVal val="1+#ppt_w/2"/>
                                          </p:val>
                                        </p:tav>
                                        <p:tav tm="100000">
                                          <p:val>
                                            <p:strVal val="#ppt_x"/>
                                          </p:val>
                                        </p:tav>
                                      </p:tavLst>
                                    </p:anim>
                                    <p:anim calcmode="lin" valueType="num">
                                      <p:cBhvr additive="base">
                                        <p:cTn id="69" dur="750" fill="hold"/>
                                        <p:tgtEl>
                                          <p:spTgt spid="47"/>
                                        </p:tgtEl>
                                        <p:attrNameLst>
                                          <p:attrName>ppt_y</p:attrName>
                                        </p:attrNameLst>
                                      </p:cBhvr>
                                      <p:tavLst>
                                        <p:tav tm="0">
                                          <p:val>
                                            <p:strVal val="#ppt_y"/>
                                          </p:val>
                                        </p:tav>
                                        <p:tav tm="100000">
                                          <p:val>
                                            <p:strVal val="#ppt_y"/>
                                          </p:val>
                                        </p:tav>
                                      </p:tavLst>
                                    </p:anim>
                                  </p:childTnLst>
                                </p:cTn>
                              </p:par>
                            </p:childTnLst>
                          </p:cTn>
                        </p:par>
                        <p:par>
                          <p:cTn id="70" fill="hold">
                            <p:stCondLst>
                              <p:cond delay="5000"/>
                            </p:stCondLst>
                            <p:childTnLst>
                              <p:par>
                                <p:cTn id="71" presetID="2" presetClass="entr" presetSubtype="8" fill="hold" nodeType="afterEffect">
                                  <p:stCondLst>
                                    <p:cond delay="0"/>
                                  </p:stCondLst>
                                  <p:childTnLst>
                                    <p:set>
                                      <p:cBhvr>
                                        <p:cTn id="72" dur="1" fill="hold">
                                          <p:stCondLst>
                                            <p:cond delay="0"/>
                                          </p:stCondLst>
                                        </p:cTn>
                                        <p:tgtEl>
                                          <p:spTgt spid="48"/>
                                        </p:tgtEl>
                                        <p:attrNameLst>
                                          <p:attrName>style.visibility</p:attrName>
                                        </p:attrNameLst>
                                      </p:cBhvr>
                                      <p:to>
                                        <p:strVal val="visible"/>
                                      </p:to>
                                    </p:set>
                                    <p:anim calcmode="lin" valueType="num">
                                      <p:cBhvr additive="base">
                                        <p:cTn id="73" dur="750" fill="hold"/>
                                        <p:tgtEl>
                                          <p:spTgt spid="48"/>
                                        </p:tgtEl>
                                        <p:attrNameLst>
                                          <p:attrName>ppt_x</p:attrName>
                                        </p:attrNameLst>
                                      </p:cBhvr>
                                      <p:tavLst>
                                        <p:tav tm="0">
                                          <p:val>
                                            <p:strVal val="0-#ppt_w/2"/>
                                          </p:val>
                                        </p:tav>
                                        <p:tav tm="100000">
                                          <p:val>
                                            <p:strVal val="#ppt_x"/>
                                          </p:val>
                                        </p:tav>
                                      </p:tavLst>
                                    </p:anim>
                                    <p:anim calcmode="lin" valueType="num">
                                      <p:cBhvr additive="base">
                                        <p:cTn id="74" dur="750" fill="hold"/>
                                        <p:tgtEl>
                                          <p:spTgt spid="48"/>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anim calcmode="lin" valueType="num">
                                      <p:cBhvr additive="base">
                                        <p:cTn id="77" dur="750" fill="hold"/>
                                        <p:tgtEl>
                                          <p:spTgt spid="51"/>
                                        </p:tgtEl>
                                        <p:attrNameLst>
                                          <p:attrName>ppt_x</p:attrName>
                                        </p:attrNameLst>
                                      </p:cBhvr>
                                      <p:tavLst>
                                        <p:tav tm="0">
                                          <p:val>
                                            <p:strVal val="1+#ppt_w/2"/>
                                          </p:val>
                                        </p:tav>
                                        <p:tav tm="100000">
                                          <p:val>
                                            <p:strVal val="#ppt_x"/>
                                          </p:val>
                                        </p:tav>
                                      </p:tavLst>
                                    </p:anim>
                                    <p:anim calcmode="lin" valueType="num">
                                      <p:cBhvr additive="base">
                                        <p:cTn id="78" dur="75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33" grpId="0"/>
      <p:bldP spid="236" grpId="0"/>
      <p:bldP spid="238" grpId="0"/>
      <p:bldP spid="239" grpId="0"/>
      <p:bldP spid="235" grpId="0"/>
      <p:bldP spid="43" grpId="0"/>
      <p:bldP spid="47" grpId="0"/>
      <p:bldP spid="5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6" name="Text Box 98"/>
          <p:cNvSpPr txBox="1">
            <a:spLocks noChangeArrowheads="1"/>
          </p:cNvSpPr>
          <p:nvPr/>
        </p:nvSpPr>
        <p:spPr bwMode="auto">
          <a:xfrm>
            <a:off x="2211388" y="2790826"/>
            <a:ext cx="7162800"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en-US" altLang="zh-CN" b="1">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b="1">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67" name="Text Box 99"/>
          <p:cNvSpPr txBox="1">
            <a:spLocks noChangeArrowheads="1"/>
          </p:cNvSpPr>
          <p:nvPr/>
        </p:nvSpPr>
        <p:spPr bwMode="auto">
          <a:xfrm>
            <a:off x="1335307" y="1596367"/>
            <a:ext cx="9441213" cy="168565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200000"/>
              </a:lnSpc>
              <a:spcBef>
                <a:spcPct val="50000"/>
              </a:spcBef>
            </a:pP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上一节我们介绍了随机变量的数学期望，它体现了随机变量取值的平均水平，是随机变量的一个重要的数字特征。</a:t>
            </a:r>
            <a:endParaRPr lang="en-US" altLang="zh-CN" sz="2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68" name="Rectangle 100"/>
          <p:cNvSpPr>
            <a:spLocks noChangeArrowheads="1"/>
          </p:cNvSpPr>
          <p:nvPr/>
        </p:nvSpPr>
        <p:spPr bwMode="auto">
          <a:xfrm>
            <a:off x="1335307" y="3405136"/>
            <a:ext cx="9801253" cy="8238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200000"/>
              </a:lnSpc>
            </a:pP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但是在一些场合，仅仅知道平均值是不够的。</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5"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a:spLocks noChangeArrowheads="1"/>
          </p:cNvSpPr>
          <p:nvPr/>
        </p:nvSpPr>
        <p:spPr bwMode="auto">
          <a:xfrm>
            <a:off x="1406163" y="255069"/>
            <a:ext cx="93805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7" name="组合 6"/>
          <p:cNvGrpSpPr/>
          <p:nvPr/>
        </p:nvGrpSpPr>
        <p:grpSpPr>
          <a:xfrm>
            <a:off x="851761" y="364781"/>
            <a:ext cx="263341" cy="395013"/>
            <a:chOff x="5284519" y="1508166"/>
            <a:chExt cx="213756" cy="427512"/>
          </a:xfrm>
        </p:grpSpPr>
        <p:cxnSp>
          <p:nvCxnSpPr>
            <p:cNvPr id="8" name="直接连接符 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9" name="直接连接符 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67"/>
                                        </p:tgtEl>
                                        <p:attrNameLst>
                                          <p:attrName>style.visibility</p:attrName>
                                        </p:attrNameLst>
                                      </p:cBhvr>
                                      <p:to>
                                        <p:strVal val="visible"/>
                                      </p:to>
                                    </p:set>
                                    <p:anim calcmode="lin" valueType="num">
                                      <p:cBhvr additive="base">
                                        <p:cTn id="7" dur="500" fill="hold"/>
                                        <p:tgtEl>
                                          <p:spTgt spid="7267"/>
                                        </p:tgtEl>
                                        <p:attrNameLst>
                                          <p:attrName>ppt_x</p:attrName>
                                        </p:attrNameLst>
                                      </p:cBhvr>
                                      <p:tavLst>
                                        <p:tav tm="0">
                                          <p:val>
                                            <p:strVal val="0-#ppt_w/2"/>
                                          </p:val>
                                        </p:tav>
                                        <p:tav tm="100000">
                                          <p:val>
                                            <p:strVal val="#ppt_x"/>
                                          </p:val>
                                        </p:tav>
                                      </p:tavLst>
                                    </p:anim>
                                    <p:anim calcmode="lin" valueType="num">
                                      <p:cBhvr additive="base">
                                        <p:cTn id="8" dur="500" fill="hold"/>
                                        <p:tgtEl>
                                          <p:spTgt spid="72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268"/>
                                        </p:tgtEl>
                                        <p:attrNameLst>
                                          <p:attrName>style.visibility</p:attrName>
                                        </p:attrNameLst>
                                      </p:cBhvr>
                                      <p:to>
                                        <p:strVal val="visible"/>
                                      </p:to>
                                    </p:set>
                                    <p:anim calcmode="lin" valueType="num">
                                      <p:cBhvr additive="base">
                                        <p:cTn id="13" dur="500" fill="hold"/>
                                        <p:tgtEl>
                                          <p:spTgt spid="7268"/>
                                        </p:tgtEl>
                                        <p:attrNameLst>
                                          <p:attrName>ppt_x</p:attrName>
                                        </p:attrNameLst>
                                      </p:cBhvr>
                                      <p:tavLst>
                                        <p:tav tm="0">
                                          <p:val>
                                            <p:strVal val="0-#ppt_w/2"/>
                                          </p:val>
                                        </p:tav>
                                        <p:tav tm="100000">
                                          <p:val>
                                            <p:strVal val="#ppt_x"/>
                                          </p:val>
                                        </p:tav>
                                      </p:tavLst>
                                    </p:anim>
                                    <p:anim calcmode="lin" valueType="num">
                                      <p:cBhvr additive="base">
                                        <p:cTn id="14" dur="500" fill="hold"/>
                                        <p:tgtEl>
                                          <p:spTgt spid="7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7" grpId="0" bldLvl="0" animBg="1"/>
      <p:bldP spid="7268" grpId="0" bldLvl="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63" name="Text Box 43"/>
          <p:cNvSpPr txBox="1">
            <a:spLocks noChangeArrowheads="1"/>
          </p:cNvSpPr>
          <p:nvPr/>
        </p:nvSpPr>
        <p:spPr bwMode="auto">
          <a:xfrm>
            <a:off x="1335307" y="1052736"/>
            <a:ext cx="9352210" cy="113486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spcBef>
                <a:spcPct val="50000"/>
              </a:spcBef>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例如，某零件的真实长度为</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，现用甲、乙两台仪器各测量</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10</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次，将测量结果</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用坐标上的点表示如图：</a:t>
            </a:r>
            <a:endParaRPr lang="zh-CN" altLang="en-US" sz="24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56365" name="Group 45"/>
          <p:cNvGrpSpPr/>
          <p:nvPr/>
        </p:nvGrpSpPr>
        <p:grpSpPr bwMode="auto">
          <a:xfrm>
            <a:off x="1822706" y="3825639"/>
            <a:ext cx="8786813" cy="1087439"/>
            <a:chOff x="-687" y="1667"/>
            <a:chExt cx="5535" cy="685"/>
          </a:xfrm>
        </p:grpSpPr>
        <p:sp>
          <p:nvSpPr>
            <p:cNvPr id="56378" name="Line 58"/>
            <p:cNvSpPr>
              <a:spLocks noChangeShapeType="1"/>
            </p:cNvSpPr>
            <p:nvPr/>
          </p:nvSpPr>
          <p:spPr bwMode="auto">
            <a:xfrm>
              <a:off x="960" y="2064"/>
              <a:ext cx="3888"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6366" name="Object 46"/>
            <p:cNvGraphicFramePr>
              <a:graphicFrameLocks noChangeAspect="1"/>
            </p:cNvGraphicFramePr>
            <p:nvPr/>
          </p:nvGraphicFramePr>
          <p:xfrm>
            <a:off x="2638" y="2068"/>
            <a:ext cx="255" cy="284"/>
          </p:xfrm>
          <a:graphic>
            <a:graphicData uri="http://schemas.openxmlformats.org/presentationml/2006/ole">
              <mc:AlternateContent xmlns:mc="http://schemas.openxmlformats.org/markup-compatibility/2006">
                <mc:Choice xmlns:v="urn:schemas-microsoft-com:vml" Requires="v">
                  <p:oleObj spid="_x0000_s149682" name="Equation" r:id="rId1" imgW="3048000" imgH="3352800" progId="Equation.DSMT4">
                    <p:embed/>
                  </p:oleObj>
                </mc:Choice>
                <mc:Fallback>
                  <p:oleObj name="Equation" r:id="rId1" imgW="3048000" imgH="3352800" progId="Equation.DSMT4">
                    <p:embed/>
                    <p:pic>
                      <p:nvPicPr>
                        <p:cNvPr id="0" name="Object 46"/>
                        <p:cNvPicPr>
                          <a:picLocks noChangeAspect="1" noChangeArrowheads="1"/>
                        </p:cNvPicPr>
                        <p:nvPr/>
                      </p:nvPicPr>
                      <p:blipFill>
                        <a:blip r:embed="rId2"/>
                        <a:srcRect/>
                        <a:stretch>
                          <a:fillRect/>
                        </a:stretch>
                      </p:blipFill>
                      <p:spPr bwMode="auto">
                        <a:xfrm>
                          <a:off x="2638" y="2068"/>
                          <a:ext cx="255"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67" name="Object 47"/>
            <p:cNvGraphicFramePr>
              <a:graphicFrameLocks noChangeAspect="1"/>
            </p:cNvGraphicFramePr>
            <p:nvPr/>
          </p:nvGraphicFramePr>
          <p:xfrm>
            <a:off x="2425" y="1968"/>
            <a:ext cx="167" cy="167"/>
          </p:xfrm>
          <a:graphic>
            <a:graphicData uri="http://schemas.openxmlformats.org/presentationml/2006/ole">
              <mc:AlternateContent xmlns:mc="http://schemas.openxmlformats.org/markup-compatibility/2006">
                <mc:Choice xmlns:v="urn:schemas-microsoft-com:vml" Requires="v">
                  <p:oleObj spid="_x0000_s149683" name="公式" r:id="rId3" imgW="152400" imgH="152400" progId="Equation.3">
                    <p:embed/>
                  </p:oleObj>
                </mc:Choice>
                <mc:Fallback>
                  <p:oleObj name="公式" r:id="rId3" imgW="152400" imgH="152400" progId="Equation.3">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5"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68" name="Object 48"/>
            <p:cNvGraphicFramePr>
              <a:graphicFrameLocks noChangeAspect="1"/>
            </p:cNvGraphicFramePr>
            <p:nvPr/>
          </p:nvGraphicFramePr>
          <p:xfrm>
            <a:off x="2233" y="1968"/>
            <a:ext cx="167" cy="167"/>
          </p:xfrm>
          <a:graphic>
            <a:graphicData uri="http://schemas.openxmlformats.org/presentationml/2006/ole">
              <mc:AlternateContent xmlns:mc="http://schemas.openxmlformats.org/markup-compatibility/2006">
                <mc:Choice xmlns:v="urn:schemas-microsoft-com:vml" Requires="v">
                  <p:oleObj spid="_x0000_s149684" name="公式" r:id="rId5" imgW="152400" imgH="152400" progId="Equation.3">
                    <p:embed/>
                  </p:oleObj>
                </mc:Choice>
                <mc:Fallback>
                  <p:oleObj name="公式" r:id="rId5" imgW="152400" imgH="152400" progId="Equation.3">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3"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69" name="Object 49"/>
            <p:cNvGraphicFramePr>
              <a:graphicFrameLocks noChangeAspect="1"/>
            </p:cNvGraphicFramePr>
            <p:nvPr/>
          </p:nvGraphicFramePr>
          <p:xfrm>
            <a:off x="2832" y="1968"/>
            <a:ext cx="167" cy="167"/>
          </p:xfrm>
          <a:graphic>
            <a:graphicData uri="http://schemas.openxmlformats.org/presentationml/2006/ole">
              <mc:AlternateContent xmlns:mc="http://schemas.openxmlformats.org/markup-compatibility/2006">
                <mc:Choice xmlns:v="urn:schemas-microsoft-com:vml" Requires="v">
                  <p:oleObj spid="_x0000_s149685" name="公式" r:id="rId7" imgW="152400" imgH="152400" progId="Equation.3">
                    <p:embed/>
                  </p:oleObj>
                </mc:Choice>
                <mc:Fallback>
                  <p:oleObj name="公式" r:id="rId7" imgW="152400" imgH="152400" progId="Equation.3">
                    <p:embed/>
                    <p:pic>
                      <p:nvPicPr>
                        <p:cNvPr id="0"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2"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0" name="Object 50"/>
            <p:cNvGraphicFramePr>
              <a:graphicFrameLocks noChangeAspect="1"/>
            </p:cNvGraphicFramePr>
            <p:nvPr/>
          </p:nvGraphicFramePr>
          <p:xfrm>
            <a:off x="2928" y="1968"/>
            <a:ext cx="167" cy="167"/>
          </p:xfrm>
          <a:graphic>
            <a:graphicData uri="http://schemas.openxmlformats.org/presentationml/2006/ole">
              <mc:AlternateContent xmlns:mc="http://schemas.openxmlformats.org/markup-compatibility/2006">
                <mc:Choice xmlns:v="urn:schemas-microsoft-com:vml" Requires="v">
                  <p:oleObj spid="_x0000_s149686" name="公式" r:id="rId9" imgW="152400" imgH="152400" progId="Equation.3">
                    <p:embed/>
                  </p:oleObj>
                </mc:Choice>
                <mc:Fallback>
                  <p:oleObj name="公式" r:id="rId9" imgW="152400" imgH="152400" progId="Equation.3">
                    <p:embed/>
                    <p:pic>
                      <p:nvPicPr>
                        <p:cNvPr id="0" name="Object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8"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1" name="Object 51"/>
            <p:cNvGraphicFramePr>
              <a:graphicFrameLocks noChangeAspect="1"/>
            </p:cNvGraphicFramePr>
            <p:nvPr/>
          </p:nvGraphicFramePr>
          <p:xfrm>
            <a:off x="3337" y="1968"/>
            <a:ext cx="167" cy="167"/>
          </p:xfrm>
          <a:graphic>
            <a:graphicData uri="http://schemas.openxmlformats.org/presentationml/2006/ole">
              <mc:AlternateContent xmlns:mc="http://schemas.openxmlformats.org/markup-compatibility/2006">
                <mc:Choice xmlns:v="urn:schemas-microsoft-com:vml" Requires="v">
                  <p:oleObj spid="_x0000_s149687" name="公式" r:id="rId11" imgW="152400" imgH="152400" progId="Equation.3">
                    <p:embed/>
                  </p:oleObj>
                </mc:Choice>
                <mc:Fallback>
                  <p:oleObj name="公式" r:id="rId11" imgW="152400" imgH="152400" progId="Equation.3">
                    <p:embed/>
                    <p:pic>
                      <p:nvPicPr>
                        <p:cNvPr id="0"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37"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2" name="Object 52"/>
            <p:cNvGraphicFramePr>
              <a:graphicFrameLocks noChangeAspect="1"/>
            </p:cNvGraphicFramePr>
            <p:nvPr/>
          </p:nvGraphicFramePr>
          <p:xfrm>
            <a:off x="2617" y="1968"/>
            <a:ext cx="167" cy="167"/>
          </p:xfrm>
          <a:graphic>
            <a:graphicData uri="http://schemas.openxmlformats.org/presentationml/2006/ole">
              <mc:AlternateContent xmlns:mc="http://schemas.openxmlformats.org/markup-compatibility/2006">
                <mc:Choice xmlns:v="urn:schemas-microsoft-com:vml" Requires="v">
                  <p:oleObj spid="_x0000_s149688" name="公式" r:id="rId13" imgW="152400" imgH="152400" progId="Equation.3">
                    <p:embed/>
                  </p:oleObj>
                </mc:Choice>
                <mc:Fallback>
                  <p:oleObj name="公式" r:id="rId13" imgW="152400" imgH="152400" progId="Equation.3">
                    <p:embed/>
                    <p:pic>
                      <p:nvPicPr>
                        <p:cNvPr id="0" name="Object 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17"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3" name="Object 53"/>
            <p:cNvGraphicFramePr>
              <a:graphicFrameLocks noChangeAspect="1"/>
            </p:cNvGraphicFramePr>
            <p:nvPr/>
          </p:nvGraphicFramePr>
          <p:xfrm>
            <a:off x="3264" y="1968"/>
            <a:ext cx="167" cy="167"/>
          </p:xfrm>
          <a:graphic>
            <a:graphicData uri="http://schemas.openxmlformats.org/presentationml/2006/ole">
              <mc:AlternateContent xmlns:mc="http://schemas.openxmlformats.org/markup-compatibility/2006">
                <mc:Choice xmlns:v="urn:schemas-microsoft-com:vml" Requires="v">
                  <p:oleObj spid="_x0000_s149689" name="公式" r:id="rId15" imgW="152400" imgH="152400" progId="Equation.3">
                    <p:embed/>
                  </p:oleObj>
                </mc:Choice>
                <mc:Fallback>
                  <p:oleObj name="公式" r:id="rId15" imgW="152400" imgH="152400" progId="Equation.3">
                    <p:embed/>
                    <p:pic>
                      <p:nvPicPr>
                        <p:cNvPr id="0" name="Object 5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64"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4" name="Object 54"/>
            <p:cNvGraphicFramePr>
              <a:graphicFrameLocks noChangeAspect="1"/>
            </p:cNvGraphicFramePr>
            <p:nvPr/>
          </p:nvGraphicFramePr>
          <p:xfrm>
            <a:off x="3145" y="1968"/>
            <a:ext cx="167" cy="167"/>
          </p:xfrm>
          <a:graphic>
            <a:graphicData uri="http://schemas.openxmlformats.org/presentationml/2006/ole">
              <mc:AlternateContent xmlns:mc="http://schemas.openxmlformats.org/markup-compatibility/2006">
                <mc:Choice xmlns:v="urn:schemas-microsoft-com:vml" Requires="v">
                  <p:oleObj spid="_x0000_s149690" name="公式" r:id="rId17" imgW="152400" imgH="152400" progId="Equation.3">
                    <p:embed/>
                  </p:oleObj>
                </mc:Choice>
                <mc:Fallback>
                  <p:oleObj name="公式" r:id="rId17" imgW="152400" imgH="152400" progId="Equation.3">
                    <p:embed/>
                    <p:pic>
                      <p:nvPicPr>
                        <p:cNvPr id="0" name="Object 5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45"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5" name="Object 55"/>
            <p:cNvGraphicFramePr>
              <a:graphicFrameLocks noChangeAspect="1"/>
            </p:cNvGraphicFramePr>
            <p:nvPr/>
          </p:nvGraphicFramePr>
          <p:xfrm>
            <a:off x="2112" y="1968"/>
            <a:ext cx="167" cy="167"/>
          </p:xfrm>
          <a:graphic>
            <a:graphicData uri="http://schemas.openxmlformats.org/presentationml/2006/ole">
              <mc:AlternateContent xmlns:mc="http://schemas.openxmlformats.org/markup-compatibility/2006">
                <mc:Choice xmlns:v="urn:schemas-microsoft-com:vml" Requires="v">
                  <p:oleObj spid="_x0000_s149691" name="公式" r:id="rId19" imgW="152400" imgH="152400" progId="Equation.3">
                    <p:embed/>
                  </p:oleObj>
                </mc:Choice>
                <mc:Fallback>
                  <p:oleObj name="公式" r:id="rId19" imgW="152400" imgH="152400" progId="Equation.3">
                    <p:embed/>
                    <p:pic>
                      <p:nvPicPr>
                        <p:cNvPr id="0" name="Object 5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12"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6" name="Object 56"/>
            <p:cNvGraphicFramePr>
              <a:graphicFrameLocks noChangeAspect="1"/>
            </p:cNvGraphicFramePr>
            <p:nvPr/>
          </p:nvGraphicFramePr>
          <p:xfrm>
            <a:off x="2304" y="1968"/>
            <a:ext cx="167" cy="167"/>
          </p:xfrm>
          <a:graphic>
            <a:graphicData uri="http://schemas.openxmlformats.org/presentationml/2006/ole">
              <mc:AlternateContent xmlns:mc="http://schemas.openxmlformats.org/markup-compatibility/2006">
                <mc:Choice xmlns:v="urn:schemas-microsoft-com:vml" Requires="v">
                  <p:oleObj spid="_x0000_s149692" name="公式" r:id="rId21" imgW="152400" imgH="152400" progId="Equation.3">
                    <p:embed/>
                  </p:oleObj>
                </mc:Choice>
                <mc:Fallback>
                  <p:oleObj name="公式" r:id="rId21" imgW="152400" imgH="152400" progId="Equation.3">
                    <p:embed/>
                    <p:pic>
                      <p:nvPicPr>
                        <p:cNvPr id="0" name="Object 5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04" y="1968"/>
                          <a:ext cx="167"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77" name="Rectangle 57"/>
            <p:cNvSpPr>
              <a:spLocks noChangeArrowheads="1"/>
            </p:cNvSpPr>
            <p:nvPr/>
          </p:nvSpPr>
          <p:spPr bwMode="auto">
            <a:xfrm>
              <a:off x="-687" y="1667"/>
              <a:ext cx="1473" cy="291"/>
            </a:xfrm>
            <a:prstGeom prst="rect">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乙仪器测量结果</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79" name="Line 59"/>
            <p:cNvSpPr>
              <a:spLocks noChangeShapeType="1"/>
            </p:cNvSpPr>
            <p:nvPr/>
          </p:nvSpPr>
          <p:spPr bwMode="auto">
            <a:xfrm>
              <a:off x="2736" y="2016"/>
              <a:ext cx="0"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56381" name="Text Box 61"/>
          <p:cNvSpPr txBox="1">
            <a:spLocks noChangeArrowheads="1"/>
          </p:cNvSpPr>
          <p:nvPr/>
        </p:nvSpPr>
        <p:spPr bwMode="auto">
          <a:xfrm>
            <a:off x="2089150" y="1927900"/>
            <a:ext cx="7162800" cy="338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en-US" altLang="zh-CN" sz="2400" b="1" baseline="300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400" b="1" baseline="300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4439816" y="2453162"/>
            <a:ext cx="6172200" cy="609600"/>
            <a:chOff x="2795588" y="2225642"/>
            <a:chExt cx="6172200" cy="609600"/>
          </a:xfrm>
        </p:grpSpPr>
        <p:sp>
          <p:nvSpPr>
            <p:cNvPr id="56382" name="Line 62"/>
            <p:cNvSpPr>
              <a:spLocks noChangeShapeType="1"/>
            </p:cNvSpPr>
            <p:nvPr/>
          </p:nvSpPr>
          <p:spPr bwMode="auto">
            <a:xfrm>
              <a:off x="2795588" y="2378042"/>
              <a:ext cx="61722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83" name="Line 63"/>
            <p:cNvSpPr>
              <a:spLocks noChangeShapeType="1"/>
            </p:cNvSpPr>
            <p:nvPr/>
          </p:nvSpPr>
          <p:spPr bwMode="auto">
            <a:xfrm>
              <a:off x="5614988" y="2301842"/>
              <a:ext cx="0" cy="76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6384" name="Object 64"/>
            <p:cNvGraphicFramePr>
              <a:graphicFrameLocks noChangeAspect="1"/>
            </p:cNvGraphicFramePr>
            <p:nvPr/>
          </p:nvGraphicFramePr>
          <p:xfrm>
            <a:off x="5459413" y="2384392"/>
            <a:ext cx="404813" cy="450850"/>
          </p:xfrm>
          <a:graphic>
            <a:graphicData uri="http://schemas.openxmlformats.org/presentationml/2006/ole">
              <mc:AlternateContent xmlns:mc="http://schemas.openxmlformats.org/markup-compatibility/2006">
                <mc:Choice xmlns:v="urn:schemas-microsoft-com:vml" Requires="v">
                  <p:oleObj spid="_x0000_s149693" name="Equation" r:id="rId23" imgW="3048000" imgH="3352800" progId="Equation.DSMT4">
                    <p:embed/>
                  </p:oleObj>
                </mc:Choice>
                <mc:Fallback>
                  <p:oleObj name="Equation" r:id="rId23" imgW="3048000" imgH="3352800" progId="Equation.DSMT4">
                    <p:embed/>
                    <p:pic>
                      <p:nvPicPr>
                        <p:cNvPr id="0" name="Object 64"/>
                        <p:cNvPicPr>
                          <a:picLocks noChangeAspect="1" noChangeArrowheads="1"/>
                        </p:cNvPicPr>
                        <p:nvPr/>
                      </p:nvPicPr>
                      <p:blipFill>
                        <a:blip r:embed="rId24"/>
                        <a:srcRect/>
                        <a:stretch>
                          <a:fillRect/>
                        </a:stretch>
                      </p:blipFill>
                      <p:spPr bwMode="auto">
                        <a:xfrm>
                          <a:off x="5459413" y="2384392"/>
                          <a:ext cx="404813"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85" name="Object 65"/>
            <p:cNvGraphicFramePr>
              <a:graphicFrameLocks noChangeAspect="1"/>
            </p:cNvGraphicFramePr>
            <p:nvPr/>
          </p:nvGraphicFramePr>
          <p:xfrm>
            <a:off x="5121276" y="2225642"/>
            <a:ext cx="265113" cy="265113"/>
          </p:xfrm>
          <a:graphic>
            <a:graphicData uri="http://schemas.openxmlformats.org/presentationml/2006/ole">
              <mc:AlternateContent xmlns:mc="http://schemas.openxmlformats.org/markup-compatibility/2006">
                <mc:Choice xmlns:v="urn:schemas-microsoft-com:vml" Requires="v">
                  <p:oleObj spid="_x0000_s149694" name="公式" r:id="rId25" imgW="152400" imgH="152400" progId="Equation.3">
                    <p:embed/>
                  </p:oleObj>
                </mc:Choice>
                <mc:Fallback>
                  <p:oleObj name="公式" r:id="rId25" imgW="152400" imgH="152400" progId="Equation.3">
                    <p:embed/>
                    <p:pic>
                      <p:nvPicPr>
                        <p:cNvPr id="0" name="Object 6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21276"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86" name="Object 66"/>
            <p:cNvGraphicFramePr>
              <a:graphicFrameLocks noChangeAspect="1"/>
            </p:cNvGraphicFramePr>
            <p:nvPr/>
          </p:nvGraphicFramePr>
          <p:xfrm>
            <a:off x="5767388" y="2225642"/>
            <a:ext cx="265113" cy="265113"/>
          </p:xfrm>
          <a:graphic>
            <a:graphicData uri="http://schemas.openxmlformats.org/presentationml/2006/ole">
              <mc:AlternateContent xmlns:mc="http://schemas.openxmlformats.org/markup-compatibility/2006">
                <mc:Choice xmlns:v="urn:schemas-microsoft-com:vml" Requires="v">
                  <p:oleObj spid="_x0000_s149695" name="公式" r:id="rId27" imgW="152400" imgH="152400" progId="Equation.3">
                    <p:embed/>
                  </p:oleObj>
                </mc:Choice>
                <mc:Fallback>
                  <p:oleObj name="公式" r:id="rId27" imgW="152400" imgH="152400" progId="Equation.3">
                    <p:embed/>
                    <p:pic>
                      <p:nvPicPr>
                        <p:cNvPr id="0" name="Object 6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67388"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87" name="Object 67"/>
            <p:cNvGraphicFramePr>
              <a:graphicFrameLocks noChangeAspect="1"/>
            </p:cNvGraphicFramePr>
            <p:nvPr/>
          </p:nvGraphicFramePr>
          <p:xfrm>
            <a:off x="5919788" y="2225642"/>
            <a:ext cx="265113" cy="265113"/>
          </p:xfrm>
          <a:graphic>
            <a:graphicData uri="http://schemas.openxmlformats.org/presentationml/2006/ole">
              <mc:AlternateContent xmlns:mc="http://schemas.openxmlformats.org/markup-compatibility/2006">
                <mc:Choice xmlns:v="urn:schemas-microsoft-com:vml" Requires="v">
                  <p:oleObj spid="_x0000_s149696" name="公式" r:id="rId29" imgW="152400" imgH="152400" progId="Equation.3">
                    <p:embed/>
                  </p:oleObj>
                </mc:Choice>
                <mc:Fallback>
                  <p:oleObj name="公式" r:id="rId29" imgW="152400" imgH="152400" progId="Equation.3">
                    <p:embed/>
                    <p:pic>
                      <p:nvPicPr>
                        <p:cNvPr id="0" name="Object 6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919788"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88" name="Object 68"/>
            <p:cNvGraphicFramePr>
              <a:graphicFrameLocks noChangeAspect="1"/>
            </p:cNvGraphicFramePr>
            <p:nvPr/>
          </p:nvGraphicFramePr>
          <p:xfrm>
            <a:off x="6569076" y="2225642"/>
            <a:ext cx="265113" cy="265113"/>
          </p:xfrm>
          <a:graphic>
            <a:graphicData uri="http://schemas.openxmlformats.org/presentationml/2006/ole">
              <mc:AlternateContent xmlns:mc="http://schemas.openxmlformats.org/markup-compatibility/2006">
                <mc:Choice xmlns:v="urn:schemas-microsoft-com:vml" Requires="v">
                  <p:oleObj spid="_x0000_s149697" name="公式" r:id="rId31" imgW="152400" imgH="152400" progId="Equation.3">
                    <p:embed/>
                  </p:oleObj>
                </mc:Choice>
                <mc:Fallback>
                  <p:oleObj name="公式" r:id="rId31" imgW="152400" imgH="152400" progId="Equation.3">
                    <p:embed/>
                    <p:pic>
                      <p:nvPicPr>
                        <p:cNvPr id="0" name="Object 6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569076"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89" name="Object 69"/>
            <p:cNvGraphicFramePr>
              <a:graphicFrameLocks noChangeAspect="1"/>
            </p:cNvGraphicFramePr>
            <p:nvPr/>
          </p:nvGraphicFramePr>
          <p:xfrm>
            <a:off x="3862388" y="2225642"/>
            <a:ext cx="265113" cy="265113"/>
          </p:xfrm>
          <a:graphic>
            <a:graphicData uri="http://schemas.openxmlformats.org/presentationml/2006/ole">
              <mc:AlternateContent xmlns:mc="http://schemas.openxmlformats.org/markup-compatibility/2006">
                <mc:Choice xmlns:v="urn:schemas-microsoft-com:vml" Requires="v">
                  <p:oleObj spid="_x0000_s149698" name="公式" r:id="rId33" imgW="152400" imgH="152400" progId="Equation.3">
                    <p:embed/>
                  </p:oleObj>
                </mc:Choice>
                <mc:Fallback>
                  <p:oleObj name="公式" r:id="rId33" imgW="152400" imgH="152400" progId="Equation.3">
                    <p:embed/>
                    <p:pic>
                      <p:nvPicPr>
                        <p:cNvPr id="0" name="Object 6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862388"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90" name="Object 70"/>
            <p:cNvGraphicFramePr>
              <a:graphicFrameLocks noChangeAspect="1"/>
            </p:cNvGraphicFramePr>
            <p:nvPr/>
          </p:nvGraphicFramePr>
          <p:xfrm>
            <a:off x="4395788" y="2225642"/>
            <a:ext cx="265113" cy="265113"/>
          </p:xfrm>
          <a:graphic>
            <a:graphicData uri="http://schemas.openxmlformats.org/presentationml/2006/ole">
              <mc:AlternateContent xmlns:mc="http://schemas.openxmlformats.org/markup-compatibility/2006">
                <mc:Choice xmlns:v="urn:schemas-microsoft-com:vml" Requires="v">
                  <p:oleObj spid="_x0000_s149699" name="公式" r:id="rId35" imgW="152400" imgH="152400" progId="Equation.3">
                    <p:embed/>
                  </p:oleObj>
                </mc:Choice>
                <mc:Fallback>
                  <p:oleObj name="公式" r:id="rId35" imgW="152400" imgH="152400" progId="Equation.3">
                    <p:embed/>
                    <p:pic>
                      <p:nvPicPr>
                        <p:cNvPr id="0" name="Object 7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395788"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91" name="Object 71"/>
            <p:cNvGraphicFramePr>
              <a:graphicFrameLocks noChangeAspect="1"/>
            </p:cNvGraphicFramePr>
            <p:nvPr/>
          </p:nvGraphicFramePr>
          <p:xfrm>
            <a:off x="7254876" y="2225642"/>
            <a:ext cx="265113" cy="265113"/>
          </p:xfrm>
          <a:graphic>
            <a:graphicData uri="http://schemas.openxmlformats.org/presentationml/2006/ole">
              <mc:AlternateContent xmlns:mc="http://schemas.openxmlformats.org/markup-compatibility/2006">
                <mc:Choice xmlns:v="urn:schemas-microsoft-com:vml" Requires="v">
                  <p:oleObj spid="_x0000_s149700" name="公式" r:id="rId37" imgW="152400" imgH="152400" progId="Equation.3">
                    <p:embed/>
                  </p:oleObj>
                </mc:Choice>
                <mc:Fallback>
                  <p:oleObj name="公式" r:id="rId37" imgW="152400" imgH="152400" progId="Equation.3">
                    <p:embed/>
                    <p:pic>
                      <p:nvPicPr>
                        <p:cNvPr id="0" name="Object 7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7254876"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92" name="Object 72"/>
            <p:cNvGraphicFramePr>
              <a:graphicFrameLocks noChangeAspect="1"/>
            </p:cNvGraphicFramePr>
            <p:nvPr/>
          </p:nvGraphicFramePr>
          <p:xfrm>
            <a:off x="3328988" y="2225642"/>
            <a:ext cx="265113" cy="265113"/>
          </p:xfrm>
          <a:graphic>
            <a:graphicData uri="http://schemas.openxmlformats.org/presentationml/2006/ole">
              <mc:AlternateContent xmlns:mc="http://schemas.openxmlformats.org/markup-compatibility/2006">
                <mc:Choice xmlns:v="urn:schemas-microsoft-com:vml" Requires="v">
                  <p:oleObj spid="_x0000_s149701" name="Equation" r:id="rId39" imgW="152400" imgH="152400" progId="Equation.DSMT4">
                    <p:embed/>
                  </p:oleObj>
                </mc:Choice>
                <mc:Fallback>
                  <p:oleObj name="Equation" r:id="rId39" imgW="152400" imgH="152400" progId="Equation.DSMT4">
                    <p:embed/>
                    <p:pic>
                      <p:nvPicPr>
                        <p:cNvPr id="0" name="Object 7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328988" y="2225642"/>
                          <a:ext cx="265113" cy="265113"/>
                        </a:xfrm>
                        <a:prstGeom prst="rect">
                          <a:avLst/>
                        </a:prstGeom>
                        <a:noFill/>
                        <a:ln>
                          <a:noFill/>
                        </a:ln>
                        <a:effectLst/>
                      </p:spPr>
                    </p:pic>
                  </p:oleObj>
                </mc:Fallback>
              </mc:AlternateContent>
            </a:graphicData>
          </a:graphic>
        </p:graphicFrame>
        <p:graphicFrame>
          <p:nvGraphicFramePr>
            <p:cNvPr id="56393" name="Object 73"/>
            <p:cNvGraphicFramePr>
              <a:graphicFrameLocks noChangeAspect="1"/>
            </p:cNvGraphicFramePr>
            <p:nvPr/>
          </p:nvGraphicFramePr>
          <p:xfrm>
            <a:off x="7748588" y="2225642"/>
            <a:ext cx="265113" cy="265113"/>
          </p:xfrm>
          <a:graphic>
            <a:graphicData uri="http://schemas.openxmlformats.org/presentationml/2006/ole">
              <mc:AlternateContent xmlns:mc="http://schemas.openxmlformats.org/markup-compatibility/2006">
                <mc:Choice xmlns:v="urn:schemas-microsoft-com:vml" Requires="v">
                  <p:oleObj spid="_x0000_s149702" name="公式" r:id="rId41" imgW="152400" imgH="152400" progId="Equation.3">
                    <p:embed/>
                  </p:oleObj>
                </mc:Choice>
                <mc:Fallback>
                  <p:oleObj name="公式" r:id="rId41" imgW="152400" imgH="152400" progId="Equation.3">
                    <p:embed/>
                    <p:pic>
                      <p:nvPicPr>
                        <p:cNvPr id="0" name="Object 73"/>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748588"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94" name="Object 74"/>
            <p:cNvGraphicFramePr>
              <a:graphicFrameLocks noChangeAspect="1"/>
            </p:cNvGraphicFramePr>
            <p:nvPr/>
          </p:nvGraphicFramePr>
          <p:xfrm>
            <a:off x="5426076" y="2225642"/>
            <a:ext cx="265113" cy="265113"/>
          </p:xfrm>
          <a:graphic>
            <a:graphicData uri="http://schemas.openxmlformats.org/presentationml/2006/ole">
              <mc:AlternateContent xmlns:mc="http://schemas.openxmlformats.org/markup-compatibility/2006">
                <mc:Choice xmlns:v="urn:schemas-microsoft-com:vml" Requires="v">
                  <p:oleObj spid="_x0000_s149703" name="公式" r:id="rId43" imgW="152400" imgH="152400" progId="Equation.3">
                    <p:embed/>
                  </p:oleObj>
                </mc:Choice>
                <mc:Fallback>
                  <p:oleObj name="公式" r:id="rId43" imgW="152400" imgH="152400" progId="Equation.3">
                    <p:embed/>
                    <p:pic>
                      <p:nvPicPr>
                        <p:cNvPr id="0" name="Object 74"/>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5426076" y="2225642"/>
                          <a:ext cx="265113"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6395" name="Rectangle 75"/>
          <p:cNvSpPr>
            <a:spLocks noChangeArrowheads="1"/>
          </p:cNvSpPr>
          <p:nvPr/>
        </p:nvSpPr>
        <p:spPr bwMode="auto">
          <a:xfrm>
            <a:off x="1826594" y="2325858"/>
            <a:ext cx="2338388" cy="461963"/>
          </a:xfrm>
          <a:prstGeom prst="rect">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甲仪器测量结果</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56396" name="Group 76"/>
          <p:cNvGrpSpPr/>
          <p:nvPr/>
        </p:nvGrpSpPr>
        <p:grpSpPr bwMode="auto">
          <a:xfrm>
            <a:off x="9324681" y="4370956"/>
            <a:ext cx="2574669" cy="703263"/>
            <a:chOff x="3744" y="2245"/>
            <a:chExt cx="1478" cy="443"/>
          </a:xfrm>
        </p:grpSpPr>
        <p:sp>
          <p:nvSpPr>
            <p:cNvPr id="56397" name="AutoShape 77"/>
            <p:cNvSpPr>
              <a:spLocks noChangeArrowheads="1"/>
            </p:cNvSpPr>
            <p:nvPr/>
          </p:nvSpPr>
          <p:spPr bwMode="auto">
            <a:xfrm>
              <a:off x="3744" y="2544"/>
              <a:ext cx="1008" cy="144"/>
            </a:xfrm>
            <a:prstGeom prst="leftArrow">
              <a:avLst>
                <a:gd name="adj1" fmla="val 50000"/>
                <a:gd name="adj2" fmla="val 175000"/>
              </a:avLst>
            </a:prstGeom>
            <a:solidFill>
              <a:srgbClr val="C00000"/>
            </a:solidFill>
            <a:ln w="9525">
              <a:solidFill>
                <a:schemeClr val="tx1">
                  <a:lumMod val="95000"/>
                  <a:lumOff val="5000"/>
                </a:schemeClr>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98" name="Rectangle 78"/>
            <p:cNvSpPr>
              <a:spLocks noChangeArrowheads="1"/>
            </p:cNvSpPr>
            <p:nvPr/>
          </p:nvSpPr>
          <p:spPr bwMode="auto">
            <a:xfrm>
              <a:off x="4586" y="2245"/>
              <a:ext cx="636"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乙较好</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56399" name="Rectangle 79"/>
          <p:cNvSpPr>
            <a:spLocks noChangeArrowheads="1"/>
          </p:cNvSpPr>
          <p:nvPr/>
        </p:nvSpPr>
        <p:spPr bwMode="auto">
          <a:xfrm>
            <a:off x="1743449" y="3069113"/>
            <a:ext cx="3895723"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测量结果的均值都是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Rectangle 44"/>
          <p:cNvSpPr>
            <a:spLocks noChangeArrowheads="1"/>
          </p:cNvSpPr>
          <p:nvPr/>
        </p:nvSpPr>
        <p:spPr bwMode="auto">
          <a:xfrm>
            <a:off x="1406163" y="4979558"/>
            <a:ext cx="4028280"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你认为哪台仪器好一些呢？</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Rectangle 80"/>
          <p:cNvSpPr>
            <a:spLocks noChangeArrowheads="1"/>
          </p:cNvSpPr>
          <p:nvPr/>
        </p:nvSpPr>
        <p:spPr bwMode="auto">
          <a:xfrm>
            <a:off x="3439766" y="5754683"/>
            <a:ext cx="5621918" cy="461665"/>
          </a:xfrm>
          <a:prstGeom prst="rect">
            <a:avLst/>
          </a:prstGeom>
          <a:solidFill>
            <a:srgbClr val="C00000"/>
          </a:solidFill>
          <a:ln>
            <a:noFill/>
          </a:ln>
          <a:effectLst/>
        </p:spPr>
        <p:txBody>
          <a:bodyPr wrap="square" anchor="ctr">
            <a:spAutoFit/>
          </a:bodyPr>
          <a:lstStyle/>
          <a:p>
            <a:pPr algn="ctr" eaLnBrk="1" hangingPunct="1"/>
            <a:r>
              <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因为乙仪器的测量结果集中在均值附近</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43"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4" name="矩形 43"/>
          <p:cNvSpPr>
            <a:spLocks noChangeArrowheads="1"/>
          </p:cNvSpPr>
          <p:nvPr/>
        </p:nvSpPr>
        <p:spPr bwMode="auto">
          <a:xfrm>
            <a:off x="1406163" y="255069"/>
            <a:ext cx="93805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45" name="组合 44"/>
          <p:cNvGrpSpPr/>
          <p:nvPr/>
        </p:nvGrpSpPr>
        <p:grpSpPr>
          <a:xfrm>
            <a:off x="851761" y="364781"/>
            <a:ext cx="263341" cy="395013"/>
            <a:chOff x="5284519" y="1508166"/>
            <a:chExt cx="213756" cy="427512"/>
          </a:xfrm>
        </p:grpSpPr>
        <p:cxnSp>
          <p:nvCxnSpPr>
            <p:cNvPr id="46" name="直接连接符 4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47" name="直接连接符 4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6363"/>
                                        </p:tgtEl>
                                        <p:attrNameLst>
                                          <p:attrName>style.visibility</p:attrName>
                                        </p:attrNameLst>
                                      </p:cBhvr>
                                      <p:to>
                                        <p:strVal val="visible"/>
                                      </p:to>
                                    </p:set>
                                    <p:animEffect transition="in" filter="barn(outVertical)">
                                      <p:cBhvr>
                                        <p:cTn id="7" dur="500"/>
                                        <p:tgtEl>
                                          <p:spTgt spid="5636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6395"/>
                                        </p:tgtEl>
                                        <p:attrNameLst>
                                          <p:attrName>style.visibility</p:attrName>
                                        </p:attrNameLst>
                                      </p:cBhvr>
                                      <p:to>
                                        <p:strVal val="visible"/>
                                      </p:to>
                                    </p:set>
                                    <p:anim calcmode="lin" valueType="num">
                                      <p:cBhvr additive="base">
                                        <p:cTn id="12" dur="500" fill="hold"/>
                                        <p:tgtEl>
                                          <p:spTgt spid="56395"/>
                                        </p:tgtEl>
                                        <p:attrNameLst>
                                          <p:attrName>ppt_x</p:attrName>
                                        </p:attrNameLst>
                                      </p:cBhvr>
                                      <p:tavLst>
                                        <p:tav tm="0">
                                          <p:val>
                                            <p:strVal val="0-#ppt_w/2"/>
                                          </p:val>
                                        </p:tav>
                                        <p:tav tm="100000">
                                          <p:val>
                                            <p:strVal val="#ppt_x"/>
                                          </p:val>
                                        </p:tav>
                                      </p:tavLst>
                                    </p:anim>
                                    <p:anim calcmode="lin" valueType="num">
                                      <p:cBhvr additive="base">
                                        <p:cTn id="13" dur="500" fill="hold"/>
                                        <p:tgtEl>
                                          <p:spTgt spid="5639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6399"/>
                                        </p:tgtEl>
                                        <p:attrNameLst>
                                          <p:attrName>style.visibility</p:attrName>
                                        </p:attrNameLst>
                                      </p:cBhvr>
                                      <p:to>
                                        <p:strVal val="visible"/>
                                      </p:to>
                                    </p:set>
                                    <p:anim calcmode="lin" valueType="num">
                                      <p:cBhvr additive="base">
                                        <p:cTn id="24" dur="500" fill="hold"/>
                                        <p:tgtEl>
                                          <p:spTgt spid="56399"/>
                                        </p:tgtEl>
                                        <p:attrNameLst>
                                          <p:attrName>ppt_x</p:attrName>
                                        </p:attrNameLst>
                                      </p:cBhvr>
                                      <p:tavLst>
                                        <p:tav tm="0">
                                          <p:val>
                                            <p:strVal val="0-#ppt_w/2"/>
                                          </p:val>
                                        </p:tav>
                                        <p:tav tm="100000">
                                          <p:val>
                                            <p:strVal val="#ppt_x"/>
                                          </p:val>
                                        </p:tav>
                                      </p:tavLst>
                                    </p:anim>
                                    <p:anim calcmode="lin" valueType="num">
                                      <p:cBhvr additive="base">
                                        <p:cTn id="25" dur="500" fill="hold"/>
                                        <p:tgtEl>
                                          <p:spTgt spid="5639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5636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41"/>
                                        </p:tgtEl>
                                        <p:attrNameLst>
                                          <p:attrName>style.visibility</p:attrName>
                                        </p:attrNameLst>
                                      </p:cBhvr>
                                      <p:to>
                                        <p:strVal val="visible"/>
                                      </p:to>
                                    </p:set>
                                    <p:anim calcmode="lin" valueType="num">
                                      <p:cBhvr additive="base">
                                        <p:cTn id="34" dur="500" fill="hold"/>
                                        <p:tgtEl>
                                          <p:spTgt spid="41"/>
                                        </p:tgtEl>
                                        <p:attrNameLst>
                                          <p:attrName>ppt_x</p:attrName>
                                        </p:attrNameLst>
                                      </p:cBhvr>
                                      <p:tavLst>
                                        <p:tav tm="0">
                                          <p:val>
                                            <p:strVal val="#ppt_x"/>
                                          </p:val>
                                        </p:tav>
                                        <p:tav tm="100000">
                                          <p:val>
                                            <p:strVal val="#ppt_x"/>
                                          </p:val>
                                        </p:tav>
                                      </p:tavLst>
                                    </p:anim>
                                    <p:anim calcmode="lin" valueType="num">
                                      <p:cBhvr additive="base">
                                        <p:cTn id="35"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56396"/>
                                        </p:tgtEl>
                                        <p:attrNameLst>
                                          <p:attrName>style.visibility</p:attrName>
                                        </p:attrNameLst>
                                      </p:cBhvr>
                                      <p:to>
                                        <p:strVal val="visible"/>
                                      </p:to>
                                    </p:set>
                                    <p:anim calcmode="lin" valueType="num">
                                      <p:cBhvr additive="base">
                                        <p:cTn id="40" dur="500" fill="hold"/>
                                        <p:tgtEl>
                                          <p:spTgt spid="56396"/>
                                        </p:tgtEl>
                                        <p:attrNameLst>
                                          <p:attrName>ppt_x</p:attrName>
                                        </p:attrNameLst>
                                      </p:cBhvr>
                                      <p:tavLst>
                                        <p:tav tm="0">
                                          <p:val>
                                            <p:strVal val="1+#ppt_w/2"/>
                                          </p:val>
                                        </p:tav>
                                        <p:tav tm="100000">
                                          <p:val>
                                            <p:strVal val="#ppt_x"/>
                                          </p:val>
                                        </p:tav>
                                      </p:tavLst>
                                    </p:anim>
                                    <p:anim calcmode="lin" valueType="num">
                                      <p:cBhvr additive="base">
                                        <p:cTn id="41" dur="500" fill="hold"/>
                                        <p:tgtEl>
                                          <p:spTgt spid="5639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45" name="CAMERA.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42"/>
                                        </p:tgtEl>
                                        <p:attrNameLst>
                                          <p:attrName>style.visibility</p:attrName>
                                        </p:attrNameLst>
                                      </p:cBhvr>
                                      <p:to>
                                        <p:strVal val="visible"/>
                                      </p:to>
                                    </p:set>
                                    <p:anim calcmode="lin" valueType="num">
                                      <p:cBhvr additive="base">
                                        <p:cTn id="46" dur="500" fill="hold"/>
                                        <p:tgtEl>
                                          <p:spTgt spid="42"/>
                                        </p:tgtEl>
                                        <p:attrNameLst>
                                          <p:attrName>ppt_x</p:attrName>
                                        </p:attrNameLst>
                                      </p:cBhvr>
                                      <p:tavLst>
                                        <p:tav tm="0">
                                          <p:val>
                                            <p:strVal val="#ppt_x"/>
                                          </p:val>
                                        </p:tav>
                                        <p:tav tm="100000">
                                          <p:val>
                                            <p:strVal val="#ppt_x"/>
                                          </p:val>
                                        </p:tav>
                                      </p:tavLst>
                                    </p:anim>
                                    <p:anim calcmode="lin" valueType="num">
                                      <p:cBhvr additive="base">
                                        <p:cTn id="47"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63" grpId="0" bldLvl="0" animBg="1" autoUpdateAnimBg="0"/>
      <p:bldP spid="56395" grpId="0" bldLvl="0" animBg="1"/>
      <p:bldP spid="56399" grpId="0" bldLvl="0" animBg="1" autoUpdateAnimBg="0"/>
      <p:bldP spid="41" grpId="0" bldLvl="0" animBg="1" autoUpdateAnimBg="0"/>
      <p:bldP spid="42"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93" name="Text Box 85"/>
          <p:cNvSpPr txBox="1">
            <a:spLocks noChangeArrowheads="1"/>
          </p:cNvSpPr>
          <p:nvPr/>
        </p:nvSpPr>
        <p:spPr bwMode="auto">
          <a:xfrm>
            <a:off x="1335307" y="933616"/>
            <a:ext cx="10225832" cy="62151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spcBef>
                <a:spcPct val="5000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甲、乙两门炮同时向一目标射击</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10</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发炮弹，其落点距目标的位置如图：</a:t>
            </a:r>
            <a:endParaRPr lang="zh-CN" altLang="en-US" sz="26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4" name="Rectangle 86"/>
          <p:cNvSpPr>
            <a:spLocks noChangeArrowheads="1"/>
          </p:cNvSpPr>
          <p:nvPr/>
        </p:nvSpPr>
        <p:spPr bwMode="auto">
          <a:xfrm>
            <a:off x="1406163" y="4978552"/>
            <a:ext cx="556658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你认为哪门炮射击效果好一些呢</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5" name="Rectangle 87"/>
          <p:cNvSpPr>
            <a:spLocks noChangeArrowheads="1"/>
          </p:cNvSpPr>
          <p:nvPr/>
        </p:nvSpPr>
        <p:spPr bwMode="auto">
          <a:xfrm>
            <a:off x="2278165" y="4305719"/>
            <a:ext cx="2921580"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甲炮射击结果</a:t>
            </a:r>
            <a:endParaRPr lang="zh-CN" altLang="en-US" sz="4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6" name="Rectangle 88"/>
          <p:cNvSpPr>
            <a:spLocks noChangeArrowheads="1"/>
          </p:cNvSpPr>
          <p:nvPr/>
        </p:nvSpPr>
        <p:spPr bwMode="auto">
          <a:xfrm>
            <a:off x="6315931" y="4308644"/>
            <a:ext cx="2921580"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乙炮射击结果</a:t>
            </a:r>
            <a:endParaRPr lang="zh-CN" altLang="en-US" sz="4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3097" name="Group 89"/>
          <p:cNvGrpSpPr/>
          <p:nvPr/>
        </p:nvGrpSpPr>
        <p:grpSpPr bwMode="auto">
          <a:xfrm>
            <a:off x="9375613" y="3842314"/>
            <a:ext cx="1616075" cy="825501"/>
            <a:chOff x="4368" y="2360"/>
            <a:chExt cx="1018" cy="520"/>
          </a:xfrm>
        </p:grpSpPr>
        <p:sp>
          <p:nvSpPr>
            <p:cNvPr id="43098" name="AutoShape 90"/>
            <p:cNvSpPr>
              <a:spLocks noChangeArrowheads="1"/>
            </p:cNvSpPr>
            <p:nvPr/>
          </p:nvSpPr>
          <p:spPr bwMode="auto">
            <a:xfrm>
              <a:off x="4368" y="2736"/>
              <a:ext cx="1008" cy="144"/>
            </a:xfrm>
            <a:prstGeom prst="leftArrow">
              <a:avLst>
                <a:gd name="adj1" fmla="val 50000"/>
                <a:gd name="adj2" fmla="val 175000"/>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9" name="Rectangle 91"/>
            <p:cNvSpPr>
              <a:spLocks noChangeArrowheads="1"/>
            </p:cNvSpPr>
            <p:nvPr/>
          </p:nvSpPr>
          <p:spPr bwMode="auto">
            <a:xfrm>
              <a:off x="4882" y="2360"/>
              <a:ext cx="504"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乙炮</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3100" name="Rectangle 92"/>
          <p:cNvSpPr>
            <a:spLocks noChangeArrowheads="1"/>
          </p:cNvSpPr>
          <p:nvPr/>
        </p:nvSpPr>
        <p:spPr bwMode="auto">
          <a:xfrm>
            <a:off x="3148747" y="5751903"/>
            <a:ext cx="6109365" cy="523220"/>
          </a:xfrm>
          <a:prstGeom prst="rect">
            <a:avLst/>
          </a:prstGeom>
          <a:solidFill>
            <a:srgbClr val="C00000"/>
          </a:solidFill>
          <a:ln>
            <a:noFill/>
          </a:ln>
          <a:effectLst/>
        </p:spPr>
        <p:txBody>
          <a:bodyPr wrap="none" anchor="ctr">
            <a:spAutoFit/>
          </a:bodyPr>
          <a:lstStyle/>
          <a:p>
            <a:pPr algn="ctr" eaLnBrk="1" hangingPunct="1"/>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因为乙炮的弹着点较集中在中心附近</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 name="组合 2"/>
          <p:cNvGrpSpPr/>
          <p:nvPr/>
        </p:nvGrpSpPr>
        <p:grpSpPr>
          <a:xfrm>
            <a:off x="2278165" y="1728265"/>
            <a:ext cx="2921580" cy="2438400"/>
            <a:chOff x="2278165" y="1728265"/>
            <a:chExt cx="2921580" cy="2438400"/>
          </a:xfrm>
        </p:grpSpPr>
        <p:sp>
          <p:nvSpPr>
            <p:cNvPr id="43105" name="Rectangle 97"/>
            <p:cNvSpPr>
              <a:spLocks noChangeArrowheads="1"/>
            </p:cNvSpPr>
            <p:nvPr/>
          </p:nvSpPr>
          <p:spPr bwMode="auto">
            <a:xfrm>
              <a:off x="2278165" y="1728265"/>
              <a:ext cx="2921580" cy="2438400"/>
            </a:xfrm>
            <a:prstGeom prst="rect">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3106" name="Object 98"/>
            <p:cNvGraphicFramePr>
              <a:graphicFrameLocks noChangeAspect="1"/>
            </p:cNvGraphicFramePr>
            <p:nvPr/>
          </p:nvGraphicFramePr>
          <p:xfrm>
            <a:off x="4738443" y="2871265"/>
            <a:ext cx="267491" cy="265113"/>
          </p:xfrm>
          <a:graphic>
            <a:graphicData uri="http://schemas.openxmlformats.org/presentationml/2006/ole">
              <mc:AlternateContent xmlns:mc="http://schemas.openxmlformats.org/markup-compatibility/2006">
                <mc:Choice xmlns:v="urn:schemas-microsoft-com:vml" Requires="v">
                  <p:oleObj spid="_x0000_s150690" name="公式" r:id="rId1" imgW="152400" imgH="152400" progId="Equation.3">
                    <p:embed/>
                  </p:oleObj>
                </mc:Choice>
                <mc:Fallback>
                  <p:oleObj name="公式" r:id="rId1" imgW="152400" imgH="152400" progId="Equation.3">
                    <p:embed/>
                    <p:pic>
                      <p:nvPicPr>
                        <p:cNvPr id="0" name="Object 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8443" y="2871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07" name="Object 99"/>
            <p:cNvGraphicFramePr>
              <a:graphicFrameLocks noChangeAspect="1"/>
            </p:cNvGraphicFramePr>
            <p:nvPr/>
          </p:nvGraphicFramePr>
          <p:xfrm>
            <a:off x="4277141" y="2566465"/>
            <a:ext cx="267491" cy="265113"/>
          </p:xfrm>
          <a:graphic>
            <a:graphicData uri="http://schemas.openxmlformats.org/presentationml/2006/ole">
              <mc:AlternateContent xmlns:mc="http://schemas.openxmlformats.org/markup-compatibility/2006">
                <mc:Choice xmlns:v="urn:schemas-microsoft-com:vml" Requires="v">
                  <p:oleObj spid="_x0000_s150691" name="公式" r:id="rId3" imgW="152400" imgH="152400" progId="Equation.3">
                    <p:embed/>
                  </p:oleObj>
                </mc:Choice>
                <mc:Fallback>
                  <p:oleObj name="公式" r:id="rId3" imgW="152400" imgH="152400" progId="Equation.3">
                    <p:embed/>
                    <p:pic>
                      <p:nvPicPr>
                        <p:cNvPr id="0" name="Object 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7141" y="25664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09" name="Object 101"/>
            <p:cNvGraphicFramePr>
              <a:graphicFrameLocks noChangeAspect="1"/>
            </p:cNvGraphicFramePr>
            <p:nvPr/>
          </p:nvGraphicFramePr>
          <p:xfrm>
            <a:off x="3738955" y="2261665"/>
            <a:ext cx="267491" cy="265113"/>
          </p:xfrm>
          <a:graphic>
            <a:graphicData uri="http://schemas.openxmlformats.org/presentationml/2006/ole">
              <mc:AlternateContent xmlns:mc="http://schemas.openxmlformats.org/markup-compatibility/2006">
                <mc:Choice xmlns:v="urn:schemas-microsoft-com:vml" Requires="v">
                  <p:oleObj spid="_x0000_s150692" name="公式" r:id="rId5" imgW="152400" imgH="152400" progId="Equation.3">
                    <p:embed/>
                  </p:oleObj>
                </mc:Choice>
                <mc:Fallback>
                  <p:oleObj name="公式" r:id="rId5" imgW="152400" imgH="152400" progId="Equation.3">
                    <p:embed/>
                    <p:pic>
                      <p:nvPicPr>
                        <p:cNvPr id="0" name="Object 1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8955" y="22616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2" name="Object 104"/>
            <p:cNvGraphicFramePr>
              <a:graphicFrameLocks noChangeAspect="1"/>
            </p:cNvGraphicFramePr>
            <p:nvPr/>
          </p:nvGraphicFramePr>
          <p:xfrm>
            <a:off x="2816351" y="2261665"/>
            <a:ext cx="267491" cy="265113"/>
          </p:xfrm>
          <a:graphic>
            <a:graphicData uri="http://schemas.openxmlformats.org/presentationml/2006/ole">
              <mc:AlternateContent xmlns:mc="http://schemas.openxmlformats.org/markup-compatibility/2006">
                <mc:Choice xmlns:v="urn:schemas-microsoft-com:vml" Requires="v">
                  <p:oleObj spid="_x0000_s150693" name="公式" r:id="rId7" imgW="152400" imgH="152400" progId="Equation.3">
                    <p:embed/>
                  </p:oleObj>
                </mc:Choice>
                <mc:Fallback>
                  <p:oleObj name="公式" r:id="rId7" imgW="152400" imgH="152400" progId="Equation.3">
                    <p:embed/>
                    <p:pic>
                      <p:nvPicPr>
                        <p:cNvPr id="0" name="Object 10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6351" y="22616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3" name="Object 105"/>
            <p:cNvGraphicFramePr>
              <a:graphicFrameLocks noChangeAspect="1"/>
            </p:cNvGraphicFramePr>
            <p:nvPr/>
          </p:nvGraphicFramePr>
          <p:xfrm>
            <a:off x="3969606" y="2947465"/>
            <a:ext cx="267491" cy="265113"/>
          </p:xfrm>
          <a:graphic>
            <a:graphicData uri="http://schemas.openxmlformats.org/presentationml/2006/ole">
              <mc:AlternateContent xmlns:mc="http://schemas.openxmlformats.org/markup-compatibility/2006">
                <mc:Choice xmlns:v="urn:schemas-microsoft-com:vml" Requires="v">
                  <p:oleObj spid="_x0000_s150694" name="公式" r:id="rId9" imgW="152400" imgH="152400" progId="Equation.3">
                    <p:embed/>
                  </p:oleObj>
                </mc:Choice>
                <mc:Fallback>
                  <p:oleObj name="公式" r:id="rId9" imgW="152400" imgH="152400" progId="Equation.3">
                    <p:embed/>
                    <p:pic>
                      <p:nvPicPr>
                        <p:cNvPr id="0" name="Object 10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9606" y="29474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6" name="Object 108"/>
            <p:cNvGraphicFramePr>
              <a:graphicFrameLocks noChangeAspect="1"/>
            </p:cNvGraphicFramePr>
            <p:nvPr/>
          </p:nvGraphicFramePr>
          <p:xfrm>
            <a:off x="3354536" y="2795065"/>
            <a:ext cx="267491" cy="265113"/>
          </p:xfrm>
          <a:graphic>
            <a:graphicData uri="http://schemas.openxmlformats.org/presentationml/2006/ole">
              <mc:AlternateContent xmlns:mc="http://schemas.openxmlformats.org/markup-compatibility/2006">
                <mc:Choice xmlns:v="urn:schemas-microsoft-com:vml" Requires="v">
                  <p:oleObj spid="_x0000_s150695" name="公式" r:id="rId11" imgW="152400" imgH="152400" progId="Equation.3">
                    <p:embed/>
                  </p:oleObj>
                </mc:Choice>
                <mc:Fallback>
                  <p:oleObj name="公式" r:id="rId11" imgW="152400" imgH="152400" progId="Equation.3">
                    <p:embed/>
                    <p:pic>
                      <p:nvPicPr>
                        <p:cNvPr id="0" name="Object 10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54536" y="27950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8" name="Object 110"/>
            <p:cNvGraphicFramePr>
              <a:graphicFrameLocks noChangeAspect="1"/>
            </p:cNvGraphicFramePr>
            <p:nvPr/>
          </p:nvGraphicFramePr>
          <p:xfrm>
            <a:off x="3738955" y="3709465"/>
            <a:ext cx="267491" cy="265113"/>
          </p:xfrm>
          <a:graphic>
            <a:graphicData uri="http://schemas.openxmlformats.org/presentationml/2006/ole">
              <mc:AlternateContent xmlns:mc="http://schemas.openxmlformats.org/markup-compatibility/2006">
                <mc:Choice xmlns:v="urn:schemas-microsoft-com:vml" Requires="v">
                  <p:oleObj spid="_x0000_s150696" name="公式" r:id="rId13" imgW="152400" imgH="152400" progId="Equation.3">
                    <p:embed/>
                  </p:oleObj>
                </mc:Choice>
                <mc:Fallback>
                  <p:oleObj name="公式" r:id="rId13" imgW="152400" imgH="152400" progId="Equation.3">
                    <p:embed/>
                    <p:pic>
                      <p:nvPicPr>
                        <p:cNvPr id="0" name="Object 1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38955" y="37094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9" name="Object 111"/>
            <p:cNvGraphicFramePr>
              <a:graphicFrameLocks noChangeAspect="1"/>
            </p:cNvGraphicFramePr>
            <p:nvPr/>
          </p:nvGraphicFramePr>
          <p:xfrm>
            <a:off x="3123885" y="3633265"/>
            <a:ext cx="267491" cy="265113"/>
          </p:xfrm>
          <a:graphic>
            <a:graphicData uri="http://schemas.openxmlformats.org/presentationml/2006/ole">
              <mc:AlternateContent xmlns:mc="http://schemas.openxmlformats.org/markup-compatibility/2006">
                <mc:Choice xmlns:v="urn:schemas-microsoft-com:vml" Requires="v">
                  <p:oleObj spid="_x0000_s150697" name="公式" r:id="rId15" imgW="152400" imgH="152400" progId="Equation.3">
                    <p:embed/>
                  </p:oleObj>
                </mc:Choice>
                <mc:Fallback>
                  <p:oleObj name="公式" r:id="rId15" imgW="152400" imgH="152400" progId="Equation.3">
                    <p:embed/>
                    <p:pic>
                      <p:nvPicPr>
                        <p:cNvPr id="0" name="Object 1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23885" y="3633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21" name="Object 113"/>
            <p:cNvGraphicFramePr>
              <a:graphicFrameLocks noChangeAspect="1"/>
            </p:cNvGraphicFramePr>
            <p:nvPr/>
          </p:nvGraphicFramePr>
          <p:xfrm>
            <a:off x="4277141" y="3252265"/>
            <a:ext cx="267491" cy="265113"/>
          </p:xfrm>
          <a:graphic>
            <a:graphicData uri="http://schemas.openxmlformats.org/presentationml/2006/ole">
              <mc:AlternateContent xmlns:mc="http://schemas.openxmlformats.org/markup-compatibility/2006">
                <mc:Choice xmlns:v="urn:schemas-microsoft-com:vml" Requires="v">
                  <p:oleObj spid="_x0000_s150698" name="公式" r:id="rId17" imgW="152400" imgH="152400" progId="Equation.3">
                    <p:embed/>
                  </p:oleObj>
                </mc:Choice>
                <mc:Fallback>
                  <p:oleObj name="公式" r:id="rId17" imgW="152400" imgH="152400" progId="Equation.3">
                    <p:embed/>
                    <p:pic>
                      <p:nvPicPr>
                        <p:cNvPr id="0" name="Object 1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77141" y="3252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24" name="Object 116"/>
            <p:cNvGraphicFramePr>
              <a:graphicFrameLocks noChangeAspect="1"/>
            </p:cNvGraphicFramePr>
            <p:nvPr/>
          </p:nvGraphicFramePr>
          <p:xfrm>
            <a:off x="2893234" y="3176065"/>
            <a:ext cx="267491" cy="265113"/>
          </p:xfrm>
          <a:graphic>
            <a:graphicData uri="http://schemas.openxmlformats.org/presentationml/2006/ole">
              <mc:AlternateContent xmlns:mc="http://schemas.openxmlformats.org/markup-compatibility/2006">
                <mc:Choice xmlns:v="urn:schemas-microsoft-com:vml" Requires="v">
                  <p:oleObj spid="_x0000_s150699" name="公式" r:id="rId19" imgW="152400" imgH="152400" progId="Equation.3">
                    <p:embed/>
                  </p:oleObj>
                </mc:Choice>
                <mc:Fallback>
                  <p:oleObj name="公式" r:id="rId19" imgW="152400" imgH="152400" progId="Equation.3">
                    <p:embed/>
                    <p:pic>
                      <p:nvPicPr>
                        <p:cNvPr id="0" name="Object 1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93234" y="31760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26" name="Oval 118"/>
            <p:cNvSpPr>
              <a:spLocks noChangeArrowheads="1"/>
            </p:cNvSpPr>
            <p:nvPr/>
          </p:nvSpPr>
          <p:spPr bwMode="auto">
            <a:xfrm>
              <a:off x="3678948" y="2947465"/>
              <a:ext cx="77821" cy="76200"/>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127" name="Rectangle 119"/>
            <p:cNvSpPr>
              <a:spLocks noChangeArrowheads="1"/>
            </p:cNvSpPr>
            <p:nvPr/>
          </p:nvSpPr>
          <p:spPr bwMode="auto">
            <a:xfrm>
              <a:off x="3304433" y="2452165"/>
              <a:ext cx="851170" cy="49212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中心</a:t>
              </a:r>
              <a:endParaRPr lang="zh-CN" altLang="en-US" sz="2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 name="组合 1"/>
          <p:cNvGrpSpPr/>
          <p:nvPr/>
        </p:nvGrpSpPr>
        <p:grpSpPr>
          <a:xfrm>
            <a:off x="6315930" y="1728265"/>
            <a:ext cx="2921580" cy="2438400"/>
            <a:chOff x="5737930" y="1728265"/>
            <a:chExt cx="2921580" cy="2438400"/>
          </a:xfrm>
        </p:grpSpPr>
        <p:sp>
          <p:nvSpPr>
            <p:cNvPr id="43104" name="Rectangle 96"/>
            <p:cNvSpPr>
              <a:spLocks noChangeArrowheads="1"/>
            </p:cNvSpPr>
            <p:nvPr/>
          </p:nvSpPr>
          <p:spPr bwMode="auto">
            <a:xfrm>
              <a:off x="5737930" y="1728265"/>
              <a:ext cx="2921580" cy="2438400"/>
            </a:xfrm>
            <a:prstGeom prst="rect">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3108" name="Object 100"/>
            <p:cNvGraphicFramePr>
              <a:graphicFrameLocks noChangeAspect="1"/>
            </p:cNvGraphicFramePr>
            <p:nvPr/>
          </p:nvGraphicFramePr>
          <p:xfrm>
            <a:off x="6660534" y="2871265"/>
            <a:ext cx="267491" cy="265113"/>
          </p:xfrm>
          <a:graphic>
            <a:graphicData uri="http://schemas.openxmlformats.org/presentationml/2006/ole">
              <mc:AlternateContent xmlns:mc="http://schemas.openxmlformats.org/markup-compatibility/2006">
                <mc:Choice xmlns:v="urn:schemas-microsoft-com:vml" Requires="v">
                  <p:oleObj spid="_x0000_s150700" name="公式" r:id="rId21" imgW="152400" imgH="152400" progId="Equation.3">
                    <p:embed/>
                  </p:oleObj>
                </mc:Choice>
                <mc:Fallback>
                  <p:oleObj name="公式" r:id="rId21" imgW="152400" imgH="152400" progId="Equation.3">
                    <p:embed/>
                    <p:pic>
                      <p:nvPicPr>
                        <p:cNvPr id="0" name="Object 10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60534" y="2871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0" name="Object 102"/>
            <p:cNvGraphicFramePr>
              <a:graphicFrameLocks noChangeAspect="1"/>
            </p:cNvGraphicFramePr>
            <p:nvPr/>
          </p:nvGraphicFramePr>
          <p:xfrm>
            <a:off x="7044953" y="2490265"/>
            <a:ext cx="267491" cy="265113"/>
          </p:xfrm>
          <a:graphic>
            <a:graphicData uri="http://schemas.openxmlformats.org/presentationml/2006/ole">
              <mc:AlternateContent xmlns:mc="http://schemas.openxmlformats.org/markup-compatibility/2006">
                <mc:Choice xmlns:v="urn:schemas-microsoft-com:vml" Requires="v">
                  <p:oleObj spid="_x0000_s150701" name="公式" r:id="rId23" imgW="152400" imgH="152400" progId="Equation.3">
                    <p:embed/>
                  </p:oleObj>
                </mc:Choice>
                <mc:Fallback>
                  <p:oleObj name="公式" r:id="rId23" imgW="152400" imgH="152400" progId="Equation.3">
                    <p:embed/>
                    <p:pic>
                      <p:nvPicPr>
                        <p:cNvPr id="0" name="Object 10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44953" y="2490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1" name="Object 103"/>
            <p:cNvGraphicFramePr>
              <a:graphicFrameLocks noChangeAspect="1"/>
            </p:cNvGraphicFramePr>
            <p:nvPr/>
          </p:nvGraphicFramePr>
          <p:xfrm>
            <a:off x="6812700" y="2734740"/>
            <a:ext cx="267491" cy="265113"/>
          </p:xfrm>
          <a:graphic>
            <a:graphicData uri="http://schemas.openxmlformats.org/presentationml/2006/ole">
              <mc:AlternateContent xmlns:mc="http://schemas.openxmlformats.org/markup-compatibility/2006">
                <mc:Choice xmlns:v="urn:schemas-microsoft-com:vml" Requires="v">
                  <p:oleObj spid="_x0000_s150702" name="公式" r:id="rId25" imgW="152400" imgH="152400" progId="Equation.3">
                    <p:embed/>
                  </p:oleObj>
                </mc:Choice>
                <mc:Fallback>
                  <p:oleObj name="公式" r:id="rId25" imgW="152400" imgH="152400" progId="Equation.3">
                    <p:embed/>
                    <p:pic>
                      <p:nvPicPr>
                        <p:cNvPr id="0" name="Object 10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812700" y="2734740"/>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4" name="Object 106"/>
            <p:cNvGraphicFramePr>
              <a:graphicFrameLocks noChangeAspect="1"/>
            </p:cNvGraphicFramePr>
            <p:nvPr/>
          </p:nvGraphicFramePr>
          <p:xfrm>
            <a:off x="7121837" y="2871265"/>
            <a:ext cx="267491" cy="265113"/>
          </p:xfrm>
          <a:graphic>
            <a:graphicData uri="http://schemas.openxmlformats.org/presentationml/2006/ole">
              <mc:AlternateContent xmlns:mc="http://schemas.openxmlformats.org/markup-compatibility/2006">
                <mc:Choice xmlns:v="urn:schemas-microsoft-com:vml" Requires="v">
                  <p:oleObj spid="_x0000_s150703" name="公式" r:id="rId27" imgW="152400" imgH="152400" progId="Equation.3">
                    <p:embed/>
                  </p:oleObj>
                </mc:Choice>
                <mc:Fallback>
                  <p:oleObj name="公式" r:id="rId27" imgW="152400" imgH="152400" progId="Equation.3">
                    <p:embed/>
                    <p:pic>
                      <p:nvPicPr>
                        <p:cNvPr id="0" name="Object 10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121837" y="2871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5" name="Object 107"/>
            <p:cNvGraphicFramePr>
              <a:graphicFrameLocks noChangeAspect="1"/>
            </p:cNvGraphicFramePr>
            <p:nvPr/>
          </p:nvGraphicFramePr>
          <p:xfrm>
            <a:off x="7583139" y="2795065"/>
            <a:ext cx="267491" cy="265113"/>
          </p:xfrm>
          <a:graphic>
            <a:graphicData uri="http://schemas.openxmlformats.org/presentationml/2006/ole">
              <mc:AlternateContent xmlns:mc="http://schemas.openxmlformats.org/markup-compatibility/2006">
                <mc:Choice xmlns:v="urn:schemas-microsoft-com:vml" Requires="v">
                  <p:oleObj spid="_x0000_s150704" name="公式" r:id="rId29" imgW="152400" imgH="152400" progId="Equation.3">
                    <p:embed/>
                  </p:oleObj>
                </mc:Choice>
                <mc:Fallback>
                  <p:oleObj name="公式" r:id="rId29" imgW="152400" imgH="152400" progId="Equation.3">
                    <p:embed/>
                    <p:pic>
                      <p:nvPicPr>
                        <p:cNvPr id="0" name="Object 10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583139" y="27950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17" name="Object 109"/>
            <p:cNvGraphicFramePr>
              <a:graphicFrameLocks noChangeAspect="1"/>
            </p:cNvGraphicFramePr>
            <p:nvPr/>
          </p:nvGraphicFramePr>
          <p:xfrm>
            <a:off x="7429371" y="3023665"/>
            <a:ext cx="267491" cy="265113"/>
          </p:xfrm>
          <a:graphic>
            <a:graphicData uri="http://schemas.openxmlformats.org/presentationml/2006/ole">
              <mc:AlternateContent xmlns:mc="http://schemas.openxmlformats.org/markup-compatibility/2006">
                <mc:Choice xmlns:v="urn:schemas-microsoft-com:vml" Requires="v">
                  <p:oleObj spid="_x0000_s150705" name="公式" r:id="rId31" imgW="152400" imgH="152400" progId="Equation.3">
                    <p:embed/>
                  </p:oleObj>
                </mc:Choice>
                <mc:Fallback>
                  <p:oleObj name="公式" r:id="rId31" imgW="152400" imgH="152400" progId="Equation.3">
                    <p:embed/>
                    <p:pic>
                      <p:nvPicPr>
                        <p:cNvPr id="0" name="Object 10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429371" y="30236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20" name="Object 112"/>
            <p:cNvGraphicFramePr>
              <a:graphicFrameLocks noChangeAspect="1"/>
            </p:cNvGraphicFramePr>
            <p:nvPr/>
          </p:nvGraphicFramePr>
          <p:xfrm>
            <a:off x="6891185" y="3252265"/>
            <a:ext cx="267491" cy="265113"/>
          </p:xfrm>
          <a:graphic>
            <a:graphicData uri="http://schemas.openxmlformats.org/presentationml/2006/ole">
              <mc:AlternateContent xmlns:mc="http://schemas.openxmlformats.org/markup-compatibility/2006">
                <mc:Choice xmlns:v="urn:schemas-microsoft-com:vml" Requires="v">
                  <p:oleObj spid="_x0000_s150706" name="公式" r:id="rId33" imgW="152400" imgH="152400" progId="Equation.3">
                    <p:embed/>
                  </p:oleObj>
                </mc:Choice>
                <mc:Fallback>
                  <p:oleObj name="公式" r:id="rId33" imgW="152400" imgH="152400" progId="Equation.3">
                    <p:embed/>
                    <p:pic>
                      <p:nvPicPr>
                        <p:cNvPr id="0" name="Object 11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891185" y="3252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22" name="Object 114"/>
            <p:cNvGraphicFramePr>
              <a:graphicFrameLocks noChangeAspect="1"/>
            </p:cNvGraphicFramePr>
            <p:nvPr/>
          </p:nvGraphicFramePr>
          <p:xfrm>
            <a:off x="7198720" y="3252265"/>
            <a:ext cx="267491" cy="265113"/>
          </p:xfrm>
          <a:graphic>
            <a:graphicData uri="http://schemas.openxmlformats.org/presentationml/2006/ole">
              <mc:AlternateContent xmlns:mc="http://schemas.openxmlformats.org/markup-compatibility/2006">
                <mc:Choice xmlns:v="urn:schemas-microsoft-com:vml" Requires="v">
                  <p:oleObj spid="_x0000_s150707" name="公式" r:id="rId35" imgW="152400" imgH="152400" progId="Equation.3">
                    <p:embed/>
                  </p:oleObj>
                </mc:Choice>
                <mc:Fallback>
                  <p:oleObj name="公式" r:id="rId35" imgW="152400" imgH="152400" progId="Equation.3">
                    <p:embed/>
                    <p:pic>
                      <p:nvPicPr>
                        <p:cNvPr id="0" name="Object 114"/>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198720" y="3252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23" name="Object 115"/>
            <p:cNvGraphicFramePr>
              <a:graphicFrameLocks noChangeAspect="1"/>
            </p:cNvGraphicFramePr>
            <p:nvPr/>
          </p:nvGraphicFramePr>
          <p:xfrm>
            <a:off x="6583651" y="3328465"/>
            <a:ext cx="267491" cy="265113"/>
          </p:xfrm>
          <a:graphic>
            <a:graphicData uri="http://schemas.openxmlformats.org/presentationml/2006/ole">
              <mc:AlternateContent xmlns:mc="http://schemas.openxmlformats.org/markup-compatibility/2006">
                <mc:Choice xmlns:v="urn:schemas-microsoft-com:vml" Requires="v">
                  <p:oleObj spid="_x0000_s150708" name="公式" r:id="rId37" imgW="152400" imgH="152400" progId="Equation.3">
                    <p:embed/>
                  </p:oleObj>
                </mc:Choice>
                <mc:Fallback>
                  <p:oleObj name="公式" r:id="rId37" imgW="152400" imgH="152400" progId="Equation.3">
                    <p:embed/>
                    <p:pic>
                      <p:nvPicPr>
                        <p:cNvPr id="0" name="Object 115"/>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583651" y="33284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125" name="Object 117"/>
            <p:cNvGraphicFramePr>
              <a:graphicFrameLocks noChangeAspect="1"/>
            </p:cNvGraphicFramePr>
            <p:nvPr/>
          </p:nvGraphicFramePr>
          <p:xfrm>
            <a:off x="7506255" y="3252265"/>
            <a:ext cx="267491" cy="265113"/>
          </p:xfrm>
          <a:graphic>
            <a:graphicData uri="http://schemas.openxmlformats.org/presentationml/2006/ole">
              <mc:AlternateContent xmlns:mc="http://schemas.openxmlformats.org/markup-compatibility/2006">
                <mc:Choice xmlns:v="urn:schemas-microsoft-com:vml" Requires="v">
                  <p:oleObj spid="_x0000_s150709" name="公式" r:id="rId39" imgW="152400" imgH="152400" progId="Equation.3">
                    <p:embed/>
                  </p:oleObj>
                </mc:Choice>
                <mc:Fallback>
                  <p:oleObj name="公式" r:id="rId39" imgW="152400" imgH="152400" progId="Equation.3">
                    <p:embed/>
                    <p:pic>
                      <p:nvPicPr>
                        <p:cNvPr id="0" name="Object 117"/>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7506255" y="3252265"/>
                          <a:ext cx="267491"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28" name="Rectangle 120"/>
            <p:cNvSpPr>
              <a:spLocks noChangeArrowheads="1"/>
            </p:cNvSpPr>
            <p:nvPr/>
          </p:nvSpPr>
          <p:spPr bwMode="auto">
            <a:xfrm>
              <a:off x="6328114" y="2344215"/>
              <a:ext cx="851170" cy="49212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中心</a:t>
              </a:r>
              <a:endParaRPr lang="zh-CN" altLang="en-US" sz="2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129" name="Oval 121"/>
            <p:cNvSpPr>
              <a:spLocks noChangeArrowheads="1"/>
            </p:cNvSpPr>
            <p:nvPr/>
          </p:nvSpPr>
          <p:spPr bwMode="auto">
            <a:xfrm>
              <a:off x="7025263" y="2947465"/>
              <a:ext cx="77821" cy="76200"/>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cxnSp>
        <p:nvCxnSpPr>
          <p:cNvPr id="3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1406163" y="255069"/>
            <a:ext cx="93805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41" name="组合 40"/>
          <p:cNvGrpSpPr/>
          <p:nvPr/>
        </p:nvGrpSpPr>
        <p:grpSpPr>
          <a:xfrm>
            <a:off x="851761" y="364781"/>
            <a:ext cx="263341" cy="395013"/>
            <a:chOff x="5284519" y="1508166"/>
            <a:chExt cx="213756" cy="427512"/>
          </a:xfrm>
        </p:grpSpPr>
        <p:cxnSp>
          <p:nvCxnSpPr>
            <p:cNvPr id="42" name="直接连接符 4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43" name="直接连接符 4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43093"/>
                                        </p:tgtEl>
                                        <p:attrNameLst>
                                          <p:attrName>style.visibility</p:attrName>
                                        </p:attrNameLst>
                                      </p:cBhvr>
                                      <p:to>
                                        <p:strVal val="visible"/>
                                      </p:to>
                                    </p:set>
                                    <p:animEffect transition="in" filter="barn(outVertical)">
                                      <p:cBhvr>
                                        <p:cTn id="7" dur="500"/>
                                        <p:tgtEl>
                                          <p:spTgt spid="43093"/>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par>
                                <p:cTn id="12" presetID="16" presetClass="entr" presetSubtype="37" fill="hold" grpId="0" nodeType="withEffect">
                                  <p:stCondLst>
                                    <p:cond delay="0"/>
                                  </p:stCondLst>
                                  <p:childTnLst>
                                    <p:set>
                                      <p:cBhvr>
                                        <p:cTn id="13" dur="1" fill="hold">
                                          <p:stCondLst>
                                            <p:cond delay="0"/>
                                          </p:stCondLst>
                                        </p:cTn>
                                        <p:tgtEl>
                                          <p:spTgt spid="43095"/>
                                        </p:tgtEl>
                                        <p:attrNameLst>
                                          <p:attrName>style.visibility</p:attrName>
                                        </p:attrNameLst>
                                      </p:cBhvr>
                                      <p:to>
                                        <p:strVal val="visible"/>
                                      </p:to>
                                    </p:set>
                                    <p:animEffect transition="in" filter="barn(outVertical)">
                                      <p:cBhvr>
                                        <p:cTn id="14" dur="500"/>
                                        <p:tgtEl>
                                          <p:spTgt spid="43095"/>
                                        </p:tgtEl>
                                      </p:cBhvr>
                                    </p:animEffect>
                                  </p:childTnLst>
                                </p:cTn>
                              </p:par>
                            </p:childTnLst>
                          </p:cTn>
                        </p:par>
                        <p:par>
                          <p:cTn id="15" fill="hold">
                            <p:stCondLst>
                              <p:cond delay="1000"/>
                            </p:stCondLst>
                            <p:childTnLst>
                              <p:par>
                                <p:cTn id="16" presetID="16" presetClass="entr" presetSubtype="37"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arn(outVertical)">
                                      <p:cBhvr>
                                        <p:cTn id="18" dur="500"/>
                                        <p:tgtEl>
                                          <p:spTgt spid="2"/>
                                        </p:tgtEl>
                                      </p:cBhvr>
                                    </p:animEffect>
                                  </p:childTnLst>
                                </p:cTn>
                              </p:par>
                              <p:par>
                                <p:cTn id="19" presetID="16" presetClass="entr" presetSubtype="37" fill="hold" grpId="0" nodeType="withEffect">
                                  <p:stCondLst>
                                    <p:cond delay="0"/>
                                  </p:stCondLst>
                                  <p:childTnLst>
                                    <p:set>
                                      <p:cBhvr>
                                        <p:cTn id="20" dur="1" fill="hold">
                                          <p:stCondLst>
                                            <p:cond delay="0"/>
                                          </p:stCondLst>
                                        </p:cTn>
                                        <p:tgtEl>
                                          <p:spTgt spid="43096"/>
                                        </p:tgtEl>
                                        <p:attrNameLst>
                                          <p:attrName>style.visibility</p:attrName>
                                        </p:attrNameLst>
                                      </p:cBhvr>
                                      <p:to>
                                        <p:strVal val="visible"/>
                                      </p:to>
                                    </p:set>
                                    <p:animEffect transition="in" filter="barn(outVertical)">
                                      <p:cBhvr>
                                        <p:cTn id="21" dur="500"/>
                                        <p:tgtEl>
                                          <p:spTgt spid="43096"/>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3094"/>
                                        </p:tgtEl>
                                        <p:attrNameLst>
                                          <p:attrName>style.visibility</p:attrName>
                                        </p:attrNameLst>
                                      </p:cBhvr>
                                      <p:to>
                                        <p:strVal val="visible"/>
                                      </p:to>
                                    </p:set>
                                    <p:anim calcmode="lin" valueType="num">
                                      <p:cBhvr additive="base">
                                        <p:cTn id="26" dur="500" fill="hold"/>
                                        <p:tgtEl>
                                          <p:spTgt spid="43094"/>
                                        </p:tgtEl>
                                        <p:attrNameLst>
                                          <p:attrName>ppt_x</p:attrName>
                                        </p:attrNameLst>
                                      </p:cBhvr>
                                      <p:tavLst>
                                        <p:tav tm="0">
                                          <p:val>
                                            <p:strVal val="#ppt_x"/>
                                          </p:val>
                                        </p:tav>
                                        <p:tav tm="100000">
                                          <p:val>
                                            <p:strVal val="#ppt_x"/>
                                          </p:val>
                                        </p:tav>
                                      </p:tavLst>
                                    </p:anim>
                                    <p:anim calcmode="lin" valueType="num">
                                      <p:cBhvr additive="base">
                                        <p:cTn id="27" dur="500" fill="hold"/>
                                        <p:tgtEl>
                                          <p:spTgt spid="4309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43097"/>
                                        </p:tgtEl>
                                        <p:attrNameLst>
                                          <p:attrName>style.visibility</p:attrName>
                                        </p:attrNameLst>
                                      </p:cBhvr>
                                      <p:to>
                                        <p:strVal val="visible"/>
                                      </p:to>
                                    </p:set>
                                    <p:anim calcmode="lin" valueType="num">
                                      <p:cBhvr additive="base">
                                        <p:cTn id="32" dur="500" fill="hold"/>
                                        <p:tgtEl>
                                          <p:spTgt spid="43097"/>
                                        </p:tgtEl>
                                        <p:attrNameLst>
                                          <p:attrName>ppt_x</p:attrName>
                                        </p:attrNameLst>
                                      </p:cBhvr>
                                      <p:tavLst>
                                        <p:tav tm="0">
                                          <p:val>
                                            <p:strVal val="1+#ppt_w/2"/>
                                          </p:val>
                                        </p:tav>
                                        <p:tav tm="100000">
                                          <p:val>
                                            <p:strVal val="#ppt_x"/>
                                          </p:val>
                                        </p:tav>
                                      </p:tavLst>
                                    </p:anim>
                                    <p:anim calcmode="lin" valueType="num">
                                      <p:cBhvr additive="base">
                                        <p:cTn id="33" dur="500" fill="hold"/>
                                        <p:tgtEl>
                                          <p:spTgt spid="430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41" name="REMINDER.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43100"/>
                                        </p:tgtEl>
                                        <p:attrNameLst>
                                          <p:attrName>style.visibility</p:attrName>
                                        </p:attrNameLst>
                                      </p:cBhvr>
                                      <p:to>
                                        <p:strVal val="visible"/>
                                      </p:to>
                                    </p:set>
                                    <p:anim calcmode="lin" valueType="num">
                                      <p:cBhvr additive="base">
                                        <p:cTn id="38" dur="500" fill="hold"/>
                                        <p:tgtEl>
                                          <p:spTgt spid="43100"/>
                                        </p:tgtEl>
                                        <p:attrNameLst>
                                          <p:attrName>ppt_x</p:attrName>
                                        </p:attrNameLst>
                                      </p:cBhvr>
                                      <p:tavLst>
                                        <p:tav tm="0">
                                          <p:val>
                                            <p:strVal val="#ppt_x"/>
                                          </p:val>
                                        </p:tav>
                                        <p:tav tm="100000">
                                          <p:val>
                                            <p:strVal val="#ppt_x"/>
                                          </p:val>
                                        </p:tav>
                                      </p:tavLst>
                                    </p:anim>
                                    <p:anim calcmode="lin" valueType="num">
                                      <p:cBhvr additive="base">
                                        <p:cTn id="39" dur="500" fill="hold"/>
                                        <p:tgtEl>
                                          <p:spTgt spid="43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93" grpId="0" bldLvl="0" animBg="1" autoUpdateAnimBg="0"/>
      <p:bldP spid="43094" grpId="0" bldLvl="0" animBg="1" autoUpdateAnimBg="0"/>
      <p:bldP spid="43095" grpId="0" bldLvl="0" animBg="1"/>
      <p:bldP spid="43096" grpId="0" bldLvl="0" animBg="1"/>
      <p:bldP spid="43100" grpId="0" bldLvl="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12" name="Rectangle 44"/>
          <p:cNvSpPr>
            <a:spLocks noChangeArrowheads="1"/>
          </p:cNvSpPr>
          <p:nvPr/>
        </p:nvSpPr>
        <p:spPr bwMode="auto">
          <a:xfrm>
            <a:off x="1335307" y="1030389"/>
            <a:ext cx="9657237" cy="11348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由此可见，研究随机变量与其均值的偏离程度是十分必要的。那么，用怎样的量去度量这个偏离程度呢？容易看到</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413" name="Text Box 45"/>
          <p:cNvSpPr txBox="1">
            <a:spLocks noChangeArrowheads="1"/>
          </p:cNvSpPr>
          <p:nvPr/>
        </p:nvSpPr>
        <p:spPr bwMode="auto">
          <a:xfrm>
            <a:off x="2135188" y="5433243"/>
            <a:ext cx="5616748" cy="5808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spcBef>
                <a:spcPct val="50000"/>
              </a:spcBef>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这个数字特征就是我们这一讲要介绍的</a:t>
            </a:r>
            <a:endParaRPr lang="zh-CN" altLang="en-US" sz="24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414" name="Rectangle 46"/>
          <p:cNvSpPr>
            <a:spLocks noChangeArrowheads="1"/>
          </p:cNvSpPr>
          <p:nvPr/>
        </p:nvSpPr>
        <p:spPr bwMode="auto">
          <a:xfrm>
            <a:off x="7608168" y="5552443"/>
            <a:ext cx="1003300" cy="461665"/>
          </a:xfrm>
          <a:prstGeom prst="rect">
            <a:avLst/>
          </a:prstGeom>
          <a:solidFill>
            <a:srgbClr val="C00000"/>
          </a:solidFill>
          <a:ln>
            <a:noFill/>
          </a:ln>
          <a:effectLst/>
        </p:spPr>
        <p:txBody>
          <a:bodyPr anchor="ctr">
            <a:spAutoFit/>
          </a:bodyPr>
          <a:lstStyle/>
          <a:p>
            <a:pPr algn="ctr" eaLnBrk="1" hangingPunct="1"/>
            <a:r>
              <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方差</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8415" name="Object 47"/>
          <p:cNvGraphicFramePr>
            <a:graphicFrameLocks noChangeAspect="1"/>
          </p:cNvGraphicFramePr>
          <p:nvPr/>
        </p:nvGraphicFramePr>
        <p:xfrm>
          <a:off x="4751285" y="2329009"/>
          <a:ext cx="2083006" cy="570687"/>
        </p:xfrm>
        <a:graphic>
          <a:graphicData uri="http://schemas.openxmlformats.org/presentationml/2006/ole">
            <mc:AlternateContent xmlns:mc="http://schemas.openxmlformats.org/markup-compatibility/2006">
              <mc:Choice xmlns:v="urn:schemas-microsoft-com:vml" Requires="v">
                <p:oleObj spid="_x0000_s151570" name="Equation" r:id="rId1" imgW="22250400" imgH="6096000" progId="Equation.DSMT4">
                  <p:embed/>
                </p:oleObj>
              </mc:Choice>
              <mc:Fallback>
                <p:oleObj name="Equation" r:id="rId1" imgW="22250400" imgH="6096000" progId="Equation.DSMT4">
                  <p:embed/>
                  <p:pic>
                    <p:nvPicPr>
                      <p:cNvPr id="0" name="Object 47"/>
                      <p:cNvPicPr>
                        <a:picLocks noChangeAspect="1" noChangeArrowheads="1"/>
                      </p:cNvPicPr>
                      <p:nvPr/>
                    </p:nvPicPr>
                    <p:blipFill>
                      <a:blip r:embed="rId2"/>
                      <a:srcRect/>
                      <a:stretch>
                        <a:fillRect/>
                      </a:stretch>
                    </p:blipFill>
                    <p:spPr bwMode="auto">
                      <a:xfrm>
                        <a:off x="4751285" y="2329009"/>
                        <a:ext cx="2083006" cy="570687"/>
                      </a:xfrm>
                      <a:prstGeom prst="rect">
                        <a:avLst/>
                      </a:prstGeom>
                      <a:solidFill>
                        <a:srgbClr val="C00000"/>
                      </a:solidFill>
                      <a:ln>
                        <a:noFill/>
                      </a:ln>
                      <a:effectLst/>
                    </p:spPr>
                  </p:pic>
                </p:oleObj>
              </mc:Fallback>
            </mc:AlternateContent>
          </a:graphicData>
        </a:graphic>
      </p:graphicFrame>
      <p:sp>
        <p:nvSpPr>
          <p:cNvPr id="58416" name="Text Box 48"/>
          <p:cNvSpPr txBox="1">
            <a:spLocks noChangeArrowheads="1"/>
          </p:cNvSpPr>
          <p:nvPr/>
        </p:nvSpPr>
        <p:spPr bwMode="auto">
          <a:xfrm>
            <a:off x="1406163" y="2953765"/>
            <a:ext cx="9874413"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pPr>
            <a:r>
              <a:rPr lang="en-US" altLang="zh-CN" sz="24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能度量随机变量与其均值</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E(X)</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的偏离程度。但由于上式带有绝对值，运算不方便，通常用量</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8417" name="Object 49"/>
          <p:cNvGraphicFramePr>
            <a:graphicFrameLocks noChangeAspect="1"/>
          </p:cNvGraphicFramePr>
          <p:nvPr/>
        </p:nvGraphicFramePr>
        <p:xfrm>
          <a:off x="4751285" y="4008690"/>
          <a:ext cx="2339815" cy="517184"/>
        </p:xfrm>
        <a:graphic>
          <a:graphicData uri="http://schemas.openxmlformats.org/presentationml/2006/ole">
            <mc:AlternateContent xmlns:mc="http://schemas.openxmlformats.org/markup-compatibility/2006">
              <mc:Choice xmlns:v="urn:schemas-microsoft-com:vml" Requires="v">
                <p:oleObj spid="_x0000_s151571" name="Equation" r:id="rId3" imgW="24993600" imgH="5486400" progId="Equation.DSMT4">
                  <p:embed/>
                </p:oleObj>
              </mc:Choice>
              <mc:Fallback>
                <p:oleObj name="Equation" r:id="rId3" imgW="24993600" imgH="5486400" progId="Equation.DSMT4">
                  <p:embed/>
                  <p:pic>
                    <p:nvPicPr>
                      <p:cNvPr id="0" name="Object 49"/>
                      <p:cNvPicPr>
                        <a:picLocks noChangeAspect="1" noChangeArrowheads="1"/>
                      </p:cNvPicPr>
                      <p:nvPr/>
                    </p:nvPicPr>
                    <p:blipFill>
                      <a:blip r:embed="rId4"/>
                      <a:srcRect/>
                      <a:stretch>
                        <a:fillRect/>
                      </a:stretch>
                    </p:blipFill>
                    <p:spPr bwMode="auto">
                      <a:xfrm>
                        <a:off x="4751285" y="4008690"/>
                        <a:ext cx="2339815" cy="517184"/>
                      </a:xfrm>
                      <a:prstGeom prst="rect">
                        <a:avLst/>
                      </a:prstGeom>
                      <a:solidFill>
                        <a:srgbClr val="C00000"/>
                      </a:solidFill>
                      <a:ln>
                        <a:noFill/>
                      </a:ln>
                      <a:effectLst/>
                    </p:spPr>
                  </p:pic>
                </p:oleObj>
              </mc:Fallback>
            </mc:AlternateContent>
          </a:graphicData>
        </a:graphic>
      </p:graphicFrame>
      <p:sp>
        <p:nvSpPr>
          <p:cNvPr id="58418" name="Text Box 50"/>
          <p:cNvSpPr txBox="1">
            <a:spLocks noChangeArrowheads="1"/>
          </p:cNvSpPr>
          <p:nvPr/>
        </p:nvSpPr>
        <p:spPr bwMode="auto">
          <a:xfrm>
            <a:off x="1406163" y="4645074"/>
            <a:ext cx="8088675"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来度量随机变量</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与其均值</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E(X)</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的偏离程度。</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93805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8412"/>
                                        </p:tgtEl>
                                        <p:attrNameLst>
                                          <p:attrName>style.visibility</p:attrName>
                                        </p:attrNameLst>
                                      </p:cBhvr>
                                      <p:to>
                                        <p:strVal val="visible"/>
                                      </p:to>
                                    </p:set>
                                    <p:animEffect transition="in" filter="barn(outVertical)">
                                      <p:cBhvr>
                                        <p:cTn id="7" dur="500"/>
                                        <p:tgtEl>
                                          <p:spTgt spid="584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8415"/>
                                        </p:tgtEl>
                                        <p:attrNameLst>
                                          <p:attrName>style.visibility</p:attrName>
                                        </p:attrNameLst>
                                      </p:cBhvr>
                                      <p:to>
                                        <p:strVal val="visible"/>
                                      </p:to>
                                    </p:set>
                                    <p:anim calcmode="lin" valueType="num">
                                      <p:cBhvr additive="base">
                                        <p:cTn id="12" dur="500" fill="hold"/>
                                        <p:tgtEl>
                                          <p:spTgt spid="58415"/>
                                        </p:tgtEl>
                                        <p:attrNameLst>
                                          <p:attrName>ppt_x</p:attrName>
                                        </p:attrNameLst>
                                      </p:cBhvr>
                                      <p:tavLst>
                                        <p:tav tm="0">
                                          <p:val>
                                            <p:strVal val="0-#ppt_w/2"/>
                                          </p:val>
                                        </p:tav>
                                        <p:tav tm="100000">
                                          <p:val>
                                            <p:strVal val="#ppt_x"/>
                                          </p:val>
                                        </p:tav>
                                      </p:tavLst>
                                    </p:anim>
                                    <p:anim calcmode="lin" valueType="num">
                                      <p:cBhvr additive="base">
                                        <p:cTn id="13" dur="500" fill="hold"/>
                                        <p:tgtEl>
                                          <p:spTgt spid="5841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8416"/>
                                        </p:tgtEl>
                                        <p:attrNameLst>
                                          <p:attrName>style.visibility</p:attrName>
                                        </p:attrNameLst>
                                      </p:cBhvr>
                                      <p:to>
                                        <p:strVal val="visible"/>
                                      </p:to>
                                    </p:set>
                                    <p:anim calcmode="lin" valueType="num">
                                      <p:cBhvr additive="base">
                                        <p:cTn id="18" dur="500" fill="hold"/>
                                        <p:tgtEl>
                                          <p:spTgt spid="58416"/>
                                        </p:tgtEl>
                                        <p:attrNameLst>
                                          <p:attrName>ppt_x</p:attrName>
                                        </p:attrNameLst>
                                      </p:cBhvr>
                                      <p:tavLst>
                                        <p:tav tm="0">
                                          <p:val>
                                            <p:strVal val="0-#ppt_w/2"/>
                                          </p:val>
                                        </p:tav>
                                        <p:tav tm="100000">
                                          <p:val>
                                            <p:strVal val="#ppt_x"/>
                                          </p:val>
                                        </p:tav>
                                      </p:tavLst>
                                    </p:anim>
                                    <p:anim calcmode="lin" valueType="num">
                                      <p:cBhvr additive="base">
                                        <p:cTn id="19" dur="500" fill="hold"/>
                                        <p:tgtEl>
                                          <p:spTgt spid="58416"/>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nodeType="afterEffect">
                                  <p:stCondLst>
                                    <p:cond delay="0"/>
                                  </p:stCondLst>
                                  <p:childTnLst>
                                    <p:set>
                                      <p:cBhvr>
                                        <p:cTn id="22" dur="1" fill="hold">
                                          <p:stCondLst>
                                            <p:cond delay="0"/>
                                          </p:stCondLst>
                                        </p:cTn>
                                        <p:tgtEl>
                                          <p:spTgt spid="58417"/>
                                        </p:tgtEl>
                                        <p:attrNameLst>
                                          <p:attrName>style.visibility</p:attrName>
                                        </p:attrNameLst>
                                      </p:cBhvr>
                                      <p:to>
                                        <p:strVal val="visible"/>
                                      </p:to>
                                    </p:set>
                                    <p:anim calcmode="lin" valueType="num">
                                      <p:cBhvr additive="base">
                                        <p:cTn id="23" dur="500" fill="hold"/>
                                        <p:tgtEl>
                                          <p:spTgt spid="58417"/>
                                        </p:tgtEl>
                                        <p:attrNameLst>
                                          <p:attrName>ppt_x</p:attrName>
                                        </p:attrNameLst>
                                      </p:cBhvr>
                                      <p:tavLst>
                                        <p:tav tm="0">
                                          <p:val>
                                            <p:strVal val="0-#ppt_w/2"/>
                                          </p:val>
                                        </p:tav>
                                        <p:tav tm="100000">
                                          <p:val>
                                            <p:strVal val="#ppt_x"/>
                                          </p:val>
                                        </p:tav>
                                      </p:tavLst>
                                    </p:anim>
                                    <p:anim calcmode="lin" valueType="num">
                                      <p:cBhvr additive="base">
                                        <p:cTn id="24" dur="500" fill="hold"/>
                                        <p:tgtEl>
                                          <p:spTgt spid="58417"/>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2" presetClass="entr" presetSubtype="8" fill="hold" grpId="0" nodeType="afterEffect">
                                  <p:stCondLst>
                                    <p:cond delay="0"/>
                                  </p:stCondLst>
                                  <p:childTnLst>
                                    <p:set>
                                      <p:cBhvr>
                                        <p:cTn id="27" dur="1" fill="hold">
                                          <p:stCondLst>
                                            <p:cond delay="0"/>
                                          </p:stCondLst>
                                        </p:cTn>
                                        <p:tgtEl>
                                          <p:spTgt spid="58418"/>
                                        </p:tgtEl>
                                        <p:attrNameLst>
                                          <p:attrName>style.visibility</p:attrName>
                                        </p:attrNameLst>
                                      </p:cBhvr>
                                      <p:to>
                                        <p:strVal val="visible"/>
                                      </p:to>
                                    </p:set>
                                    <p:anim calcmode="lin" valueType="num">
                                      <p:cBhvr additive="base">
                                        <p:cTn id="28" dur="500" fill="hold"/>
                                        <p:tgtEl>
                                          <p:spTgt spid="58418"/>
                                        </p:tgtEl>
                                        <p:attrNameLst>
                                          <p:attrName>ppt_x</p:attrName>
                                        </p:attrNameLst>
                                      </p:cBhvr>
                                      <p:tavLst>
                                        <p:tav tm="0">
                                          <p:val>
                                            <p:strVal val="0-#ppt_w/2"/>
                                          </p:val>
                                        </p:tav>
                                        <p:tav tm="100000">
                                          <p:val>
                                            <p:strVal val="#ppt_x"/>
                                          </p:val>
                                        </p:tav>
                                      </p:tavLst>
                                    </p:anim>
                                    <p:anim calcmode="lin" valueType="num">
                                      <p:cBhvr additive="base">
                                        <p:cTn id="29" dur="500" fill="hold"/>
                                        <p:tgtEl>
                                          <p:spTgt spid="58418"/>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grpId="0" nodeType="clickEffect">
                                  <p:stCondLst>
                                    <p:cond delay="0"/>
                                  </p:stCondLst>
                                  <p:childTnLst>
                                    <p:set>
                                      <p:cBhvr>
                                        <p:cTn id="33" dur="1" fill="hold">
                                          <p:stCondLst>
                                            <p:cond delay="0"/>
                                          </p:stCondLst>
                                        </p:cTn>
                                        <p:tgtEl>
                                          <p:spTgt spid="58413"/>
                                        </p:tgtEl>
                                        <p:attrNameLst>
                                          <p:attrName>style.visibility</p:attrName>
                                        </p:attrNameLst>
                                      </p:cBhvr>
                                      <p:to>
                                        <p:strVal val="visible"/>
                                      </p:to>
                                    </p:set>
                                    <p:animEffect transition="in" filter="barn(outVertical)">
                                      <p:cBhvr>
                                        <p:cTn id="34" dur="500"/>
                                        <p:tgtEl>
                                          <p:spTgt spid="58413"/>
                                        </p:tgtEl>
                                      </p:cBhvr>
                                    </p:animEffect>
                                  </p:childTnLst>
                                </p:cTn>
                              </p:par>
                            </p:childTnLst>
                          </p:cTn>
                        </p:par>
                        <p:par>
                          <p:cTn id="35" fill="hold">
                            <p:stCondLst>
                              <p:cond delay="500"/>
                            </p:stCondLst>
                            <p:childTnLst>
                              <p:par>
                                <p:cTn id="36" presetID="23" presetClass="entr" presetSubtype="528" fill="hold" grpId="0" nodeType="afterEffect">
                                  <p:stCondLst>
                                    <p:cond delay="0"/>
                                  </p:stCondLst>
                                  <p:childTnLst>
                                    <p:set>
                                      <p:cBhvr>
                                        <p:cTn id="37" dur="1" fill="hold">
                                          <p:stCondLst>
                                            <p:cond delay="0"/>
                                          </p:stCondLst>
                                        </p:cTn>
                                        <p:tgtEl>
                                          <p:spTgt spid="58414"/>
                                        </p:tgtEl>
                                        <p:attrNameLst>
                                          <p:attrName>style.visibility</p:attrName>
                                        </p:attrNameLst>
                                      </p:cBhvr>
                                      <p:to>
                                        <p:strVal val="visible"/>
                                      </p:to>
                                    </p:set>
                                    <p:anim calcmode="lin" valueType="num">
                                      <p:cBhvr>
                                        <p:cTn id="38" dur="500" fill="hold"/>
                                        <p:tgtEl>
                                          <p:spTgt spid="58414"/>
                                        </p:tgtEl>
                                        <p:attrNameLst>
                                          <p:attrName>ppt_w</p:attrName>
                                        </p:attrNameLst>
                                      </p:cBhvr>
                                      <p:tavLst>
                                        <p:tav tm="0">
                                          <p:val>
                                            <p:fltVal val="0"/>
                                          </p:val>
                                        </p:tav>
                                        <p:tav tm="100000">
                                          <p:val>
                                            <p:strVal val="#ppt_w"/>
                                          </p:val>
                                        </p:tav>
                                      </p:tavLst>
                                    </p:anim>
                                    <p:anim calcmode="lin" valueType="num">
                                      <p:cBhvr>
                                        <p:cTn id="39" dur="500" fill="hold"/>
                                        <p:tgtEl>
                                          <p:spTgt spid="58414"/>
                                        </p:tgtEl>
                                        <p:attrNameLst>
                                          <p:attrName>ppt_h</p:attrName>
                                        </p:attrNameLst>
                                      </p:cBhvr>
                                      <p:tavLst>
                                        <p:tav tm="0">
                                          <p:val>
                                            <p:fltVal val="0"/>
                                          </p:val>
                                        </p:tav>
                                        <p:tav tm="100000">
                                          <p:val>
                                            <p:strVal val="#ppt_h"/>
                                          </p:val>
                                        </p:tav>
                                      </p:tavLst>
                                    </p:anim>
                                    <p:anim calcmode="lin" valueType="num">
                                      <p:cBhvr>
                                        <p:cTn id="40" dur="500" fill="hold"/>
                                        <p:tgtEl>
                                          <p:spTgt spid="58414"/>
                                        </p:tgtEl>
                                        <p:attrNameLst>
                                          <p:attrName>ppt_x</p:attrName>
                                        </p:attrNameLst>
                                      </p:cBhvr>
                                      <p:tavLst>
                                        <p:tav tm="0">
                                          <p:val>
                                            <p:fltVal val="0.5"/>
                                          </p:val>
                                        </p:tav>
                                        <p:tav tm="100000">
                                          <p:val>
                                            <p:strVal val="#ppt_x"/>
                                          </p:val>
                                        </p:tav>
                                      </p:tavLst>
                                    </p:anim>
                                    <p:anim calcmode="lin" valueType="num">
                                      <p:cBhvr>
                                        <p:cTn id="41" dur="500" fill="hold"/>
                                        <p:tgtEl>
                                          <p:spTgt spid="5841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12" grpId="0" bldLvl="0" animBg="1" autoUpdateAnimBg="0"/>
      <p:bldP spid="58413" grpId="0" bldLvl="0" animBg="1" autoUpdateAnimBg="0"/>
      <p:bldP spid="58414" grpId="0" bldLvl="0" animBg="1"/>
      <p:bldP spid="58416" grpId="0" bldLvl="0" animBg="1" autoUpdateAnimBg="0"/>
      <p:bldP spid="58418"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15398" y="2727150"/>
            <a:ext cx="5040000" cy="1015663"/>
          </a:xfrm>
          <a:prstGeom prst="rect">
            <a:avLst/>
          </a:prstGeom>
          <a:noFill/>
        </p:spPr>
        <p:txBody>
          <a:bodyPr wrap="square" rtlCol="0">
            <a:spAutoFit/>
          </a:bodyPr>
          <a:lstStyle/>
          <a:p>
            <a:pPr algn="dist"/>
            <a:r>
              <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方差的定义</a:t>
            </a:r>
            <a:endPar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93" name="Rectangle 57"/>
          <p:cNvSpPr>
            <a:spLocks noChangeArrowheads="1"/>
          </p:cNvSpPr>
          <p:nvPr/>
        </p:nvSpPr>
        <p:spPr bwMode="auto">
          <a:xfrm>
            <a:off x="2941192" y="3080763"/>
            <a:ext cx="18473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endParaRPr lang="zh-CN" altLang="zh-CN" sz="28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391" name="Text Box 55"/>
          <p:cNvSpPr txBox="1">
            <a:spLocks noChangeArrowheads="1"/>
          </p:cNvSpPr>
          <p:nvPr/>
        </p:nvSpPr>
        <p:spPr bwMode="auto">
          <a:xfrm>
            <a:off x="1362919" y="1050175"/>
            <a:ext cx="9729123" cy="168565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20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是一个随机变量，若</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存在，称</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为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的方差</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。记为</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或</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Var(X)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4397" name="Object 61"/>
          <p:cNvGraphicFramePr>
            <a:graphicFrameLocks noChangeAspect="1"/>
          </p:cNvGraphicFramePr>
          <p:nvPr/>
        </p:nvGraphicFramePr>
        <p:xfrm>
          <a:off x="1335307" y="4409542"/>
          <a:ext cx="9873261" cy="1159287"/>
        </p:xfrm>
        <a:graphic>
          <a:graphicData uri="http://schemas.openxmlformats.org/presentationml/2006/ole">
            <mc:AlternateContent xmlns:mc="http://schemas.openxmlformats.org/markup-compatibility/2006">
              <mc:Choice xmlns:v="urn:schemas-microsoft-com:vml" Requires="v">
                <p:oleObj spid="_x0000_s152586" name="Equation" r:id="rId1" imgW="97231200" imgH="11582400" progId="Equation.DSMT4">
                  <p:embed/>
                </p:oleObj>
              </mc:Choice>
              <mc:Fallback>
                <p:oleObj name="Equation" r:id="rId1" imgW="97231200" imgH="11582400" progId="Equation.DSMT4">
                  <p:embed/>
                  <p:pic>
                    <p:nvPicPr>
                      <p:cNvPr id="0" name="Object 61"/>
                      <p:cNvPicPr>
                        <a:picLocks noChangeAspect="1" noChangeArrowheads="1"/>
                      </p:cNvPicPr>
                      <p:nvPr/>
                    </p:nvPicPr>
                    <p:blipFill>
                      <a:blip r:embed="rId2"/>
                      <a:srcRect/>
                      <a:stretch>
                        <a:fillRect/>
                      </a:stretch>
                    </p:blipFill>
                    <p:spPr bwMode="auto">
                      <a:xfrm>
                        <a:off x="1335307" y="4409542"/>
                        <a:ext cx="9873261" cy="1159287"/>
                      </a:xfrm>
                      <a:prstGeom prst="rect">
                        <a:avLst/>
                      </a:prstGeom>
                      <a:noFill/>
                      <a:ln>
                        <a:noFill/>
                      </a:ln>
                      <a:effectLst/>
                    </p:spPr>
                  </p:pic>
                </p:oleObj>
              </mc:Fallback>
            </mc:AlternateContent>
          </a:graphicData>
        </a:graphic>
      </p:graphicFrame>
      <p:sp>
        <p:nvSpPr>
          <p:cNvPr id="14398" name="Rectangle 62"/>
          <p:cNvSpPr>
            <a:spLocks noChangeArrowheads="1"/>
          </p:cNvSpPr>
          <p:nvPr/>
        </p:nvSpPr>
        <p:spPr bwMode="auto">
          <a:xfrm>
            <a:off x="4109422" y="3049796"/>
            <a:ext cx="40758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)=Var(X)=</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baseline="30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916165"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一、方差的定义 </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2" name="矩形 1"/>
          <p:cNvSpPr/>
          <p:nvPr/>
        </p:nvSpPr>
        <p:spPr>
          <a:xfrm>
            <a:off x="5231904" y="5446371"/>
            <a:ext cx="6096000" cy="101566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r>
              <a:rPr lang="zh-CN" altLang="en-US" sz="2400" b="1" dirty="0"/>
              <a:t>量纲</a:t>
            </a:r>
            <a:r>
              <a:rPr lang="zh-CN" altLang="en-US" dirty="0"/>
              <a:t>（</a:t>
            </a:r>
            <a:r>
              <a:rPr lang="en-US" altLang="zh-CN" dirty="0"/>
              <a:t>dimension</a:t>
            </a:r>
            <a:r>
              <a:rPr lang="zh-CN" altLang="en-US" dirty="0"/>
              <a:t>）是指物理量的基本属性。物理学的研究可定量地描述各种物理现象，描述中所采用的各类物理量之间有着密切的关系，即它们之间具有确定的函数关系。</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91"/>
                                        </p:tgtEl>
                                        <p:attrNameLst>
                                          <p:attrName>style.visibility</p:attrName>
                                        </p:attrNameLst>
                                      </p:cBhvr>
                                      <p:to>
                                        <p:strVal val="visible"/>
                                      </p:to>
                                    </p:set>
                                    <p:anim calcmode="lin" valueType="num">
                                      <p:cBhvr additive="base">
                                        <p:cTn id="7" dur="500" fill="hold"/>
                                        <p:tgtEl>
                                          <p:spTgt spid="14391"/>
                                        </p:tgtEl>
                                        <p:attrNameLst>
                                          <p:attrName>ppt_x</p:attrName>
                                        </p:attrNameLst>
                                      </p:cBhvr>
                                      <p:tavLst>
                                        <p:tav tm="0">
                                          <p:val>
                                            <p:strVal val="0-#ppt_w/2"/>
                                          </p:val>
                                        </p:tav>
                                        <p:tav tm="100000">
                                          <p:val>
                                            <p:strVal val="#ppt_x"/>
                                          </p:val>
                                        </p:tav>
                                      </p:tavLst>
                                    </p:anim>
                                    <p:anim calcmode="lin" valueType="num">
                                      <p:cBhvr additive="base">
                                        <p:cTn id="8" dur="500" fill="hold"/>
                                        <p:tgtEl>
                                          <p:spTgt spid="143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98"/>
                                        </p:tgtEl>
                                        <p:attrNameLst>
                                          <p:attrName>style.visibility</p:attrName>
                                        </p:attrNameLst>
                                      </p:cBhvr>
                                      <p:to>
                                        <p:strVal val="visible"/>
                                      </p:to>
                                    </p:set>
                                    <p:anim calcmode="lin" valueType="num">
                                      <p:cBhvr additive="base">
                                        <p:cTn id="13" dur="500" fill="hold"/>
                                        <p:tgtEl>
                                          <p:spTgt spid="14398"/>
                                        </p:tgtEl>
                                        <p:attrNameLst>
                                          <p:attrName>ppt_x</p:attrName>
                                        </p:attrNameLst>
                                      </p:cBhvr>
                                      <p:tavLst>
                                        <p:tav tm="0">
                                          <p:val>
                                            <p:strVal val="0-#ppt_w/2"/>
                                          </p:val>
                                        </p:tav>
                                        <p:tav tm="100000">
                                          <p:val>
                                            <p:strVal val="#ppt_x"/>
                                          </p:val>
                                        </p:tav>
                                      </p:tavLst>
                                    </p:anim>
                                    <p:anim calcmode="lin" valueType="num">
                                      <p:cBhvr additive="base">
                                        <p:cTn id="14" dur="500" fill="hold"/>
                                        <p:tgtEl>
                                          <p:spTgt spid="1439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397"/>
                                        </p:tgtEl>
                                        <p:attrNameLst>
                                          <p:attrName>style.visibility</p:attrName>
                                        </p:attrNameLst>
                                      </p:cBhvr>
                                      <p:to>
                                        <p:strVal val="visible"/>
                                      </p:to>
                                    </p:set>
                                    <p:anim calcmode="lin" valueType="num">
                                      <p:cBhvr additive="base">
                                        <p:cTn id="19" dur="500" fill="hold"/>
                                        <p:tgtEl>
                                          <p:spTgt spid="14397"/>
                                        </p:tgtEl>
                                        <p:attrNameLst>
                                          <p:attrName>ppt_x</p:attrName>
                                        </p:attrNameLst>
                                      </p:cBhvr>
                                      <p:tavLst>
                                        <p:tav tm="0">
                                          <p:val>
                                            <p:strVal val="0-#ppt_w/2"/>
                                          </p:val>
                                        </p:tav>
                                        <p:tav tm="100000">
                                          <p:val>
                                            <p:strVal val="#ppt_x"/>
                                          </p:val>
                                        </p:tav>
                                      </p:tavLst>
                                    </p:anim>
                                    <p:anim calcmode="lin" valueType="num">
                                      <p:cBhvr additive="base">
                                        <p:cTn id="20" dur="500" fill="hold"/>
                                        <p:tgtEl>
                                          <p:spTgt spid="1439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arn(inVertical)">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91" grpId="0" bldLvl="0" animBg="1"/>
      <p:bldP spid="14398" grpId="0" bldLvl="0" animBg="1"/>
      <p:bldP spid="2"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26" name="Rectangle 66"/>
          <p:cNvSpPr>
            <a:spLocks noChangeArrowheads="1"/>
          </p:cNvSpPr>
          <p:nvPr/>
        </p:nvSpPr>
        <p:spPr bwMode="auto">
          <a:xfrm>
            <a:off x="2118110" y="3323097"/>
            <a:ext cx="728279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的取值比较分散，则方差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较大。</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430" name="Rectangle 70"/>
          <p:cNvSpPr>
            <a:spLocks noChangeArrowheads="1"/>
          </p:cNvSpPr>
          <p:nvPr/>
        </p:nvSpPr>
        <p:spPr bwMode="auto">
          <a:xfrm>
            <a:off x="2118110" y="1415951"/>
            <a:ext cx="8946442" cy="56534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20000"/>
              </a:lnSpc>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方差刻划了随机变量的取值对于其数学期望的离散程度。</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431" name="Rectangle 71"/>
          <p:cNvSpPr>
            <a:spLocks noChangeArrowheads="1"/>
          </p:cNvSpPr>
          <p:nvPr/>
        </p:nvSpPr>
        <p:spPr bwMode="auto">
          <a:xfrm>
            <a:off x="2118110" y="2390588"/>
            <a:ext cx="711038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的取值比较集中，则方差</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较小；</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432" name="Text Box 72"/>
          <p:cNvSpPr txBox="1">
            <a:spLocks noChangeArrowheads="1"/>
          </p:cNvSpPr>
          <p:nvPr/>
        </p:nvSpPr>
        <p:spPr bwMode="auto">
          <a:xfrm>
            <a:off x="1335306" y="4148001"/>
            <a:ext cx="9729245" cy="13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5000"/>
              </a:lnSpc>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因此，</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是刻画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取值分散程度的一个量，它是衡量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取值分散程度的一个尺度。</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6"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1406163" y="255069"/>
            <a:ext cx="2916165"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一、方差的定义 </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5430"/>
                                        </p:tgtEl>
                                        <p:attrNameLst>
                                          <p:attrName>style.visibility</p:attrName>
                                        </p:attrNameLst>
                                      </p:cBhvr>
                                      <p:to>
                                        <p:strVal val="visible"/>
                                      </p:to>
                                    </p:set>
                                    <p:animEffect transition="in" filter="barn(outVertical)">
                                      <p:cBhvr>
                                        <p:cTn id="7" dur="500"/>
                                        <p:tgtEl>
                                          <p:spTgt spid="154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31"/>
                                        </p:tgtEl>
                                        <p:attrNameLst>
                                          <p:attrName>style.visibility</p:attrName>
                                        </p:attrNameLst>
                                      </p:cBhvr>
                                      <p:to>
                                        <p:strVal val="visible"/>
                                      </p:to>
                                    </p:set>
                                    <p:animEffect transition="in" filter="wipe(left)">
                                      <p:cBhvr>
                                        <p:cTn id="12" dur="500"/>
                                        <p:tgtEl>
                                          <p:spTgt spid="1543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426"/>
                                        </p:tgtEl>
                                        <p:attrNameLst>
                                          <p:attrName>style.visibility</p:attrName>
                                        </p:attrNameLst>
                                      </p:cBhvr>
                                      <p:to>
                                        <p:strVal val="visible"/>
                                      </p:to>
                                    </p:set>
                                    <p:anim calcmode="lin" valueType="num">
                                      <p:cBhvr additive="base">
                                        <p:cTn id="17" dur="500" fill="hold"/>
                                        <p:tgtEl>
                                          <p:spTgt spid="15426"/>
                                        </p:tgtEl>
                                        <p:attrNameLst>
                                          <p:attrName>ppt_x</p:attrName>
                                        </p:attrNameLst>
                                      </p:cBhvr>
                                      <p:tavLst>
                                        <p:tav tm="0">
                                          <p:val>
                                            <p:strVal val="#ppt_x"/>
                                          </p:val>
                                        </p:tav>
                                        <p:tav tm="100000">
                                          <p:val>
                                            <p:strVal val="#ppt_x"/>
                                          </p:val>
                                        </p:tav>
                                      </p:tavLst>
                                    </p:anim>
                                    <p:anim calcmode="lin" valueType="num">
                                      <p:cBhvr additive="base">
                                        <p:cTn id="18" dur="500" fill="hold"/>
                                        <p:tgtEl>
                                          <p:spTgt spid="154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5432"/>
                                        </p:tgtEl>
                                        <p:attrNameLst>
                                          <p:attrName>style.visibility</p:attrName>
                                        </p:attrNameLst>
                                      </p:cBhvr>
                                      <p:to>
                                        <p:strVal val="visible"/>
                                      </p:to>
                                    </p:set>
                                    <p:anim calcmode="lin" valueType="num">
                                      <p:cBhvr additive="base">
                                        <p:cTn id="23" dur="500" fill="hold"/>
                                        <p:tgtEl>
                                          <p:spTgt spid="15432"/>
                                        </p:tgtEl>
                                        <p:attrNameLst>
                                          <p:attrName>ppt_x</p:attrName>
                                        </p:attrNameLst>
                                      </p:cBhvr>
                                      <p:tavLst>
                                        <p:tav tm="0">
                                          <p:val>
                                            <p:strVal val="0-#ppt_w/2"/>
                                          </p:val>
                                        </p:tav>
                                        <p:tav tm="100000">
                                          <p:val>
                                            <p:strVal val="#ppt_x"/>
                                          </p:val>
                                        </p:tav>
                                      </p:tavLst>
                                    </p:anim>
                                    <p:anim calcmode="lin" valueType="num">
                                      <p:cBhvr additive="base">
                                        <p:cTn id="24" dur="500" fill="hold"/>
                                        <p:tgtEl>
                                          <p:spTgt spid="154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6" grpId="0" bldLvl="0" animBg="1" autoUpdateAnimBg="0"/>
      <p:bldP spid="15430" grpId="0" bldLvl="0" animBg="1" autoUpdateAnimBg="0"/>
      <p:bldP spid="15431" grpId="0" bldLvl="0" animBg="1" autoUpdateAnimBg="0"/>
      <p:bldP spid="15432"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15398" y="2727150"/>
            <a:ext cx="5040000" cy="1015663"/>
          </a:xfrm>
          <a:prstGeom prst="rect">
            <a:avLst/>
          </a:prstGeom>
          <a:noFill/>
        </p:spPr>
        <p:txBody>
          <a:bodyPr wrap="square" rtlCol="0">
            <a:spAutoFit/>
          </a:bodyPr>
          <a:lstStyle/>
          <a:p>
            <a:pPr algn="dist"/>
            <a:r>
              <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方差的计算</a:t>
            </a:r>
            <a:endPar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02</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12" name="Object 72"/>
          <p:cNvGraphicFramePr>
            <a:graphicFrameLocks noChangeAspect="1"/>
          </p:cNvGraphicFramePr>
          <p:nvPr/>
        </p:nvGraphicFramePr>
        <p:xfrm>
          <a:off x="6076951" y="3390901"/>
          <a:ext cx="112713" cy="214313"/>
        </p:xfrm>
        <a:graphic>
          <a:graphicData uri="http://schemas.openxmlformats.org/presentationml/2006/ole">
            <mc:AlternateContent xmlns:mc="http://schemas.openxmlformats.org/markup-compatibility/2006">
              <mc:Choice xmlns:v="urn:schemas-microsoft-com:vml" Requires="v">
                <p:oleObj spid="_x0000_s153626" name="公式" r:id="rId1" imgW="114300" imgH="215900" progId="Equation.3">
                  <p:embed/>
                </p:oleObj>
              </mc:Choice>
              <mc:Fallback>
                <p:oleObj name="公式" r:id="rId1" imgW="114300" imgH="215900" progId="Equation.3">
                  <p:embed/>
                  <p:pic>
                    <p:nvPicPr>
                      <p:cNvPr id="0" name="Object 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951" y="339090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13" name="Object 73"/>
          <p:cNvGraphicFramePr>
            <a:graphicFrameLocks noChangeAspect="1"/>
          </p:cNvGraphicFramePr>
          <p:nvPr/>
        </p:nvGraphicFramePr>
        <p:xfrm>
          <a:off x="6076951" y="3390901"/>
          <a:ext cx="112713" cy="214313"/>
        </p:xfrm>
        <a:graphic>
          <a:graphicData uri="http://schemas.openxmlformats.org/presentationml/2006/ole">
            <mc:AlternateContent xmlns:mc="http://schemas.openxmlformats.org/markup-compatibility/2006">
              <mc:Choice xmlns:v="urn:schemas-microsoft-com:vml" Requires="v">
                <p:oleObj spid="_x0000_s153627" name="公式" r:id="rId3" imgW="114300" imgH="215900" progId="Equation.3">
                  <p:embed/>
                </p:oleObj>
              </mc:Choice>
              <mc:Fallback>
                <p:oleObj name="公式" r:id="rId3" imgW="114300" imgH="215900" progId="Equation.3">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951" y="339090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14" name="AutoShape 74"/>
          <p:cNvSpPr>
            <a:spLocks noChangeArrowheads="1"/>
          </p:cNvSpPr>
          <p:nvPr/>
        </p:nvSpPr>
        <p:spPr bwMode="auto">
          <a:xfrm>
            <a:off x="8904312" y="3536443"/>
            <a:ext cx="2477209" cy="1695449"/>
          </a:xfrm>
          <a:prstGeom prst="wedgeRectCallout">
            <a:avLst>
              <a:gd name="adj1" fmla="val -112361"/>
              <a:gd name="adj2" fmla="val 5847"/>
            </a:avLst>
          </a:prstGeom>
          <a:solidFill>
            <a:srgbClr val="C00000"/>
          </a:solidFill>
          <a:ln w="9525">
            <a:solidFill>
              <a:schemeClr val="tx1"/>
            </a:solidFill>
            <a:miter lim="800000"/>
          </a:ln>
          <a:effectLst/>
        </p:spPr>
        <p:txBody>
          <a:bodyPr wrap="none" anchor="ctr"/>
          <a:lstStyle/>
          <a:p>
            <a:pPr algn="ctr" eaLnBrk="1" hangingPunct="1">
              <a:lnSpc>
                <a:spcPct val="60000"/>
              </a:lnSpc>
              <a:spcBef>
                <a:spcPct val="50000"/>
              </a:spcBef>
            </a:pP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为离散型，</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60000"/>
              </a:lnSpc>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分布率</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60000"/>
              </a:lnSpc>
              <a:spcBef>
                <a:spcPct val="50000"/>
              </a:spcBef>
            </a:pP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i="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k</a:t>
            </a:r>
            <a:endParaRPr lang="en-US" altLang="zh-CN" sz="28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15" name="Rectangle 75"/>
          <p:cNvSpPr>
            <a:spLocks noChangeArrowheads="1"/>
          </p:cNvSpPr>
          <p:nvPr/>
        </p:nvSpPr>
        <p:spPr bwMode="auto">
          <a:xfrm>
            <a:off x="1406162" y="1413626"/>
            <a:ext cx="9658389" cy="13086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由定义知，方差是随机变量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的函数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pP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数学期望。</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16" name="Object 76"/>
          <p:cNvGraphicFramePr>
            <a:graphicFrameLocks noChangeAspect="1"/>
          </p:cNvGraphicFramePr>
          <p:nvPr/>
        </p:nvGraphicFramePr>
        <p:xfrm>
          <a:off x="2480611" y="3016653"/>
          <a:ext cx="4728284" cy="1921749"/>
        </p:xfrm>
        <a:graphic>
          <a:graphicData uri="http://schemas.openxmlformats.org/presentationml/2006/ole">
            <mc:AlternateContent xmlns:mc="http://schemas.openxmlformats.org/markup-compatibility/2006">
              <mc:Choice xmlns:v="urn:schemas-microsoft-com:vml" Requires="v">
                <p:oleObj spid="_x0000_s153628" name="Equation" r:id="rId4" imgW="49682400" imgH="18897600" progId="Equation.DSMT4">
                  <p:embed/>
                </p:oleObj>
              </mc:Choice>
              <mc:Fallback>
                <p:oleObj name="Equation" r:id="rId4" imgW="49682400" imgH="18897600" progId="Equation.DSMT4">
                  <p:embed/>
                  <p:pic>
                    <p:nvPicPr>
                      <p:cNvPr id="0" name="Object 76"/>
                      <p:cNvPicPr>
                        <a:picLocks noChangeAspect="1" noChangeArrowheads="1"/>
                      </p:cNvPicPr>
                      <p:nvPr/>
                    </p:nvPicPr>
                    <p:blipFill>
                      <a:blip r:embed="rId5"/>
                      <a:srcRect/>
                      <a:stretch>
                        <a:fillRect/>
                      </a:stretch>
                    </p:blipFill>
                    <p:spPr bwMode="auto">
                      <a:xfrm>
                        <a:off x="2480611" y="3016653"/>
                        <a:ext cx="4728284" cy="1921749"/>
                      </a:xfrm>
                      <a:prstGeom prst="rect">
                        <a:avLst/>
                      </a:prstGeom>
                      <a:noFill/>
                      <a:ln>
                        <a:noFill/>
                      </a:ln>
                      <a:effectLst/>
                    </p:spPr>
                  </p:pic>
                </p:oleObj>
              </mc:Fallback>
            </mc:AlternateContent>
          </a:graphicData>
        </a:graphic>
      </p:graphicFrame>
      <p:sp>
        <p:nvSpPr>
          <p:cNvPr id="35921" name="AutoShape 81"/>
          <p:cNvSpPr/>
          <p:nvPr/>
        </p:nvSpPr>
        <p:spPr bwMode="auto">
          <a:xfrm flipH="1">
            <a:off x="1295978" y="5289494"/>
            <a:ext cx="4535488" cy="609600"/>
          </a:xfrm>
          <a:prstGeom prst="borderCallout1">
            <a:avLst>
              <a:gd name="adj1" fmla="val 18750"/>
              <a:gd name="adj2" fmla="val -1681"/>
              <a:gd name="adj3" fmla="val -73285"/>
              <a:gd name="adj4" fmla="val -15187"/>
            </a:avLst>
          </a:prstGeom>
          <a:solidFill>
            <a:srgbClr val="C00000"/>
          </a:solidFill>
          <a:ln w="9525">
            <a:solidFill>
              <a:schemeClr val="tx1"/>
            </a:solidFill>
            <a:miter lim="800000"/>
          </a:ln>
          <a:effectLst/>
        </p:spPr>
        <p:txBody>
          <a:bodyPr anchor="ctr"/>
          <a:lstStyle/>
          <a:p>
            <a:pPr algn="l"/>
            <a:r>
              <a:rPr lang="en-US" altLang="zh-CN" sz="2800" b="1" i="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为连续型，</a:t>
            </a:r>
            <a:r>
              <a:rPr lang="en-US" altLang="zh-CN" sz="2800" b="1" i="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概率密度</a:t>
            </a:r>
            <a:r>
              <a:rPr lang="en-US" altLang="zh-CN" sz="2800" b="1" i="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f(x</a:t>
            </a:r>
            <a:r>
              <a:rPr lang="en-US" altLang="zh-CN"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35915"/>
                                        </p:tgtEl>
                                        <p:attrNameLst>
                                          <p:attrName>style.visibility</p:attrName>
                                        </p:attrNameLst>
                                      </p:cBhvr>
                                      <p:to>
                                        <p:strVal val="visible"/>
                                      </p:to>
                                    </p:set>
                                    <p:animEffect transition="in" filter="barn(outVertical)">
                                      <p:cBhvr>
                                        <p:cTn id="7" dur="500"/>
                                        <p:tgtEl>
                                          <p:spTgt spid="359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5916"/>
                                        </p:tgtEl>
                                        <p:attrNameLst>
                                          <p:attrName>style.visibility</p:attrName>
                                        </p:attrNameLst>
                                      </p:cBhvr>
                                      <p:to>
                                        <p:strVal val="visible"/>
                                      </p:to>
                                    </p:set>
                                    <p:anim calcmode="lin" valueType="num">
                                      <p:cBhvr additive="base">
                                        <p:cTn id="12" dur="500" fill="hold"/>
                                        <p:tgtEl>
                                          <p:spTgt spid="35916"/>
                                        </p:tgtEl>
                                        <p:attrNameLst>
                                          <p:attrName>ppt_x</p:attrName>
                                        </p:attrNameLst>
                                      </p:cBhvr>
                                      <p:tavLst>
                                        <p:tav tm="0">
                                          <p:val>
                                            <p:strVal val="#ppt_x"/>
                                          </p:val>
                                        </p:tav>
                                        <p:tav tm="100000">
                                          <p:val>
                                            <p:strVal val="#ppt_x"/>
                                          </p:val>
                                        </p:tav>
                                      </p:tavLst>
                                    </p:anim>
                                    <p:anim calcmode="lin" valueType="num">
                                      <p:cBhvr additive="base">
                                        <p:cTn id="13" dur="500" fill="hold"/>
                                        <p:tgtEl>
                                          <p:spTgt spid="3591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35914"/>
                                        </p:tgtEl>
                                        <p:attrNameLst>
                                          <p:attrName>style.visibility</p:attrName>
                                        </p:attrNameLst>
                                      </p:cBhvr>
                                      <p:to>
                                        <p:strVal val="visible"/>
                                      </p:to>
                                    </p:set>
                                    <p:anim calcmode="lin" valueType="num">
                                      <p:cBhvr additive="base">
                                        <p:cTn id="18" dur="500" fill="hold"/>
                                        <p:tgtEl>
                                          <p:spTgt spid="35914"/>
                                        </p:tgtEl>
                                        <p:attrNameLst>
                                          <p:attrName>ppt_x</p:attrName>
                                        </p:attrNameLst>
                                      </p:cBhvr>
                                      <p:tavLst>
                                        <p:tav tm="0">
                                          <p:val>
                                            <p:strVal val="1+#ppt_w/2"/>
                                          </p:val>
                                        </p:tav>
                                        <p:tav tm="100000">
                                          <p:val>
                                            <p:strVal val="#ppt_x"/>
                                          </p:val>
                                        </p:tav>
                                      </p:tavLst>
                                    </p:anim>
                                    <p:anim calcmode="lin" valueType="num">
                                      <p:cBhvr additive="base">
                                        <p:cTn id="19" dur="500" fill="hold"/>
                                        <p:tgtEl>
                                          <p:spTgt spid="3591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5921"/>
                                        </p:tgtEl>
                                        <p:attrNameLst>
                                          <p:attrName>style.visibility</p:attrName>
                                        </p:attrNameLst>
                                      </p:cBhvr>
                                      <p:to>
                                        <p:strVal val="visible"/>
                                      </p:to>
                                    </p:set>
                                    <p:animEffect transition="in" filter="wipe(down)">
                                      <p:cBhvr>
                                        <p:cTn id="24" dur="500"/>
                                        <p:tgtEl>
                                          <p:spTgt spid="35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14" grpId="0" bldLvl="0" animBg="1" autoUpdateAnimBg="0"/>
      <p:bldP spid="35915" grpId="0" bldLvl="0" animBg="1" autoUpdateAnimBg="0"/>
      <p:bldP spid="35921"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58" name="Text Box 74"/>
          <p:cNvSpPr txBox="1">
            <a:spLocks noChangeArrowheads="1"/>
          </p:cNvSpPr>
          <p:nvPr/>
        </p:nvSpPr>
        <p:spPr bwMode="auto">
          <a:xfrm>
            <a:off x="2276475" y="1422121"/>
            <a:ext cx="459105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计算方差的一个简化公式</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59" name="Text Box 75"/>
          <p:cNvSpPr txBox="1">
            <a:spLocks noChangeArrowheads="1"/>
          </p:cNvSpPr>
          <p:nvPr/>
        </p:nvSpPr>
        <p:spPr bwMode="auto">
          <a:xfrm>
            <a:off x="5967486" y="1412129"/>
            <a:ext cx="4648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just"/>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0" name="AutoShape 76"/>
          <p:cNvSpPr>
            <a:spLocks noChangeArrowheads="1"/>
          </p:cNvSpPr>
          <p:nvPr/>
        </p:nvSpPr>
        <p:spPr bwMode="auto">
          <a:xfrm>
            <a:off x="7320136" y="2044764"/>
            <a:ext cx="1408113" cy="523221"/>
          </a:xfrm>
          <a:prstGeom prst="wedgeRectCallout">
            <a:avLst>
              <a:gd name="adj1" fmla="val -90329"/>
              <a:gd name="adj2" fmla="val 182942"/>
            </a:avLst>
          </a:prstGeom>
          <a:solidFill>
            <a:srgbClr val="C00000"/>
          </a:solidFill>
          <a:ln w="9525">
            <a:solidFill>
              <a:schemeClr val="tx1"/>
            </a:solidFill>
            <a:miter lim="800000"/>
          </a:ln>
          <a:effectLst/>
        </p:spPr>
        <p:txBody>
          <a:bodyPr wrap="none" anchor="ctr"/>
          <a:lstStyle/>
          <a:p>
            <a:pPr algn="ctr" eaLnBrk="1" hangingPunct="1">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展开</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1" name="Rectangle 77"/>
          <p:cNvSpPr>
            <a:spLocks noChangeArrowheads="1"/>
          </p:cNvSpPr>
          <p:nvPr/>
        </p:nvSpPr>
        <p:spPr bwMode="auto">
          <a:xfrm>
            <a:off x="1797410" y="2396331"/>
            <a:ext cx="41148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证：</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2" name="Rectangle 78"/>
          <p:cNvSpPr>
            <a:spLocks noChangeArrowheads="1"/>
          </p:cNvSpPr>
          <p:nvPr/>
        </p:nvSpPr>
        <p:spPr bwMode="auto">
          <a:xfrm>
            <a:off x="3215680" y="3244726"/>
            <a:ext cx="381065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3" name="Rectangle 79"/>
          <p:cNvSpPr>
            <a:spLocks noChangeArrowheads="1"/>
          </p:cNvSpPr>
          <p:nvPr/>
        </p:nvSpPr>
        <p:spPr bwMode="auto">
          <a:xfrm>
            <a:off x="3215680" y="4081711"/>
            <a:ext cx="451951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4" name="Rectangle 80"/>
          <p:cNvSpPr>
            <a:spLocks noChangeArrowheads="1"/>
          </p:cNvSpPr>
          <p:nvPr/>
        </p:nvSpPr>
        <p:spPr bwMode="auto">
          <a:xfrm>
            <a:off x="3215680" y="4919911"/>
            <a:ext cx="2690695"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5" name="AutoShape 81"/>
          <p:cNvSpPr>
            <a:spLocks noChangeArrowheads="1"/>
          </p:cNvSpPr>
          <p:nvPr/>
        </p:nvSpPr>
        <p:spPr bwMode="auto">
          <a:xfrm>
            <a:off x="8400256" y="3958724"/>
            <a:ext cx="2427267" cy="523220"/>
          </a:xfrm>
          <a:prstGeom prst="wedgeRectCallout">
            <a:avLst>
              <a:gd name="adj1" fmla="val -101431"/>
              <a:gd name="adj2" fmla="val 2245"/>
            </a:avLst>
          </a:prstGeom>
          <a:solidFill>
            <a:srgbClr val="C00000"/>
          </a:solidFill>
          <a:ln w="9525">
            <a:solidFill>
              <a:schemeClr val="tx1"/>
            </a:solidFill>
            <a:miter lim="800000"/>
          </a:ln>
          <a:effectLst/>
        </p:spPr>
        <p:txBody>
          <a:bodyPr wrap="none" anchor="ctr"/>
          <a:lstStyle/>
          <a:p>
            <a:pPr algn="ctr" eaLnBrk="1" hangingPunct="1">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利用期望性质</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6458"/>
                                        </p:tgtEl>
                                        <p:attrNameLst>
                                          <p:attrName>style.visibility</p:attrName>
                                        </p:attrNameLst>
                                      </p:cBhvr>
                                      <p:to>
                                        <p:strVal val="visible"/>
                                      </p:to>
                                    </p:set>
                                    <p:animEffect transition="in" filter="barn(outVertical)">
                                      <p:cBhvr>
                                        <p:cTn id="7" dur="500"/>
                                        <p:tgtEl>
                                          <p:spTgt spid="1645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6459"/>
                                        </p:tgtEl>
                                        <p:attrNameLst>
                                          <p:attrName>style.visibility</p:attrName>
                                        </p:attrNameLst>
                                      </p:cBhvr>
                                      <p:to>
                                        <p:strVal val="visible"/>
                                      </p:to>
                                    </p:set>
                                    <p:anim calcmode="lin" valueType="num">
                                      <p:cBhvr additive="base">
                                        <p:cTn id="12" dur="500" fill="hold"/>
                                        <p:tgtEl>
                                          <p:spTgt spid="16459"/>
                                        </p:tgtEl>
                                        <p:attrNameLst>
                                          <p:attrName>ppt_x</p:attrName>
                                        </p:attrNameLst>
                                      </p:cBhvr>
                                      <p:tavLst>
                                        <p:tav tm="0">
                                          <p:val>
                                            <p:strVal val="1+#ppt_w/2"/>
                                          </p:val>
                                        </p:tav>
                                        <p:tav tm="100000">
                                          <p:val>
                                            <p:strVal val="#ppt_x"/>
                                          </p:val>
                                        </p:tav>
                                      </p:tavLst>
                                    </p:anim>
                                    <p:anim calcmode="lin" valueType="num">
                                      <p:cBhvr additive="base">
                                        <p:cTn id="13" dur="500" fill="hold"/>
                                        <p:tgtEl>
                                          <p:spTgt spid="1645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461"/>
                                        </p:tgtEl>
                                        <p:attrNameLst>
                                          <p:attrName>style.visibility</p:attrName>
                                        </p:attrNameLst>
                                      </p:cBhvr>
                                      <p:to>
                                        <p:strVal val="visible"/>
                                      </p:to>
                                    </p:set>
                                    <p:anim calcmode="lin" valueType="num">
                                      <p:cBhvr additive="base">
                                        <p:cTn id="18" dur="500" fill="hold"/>
                                        <p:tgtEl>
                                          <p:spTgt spid="16461"/>
                                        </p:tgtEl>
                                        <p:attrNameLst>
                                          <p:attrName>ppt_x</p:attrName>
                                        </p:attrNameLst>
                                      </p:cBhvr>
                                      <p:tavLst>
                                        <p:tav tm="0">
                                          <p:val>
                                            <p:strVal val="0-#ppt_w/2"/>
                                          </p:val>
                                        </p:tav>
                                        <p:tav tm="100000">
                                          <p:val>
                                            <p:strVal val="#ppt_x"/>
                                          </p:val>
                                        </p:tav>
                                      </p:tavLst>
                                    </p:anim>
                                    <p:anim calcmode="lin" valueType="num">
                                      <p:cBhvr additive="base">
                                        <p:cTn id="19" dur="500" fill="hold"/>
                                        <p:tgtEl>
                                          <p:spTgt spid="1646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6462"/>
                                        </p:tgtEl>
                                        <p:attrNameLst>
                                          <p:attrName>style.visibility</p:attrName>
                                        </p:attrNameLst>
                                      </p:cBhvr>
                                      <p:to>
                                        <p:strVal val="visible"/>
                                      </p:to>
                                    </p:set>
                                    <p:anim calcmode="lin" valueType="num">
                                      <p:cBhvr additive="base">
                                        <p:cTn id="24" dur="500" fill="hold"/>
                                        <p:tgtEl>
                                          <p:spTgt spid="16462"/>
                                        </p:tgtEl>
                                        <p:attrNameLst>
                                          <p:attrName>ppt_x</p:attrName>
                                        </p:attrNameLst>
                                      </p:cBhvr>
                                      <p:tavLst>
                                        <p:tav tm="0">
                                          <p:val>
                                            <p:strVal val="#ppt_x"/>
                                          </p:val>
                                        </p:tav>
                                        <p:tav tm="100000">
                                          <p:val>
                                            <p:strVal val="#ppt_x"/>
                                          </p:val>
                                        </p:tav>
                                      </p:tavLst>
                                    </p:anim>
                                    <p:anim calcmode="lin" valueType="num">
                                      <p:cBhvr additive="base">
                                        <p:cTn id="25" dur="500" fill="hold"/>
                                        <p:tgtEl>
                                          <p:spTgt spid="1646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6460"/>
                                        </p:tgtEl>
                                        <p:attrNameLst>
                                          <p:attrName>style.visibility</p:attrName>
                                        </p:attrNameLst>
                                      </p:cBhvr>
                                      <p:to>
                                        <p:strVal val="visible"/>
                                      </p:to>
                                    </p:set>
                                    <p:anim calcmode="lin" valueType="num">
                                      <p:cBhvr additive="base">
                                        <p:cTn id="30" dur="500" fill="hold"/>
                                        <p:tgtEl>
                                          <p:spTgt spid="16460"/>
                                        </p:tgtEl>
                                        <p:attrNameLst>
                                          <p:attrName>ppt_x</p:attrName>
                                        </p:attrNameLst>
                                      </p:cBhvr>
                                      <p:tavLst>
                                        <p:tav tm="0">
                                          <p:val>
                                            <p:strVal val="1+#ppt_w/2"/>
                                          </p:val>
                                        </p:tav>
                                        <p:tav tm="100000">
                                          <p:val>
                                            <p:strVal val="#ppt_x"/>
                                          </p:val>
                                        </p:tav>
                                      </p:tavLst>
                                    </p:anim>
                                    <p:anim calcmode="lin" valueType="num">
                                      <p:cBhvr additive="base">
                                        <p:cTn id="31" dur="500" fill="hold"/>
                                        <p:tgtEl>
                                          <p:spTgt spid="16460"/>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6463"/>
                                        </p:tgtEl>
                                        <p:attrNameLst>
                                          <p:attrName>style.visibility</p:attrName>
                                        </p:attrNameLst>
                                      </p:cBhvr>
                                      <p:to>
                                        <p:strVal val="visible"/>
                                      </p:to>
                                    </p:set>
                                    <p:anim calcmode="lin" valueType="num">
                                      <p:cBhvr additive="base">
                                        <p:cTn id="36" dur="500" fill="hold"/>
                                        <p:tgtEl>
                                          <p:spTgt spid="16463"/>
                                        </p:tgtEl>
                                        <p:attrNameLst>
                                          <p:attrName>ppt_x</p:attrName>
                                        </p:attrNameLst>
                                      </p:cBhvr>
                                      <p:tavLst>
                                        <p:tav tm="0">
                                          <p:val>
                                            <p:strVal val="#ppt_x"/>
                                          </p:val>
                                        </p:tav>
                                        <p:tav tm="100000">
                                          <p:val>
                                            <p:strVal val="#ppt_x"/>
                                          </p:val>
                                        </p:tav>
                                      </p:tavLst>
                                    </p:anim>
                                    <p:anim calcmode="lin" valueType="num">
                                      <p:cBhvr additive="base">
                                        <p:cTn id="37" dur="500" fill="hold"/>
                                        <p:tgtEl>
                                          <p:spTgt spid="1646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6465"/>
                                        </p:tgtEl>
                                        <p:attrNameLst>
                                          <p:attrName>style.visibility</p:attrName>
                                        </p:attrNameLst>
                                      </p:cBhvr>
                                      <p:to>
                                        <p:strVal val="visible"/>
                                      </p:to>
                                    </p:set>
                                    <p:anim calcmode="lin" valueType="num">
                                      <p:cBhvr additive="base">
                                        <p:cTn id="42" dur="500" fill="hold"/>
                                        <p:tgtEl>
                                          <p:spTgt spid="16465"/>
                                        </p:tgtEl>
                                        <p:attrNameLst>
                                          <p:attrName>ppt_x</p:attrName>
                                        </p:attrNameLst>
                                      </p:cBhvr>
                                      <p:tavLst>
                                        <p:tav tm="0">
                                          <p:val>
                                            <p:strVal val="1+#ppt_w/2"/>
                                          </p:val>
                                        </p:tav>
                                        <p:tav tm="100000">
                                          <p:val>
                                            <p:strVal val="#ppt_x"/>
                                          </p:val>
                                        </p:tav>
                                      </p:tavLst>
                                    </p:anim>
                                    <p:anim calcmode="lin" valueType="num">
                                      <p:cBhvr additive="base">
                                        <p:cTn id="43" dur="500" fill="hold"/>
                                        <p:tgtEl>
                                          <p:spTgt spid="1646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6464"/>
                                        </p:tgtEl>
                                        <p:attrNameLst>
                                          <p:attrName>style.visibility</p:attrName>
                                        </p:attrNameLst>
                                      </p:cBhvr>
                                      <p:to>
                                        <p:strVal val="visible"/>
                                      </p:to>
                                    </p:set>
                                    <p:anim calcmode="lin" valueType="num">
                                      <p:cBhvr additive="base">
                                        <p:cTn id="48" dur="500" fill="hold"/>
                                        <p:tgtEl>
                                          <p:spTgt spid="16464"/>
                                        </p:tgtEl>
                                        <p:attrNameLst>
                                          <p:attrName>ppt_x</p:attrName>
                                        </p:attrNameLst>
                                      </p:cBhvr>
                                      <p:tavLst>
                                        <p:tav tm="0">
                                          <p:val>
                                            <p:strVal val="#ppt_x"/>
                                          </p:val>
                                        </p:tav>
                                        <p:tav tm="100000">
                                          <p:val>
                                            <p:strVal val="#ppt_x"/>
                                          </p:val>
                                        </p:tav>
                                      </p:tavLst>
                                    </p:anim>
                                    <p:anim calcmode="lin" valueType="num">
                                      <p:cBhvr additive="base">
                                        <p:cTn id="49" dur="500" fill="hold"/>
                                        <p:tgtEl>
                                          <p:spTgt spid="164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58" grpId="0" autoUpdateAnimBg="0"/>
      <p:bldP spid="16459" grpId="0" bldLvl="0" animBg="1" autoUpdateAnimBg="0"/>
      <p:bldP spid="16460" grpId="0" bldLvl="0" animBg="1" autoUpdateAnimBg="0"/>
      <p:bldP spid="16461" grpId="0" bldLvl="0" animBg="1" autoUpdateAnimBg="0"/>
      <p:bldP spid="16462" grpId="0" bldLvl="0" animBg="1" autoUpdateAnimBg="0"/>
      <p:bldP spid="16463" grpId="0" bldLvl="0" animBg="1" autoUpdateAnimBg="0"/>
      <p:bldP spid="16464" grpId="0" bldLvl="0" animBg="1" autoUpdateAnimBg="0"/>
      <p:bldP spid="16465" grpId="0" bldLvl="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47" name="Text Box 39"/>
          <p:cNvSpPr txBox="1">
            <a:spLocks noChangeArrowheads="1"/>
          </p:cNvSpPr>
          <p:nvPr/>
        </p:nvSpPr>
        <p:spPr bwMode="auto">
          <a:xfrm>
            <a:off x="1559496" y="1094934"/>
            <a:ext cx="75592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400" b="1"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b="1"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：设随机变量</a:t>
            </a:r>
            <a:r>
              <a:rPr lang="en-US" altLang="zh-CN" sz="2400" b="1"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400" b="1"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具有</a:t>
            </a:r>
            <a:r>
              <a:rPr lang="en-US" altLang="zh-CN" sz="2400" b="1"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400" b="1"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rPr>
              <a:t>）分布，其分布率为</a:t>
            </a:r>
            <a:endParaRPr lang="zh-CN" altLang="en-US" sz="2400" b="1" dirty="0">
              <a:solidFill>
                <a:srgbClr val="40404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7448" name="Object 40"/>
          <p:cNvGraphicFramePr>
            <a:graphicFrameLocks noChangeAspect="1"/>
          </p:cNvGraphicFramePr>
          <p:nvPr/>
        </p:nvGraphicFramePr>
        <p:xfrm>
          <a:off x="3287688" y="1609263"/>
          <a:ext cx="5312326" cy="531233"/>
        </p:xfrm>
        <a:graphic>
          <a:graphicData uri="http://schemas.openxmlformats.org/presentationml/2006/ole">
            <mc:AlternateContent xmlns:mc="http://schemas.openxmlformats.org/markup-compatibility/2006">
              <mc:Choice xmlns:v="urn:schemas-microsoft-com:vml" Requires="v">
                <p:oleObj spid="_x0000_s154680" name="Equation" r:id="rId1" imgW="48768000" imgH="4876800" progId="Equation.DSMT4">
                  <p:embed/>
                </p:oleObj>
              </mc:Choice>
              <mc:Fallback>
                <p:oleObj name="Equation" r:id="rId1" imgW="48768000" imgH="4876800" progId="Equation.DSMT4">
                  <p:embed/>
                  <p:pic>
                    <p:nvPicPr>
                      <p:cNvPr id="0" name="Object 40"/>
                      <p:cNvPicPr>
                        <a:picLocks noChangeAspect="1" noChangeArrowheads="1"/>
                      </p:cNvPicPr>
                      <p:nvPr/>
                    </p:nvPicPr>
                    <p:blipFill>
                      <a:blip r:embed="rId2"/>
                      <a:srcRect/>
                      <a:stretch>
                        <a:fillRect/>
                      </a:stretch>
                    </p:blipFill>
                    <p:spPr bwMode="auto">
                      <a:xfrm>
                        <a:off x="3287688" y="1609263"/>
                        <a:ext cx="5312326" cy="531233"/>
                      </a:xfrm>
                      <a:prstGeom prst="rect">
                        <a:avLst/>
                      </a:prstGeom>
                      <a:noFill/>
                      <a:ln>
                        <a:noFill/>
                      </a:ln>
                      <a:effectLst/>
                    </p:spPr>
                  </p:pic>
                </p:oleObj>
              </mc:Fallback>
            </mc:AlternateContent>
          </a:graphicData>
        </a:graphic>
      </p:graphicFrame>
      <p:sp>
        <p:nvSpPr>
          <p:cNvPr id="17449" name="Text Box 41"/>
          <p:cNvSpPr txBox="1">
            <a:spLocks noChangeArrowheads="1"/>
          </p:cNvSpPr>
          <p:nvPr/>
        </p:nvSpPr>
        <p:spPr bwMode="auto">
          <a:xfrm>
            <a:off x="1559496" y="2167935"/>
            <a:ext cx="1849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求</a:t>
            </a:r>
            <a:r>
              <a:rPr lang="en-US" altLang="zh-CN"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D(X)</a:t>
            </a:r>
            <a:r>
              <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50" name="Text Box 42"/>
          <p:cNvSpPr txBox="1">
            <a:spLocks noChangeArrowheads="1"/>
          </p:cNvSpPr>
          <p:nvPr/>
        </p:nvSpPr>
        <p:spPr bwMode="auto">
          <a:xfrm>
            <a:off x="2207568" y="2830513"/>
            <a:ext cx="576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a:t>
            </a:r>
            <a:endPar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7451" name="Object 43"/>
          <p:cNvGraphicFramePr>
            <a:graphicFrameLocks noChangeAspect="1"/>
          </p:cNvGraphicFramePr>
          <p:nvPr/>
        </p:nvGraphicFramePr>
        <p:xfrm>
          <a:off x="3423035" y="2856795"/>
          <a:ext cx="4577185" cy="523107"/>
        </p:xfrm>
        <a:graphic>
          <a:graphicData uri="http://schemas.openxmlformats.org/presentationml/2006/ole">
            <mc:AlternateContent xmlns:mc="http://schemas.openxmlformats.org/markup-compatibility/2006">
              <mc:Choice xmlns:v="urn:schemas-microsoft-com:vml" Requires="v">
                <p:oleObj spid="_x0000_s154681" name="Equation" r:id="rId3" imgW="42672000" imgH="4876800" progId="Equation.DSMT4">
                  <p:embed/>
                </p:oleObj>
              </mc:Choice>
              <mc:Fallback>
                <p:oleObj name="Equation" r:id="rId3" imgW="42672000" imgH="4876800" progId="Equation.DSMT4">
                  <p:embed/>
                  <p:pic>
                    <p:nvPicPr>
                      <p:cNvPr id="0" name="Object 43"/>
                      <p:cNvPicPr>
                        <a:picLocks noChangeAspect="1" noChangeArrowheads="1"/>
                      </p:cNvPicPr>
                      <p:nvPr/>
                    </p:nvPicPr>
                    <p:blipFill>
                      <a:blip r:embed="rId4"/>
                      <a:srcRect/>
                      <a:stretch>
                        <a:fillRect/>
                      </a:stretch>
                    </p:blipFill>
                    <p:spPr bwMode="auto">
                      <a:xfrm>
                        <a:off x="3423035" y="2856795"/>
                        <a:ext cx="4577185" cy="523107"/>
                      </a:xfrm>
                      <a:prstGeom prst="rect">
                        <a:avLst/>
                      </a:prstGeom>
                      <a:noFill/>
                      <a:ln>
                        <a:noFill/>
                      </a:ln>
                      <a:effectLst/>
                    </p:spPr>
                  </p:pic>
                </p:oleObj>
              </mc:Fallback>
            </mc:AlternateContent>
          </a:graphicData>
        </a:graphic>
      </p:graphicFrame>
      <p:graphicFrame>
        <p:nvGraphicFramePr>
          <p:cNvPr id="17452" name="Object 44"/>
          <p:cNvGraphicFramePr>
            <a:graphicFrameLocks noChangeAspect="1"/>
          </p:cNvGraphicFramePr>
          <p:nvPr/>
        </p:nvGraphicFramePr>
        <p:xfrm>
          <a:off x="6272213" y="3940175"/>
          <a:ext cx="190500" cy="419100"/>
        </p:xfrm>
        <a:graphic>
          <a:graphicData uri="http://schemas.openxmlformats.org/presentationml/2006/ole">
            <mc:AlternateContent xmlns:mc="http://schemas.openxmlformats.org/markup-compatibility/2006">
              <mc:Choice xmlns:v="urn:schemas-microsoft-com:vml" Requires="v">
                <p:oleObj spid="_x0000_s154682" name="Equation" r:id="rId5" imgW="190500" imgH="419100" progId="Equation.3">
                  <p:embed/>
                </p:oleObj>
              </mc:Choice>
              <mc:Fallback>
                <p:oleObj name="Equation" r:id="rId5" imgW="190500" imgH="419100" progId="Equation.3">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72213" y="3940175"/>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3" name="Object 45"/>
          <p:cNvGraphicFramePr>
            <a:graphicFrameLocks noChangeAspect="1"/>
          </p:cNvGraphicFramePr>
          <p:nvPr/>
        </p:nvGraphicFramePr>
        <p:xfrm>
          <a:off x="3369451" y="3379902"/>
          <a:ext cx="5067602" cy="588496"/>
        </p:xfrm>
        <a:graphic>
          <a:graphicData uri="http://schemas.openxmlformats.org/presentationml/2006/ole">
            <mc:AlternateContent xmlns:mc="http://schemas.openxmlformats.org/markup-compatibility/2006">
              <mc:Choice xmlns:v="urn:schemas-microsoft-com:vml" Requires="v">
                <p:oleObj spid="_x0000_s154683" name="Equation" r:id="rId7" imgW="47244000" imgH="5486400" progId="Equation.DSMT4">
                  <p:embed/>
                </p:oleObj>
              </mc:Choice>
              <mc:Fallback>
                <p:oleObj name="Equation" r:id="rId7" imgW="47244000" imgH="5486400" progId="Equation.DSMT4">
                  <p:embed/>
                  <p:pic>
                    <p:nvPicPr>
                      <p:cNvPr id="0" name="Object 45"/>
                      <p:cNvPicPr>
                        <a:picLocks noChangeAspect="1" noChangeArrowheads="1"/>
                      </p:cNvPicPr>
                      <p:nvPr/>
                    </p:nvPicPr>
                    <p:blipFill>
                      <a:blip r:embed="rId8"/>
                      <a:srcRect/>
                      <a:stretch>
                        <a:fillRect/>
                      </a:stretch>
                    </p:blipFill>
                    <p:spPr bwMode="auto">
                      <a:xfrm>
                        <a:off x="3369451" y="3379902"/>
                        <a:ext cx="5067602" cy="588496"/>
                      </a:xfrm>
                      <a:prstGeom prst="rect">
                        <a:avLst/>
                      </a:prstGeom>
                      <a:noFill/>
                      <a:ln>
                        <a:noFill/>
                      </a:ln>
                      <a:effectLst/>
                    </p:spPr>
                  </p:pic>
                </p:oleObj>
              </mc:Fallback>
            </mc:AlternateContent>
          </a:graphicData>
        </a:graphic>
      </p:graphicFrame>
      <p:sp>
        <p:nvSpPr>
          <p:cNvPr id="17454" name="Text Box 46"/>
          <p:cNvSpPr txBox="1">
            <a:spLocks noChangeArrowheads="1"/>
          </p:cNvSpPr>
          <p:nvPr/>
        </p:nvSpPr>
        <p:spPr bwMode="auto">
          <a:xfrm>
            <a:off x="2225108" y="3997660"/>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由公式</a:t>
            </a:r>
            <a:endPar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7455" name="Object 47"/>
          <p:cNvGraphicFramePr>
            <a:graphicFrameLocks noChangeAspect="1"/>
          </p:cNvGraphicFramePr>
          <p:nvPr/>
        </p:nvGraphicFramePr>
        <p:xfrm>
          <a:off x="3356458" y="4478214"/>
          <a:ext cx="7160031" cy="588496"/>
        </p:xfrm>
        <a:graphic>
          <a:graphicData uri="http://schemas.openxmlformats.org/presentationml/2006/ole">
            <mc:AlternateContent xmlns:mc="http://schemas.openxmlformats.org/markup-compatibility/2006">
              <mc:Choice xmlns:v="urn:schemas-microsoft-com:vml" Requires="v">
                <p:oleObj spid="_x0000_s154684" name="Equation" r:id="rId9" imgW="66751200" imgH="5486400" progId="Equation.DSMT4">
                  <p:embed/>
                </p:oleObj>
              </mc:Choice>
              <mc:Fallback>
                <p:oleObj name="Equation" r:id="rId9" imgW="66751200" imgH="5486400" progId="Equation.DSMT4">
                  <p:embed/>
                  <p:pic>
                    <p:nvPicPr>
                      <p:cNvPr id="0" name="Object 47"/>
                      <p:cNvPicPr>
                        <a:picLocks noChangeAspect="1" noChangeArrowheads="1"/>
                      </p:cNvPicPr>
                      <p:nvPr/>
                    </p:nvPicPr>
                    <p:blipFill>
                      <a:blip r:embed="rId10"/>
                      <a:srcRect/>
                      <a:stretch>
                        <a:fillRect/>
                      </a:stretch>
                    </p:blipFill>
                    <p:spPr bwMode="auto">
                      <a:xfrm>
                        <a:off x="3356458" y="4478214"/>
                        <a:ext cx="7160031" cy="588496"/>
                      </a:xfrm>
                      <a:prstGeom prst="rect">
                        <a:avLst/>
                      </a:prstGeom>
                      <a:noFill/>
                      <a:ln>
                        <a:noFill/>
                      </a:ln>
                      <a:effectLst/>
                    </p:spPr>
                  </p:pic>
                </p:oleObj>
              </mc:Fallback>
            </mc:AlternateContent>
          </a:graphicData>
        </a:graphic>
      </p:graphicFrame>
      <p:sp>
        <p:nvSpPr>
          <p:cNvPr id="17456" name="Text Box 48"/>
          <p:cNvSpPr txBox="1">
            <a:spLocks noChangeArrowheads="1"/>
          </p:cNvSpPr>
          <p:nvPr/>
        </p:nvSpPr>
        <p:spPr bwMode="auto">
          <a:xfrm>
            <a:off x="2185537" y="5164807"/>
            <a:ext cx="2210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因此，</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0-1 </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分布</a:t>
            </a:r>
            <a:endPar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7457" name="Object 49"/>
          <p:cNvGraphicFramePr>
            <a:graphicFrameLocks noChangeAspect="1"/>
          </p:cNvGraphicFramePr>
          <p:nvPr/>
        </p:nvGraphicFramePr>
        <p:xfrm>
          <a:off x="4079776" y="5748654"/>
          <a:ext cx="4885139" cy="583300"/>
        </p:xfrm>
        <a:graphic>
          <a:graphicData uri="http://schemas.openxmlformats.org/presentationml/2006/ole">
            <mc:AlternateContent xmlns:mc="http://schemas.openxmlformats.org/markup-compatibility/2006">
              <mc:Choice xmlns:v="urn:schemas-microsoft-com:vml" Requires="v">
                <p:oleObj spid="_x0000_s154685" name="Equation" r:id="rId11" imgW="40843200" imgH="4876800" progId="Equation.DSMT4">
                  <p:embed/>
                </p:oleObj>
              </mc:Choice>
              <mc:Fallback>
                <p:oleObj name="Equation" r:id="rId11" imgW="40843200" imgH="4876800" progId="Equation.DSMT4">
                  <p:embed/>
                  <p:pic>
                    <p:nvPicPr>
                      <p:cNvPr id="0" name="Object 49"/>
                      <p:cNvPicPr>
                        <a:picLocks noChangeAspect="1" noChangeArrowheads="1"/>
                      </p:cNvPicPr>
                      <p:nvPr/>
                    </p:nvPicPr>
                    <p:blipFill>
                      <a:blip r:embed="rId12"/>
                      <a:srcRect/>
                      <a:stretch>
                        <a:fillRect/>
                      </a:stretch>
                    </p:blipFill>
                    <p:spPr bwMode="auto">
                      <a:xfrm>
                        <a:off x="4079776" y="5748654"/>
                        <a:ext cx="4885139" cy="583300"/>
                      </a:xfrm>
                      <a:prstGeom prst="rect">
                        <a:avLst/>
                      </a:prstGeom>
                      <a:solidFill>
                        <a:srgbClr val="C00000"/>
                      </a:solidFill>
                      <a:ln>
                        <a:noFill/>
                      </a:ln>
                      <a:effectLst/>
                    </p:spPr>
                  </p:pic>
                </p:oleObj>
              </mc:Fallback>
            </mc:AlternateContent>
          </a:graphicData>
        </a:graphic>
      </p:graphicFrame>
      <p:cxnSp>
        <p:nvCxnSpPr>
          <p:cNvPr id="14" name="直接连接符 1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7447"/>
                                        </p:tgtEl>
                                        <p:attrNameLst>
                                          <p:attrName>style.visibility</p:attrName>
                                        </p:attrNameLst>
                                      </p:cBhvr>
                                      <p:to>
                                        <p:strVal val="visible"/>
                                      </p:to>
                                    </p:set>
                                    <p:animEffect transition="in" filter="barn(outVertical)">
                                      <p:cBhvr>
                                        <p:cTn id="7" dur="500"/>
                                        <p:tgtEl>
                                          <p:spTgt spid="1744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7448"/>
                                        </p:tgtEl>
                                        <p:attrNameLst>
                                          <p:attrName>style.visibility</p:attrName>
                                        </p:attrNameLst>
                                      </p:cBhvr>
                                      <p:to>
                                        <p:strVal val="visible"/>
                                      </p:to>
                                    </p:set>
                                    <p:animEffect transition="in" filter="barn(outVertical)">
                                      <p:cBhvr>
                                        <p:cTn id="12" dur="500"/>
                                        <p:tgtEl>
                                          <p:spTgt spid="1744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7449"/>
                                        </p:tgtEl>
                                        <p:attrNameLst>
                                          <p:attrName>style.visibility</p:attrName>
                                        </p:attrNameLst>
                                      </p:cBhvr>
                                      <p:to>
                                        <p:strVal val="visible"/>
                                      </p:to>
                                    </p:set>
                                    <p:animEffect transition="in" filter="barn(outVertical)">
                                      <p:cBhvr>
                                        <p:cTn id="17" dur="500"/>
                                        <p:tgtEl>
                                          <p:spTgt spid="1744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17450"/>
                                        </p:tgtEl>
                                        <p:attrNameLst>
                                          <p:attrName>style.visibility</p:attrName>
                                        </p:attrNameLst>
                                      </p:cBhvr>
                                      <p:to>
                                        <p:strVal val="visible"/>
                                      </p:to>
                                    </p:set>
                                    <p:animEffect transition="in" filter="barn(outVertical)">
                                      <p:cBhvr>
                                        <p:cTn id="22" dur="500"/>
                                        <p:tgtEl>
                                          <p:spTgt spid="17450"/>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17451"/>
                                        </p:tgtEl>
                                        <p:attrNameLst>
                                          <p:attrName>style.visibility</p:attrName>
                                        </p:attrNameLst>
                                      </p:cBhvr>
                                      <p:to>
                                        <p:strVal val="visible"/>
                                      </p:to>
                                    </p:set>
                                    <p:animEffect transition="in" filter="barn(outVertical)">
                                      <p:cBhvr>
                                        <p:cTn id="27" dur="500"/>
                                        <p:tgtEl>
                                          <p:spTgt spid="1745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17452"/>
                                        </p:tgtEl>
                                        <p:attrNameLst>
                                          <p:attrName>style.visibility</p:attrName>
                                        </p:attrNameLst>
                                      </p:cBhvr>
                                      <p:to>
                                        <p:strVal val="visible"/>
                                      </p:to>
                                    </p:set>
                                    <p:animEffect transition="in" filter="barn(outVertical)">
                                      <p:cBhvr>
                                        <p:cTn id="32" dur="500"/>
                                        <p:tgtEl>
                                          <p:spTgt spid="1745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17453"/>
                                        </p:tgtEl>
                                        <p:attrNameLst>
                                          <p:attrName>style.visibility</p:attrName>
                                        </p:attrNameLst>
                                      </p:cBhvr>
                                      <p:to>
                                        <p:strVal val="visible"/>
                                      </p:to>
                                    </p:set>
                                    <p:animEffect transition="in" filter="barn(outVertical)">
                                      <p:cBhvr>
                                        <p:cTn id="37" dur="500"/>
                                        <p:tgtEl>
                                          <p:spTgt spid="17453"/>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17454"/>
                                        </p:tgtEl>
                                        <p:attrNameLst>
                                          <p:attrName>style.visibility</p:attrName>
                                        </p:attrNameLst>
                                      </p:cBhvr>
                                      <p:to>
                                        <p:strVal val="visible"/>
                                      </p:to>
                                    </p:set>
                                    <p:animEffect transition="in" filter="barn(outVertical)">
                                      <p:cBhvr>
                                        <p:cTn id="42" dur="500"/>
                                        <p:tgtEl>
                                          <p:spTgt spid="17454"/>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nodeType="clickEffect">
                                  <p:stCondLst>
                                    <p:cond delay="0"/>
                                  </p:stCondLst>
                                  <p:childTnLst>
                                    <p:set>
                                      <p:cBhvr>
                                        <p:cTn id="46" dur="1" fill="hold">
                                          <p:stCondLst>
                                            <p:cond delay="0"/>
                                          </p:stCondLst>
                                        </p:cTn>
                                        <p:tgtEl>
                                          <p:spTgt spid="17455"/>
                                        </p:tgtEl>
                                        <p:attrNameLst>
                                          <p:attrName>style.visibility</p:attrName>
                                        </p:attrNameLst>
                                      </p:cBhvr>
                                      <p:to>
                                        <p:strVal val="visible"/>
                                      </p:to>
                                    </p:set>
                                    <p:animEffect transition="in" filter="barn(outVertical)">
                                      <p:cBhvr>
                                        <p:cTn id="47" dur="500"/>
                                        <p:tgtEl>
                                          <p:spTgt spid="17455"/>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37" fill="hold" grpId="0" nodeType="clickEffect">
                                  <p:stCondLst>
                                    <p:cond delay="0"/>
                                  </p:stCondLst>
                                  <p:childTnLst>
                                    <p:set>
                                      <p:cBhvr>
                                        <p:cTn id="51" dur="1" fill="hold">
                                          <p:stCondLst>
                                            <p:cond delay="0"/>
                                          </p:stCondLst>
                                        </p:cTn>
                                        <p:tgtEl>
                                          <p:spTgt spid="17456"/>
                                        </p:tgtEl>
                                        <p:attrNameLst>
                                          <p:attrName>style.visibility</p:attrName>
                                        </p:attrNameLst>
                                      </p:cBhvr>
                                      <p:to>
                                        <p:strVal val="visible"/>
                                      </p:to>
                                    </p:set>
                                    <p:animEffect transition="in" filter="barn(outVertical)">
                                      <p:cBhvr>
                                        <p:cTn id="52" dur="500"/>
                                        <p:tgtEl>
                                          <p:spTgt spid="17456"/>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37" fill="hold" nodeType="clickEffect">
                                  <p:stCondLst>
                                    <p:cond delay="0"/>
                                  </p:stCondLst>
                                  <p:childTnLst>
                                    <p:set>
                                      <p:cBhvr>
                                        <p:cTn id="56" dur="1" fill="hold">
                                          <p:stCondLst>
                                            <p:cond delay="0"/>
                                          </p:stCondLst>
                                        </p:cTn>
                                        <p:tgtEl>
                                          <p:spTgt spid="17457"/>
                                        </p:tgtEl>
                                        <p:attrNameLst>
                                          <p:attrName>style.visibility</p:attrName>
                                        </p:attrNameLst>
                                      </p:cBhvr>
                                      <p:to>
                                        <p:strVal val="visible"/>
                                      </p:to>
                                    </p:set>
                                    <p:animEffect transition="in" filter="barn(outVertical)">
                                      <p:cBhvr>
                                        <p:cTn id="57" dur="500"/>
                                        <p:tgtEl>
                                          <p:spTgt spid="17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47" grpId="0" bldLvl="0" animBg="1" autoUpdateAnimBg="0"/>
      <p:bldP spid="17449" grpId="0" bldLvl="0" animBg="1" autoUpdateAnimBg="0"/>
      <p:bldP spid="17450" grpId="0" bldLvl="0" animBg="1" autoUpdateAnimBg="0"/>
      <p:bldP spid="17454" grpId="0" bldLvl="0" animBg="1" autoUpdateAnimBg="0"/>
      <p:bldP spid="17456" grpId="0" bldLvl="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15" name="Text Box 31"/>
          <p:cNvSpPr txBox="1">
            <a:spLocks noChangeArrowheads="1"/>
          </p:cNvSpPr>
          <p:nvPr/>
        </p:nvSpPr>
        <p:spPr bwMode="auto">
          <a:xfrm>
            <a:off x="1564690" y="1115023"/>
            <a:ext cx="76815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2016" name="Object 32"/>
          <p:cNvGraphicFramePr>
            <a:graphicFrameLocks noChangeAspect="1"/>
          </p:cNvGraphicFramePr>
          <p:nvPr/>
        </p:nvGraphicFramePr>
        <p:xfrm>
          <a:off x="2369929" y="1113166"/>
          <a:ext cx="3484115" cy="519561"/>
        </p:xfrm>
        <a:graphic>
          <a:graphicData uri="http://schemas.openxmlformats.org/presentationml/2006/ole">
            <mc:AlternateContent xmlns:mc="http://schemas.openxmlformats.org/markup-compatibility/2006">
              <mc:Choice xmlns:v="urn:schemas-microsoft-com:vml" Requires="v">
                <p:oleObj spid="_x0000_s155714" name="Equation" r:id="rId1" imgW="34747200" imgH="5181600" progId="Equation.DSMT4">
                  <p:embed/>
                </p:oleObj>
              </mc:Choice>
              <mc:Fallback>
                <p:oleObj name="Equation" r:id="rId1" imgW="34747200" imgH="5181600" progId="Equation.DSMT4">
                  <p:embed/>
                  <p:pic>
                    <p:nvPicPr>
                      <p:cNvPr id="0" name="Object 32"/>
                      <p:cNvPicPr>
                        <a:picLocks noChangeAspect="1" noChangeArrowheads="1"/>
                      </p:cNvPicPr>
                      <p:nvPr/>
                    </p:nvPicPr>
                    <p:blipFill>
                      <a:blip r:embed="rId2"/>
                      <a:srcRect/>
                      <a:stretch>
                        <a:fillRect/>
                      </a:stretch>
                    </p:blipFill>
                    <p:spPr bwMode="auto">
                      <a:xfrm>
                        <a:off x="2369929" y="1113166"/>
                        <a:ext cx="3484115" cy="519561"/>
                      </a:xfrm>
                      <a:prstGeom prst="rect">
                        <a:avLst/>
                      </a:prstGeom>
                      <a:noFill/>
                      <a:ln>
                        <a:noFill/>
                      </a:ln>
                      <a:effectLst/>
                    </p:spPr>
                  </p:pic>
                </p:oleObj>
              </mc:Fallback>
            </mc:AlternateContent>
          </a:graphicData>
        </a:graphic>
      </p:graphicFrame>
      <p:sp>
        <p:nvSpPr>
          <p:cNvPr id="42018" name="Text Box 34"/>
          <p:cNvSpPr txBox="1">
            <a:spLocks noChangeArrowheads="1"/>
          </p:cNvSpPr>
          <p:nvPr/>
        </p:nvSpPr>
        <p:spPr bwMode="auto">
          <a:xfrm>
            <a:off x="1564690" y="1783360"/>
            <a:ext cx="326707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的分布率为</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2019" name="Object 35"/>
          <p:cNvGraphicFramePr>
            <a:graphicFrameLocks noChangeAspect="1"/>
          </p:cNvGraphicFramePr>
          <p:nvPr/>
        </p:nvGraphicFramePr>
        <p:xfrm>
          <a:off x="4655840" y="1510369"/>
          <a:ext cx="5623486" cy="1008560"/>
        </p:xfrm>
        <a:graphic>
          <a:graphicData uri="http://schemas.openxmlformats.org/presentationml/2006/ole">
            <mc:AlternateContent xmlns:mc="http://schemas.openxmlformats.org/markup-compatibility/2006">
              <mc:Choice xmlns:v="urn:schemas-microsoft-com:vml" Requires="v">
                <p:oleObj spid="_x0000_s155715" name="Equation" r:id="rId3" imgW="56083200" imgH="10058400" progId="Equation.DSMT4">
                  <p:embed/>
                </p:oleObj>
              </mc:Choice>
              <mc:Fallback>
                <p:oleObj name="Equation" r:id="rId3" imgW="56083200" imgH="10058400" progId="Equation.DSMT4">
                  <p:embed/>
                  <p:pic>
                    <p:nvPicPr>
                      <p:cNvPr id="0" name="Object 35"/>
                      <p:cNvPicPr>
                        <a:picLocks noChangeAspect="1" noChangeArrowheads="1"/>
                      </p:cNvPicPr>
                      <p:nvPr/>
                    </p:nvPicPr>
                    <p:blipFill>
                      <a:blip r:embed="rId4"/>
                      <a:srcRect/>
                      <a:stretch>
                        <a:fillRect/>
                      </a:stretch>
                    </p:blipFill>
                    <p:spPr bwMode="auto">
                      <a:xfrm>
                        <a:off x="4655840" y="1510369"/>
                        <a:ext cx="5623486" cy="1008560"/>
                      </a:xfrm>
                      <a:prstGeom prst="rect">
                        <a:avLst/>
                      </a:prstGeom>
                      <a:noFill/>
                      <a:ln>
                        <a:noFill/>
                      </a:ln>
                      <a:effectLst/>
                    </p:spPr>
                  </p:pic>
                </p:oleObj>
              </mc:Fallback>
            </mc:AlternateContent>
          </a:graphicData>
        </a:graphic>
      </p:graphicFrame>
      <p:sp>
        <p:nvSpPr>
          <p:cNvPr id="42020" name="Text Box 36"/>
          <p:cNvSpPr txBox="1">
            <a:spLocks noChangeArrowheads="1"/>
          </p:cNvSpPr>
          <p:nvPr/>
        </p:nvSpPr>
        <p:spPr bwMode="auto">
          <a:xfrm>
            <a:off x="2244554" y="2523494"/>
            <a:ext cx="185178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上节已算得</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2021" name="Object 37"/>
          <p:cNvGraphicFramePr>
            <a:graphicFrameLocks noChangeAspect="1"/>
          </p:cNvGraphicFramePr>
          <p:nvPr/>
        </p:nvGraphicFramePr>
        <p:xfrm>
          <a:off x="4169292" y="2510726"/>
          <a:ext cx="1684752" cy="519561"/>
        </p:xfrm>
        <a:graphic>
          <a:graphicData uri="http://schemas.openxmlformats.org/presentationml/2006/ole">
            <mc:AlternateContent xmlns:mc="http://schemas.openxmlformats.org/markup-compatibility/2006">
              <mc:Choice xmlns:v="urn:schemas-microsoft-com:vml" Requires="v">
                <p:oleObj spid="_x0000_s155716" name="Equation" r:id="rId5" imgW="21031200" imgH="5181600" progId="Equation.DSMT4">
                  <p:embed/>
                </p:oleObj>
              </mc:Choice>
              <mc:Fallback>
                <p:oleObj name="Equation" r:id="rId5" imgW="21031200" imgH="5181600" progId="Equation.DSMT4">
                  <p:embed/>
                  <p:pic>
                    <p:nvPicPr>
                      <p:cNvPr id="0" name="Object 37"/>
                      <p:cNvPicPr>
                        <a:picLocks noChangeAspect="1" noChangeArrowheads="1"/>
                      </p:cNvPicPr>
                      <p:nvPr/>
                    </p:nvPicPr>
                    <p:blipFill>
                      <a:blip r:embed="rId6"/>
                      <a:srcRect/>
                      <a:stretch>
                        <a:fillRect/>
                      </a:stretch>
                    </p:blipFill>
                    <p:spPr bwMode="auto">
                      <a:xfrm>
                        <a:off x="4169292" y="2510726"/>
                        <a:ext cx="1684752" cy="519561"/>
                      </a:xfrm>
                      <a:prstGeom prst="rect">
                        <a:avLst/>
                      </a:prstGeom>
                      <a:noFill/>
                      <a:ln>
                        <a:noFill/>
                      </a:ln>
                      <a:effectLst/>
                    </p:spPr>
                  </p:pic>
                </p:oleObj>
              </mc:Fallback>
            </mc:AlternateContent>
          </a:graphicData>
        </a:graphic>
      </p:graphicFrame>
      <p:graphicFrame>
        <p:nvGraphicFramePr>
          <p:cNvPr id="42022" name="Object 38"/>
          <p:cNvGraphicFramePr>
            <a:graphicFrameLocks noChangeAspect="1"/>
          </p:cNvGraphicFramePr>
          <p:nvPr/>
        </p:nvGraphicFramePr>
        <p:xfrm>
          <a:off x="2184007" y="3358162"/>
          <a:ext cx="3911993" cy="550124"/>
        </p:xfrm>
        <a:graphic>
          <a:graphicData uri="http://schemas.openxmlformats.org/presentationml/2006/ole">
            <mc:AlternateContent xmlns:mc="http://schemas.openxmlformats.org/markup-compatibility/2006">
              <mc:Choice xmlns:v="urn:schemas-microsoft-com:vml" Requires="v">
                <p:oleObj spid="_x0000_s155717" name="Equation" r:id="rId7" imgW="39014400" imgH="5486400" progId="Equation.DSMT4">
                  <p:embed/>
                </p:oleObj>
              </mc:Choice>
              <mc:Fallback>
                <p:oleObj name="Equation" r:id="rId7" imgW="39014400" imgH="5486400" progId="Equation.DSMT4">
                  <p:embed/>
                  <p:pic>
                    <p:nvPicPr>
                      <p:cNvPr id="0" name="Object 38"/>
                      <p:cNvPicPr>
                        <a:picLocks noChangeAspect="1" noChangeArrowheads="1"/>
                      </p:cNvPicPr>
                      <p:nvPr/>
                    </p:nvPicPr>
                    <p:blipFill>
                      <a:blip r:embed="rId8"/>
                      <a:srcRect/>
                      <a:stretch>
                        <a:fillRect/>
                      </a:stretch>
                    </p:blipFill>
                    <p:spPr bwMode="auto">
                      <a:xfrm>
                        <a:off x="2184007" y="3358162"/>
                        <a:ext cx="3911993" cy="550124"/>
                      </a:xfrm>
                      <a:prstGeom prst="rect">
                        <a:avLst/>
                      </a:prstGeom>
                      <a:noFill/>
                      <a:ln>
                        <a:noFill/>
                      </a:ln>
                      <a:effectLst/>
                    </p:spPr>
                  </p:pic>
                </p:oleObj>
              </mc:Fallback>
            </mc:AlternateContent>
          </a:graphicData>
        </a:graphic>
      </p:graphicFrame>
      <p:graphicFrame>
        <p:nvGraphicFramePr>
          <p:cNvPr id="42023" name="Object 39"/>
          <p:cNvGraphicFramePr>
            <a:graphicFrameLocks noChangeAspect="1"/>
          </p:cNvGraphicFramePr>
          <p:nvPr/>
        </p:nvGraphicFramePr>
        <p:xfrm>
          <a:off x="6096000" y="3416763"/>
          <a:ext cx="3392431" cy="488999"/>
        </p:xfrm>
        <a:graphic>
          <a:graphicData uri="http://schemas.openxmlformats.org/presentationml/2006/ole">
            <mc:AlternateContent xmlns:mc="http://schemas.openxmlformats.org/markup-compatibility/2006">
              <mc:Choice xmlns:v="urn:schemas-microsoft-com:vml" Requires="v">
                <p:oleObj spid="_x0000_s155718" name="Equation" r:id="rId9" imgW="33832800" imgH="4876800" progId="Equation.DSMT4">
                  <p:embed/>
                </p:oleObj>
              </mc:Choice>
              <mc:Fallback>
                <p:oleObj name="Equation" r:id="rId9" imgW="33832800" imgH="4876800" progId="Equation.DSMT4">
                  <p:embed/>
                  <p:pic>
                    <p:nvPicPr>
                      <p:cNvPr id="0" name="Object 39"/>
                      <p:cNvPicPr>
                        <a:picLocks noChangeAspect="1" noChangeArrowheads="1"/>
                      </p:cNvPicPr>
                      <p:nvPr/>
                    </p:nvPicPr>
                    <p:blipFill>
                      <a:blip r:embed="rId10"/>
                      <a:srcRect/>
                      <a:stretch>
                        <a:fillRect/>
                      </a:stretch>
                    </p:blipFill>
                    <p:spPr bwMode="auto">
                      <a:xfrm>
                        <a:off x="6096000" y="3416763"/>
                        <a:ext cx="3392431" cy="488999"/>
                      </a:xfrm>
                      <a:prstGeom prst="rect">
                        <a:avLst/>
                      </a:prstGeom>
                      <a:noFill/>
                      <a:ln>
                        <a:noFill/>
                      </a:ln>
                      <a:effectLst/>
                    </p:spPr>
                  </p:pic>
                </p:oleObj>
              </mc:Fallback>
            </mc:AlternateContent>
          </a:graphicData>
        </a:graphic>
      </p:graphicFrame>
      <p:graphicFrame>
        <p:nvGraphicFramePr>
          <p:cNvPr id="42024" name="Object 40"/>
          <p:cNvGraphicFramePr>
            <a:graphicFrameLocks noChangeAspect="1"/>
          </p:cNvGraphicFramePr>
          <p:nvPr/>
        </p:nvGraphicFramePr>
        <p:xfrm>
          <a:off x="3099279" y="4012944"/>
          <a:ext cx="3514679" cy="1069685"/>
        </p:xfrm>
        <a:graphic>
          <a:graphicData uri="http://schemas.openxmlformats.org/presentationml/2006/ole">
            <mc:AlternateContent xmlns:mc="http://schemas.openxmlformats.org/markup-compatibility/2006">
              <mc:Choice xmlns:v="urn:schemas-microsoft-com:vml" Requires="v">
                <p:oleObj spid="_x0000_s155719" name="Equation" r:id="rId11" imgW="35052000" imgH="10668000" progId="Equation.DSMT4">
                  <p:embed/>
                </p:oleObj>
              </mc:Choice>
              <mc:Fallback>
                <p:oleObj name="Equation" r:id="rId11" imgW="35052000" imgH="10668000" progId="Equation.DSMT4">
                  <p:embed/>
                  <p:pic>
                    <p:nvPicPr>
                      <p:cNvPr id="0" name="Object 40"/>
                      <p:cNvPicPr>
                        <a:picLocks noChangeAspect="1" noChangeArrowheads="1"/>
                      </p:cNvPicPr>
                      <p:nvPr/>
                    </p:nvPicPr>
                    <p:blipFill>
                      <a:blip r:embed="rId12"/>
                      <a:srcRect/>
                      <a:stretch>
                        <a:fillRect/>
                      </a:stretch>
                    </p:blipFill>
                    <p:spPr bwMode="auto">
                      <a:xfrm>
                        <a:off x="3099279" y="4012944"/>
                        <a:ext cx="3514679" cy="1069685"/>
                      </a:xfrm>
                      <a:prstGeom prst="rect">
                        <a:avLst/>
                      </a:prstGeom>
                      <a:noFill/>
                      <a:ln>
                        <a:noFill/>
                      </a:ln>
                      <a:effectLst/>
                    </p:spPr>
                  </p:pic>
                </p:oleObj>
              </mc:Fallback>
            </mc:AlternateContent>
          </a:graphicData>
        </a:graphic>
      </p:graphicFrame>
      <p:graphicFrame>
        <p:nvGraphicFramePr>
          <p:cNvPr id="42025" name="Object 41"/>
          <p:cNvGraphicFramePr>
            <a:graphicFrameLocks noChangeAspect="1"/>
          </p:cNvGraphicFramePr>
          <p:nvPr/>
        </p:nvGraphicFramePr>
        <p:xfrm>
          <a:off x="6613958" y="3995133"/>
          <a:ext cx="3331305" cy="1069685"/>
        </p:xfrm>
        <a:graphic>
          <a:graphicData uri="http://schemas.openxmlformats.org/presentationml/2006/ole">
            <mc:AlternateContent xmlns:mc="http://schemas.openxmlformats.org/markup-compatibility/2006">
              <mc:Choice xmlns:v="urn:schemas-microsoft-com:vml" Requires="v">
                <p:oleObj spid="_x0000_s155720" name="Equation" r:id="rId13" imgW="33223200" imgH="10668000" progId="Equation.DSMT4">
                  <p:embed/>
                </p:oleObj>
              </mc:Choice>
              <mc:Fallback>
                <p:oleObj name="Equation" r:id="rId13" imgW="33223200" imgH="10668000" progId="Equation.DSMT4">
                  <p:embed/>
                  <p:pic>
                    <p:nvPicPr>
                      <p:cNvPr id="0" name="Object 41"/>
                      <p:cNvPicPr>
                        <a:picLocks noChangeAspect="1" noChangeArrowheads="1"/>
                      </p:cNvPicPr>
                      <p:nvPr/>
                    </p:nvPicPr>
                    <p:blipFill>
                      <a:blip r:embed="rId14"/>
                      <a:srcRect/>
                      <a:stretch>
                        <a:fillRect/>
                      </a:stretch>
                    </p:blipFill>
                    <p:spPr bwMode="auto">
                      <a:xfrm>
                        <a:off x="6613958" y="3995133"/>
                        <a:ext cx="3331305" cy="1069685"/>
                      </a:xfrm>
                      <a:prstGeom prst="rect">
                        <a:avLst/>
                      </a:prstGeom>
                      <a:noFill/>
                      <a:ln>
                        <a:noFill/>
                      </a:ln>
                      <a:effectLst/>
                    </p:spPr>
                  </p:pic>
                </p:oleObj>
              </mc:Fallback>
            </mc:AlternateContent>
          </a:graphicData>
        </a:graphic>
      </p:graphicFrame>
      <p:graphicFrame>
        <p:nvGraphicFramePr>
          <p:cNvPr id="42026" name="Object 42"/>
          <p:cNvGraphicFramePr>
            <a:graphicFrameLocks noChangeAspect="1"/>
          </p:cNvGraphicFramePr>
          <p:nvPr/>
        </p:nvGraphicFramePr>
        <p:xfrm>
          <a:off x="3191658" y="5330320"/>
          <a:ext cx="3392431" cy="488999"/>
        </p:xfrm>
        <a:graphic>
          <a:graphicData uri="http://schemas.openxmlformats.org/presentationml/2006/ole">
            <mc:AlternateContent xmlns:mc="http://schemas.openxmlformats.org/markup-compatibility/2006">
              <mc:Choice xmlns:v="urn:schemas-microsoft-com:vml" Requires="v">
                <p:oleObj spid="_x0000_s155721" name="Equation" r:id="rId15" imgW="33832800" imgH="4876800" progId="Equation.DSMT4">
                  <p:embed/>
                </p:oleObj>
              </mc:Choice>
              <mc:Fallback>
                <p:oleObj name="Equation" r:id="rId15" imgW="33832800" imgH="4876800" progId="Equation.DSMT4">
                  <p:embed/>
                  <p:pic>
                    <p:nvPicPr>
                      <p:cNvPr id="0" name="Object 42"/>
                      <p:cNvPicPr>
                        <a:picLocks noChangeAspect="1" noChangeArrowheads="1"/>
                      </p:cNvPicPr>
                      <p:nvPr/>
                    </p:nvPicPr>
                    <p:blipFill>
                      <a:blip r:embed="rId16"/>
                      <a:srcRect/>
                      <a:stretch>
                        <a:fillRect/>
                      </a:stretch>
                    </p:blipFill>
                    <p:spPr bwMode="auto">
                      <a:xfrm>
                        <a:off x="3191658" y="5330320"/>
                        <a:ext cx="3392431" cy="488999"/>
                      </a:xfrm>
                      <a:prstGeom prst="rect">
                        <a:avLst/>
                      </a:prstGeom>
                      <a:noFill/>
                      <a:ln>
                        <a:noFill/>
                      </a:ln>
                      <a:effectLst/>
                    </p:spPr>
                  </p:pic>
                </p:oleObj>
              </mc:Fallback>
            </mc:AlternateContent>
          </a:graphicData>
        </a:graphic>
      </p:graphicFrame>
      <p:cxnSp>
        <p:nvCxnSpPr>
          <p:cNvPr id="15" name="直接连接符 14"/>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7" name="组合 16"/>
          <p:cNvGrpSpPr/>
          <p:nvPr/>
        </p:nvGrpSpPr>
        <p:grpSpPr>
          <a:xfrm>
            <a:off x="851761" y="364781"/>
            <a:ext cx="263341" cy="395013"/>
            <a:chOff x="5284519" y="1508166"/>
            <a:chExt cx="213756" cy="427512"/>
          </a:xfrm>
        </p:grpSpPr>
        <p:cxnSp>
          <p:nvCxnSpPr>
            <p:cNvPr id="18" name="直接连接符 1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9" name="直接连接符 1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015"/>
                                        </p:tgtEl>
                                        <p:attrNameLst>
                                          <p:attrName>style.visibility</p:attrName>
                                        </p:attrNameLst>
                                      </p:cBhvr>
                                      <p:to>
                                        <p:strVal val="visible"/>
                                      </p:to>
                                    </p:set>
                                    <p:anim calcmode="lin" valueType="num">
                                      <p:cBhvr additive="base">
                                        <p:cTn id="7" dur="500" fill="hold"/>
                                        <p:tgtEl>
                                          <p:spTgt spid="42015"/>
                                        </p:tgtEl>
                                        <p:attrNameLst>
                                          <p:attrName>ppt_x</p:attrName>
                                        </p:attrNameLst>
                                      </p:cBhvr>
                                      <p:tavLst>
                                        <p:tav tm="0">
                                          <p:val>
                                            <p:strVal val="0-#ppt_w/2"/>
                                          </p:val>
                                        </p:tav>
                                        <p:tav tm="100000">
                                          <p:val>
                                            <p:strVal val="#ppt_x"/>
                                          </p:val>
                                        </p:tav>
                                      </p:tavLst>
                                    </p:anim>
                                    <p:anim calcmode="lin" valueType="num">
                                      <p:cBhvr additive="base">
                                        <p:cTn id="8" dur="500" fill="hold"/>
                                        <p:tgtEl>
                                          <p:spTgt spid="420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2016"/>
                                        </p:tgtEl>
                                        <p:attrNameLst>
                                          <p:attrName>style.visibility</p:attrName>
                                        </p:attrNameLst>
                                      </p:cBhvr>
                                      <p:to>
                                        <p:strVal val="visible"/>
                                      </p:to>
                                    </p:set>
                                    <p:anim calcmode="lin" valueType="num">
                                      <p:cBhvr additive="base">
                                        <p:cTn id="13" dur="500" fill="hold"/>
                                        <p:tgtEl>
                                          <p:spTgt spid="42016"/>
                                        </p:tgtEl>
                                        <p:attrNameLst>
                                          <p:attrName>ppt_x</p:attrName>
                                        </p:attrNameLst>
                                      </p:cBhvr>
                                      <p:tavLst>
                                        <p:tav tm="0">
                                          <p:val>
                                            <p:strVal val="0-#ppt_w/2"/>
                                          </p:val>
                                        </p:tav>
                                        <p:tav tm="100000">
                                          <p:val>
                                            <p:strVal val="#ppt_x"/>
                                          </p:val>
                                        </p:tav>
                                      </p:tavLst>
                                    </p:anim>
                                    <p:anim calcmode="lin" valueType="num">
                                      <p:cBhvr additive="base">
                                        <p:cTn id="14" dur="500" fill="hold"/>
                                        <p:tgtEl>
                                          <p:spTgt spid="420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2018"/>
                                        </p:tgtEl>
                                        <p:attrNameLst>
                                          <p:attrName>style.visibility</p:attrName>
                                        </p:attrNameLst>
                                      </p:cBhvr>
                                      <p:to>
                                        <p:strVal val="visible"/>
                                      </p:to>
                                    </p:set>
                                    <p:anim calcmode="lin" valueType="num">
                                      <p:cBhvr additive="base">
                                        <p:cTn id="19" dur="500" fill="hold"/>
                                        <p:tgtEl>
                                          <p:spTgt spid="42018"/>
                                        </p:tgtEl>
                                        <p:attrNameLst>
                                          <p:attrName>ppt_x</p:attrName>
                                        </p:attrNameLst>
                                      </p:cBhvr>
                                      <p:tavLst>
                                        <p:tav tm="0">
                                          <p:val>
                                            <p:strVal val="0-#ppt_w/2"/>
                                          </p:val>
                                        </p:tav>
                                        <p:tav tm="100000">
                                          <p:val>
                                            <p:strVal val="#ppt_x"/>
                                          </p:val>
                                        </p:tav>
                                      </p:tavLst>
                                    </p:anim>
                                    <p:anim calcmode="lin" valueType="num">
                                      <p:cBhvr additive="base">
                                        <p:cTn id="20" dur="500" fill="hold"/>
                                        <p:tgtEl>
                                          <p:spTgt spid="4201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2019"/>
                                        </p:tgtEl>
                                        <p:attrNameLst>
                                          <p:attrName>style.visibility</p:attrName>
                                        </p:attrNameLst>
                                      </p:cBhvr>
                                      <p:to>
                                        <p:strVal val="visible"/>
                                      </p:to>
                                    </p:set>
                                    <p:anim calcmode="lin" valueType="num">
                                      <p:cBhvr additive="base">
                                        <p:cTn id="25" dur="500" fill="hold"/>
                                        <p:tgtEl>
                                          <p:spTgt spid="42019"/>
                                        </p:tgtEl>
                                        <p:attrNameLst>
                                          <p:attrName>ppt_x</p:attrName>
                                        </p:attrNameLst>
                                      </p:cBhvr>
                                      <p:tavLst>
                                        <p:tav tm="0">
                                          <p:val>
                                            <p:strVal val="0-#ppt_w/2"/>
                                          </p:val>
                                        </p:tav>
                                        <p:tav tm="100000">
                                          <p:val>
                                            <p:strVal val="#ppt_x"/>
                                          </p:val>
                                        </p:tav>
                                      </p:tavLst>
                                    </p:anim>
                                    <p:anim calcmode="lin" valueType="num">
                                      <p:cBhvr additive="base">
                                        <p:cTn id="26" dur="500" fill="hold"/>
                                        <p:tgtEl>
                                          <p:spTgt spid="4201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2020"/>
                                        </p:tgtEl>
                                        <p:attrNameLst>
                                          <p:attrName>style.visibility</p:attrName>
                                        </p:attrNameLst>
                                      </p:cBhvr>
                                      <p:to>
                                        <p:strVal val="visible"/>
                                      </p:to>
                                    </p:set>
                                    <p:anim calcmode="lin" valueType="num">
                                      <p:cBhvr additive="base">
                                        <p:cTn id="31" dur="500" fill="hold"/>
                                        <p:tgtEl>
                                          <p:spTgt spid="42020"/>
                                        </p:tgtEl>
                                        <p:attrNameLst>
                                          <p:attrName>ppt_x</p:attrName>
                                        </p:attrNameLst>
                                      </p:cBhvr>
                                      <p:tavLst>
                                        <p:tav tm="0">
                                          <p:val>
                                            <p:strVal val="0-#ppt_w/2"/>
                                          </p:val>
                                        </p:tav>
                                        <p:tav tm="100000">
                                          <p:val>
                                            <p:strVal val="#ppt_x"/>
                                          </p:val>
                                        </p:tav>
                                      </p:tavLst>
                                    </p:anim>
                                    <p:anim calcmode="lin" valueType="num">
                                      <p:cBhvr additive="base">
                                        <p:cTn id="32" dur="500" fill="hold"/>
                                        <p:tgtEl>
                                          <p:spTgt spid="420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42021"/>
                                        </p:tgtEl>
                                        <p:attrNameLst>
                                          <p:attrName>style.visibility</p:attrName>
                                        </p:attrNameLst>
                                      </p:cBhvr>
                                      <p:to>
                                        <p:strVal val="visible"/>
                                      </p:to>
                                    </p:set>
                                    <p:anim calcmode="lin" valueType="num">
                                      <p:cBhvr additive="base">
                                        <p:cTn id="37" dur="500" fill="hold"/>
                                        <p:tgtEl>
                                          <p:spTgt spid="42021"/>
                                        </p:tgtEl>
                                        <p:attrNameLst>
                                          <p:attrName>ppt_x</p:attrName>
                                        </p:attrNameLst>
                                      </p:cBhvr>
                                      <p:tavLst>
                                        <p:tav tm="0">
                                          <p:val>
                                            <p:strVal val="0-#ppt_w/2"/>
                                          </p:val>
                                        </p:tav>
                                        <p:tav tm="100000">
                                          <p:val>
                                            <p:strVal val="#ppt_x"/>
                                          </p:val>
                                        </p:tav>
                                      </p:tavLst>
                                    </p:anim>
                                    <p:anim calcmode="lin" valueType="num">
                                      <p:cBhvr additive="base">
                                        <p:cTn id="38" dur="500" fill="hold"/>
                                        <p:tgtEl>
                                          <p:spTgt spid="420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4" presetClass="entr" presetSubtype="0" fill="hold" nodeType="clickEffect">
                                  <p:stCondLst>
                                    <p:cond delay="0"/>
                                  </p:stCondLst>
                                  <p:childTnLst>
                                    <p:set>
                                      <p:cBhvr>
                                        <p:cTn id="42" dur="1" fill="hold">
                                          <p:stCondLst>
                                            <p:cond delay="499"/>
                                          </p:stCondLst>
                                        </p:cTn>
                                        <p:tgtEl>
                                          <p:spTgt spid="42022"/>
                                        </p:tgtEl>
                                        <p:attrNameLst>
                                          <p:attrName>style.visibility</p:attrName>
                                        </p:attrNameLst>
                                      </p:cBhvr>
                                      <p:to>
                                        <p:strVal val="visible"/>
                                      </p:to>
                                    </p:set>
                                    <p:anim to="" calcmode="lin" valueType="num">
                                      <p:cBhvr>
                                        <p:cTn id="43" dur="1" fill="hold"/>
                                        <p:tgtEl>
                                          <p:spTgt spid="42022"/>
                                        </p:tgtEl>
                                      </p:cBhvr>
                                    </p:anim>
                                  </p:childTnLst>
                                </p:cTn>
                              </p:par>
                            </p:childTnLst>
                          </p:cTn>
                        </p:par>
                      </p:childTnLst>
                    </p:cTn>
                  </p:par>
                  <p:par>
                    <p:cTn id="44" fill="hold">
                      <p:stCondLst>
                        <p:cond delay="indefinite"/>
                      </p:stCondLst>
                      <p:childTnLst>
                        <p:par>
                          <p:cTn id="45" fill="hold">
                            <p:stCondLst>
                              <p:cond delay="0"/>
                            </p:stCondLst>
                            <p:childTnLst>
                              <p:par>
                                <p:cTn id="46" presetID="24" presetClass="entr" presetSubtype="0" fill="hold" nodeType="clickEffect">
                                  <p:stCondLst>
                                    <p:cond delay="0"/>
                                  </p:stCondLst>
                                  <p:childTnLst>
                                    <p:set>
                                      <p:cBhvr>
                                        <p:cTn id="47" dur="1" fill="hold">
                                          <p:stCondLst>
                                            <p:cond delay="499"/>
                                          </p:stCondLst>
                                        </p:cTn>
                                        <p:tgtEl>
                                          <p:spTgt spid="42023"/>
                                        </p:tgtEl>
                                        <p:attrNameLst>
                                          <p:attrName>style.visibility</p:attrName>
                                        </p:attrNameLst>
                                      </p:cBhvr>
                                      <p:to>
                                        <p:strVal val="visible"/>
                                      </p:to>
                                    </p:set>
                                    <p:anim to="" calcmode="lin" valueType="num">
                                      <p:cBhvr>
                                        <p:cTn id="48" dur="1" fill="hold"/>
                                        <p:tgtEl>
                                          <p:spTgt spid="42023"/>
                                        </p:tgtEl>
                                      </p:cBhvr>
                                    </p:anim>
                                  </p:childTnLst>
                                </p:cTn>
                              </p:par>
                            </p:childTnLst>
                          </p:cTn>
                        </p:par>
                      </p:childTnLst>
                    </p:cTn>
                  </p:par>
                  <p:par>
                    <p:cTn id="49" fill="hold">
                      <p:stCondLst>
                        <p:cond delay="indefinite"/>
                      </p:stCondLst>
                      <p:childTnLst>
                        <p:par>
                          <p:cTn id="50" fill="hold">
                            <p:stCondLst>
                              <p:cond delay="0"/>
                            </p:stCondLst>
                            <p:childTnLst>
                              <p:par>
                                <p:cTn id="51" presetID="24" presetClass="entr" presetSubtype="0" fill="hold" nodeType="clickEffect">
                                  <p:stCondLst>
                                    <p:cond delay="0"/>
                                  </p:stCondLst>
                                  <p:childTnLst>
                                    <p:set>
                                      <p:cBhvr>
                                        <p:cTn id="52" dur="1" fill="hold">
                                          <p:stCondLst>
                                            <p:cond delay="499"/>
                                          </p:stCondLst>
                                        </p:cTn>
                                        <p:tgtEl>
                                          <p:spTgt spid="42024"/>
                                        </p:tgtEl>
                                        <p:attrNameLst>
                                          <p:attrName>style.visibility</p:attrName>
                                        </p:attrNameLst>
                                      </p:cBhvr>
                                      <p:to>
                                        <p:strVal val="visible"/>
                                      </p:to>
                                    </p:set>
                                    <p:anim to="" calcmode="lin" valueType="num">
                                      <p:cBhvr>
                                        <p:cTn id="53" dur="1" fill="hold"/>
                                        <p:tgtEl>
                                          <p:spTgt spid="42024"/>
                                        </p:tgtEl>
                                      </p:cBhvr>
                                    </p:anim>
                                  </p:childTnLst>
                                </p:cTn>
                              </p:par>
                            </p:childTnLst>
                          </p:cTn>
                        </p:par>
                      </p:childTnLst>
                    </p:cTn>
                  </p:par>
                  <p:par>
                    <p:cTn id="54" fill="hold">
                      <p:stCondLst>
                        <p:cond delay="indefinite"/>
                      </p:stCondLst>
                      <p:childTnLst>
                        <p:par>
                          <p:cTn id="55" fill="hold">
                            <p:stCondLst>
                              <p:cond delay="0"/>
                            </p:stCondLst>
                            <p:childTnLst>
                              <p:par>
                                <p:cTn id="56" presetID="24" presetClass="entr" presetSubtype="0" fill="hold" nodeType="clickEffect">
                                  <p:stCondLst>
                                    <p:cond delay="0"/>
                                  </p:stCondLst>
                                  <p:childTnLst>
                                    <p:set>
                                      <p:cBhvr>
                                        <p:cTn id="57" dur="1" fill="hold">
                                          <p:stCondLst>
                                            <p:cond delay="499"/>
                                          </p:stCondLst>
                                        </p:cTn>
                                        <p:tgtEl>
                                          <p:spTgt spid="42025"/>
                                        </p:tgtEl>
                                        <p:attrNameLst>
                                          <p:attrName>style.visibility</p:attrName>
                                        </p:attrNameLst>
                                      </p:cBhvr>
                                      <p:to>
                                        <p:strVal val="visible"/>
                                      </p:to>
                                    </p:set>
                                    <p:anim to="" calcmode="lin" valueType="num">
                                      <p:cBhvr>
                                        <p:cTn id="58" dur="1" fill="hold"/>
                                        <p:tgtEl>
                                          <p:spTgt spid="42025"/>
                                        </p:tgtEl>
                                      </p:cBhvr>
                                    </p:anim>
                                  </p:childTnLst>
                                </p:cTn>
                              </p:par>
                            </p:childTnLst>
                          </p:cTn>
                        </p:par>
                      </p:childTnLst>
                    </p:cTn>
                  </p:par>
                  <p:par>
                    <p:cTn id="59" fill="hold">
                      <p:stCondLst>
                        <p:cond delay="indefinite"/>
                      </p:stCondLst>
                      <p:childTnLst>
                        <p:par>
                          <p:cTn id="60" fill="hold">
                            <p:stCondLst>
                              <p:cond delay="0"/>
                            </p:stCondLst>
                            <p:childTnLst>
                              <p:par>
                                <p:cTn id="61" presetID="24" presetClass="entr" presetSubtype="0" fill="hold" nodeType="clickEffect">
                                  <p:stCondLst>
                                    <p:cond delay="0"/>
                                  </p:stCondLst>
                                  <p:childTnLst>
                                    <p:set>
                                      <p:cBhvr>
                                        <p:cTn id="62" dur="1" fill="hold">
                                          <p:stCondLst>
                                            <p:cond delay="499"/>
                                          </p:stCondLst>
                                        </p:cTn>
                                        <p:tgtEl>
                                          <p:spTgt spid="42026"/>
                                        </p:tgtEl>
                                        <p:attrNameLst>
                                          <p:attrName>style.visibility</p:attrName>
                                        </p:attrNameLst>
                                      </p:cBhvr>
                                      <p:to>
                                        <p:strVal val="visible"/>
                                      </p:to>
                                    </p:set>
                                    <p:anim to="" calcmode="lin" valueType="num">
                                      <p:cBhvr>
                                        <p:cTn id="63" dur="1" fill="hold"/>
                                        <p:tgtEl>
                                          <p:spTgt spid="42026"/>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5" grpId="0" bldLvl="0" animBg="1"/>
      <p:bldP spid="42018" grpId="0" bldLvl="0" animBg="1" autoUpdateAnimBg="0"/>
      <p:bldP spid="42020" grpId="0" bldLvl="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045" name="Object 85"/>
          <p:cNvGraphicFramePr>
            <a:graphicFrameLocks noChangeAspect="1"/>
          </p:cNvGraphicFramePr>
          <p:nvPr/>
        </p:nvGraphicFramePr>
        <p:xfrm>
          <a:off x="1414110" y="4005064"/>
          <a:ext cx="9363779" cy="1626515"/>
        </p:xfrm>
        <a:graphic>
          <a:graphicData uri="http://schemas.openxmlformats.org/presentationml/2006/ole">
            <mc:AlternateContent xmlns:mc="http://schemas.openxmlformats.org/markup-compatibility/2006">
              <mc:Choice xmlns:v="urn:schemas-microsoft-com:vml" Requires="v">
                <p:oleObj spid="_x0000_s156698" name="Equation" r:id="rId1" imgW="92964000" imgH="16154400" progId="Equation.DSMT4">
                  <p:embed/>
                </p:oleObj>
              </mc:Choice>
              <mc:Fallback>
                <p:oleObj name="Equation" r:id="rId1" imgW="92964000" imgH="16154400" progId="Equation.DSMT4">
                  <p:embed/>
                  <p:pic>
                    <p:nvPicPr>
                      <p:cNvPr id="0" name="Object 85"/>
                      <p:cNvPicPr>
                        <a:picLocks noChangeAspect="1" noChangeArrowheads="1"/>
                      </p:cNvPicPr>
                      <p:nvPr/>
                    </p:nvPicPr>
                    <p:blipFill>
                      <a:blip r:embed="rId2"/>
                      <a:srcRect/>
                      <a:stretch>
                        <a:fillRect/>
                      </a:stretch>
                    </p:blipFill>
                    <p:spPr bwMode="auto">
                      <a:xfrm>
                        <a:off x="1414110" y="4005064"/>
                        <a:ext cx="9363779" cy="1626515"/>
                      </a:xfrm>
                      <a:prstGeom prst="rect">
                        <a:avLst/>
                      </a:prstGeom>
                      <a:noFill/>
                      <a:ln>
                        <a:noFill/>
                      </a:ln>
                      <a:effectLst/>
                    </p:spPr>
                  </p:pic>
                </p:oleObj>
              </mc:Fallback>
            </mc:AlternateContent>
          </a:graphicData>
        </a:graphic>
      </p:graphicFrame>
      <p:graphicFrame>
        <p:nvGraphicFramePr>
          <p:cNvPr id="41046" name="Object 86"/>
          <p:cNvGraphicFramePr>
            <a:graphicFrameLocks noChangeAspect="1"/>
          </p:cNvGraphicFramePr>
          <p:nvPr/>
        </p:nvGraphicFramePr>
        <p:xfrm>
          <a:off x="3719736" y="1268602"/>
          <a:ext cx="4233689" cy="529210"/>
        </p:xfrm>
        <a:graphic>
          <a:graphicData uri="http://schemas.openxmlformats.org/presentationml/2006/ole">
            <mc:AlternateContent xmlns:mc="http://schemas.openxmlformats.org/markup-compatibility/2006">
              <mc:Choice xmlns:v="urn:schemas-microsoft-com:vml" Requires="v">
                <p:oleObj spid="_x0000_s156699" name="Equation" r:id="rId3" imgW="44196000" imgH="5486400" progId="Equation.DSMT4">
                  <p:embed/>
                </p:oleObj>
              </mc:Choice>
              <mc:Fallback>
                <p:oleObj name="Equation" r:id="rId3" imgW="44196000" imgH="5486400" progId="Equation.DSMT4">
                  <p:embed/>
                  <p:pic>
                    <p:nvPicPr>
                      <p:cNvPr id="0" name="Object 86"/>
                      <p:cNvPicPr>
                        <a:picLocks noChangeAspect="1" noChangeArrowheads="1"/>
                      </p:cNvPicPr>
                      <p:nvPr/>
                    </p:nvPicPr>
                    <p:blipFill>
                      <a:blip r:embed="rId4"/>
                      <a:srcRect/>
                      <a:stretch>
                        <a:fillRect/>
                      </a:stretch>
                    </p:blipFill>
                    <p:spPr bwMode="auto">
                      <a:xfrm>
                        <a:off x="3719736" y="1268602"/>
                        <a:ext cx="4233689" cy="529210"/>
                      </a:xfrm>
                      <a:prstGeom prst="rect">
                        <a:avLst/>
                      </a:prstGeom>
                      <a:noFill/>
                      <a:ln>
                        <a:noFill/>
                      </a:ln>
                      <a:effectLst/>
                    </p:spPr>
                  </p:pic>
                </p:oleObj>
              </mc:Fallback>
            </mc:AlternateContent>
          </a:graphicData>
        </a:graphic>
      </p:graphicFrame>
      <p:sp>
        <p:nvSpPr>
          <p:cNvPr id="41047" name="Text Box 87"/>
          <p:cNvSpPr txBox="1">
            <a:spLocks noChangeArrowheads="1"/>
          </p:cNvSpPr>
          <p:nvPr/>
        </p:nvSpPr>
        <p:spPr bwMode="auto">
          <a:xfrm>
            <a:off x="1419264" y="2101439"/>
            <a:ext cx="251863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因此，泊松分布</a:t>
            </a:r>
            <a:endPar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1048" name="Object 88"/>
          <p:cNvGraphicFramePr>
            <a:graphicFrameLocks noChangeAspect="1"/>
          </p:cNvGraphicFramePr>
          <p:nvPr/>
        </p:nvGraphicFramePr>
        <p:xfrm>
          <a:off x="4295800" y="3040395"/>
          <a:ext cx="2854719" cy="447799"/>
        </p:xfrm>
        <a:graphic>
          <a:graphicData uri="http://schemas.openxmlformats.org/presentationml/2006/ole">
            <mc:AlternateContent xmlns:mc="http://schemas.openxmlformats.org/markup-compatibility/2006">
              <mc:Choice xmlns:v="urn:schemas-microsoft-com:vml" Requires="v">
                <p:oleObj spid="_x0000_s156700" name="Equation" r:id="rId5" imgW="31089600" imgH="4876800" progId="Equation.DSMT4">
                  <p:embed/>
                </p:oleObj>
              </mc:Choice>
              <mc:Fallback>
                <p:oleObj name="Equation" r:id="rId5" imgW="31089600" imgH="4876800" progId="Equation.DSMT4">
                  <p:embed/>
                  <p:pic>
                    <p:nvPicPr>
                      <p:cNvPr id="0" name="Object 88"/>
                      <p:cNvPicPr>
                        <a:picLocks noChangeAspect="1" noChangeArrowheads="1"/>
                      </p:cNvPicPr>
                      <p:nvPr/>
                    </p:nvPicPr>
                    <p:blipFill>
                      <a:blip r:embed="rId6"/>
                      <a:srcRect/>
                      <a:stretch>
                        <a:fillRect/>
                      </a:stretch>
                    </p:blipFill>
                    <p:spPr bwMode="auto">
                      <a:xfrm>
                        <a:off x="4295800" y="3040395"/>
                        <a:ext cx="2854719" cy="447799"/>
                      </a:xfrm>
                      <a:prstGeom prst="rect">
                        <a:avLst/>
                      </a:prstGeom>
                      <a:solidFill>
                        <a:srgbClr val="C00000"/>
                      </a:solidFill>
                      <a:ln>
                        <a:noFill/>
                      </a:ln>
                      <a:effectLst/>
                    </p:spPr>
                  </p:pic>
                </p:oleObj>
              </mc:Fallback>
            </mc:AlternateContent>
          </a:graphicData>
        </a:graphic>
      </p:graphicFrame>
      <p:cxnSp>
        <p:nvCxnSpPr>
          <p:cNvPr id="6" name="直接连接符 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1046"/>
                                        </p:tgtEl>
                                        <p:attrNameLst>
                                          <p:attrName>style.visibility</p:attrName>
                                        </p:attrNameLst>
                                      </p:cBhvr>
                                      <p:to>
                                        <p:strVal val="visible"/>
                                      </p:to>
                                    </p:set>
                                    <p:anim calcmode="lin" valueType="num">
                                      <p:cBhvr additive="base">
                                        <p:cTn id="7" dur="500" fill="hold"/>
                                        <p:tgtEl>
                                          <p:spTgt spid="41046"/>
                                        </p:tgtEl>
                                        <p:attrNameLst>
                                          <p:attrName>ppt_x</p:attrName>
                                        </p:attrNameLst>
                                      </p:cBhvr>
                                      <p:tavLst>
                                        <p:tav tm="0">
                                          <p:val>
                                            <p:strVal val="0-#ppt_w/2"/>
                                          </p:val>
                                        </p:tav>
                                        <p:tav tm="100000">
                                          <p:val>
                                            <p:strVal val="#ppt_x"/>
                                          </p:val>
                                        </p:tav>
                                      </p:tavLst>
                                    </p:anim>
                                    <p:anim calcmode="lin" valueType="num">
                                      <p:cBhvr additive="base">
                                        <p:cTn id="8" dur="500" fill="hold"/>
                                        <p:tgtEl>
                                          <p:spTgt spid="410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4" presetClass="entr" presetSubtype="0" fill="hold" grpId="0" nodeType="clickEffect">
                                  <p:stCondLst>
                                    <p:cond delay="0"/>
                                  </p:stCondLst>
                                  <p:childTnLst>
                                    <p:set>
                                      <p:cBhvr>
                                        <p:cTn id="12" dur="1" fill="hold">
                                          <p:stCondLst>
                                            <p:cond delay="499"/>
                                          </p:stCondLst>
                                        </p:cTn>
                                        <p:tgtEl>
                                          <p:spTgt spid="41047"/>
                                        </p:tgtEl>
                                        <p:attrNameLst>
                                          <p:attrName>style.visibility</p:attrName>
                                        </p:attrNameLst>
                                      </p:cBhvr>
                                      <p:to>
                                        <p:strVal val="visible"/>
                                      </p:to>
                                    </p:set>
                                    <p:anim to="" calcmode="lin" valueType="num">
                                      <p:cBhvr>
                                        <p:cTn id="13" dur="1" fill="hold"/>
                                        <p:tgtEl>
                                          <p:spTgt spid="41047"/>
                                        </p:tgtEl>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nodeType="clickEffect">
                                  <p:stCondLst>
                                    <p:cond delay="0"/>
                                  </p:stCondLst>
                                  <p:childTnLst>
                                    <p:set>
                                      <p:cBhvr>
                                        <p:cTn id="17" dur="1" fill="hold">
                                          <p:stCondLst>
                                            <p:cond delay="499"/>
                                          </p:stCondLst>
                                        </p:cTn>
                                        <p:tgtEl>
                                          <p:spTgt spid="41048"/>
                                        </p:tgtEl>
                                        <p:attrNameLst>
                                          <p:attrName>style.visibility</p:attrName>
                                        </p:attrNameLst>
                                      </p:cBhvr>
                                      <p:to>
                                        <p:strVal val="visible"/>
                                      </p:to>
                                    </p:set>
                                    <p:anim to="" calcmode="lin" valueType="num">
                                      <p:cBhvr>
                                        <p:cTn id="18" dur="1" fill="hold"/>
                                        <p:tgtEl>
                                          <p:spTgt spid="41048"/>
                                        </p:tgtEl>
                                      </p:cBhvr>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nodeType="clickEffect">
                                  <p:stCondLst>
                                    <p:cond delay="0"/>
                                  </p:stCondLst>
                                  <p:childTnLst>
                                    <p:set>
                                      <p:cBhvr>
                                        <p:cTn id="22" dur="1" fill="hold">
                                          <p:stCondLst>
                                            <p:cond delay="499"/>
                                          </p:stCondLst>
                                        </p:cTn>
                                        <p:tgtEl>
                                          <p:spTgt spid="41045"/>
                                        </p:tgtEl>
                                        <p:attrNameLst>
                                          <p:attrName>style.visibility</p:attrName>
                                        </p:attrNameLst>
                                      </p:cBhvr>
                                      <p:to>
                                        <p:strVal val="visible"/>
                                      </p:to>
                                    </p:set>
                                    <p:anim to="" calcmode="lin" valueType="num">
                                      <p:cBhvr>
                                        <p:cTn id="23" dur="1" fill="hold"/>
                                        <p:tgtEl>
                                          <p:spTgt spid="4104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47" grpId="0" bldLvl="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25" name="Text Box 29"/>
          <p:cNvSpPr txBox="1">
            <a:spLocks noChangeArrowheads="1"/>
          </p:cNvSpPr>
          <p:nvPr/>
        </p:nvSpPr>
        <p:spPr bwMode="auto">
          <a:xfrm>
            <a:off x="1422604" y="1071342"/>
            <a:ext cx="8130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5326" name="Object 30"/>
          <p:cNvGraphicFramePr>
            <a:graphicFrameLocks noChangeAspect="1"/>
          </p:cNvGraphicFramePr>
          <p:nvPr/>
        </p:nvGraphicFramePr>
        <p:xfrm>
          <a:off x="2363950" y="1108047"/>
          <a:ext cx="3563723" cy="484666"/>
        </p:xfrm>
        <a:graphic>
          <a:graphicData uri="http://schemas.openxmlformats.org/presentationml/2006/ole">
            <mc:AlternateContent xmlns:mc="http://schemas.openxmlformats.org/markup-compatibility/2006">
              <mc:Choice xmlns:v="urn:schemas-microsoft-com:vml" Requires="v">
                <p:oleObj spid="_x0000_s157746" name="Equation" r:id="rId1" imgW="38100000" imgH="5181600" progId="Equation.DSMT4">
                  <p:embed/>
                </p:oleObj>
              </mc:Choice>
              <mc:Fallback>
                <p:oleObj name="Equation" r:id="rId1" imgW="38100000" imgH="5181600" progId="Equation.DSMT4">
                  <p:embed/>
                  <p:pic>
                    <p:nvPicPr>
                      <p:cNvPr id="0" name="Object 30"/>
                      <p:cNvPicPr>
                        <a:picLocks noChangeAspect="1" noChangeArrowheads="1"/>
                      </p:cNvPicPr>
                      <p:nvPr/>
                    </p:nvPicPr>
                    <p:blipFill>
                      <a:blip r:embed="rId2"/>
                      <a:srcRect/>
                      <a:stretch>
                        <a:fillRect/>
                      </a:stretch>
                    </p:blipFill>
                    <p:spPr bwMode="auto">
                      <a:xfrm>
                        <a:off x="2363950" y="1108047"/>
                        <a:ext cx="3563723" cy="484666"/>
                      </a:xfrm>
                      <a:prstGeom prst="rect">
                        <a:avLst/>
                      </a:prstGeom>
                      <a:noFill/>
                      <a:ln>
                        <a:noFill/>
                      </a:ln>
                      <a:effectLst/>
                    </p:spPr>
                  </p:pic>
                </p:oleObj>
              </mc:Fallback>
            </mc:AlternateContent>
          </a:graphicData>
        </a:graphic>
      </p:graphicFrame>
      <p:sp>
        <p:nvSpPr>
          <p:cNvPr id="55327" name="Text Box 31"/>
          <p:cNvSpPr txBox="1">
            <a:spLocks noChangeArrowheads="1"/>
          </p:cNvSpPr>
          <p:nvPr/>
        </p:nvSpPr>
        <p:spPr bwMode="auto">
          <a:xfrm>
            <a:off x="1680393" y="1948885"/>
            <a:ext cx="633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解 </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5328" name="Object 32"/>
          <p:cNvGraphicFramePr>
            <a:graphicFrameLocks noChangeAspect="1"/>
          </p:cNvGraphicFramePr>
          <p:nvPr/>
        </p:nvGraphicFramePr>
        <p:xfrm>
          <a:off x="2423592" y="1994353"/>
          <a:ext cx="2508861" cy="484666"/>
        </p:xfrm>
        <a:graphic>
          <a:graphicData uri="http://schemas.openxmlformats.org/presentationml/2006/ole">
            <mc:AlternateContent xmlns:mc="http://schemas.openxmlformats.org/markup-compatibility/2006">
              <mc:Choice xmlns:v="urn:schemas-microsoft-com:vml" Requires="v">
                <p:oleObj spid="_x0000_s157747" name="Equation" r:id="rId3" imgW="26822400" imgH="5181600" progId="Equation.DSMT4">
                  <p:embed/>
                </p:oleObj>
              </mc:Choice>
              <mc:Fallback>
                <p:oleObj name="Equation" r:id="rId3" imgW="26822400" imgH="5181600" progId="Equation.DSMT4">
                  <p:embed/>
                  <p:pic>
                    <p:nvPicPr>
                      <p:cNvPr id="0" name="Object 32"/>
                      <p:cNvPicPr>
                        <a:picLocks noChangeAspect="1" noChangeArrowheads="1"/>
                      </p:cNvPicPr>
                      <p:nvPr/>
                    </p:nvPicPr>
                    <p:blipFill>
                      <a:blip r:embed="rId4"/>
                      <a:srcRect/>
                      <a:stretch>
                        <a:fillRect/>
                      </a:stretch>
                    </p:blipFill>
                    <p:spPr bwMode="auto">
                      <a:xfrm>
                        <a:off x="2423592" y="1994353"/>
                        <a:ext cx="2508861" cy="484666"/>
                      </a:xfrm>
                      <a:prstGeom prst="rect">
                        <a:avLst/>
                      </a:prstGeom>
                      <a:noFill/>
                      <a:ln>
                        <a:noFill/>
                      </a:ln>
                      <a:effectLst/>
                    </p:spPr>
                  </p:pic>
                </p:oleObj>
              </mc:Fallback>
            </mc:AlternateContent>
          </a:graphicData>
        </a:graphic>
      </p:graphicFrame>
      <p:graphicFrame>
        <p:nvGraphicFramePr>
          <p:cNvPr id="55329" name="Object 33"/>
          <p:cNvGraphicFramePr>
            <a:graphicFrameLocks noChangeAspect="1"/>
          </p:cNvGraphicFramePr>
          <p:nvPr/>
        </p:nvGraphicFramePr>
        <p:xfrm>
          <a:off x="5095284" y="1501650"/>
          <a:ext cx="3506702" cy="1482508"/>
        </p:xfrm>
        <a:graphic>
          <a:graphicData uri="http://schemas.openxmlformats.org/presentationml/2006/ole">
            <mc:AlternateContent xmlns:mc="http://schemas.openxmlformats.org/markup-compatibility/2006">
              <mc:Choice xmlns:v="urn:schemas-microsoft-com:vml" Requires="v">
                <p:oleObj spid="_x0000_s157748" name="Equation" r:id="rId5" imgW="37490400" imgH="15849600" progId="Equation.DSMT4">
                  <p:embed/>
                </p:oleObj>
              </mc:Choice>
              <mc:Fallback>
                <p:oleObj name="Equation" r:id="rId5" imgW="37490400" imgH="15849600" progId="Equation.DSMT4">
                  <p:embed/>
                  <p:pic>
                    <p:nvPicPr>
                      <p:cNvPr id="0" name="Object 33"/>
                      <p:cNvPicPr>
                        <a:picLocks noChangeAspect="1" noChangeArrowheads="1"/>
                      </p:cNvPicPr>
                      <p:nvPr/>
                    </p:nvPicPr>
                    <p:blipFill>
                      <a:blip r:embed="rId6"/>
                      <a:srcRect/>
                      <a:stretch>
                        <a:fillRect/>
                      </a:stretch>
                    </p:blipFill>
                    <p:spPr bwMode="auto">
                      <a:xfrm>
                        <a:off x="5095284" y="1501650"/>
                        <a:ext cx="3506702" cy="1482508"/>
                      </a:xfrm>
                      <a:prstGeom prst="rect">
                        <a:avLst/>
                      </a:prstGeom>
                      <a:noFill/>
                      <a:ln>
                        <a:noFill/>
                      </a:ln>
                      <a:effectLst/>
                    </p:spPr>
                  </p:pic>
                </p:oleObj>
              </mc:Fallback>
            </mc:AlternateContent>
          </a:graphicData>
        </a:graphic>
      </p:graphicFrame>
      <p:graphicFrame>
        <p:nvGraphicFramePr>
          <p:cNvPr id="55330" name="Object 34"/>
          <p:cNvGraphicFramePr>
            <a:graphicFrameLocks noChangeAspect="1"/>
          </p:cNvGraphicFramePr>
          <p:nvPr/>
        </p:nvGraphicFramePr>
        <p:xfrm>
          <a:off x="2423592" y="3134664"/>
          <a:ext cx="5017720" cy="883803"/>
        </p:xfrm>
        <a:graphic>
          <a:graphicData uri="http://schemas.openxmlformats.org/presentationml/2006/ole">
            <mc:AlternateContent xmlns:mc="http://schemas.openxmlformats.org/markup-compatibility/2006">
              <mc:Choice xmlns:v="urn:schemas-microsoft-com:vml" Requires="v">
                <p:oleObj spid="_x0000_s157749" name="Equation" r:id="rId7" imgW="53644800" imgH="9448800" progId="Equation.DSMT4">
                  <p:embed/>
                </p:oleObj>
              </mc:Choice>
              <mc:Fallback>
                <p:oleObj name="Equation" r:id="rId7" imgW="53644800" imgH="9448800" progId="Equation.DSMT4">
                  <p:embed/>
                  <p:pic>
                    <p:nvPicPr>
                      <p:cNvPr id="0" name="Object 34"/>
                      <p:cNvPicPr>
                        <a:picLocks noChangeAspect="1" noChangeArrowheads="1"/>
                      </p:cNvPicPr>
                      <p:nvPr/>
                    </p:nvPicPr>
                    <p:blipFill>
                      <a:blip r:embed="rId8"/>
                      <a:srcRect/>
                      <a:stretch>
                        <a:fillRect/>
                      </a:stretch>
                    </p:blipFill>
                    <p:spPr bwMode="auto">
                      <a:xfrm>
                        <a:off x="2423592" y="3134664"/>
                        <a:ext cx="5017720" cy="883803"/>
                      </a:xfrm>
                      <a:prstGeom prst="rect">
                        <a:avLst/>
                      </a:prstGeom>
                      <a:noFill/>
                      <a:ln>
                        <a:noFill/>
                      </a:ln>
                      <a:effectLst/>
                    </p:spPr>
                  </p:pic>
                </p:oleObj>
              </mc:Fallback>
            </mc:AlternateContent>
          </a:graphicData>
        </a:graphic>
      </p:graphicFrame>
      <p:graphicFrame>
        <p:nvGraphicFramePr>
          <p:cNvPr id="55331" name="Object 35"/>
          <p:cNvGraphicFramePr>
            <a:graphicFrameLocks noChangeAspect="1"/>
          </p:cNvGraphicFramePr>
          <p:nvPr/>
        </p:nvGraphicFramePr>
        <p:xfrm>
          <a:off x="2423592" y="3987490"/>
          <a:ext cx="8234685" cy="1142269"/>
        </p:xfrm>
        <a:graphic>
          <a:graphicData uri="http://schemas.openxmlformats.org/presentationml/2006/ole">
            <mc:AlternateContent xmlns:mc="http://schemas.openxmlformats.org/markup-compatibility/2006">
              <mc:Choice xmlns:v="urn:schemas-microsoft-com:vml" Requires="v">
                <p:oleObj spid="_x0000_s157750" name="Equation" r:id="rId9" imgW="88087200" imgH="12192000" progId="Equation.DSMT4">
                  <p:embed/>
                </p:oleObj>
              </mc:Choice>
              <mc:Fallback>
                <p:oleObj name="Equation" r:id="rId9" imgW="88087200" imgH="12192000" progId="Equation.DSMT4">
                  <p:embed/>
                  <p:pic>
                    <p:nvPicPr>
                      <p:cNvPr id="0" name="Object 35"/>
                      <p:cNvPicPr>
                        <a:picLocks noChangeAspect="1" noChangeArrowheads="1"/>
                      </p:cNvPicPr>
                      <p:nvPr/>
                    </p:nvPicPr>
                    <p:blipFill>
                      <a:blip r:embed="rId10"/>
                      <a:srcRect/>
                      <a:stretch>
                        <a:fillRect/>
                      </a:stretch>
                    </p:blipFill>
                    <p:spPr bwMode="auto">
                      <a:xfrm>
                        <a:off x="2423592" y="3987490"/>
                        <a:ext cx="8234685" cy="1142269"/>
                      </a:xfrm>
                      <a:prstGeom prst="rect">
                        <a:avLst/>
                      </a:prstGeom>
                      <a:noFill/>
                      <a:ln>
                        <a:noFill/>
                      </a:ln>
                      <a:effectLst/>
                    </p:spPr>
                  </p:pic>
                </p:oleObj>
              </mc:Fallback>
            </mc:AlternateContent>
          </a:graphicData>
        </a:graphic>
      </p:graphicFrame>
      <p:sp>
        <p:nvSpPr>
          <p:cNvPr id="55332" name="Text Box 36"/>
          <p:cNvSpPr txBox="1">
            <a:spLocks noChangeArrowheads="1"/>
          </p:cNvSpPr>
          <p:nvPr/>
        </p:nvSpPr>
        <p:spPr bwMode="auto">
          <a:xfrm>
            <a:off x="1862014" y="5466456"/>
            <a:ext cx="251863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因此，</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均匀分布</a:t>
            </a:r>
            <a:endPar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5333" name="Object 37"/>
          <p:cNvGraphicFramePr>
            <a:graphicFrameLocks noChangeAspect="1"/>
          </p:cNvGraphicFramePr>
          <p:nvPr/>
        </p:nvGraphicFramePr>
        <p:xfrm>
          <a:off x="5061334" y="5268550"/>
          <a:ext cx="4333488" cy="1026353"/>
        </p:xfrm>
        <a:graphic>
          <a:graphicData uri="http://schemas.openxmlformats.org/presentationml/2006/ole">
            <mc:AlternateContent xmlns:mc="http://schemas.openxmlformats.org/markup-compatibility/2006">
              <mc:Choice xmlns:v="urn:schemas-microsoft-com:vml" Requires="v">
                <p:oleObj spid="_x0000_s157751" name="Equation" r:id="rId11" imgW="46329600" imgH="10972800" progId="Equation.DSMT4">
                  <p:embed/>
                </p:oleObj>
              </mc:Choice>
              <mc:Fallback>
                <p:oleObj name="Equation" r:id="rId11" imgW="46329600" imgH="10972800" progId="Equation.DSMT4">
                  <p:embed/>
                  <p:pic>
                    <p:nvPicPr>
                      <p:cNvPr id="0" name="Object 37"/>
                      <p:cNvPicPr>
                        <a:picLocks noChangeAspect="1" noChangeArrowheads="1"/>
                      </p:cNvPicPr>
                      <p:nvPr/>
                    </p:nvPicPr>
                    <p:blipFill>
                      <a:blip r:embed="rId12"/>
                      <a:srcRect/>
                      <a:stretch>
                        <a:fillRect/>
                      </a:stretch>
                    </p:blipFill>
                    <p:spPr bwMode="auto">
                      <a:xfrm>
                        <a:off x="5061334" y="5268550"/>
                        <a:ext cx="4333488" cy="1026353"/>
                      </a:xfrm>
                      <a:prstGeom prst="rect">
                        <a:avLst/>
                      </a:prstGeom>
                      <a:solidFill>
                        <a:srgbClr val="C00000"/>
                      </a:solidFill>
                      <a:ln>
                        <a:noFill/>
                      </a:ln>
                      <a:effectLst/>
                    </p:spPr>
                  </p:pic>
                </p:oleObj>
              </mc:Fallback>
            </mc:AlternateContent>
          </a:graphicData>
        </a:graphic>
      </p:graphicFrame>
      <p:cxnSp>
        <p:nvCxnSpPr>
          <p:cNvPr id="16" name="直接连接符 1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矩形 16"/>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8" name="组合 17"/>
          <p:cNvGrpSpPr/>
          <p:nvPr/>
        </p:nvGrpSpPr>
        <p:grpSpPr>
          <a:xfrm>
            <a:off x="851761" y="364781"/>
            <a:ext cx="263341" cy="395013"/>
            <a:chOff x="5284519" y="1508166"/>
            <a:chExt cx="213756" cy="427512"/>
          </a:xfrm>
        </p:grpSpPr>
        <p:cxnSp>
          <p:nvCxnSpPr>
            <p:cNvPr id="19" name="直接连接符 1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0" name="直接连接符 1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325"/>
                                        </p:tgtEl>
                                        <p:attrNameLst>
                                          <p:attrName>style.visibility</p:attrName>
                                        </p:attrNameLst>
                                      </p:cBhvr>
                                      <p:to>
                                        <p:strVal val="visible"/>
                                      </p:to>
                                    </p:set>
                                    <p:anim calcmode="lin" valueType="num">
                                      <p:cBhvr additive="base">
                                        <p:cTn id="7" dur="500" fill="hold"/>
                                        <p:tgtEl>
                                          <p:spTgt spid="55325"/>
                                        </p:tgtEl>
                                        <p:attrNameLst>
                                          <p:attrName>ppt_x</p:attrName>
                                        </p:attrNameLst>
                                      </p:cBhvr>
                                      <p:tavLst>
                                        <p:tav tm="0">
                                          <p:val>
                                            <p:strVal val="0-#ppt_w/2"/>
                                          </p:val>
                                        </p:tav>
                                        <p:tav tm="100000">
                                          <p:val>
                                            <p:strVal val="#ppt_x"/>
                                          </p:val>
                                        </p:tav>
                                      </p:tavLst>
                                    </p:anim>
                                    <p:anim calcmode="lin" valueType="num">
                                      <p:cBhvr additive="base">
                                        <p:cTn id="8" dur="500" fill="hold"/>
                                        <p:tgtEl>
                                          <p:spTgt spid="5532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5326"/>
                                        </p:tgtEl>
                                        <p:attrNameLst>
                                          <p:attrName>style.visibility</p:attrName>
                                        </p:attrNameLst>
                                      </p:cBhvr>
                                      <p:to>
                                        <p:strVal val="visible"/>
                                      </p:to>
                                    </p:set>
                                    <p:anim calcmode="lin" valueType="num">
                                      <p:cBhvr additive="base">
                                        <p:cTn id="13" dur="500" fill="hold"/>
                                        <p:tgtEl>
                                          <p:spTgt spid="55326"/>
                                        </p:tgtEl>
                                        <p:attrNameLst>
                                          <p:attrName>ppt_x</p:attrName>
                                        </p:attrNameLst>
                                      </p:cBhvr>
                                      <p:tavLst>
                                        <p:tav tm="0">
                                          <p:val>
                                            <p:strVal val="0-#ppt_w/2"/>
                                          </p:val>
                                        </p:tav>
                                        <p:tav tm="100000">
                                          <p:val>
                                            <p:strVal val="#ppt_x"/>
                                          </p:val>
                                        </p:tav>
                                      </p:tavLst>
                                    </p:anim>
                                    <p:anim calcmode="lin" valueType="num">
                                      <p:cBhvr additive="base">
                                        <p:cTn id="14" dur="500" fill="hold"/>
                                        <p:tgtEl>
                                          <p:spTgt spid="5532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5327"/>
                                        </p:tgtEl>
                                        <p:attrNameLst>
                                          <p:attrName>style.visibility</p:attrName>
                                        </p:attrNameLst>
                                      </p:cBhvr>
                                      <p:to>
                                        <p:strVal val="visible"/>
                                      </p:to>
                                    </p:set>
                                    <p:anim calcmode="lin" valueType="num">
                                      <p:cBhvr additive="base">
                                        <p:cTn id="19" dur="500" fill="hold"/>
                                        <p:tgtEl>
                                          <p:spTgt spid="55327"/>
                                        </p:tgtEl>
                                        <p:attrNameLst>
                                          <p:attrName>ppt_x</p:attrName>
                                        </p:attrNameLst>
                                      </p:cBhvr>
                                      <p:tavLst>
                                        <p:tav tm="0">
                                          <p:val>
                                            <p:strVal val="0-#ppt_w/2"/>
                                          </p:val>
                                        </p:tav>
                                        <p:tav tm="100000">
                                          <p:val>
                                            <p:strVal val="#ppt_x"/>
                                          </p:val>
                                        </p:tav>
                                      </p:tavLst>
                                    </p:anim>
                                    <p:anim calcmode="lin" valueType="num">
                                      <p:cBhvr additive="base">
                                        <p:cTn id="20" dur="500" fill="hold"/>
                                        <p:tgtEl>
                                          <p:spTgt spid="5532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5328"/>
                                        </p:tgtEl>
                                        <p:attrNameLst>
                                          <p:attrName>style.visibility</p:attrName>
                                        </p:attrNameLst>
                                      </p:cBhvr>
                                      <p:to>
                                        <p:strVal val="visible"/>
                                      </p:to>
                                    </p:set>
                                    <p:anim calcmode="lin" valueType="num">
                                      <p:cBhvr additive="base">
                                        <p:cTn id="25" dur="500" fill="hold"/>
                                        <p:tgtEl>
                                          <p:spTgt spid="55328"/>
                                        </p:tgtEl>
                                        <p:attrNameLst>
                                          <p:attrName>ppt_x</p:attrName>
                                        </p:attrNameLst>
                                      </p:cBhvr>
                                      <p:tavLst>
                                        <p:tav tm="0">
                                          <p:val>
                                            <p:strVal val="0-#ppt_w/2"/>
                                          </p:val>
                                        </p:tav>
                                        <p:tav tm="100000">
                                          <p:val>
                                            <p:strVal val="#ppt_x"/>
                                          </p:val>
                                        </p:tav>
                                      </p:tavLst>
                                    </p:anim>
                                    <p:anim calcmode="lin" valueType="num">
                                      <p:cBhvr additive="base">
                                        <p:cTn id="26" dur="500" fill="hold"/>
                                        <p:tgtEl>
                                          <p:spTgt spid="5532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5329"/>
                                        </p:tgtEl>
                                        <p:attrNameLst>
                                          <p:attrName>style.visibility</p:attrName>
                                        </p:attrNameLst>
                                      </p:cBhvr>
                                      <p:to>
                                        <p:strVal val="visible"/>
                                      </p:to>
                                    </p:set>
                                    <p:anim calcmode="lin" valueType="num">
                                      <p:cBhvr additive="base">
                                        <p:cTn id="31" dur="500" fill="hold"/>
                                        <p:tgtEl>
                                          <p:spTgt spid="55329"/>
                                        </p:tgtEl>
                                        <p:attrNameLst>
                                          <p:attrName>ppt_x</p:attrName>
                                        </p:attrNameLst>
                                      </p:cBhvr>
                                      <p:tavLst>
                                        <p:tav tm="0">
                                          <p:val>
                                            <p:strVal val="0-#ppt_w/2"/>
                                          </p:val>
                                        </p:tav>
                                        <p:tav tm="100000">
                                          <p:val>
                                            <p:strVal val="#ppt_x"/>
                                          </p:val>
                                        </p:tav>
                                      </p:tavLst>
                                    </p:anim>
                                    <p:anim calcmode="lin" valueType="num">
                                      <p:cBhvr additive="base">
                                        <p:cTn id="32" dur="500" fill="hold"/>
                                        <p:tgtEl>
                                          <p:spTgt spid="5532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5330"/>
                                        </p:tgtEl>
                                        <p:attrNameLst>
                                          <p:attrName>style.visibility</p:attrName>
                                        </p:attrNameLst>
                                      </p:cBhvr>
                                      <p:to>
                                        <p:strVal val="visible"/>
                                      </p:to>
                                    </p:set>
                                    <p:anim calcmode="lin" valueType="num">
                                      <p:cBhvr additive="base">
                                        <p:cTn id="37" dur="500" fill="hold"/>
                                        <p:tgtEl>
                                          <p:spTgt spid="55330"/>
                                        </p:tgtEl>
                                        <p:attrNameLst>
                                          <p:attrName>ppt_x</p:attrName>
                                        </p:attrNameLst>
                                      </p:cBhvr>
                                      <p:tavLst>
                                        <p:tav tm="0">
                                          <p:val>
                                            <p:strVal val="0-#ppt_w/2"/>
                                          </p:val>
                                        </p:tav>
                                        <p:tav tm="100000">
                                          <p:val>
                                            <p:strVal val="#ppt_x"/>
                                          </p:val>
                                        </p:tav>
                                      </p:tavLst>
                                    </p:anim>
                                    <p:anim calcmode="lin" valueType="num">
                                      <p:cBhvr additive="base">
                                        <p:cTn id="38" dur="500" fill="hold"/>
                                        <p:tgtEl>
                                          <p:spTgt spid="5533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5331"/>
                                        </p:tgtEl>
                                        <p:attrNameLst>
                                          <p:attrName>style.visibility</p:attrName>
                                        </p:attrNameLst>
                                      </p:cBhvr>
                                      <p:to>
                                        <p:strVal val="visible"/>
                                      </p:to>
                                    </p:set>
                                    <p:anim calcmode="lin" valueType="num">
                                      <p:cBhvr additive="base">
                                        <p:cTn id="43" dur="500" fill="hold"/>
                                        <p:tgtEl>
                                          <p:spTgt spid="55331"/>
                                        </p:tgtEl>
                                        <p:attrNameLst>
                                          <p:attrName>ppt_x</p:attrName>
                                        </p:attrNameLst>
                                      </p:cBhvr>
                                      <p:tavLst>
                                        <p:tav tm="0">
                                          <p:val>
                                            <p:strVal val="0-#ppt_w/2"/>
                                          </p:val>
                                        </p:tav>
                                        <p:tav tm="100000">
                                          <p:val>
                                            <p:strVal val="#ppt_x"/>
                                          </p:val>
                                        </p:tav>
                                      </p:tavLst>
                                    </p:anim>
                                    <p:anim calcmode="lin" valueType="num">
                                      <p:cBhvr additive="base">
                                        <p:cTn id="44" dur="500" fill="hold"/>
                                        <p:tgtEl>
                                          <p:spTgt spid="5533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5332"/>
                                        </p:tgtEl>
                                        <p:attrNameLst>
                                          <p:attrName>style.visibility</p:attrName>
                                        </p:attrNameLst>
                                      </p:cBhvr>
                                      <p:to>
                                        <p:strVal val="visible"/>
                                      </p:to>
                                    </p:set>
                                    <p:anim calcmode="lin" valueType="num">
                                      <p:cBhvr additive="base">
                                        <p:cTn id="49" dur="500" fill="hold"/>
                                        <p:tgtEl>
                                          <p:spTgt spid="55332"/>
                                        </p:tgtEl>
                                        <p:attrNameLst>
                                          <p:attrName>ppt_x</p:attrName>
                                        </p:attrNameLst>
                                      </p:cBhvr>
                                      <p:tavLst>
                                        <p:tav tm="0">
                                          <p:val>
                                            <p:strVal val="0-#ppt_w/2"/>
                                          </p:val>
                                        </p:tav>
                                        <p:tav tm="100000">
                                          <p:val>
                                            <p:strVal val="#ppt_x"/>
                                          </p:val>
                                        </p:tav>
                                      </p:tavLst>
                                    </p:anim>
                                    <p:anim calcmode="lin" valueType="num">
                                      <p:cBhvr additive="base">
                                        <p:cTn id="50" dur="500" fill="hold"/>
                                        <p:tgtEl>
                                          <p:spTgt spid="5533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55333"/>
                                        </p:tgtEl>
                                        <p:attrNameLst>
                                          <p:attrName>style.visibility</p:attrName>
                                        </p:attrNameLst>
                                      </p:cBhvr>
                                      <p:to>
                                        <p:strVal val="visible"/>
                                      </p:to>
                                    </p:set>
                                    <p:anim calcmode="lin" valueType="num">
                                      <p:cBhvr additive="base">
                                        <p:cTn id="55" dur="500" fill="hold"/>
                                        <p:tgtEl>
                                          <p:spTgt spid="55333"/>
                                        </p:tgtEl>
                                        <p:attrNameLst>
                                          <p:attrName>ppt_x</p:attrName>
                                        </p:attrNameLst>
                                      </p:cBhvr>
                                      <p:tavLst>
                                        <p:tav tm="0">
                                          <p:val>
                                            <p:strVal val="0-#ppt_w/2"/>
                                          </p:val>
                                        </p:tav>
                                        <p:tav tm="100000">
                                          <p:val>
                                            <p:strVal val="#ppt_x"/>
                                          </p:val>
                                        </p:tav>
                                      </p:tavLst>
                                    </p:anim>
                                    <p:anim calcmode="lin" valueType="num">
                                      <p:cBhvr additive="base">
                                        <p:cTn id="56" dur="500" fill="hold"/>
                                        <p:tgtEl>
                                          <p:spTgt spid="553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25" grpId="0" bldLvl="0" animBg="1"/>
      <p:bldP spid="55327" grpId="0" bldLvl="0" animBg="1"/>
      <p:bldP spid="55332"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61" name="Text Box 69"/>
          <p:cNvSpPr txBox="1">
            <a:spLocks noChangeArrowheads="1"/>
          </p:cNvSpPr>
          <p:nvPr/>
        </p:nvSpPr>
        <p:spPr bwMode="auto">
          <a:xfrm>
            <a:off x="1351785" y="1025708"/>
            <a:ext cx="78951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设随机变量</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服从指数分布，其概率密度为</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62" name="Object 70"/>
          <p:cNvGraphicFramePr>
            <a:graphicFrameLocks noChangeAspect="1"/>
          </p:cNvGraphicFramePr>
          <p:nvPr/>
        </p:nvGraphicFramePr>
        <p:xfrm>
          <a:off x="2705119" y="1543209"/>
          <a:ext cx="3000748" cy="1528683"/>
        </p:xfrm>
        <a:graphic>
          <a:graphicData uri="http://schemas.openxmlformats.org/presentationml/2006/ole">
            <mc:AlternateContent xmlns:mc="http://schemas.openxmlformats.org/markup-compatibility/2006">
              <mc:Choice xmlns:v="urn:schemas-microsoft-com:vml" Requires="v">
                <p:oleObj spid="_x0000_s158770" name="Equation" r:id="rId1" imgW="32308800" imgH="16459200" progId="Equation.DSMT4">
                  <p:embed/>
                </p:oleObj>
              </mc:Choice>
              <mc:Fallback>
                <p:oleObj name="Equation" r:id="rId1" imgW="32308800" imgH="16459200" progId="Equation.DSMT4">
                  <p:embed/>
                  <p:pic>
                    <p:nvPicPr>
                      <p:cNvPr id="0" name="Object 70"/>
                      <p:cNvPicPr>
                        <a:picLocks noChangeAspect="1" noChangeArrowheads="1"/>
                      </p:cNvPicPr>
                      <p:nvPr/>
                    </p:nvPicPr>
                    <p:blipFill>
                      <a:blip r:embed="rId2"/>
                      <a:srcRect/>
                      <a:stretch>
                        <a:fillRect/>
                      </a:stretch>
                    </p:blipFill>
                    <p:spPr bwMode="auto">
                      <a:xfrm>
                        <a:off x="2705119" y="1543209"/>
                        <a:ext cx="3000748" cy="1528683"/>
                      </a:xfrm>
                      <a:prstGeom prst="rect">
                        <a:avLst/>
                      </a:prstGeom>
                      <a:noFill/>
                      <a:ln>
                        <a:noFill/>
                      </a:ln>
                      <a:effectLst/>
                    </p:spPr>
                  </p:pic>
                </p:oleObj>
              </mc:Fallback>
            </mc:AlternateContent>
          </a:graphicData>
        </a:graphic>
      </p:graphicFrame>
      <p:graphicFrame>
        <p:nvGraphicFramePr>
          <p:cNvPr id="59463" name="Object 71"/>
          <p:cNvGraphicFramePr>
            <a:graphicFrameLocks noChangeAspect="1"/>
          </p:cNvGraphicFramePr>
          <p:nvPr/>
        </p:nvGraphicFramePr>
        <p:xfrm>
          <a:off x="6128120" y="2104709"/>
          <a:ext cx="4237835" cy="510945"/>
        </p:xfrm>
        <a:graphic>
          <a:graphicData uri="http://schemas.openxmlformats.org/presentationml/2006/ole">
            <mc:AlternateContent xmlns:mc="http://schemas.openxmlformats.org/markup-compatibility/2006">
              <mc:Choice xmlns:v="urn:schemas-microsoft-com:vml" Requires="v">
                <p:oleObj spid="_x0000_s158771" name="Equation" r:id="rId3" imgW="42976800" imgH="5181600" progId="Equation.DSMT4">
                  <p:embed/>
                </p:oleObj>
              </mc:Choice>
              <mc:Fallback>
                <p:oleObj name="Equation" r:id="rId3" imgW="42976800" imgH="5181600" progId="Equation.DSMT4">
                  <p:embed/>
                  <p:pic>
                    <p:nvPicPr>
                      <p:cNvPr id="0" name="Object 71"/>
                      <p:cNvPicPr>
                        <a:picLocks noChangeAspect="1" noChangeArrowheads="1"/>
                      </p:cNvPicPr>
                      <p:nvPr/>
                    </p:nvPicPr>
                    <p:blipFill>
                      <a:blip r:embed="rId4"/>
                      <a:srcRect/>
                      <a:stretch>
                        <a:fillRect/>
                      </a:stretch>
                    </p:blipFill>
                    <p:spPr bwMode="auto">
                      <a:xfrm>
                        <a:off x="6128120" y="2104709"/>
                        <a:ext cx="4237835" cy="510945"/>
                      </a:xfrm>
                      <a:prstGeom prst="rect">
                        <a:avLst/>
                      </a:prstGeom>
                      <a:noFill/>
                      <a:ln>
                        <a:noFill/>
                      </a:ln>
                      <a:effectLst/>
                    </p:spPr>
                  </p:pic>
                </p:oleObj>
              </mc:Fallback>
            </mc:AlternateContent>
          </a:graphicData>
        </a:graphic>
      </p:graphicFrame>
      <p:sp>
        <p:nvSpPr>
          <p:cNvPr id="59464" name="Text Box 72"/>
          <p:cNvSpPr txBox="1">
            <a:spLocks noChangeArrowheads="1"/>
          </p:cNvSpPr>
          <p:nvPr/>
        </p:nvSpPr>
        <p:spPr bwMode="auto">
          <a:xfrm>
            <a:off x="1686391" y="3415553"/>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65" name="Object 73"/>
          <p:cNvGraphicFramePr>
            <a:graphicFrameLocks noChangeAspect="1"/>
          </p:cNvGraphicFramePr>
          <p:nvPr/>
        </p:nvGraphicFramePr>
        <p:xfrm>
          <a:off x="2667240" y="3150093"/>
          <a:ext cx="5264199" cy="1106678"/>
        </p:xfrm>
        <a:graphic>
          <a:graphicData uri="http://schemas.openxmlformats.org/presentationml/2006/ole">
            <mc:AlternateContent xmlns:mc="http://schemas.openxmlformats.org/markup-compatibility/2006">
              <mc:Choice xmlns:v="urn:schemas-microsoft-com:vml" Requires="v">
                <p:oleObj spid="_x0000_s158772" name="Equation" r:id="rId5" imgW="53644800" imgH="11277600" progId="Equation.DSMT4">
                  <p:embed/>
                </p:oleObj>
              </mc:Choice>
              <mc:Fallback>
                <p:oleObj name="Equation" r:id="rId5" imgW="53644800" imgH="11277600" progId="Equation.DSMT4">
                  <p:embed/>
                  <p:pic>
                    <p:nvPicPr>
                      <p:cNvPr id="0" name="Object 73"/>
                      <p:cNvPicPr>
                        <a:picLocks noChangeAspect="1" noChangeArrowheads="1"/>
                      </p:cNvPicPr>
                      <p:nvPr/>
                    </p:nvPicPr>
                    <p:blipFill>
                      <a:blip r:embed="rId6"/>
                      <a:srcRect/>
                      <a:stretch>
                        <a:fillRect/>
                      </a:stretch>
                    </p:blipFill>
                    <p:spPr bwMode="auto">
                      <a:xfrm>
                        <a:off x="2667240" y="3150093"/>
                        <a:ext cx="5264199" cy="1106678"/>
                      </a:xfrm>
                      <a:prstGeom prst="rect">
                        <a:avLst/>
                      </a:prstGeom>
                      <a:noFill/>
                      <a:ln>
                        <a:noFill/>
                      </a:ln>
                      <a:effectLst/>
                    </p:spPr>
                  </p:pic>
                </p:oleObj>
              </mc:Fallback>
            </mc:AlternateContent>
          </a:graphicData>
        </a:graphic>
      </p:graphicFrame>
      <p:graphicFrame>
        <p:nvGraphicFramePr>
          <p:cNvPr id="59466" name="Object 74"/>
          <p:cNvGraphicFramePr>
            <a:graphicFrameLocks noChangeAspect="1"/>
          </p:cNvGraphicFramePr>
          <p:nvPr/>
        </p:nvGraphicFramePr>
        <p:xfrm>
          <a:off x="2627336" y="4102066"/>
          <a:ext cx="6071775" cy="1106678"/>
        </p:xfrm>
        <a:graphic>
          <a:graphicData uri="http://schemas.openxmlformats.org/presentationml/2006/ole">
            <mc:AlternateContent xmlns:mc="http://schemas.openxmlformats.org/markup-compatibility/2006">
              <mc:Choice xmlns:v="urn:schemas-microsoft-com:vml" Requires="v">
                <p:oleObj spid="_x0000_s158773" name="Equation" r:id="rId7" imgW="61874400" imgH="11277600" progId="Equation.DSMT4">
                  <p:embed/>
                </p:oleObj>
              </mc:Choice>
              <mc:Fallback>
                <p:oleObj name="Equation" r:id="rId7" imgW="61874400" imgH="11277600" progId="Equation.DSMT4">
                  <p:embed/>
                  <p:pic>
                    <p:nvPicPr>
                      <p:cNvPr id="0" name="Object 74"/>
                      <p:cNvPicPr>
                        <a:picLocks noChangeAspect="1" noChangeArrowheads="1"/>
                      </p:cNvPicPr>
                      <p:nvPr/>
                    </p:nvPicPr>
                    <p:blipFill>
                      <a:blip r:embed="rId8"/>
                      <a:srcRect/>
                      <a:stretch>
                        <a:fillRect/>
                      </a:stretch>
                    </p:blipFill>
                    <p:spPr bwMode="auto">
                      <a:xfrm>
                        <a:off x="2627336" y="4102066"/>
                        <a:ext cx="6071775" cy="1106678"/>
                      </a:xfrm>
                      <a:prstGeom prst="rect">
                        <a:avLst/>
                      </a:prstGeom>
                      <a:noFill/>
                      <a:ln>
                        <a:noFill/>
                      </a:ln>
                      <a:effectLst/>
                    </p:spPr>
                  </p:pic>
                </p:oleObj>
              </mc:Fallback>
            </mc:AlternateContent>
          </a:graphicData>
        </a:graphic>
      </p:graphicFrame>
      <p:graphicFrame>
        <p:nvGraphicFramePr>
          <p:cNvPr id="59467" name="Object 75"/>
          <p:cNvGraphicFramePr>
            <a:graphicFrameLocks noChangeAspect="1"/>
          </p:cNvGraphicFramePr>
          <p:nvPr/>
        </p:nvGraphicFramePr>
        <p:xfrm>
          <a:off x="2627336" y="5179956"/>
          <a:ext cx="2409361" cy="563227"/>
        </p:xfrm>
        <a:graphic>
          <a:graphicData uri="http://schemas.openxmlformats.org/presentationml/2006/ole">
            <mc:AlternateContent xmlns:mc="http://schemas.openxmlformats.org/markup-compatibility/2006">
              <mc:Choice xmlns:v="urn:schemas-microsoft-com:vml" Requires="v">
                <p:oleObj spid="_x0000_s158774" name="Equation" r:id="rId9" imgW="23469600" imgH="5486400" progId="Equation.DSMT4">
                  <p:embed/>
                </p:oleObj>
              </mc:Choice>
              <mc:Fallback>
                <p:oleObj name="Equation" r:id="rId9" imgW="23469600" imgH="5486400" progId="Equation.DSMT4">
                  <p:embed/>
                  <p:pic>
                    <p:nvPicPr>
                      <p:cNvPr id="0" name="Object 75"/>
                      <p:cNvPicPr>
                        <a:picLocks noChangeAspect="1" noChangeArrowheads="1"/>
                      </p:cNvPicPr>
                      <p:nvPr/>
                    </p:nvPicPr>
                    <p:blipFill>
                      <a:blip r:embed="rId10"/>
                      <a:srcRect/>
                      <a:stretch>
                        <a:fillRect/>
                      </a:stretch>
                    </p:blipFill>
                    <p:spPr bwMode="auto">
                      <a:xfrm>
                        <a:off x="2627336" y="5179956"/>
                        <a:ext cx="2409361" cy="563227"/>
                      </a:xfrm>
                      <a:prstGeom prst="rect">
                        <a:avLst/>
                      </a:prstGeom>
                      <a:noFill/>
                      <a:ln>
                        <a:noFill/>
                      </a:ln>
                      <a:effectLst/>
                    </p:spPr>
                  </p:pic>
                </p:oleObj>
              </mc:Fallback>
            </mc:AlternateContent>
          </a:graphicData>
        </a:graphic>
      </p:graphicFrame>
      <p:sp>
        <p:nvSpPr>
          <p:cNvPr id="59468" name="Text Box 76"/>
          <p:cNvSpPr txBox="1">
            <a:spLocks noChangeArrowheads="1"/>
          </p:cNvSpPr>
          <p:nvPr/>
        </p:nvSpPr>
        <p:spPr bwMode="auto">
          <a:xfrm>
            <a:off x="1662691" y="5861138"/>
            <a:ext cx="34163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由此可知，</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指数分布</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69" name="Object 77"/>
          <p:cNvGraphicFramePr>
            <a:graphicFrameLocks noChangeAspect="1"/>
          </p:cNvGraphicFramePr>
          <p:nvPr/>
        </p:nvGraphicFramePr>
        <p:xfrm>
          <a:off x="5266946" y="5861139"/>
          <a:ext cx="3597131" cy="523219"/>
        </p:xfrm>
        <a:graphic>
          <a:graphicData uri="http://schemas.openxmlformats.org/presentationml/2006/ole">
            <mc:AlternateContent xmlns:mc="http://schemas.openxmlformats.org/markup-compatibility/2006">
              <mc:Choice xmlns:v="urn:schemas-microsoft-com:vml" Requires="v">
                <p:oleObj spid="_x0000_s158775" name="Equation" r:id="rId11" imgW="33528000" imgH="4876800" progId="Equation.DSMT4">
                  <p:embed/>
                </p:oleObj>
              </mc:Choice>
              <mc:Fallback>
                <p:oleObj name="Equation" r:id="rId11" imgW="33528000" imgH="4876800" progId="Equation.DSMT4">
                  <p:embed/>
                  <p:pic>
                    <p:nvPicPr>
                      <p:cNvPr id="0" name="Object 77"/>
                      <p:cNvPicPr>
                        <a:picLocks noChangeAspect="1" noChangeArrowheads="1"/>
                      </p:cNvPicPr>
                      <p:nvPr/>
                    </p:nvPicPr>
                    <p:blipFill>
                      <a:blip r:embed="rId12"/>
                      <a:srcRect/>
                      <a:stretch>
                        <a:fillRect/>
                      </a:stretch>
                    </p:blipFill>
                    <p:spPr bwMode="auto">
                      <a:xfrm>
                        <a:off x="5266946" y="5861139"/>
                        <a:ext cx="3597131" cy="523219"/>
                      </a:xfrm>
                      <a:prstGeom prst="rect">
                        <a:avLst/>
                      </a:prstGeom>
                      <a:solidFill>
                        <a:srgbClr val="C00000"/>
                      </a:solidFill>
                      <a:ln>
                        <a:noFill/>
                      </a:ln>
                      <a:effectLst/>
                    </p:spPr>
                  </p:pic>
                </p:oleObj>
              </mc:Fallback>
            </mc:AlternateContent>
          </a:graphicData>
        </a:graphic>
      </p:graphicFrame>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61"/>
                                        </p:tgtEl>
                                        <p:attrNameLst>
                                          <p:attrName>style.visibility</p:attrName>
                                        </p:attrNameLst>
                                      </p:cBhvr>
                                      <p:to>
                                        <p:strVal val="visible"/>
                                      </p:to>
                                    </p:set>
                                    <p:anim calcmode="lin" valueType="num">
                                      <p:cBhvr additive="base">
                                        <p:cTn id="7" dur="500" fill="hold"/>
                                        <p:tgtEl>
                                          <p:spTgt spid="59461"/>
                                        </p:tgtEl>
                                        <p:attrNameLst>
                                          <p:attrName>ppt_x</p:attrName>
                                        </p:attrNameLst>
                                      </p:cBhvr>
                                      <p:tavLst>
                                        <p:tav tm="0">
                                          <p:val>
                                            <p:strVal val="0-#ppt_w/2"/>
                                          </p:val>
                                        </p:tav>
                                        <p:tav tm="100000">
                                          <p:val>
                                            <p:strVal val="#ppt_x"/>
                                          </p:val>
                                        </p:tav>
                                      </p:tavLst>
                                    </p:anim>
                                    <p:anim calcmode="lin" valueType="num">
                                      <p:cBhvr additive="base">
                                        <p:cTn id="8" dur="500" fill="hold"/>
                                        <p:tgtEl>
                                          <p:spTgt spid="594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9462"/>
                                        </p:tgtEl>
                                        <p:attrNameLst>
                                          <p:attrName>style.visibility</p:attrName>
                                        </p:attrNameLst>
                                      </p:cBhvr>
                                      <p:to>
                                        <p:strVal val="visible"/>
                                      </p:to>
                                    </p:set>
                                    <p:anim calcmode="lin" valueType="num">
                                      <p:cBhvr additive="base">
                                        <p:cTn id="13" dur="500" fill="hold"/>
                                        <p:tgtEl>
                                          <p:spTgt spid="59462"/>
                                        </p:tgtEl>
                                        <p:attrNameLst>
                                          <p:attrName>ppt_x</p:attrName>
                                        </p:attrNameLst>
                                      </p:cBhvr>
                                      <p:tavLst>
                                        <p:tav tm="0">
                                          <p:val>
                                            <p:strVal val="0-#ppt_w/2"/>
                                          </p:val>
                                        </p:tav>
                                        <p:tav tm="100000">
                                          <p:val>
                                            <p:strVal val="#ppt_x"/>
                                          </p:val>
                                        </p:tav>
                                      </p:tavLst>
                                    </p:anim>
                                    <p:anim calcmode="lin" valueType="num">
                                      <p:cBhvr additive="base">
                                        <p:cTn id="14" dur="500" fill="hold"/>
                                        <p:tgtEl>
                                          <p:spTgt spid="5946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9463"/>
                                        </p:tgtEl>
                                        <p:attrNameLst>
                                          <p:attrName>style.visibility</p:attrName>
                                        </p:attrNameLst>
                                      </p:cBhvr>
                                      <p:to>
                                        <p:strVal val="visible"/>
                                      </p:to>
                                    </p:set>
                                    <p:anim calcmode="lin" valueType="num">
                                      <p:cBhvr additive="base">
                                        <p:cTn id="19" dur="500" fill="hold"/>
                                        <p:tgtEl>
                                          <p:spTgt spid="59463"/>
                                        </p:tgtEl>
                                        <p:attrNameLst>
                                          <p:attrName>ppt_x</p:attrName>
                                        </p:attrNameLst>
                                      </p:cBhvr>
                                      <p:tavLst>
                                        <p:tav tm="0">
                                          <p:val>
                                            <p:strVal val="0-#ppt_w/2"/>
                                          </p:val>
                                        </p:tav>
                                        <p:tav tm="100000">
                                          <p:val>
                                            <p:strVal val="#ppt_x"/>
                                          </p:val>
                                        </p:tav>
                                      </p:tavLst>
                                    </p:anim>
                                    <p:anim calcmode="lin" valueType="num">
                                      <p:cBhvr additive="base">
                                        <p:cTn id="20" dur="500" fill="hold"/>
                                        <p:tgtEl>
                                          <p:spTgt spid="5946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9464"/>
                                        </p:tgtEl>
                                        <p:attrNameLst>
                                          <p:attrName>style.visibility</p:attrName>
                                        </p:attrNameLst>
                                      </p:cBhvr>
                                      <p:to>
                                        <p:strVal val="visible"/>
                                      </p:to>
                                    </p:set>
                                    <p:anim calcmode="lin" valueType="num">
                                      <p:cBhvr additive="base">
                                        <p:cTn id="25" dur="500" fill="hold"/>
                                        <p:tgtEl>
                                          <p:spTgt spid="59464"/>
                                        </p:tgtEl>
                                        <p:attrNameLst>
                                          <p:attrName>ppt_x</p:attrName>
                                        </p:attrNameLst>
                                      </p:cBhvr>
                                      <p:tavLst>
                                        <p:tav tm="0">
                                          <p:val>
                                            <p:strVal val="0-#ppt_w/2"/>
                                          </p:val>
                                        </p:tav>
                                        <p:tav tm="100000">
                                          <p:val>
                                            <p:strVal val="#ppt_x"/>
                                          </p:val>
                                        </p:tav>
                                      </p:tavLst>
                                    </p:anim>
                                    <p:anim calcmode="lin" valueType="num">
                                      <p:cBhvr additive="base">
                                        <p:cTn id="26" dur="500" fill="hold"/>
                                        <p:tgtEl>
                                          <p:spTgt spid="5946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9465"/>
                                        </p:tgtEl>
                                        <p:attrNameLst>
                                          <p:attrName>style.visibility</p:attrName>
                                        </p:attrNameLst>
                                      </p:cBhvr>
                                      <p:to>
                                        <p:strVal val="visible"/>
                                      </p:to>
                                    </p:set>
                                    <p:anim calcmode="lin" valueType="num">
                                      <p:cBhvr additive="base">
                                        <p:cTn id="31" dur="500" fill="hold"/>
                                        <p:tgtEl>
                                          <p:spTgt spid="59465"/>
                                        </p:tgtEl>
                                        <p:attrNameLst>
                                          <p:attrName>ppt_x</p:attrName>
                                        </p:attrNameLst>
                                      </p:cBhvr>
                                      <p:tavLst>
                                        <p:tav tm="0">
                                          <p:val>
                                            <p:strVal val="0-#ppt_w/2"/>
                                          </p:val>
                                        </p:tav>
                                        <p:tav tm="100000">
                                          <p:val>
                                            <p:strVal val="#ppt_x"/>
                                          </p:val>
                                        </p:tav>
                                      </p:tavLst>
                                    </p:anim>
                                    <p:anim calcmode="lin" valueType="num">
                                      <p:cBhvr additive="base">
                                        <p:cTn id="32" dur="500" fill="hold"/>
                                        <p:tgtEl>
                                          <p:spTgt spid="5946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9466"/>
                                        </p:tgtEl>
                                        <p:attrNameLst>
                                          <p:attrName>style.visibility</p:attrName>
                                        </p:attrNameLst>
                                      </p:cBhvr>
                                      <p:to>
                                        <p:strVal val="visible"/>
                                      </p:to>
                                    </p:set>
                                    <p:anim calcmode="lin" valueType="num">
                                      <p:cBhvr additive="base">
                                        <p:cTn id="37" dur="500" fill="hold"/>
                                        <p:tgtEl>
                                          <p:spTgt spid="59466"/>
                                        </p:tgtEl>
                                        <p:attrNameLst>
                                          <p:attrName>ppt_x</p:attrName>
                                        </p:attrNameLst>
                                      </p:cBhvr>
                                      <p:tavLst>
                                        <p:tav tm="0">
                                          <p:val>
                                            <p:strVal val="0-#ppt_w/2"/>
                                          </p:val>
                                        </p:tav>
                                        <p:tav tm="100000">
                                          <p:val>
                                            <p:strVal val="#ppt_x"/>
                                          </p:val>
                                        </p:tav>
                                      </p:tavLst>
                                    </p:anim>
                                    <p:anim calcmode="lin" valueType="num">
                                      <p:cBhvr additive="base">
                                        <p:cTn id="38" dur="500" fill="hold"/>
                                        <p:tgtEl>
                                          <p:spTgt spid="5946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9467"/>
                                        </p:tgtEl>
                                        <p:attrNameLst>
                                          <p:attrName>style.visibility</p:attrName>
                                        </p:attrNameLst>
                                      </p:cBhvr>
                                      <p:to>
                                        <p:strVal val="visible"/>
                                      </p:to>
                                    </p:set>
                                    <p:anim calcmode="lin" valueType="num">
                                      <p:cBhvr additive="base">
                                        <p:cTn id="43" dur="500" fill="hold"/>
                                        <p:tgtEl>
                                          <p:spTgt spid="59467"/>
                                        </p:tgtEl>
                                        <p:attrNameLst>
                                          <p:attrName>ppt_x</p:attrName>
                                        </p:attrNameLst>
                                      </p:cBhvr>
                                      <p:tavLst>
                                        <p:tav tm="0">
                                          <p:val>
                                            <p:strVal val="0-#ppt_w/2"/>
                                          </p:val>
                                        </p:tav>
                                        <p:tav tm="100000">
                                          <p:val>
                                            <p:strVal val="#ppt_x"/>
                                          </p:val>
                                        </p:tav>
                                      </p:tavLst>
                                    </p:anim>
                                    <p:anim calcmode="lin" valueType="num">
                                      <p:cBhvr additive="base">
                                        <p:cTn id="44" dur="500" fill="hold"/>
                                        <p:tgtEl>
                                          <p:spTgt spid="5946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9468"/>
                                        </p:tgtEl>
                                        <p:attrNameLst>
                                          <p:attrName>style.visibility</p:attrName>
                                        </p:attrNameLst>
                                      </p:cBhvr>
                                      <p:to>
                                        <p:strVal val="visible"/>
                                      </p:to>
                                    </p:set>
                                    <p:anim calcmode="lin" valueType="num">
                                      <p:cBhvr additive="base">
                                        <p:cTn id="49" dur="500" fill="hold"/>
                                        <p:tgtEl>
                                          <p:spTgt spid="59468"/>
                                        </p:tgtEl>
                                        <p:attrNameLst>
                                          <p:attrName>ppt_x</p:attrName>
                                        </p:attrNameLst>
                                      </p:cBhvr>
                                      <p:tavLst>
                                        <p:tav tm="0">
                                          <p:val>
                                            <p:strVal val="0-#ppt_w/2"/>
                                          </p:val>
                                        </p:tav>
                                        <p:tav tm="100000">
                                          <p:val>
                                            <p:strVal val="#ppt_x"/>
                                          </p:val>
                                        </p:tav>
                                      </p:tavLst>
                                    </p:anim>
                                    <p:anim calcmode="lin" valueType="num">
                                      <p:cBhvr additive="base">
                                        <p:cTn id="50" dur="500" fill="hold"/>
                                        <p:tgtEl>
                                          <p:spTgt spid="5946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59469"/>
                                        </p:tgtEl>
                                        <p:attrNameLst>
                                          <p:attrName>style.visibility</p:attrName>
                                        </p:attrNameLst>
                                      </p:cBhvr>
                                      <p:to>
                                        <p:strVal val="visible"/>
                                      </p:to>
                                    </p:set>
                                    <p:anim calcmode="lin" valueType="num">
                                      <p:cBhvr additive="base">
                                        <p:cTn id="55" dur="500" fill="hold"/>
                                        <p:tgtEl>
                                          <p:spTgt spid="59469"/>
                                        </p:tgtEl>
                                        <p:attrNameLst>
                                          <p:attrName>ppt_x</p:attrName>
                                        </p:attrNameLst>
                                      </p:cBhvr>
                                      <p:tavLst>
                                        <p:tav tm="0">
                                          <p:val>
                                            <p:strVal val="0-#ppt_w/2"/>
                                          </p:val>
                                        </p:tav>
                                        <p:tav tm="100000">
                                          <p:val>
                                            <p:strVal val="#ppt_x"/>
                                          </p:val>
                                        </p:tav>
                                      </p:tavLst>
                                    </p:anim>
                                    <p:anim calcmode="lin" valueType="num">
                                      <p:cBhvr additive="base">
                                        <p:cTn id="56" dur="500" fill="hold"/>
                                        <p:tgtEl>
                                          <p:spTgt spid="59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61" grpId="0" bldLvl="0" animBg="1"/>
      <p:bldP spid="59464" grpId="0" bldLvl="0" animBg="1"/>
      <p:bldP spid="59468"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61" name="Text Box 69"/>
          <p:cNvSpPr txBox="1">
            <a:spLocks noChangeArrowheads="1"/>
          </p:cNvSpPr>
          <p:nvPr/>
        </p:nvSpPr>
        <p:spPr bwMode="auto">
          <a:xfrm>
            <a:off x="1351785" y="1025708"/>
            <a:ext cx="53816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设随机变量</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具有数学期望</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7" name="Object 5"/>
          <p:cNvGraphicFramePr>
            <a:graphicFrameLocks noChangeAspect="1"/>
          </p:cNvGraphicFramePr>
          <p:nvPr/>
        </p:nvGraphicFramePr>
        <p:xfrm>
          <a:off x="6733386" y="1079418"/>
          <a:ext cx="1400175" cy="439738"/>
        </p:xfrm>
        <a:graphic>
          <a:graphicData uri="http://schemas.openxmlformats.org/presentationml/2006/ole">
            <mc:AlternateContent xmlns:mc="http://schemas.openxmlformats.org/markup-compatibility/2006">
              <mc:Choice xmlns:v="urn:schemas-microsoft-com:vml" Requires="v">
                <p:oleObj spid="_x0000_s159818" name="Equation" r:id="rId1" imgW="647700" imgH="203200" progId="Equation.DSMT4">
                  <p:embed/>
                </p:oleObj>
              </mc:Choice>
              <mc:Fallback>
                <p:oleObj name="Equation" r:id="rId1" imgW="647700" imgH="2032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3386" y="1079418"/>
                        <a:ext cx="1400175"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8" name="Object 6"/>
          <p:cNvGraphicFramePr>
            <a:graphicFrameLocks noChangeAspect="1"/>
          </p:cNvGraphicFramePr>
          <p:nvPr/>
        </p:nvGraphicFramePr>
        <p:xfrm>
          <a:off x="2199116" y="2372766"/>
          <a:ext cx="7400925" cy="485775"/>
        </p:xfrm>
        <a:graphic>
          <a:graphicData uri="http://schemas.openxmlformats.org/presentationml/2006/ole">
            <mc:AlternateContent xmlns:mc="http://schemas.openxmlformats.org/markup-compatibility/2006">
              <mc:Choice xmlns:v="urn:schemas-microsoft-com:vml" Requires="v">
                <p:oleObj spid="_x0000_s159819" name="Equation" r:id="rId3" imgW="3479800" imgH="228600" progId="Equation.DSMT4">
                  <p:embed/>
                </p:oleObj>
              </mc:Choice>
              <mc:Fallback>
                <p:oleObj name="Equation" r:id="rId3" imgW="347980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9116" y="2372766"/>
                        <a:ext cx="74009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9" name="Object 18"/>
          <p:cNvGraphicFramePr>
            <a:graphicFrameLocks noChangeAspect="1"/>
          </p:cNvGraphicFramePr>
          <p:nvPr/>
        </p:nvGraphicFramePr>
        <p:xfrm>
          <a:off x="2199116" y="1555436"/>
          <a:ext cx="4875212" cy="781050"/>
        </p:xfrm>
        <a:graphic>
          <a:graphicData uri="http://schemas.openxmlformats.org/presentationml/2006/ole">
            <mc:AlternateContent xmlns:mc="http://schemas.openxmlformats.org/markup-compatibility/2006">
              <mc:Choice xmlns:v="urn:schemas-microsoft-com:vml" Requires="v">
                <p:oleObj spid="_x0000_s159820" name="Equation" r:id="rId5" imgW="2298700" imgH="368300" progId="Equation.DSMT4">
                  <p:embed/>
                </p:oleObj>
              </mc:Choice>
              <mc:Fallback>
                <p:oleObj name="Equation" r:id="rId5" imgW="2298700" imgH="368300"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9116" y="1555436"/>
                        <a:ext cx="4875212"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0" name="Object 7"/>
          <p:cNvGraphicFramePr>
            <a:graphicFrameLocks noChangeAspect="1"/>
          </p:cNvGraphicFramePr>
          <p:nvPr/>
        </p:nvGraphicFramePr>
        <p:xfrm>
          <a:off x="2229197" y="3073400"/>
          <a:ext cx="3584575" cy="711200"/>
        </p:xfrm>
        <a:graphic>
          <a:graphicData uri="http://schemas.openxmlformats.org/presentationml/2006/ole">
            <mc:AlternateContent xmlns:mc="http://schemas.openxmlformats.org/markup-compatibility/2006">
              <mc:Choice xmlns:v="urn:schemas-microsoft-com:vml" Requires="v">
                <p:oleObj spid="_x0000_s159821" name="Equation" r:id="rId7" imgW="1663700" imgH="330200" progId="Equation.DSMT4">
                  <p:embed/>
                </p:oleObj>
              </mc:Choice>
              <mc:Fallback>
                <p:oleObj name="Equation" r:id="rId7" imgW="1663700" imgH="3302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9197" y="3073400"/>
                        <a:ext cx="3584575"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1" name="Object 30"/>
          <p:cNvGraphicFramePr>
            <a:graphicFrameLocks noChangeAspect="1"/>
          </p:cNvGraphicFramePr>
          <p:nvPr/>
        </p:nvGraphicFramePr>
        <p:xfrm>
          <a:off x="5862984" y="3049587"/>
          <a:ext cx="2681288" cy="711200"/>
        </p:xfrm>
        <a:graphic>
          <a:graphicData uri="http://schemas.openxmlformats.org/presentationml/2006/ole">
            <mc:AlternateContent xmlns:mc="http://schemas.openxmlformats.org/markup-compatibility/2006">
              <mc:Choice xmlns:v="urn:schemas-microsoft-com:vml" Requires="v">
                <p:oleObj spid="_x0000_s159822" name="Equation" r:id="rId9" imgW="1244600" imgH="330200" progId="Equation.DSMT4">
                  <p:embed/>
                </p:oleObj>
              </mc:Choice>
              <mc:Fallback>
                <p:oleObj name="Equation" r:id="rId9" imgW="1244600" imgH="330200" progId="Equation.DSMT4">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2984" y="3049587"/>
                        <a:ext cx="2681288"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2" name="Object 31"/>
          <p:cNvGraphicFramePr>
            <a:graphicFrameLocks noChangeAspect="1"/>
          </p:cNvGraphicFramePr>
          <p:nvPr/>
        </p:nvGraphicFramePr>
        <p:xfrm>
          <a:off x="2764184" y="3760787"/>
          <a:ext cx="3830638" cy="547688"/>
        </p:xfrm>
        <a:graphic>
          <a:graphicData uri="http://schemas.openxmlformats.org/presentationml/2006/ole">
            <mc:AlternateContent xmlns:mc="http://schemas.openxmlformats.org/markup-compatibility/2006">
              <mc:Choice xmlns:v="urn:schemas-microsoft-com:vml" Requires="v">
                <p:oleObj spid="_x0000_s159823" name="Equation" r:id="rId11" imgW="1777365" imgH="254000" progId="Equation.DSMT4">
                  <p:embed/>
                </p:oleObj>
              </mc:Choice>
              <mc:Fallback>
                <p:oleObj name="Equation" r:id="rId11" imgW="1777365" imgH="254000" progId="Equation.DSMT4">
                  <p:embed/>
                  <p:pic>
                    <p:nvPicPr>
                      <p:cNvPr id="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64184" y="3760787"/>
                        <a:ext cx="3830638"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3" name="Object 32"/>
          <p:cNvGraphicFramePr>
            <a:graphicFrameLocks noChangeAspect="1"/>
          </p:cNvGraphicFramePr>
          <p:nvPr/>
        </p:nvGraphicFramePr>
        <p:xfrm>
          <a:off x="5924897" y="4460875"/>
          <a:ext cx="2435225" cy="750887"/>
        </p:xfrm>
        <a:graphic>
          <a:graphicData uri="http://schemas.openxmlformats.org/presentationml/2006/ole">
            <mc:AlternateContent xmlns:mc="http://schemas.openxmlformats.org/markup-compatibility/2006">
              <mc:Choice xmlns:v="urn:schemas-microsoft-com:vml" Requires="v">
                <p:oleObj spid="_x0000_s159824" name="Equation" r:id="rId13" imgW="1155065" imgH="355600" progId="Equation.DSMT4">
                  <p:embed/>
                </p:oleObj>
              </mc:Choice>
              <mc:Fallback>
                <p:oleObj name="Equation" r:id="rId13" imgW="1155065" imgH="355600" progId="Equation.DSMT4">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24897" y="4460875"/>
                        <a:ext cx="2435225"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4" name="Object 34"/>
          <p:cNvGraphicFramePr>
            <a:graphicFrameLocks noChangeAspect="1"/>
          </p:cNvGraphicFramePr>
          <p:nvPr/>
        </p:nvGraphicFramePr>
        <p:xfrm>
          <a:off x="3770659" y="4383087"/>
          <a:ext cx="2079625" cy="793750"/>
        </p:xfrm>
        <a:graphic>
          <a:graphicData uri="http://schemas.openxmlformats.org/presentationml/2006/ole">
            <mc:AlternateContent xmlns:mc="http://schemas.openxmlformats.org/markup-compatibility/2006">
              <mc:Choice xmlns:v="urn:schemas-microsoft-com:vml" Requires="v">
                <p:oleObj spid="_x0000_s159825" name="Equation" r:id="rId15" imgW="965200" imgH="368300" progId="Equation.DSMT4">
                  <p:embed/>
                </p:oleObj>
              </mc:Choice>
              <mc:Fallback>
                <p:oleObj name="Equation" r:id="rId15" imgW="965200" imgH="368300" progId="Equation.DSMT4">
                  <p:embed/>
                  <p:pic>
                    <p:nvPicPr>
                      <p:cNvPr id="0" name="Object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70659" y="4383087"/>
                        <a:ext cx="207962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5" name="Object 35"/>
          <p:cNvGraphicFramePr>
            <a:graphicFrameLocks noChangeAspect="1"/>
          </p:cNvGraphicFramePr>
          <p:nvPr/>
        </p:nvGraphicFramePr>
        <p:xfrm>
          <a:off x="3770659" y="5227637"/>
          <a:ext cx="1287463" cy="820738"/>
        </p:xfrm>
        <a:graphic>
          <a:graphicData uri="http://schemas.openxmlformats.org/presentationml/2006/ole">
            <mc:AlternateContent xmlns:mc="http://schemas.openxmlformats.org/markup-compatibility/2006">
              <mc:Choice xmlns:v="urn:schemas-microsoft-com:vml" Requires="v">
                <p:oleObj spid="_x0000_s159826" name="Equation" r:id="rId17" imgW="596900" imgH="381000" progId="Equation.DSMT4">
                  <p:embed/>
                </p:oleObj>
              </mc:Choice>
              <mc:Fallback>
                <p:oleObj name="Equation" r:id="rId17" imgW="596900" imgH="381000" progId="Equation.DSMT4">
                  <p:embed/>
                  <p:pic>
                    <p:nvPicPr>
                      <p:cNvPr id="0" name="Object 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70659" y="5227637"/>
                        <a:ext cx="1287463" cy="82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61"/>
                                        </p:tgtEl>
                                        <p:attrNameLst>
                                          <p:attrName>style.visibility</p:attrName>
                                        </p:attrNameLst>
                                      </p:cBhvr>
                                      <p:to>
                                        <p:strVal val="visible"/>
                                      </p:to>
                                    </p:set>
                                    <p:anim calcmode="lin" valueType="num">
                                      <p:cBhvr additive="base">
                                        <p:cTn id="7" dur="500" fill="hold"/>
                                        <p:tgtEl>
                                          <p:spTgt spid="59461"/>
                                        </p:tgtEl>
                                        <p:attrNameLst>
                                          <p:attrName>ppt_x</p:attrName>
                                        </p:attrNameLst>
                                      </p:cBhvr>
                                      <p:tavLst>
                                        <p:tav tm="0">
                                          <p:val>
                                            <p:strVal val="0-#ppt_w/2"/>
                                          </p:val>
                                        </p:tav>
                                        <p:tav tm="100000">
                                          <p:val>
                                            <p:strVal val="#ppt_x"/>
                                          </p:val>
                                        </p:tav>
                                      </p:tavLst>
                                    </p:anim>
                                    <p:anim calcmode="lin" valueType="num">
                                      <p:cBhvr additive="base">
                                        <p:cTn id="8" dur="500" fill="hold"/>
                                        <p:tgtEl>
                                          <p:spTgt spid="594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0-#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0-#ppt_w/2"/>
                                          </p:val>
                                        </p:tav>
                                        <p:tav tm="100000">
                                          <p:val>
                                            <p:strVal val="#ppt_x"/>
                                          </p:val>
                                        </p:tav>
                                      </p:tavLst>
                                    </p:anim>
                                    <p:anim calcmode="lin" valueType="num">
                                      <p:cBhvr additive="base">
                                        <p:cTn id="44"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0-#ppt_w/2"/>
                                          </p:val>
                                        </p:tav>
                                        <p:tav tm="100000">
                                          <p:val>
                                            <p:strVal val="#ppt_x"/>
                                          </p:val>
                                        </p:tav>
                                      </p:tavLst>
                                    </p:anim>
                                    <p:anim calcmode="lin" valueType="num">
                                      <p:cBhvr additive="base">
                                        <p:cTn id="50"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0-#ppt_w/2"/>
                                          </p:val>
                                        </p:tav>
                                        <p:tav tm="100000">
                                          <p:val>
                                            <p:strVal val="#ppt_x"/>
                                          </p:val>
                                        </p:tav>
                                      </p:tavLst>
                                    </p:anim>
                                    <p:anim calcmode="lin" valueType="num">
                                      <p:cBhvr additive="base">
                                        <p:cTn id="5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0-#ppt_w/2"/>
                                          </p:val>
                                        </p:tav>
                                        <p:tav tm="100000">
                                          <p:val>
                                            <p:strVal val="#ppt_x"/>
                                          </p:val>
                                        </p:tav>
                                      </p:tavLst>
                                    </p:anim>
                                    <p:anim calcmode="lin" valueType="num">
                                      <p:cBhvr additive="base">
                                        <p:cTn id="62"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61"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15398" y="2727150"/>
            <a:ext cx="5040000" cy="1015663"/>
          </a:xfrm>
          <a:prstGeom prst="rect">
            <a:avLst/>
          </a:prstGeom>
          <a:noFill/>
        </p:spPr>
        <p:txBody>
          <a:bodyPr wrap="square" rtlCol="0">
            <a:spAutoFit/>
          </a:bodyPr>
          <a:lstStyle/>
          <a:p>
            <a:pPr algn="dist"/>
            <a:r>
              <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方差的性质</a:t>
            </a:r>
            <a:endPar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03</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24" name="Rectangle 68"/>
          <p:cNvSpPr>
            <a:spLocks noChangeArrowheads="1"/>
          </p:cNvSpPr>
          <p:nvPr/>
        </p:nvSpPr>
        <p:spPr bwMode="auto">
          <a:xfrm>
            <a:off x="1333720" y="1196231"/>
            <a:ext cx="51816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是常数，则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525" name="Rectangle 69"/>
          <p:cNvSpPr>
            <a:spLocks noChangeArrowheads="1"/>
          </p:cNvSpPr>
          <p:nvPr/>
        </p:nvSpPr>
        <p:spPr bwMode="auto">
          <a:xfrm>
            <a:off x="1335307" y="1902152"/>
            <a:ext cx="78486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是常数，则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526" name="Rectangle 70"/>
          <p:cNvSpPr>
            <a:spLocks noChangeArrowheads="1"/>
          </p:cNvSpPr>
          <p:nvPr/>
        </p:nvSpPr>
        <p:spPr bwMode="auto">
          <a:xfrm>
            <a:off x="1333720" y="2449550"/>
            <a:ext cx="7848600" cy="151426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65000"/>
              </a:lnSpc>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3.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是两个随机变量，则</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65000"/>
              </a:lnSpc>
            </a:pPr>
            <a:r>
              <a:rPr lang="zh-CN" altLang="en-US"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536" name="Group 80"/>
          <p:cNvGrpSpPr/>
          <p:nvPr/>
        </p:nvGrpSpPr>
        <p:grpSpPr bwMode="auto">
          <a:xfrm>
            <a:off x="1357392" y="5301208"/>
            <a:ext cx="5153025" cy="523874"/>
            <a:chOff x="288" y="704"/>
            <a:chExt cx="3246" cy="330"/>
          </a:xfrm>
        </p:grpSpPr>
        <p:sp>
          <p:nvSpPr>
            <p:cNvPr id="19537" name="Rectangle 81"/>
            <p:cNvSpPr>
              <a:spLocks noChangeArrowheads="1"/>
            </p:cNvSpPr>
            <p:nvPr/>
          </p:nvSpPr>
          <p:spPr bwMode="auto">
            <a:xfrm>
              <a:off x="288" y="704"/>
              <a:ext cx="3246"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4.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9538" name="Object 82"/>
            <p:cNvGraphicFramePr>
              <a:graphicFrameLocks noChangeAspect="1"/>
            </p:cNvGraphicFramePr>
            <p:nvPr/>
          </p:nvGraphicFramePr>
          <p:xfrm>
            <a:off x="1837" y="707"/>
            <a:ext cx="464" cy="327"/>
          </p:xfrm>
          <a:graphic>
            <a:graphicData uri="http://schemas.openxmlformats.org/presentationml/2006/ole">
              <mc:AlternateContent xmlns:mc="http://schemas.openxmlformats.org/markup-compatibility/2006">
                <mc:Choice xmlns:v="urn:schemas-microsoft-com:vml" Requires="v">
                  <p:oleObj spid="_x0000_s160778" name="Equation" r:id="rId1" imgW="5181600" imgH="3657600" progId="Equation.DSMT4">
                    <p:embed/>
                  </p:oleObj>
                </mc:Choice>
                <mc:Fallback>
                  <p:oleObj name="Equation" r:id="rId1" imgW="5181600" imgH="3657600" progId="Equation.DSMT4">
                    <p:embed/>
                    <p:pic>
                      <p:nvPicPr>
                        <p:cNvPr id="0" name="Object 82"/>
                        <p:cNvPicPr>
                          <a:picLocks noChangeAspect="1" noChangeArrowheads="1"/>
                        </p:cNvPicPr>
                        <p:nvPr/>
                      </p:nvPicPr>
                      <p:blipFill>
                        <a:blip r:embed="rId2"/>
                        <a:srcRect/>
                        <a:stretch>
                          <a:fillRect/>
                        </a:stretch>
                      </p:blipFill>
                      <p:spPr bwMode="auto">
                        <a:xfrm>
                          <a:off x="1837" y="707"/>
                          <a:ext cx="46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539" name="Text Box 83"/>
          <p:cNvSpPr txBox="1">
            <a:spLocks noChangeArrowheads="1"/>
          </p:cNvSpPr>
          <p:nvPr/>
        </p:nvSpPr>
        <p:spPr bwMode="auto">
          <a:xfrm>
            <a:off x="6532099" y="5301208"/>
            <a:ext cx="21066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这里</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C=E(X)</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三、方差的性质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mc:AlternateContent xmlns:mc="http://schemas.openxmlformats.org/markup-compatibility/2006">
        <mc:Choice xmlns:a14="http://schemas.microsoft.com/office/drawing/2010/main" Requires="a14">
          <p:sp>
            <p:nvSpPr>
              <p:cNvPr id="15" name="Object 11"/>
              <p:cNvSpPr txBox="1"/>
              <p:nvPr/>
            </p:nvSpPr>
            <p:spPr bwMode="auto">
              <a:xfrm>
                <a:off x="2495600" y="4119451"/>
                <a:ext cx="6565106" cy="871537"/>
              </a:xfrm>
              <a:prstGeom prst="rect">
                <a:avLst/>
              </a:prstGeom>
              <a:solidFill>
                <a:srgbClr val="C00000"/>
              </a:solidFill>
              <a:ln>
                <a:noFill/>
              </a:ln>
            </p:spPr>
            <p:txBody>
              <a:bodyPr>
                <a:noAutofit/>
              </a:bodyPr>
              <a:lstStyle/>
              <a:p>
                <a14:m>
                  <m:oMathPara xmlns:m="http://schemas.openxmlformats.org/officeDocument/2006/math">
                    <m:oMathParaPr>
                      <m:jc m:val="left"/>
                    </m:oMathParaPr>
                    <m:oMath xmlns:m="http://schemas.openxmlformats.org/officeDocument/2006/math">
                      <m:r>
                        <a:rPr lang="zh-CN" altLang="en-US" sz="2400" b="1" i="1" smtClean="0">
                          <a:solidFill>
                            <a:schemeClr val="bg1"/>
                          </a:solidFill>
                          <a:latin typeface="Cambria Math" panose="02040503050406030204" pitchFamily="18" charset="0"/>
                        </a:rPr>
                        <m:t>综合上述三项，设</m:t>
                      </m:r>
                      <m:r>
                        <a:rPr lang="zh-CN" altLang="en-US" sz="2400" b="1" i="1" smtClean="0">
                          <a:solidFill>
                            <a:schemeClr val="bg1"/>
                          </a:solidFill>
                          <a:latin typeface="Cambria Math" panose="02040503050406030204" pitchFamily="18" charset="0"/>
                        </a:rPr>
                        <m:t>𝑿</m:t>
                      </m:r>
                      <m:r>
                        <a:rPr lang="zh-CN" altLang="en-US" sz="2400" b="1" i="1" smtClean="0">
                          <a:solidFill>
                            <a:schemeClr val="bg1"/>
                          </a:solidFill>
                          <a:latin typeface="Cambria Math" panose="02040503050406030204" pitchFamily="18" charset="0"/>
                        </a:rPr>
                        <m:t>,</m:t>
                      </m:r>
                      <m:r>
                        <a:rPr lang="zh-CN" altLang="en-US" sz="2400" b="1" i="1" smtClean="0">
                          <a:solidFill>
                            <a:schemeClr val="bg1"/>
                          </a:solidFill>
                          <a:latin typeface="Cambria Math" panose="02040503050406030204" pitchFamily="18" charset="0"/>
                        </a:rPr>
                        <m:t>𝒀</m:t>
                      </m:r>
                      <m:r>
                        <a:rPr lang="zh-CN" altLang="en-US" sz="2400" b="1" i="1" smtClean="0">
                          <a:solidFill>
                            <a:schemeClr val="bg1"/>
                          </a:solidFill>
                          <a:latin typeface="Cambria Math" panose="02040503050406030204" pitchFamily="18" charset="0"/>
                        </a:rPr>
                        <m:t>相互独立，</m:t>
                      </m:r>
                      <m:r>
                        <a:rPr lang="zh-CN" altLang="en-US" sz="2400" b="1" i="1" smtClean="0">
                          <a:solidFill>
                            <a:schemeClr val="bg1"/>
                          </a:solidFill>
                          <a:latin typeface="Cambria Math" panose="02040503050406030204" pitchFamily="18" charset="0"/>
                        </a:rPr>
                        <m:t>𝒂</m:t>
                      </m:r>
                      <m:r>
                        <a:rPr lang="zh-CN" altLang="en-US" sz="2400" b="1" i="1" smtClean="0">
                          <a:solidFill>
                            <a:schemeClr val="bg1"/>
                          </a:solidFill>
                          <a:latin typeface="Cambria Math" panose="02040503050406030204" pitchFamily="18" charset="0"/>
                        </a:rPr>
                        <m:t>,</m:t>
                      </m:r>
                      <m:r>
                        <a:rPr lang="zh-CN" altLang="en-US" sz="2400" b="1" i="1" smtClean="0">
                          <a:solidFill>
                            <a:schemeClr val="bg1"/>
                          </a:solidFill>
                          <a:latin typeface="Cambria Math" panose="02040503050406030204" pitchFamily="18" charset="0"/>
                        </a:rPr>
                        <m:t>𝒃</m:t>
                      </m:r>
                      <m:r>
                        <a:rPr lang="zh-CN" altLang="en-US" sz="2400" b="1" i="1" smtClean="0">
                          <a:solidFill>
                            <a:schemeClr val="bg1"/>
                          </a:solidFill>
                          <a:latin typeface="Cambria Math" panose="02040503050406030204" pitchFamily="18" charset="0"/>
                        </a:rPr>
                        <m:t>,</m:t>
                      </m:r>
                      <m:r>
                        <a:rPr lang="zh-CN" altLang="en-US" sz="2400" b="1" i="1" smtClean="0">
                          <a:solidFill>
                            <a:schemeClr val="bg1"/>
                          </a:solidFill>
                          <a:latin typeface="Cambria Math" panose="02040503050406030204" pitchFamily="18" charset="0"/>
                        </a:rPr>
                        <m:t>𝒄</m:t>
                      </m:r>
                      <m:r>
                        <a:rPr lang="zh-CN" altLang="en-US" sz="2400" b="1" i="1" smtClean="0">
                          <a:solidFill>
                            <a:schemeClr val="bg1"/>
                          </a:solidFill>
                          <a:latin typeface="Cambria Math" panose="02040503050406030204" pitchFamily="18" charset="0"/>
                        </a:rPr>
                        <m:t>是常数，</m:t>
                      </m:r>
                    </m:oMath>
                    <m:oMath xmlns:m="http://schemas.openxmlformats.org/officeDocument/2006/math">
                      <m:r>
                        <a:rPr lang="zh-CN" altLang="en-US" sz="2400" b="1" i="1">
                          <a:solidFill>
                            <a:schemeClr val="bg1"/>
                          </a:solidFill>
                          <a:latin typeface="Cambria Math" panose="02040503050406030204" pitchFamily="18" charset="0"/>
                        </a:rPr>
                        <m:t>则</m:t>
                      </m:r>
                      <m:r>
                        <a:rPr lang="zh-CN" altLang="en-US" sz="2400" b="1" i="1">
                          <a:solidFill>
                            <a:schemeClr val="bg1"/>
                          </a:solidFill>
                          <a:latin typeface="Cambria Math" panose="02040503050406030204" pitchFamily="18" charset="0"/>
                        </a:rPr>
                        <m:t>𝑫</m:t>
                      </m:r>
                      <m:r>
                        <a:rPr lang="zh-CN" altLang="en-US" sz="2400" b="1" i="1">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𝒂𝑿</m:t>
                      </m:r>
                      <m:r>
                        <a:rPr lang="zh-CN" altLang="en-US" sz="2400" b="1" i="1">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𝒃𝒀</m:t>
                      </m:r>
                      <m:r>
                        <a:rPr lang="zh-CN" altLang="en-US" sz="2400" b="1" i="1">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𝒄</m:t>
                      </m:r>
                      <m:r>
                        <a:rPr lang="zh-CN" altLang="en-US" sz="2400" b="1" i="1">
                          <a:solidFill>
                            <a:schemeClr val="bg1"/>
                          </a:solidFill>
                          <a:latin typeface="Cambria Math" panose="02040503050406030204" pitchFamily="18" charset="0"/>
                        </a:rPr>
                        <m:t>)=</m:t>
                      </m:r>
                      <m:sSup>
                        <m:sSupPr>
                          <m:ctrlPr>
                            <a:rPr lang="zh-CN" altLang="en-US" sz="2400" b="1" i="1">
                              <a:solidFill>
                                <a:schemeClr val="bg1"/>
                              </a:solidFill>
                              <a:latin typeface="Cambria Math" panose="02040503050406030204" pitchFamily="18" charset="0"/>
                            </a:rPr>
                          </m:ctrlPr>
                        </m:sSupPr>
                        <m:e>
                          <m:r>
                            <a:rPr lang="zh-CN" altLang="en-US" sz="2400" b="1" i="1">
                              <a:solidFill>
                                <a:schemeClr val="bg1"/>
                              </a:solidFill>
                              <a:latin typeface="Cambria Math" panose="02040503050406030204" pitchFamily="18" charset="0"/>
                            </a:rPr>
                            <m:t>𝒂</m:t>
                          </m:r>
                        </m:e>
                        <m:sup>
                          <m:r>
                            <a:rPr lang="zh-CN" altLang="en-US" sz="2400" b="1" i="1">
                              <a:solidFill>
                                <a:schemeClr val="bg1"/>
                              </a:solidFill>
                              <a:latin typeface="Cambria Math" panose="02040503050406030204" pitchFamily="18" charset="0"/>
                            </a:rPr>
                            <m:t>𝟐</m:t>
                          </m:r>
                        </m:sup>
                      </m:sSup>
                      <m:r>
                        <a:rPr lang="zh-CN" altLang="en-US" sz="2400" b="1" i="1">
                          <a:solidFill>
                            <a:schemeClr val="bg1"/>
                          </a:solidFill>
                          <a:latin typeface="Cambria Math" panose="02040503050406030204" pitchFamily="18" charset="0"/>
                        </a:rPr>
                        <m:t>𝑫</m:t>
                      </m:r>
                      <m:r>
                        <a:rPr lang="zh-CN" altLang="en-US" sz="2400" b="1" i="1">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𝑿</m:t>
                      </m:r>
                      <m:r>
                        <a:rPr lang="zh-CN" altLang="en-US" sz="2400" b="1" i="1">
                          <a:solidFill>
                            <a:schemeClr val="bg1"/>
                          </a:solidFill>
                          <a:latin typeface="Cambria Math" panose="02040503050406030204" pitchFamily="18" charset="0"/>
                        </a:rPr>
                        <m:t>)+</m:t>
                      </m:r>
                      <m:sSup>
                        <m:sSupPr>
                          <m:ctrlPr>
                            <a:rPr lang="zh-CN" altLang="en-US" sz="2400" b="1" i="1">
                              <a:solidFill>
                                <a:schemeClr val="bg1"/>
                              </a:solidFill>
                              <a:latin typeface="Cambria Math" panose="02040503050406030204" pitchFamily="18" charset="0"/>
                            </a:rPr>
                          </m:ctrlPr>
                        </m:sSupPr>
                        <m:e>
                          <m:r>
                            <a:rPr lang="zh-CN" altLang="en-US" sz="2400" b="1" i="1">
                              <a:solidFill>
                                <a:schemeClr val="bg1"/>
                              </a:solidFill>
                              <a:latin typeface="Cambria Math" panose="02040503050406030204" pitchFamily="18" charset="0"/>
                            </a:rPr>
                            <m:t>𝒃</m:t>
                          </m:r>
                        </m:e>
                        <m:sup>
                          <m:r>
                            <a:rPr lang="zh-CN" altLang="en-US" sz="2400" b="1" i="1">
                              <a:solidFill>
                                <a:schemeClr val="bg1"/>
                              </a:solidFill>
                              <a:latin typeface="Cambria Math" panose="02040503050406030204" pitchFamily="18" charset="0"/>
                            </a:rPr>
                            <m:t>𝟐</m:t>
                          </m:r>
                        </m:sup>
                      </m:sSup>
                      <m:r>
                        <a:rPr lang="zh-CN" altLang="en-US" sz="2400" b="1" i="1">
                          <a:solidFill>
                            <a:schemeClr val="bg1"/>
                          </a:solidFill>
                          <a:latin typeface="Cambria Math" panose="02040503050406030204" pitchFamily="18" charset="0"/>
                        </a:rPr>
                        <m:t>𝑫</m:t>
                      </m:r>
                      <m:r>
                        <a:rPr lang="zh-CN" altLang="en-US" sz="2400" b="1" i="1">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𝒀</m:t>
                      </m:r>
                      <m:r>
                        <a:rPr lang="zh-CN" altLang="en-US" sz="2400" b="1" i="1">
                          <a:solidFill>
                            <a:schemeClr val="bg1"/>
                          </a:solidFill>
                          <a:latin typeface="Cambria Math" panose="02040503050406030204" pitchFamily="18" charset="0"/>
                        </a:rPr>
                        <m:t>)</m:t>
                      </m:r>
                    </m:oMath>
                  </m:oMathPara>
                </a14:m>
                <a:endParaRPr lang="zh-CN" altLang="en-US" sz="2400" b="1" dirty="0">
                  <a:solidFill>
                    <a:schemeClr val="bg1"/>
                  </a:solidFill>
                </a:endParaRPr>
              </a:p>
            </p:txBody>
          </p:sp>
        </mc:Choice>
        <mc:Fallback>
          <p:sp>
            <p:nvSpPr>
              <p:cNvPr id="15" name="Object 11"/>
              <p:cNvSpPr txBox="1">
                <a:spLocks noRot="1" noChangeAspect="1" noMove="1" noResize="1" noEditPoints="1" noAdjustHandles="1" noChangeArrowheads="1" noChangeShapeType="1" noTextEdit="1"/>
              </p:cNvSpPr>
              <p:nvPr/>
            </p:nvSpPr>
            <p:spPr bwMode="auto">
              <a:xfrm>
                <a:off x="2495600" y="4119451"/>
                <a:ext cx="6565106" cy="871537"/>
              </a:xfrm>
              <a:prstGeom prst="rect">
                <a:avLst/>
              </a:prstGeom>
              <a:blipFill rotWithShape="1">
                <a:blip r:embed="rId3"/>
                <a:stretch>
                  <a:fillRect l="-1" t="-24" r="8" b="60"/>
                </a:stretch>
              </a:blipFill>
              <a:ln>
                <a:no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524"/>
                                        </p:tgtEl>
                                        <p:attrNameLst>
                                          <p:attrName>style.visibility</p:attrName>
                                        </p:attrNameLst>
                                      </p:cBhvr>
                                      <p:to>
                                        <p:strVal val="visible"/>
                                      </p:to>
                                    </p:set>
                                    <p:anim calcmode="lin" valueType="num">
                                      <p:cBhvr additive="base">
                                        <p:cTn id="7" dur="500" fill="hold"/>
                                        <p:tgtEl>
                                          <p:spTgt spid="19524"/>
                                        </p:tgtEl>
                                        <p:attrNameLst>
                                          <p:attrName>ppt_x</p:attrName>
                                        </p:attrNameLst>
                                      </p:cBhvr>
                                      <p:tavLst>
                                        <p:tav tm="0">
                                          <p:val>
                                            <p:strVal val="0-#ppt_w/2"/>
                                          </p:val>
                                        </p:tav>
                                        <p:tav tm="100000">
                                          <p:val>
                                            <p:strVal val="#ppt_x"/>
                                          </p:val>
                                        </p:tav>
                                      </p:tavLst>
                                    </p:anim>
                                    <p:anim calcmode="lin" valueType="num">
                                      <p:cBhvr additive="base">
                                        <p:cTn id="8" dur="500" fill="hold"/>
                                        <p:tgtEl>
                                          <p:spTgt spid="195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525"/>
                                        </p:tgtEl>
                                        <p:attrNameLst>
                                          <p:attrName>style.visibility</p:attrName>
                                        </p:attrNameLst>
                                      </p:cBhvr>
                                      <p:to>
                                        <p:strVal val="visible"/>
                                      </p:to>
                                    </p:set>
                                    <p:anim calcmode="lin" valueType="num">
                                      <p:cBhvr additive="base">
                                        <p:cTn id="13" dur="500" fill="hold"/>
                                        <p:tgtEl>
                                          <p:spTgt spid="19525"/>
                                        </p:tgtEl>
                                        <p:attrNameLst>
                                          <p:attrName>ppt_x</p:attrName>
                                        </p:attrNameLst>
                                      </p:cBhvr>
                                      <p:tavLst>
                                        <p:tav tm="0">
                                          <p:val>
                                            <p:strVal val="0-#ppt_w/2"/>
                                          </p:val>
                                        </p:tav>
                                        <p:tav tm="100000">
                                          <p:val>
                                            <p:strVal val="#ppt_x"/>
                                          </p:val>
                                        </p:tav>
                                      </p:tavLst>
                                    </p:anim>
                                    <p:anim calcmode="lin" valueType="num">
                                      <p:cBhvr additive="base">
                                        <p:cTn id="14" dur="500" fill="hold"/>
                                        <p:tgtEl>
                                          <p:spTgt spid="1952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526"/>
                                        </p:tgtEl>
                                        <p:attrNameLst>
                                          <p:attrName>style.visibility</p:attrName>
                                        </p:attrNameLst>
                                      </p:cBhvr>
                                      <p:to>
                                        <p:strVal val="visible"/>
                                      </p:to>
                                    </p:set>
                                    <p:anim calcmode="lin" valueType="num">
                                      <p:cBhvr additive="base">
                                        <p:cTn id="19" dur="500" fill="hold"/>
                                        <p:tgtEl>
                                          <p:spTgt spid="19526"/>
                                        </p:tgtEl>
                                        <p:attrNameLst>
                                          <p:attrName>ppt_x</p:attrName>
                                        </p:attrNameLst>
                                      </p:cBhvr>
                                      <p:tavLst>
                                        <p:tav tm="0">
                                          <p:val>
                                            <p:strVal val="0-#ppt_w/2"/>
                                          </p:val>
                                        </p:tav>
                                        <p:tav tm="100000">
                                          <p:val>
                                            <p:strVal val="#ppt_x"/>
                                          </p:val>
                                        </p:tav>
                                      </p:tavLst>
                                    </p:anim>
                                    <p:anim calcmode="lin" valueType="num">
                                      <p:cBhvr additive="base">
                                        <p:cTn id="20" dur="500" fill="hold"/>
                                        <p:tgtEl>
                                          <p:spTgt spid="1952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arn(inVertical)">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9536"/>
                                        </p:tgtEl>
                                        <p:attrNameLst>
                                          <p:attrName>style.visibility</p:attrName>
                                        </p:attrNameLst>
                                      </p:cBhvr>
                                      <p:to>
                                        <p:strVal val="visible"/>
                                      </p:to>
                                    </p:set>
                                    <p:anim calcmode="lin" valueType="num">
                                      <p:cBhvr additive="base">
                                        <p:cTn id="30" dur="500" fill="hold"/>
                                        <p:tgtEl>
                                          <p:spTgt spid="19536"/>
                                        </p:tgtEl>
                                        <p:attrNameLst>
                                          <p:attrName>ppt_x</p:attrName>
                                        </p:attrNameLst>
                                      </p:cBhvr>
                                      <p:tavLst>
                                        <p:tav tm="0">
                                          <p:val>
                                            <p:strVal val="0-#ppt_w/2"/>
                                          </p:val>
                                        </p:tav>
                                        <p:tav tm="100000">
                                          <p:val>
                                            <p:strVal val="#ppt_x"/>
                                          </p:val>
                                        </p:tav>
                                      </p:tavLst>
                                    </p:anim>
                                    <p:anim calcmode="lin" valueType="num">
                                      <p:cBhvr additive="base">
                                        <p:cTn id="31" dur="500" fill="hold"/>
                                        <p:tgtEl>
                                          <p:spTgt spid="1953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9539"/>
                                        </p:tgtEl>
                                        <p:attrNameLst>
                                          <p:attrName>style.visibility</p:attrName>
                                        </p:attrNameLst>
                                      </p:cBhvr>
                                      <p:to>
                                        <p:strVal val="visible"/>
                                      </p:to>
                                    </p:set>
                                    <p:anim calcmode="lin" valueType="num">
                                      <p:cBhvr additive="base">
                                        <p:cTn id="36" dur="500" fill="hold"/>
                                        <p:tgtEl>
                                          <p:spTgt spid="19539"/>
                                        </p:tgtEl>
                                        <p:attrNameLst>
                                          <p:attrName>ppt_x</p:attrName>
                                        </p:attrNameLst>
                                      </p:cBhvr>
                                      <p:tavLst>
                                        <p:tav tm="0">
                                          <p:val>
                                            <p:strVal val="0-#ppt_w/2"/>
                                          </p:val>
                                        </p:tav>
                                        <p:tav tm="100000">
                                          <p:val>
                                            <p:strVal val="#ppt_x"/>
                                          </p:val>
                                        </p:tav>
                                      </p:tavLst>
                                    </p:anim>
                                    <p:anim calcmode="lin" valueType="num">
                                      <p:cBhvr additive="base">
                                        <p:cTn id="37" dur="500" fill="hold"/>
                                        <p:tgtEl>
                                          <p:spTgt spid="195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24" grpId="0" bldLvl="0" animBg="1"/>
      <p:bldP spid="19525" grpId="0" bldLvl="0" animBg="1"/>
      <p:bldP spid="19526" grpId="0" bldLvl="0" animBg="1"/>
      <p:bldP spid="19539" grpId="0" bldLvl="0" animBg="1"/>
      <p:bldP spid="15"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39" name="Text Box 35"/>
          <p:cNvSpPr txBox="1">
            <a:spLocks noChangeArrowheads="1"/>
          </p:cNvSpPr>
          <p:nvPr/>
        </p:nvSpPr>
        <p:spPr bwMode="auto">
          <a:xfrm>
            <a:off x="2309411" y="1283018"/>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证明</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1540" name="Object 36"/>
          <p:cNvGraphicFramePr>
            <a:graphicFrameLocks noChangeAspect="1"/>
          </p:cNvGraphicFramePr>
          <p:nvPr/>
        </p:nvGraphicFramePr>
        <p:xfrm>
          <a:off x="3215680" y="1259504"/>
          <a:ext cx="7399584" cy="2558220"/>
        </p:xfrm>
        <a:graphic>
          <a:graphicData uri="http://schemas.openxmlformats.org/presentationml/2006/ole">
            <mc:AlternateContent xmlns:mc="http://schemas.openxmlformats.org/markup-compatibility/2006">
              <mc:Choice xmlns:v="urn:schemas-microsoft-com:vml" Requires="v">
                <p:oleObj spid="_x0000_s161810" name="Equation" r:id="rId1" imgW="81991200" imgH="28346400" progId="Equation.DSMT4">
                  <p:embed/>
                </p:oleObj>
              </mc:Choice>
              <mc:Fallback>
                <p:oleObj name="Equation" r:id="rId1" imgW="81991200" imgH="28346400" progId="Equation.DSMT4">
                  <p:embed/>
                  <p:pic>
                    <p:nvPicPr>
                      <p:cNvPr id="0" name="Object 36"/>
                      <p:cNvPicPr>
                        <a:picLocks noChangeAspect="1" noChangeArrowheads="1"/>
                      </p:cNvPicPr>
                      <p:nvPr/>
                    </p:nvPicPr>
                    <p:blipFill>
                      <a:blip r:embed="rId2"/>
                      <a:srcRect/>
                      <a:stretch>
                        <a:fillRect/>
                      </a:stretch>
                    </p:blipFill>
                    <p:spPr bwMode="auto">
                      <a:xfrm>
                        <a:off x="3215680" y="1259504"/>
                        <a:ext cx="7399584" cy="2558220"/>
                      </a:xfrm>
                      <a:prstGeom prst="rect">
                        <a:avLst/>
                      </a:prstGeom>
                      <a:noFill/>
                      <a:ln>
                        <a:noFill/>
                      </a:ln>
                      <a:effectLst/>
                    </p:spPr>
                  </p:pic>
                </p:oleObj>
              </mc:Fallback>
            </mc:AlternateContent>
          </a:graphicData>
        </a:graphic>
      </p:graphicFrame>
      <p:sp>
        <p:nvSpPr>
          <p:cNvPr id="21541" name="Text Box 37"/>
          <p:cNvSpPr txBox="1">
            <a:spLocks noChangeArrowheads="1"/>
          </p:cNvSpPr>
          <p:nvPr/>
        </p:nvSpPr>
        <p:spPr bwMode="auto">
          <a:xfrm>
            <a:off x="2423592" y="3972792"/>
            <a:ext cx="57741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X,Y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相互独立，由数学期望的性质 </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4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得</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1542" name="Object 38"/>
          <p:cNvGraphicFramePr>
            <a:graphicFrameLocks noChangeAspect="1"/>
          </p:cNvGraphicFramePr>
          <p:nvPr/>
        </p:nvGraphicFramePr>
        <p:xfrm>
          <a:off x="4407899" y="4704799"/>
          <a:ext cx="3813720" cy="484282"/>
        </p:xfrm>
        <a:graphic>
          <a:graphicData uri="http://schemas.openxmlformats.org/presentationml/2006/ole">
            <mc:AlternateContent xmlns:mc="http://schemas.openxmlformats.org/markup-compatibility/2006">
              <mc:Choice xmlns:v="urn:schemas-microsoft-com:vml" Requires="v">
                <p:oleObj spid="_x0000_s161811" name="Equation" r:id="rId3" imgW="38404800" imgH="4876800" progId="Equation.DSMT4">
                  <p:embed/>
                </p:oleObj>
              </mc:Choice>
              <mc:Fallback>
                <p:oleObj name="Equation" r:id="rId3" imgW="38404800" imgH="4876800" progId="Equation.DSMT4">
                  <p:embed/>
                  <p:pic>
                    <p:nvPicPr>
                      <p:cNvPr id="0" name="Object 38"/>
                      <p:cNvPicPr>
                        <a:picLocks noChangeAspect="1" noChangeArrowheads="1"/>
                      </p:cNvPicPr>
                      <p:nvPr/>
                    </p:nvPicPr>
                    <p:blipFill>
                      <a:blip r:embed="rId4"/>
                      <a:srcRect/>
                      <a:stretch>
                        <a:fillRect/>
                      </a:stretch>
                    </p:blipFill>
                    <p:spPr bwMode="auto">
                      <a:xfrm>
                        <a:off x="4407899" y="4704799"/>
                        <a:ext cx="3813720" cy="484282"/>
                      </a:xfrm>
                      <a:prstGeom prst="rect">
                        <a:avLst/>
                      </a:prstGeom>
                      <a:noFill/>
                      <a:ln>
                        <a:noFill/>
                      </a:ln>
                      <a:effectLst/>
                    </p:spPr>
                  </p:pic>
                </p:oleObj>
              </mc:Fallback>
            </mc:AlternateContent>
          </a:graphicData>
        </a:graphic>
      </p:graphicFrame>
      <p:sp>
        <p:nvSpPr>
          <p:cNvPr id="21543" name="Text Box 39"/>
          <p:cNvSpPr txBox="1">
            <a:spLocks noChangeArrowheads="1"/>
          </p:cNvSpPr>
          <p:nvPr/>
        </p:nvSpPr>
        <p:spPr bwMode="auto">
          <a:xfrm>
            <a:off x="1487488" y="5344149"/>
            <a:ext cx="834033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此性质可以推广到有限多个相互独立的随机变量之和的情况。</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Rectangle 70"/>
          <p:cNvSpPr>
            <a:spLocks noChangeArrowheads="1"/>
          </p:cNvSpPr>
          <p:nvPr/>
        </p:nvSpPr>
        <p:spPr bwMode="auto">
          <a:xfrm>
            <a:off x="1335307" y="1186019"/>
            <a:ext cx="1088285" cy="62241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65000"/>
              </a:lnSpc>
            </a:pP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3. </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8" name="直接连接符 7"/>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三、方差的性质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539"/>
                                        </p:tgtEl>
                                        <p:attrNameLst>
                                          <p:attrName>style.visibility</p:attrName>
                                        </p:attrNameLst>
                                      </p:cBhvr>
                                      <p:to>
                                        <p:strVal val="visible"/>
                                      </p:to>
                                    </p:set>
                                    <p:anim calcmode="lin" valueType="num">
                                      <p:cBhvr additive="base">
                                        <p:cTn id="13" dur="500" fill="hold"/>
                                        <p:tgtEl>
                                          <p:spTgt spid="21539"/>
                                        </p:tgtEl>
                                        <p:attrNameLst>
                                          <p:attrName>ppt_x</p:attrName>
                                        </p:attrNameLst>
                                      </p:cBhvr>
                                      <p:tavLst>
                                        <p:tav tm="0">
                                          <p:val>
                                            <p:strVal val="0-#ppt_w/2"/>
                                          </p:val>
                                        </p:tav>
                                        <p:tav tm="100000">
                                          <p:val>
                                            <p:strVal val="#ppt_x"/>
                                          </p:val>
                                        </p:tav>
                                      </p:tavLst>
                                    </p:anim>
                                    <p:anim calcmode="lin" valueType="num">
                                      <p:cBhvr additive="base">
                                        <p:cTn id="14" dur="500" fill="hold"/>
                                        <p:tgtEl>
                                          <p:spTgt spid="215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1540"/>
                                        </p:tgtEl>
                                        <p:attrNameLst>
                                          <p:attrName>style.visibility</p:attrName>
                                        </p:attrNameLst>
                                      </p:cBhvr>
                                      <p:to>
                                        <p:strVal val="visible"/>
                                      </p:to>
                                    </p:set>
                                    <p:anim calcmode="lin" valueType="num">
                                      <p:cBhvr additive="base">
                                        <p:cTn id="19" dur="500" fill="hold"/>
                                        <p:tgtEl>
                                          <p:spTgt spid="21540"/>
                                        </p:tgtEl>
                                        <p:attrNameLst>
                                          <p:attrName>ppt_x</p:attrName>
                                        </p:attrNameLst>
                                      </p:cBhvr>
                                      <p:tavLst>
                                        <p:tav tm="0">
                                          <p:val>
                                            <p:strVal val="0-#ppt_w/2"/>
                                          </p:val>
                                        </p:tav>
                                        <p:tav tm="100000">
                                          <p:val>
                                            <p:strVal val="#ppt_x"/>
                                          </p:val>
                                        </p:tav>
                                      </p:tavLst>
                                    </p:anim>
                                    <p:anim calcmode="lin" valueType="num">
                                      <p:cBhvr additive="base">
                                        <p:cTn id="20" dur="500" fill="hold"/>
                                        <p:tgtEl>
                                          <p:spTgt spid="2154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541"/>
                                        </p:tgtEl>
                                        <p:attrNameLst>
                                          <p:attrName>style.visibility</p:attrName>
                                        </p:attrNameLst>
                                      </p:cBhvr>
                                      <p:to>
                                        <p:strVal val="visible"/>
                                      </p:to>
                                    </p:set>
                                    <p:anim calcmode="lin" valueType="num">
                                      <p:cBhvr additive="base">
                                        <p:cTn id="25" dur="500" fill="hold"/>
                                        <p:tgtEl>
                                          <p:spTgt spid="21541"/>
                                        </p:tgtEl>
                                        <p:attrNameLst>
                                          <p:attrName>ppt_x</p:attrName>
                                        </p:attrNameLst>
                                      </p:cBhvr>
                                      <p:tavLst>
                                        <p:tav tm="0">
                                          <p:val>
                                            <p:strVal val="0-#ppt_w/2"/>
                                          </p:val>
                                        </p:tav>
                                        <p:tav tm="100000">
                                          <p:val>
                                            <p:strVal val="#ppt_x"/>
                                          </p:val>
                                        </p:tav>
                                      </p:tavLst>
                                    </p:anim>
                                    <p:anim calcmode="lin" valueType="num">
                                      <p:cBhvr additive="base">
                                        <p:cTn id="26" dur="500" fill="hold"/>
                                        <p:tgtEl>
                                          <p:spTgt spid="2154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1542"/>
                                        </p:tgtEl>
                                        <p:attrNameLst>
                                          <p:attrName>style.visibility</p:attrName>
                                        </p:attrNameLst>
                                      </p:cBhvr>
                                      <p:to>
                                        <p:strVal val="visible"/>
                                      </p:to>
                                    </p:set>
                                    <p:anim calcmode="lin" valueType="num">
                                      <p:cBhvr additive="base">
                                        <p:cTn id="31" dur="500" fill="hold"/>
                                        <p:tgtEl>
                                          <p:spTgt spid="21542"/>
                                        </p:tgtEl>
                                        <p:attrNameLst>
                                          <p:attrName>ppt_x</p:attrName>
                                        </p:attrNameLst>
                                      </p:cBhvr>
                                      <p:tavLst>
                                        <p:tav tm="0">
                                          <p:val>
                                            <p:strVal val="0-#ppt_w/2"/>
                                          </p:val>
                                        </p:tav>
                                        <p:tav tm="100000">
                                          <p:val>
                                            <p:strVal val="#ppt_x"/>
                                          </p:val>
                                        </p:tav>
                                      </p:tavLst>
                                    </p:anim>
                                    <p:anim calcmode="lin" valueType="num">
                                      <p:cBhvr additive="base">
                                        <p:cTn id="32" dur="500" fill="hold"/>
                                        <p:tgtEl>
                                          <p:spTgt spid="2154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1543"/>
                                        </p:tgtEl>
                                        <p:attrNameLst>
                                          <p:attrName>style.visibility</p:attrName>
                                        </p:attrNameLst>
                                      </p:cBhvr>
                                      <p:to>
                                        <p:strVal val="visible"/>
                                      </p:to>
                                    </p:set>
                                    <p:anim calcmode="lin" valueType="num">
                                      <p:cBhvr additive="base">
                                        <p:cTn id="37" dur="500" fill="hold"/>
                                        <p:tgtEl>
                                          <p:spTgt spid="21543"/>
                                        </p:tgtEl>
                                        <p:attrNameLst>
                                          <p:attrName>ppt_x</p:attrName>
                                        </p:attrNameLst>
                                      </p:cBhvr>
                                      <p:tavLst>
                                        <p:tav tm="0">
                                          <p:val>
                                            <p:strVal val="0-#ppt_w/2"/>
                                          </p:val>
                                        </p:tav>
                                        <p:tav tm="100000">
                                          <p:val>
                                            <p:strVal val="#ppt_x"/>
                                          </p:val>
                                        </p:tav>
                                      </p:tavLst>
                                    </p:anim>
                                    <p:anim calcmode="lin" valueType="num">
                                      <p:cBhvr additive="base">
                                        <p:cTn id="38" dur="500" fill="hold"/>
                                        <p:tgtEl>
                                          <p:spTgt spid="215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39" grpId="0" bldLvl="0" animBg="1" autoUpdateAnimBg="0"/>
      <p:bldP spid="21541" grpId="0" bldLvl="0" animBg="1" autoUpdateAnimBg="0"/>
      <p:bldP spid="21543" grpId="0" bldLvl="0" animBg="1" autoUpdateAnimBg="0"/>
      <p:bldP spid="9"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03" name="Rectangle 3199"/>
          <p:cNvSpPr>
            <a:spLocks noChangeArrowheads="1"/>
          </p:cNvSpPr>
          <p:nvPr/>
        </p:nvSpPr>
        <p:spPr bwMode="auto">
          <a:xfrm>
            <a:off x="1335307" y="1189102"/>
            <a:ext cx="5570756"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6</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，求</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D(X).</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4705" name="Group 3201"/>
          <p:cNvGrpSpPr/>
          <p:nvPr/>
        </p:nvGrpSpPr>
        <p:grpSpPr bwMode="auto">
          <a:xfrm>
            <a:off x="2214969" y="2831131"/>
            <a:ext cx="7978775" cy="1238250"/>
            <a:chOff x="416" y="1409"/>
            <a:chExt cx="5026" cy="780"/>
          </a:xfrm>
        </p:grpSpPr>
        <p:sp>
          <p:nvSpPr>
            <p:cNvPr id="24706" name="Rectangle 3202"/>
            <p:cNvSpPr>
              <a:spLocks noChangeArrowheads="1"/>
            </p:cNvSpPr>
            <p:nvPr/>
          </p:nvSpPr>
          <p:spPr bwMode="auto">
            <a:xfrm>
              <a:off x="416" y="1571"/>
              <a:ext cx="569"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若设</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4707" name="Object 3203"/>
            <p:cNvGraphicFramePr>
              <a:graphicFrameLocks noChangeAspect="1"/>
            </p:cNvGraphicFramePr>
            <p:nvPr/>
          </p:nvGraphicFramePr>
          <p:xfrm>
            <a:off x="1020" y="1409"/>
            <a:ext cx="2883" cy="780"/>
          </p:xfrm>
          <a:graphic>
            <a:graphicData uri="http://schemas.openxmlformats.org/presentationml/2006/ole">
              <mc:AlternateContent xmlns:mc="http://schemas.openxmlformats.org/markup-compatibility/2006">
                <mc:Choice xmlns:v="urn:schemas-microsoft-com:vml" Requires="v">
                  <p:oleObj spid="_x0000_s162834" name="Equation" r:id="rId1" imgW="42672000" imgH="11582400" progId="Equation.DSMT4">
                    <p:embed/>
                  </p:oleObj>
                </mc:Choice>
                <mc:Fallback>
                  <p:oleObj name="Equation" r:id="rId1" imgW="42672000" imgH="11582400" progId="Equation.DSMT4">
                    <p:embed/>
                    <p:pic>
                      <p:nvPicPr>
                        <p:cNvPr id="0" name="Object 3203"/>
                        <p:cNvPicPr>
                          <a:picLocks noChangeAspect="1" noChangeArrowheads="1"/>
                        </p:cNvPicPr>
                        <p:nvPr/>
                      </p:nvPicPr>
                      <p:blipFill>
                        <a:blip r:embed="rId2"/>
                        <a:srcRect/>
                        <a:stretch>
                          <a:fillRect/>
                        </a:stretch>
                      </p:blipFill>
                      <p:spPr bwMode="auto">
                        <a:xfrm>
                          <a:off x="1020" y="1409"/>
                          <a:ext cx="2883" cy="7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708" name="Rectangle 3204"/>
            <p:cNvSpPr>
              <a:spLocks noChangeArrowheads="1"/>
            </p:cNvSpPr>
            <p:nvPr/>
          </p:nvSpPr>
          <p:spPr bwMode="auto">
            <a:xfrm>
              <a:off x="4046" y="1571"/>
              <a:ext cx="1396"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=1,2</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4718" name="Group 3214"/>
          <p:cNvGrpSpPr/>
          <p:nvPr/>
        </p:nvGrpSpPr>
        <p:grpSpPr bwMode="auto">
          <a:xfrm>
            <a:off x="2214969" y="4282604"/>
            <a:ext cx="7386638" cy="1090612"/>
            <a:chOff x="217" y="3025"/>
            <a:chExt cx="4653" cy="687"/>
          </a:xfrm>
        </p:grpSpPr>
        <p:sp>
          <p:nvSpPr>
            <p:cNvPr id="24711" name="Text Box 3207"/>
            <p:cNvSpPr txBox="1">
              <a:spLocks noChangeArrowheads="1"/>
            </p:cNvSpPr>
            <p:nvPr/>
          </p:nvSpPr>
          <p:spPr bwMode="auto">
            <a:xfrm>
              <a:off x="217" y="3178"/>
              <a:ext cx="4653"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                    是</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次试验中“成功” 的次数。</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4712" name="Object 3208"/>
            <p:cNvGraphicFramePr>
              <a:graphicFrameLocks noChangeAspect="1"/>
            </p:cNvGraphicFramePr>
            <p:nvPr/>
          </p:nvGraphicFramePr>
          <p:xfrm>
            <a:off x="597" y="3025"/>
            <a:ext cx="1076" cy="687"/>
          </p:xfrm>
          <a:graphic>
            <a:graphicData uri="http://schemas.openxmlformats.org/presentationml/2006/ole">
              <mc:AlternateContent xmlns:mc="http://schemas.openxmlformats.org/markup-compatibility/2006">
                <mc:Choice xmlns:v="urn:schemas-microsoft-com:vml" Requires="v">
                  <p:oleObj spid="_x0000_s162835" name="Equation" r:id="rId3" imgW="16154400" imgH="10363200" progId="Equation.DSMT4">
                    <p:embed/>
                  </p:oleObj>
                </mc:Choice>
                <mc:Fallback>
                  <p:oleObj name="Equation" r:id="rId3" imgW="16154400" imgH="10363200" progId="Equation.DSMT4">
                    <p:embed/>
                    <p:pic>
                      <p:nvPicPr>
                        <p:cNvPr id="0" name="Object 3208"/>
                        <p:cNvPicPr>
                          <a:picLocks noChangeAspect="1" noChangeArrowheads="1"/>
                        </p:cNvPicPr>
                        <p:nvPr/>
                      </p:nvPicPr>
                      <p:blipFill>
                        <a:blip r:embed="rId4"/>
                        <a:srcRect/>
                        <a:stretch>
                          <a:fillRect/>
                        </a:stretch>
                      </p:blipFill>
                      <p:spPr bwMode="auto">
                        <a:xfrm>
                          <a:off x="597" y="3025"/>
                          <a:ext cx="1076" cy="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4717" name="Rectangle 3213"/>
          <p:cNvSpPr>
            <a:spLocks noChangeArrowheads="1"/>
          </p:cNvSpPr>
          <p:nvPr/>
        </p:nvSpPr>
        <p:spPr bwMode="auto">
          <a:xfrm>
            <a:off x="1559496" y="2005144"/>
            <a:ext cx="92897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表示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重努里试验中的“成功” 次数。</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20" name="直接连接符 1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2" name="组合 21"/>
          <p:cNvGrpSpPr/>
          <p:nvPr/>
        </p:nvGrpSpPr>
        <p:grpSpPr>
          <a:xfrm>
            <a:off x="851761" y="364781"/>
            <a:ext cx="263341" cy="395013"/>
            <a:chOff x="5284519" y="1508166"/>
            <a:chExt cx="213756" cy="427512"/>
          </a:xfrm>
        </p:grpSpPr>
        <p:cxnSp>
          <p:nvCxnSpPr>
            <p:cNvPr id="23" name="直接连接符 2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4" name="直接连接符 2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703"/>
                                        </p:tgtEl>
                                        <p:attrNameLst>
                                          <p:attrName>style.visibility</p:attrName>
                                        </p:attrNameLst>
                                      </p:cBhvr>
                                      <p:to>
                                        <p:strVal val="visible"/>
                                      </p:to>
                                    </p:set>
                                    <p:animEffect transition="in" filter="wipe(left)">
                                      <p:cBhvr>
                                        <p:cTn id="7" dur="500"/>
                                        <p:tgtEl>
                                          <p:spTgt spid="2470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4717"/>
                                        </p:tgtEl>
                                        <p:attrNameLst>
                                          <p:attrName>style.visibility</p:attrName>
                                        </p:attrNameLst>
                                      </p:cBhvr>
                                      <p:to>
                                        <p:strVal val="visible"/>
                                      </p:to>
                                    </p:set>
                                    <p:anim calcmode="lin" valueType="num">
                                      <p:cBhvr additive="base">
                                        <p:cTn id="12" dur="500" fill="hold"/>
                                        <p:tgtEl>
                                          <p:spTgt spid="24717"/>
                                        </p:tgtEl>
                                        <p:attrNameLst>
                                          <p:attrName>ppt_x</p:attrName>
                                        </p:attrNameLst>
                                      </p:cBhvr>
                                      <p:tavLst>
                                        <p:tav tm="0">
                                          <p:val>
                                            <p:strVal val="0-#ppt_w/2"/>
                                          </p:val>
                                        </p:tav>
                                        <p:tav tm="100000">
                                          <p:val>
                                            <p:strVal val="#ppt_x"/>
                                          </p:val>
                                        </p:tav>
                                      </p:tavLst>
                                    </p:anim>
                                    <p:anim calcmode="lin" valueType="num">
                                      <p:cBhvr additive="base">
                                        <p:cTn id="13" dur="500" fill="hold"/>
                                        <p:tgtEl>
                                          <p:spTgt spid="2471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4705"/>
                                        </p:tgtEl>
                                        <p:attrNameLst>
                                          <p:attrName>style.visibility</p:attrName>
                                        </p:attrNameLst>
                                      </p:cBhvr>
                                      <p:to>
                                        <p:strVal val="visible"/>
                                      </p:to>
                                    </p:set>
                                    <p:animEffect transition="in" filter="wipe(left)">
                                      <p:cBhvr>
                                        <p:cTn id="18" dur="500"/>
                                        <p:tgtEl>
                                          <p:spTgt spid="2470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4718"/>
                                        </p:tgtEl>
                                        <p:attrNameLst>
                                          <p:attrName>style.visibility</p:attrName>
                                        </p:attrNameLst>
                                      </p:cBhvr>
                                      <p:to>
                                        <p:strVal val="visible"/>
                                      </p:to>
                                    </p:set>
                                    <p:animEffect transition="in" filter="wipe(down)">
                                      <p:cBhvr>
                                        <p:cTn id="23" dur="500"/>
                                        <p:tgtEl>
                                          <p:spTgt spid="24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03" grpId="0" bldLvl="0" animBg="1" autoUpdateAnimBg="0"/>
      <p:bldP spid="24717" grpId="0" bldLvl="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7" name="Rectangle 67"/>
          <p:cNvSpPr>
            <a:spLocks noChangeArrowheads="1"/>
          </p:cNvSpPr>
          <p:nvPr/>
        </p:nvSpPr>
        <p:spPr bwMode="auto">
          <a:xfrm>
            <a:off x="1700213" y="3571066"/>
            <a:ext cx="90281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于是</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268" name="Rectangle 68"/>
          <p:cNvSpPr>
            <a:spLocks noChangeArrowheads="1"/>
          </p:cNvSpPr>
          <p:nvPr/>
        </p:nvSpPr>
        <p:spPr bwMode="auto">
          <a:xfrm>
            <a:off x="6957094" y="1730543"/>
            <a:ext cx="221567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err="1">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=1,2</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269" name="Text Box 69"/>
          <p:cNvSpPr txBox="1">
            <a:spLocks noChangeArrowheads="1"/>
          </p:cNvSpPr>
          <p:nvPr/>
        </p:nvSpPr>
        <p:spPr bwMode="auto">
          <a:xfrm>
            <a:off x="6396038" y="3066584"/>
            <a:ext cx="274434"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2800">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270" name="Rectangle 70"/>
          <p:cNvSpPr>
            <a:spLocks noChangeArrowheads="1"/>
          </p:cNvSpPr>
          <p:nvPr/>
        </p:nvSpPr>
        <p:spPr bwMode="auto">
          <a:xfrm>
            <a:off x="1700213" y="2533184"/>
            <a:ext cx="420660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zh-CN" sz="2800" b="1">
                <a:latin typeface="Times New Roman" panose="02020603050405020304" pitchFamily="18" charset="0"/>
                <a:ea typeface="微软雅黑" panose="020B0503020204020204" pitchFamily="34" charset="-122"/>
                <a:sym typeface="Times New Roman" panose="02020603050405020304" pitchFamily="18" charset="0"/>
              </a:rPr>
              <a:t>由于</a:t>
            </a:r>
            <a:r>
              <a:rPr lang="en-US" altLang="zh-CN" sz="2800" b="1" i="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a:latin typeface="Times New Roman" panose="02020603050405020304" pitchFamily="18" charset="0"/>
                <a:ea typeface="微软雅黑" panose="020B0503020204020204" pitchFamily="34" charset="-122"/>
                <a:sym typeface="Times New Roman" panose="02020603050405020304" pitchFamily="18" charset="0"/>
              </a:rPr>
              <a:t>n </a:t>
            </a:r>
            <a:r>
              <a:rPr lang="zh-CN" altLang="zh-CN" sz="2800" b="1">
                <a:latin typeface="Times New Roman" panose="02020603050405020304" pitchFamily="18" charset="0"/>
                <a:ea typeface="微软雅黑" panose="020B0503020204020204" pitchFamily="34" charset="-122"/>
                <a:sym typeface="Times New Roman" panose="02020603050405020304" pitchFamily="18" charset="0"/>
              </a:rPr>
              <a:t>相互</a:t>
            </a:r>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独立</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1271" name="Object 71"/>
          <p:cNvGraphicFramePr>
            <a:graphicFrameLocks noChangeAspect="1"/>
          </p:cNvGraphicFramePr>
          <p:nvPr/>
        </p:nvGraphicFramePr>
        <p:xfrm>
          <a:off x="6746513" y="3429000"/>
          <a:ext cx="4543425" cy="1023938"/>
        </p:xfrm>
        <a:graphic>
          <a:graphicData uri="http://schemas.openxmlformats.org/presentationml/2006/ole">
            <mc:AlternateContent xmlns:mc="http://schemas.openxmlformats.org/markup-compatibility/2006">
              <mc:Choice xmlns:v="urn:schemas-microsoft-com:vml" Requires="v">
                <p:oleObj spid="_x0000_s163866" name="Equation" r:id="rId1" imgW="43891200" imgH="10363200" progId="Equation.DSMT4">
                  <p:embed/>
                </p:oleObj>
              </mc:Choice>
              <mc:Fallback>
                <p:oleObj name="Equation" r:id="rId1" imgW="43891200" imgH="10363200" progId="Equation.DSMT4">
                  <p:embed/>
                  <p:pic>
                    <p:nvPicPr>
                      <p:cNvPr id="0" name="Object 71"/>
                      <p:cNvPicPr>
                        <a:picLocks noChangeAspect="1" noChangeArrowheads="1"/>
                      </p:cNvPicPr>
                      <p:nvPr/>
                    </p:nvPicPr>
                    <p:blipFill>
                      <a:blip r:embed="rId2"/>
                      <a:srcRect/>
                      <a:stretch>
                        <a:fillRect/>
                      </a:stretch>
                    </p:blipFill>
                    <p:spPr bwMode="auto">
                      <a:xfrm>
                        <a:off x="6746513" y="3429000"/>
                        <a:ext cx="4543425" cy="1023938"/>
                      </a:xfrm>
                      <a:prstGeom prst="rect">
                        <a:avLst/>
                      </a:prstGeom>
                      <a:noFill/>
                      <a:ln>
                        <a:noFill/>
                      </a:ln>
                      <a:effectLst/>
                    </p:spPr>
                  </p:pic>
                </p:oleObj>
              </mc:Fallback>
            </mc:AlternateContent>
          </a:graphicData>
        </a:graphic>
      </p:graphicFrame>
      <p:sp>
        <p:nvSpPr>
          <p:cNvPr id="51273" name="Rectangle 73"/>
          <p:cNvSpPr>
            <a:spLocks noChangeArrowheads="1"/>
          </p:cNvSpPr>
          <p:nvPr/>
        </p:nvSpPr>
        <p:spPr bwMode="auto">
          <a:xfrm>
            <a:off x="2918574" y="1721016"/>
            <a:ext cx="15327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274" name="Rectangle 74"/>
          <p:cNvSpPr>
            <a:spLocks noChangeArrowheads="1"/>
          </p:cNvSpPr>
          <p:nvPr/>
        </p:nvSpPr>
        <p:spPr bwMode="auto">
          <a:xfrm>
            <a:off x="4515873" y="1730543"/>
            <a:ext cx="25106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baseline="30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275" name="Rectangle 75"/>
          <p:cNvSpPr>
            <a:spLocks noChangeArrowheads="1"/>
          </p:cNvSpPr>
          <p:nvPr/>
        </p:nvSpPr>
        <p:spPr bwMode="auto">
          <a:xfrm>
            <a:off x="5522747" y="1685393"/>
            <a:ext cx="14430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1277" name="Object 77"/>
          <p:cNvGraphicFramePr>
            <a:graphicFrameLocks noChangeAspect="1"/>
          </p:cNvGraphicFramePr>
          <p:nvPr/>
        </p:nvGraphicFramePr>
        <p:xfrm>
          <a:off x="2893847" y="3382750"/>
          <a:ext cx="3502191" cy="976543"/>
        </p:xfrm>
        <a:graphic>
          <a:graphicData uri="http://schemas.openxmlformats.org/presentationml/2006/ole">
            <mc:AlternateContent xmlns:mc="http://schemas.openxmlformats.org/markup-compatibility/2006">
              <mc:Choice xmlns:v="urn:schemas-microsoft-com:vml" Requires="v">
                <p:oleObj spid="_x0000_s163867" name="Equation" r:id="rId3" imgW="33832800" imgH="10363200" progId="Equation.DSMT4">
                  <p:embed/>
                </p:oleObj>
              </mc:Choice>
              <mc:Fallback>
                <p:oleObj name="Equation" r:id="rId3" imgW="33832800" imgH="10363200" progId="Equation.DSMT4">
                  <p:embed/>
                  <p:pic>
                    <p:nvPicPr>
                      <p:cNvPr id="0" name="Object 77"/>
                      <p:cNvPicPr>
                        <a:picLocks noChangeAspect="1" noChangeArrowheads="1"/>
                      </p:cNvPicPr>
                      <p:nvPr/>
                    </p:nvPicPr>
                    <p:blipFill>
                      <a:blip r:embed="rId4"/>
                      <a:srcRect/>
                      <a:stretch>
                        <a:fillRect/>
                      </a:stretch>
                    </p:blipFill>
                    <p:spPr bwMode="auto">
                      <a:xfrm>
                        <a:off x="2893847" y="3382750"/>
                        <a:ext cx="3502191" cy="976543"/>
                      </a:xfrm>
                      <a:prstGeom prst="rect">
                        <a:avLst/>
                      </a:prstGeom>
                      <a:noFill/>
                      <a:ln>
                        <a:noFill/>
                      </a:ln>
                      <a:effectLst/>
                    </p:spPr>
                  </p:pic>
                </p:oleObj>
              </mc:Fallback>
            </mc:AlternateContent>
          </a:graphicData>
        </a:graphic>
      </p:graphicFrame>
      <p:graphicFrame>
        <p:nvGraphicFramePr>
          <p:cNvPr id="51279" name="Object 79"/>
          <p:cNvGraphicFramePr>
            <a:graphicFrameLocks noChangeAspect="1"/>
          </p:cNvGraphicFramePr>
          <p:nvPr/>
        </p:nvGraphicFramePr>
        <p:xfrm>
          <a:off x="3822187" y="5602873"/>
          <a:ext cx="5422136" cy="579437"/>
        </p:xfrm>
        <a:graphic>
          <a:graphicData uri="http://schemas.openxmlformats.org/presentationml/2006/ole">
            <mc:AlternateContent xmlns:mc="http://schemas.openxmlformats.org/markup-compatibility/2006">
              <mc:Choice xmlns:v="urn:schemas-microsoft-com:vml" Requires="v">
                <p:oleObj spid="_x0000_s163868" name="Equation" r:id="rId5" imgW="43586400" imgH="4876800" progId="Equation.DSMT4">
                  <p:embed/>
                </p:oleObj>
              </mc:Choice>
              <mc:Fallback>
                <p:oleObj name="Equation" r:id="rId5" imgW="43586400" imgH="4876800" progId="Equation.DSMT4">
                  <p:embed/>
                  <p:pic>
                    <p:nvPicPr>
                      <p:cNvPr id="0" name="Object 79"/>
                      <p:cNvPicPr>
                        <a:picLocks noChangeAspect="1" noChangeArrowheads="1"/>
                      </p:cNvPicPr>
                      <p:nvPr/>
                    </p:nvPicPr>
                    <p:blipFill>
                      <a:blip r:embed="rId6"/>
                      <a:srcRect/>
                      <a:stretch>
                        <a:fillRect/>
                      </a:stretch>
                    </p:blipFill>
                    <p:spPr bwMode="auto">
                      <a:xfrm>
                        <a:off x="3822187" y="5602873"/>
                        <a:ext cx="5422136" cy="579437"/>
                      </a:xfrm>
                      <a:prstGeom prst="rect">
                        <a:avLst/>
                      </a:prstGeom>
                      <a:solidFill>
                        <a:srgbClr val="C00000"/>
                      </a:solidFill>
                      <a:ln>
                        <a:noFill/>
                      </a:ln>
                      <a:effectLst/>
                    </p:spPr>
                  </p:pic>
                </p:oleObj>
              </mc:Fallback>
            </mc:AlternateContent>
          </a:graphicData>
        </a:graphic>
      </p:graphicFrame>
      <p:sp>
        <p:nvSpPr>
          <p:cNvPr id="15" name="Rectangle 73"/>
          <p:cNvSpPr>
            <a:spLocks noChangeArrowheads="1"/>
          </p:cNvSpPr>
          <p:nvPr/>
        </p:nvSpPr>
        <p:spPr bwMode="auto">
          <a:xfrm>
            <a:off x="2382304" y="1006328"/>
            <a:ext cx="38619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可知</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分布，所以</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Rectangle 3213"/>
          <p:cNvSpPr>
            <a:spLocks noChangeArrowheads="1"/>
          </p:cNvSpPr>
          <p:nvPr/>
        </p:nvSpPr>
        <p:spPr bwMode="auto">
          <a:xfrm>
            <a:off x="1677623" y="4731829"/>
            <a:ext cx="263565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8" name="直接连接符 17"/>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矩形 18"/>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0" name="组合 19"/>
          <p:cNvGrpSpPr/>
          <p:nvPr/>
        </p:nvGrpSpPr>
        <p:grpSpPr>
          <a:xfrm>
            <a:off x="851761" y="364781"/>
            <a:ext cx="263341" cy="395013"/>
            <a:chOff x="5284519" y="1508166"/>
            <a:chExt cx="213756" cy="427512"/>
          </a:xfrm>
        </p:grpSpPr>
        <p:cxnSp>
          <p:nvCxnSpPr>
            <p:cNvPr id="21" name="直接连接符 20"/>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2" name="直接连接符 21"/>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1273"/>
                                        </p:tgtEl>
                                        <p:attrNameLst>
                                          <p:attrName>style.visibility</p:attrName>
                                        </p:attrNameLst>
                                      </p:cBhvr>
                                      <p:to>
                                        <p:strVal val="visible"/>
                                      </p:to>
                                    </p:set>
                                    <p:anim calcmode="lin" valueType="num">
                                      <p:cBhvr additive="base">
                                        <p:cTn id="12" dur="500" fill="hold"/>
                                        <p:tgtEl>
                                          <p:spTgt spid="51273"/>
                                        </p:tgtEl>
                                        <p:attrNameLst>
                                          <p:attrName>ppt_x</p:attrName>
                                        </p:attrNameLst>
                                      </p:cBhvr>
                                      <p:tavLst>
                                        <p:tav tm="0">
                                          <p:val>
                                            <p:strVal val="0-#ppt_w/2"/>
                                          </p:val>
                                        </p:tav>
                                        <p:tav tm="100000">
                                          <p:val>
                                            <p:strVal val="#ppt_x"/>
                                          </p:val>
                                        </p:tav>
                                      </p:tavLst>
                                    </p:anim>
                                    <p:anim calcmode="lin" valueType="num">
                                      <p:cBhvr additive="base">
                                        <p:cTn id="13" dur="500" fill="hold"/>
                                        <p:tgtEl>
                                          <p:spTgt spid="5127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1274"/>
                                        </p:tgtEl>
                                        <p:attrNameLst>
                                          <p:attrName>style.visibility</p:attrName>
                                        </p:attrNameLst>
                                      </p:cBhvr>
                                      <p:to>
                                        <p:strVal val="visible"/>
                                      </p:to>
                                    </p:set>
                                    <p:anim calcmode="lin" valueType="num">
                                      <p:cBhvr additive="base">
                                        <p:cTn id="18" dur="500" fill="hold"/>
                                        <p:tgtEl>
                                          <p:spTgt spid="51274"/>
                                        </p:tgtEl>
                                        <p:attrNameLst>
                                          <p:attrName>ppt_x</p:attrName>
                                        </p:attrNameLst>
                                      </p:cBhvr>
                                      <p:tavLst>
                                        <p:tav tm="0">
                                          <p:val>
                                            <p:strVal val="0-#ppt_w/2"/>
                                          </p:val>
                                        </p:tav>
                                        <p:tav tm="100000">
                                          <p:val>
                                            <p:strVal val="#ppt_x"/>
                                          </p:val>
                                        </p:tav>
                                      </p:tavLst>
                                    </p:anim>
                                    <p:anim calcmode="lin" valueType="num">
                                      <p:cBhvr additive="base">
                                        <p:cTn id="19" dur="500" fill="hold"/>
                                        <p:tgtEl>
                                          <p:spTgt spid="5127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1275"/>
                                        </p:tgtEl>
                                        <p:attrNameLst>
                                          <p:attrName>style.visibility</p:attrName>
                                        </p:attrNameLst>
                                      </p:cBhvr>
                                      <p:to>
                                        <p:strVal val="visible"/>
                                      </p:to>
                                    </p:set>
                                    <p:anim calcmode="lin" valueType="num">
                                      <p:cBhvr additive="base">
                                        <p:cTn id="24" dur="500" fill="hold"/>
                                        <p:tgtEl>
                                          <p:spTgt spid="51275"/>
                                        </p:tgtEl>
                                        <p:attrNameLst>
                                          <p:attrName>ppt_x</p:attrName>
                                        </p:attrNameLst>
                                      </p:cBhvr>
                                      <p:tavLst>
                                        <p:tav tm="0">
                                          <p:val>
                                            <p:strVal val="0-#ppt_w/2"/>
                                          </p:val>
                                        </p:tav>
                                        <p:tav tm="100000">
                                          <p:val>
                                            <p:strVal val="#ppt_x"/>
                                          </p:val>
                                        </p:tav>
                                      </p:tavLst>
                                    </p:anim>
                                    <p:anim calcmode="lin" valueType="num">
                                      <p:cBhvr additive="base">
                                        <p:cTn id="25" dur="500" fill="hold"/>
                                        <p:tgtEl>
                                          <p:spTgt spid="5127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51268"/>
                                        </p:tgtEl>
                                        <p:attrNameLst>
                                          <p:attrName>style.visibility</p:attrName>
                                        </p:attrNameLst>
                                      </p:cBhvr>
                                      <p:to>
                                        <p:strVal val="visible"/>
                                      </p:to>
                                    </p:set>
                                    <p:anim calcmode="lin" valueType="num">
                                      <p:cBhvr additive="base">
                                        <p:cTn id="30" dur="500" fill="hold"/>
                                        <p:tgtEl>
                                          <p:spTgt spid="51268"/>
                                        </p:tgtEl>
                                        <p:attrNameLst>
                                          <p:attrName>ppt_x</p:attrName>
                                        </p:attrNameLst>
                                      </p:cBhvr>
                                      <p:tavLst>
                                        <p:tav tm="0">
                                          <p:val>
                                            <p:strVal val="0-#ppt_w/2"/>
                                          </p:val>
                                        </p:tav>
                                        <p:tav tm="100000">
                                          <p:val>
                                            <p:strVal val="#ppt_x"/>
                                          </p:val>
                                        </p:tav>
                                      </p:tavLst>
                                    </p:anim>
                                    <p:anim calcmode="lin" valueType="num">
                                      <p:cBhvr additive="base">
                                        <p:cTn id="31" dur="500" fill="hold"/>
                                        <p:tgtEl>
                                          <p:spTgt spid="51268"/>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16" presetClass="entr" presetSubtype="37" fill="hold" grpId="0" nodeType="afterEffect">
                                  <p:stCondLst>
                                    <p:cond delay="0"/>
                                  </p:stCondLst>
                                  <p:childTnLst>
                                    <p:set>
                                      <p:cBhvr>
                                        <p:cTn id="34" dur="1" fill="hold">
                                          <p:stCondLst>
                                            <p:cond delay="0"/>
                                          </p:stCondLst>
                                        </p:cTn>
                                        <p:tgtEl>
                                          <p:spTgt spid="51270"/>
                                        </p:tgtEl>
                                        <p:attrNameLst>
                                          <p:attrName>style.visibility</p:attrName>
                                        </p:attrNameLst>
                                      </p:cBhvr>
                                      <p:to>
                                        <p:strVal val="visible"/>
                                      </p:to>
                                    </p:set>
                                    <p:animEffect transition="in" filter="barn(outVertical)">
                                      <p:cBhvr>
                                        <p:cTn id="35" dur="500"/>
                                        <p:tgtEl>
                                          <p:spTgt spid="51270"/>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51267"/>
                                        </p:tgtEl>
                                        <p:attrNameLst>
                                          <p:attrName>style.visibility</p:attrName>
                                        </p:attrNameLst>
                                      </p:cBhvr>
                                      <p:to>
                                        <p:strVal val="visible"/>
                                      </p:to>
                                    </p:set>
                                    <p:anim calcmode="lin" valueType="num">
                                      <p:cBhvr additive="base">
                                        <p:cTn id="40" dur="500" fill="hold"/>
                                        <p:tgtEl>
                                          <p:spTgt spid="51267"/>
                                        </p:tgtEl>
                                        <p:attrNameLst>
                                          <p:attrName>ppt_x</p:attrName>
                                        </p:attrNameLst>
                                      </p:cBhvr>
                                      <p:tavLst>
                                        <p:tav tm="0">
                                          <p:val>
                                            <p:strVal val="0-#ppt_w/2"/>
                                          </p:val>
                                        </p:tav>
                                        <p:tav tm="100000">
                                          <p:val>
                                            <p:strVal val="#ppt_x"/>
                                          </p:val>
                                        </p:tav>
                                      </p:tavLst>
                                    </p:anim>
                                    <p:anim calcmode="lin" valueType="num">
                                      <p:cBhvr additive="base">
                                        <p:cTn id="41" dur="500" fill="hold"/>
                                        <p:tgtEl>
                                          <p:spTgt spid="51267"/>
                                        </p:tgtEl>
                                        <p:attrNameLst>
                                          <p:attrName>ppt_y</p:attrName>
                                        </p:attrNameLst>
                                      </p:cBhvr>
                                      <p:tavLst>
                                        <p:tav tm="0">
                                          <p:val>
                                            <p:strVal val="#ppt_y"/>
                                          </p:val>
                                        </p:tav>
                                        <p:tav tm="100000">
                                          <p:val>
                                            <p:strVal val="#ppt_y"/>
                                          </p:val>
                                        </p:tav>
                                      </p:tavLst>
                                    </p:anim>
                                  </p:childTnLst>
                                </p:cTn>
                              </p:par>
                            </p:childTnLst>
                          </p:cTn>
                        </p:par>
                        <p:par>
                          <p:cTn id="42" fill="hold">
                            <p:stCondLst>
                              <p:cond delay="500"/>
                            </p:stCondLst>
                            <p:childTnLst>
                              <p:par>
                                <p:cTn id="43" presetID="2" presetClass="entr" presetSubtype="4" fill="hold" nodeType="afterEffect">
                                  <p:stCondLst>
                                    <p:cond delay="0"/>
                                  </p:stCondLst>
                                  <p:childTnLst>
                                    <p:set>
                                      <p:cBhvr>
                                        <p:cTn id="44" dur="1" fill="hold">
                                          <p:stCondLst>
                                            <p:cond delay="0"/>
                                          </p:stCondLst>
                                        </p:cTn>
                                        <p:tgtEl>
                                          <p:spTgt spid="51277"/>
                                        </p:tgtEl>
                                        <p:attrNameLst>
                                          <p:attrName>style.visibility</p:attrName>
                                        </p:attrNameLst>
                                      </p:cBhvr>
                                      <p:to>
                                        <p:strVal val="visible"/>
                                      </p:to>
                                    </p:set>
                                    <p:anim calcmode="lin" valueType="num">
                                      <p:cBhvr additive="base">
                                        <p:cTn id="45" dur="500" fill="hold"/>
                                        <p:tgtEl>
                                          <p:spTgt spid="51277"/>
                                        </p:tgtEl>
                                        <p:attrNameLst>
                                          <p:attrName>ppt_x</p:attrName>
                                        </p:attrNameLst>
                                      </p:cBhvr>
                                      <p:tavLst>
                                        <p:tav tm="0">
                                          <p:val>
                                            <p:strVal val="#ppt_x"/>
                                          </p:val>
                                        </p:tav>
                                        <p:tav tm="100000">
                                          <p:val>
                                            <p:strVal val="#ppt_x"/>
                                          </p:val>
                                        </p:tav>
                                      </p:tavLst>
                                    </p:anim>
                                    <p:anim calcmode="lin" valueType="num">
                                      <p:cBhvr additive="base">
                                        <p:cTn id="46" dur="500" fill="hold"/>
                                        <p:tgtEl>
                                          <p:spTgt spid="51277"/>
                                        </p:tgtEl>
                                        <p:attrNameLst>
                                          <p:attrName>ppt_y</p:attrName>
                                        </p:attrNameLst>
                                      </p:cBhvr>
                                      <p:tavLst>
                                        <p:tav tm="0">
                                          <p:val>
                                            <p:strVal val="1+#ppt_h/2"/>
                                          </p:val>
                                        </p:tav>
                                        <p:tav tm="100000">
                                          <p:val>
                                            <p:strVal val="#ppt_y"/>
                                          </p:val>
                                        </p:tav>
                                      </p:tavLst>
                                    </p:anim>
                                  </p:childTnLst>
                                </p:cTn>
                              </p:par>
                            </p:childTnLst>
                          </p:cTn>
                        </p:par>
                        <p:par>
                          <p:cTn id="47" fill="hold">
                            <p:stCondLst>
                              <p:cond delay="1000"/>
                            </p:stCondLst>
                            <p:childTnLst>
                              <p:par>
                                <p:cTn id="48" presetID="2" presetClass="entr" presetSubtype="4" fill="hold" nodeType="afterEffect">
                                  <p:stCondLst>
                                    <p:cond delay="0"/>
                                  </p:stCondLst>
                                  <p:childTnLst>
                                    <p:set>
                                      <p:cBhvr>
                                        <p:cTn id="49" dur="1" fill="hold">
                                          <p:stCondLst>
                                            <p:cond delay="0"/>
                                          </p:stCondLst>
                                        </p:cTn>
                                        <p:tgtEl>
                                          <p:spTgt spid="51271"/>
                                        </p:tgtEl>
                                        <p:attrNameLst>
                                          <p:attrName>style.visibility</p:attrName>
                                        </p:attrNameLst>
                                      </p:cBhvr>
                                      <p:to>
                                        <p:strVal val="visible"/>
                                      </p:to>
                                    </p:set>
                                    <p:anim calcmode="lin" valueType="num">
                                      <p:cBhvr additive="base">
                                        <p:cTn id="50" dur="500" fill="hold"/>
                                        <p:tgtEl>
                                          <p:spTgt spid="51271"/>
                                        </p:tgtEl>
                                        <p:attrNameLst>
                                          <p:attrName>ppt_x</p:attrName>
                                        </p:attrNameLst>
                                      </p:cBhvr>
                                      <p:tavLst>
                                        <p:tav tm="0">
                                          <p:val>
                                            <p:strVal val="#ppt_x"/>
                                          </p:val>
                                        </p:tav>
                                        <p:tav tm="100000">
                                          <p:val>
                                            <p:strVal val="#ppt_x"/>
                                          </p:val>
                                        </p:tav>
                                      </p:tavLst>
                                    </p:anim>
                                    <p:anim calcmode="lin" valueType="num">
                                      <p:cBhvr additive="base">
                                        <p:cTn id="51" dur="500" fill="hold"/>
                                        <p:tgtEl>
                                          <p:spTgt spid="5127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0-#ppt_w/2"/>
                                          </p:val>
                                        </p:tav>
                                        <p:tav tm="100000">
                                          <p:val>
                                            <p:strVal val="#ppt_x"/>
                                          </p:val>
                                        </p:tav>
                                      </p:tavLst>
                                    </p:anim>
                                    <p:anim calcmode="lin" valueType="num">
                                      <p:cBhvr additive="base">
                                        <p:cTn id="57"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51279"/>
                                        </p:tgtEl>
                                        <p:attrNameLst>
                                          <p:attrName>style.visibility</p:attrName>
                                        </p:attrNameLst>
                                      </p:cBhvr>
                                      <p:to>
                                        <p:strVal val="visible"/>
                                      </p:to>
                                    </p:set>
                                    <p:anim calcmode="lin" valueType="num">
                                      <p:cBhvr additive="base">
                                        <p:cTn id="62" dur="500" fill="hold"/>
                                        <p:tgtEl>
                                          <p:spTgt spid="51279"/>
                                        </p:tgtEl>
                                        <p:attrNameLst>
                                          <p:attrName>ppt_x</p:attrName>
                                        </p:attrNameLst>
                                      </p:cBhvr>
                                      <p:tavLst>
                                        <p:tav tm="0">
                                          <p:val>
                                            <p:strVal val="0-#ppt_w/2"/>
                                          </p:val>
                                        </p:tav>
                                        <p:tav tm="100000">
                                          <p:val>
                                            <p:strVal val="#ppt_x"/>
                                          </p:val>
                                        </p:tav>
                                      </p:tavLst>
                                    </p:anim>
                                    <p:anim calcmode="lin" valueType="num">
                                      <p:cBhvr additive="base">
                                        <p:cTn id="63" dur="500" fill="hold"/>
                                        <p:tgtEl>
                                          <p:spTgt spid="512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7" grpId="0" bldLvl="0" animBg="1" autoUpdateAnimBg="0"/>
      <p:bldP spid="51268" grpId="0" bldLvl="0" animBg="1" autoUpdateAnimBg="0"/>
      <p:bldP spid="51270" grpId="0" bldLvl="0" animBg="1" autoUpdateAnimBg="0"/>
      <p:bldP spid="51273" grpId="0" bldLvl="0" animBg="1" autoUpdateAnimBg="0"/>
      <p:bldP spid="51274" grpId="0" bldLvl="0" animBg="1" autoUpdateAnimBg="0"/>
      <p:bldP spid="51275" grpId="0" bldLvl="0" animBg="1" autoUpdateAnimBg="0"/>
      <p:bldP spid="15" grpId="0" bldLvl="0" animBg="1" autoUpdateAnimBg="0"/>
      <p:bldP spid="17" grpId="0" bldLvl="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 name="Text Box 40"/>
          <p:cNvSpPr txBox="1">
            <a:spLocks noChangeArrowheads="1"/>
          </p:cNvSpPr>
          <p:nvPr/>
        </p:nvSpPr>
        <p:spPr bwMode="auto">
          <a:xfrm>
            <a:off x="1432647" y="1021774"/>
            <a:ext cx="8130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7</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257" name="Object 41"/>
          <p:cNvGraphicFramePr>
            <a:graphicFrameLocks noChangeAspect="1"/>
          </p:cNvGraphicFramePr>
          <p:nvPr/>
        </p:nvGraphicFramePr>
        <p:xfrm>
          <a:off x="2155922" y="1061095"/>
          <a:ext cx="4739758" cy="523220"/>
        </p:xfrm>
        <a:graphic>
          <a:graphicData uri="http://schemas.openxmlformats.org/presentationml/2006/ole">
            <mc:AlternateContent xmlns:mc="http://schemas.openxmlformats.org/markup-compatibility/2006">
              <mc:Choice xmlns:v="urn:schemas-microsoft-com:vml" Requires="v">
                <p:oleObj spid="_x0000_s164914" name="Equation" r:id="rId1" imgW="46939200" imgH="5181600" progId="Equation.DSMT4">
                  <p:embed/>
                </p:oleObj>
              </mc:Choice>
              <mc:Fallback>
                <p:oleObj name="Equation" r:id="rId1" imgW="46939200" imgH="5181600" progId="Equation.DSMT4">
                  <p:embed/>
                  <p:pic>
                    <p:nvPicPr>
                      <p:cNvPr id="0" name="Object 41"/>
                      <p:cNvPicPr>
                        <a:picLocks noChangeAspect="1" noChangeArrowheads="1"/>
                      </p:cNvPicPr>
                      <p:nvPr/>
                    </p:nvPicPr>
                    <p:blipFill>
                      <a:blip r:embed="rId2"/>
                      <a:srcRect/>
                      <a:stretch>
                        <a:fillRect/>
                      </a:stretch>
                    </p:blipFill>
                    <p:spPr bwMode="auto">
                      <a:xfrm>
                        <a:off x="2155922" y="1061095"/>
                        <a:ext cx="4739758" cy="523220"/>
                      </a:xfrm>
                      <a:prstGeom prst="rect">
                        <a:avLst/>
                      </a:prstGeom>
                      <a:noFill/>
                      <a:ln>
                        <a:noFill/>
                      </a:ln>
                      <a:effectLst/>
                    </p:spPr>
                  </p:pic>
                </p:oleObj>
              </mc:Fallback>
            </mc:AlternateContent>
          </a:graphicData>
        </a:graphic>
      </p:graphicFrame>
      <p:sp>
        <p:nvSpPr>
          <p:cNvPr id="9258" name="Text Box 42"/>
          <p:cNvSpPr txBox="1">
            <a:spLocks noChangeArrowheads="1"/>
          </p:cNvSpPr>
          <p:nvPr/>
        </p:nvSpPr>
        <p:spPr bwMode="auto">
          <a:xfrm>
            <a:off x="1578703" y="1773589"/>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解</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259" name="Object 43"/>
          <p:cNvGraphicFramePr>
            <a:graphicFrameLocks noChangeAspect="1"/>
          </p:cNvGraphicFramePr>
          <p:nvPr/>
        </p:nvGraphicFramePr>
        <p:xfrm>
          <a:off x="2142575" y="1768032"/>
          <a:ext cx="2708433" cy="523220"/>
        </p:xfrm>
        <a:graphic>
          <a:graphicData uri="http://schemas.openxmlformats.org/presentationml/2006/ole">
            <mc:AlternateContent xmlns:mc="http://schemas.openxmlformats.org/markup-compatibility/2006">
              <mc:Choice xmlns:v="urn:schemas-microsoft-com:vml" Requires="v">
                <p:oleObj spid="_x0000_s164915" name="Equation" r:id="rId3" imgW="26822400" imgH="5181600" progId="Equation.DSMT4">
                  <p:embed/>
                </p:oleObj>
              </mc:Choice>
              <mc:Fallback>
                <p:oleObj name="Equation" r:id="rId3" imgW="26822400" imgH="5181600" progId="Equation.DSMT4">
                  <p:embed/>
                  <p:pic>
                    <p:nvPicPr>
                      <p:cNvPr id="0" name="Object 43"/>
                      <p:cNvPicPr>
                        <a:picLocks noChangeAspect="1" noChangeArrowheads="1"/>
                      </p:cNvPicPr>
                      <p:nvPr/>
                    </p:nvPicPr>
                    <p:blipFill>
                      <a:blip r:embed="rId4"/>
                      <a:srcRect/>
                      <a:stretch>
                        <a:fillRect/>
                      </a:stretch>
                    </p:blipFill>
                    <p:spPr bwMode="auto">
                      <a:xfrm>
                        <a:off x="2142575" y="1768032"/>
                        <a:ext cx="2708433" cy="523220"/>
                      </a:xfrm>
                      <a:prstGeom prst="rect">
                        <a:avLst/>
                      </a:prstGeom>
                      <a:noFill/>
                      <a:ln>
                        <a:noFill/>
                      </a:ln>
                      <a:effectLst/>
                    </p:spPr>
                  </p:pic>
                </p:oleObj>
              </mc:Fallback>
            </mc:AlternateContent>
          </a:graphicData>
        </a:graphic>
      </p:graphicFrame>
      <p:graphicFrame>
        <p:nvGraphicFramePr>
          <p:cNvPr id="9260" name="Object 44"/>
          <p:cNvGraphicFramePr>
            <a:graphicFrameLocks noChangeAspect="1"/>
          </p:cNvGraphicFramePr>
          <p:nvPr/>
        </p:nvGraphicFramePr>
        <p:xfrm>
          <a:off x="3431704" y="2143079"/>
          <a:ext cx="4801313" cy="1138773"/>
        </p:xfrm>
        <a:graphic>
          <a:graphicData uri="http://schemas.openxmlformats.org/presentationml/2006/ole">
            <mc:AlternateContent xmlns:mc="http://schemas.openxmlformats.org/markup-compatibility/2006">
              <mc:Choice xmlns:v="urn:schemas-microsoft-com:vml" Requires="v">
                <p:oleObj spid="_x0000_s164916" name="Equation" r:id="rId5" imgW="47548800" imgH="11277600" progId="Equation.DSMT4">
                  <p:embed/>
                </p:oleObj>
              </mc:Choice>
              <mc:Fallback>
                <p:oleObj name="Equation" r:id="rId5" imgW="47548800" imgH="11277600" progId="Equation.DSMT4">
                  <p:embed/>
                  <p:pic>
                    <p:nvPicPr>
                      <p:cNvPr id="0" name="Object 44"/>
                      <p:cNvPicPr>
                        <a:picLocks noChangeAspect="1" noChangeArrowheads="1"/>
                      </p:cNvPicPr>
                      <p:nvPr/>
                    </p:nvPicPr>
                    <p:blipFill>
                      <a:blip r:embed="rId6"/>
                      <a:srcRect/>
                      <a:stretch>
                        <a:fillRect/>
                      </a:stretch>
                    </p:blipFill>
                    <p:spPr bwMode="auto">
                      <a:xfrm>
                        <a:off x="3431704" y="2143079"/>
                        <a:ext cx="4801313" cy="1138773"/>
                      </a:xfrm>
                      <a:prstGeom prst="rect">
                        <a:avLst/>
                      </a:prstGeom>
                      <a:noFill/>
                      <a:ln>
                        <a:noFill/>
                      </a:ln>
                      <a:effectLst/>
                    </p:spPr>
                  </p:pic>
                </p:oleObj>
              </mc:Fallback>
            </mc:AlternateContent>
          </a:graphicData>
        </a:graphic>
      </p:graphicFrame>
      <p:sp>
        <p:nvSpPr>
          <p:cNvPr id="9261" name="Text Box 45"/>
          <p:cNvSpPr txBox="1">
            <a:spLocks noChangeArrowheads="1"/>
          </p:cNvSpPr>
          <p:nvPr/>
        </p:nvSpPr>
        <p:spPr bwMode="auto">
          <a:xfrm>
            <a:off x="1847851" y="3702051"/>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于是</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262" name="Object 46"/>
          <p:cNvGraphicFramePr>
            <a:graphicFrameLocks noChangeAspect="1"/>
          </p:cNvGraphicFramePr>
          <p:nvPr/>
        </p:nvGraphicFramePr>
        <p:xfrm>
          <a:off x="3143672" y="3365235"/>
          <a:ext cx="5741215" cy="1118801"/>
        </p:xfrm>
        <a:graphic>
          <a:graphicData uri="http://schemas.openxmlformats.org/presentationml/2006/ole">
            <mc:AlternateContent xmlns:mc="http://schemas.openxmlformats.org/markup-compatibility/2006">
              <mc:Choice xmlns:v="urn:schemas-microsoft-com:vml" Requires="v">
                <p:oleObj spid="_x0000_s164917" name="Equation" r:id="rId7" imgW="59436000" imgH="11582400" progId="Equation.DSMT4">
                  <p:embed/>
                </p:oleObj>
              </mc:Choice>
              <mc:Fallback>
                <p:oleObj name="Equation" r:id="rId7" imgW="59436000" imgH="11582400" progId="Equation.DSMT4">
                  <p:embed/>
                  <p:pic>
                    <p:nvPicPr>
                      <p:cNvPr id="0" name="Object 46"/>
                      <p:cNvPicPr>
                        <a:picLocks noChangeAspect="1" noChangeArrowheads="1"/>
                      </p:cNvPicPr>
                      <p:nvPr/>
                    </p:nvPicPr>
                    <p:blipFill>
                      <a:blip r:embed="rId8"/>
                      <a:srcRect/>
                      <a:stretch>
                        <a:fillRect/>
                      </a:stretch>
                    </p:blipFill>
                    <p:spPr bwMode="auto">
                      <a:xfrm>
                        <a:off x="3143672" y="3365235"/>
                        <a:ext cx="5741215" cy="1118801"/>
                      </a:xfrm>
                      <a:prstGeom prst="rect">
                        <a:avLst/>
                      </a:prstGeom>
                      <a:noFill/>
                      <a:ln>
                        <a:noFill/>
                      </a:ln>
                      <a:effectLst/>
                    </p:spPr>
                  </p:pic>
                </p:oleObj>
              </mc:Fallback>
            </mc:AlternateContent>
          </a:graphicData>
        </a:graphic>
      </p:graphicFrame>
      <p:graphicFrame>
        <p:nvGraphicFramePr>
          <p:cNvPr id="9263" name="Object 47"/>
          <p:cNvGraphicFramePr>
            <a:graphicFrameLocks noChangeAspect="1"/>
          </p:cNvGraphicFramePr>
          <p:nvPr/>
        </p:nvGraphicFramePr>
        <p:xfrm>
          <a:off x="3143672" y="4446305"/>
          <a:ext cx="7360532" cy="1118801"/>
        </p:xfrm>
        <a:graphic>
          <a:graphicData uri="http://schemas.openxmlformats.org/presentationml/2006/ole">
            <mc:AlternateContent xmlns:mc="http://schemas.openxmlformats.org/markup-compatibility/2006">
              <mc:Choice xmlns:v="urn:schemas-microsoft-com:vml" Requires="v">
                <p:oleObj spid="_x0000_s164918" name="Equation" r:id="rId9" imgW="76200000" imgH="11582400" progId="Equation.DSMT4">
                  <p:embed/>
                </p:oleObj>
              </mc:Choice>
              <mc:Fallback>
                <p:oleObj name="Equation" r:id="rId9" imgW="76200000" imgH="11582400" progId="Equation.DSMT4">
                  <p:embed/>
                  <p:pic>
                    <p:nvPicPr>
                      <p:cNvPr id="0" name="Object 47"/>
                      <p:cNvPicPr>
                        <a:picLocks noChangeAspect="1" noChangeArrowheads="1"/>
                      </p:cNvPicPr>
                      <p:nvPr/>
                    </p:nvPicPr>
                    <p:blipFill>
                      <a:blip r:embed="rId10"/>
                      <a:srcRect/>
                      <a:stretch>
                        <a:fillRect/>
                      </a:stretch>
                    </p:blipFill>
                    <p:spPr bwMode="auto">
                      <a:xfrm>
                        <a:off x="3143672" y="4446305"/>
                        <a:ext cx="7360532" cy="1118801"/>
                      </a:xfrm>
                      <a:prstGeom prst="rect">
                        <a:avLst/>
                      </a:prstGeom>
                      <a:noFill/>
                      <a:ln>
                        <a:noFill/>
                      </a:ln>
                      <a:effectLst/>
                    </p:spPr>
                  </p:pic>
                </p:oleObj>
              </mc:Fallback>
            </mc:AlternateContent>
          </a:graphicData>
        </a:graphic>
      </p:graphicFrame>
      <p:graphicFrame>
        <p:nvGraphicFramePr>
          <p:cNvPr id="9265" name="Object 49"/>
          <p:cNvGraphicFramePr>
            <a:graphicFrameLocks noChangeAspect="1"/>
          </p:cNvGraphicFramePr>
          <p:nvPr/>
        </p:nvGraphicFramePr>
        <p:xfrm>
          <a:off x="5159896" y="5627668"/>
          <a:ext cx="2985430" cy="492442"/>
        </p:xfrm>
        <a:graphic>
          <a:graphicData uri="http://schemas.openxmlformats.org/presentationml/2006/ole">
            <mc:AlternateContent xmlns:mc="http://schemas.openxmlformats.org/markup-compatibility/2006">
              <mc:Choice xmlns:v="urn:schemas-microsoft-com:vml" Requires="v">
                <p:oleObj spid="_x0000_s164919" name="Equation" r:id="rId11" imgW="29565600" imgH="4876800" progId="Equation.DSMT4">
                  <p:embed/>
                </p:oleObj>
              </mc:Choice>
              <mc:Fallback>
                <p:oleObj name="Equation" r:id="rId11" imgW="29565600" imgH="4876800" progId="Equation.DSMT4">
                  <p:embed/>
                  <p:pic>
                    <p:nvPicPr>
                      <p:cNvPr id="0" name="Object 49"/>
                      <p:cNvPicPr>
                        <a:picLocks noChangeAspect="1" noChangeArrowheads="1"/>
                      </p:cNvPicPr>
                      <p:nvPr/>
                    </p:nvPicPr>
                    <p:blipFill>
                      <a:blip r:embed="rId12"/>
                      <a:srcRect/>
                      <a:stretch>
                        <a:fillRect/>
                      </a:stretch>
                    </p:blipFill>
                    <p:spPr bwMode="auto">
                      <a:xfrm>
                        <a:off x="5159896" y="5627668"/>
                        <a:ext cx="2985430" cy="492442"/>
                      </a:xfrm>
                      <a:prstGeom prst="rect">
                        <a:avLst/>
                      </a:prstGeom>
                      <a:solidFill>
                        <a:srgbClr val="C00000"/>
                      </a:solidFill>
                      <a:ln>
                        <a:noFill/>
                      </a:ln>
                      <a:effectLst/>
                    </p:spPr>
                  </p:pic>
                </p:oleObj>
              </mc:Fallback>
            </mc:AlternateContent>
          </a:graphicData>
        </a:graphic>
      </p:graphicFrame>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7" name="Rectangle 3213"/>
          <p:cNvSpPr>
            <a:spLocks noChangeArrowheads="1"/>
          </p:cNvSpPr>
          <p:nvPr/>
        </p:nvSpPr>
        <p:spPr bwMode="auto">
          <a:xfrm>
            <a:off x="1839168" y="5627668"/>
            <a:ext cx="263565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56"/>
                                        </p:tgtEl>
                                        <p:attrNameLst>
                                          <p:attrName>style.visibility</p:attrName>
                                        </p:attrNameLst>
                                      </p:cBhvr>
                                      <p:to>
                                        <p:strVal val="visible"/>
                                      </p:to>
                                    </p:set>
                                    <p:anim calcmode="lin" valueType="num">
                                      <p:cBhvr additive="base">
                                        <p:cTn id="7" dur="500" fill="hold"/>
                                        <p:tgtEl>
                                          <p:spTgt spid="9256"/>
                                        </p:tgtEl>
                                        <p:attrNameLst>
                                          <p:attrName>ppt_x</p:attrName>
                                        </p:attrNameLst>
                                      </p:cBhvr>
                                      <p:tavLst>
                                        <p:tav tm="0">
                                          <p:val>
                                            <p:strVal val="0-#ppt_w/2"/>
                                          </p:val>
                                        </p:tav>
                                        <p:tav tm="100000">
                                          <p:val>
                                            <p:strVal val="#ppt_x"/>
                                          </p:val>
                                        </p:tav>
                                      </p:tavLst>
                                    </p:anim>
                                    <p:anim calcmode="lin" valueType="num">
                                      <p:cBhvr additive="base">
                                        <p:cTn id="8" dur="500" fill="hold"/>
                                        <p:tgtEl>
                                          <p:spTgt spid="92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257"/>
                                        </p:tgtEl>
                                        <p:attrNameLst>
                                          <p:attrName>style.visibility</p:attrName>
                                        </p:attrNameLst>
                                      </p:cBhvr>
                                      <p:to>
                                        <p:strVal val="visible"/>
                                      </p:to>
                                    </p:set>
                                    <p:anim calcmode="lin" valueType="num">
                                      <p:cBhvr additive="base">
                                        <p:cTn id="13" dur="500" fill="hold"/>
                                        <p:tgtEl>
                                          <p:spTgt spid="9257"/>
                                        </p:tgtEl>
                                        <p:attrNameLst>
                                          <p:attrName>ppt_x</p:attrName>
                                        </p:attrNameLst>
                                      </p:cBhvr>
                                      <p:tavLst>
                                        <p:tav tm="0">
                                          <p:val>
                                            <p:strVal val="0-#ppt_w/2"/>
                                          </p:val>
                                        </p:tav>
                                        <p:tav tm="100000">
                                          <p:val>
                                            <p:strVal val="#ppt_x"/>
                                          </p:val>
                                        </p:tav>
                                      </p:tavLst>
                                    </p:anim>
                                    <p:anim calcmode="lin" valueType="num">
                                      <p:cBhvr additive="base">
                                        <p:cTn id="14" dur="500" fill="hold"/>
                                        <p:tgtEl>
                                          <p:spTgt spid="925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58"/>
                                        </p:tgtEl>
                                        <p:attrNameLst>
                                          <p:attrName>style.visibility</p:attrName>
                                        </p:attrNameLst>
                                      </p:cBhvr>
                                      <p:to>
                                        <p:strVal val="visible"/>
                                      </p:to>
                                    </p:set>
                                    <p:anim calcmode="lin" valueType="num">
                                      <p:cBhvr additive="base">
                                        <p:cTn id="19" dur="500" fill="hold"/>
                                        <p:tgtEl>
                                          <p:spTgt spid="9258"/>
                                        </p:tgtEl>
                                        <p:attrNameLst>
                                          <p:attrName>ppt_x</p:attrName>
                                        </p:attrNameLst>
                                      </p:cBhvr>
                                      <p:tavLst>
                                        <p:tav tm="0">
                                          <p:val>
                                            <p:strVal val="0-#ppt_w/2"/>
                                          </p:val>
                                        </p:tav>
                                        <p:tav tm="100000">
                                          <p:val>
                                            <p:strVal val="#ppt_x"/>
                                          </p:val>
                                        </p:tav>
                                      </p:tavLst>
                                    </p:anim>
                                    <p:anim calcmode="lin" valueType="num">
                                      <p:cBhvr additive="base">
                                        <p:cTn id="20" dur="500" fill="hold"/>
                                        <p:tgtEl>
                                          <p:spTgt spid="925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259"/>
                                        </p:tgtEl>
                                        <p:attrNameLst>
                                          <p:attrName>style.visibility</p:attrName>
                                        </p:attrNameLst>
                                      </p:cBhvr>
                                      <p:to>
                                        <p:strVal val="visible"/>
                                      </p:to>
                                    </p:set>
                                    <p:anim calcmode="lin" valueType="num">
                                      <p:cBhvr additive="base">
                                        <p:cTn id="25" dur="500" fill="hold"/>
                                        <p:tgtEl>
                                          <p:spTgt spid="9259"/>
                                        </p:tgtEl>
                                        <p:attrNameLst>
                                          <p:attrName>ppt_x</p:attrName>
                                        </p:attrNameLst>
                                      </p:cBhvr>
                                      <p:tavLst>
                                        <p:tav tm="0">
                                          <p:val>
                                            <p:strVal val="0-#ppt_w/2"/>
                                          </p:val>
                                        </p:tav>
                                        <p:tav tm="100000">
                                          <p:val>
                                            <p:strVal val="#ppt_x"/>
                                          </p:val>
                                        </p:tav>
                                      </p:tavLst>
                                    </p:anim>
                                    <p:anim calcmode="lin" valueType="num">
                                      <p:cBhvr additive="base">
                                        <p:cTn id="26" dur="500" fill="hold"/>
                                        <p:tgtEl>
                                          <p:spTgt spid="925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260"/>
                                        </p:tgtEl>
                                        <p:attrNameLst>
                                          <p:attrName>style.visibility</p:attrName>
                                        </p:attrNameLst>
                                      </p:cBhvr>
                                      <p:to>
                                        <p:strVal val="visible"/>
                                      </p:to>
                                    </p:set>
                                    <p:anim calcmode="lin" valueType="num">
                                      <p:cBhvr additive="base">
                                        <p:cTn id="31" dur="500" fill="hold"/>
                                        <p:tgtEl>
                                          <p:spTgt spid="9260"/>
                                        </p:tgtEl>
                                        <p:attrNameLst>
                                          <p:attrName>ppt_x</p:attrName>
                                        </p:attrNameLst>
                                      </p:cBhvr>
                                      <p:tavLst>
                                        <p:tav tm="0">
                                          <p:val>
                                            <p:strVal val="0-#ppt_w/2"/>
                                          </p:val>
                                        </p:tav>
                                        <p:tav tm="100000">
                                          <p:val>
                                            <p:strVal val="#ppt_x"/>
                                          </p:val>
                                        </p:tav>
                                      </p:tavLst>
                                    </p:anim>
                                    <p:anim calcmode="lin" valueType="num">
                                      <p:cBhvr additive="base">
                                        <p:cTn id="32" dur="500" fill="hold"/>
                                        <p:tgtEl>
                                          <p:spTgt spid="926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261"/>
                                        </p:tgtEl>
                                        <p:attrNameLst>
                                          <p:attrName>style.visibility</p:attrName>
                                        </p:attrNameLst>
                                      </p:cBhvr>
                                      <p:to>
                                        <p:strVal val="visible"/>
                                      </p:to>
                                    </p:set>
                                    <p:anim calcmode="lin" valueType="num">
                                      <p:cBhvr additive="base">
                                        <p:cTn id="37" dur="500" fill="hold"/>
                                        <p:tgtEl>
                                          <p:spTgt spid="9261"/>
                                        </p:tgtEl>
                                        <p:attrNameLst>
                                          <p:attrName>ppt_x</p:attrName>
                                        </p:attrNameLst>
                                      </p:cBhvr>
                                      <p:tavLst>
                                        <p:tav tm="0">
                                          <p:val>
                                            <p:strVal val="0-#ppt_w/2"/>
                                          </p:val>
                                        </p:tav>
                                        <p:tav tm="100000">
                                          <p:val>
                                            <p:strVal val="#ppt_x"/>
                                          </p:val>
                                        </p:tav>
                                      </p:tavLst>
                                    </p:anim>
                                    <p:anim calcmode="lin" valueType="num">
                                      <p:cBhvr additive="base">
                                        <p:cTn id="38" dur="500" fill="hold"/>
                                        <p:tgtEl>
                                          <p:spTgt spid="926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9262"/>
                                        </p:tgtEl>
                                        <p:attrNameLst>
                                          <p:attrName>style.visibility</p:attrName>
                                        </p:attrNameLst>
                                      </p:cBhvr>
                                      <p:to>
                                        <p:strVal val="visible"/>
                                      </p:to>
                                    </p:set>
                                    <p:anim calcmode="lin" valueType="num">
                                      <p:cBhvr additive="base">
                                        <p:cTn id="43" dur="500" fill="hold"/>
                                        <p:tgtEl>
                                          <p:spTgt spid="9262"/>
                                        </p:tgtEl>
                                        <p:attrNameLst>
                                          <p:attrName>ppt_x</p:attrName>
                                        </p:attrNameLst>
                                      </p:cBhvr>
                                      <p:tavLst>
                                        <p:tav tm="0">
                                          <p:val>
                                            <p:strVal val="0-#ppt_w/2"/>
                                          </p:val>
                                        </p:tav>
                                        <p:tav tm="100000">
                                          <p:val>
                                            <p:strVal val="#ppt_x"/>
                                          </p:val>
                                        </p:tav>
                                      </p:tavLst>
                                    </p:anim>
                                    <p:anim calcmode="lin" valueType="num">
                                      <p:cBhvr additive="base">
                                        <p:cTn id="44" dur="500" fill="hold"/>
                                        <p:tgtEl>
                                          <p:spTgt spid="926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9263"/>
                                        </p:tgtEl>
                                        <p:attrNameLst>
                                          <p:attrName>style.visibility</p:attrName>
                                        </p:attrNameLst>
                                      </p:cBhvr>
                                      <p:to>
                                        <p:strVal val="visible"/>
                                      </p:to>
                                    </p:set>
                                    <p:anim calcmode="lin" valueType="num">
                                      <p:cBhvr additive="base">
                                        <p:cTn id="49" dur="500" fill="hold"/>
                                        <p:tgtEl>
                                          <p:spTgt spid="9263"/>
                                        </p:tgtEl>
                                        <p:attrNameLst>
                                          <p:attrName>ppt_x</p:attrName>
                                        </p:attrNameLst>
                                      </p:cBhvr>
                                      <p:tavLst>
                                        <p:tav tm="0">
                                          <p:val>
                                            <p:strVal val="0-#ppt_w/2"/>
                                          </p:val>
                                        </p:tav>
                                        <p:tav tm="100000">
                                          <p:val>
                                            <p:strVal val="#ppt_x"/>
                                          </p:val>
                                        </p:tav>
                                      </p:tavLst>
                                    </p:anim>
                                    <p:anim calcmode="lin" valueType="num">
                                      <p:cBhvr additive="base">
                                        <p:cTn id="50" dur="500" fill="hold"/>
                                        <p:tgtEl>
                                          <p:spTgt spid="926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0-#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9265"/>
                                        </p:tgtEl>
                                        <p:attrNameLst>
                                          <p:attrName>style.visibility</p:attrName>
                                        </p:attrNameLst>
                                      </p:cBhvr>
                                      <p:to>
                                        <p:strVal val="visible"/>
                                      </p:to>
                                    </p:set>
                                    <p:anim calcmode="lin" valueType="num">
                                      <p:cBhvr additive="base">
                                        <p:cTn id="61" dur="500" fill="hold"/>
                                        <p:tgtEl>
                                          <p:spTgt spid="9265"/>
                                        </p:tgtEl>
                                        <p:attrNameLst>
                                          <p:attrName>ppt_x</p:attrName>
                                        </p:attrNameLst>
                                      </p:cBhvr>
                                      <p:tavLst>
                                        <p:tav tm="0">
                                          <p:val>
                                            <p:strVal val="0-#ppt_w/2"/>
                                          </p:val>
                                        </p:tav>
                                        <p:tav tm="100000">
                                          <p:val>
                                            <p:strVal val="#ppt_x"/>
                                          </p:val>
                                        </p:tav>
                                      </p:tavLst>
                                    </p:anim>
                                    <p:anim calcmode="lin" valueType="num">
                                      <p:cBhvr additive="base">
                                        <p:cTn id="62" dur="500" fill="hold"/>
                                        <p:tgtEl>
                                          <p:spTgt spid="92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6" grpId="0" bldLvl="0" animBg="1"/>
      <p:bldP spid="9258" grpId="0" bldLvl="0" animBg="1" autoUpdateAnimBg="0"/>
      <p:bldP spid="9261" grpId="0" bldLvl="0" animBg="1" autoUpdateAnimBg="0"/>
      <p:bldP spid="17" grpId="0" bldLvl="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75" name="Object 27"/>
          <p:cNvGraphicFramePr>
            <a:graphicFrameLocks noChangeAspect="1"/>
          </p:cNvGraphicFramePr>
          <p:nvPr/>
        </p:nvGraphicFramePr>
        <p:xfrm>
          <a:off x="1735039" y="653985"/>
          <a:ext cx="5804468" cy="908780"/>
        </p:xfrm>
        <a:graphic>
          <a:graphicData uri="http://schemas.openxmlformats.org/presentationml/2006/ole">
            <mc:AlternateContent xmlns:mc="http://schemas.openxmlformats.org/markup-compatibility/2006">
              <mc:Choice xmlns:v="urn:schemas-microsoft-com:vml" Requires="v">
                <p:oleObj spid="_x0000_s165954" name="Equation" r:id="rId1" imgW="60350400" imgH="9448800" progId="Equation.DSMT4">
                  <p:embed/>
                </p:oleObj>
              </mc:Choice>
              <mc:Fallback>
                <p:oleObj name="Equation" r:id="rId1" imgW="60350400" imgH="9448800" progId="Equation.DSMT4">
                  <p:embed/>
                  <p:pic>
                    <p:nvPicPr>
                      <p:cNvPr id="0" name="Object 27"/>
                      <p:cNvPicPr>
                        <a:picLocks noChangeAspect="1" noChangeArrowheads="1"/>
                      </p:cNvPicPr>
                      <p:nvPr/>
                    </p:nvPicPr>
                    <p:blipFill>
                      <a:blip r:embed="rId2"/>
                      <a:srcRect/>
                      <a:stretch>
                        <a:fillRect/>
                      </a:stretch>
                    </p:blipFill>
                    <p:spPr bwMode="auto">
                      <a:xfrm>
                        <a:off x="1735039" y="653985"/>
                        <a:ext cx="5804468" cy="908780"/>
                      </a:xfrm>
                      <a:prstGeom prst="rect">
                        <a:avLst/>
                      </a:prstGeom>
                      <a:noFill/>
                      <a:ln>
                        <a:noFill/>
                      </a:ln>
                      <a:effectLst/>
                    </p:spPr>
                  </p:pic>
                </p:oleObj>
              </mc:Fallback>
            </mc:AlternateContent>
          </a:graphicData>
        </a:graphic>
      </p:graphicFrame>
      <p:graphicFrame>
        <p:nvGraphicFramePr>
          <p:cNvPr id="27676" name="Object 28"/>
          <p:cNvGraphicFramePr>
            <a:graphicFrameLocks noChangeAspect="1"/>
          </p:cNvGraphicFramePr>
          <p:nvPr/>
        </p:nvGraphicFramePr>
        <p:xfrm>
          <a:off x="7730620" y="873851"/>
          <a:ext cx="2726341" cy="469048"/>
        </p:xfrm>
        <a:graphic>
          <a:graphicData uri="http://schemas.openxmlformats.org/presentationml/2006/ole">
            <mc:AlternateContent xmlns:mc="http://schemas.openxmlformats.org/markup-compatibility/2006">
              <mc:Choice xmlns:v="urn:schemas-microsoft-com:vml" Requires="v">
                <p:oleObj spid="_x0000_s165955" name="Equation" r:id="rId3" imgW="28346400" imgH="4876800" progId="Equation.DSMT4">
                  <p:embed/>
                </p:oleObj>
              </mc:Choice>
              <mc:Fallback>
                <p:oleObj name="Equation" r:id="rId3" imgW="28346400" imgH="4876800" progId="Equation.DSMT4">
                  <p:embed/>
                  <p:pic>
                    <p:nvPicPr>
                      <p:cNvPr id="0" name="Object 28"/>
                      <p:cNvPicPr>
                        <a:picLocks noChangeAspect="1" noChangeArrowheads="1"/>
                      </p:cNvPicPr>
                      <p:nvPr/>
                    </p:nvPicPr>
                    <p:blipFill>
                      <a:blip r:embed="rId4"/>
                      <a:srcRect/>
                      <a:stretch>
                        <a:fillRect/>
                      </a:stretch>
                    </p:blipFill>
                    <p:spPr bwMode="auto">
                      <a:xfrm>
                        <a:off x="7730620" y="873851"/>
                        <a:ext cx="2726341" cy="469048"/>
                      </a:xfrm>
                      <a:prstGeom prst="rect">
                        <a:avLst/>
                      </a:prstGeom>
                      <a:noFill/>
                      <a:ln>
                        <a:noFill/>
                      </a:ln>
                      <a:effectLst/>
                    </p:spPr>
                  </p:pic>
                </p:oleObj>
              </mc:Fallback>
            </mc:AlternateContent>
          </a:graphicData>
        </a:graphic>
      </p:graphicFrame>
      <p:graphicFrame>
        <p:nvGraphicFramePr>
          <p:cNvPr id="27677" name="Object 29"/>
          <p:cNvGraphicFramePr>
            <a:graphicFrameLocks noChangeAspect="1"/>
          </p:cNvGraphicFramePr>
          <p:nvPr/>
        </p:nvGraphicFramePr>
        <p:xfrm>
          <a:off x="1739578" y="1882733"/>
          <a:ext cx="6390778" cy="498364"/>
        </p:xfrm>
        <a:graphic>
          <a:graphicData uri="http://schemas.openxmlformats.org/presentationml/2006/ole">
            <mc:AlternateContent xmlns:mc="http://schemas.openxmlformats.org/markup-compatibility/2006">
              <mc:Choice xmlns:v="urn:schemas-microsoft-com:vml" Requires="v">
                <p:oleObj spid="_x0000_s165956" name="Equation" r:id="rId5" imgW="66446400" imgH="5181600" progId="Equation.DSMT4">
                  <p:embed/>
                </p:oleObj>
              </mc:Choice>
              <mc:Fallback>
                <p:oleObj name="Equation" r:id="rId5" imgW="66446400" imgH="5181600" progId="Equation.DSMT4">
                  <p:embed/>
                  <p:pic>
                    <p:nvPicPr>
                      <p:cNvPr id="0" name="Object 29"/>
                      <p:cNvPicPr>
                        <a:picLocks noChangeAspect="1" noChangeArrowheads="1"/>
                      </p:cNvPicPr>
                      <p:nvPr/>
                    </p:nvPicPr>
                    <p:blipFill>
                      <a:blip r:embed="rId6"/>
                      <a:srcRect/>
                      <a:stretch>
                        <a:fillRect/>
                      </a:stretch>
                    </p:blipFill>
                    <p:spPr bwMode="auto">
                      <a:xfrm>
                        <a:off x="1739578" y="1882733"/>
                        <a:ext cx="6390778" cy="498364"/>
                      </a:xfrm>
                      <a:prstGeom prst="rect">
                        <a:avLst/>
                      </a:prstGeom>
                      <a:noFill/>
                      <a:ln>
                        <a:noFill/>
                      </a:ln>
                      <a:effectLst/>
                    </p:spPr>
                  </p:pic>
                </p:oleObj>
              </mc:Fallback>
            </mc:AlternateContent>
          </a:graphicData>
        </a:graphic>
      </p:graphicFrame>
      <p:graphicFrame>
        <p:nvGraphicFramePr>
          <p:cNvPr id="27678" name="Object 30"/>
          <p:cNvGraphicFramePr>
            <a:graphicFrameLocks noChangeAspect="1"/>
          </p:cNvGraphicFramePr>
          <p:nvPr/>
        </p:nvGraphicFramePr>
        <p:xfrm>
          <a:off x="3456657" y="2564880"/>
          <a:ext cx="5742173" cy="469048"/>
        </p:xfrm>
        <a:graphic>
          <a:graphicData uri="http://schemas.openxmlformats.org/presentationml/2006/ole">
            <mc:AlternateContent xmlns:mc="http://schemas.openxmlformats.org/markup-compatibility/2006">
              <mc:Choice xmlns:v="urn:schemas-microsoft-com:vml" Requires="v">
                <p:oleObj spid="_x0000_s165957" name="Equation" r:id="rId7" imgW="59740800" imgH="4876800" progId="Equation.DSMT4">
                  <p:embed/>
                </p:oleObj>
              </mc:Choice>
              <mc:Fallback>
                <p:oleObj name="Equation" r:id="rId7" imgW="59740800" imgH="4876800" progId="Equation.DSMT4">
                  <p:embed/>
                  <p:pic>
                    <p:nvPicPr>
                      <p:cNvPr id="0" name="Object 30"/>
                      <p:cNvPicPr>
                        <a:picLocks noChangeAspect="1" noChangeArrowheads="1"/>
                      </p:cNvPicPr>
                      <p:nvPr/>
                    </p:nvPicPr>
                    <p:blipFill>
                      <a:blip r:embed="rId8"/>
                      <a:srcRect/>
                      <a:stretch>
                        <a:fillRect/>
                      </a:stretch>
                    </p:blipFill>
                    <p:spPr bwMode="auto">
                      <a:xfrm>
                        <a:off x="3456657" y="2564880"/>
                        <a:ext cx="5742173" cy="469048"/>
                      </a:xfrm>
                      <a:prstGeom prst="rect">
                        <a:avLst/>
                      </a:prstGeom>
                      <a:noFill/>
                      <a:ln>
                        <a:noFill/>
                      </a:ln>
                      <a:effectLst/>
                    </p:spPr>
                  </p:pic>
                </p:oleObj>
              </mc:Fallback>
            </mc:AlternateContent>
          </a:graphicData>
        </a:graphic>
      </p:graphicFrame>
      <p:graphicFrame>
        <p:nvGraphicFramePr>
          <p:cNvPr id="27679" name="Object 31"/>
          <p:cNvGraphicFramePr>
            <a:graphicFrameLocks noChangeAspect="1"/>
          </p:cNvGraphicFramePr>
          <p:nvPr/>
        </p:nvGraphicFramePr>
        <p:xfrm>
          <a:off x="3456657" y="3263379"/>
          <a:ext cx="6097622" cy="527679"/>
        </p:xfrm>
        <a:graphic>
          <a:graphicData uri="http://schemas.openxmlformats.org/presentationml/2006/ole">
            <mc:AlternateContent xmlns:mc="http://schemas.openxmlformats.org/markup-compatibility/2006">
              <mc:Choice xmlns:v="urn:schemas-microsoft-com:vml" Requires="v">
                <p:oleObj spid="_x0000_s165958" name="Equation" r:id="rId9" imgW="63398400" imgH="5486400" progId="Equation.DSMT4">
                  <p:embed/>
                </p:oleObj>
              </mc:Choice>
              <mc:Fallback>
                <p:oleObj name="Equation" r:id="rId9" imgW="63398400" imgH="5486400" progId="Equation.DSMT4">
                  <p:embed/>
                  <p:pic>
                    <p:nvPicPr>
                      <p:cNvPr id="0" name="Object 31"/>
                      <p:cNvPicPr>
                        <a:picLocks noChangeAspect="1" noChangeArrowheads="1"/>
                      </p:cNvPicPr>
                      <p:nvPr/>
                    </p:nvPicPr>
                    <p:blipFill>
                      <a:blip r:embed="rId10"/>
                      <a:srcRect/>
                      <a:stretch>
                        <a:fillRect/>
                      </a:stretch>
                    </p:blipFill>
                    <p:spPr bwMode="auto">
                      <a:xfrm>
                        <a:off x="3456657" y="3263379"/>
                        <a:ext cx="6097622" cy="527679"/>
                      </a:xfrm>
                      <a:prstGeom prst="rect">
                        <a:avLst/>
                      </a:prstGeom>
                      <a:noFill/>
                      <a:ln>
                        <a:noFill/>
                      </a:ln>
                      <a:effectLst/>
                    </p:spPr>
                  </p:pic>
                </p:oleObj>
              </mc:Fallback>
            </mc:AlternateContent>
          </a:graphicData>
        </a:graphic>
      </p:graphicFrame>
      <p:graphicFrame>
        <p:nvGraphicFramePr>
          <p:cNvPr id="27681" name="Object 33"/>
          <p:cNvGraphicFramePr>
            <a:graphicFrameLocks noChangeAspect="1"/>
          </p:cNvGraphicFramePr>
          <p:nvPr/>
        </p:nvGraphicFramePr>
        <p:xfrm>
          <a:off x="1763883" y="4064437"/>
          <a:ext cx="3019496" cy="531344"/>
        </p:xfrm>
        <a:graphic>
          <a:graphicData uri="http://schemas.openxmlformats.org/presentationml/2006/ole">
            <mc:AlternateContent xmlns:mc="http://schemas.openxmlformats.org/markup-compatibility/2006">
              <mc:Choice xmlns:v="urn:schemas-microsoft-com:vml" Requires="v">
                <p:oleObj spid="_x0000_s165959" name="Equation" r:id="rId11" imgW="31394400" imgH="5486400" progId="Equation.DSMT4">
                  <p:embed/>
                </p:oleObj>
              </mc:Choice>
              <mc:Fallback>
                <p:oleObj name="Equation" r:id="rId11" imgW="31394400" imgH="5486400" progId="Equation.DSMT4">
                  <p:embed/>
                  <p:pic>
                    <p:nvPicPr>
                      <p:cNvPr id="0" name="Object 33"/>
                      <p:cNvPicPr>
                        <a:picLocks noChangeAspect="1" noChangeArrowheads="1"/>
                      </p:cNvPicPr>
                      <p:nvPr/>
                    </p:nvPicPr>
                    <p:blipFill>
                      <a:blip r:embed="rId12"/>
                      <a:srcRect/>
                      <a:stretch>
                        <a:fillRect/>
                      </a:stretch>
                    </p:blipFill>
                    <p:spPr bwMode="auto">
                      <a:xfrm>
                        <a:off x="1763883" y="4064437"/>
                        <a:ext cx="3019496" cy="531344"/>
                      </a:xfrm>
                      <a:prstGeom prst="rect">
                        <a:avLst/>
                      </a:prstGeom>
                      <a:noFill/>
                      <a:ln>
                        <a:noFill/>
                      </a:ln>
                      <a:effectLst/>
                    </p:spPr>
                  </p:pic>
                </p:oleObj>
              </mc:Fallback>
            </mc:AlternateContent>
          </a:graphicData>
        </a:graphic>
      </p:graphicFrame>
      <p:graphicFrame>
        <p:nvGraphicFramePr>
          <p:cNvPr id="27682" name="Object 34"/>
          <p:cNvGraphicFramePr>
            <a:graphicFrameLocks noChangeAspect="1"/>
          </p:cNvGraphicFramePr>
          <p:nvPr/>
        </p:nvGraphicFramePr>
        <p:xfrm>
          <a:off x="5002383" y="4064437"/>
          <a:ext cx="3166073" cy="531344"/>
        </p:xfrm>
        <a:graphic>
          <a:graphicData uri="http://schemas.openxmlformats.org/presentationml/2006/ole">
            <mc:AlternateContent xmlns:mc="http://schemas.openxmlformats.org/markup-compatibility/2006">
              <mc:Choice xmlns:v="urn:schemas-microsoft-com:vml" Requires="v">
                <p:oleObj spid="_x0000_s165960" name="Equation" r:id="rId13" imgW="32918400" imgH="5486400" progId="Equation.DSMT4">
                  <p:embed/>
                </p:oleObj>
              </mc:Choice>
              <mc:Fallback>
                <p:oleObj name="Equation" r:id="rId13" imgW="32918400" imgH="5486400" progId="Equation.DSMT4">
                  <p:embed/>
                  <p:pic>
                    <p:nvPicPr>
                      <p:cNvPr id="0" name="Object 34"/>
                      <p:cNvPicPr>
                        <a:picLocks noChangeAspect="1" noChangeArrowheads="1"/>
                      </p:cNvPicPr>
                      <p:nvPr/>
                    </p:nvPicPr>
                    <p:blipFill>
                      <a:blip r:embed="rId14"/>
                      <a:srcRect/>
                      <a:stretch>
                        <a:fillRect/>
                      </a:stretch>
                    </p:blipFill>
                    <p:spPr bwMode="auto">
                      <a:xfrm>
                        <a:off x="5002383" y="4064437"/>
                        <a:ext cx="3166073" cy="531344"/>
                      </a:xfrm>
                      <a:prstGeom prst="rect">
                        <a:avLst/>
                      </a:prstGeom>
                      <a:solidFill>
                        <a:srgbClr val="C00000"/>
                      </a:solidFill>
                      <a:ln>
                        <a:noFill/>
                      </a:ln>
                      <a:effectLst/>
                    </p:spPr>
                  </p:pic>
                </p:oleObj>
              </mc:Fallback>
            </mc:AlternateContent>
          </a:graphicData>
        </a:graphic>
      </p:graphicFrame>
      <p:graphicFrame>
        <p:nvGraphicFramePr>
          <p:cNvPr id="27683" name="Object 35"/>
          <p:cNvGraphicFramePr>
            <a:graphicFrameLocks noChangeAspect="1"/>
          </p:cNvGraphicFramePr>
          <p:nvPr/>
        </p:nvGraphicFramePr>
        <p:xfrm>
          <a:off x="983432" y="4869160"/>
          <a:ext cx="9937104" cy="1582649"/>
        </p:xfrm>
        <a:graphic>
          <a:graphicData uri="http://schemas.openxmlformats.org/presentationml/2006/ole">
            <mc:AlternateContent xmlns:mc="http://schemas.openxmlformats.org/markup-compatibility/2006">
              <mc:Choice xmlns:v="urn:schemas-microsoft-com:vml" Requires="v">
                <p:oleObj spid="_x0000_s165961" name="Equation" r:id="rId15" imgW="103327200" imgH="16459200" progId="Equation.DSMT4">
                  <p:embed/>
                </p:oleObj>
              </mc:Choice>
              <mc:Fallback>
                <p:oleObj name="Equation" r:id="rId15" imgW="103327200" imgH="16459200" progId="Equation.DSMT4">
                  <p:embed/>
                  <p:pic>
                    <p:nvPicPr>
                      <p:cNvPr id="0" name="Object 35"/>
                      <p:cNvPicPr>
                        <a:picLocks noChangeAspect="1" noChangeArrowheads="1"/>
                      </p:cNvPicPr>
                      <p:nvPr/>
                    </p:nvPicPr>
                    <p:blipFill>
                      <a:blip r:embed="rId16"/>
                      <a:srcRect/>
                      <a:stretch>
                        <a:fillRect/>
                      </a:stretch>
                    </p:blipFill>
                    <p:spPr bwMode="auto">
                      <a:xfrm>
                        <a:off x="983432" y="4869160"/>
                        <a:ext cx="9937104" cy="1582649"/>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675"/>
                                        </p:tgtEl>
                                        <p:attrNameLst>
                                          <p:attrName>style.visibility</p:attrName>
                                        </p:attrNameLst>
                                      </p:cBhvr>
                                      <p:to>
                                        <p:strVal val="visible"/>
                                      </p:to>
                                    </p:set>
                                    <p:anim calcmode="lin" valueType="num">
                                      <p:cBhvr additive="base">
                                        <p:cTn id="7" dur="500" fill="hold"/>
                                        <p:tgtEl>
                                          <p:spTgt spid="27675"/>
                                        </p:tgtEl>
                                        <p:attrNameLst>
                                          <p:attrName>ppt_x</p:attrName>
                                        </p:attrNameLst>
                                      </p:cBhvr>
                                      <p:tavLst>
                                        <p:tav tm="0">
                                          <p:val>
                                            <p:strVal val="0-#ppt_w/2"/>
                                          </p:val>
                                        </p:tav>
                                        <p:tav tm="100000">
                                          <p:val>
                                            <p:strVal val="#ppt_x"/>
                                          </p:val>
                                        </p:tav>
                                      </p:tavLst>
                                    </p:anim>
                                    <p:anim calcmode="lin" valueType="num">
                                      <p:cBhvr additive="base">
                                        <p:cTn id="8" dur="500" fill="hold"/>
                                        <p:tgtEl>
                                          <p:spTgt spid="276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7676"/>
                                        </p:tgtEl>
                                        <p:attrNameLst>
                                          <p:attrName>style.visibility</p:attrName>
                                        </p:attrNameLst>
                                      </p:cBhvr>
                                      <p:to>
                                        <p:strVal val="visible"/>
                                      </p:to>
                                    </p:set>
                                    <p:anim calcmode="lin" valueType="num">
                                      <p:cBhvr additive="base">
                                        <p:cTn id="13" dur="500" fill="hold"/>
                                        <p:tgtEl>
                                          <p:spTgt spid="27676"/>
                                        </p:tgtEl>
                                        <p:attrNameLst>
                                          <p:attrName>ppt_x</p:attrName>
                                        </p:attrNameLst>
                                      </p:cBhvr>
                                      <p:tavLst>
                                        <p:tav tm="0">
                                          <p:val>
                                            <p:strVal val="0-#ppt_w/2"/>
                                          </p:val>
                                        </p:tav>
                                        <p:tav tm="100000">
                                          <p:val>
                                            <p:strVal val="#ppt_x"/>
                                          </p:val>
                                        </p:tav>
                                      </p:tavLst>
                                    </p:anim>
                                    <p:anim calcmode="lin" valueType="num">
                                      <p:cBhvr additive="base">
                                        <p:cTn id="14" dur="500" fill="hold"/>
                                        <p:tgtEl>
                                          <p:spTgt spid="2767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7677"/>
                                        </p:tgtEl>
                                        <p:attrNameLst>
                                          <p:attrName>style.visibility</p:attrName>
                                        </p:attrNameLst>
                                      </p:cBhvr>
                                      <p:to>
                                        <p:strVal val="visible"/>
                                      </p:to>
                                    </p:set>
                                    <p:anim calcmode="lin" valueType="num">
                                      <p:cBhvr additive="base">
                                        <p:cTn id="19" dur="500" fill="hold"/>
                                        <p:tgtEl>
                                          <p:spTgt spid="27677"/>
                                        </p:tgtEl>
                                        <p:attrNameLst>
                                          <p:attrName>ppt_x</p:attrName>
                                        </p:attrNameLst>
                                      </p:cBhvr>
                                      <p:tavLst>
                                        <p:tav tm="0">
                                          <p:val>
                                            <p:strVal val="0-#ppt_w/2"/>
                                          </p:val>
                                        </p:tav>
                                        <p:tav tm="100000">
                                          <p:val>
                                            <p:strVal val="#ppt_x"/>
                                          </p:val>
                                        </p:tav>
                                      </p:tavLst>
                                    </p:anim>
                                    <p:anim calcmode="lin" valueType="num">
                                      <p:cBhvr additive="base">
                                        <p:cTn id="20" dur="500" fill="hold"/>
                                        <p:tgtEl>
                                          <p:spTgt spid="2767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7678"/>
                                        </p:tgtEl>
                                        <p:attrNameLst>
                                          <p:attrName>style.visibility</p:attrName>
                                        </p:attrNameLst>
                                      </p:cBhvr>
                                      <p:to>
                                        <p:strVal val="visible"/>
                                      </p:to>
                                    </p:set>
                                    <p:anim calcmode="lin" valueType="num">
                                      <p:cBhvr additive="base">
                                        <p:cTn id="25" dur="500" fill="hold"/>
                                        <p:tgtEl>
                                          <p:spTgt spid="27678"/>
                                        </p:tgtEl>
                                        <p:attrNameLst>
                                          <p:attrName>ppt_x</p:attrName>
                                        </p:attrNameLst>
                                      </p:cBhvr>
                                      <p:tavLst>
                                        <p:tav tm="0">
                                          <p:val>
                                            <p:strVal val="0-#ppt_w/2"/>
                                          </p:val>
                                        </p:tav>
                                        <p:tav tm="100000">
                                          <p:val>
                                            <p:strVal val="#ppt_x"/>
                                          </p:val>
                                        </p:tav>
                                      </p:tavLst>
                                    </p:anim>
                                    <p:anim calcmode="lin" valueType="num">
                                      <p:cBhvr additive="base">
                                        <p:cTn id="26" dur="500" fill="hold"/>
                                        <p:tgtEl>
                                          <p:spTgt spid="2767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7679"/>
                                        </p:tgtEl>
                                        <p:attrNameLst>
                                          <p:attrName>style.visibility</p:attrName>
                                        </p:attrNameLst>
                                      </p:cBhvr>
                                      <p:to>
                                        <p:strVal val="visible"/>
                                      </p:to>
                                    </p:set>
                                    <p:anim calcmode="lin" valueType="num">
                                      <p:cBhvr additive="base">
                                        <p:cTn id="31" dur="500" fill="hold"/>
                                        <p:tgtEl>
                                          <p:spTgt spid="27679"/>
                                        </p:tgtEl>
                                        <p:attrNameLst>
                                          <p:attrName>ppt_x</p:attrName>
                                        </p:attrNameLst>
                                      </p:cBhvr>
                                      <p:tavLst>
                                        <p:tav tm="0">
                                          <p:val>
                                            <p:strVal val="0-#ppt_w/2"/>
                                          </p:val>
                                        </p:tav>
                                        <p:tav tm="100000">
                                          <p:val>
                                            <p:strVal val="#ppt_x"/>
                                          </p:val>
                                        </p:tav>
                                      </p:tavLst>
                                    </p:anim>
                                    <p:anim calcmode="lin" valueType="num">
                                      <p:cBhvr additive="base">
                                        <p:cTn id="32" dur="500" fill="hold"/>
                                        <p:tgtEl>
                                          <p:spTgt spid="2767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7681"/>
                                        </p:tgtEl>
                                        <p:attrNameLst>
                                          <p:attrName>style.visibility</p:attrName>
                                        </p:attrNameLst>
                                      </p:cBhvr>
                                      <p:to>
                                        <p:strVal val="visible"/>
                                      </p:to>
                                    </p:set>
                                    <p:anim calcmode="lin" valueType="num">
                                      <p:cBhvr additive="base">
                                        <p:cTn id="37" dur="500" fill="hold"/>
                                        <p:tgtEl>
                                          <p:spTgt spid="27681"/>
                                        </p:tgtEl>
                                        <p:attrNameLst>
                                          <p:attrName>ppt_x</p:attrName>
                                        </p:attrNameLst>
                                      </p:cBhvr>
                                      <p:tavLst>
                                        <p:tav tm="0">
                                          <p:val>
                                            <p:strVal val="0-#ppt_w/2"/>
                                          </p:val>
                                        </p:tav>
                                        <p:tav tm="100000">
                                          <p:val>
                                            <p:strVal val="#ppt_x"/>
                                          </p:val>
                                        </p:tav>
                                      </p:tavLst>
                                    </p:anim>
                                    <p:anim calcmode="lin" valueType="num">
                                      <p:cBhvr additive="base">
                                        <p:cTn id="38" dur="500" fill="hold"/>
                                        <p:tgtEl>
                                          <p:spTgt spid="2768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7682"/>
                                        </p:tgtEl>
                                        <p:attrNameLst>
                                          <p:attrName>style.visibility</p:attrName>
                                        </p:attrNameLst>
                                      </p:cBhvr>
                                      <p:to>
                                        <p:strVal val="visible"/>
                                      </p:to>
                                    </p:set>
                                    <p:anim calcmode="lin" valueType="num">
                                      <p:cBhvr additive="base">
                                        <p:cTn id="43" dur="500" fill="hold"/>
                                        <p:tgtEl>
                                          <p:spTgt spid="27682"/>
                                        </p:tgtEl>
                                        <p:attrNameLst>
                                          <p:attrName>ppt_x</p:attrName>
                                        </p:attrNameLst>
                                      </p:cBhvr>
                                      <p:tavLst>
                                        <p:tav tm="0">
                                          <p:val>
                                            <p:strVal val="0-#ppt_w/2"/>
                                          </p:val>
                                        </p:tav>
                                        <p:tav tm="100000">
                                          <p:val>
                                            <p:strVal val="#ppt_x"/>
                                          </p:val>
                                        </p:tav>
                                      </p:tavLst>
                                    </p:anim>
                                    <p:anim calcmode="lin" valueType="num">
                                      <p:cBhvr additive="base">
                                        <p:cTn id="44" dur="500" fill="hold"/>
                                        <p:tgtEl>
                                          <p:spTgt spid="2768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7683"/>
                                        </p:tgtEl>
                                        <p:attrNameLst>
                                          <p:attrName>style.visibility</p:attrName>
                                        </p:attrNameLst>
                                      </p:cBhvr>
                                      <p:to>
                                        <p:strVal val="visible"/>
                                      </p:to>
                                    </p:set>
                                    <p:anim calcmode="lin" valueType="num">
                                      <p:cBhvr additive="base">
                                        <p:cTn id="49" dur="500" fill="hold"/>
                                        <p:tgtEl>
                                          <p:spTgt spid="27683"/>
                                        </p:tgtEl>
                                        <p:attrNameLst>
                                          <p:attrName>ppt_x</p:attrName>
                                        </p:attrNameLst>
                                      </p:cBhvr>
                                      <p:tavLst>
                                        <p:tav tm="0">
                                          <p:val>
                                            <p:strVal val="0-#ppt_w/2"/>
                                          </p:val>
                                        </p:tav>
                                        <p:tav tm="100000">
                                          <p:val>
                                            <p:strVal val="#ppt_x"/>
                                          </p:val>
                                        </p:tav>
                                      </p:tavLst>
                                    </p:anim>
                                    <p:anim calcmode="lin" valueType="num">
                                      <p:cBhvr additive="base">
                                        <p:cTn id="50" dur="500" fill="hold"/>
                                        <p:tgtEl>
                                          <p:spTgt spid="276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1" name="Text Box 39"/>
          <p:cNvSpPr txBox="1">
            <a:spLocks noChangeArrowheads="1"/>
          </p:cNvSpPr>
          <p:nvPr/>
        </p:nvSpPr>
        <p:spPr bwMode="auto">
          <a:xfrm>
            <a:off x="1335307" y="961564"/>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例如</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8712" name="Object 40"/>
          <p:cNvGraphicFramePr>
            <a:graphicFrameLocks noChangeAspect="1"/>
          </p:cNvGraphicFramePr>
          <p:nvPr/>
        </p:nvGraphicFramePr>
        <p:xfrm>
          <a:off x="1334681" y="1625377"/>
          <a:ext cx="9753600" cy="1095375"/>
        </p:xfrm>
        <a:graphic>
          <a:graphicData uri="http://schemas.openxmlformats.org/presentationml/2006/ole">
            <mc:AlternateContent xmlns:mc="http://schemas.openxmlformats.org/markup-compatibility/2006">
              <mc:Choice xmlns:v="urn:schemas-microsoft-com:vml" Requires="v">
                <p:oleObj spid="_x0000_s166946" name="Equation" r:id="rId1" imgW="97536000" imgH="10972800" progId="Equation.DSMT4">
                  <p:embed/>
                </p:oleObj>
              </mc:Choice>
              <mc:Fallback>
                <p:oleObj name="Equation" r:id="rId1" imgW="97536000" imgH="10972800" progId="Equation.DSMT4">
                  <p:embed/>
                  <p:pic>
                    <p:nvPicPr>
                      <p:cNvPr id="0" name="Object 40"/>
                      <p:cNvPicPr>
                        <a:picLocks noChangeAspect="1" noChangeArrowheads="1"/>
                      </p:cNvPicPr>
                      <p:nvPr/>
                    </p:nvPicPr>
                    <p:blipFill>
                      <a:blip r:embed="rId2"/>
                      <a:srcRect/>
                      <a:stretch>
                        <a:fillRect/>
                      </a:stretch>
                    </p:blipFill>
                    <p:spPr bwMode="auto">
                      <a:xfrm>
                        <a:off x="1334681" y="1625377"/>
                        <a:ext cx="9753600" cy="1095375"/>
                      </a:xfrm>
                      <a:prstGeom prst="rect">
                        <a:avLst/>
                      </a:prstGeom>
                      <a:noFill/>
                      <a:ln>
                        <a:noFill/>
                      </a:ln>
                      <a:effectLst/>
                    </p:spPr>
                  </p:pic>
                </p:oleObj>
              </mc:Fallback>
            </mc:AlternateContent>
          </a:graphicData>
        </a:graphic>
      </p:graphicFrame>
      <p:graphicFrame>
        <p:nvGraphicFramePr>
          <p:cNvPr id="28714" name="Object 42"/>
          <p:cNvGraphicFramePr>
            <a:graphicFrameLocks noChangeAspect="1"/>
          </p:cNvGraphicFramePr>
          <p:nvPr/>
        </p:nvGraphicFramePr>
        <p:xfrm>
          <a:off x="1295761" y="2861345"/>
          <a:ext cx="9912807" cy="1668462"/>
        </p:xfrm>
        <a:graphic>
          <a:graphicData uri="http://schemas.openxmlformats.org/presentationml/2006/ole">
            <mc:AlternateContent xmlns:mc="http://schemas.openxmlformats.org/markup-compatibility/2006">
              <mc:Choice xmlns:v="urn:schemas-microsoft-com:vml" Requires="v">
                <p:oleObj spid="_x0000_s166947" name="Equation" r:id="rId3" imgW="99974400" imgH="16764000" progId="Equation.DSMT4">
                  <p:embed/>
                </p:oleObj>
              </mc:Choice>
              <mc:Fallback>
                <p:oleObj name="Equation" r:id="rId3" imgW="99974400" imgH="16764000" progId="Equation.DSMT4">
                  <p:embed/>
                  <p:pic>
                    <p:nvPicPr>
                      <p:cNvPr id="0" name="Object 42"/>
                      <p:cNvPicPr>
                        <a:picLocks noChangeAspect="1" noChangeArrowheads="1"/>
                      </p:cNvPicPr>
                      <p:nvPr/>
                    </p:nvPicPr>
                    <p:blipFill>
                      <a:blip r:embed="rId4"/>
                      <a:srcRect/>
                      <a:stretch>
                        <a:fillRect/>
                      </a:stretch>
                    </p:blipFill>
                    <p:spPr bwMode="auto">
                      <a:xfrm>
                        <a:off x="1295761" y="2861345"/>
                        <a:ext cx="9912807" cy="1668462"/>
                      </a:xfrm>
                      <a:prstGeom prst="rect">
                        <a:avLst/>
                      </a:prstGeom>
                      <a:noFill/>
                      <a:ln>
                        <a:noFill/>
                      </a:ln>
                      <a:effectLst/>
                    </p:spPr>
                  </p:pic>
                </p:oleObj>
              </mc:Fallback>
            </mc:AlternateContent>
          </a:graphicData>
        </a:graphic>
      </p:graphicFrame>
      <p:graphicFrame>
        <p:nvGraphicFramePr>
          <p:cNvPr id="28716" name="Object 44"/>
          <p:cNvGraphicFramePr>
            <a:graphicFrameLocks noChangeAspect="1"/>
          </p:cNvGraphicFramePr>
          <p:nvPr/>
        </p:nvGraphicFramePr>
        <p:xfrm>
          <a:off x="3829870" y="3294931"/>
          <a:ext cx="457310" cy="1006081"/>
        </p:xfrm>
        <a:graphic>
          <a:graphicData uri="http://schemas.openxmlformats.org/presentationml/2006/ole">
            <mc:AlternateContent xmlns:mc="http://schemas.openxmlformats.org/markup-compatibility/2006">
              <mc:Choice xmlns:v="urn:schemas-microsoft-com:vml" Requires="v">
                <p:oleObj spid="_x0000_s166948" name="Equation" r:id="rId5" imgW="190500" imgH="419100" progId="Equation.3">
                  <p:embed/>
                </p:oleObj>
              </mc:Choice>
              <mc:Fallback>
                <p:oleObj name="Equation" r:id="rId5" imgW="190500" imgH="419100" progId="Equation.3">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9870" y="3294931"/>
                        <a:ext cx="457310" cy="1006081"/>
                      </a:xfrm>
                      <a:prstGeom prst="rect">
                        <a:avLst/>
                      </a:prstGeom>
                      <a:noFill/>
                      <a:ln>
                        <a:noFill/>
                      </a:ln>
                      <a:effectLst/>
                    </p:spPr>
                  </p:pic>
                </p:oleObj>
              </mc:Fallback>
            </mc:AlternateContent>
          </a:graphicData>
        </a:graphic>
      </p:graphicFrame>
      <p:graphicFrame>
        <p:nvGraphicFramePr>
          <p:cNvPr id="28717" name="Object 45"/>
          <p:cNvGraphicFramePr>
            <a:graphicFrameLocks noChangeAspect="1"/>
          </p:cNvGraphicFramePr>
          <p:nvPr/>
        </p:nvGraphicFramePr>
        <p:xfrm>
          <a:off x="2567608" y="4740965"/>
          <a:ext cx="7560840" cy="1036567"/>
        </p:xfrm>
        <a:graphic>
          <a:graphicData uri="http://schemas.openxmlformats.org/presentationml/2006/ole">
            <mc:AlternateContent xmlns:mc="http://schemas.openxmlformats.org/markup-compatibility/2006">
              <mc:Choice xmlns:v="urn:schemas-microsoft-com:vml" Requires="v">
                <p:oleObj spid="_x0000_s166949" name="Equation" r:id="rId7" imgW="75590400" imgH="10363200" progId="Equation.DSMT4">
                  <p:embed/>
                </p:oleObj>
              </mc:Choice>
              <mc:Fallback>
                <p:oleObj name="Equation" r:id="rId7" imgW="75590400" imgH="10363200" progId="Equation.DSMT4">
                  <p:embed/>
                  <p:pic>
                    <p:nvPicPr>
                      <p:cNvPr id="0" name="Object 45"/>
                      <p:cNvPicPr>
                        <a:picLocks noChangeAspect="1" noChangeArrowheads="1"/>
                      </p:cNvPicPr>
                      <p:nvPr/>
                    </p:nvPicPr>
                    <p:blipFill>
                      <a:blip r:embed="rId8"/>
                      <a:srcRect/>
                      <a:stretch>
                        <a:fillRect/>
                      </a:stretch>
                    </p:blipFill>
                    <p:spPr bwMode="auto">
                      <a:xfrm>
                        <a:off x="2567608" y="4740965"/>
                        <a:ext cx="7560840" cy="1036567"/>
                      </a:xfrm>
                      <a:prstGeom prst="rect">
                        <a:avLst/>
                      </a:prstGeom>
                      <a:solidFill>
                        <a:srgbClr val="C00000"/>
                      </a:solidFill>
                      <a:ln>
                        <a:noFill/>
                      </a:ln>
                      <a:effectLst/>
                    </p:spPr>
                  </p:pic>
                </p:oleObj>
              </mc:Fallback>
            </mc:AlternateContent>
          </a:graphicData>
        </a:graphic>
      </p:graphicFrame>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711"/>
                                        </p:tgtEl>
                                        <p:attrNameLst>
                                          <p:attrName>style.visibility</p:attrName>
                                        </p:attrNameLst>
                                      </p:cBhvr>
                                      <p:to>
                                        <p:strVal val="visible"/>
                                      </p:to>
                                    </p:set>
                                    <p:anim calcmode="lin" valueType="num">
                                      <p:cBhvr additive="base">
                                        <p:cTn id="7" dur="500" fill="hold"/>
                                        <p:tgtEl>
                                          <p:spTgt spid="28711"/>
                                        </p:tgtEl>
                                        <p:attrNameLst>
                                          <p:attrName>ppt_x</p:attrName>
                                        </p:attrNameLst>
                                      </p:cBhvr>
                                      <p:tavLst>
                                        <p:tav tm="0">
                                          <p:val>
                                            <p:strVal val="0-#ppt_w/2"/>
                                          </p:val>
                                        </p:tav>
                                        <p:tav tm="100000">
                                          <p:val>
                                            <p:strVal val="#ppt_x"/>
                                          </p:val>
                                        </p:tav>
                                      </p:tavLst>
                                    </p:anim>
                                    <p:anim calcmode="lin" valueType="num">
                                      <p:cBhvr additive="base">
                                        <p:cTn id="8" dur="500" fill="hold"/>
                                        <p:tgtEl>
                                          <p:spTgt spid="287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8712"/>
                                        </p:tgtEl>
                                        <p:attrNameLst>
                                          <p:attrName>style.visibility</p:attrName>
                                        </p:attrNameLst>
                                      </p:cBhvr>
                                      <p:to>
                                        <p:strVal val="visible"/>
                                      </p:to>
                                    </p:set>
                                    <p:anim calcmode="lin" valueType="num">
                                      <p:cBhvr additive="base">
                                        <p:cTn id="13" dur="500" fill="hold"/>
                                        <p:tgtEl>
                                          <p:spTgt spid="28712"/>
                                        </p:tgtEl>
                                        <p:attrNameLst>
                                          <p:attrName>ppt_x</p:attrName>
                                        </p:attrNameLst>
                                      </p:cBhvr>
                                      <p:tavLst>
                                        <p:tav tm="0">
                                          <p:val>
                                            <p:strVal val="0-#ppt_w/2"/>
                                          </p:val>
                                        </p:tav>
                                        <p:tav tm="100000">
                                          <p:val>
                                            <p:strVal val="#ppt_x"/>
                                          </p:val>
                                        </p:tav>
                                      </p:tavLst>
                                    </p:anim>
                                    <p:anim calcmode="lin" valueType="num">
                                      <p:cBhvr additive="base">
                                        <p:cTn id="14" dur="500" fill="hold"/>
                                        <p:tgtEl>
                                          <p:spTgt spid="287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8714"/>
                                        </p:tgtEl>
                                        <p:attrNameLst>
                                          <p:attrName>style.visibility</p:attrName>
                                        </p:attrNameLst>
                                      </p:cBhvr>
                                      <p:to>
                                        <p:strVal val="visible"/>
                                      </p:to>
                                    </p:set>
                                    <p:anim calcmode="lin" valueType="num">
                                      <p:cBhvr additive="base">
                                        <p:cTn id="19" dur="500" fill="hold"/>
                                        <p:tgtEl>
                                          <p:spTgt spid="28714"/>
                                        </p:tgtEl>
                                        <p:attrNameLst>
                                          <p:attrName>ppt_x</p:attrName>
                                        </p:attrNameLst>
                                      </p:cBhvr>
                                      <p:tavLst>
                                        <p:tav tm="0">
                                          <p:val>
                                            <p:strVal val="0-#ppt_w/2"/>
                                          </p:val>
                                        </p:tav>
                                        <p:tav tm="100000">
                                          <p:val>
                                            <p:strVal val="#ppt_x"/>
                                          </p:val>
                                        </p:tav>
                                      </p:tavLst>
                                    </p:anim>
                                    <p:anim calcmode="lin" valueType="num">
                                      <p:cBhvr additive="base">
                                        <p:cTn id="20" dur="500" fill="hold"/>
                                        <p:tgtEl>
                                          <p:spTgt spid="287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8717"/>
                                        </p:tgtEl>
                                        <p:attrNameLst>
                                          <p:attrName>style.visibility</p:attrName>
                                        </p:attrNameLst>
                                      </p:cBhvr>
                                      <p:to>
                                        <p:strVal val="visible"/>
                                      </p:to>
                                    </p:set>
                                    <p:anim calcmode="lin" valueType="num">
                                      <p:cBhvr additive="base">
                                        <p:cTn id="25" dur="500" fill="hold"/>
                                        <p:tgtEl>
                                          <p:spTgt spid="28717"/>
                                        </p:tgtEl>
                                        <p:attrNameLst>
                                          <p:attrName>ppt_x</p:attrName>
                                        </p:attrNameLst>
                                      </p:cBhvr>
                                      <p:tavLst>
                                        <p:tav tm="0">
                                          <p:val>
                                            <p:strVal val="0-#ppt_w/2"/>
                                          </p:val>
                                        </p:tav>
                                        <p:tav tm="100000">
                                          <p:val>
                                            <p:strVal val="#ppt_x"/>
                                          </p:val>
                                        </p:tav>
                                      </p:tavLst>
                                    </p:anim>
                                    <p:anim calcmode="lin" valueType="num">
                                      <p:cBhvr additive="base">
                                        <p:cTn id="26" dur="500" fill="hold"/>
                                        <p:tgtEl>
                                          <p:spTgt spid="287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11"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15398" y="2727150"/>
            <a:ext cx="5040000" cy="923330"/>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切比雪夫不等式</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04</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63" name="Rectangle 31"/>
          <p:cNvSpPr>
            <a:spLocks noChangeArrowheads="1"/>
          </p:cNvSpPr>
          <p:nvPr/>
        </p:nvSpPr>
        <p:spPr bwMode="auto">
          <a:xfrm>
            <a:off x="2373860" y="3542572"/>
            <a:ext cx="54373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或</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065" name="Rectangle 33"/>
          <p:cNvSpPr>
            <a:spLocks noChangeArrowheads="1"/>
          </p:cNvSpPr>
          <p:nvPr/>
        </p:nvSpPr>
        <p:spPr bwMode="auto">
          <a:xfrm>
            <a:off x="1406163" y="4271728"/>
            <a:ext cx="9370358" cy="195495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由切比雪夫不等式可以看出，若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越小，则事件</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&lt;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的概率越大，即</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随机变量</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集中在期望附近的可能性越大。</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4068" name="Object 36"/>
          <p:cNvGraphicFramePr>
            <a:graphicFrameLocks noChangeAspect="1"/>
          </p:cNvGraphicFramePr>
          <p:nvPr/>
        </p:nvGraphicFramePr>
        <p:xfrm>
          <a:off x="3297664" y="3167890"/>
          <a:ext cx="4810125" cy="1174750"/>
        </p:xfrm>
        <a:graphic>
          <a:graphicData uri="http://schemas.openxmlformats.org/presentationml/2006/ole">
            <mc:AlternateContent xmlns:mc="http://schemas.openxmlformats.org/markup-compatibility/2006">
              <mc:Choice xmlns:v="urn:schemas-microsoft-com:vml" Requires="v">
                <p:oleObj spid="_x0000_s206855" name="Equation" r:id="rId1" imgW="41148000" imgH="10058400" progId="Equation.DSMT4">
                  <p:embed/>
                </p:oleObj>
              </mc:Choice>
              <mc:Fallback>
                <p:oleObj name="Equation" r:id="rId1" imgW="41148000" imgH="10058400" progId="Equation.DSMT4">
                  <p:embed/>
                  <p:pic>
                    <p:nvPicPr>
                      <p:cNvPr id="0" name="Object 36"/>
                      <p:cNvPicPr>
                        <a:picLocks noChangeAspect="1" noChangeArrowheads="1"/>
                      </p:cNvPicPr>
                      <p:nvPr/>
                    </p:nvPicPr>
                    <p:blipFill>
                      <a:blip r:embed="rId2"/>
                      <a:srcRect/>
                      <a:stretch>
                        <a:fillRect/>
                      </a:stretch>
                    </p:blipFill>
                    <p:spPr bwMode="auto">
                      <a:xfrm>
                        <a:off x="3297664" y="3167890"/>
                        <a:ext cx="4810125"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69" name="Object 37"/>
          <p:cNvGraphicFramePr>
            <a:graphicFrameLocks noChangeAspect="1"/>
          </p:cNvGraphicFramePr>
          <p:nvPr/>
        </p:nvGraphicFramePr>
        <p:xfrm>
          <a:off x="3356436" y="2222002"/>
          <a:ext cx="4275138" cy="1174750"/>
        </p:xfrm>
        <a:graphic>
          <a:graphicData uri="http://schemas.openxmlformats.org/presentationml/2006/ole">
            <mc:AlternateContent xmlns:mc="http://schemas.openxmlformats.org/markup-compatibility/2006">
              <mc:Choice xmlns:v="urn:schemas-microsoft-com:vml" Requires="v">
                <p:oleObj spid="_x0000_s2" name="Equation" r:id="rId3" imgW="36576000" imgH="10058400" progId="Equation.DSMT4">
                  <p:embed/>
                </p:oleObj>
              </mc:Choice>
              <mc:Fallback>
                <p:oleObj name="Equation" r:id="rId3" imgW="36576000" imgH="10058400" progId="Equation.DSMT4">
                  <p:embed/>
                  <p:pic>
                    <p:nvPicPr>
                      <p:cNvPr id="0" name="Object 37"/>
                      <p:cNvPicPr>
                        <a:picLocks noChangeAspect="1" noChangeArrowheads="1"/>
                      </p:cNvPicPr>
                      <p:nvPr/>
                    </p:nvPicPr>
                    <p:blipFill>
                      <a:blip r:embed="rId4"/>
                      <a:srcRect/>
                      <a:stretch>
                        <a:fillRect/>
                      </a:stretch>
                    </p:blipFill>
                    <p:spPr bwMode="auto">
                      <a:xfrm>
                        <a:off x="3356436" y="2222002"/>
                        <a:ext cx="4275138"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7" name="Rectangle 33"/>
          <p:cNvSpPr>
            <a:spLocks noChangeArrowheads="1"/>
          </p:cNvSpPr>
          <p:nvPr/>
        </p:nvSpPr>
        <p:spPr bwMode="auto">
          <a:xfrm>
            <a:off x="1406162" y="1016315"/>
            <a:ext cx="9226341" cy="130753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设随机变量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具有数学期望</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μ</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，则对于任意正数</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，有不等式</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4069"/>
                                        </p:tgtEl>
                                        <p:attrNameLst>
                                          <p:attrName>style.visibility</p:attrName>
                                        </p:attrNameLst>
                                      </p:cBhvr>
                                      <p:to>
                                        <p:strVal val="visible"/>
                                      </p:to>
                                    </p:set>
                                    <p:anim calcmode="lin" valueType="num">
                                      <p:cBhvr additive="base">
                                        <p:cTn id="13" dur="500" fill="hold"/>
                                        <p:tgtEl>
                                          <p:spTgt spid="44069"/>
                                        </p:tgtEl>
                                        <p:attrNameLst>
                                          <p:attrName>ppt_x</p:attrName>
                                        </p:attrNameLst>
                                      </p:cBhvr>
                                      <p:tavLst>
                                        <p:tav tm="0">
                                          <p:val>
                                            <p:strVal val="0-#ppt_w/2"/>
                                          </p:val>
                                        </p:tav>
                                        <p:tav tm="100000">
                                          <p:val>
                                            <p:strVal val="#ppt_x"/>
                                          </p:val>
                                        </p:tav>
                                      </p:tavLst>
                                    </p:anim>
                                    <p:anim calcmode="lin" valueType="num">
                                      <p:cBhvr additive="base">
                                        <p:cTn id="14" dur="500" fill="hold"/>
                                        <p:tgtEl>
                                          <p:spTgt spid="4406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063"/>
                                        </p:tgtEl>
                                        <p:attrNameLst>
                                          <p:attrName>style.visibility</p:attrName>
                                        </p:attrNameLst>
                                      </p:cBhvr>
                                      <p:to>
                                        <p:strVal val="visible"/>
                                      </p:to>
                                    </p:set>
                                    <p:anim calcmode="lin" valueType="num">
                                      <p:cBhvr additive="base">
                                        <p:cTn id="19" dur="500" fill="hold"/>
                                        <p:tgtEl>
                                          <p:spTgt spid="44063"/>
                                        </p:tgtEl>
                                        <p:attrNameLst>
                                          <p:attrName>ppt_x</p:attrName>
                                        </p:attrNameLst>
                                      </p:cBhvr>
                                      <p:tavLst>
                                        <p:tav tm="0">
                                          <p:val>
                                            <p:strVal val="0-#ppt_w/2"/>
                                          </p:val>
                                        </p:tav>
                                        <p:tav tm="100000">
                                          <p:val>
                                            <p:strVal val="#ppt_x"/>
                                          </p:val>
                                        </p:tav>
                                      </p:tavLst>
                                    </p:anim>
                                    <p:anim calcmode="lin" valueType="num">
                                      <p:cBhvr additive="base">
                                        <p:cTn id="20" dur="500" fill="hold"/>
                                        <p:tgtEl>
                                          <p:spTgt spid="4406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4068"/>
                                        </p:tgtEl>
                                        <p:attrNameLst>
                                          <p:attrName>style.visibility</p:attrName>
                                        </p:attrNameLst>
                                      </p:cBhvr>
                                      <p:to>
                                        <p:strVal val="visible"/>
                                      </p:to>
                                    </p:set>
                                    <p:anim calcmode="lin" valueType="num">
                                      <p:cBhvr additive="base">
                                        <p:cTn id="25" dur="500" fill="hold"/>
                                        <p:tgtEl>
                                          <p:spTgt spid="44068"/>
                                        </p:tgtEl>
                                        <p:attrNameLst>
                                          <p:attrName>ppt_x</p:attrName>
                                        </p:attrNameLst>
                                      </p:cBhvr>
                                      <p:tavLst>
                                        <p:tav tm="0">
                                          <p:val>
                                            <p:strVal val="0-#ppt_w/2"/>
                                          </p:val>
                                        </p:tav>
                                        <p:tav tm="100000">
                                          <p:val>
                                            <p:strVal val="#ppt_x"/>
                                          </p:val>
                                        </p:tav>
                                      </p:tavLst>
                                    </p:anim>
                                    <p:anim calcmode="lin" valueType="num">
                                      <p:cBhvr additive="base">
                                        <p:cTn id="26" dur="500" fill="hold"/>
                                        <p:tgtEl>
                                          <p:spTgt spid="4406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065"/>
                                        </p:tgtEl>
                                        <p:attrNameLst>
                                          <p:attrName>style.visibility</p:attrName>
                                        </p:attrNameLst>
                                      </p:cBhvr>
                                      <p:to>
                                        <p:strVal val="visible"/>
                                      </p:to>
                                    </p:set>
                                    <p:anim calcmode="lin" valueType="num">
                                      <p:cBhvr additive="base">
                                        <p:cTn id="31" dur="500" fill="hold"/>
                                        <p:tgtEl>
                                          <p:spTgt spid="44065"/>
                                        </p:tgtEl>
                                        <p:attrNameLst>
                                          <p:attrName>ppt_x</p:attrName>
                                        </p:attrNameLst>
                                      </p:cBhvr>
                                      <p:tavLst>
                                        <p:tav tm="0">
                                          <p:val>
                                            <p:strVal val="0-#ppt_w/2"/>
                                          </p:val>
                                        </p:tav>
                                        <p:tav tm="100000">
                                          <p:val>
                                            <p:strVal val="#ppt_x"/>
                                          </p:val>
                                        </p:tav>
                                      </p:tavLst>
                                    </p:anim>
                                    <p:anim calcmode="lin" valueType="num">
                                      <p:cBhvr additive="base">
                                        <p:cTn id="32" dur="500" fill="hold"/>
                                        <p:tgtEl>
                                          <p:spTgt spid="440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63" grpId="0" bldLvl="0" animBg="1"/>
      <p:bldP spid="44065" grpId="0" bldLvl="0" animBg="1"/>
      <p:bldP spid="17"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11" name="Text Box 35"/>
          <p:cNvSpPr txBox="1">
            <a:spLocks noChangeArrowheads="1"/>
          </p:cNvSpPr>
          <p:nvPr/>
        </p:nvSpPr>
        <p:spPr bwMode="auto">
          <a:xfrm>
            <a:off x="2017714" y="1978103"/>
            <a:ext cx="52725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证：</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的概率密度为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f</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，则有</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5812" name="Text Box 36"/>
          <p:cNvSpPr txBox="1">
            <a:spLocks noChangeArrowheads="1"/>
          </p:cNvSpPr>
          <p:nvPr/>
        </p:nvSpPr>
        <p:spPr bwMode="auto">
          <a:xfrm>
            <a:off x="1248013" y="1276626"/>
            <a:ext cx="66479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我们只就连续型随机变量的情况来证明。</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5814" name="Object 38"/>
          <p:cNvGraphicFramePr>
            <a:graphicFrameLocks noChangeAspect="1"/>
          </p:cNvGraphicFramePr>
          <p:nvPr/>
        </p:nvGraphicFramePr>
        <p:xfrm>
          <a:off x="4223792" y="2672123"/>
          <a:ext cx="6861175" cy="3573463"/>
        </p:xfrm>
        <a:graphic>
          <a:graphicData uri="http://schemas.openxmlformats.org/presentationml/2006/ole">
            <mc:AlternateContent xmlns:mc="http://schemas.openxmlformats.org/markup-compatibility/2006">
              <mc:Choice xmlns:v="urn:schemas-microsoft-com:vml" Requires="v">
                <p:oleObj spid="_x0000_s206855" name="Equation" r:id="rId1" imgW="66141600" imgH="34442400" progId="Equation.DSMT4">
                  <p:embed/>
                </p:oleObj>
              </mc:Choice>
              <mc:Fallback>
                <p:oleObj name="Equation" r:id="rId1" imgW="66141600" imgH="34442400" progId="Equation.DSMT4">
                  <p:embed/>
                  <p:pic>
                    <p:nvPicPr>
                      <p:cNvPr id="0" name="Object 38"/>
                      <p:cNvPicPr>
                        <a:picLocks noChangeAspect="1" noChangeArrowheads="1"/>
                      </p:cNvPicPr>
                      <p:nvPr/>
                    </p:nvPicPr>
                    <p:blipFill>
                      <a:blip r:embed="rId2"/>
                      <a:srcRect/>
                      <a:stretch>
                        <a:fillRect/>
                      </a:stretch>
                    </p:blipFill>
                    <p:spPr bwMode="auto">
                      <a:xfrm>
                        <a:off x="4223792" y="2672123"/>
                        <a:ext cx="6861175" cy="3573463"/>
                      </a:xfrm>
                      <a:prstGeom prst="rect">
                        <a:avLst/>
                      </a:prstGeom>
                      <a:noFill/>
                      <a:ln>
                        <a:noFill/>
                      </a:ln>
                      <a:effectLst/>
                    </p:spPr>
                  </p:pic>
                </p:oleObj>
              </mc:Fallback>
            </mc:AlternateContent>
          </a:graphicData>
        </a:graphic>
      </p:graphicFrame>
      <p:pic>
        <p:nvPicPr>
          <p:cNvPr id="75817"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3536219"/>
            <a:ext cx="4365437" cy="2448272"/>
          </a:xfrm>
          <a:prstGeom prst="rect">
            <a:avLst/>
          </a:prstGeom>
          <a:ln w="88900" cap="sq" cmpd="thickThin">
            <a:solidFill>
              <a:srgbClr val="000000"/>
            </a:solidFill>
            <a:prstDash val="solid"/>
            <a:miter lim="800000"/>
            <a:headEnd/>
            <a:tailEnd/>
          </a:ln>
          <a:effectLst>
            <a:innerShdw blurRad="76200">
              <a:srgbClr val="000000"/>
            </a:innerShdw>
          </a:effectLst>
          <a:extLst>
            <a:ext uri="{909E8E84-426E-40DD-AFC4-6F175D3DCCD1}">
              <a14:hiddenFill xmlns:a14="http://schemas.microsoft.com/office/drawing/2010/main">
                <a:solidFill>
                  <a:srgbClr val="FFFFFF"/>
                </a:solidFill>
              </a14:hiddenFill>
            </a:ext>
          </a:extLst>
        </p:spPr>
      </p:pic>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812"/>
                                        </p:tgtEl>
                                        <p:attrNameLst>
                                          <p:attrName>style.visibility</p:attrName>
                                        </p:attrNameLst>
                                      </p:cBhvr>
                                      <p:to>
                                        <p:strVal val="visible"/>
                                      </p:to>
                                    </p:set>
                                    <p:anim calcmode="lin" valueType="num">
                                      <p:cBhvr additive="base">
                                        <p:cTn id="7" dur="500" fill="hold"/>
                                        <p:tgtEl>
                                          <p:spTgt spid="75812"/>
                                        </p:tgtEl>
                                        <p:attrNameLst>
                                          <p:attrName>ppt_x</p:attrName>
                                        </p:attrNameLst>
                                      </p:cBhvr>
                                      <p:tavLst>
                                        <p:tav tm="0">
                                          <p:val>
                                            <p:strVal val="0-#ppt_w/2"/>
                                          </p:val>
                                        </p:tav>
                                        <p:tav tm="100000">
                                          <p:val>
                                            <p:strVal val="#ppt_x"/>
                                          </p:val>
                                        </p:tav>
                                      </p:tavLst>
                                    </p:anim>
                                    <p:anim calcmode="lin" valueType="num">
                                      <p:cBhvr additive="base">
                                        <p:cTn id="8" dur="500" fill="hold"/>
                                        <p:tgtEl>
                                          <p:spTgt spid="758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811"/>
                                        </p:tgtEl>
                                        <p:attrNameLst>
                                          <p:attrName>style.visibility</p:attrName>
                                        </p:attrNameLst>
                                      </p:cBhvr>
                                      <p:to>
                                        <p:strVal val="visible"/>
                                      </p:to>
                                    </p:set>
                                    <p:anim calcmode="lin" valueType="num">
                                      <p:cBhvr additive="base">
                                        <p:cTn id="13" dur="500" fill="hold"/>
                                        <p:tgtEl>
                                          <p:spTgt spid="75811"/>
                                        </p:tgtEl>
                                        <p:attrNameLst>
                                          <p:attrName>ppt_x</p:attrName>
                                        </p:attrNameLst>
                                      </p:cBhvr>
                                      <p:tavLst>
                                        <p:tav tm="0">
                                          <p:val>
                                            <p:strVal val="0-#ppt_w/2"/>
                                          </p:val>
                                        </p:tav>
                                        <p:tav tm="100000">
                                          <p:val>
                                            <p:strVal val="#ppt_x"/>
                                          </p:val>
                                        </p:tav>
                                      </p:tavLst>
                                    </p:anim>
                                    <p:anim calcmode="lin" valueType="num">
                                      <p:cBhvr additive="base">
                                        <p:cTn id="14" dur="500" fill="hold"/>
                                        <p:tgtEl>
                                          <p:spTgt spid="758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5814"/>
                                        </p:tgtEl>
                                        <p:attrNameLst>
                                          <p:attrName>style.visibility</p:attrName>
                                        </p:attrNameLst>
                                      </p:cBhvr>
                                      <p:to>
                                        <p:strVal val="visible"/>
                                      </p:to>
                                    </p:set>
                                    <p:anim calcmode="lin" valueType="num">
                                      <p:cBhvr additive="base">
                                        <p:cTn id="19" dur="500" fill="hold"/>
                                        <p:tgtEl>
                                          <p:spTgt spid="75814"/>
                                        </p:tgtEl>
                                        <p:attrNameLst>
                                          <p:attrName>ppt_x</p:attrName>
                                        </p:attrNameLst>
                                      </p:cBhvr>
                                      <p:tavLst>
                                        <p:tav tm="0">
                                          <p:val>
                                            <p:strVal val="0-#ppt_w/2"/>
                                          </p:val>
                                        </p:tav>
                                        <p:tav tm="100000">
                                          <p:val>
                                            <p:strVal val="#ppt_x"/>
                                          </p:val>
                                        </p:tav>
                                      </p:tavLst>
                                    </p:anim>
                                    <p:anim calcmode="lin" valueType="num">
                                      <p:cBhvr additive="base">
                                        <p:cTn id="20" dur="500" fill="hold"/>
                                        <p:tgtEl>
                                          <p:spTgt spid="758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5817"/>
                                        </p:tgtEl>
                                        <p:attrNameLst>
                                          <p:attrName>style.visibility</p:attrName>
                                        </p:attrNameLst>
                                      </p:cBhvr>
                                      <p:to>
                                        <p:strVal val="visible"/>
                                      </p:to>
                                    </p:set>
                                    <p:anim calcmode="lin" valueType="num">
                                      <p:cBhvr additive="base">
                                        <p:cTn id="25" dur="500" fill="hold"/>
                                        <p:tgtEl>
                                          <p:spTgt spid="75817"/>
                                        </p:tgtEl>
                                        <p:attrNameLst>
                                          <p:attrName>ppt_x</p:attrName>
                                        </p:attrNameLst>
                                      </p:cBhvr>
                                      <p:tavLst>
                                        <p:tav tm="0">
                                          <p:val>
                                            <p:strVal val="0-#ppt_w/2"/>
                                          </p:val>
                                        </p:tav>
                                        <p:tav tm="100000">
                                          <p:val>
                                            <p:strVal val="#ppt_x"/>
                                          </p:val>
                                        </p:tav>
                                      </p:tavLst>
                                    </p:anim>
                                    <p:anim calcmode="lin" valueType="num">
                                      <p:cBhvr additive="base">
                                        <p:cTn id="26" dur="500" fill="hold"/>
                                        <p:tgtEl>
                                          <p:spTgt spid="758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11" grpId="0" bldLvl="0" animBg="1" autoUpdateAnimBg="0"/>
      <p:bldP spid="75812"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85" name="Text Box 33"/>
          <p:cNvSpPr txBox="1">
            <a:spLocks noChangeArrowheads="1"/>
          </p:cNvSpPr>
          <p:nvPr/>
        </p:nvSpPr>
        <p:spPr bwMode="auto">
          <a:xfrm>
            <a:off x="1385884" y="1906391"/>
            <a:ext cx="9721080" cy="1308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50000"/>
              </a:lnSpc>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当方差已知时，切比雪夫不等式给出了</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r.v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与它的期望的偏差不小于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的概率的估计式。</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788" name="Rectangle 36"/>
          <p:cNvSpPr>
            <a:spLocks noChangeArrowheads="1"/>
          </p:cNvSpPr>
          <p:nvPr/>
        </p:nvSpPr>
        <p:spPr bwMode="auto">
          <a:xfrm>
            <a:off x="2105964" y="3414806"/>
            <a:ext cx="172515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如取</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3</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4790" name="Object 38"/>
          <p:cNvGraphicFramePr>
            <a:graphicFrameLocks noChangeAspect="1"/>
          </p:cNvGraphicFramePr>
          <p:nvPr/>
        </p:nvGraphicFramePr>
        <p:xfrm>
          <a:off x="3831116" y="886598"/>
          <a:ext cx="4275137" cy="1174750"/>
        </p:xfrm>
        <a:graphic>
          <a:graphicData uri="http://schemas.openxmlformats.org/presentationml/2006/ole">
            <mc:AlternateContent xmlns:mc="http://schemas.openxmlformats.org/markup-compatibility/2006">
              <mc:Choice xmlns:v="urn:schemas-microsoft-com:vml" Requires="v">
                <p:oleObj spid="_x0000_s206855" name="Equation" r:id="rId1" imgW="36576000" imgH="10058400" progId="Equation.DSMT4">
                  <p:embed/>
                </p:oleObj>
              </mc:Choice>
              <mc:Fallback>
                <p:oleObj name="Equation" r:id="rId1" imgW="36576000" imgH="10058400" progId="Equation.DSMT4">
                  <p:embed/>
                  <p:pic>
                    <p:nvPicPr>
                      <p:cNvPr id="0" name="Object 38"/>
                      <p:cNvPicPr>
                        <a:picLocks noChangeAspect="1" noChangeArrowheads="1"/>
                      </p:cNvPicPr>
                      <p:nvPr/>
                    </p:nvPicPr>
                    <p:blipFill>
                      <a:blip r:embed="rId2"/>
                      <a:srcRect/>
                      <a:stretch>
                        <a:fillRect/>
                      </a:stretch>
                    </p:blipFill>
                    <p:spPr bwMode="auto">
                      <a:xfrm>
                        <a:off x="3831116" y="886598"/>
                        <a:ext cx="4275137"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91" name="Object 39"/>
          <p:cNvGraphicFramePr>
            <a:graphicFrameLocks noChangeAspect="1"/>
          </p:cNvGraphicFramePr>
          <p:nvPr/>
        </p:nvGraphicFramePr>
        <p:xfrm>
          <a:off x="3218121" y="3676416"/>
          <a:ext cx="6215062" cy="1198562"/>
        </p:xfrm>
        <a:graphic>
          <a:graphicData uri="http://schemas.openxmlformats.org/presentationml/2006/ole">
            <mc:AlternateContent xmlns:mc="http://schemas.openxmlformats.org/markup-compatibility/2006">
              <mc:Choice xmlns:v="urn:schemas-microsoft-com:vml" Requires="v">
                <p:oleObj spid="_x0000_s2" name="Equation" r:id="rId3" imgW="52120800" imgH="10058400" progId="Equation.DSMT4">
                  <p:embed/>
                </p:oleObj>
              </mc:Choice>
              <mc:Fallback>
                <p:oleObj name="Equation" r:id="rId3" imgW="52120800" imgH="10058400" progId="Equation.DSMT4">
                  <p:embed/>
                  <p:pic>
                    <p:nvPicPr>
                      <p:cNvPr id="0" name="Object 39"/>
                      <p:cNvPicPr>
                        <a:picLocks noChangeAspect="1" noChangeArrowheads="1"/>
                      </p:cNvPicPr>
                      <p:nvPr/>
                    </p:nvPicPr>
                    <p:blipFill>
                      <a:blip r:embed="rId4"/>
                      <a:srcRect/>
                      <a:stretch>
                        <a:fillRect/>
                      </a:stretch>
                    </p:blipFill>
                    <p:spPr bwMode="auto">
                      <a:xfrm>
                        <a:off x="3218121" y="3676416"/>
                        <a:ext cx="6215062" cy="1198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93" name="Rectangle 41"/>
          <p:cNvSpPr>
            <a:spLocks noChangeArrowheads="1"/>
          </p:cNvSpPr>
          <p:nvPr/>
        </p:nvSpPr>
        <p:spPr bwMode="auto">
          <a:xfrm>
            <a:off x="1376567" y="4682061"/>
            <a:ext cx="9721080" cy="13086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可见，对任给的分布，只要期望和方差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存在，则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r.v</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取值偏离</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超过 </a:t>
            </a:r>
            <a:r>
              <a:rPr lang="zh-CN"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3</a:t>
            </a:r>
            <a:r>
              <a:rPr lang="el-GR"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σ</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的概率小于</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0.111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4" name="直接连接符 1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4790"/>
                                        </p:tgtEl>
                                        <p:attrNameLst>
                                          <p:attrName>style.visibility</p:attrName>
                                        </p:attrNameLst>
                                      </p:cBhvr>
                                      <p:to>
                                        <p:strVal val="visible"/>
                                      </p:to>
                                    </p:set>
                                    <p:anim calcmode="lin" valueType="num">
                                      <p:cBhvr additive="base">
                                        <p:cTn id="7" dur="500" fill="hold"/>
                                        <p:tgtEl>
                                          <p:spTgt spid="74790"/>
                                        </p:tgtEl>
                                        <p:attrNameLst>
                                          <p:attrName>ppt_x</p:attrName>
                                        </p:attrNameLst>
                                      </p:cBhvr>
                                      <p:tavLst>
                                        <p:tav tm="0">
                                          <p:val>
                                            <p:strVal val="0-#ppt_w/2"/>
                                          </p:val>
                                        </p:tav>
                                        <p:tav tm="100000">
                                          <p:val>
                                            <p:strVal val="#ppt_x"/>
                                          </p:val>
                                        </p:tav>
                                      </p:tavLst>
                                    </p:anim>
                                    <p:anim calcmode="lin" valueType="num">
                                      <p:cBhvr additive="base">
                                        <p:cTn id="8" dur="500" fill="hold"/>
                                        <p:tgtEl>
                                          <p:spTgt spid="747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4785"/>
                                        </p:tgtEl>
                                        <p:attrNameLst>
                                          <p:attrName>style.visibility</p:attrName>
                                        </p:attrNameLst>
                                      </p:cBhvr>
                                      <p:to>
                                        <p:strVal val="visible"/>
                                      </p:to>
                                    </p:set>
                                    <p:anim calcmode="lin" valueType="num">
                                      <p:cBhvr additive="base">
                                        <p:cTn id="13" dur="500" fill="hold"/>
                                        <p:tgtEl>
                                          <p:spTgt spid="74785"/>
                                        </p:tgtEl>
                                        <p:attrNameLst>
                                          <p:attrName>ppt_x</p:attrName>
                                        </p:attrNameLst>
                                      </p:cBhvr>
                                      <p:tavLst>
                                        <p:tav tm="0">
                                          <p:val>
                                            <p:strVal val="0-#ppt_w/2"/>
                                          </p:val>
                                        </p:tav>
                                        <p:tav tm="100000">
                                          <p:val>
                                            <p:strVal val="#ppt_x"/>
                                          </p:val>
                                        </p:tav>
                                      </p:tavLst>
                                    </p:anim>
                                    <p:anim calcmode="lin" valueType="num">
                                      <p:cBhvr additive="base">
                                        <p:cTn id="14" dur="500" fill="hold"/>
                                        <p:tgtEl>
                                          <p:spTgt spid="747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4788"/>
                                        </p:tgtEl>
                                        <p:attrNameLst>
                                          <p:attrName>style.visibility</p:attrName>
                                        </p:attrNameLst>
                                      </p:cBhvr>
                                      <p:to>
                                        <p:strVal val="visible"/>
                                      </p:to>
                                    </p:set>
                                    <p:anim calcmode="lin" valueType="num">
                                      <p:cBhvr additive="base">
                                        <p:cTn id="19" dur="500" fill="hold"/>
                                        <p:tgtEl>
                                          <p:spTgt spid="74788"/>
                                        </p:tgtEl>
                                        <p:attrNameLst>
                                          <p:attrName>ppt_x</p:attrName>
                                        </p:attrNameLst>
                                      </p:cBhvr>
                                      <p:tavLst>
                                        <p:tav tm="0">
                                          <p:val>
                                            <p:strVal val="0-#ppt_w/2"/>
                                          </p:val>
                                        </p:tav>
                                        <p:tav tm="100000">
                                          <p:val>
                                            <p:strVal val="#ppt_x"/>
                                          </p:val>
                                        </p:tav>
                                      </p:tavLst>
                                    </p:anim>
                                    <p:anim calcmode="lin" valueType="num">
                                      <p:cBhvr additive="base">
                                        <p:cTn id="20" dur="500" fill="hold"/>
                                        <p:tgtEl>
                                          <p:spTgt spid="7478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4791"/>
                                        </p:tgtEl>
                                        <p:attrNameLst>
                                          <p:attrName>style.visibility</p:attrName>
                                        </p:attrNameLst>
                                      </p:cBhvr>
                                      <p:to>
                                        <p:strVal val="visible"/>
                                      </p:to>
                                    </p:set>
                                    <p:anim calcmode="lin" valueType="num">
                                      <p:cBhvr additive="base">
                                        <p:cTn id="25" dur="500" fill="hold"/>
                                        <p:tgtEl>
                                          <p:spTgt spid="74791"/>
                                        </p:tgtEl>
                                        <p:attrNameLst>
                                          <p:attrName>ppt_x</p:attrName>
                                        </p:attrNameLst>
                                      </p:cBhvr>
                                      <p:tavLst>
                                        <p:tav tm="0">
                                          <p:val>
                                            <p:strVal val="0-#ppt_w/2"/>
                                          </p:val>
                                        </p:tav>
                                        <p:tav tm="100000">
                                          <p:val>
                                            <p:strVal val="#ppt_x"/>
                                          </p:val>
                                        </p:tav>
                                      </p:tavLst>
                                    </p:anim>
                                    <p:anim calcmode="lin" valueType="num">
                                      <p:cBhvr additive="base">
                                        <p:cTn id="26" dur="500" fill="hold"/>
                                        <p:tgtEl>
                                          <p:spTgt spid="7479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4793"/>
                                        </p:tgtEl>
                                        <p:attrNameLst>
                                          <p:attrName>style.visibility</p:attrName>
                                        </p:attrNameLst>
                                      </p:cBhvr>
                                      <p:to>
                                        <p:strVal val="visible"/>
                                      </p:to>
                                    </p:set>
                                    <p:anim calcmode="lin" valueType="num">
                                      <p:cBhvr additive="base">
                                        <p:cTn id="31" dur="500" fill="hold"/>
                                        <p:tgtEl>
                                          <p:spTgt spid="74793"/>
                                        </p:tgtEl>
                                        <p:attrNameLst>
                                          <p:attrName>ppt_x</p:attrName>
                                        </p:attrNameLst>
                                      </p:cBhvr>
                                      <p:tavLst>
                                        <p:tav tm="0">
                                          <p:val>
                                            <p:strVal val="0-#ppt_w/2"/>
                                          </p:val>
                                        </p:tav>
                                        <p:tav tm="100000">
                                          <p:val>
                                            <p:strVal val="#ppt_x"/>
                                          </p:val>
                                        </p:tav>
                                      </p:tavLst>
                                    </p:anim>
                                    <p:anim calcmode="lin" valueType="num">
                                      <p:cBhvr additive="base">
                                        <p:cTn id="32" dur="500" fill="hold"/>
                                        <p:tgtEl>
                                          <p:spTgt spid="747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85" grpId="0"/>
      <p:bldP spid="74788" grpId="0" bldLvl="0" animBg="1"/>
      <p:bldP spid="74793"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15" name="Text Box 23"/>
          <p:cNvSpPr txBox="1">
            <a:spLocks noChangeArrowheads="1"/>
          </p:cNvSpPr>
          <p:nvPr/>
        </p:nvSpPr>
        <p:spPr bwMode="auto">
          <a:xfrm>
            <a:off x="1199456" y="1196752"/>
            <a:ext cx="9502922" cy="15994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lnSpc>
                <a:spcPct val="120000"/>
              </a:lnSpc>
              <a:spcBef>
                <a:spcPct val="50000"/>
              </a:spcBef>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9</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已知正常男性成人血液中 ，每一毫升白细胞数平均是</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7300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，均方差是</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700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。利用切比雪夫不等式估计每毫升白细胞数在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5200~9400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之间的概率。</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16" name="Rectangle 24"/>
          <p:cNvSpPr>
            <a:spLocks noChangeArrowheads="1"/>
          </p:cNvSpPr>
          <p:nvPr/>
        </p:nvSpPr>
        <p:spPr bwMode="auto">
          <a:xfrm>
            <a:off x="1205366" y="3046928"/>
            <a:ext cx="950292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解：设每毫升白细胞数为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，依题意，</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)=7300,</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)=700</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20" name="Rectangle 28"/>
          <p:cNvSpPr>
            <a:spLocks noChangeArrowheads="1"/>
          </p:cNvSpPr>
          <p:nvPr/>
        </p:nvSpPr>
        <p:spPr bwMode="auto">
          <a:xfrm>
            <a:off x="1919536" y="3826584"/>
            <a:ext cx="6248400" cy="52387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所求为 </a:t>
            </a:r>
            <a:r>
              <a:rPr lang="zh-CN" altLang="en-US"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(5200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9400)</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24" name="Rectangle 32"/>
          <p:cNvSpPr>
            <a:spLocks noChangeArrowheads="1"/>
          </p:cNvSpPr>
          <p:nvPr/>
        </p:nvSpPr>
        <p:spPr bwMode="auto">
          <a:xfrm>
            <a:off x="1422586" y="4672288"/>
            <a:ext cx="3599011" cy="5238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P(5200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9400)</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27" name="Rectangle 35"/>
          <p:cNvSpPr>
            <a:spLocks noChangeArrowheads="1"/>
          </p:cNvSpPr>
          <p:nvPr/>
        </p:nvSpPr>
        <p:spPr bwMode="auto">
          <a:xfrm>
            <a:off x="4572000" y="4708051"/>
            <a:ext cx="4986101" cy="5238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(-2100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2100)</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31" name="Rectangle 39"/>
          <p:cNvSpPr>
            <a:spLocks noChangeArrowheads="1"/>
          </p:cNvSpPr>
          <p:nvPr/>
        </p:nvSpPr>
        <p:spPr bwMode="auto">
          <a:xfrm>
            <a:off x="4866196" y="5422698"/>
            <a:ext cx="4114800" cy="523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2100}</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20" name="直接连接符 1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2" name="组合 21"/>
          <p:cNvGrpSpPr/>
          <p:nvPr/>
        </p:nvGrpSpPr>
        <p:grpSpPr>
          <a:xfrm>
            <a:off x="851761" y="364781"/>
            <a:ext cx="263341" cy="395013"/>
            <a:chOff x="5284519" y="1508166"/>
            <a:chExt cx="213756" cy="427512"/>
          </a:xfrm>
        </p:grpSpPr>
        <p:cxnSp>
          <p:nvCxnSpPr>
            <p:cNvPr id="23" name="直接连接符 2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4" name="直接连接符 2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5015"/>
                                        </p:tgtEl>
                                        <p:attrNameLst>
                                          <p:attrName>style.visibility</p:attrName>
                                        </p:attrNameLst>
                                      </p:cBhvr>
                                      <p:to>
                                        <p:strVal val="visible"/>
                                      </p:to>
                                    </p:set>
                                    <p:anim calcmode="lin" valueType="num">
                                      <p:cBhvr additive="base">
                                        <p:cTn id="7" dur="500" fill="hold"/>
                                        <p:tgtEl>
                                          <p:spTgt spid="85015"/>
                                        </p:tgtEl>
                                        <p:attrNameLst>
                                          <p:attrName>ppt_x</p:attrName>
                                        </p:attrNameLst>
                                      </p:cBhvr>
                                      <p:tavLst>
                                        <p:tav tm="0">
                                          <p:val>
                                            <p:strVal val="0-#ppt_w/2"/>
                                          </p:val>
                                        </p:tav>
                                        <p:tav tm="100000">
                                          <p:val>
                                            <p:strVal val="#ppt_x"/>
                                          </p:val>
                                        </p:tav>
                                      </p:tavLst>
                                    </p:anim>
                                    <p:anim calcmode="lin" valueType="num">
                                      <p:cBhvr additive="base">
                                        <p:cTn id="8" dur="500" fill="hold"/>
                                        <p:tgtEl>
                                          <p:spTgt spid="850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5016"/>
                                        </p:tgtEl>
                                        <p:attrNameLst>
                                          <p:attrName>style.visibility</p:attrName>
                                        </p:attrNameLst>
                                      </p:cBhvr>
                                      <p:to>
                                        <p:strVal val="visible"/>
                                      </p:to>
                                    </p:set>
                                    <p:anim calcmode="lin" valueType="num">
                                      <p:cBhvr additive="base">
                                        <p:cTn id="13" dur="500" fill="hold"/>
                                        <p:tgtEl>
                                          <p:spTgt spid="85016"/>
                                        </p:tgtEl>
                                        <p:attrNameLst>
                                          <p:attrName>ppt_x</p:attrName>
                                        </p:attrNameLst>
                                      </p:cBhvr>
                                      <p:tavLst>
                                        <p:tav tm="0">
                                          <p:val>
                                            <p:strVal val="0-#ppt_w/2"/>
                                          </p:val>
                                        </p:tav>
                                        <p:tav tm="100000">
                                          <p:val>
                                            <p:strVal val="#ppt_x"/>
                                          </p:val>
                                        </p:tav>
                                      </p:tavLst>
                                    </p:anim>
                                    <p:anim calcmode="lin" valueType="num">
                                      <p:cBhvr additive="base">
                                        <p:cTn id="14" dur="500" fill="hold"/>
                                        <p:tgtEl>
                                          <p:spTgt spid="850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5020"/>
                                        </p:tgtEl>
                                        <p:attrNameLst>
                                          <p:attrName>style.visibility</p:attrName>
                                        </p:attrNameLst>
                                      </p:cBhvr>
                                      <p:to>
                                        <p:strVal val="visible"/>
                                      </p:to>
                                    </p:set>
                                    <p:anim calcmode="lin" valueType="num">
                                      <p:cBhvr additive="base">
                                        <p:cTn id="19" dur="500" fill="hold"/>
                                        <p:tgtEl>
                                          <p:spTgt spid="85020"/>
                                        </p:tgtEl>
                                        <p:attrNameLst>
                                          <p:attrName>ppt_x</p:attrName>
                                        </p:attrNameLst>
                                      </p:cBhvr>
                                      <p:tavLst>
                                        <p:tav tm="0">
                                          <p:val>
                                            <p:strVal val="0-#ppt_w/2"/>
                                          </p:val>
                                        </p:tav>
                                        <p:tav tm="100000">
                                          <p:val>
                                            <p:strVal val="#ppt_x"/>
                                          </p:val>
                                        </p:tav>
                                      </p:tavLst>
                                    </p:anim>
                                    <p:anim calcmode="lin" valueType="num">
                                      <p:cBhvr additive="base">
                                        <p:cTn id="20" dur="500" fill="hold"/>
                                        <p:tgtEl>
                                          <p:spTgt spid="850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5024"/>
                                        </p:tgtEl>
                                        <p:attrNameLst>
                                          <p:attrName>style.visibility</p:attrName>
                                        </p:attrNameLst>
                                      </p:cBhvr>
                                      <p:to>
                                        <p:strVal val="visible"/>
                                      </p:to>
                                    </p:set>
                                    <p:anim calcmode="lin" valueType="num">
                                      <p:cBhvr additive="base">
                                        <p:cTn id="25" dur="500" fill="hold"/>
                                        <p:tgtEl>
                                          <p:spTgt spid="85024"/>
                                        </p:tgtEl>
                                        <p:attrNameLst>
                                          <p:attrName>ppt_x</p:attrName>
                                        </p:attrNameLst>
                                      </p:cBhvr>
                                      <p:tavLst>
                                        <p:tav tm="0">
                                          <p:val>
                                            <p:strVal val="0-#ppt_w/2"/>
                                          </p:val>
                                        </p:tav>
                                        <p:tav tm="100000">
                                          <p:val>
                                            <p:strVal val="#ppt_x"/>
                                          </p:val>
                                        </p:tav>
                                      </p:tavLst>
                                    </p:anim>
                                    <p:anim calcmode="lin" valueType="num">
                                      <p:cBhvr additive="base">
                                        <p:cTn id="26" dur="500" fill="hold"/>
                                        <p:tgtEl>
                                          <p:spTgt spid="8502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5027"/>
                                        </p:tgtEl>
                                        <p:attrNameLst>
                                          <p:attrName>style.visibility</p:attrName>
                                        </p:attrNameLst>
                                      </p:cBhvr>
                                      <p:to>
                                        <p:strVal val="visible"/>
                                      </p:to>
                                    </p:set>
                                    <p:anim calcmode="lin" valueType="num">
                                      <p:cBhvr additive="base">
                                        <p:cTn id="31" dur="500" fill="hold"/>
                                        <p:tgtEl>
                                          <p:spTgt spid="85027"/>
                                        </p:tgtEl>
                                        <p:attrNameLst>
                                          <p:attrName>ppt_x</p:attrName>
                                        </p:attrNameLst>
                                      </p:cBhvr>
                                      <p:tavLst>
                                        <p:tav tm="0">
                                          <p:val>
                                            <p:strVal val="0-#ppt_w/2"/>
                                          </p:val>
                                        </p:tav>
                                        <p:tav tm="100000">
                                          <p:val>
                                            <p:strVal val="#ppt_x"/>
                                          </p:val>
                                        </p:tav>
                                      </p:tavLst>
                                    </p:anim>
                                    <p:anim calcmode="lin" valueType="num">
                                      <p:cBhvr additive="base">
                                        <p:cTn id="32" dur="500" fill="hold"/>
                                        <p:tgtEl>
                                          <p:spTgt spid="8502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5031"/>
                                        </p:tgtEl>
                                        <p:attrNameLst>
                                          <p:attrName>style.visibility</p:attrName>
                                        </p:attrNameLst>
                                      </p:cBhvr>
                                      <p:to>
                                        <p:strVal val="visible"/>
                                      </p:to>
                                    </p:set>
                                    <p:anim calcmode="lin" valueType="num">
                                      <p:cBhvr additive="base">
                                        <p:cTn id="37" dur="500" fill="hold"/>
                                        <p:tgtEl>
                                          <p:spTgt spid="85031"/>
                                        </p:tgtEl>
                                        <p:attrNameLst>
                                          <p:attrName>ppt_x</p:attrName>
                                        </p:attrNameLst>
                                      </p:cBhvr>
                                      <p:tavLst>
                                        <p:tav tm="0">
                                          <p:val>
                                            <p:strVal val="0-#ppt_w/2"/>
                                          </p:val>
                                        </p:tav>
                                        <p:tav tm="100000">
                                          <p:val>
                                            <p:strVal val="#ppt_x"/>
                                          </p:val>
                                        </p:tav>
                                      </p:tavLst>
                                    </p:anim>
                                    <p:anim calcmode="lin" valueType="num">
                                      <p:cBhvr additive="base">
                                        <p:cTn id="38" dur="500" fill="hold"/>
                                        <p:tgtEl>
                                          <p:spTgt spid="850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15" grpId="0"/>
      <p:bldP spid="85016" grpId="0" bldLvl="0" animBg="1"/>
      <p:bldP spid="85020" grpId="0" bldLvl="0" animBg="1"/>
      <p:bldP spid="85024" grpId="0" bldLvl="0" animBg="1"/>
      <p:bldP spid="85027" grpId="0" bldLvl="0" animBg="1"/>
      <p:bldP spid="85031"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33" name="Object 33"/>
          <p:cNvGraphicFramePr>
            <a:graphicFrameLocks noChangeAspect="1"/>
          </p:cNvGraphicFramePr>
          <p:nvPr/>
        </p:nvGraphicFramePr>
        <p:xfrm>
          <a:off x="6816080" y="2592973"/>
          <a:ext cx="2109787" cy="1052513"/>
        </p:xfrm>
        <a:graphic>
          <a:graphicData uri="http://schemas.openxmlformats.org/presentationml/2006/ole">
            <mc:AlternateContent xmlns:mc="http://schemas.openxmlformats.org/markup-compatibility/2006">
              <mc:Choice xmlns:v="urn:schemas-microsoft-com:vml" Requires="v">
                <p:oleObj spid="_x0000_s206855" name="Equation" r:id="rId1" imgW="20116800" imgH="10058400" progId="Equation.DSMT4">
                  <p:embed/>
                </p:oleObj>
              </mc:Choice>
              <mc:Fallback>
                <p:oleObj name="Equation" r:id="rId1" imgW="20116800" imgH="10058400" progId="Equation.DSMT4">
                  <p:embed/>
                  <p:pic>
                    <p:nvPicPr>
                      <p:cNvPr id="0" name="Object 33"/>
                      <p:cNvPicPr>
                        <a:picLocks noChangeAspect="1" noChangeArrowheads="1"/>
                      </p:cNvPicPr>
                      <p:nvPr/>
                    </p:nvPicPr>
                    <p:blipFill>
                      <a:blip r:embed="rId2"/>
                      <a:srcRect/>
                      <a:stretch>
                        <a:fillRect/>
                      </a:stretch>
                    </p:blipFill>
                    <p:spPr bwMode="auto">
                      <a:xfrm>
                        <a:off x="6816080" y="2592973"/>
                        <a:ext cx="2109787" cy="1052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37" name="Rectangle 37"/>
          <p:cNvSpPr>
            <a:spLocks noChangeArrowheads="1"/>
          </p:cNvSpPr>
          <p:nvPr/>
        </p:nvSpPr>
        <p:spPr bwMode="auto">
          <a:xfrm>
            <a:off x="2220654" y="1827714"/>
            <a:ext cx="305724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由切比雪夫不等式</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6839" name="Rectangle 39"/>
          <p:cNvSpPr>
            <a:spLocks noChangeArrowheads="1"/>
          </p:cNvSpPr>
          <p:nvPr/>
        </p:nvSpPr>
        <p:spPr bwMode="auto">
          <a:xfrm>
            <a:off x="3080246" y="2817893"/>
            <a:ext cx="3816424" cy="52387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2100}</a:t>
            </a:r>
            <a:endParaRPr lang="en-US" altLang="zh-CN" sz="2800" b="1" dirty="0">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6841" name="Object 41"/>
          <p:cNvGraphicFramePr>
            <a:graphicFrameLocks noChangeAspect="1"/>
          </p:cNvGraphicFramePr>
          <p:nvPr/>
        </p:nvGraphicFramePr>
        <p:xfrm>
          <a:off x="3791744" y="3573016"/>
          <a:ext cx="2085975" cy="987425"/>
        </p:xfrm>
        <a:graphic>
          <a:graphicData uri="http://schemas.openxmlformats.org/presentationml/2006/ole">
            <mc:AlternateContent xmlns:mc="http://schemas.openxmlformats.org/markup-compatibility/2006">
              <mc:Choice xmlns:v="urn:schemas-microsoft-com:vml" Requires="v">
                <p:oleObj spid="_x0000_s2" name="Equation" r:id="rId3" imgW="19812000" imgH="9448800" progId="Equation.DSMT4">
                  <p:embed/>
                </p:oleObj>
              </mc:Choice>
              <mc:Fallback>
                <p:oleObj name="Equation" r:id="rId3" imgW="19812000" imgH="9448800" progId="Equation.DSMT4">
                  <p:embed/>
                  <p:pic>
                    <p:nvPicPr>
                      <p:cNvPr id="0" name="Object 41"/>
                      <p:cNvPicPr>
                        <a:picLocks noChangeAspect="1" noChangeArrowheads="1"/>
                      </p:cNvPicPr>
                      <p:nvPr/>
                    </p:nvPicPr>
                    <p:blipFill>
                      <a:blip r:embed="rId4"/>
                      <a:srcRect/>
                      <a:stretch>
                        <a:fillRect/>
                      </a:stretch>
                    </p:blipFill>
                    <p:spPr bwMode="auto">
                      <a:xfrm>
                        <a:off x="3791744" y="3573016"/>
                        <a:ext cx="2085975" cy="987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42" name="Object 42"/>
          <p:cNvGraphicFramePr>
            <a:graphicFrameLocks noChangeAspect="1"/>
          </p:cNvGraphicFramePr>
          <p:nvPr/>
        </p:nvGraphicFramePr>
        <p:xfrm>
          <a:off x="5850732" y="3541266"/>
          <a:ext cx="1787525" cy="1019175"/>
        </p:xfrm>
        <a:graphic>
          <a:graphicData uri="http://schemas.openxmlformats.org/presentationml/2006/ole">
            <mc:AlternateContent xmlns:mc="http://schemas.openxmlformats.org/markup-compatibility/2006">
              <mc:Choice xmlns:v="urn:schemas-microsoft-com:vml" Requires="v">
                <p:oleObj spid="_x0000_s3" name="Equation" r:id="rId5" imgW="16459200" imgH="9448800" progId="Equation.DSMT4">
                  <p:embed/>
                </p:oleObj>
              </mc:Choice>
              <mc:Fallback>
                <p:oleObj name="Equation" r:id="rId5" imgW="16459200" imgH="9448800" progId="Equation.DSMT4">
                  <p:embed/>
                  <p:pic>
                    <p:nvPicPr>
                      <p:cNvPr id="0" name="Object 42"/>
                      <p:cNvPicPr>
                        <a:picLocks noChangeAspect="1" noChangeArrowheads="1"/>
                      </p:cNvPicPr>
                      <p:nvPr/>
                    </p:nvPicPr>
                    <p:blipFill>
                      <a:blip r:embed="rId6"/>
                      <a:srcRect/>
                      <a:stretch>
                        <a:fillRect/>
                      </a:stretch>
                    </p:blipFill>
                    <p:spPr bwMode="auto">
                      <a:xfrm>
                        <a:off x="5850732" y="3541266"/>
                        <a:ext cx="1787525"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43" name="Rectangle 43"/>
          <p:cNvSpPr>
            <a:spLocks noChangeArrowheads="1"/>
          </p:cNvSpPr>
          <p:nvPr/>
        </p:nvSpPr>
        <p:spPr bwMode="auto">
          <a:xfrm>
            <a:off x="1487488" y="4869160"/>
            <a:ext cx="936572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spcBef>
                <a:spcPct val="50000"/>
              </a:spcBef>
            </a:pP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即估计每毫升白细胞数在</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5200~9400</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之间的概率不小于</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8/9 </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37"/>
                                        </p:tgtEl>
                                        <p:attrNameLst>
                                          <p:attrName>style.visibility</p:attrName>
                                        </p:attrNameLst>
                                      </p:cBhvr>
                                      <p:to>
                                        <p:strVal val="visible"/>
                                      </p:to>
                                    </p:set>
                                    <p:anim calcmode="lin" valueType="num">
                                      <p:cBhvr additive="base">
                                        <p:cTn id="7" dur="500" fill="hold"/>
                                        <p:tgtEl>
                                          <p:spTgt spid="76837"/>
                                        </p:tgtEl>
                                        <p:attrNameLst>
                                          <p:attrName>ppt_x</p:attrName>
                                        </p:attrNameLst>
                                      </p:cBhvr>
                                      <p:tavLst>
                                        <p:tav tm="0">
                                          <p:val>
                                            <p:strVal val="0-#ppt_w/2"/>
                                          </p:val>
                                        </p:tav>
                                        <p:tav tm="100000">
                                          <p:val>
                                            <p:strVal val="#ppt_x"/>
                                          </p:val>
                                        </p:tav>
                                      </p:tavLst>
                                    </p:anim>
                                    <p:anim calcmode="lin" valueType="num">
                                      <p:cBhvr additive="base">
                                        <p:cTn id="8" dur="500" fill="hold"/>
                                        <p:tgtEl>
                                          <p:spTgt spid="768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6839"/>
                                        </p:tgtEl>
                                        <p:attrNameLst>
                                          <p:attrName>style.visibility</p:attrName>
                                        </p:attrNameLst>
                                      </p:cBhvr>
                                      <p:to>
                                        <p:strVal val="visible"/>
                                      </p:to>
                                    </p:set>
                                    <p:anim calcmode="lin" valueType="num">
                                      <p:cBhvr additive="base">
                                        <p:cTn id="13" dur="500" fill="hold"/>
                                        <p:tgtEl>
                                          <p:spTgt spid="76839"/>
                                        </p:tgtEl>
                                        <p:attrNameLst>
                                          <p:attrName>ppt_x</p:attrName>
                                        </p:attrNameLst>
                                      </p:cBhvr>
                                      <p:tavLst>
                                        <p:tav tm="0">
                                          <p:val>
                                            <p:strVal val="0-#ppt_w/2"/>
                                          </p:val>
                                        </p:tav>
                                        <p:tav tm="100000">
                                          <p:val>
                                            <p:strVal val="#ppt_x"/>
                                          </p:val>
                                        </p:tav>
                                      </p:tavLst>
                                    </p:anim>
                                    <p:anim calcmode="lin" valueType="num">
                                      <p:cBhvr additive="base">
                                        <p:cTn id="14" dur="500" fill="hold"/>
                                        <p:tgtEl>
                                          <p:spTgt spid="768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6833"/>
                                        </p:tgtEl>
                                        <p:attrNameLst>
                                          <p:attrName>style.visibility</p:attrName>
                                        </p:attrNameLst>
                                      </p:cBhvr>
                                      <p:to>
                                        <p:strVal val="visible"/>
                                      </p:to>
                                    </p:set>
                                    <p:anim calcmode="lin" valueType="num">
                                      <p:cBhvr additive="base">
                                        <p:cTn id="19" dur="500" fill="hold"/>
                                        <p:tgtEl>
                                          <p:spTgt spid="76833"/>
                                        </p:tgtEl>
                                        <p:attrNameLst>
                                          <p:attrName>ppt_x</p:attrName>
                                        </p:attrNameLst>
                                      </p:cBhvr>
                                      <p:tavLst>
                                        <p:tav tm="0">
                                          <p:val>
                                            <p:strVal val="0-#ppt_w/2"/>
                                          </p:val>
                                        </p:tav>
                                        <p:tav tm="100000">
                                          <p:val>
                                            <p:strVal val="#ppt_x"/>
                                          </p:val>
                                        </p:tav>
                                      </p:tavLst>
                                    </p:anim>
                                    <p:anim calcmode="lin" valueType="num">
                                      <p:cBhvr additive="base">
                                        <p:cTn id="20" dur="500" fill="hold"/>
                                        <p:tgtEl>
                                          <p:spTgt spid="7683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6841"/>
                                        </p:tgtEl>
                                        <p:attrNameLst>
                                          <p:attrName>style.visibility</p:attrName>
                                        </p:attrNameLst>
                                      </p:cBhvr>
                                      <p:to>
                                        <p:strVal val="visible"/>
                                      </p:to>
                                    </p:set>
                                    <p:anim calcmode="lin" valueType="num">
                                      <p:cBhvr additive="base">
                                        <p:cTn id="25" dur="500" fill="hold"/>
                                        <p:tgtEl>
                                          <p:spTgt spid="76841"/>
                                        </p:tgtEl>
                                        <p:attrNameLst>
                                          <p:attrName>ppt_x</p:attrName>
                                        </p:attrNameLst>
                                      </p:cBhvr>
                                      <p:tavLst>
                                        <p:tav tm="0">
                                          <p:val>
                                            <p:strVal val="0-#ppt_w/2"/>
                                          </p:val>
                                        </p:tav>
                                        <p:tav tm="100000">
                                          <p:val>
                                            <p:strVal val="#ppt_x"/>
                                          </p:val>
                                        </p:tav>
                                      </p:tavLst>
                                    </p:anim>
                                    <p:anim calcmode="lin" valueType="num">
                                      <p:cBhvr additive="base">
                                        <p:cTn id="26" dur="500" fill="hold"/>
                                        <p:tgtEl>
                                          <p:spTgt spid="7684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76842"/>
                                        </p:tgtEl>
                                        <p:attrNameLst>
                                          <p:attrName>style.visibility</p:attrName>
                                        </p:attrNameLst>
                                      </p:cBhvr>
                                      <p:to>
                                        <p:strVal val="visible"/>
                                      </p:to>
                                    </p:set>
                                    <p:anim calcmode="lin" valueType="num">
                                      <p:cBhvr additive="base">
                                        <p:cTn id="31" dur="500" fill="hold"/>
                                        <p:tgtEl>
                                          <p:spTgt spid="76842"/>
                                        </p:tgtEl>
                                        <p:attrNameLst>
                                          <p:attrName>ppt_x</p:attrName>
                                        </p:attrNameLst>
                                      </p:cBhvr>
                                      <p:tavLst>
                                        <p:tav tm="0">
                                          <p:val>
                                            <p:strVal val="0-#ppt_w/2"/>
                                          </p:val>
                                        </p:tav>
                                        <p:tav tm="100000">
                                          <p:val>
                                            <p:strVal val="#ppt_x"/>
                                          </p:val>
                                        </p:tav>
                                      </p:tavLst>
                                    </p:anim>
                                    <p:anim calcmode="lin" valueType="num">
                                      <p:cBhvr additive="base">
                                        <p:cTn id="32" dur="500" fill="hold"/>
                                        <p:tgtEl>
                                          <p:spTgt spid="7684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6843"/>
                                        </p:tgtEl>
                                        <p:attrNameLst>
                                          <p:attrName>style.visibility</p:attrName>
                                        </p:attrNameLst>
                                      </p:cBhvr>
                                      <p:to>
                                        <p:strVal val="visible"/>
                                      </p:to>
                                    </p:set>
                                    <p:anim calcmode="lin" valueType="num">
                                      <p:cBhvr additive="base">
                                        <p:cTn id="37" dur="500" fill="hold"/>
                                        <p:tgtEl>
                                          <p:spTgt spid="76843"/>
                                        </p:tgtEl>
                                        <p:attrNameLst>
                                          <p:attrName>ppt_x</p:attrName>
                                        </p:attrNameLst>
                                      </p:cBhvr>
                                      <p:tavLst>
                                        <p:tav tm="0">
                                          <p:val>
                                            <p:strVal val="0-#ppt_w/2"/>
                                          </p:val>
                                        </p:tav>
                                        <p:tav tm="100000">
                                          <p:val>
                                            <p:strVal val="#ppt_x"/>
                                          </p:val>
                                        </p:tav>
                                      </p:tavLst>
                                    </p:anim>
                                    <p:anim calcmode="lin" valueType="num">
                                      <p:cBhvr additive="base">
                                        <p:cTn id="38" dur="500" fill="hold"/>
                                        <p:tgtEl>
                                          <p:spTgt spid="768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37" grpId="0" bldLvl="0" animBg="1"/>
      <p:bldP spid="76839" grpId="0" bldLvl="0" animBg="1"/>
      <p:bldP spid="76843"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52" name="Text Box 28"/>
          <p:cNvSpPr txBox="1">
            <a:spLocks noChangeArrowheads="1"/>
          </p:cNvSpPr>
          <p:nvPr/>
        </p:nvSpPr>
        <p:spPr bwMode="auto">
          <a:xfrm>
            <a:off x="1271464" y="949877"/>
            <a:ext cx="10009112" cy="1954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lnSpc>
                <a:spcPct val="150000"/>
              </a:lnSpc>
              <a:spcBef>
                <a:spcPct val="50000"/>
              </a:spcBef>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10</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在每次试验中，事件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发生的概率为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0.75</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，利用切比雪夫不等式求：</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需要多么大时，才能使得在</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次独立重复试验中，事件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出现的频率在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0.74~0.76</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之间的概率至少为</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0.90?</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3" name="Rectangle 29"/>
          <p:cNvSpPr>
            <a:spLocks noChangeArrowheads="1"/>
          </p:cNvSpPr>
          <p:nvPr/>
        </p:nvSpPr>
        <p:spPr bwMode="auto">
          <a:xfrm>
            <a:off x="1631504" y="3218352"/>
            <a:ext cx="705674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次试验中，事件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出现的次数，</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4" name="Rectangle 30"/>
          <p:cNvSpPr>
            <a:spLocks noChangeArrowheads="1"/>
          </p:cNvSpPr>
          <p:nvPr/>
        </p:nvSpPr>
        <p:spPr bwMode="auto">
          <a:xfrm>
            <a:off x="2336961" y="4086409"/>
            <a:ext cx="220605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)=0.75</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5" name="Rectangle 31"/>
          <p:cNvSpPr>
            <a:spLocks noChangeArrowheads="1"/>
          </p:cNvSpPr>
          <p:nvPr/>
        </p:nvSpPr>
        <p:spPr bwMode="auto">
          <a:xfrm>
            <a:off x="8272970" y="5152905"/>
            <a:ext cx="20955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的最小的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7856" name="Object 32"/>
          <p:cNvGraphicFramePr>
            <a:graphicFrameLocks noChangeAspect="1"/>
          </p:cNvGraphicFramePr>
          <p:nvPr/>
        </p:nvGraphicFramePr>
        <p:xfrm>
          <a:off x="3743039" y="4951759"/>
          <a:ext cx="4344987" cy="925513"/>
        </p:xfrm>
        <a:graphic>
          <a:graphicData uri="http://schemas.openxmlformats.org/presentationml/2006/ole">
            <mc:AlternateContent xmlns:mc="http://schemas.openxmlformats.org/markup-compatibility/2006">
              <mc:Choice xmlns:v="urn:schemas-microsoft-com:vml" Requires="v">
                <p:oleObj spid="_x0000_s206855" name="Equation" r:id="rId1" imgW="39624000" imgH="9448800" progId="Equation.DSMT4">
                  <p:embed/>
                </p:oleObj>
              </mc:Choice>
              <mc:Fallback>
                <p:oleObj name="Equation" r:id="rId1" imgW="39624000" imgH="9448800" progId="Equation.DSMT4">
                  <p:embed/>
                  <p:pic>
                    <p:nvPicPr>
                      <p:cNvPr id="0" name="Object 32"/>
                      <p:cNvPicPr>
                        <a:picLocks noChangeAspect="1" noChangeArrowheads="1"/>
                      </p:cNvPicPr>
                      <p:nvPr/>
                    </p:nvPicPr>
                    <p:blipFill>
                      <a:blip r:embed="rId2"/>
                      <a:srcRect/>
                      <a:stretch>
                        <a:fillRect/>
                      </a:stretch>
                    </p:blipFill>
                    <p:spPr bwMode="auto">
                      <a:xfrm>
                        <a:off x="3743039" y="4951759"/>
                        <a:ext cx="4344987" cy="925513"/>
                      </a:xfrm>
                      <a:prstGeom prst="rect">
                        <a:avLst/>
                      </a:prstGeom>
                      <a:solidFill>
                        <a:srgbClr val="C00000"/>
                      </a:solidFill>
                      <a:ln>
                        <a:noFill/>
                      </a:ln>
                      <a:effectLst/>
                    </p:spPr>
                  </p:pic>
                </p:oleObj>
              </mc:Fallback>
            </mc:AlternateContent>
          </a:graphicData>
        </a:graphic>
      </p:graphicFrame>
      <p:sp>
        <p:nvSpPr>
          <p:cNvPr id="77857" name="Rectangle 33"/>
          <p:cNvSpPr>
            <a:spLocks noChangeArrowheads="1"/>
          </p:cNvSpPr>
          <p:nvPr/>
        </p:nvSpPr>
        <p:spPr bwMode="auto">
          <a:xfrm>
            <a:off x="8464823" y="3218352"/>
            <a:ext cx="263565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0.75)</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8" name="Rectangle 34"/>
          <p:cNvSpPr>
            <a:spLocks noChangeArrowheads="1"/>
          </p:cNvSpPr>
          <p:nvPr/>
        </p:nvSpPr>
        <p:spPr bwMode="auto">
          <a:xfrm>
            <a:off x="1726120" y="5146140"/>
            <a:ext cx="198002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所求为满足</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9" name="Rectangle 35"/>
          <p:cNvSpPr>
            <a:spLocks noChangeArrowheads="1"/>
          </p:cNvSpPr>
          <p:nvPr/>
        </p:nvSpPr>
        <p:spPr bwMode="auto">
          <a:xfrm>
            <a:off x="4420360" y="4086409"/>
            <a:ext cx="425308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)=0.75×0.25</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=0.1875</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77852"/>
                                        </p:tgtEl>
                                        <p:attrNameLst>
                                          <p:attrName>style.visibility</p:attrName>
                                        </p:attrNameLst>
                                      </p:cBhvr>
                                      <p:to>
                                        <p:strVal val="visible"/>
                                      </p:to>
                                    </p:set>
                                    <p:animEffect transition="in" filter="barn(outVertical)">
                                      <p:cBhvr>
                                        <p:cTn id="7" dur="500"/>
                                        <p:tgtEl>
                                          <p:spTgt spid="778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53"/>
                                        </p:tgtEl>
                                        <p:attrNameLst>
                                          <p:attrName>style.visibility</p:attrName>
                                        </p:attrNameLst>
                                      </p:cBhvr>
                                      <p:to>
                                        <p:strVal val="visible"/>
                                      </p:to>
                                    </p:set>
                                    <p:animEffect transition="in" filter="wipe(left)">
                                      <p:cBhvr>
                                        <p:cTn id="12" dur="500"/>
                                        <p:tgtEl>
                                          <p:spTgt spid="778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857"/>
                                        </p:tgtEl>
                                        <p:attrNameLst>
                                          <p:attrName>style.visibility</p:attrName>
                                        </p:attrNameLst>
                                      </p:cBhvr>
                                      <p:to>
                                        <p:strVal val="visible"/>
                                      </p:to>
                                    </p:set>
                                    <p:animEffect transition="in" filter="wipe(left)">
                                      <p:cBhvr>
                                        <p:cTn id="17" dur="500"/>
                                        <p:tgtEl>
                                          <p:spTgt spid="7785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7854"/>
                                        </p:tgtEl>
                                        <p:attrNameLst>
                                          <p:attrName>style.visibility</p:attrName>
                                        </p:attrNameLst>
                                      </p:cBhvr>
                                      <p:to>
                                        <p:strVal val="visible"/>
                                      </p:to>
                                    </p:set>
                                    <p:anim calcmode="lin" valueType="num">
                                      <p:cBhvr additive="base">
                                        <p:cTn id="22" dur="500" fill="hold"/>
                                        <p:tgtEl>
                                          <p:spTgt spid="77854"/>
                                        </p:tgtEl>
                                        <p:attrNameLst>
                                          <p:attrName>ppt_x</p:attrName>
                                        </p:attrNameLst>
                                      </p:cBhvr>
                                      <p:tavLst>
                                        <p:tav tm="0">
                                          <p:val>
                                            <p:strVal val="#ppt_x"/>
                                          </p:val>
                                        </p:tav>
                                        <p:tav tm="100000">
                                          <p:val>
                                            <p:strVal val="#ppt_x"/>
                                          </p:val>
                                        </p:tav>
                                      </p:tavLst>
                                    </p:anim>
                                    <p:anim calcmode="lin" valueType="num">
                                      <p:cBhvr additive="base">
                                        <p:cTn id="23" dur="500" fill="hold"/>
                                        <p:tgtEl>
                                          <p:spTgt spid="7785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77859"/>
                                        </p:tgtEl>
                                        <p:attrNameLst>
                                          <p:attrName>style.visibility</p:attrName>
                                        </p:attrNameLst>
                                      </p:cBhvr>
                                      <p:to>
                                        <p:strVal val="visible"/>
                                      </p:to>
                                    </p:set>
                                    <p:anim calcmode="lin" valueType="num">
                                      <p:cBhvr additive="base">
                                        <p:cTn id="28" dur="500" fill="hold"/>
                                        <p:tgtEl>
                                          <p:spTgt spid="77859"/>
                                        </p:tgtEl>
                                        <p:attrNameLst>
                                          <p:attrName>ppt_x</p:attrName>
                                        </p:attrNameLst>
                                      </p:cBhvr>
                                      <p:tavLst>
                                        <p:tav tm="0">
                                          <p:val>
                                            <p:strVal val="1+#ppt_w/2"/>
                                          </p:val>
                                        </p:tav>
                                        <p:tav tm="100000">
                                          <p:val>
                                            <p:strVal val="#ppt_x"/>
                                          </p:val>
                                        </p:tav>
                                      </p:tavLst>
                                    </p:anim>
                                    <p:anim calcmode="lin" valueType="num">
                                      <p:cBhvr additive="base">
                                        <p:cTn id="29" dur="500" fill="hold"/>
                                        <p:tgtEl>
                                          <p:spTgt spid="7785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77858"/>
                                        </p:tgtEl>
                                        <p:attrNameLst>
                                          <p:attrName>style.visibility</p:attrName>
                                        </p:attrNameLst>
                                      </p:cBhvr>
                                      <p:to>
                                        <p:strVal val="visible"/>
                                      </p:to>
                                    </p:set>
                                    <p:anim calcmode="lin" valueType="num">
                                      <p:cBhvr additive="base">
                                        <p:cTn id="34" dur="500" fill="hold"/>
                                        <p:tgtEl>
                                          <p:spTgt spid="77858"/>
                                        </p:tgtEl>
                                        <p:attrNameLst>
                                          <p:attrName>ppt_x</p:attrName>
                                        </p:attrNameLst>
                                      </p:cBhvr>
                                      <p:tavLst>
                                        <p:tav tm="0">
                                          <p:val>
                                            <p:strVal val="0-#ppt_w/2"/>
                                          </p:val>
                                        </p:tav>
                                        <p:tav tm="100000">
                                          <p:val>
                                            <p:strVal val="#ppt_x"/>
                                          </p:val>
                                        </p:tav>
                                      </p:tavLst>
                                    </p:anim>
                                    <p:anim calcmode="lin" valueType="num">
                                      <p:cBhvr additive="base">
                                        <p:cTn id="35" dur="500" fill="hold"/>
                                        <p:tgtEl>
                                          <p:spTgt spid="77858"/>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2" presetClass="entr" presetSubtype="2" fill="hold" nodeType="afterEffect">
                                  <p:stCondLst>
                                    <p:cond delay="0"/>
                                  </p:stCondLst>
                                  <p:childTnLst>
                                    <p:set>
                                      <p:cBhvr>
                                        <p:cTn id="38" dur="1" fill="hold">
                                          <p:stCondLst>
                                            <p:cond delay="0"/>
                                          </p:stCondLst>
                                        </p:cTn>
                                        <p:tgtEl>
                                          <p:spTgt spid="77856"/>
                                        </p:tgtEl>
                                        <p:attrNameLst>
                                          <p:attrName>style.visibility</p:attrName>
                                        </p:attrNameLst>
                                      </p:cBhvr>
                                      <p:to>
                                        <p:strVal val="visible"/>
                                      </p:to>
                                    </p:set>
                                    <p:anim calcmode="lin" valueType="num">
                                      <p:cBhvr additive="base">
                                        <p:cTn id="39" dur="500" fill="hold"/>
                                        <p:tgtEl>
                                          <p:spTgt spid="77856"/>
                                        </p:tgtEl>
                                        <p:attrNameLst>
                                          <p:attrName>ppt_x</p:attrName>
                                        </p:attrNameLst>
                                      </p:cBhvr>
                                      <p:tavLst>
                                        <p:tav tm="0">
                                          <p:val>
                                            <p:strVal val="1+#ppt_w/2"/>
                                          </p:val>
                                        </p:tav>
                                        <p:tav tm="100000">
                                          <p:val>
                                            <p:strVal val="#ppt_x"/>
                                          </p:val>
                                        </p:tav>
                                      </p:tavLst>
                                    </p:anim>
                                    <p:anim calcmode="lin" valueType="num">
                                      <p:cBhvr additive="base">
                                        <p:cTn id="40" dur="500" fill="hold"/>
                                        <p:tgtEl>
                                          <p:spTgt spid="77856"/>
                                        </p:tgtEl>
                                        <p:attrNameLst>
                                          <p:attrName>ppt_y</p:attrName>
                                        </p:attrNameLst>
                                      </p:cBhvr>
                                      <p:tavLst>
                                        <p:tav tm="0">
                                          <p:val>
                                            <p:strVal val="#ppt_y"/>
                                          </p:val>
                                        </p:tav>
                                        <p:tav tm="100000">
                                          <p:val>
                                            <p:strVal val="#ppt_y"/>
                                          </p:val>
                                        </p:tav>
                                      </p:tavLst>
                                    </p:anim>
                                  </p:childTnLst>
                                </p:cTn>
                              </p:par>
                            </p:childTnLst>
                          </p:cTn>
                        </p:par>
                        <p:par>
                          <p:cTn id="41" fill="hold">
                            <p:stCondLst>
                              <p:cond delay="1000"/>
                            </p:stCondLst>
                            <p:childTnLst>
                              <p:par>
                                <p:cTn id="42" presetID="2" presetClass="entr" presetSubtype="4" fill="hold" grpId="0" nodeType="afterEffect">
                                  <p:stCondLst>
                                    <p:cond delay="0"/>
                                  </p:stCondLst>
                                  <p:childTnLst>
                                    <p:set>
                                      <p:cBhvr>
                                        <p:cTn id="43" dur="1" fill="hold">
                                          <p:stCondLst>
                                            <p:cond delay="0"/>
                                          </p:stCondLst>
                                        </p:cTn>
                                        <p:tgtEl>
                                          <p:spTgt spid="77855"/>
                                        </p:tgtEl>
                                        <p:attrNameLst>
                                          <p:attrName>style.visibility</p:attrName>
                                        </p:attrNameLst>
                                      </p:cBhvr>
                                      <p:to>
                                        <p:strVal val="visible"/>
                                      </p:to>
                                    </p:set>
                                    <p:anim calcmode="lin" valueType="num">
                                      <p:cBhvr additive="base">
                                        <p:cTn id="44" dur="500" fill="hold"/>
                                        <p:tgtEl>
                                          <p:spTgt spid="77855"/>
                                        </p:tgtEl>
                                        <p:attrNameLst>
                                          <p:attrName>ppt_x</p:attrName>
                                        </p:attrNameLst>
                                      </p:cBhvr>
                                      <p:tavLst>
                                        <p:tav tm="0">
                                          <p:val>
                                            <p:strVal val="#ppt_x"/>
                                          </p:val>
                                        </p:tav>
                                        <p:tav tm="100000">
                                          <p:val>
                                            <p:strVal val="#ppt_x"/>
                                          </p:val>
                                        </p:tav>
                                      </p:tavLst>
                                    </p:anim>
                                    <p:anim calcmode="lin" valueType="num">
                                      <p:cBhvr additive="base">
                                        <p:cTn id="45" dur="500" fill="hold"/>
                                        <p:tgtEl>
                                          <p:spTgt spid="778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52" grpId="0" autoUpdateAnimBg="0"/>
      <p:bldP spid="77853" grpId="0" bldLvl="0" animBg="1" autoUpdateAnimBg="0"/>
      <p:bldP spid="77854" grpId="0" bldLvl="0" animBg="1" autoUpdateAnimBg="0"/>
      <p:bldP spid="77855" grpId="0" bldLvl="0" animBg="1" autoUpdateAnimBg="0"/>
      <p:bldP spid="77857" grpId="0" bldLvl="0" animBg="1" autoUpdateAnimBg="0"/>
      <p:bldP spid="77858" grpId="0" bldLvl="0" animBg="1" autoUpdateAnimBg="0"/>
      <p:bldP spid="77859" grpId="0" bldLvl="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67" name="Rectangle 19"/>
          <p:cNvSpPr>
            <a:spLocks noChangeArrowheads="1"/>
          </p:cNvSpPr>
          <p:nvPr/>
        </p:nvSpPr>
        <p:spPr bwMode="auto">
          <a:xfrm>
            <a:off x="5008364" y="2145011"/>
            <a:ext cx="66294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(-0.01</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&lt;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0.75</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 </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&lt; 0.01</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8868" name="Object 20"/>
          <p:cNvGraphicFramePr>
            <a:graphicFrameLocks noChangeAspect="1"/>
          </p:cNvGraphicFramePr>
          <p:nvPr/>
        </p:nvGraphicFramePr>
        <p:xfrm>
          <a:off x="2783632" y="5510577"/>
          <a:ext cx="1948954" cy="927816"/>
        </p:xfrm>
        <a:graphic>
          <a:graphicData uri="http://schemas.openxmlformats.org/presentationml/2006/ole">
            <mc:AlternateContent xmlns:mc="http://schemas.openxmlformats.org/markup-compatibility/2006">
              <mc:Choice xmlns:v="urn:schemas-microsoft-com:vml" Requires="v">
                <p:oleObj spid="_x0000_s206855" name="Equation" r:id="rId1" imgW="21031200" imgH="10058400" progId="Equation.DSMT4">
                  <p:embed/>
                </p:oleObj>
              </mc:Choice>
              <mc:Fallback>
                <p:oleObj name="Equation" r:id="rId1" imgW="21031200" imgH="10058400" progId="Equation.DSMT4">
                  <p:embed/>
                  <p:pic>
                    <p:nvPicPr>
                      <p:cNvPr id="0" name="Object 20"/>
                      <p:cNvPicPr>
                        <a:picLocks noChangeAspect="1" noChangeArrowheads="1"/>
                      </p:cNvPicPr>
                      <p:nvPr/>
                    </p:nvPicPr>
                    <p:blipFill>
                      <a:blip r:embed="rId2"/>
                      <a:srcRect/>
                      <a:stretch>
                        <a:fillRect/>
                      </a:stretch>
                    </p:blipFill>
                    <p:spPr bwMode="auto">
                      <a:xfrm>
                        <a:off x="2783632" y="5510577"/>
                        <a:ext cx="1948954" cy="927816"/>
                      </a:xfrm>
                      <a:prstGeom prst="rect">
                        <a:avLst/>
                      </a:prstGeom>
                      <a:noFill/>
                      <a:ln>
                        <a:noFill/>
                      </a:ln>
                      <a:effectLst/>
                    </p:spPr>
                  </p:pic>
                </p:oleObj>
              </mc:Fallback>
            </mc:AlternateContent>
          </a:graphicData>
        </a:graphic>
      </p:graphicFrame>
      <p:sp>
        <p:nvSpPr>
          <p:cNvPr id="78869" name="Rectangle 21"/>
          <p:cNvSpPr>
            <a:spLocks noChangeArrowheads="1"/>
          </p:cNvSpPr>
          <p:nvPr/>
        </p:nvSpPr>
        <p:spPr bwMode="auto">
          <a:xfrm>
            <a:off x="5264375" y="3007348"/>
            <a:ext cx="3615556" cy="523220"/>
          </a:xfrm>
          <a:prstGeom prst="rect">
            <a:avLst/>
          </a:prstGeom>
          <a:solidFill>
            <a:srgbClr val="C00000"/>
          </a:solidFill>
          <a:ln>
            <a:noFill/>
          </a:ln>
          <a:effectLst/>
        </p:spPr>
        <p:txBody>
          <a:bodyPr wrap="square" anchor="ctr">
            <a:spAutoFit/>
          </a:bodyPr>
          <a:lstStyle/>
          <a:p>
            <a:pPr algn="l" eaLnBrk="1" hangingPunct="1"/>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&lt;0.01</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8870" name="Object 22"/>
          <p:cNvGraphicFramePr>
            <a:graphicFrameLocks noChangeAspect="1"/>
          </p:cNvGraphicFramePr>
          <p:nvPr/>
        </p:nvGraphicFramePr>
        <p:xfrm>
          <a:off x="4665817" y="5520086"/>
          <a:ext cx="2061211" cy="868305"/>
        </p:xfrm>
        <a:graphic>
          <a:graphicData uri="http://schemas.openxmlformats.org/presentationml/2006/ole">
            <mc:AlternateContent xmlns:mc="http://schemas.openxmlformats.org/markup-compatibility/2006">
              <mc:Choice xmlns:v="urn:schemas-microsoft-com:vml" Requires="v">
                <p:oleObj spid="_x0000_s2" name="Equation" r:id="rId3" imgW="22250400" imgH="9448800" progId="Equation.DSMT4">
                  <p:embed/>
                </p:oleObj>
              </mc:Choice>
              <mc:Fallback>
                <p:oleObj name="Equation" r:id="rId3" imgW="22250400" imgH="9448800" progId="Equation.DSMT4">
                  <p:embed/>
                  <p:pic>
                    <p:nvPicPr>
                      <p:cNvPr id="0" name="Object 22"/>
                      <p:cNvPicPr>
                        <a:picLocks noChangeAspect="1" noChangeArrowheads="1"/>
                      </p:cNvPicPr>
                      <p:nvPr/>
                    </p:nvPicPr>
                    <p:blipFill>
                      <a:blip r:embed="rId4"/>
                      <a:srcRect/>
                      <a:stretch>
                        <a:fillRect/>
                      </a:stretch>
                    </p:blipFill>
                    <p:spPr bwMode="auto">
                      <a:xfrm>
                        <a:off x="4665817" y="5520086"/>
                        <a:ext cx="2061211" cy="868305"/>
                      </a:xfrm>
                      <a:prstGeom prst="rect">
                        <a:avLst/>
                      </a:prstGeom>
                      <a:noFill/>
                      <a:ln>
                        <a:noFill/>
                      </a:ln>
                      <a:effectLst/>
                    </p:spPr>
                  </p:pic>
                </p:oleObj>
              </mc:Fallback>
            </mc:AlternateContent>
          </a:graphicData>
        </a:graphic>
      </p:graphicFrame>
      <p:graphicFrame>
        <p:nvGraphicFramePr>
          <p:cNvPr id="78871" name="Object 23"/>
          <p:cNvGraphicFramePr>
            <a:graphicFrameLocks noChangeAspect="1"/>
          </p:cNvGraphicFramePr>
          <p:nvPr/>
        </p:nvGraphicFramePr>
        <p:xfrm>
          <a:off x="6693754" y="5546284"/>
          <a:ext cx="1464758" cy="868306"/>
        </p:xfrm>
        <a:graphic>
          <a:graphicData uri="http://schemas.openxmlformats.org/presentationml/2006/ole">
            <mc:AlternateContent xmlns:mc="http://schemas.openxmlformats.org/markup-compatibility/2006">
              <mc:Choice xmlns:v="urn:schemas-microsoft-com:vml" Requires="v">
                <p:oleObj spid="_x0000_s3" name="Equation" r:id="rId5" imgW="15849600" imgH="9448800" progId="Equation.DSMT4">
                  <p:embed/>
                </p:oleObj>
              </mc:Choice>
              <mc:Fallback>
                <p:oleObj name="Equation" r:id="rId5" imgW="15849600" imgH="9448800" progId="Equation.DSMT4">
                  <p:embed/>
                  <p:pic>
                    <p:nvPicPr>
                      <p:cNvPr id="0" name="Object 23"/>
                      <p:cNvPicPr>
                        <a:picLocks noChangeAspect="1" noChangeArrowheads="1"/>
                      </p:cNvPicPr>
                      <p:nvPr/>
                    </p:nvPicPr>
                    <p:blipFill>
                      <a:blip r:embed="rId6"/>
                      <a:srcRect/>
                      <a:stretch>
                        <a:fillRect/>
                      </a:stretch>
                    </p:blipFill>
                    <p:spPr bwMode="auto">
                      <a:xfrm>
                        <a:off x="6693754" y="5546284"/>
                        <a:ext cx="1464758" cy="868306"/>
                      </a:xfrm>
                      <a:prstGeom prst="rect">
                        <a:avLst/>
                      </a:prstGeom>
                      <a:noFill/>
                      <a:ln>
                        <a:noFill/>
                      </a:ln>
                      <a:effectLst/>
                    </p:spPr>
                  </p:pic>
                </p:oleObj>
              </mc:Fallback>
            </mc:AlternateContent>
          </a:graphicData>
        </a:graphic>
      </p:graphicFrame>
      <p:sp>
        <p:nvSpPr>
          <p:cNvPr id="78872" name="Rectangle 24"/>
          <p:cNvSpPr>
            <a:spLocks noChangeArrowheads="1"/>
          </p:cNvSpPr>
          <p:nvPr/>
        </p:nvSpPr>
        <p:spPr bwMode="auto">
          <a:xfrm>
            <a:off x="1847528" y="2125670"/>
            <a:ext cx="3730625"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(0.74</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&lt;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&lt;0.76</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8873" name="Object 25"/>
          <p:cNvGraphicFramePr>
            <a:graphicFrameLocks noChangeAspect="1"/>
          </p:cNvGraphicFramePr>
          <p:nvPr/>
        </p:nvGraphicFramePr>
        <p:xfrm>
          <a:off x="1952625" y="4379913"/>
          <a:ext cx="3276600" cy="1028700"/>
        </p:xfrm>
        <a:graphic>
          <a:graphicData uri="http://schemas.openxmlformats.org/presentationml/2006/ole">
            <mc:AlternateContent xmlns:mc="http://schemas.openxmlformats.org/markup-compatibility/2006">
              <mc:Choice xmlns:v="urn:schemas-microsoft-com:vml" Requires="v">
                <p:oleObj spid="_x0000_s4" name="Equation" r:id="rId7" imgW="29870400" imgH="9448800" progId="Equation.DSMT4">
                  <p:embed/>
                </p:oleObj>
              </mc:Choice>
              <mc:Fallback>
                <p:oleObj name="Equation" r:id="rId7" imgW="29870400" imgH="9448800" progId="Equation.DSMT4">
                  <p:embed/>
                  <p:pic>
                    <p:nvPicPr>
                      <p:cNvPr id="0" name="Object 25"/>
                      <p:cNvPicPr>
                        <a:picLocks noChangeAspect="1" noChangeArrowheads="1"/>
                      </p:cNvPicPr>
                      <p:nvPr/>
                    </p:nvPicPr>
                    <p:blipFill>
                      <a:blip r:embed="rId8"/>
                      <a:srcRect/>
                      <a:stretch>
                        <a:fillRect/>
                      </a:stretch>
                    </p:blipFill>
                    <p:spPr bwMode="auto">
                      <a:xfrm>
                        <a:off x="1952625" y="4379913"/>
                        <a:ext cx="32766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8874" name="Group 26"/>
          <p:cNvGrpSpPr/>
          <p:nvPr/>
        </p:nvGrpSpPr>
        <p:grpSpPr bwMode="auto">
          <a:xfrm>
            <a:off x="2131218" y="1067081"/>
            <a:ext cx="4881563" cy="920750"/>
            <a:chOff x="1052" y="178"/>
            <a:chExt cx="3075" cy="580"/>
          </a:xfrm>
        </p:grpSpPr>
        <p:graphicFrame>
          <p:nvGraphicFramePr>
            <p:cNvPr id="78875" name="Object 27"/>
            <p:cNvGraphicFramePr>
              <a:graphicFrameLocks noChangeAspect="1"/>
            </p:cNvGraphicFramePr>
            <p:nvPr/>
          </p:nvGraphicFramePr>
          <p:xfrm>
            <a:off x="1052" y="178"/>
            <a:ext cx="1846" cy="580"/>
          </p:xfrm>
          <a:graphic>
            <a:graphicData uri="http://schemas.openxmlformats.org/presentationml/2006/ole">
              <mc:AlternateContent xmlns:mc="http://schemas.openxmlformats.org/markup-compatibility/2006">
                <mc:Choice xmlns:v="urn:schemas-microsoft-com:vml" Requires="v">
                  <p:oleObj spid="_x0000_s5" name="Equation" r:id="rId9" imgW="29870400" imgH="9448800" progId="Equation.DSMT4">
                    <p:embed/>
                  </p:oleObj>
                </mc:Choice>
                <mc:Fallback>
                  <p:oleObj name="Equation" r:id="rId9" imgW="29870400" imgH="9448800" progId="Equation.DSMT4">
                    <p:embed/>
                    <p:pic>
                      <p:nvPicPr>
                        <p:cNvPr id="0" name="Object 27"/>
                        <p:cNvPicPr>
                          <a:picLocks noChangeAspect="1" noChangeArrowheads="1"/>
                        </p:cNvPicPr>
                        <p:nvPr/>
                      </p:nvPicPr>
                      <p:blipFill>
                        <a:blip r:embed="rId10"/>
                        <a:srcRect/>
                        <a:stretch>
                          <a:fillRect/>
                        </a:stretch>
                      </p:blipFill>
                      <p:spPr bwMode="auto">
                        <a:xfrm>
                          <a:off x="1052" y="178"/>
                          <a:ext cx="1846" cy="580"/>
                        </a:xfrm>
                        <a:prstGeom prst="rect">
                          <a:avLst/>
                        </a:prstGeom>
                        <a:noFill/>
                        <a:ln>
                          <a:noFill/>
                        </a:ln>
                        <a:effectLst/>
                      </p:spPr>
                    </p:pic>
                  </p:oleObj>
                </mc:Fallback>
              </mc:AlternateContent>
            </a:graphicData>
          </a:graphic>
        </p:graphicFrame>
        <p:sp>
          <p:nvSpPr>
            <p:cNvPr id="78876" name="Rectangle 28"/>
            <p:cNvSpPr>
              <a:spLocks noChangeArrowheads="1"/>
            </p:cNvSpPr>
            <p:nvPr/>
          </p:nvSpPr>
          <p:spPr bwMode="auto">
            <a:xfrm>
              <a:off x="2979" y="303"/>
              <a:ext cx="1148"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可改写为</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78877" name="Group 29"/>
          <p:cNvGrpSpPr/>
          <p:nvPr/>
        </p:nvGrpSpPr>
        <p:grpSpPr bwMode="auto">
          <a:xfrm>
            <a:off x="1919289" y="3827466"/>
            <a:ext cx="6510338" cy="523876"/>
            <a:chOff x="543" y="2149"/>
            <a:chExt cx="4101" cy="330"/>
          </a:xfrm>
        </p:grpSpPr>
        <p:sp>
          <p:nvSpPr>
            <p:cNvPr id="78878" name="Rectangle 30"/>
            <p:cNvSpPr>
              <a:spLocks noChangeArrowheads="1"/>
            </p:cNvSpPr>
            <p:nvPr/>
          </p:nvSpPr>
          <p:spPr bwMode="auto">
            <a:xfrm>
              <a:off x="543" y="2149"/>
              <a:ext cx="2378"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在切比雪夫不等式中取</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8879" name="Rectangle 31"/>
            <p:cNvSpPr>
              <a:spLocks noChangeArrowheads="1"/>
            </p:cNvSpPr>
            <p:nvPr/>
          </p:nvSpPr>
          <p:spPr bwMode="auto">
            <a:xfrm>
              <a:off x="3949" y="2149"/>
              <a:ext cx="695"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，则</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8880" name="Object 32"/>
            <p:cNvGraphicFramePr>
              <a:graphicFrameLocks noChangeAspect="1"/>
            </p:cNvGraphicFramePr>
            <p:nvPr/>
          </p:nvGraphicFramePr>
          <p:xfrm>
            <a:off x="3024" y="2160"/>
            <a:ext cx="927" cy="307"/>
          </p:xfrm>
          <a:graphic>
            <a:graphicData uri="http://schemas.openxmlformats.org/presentationml/2006/ole">
              <mc:AlternateContent xmlns:mc="http://schemas.openxmlformats.org/markup-compatibility/2006">
                <mc:Choice xmlns:v="urn:schemas-microsoft-com:vml" Requires="v">
                  <p:oleObj spid="_x0000_s6" name="Equation" r:id="rId11" imgW="12801600" imgH="4267200" progId="Equation.DSMT4">
                    <p:embed/>
                  </p:oleObj>
                </mc:Choice>
                <mc:Fallback>
                  <p:oleObj name="Equation" r:id="rId11" imgW="12801600" imgH="4267200" progId="Equation.DSMT4">
                    <p:embed/>
                    <p:pic>
                      <p:nvPicPr>
                        <p:cNvPr id="0" name="Object 32"/>
                        <p:cNvPicPr>
                          <a:picLocks noChangeAspect="1" noChangeArrowheads="1"/>
                        </p:cNvPicPr>
                        <p:nvPr/>
                      </p:nvPicPr>
                      <p:blipFill>
                        <a:blip r:embed="rId12"/>
                        <a:srcRect/>
                        <a:stretch>
                          <a:fillRect/>
                        </a:stretch>
                      </p:blipFill>
                      <p:spPr bwMode="auto">
                        <a:xfrm>
                          <a:off x="3024" y="2160"/>
                          <a:ext cx="927"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8881" name="Rectangle 33"/>
          <p:cNvSpPr>
            <a:spLocks noChangeArrowheads="1"/>
          </p:cNvSpPr>
          <p:nvPr/>
        </p:nvSpPr>
        <p:spPr bwMode="auto">
          <a:xfrm>
            <a:off x="5119688" y="4560422"/>
            <a:ext cx="43434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&lt;0.01</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7" name="直接连接符 1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8874"/>
                                        </p:tgtEl>
                                        <p:attrNameLst>
                                          <p:attrName>style.visibility</p:attrName>
                                        </p:attrNameLst>
                                      </p:cBhvr>
                                      <p:to>
                                        <p:strVal val="visible"/>
                                      </p:to>
                                    </p:set>
                                    <p:anim calcmode="lin" valueType="num">
                                      <p:cBhvr additive="base">
                                        <p:cTn id="7" dur="500" fill="hold"/>
                                        <p:tgtEl>
                                          <p:spTgt spid="78874"/>
                                        </p:tgtEl>
                                        <p:attrNameLst>
                                          <p:attrName>ppt_x</p:attrName>
                                        </p:attrNameLst>
                                      </p:cBhvr>
                                      <p:tavLst>
                                        <p:tav tm="0">
                                          <p:val>
                                            <p:strVal val="0-#ppt_w/2"/>
                                          </p:val>
                                        </p:tav>
                                        <p:tav tm="100000">
                                          <p:val>
                                            <p:strVal val="#ppt_x"/>
                                          </p:val>
                                        </p:tav>
                                      </p:tavLst>
                                    </p:anim>
                                    <p:anim calcmode="lin" valueType="num">
                                      <p:cBhvr additive="base">
                                        <p:cTn id="8" dur="500" fill="hold"/>
                                        <p:tgtEl>
                                          <p:spTgt spid="788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8872"/>
                                        </p:tgtEl>
                                        <p:attrNameLst>
                                          <p:attrName>style.visibility</p:attrName>
                                        </p:attrNameLst>
                                      </p:cBhvr>
                                      <p:to>
                                        <p:strVal val="visible"/>
                                      </p:to>
                                    </p:set>
                                    <p:animEffect transition="in" filter="wipe(left)">
                                      <p:cBhvr>
                                        <p:cTn id="13" dur="500"/>
                                        <p:tgtEl>
                                          <p:spTgt spid="7887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8867"/>
                                        </p:tgtEl>
                                        <p:attrNameLst>
                                          <p:attrName>style.visibility</p:attrName>
                                        </p:attrNameLst>
                                      </p:cBhvr>
                                      <p:to>
                                        <p:strVal val="visible"/>
                                      </p:to>
                                    </p:set>
                                    <p:animEffect transition="in" filter="wipe(left)">
                                      <p:cBhvr>
                                        <p:cTn id="18" dur="500"/>
                                        <p:tgtEl>
                                          <p:spTgt spid="7886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8869"/>
                                        </p:tgtEl>
                                        <p:attrNameLst>
                                          <p:attrName>style.visibility</p:attrName>
                                        </p:attrNameLst>
                                      </p:cBhvr>
                                      <p:to>
                                        <p:strVal val="visible"/>
                                      </p:to>
                                    </p:set>
                                    <p:animEffect transition="in" filter="wipe(left)">
                                      <p:cBhvr>
                                        <p:cTn id="23" dur="500"/>
                                        <p:tgtEl>
                                          <p:spTgt spid="7886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8877"/>
                                        </p:tgtEl>
                                        <p:attrNameLst>
                                          <p:attrName>style.visibility</p:attrName>
                                        </p:attrNameLst>
                                      </p:cBhvr>
                                      <p:to>
                                        <p:strVal val="visible"/>
                                      </p:to>
                                    </p:set>
                                    <p:animEffect transition="in" filter="wipe(left)">
                                      <p:cBhvr>
                                        <p:cTn id="28" dur="500"/>
                                        <p:tgtEl>
                                          <p:spTgt spid="7887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8873"/>
                                        </p:tgtEl>
                                        <p:attrNameLst>
                                          <p:attrName>style.visibility</p:attrName>
                                        </p:attrNameLst>
                                      </p:cBhvr>
                                      <p:to>
                                        <p:strVal val="visible"/>
                                      </p:to>
                                    </p:set>
                                    <p:animEffect transition="in" filter="wipe(left)">
                                      <p:cBhvr>
                                        <p:cTn id="33" dur="500"/>
                                        <p:tgtEl>
                                          <p:spTgt spid="7887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78881"/>
                                        </p:tgtEl>
                                        <p:attrNameLst>
                                          <p:attrName>style.visibility</p:attrName>
                                        </p:attrNameLst>
                                      </p:cBhvr>
                                      <p:to>
                                        <p:strVal val="visible"/>
                                      </p:to>
                                    </p:set>
                                    <p:anim calcmode="lin" valueType="num">
                                      <p:cBhvr additive="base">
                                        <p:cTn id="38" dur="500" fill="hold"/>
                                        <p:tgtEl>
                                          <p:spTgt spid="78881"/>
                                        </p:tgtEl>
                                        <p:attrNameLst>
                                          <p:attrName>ppt_x</p:attrName>
                                        </p:attrNameLst>
                                      </p:cBhvr>
                                      <p:tavLst>
                                        <p:tav tm="0">
                                          <p:val>
                                            <p:strVal val="1+#ppt_w/2"/>
                                          </p:val>
                                        </p:tav>
                                        <p:tav tm="100000">
                                          <p:val>
                                            <p:strVal val="#ppt_x"/>
                                          </p:val>
                                        </p:tav>
                                      </p:tavLst>
                                    </p:anim>
                                    <p:anim calcmode="lin" valueType="num">
                                      <p:cBhvr additive="base">
                                        <p:cTn id="39" dur="500" fill="hold"/>
                                        <p:tgtEl>
                                          <p:spTgt spid="78881"/>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8868"/>
                                        </p:tgtEl>
                                        <p:attrNameLst>
                                          <p:attrName>style.visibility</p:attrName>
                                        </p:attrNameLst>
                                      </p:cBhvr>
                                      <p:to>
                                        <p:strVal val="visible"/>
                                      </p:to>
                                    </p:set>
                                    <p:animEffect transition="in" filter="wipe(left)">
                                      <p:cBhvr>
                                        <p:cTn id="44" dur="500"/>
                                        <p:tgtEl>
                                          <p:spTgt spid="7886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78870"/>
                                        </p:tgtEl>
                                        <p:attrNameLst>
                                          <p:attrName>style.visibility</p:attrName>
                                        </p:attrNameLst>
                                      </p:cBhvr>
                                      <p:to>
                                        <p:strVal val="visible"/>
                                      </p:to>
                                    </p:set>
                                    <p:anim calcmode="lin" valueType="num">
                                      <p:cBhvr additive="base">
                                        <p:cTn id="49" dur="500" fill="hold"/>
                                        <p:tgtEl>
                                          <p:spTgt spid="78870"/>
                                        </p:tgtEl>
                                        <p:attrNameLst>
                                          <p:attrName>ppt_x</p:attrName>
                                        </p:attrNameLst>
                                      </p:cBhvr>
                                      <p:tavLst>
                                        <p:tav tm="0">
                                          <p:val>
                                            <p:strVal val="1+#ppt_w/2"/>
                                          </p:val>
                                        </p:tav>
                                        <p:tav tm="100000">
                                          <p:val>
                                            <p:strVal val="#ppt_x"/>
                                          </p:val>
                                        </p:tav>
                                      </p:tavLst>
                                    </p:anim>
                                    <p:anim calcmode="lin" valueType="num">
                                      <p:cBhvr additive="base">
                                        <p:cTn id="50" dur="500" fill="hold"/>
                                        <p:tgtEl>
                                          <p:spTgt spid="7887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78871"/>
                                        </p:tgtEl>
                                        <p:attrNameLst>
                                          <p:attrName>style.visibility</p:attrName>
                                        </p:attrNameLst>
                                      </p:cBhvr>
                                      <p:to>
                                        <p:strVal val="visible"/>
                                      </p:to>
                                    </p:set>
                                    <p:anim calcmode="lin" valueType="num">
                                      <p:cBhvr additive="base">
                                        <p:cTn id="55" dur="500" fill="hold"/>
                                        <p:tgtEl>
                                          <p:spTgt spid="78871"/>
                                        </p:tgtEl>
                                        <p:attrNameLst>
                                          <p:attrName>ppt_x</p:attrName>
                                        </p:attrNameLst>
                                      </p:cBhvr>
                                      <p:tavLst>
                                        <p:tav tm="0">
                                          <p:val>
                                            <p:strVal val="1+#ppt_w/2"/>
                                          </p:val>
                                        </p:tav>
                                        <p:tav tm="100000">
                                          <p:val>
                                            <p:strVal val="#ppt_x"/>
                                          </p:val>
                                        </p:tav>
                                      </p:tavLst>
                                    </p:anim>
                                    <p:anim calcmode="lin" valueType="num">
                                      <p:cBhvr additive="base">
                                        <p:cTn id="56" dur="500" fill="hold"/>
                                        <p:tgtEl>
                                          <p:spTgt spid="788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7" grpId="0" bldLvl="0" animBg="1" autoUpdateAnimBg="0"/>
      <p:bldP spid="78869" grpId="0" bldLvl="0" animBg="1" autoUpdateAnimBg="0"/>
      <p:bldP spid="78872" grpId="0" bldLvl="0" animBg="1" autoUpdateAnimBg="0"/>
      <p:bldP spid="78881" grpId="0" bldLvl="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94" name="Group 22"/>
          <p:cNvGrpSpPr/>
          <p:nvPr/>
        </p:nvGrpSpPr>
        <p:grpSpPr bwMode="auto">
          <a:xfrm>
            <a:off x="2495600" y="2551441"/>
            <a:ext cx="4756150" cy="1339850"/>
            <a:chOff x="641" y="1026"/>
            <a:chExt cx="2996" cy="844"/>
          </a:xfrm>
        </p:grpSpPr>
        <p:graphicFrame>
          <p:nvGraphicFramePr>
            <p:cNvPr id="79895" name="Object 23"/>
            <p:cNvGraphicFramePr>
              <a:graphicFrameLocks noChangeAspect="1"/>
            </p:cNvGraphicFramePr>
            <p:nvPr/>
          </p:nvGraphicFramePr>
          <p:xfrm>
            <a:off x="1696" y="1228"/>
            <a:ext cx="1941" cy="642"/>
          </p:xfrm>
          <a:graphic>
            <a:graphicData uri="http://schemas.openxmlformats.org/presentationml/2006/ole">
              <mc:AlternateContent xmlns:mc="http://schemas.openxmlformats.org/markup-compatibility/2006">
                <mc:Choice xmlns:v="urn:schemas-microsoft-com:vml" Requires="v">
                  <p:oleObj spid="_x0000_s206855" name="Equation" r:id="rId1" imgW="28346400" imgH="9448800" progId="Equation.DSMT4">
                    <p:embed/>
                  </p:oleObj>
                </mc:Choice>
                <mc:Fallback>
                  <p:oleObj name="Equation" r:id="rId1" imgW="28346400" imgH="9448800" progId="Equation.DSMT4">
                    <p:embed/>
                    <p:pic>
                      <p:nvPicPr>
                        <p:cNvPr id="0" name="Object 23"/>
                        <p:cNvPicPr>
                          <a:picLocks noChangeAspect="1" noChangeArrowheads="1"/>
                        </p:cNvPicPr>
                        <p:nvPr/>
                      </p:nvPicPr>
                      <p:blipFill>
                        <a:blip r:embed="rId2"/>
                        <a:srcRect/>
                        <a:stretch>
                          <a:fillRect/>
                        </a:stretch>
                      </p:blipFill>
                      <p:spPr bwMode="auto">
                        <a:xfrm>
                          <a:off x="1696" y="1228"/>
                          <a:ext cx="1941" cy="6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96" name="Rectangle 24"/>
            <p:cNvSpPr>
              <a:spLocks noChangeArrowheads="1"/>
            </p:cNvSpPr>
            <p:nvPr/>
          </p:nvSpPr>
          <p:spPr bwMode="auto">
            <a:xfrm>
              <a:off x="641" y="1026"/>
              <a:ext cx="569"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解得</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79897" name="Group 25"/>
          <p:cNvGrpSpPr/>
          <p:nvPr/>
        </p:nvGrpSpPr>
        <p:grpSpPr bwMode="auto">
          <a:xfrm>
            <a:off x="2207568" y="1245254"/>
            <a:ext cx="4462463" cy="1019175"/>
            <a:chOff x="682" y="336"/>
            <a:chExt cx="2811" cy="642"/>
          </a:xfrm>
        </p:grpSpPr>
        <p:sp>
          <p:nvSpPr>
            <p:cNvPr id="79898" name="Rectangle 26"/>
            <p:cNvSpPr>
              <a:spLocks noChangeArrowheads="1"/>
            </p:cNvSpPr>
            <p:nvPr/>
          </p:nvSpPr>
          <p:spPr bwMode="auto">
            <a:xfrm>
              <a:off x="682" y="450"/>
              <a:ext cx="1247"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依题意，取</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9899" name="Object 27"/>
            <p:cNvGraphicFramePr>
              <a:graphicFrameLocks noChangeAspect="1"/>
            </p:cNvGraphicFramePr>
            <p:nvPr/>
          </p:nvGraphicFramePr>
          <p:xfrm>
            <a:off x="2054" y="336"/>
            <a:ext cx="1439" cy="642"/>
          </p:xfrm>
          <a:graphic>
            <a:graphicData uri="http://schemas.openxmlformats.org/presentationml/2006/ole">
              <mc:AlternateContent xmlns:mc="http://schemas.openxmlformats.org/markup-compatibility/2006">
                <mc:Choice xmlns:v="urn:schemas-microsoft-com:vml" Requires="v">
                  <p:oleObj spid="_x0000_s2" name="Equation" r:id="rId3" imgW="21031200" imgH="9448800" progId="Equation.DSMT4">
                    <p:embed/>
                  </p:oleObj>
                </mc:Choice>
                <mc:Fallback>
                  <p:oleObj name="Equation" r:id="rId3" imgW="21031200" imgH="9448800" progId="Equation.DSMT4">
                    <p:embed/>
                    <p:pic>
                      <p:nvPicPr>
                        <p:cNvPr id="0" name="Object 27"/>
                        <p:cNvPicPr>
                          <a:picLocks noChangeAspect="1" noChangeArrowheads="1"/>
                        </p:cNvPicPr>
                        <p:nvPr/>
                      </p:nvPicPr>
                      <p:blipFill>
                        <a:blip r:embed="rId4"/>
                        <a:srcRect/>
                        <a:stretch>
                          <a:fillRect/>
                        </a:stretch>
                      </p:blipFill>
                      <p:spPr bwMode="auto">
                        <a:xfrm>
                          <a:off x="2054" y="336"/>
                          <a:ext cx="1439" cy="6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9900" name="Rectangle 28"/>
          <p:cNvSpPr>
            <a:spLocks noChangeArrowheads="1"/>
          </p:cNvSpPr>
          <p:nvPr/>
        </p:nvSpPr>
        <p:spPr bwMode="auto">
          <a:xfrm>
            <a:off x="1917700" y="4031422"/>
            <a:ext cx="8281988" cy="152407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lnSpc>
                <a:spcPct val="150000"/>
              </a:lnSpc>
              <a:spcBef>
                <a:spcPct val="50000"/>
              </a:spcBef>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取</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18750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时，可以使得在</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次独立重复试验中，</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事件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出现的频率在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0.74~0.76</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之间的概率至少为</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0.90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9897"/>
                                        </p:tgtEl>
                                        <p:attrNameLst>
                                          <p:attrName>style.visibility</p:attrName>
                                        </p:attrNameLst>
                                      </p:cBhvr>
                                      <p:to>
                                        <p:strVal val="visible"/>
                                      </p:to>
                                    </p:set>
                                    <p:animEffect transition="in" filter="wipe(left)">
                                      <p:cBhvr>
                                        <p:cTn id="7" dur="500"/>
                                        <p:tgtEl>
                                          <p:spTgt spid="798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9894"/>
                                        </p:tgtEl>
                                        <p:attrNameLst>
                                          <p:attrName>style.visibility</p:attrName>
                                        </p:attrNameLst>
                                      </p:cBhvr>
                                      <p:to>
                                        <p:strVal val="visible"/>
                                      </p:to>
                                    </p:set>
                                    <p:animEffect transition="in" filter="wipe(left)">
                                      <p:cBhvr>
                                        <p:cTn id="12" dur="500"/>
                                        <p:tgtEl>
                                          <p:spTgt spid="7989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9900"/>
                                        </p:tgtEl>
                                        <p:attrNameLst>
                                          <p:attrName>style.visibility</p:attrName>
                                        </p:attrNameLst>
                                      </p:cBhvr>
                                      <p:to>
                                        <p:strVal val="visible"/>
                                      </p:to>
                                    </p:set>
                                    <p:anim calcmode="lin" valueType="num">
                                      <p:cBhvr additive="base">
                                        <p:cTn id="17" dur="500" fill="hold"/>
                                        <p:tgtEl>
                                          <p:spTgt spid="79900"/>
                                        </p:tgtEl>
                                        <p:attrNameLst>
                                          <p:attrName>ppt_x</p:attrName>
                                        </p:attrNameLst>
                                      </p:cBhvr>
                                      <p:tavLst>
                                        <p:tav tm="0">
                                          <p:val>
                                            <p:strVal val="#ppt_x"/>
                                          </p:val>
                                        </p:tav>
                                        <p:tav tm="100000">
                                          <p:val>
                                            <p:strVal val="#ppt_x"/>
                                          </p:val>
                                        </p:tav>
                                      </p:tavLst>
                                    </p:anim>
                                    <p:anim calcmode="lin" valueType="num">
                                      <p:cBhvr additive="base">
                                        <p:cTn id="18" dur="500" fill="hold"/>
                                        <p:tgtEl>
                                          <p:spTgt spid="799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00" grpId="0" bldLvl="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总结方差的计算方法</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7" name="Rectangle 3"/>
          <p:cNvSpPr txBox="1">
            <a:spLocks noChangeArrowheads="1"/>
          </p:cNvSpPr>
          <p:nvPr/>
        </p:nvSpPr>
        <p:spPr bwMode="auto">
          <a:xfrm>
            <a:off x="1406163" y="1268760"/>
            <a:ext cx="10306461"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l" rtl="0" fontAlgn="base">
              <a:lnSpc>
                <a:spcPct val="90000"/>
              </a:lnSpc>
              <a:spcBef>
                <a:spcPts val="1000"/>
              </a:spcBef>
              <a:spcAft>
                <a:spcPct val="0"/>
              </a:spcAft>
              <a:buFont typeface="Arial" panose="020B0604020202020204" pitchFamily="34" charset="0"/>
              <a:buNone/>
              <a:defRPr kumimoji="1" lang="zh-CN" altLang="en-US" sz="2800" b="1" kern="1200">
                <a:solidFill>
                  <a:schemeClr val="tx1">
                    <a:lumMod val="85000"/>
                    <a:lumOff val="15000"/>
                  </a:schemeClr>
                </a:solidFill>
                <a:latin typeface="Times New Roman" panose="02020603050405020304" pitchFamily="18" charset="0"/>
                <a:ea typeface="微软雅黑" panose="020B0503020204020204" pitchFamily="34" charset="-122"/>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等线" panose="02010600030101010101" charset="-122"/>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等线" panose="02010600030101010101" charset="-122"/>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等线" panose="02010600030101010101" charset="-122"/>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等线" panose="0201060003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defTabSz="914400">
              <a:lnSpc>
                <a:spcPct val="150000"/>
              </a:lnSpc>
              <a:spcBef>
                <a:spcPct val="0"/>
              </a:spcBef>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定义法：函数的数学期望</a:t>
            </a:r>
            <a:endPar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457200" indent="-457200" defTabSz="914400">
              <a:lnSpc>
                <a:spcPct val="150000"/>
              </a:lnSpc>
              <a:spcBef>
                <a:spcPct val="0"/>
              </a:spcBef>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方差的性质</a:t>
            </a:r>
            <a:endPar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457200" indent="-457200" defTabSz="914400">
              <a:lnSpc>
                <a:spcPct val="150000"/>
              </a:lnSpc>
              <a:spcBef>
                <a:spcPct val="0"/>
              </a:spcBef>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常用公式：</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D(X)=E(X</a:t>
            </a:r>
            <a:r>
              <a:rPr lang="en-US" altLang="zh-CN" baseline="30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)-[E(X)]</a:t>
            </a:r>
            <a:r>
              <a:rPr lang="en-US" altLang="zh-CN" baseline="30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2</a:t>
            </a:r>
            <a:endPar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457200" indent="-457200" defTabSz="914400">
              <a:lnSpc>
                <a:spcPct val="150000"/>
              </a:lnSpc>
              <a:spcBef>
                <a:spcPct val="0"/>
              </a:spcBef>
              <a:buFont typeface="Arial" panose="020B0604020202020204" pitchFamily="34" charset="0"/>
              <a:buChar char="•"/>
            </a:pP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X</a:t>
            </a: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分解成数个相互独立的随机变量之和，利</a:t>
            </a:r>
            <a:endPar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defTabSz="914400">
              <a:lnSpc>
                <a:spcPct val="150000"/>
              </a:lnSpc>
              <a:spcBef>
                <a:spcPct val="0"/>
              </a:spcBef>
            </a:pP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用</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D(X)=D (X</a:t>
            </a:r>
            <a:r>
              <a:rPr lang="en-US" altLang="zh-CN" baseline="-25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1</a:t>
            </a: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+X</a:t>
            </a:r>
            <a:r>
              <a:rPr lang="en-US" altLang="zh-CN" baseline="-25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dirty="0" err="1">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X</a:t>
            </a:r>
            <a:r>
              <a:rPr lang="en-US" altLang="zh-CN" baseline="-25000" dirty="0" err="1">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n</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D (X</a:t>
            </a:r>
            <a:r>
              <a:rPr lang="en-US" altLang="zh-CN" baseline="-25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1</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D (X</a:t>
            </a:r>
            <a:r>
              <a:rPr lang="en-US" altLang="zh-CN" baseline="-25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+D (</a:t>
            </a:r>
            <a:r>
              <a:rPr lang="en-US" altLang="zh-CN" dirty="0" err="1">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X</a:t>
            </a:r>
            <a:r>
              <a:rPr lang="en-US" altLang="zh-CN" baseline="-25000" dirty="0" err="1">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n</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defTabSz="914400">
              <a:lnSpc>
                <a:spcPct val="150000"/>
              </a:lnSpc>
              <a:spcBef>
                <a:spcPct val="0"/>
              </a:spcBef>
              <a:buFontTx/>
              <a:buNone/>
            </a:pP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根据题型，以上方法可能独立使用，也可能结合使用。</a:t>
            </a:r>
            <a:endPar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2" y="2077753"/>
            <a:ext cx="12191998" cy="284166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886184" y="2495917"/>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3826075" y="2905838"/>
            <a:ext cx="4787857" cy="1107996"/>
          </a:xfrm>
          <a:prstGeom prst="rect">
            <a:avLst/>
          </a:prstGeom>
          <a:noFill/>
        </p:spPr>
        <p:txBody>
          <a:bodyPr wrap="square" rtlCol="0">
            <a:spAutoFit/>
          </a:bodyPr>
          <a:lstStyle/>
          <a:p>
            <a:pPr algn="dist" defTabSz="914400"/>
            <a:r>
              <a:rPr lang="zh-CN" altLang="en-US" sz="6600" b="1" dirty="0">
                <a:solidFill>
                  <a:prstClr val="white">
                    <a:lumMod val="95000"/>
                  </a:prstClr>
                </a:solidFill>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谢谢大家</a:t>
            </a:r>
            <a:endParaRPr lang="zh-CN" altLang="en-US" sz="6600" b="1" dirty="0">
              <a:solidFill>
                <a:prstClr val="white">
                  <a:lumMod val="95000"/>
                </a:prstClr>
              </a:solidFill>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250"/>
                                  </p:stCondLst>
                                  <p:childTnLst>
                                    <p:set>
                                      <p:cBhvr>
                                        <p:cTn id="6" dur="1" fill="hold">
                                          <p:stCondLst>
                                            <p:cond delay="0"/>
                                          </p:stCondLst>
                                        </p:cTn>
                                        <p:tgtEl>
                                          <p:spTgt spid="23"/>
                                        </p:tgtEl>
                                        <p:attrNameLst>
                                          <p:attrName>style.visibility</p:attrName>
                                        </p:attrNameLst>
                                      </p:cBhvr>
                                      <p:to>
                                        <p:strVal val="visible"/>
                                      </p:to>
                                    </p:set>
                                    <p:animScale>
                                      <p:cBhvr>
                                        <p:cTn id="7" dur="15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500" decel="50000" fill="hold">
                                          <p:stCondLst>
                                            <p:cond delay="0"/>
                                          </p:stCondLst>
                                        </p:cTn>
                                        <p:tgtEl>
                                          <p:spTgt spid="23"/>
                                        </p:tgtEl>
                                        <p:attrNameLst>
                                          <p:attrName>ppt_x</p:attrName>
                                          <p:attrName>ppt_y</p:attrName>
                                        </p:attrNameLst>
                                      </p:cBhvr>
                                    </p:animMotion>
                                    <p:animEffect transition="in" filter="fade">
                                      <p:cBhvr>
                                        <p:cTn id="9" dur="1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p="http://schemas.openxmlformats.org/presentationml/2006/main">
  <p:tag name="KSO_WM_UNIT_PLACING_PICTURE_USER_VIEWPORT" val="{&quot;height&quot;:3120,&quot;width&quot;:3183}"/>
</p:tagLst>
</file>

<file path=ppt/tags/tag2.xml><?xml version="1.0" encoding="utf-8"?>
<p:tagLst xmlns:p="http://schemas.openxmlformats.org/presentationml/2006/main">
  <p:tag name="commondata" val="eyJoZGlkIjoiN2M3ZjA1YmVjZmY1YzBmYjc3NTczZWMyYWYzNGE4MTcifQ=="/>
</p:tagLst>
</file>

<file path=ppt/theme/theme1.xml><?xml version="1.0" encoding="utf-8"?>
<a:theme xmlns:a="http://schemas.openxmlformats.org/drawingml/2006/main" name="111">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4822</Words>
  <Application>WPS 演示</Application>
  <PresentationFormat>宽屏</PresentationFormat>
  <Paragraphs>551</Paragraphs>
  <Slides>62</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170</vt:i4>
      </vt:variant>
      <vt:variant>
        <vt:lpstr>幻灯片标题</vt:lpstr>
      </vt:variant>
      <vt:variant>
        <vt:i4>62</vt:i4>
      </vt:variant>
    </vt:vector>
  </HeadingPairs>
  <TitlesOfParts>
    <vt:vector size="247" baseType="lpstr">
      <vt:lpstr>Arial</vt:lpstr>
      <vt:lpstr>宋体</vt:lpstr>
      <vt:lpstr>Wingdings</vt:lpstr>
      <vt:lpstr>Times New Roman</vt:lpstr>
      <vt:lpstr>微软雅黑</vt:lpstr>
      <vt:lpstr>Kartika</vt:lpstr>
      <vt:lpstr>DejaVu Math TeX Gyre</vt:lpstr>
      <vt:lpstr>等线</vt:lpstr>
      <vt:lpstr>Times</vt:lpstr>
      <vt:lpstr>Calibri</vt:lpstr>
      <vt:lpstr>Cambria Math</vt:lpstr>
      <vt:lpstr>Arial Unicode MS</vt:lpstr>
      <vt:lpstr>等线 Light</vt:lpstr>
      <vt:lpstr>Calibri Light</vt:lpstr>
      <vt:lpstr>111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Equation.DSMT4</vt:lpstr>
      <vt:lpstr>Equation.DSMT4</vt:lpstr>
      <vt:lpstr>Equation.3</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哈理工概率论与数理统计课题组</dc:creator>
  <cp:lastModifiedBy>eye</cp:lastModifiedBy>
  <cp:revision>517</cp:revision>
  <cp:lastPrinted>2020-03-18T15:54:00Z</cp:lastPrinted>
  <dcterms:created xsi:type="dcterms:W3CDTF">2020-03-18T15:54:00Z</dcterms:created>
  <dcterms:modified xsi:type="dcterms:W3CDTF">2026-04-21T14:25:22Z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D10F2E5F36CA4B049FF82BD133C8F23D_13</vt:lpwstr>
  </property>
</Properties>
</file>