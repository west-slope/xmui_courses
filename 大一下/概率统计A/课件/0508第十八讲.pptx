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9" r:id="rId3"/>
    <p:sldId id="524" r:id="rId5"/>
    <p:sldId id="325" r:id="rId6"/>
    <p:sldId id="570" r:id="rId7"/>
    <p:sldId id="314" r:id="rId8"/>
    <p:sldId id="378" r:id="rId9"/>
    <p:sldId id="256" r:id="rId10"/>
    <p:sldId id="526" r:id="rId11"/>
    <p:sldId id="381" r:id="rId12"/>
    <p:sldId id="293" r:id="rId13"/>
    <p:sldId id="284" r:id="rId14"/>
    <p:sldId id="374" r:id="rId15"/>
    <p:sldId id="294" r:id="rId16"/>
    <p:sldId id="263" r:id="rId17"/>
    <p:sldId id="317" r:id="rId18"/>
    <p:sldId id="379" r:id="rId19"/>
    <p:sldId id="264" r:id="rId20"/>
    <p:sldId id="375" r:id="rId21"/>
    <p:sldId id="281" r:id="rId22"/>
    <p:sldId id="265" r:id="rId23"/>
    <p:sldId id="525" r:id="rId24"/>
    <p:sldId id="623" r:id="rId25"/>
    <p:sldId id="618" r:id="rId26"/>
    <p:sldId id="619" r:id="rId27"/>
    <p:sldId id="620" r:id="rId28"/>
    <p:sldId id="621" r:id="rId29"/>
    <p:sldId id="622" r:id="rId30"/>
    <p:sldId id="380" r:id="rId31"/>
    <p:sldId id="266" r:id="rId32"/>
    <p:sldId id="382" r:id="rId33"/>
    <p:sldId id="315" r:id="rId34"/>
    <p:sldId id="316" r:id="rId35"/>
    <p:sldId id="376" r:id="rId36"/>
    <p:sldId id="377" r:id="rId37"/>
    <p:sldId id="312" r:id="rId38"/>
    <p:sldId id="332" r:id="rId39"/>
    <p:sldId id="500" r:id="rId40"/>
    <p:sldId id="501" r:id="rId41"/>
    <p:sldId id="502" r:id="rId42"/>
    <p:sldId id="503" r:id="rId43"/>
    <p:sldId id="504" r:id="rId44"/>
    <p:sldId id="505" r:id="rId45"/>
    <p:sldId id="506" r:id="rId46"/>
    <p:sldId id="507" r:id="rId47"/>
    <p:sldId id="508" r:id="rId48"/>
    <p:sldId id="509" r:id="rId49"/>
    <p:sldId id="510" r:id="rId50"/>
    <p:sldId id="511" r:id="rId51"/>
    <p:sldId id="512" r:id="rId52"/>
    <p:sldId id="513" r:id="rId53"/>
    <p:sldId id="514" r:id="rId54"/>
    <p:sldId id="515" r:id="rId55"/>
    <p:sldId id="276" r:id="rId56"/>
    <p:sldId id="616" r:id="rId57"/>
    <p:sldId id="617" r:id="rId58"/>
  </p:sldIdLst>
  <p:sldSz cx="12192000" cy="6858000"/>
  <p:notesSz cx="7099300" cy="10234295"/>
  <p:custDataLst>
    <p:tags r:id="rId6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ngsoft" initials="k"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7F7FBF"/>
    <a:srgbClr val="3366FF"/>
    <a:srgbClr val="FFFFFF"/>
    <a:srgbClr val="FF3300"/>
    <a:srgbClr val="99FF33"/>
    <a:srgbClr val="FFFF99"/>
    <a:srgbClr val="FF9900"/>
    <a:srgbClr val="00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671" autoAdjust="0"/>
    <p:restoredTop sz="96366" autoAdjust="0"/>
  </p:normalViewPr>
  <p:slideViewPr>
    <p:cSldViewPr showGuides="1">
      <p:cViewPr varScale="1">
        <p:scale>
          <a:sx n="114" d="100"/>
          <a:sy n="114" d="100"/>
        </p:scale>
        <p:origin x="492"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70" d="100"/>
        <a:sy n="170" d="100"/>
      </p:scale>
      <p:origin x="0" y="-29436"/>
    </p:cViewPr>
  </p:sorterViewPr>
  <p:notesViewPr>
    <p:cSldViewPr showGuides="1">
      <p:cViewPr varScale="1">
        <p:scale>
          <a:sx n="28" d="100"/>
          <a:sy n="28" d="100"/>
        </p:scale>
        <p:origin x="-1262" y="-7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6.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eyeonme\AppData\Local\Temp\Rar$DIa29124.41696\&#32467;&#26524;.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eyeonme\AppData\Local\Temp\Rar$DIa29124.41696\&#32467;&#26524;.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eyeonme\AppData\Local\Temp\Rar$DIa29124.41696\&#32467;&#26524;.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eyeonme\AppData\Local\Temp\Rar$DIa29124.41696\&#32467;&#2652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p>
      </c:txPr>
    </c:title>
    <c:autoTitleDeleted val="0"/>
    <c:plotArea>
      <c:layout/>
      <c:scatterChart>
        <c:scatterStyle val="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xVal>
            <c:numRef>
              <c:f>[结果.xlsx]Sheet1!$B$3:$B$13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[结果.xlsx]Sheet1!$D$3:$D$13</c:f>
              <c:numCache>
                <c:formatCode>General</c:formatCode>
                <c:ptCount val="11"/>
                <c:pt idx="0">
                  <c:v>0.01</c:v>
                </c:pt>
                <c:pt idx="1">
                  <c:v>0.01</c:v>
                </c:pt>
                <c:pt idx="2">
                  <c:v>0.02</c:v>
                </c:pt>
                <c:pt idx="3">
                  <c:v>0.07</c:v>
                </c:pt>
                <c:pt idx="4">
                  <c:v>0.16</c:v>
                </c:pt>
                <c:pt idx="5">
                  <c:v>0.22</c:v>
                </c:pt>
                <c:pt idx="6">
                  <c:v>0.25</c:v>
                </c:pt>
                <c:pt idx="7">
                  <c:v>0.18</c:v>
                </c:pt>
                <c:pt idx="8">
                  <c:v>0.07</c:v>
                </c:pt>
                <c:pt idx="9">
                  <c:v>0.01</c:v>
                </c:pt>
                <c:pt idx="10">
                  <c:v>0</c:v>
                </c:pt>
              </c:numCache>
            </c:numRef>
          </c:yVal>
          <c:smooth val="0"/>
        </c:ser>
        <c:dLbls>
          <c:showLegendKey val="0"/>
          <c:showVal val="0"/>
          <c:showCatName val="0"/>
          <c:showSerName val="0"/>
          <c:showPercent val="0"/>
          <c:showBubbleSize val="0"/>
        </c:dLbls>
        <c:axId val="731666991"/>
        <c:axId val="634885071"/>
      </c:scatterChart>
      <c:valAx>
        <c:axId val="731666991"/>
        <c:scaling>
          <c:orientation val="minMax"/>
          <c:max val="10"/>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altLang="en-US"/>
                  <a:t>正面朝上次数</a:t>
                </a:r>
                <a:endParaRPr lang="en-US" altLang="zh-CN"/>
              </a:p>
            </c:rich>
          </c:tx>
          <c:layout>
            <c:manualLayout>
              <c:xMode val="edge"/>
              <c:yMode val="edge"/>
              <c:x val="0.466289473684211"/>
              <c:y val="0.775231481481481"/>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34885071"/>
        <c:crosses val="autoZero"/>
        <c:crossBetween val="midCat"/>
        <c:majorUnit val="1"/>
      </c:valAx>
      <c:valAx>
        <c:axId val="634885071"/>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t>频率</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31666991"/>
        <c:crosses val="autoZero"/>
        <c:crossBetween val="midCat"/>
      </c:valAx>
      <c:spPr>
        <a:noFill/>
        <a:ln w="9525" cap="flat" cmpd="sng" algn="ctr">
          <a:solidFill>
            <a:schemeClr val="tx1">
              <a:lumMod val="15000"/>
              <a:lumOff val="85000"/>
            </a:schemeClr>
          </a:solidFill>
          <a:round/>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3d2d4b03-994d-4484-b3c8-a0e405d96952}"/>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p>
      </c:txPr>
    </c:title>
    <c:autoTitleDeleted val="0"/>
    <c:plotArea>
      <c:layout>
        <c:manualLayout>
          <c:layoutTarget val="inner"/>
          <c:xMode val="edge"/>
          <c:yMode val="edge"/>
          <c:x val="0.131526315789474"/>
          <c:y val="0.181018518518519"/>
          <c:w val="0.839526315789474"/>
          <c:h val="0.510046296296296"/>
        </c:manualLayout>
      </c:layout>
      <c:scatterChart>
        <c:scatterStyle val="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xVal>
            <c:numRef>
              <c:f>[结果.xlsx]Sheet1!$B$42:$B$52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[结果.xlsx]Sheet1!$D$42:$D$52</c:f>
              <c:numCache>
                <c:formatCode>General</c:formatCode>
                <c:ptCount val="11"/>
                <c:pt idx="0">
                  <c:v>0.0018</c:v>
                </c:pt>
                <c:pt idx="1">
                  <c:v>0.0092</c:v>
                </c:pt>
                <c:pt idx="2">
                  <c:v>0.0398</c:v>
                </c:pt>
                <c:pt idx="3">
                  <c:v>0.1184</c:v>
                </c:pt>
                <c:pt idx="4">
                  <c:v>0.2132</c:v>
                </c:pt>
                <c:pt idx="5">
                  <c:v>0.2434</c:v>
                </c:pt>
                <c:pt idx="6">
                  <c:v>0.2038</c:v>
                </c:pt>
                <c:pt idx="7">
                  <c:v>0.1124</c:v>
                </c:pt>
                <c:pt idx="8">
                  <c:v>0.0484</c:v>
                </c:pt>
                <c:pt idx="9">
                  <c:v>0.009</c:v>
                </c:pt>
                <c:pt idx="10">
                  <c:v>0.0006</c:v>
                </c:pt>
              </c:numCache>
            </c:numRef>
          </c:yVal>
          <c:smooth val="0"/>
        </c:ser>
        <c:dLbls>
          <c:showLegendKey val="0"/>
          <c:showVal val="0"/>
          <c:showCatName val="0"/>
          <c:showSerName val="0"/>
          <c:showPercent val="0"/>
          <c:showBubbleSize val="0"/>
        </c:dLbls>
        <c:axId val="731666991"/>
        <c:axId val="634885071"/>
      </c:scatterChart>
      <c:valAx>
        <c:axId val="731666991"/>
        <c:scaling>
          <c:orientation val="minMax"/>
          <c:max val="10"/>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altLang="en-US"/>
                  <a:t>正面朝上次数</a:t>
                </a:r>
                <a:endParaRPr lang="en-US" altLang="zh-CN"/>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34885071"/>
        <c:crosses val="autoZero"/>
        <c:crossBetween val="midCat"/>
        <c:majorUnit val="1"/>
      </c:valAx>
      <c:valAx>
        <c:axId val="634885071"/>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t>频率</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31666991"/>
        <c:crosses val="autoZero"/>
        <c:crossBetween val="midCat"/>
      </c:valAx>
      <c:spPr>
        <a:noFill/>
        <a:ln w="9525" cap="flat" cmpd="sng" algn="ctr">
          <a:solidFill>
            <a:schemeClr val="tx1">
              <a:lumMod val="15000"/>
              <a:lumOff val="85000"/>
            </a:schemeClr>
          </a:solidFill>
          <a:round/>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bfb111a-a959-4783-81b7-f250c789edd4}"/>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p>
      </c:txPr>
    </c:title>
    <c:autoTitleDeleted val="0"/>
    <c:plotArea>
      <c:layout>
        <c:manualLayout>
          <c:layoutTarget val="inner"/>
          <c:xMode val="edge"/>
          <c:yMode val="edge"/>
          <c:x val="0.131526315789474"/>
          <c:y val="0.181018518518519"/>
          <c:w val="0.839526315789474"/>
          <c:h val="0.510046296296296"/>
        </c:manualLayout>
      </c:layout>
      <c:scatterChart>
        <c:scatterStyle val="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xVal>
            <c:numRef>
              <c:f>[结果.xlsx]Sheet1!$B$21:$B$31</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[结果.xlsx]Sheet1!$D$21:$D$31</c:f>
              <c:numCache>
                <c:formatCode>General</c:formatCode>
                <c:ptCount val="11"/>
                <c:pt idx="0">
                  <c:v>0.002</c:v>
                </c:pt>
                <c:pt idx="1">
                  <c:v>0.011</c:v>
                </c:pt>
                <c:pt idx="2">
                  <c:v>0.052</c:v>
                </c:pt>
                <c:pt idx="3">
                  <c:v>0.111</c:v>
                </c:pt>
                <c:pt idx="4">
                  <c:v>0.211</c:v>
                </c:pt>
                <c:pt idx="5">
                  <c:v>0.233</c:v>
                </c:pt>
                <c:pt idx="6">
                  <c:v>0.214</c:v>
                </c:pt>
                <c:pt idx="7">
                  <c:v>0.1</c:v>
                </c:pt>
                <c:pt idx="8">
                  <c:v>0.052</c:v>
                </c:pt>
                <c:pt idx="9">
                  <c:v>0.01</c:v>
                </c:pt>
                <c:pt idx="10">
                  <c:v>0.004</c:v>
                </c:pt>
              </c:numCache>
            </c:numRef>
          </c:yVal>
          <c:smooth val="0"/>
        </c:ser>
        <c:dLbls>
          <c:showLegendKey val="0"/>
          <c:showVal val="0"/>
          <c:showCatName val="0"/>
          <c:showSerName val="0"/>
          <c:showPercent val="0"/>
          <c:showBubbleSize val="0"/>
        </c:dLbls>
        <c:axId val="731666991"/>
        <c:axId val="634885071"/>
      </c:scatterChart>
      <c:valAx>
        <c:axId val="731666991"/>
        <c:scaling>
          <c:orientation val="minMax"/>
          <c:max val="10"/>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altLang="en-US"/>
                  <a:t>正面朝上次数</a:t>
                </a:r>
                <a:endParaRPr lang="en-US" altLang="zh-CN"/>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34885071"/>
        <c:crosses val="autoZero"/>
        <c:crossBetween val="midCat"/>
        <c:majorUnit val="1"/>
      </c:valAx>
      <c:valAx>
        <c:axId val="634885071"/>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t>频率</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31666991"/>
        <c:crosses val="autoZero"/>
        <c:crossBetween val="midCat"/>
      </c:valAx>
      <c:spPr>
        <a:noFill/>
        <a:ln w="9525" cap="flat" cmpd="sng" algn="ctr">
          <a:solidFill>
            <a:schemeClr val="tx1">
              <a:lumMod val="15000"/>
              <a:lumOff val="85000"/>
            </a:schemeClr>
          </a:solidFill>
          <a:round/>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c5e56dc2-8ebd-4297-838c-e281ffb6c29b}"/>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1" i="0" u="none" strike="noStrike" kern="1200" baseline="0">
              <a:solidFill>
                <a:schemeClr val="tx1">
                  <a:lumMod val="75000"/>
                  <a:lumOff val="25000"/>
                </a:schemeClr>
              </a:solidFill>
              <a:latin typeface="+mn-lt"/>
              <a:ea typeface="+mn-ea"/>
              <a:cs typeface="+mn-cs"/>
            </a:defRPr>
          </a:pPr>
        </a:p>
      </c:txPr>
    </c:title>
    <c:autoTitleDeleted val="0"/>
    <c:plotArea>
      <c:layout>
        <c:manualLayout>
          <c:layoutTarget val="inner"/>
          <c:xMode val="edge"/>
          <c:yMode val="edge"/>
          <c:x val="0.131526315789474"/>
          <c:y val="0.181018518518519"/>
          <c:w val="0.839526315789474"/>
          <c:h val="0.510046296296296"/>
        </c:manualLayout>
      </c:layout>
      <c:scatterChart>
        <c:scatterStyle val="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xVal>
            <c:numRef>
              <c:f>[结果.xlsx]Sheet1!$B$64:$B$74</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[结果.xlsx]Sheet1!$D$64:$D$74</c:f>
              <c:numCache>
                <c:formatCode>General</c:formatCode>
                <c:ptCount val="11"/>
                <c:pt idx="0">
                  <c:v>0.00068</c:v>
                </c:pt>
                <c:pt idx="1">
                  <c:v>0.01052</c:v>
                </c:pt>
                <c:pt idx="2">
                  <c:v>0.04352</c:v>
                </c:pt>
                <c:pt idx="3">
                  <c:v>0.11618</c:v>
                </c:pt>
                <c:pt idx="4">
                  <c:v>0.20452</c:v>
                </c:pt>
                <c:pt idx="5">
                  <c:v>0.24564</c:v>
                </c:pt>
                <c:pt idx="6">
                  <c:v>0.20598</c:v>
                </c:pt>
                <c:pt idx="7">
                  <c:v>0.11692</c:v>
                </c:pt>
                <c:pt idx="8">
                  <c:v>0.04488</c:v>
                </c:pt>
                <c:pt idx="9">
                  <c:v>0.01002</c:v>
                </c:pt>
                <c:pt idx="10">
                  <c:v>0.00114</c:v>
                </c:pt>
              </c:numCache>
            </c:numRef>
          </c:yVal>
          <c:smooth val="0"/>
        </c:ser>
        <c:dLbls>
          <c:showLegendKey val="0"/>
          <c:showVal val="0"/>
          <c:showCatName val="0"/>
          <c:showSerName val="0"/>
          <c:showPercent val="0"/>
          <c:showBubbleSize val="0"/>
        </c:dLbls>
        <c:axId val="731666991"/>
        <c:axId val="634885071"/>
      </c:scatterChart>
      <c:valAx>
        <c:axId val="731666991"/>
        <c:scaling>
          <c:orientation val="minMax"/>
          <c:max val="10"/>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altLang="en-US"/>
                  <a:t>正面朝上次数</a:t>
                </a:r>
                <a:endParaRPr lang="en-US" altLang="zh-CN"/>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34885071"/>
        <c:crosses val="autoZero"/>
        <c:crossBetween val="midCat"/>
        <c:majorUnit val="1"/>
      </c:valAx>
      <c:valAx>
        <c:axId val="634885071"/>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t>频率</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31666991"/>
        <c:crosses val="autoZero"/>
        <c:crossBetween val="midCat"/>
      </c:valAx>
      <c:spPr>
        <a:noFill/>
        <a:ln w="9525" cap="flat" cmpd="sng" algn="ctr">
          <a:solidFill>
            <a:schemeClr val="tx1">
              <a:lumMod val="15000"/>
              <a:lumOff val="85000"/>
            </a:schemeClr>
          </a:solidFill>
          <a:round/>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f9c0d9ce-e222-4a54-ba02-28e73eba1f04}"/>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4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1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63.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74.wmf"/><Relationship Id="rId7" Type="http://schemas.openxmlformats.org/officeDocument/2006/relationships/image" Target="../media/image73.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10.wmf"/><Relationship Id="rId2" Type="http://schemas.openxmlformats.org/officeDocument/2006/relationships/image" Target="../media/image69.wmf"/><Relationship Id="rId1" Type="http://schemas.openxmlformats.org/officeDocument/2006/relationships/image" Target="../media/image40.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10.wmf"/><Relationship Id="rId1" Type="http://schemas.openxmlformats.org/officeDocument/2006/relationships/image" Target="../media/image75.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76.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1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23.vml.rels><?xml version="1.0" encoding="UTF-8" standalone="yes"?>
<Relationships xmlns="http://schemas.openxmlformats.org/package/2006/relationships"><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91.wmf"/><Relationship Id="rId3" Type="http://schemas.openxmlformats.org/officeDocument/2006/relationships/image" Target="../media/image90.wmf"/><Relationship Id="rId2" Type="http://schemas.openxmlformats.org/officeDocument/2006/relationships/image" Target="../media/image10.wmf"/><Relationship Id="rId1" Type="http://schemas.openxmlformats.org/officeDocument/2006/relationships/image" Target="../media/image8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2.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98.wmf"/><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l" eaLnBrk="1" hangingPunct="1">
              <a:defRPr sz="1300"/>
            </a:lvl1pPr>
          </a:lstStyle>
          <a:p>
            <a:pPr>
              <a:defRPr/>
            </a:pPr>
            <a:endParaRPr lang="en-US" altLang="zh-CN"/>
          </a:p>
        </p:txBody>
      </p:sp>
      <p:sp>
        <p:nvSpPr>
          <p:cNvPr id="21507" name="Rectangle 3"/>
          <p:cNvSpPr>
            <a:spLocks noGrp="1" noChangeArrowheads="1"/>
          </p:cNvSpPr>
          <p:nvPr>
            <p:ph type="dt" idx="1"/>
          </p:nvPr>
        </p:nvSpPr>
        <p:spPr bwMode="auto">
          <a:xfrm>
            <a:off x="4022937"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eaLnBrk="1" hangingPunct="1">
              <a:defRPr sz="13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9" name="Rectangle 5"/>
          <p:cNvSpPr>
            <a:spLocks noGrp="1" noChangeArrowheads="1"/>
          </p:cNvSpPr>
          <p:nvPr>
            <p:ph type="body" sz="quarter" idx="3"/>
          </p:nvPr>
        </p:nvSpPr>
        <p:spPr bwMode="auto">
          <a:xfrm>
            <a:off x="946574" y="4861441"/>
            <a:ext cx="5206153"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1510" name="Rectangle 6"/>
          <p:cNvSpPr>
            <a:spLocks noGrp="1" noChangeArrowheads="1"/>
          </p:cNvSpPr>
          <p:nvPr>
            <p:ph type="ftr" sz="quarter" idx="4"/>
          </p:nvPr>
        </p:nvSpPr>
        <p:spPr bwMode="auto">
          <a:xfrm>
            <a:off x="0"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l" eaLnBrk="1" hangingPunct="1">
              <a:defRPr sz="1300"/>
            </a:lvl1pPr>
          </a:lstStyle>
          <a:p>
            <a:pPr>
              <a:defRPr/>
            </a:pPr>
            <a:endParaRPr lang="en-US" altLang="zh-CN"/>
          </a:p>
        </p:txBody>
      </p:sp>
      <p:sp>
        <p:nvSpPr>
          <p:cNvPr id="21511" name="Rectangle 7"/>
          <p:cNvSpPr>
            <a:spLocks noGrp="1" noChangeArrowheads="1"/>
          </p:cNvSpPr>
          <p:nvPr>
            <p:ph type="sldNum" sz="quarter" idx="5"/>
          </p:nvPr>
        </p:nvSpPr>
        <p:spPr bwMode="auto">
          <a:xfrm>
            <a:off x="4022937"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eaLnBrk="1" hangingPunct="1">
              <a:defRPr sz="1300"/>
            </a:lvl1pPr>
          </a:lstStyle>
          <a:p>
            <a:pPr>
              <a:defRPr/>
            </a:pPr>
            <a:fld id="{15885289-4832-46C1-B355-6FB86A8D593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F32AC2-5CA0-41E2-900C-4A9051C0A65C}"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同学们好，这一讲，我们来讨论一下大数定律</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概率论历史上第一个极限定理属于伯努利，后人称之为“大数定律”。</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概率论中讨论随机变量序列的算术平均值向随机变量各数学期望的算术平均值收敛的定律。</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在随机事件的大量重复出现中，往往呈现几乎必然的规律，这个规律就是大数定律。</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通俗地说，这个定理就是，在试验不变的条件下，重复试验多次，随机事件的频率近似于它的概率。偶然中包含着某种必然。</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zh-CN" altLang="en-US" dirty="0"/>
              <a:t>大数定律研究的是随机现象统计规律性的一类定理，</a:t>
            </a:r>
            <a:endParaRPr lang="en-US" altLang="zh-CN" dirty="0"/>
          </a:p>
          <a:p>
            <a:r>
              <a:rPr lang="zh-CN" altLang="en-US" dirty="0"/>
              <a:t>当我们大量重复某一相同的实验的时候，其最后的实验结果可能会稳定在某一数值附近。</a:t>
            </a:r>
            <a:endParaRPr lang="en-US" altLang="zh-CN" dirty="0"/>
          </a:p>
          <a:p>
            <a:r>
              <a:rPr lang="zh-CN" altLang="en-US" dirty="0"/>
              <a:t>就像抛硬币一样，当我们不断地抛，抛个上千次，甚至上万次，我们会发现，正面或者反面向上的次数都会接近一半。</a:t>
            </a:r>
            <a:endParaRPr lang="en-US" altLang="zh-CN" dirty="0"/>
          </a:p>
          <a:p>
            <a:r>
              <a:rPr lang="zh-CN" altLang="en-US" dirty="0"/>
              <a:t>除了抛硬币，现实中还有许许多多这样的例子</a:t>
            </a:r>
            <a:endParaRPr lang="en-US" altLang="zh-CN" dirty="0"/>
          </a:p>
          <a:p>
            <a:r>
              <a:rPr lang="zh-CN" altLang="en-US" dirty="0"/>
              <a:t>这些实验都像我们传达了一个共同的信息，那就是大量重复实验最终的结果都会比较稳定。</a:t>
            </a:r>
            <a:endParaRPr lang="en-US" altLang="zh-CN" dirty="0"/>
          </a:p>
          <a:p>
            <a:r>
              <a:rPr lang="zh-CN" altLang="en-US" dirty="0"/>
              <a:t>那稳定性到底是什么？怎样去用数学语言把它表达出来？</a:t>
            </a:r>
            <a:endParaRPr lang="en-US" altLang="zh-CN" dirty="0"/>
          </a:p>
          <a:p>
            <a:r>
              <a:rPr lang="zh-CN" altLang="en-US" dirty="0"/>
              <a:t>这其中会不会有某种规律性？是必然的还是偶然的？</a:t>
            </a:r>
            <a:endParaRPr lang="en-US" altLang="zh-CN" dirty="0"/>
          </a:p>
          <a:p>
            <a:endParaRPr lang="en-US" altLang="zh-CN" dirty="0"/>
          </a:p>
          <a:p>
            <a:r>
              <a:rPr lang="zh-CN" altLang="en-US" dirty="0"/>
              <a:t>大数定律</a:t>
            </a:r>
            <a:r>
              <a:rPr lang="en-US" altLang="zh-CN" dirty="0"/>
              <a:t>(law of large numbers)</a:t>
            </a:r>
            <a:r>
              <a:rPr lang="zh-CN" altLang="en-US" dirty="0"/>
              <a:t>，就是一种描述当试验次数很大时所呈现的概率性质的定律。</a:t>
            </a:r>
            <a:endParaRPr lang="en-US" altLang="zh-CN" dirty="0"/>
          </a:p>
          <a:p>
            <a:r>
              <a:rPr lang="zh-CN" altLang="en-US" dirty="0"/>
              <a:t>但是注意到，大数定律并不是经验规律，而是在一些附加条件上经严格证明了的定理，它是一种自然规律因而通常不叫定理而是大数“定律”。</a:t>
            </a:r>
            <a:endParaRPr lang="en-US" altLang="zh-CN" dirty="0"/>
          </a:p>
          <a:p>
            <a:r>
              <a:rPr lang="zh-CN" altLang="en-US" dirty="0"/>
              <a:t>而我们说的大数定理通常是经数学家证明并以数学家名字命名的大数定理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EFDA001-D39D-4536-B5A8-AAA8093AD8B3}"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概率论历史上第一个极限定理属于伯努利，后人称之为“大数定律”。</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概率论中讨论随机变量序列的算术平均值向随机变量各数学期望的算术平均值收敛的定律。</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在随机事件的大量重复出现中，往往呈现几乎必然的规律，这个规律就是大数定律。</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我们首先介绍一个大数定律，称为切比雪夫大数定律</a:t>
            </a:r>
            <a:endParaRPr lang="en-US" altLang="zh-CN" dirty="0"/>
          </a:p>
          <a:p>
            <a:r>
              <a:rPr lang="zh-CN" altLang="en-US" dirty="0"/>
              <a:t>它是由切比雪夫定理推导出来的</a:t>
            </a:r>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EFDA001-D39D-4536-B5A8-AAA8093AD8B3}"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我们首先介绍一个大数定律，称为切比雪夫大数定律</a:t>
            </a:r>
            <a:endParaRPr lang="en-US" altLang="zh-CN" dirty="0"/>
          </a:p>
          <a:p>
            <a:r>
              <a:rPr lang="zh-CN" altLang="en-US" dirty="0"/>
              <a:t>它是由切比雪夫定理推导出来的</a:t>
            </a:r>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EFDA001-D39D-4536-B5A8-AAA8093AD8B3}"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该公式应用于抽样调查，就会有如下结论：随着样本容量</a:t>
            </a:r>
            <a:r>
              <a:rPr lang="en-US" altLang="zh-CN" dirty="0"/>
              <a:t>n</a:t>
            </a:r>
            <a:r>
              <a:rPr lang="zh-CN" altLang="en-US" dirty="0"/>
              <a:t>的增加，样本平均数将接近于总体平均数。从而为统计推断中依据样本平均数估计总体平均数提供了理论依据。</a:t>
            </a:r>
            <a:endParaRPr lang="zh-CN" altLang="en-US" dirty="0"/>
          </a:p>
          <a:p>
            <a:r>
              <a:rPr lang="zh-CN" altLang="en-US" dirty="0"/>
              <a:t>特别需要注意的是，切比雪夫大数定理并未要求 </a:t>
            </a:r>
            <a:r>
              <a:rPr lang="en-US" altLang="zh-CN" dirty="0"/>
              <a:t>x1,x2,…</a:t>
            </a:r>
            <a:r>
              <a:rPr lang="en-US" altLang="zh-CN" dirty="0" err="1"/>
              <a:t>xn</a:t>
            </a:r>
            <a:r>
              <a:rPr lang="zh-CN" altLang="en-US" dirty="0"/>
              <a:t> 同分布，相较于后面介绍的伯努利大数定律和辛钦大数定律更具一般性 。</a:t>
            </a:r>
            <a:endParaRPr lang="zh-CN" altLang="en-US" dirty="0"/>
          </a:p>
        </p:txBody>
      </p:sp>
      <p:sp>
        <p:nvSpPr>
          <p:cNvPr id="4" name="灯片编号占位符 3"/>
          <p:cNvSpPr>
            <a:spLocks noGrp="1"/>
          </p:cNvSpPr>
          <p:nvPr>
            <p:ph type="sldNum" sz="quarter" idx="5"/>
          </p:nvPr>
        </p:nvSpPr>
        <p:spPr/>
        <p:txBody>
          <a:bodyPr/>
          <a:lstStyle/>
          <a:p>
            <a:fld id="{3EFDA001-D39D-4536-B5A8-AAA8093AD8B3}"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接下来，我们介绍一下什么是依概率收敛</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接下来，我们介绍一下什么是依概率收敛</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接下来，我们介绍一下什么是依概率收敛</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BA6769-F23B-44FD-A440-267F7A20B61E}"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BA6769-F23B-44FD-A440-267F7A20B61E}"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29698" name="备注占位符 2"/>
          <p:cNvSpPr>
            <a:spLocks noGrp="1" noChangeArrowheads="1"/>
          </p:cNvSpPr>
          <p:nvPr>
            <p:ph type="body" idx="4294967295"/>
          </p:nvPr>
        </p:nvSpPr>
        <p:spPr/>
        <p:txBody>
          <a:bodyPr/>
          <a:lstStyle/>
          <a:p>
            <a:pPr eaLnBrk="1" hangingPunct="1">
              <a:spcBef>
                <a:spcPct val="0"/>
              </a:spcBef>
            </a:pPr>
            <a:endParaRPr lang="zh-CN" altLang="en-US"/>
          </a:p>
        </p:txBody>
      </p:sp>
      <p:sp>
        <p:nvSpPr>
          <p:cNvPr id="2969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sz="2400">
                <a:solidFill>
                  <a:schemeClr val="tx1"/>
                </a:solidFill>
                <a:latin typeface="Times New Roman" panose="02020603050405020304" pitchFamily="18" charset="0"/>
                <a:ea typeface="宋体" panose="02010600030101010101" pitchFamily="2" charset="-122"/>
              </a:defRPr>
            </a:lvl1pPr>
            <a:lvl2pPr eaLnBrk="0" hangingPunct="0">
              <a:defRPr sz="2400">
                <a:solidFill>
                  <a:schemeClr val="tx1"/>
                </a:solidFill>
                <a:latin typeface="Times New Roman" panose="02020603050405020304" pitchFamily="18" charset="0"/>
                <a:ea typeface="宋体" panose="02010600030101010101" pitchFamily="2" charset="-122"/>
              </a:defRPr>
            </a:lvl2pPr>
            <a:lvl3pPr eaLnBrk="0" hangingPunct="0">
              <a:defRPr sz="2400">
                <a:solidFill>
                  <a:schemeClr val="tx1"/>
                </a:solidFill>
                <a:latin typeface="Times New Roman" panose="02020603050405020304" pitchFamily="18" charset="0"/>
                <a:ea typeface="宋体" panose="02010600030101010101" pitchFamily="2" charset="-122"/>
              </a:defRPr>
            </a:lvl3pPr>
            <a:lvl4pPr eaLnBrk="0" hangingPunct="0">
              <a:defRPr sz="2400">
                <a:solidFill>
                  <a:schemeClr val="tx1"/>
                </a:solidFill>
                <a:latin typeface="Times New Roman" panose="02020603050405020304" pitchFamily="18" charset="0"/>
                <a:ea typeface="宋体" panose="02010600030101010101" pitchFamily="2" charset="-122"/>
              </a:defRPr>
            </a:lvl4pPr>
            <a:lvl5pPr eaLnBrk="0" hangingPunct="0">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pPr>
            <a:r>
              <a:rPr kumimoji="0" lang="zh-CN" altLang="en-US" sz="1200"/>
              <a:t>*</a:t>
            </a:r>
            <a:endParaRPr kumimoji="0"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hyperlink" Target="../&#27010;&#29575;&#35770;&#19982;&#25968;&#29702;&#32479;&#35745;&#20027;&#30028;&#38754;.PPT#-1,5,&#24187;&#28783;&#29255;%205" TargetMode="Externa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7" name="Oval 36">
            <a:hlinkClick r:id="rId12" action="ppaction://hlinkpres?slideindex=5&amp;slidetitle=幻灯片 5" highlightClick="1"/>
          </p:cNvPr>
          <p:cNvSpPr>
            <a:spLocks noChangeArrowheads="1"/>
          </p:cNvSpPr>
          <p:nvPr userDrawn="1"/>
        </p:nvSpPr>
        <p:spPr bwMode="auto">
          <a:xfrm>
            <a:off x="10369551" y="188914"/>
            <a:ext cx="1488016" cy="395287"/>
          </a:xfrm>
          <a:prstGeom prst="ellipse">
            <a:avLst/>
          </a:prstGeom>
          <a:gradFill rotWithShape="1">
            <a:gsLst>
              <a:gs pos="0">
                <a:srgbClr val="660033">
                  <a:alpha val="73000"/>
                </a:srgbClr>
              </a:gs>
              <a:gs pos="50000">
                <a:srgbClr val="33CCCC">
                  <a:alpha val="89000"/>
                </a:srgbClr>
              </a:gs>
              <a:gs pos="100000">
                <a:srgbClr val="660033">
                  <a:alpha val="73000"/>
                </a:srgbClr>
              </a:gs>
            </a:gsLst>
            <a:lin ang="5400000" scaled="1"/>
          </a:gradFill>
          <a:ln>
            <a:noFill/>
          </a:ln>
          <a:effectLst/>
          <a:scene3d>
            <a:camera prst="legacyObliqueRight"/>
            <a:lightRig rig="legacyFlat3" dir="b"/>
          </a:scene3d>
          <a:sp3d extrusionH="2016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zh-CN" altLang="en-US" sz="1800" b="1">
                <a:solidFill>
                  <a:srgbClr val="FFFF99"/>
                </a:solidFill>
              </a:rPr>
              <a:t>概率论 </a:t>
            </a:r>
            <a:endParaRPr lang="zh-CN" altLang="en-US" sz="2400">
              <a:solidFill>
                <a:srgbClr val="FFFF99"/>
              </a:solidFill>
            </a:endParaRPr>
          </a:p>
        </p:txBody>
      </p:sp>
      <p:grpSp>
        <p:nvGrpSpPr>
          <p:cNvPr id="8" name="Group 37"/>
          <p:cNvGrpSpPr/>
          <p:nvPr userDrawn="1"/>
        </p:nvGrpSpPr>
        <p:grpSpPr bwMode="auto">
          <a:xfrm>
            <a:off x="9408584" y="6346825"/>
            <a:ext cx="719667" cy="395288"/>
            <a:chOff x="4740" y="3453"/>
            <a:chExt cx="340" cy="249"/>
          </a:xfrm>
        </p:grpSpPr>
        <p:sp>
          <p:nvSpPr>
            <p:cNvPr id="9" name="Oval 38">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0" name="AutoShape 39">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1" name="Group 40"/>
          <p:cNvGrpSpPr/>
          <p:nvPr userDrawn="1"/>
        </p:nvGrpSpPr>
        <p:grpSpPr bwMode="auto">
          <a:xfrm>
            <a:off x="10369551" y="6346825"/>
            <a:ext cx="719667" cy="395288"/>
            <a:chOff x="5239" y="3453"/>
            <a:chExt cx="340" cy="249"/>
          </a:xfrm>
        </p:grpSpPr>
        <p:sp>
          <p:nvSpPr>
            <p:cNvPr id="12" name="Oval 41">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3" name="AutoShape 42">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4" name="Group 43"/>
          <p:cNvGrpSpPr/>
          <p:nvPr userDrawn="1"/>
        </p:nvGrpSpPr>
        <p:grpSpPr bwMode="auto">
          <a:xfrm>
            <a:off x="9408584" y="6346825"/>
            <a:ext cx="719667" cy="395288"/>
            <a:chOff x="4740" y="3453"/>
            <a:chExt cx="340" cy="249"/>
          </a:xfrm>
        </p:grpSpPr>
        <p:sp>
          <p:nvSpPr>
            <p:cNvPr id="15" name="Oval 44">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6" name="AutoShape 45">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7" name="Group 46"/>
          <p:cNvGrpSpPr/>
          <p:nvPr userDrawn="1"/>
        </p:nvGrpSpPr>
        <p:grpSpPr bwMode="auto">
          <a:xfrm>
            <a:off x="10369551" y="6346825"/>
            <a:ext cx="719667" cy="395288"/>
            <a:chOff x="5239" y="3453"/>
            <a:chExt cx="340" cy="249"/>
          </a:xfrm>
        </p:grpSpPr>
        <p:sp>
          <p:nvSpPr>
            <p:cNvPr id="18" name="Oval 47">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9" name="AutoShape 48">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20" name="Group 49"/>
          <p:cNvGrpSpPr/>
          <p:nvPr userDrawn="1"/>
        </p:nvGrpSpPr>
        <p:grpSpPr bwMode="auto">
          <a:xfrm>
            <a:off x="11233151" y="6346825"/>
            <a:ext cx="719667" cy="395288"/>
            <a:chOff x="5307" y="3998"/>
            <a:chExt cx="340" cy="249"/>
          </a:xfrm>
        </p:grpSpPr>
        <p:sp>
          <p:nvSpPr>
            <p:cNvPr id="21" name="Oval 50">
              <a:hlinkClick r:id="" action="ppaction://hlinkshowjump?jump=firstslide" highlightClick="1"/>
            </p:cNvPr>
            <p:cNvSpPr>
              <a:spLocks noChangeArrowheads="1"/>
            </p:cNvSpPr>
            <p:nvPr userDrawn="1"/>
          </p:nvSpPr>
          <p:spPr bwMode="auto">
            <a:xfrm rot="-5400000">
              <a:off x="5352" y="3953"/>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22" name="AutoShape 51">
              <a:hlinkClick r:id="" action="ppaction://hlinkshowjump?jump=firstslide"/>
            </p:cNvPr>
            <p:cNvSpPr>
              <a:spLocks noChangeArrowheads="1"/>
            </p:cNvSpPr>
            <p:nvPr userDrawn="1"/>
          </p:nvSpPr>
          <p:spPr bwMode="auto">
            <a:xfrm>
              <a:off x="5409" y="4021"/>
              <a:ext cx="136" cy="204"/>
            </a:xfrm>
            <a:prstGeom prst="upArrow">
              <a:avLst>
                <a:gd name="adj1" fmla="val 49676"/>
                <a:gd name="adj2" fmla="val 70979"/>
              </a:avLst>
            </a:prstGeom>
            <a:solidFill>
              <a:srgbClr val="660033"/>
            </a:soli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sp>
        <p:nvSpPr>
          <p:cNvPr id="23" name="矩形 22"/>
          <p:cNvSpPr/>
          <p:nvPr userDrawn="1"/>
        </p:nvSpPr>
        <p:spPr>
          <a:xfrm>
            <a:off x="0" y="0"/>
            <a:ext cx="12192000" cy="6858000"/>
          </a:xfrm>
          <a:prstGeom prst="rect">
            <a:avLst/>
          </a:prstGeom>
          <a:gradFill flip="none" rotWithShape="1">
            <a:gsLst>
              <a:gs pos="0">
                <a:srgbClr val="F5F5F5"/>
              </a:gs>
              <a:gs pos="73000">
                <a:srgbClr val="F3F3F3"/>
              </a:gs>
              <a:gs pos="100000">
                <a:srgbClr val="E2DEDF"/>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rtlCol="0" anchor="ctr"/>
          <a:lstStyle/>
          <a:p>
            <a:pPr algn="ctr" defTabSz="913765"/>
            <a:endParaRPr lang="zh-CN" altLang="en-US" sz="1865">
              <a:solidFill>
                <a:prstClr val="white"/>
              </a:solidFill>
            </a:endParaRPr>
          </a:p>
        </p:txBody>
      </p:sp>
      <p:pic>
        <p:nvPicPr>
          <p:cNvPr id="24" name="图片 2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414" y="0"/>
            <a:ext cx="12179586" cy="68595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emf"/><Relationship Id="rId1" Type="http://schemas.openxmlformats.org/officeDocument/2006/relationships/image" Target="../media/image5.emf"/></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10.wmf"/><Relationship Id="rId4" Type="http://schemas.openxmlformats.org/officeDocument/2006/relationships/oleObject" Target="../embeddings/oleObject1.bin"/><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emf"/><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emf"/></Relationships>
</file>

<file path=ppt/slides/_rels/slide9.x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oleObject" Target="../embeddings/oleObject7.bin"/><Relationship Id="rId7" Type="http://schemas.openxmlformats.org/officeDocument/2006/relationships/image" Target="../media/image20.wmf"/><Relationship Id="rId6" Type="http://schemas.openxmlformats.org/officeDocument/2006/relationships/oleObject" Target="../embeddings/oleObject6.bin"/><Relationship Id="rId5" Type="http://schemas.openxmlformats.org/officeDocument/2006/relationships/image" Target="../media/image19.wmf"/><Relationship Id="rId4" Type="http://schemas.openxmlformats.org/officeDocument/2006/relationships/oleObject" Target="../embeddings/oleObject5.bin"/><Relationship Id="rId3" Type="http://schemas.openxmlformats.org/officeDocument/2006/relationships/image" Target="../media/image18.wmf"/><Relationship Id="rId2" Type="http://schemas.openxmlformats.org/officeDocument/2006/relationships/oleObject" Target="../embeddings/oleObject4.bin"/><Relationship Id="rId12" Type="http://schemas.openxmlformats.org/officeDocument/2006/relationships/notesSlide" Target="../notesSlides/notesSlide6.xml"/><Relationship Id="rId11" Type="http://schemas.openxmlformats.org/officeDocument/2006/relationships/vmlDrawing" Target="../drawings/vmlDrawing3.vml"/><Relationship Id="rId10" Type="http://schemas.openxmlformats.org/officeDocument/2006/relationships/slideLayout" Target="../slideLayouts/slideLayout7.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25.wmf"/><Relationship Id="rId7" Type="http://schemas.openxmlformats.org/officeDocument/2006/relationships/oleObject" Target="../embeddings/oleObject11.bin"/><Relationship Id="rId6" Type="http://schemas.openxmlformats.org/officeDocument/2006/relationships/image" Target="../media/image24.wmf"/><Relationship Id="rId5" Type="http://schemas.openxmlformats.org/officeDocument/2006/relationships/oleObject" Target="../embeddings/oleObject10.bin"/><Relationship Id="rId4" Type="http://schemas.openxmlformats.org/officeDocument/2006/relationships/image" Target="../media/image23.wmf"/><Relationship Id="rId3" Type="http://schemas.openxmlformats.org/officeDocument/2006/relationships/oleObject" Target="../embeddings/oleObject9.bin"/><Relationship Id="rId2" Type="http://schemas.openxmlformats.org/officeDocument/2006/relationships/image" Target="../media/image22.wmf"/><Relationship Id="rId12" Type="http://schemas.openxmlformats.org/officeDocument/2006/relationships/vmlDrawing" Target="../drawings/vmlDrawing4.vml"/><Relationship Id="rId11" Type="http://schemas.openxmlformats.org/officeDocument/2006/relationships/slideLayout" Target="../slideLayouts/slideLayout7.xml"/><Relationship Id="rId10" Type="http://schemas.openxmlformats.org/officeDocument/2006/relationships/image" Target="../media/image26.wmf"/><Relationship Id="rId1"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0.wmf"/><Relationship Id="rId7" Type="http://schemas.openxmlformats.org/officeDocument/2006/relationships/oleObject" Target="../embeddings/oleObject16.bin"/><Relationship Id="rId6" Type="http://schemas.openxmlformats.org/officeDocument/2006/relationships/image" Target="../media/image29.wmf"/><Relationship Id="rId5" Type="http://schemas.openxmlformats.org/officeDocument/2006/relationships/oleObject" Target="../embeddings/oleObject15.bin"/><Relationship Id="rId4" Type="http://schemas.openxmlformats.org/officeDocument/2006/relationships/image" Target="../media/image28.wmf"/><Relationship Id="rId3" Type="http://schemas.openxmlformats.org/officeDocument/2006/relationships/oleObject" Target="../embeddings/oleObject14.bin"/><Relationship Id="rId2" Type="http://schemas.openxmlformats.org/officeDocument/2006/relationships/image" Target="../media/image27.wmf"/><Relationship Id="rId11" Type="http://schemas.openxmlformats.org/officeDocument/2006/relationships/notesSlide" Target="../notesSlides/notesSlide7.xml"/><Relationship Id="rId10" Type="http://schemas.openxmlformats.org/officeDocument/2006/relationships/vmlDrawing" Target="../drawings/vmlDrawing5.vml"/><Relationship Id="rId1" Type="http://schemas.openxmlformats.org/officeDocument/2006/relationships/oleObject" Target="../embeddings/oleObject13.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oleObject" Target="../embeddings/oleObject21.bin"/><Relationship Id="rId7" Type="http://schemas.openxmlformats.org/officeDocument/2006/relationships/image" Target="../media/image32.wmf"/><Relationship Id="rId6" Type="http://schemas.openxmlformats.org/officeDocument/2006/relationships/oleObject" Target="../embeddings/oleObject20.bin"/><Relationship Id="rId5" Type="http://schemas.openxmlformats.org/officeDocument/2006/relationships/image" Target="../media/image31.wmf"/><Relationship Id="rId4" Type="http://schemas.openxmlformats.org/officeDocument/2006/relationships/oleObject" Target="../embeddings/oleObject19.bin"/><Relationship Id="rId3" Type="http://schemas.openxmlformats.org/officeDocument/2006/relationships/oleObject" Target="../embeddings/oleObject18.bin"/><Relationship Id="rId2" Type="http://schemas.openxmlformats.org/officeDocument/2006/relationships/image" Target="../media/image10.wmf"/><Relationship Id="rId13" Type="http://schemas.openxmlformats.org/officeDocument/2006/relationships/vmlDrawing" Target="../drawings/vmlDrawing6.vml"/><Relationship Id="rId12" Type="http://schemas.openxmlformats.org/officeDocument/2006/relationships/slideLayout" Target="../slideLayouts/slideLayout7.xml"/><Relationship Id="rId11" Type="http://schemas.openxmlformats.org/officeDocument/2006/relationships/image" Target="../media/image34.wmf"/><Relationship Id="rId10" Type="http://schemas.openxmlformats.org/officeDocument/2006/relationships/oleObject" Target="../embeddings/oleObject22.bin"/><Relationship Id="rId1"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36.wmf"/><Relationship Id="rId3" Type="http://schemas.openxmlformats.org/officeDocument/2006/relationships/oleObject" Target="../embeddings/oleObject24.bin"/><Relationship Id="rId2" Type="http://schemas.openxmlformats.org/officeDocument/2006/relationships/image" Target="../media/image35.wmf"/><Relationship Id="rId1" Type="http://schemas.openxmlformats.org/officeDocument/2006/relationships/oleObject" Target="../embeddings/oleObject2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37.wmf"/><Relationship Id="rId1" Type="http://schemas.openxmlformats.org/officeDocument/2006/relationships/oleObject" Target="../embeddings/oleObject25.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image" Target="../media/image39.wmf"/><Relationship Id="rId2" Type="http://schemas.openxmlformats.org/officeDocument/2006/relationships/oleObject" Target="../embeddings/oleObject26.bin"/><Relationship Id="rId1" Type="http://schemas.openxmlformats.org/officeDocument/2006/relationships/image" Target="../media/image38.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8.jpeg"/><Relationship Id="rId7" Type="http://schemas.openxmlformats.org/officeDocument/2006/relationships/image" Target="../media/image42.wmf"/><Relationship Id="rId6" Type="http://schemas.openxmlformats.org/officeDocument/2006/relationships/oleObject" Target="../embeddings/oleObject30.bin"/><Relationship Id="rId5" Type="http://schemas.openxmlformats.org/officeDocument/2006/relationships/image" Target="../media/image41.wmf"/><Relationship Id="rId4" Type="http://schemas.openxmlformats.org/officeDocument/2006/relationships/oleObject" Target="../embeddings/oleObject29.bin"/><Relationship Id="rId3" Type="http://schemas.openxmlformats.org/officeDocument/2006/relationships/oleObject" Target="../embeddings/oleObject28.bin"/><Relationship Id="rId2" Type="http://schemas.openxmlformats.org/officeDocument/2006/relationships/image" Target="../media/image40.wmf"/><Relationship Id="rId10" Type="http://schemas.openxmlformats.org/officeDocument/2006/relationships/vmlDrawing" Target="../drawings/vmlDrawing10.vml"/><Relationship Id="rId1" Type="http://schemas.openxmlformats.org/officeDocument/2006/relationships/oleObject" Target="../embeddings/oleObject27.bin"/></Relationships>
</file>

<file path=ppt/slides/_rels/slide19.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7.xml"/><Relationship Id="rId7" Type="http://schemas.openxmlformats.org/officeDocument/2006/relationships/image" Target="../media/image38.jpeg"/><Relationship Id="rId6" Type="http://schemas.openxmlformats.org/officeDocument/2006/relationships/image" Target="../media/image44.png"/><Relationship Id="rId5" Type="http://schemas.openxmlformats.org/officeDocument/2006/relationships/image" Target="../media/image43.wmf"/><Relationship Id="rId4" Type="http://schemas.openxmlformats.org/officeDocument/2006/relationships/oleObject" Target="../embeddings/oleObject33.bin"/><Relationship Id="rId3" Type="http://schemas.openxmlformats.org/officeDocument/2006/relationships/oleObject" Target="../embeddings/oleObject32.bin"/><Relationship Id="rId2" Type="http://schemas.openxmlformats.org/officeDocument/2006/relationships/image" Target="../media/image40.wmf"/><Relationship Id="rId1" Type="http://schemas.openxmlformats.org/officeDocument/2006/relationships/oleObject" Target="../embeddings/oleObject31.bin"/></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47.wmf"/><Relationship Id="rId5" Type="http://schemas.openxmlformats.org/officeDocument/2006/relationships/oleObject" Target="../embeddings/oleObject36.bin"/><Relationship Id="rId4" Type="http://schemas.openxmlformats.org/officeDocument/2006/relationships/image" Target="../media/image46.wmf"/><Relationship Id="rId3" Type="http://schemas.openxmlformats.org/officeDocument/2006/relationships/oleObject" Target="../embeddings/oleObject35.bin"/><Relationship Id="rId2" Type="http://schemas.openxmlformats.org/officeDocument/2006/relationships/image" Target="../media/image45.wmf"/><Relationship Id="rId1" Type="http://schemas.openxmlformats.org/officeDocument/2006/relationships/oleObject" Target="../embeddings/oleObject34.bin"/></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hart" Target="../charts/chart2.xml"/><Relationship Id="rId1" Type="http://schemas.openxmlformats.org/officeDocument/2006/relationships/chart" Target="../charts/char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hart" Target="../charts/chart4.xml"/><Relationship Id="rId1" Type="http://schemas.openxmlformats.org/officeDocument/2006/relationships/chart" Target="../charts/char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7.xml"/><Relationship Id="rId3" Type="http://schemas.openxmlformats.org/officeDocument/2006/relationships/oleObject" Target="../embeddings/oleObject38.bin"/><Relationship Id="rId2" Type="http://schemas.openxmlformats.org/officeDocument/2006/relationships/image" Target="../media/image40.wmf"/><Relationship Id="rId1" Type="http://schemas.openxmlformats.org/officeDocument/2006/relationships/oleObject" Target="../embeddings/oleObject37.bin"/></Relationships>
</file>

<file path=ppt/slides/_rels/slide30.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7.xml"/><Relationship Id="rId6" Type="http://schemas.openxmlformats.org/officeDocument/2006/relationships/image" Target="../media/image52.jpeg"/><Relationship Id="rId5" Type="http://schemas.openxmlformats.org/officeDocument/2006/relationships/image" Target="../media/image51.wmf"/><Relationship Id="rId4" Type="http://schemas.openxmlformats.org/officeDocument/2006/relationships/oleObject" Target="../embeddings/oleObject41.bin"/><Relationship Id="rId3" Type="http://schemas.openxmlformats.org/officeDocument/2006/relationships/oleObject" Target="../embeddings/oleObject40.bin"/><Relationship Id="rId2" Type="http://schemas.openxmlformats.org/officeDocument/2006/relationships/image" Target="../media/image40.wmf"/><Relationship Id="rId1" Type="http://schemas.openxmlformats.org/officeDocument/2006/relationships/oleObject" Target="../embeddings/oleObject39.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54.wmf"/><Relationship Id="rId3" Type="http://schemas.openxmlformats.org/officeDocument/2006/relationships/oleObject" Target="../embeddings/oleObject43.bin"/><Relationship Id="rId2" Type="http://schemas.openxmlformats.org/officeDocument/2006/relationships/image" Target="../media/image10.wmf"/><Relationship Id="rId1" Type="http://schemas.openxmlformats.org/officeDocument/2006/relationships/oleObject" Target="../embeddings/oleObject42.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56.wmf"/><Relationship Id="rId3" Type="http://schemas.openxmlformats.org/officeDocument/2006/relationships/oleObject" Target="../embeddings/oleObject45.bin"/><Relationship Id="rId2" Type="http://schemas.openxmlformats.org/officeDocument/2006/relationships/image" Target="../media/image55.wmf"/><Relationship Id="rId1" Type="http://schemas.openxmlformats.org/officeDocument/2006/relationships/oleObject" Target="../embeddings/oleObject44.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60.wmf"/><Relationship Id="rId7" Type="http://schemas.openxmlformats.org/officeDocument/2006/relationships/oleObject" Target="../embeddings/oleObject49.bin"/><Relationship Id="rId6" Type="http://schemas.openxmlformats.org/officeDocument/2006/relationships/image" Target="../media/image59.wmf"/><Relationship Id="rId5" Type="http://schemas.openxmlformats.org/officeDocument/2006/relationships/oleObject" Target="../embeddings/oleObject48.bin"/><Relationship Id="rId4" Type="http://schemas.openxmlformats.org/officeDocument/2006/relationships/image" Target="../media/image58.wmf"/><Relationship Id="rId3" Type="http://schemas.openxmlformats.org/officeDocument/2006/relationships/oleObject" Target="../embeddings/oleObject47.bin"/><Relationship Id="rId2" Type="http://schemas.openxmlformats.org/officeDocument/2006/relationships/image" Target="../media/image57.wmf"/><Relationship Id="rId16" Type="http://schemas.openxmlformats.org/officeDocument/2006/relationships/vmlDrawing" Target="../drawings/vmlDrawing17.vml"/><Relationship Id="rId15" Type="http://schemas.openxmlformats.org/officeDocument/2006/relationships/slideLayout" Target="../slideLayouts/slideLayout7.xml"/><Relationship Id="rId14" Type="http://schemas.openxmlformats.org/officeDocument/2006/relationships/image" Target="../media/image63.wmf"/><Relationship Id="rId13" Type="http://schemas.openxmlformats.org/officeDocument/2006/relationships/oleObject" Target="../embeddings/oleObject52.bin"/><Relationship Id="rId12" Type="http://schemas.openxmlformats.org/officeDocument/2006/relationships/image" Target="../media/image62.wmf"/><Relationship Id="rId11" Type="http://schemas.openxmlformats.org/officeDocument/2006/relationships/oleObject" Target="../embeddings/oleObject51.bin"/><Relationship Id="rId10" Type="http://schemas.openxmlformats.org/officeDocument/2006/relationships/image" Target="../media/image61.wmf"/><Relationship Id="rId1" Type="http://schemas.openxmlformats.org/officeDocument/2006/relationships/oleObject" Target="../embeddings/oleObject46.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65.jpeg"/><Relationship Id="rId1" Type="http://schemas.openxmlformats.org/officeDocument/2006/relationships/image" Target="../media/image6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jpeg"/></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7.xml"/><Relationship Id="rId4" Type="http://schemas.openxmlformats.org/officeDocument/2006/relationships/image" Target="../media/image68.wmf"/><Relationship Id="rId3" Type="http://schemas.openxmlformats.org/officeDocument/2006/relationships/oleObject" Target="../embeddings/oleObject54.bin"/><Relationship Id="rId2" Type="http://schemas.openxmlformats.org/officeDocument/2006/relationships/image" Target="../media/image67.wmf"/><Relationship Id="rId1" Type="http://schemas.openxmlformats.org/officeDocument/2006/relationships/oleObject" Target="../embeddings/oleObject53.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9" Type="http://schemas.openxmlformats.org/officeDocument/2006/relationships/image" Target="../media/image70.wmf"/><Relationship Id="rId8" Type="http://schemas.openxmlformats.org/officeDocument/2006/relationships/oleObject" Target="../embeddings/oleObject59.bin"/><Relationship Id="rId7" Type="http://schemas.openxmlformats.org/officeDocument/2006/relationships/image" Target="../media/image10.wmf"/><Relationship Id="rId6" Type="http://schemas.openxmlformats.org/officeDocument/2006/relationships/oleObject" Target="../embeddings/oleObject58.bin"/><Relationship Id="rId5" Type="http://schemas.openxmlformats.org/officeDocument/2006/relationships/image" Target="../media/image69.wmf"/><Relationship Id="rId4" Type="http://schemas.openxmlformats.org/officeDocument/2006/relationships/oleObject" Target="../embeddings/oleObject57.bin"/><Relationship Id="rId3" Type="http://schemas.openxmlformats.org/officeDocument/2006/relationships/oleObject" Target="../embeddings/oleObject56.bin"/><Relationship Id="rId2" Type="http://schemas.openxmlformats.org/officeDocument/2006/relationships/image" Target="../media/image40.wmf"/><Relationship Id="rId19" Type="http://schemas.openxmlformats.org/officeDocument/2006/relationships/vmlDrawing" Target="../drawings/vmlDrawing19.vml"/><Relationship Id="rId18" Type="http://schemas.openxmlformats.org/officeDocument/2006/relationships/slideLayout" Target="../slideLayouts/slideLayout7.xml"/><Relationship Id="rId17" Type="http://schemas.openxmlformats.org/officeDocument/2006/relationships/image" Target="../media/image74.wmf"/><Relationship Id="rId16" Type="http://schemas.openxmlformats.org/officeDocument/2006/relationships/oleObject" Target="../embeddings/oleObject63.bin"/><Relationship Id="rId15" Type="http://schemas.openxmlformats.org/officeDocument/2006/relationships/image" Target="../media/image73.wmf"/><Relationship Id="rId14" Type="http://schemas.openxmlformats.org/officeDocument/2006/relationships/oleObject" Target="../embeddings/oleObject62.bin"/><Relationship Id="rId13" Type="http://schemas.openxmlformats.org/officeDocument/2006/relationships/image" Target="../media/image72.wmf"/><Relationship Id="rId12" Type="http://schemas.openxmlformats.org/officeDocument/2006/relationships/oleObject" Target="../embeddings/oleObject61.bin"/><Relationship Id="rId11" Type="http://schemas.openxmlformats.org/officeDocument/2006/relationships/image" Target="../media/image71.wmf"/><Relationship Id="rId10" Type="http://schemas.openxmlformats.org/officeDocument/2006/relationships/oleObject" Target="../embeddings/oleObject60.bin"/><Relationship Id="rId1" Type="http://schemas.openxmlformats.org/officeDocument/2006/relationships/oleObject" Target="../embeddings/oleObject55.bin"/></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7.wmf"/><Relationship Id="rId7" Type="http://schemas.openxmlformats.org/officeDocument/2006/relationships/oleObject" Target="../embeddings/oleObject67.bin"/><Relationship Id="rId6" Type="http://schemas.openxmlformats.org/officeDocument/2006/relationships/image" Target="../media/image76.wmf"/><Relationship Id="rId5" Type="http://schemas.openxmlformats.org/officeDocument/2006/relationships/oleObject" Target="../embeddings/oleObject66.bin"/><Relationship Id="rId4" Type="http://schemas.openxmlformats.org/officeDocument/2006/relationships/image" Target="../media/image10.wmf"/><Relationship Id="rId3" Type="http://schemas.openxmlformats.org/officeDocument/2006/relationships/oleObject" Target="../embeddings/oleObject65.bin"/><Relationship Id="rId2" Type="http://schemas.openxmlformats.org/officeDocument/2006/relationships/image" Target="../media/image75.wmf"/><Relationship Id="rId11" Type="http://schemas.openxmlformats.org/officeDocument/2006/relationships/notesSlide" Target="../notesSlides/notesSlide16.xml"/><Relationship Id="rId10" Type="http://schemas.openxmlformats.org/officeDocument/2006/relationships/vmlDrawing" Target="../drawings/vmlDrawing20.vml"/><Relationship Id="rId1" Type="http://schemas.openxmlformats.org/officeDocument/2006/relationships/oleObject" Target="../embeddings/oleObject64.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72.bin"/><Relationship Id="rId8" Type="http://schemas.openxmlformats.org/officeDocument/2006/relationships/image" Target="../media/image80.wmf"/><Relationship Id="rId7" Type="http://schemas.openxmlformats.org/officeDocument/2006/relationships/oleObject" Target="../embeddings/oleObject71.bin"/><Relationship Id="rId6" Type="http://schemas.openxmlformats.org/officeDocument/2006/relationships/image" Target="../media/image79.wmf"/><Relationship Id="rId5" Type="http://schemas.openxmlformats.org/officeDocument/2006/relationships/oleObject" Target="../embeddings/oleObject70.bin"/><Relationship Id="rId4" Type="http://schemas.openxmlformats.org/officeDocument/2006/relationships/image" Target="../media/image78.wmf"/><Relationship Id="rId3" Type="http://schemas.openxmlformats.org/officeDocument/2006/relationships/oleObject" Target="../embeddings/oleObject69.bin"/><Relationship Id="rId2" Type="http://schemas.openxmlformats.org/officeDocument/2006/relationships/image" Target="../media/image10.wmf"/><Relationship Id="rId12" Type="http://schemas.openxmlformats.org/officeDocument/2006/relationships/vmlDrawing" Target="../drawings/vmlDrawing21.vml"/><Relationship Id="rId11" Type="http://schemas.openxmlformats.org/officeDocument/2006/relationships/slideLayout" Target="../slideLayouts/slideLayout7.xml"/><Relationship Id="rId10" Type="http://schemas.openxmlformats.org/officeDocument/2006/relationships/image" Target="../media/image76.wmf"/><Relationship Id="rId1" Type="http://schemas.openxmlformats.org/officeDocument/2006/relationships/oleObject" Target="../embeddings/oleObject68.bin"/></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83.wmf"/><Relationship Id="rId5" Type="http://schemas.openxmlformats.org/officeDocument/2006/relationships/oleObject" Target="../embeddings/oleObject75.bin"/><Relationship Id="rId4" Type="http://schemas.openxmlformats.org/officeDocument/2006/relationships/image" Target="../media/image82.wmf"/><Relationship Id="rId3" Type="http://schemas.openxmlformats.org/officeDocument/2006/relationships/oleObject" Target="../embeddings/oleObject74.bin"/><Relationship Id="rId2" Type="http://schemas.openxmlformats.org/officeDocument/2006/relationships/image" Target="../media/image81.wmf"/><Relationship Id="rId1" Type="http://schemas.openxmlformats.org/officeDocument/2006/relationships/oleObject" Target="../embeddings/oleObject73.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image" Target="../media/image87.wmf"/><Relationship Id="rId7" Type="http://schemas.openxmlformats.org/officeDocument/2006/relationships/oleObject" Target="../embeddings/oleObject79.bin"/><Relationship Id="rId6" Type="http://schemas.openxmlformats.org/officeDocument/2006/relationships/image" Target="../media/image86.wmf"/><Relationship Id="rId5" Type="http://schemas.openxmlformats.org/officeDocument/2006/relationships/oleObject" Target="../embeddings/oleObject78.bin"/><Relationship Id="rId4" Type="http://schemas.openxmlformats.org/officeDocument/2006/relationships/image" Target="../media/image85.wmf"/><Relationship Id="rId3" Type="http://schemas.openxmlformats.org/officeDocument/2006/relationships/oleObject" Target="../embeddings/oleObject77.bin"/><Relationship Id="rId2" Type="http://schemas.openxmlformats.org/officeDocument/2006/relationships/image" Target="../media/image84.wmf"/><Relationship Id="rId12" Type="http://schemas.openxmlformats.org/officeDocument/2006/relationships/vmlDrawing" Target="../drawings/vmlDrawing23.vml"/><Relationship Id="rId11" Type="http://schemas.openxmlformats.org/officeDocument/2006/relationships/slideLayout" Target="../slideLayouts/slideLayout7.xml"/><Relationship Id="rId10" Type="http://schemas.openxmlformats.org/officeDocument/2006/relationships/image" Target="../media/image88.wmf"/><Relationship Id="rId1" Type="http://schemas.openxmlformats.org/officeDocument/2006/relationships/oleObject" Target="../embeddings/oleObject76.bin"/></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1.wmf"/><Relationship Id="rId7" Type="http://schemas.openxmlformats.org/officeDocument/2006/relationships/oleObject" Target="../embeddings/oleObject84.bin"/><Relationship Id="rId6" Type="http://schemas.openxmlformats.org/officeDocument/2006/relationships/image" Target="../media/image90.wmf"/><Relationship Id="rId5" Type="http://schemas.openxmlformats.org/officeDocument/2006/relationships/oleObject" Target="../embeddings/oleObject83.bin"/><Relationship Id="rId4" Type="http://schemas.openxmlformats.org/officeDocument/2006/relationships/image" Target="../media/image10.wmf"/><Relationship Id="rId3" Type="http://schemas.openxmlformats.org/officeDocument/2006/relationships/oleObject" Target="../embeddings/oleObject82.bin"/><Relationship Id="rId2" Type="http://schemas.openxmlformats.org/officeDocument/2006/relationships/image" Target="../media/image89.wmf"/><Relationship Id="rId10" Type="http://schemas.openxmlformats.org/officeDocument/2006/relationships/vmlDrawing" Target="../drawings/vmlDrawing24.vml"/><Relationship Id="rId1" Type="http://schemas.openxmlformats.org/officeDocument/2006/relationships/oleObject" Target="../embeddings/oleObject81.bin"/></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7.xml"/><Relationship Id="rId4" Type="http://schemas.openxmlformats.org/officeDocument/2006/relationships/image" Target="../media/image93.wmf"/><Relationship Id="rId3" Type="http://schemas.openxmlformats.org/officeDocument/2006/relationships/oleObject" Target="../embeddings/oleObject86.bin"/><Relationship Id="rId2" Type="http://schemas.openxmlformats.org/officeDocument/2006/relationships/image" Target="../media/image92.wmf"/><Relationship Id="rId1" Type="http://schemas.openxmlformats.org/officeDocument/2006/relationships/oleObject" Target="../embeddings/oleObject85.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94.wmf"/><Relationship Id="rId3" Type="http://schemas.openxmlformats.org/officeDocument/2006/relationships/oleObject" Target="../embeddings/oleObject88.bin"/><Relationship Id="rId2" Type="http://schemas.openxmlformats.org/officeDocument/2006/relationships/image" Target="../media/image92.wmf"/><Relationship Id="rId1" Type="http://schemas.openxmlformats.org/officeDocument/2006/relationships/oleObject" Target="../embeddings/oleObject87.bin"/></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8.wmf"/><Relationship Id="rId7" Type="http://schemas.openxmlformats.org/officeDocument/2006/relationships/oleObject" Target="../embeddings/oleObject92.bin"/><Relationship Id="rId6" Type="http://schemas.openxmlformats.org/officeDocument/2006/relationships/image" Target="../media/image97.wmf"/><Relationship Id="rId5" Type="http://schemas.openxmlformats.org/officeDocument/2006/relationships/oleObject" Target="../embeddings/oleObject91.bin"/><Relationship Id="rId4" Type="http://schemas.openxmlformats.org/officeDocument/2006/relationships/image" Target="../media/image96.wmf"/><Relationship Id="rId3" Type="http://schemas.openxmlformats.org/officeDocument/2006/relationships/oleObject" Target="../embeddings/oleObject90.bin"/><Relationship Id="rId2" Type="http://schemas.openxmlformats.org/officeDocument/2006/relationships/image" Target="../media/image95.wmf"/><Relationship Id="rId10" Type="http://schemas.openxmlformats.org/officeDocument/2006/relationships/vmlDrawing" Target="../drawings/vmlDrawing27.vml"/><Relationship Id="rId1" Type="http://schemas.openxmlformats.org/officeDocument/2006/relationships/oleObject" Target="../embeddings/oleObject89.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102.png"/><Relationship Id="rId7" Type="http://schemas.openxmlformats.org/officeDocument/2006/relationships/tags" Target="../tags/tag9.xml"/><Relationship Id="rId6" Type="http://schemas.openxmlformats.org/officeDocument/2006/relationships/image" Target="../media/image101.png"/><Relationship Id="rId5" Type="http://schemas.openxmlformats.org/officeDocument/2006/relationships/tags" Target="../tags/tag8.xml"/><Relationship Id="rId4" Type="http://schemas.openxmlformats.org/officeDocument/2006/relationships/image" Target="../media/image100.png"/><Relationship Id="rId3" Type="http://schemas.openxmlformats.org/officeDocument/2006/relationships/tags" Target="../tags/tag7.xml"/><Relationship Id="rId2" Type="http://schemas.openxmlformats.org/officeDocument/2006/relationships/image" Target="../media/image99.jpeg"/><Relationship Id="rId10" Type="http://schemas.openxmlformats.org/officeDocument/2006/relationships/slideLayout" Target="../slideLayouts/slideLayout7.xml"/><Relationship Id="rId1" Type="http://schemas.openxmlformats.org/officeDocument/2006/relationships/tags" Target="../tags/tag6.xml"/></Relationships>
</file>

<file path=ppt/slides/_rels/slide55.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image" Target="../media/image103.png"/><Relationship Id="rId7" Type="http://schemas.openxmlformats.org/officeDocument/2006/relationships/tags" Target="../tags/tag14.xml"/><Relationship Id="rId6" Type="http://schemas.openxmlformats.org/officeDocument/2006/relationships/image" Target="../media/image101.png"/><Relationship Id="rId5" Type="http://schemas.openxmlformats.org/officeDocument/2006/relationships/tags" Target="../tags/tag13.xml"/><Relationship Id="rId4" Type="http://schemas.openxmlformats.org/officeDocument/2006/relationships/image" Target="../media/image100.png"/><Relationship Id="rId3" Type="http://schemas.openxmlformats.org/officeDocument/2006/relationships/tags" Target="../tags/tag12.xml"/><Relationship Id="rId2" Type="http://schemas.openxmlformats.org/officeDocument/2006/relationships/image" Target="../media/image99.jpeg"/><Relationship Id="rId10" Type="http://schemas.openxmlformats.org/officeDocument/2006/relationships/slideLayout" Target="../slideLayouts/slideLayout7.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865"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 y="2947584"/>
            <a:ext cx="7939594" cy="768350"/>
          </a:xfrm>
          <a:prstGeom prst="rect">
            <a:avLst/>
          </a:prstGeom>
          <a:noFill/>
        </p:spPr>
        <p:txBody>
          <a:bodyPr wrap="square" rtlCol="0">
            <a:spAutoFit/>
          </a:bodyPr>
          <a:lstStyle/>
          <a:p>
            <a:pPr algn="ctr" defTabSz="685800"/>
            <a:r>
              <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第十九讲  </a:t>
            </a:r>
            <a:r>
              <a:rPr kumimoji="1" lang="en-US" altLang="zh-CN"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2026.5.8</a:t>
            </a:r>
            <a:endPar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998964" y="3934298"/>
            <a:ext cx="5628092" cy="669863"/>
          </a:xfrm>
          <a:prstGeom prst="rect">
            <a:avLst/>
          </a:prstGeom>
        </p:spPr>
        <p:txBody>
          <a:bodyPr wrap="square">
            <a:spAutoFit/>
          </a:bodyPr>
          <a:lstStyle/>
          <a:p>
            <a:pPr marL="0" marR="0" lvl="0" indent="0" algn="ctr" defTabSz="914400" rtl="0" eaLnBrk="0" fontAlgn="base" latinLnBrk="0" hangingPunct="0">
              <a:lnSpc>
                <a:spcPct val="150000"/>
              </a:lnSpc>
              <a:spcBef>
                <a:spcPct val="0"/>
              </a:spcBef>
              <a:spcAft>
                <a:spcPct val="0"/>
              </a:spcAft>
              <a:buClrTx/>
              <a:buSzTx/>
              <a:buFontTx/>
              <a:buNone/>
              <a:defRPr/>
            </a:pPr>
            <a:r>
              <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3977"/>
            <a:chOff x="8226111" y="1728368"/>
            <a:chExt cx="3881691"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3565"/>
            </a:xfrm>
            <a:prstGeom prst="rect">
              <a:avLst/>
            </a:prstGeom>
            <a:noFill/>
            <a:effectLst/>
          </p:spPr>
          <p:txBody>
            <a:bodyPr wrap="square" rtlCol="0">
              <a:spAutoFit/>
            </a:bodyPr>
            <a:lstStyle/>
            <a:p>
              <a:pPr marL="0" marR="0" lvl="0" indent="0" algn="dist"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信息学院</a:t>
              </a:r>
              <a:endPar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4" name="文本框 183"/>
          <p:cNvSpPr txBox="1"/>
          <p:nvPr/>
        </p:nvSpPr>
        <p:spPr>
          <a:xfrm>
            <a:off x="1203740" y="1982910"/>
            <a:ext cx="5423316" cy="830997"/>
          </a:xfrm>
          <a:prstGeom prst="rect">
            <a:avLst/>
          </a:prstGeom>
          <a:noFill/>
          <a:effectLst/>
        </p:spPr>
        <p:txBody>
          <a:bodyPr wrap="square" rtlCol="0">
            <a:spAutoFit/>
          </a:bodyPr>
          <a:lstStyle/>
          <a:p>
            <a:pPr lvl="0" algn="ctr" defTabSz="914400" eaLnBrk="0" fontAlgn="base" hangingPunct="0">
              <a:spcBef>
                <a:spcPct val="0"/>
              </a:spcBef>
              <a:spcAft>
                <a:spcPct val="0"/>
              </a:spcAft>
              <a:defRPr/>
            </a:pPr>
            <a:r>
              <a:rPr kumimoji="1"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kumimoji="1" lang="en-US" altLang="zh-CN"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(A)</a:t>
            </a:r>
            <a:endParaRPr kumimoji="1" lang="zh-CN" altLang="en-US" sz="4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9948" y="2204864"/>
            <a:ext cx="12191999" cy="2696705"/>
          </a:xfrm>
          <a:prstGeom prst="rect">
            <a:avLst/>
          </a:prstGeom>
        </p:spPr>
      </p:pic>
      <p:cxnSp>
        <p:nvCxnSpPr>
          <p:cNvPr id="4" name="直接连接符 3"/>
          <p:cNvCxnSpPr/>
          <p:nvPr/>
        </p:nvCxnSpPr>
        <p:spPr>
          <a:xfrm>
            <a:off x="9140603" y="3284984"/>
            <a:ext cx="288032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139603" y="3789040"/>
            <a:ext cx="11881320" cy="7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39603" y="4365104"/>
            <a:ext cx="108012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435747" y="4365104"/>
            <a:ext cx="10585176" cy="1029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39603" y="4892813"/>
            <a:ext cx="129614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2"/>
          <a:stretch>
            <a:fillRect/>
          </a:stretch>
        </p:blipFill>
        <p:spPr>
          <a:xfrm>
            <a:off x="1579763" y="1047961"/>
            <a:ext cx="8601075" cy="904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3500"/>
                                        <p:tgtEl>
                                          <p:spTgt spid="5"/>
                                        </p:tgtEl>
                                      </p:cBhvr>
                                    </p:animEffect>
                                  </p:childTnLst>
                                </p:cTn>
                              </p:par>
                            </p:childTnLst>
                          </p:cTn>
                        </p:par>
                        <p:par>
                          <p:cTn id="12" fill="hold">
                            <p:stCondLst>
                              <p:cond delay="45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000"/>
                                        <p:tgtEl>
                                          <p:spTgt spid="9"/>
                                        </p:tgtEl>
                                      </p:cBhvr>
                                    </p:animEffect>
                                  </p:childTnLst>
                                </p:cTn>
                              </p:par>
                            </p:childTnLst>
                          </p:cTn>
                        </p:par>
                        <p:par>
                          <p:cTn id="21" fill="hold">
                            <p:stCondLst>
                              <p:cond delay="3000"/>
                            </p:stCondLst>
                            <p:childTnLst>
                              <p:par>
                                <p:cTn id="22" presetID="22" presetClass="entr" presetSubtype="8"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endParaRPr lang="zh-CN" altLang="en-US" sz="2400"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334473" y="3081773"/>
            <a:ext cx="4978298" cy="830997"/>
          </a:xfrm>
          <a:prstGeom prst="rect">
            <a:avLst/>
          </a:prstGeom>
          <a:noFill/>
        </p:spPr>
        <p:txBody>
          <a:bodyPr wrap="square" rtlCol="0">
            <a:spAutoFit/>
          </a:bodyPr>
          <a:lstStyle/>
          <a:p>
            <a:pPr algn="dist" defTabSz="685800"/>
            <a:r>
              <a:rPr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kumimoji="0"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0" name="文本框 369"/>
          <p:cNvSpPr txBox="1"/>
          <p:nvPr/>
        </p:nvSpPr>
        <p:spPr>
          <a:xfrm>
            <a:off x="1777321" y="2073508"/>
            <a:ext cx="4559680" cy="830997"/>
          </a:xfrm>
          <a:prstGeom prst="rect">
            <a:avLst/>
          </a:prstGeom>
          <a:noFill/>
          <a:effectLst/>
        </p:spPr>
        <p:txBody>
          <a:bodyPr wrap="square" rtlCol="0">
            <a:spAutoFit/>
          </a:bodyPr>
          <a:lstStyle/>
          <a:p>
            <a:pPr algn="dist"/>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lang="en-US" altLang="zh-CN"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1018492" y="4013600"/>
            <a:ext cx="5628092" cy="669863"/>
          </a:xfrm>
          <a:prstGeom prst="rect">
            <a:avLst/>
          </a:prstGeom>
        </p:spPr>
        <p:txBody>
          <a:bodyPr wrap="square">
            <a:spAutoFit/>
          </a:bodyPr>
          <a:lstStyle/>
          <a:p>
            <a:pPr algn="ctr">
              <a:lnSpc>
                <a:spcPct val="150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5187"/>
            <a:chOff x="8226111" y="1728368"/>
            <a:chExt cx="3881691" cy="343518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4775"/>
            </a:xfrm>
            <a:prstGeom prst="rect">
              <a:avLst/>
            </a:prstGeom>
            <a:noFill/>
            <a:effectLst/>
          </p:spPr>
          <p:txBody>
            <a:bodyPr wrap="square" rtlCol="0">
              <a:spAutoFit/>
            </a:bodyPr>
            <a:lstStyle/>
            <a:p>
              <a:pPr algn="dist"/>
              <a:r>
                <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信息学院</a:t>
              </a:r>
              <a:endPar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99836" y="620688"/>
            <a:ext cx="10792327" cy="2448272"/>
          </a:xfrm>
          <a:prstGeom prst="rect">
            <a:avLst/>
          </a:prstGeom>
        </p:spPr>
      </p:pic>
      <p:pic>
        <p:nvPicPr>
          <p:cNvPr id="3" name="图片 2"/>
          <p:cNvPicPr>
            <a:picLocks noChangeAspect="1"/>
          </p:cNvPicPr>
          <p:nvPr/>
        </p:nvPicPr>
        <p:blipFill>
          <a:blip r:embed="rId2"/>
          <a:stretch>
            <a:fillRect/>
          </a:stretch>
        </p:blipFill>
        <p:spPr>
          <a:xfrm>
            <a:off x="699835" y="3068960"/>
            <a:ext cx="10552810" cy="2736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Text Box 4"/>
          <p:cNvSpPr txBox="1">
            <a:spLocks noChangeArrowheads="1"/>
          </p:cNvSpPr>
          <p:nvPr/>
        </p:nvSpPr>
        <p:spPr bwMode="auto">
          <a:xfrm>
            <a:off x="1187449" y="1436916"/>
            <a:ext cx="33845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大量随机试验中</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8"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矩形 18"/>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大数定律的客观背景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0" name="组合 19"/>
          <p:cNvGrpSpPr/>
          <p:nvPr/>
        </p:nvGrpSpPr>
        <p:grpSpPr>
          <a:xfrm>
            <a:off x="851761" y="364781"/>
            <a:ext cx="263341" cy="395013"/>
            <a:chOff x="5284519" y="1508166"/>
            <a:chExt cx="213756" cy="427512"/>
          </a:xfrm>
        </p:grpSpPr>
        <p:cxnSp>
          <p:nvCxnSpPr>
            <p:cNvPr id="21" name="直接连接符 2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2" name="直接连接符 2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6" name="组合 5"/>
          <p:cNvGrpSpPr/>
          <p:nvPr/>
        </p:nvGrpSpPr>
        <p:grpSpPr>
          <a:xfrm>
            <a:off x="1534920" y="2781112"/>
            <a:ext cx="2186783" cy="3303371"/>
            <a:chOff x="1534920" y="2781112"/>
            <a:chExt cx="2186783" cy="3303371"/>
          </a:xfrm>
        </p:grpSpPr>
        <p:pic>
          <p:nvPicPr>
            <p:cNvPr id="94215" name="Picture 7" descr="specl040"/>
            <p:cNvPicPr>
              <a:picLocks noChangeAspect="1" noChangeArrowheads="1"/>
            </p:cNvPicPr>
            <p:nvPr/>
          </p:nvPicPr>
          <p:blipFill>
            <a:blip r:embed="rId1">
              <a:extLst>
                <a:ext uri="{28A0092B-C50C-407E-A947-70E740481C1C}">
                  <a14:useLocalDpi xmlns:a14="http://schemas.microsoft.com/office/drawing/2010/main" val="0"/>
                </a:ext>
              </a:extLst>
            </a:blip>
            <a:srcRect l="16750" r="16750"/>
            <a:stretch>
              <a:fillRect/>
            </a:stretch>
          </p:blipFill>
          <p:spPr bwMode="auto">
            <a:xfrm>
              <a:off x="1534920" y="2781112"/>
              <a:ext cx="2186783" cy="2186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4216" name="Rectangle 8"/>
            <p:cNvSpPr>
              <a:spLocks noChangeArrowheads="1"/>
            </p:cNvSpPr>
            <p:nvPr/>
          </p:nvSpPr>
          <p:spPr bwMode="auto">
            <a:xfrm>
              <a:off x="1689253" y="5253486"/>
              <a:ext cx="2031326" cy="83099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大量抛掷硬币</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正面出现频率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 name="组合 1"/>
          <p:cNvGrpSpPr/>
          <p:nvPr/>
        </p:nvGrpSpPr>
        <p:grpSpPr>
          <a:xfrm>
            <a:off x="8040216" y="2778808"/>
            <a:ext cx="2263512" cy="3056124"/>
            <a:chOff x="7896200" y="2778808"/>
            <a:chExt cx="2263512" cy="3056124"/>
          </a:xfrm>
        </p:grpSpPr>
        <p:pic>
          <p:nvPicPr>
            <p:cNvPr id="94218" name="Picture 10" descr="字母使用"/>
            <p:cNvPicPr>
              <a:picLocks noChangeAspect="1" noChangeArrowheads="1"/>
            </p:cNvPicPr>
            <p:nvPr/>
          </p:nvPicPr>
          <p:blipFill rotWithShape="1">
            <a:blip r:embed="rId2">
              <a:extLst>
                <a:ext uri="{28A0092B-C50C-407E-A947-70E740481C1C}">
                  <a14:useLocalDpi xmlns:a14="http://schemas.microsoft.com/office/drawing/2010/main" val="0"/>
                </a:ext>
              </a:extLst>
            </a:blip>
            <a:srcRect l="5844" t="3390" r="5844"/>
            <a:stretch>
              <a:fillRect/>
            </a:stretch>
          </p:blipFill>
          <p:spPr bwMode="auto">
            <a:xfrm>
              <a:off x="7896200" y="2778808"/>
              <a:ext cx="2263512" cy="2186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4219" name="Rectangle 11"/>
            <p:cNvSpPr>
              <a:spLocks noChangeArrowheads="1"/>
            </p:cNvSpPr>
            <p:nvPr/>
          </p:nvSpPr>
          <p:spPr bwMode="auto">
            <a:xfrm>
              <a:off x="8116712" y="5373267"/>
              <a:ext cx="2031326"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字母使用频率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 name="组合 2"/>
          <p:cNvGrpSpPr/>
          <p:nvPr/>
        </p:nvGrpSpPr>
        <p:grpSpPr>
          <a:xfrm>
            <a:off x="4854625" y="2778808"/>
            <a:ext cx="2186783" cy="3305675"/>
            <a:chOff x="4854625" y="2778808"/>
            <a:chExt cx="2186783" cy="3305675"/>
          </a:xfrm>
        </p:grpSpPr>
        <p:pic>
          <p:nvPicPr>
            <p:cNvPr id="94221" name="Picture 13" descr="DW048"/>
            <p:cNvPicPr>
              <a:picLocks noChangeAspect="1" noChangeArrowheads="1"/>
            </p:cNvPicPr>
            <p:nvPr/>
          </p:nvPicPr>
          <p:blipFill>
            <a:blip r:embed="rId3" cstate="print">
              <a:extLst>
                <a:ext uri="{28A0092B-C50C-407E-A947-70E740481C1C}">
                  <a14:useLocalDpi xmlns:a14="http://schemas.microsoft.com/office/drawing/2010/main" val="0"/>
                </a:ext>
              </a:extLst>
            </a:blip>
            <a:srcRect t="10887" b="10887"/>
            <a:stretch>
              <a:fillRect/>
            </a:stretch>
          </p:blipFill>
          <p:spPr bwMode="auto">
            <a:xfrm>
              <a:off x="4854625" y="2778808"/>
              <a:ext cx="2186783" cy="2186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94224" name="Object 16"/>
            <p:cNvGraphicFramePr>
              <a:graphicFrameLocks noChangeAspect="1"/>
            </p:cNvGraphicFramePr>
            <p:nvPr/>
          </p:nvGraphicFramePr>
          <p:xfrm>
            <a:off x="5856288" y="3249613"/>
            <a:ext cx="190500" cy="419100"/>
          </p:xfrm>
          <a:graphic>
            <a:graphicData uri="http://schemas.openxmlformats.org/presentationml/2006/ole">
              <mc:AlternateContent xmlns:mc="http://schemas.openxmlformats.org/markup-compatibility/2006">
                <mc:Choice xmlns:v="urn:schemas-microsoft-com:vml" Requires="v">
                  <p:oleObj spid="_x0000_s309274" name="公式" r:id="rId4" imgW="190500" imgH="419100" progId="Equation.3">
                    <p:embed/>
                  </p:oleObj>
                </mc:Choice>
                <mc:Fallback>
                  <p:oleObj name="公式" r:id="rId4" imgW="190500" imgH="419100"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6288" y="3249613"/>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25" name="Object 17"/>
            <p:cNvGraphicFramePr>
              <a:graphicFrameLocks noChangeAspect="1"/>
            </p:cNvGraphicFramePr>
            <p:nvPr/>
          </p:nvGraphicFramePr>
          <p:xfrm>
            <a:off x="5856288" y="3249613"/>
            <a:ext cx="190500" cy="419100"/>
          </p:xfrm>
          <a:graphic>
            <a:graphicData uri="http://schemas.openxmlformats.org/presentationml/2006/ole">
              <mc:AlternateContent xmlns:mc="http://schemas.openxmlformats.org/markup-compatibility/2006">
                <mc:Choice xmlns:v="urn:schemas-microsoft-com:vml" Requires="v">
                  <p:oleObj spid="_x0000_s309275" name="公式" r:id="rId6" imgW="190500" imgH="419100" progId="Equation.3">
                    <p:embed/>
                  </p:oleObj>
                </mc:Choice>
                <mc:Fallback>
                  <p:oleObj name="公式" r:id="rId6" imgW="190500" imgH="419100" progId="Equation.3">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6288" y="3249613"/>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22" name="Rectangle 14"/>
            <p:cNvSpPr>
              <a:spLocks noChangeArrowheads="1"/>
            </p:cNvSpPr>
            <p:nvPr/>
          </p:nvSpPr>
          <p:spPr bwMode="auto">
            <a:xfrm>
              <a:off x="4895165" y="5253486"/>
              <a:ext cx="2031326" cy="83099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生产过程中的</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废品率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5" name="组合 4"/>
          <p:cNvGrpSpPr/>
          <p:nvPr/>
        </p:nvGrpSpPr>
        <p:grpSpPr>
          <a:xfrm>
            <a:off x="4079776" y="1152222"/>
            <a:ext cx="6059742" cy="1092607"/>
            <a:chOff x="5375920" y="1191950"/>
            <a:chExt cx="6059742" cy="1092607"/>
          </a:xfrm>
        </p:grpSpPr>
        <p:sp>
          <p:nvSpPr>
            <p:cNvPr id="25" name="Text Box 4"/>
            <p:cNvSpPr txBox="1">
              <a:spLocks noChangeArrowheads="1"/>
            </p:cNvSpPr>
            <p:nvPr/>
          </p:nvSpPr>
          <p:spPr bwMode="auto">
            <a:xfrm>
              <a:off x="5602840" y="1191950"/>
              <a:ext cx="5832822" cy="10926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事件发生的频率稳定于某一常数</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测量值的算数平均值具有稳定性</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左大括号 3"/>
            <p:cNvSpPr/>
            <p:nvPr/>
          </p:nvSpPr>
          <p:spPr>
            <a:xfrm>
              <a:off x="5375920" y="1342210"/>
              <a:ext cx="178734" cy="792088"/>
            </a:xfrm>
            <a:prstGeom prst="leftBrace">
              <a:avLst>
                <a:gd name="adj1" fmla="val 49593"/>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barn(outVertical)">
                                      <p:cBhvr>
                                        <p:cTn id="7" dur="500"/>
                                        <p:tgtEl>
                                          <p:spTgt spid="942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anim calcmode="lin" valueType="num">
                                      <p:cBhvr>
                                        <p:cTn id="32" dur="1000" fill="hold"/>
                                        <p:tgtEl>
                                          <p:spTgt spid="2"/>
                                        </p:tgtEl>
                                        <p:attrNameLst>
                                          <p:attrName>ppt_x</p:attrName>
                                        </p:attrNameLst>
                                      </p:cBhvr>
                                      <p:tavLst>
                                        <p:tav tm="0">
                                          <p:val>
                                            <p:strVal val="#ppt_x"/>
                                          </p:val>
                                        </p:tav>
                                        <p:tav tm="100000">
                                          <p:val>
                                            <p:strVal val="#ppt_x"/>
                                          </p:val>
                                        </p:tav>
                                      </p:tavLst>
                                    </p:anim>
                                    <p:anim calcmode="lin" valueType="num">
                                      <p:cBhvr>
                                        <p:cTn id="3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79112" y="2376524"/>
            <a:ext cx="5040000" cy="1754326"/>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a:t>
            </a:r>
            <a:endParaRPr lang="en-US" altLang="zh-CN"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8" name="组 7"/>
          <p:cNvGrpSpPr/>
          <p:nvPr/>
        </p:nvGrpSpPr>
        <p:grpSpPr>
          <a:xfrm>
            <a:off x="1258497" y="3897088"/>
            <a:ext cx="9613885" cy="1221681"/>
            <a:chOff x="1290884" y="3490884"/>
            <a:chExt cx="9613885" cy="1221681"/>
          </a:xfrm>
        </p:grpSpPr>
        <p:sp>
          <p:nvSpPr>
            <p:cNvPr id="7280" name="Rectangle 112"/>
            <p:cNvSpPr>
              <a:spLocks noChangeArrowheads="1"/>
            </p:cNvSpPr>
            <p:nvPr/>
          </p:nvSpPr>
          <p:spPr bwMode="auto">
            <a:xfrm>
              <a:off x="1290884" y="3490884"/>
              <a:ext cx="9613885" cy="1221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由切比雪夫不等式可以看出，若      越小，则事件</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{|X-E(X)|&lt;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的概率越大，即随机变量</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集中在期望附近的可能性越大</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5" name="图片 4"/>
            <p:cNvPicPr>
              <a:picLocks noChangeAspect="1"/>
            </p:cNvPicPr>
            <p:nvPr/>
          </p:nvPicPr>
          <p:blipFill>
            <a:blip r:embed="rId1">
              <a:duotone>
                <a:prstClr val="black"/>
                <a:schemeClr val="tx2">
                  <a:tint val="45000"/>
                  <a:satMod val="400000"/>
                </a:schemeClr>
              </a:duotone>
              <a:lum bright="-62000" contrast="-26000"/>
            </a:blip>
            <a:stretch>
              <a:fillRect/>
            </a:stretch>
          </p:blipFill>
          <p:spPr>
            <a:xfrm>
              <a:off x="9912424" y="3664313"/>
              <a:ext cx="393700" cy="431800"/>
            </a:xfrm>
            <a:prstGeom prst="rect">
              <a:avLst/>
            </a:prstGeom>
          </p:spPr>
        </p:pic>
        <p:pic>
          <p:nvPicPr>
            <p:cNvPr id="6" name="图片 5"/>
            <p:cNvPicPr>
              <a:picLocks noChangeAspect="1"/>
            </p:cNvPicPr>
            <p:nvPr/>
          </p:nvPicPr>
          <p:blipFill>
            <a:blip r:embed="rId2">
              <a:duotone>
                <a:prstClr val="black"/>
                <a:schemeClr val="tx2">
                  <a:tint val="45000"/>
                  <a:satMod val="400000"/>
                </a:schemeClr>
              </a:duotone>
              <a:lum bright="-62000" contrast="-26000"/>
            </a:blip>
            <a:stretch>
              <a:fillRect/>
            </a:stretch>
          </p:blipFill>
          <p:spPr>
            <a:xfrm>
              <a:off x="6032758" y="3495275"/>
              <a:ext cx="558800" cy="558800"/>
            </a:xfrm>
            <a:prstGeom prst="rect">
              <a:avLst/>
            </a:prstGeom>
          </p:spPr>
        </p:pic>
      </p:grpSp>
      <p:grpSp>
        <p:nvGrpSpPr>
          <p:cNvPr id="7" name="组 6"/>
          <p:cNvGrpSpPr/>
          <p:nvPr/>
        </p:nvGrpSpPr>
        <p:grpSpPr>
          <a:xfrm>
            <a:off x="1285745" y="2574417"/>
            <a:ext cx="9170046" cy="1044594"/>
            <a:chOff x="1256899" y="2246323"/>
            <a:chExt cx="9170046" cy="1044594"/>
          </a:xfrm>
        </p:grpSpPr>
        <p:pic>
          <p:nvPicPr>
            <p:cNvPr id="3" name="图片 2"/>
            <p:cNvPicPr>
              <a:picLocks noChangeAspect="1"/>
            </p:cNvPicPr>
            <p:nvPr/>
          </p:nvPicPr>
          <p:blipFill>
            <a:blip r:embed="rId3">
              <a:duotone>
                <a:prstClr val="black"/>
                <a:schemeClr val="tx2">
                  <a:tint val="45000"/>
                  <a:satMod val="400000"/>
                </a:schemeClr>
              </a:duotone>
              <a:lum bright="-62000" contrast="-26000"/>
            </a:blip>
            <a:stretch>
              <a:fillRect/>
            </a:stretch>
          </p:blipFill>
          <p:spPr>
            <a:xfrm>
              <a:off x="1256899" y="2246323"/>
              <a:ext cx="3800436" cy="1004713"/>
            </a:xfrm>
            <a:prstGeom prst="rect">
              <a:avLst/>
            </a:prstGeom>
          </p:spPr>
        </p:pic>
        <p:pic>
          <p:nvPicPr>
            <p:cNvPr id="4" name="图片 3"/>
            <p:cNvPicPr>
              <a:picLocks noChangeAspect="1"/>
            </p:cNvPicPr>
            <p:nvPr/>
          </p:nvPicPr>
          <p:blipFill>
            <a:blip r:embed="rId4">
              <a:duotone>
                <a:prstClr val="black"/>
                <a:schemeClr val="tx2">
                  <a:tint val="45000"/>
                  <a:satMod val="400000"/>
                </a:schemeClr>
              </a:duotone>
              <a:lum bright="-62000" contrast="-26000"/>
            </a:blip>
            <a:stretch>
              <a:fillRect/>
            </a:stretch>
          </p:blipFill>
          <p:spPr>
            <a:xfrm>
              <a:off x="5998773" y="2246323"/>
              <a:ext cx="4428172" cy="1044594"/>
            </a:xfrm>
            <a:prstGeom prst="rect">
              <a:avLst/>
            </a:prstGeom>
          </p:spPr>
        </p:pic>
        <p:sp>
          <p:nvSpPr>
            <p:cNvPr id="29" name="Rectangle 31"/>
            <p:cNvSpPr>
              <a:spLocks noChangeArrowheads="1"/>
            </p:cNvSpPr>
            <p:nvPr/>
          </p:nvSpPr>
          <p:spPr bwMode="auto">
            <a:xfrm>
              <a:off x="5256879" y="2397745"/>
              <a:ext cx="544513" cy="66198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800">
                  <a:solidFill>
                    <a:schemeClr val="tx1"/>
                  </a:solidFill>
                  <a:latin typeface="Times New Roman" panose="02020603050405020304" pitchFamily="18" charset="0"/>
                  <a:ea typeface="宋体" panose="02010600030101010101" pitchFamily="2" charset="-122"/>
                </a:defRPr>
              </a:lvl1pPr>
              <a:lvl2pPr marL="742950" indent="-285750" algn="ctr">
                <a:defRPr kumimoji="1" sz="2800">
                  <a:solidFill>
                    <a:schemeClr val="tx1"/>
                  </a:solidFill>
                  <a:latin typeface="Times New Roman" panose="02020603050405020304" pitchFamily="18" charset="0"/>
                  <a:ea typeface="宋体" panose="02010600030101010101" pitchFamily="2" charset="-122"/>
                </a:defRPr>
              </a:lvl2pPr>
              <a:lvl3pPr marL="1143000" indent="-228600" algn="ctr">
                <a:defRPr kumimoji="1" sz="2800">
                  <a:solidFill>
                    <a:schemeClr val="tx1"/>
                  </a:solidFill>
                  <a:latin typeface="Times New Roman" panose="02020603050405020304" pitchFamily="18" charset="0"/>
                  <a:ea typeface="宋体" panose="02010600030101010101" pitchFamily="2" charset="-122"/>
                </a:defRPr>
              </a:lvl3pPr>
              <a:lvl4pPr marL="1600200" indent="-228600" algn="ctr">
                <a:defRPr kumimoji="1" sz="2800">
                  <a:solidFill>
                    <a:schemeClr val="tx1"/>
                  </a:solidFill>
                  <a:latin typeface="Times New Roman" panose="02020603050405020304" pitchFamily="18" charset="0"/>
                  <a:ea typeface="宋体" panose="02010600030101010101" pitchFamily="2" charset="-122"/>
                </a:defRPr>
              </a:lvl4pPr>
              <a:lvl5pPr marL="2057400" indent="-228600" algn="ctr">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defRPr/>
              </a:pPr>
              <a:r>
                <a:rPr lang="zh-CN" altLang="en-US" b="1">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或</a:t>
              </a:r>
              <a:endParaRPr lang="zh-CN" altLang="en-US" b="1">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graphicFrame>
        <p:nvGraphicFramePr>
          <p:cNvPr id="19" name="Object 38"/>
          <p:cNvGraphicFramePr>
            <a:graphicFrameLocks noChangeAspect="1"/>
          </p:cNvGraphicFramePr>
          <p:nvPr/>
        </p:nvGraphicFramePr>
        <p:xfrm>
          <a:off x="1272189" y="1491314"/>
          <a:ext cx="7212795" cy="1083103"/>
        </p:xfrm>
        <a:graphic>
          <a:graphicData uri="http://schemas.openxmlformats.org/presentationml/2006/ole">
            <mc:AlternateContent xmlns:mc="http://schemas.openxmlformats.org/markup-compatibility/2006">
              <mc:Choice xmlns:v="urn:schemas-microsoft-com:vml" Requires="v">
                <p:oleObj spid="_x0000_s369670" name="Equation" r:id="rId5" imgW="77114400" imgH="11277600" progId="Equation.DSMT4">
                  <p:embed/>
                </p:oleObj>
              </mc:Choice>
              <mc:Fallback>
                <p:oleObj name="Equation" r:id="rId5" imgW="77114400" imgH="11277600" progId="Equation.DSMT4">
                  <p:embed/>
                  <p:pic>
                    <p:nvPicPr>
                      <p:cNvPr id="0" name="Object 38"/>
                      <p:cNvPicPr>
                        <a:picLocks noChangeAspect="1" noChangeArrowheads="1"/>
                      </p:cNvPicPr>
                      <p:nvPr/>
                    </p:nvPicPr>
                    <p:blipFill>
                      <a:blip r:embed="rId6"/>
                      <a:srcRect/>
                      <a:stretch>
                        <a:fillRect/>
                      </a:stretch>
                    </p:blipFill>
                    <p:spPr bwMode="auto">
                      <a:xfrm>
                        <a:off x="1272189" y="1491314"/>
                        <a:ext cx="7212795" cy="108310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23392" y="1196752"/>
            <a:ext cx="11678155" cy="13681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6" name="Text Box 108"/>
          <p:cNvSpPr txBox="1">
            <a:spLocks noChangeArrowheads="1"/>
          </p:cNvSpPr>
          <p:nvPr/>
        </p:nvSpPr>
        <p:spPr bwMode="auto">
          <a:xfrm>
            <a:off x="1335307" y="1124744"/>
            <a:ext cx="739594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（切比雪夫定理的特殊情况）</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7277" name="Group 109"/>
          <p:cNvGrpSpPr/>
          <p:nvPr/>
        </p:nvGrpSpPr>
        <p:grpSpPr bwMode="auto">
          <a:xfrm>
            <a:off x="9095324" y="1399064"/>
            <a:ext cx="2497652" cy="3991032"/>
            <a:chOff x="4512" y="192"/>
            <a:chExt cx="863" cy="1379"/>
          </a:xfrm>
        </p:grpSpPr>
        <p:pic>
          <p:nvPicPr>
            <p:cNvPr id="7278" name="Picture 110" descr="切比雪夫"/>
            <p:cNvPicPr>
              <a:picLocks noChangeAspect="1" noChangeArrowheads="1"/>
            </p:cNvPicPr>
            <p:nvPr/>
          </p:nvPicPr>
          <p:blipFill rotWithShape="1">
            <a:blip r:embed="rId1">
              <a:extLst>
                <a:ext uri="{28A0092B-C50C-407E-A947-70E740481C1C}">
                  <a14:useLocalDpi xmlns:a14="http://schemas.microsoft.com/office/drawing/2010/main" val="0"/>
                </a:ext>
              </a:extLst>
            </a:blip>
            <a:srcRect b="9363"/>
            <a:stretch>
              <a:fillRect/>
            </a:stretch>
          </p:blipFill>
          <p:spPr bwMode="auto">
            <a:xfrm>
              <a:off x="4512" y="192"/>
              <a:ext cx="863" cy="108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7279" name="Rectangle 111"/>
            <p:cNvSpPr>
              <a:spLocks noChangeArrowheads="1"/>
            </p:cNvSpPr>
            <p:nvPr/>
          </p:nvSpPr>
          <p:spPr bwMode="auto">
            <a:xfrm>
              <a:off x="4670" y="1390"/>
              <a:ext cx="591" cy="18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 </a:t>
              </a:r>
              <a:endParaRPr lang="zh-CN" altLang="en-US" sz="4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7280" name="Rectangle 112"/>
          <p:cNvSpPr>
            <a:spLocks noChangeArrowheads="1"/>
          </p:cNvSpPr>
          <p:nvPr/>
        </p:nvSpPr>
        <p:spPr bwMode="auto">
          <a:xfrm>
            <a:off x="1378659" y="4261835"/>
            <a:ext cx="4023735" cy="51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1" hangingPunct="1">
              <a:lnSpc>
                <a:spcPct val="115000"/>
              </a:lnSpc>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则对任意的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&gt;0</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282" name="Object 114"/>
          <p:cNvGraphicFramePr>
            <a:graphicFrameLocks noChangeAspect="1"/>
          </p:cNvGraphicFramePr>
          <p:nvPr/>
        </p:nvGraphicFramePr>
        <p:xfrm>
          <a:off x="1378659" y="2888930"/>
          <a:ext cx="5245100" cy="482600"/>
        </p:xfrm>
        <a:graphic>
          <a:graphicData uri="http://schemas.openxmlformats.org/presentationml/2006/ole">
            <mc:AlternateContent xmlns:mc="http://schemas.openxmlformats.org/markup-compatibility/2006">
              <mc:Choice xmlns:v="urn:schemas-microsoft-com:vml" Requires="v">
                <p:oleObj spid="_x0000_s310322" name="Equation" r:id="rId2" imgW="125882400" imgH="11582400" progId="Equation.DSMT4">
                  <p:embed/>
                </p:oleObj>
              </mc:Choice>
              <mc:Fallback>
                <p:oleObj name="Equation" r:id="rId2" imgW="125882400" imgH="11582400" progId="Equation.DSMT4">
                  <p:embed/>
                  <p:pic>
                    <p:nvPicPr>
                      <p:cNvPr id="0" name="Object 114"/>
                      <p:cNvPicPr>
                        <a:picLocks noChangeAspect="1" noChangeArrowheads="1"/>
                      </p:cNvPicPr>
                      <p:nvPr/>
                    </p:nvPicPr>
                    <p:blipFill>
                      <a:blip r:embed="rId3"/>
                      <a:srcRect/>
                      <a:stretch>
                        <a:fillRect/>
                      </a:stretch>
                    </p:blipFill>
                    <p:spPr bwMode="auto">
                      <a:xfrm>
                        <a:off x="1378659" y="2888930"/>
                        <a:ext cx="52451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3" name="Object 115"/>
          <p:cNvGraphicFramePr>
            <a:graphicFrameLocks noChangeAspect="1"/>
          </p:cNvGraphicFramePr>
          <p:nvPr/>
        </p:nvGraphicFramePr>
        <p:xfrm>
          <a:off x="1618109" y="5413820"/>
          <a:ext cx="4664011" cy="1054796"/>
        </p:xfrm>
        <a:graphic>
          <a:graphicData uri="http://schemas.openxmlformats.org/presentationml/2006/ole">
            <mc:AlternateContent xmlns:mc="http://schemas.openxmlformats.org/markup-compatibility/2006">
              <mc:Choice xmlns:v="urn:schemas-microsoft-com:vml" Requires="v">
                <p:oleObj spid="_x0000_s310323" name="Equation" r:id="rId4" imgW="42976800" imgH="10363200" progId="Equation.DSMT4">
                  <p:embed/>
                </p:oleObj>
              </mc:Choice>
              <mc:Fallback>
                <p:oleObj name="Equation" r:id="rId4" imgW="42976800" imgH="10363200" progId="Equation.DSMT4">
                  <p:embed/>
                  <p:pic>
                    <p:nvPicPr>
                      <p:cNvPr id="0" name="Object 115"/>
                      <p:cNvPicPr>
                        <a:picLocks noChangeAspect="1" noChangeArrowheads="1"/>
                      </p:cNvPicPr>
                      <p:nvPr/>
                    </p:nvPicPr>
                    <p:blipFill>
                      <a:blip r:embed="rId5"/>
                      <a:srcRect/>
                      <a:stretch>
                        <a:fillRect/>
                      </a:stretch>
                    </p:blipFill>
                    <p:spPr bwMode="auto">
                      <a:xfrm>
                        <a:off x="1618109" y="5413820"/>
                        <a:ext cx="4664011" cy="1054796"/>
                      </a:xfrm>
                      <a:prstGeom prst="rect">
                        <a:avLst/>
                      </a:prstGeom>
                      <a:noFill/>
                      <a:ln>
                        <a:noFill/>
                      </a:ln>
                      <a:effectLst/>
                    </p:spPr>
                  </p:pic>
                </p:oleObj>
              </mc:Fallback>
            </mc:AlternateContent>
          </a:graphicData>
        </a:graphic>
      </p:graphicFrame>
      <p:graphicFrame>
        <p:nvGraphicFramePr>
          <p:cNvPr id="7284" name="Object 116"/>
          <p:cNvGraphicFramePr>
            <a:graphicFrameLocks noChangeAspect="1"/>
          </p:cNvGraphicFramePr>
          <p:nvPr/>
        </p:nvGraphicFramePr>
        <p:xfrm>
          <a:off x="1889733" y="4860441"/>
          <a:ext cx="3512661" cy="715754"/>
        </p:xfrm>
        <a:graphic>
          <a:graphicData uri="http://schemas.openxmlformats.org/presentationml/2006/ole">
            <mc:AlternateContent xmlns:mc="http://schemas.openxmlformats.org/markup-compatibility/2006">
              <mc:Choice xmlns:v="urn:schemas-microsoft-com:vml" Requires="v">
                <p:oleObj spid="_x0000_s310324" name="Equation" r:id="rId6" imgW="28041600" imgH="7010400" progId="Equation.DSMT4">
                  <p:embed/>
                </p:oleObj>
              </mc:Choice>
              <mc:Fallback>
                <p:oleObj name="Equation" r:id="rId6" imgW="28041600" imgH="7010400" progId="Equation.DSMT4">
                  <p:embed/>
                  <p:pic>
                    <p:nvPicPr>
                      <p:cNvPr id="0" name="Object 116"/>
                      <p:cNvPicPr>
                        <a:picLocks noChangeAspect="1" noChangeArrowheads="1"/>
                      </p:cNvPicPr>
                      <p:nvPr/>
                    </p:nvPicPr>
                    <p:blipFill>
                      <a:blip r:embed="rId7"/>
                      <a:srcRect/>
                      <a:stretch>
                        <a:fillRect/>
                      </a:stretch>
                    </p:blipFill>
                    <p:spPr bwMode="auto">
                      <a:xfrm>
                        <a:off x="1889733" y="4860441"/>
                        <a:ext cx="3512661" cy="715754"/>
                      </a:xfrm>
                      <a:prstGeom prst="rect">
                        <a:avLst/>
                      </a:prstGeom>
                      <a:noFill/>
                      <a:ln>
                        <a:noFill/>
                      </a:ln>
                      <a:effectLst/>
                    </p:spPr>
                  </p:pic>
                </p:oleObj>
              </mc:Fallback>
            </mc:AlternateContent>
          </a:graphicData>
        </a:graphic>
      </p:graphicFrame>
      <p:graphicFrame>
        <p:nvGraphicFramePr>
          <p:cNvPr id="7285" name="Object 117"/>
          <p:cNvGraphicFramePr>
            <a:graphicFrameLocks noChangeAspect="1"/>
          </p:cNvGraphicFramePr>
          <p:nvPr/>
        </p:nvGraphicFramePr>
        <p:xfrm>
          <a:off x="6282120" y="3371530"/>
          <a:ext cx="1828800" cy="927100"/>
        </p:xfrm>
        <a:graphic>
          <a:graphicData uri="http://schemas.openxmlformats.org/presentationml/2006/ole">
            <mc:AlternateContent xmlns:mc="http://schemas.openxmlformats.org/markup-compatibility/2006">
              <mc:Choice xmlns:v="urn:schemas-microsoft-com:vml" Requires="v">
                <p:oleObj spid="_x0000_s310325" name="Equation" r:id="rId8" imgW="43891200" imgH="22250400" progId="Equation.DSMT4">
                  <p:embed/>
                </p:oleObj>
              </mc:Choice>
              <mc:Fallback>
                <p:oleObj name="Equation" r:id="rId8" imgW="43891200" imgH="22250400" progId="Equation.DSMT4">
                  <p:embed/>
                  <p:pic>
                    <p:nvPicPr>
                      <p:cNvPr id="0" name="Object 117"/>
                      <p:cNvPicPr>
                        <a:picLocks noChangeAspect="1" noChangeArrowheads="1"/>
                      </p:cNvPicPr>
                      <p:nvPr/>
                    </p:nvPicPr>
                    <p:blipFill>
                      <a:blip r:embed="rId9"/>
                      <a:srcRect/>
                      <a:stretch>
                        <a:fillRect/>
                      </a:stretch>
                    </p:blipFill>
                    <p:spPr bwMode="auto">
                      <a:xfrm>
                        <a:off x="6282120" y="3371530"/>
                        <a:ext cx="1828800"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6" name="Rectangle 118"/>
          <p:cNvSpPr>
            <a:spLocks noChangeArrowheads="1"/>
          </p:cNvSpPr>
          <p:nvPr/>
        </p:nvSpPr>
        <p:spPr bwMode="auto">
          <a:xfrm>
            <a:off x="1335307" y="3536347"/>
            <a:ext cx="5578812" cy="51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1" hangingPunct="1">
              <a:lnSpc>
                <a:spcPct val="115000"/>
              </a:lnSpc>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做前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个随机变量的算术平均</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4"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9" name="矩形 18"/>
          <p:cNvSpPr/>
          <p:nvPr/>
        </p:nvSpPr>
        <p:spPr>
          <a:xfrm>
            <a:off x="1378659" y="1588746"/>
            <a:ext cx="6732261" cy="1228734"/>
          </a:xfrm>
          <a:prstGeom prst="rect">
            <a:avLst/>
          </a:prstGeom>
        </p:spPr>
        <p:txBody>
          <a:bodyPr wrap="square">
            <a:spAutoFit/>
          </a:bodyPr>
          <a:lstStyle/>
          <a:p>
            <a:pPr>
              <a:lnSpc>
                <a:spcPct val="150000"/>
              </a:lnSpc>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设随机变量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6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6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相互独立，且具有相同的数学期望和方差：</a:t>
            </a:r>
            <a:endParaRPr lang="zh-CN" altLang="en-US" sz="2600"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6"/>
                                        </p:tgtEl>
                                        <p:attrNameLst>
                                          <p:attrName>style.visibility</p:attrName>
                                        </p:attrNameLst>
                                      </p:cBhvr>
                                      <p:to>
                                        <p:strVal val="visible"/>
                                      </p:to>
                                    </p:set>
                                    <p:animEffect transition="in" filter="wipe(left)">
                                      <p:cBhvr>
                                        <p:cTn id="7" dur="500"/>
                                        <p:tgtEl>
                                          <p:spTgt spid="727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277"/>
                                        </p:tgtEl>
                                        <p:attrNameLst>
                                          <p:attrName>style.visibility</p:attrName>
                                        </p:attrNameLst>
                                      </p:cBhvr>
                                      <p:to>
                                        <p:strVal val="visible"/>
                                      </p:to>
                                    </p:set>
                                    <p:animEffect transition="in" filter="fade">
                                      <p:cBhvr>
                                        <p:cTn id="12" dur="1000"/>
                                        <p:tgtEl>
                                          <p:spTgt spid="7277"/>
                                        </p:tgtEl>
                                      </p:cBhvr>
                                    </p:animEffect>
                                    <p:anim calcmode="lin" valueType="num">
                                      <p:cBhvr>
                                        <p:cTn id="13" dur="1000" fill="hold"/>
                                        <p:tgtEl>
                                          <p:spTgt spid="7277"/>
                                        </p:tgtEl>
                                        <p:attrNameLst>
                                          <p:attrName>ppt_x</p:attrName>
                                        </p:attrNameLst>
                                      </p:cBhvr>
                                      <p:tavLst>
                                        <p:tav tm="0">
                                          <p:val>
                                            <p:strVal val="#ppt_x"/>
                                          </p:val>
                                        </p:tav>
                                        <p:tav tm="100000">
                                          <p:val>
                                            <p:strVal val="#ppt_x"/>
                                          </p:val>
                                        </p:tav>
                                      </p:tavLst>
                                    </p:anim>
                                    <p:anim calcmode="lin" valueType="num">
                                      <p:cBhvr>
                                        <p:cTn id="14" dur="1000" fill="hold"/>
                                        <p:tgtEl>
                                          <p:spTgt spid="727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282"/>
                                        </p:tgtEl>
                                        <p:attrNameLst>
                                          <p:attrName>style.visibility</p:attrName>
                                        </p:attrNameLst>
                                      </p:cBhvr>
                                      <p:to>
                                        <p:strVal val="visible"/>
                                      </p:to>
                                    </p:set>
                                    <p:animEffect transition="in" filter="wipe(down)">
                                      <p:cBhvr>
                                        <p:cTn id="24" dur="500"/>
                                        <p:tgtEl>
                                          <p:spTgt spid="728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7286"/>
                                        </p:tgtEl>
                                        <p:attrNameLst>
                                          <p:attrName>style.visibility</p:attrName>
                                        </p:attrNameLst>
                                      </p:cBhvr>
                                      <p:to>
                                        <p:strVal val="visible"/>
                                      </p:to>
                                    </p:set>
                                    <p:animEffect transition="in" filter="wipe(right)">
                                      <p:cBhvr>
                                        <p:cTn id="29" dur="500"/>
                                        <p:tgtEl>
                                          <p:spTgt spid="728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7285"/>
                                        </p:tgtEl>
                                        <p:attrNameLst>
                                          <p:attrName>style.visibility</p:attrName>
                                        </p:attrNameLst>
                                      </p:cBhvr>
                                      <p:to>
                                        <p:strVal val="visible"/>
                                      </p:to>
                                    </p:set>
                                    <p:animEffect transition="in" filter="wipe(left)">
                                      <p:cBhvr>
                                        <p:cTn id="33" dur="500"/>
                                        <p:tgtEl>
                                          <p:spTgt spid="728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7280"/>
                                        </p:tgtEl>
                                        <p:attrNameLst>
                                          <p:attrName>style.visibility</p:attrName>
                                        </p:attrNameLst>
                                      </p:cBhvr>
                                      <p:to>
                                        <p:strVal val="visible"/>
                                      </p:to>
                                    </p:set>
                                    <p:animEffect transition="in" filter="wipe(right)">
                                      <p:cBhvr>
                                        <p:cTn id="38" dur="500"/>
                                        <p:tgtEl>
                                          <p:spTgt spid="728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7284"/>
                                        </p:tgtEl>
                                        <p:attrNameLst>
                                          <p:attrName>style.visibility</p:attrName>
                                        </p:attrNameLst>
                                      </p:cBhvr>
                                      <p:to>
                                        <p:strVal val="visible"/>
                                      </p:to>
                                    </p:set>
                                    <p:animEffect transition="in" filter="wipe(down)">
                                      <p:cBhvr>
                                        <p:cTn id="43" dur="500"/>
                                        <p:tgtEl>
                                          <p:spTgt spid="728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7283"/>
                                        </p:tgtEl>
                                        <p:attrNameLst>
                                          <p:attrName>style.visibility</p:attrName>
                                        </p:attrNameLst>
                                      </p:cBhvr>
                                      <p:to>
                                        <p:strVal val="visible"/>
                                      </p:to>
                                    </p:set>
                                    <p:animEffect transition="in" filter="wipe(down)">
                                      <p:cBhvr>
                                        <p:cTn id="48" dur="500"/>
                                        <p:tgtEl>
                                          <p:spTgt spid="7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6" grpId="0" autoUpdateAnimBg="0"/>
      <p:bldP spid="7280" grpId="0" autoUpdateAnimBg="0"/>
      <p:bldP spid="7286" grpId="0" autoUpdateAnimBg="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6" name="Text Box 56"/>
          <p:cNvSpPr txBox="1">
            <a:spLocks noChangeArrowheads="1"/>
          </p:cNvSpPr>
          <p:nvPr/>
        </p:nvSpPr>
        <p:spPr bwMode="auto">
          <a:xfrm>
            <a:off x="1207119" y="944487"/>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证：由于</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6377" name="Object 57"/>
          <p:cNvGraphicFramePr>
            <a:graphicFrameLocks noChangeAspect="1"/>
          </p:cNvGraphicFramePr>
          <p:nvPr/>
        </p:nvGraphicFramePr>
        <p:xfrm>
          <a:off x="2781416" y="743065"/>
          <a:ext cx="5033634" cy="948093"/>
        </p:xfrm>
        <a:graphic>
          <a:graphicData uri="http://schemas.openxmlformats.org/presentationml/2006/ole">
            <mc:AlternateContent xmlns:mc="http://schemas.openxmlformats.org/markup-compatibility/2006">
              <mc:Choice xmlns:v="urn:schemas-microsoft-com:vml" Requires="v">
                <p:oleObj spid="_x0000_s311358" name="Equation" r:id="rId1" imgW="58216800" imgH="10972800" progId="Equation.DSMT4">
                  <p:embed/>
                </p:oleObj>
              </mc:Choice>
              <mc:Fallback>
                <p:oleObj name="Equation" r:id="rId1" imgW="58216800" imgH="10972800" progId="Equation.DSMT4">
                  <p:embed/>
                  <p:pic>
                    <p:nvPicPr>
                      <p:cNvPr id="0" name="Object 57"/>
                      <p:cNvPicPr>
                        <a:picLocks noChangeAspect="1" noChangeArrowheads="1"/>
                      </p:cNvPicPr>
                      <p:nvPr/>
                    </p:nvPicPr>
                    <p:blipFill>
                      <a:blip r:embed="rId2"/>
                      <a:srcRect/>
                      <a:stretch>
                        <a:fillRect/>
                      </a:stretch>
                    </p:blipFill>
                    <p:spPr bwMode="auto">
                      <a:xfrm>
                        <a:off x="2781416" y="743065"/>
                        <a:ext cx="5033634" cy="948093"/>
                      </a:xfrm>
                      <a:prstGeom prst="rect">
                        <a:avLst/>
                      </a:prstGeom>
                      <a:noFill/>
                      <a:ln>
                        <a:noFill/>
                      </a:ln>
                      <a:effectLst/>
                    </p:spPr>
                  </p:pic>
                </p:oleObj>
              </mc:Fallback>
            </mc:AlternateContent>
          </a:graphicData>
        </a:graphic>
      </p:graphicFrame>
      <p:graphicFrame>
        <p:nvGraphicFramePr>
          <p:cNvPr id="56380" name="Object 60"/>
          <p:cNvGraphicFramePr>
            <a:graphicFrameLocks noChangeAspect="1"/>
          </p:cNvGraphicFramePr>
          <p:nvPr/>
        </p:nvGraphicFramePr>
        <p:xfrm>
          <a:off x="2781416" y="1769014"/>
          <a:ext cx="5271582" cy="878597"/>
        </p:xfrm>
        <a:graphic>
          <a:graphicData uri="http://schemas.openxmlformats.org/presentationml/2006/ole">
            <mc:AlternateContent xmlns:mc="http://schemas.openxmlformats.org/markup-compatibility/2006">
              <mc:Choice xmlns:v="urn:schemas-microsoft-com:vml" Requires="v">
                <p:oleObj spid="_x0000_s311359" name="Equation" r:id="rId3" imgW="65836800" imgH="10972800" progId="Equation.DSMT4">
                  <p:embed/>
                </p:oleObj>
              </mc:Choice>
              <mc:Fallback>
                <p:oleObj name="Equation" r:id="rId3" imgW="65836800" imgH="10972800" progId="Equation.DSMT4">
                  <p:embed/>
                  <p:pic>
                    <p:nvPicPr>
                      <p:cNvPr id="0" name="Object 60"/>
                      <p:cNvPicPr>
                        <a:picLocks noChangeAspect="1" noChangeArrowheads="1"/>
                      </p:cNvPicPr>
                      <p:nvPr/>
                    </p:nvPicPr>
                    <p:blipFill>
                      <a:blip r:embed="rId4"/>
                      <a:srcRect/>
                      <a:stretch>
                        <a:fillRect/>
                      </a:stretch>
                    </p:blipFill>
                    <p:spPr bwMode="auto">
                      <a:xfrm>
                        <a:off x="2781416" y="1769014"/>
                        <a:ext cx="5271582" cy="878597"/>
                      </a:xfrm>
                      <a:prstGeom prst="rect">
                        <a:avLst/>
                      </a:prstGeom>
                      <a:noFill/>
                      <a:ln>
                        <a:noFill/>
                      </a:ln>
                      <a:effectLst/>
                    </p:spPr>
                  </p:pic>
                </p:oleObj>
              </mc:Fallback>
            </mc:AlternateContent>
          </a:graphicData>
        </a:graphic>
      </p:graphicFrame>
      <p:sp>
        <p:nvSpPr>
          <p:cNvPr id="56383" name="Text Box 63"/>
          <p:cNvSpPr txBox="1">
            <a:spLocks noChangeArrowheads="1"/>
          </p:cNvSpPr>
          <p:nvPr/>
        </p:nvSpPr>
        <p:spPr bwMode="auto">
          <a:xfrm>
            <a:off x="1847528" y="2931844"/>
            <a:ext cx="31797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由切比雪夫不等式</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6384" name="Object 64"/>
          <p:cNvGraphicFramePr>
            <a:graphicFrameLocks noChangeAspect="1"/>
          </p:cNvGraphicFramePr>
          <p:nvPr/>
        </p:nvGraphicFramePr>
        <p:xfrm>
          <a:off x="3744632" y="3485843"/>
          <a:ext cx="4411299" cy="1067703"/>
        </p:xfrm>
        <a:graphic>
          <a:graphicData uri="http://schemas.openxmlformats.org/presentationml/2006/ole">
            <mc:AlternateContent xmlns:mc="http://schemas.openxmlformats.org/markup-compatibility/2006">
              <mc:Choice xmlns:v="urn:schemas-microsoft-com:vml" Requires="v">
                <p:oleObj spid="_x0000_s311360" name="Equation" r:id="rId5" imgW="47853600" imgH="11582400" progId="Equation.DSMT4">
                  <p:embed/>
                </p:oleObj>
              </mc:Choice>
              <mc:Fallback>
                <p:oleObj name="Equation" r:id="rId5" imgW="47853600" imgH="11582400" progId="Equation.DSMT4">
                  <p:embed/>
                  <p:pic>
                    <p:nvPicPr>
                      <p:cNvPr id="0" name="Object 64"/>
                      <p:cNvPicPr>
                        <a:picLocks noChangeAspect="1" noChangeArrowheads="1"/>
                      </p:cNvPicPr>
                      <p:nvPr/>
                    </p:nvPicPr>
                    <p:blipFill>
                      <a:blip r:embed="rId6"/>
                      <a:srcRect/>
                      <a:stretch>
                        <a:fillRect/>
                      </a:stretch>
                    </p:blipFill>
                    <p:spPr bwMode="auto">
                      <a:xfrm>
                        <a:off x="3744632" y="3485843"/>
                        <a:ext cx="4411299" cy="1067703"/>
                      </a:xfrm>
                      <a:prstGeom prst="rect">
                        <a:avLst/>
                      </a:prstGeom>
                      <a:noFill/>
                      <a:ln>
                        <a:noFill/>
                      </a:ln>
                      <a:effectLst/>
                    </p:spPr>
                  </p:pic>
                </p:oleObj>
              </mc:Fallback>
            </mc:AlternateContent>
          </a:graphicData>
        </a:graphic>
      </p:graphicFrame>
      <p:grpSp>
        <p:nvGrpSpPr>
          <p:cNvPr id="2" name="组合 1"/>
          <p:cNvGrpSpPr/>
          <p:nvPr/>
        </p:nvGrpSpPr>
        <p:grpSpPr>
          <a:xfrm>
            <a:off x="1847528" y="4797152"/>
            <a:ext cx="4719663" cy="461665"/>
            <a:chOff x="1880392" y="4612657"/>
            <a:chExt cx="4719663" cy="461665"/>
          </a:xfrm>
        </p:grpSpPr>
        <p:sp>
          <p:nvSpPr>
            <p:cNvPr id="56385" name="Text Box 65"/>
            <p:cNvSpPr txBox="1">
              <a:spLocks noChangeArrowheads="1"/>
            </p:cNvSpPr>
            <p:nvPr/>
          </p:nvSpPr>
          <p:spPr bwMode="auto">
            <a:xfrm>
              <a:off x="1880392" y="4612657"/>
              <a:ext cx="47196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上式中令                 得</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6386" name="Object 66"/>
            <p:cNvGraphicFramePr>
              <a:graphicFrameLocks noChangeAspect="1"/>
            </p:cNvGraphicFramePr>
            <p:nvPr/>
          </p:nvGraphicFramePr>
          <p:xfrm>
            <a:off x="3215680" y="4703197"/>
            <a:ext cx="1180852" cy="371125"/>
          </p:xfrm>
          <a:graphic>
            <a:graphicData uri="http://schemas.openxmlformats.org/presentationml/2006/ole">
              <mc:AlternateContent xmlns:mc="http://schemas.openxmlformats.org/markup-compatibility/2006">
                <mc:Choice xmlns:v="urn:schemas-microsoft-com:vml" Requires="v">
                  <p:oleObj spid="_x0000_s311361" name="Equation" r:id="rId7" imgW="10668000" imgH="3352800" progId="Equation.DSMT4">
                    <p:embed/>
                  </p:oleObj>
                </mc:Choice>
                <mc:Fallback>
                  <p:oleObj name="Equation" r:id="rId7" imgW="10668000" imgH="3352800" progId="Equation.DSMT4">
                    <p:embed/>
                    <p:pic>
                      <p:nvPicPr>
                        <p:cNvPr id="0" name="Object 66"/>
                        <p:cNvPicPr>
                          <a:picLocks noChangeAspect="1" noChangeArrowheads="1"/>
                        </p:cNvPicPr>
                        <p:nvPr/>
                      </p:nvPicPr>
                      <p:blipFill>
                        <a:blip r:embed="rId8"/>
                        <a:srcRect/>
                        <a:stretch>
                          <a:fillRect/>
                        </a:stretch>
                      </p:blipFill>
                      <p:spPr bwMode="auto">
                        <a:xfrm>
                          <a:off x="3215680" y="4703197"/>
                          <a:ext cx="1180852" cy="371125"/>
                        </a:xfrm>
                        <a:prstGeom prst="rect">
                          <a:avLst/>
                        </a:prstGeom>
                        <a:noFill/>
                        <a:ln>
                          <a:noFill/>
                        </a:ln>
                        <a:effectLst/>
                      </p:spPr>
                    </p:pic>
                  </p:oleObj>
                </mc:Fallback>
              </mc:AlternateContent>
            </a:graphicData>
          </a:graphic>
        </p:graphicFrame>
      </p:grpSp>
      <p:graphicFrame>
        <p:nvGraphicFramePr>
          <p:cNvPr id="56388" name="Object 68"/>
          <p:cNvGraphicFramePr>
            <a:graphicFrameLocks noChangeAspect="1"/>
          </p:cNvGraphicFramePr>
          <p:nvPr/>
        </p:nvGraphicFramePr>
        <p:xfrm>
          <a:off x="3437409" y="5349357"/>
          <a:ext cx="5531685" cy="983410"/>
        </p:xfrm>
        <a:graphic>
          <a:graphicData uri="http://schemas.openxmlformats.org/presentationml/2006/ole">
            <mc:AlternateContent xmlns:mc="http://schemas.openxmlformats.org/markup-compatibility/2006">
              <mc:Choice xmlns:v="urn:schemas-microsoft-com:vml" Requires="v">
                <p:oleObj spid="_x0000_s311362" name="Equation" r:id="rId9" imgW="40233600" imgH="10363200" progId="Equation.DSMT4">
                  <p:embed/>
                </p:oleObj>
              </mc:Choice>
              <mc:Fallback>
                <p:oleObj name="Equation" r:id="rId9" imgW="40233600" imgH="10363200" progId="Equation.DSMT4">
                  <p:embed/>
                  <p:pic>
                    <p:nvPicPr>
                      <p:cNvPr id="0" name="Object 68"/>
                      <p:cNvPicPr>
                        <a:picLocks noChangeAspect="1" noChangeArrowheads="1"/>
                      </p:cNvPicPr>
                      <p:nvPr/>
                    </p:nvPicPr>
                    <p:blipFill>
                      <a:blip r:embed="rId10"/>
                      <a:srcRect/>
                      <a:stretch>
                        <a:fillRect/>
                      </a:stretch>
                    </p:blipFill>
                    <p:spPr bwMode="auto">
                      <a:xfrm>
                        <a:off x="3437409" y="5349357"/>
                        <a:ext cx="5531685" cy="983410"/>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377"/>
                                        </p:tgtEl>
                                        <p:attrNameLst>
                                          <p:attrName>style.visibility</p:attrName>
                                        </p:attrNameLst>
                                      </p:cBhvr>
                                      <p:to>
                                        <p:strVal val="visible"/>
                                      </p:to>
                                    </p:set>
                                    <p:animEffect transition="in" filter="wipe(left)">
                                      <p:cBhvr>
                                        <p:cTn id="7" dur="500"/>
                                        <p:tgtEl>
                                          <p:spTgt spid="563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6380"/>
                                        </p:tgtEl>
                                        <p:attrNameLst>
                                          <p:attrName>style.visibility</p:attrName>
                                        </p:attrNameLst>
                                      </p:cBhvr>
                                      <p:to>
                                        <p:strVal val="visible"/>
                                      </p:to>
                                    </p:set>
                                    <p:animEffect transition="in" filter="wipe(right)">
                                      <p:cBhvr>
                                        <p:cTn id="12" dur="500"/>
                                        <p:tgtEl>
                                          <p:spTgt spid="56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383"/>
                                        </p:tgtEl>
                                        <p:attrNameLst>
                                          <p:attrName>style.visibility</p:attrName>
                                        </p:attrNameLst>
                                      </p:cBhvr>
                                      <p:to>
                                        <p:strVal val="visible"/>
                                      </p:to>
                                    </p:set>
                                    <p:animEffect transition="in" filter="wipe(left)">
                                      <p:cBhvr>
                                        <p:cTn id="17" dur="500"/>
                                        <p:tgtEl>
                                          <p:spTgt spid="563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384"/>
                                        </p:tgtEl>
                                        <p:attrNameLst>
                                          <p:attrName>style.visibility</p:attrName>
                                        </p:attrNameLst>
                                      </p:cBhvr>
                                      <p:to>
                                        <p:strVal val="visible"/>
                                      </p:to>
                                    </p:set>
                                    <p:animEffect transition="in" filter="wipe(left)">
                                      <p:cBhvr>
                                        <p:cTn id="22" dur="500"/>
                                        <p:tgtEl>
                                          <p:spTgt spid="5638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inVertic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6388"/>
                                        </p:tgtEl>
                                        <p:attrNameLst>
                                          <p:attrName>style.visibility</p:attrName>
                                        </p:attrNameLst>
                                      </p:cBhvr>
                                      <p:to>
                                        <p:strVal val="visible"/>
                                      </p:to>
                                    </p:set>
                                    <p:animEffect transition="in" filter="wipe(down)">
                                      <p:cBhvr>
                                        <p:cTn id="32" dur="500"/>
                                        <p:tgtEl>
                                          <p:spTgt spid="5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8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106" name="Object 98"/>
          <p:cNvGraphicFramePr>
            <a:graphicFrameLocks noChangeAspect="1"/>
          </p:cNvGraphicFramePr>
          <p:nvPr/>
        </p:nvGraphicFramePr>
        <p:xfrm>
          <a:off x="5570538" y="4333875"/>
          <a:ext cx="419100" cy="63500"/>
        </p:xfrm>
        <a:graphic>
          <a:graphicData uri="http://schemas.openxmlformats.org/presentationml/2006/ole">
            <mc:AlternateContent xmlns:mc="http://schemas.openxmlformats.org/markup-compatibility/2006">
              <mc:Choice xmlns:v="urn:schemas-microsoft-com:vml" Requires="v">
                <p:oleObj spid="_x0000_s312370" name="公式" r:id="rId1" imgW="419100" imgH="63500" progId="Equation.3">
                  <p:embed/>
                </p:oleObj>
              </mc:Choice>
              <mc:Fallback>
                <p:oleObj name="公式" r:id="rId1" imgW="419100" imgH="63500" progId="Equation.3">
                  <p:embed/>
                  <p:pic>
                    <p:nvPicPr>
                      <p:cNvPr id="0" name="Object 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0538" y="4333875"/>
                        <a:ext cx="419100" cy="63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07" name="Text Box 99"/>
          <p:cNvSpPr txBox="1">
            <a:spLocks noChangeArrowheads="1"/>
          </p:cNvSpPr>
          <p:nvPr/>
        </p:nvSpPr>
        <p:spPr bwMode="auto">
          <a:xfrm>
            <a:off x="1760597" y="888183"/>
            <a:ext cx="12176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说明</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3108" name="Object 100"/>
          <p:cNvGraphicFramePr>
            <a:graphicFrameLocks noChangeAspect="1"/>
          </p:cNvGraphicFramePr>
          <p:nvPr/>
        </p:nvGraphicFramePr>
        <p:xfrm>
          <a:off x="1847057" y="2896503"/>
          <a:ext cx="8285162" cy="1949450"/>
        </p:xfrm>
        <a:graphic>
          <a:graphicData uri="http://schemas.openxmlformats.org/presentationml/2006/ole">
            <mc:AlternateContent xmlns:mc="http://schemas.openxmlformats.org/markup-compatibility/2006">
              <mc:Choice xmlns:v="urn:schemas-microsoft-com:vml" Requires="v">
                <p:oleObj spid="_x0000_s312371" name="Equation" r:id="rId3" imgW="88087200" imgH="21336000" progId="Equation.DSMT4">
                  <p:embed/>
                </p:oleObj>
              </mc:Choice>
              <mc:Fallback>
                <p:oleObj name="Equation" r:id="rId3" imgW="88087200" imgH="21336000" progId="Equation.DSMT4">
                  <p:embed/>
                  <p:pic>
                    <p:nvPicPr>
                      <p:cNvPr id="0" name="Object 100"/>
                      <p:cNvPicPr>
                        <a:picLocks noChangeAspect="1" noChangeArrowheads="1"/>
                      </p:cNvPicPr>
                      <p:nvPr/>
                    </p:nvPicPr>
                    <p:blipFill>
                      <a:blip r:embed="rId4"/>
                      <a:srcRect/>
                      <a:stretch>
                        <a:fillRect/>
                      </a:stretch>
                    </p:blipFill>
                    <p:spPr bwMode="auto">
                      <a:xfrm>
                        <a:off x="1847057" y="2896503"/>
                        <a:ext cx="8285162" cy="1949450"/>
                      </a:xfrm>
                      <a:prstGeom prst="rect">
                        <a:avLst/>
                      </a:prstGeom>
                      <a:noFill/>
                      <a:ln>
                        <a:noFill/>
                      </a:ln>
                      <a:effectLst/>
                    </p:spPr>
                  </p:pic>
                </p:oleObj>
              </mc:Fallback>
            </mc:AlternateContent>
          </a:graphicData>
        </a:graphic>
      </p:graphicFrame>
      <p:graphicFrame>
        <p:nvGraphicFramePr>
          <p:cNvPr id="43109" name="Object 101"/>
          <p:cNvGraphicFramePr>
            <a:graphicFrameLocks noChangeAspect="1"/>
          </p:cNvGraphicFramePr>
          <p:nvPr/>
        </p:nvGraphicFramePr>
        <p:xfrm>
          <a:off x="1847057" y="1347659"/>
          <a:ext cx="7874000" cy="1450975"/>
        </p:xfrm>
        <a:graphic>
          <a:graphicData uri="http://schemas.openxmlformats.org/presentationml/2006/ole">
            <mc:AlternateContent xmlns:mc="http://schemas.openxmlformats.org/markup-compatibility/2006">
              <mc:Choice xmlns:v="urn:schemas-microsoft-com:vml" Requires="v">
                <p:oleObj spid="_x0000_s312372" name="Equation" r:id="rId5" imgW="81991200" imgH="15849600" progId="Equation.DSMT4">
                  <p:embed/>
                </p:oleObj>
              </mc:Choice>
              <mc:Fallback>
                <p:oleObj name="Equation" r:id="rId5" imgW="81991200" imgH="15849600" progId="Equation.DSMT4">
                  <p:embed/>
                  <p:pic>
                    <p:nvPicPr>
                      <p:cNvPr id="0" name="Object 101"/>
                      <p:cNvPicPr>
                        <a:picLocks noChangeAspect="1" noChangeArrowheads="1"/>
                      </p:cNvPicPr>
                      <p:nvPr/>
                    </p:nvPicPr>
                    <p:blipFill>
                      <a:blip r:embed="rId6"/>
                      <a:srcRect/>
                      <a:stretch>
                        <a:fillRect/>
                      </a:stretch>
                    </p:blipFill>
                    <p:spPr bwMode="auto">
                      <a:xfrm>
                        <a:off x="1847057" y="1347659"/>
                        <a:ext cx="7874000" cy="1450975"/>
                      </a:xfrm>
                      <a:prstGeom prst="rect">
                        <a:avLst/>
                      </a:prstGeom>
                      <a:noFill/>
                      <a:ln>
                        <a:noFill/>
                      </a:ln>
                      <a:effectLst/>
                    </p:spPr>
                  </p:pic>
                </p:oleObj>
              </mc:Fallback>
            </mc:AlternateContent>
          </a:graphicData>
        </a:graphic>
      </p:graphicFrame>
      <p:graphicFrame>
        <p:nvGraphicFramePr>
          <p:cNvPr id="43110" name="Object 102"/>
          <p:cNvGraphicFramePr>
            <a:graphicFrameLocks noChangeAspect="1"/>
          </p:cNvGraphicFramePr>
          <p:nvPr/>
        </p:nvGraphicFramePr>
        <p:xfrm>
          <a:off x="1842686" y="4995948"/>
          <a:ext cx="8140700" cy="949325"/>
        </p:xfrm>
        <a:graphic>
          <a:graphicData uri="http://schemas.openxmlformats.org/presentationml/2006/ole">
            <mc:AlternateContent xmlns:mc="http://schemas.openxmlformats.org/markup-compatibility/2006">
              <mc:Choice xmlns:v="urn:schemas-microsoft-com:vml" Requires="v">
                <p:oleObj spid="_x0000_s312373" name="Equation" r:id="rId7" imgW="89001600" imgH="10363200" progId="Equation.DSMT4">
                  <p:embed/>
                </p:oleObj>
              </mc:Choice>
              <mc:Fallback>
                <p:oleObj name="Equation" r:id="rId7" imgW="89001600" imgH="10363200" progId="Equation.DSMT4">
                  <p:embed/>
                  <p:pic>
                    <p:nvPicPr>
                      <p:cNvPr id="0" name="Object 102"/>
                      <p:cNvPicPr>
                        <a:picLocks noChangeAspect="1" noChangeArrowheads="1"/>
                      </p:cNvPicPr>
                      <p:nvPr/>
                    </p:nvPicPr>
                    <p:blipFill>
                      <a:blip r:embed="rId8"/>
                      <a:srcRect/>
                      <a:stretch>
                        <a:fillRect/>
                      </a:stretch>
                    </p:blipFill>
                    <p:spPr bwMode="auto">
                      <a:xfrm>
                        <a:off x="1842686" y="4995948"/>
                        <a:ext cx="8140700" cy="949325"/>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109"/>
                                        </p:tgtEl>
                                        <p:attrNameLst>
                                          <p:attrName>style.visibility</p:attrName>
                                        </p:attrNameLst>
                                      </p:cBhvr>
                                      <p:to>
                                        <p:strVal val="visible"/>
                                      </p:to>
                                    </p:set>
                                    <p:animEffect transition="in" filter="wipe(left)">
                                      <p:cBhvr>
                                        <p:cTn id="7" dur="500"/>
                                        <p:tgtEl>
                                          <p:spTgt spid="431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108"/>
                                        </p:tgtEl>
                                        <p:attrNameLst>
                                          <p:attrName>style.visibility</p:attrName>
                                        </p:attrNameLst>
                                      </p:cBhvr>
                                      <p:to>
                                        <p:strVal val="visible"/>
                                      </p:to>
                                    </p:set>
                                    <p:animEffect transition="in" filter="wipe(left)">
                                      <p:cBhvr>
                                        <p:cTn id="12" dur="500"/>
                                        <p:tgtEl>
                                          <p:spTgt spid="431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110"/>
                                        </p:tgtEl>
                                        <p:attrNameLst>
                                          <p:attrName>style.visibility</p:attrName>
                                        </p:attrNameLst>
                                      </p:cBhvr>
                                      <p:to>
                                        <p:strVal val="visible"/>
                                      </p:to>
                                    </p:set>
                                    <p:animEffect transition="in" filter="wipe(left)">
                                      <p:cBhvr>
                                        <p:cTn id="17" dur="500"/>
                                        <p:tgtEl>
                                          <p:spTgt spid="43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71214" y="2806734"/>
            <a:ext cx="5040000" cy="923330"/>
          </a:xfrm>
          <a:prstGeom prst="rect">
            <a:avLst/>
          </a:prstGeom>
          <a:noFill/>
        </p:spPr>
        <p:txBody>
          <a:bodyPr wrap="square" rtlCol="0">
            <a:spAutoFit/>
          </a:bodyPr>
          <a:lstStyle/>
          <a:p>
            <a:pPr algn="ct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依概率收敛</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02</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30" name="Text Box 62"/>
          <p:cNvSpPr txBox="1">
            <a:spLocks noChangeArrowheads="1"/>
          </p:cNvSpPr>
          <p:nvPr/>
        </p:nvSpPr>
        <p:spPr bwMode="auto">
          <a:xfrm>
            <a:off x="1406163" y="1196752"/>
            <a:ext cx="11525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8431" name="Object 63"/>
          <p:cNvGraphicFramePr>
            <a:graphicFrameLocks noChangeAspect="1"/>
          </p:cNvGraphicFramePr>
          <p:nvPr/>
        </p:nvGraphicFramePr>
        <p:xfrm>
          <a:off x="5756275" y="3578225"/>
          <a:ext cx="914400" cy="419100"/>
        </p:xfrm>
        <a:graphic>
          <a:graphicData uri="http://schemas.openxmlformats.org/presentationml/2006/ole">
            <mc:AlternateContent xmlns:mc="http://schemas.openxmlformats.org/markup-compatibility/2006">
              <mc:Choice xmlns:v="urn:schemas-microsoft-com:vml" Requires="v">
                <p:oleObj spid="_x0000_s313418" name="公式" r:id="rId1" imgW="190500" imgH="419100" progId="Equation.3">
                  <p:embed/>
                </p:oleObj>
              </mc:Choice>
              <mc:Fallback>
                <p:oleObj name="公式" r:id="rId1" imgW="190500" imgH="419100" progId="Equation.3">
                  <p:embed/>
                  <p:pic>
                    <p:nvPicPr>
                      <p:cNvPr id="0" name="Object 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6275" y="3578225"/>
                        <a:ext cx="914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32" name="Object 64"/>
          <p:cNvGraphicFramePr>
            <a:graphicFrameLocks noChangeAspect="1"/>
          </p:cNvGraphicFramePr>
          <p:nvPr/>
        </p:nvGraphicFramePr>
        <p:xfrm>
          <a:off x="6118225" y="3578225"/>
          <a:ext cx="190500" cy="419100"/>
        </p:xfrm>
        <a:graphic>
          <a:graphicData uri="http://schemas.openxmlformats.org/presentationml/2006/ole">
            <mc:AlternateContent xmlns:mc="http://schemas.openxmlformats.org/markup-compatibility/2006">
              <mc:Choice xmlns:v="urn:schemas-microsoft-com:vml" Requires="v">
                <p:oleObj spid="_x0000_s313419" name="公式" r:id="rId3" imgW="190500" imgH="419100" progId="Equation.3">
                  <p:embed/>
                </p:oleObj>
              </mc:Choice>
              <mc:Fallback>
                <p:oleObj name="公式" r:id="rId3" imgW="190500" imgH="419100" progId="Equation.3">
                  <p:embed/>
                  <p:pic>
                    <p:nvPicPr>
                      <p:cNvPr id="0" name="Object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8225" y="3578225"/>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33" name="Object 65"/>
          <p:cNvGraphicFramePr>
            <a:graphicFrameLocks noChangeAspect="1"/>
          </p:cNvGraphicFramePr>
          <p:nvPr/>
        </p:nvGraphicFramePr>
        <p:xfrm>
          <a:off x="1545684" y="1562812"/>
          <a:ext cx="8970963" cy="1095375"/>
        </p:xfrm>
        <a:graphic>
          <a:graphicData uri="http://schemas.openxmlformats.org/presentationml/2006/ole">
            <mc:AlternateContent xmlns:mc="http://schemas.openxmlformats.org/markup-compatibility/2006">
              <mc:Choice xmlns:v="urn:schemas-microsoft-com:vml" Requires="v">
                <p:oleObj spid="_x0000_s313420" name="Equation" r:id="rId4" imgW="89916000" imgH="10972800" progId="Equation.DSMT4">
                  <p:embed/>
                </p:oleObj>
              </mc:Choice>
              <mc:Fallback>
                <p:oleObj name="Equation" r:id="rId4" imgW="89916000" imgH="10972800" progId="Equation.DSMT4">
                  <p:embed/>
                  <p:pic>
                    <p:nvPicPr>
                      <p:cNvPr id="0" name="Object 65"/>
                      <p:cNvPicPr>
                        <a:picLocks noChangeAspect="1" noChangeArrowheads="1"/>
                      </p:cNvPicPr>
                      <p:nvPr/>
                    </p:nvPicPr>
                    <p:blipFill>
                      <a:blip r:embed="rId5"/>
                      <a:srcRect/>
                      <a:stretch>
                        <a:fillRect/>
                      </a:stretch>
                    </p:blipFill>
                    <p:spPr bwMode="auto">
                      <a:xfrm>
                        <a:off x="1545684" y="1562812"/>
                        <a:ext cx="8970963" cy="1095375"/>
                      </a:xfrm>
                      <a:prstGeom prst="rect">
                        <a:avLst/>
                      </a:prstGeom>
                      <a:noFill/>
                      <a:ln>
                        <a:noFill/>
                      </a:ln>
                      <a:effectLst/>
                    </p:spPr>
                  </p:pic>
                </p:oleObj>
              </mc:Fallback>
            </mc:AlternateContent>
          </a:graphicData>
        </a:graphic>
      </p:graphicFrame>
      <p:graphicFrame>
        <p:nvGraphicFramePr>
          <p:cNvPr id="58434" name="Object 66"/>
          <p:cNvGraphicFramePr>
            <a:graphicFrameLocks noChangeAspect="1"/>
          </p:cNvGraphicFramePr>
          <p:nvPr/>
        </p:nvGraphicFramePr>
        <p:xfrm>
          <a:off x="3806010" y="2724146"/>
          <a:ext cx="3220723" cy="698836"/>
        </p:xfrm>
        <a:graphic>
          <a:graphicData uri="http://schemas.openxmlformats.org/presentationml/2006/ole">
            <mc:AlternateContent xmlns:mc="http://schemas.openxmlformats.org/markup-compatibility/2006">
              <mc:Choice xmlns:v="urn:schemas-microsoft-com:vml" Requires="v">
                <p:oleObj spid="_x0000_s313421" name="Equation" r:id="rId6" imgW="32308800" imgH="7010400" progId="Equation.DSMT4">
                  <p:embed/>
                </p:oleObj>
              </mc:Choice>
              <mc:Fallback>
                <p:oleObj name="Equation" r:id="rId6" imgW="32308800" imgH="7010400" progId="Equation.DSMT4">
                  <p:embed/>
                  <p:pic>
                    <p:nvPicPr>
                      <p:cNvPr id="0" name="Object 66"/>
                      <p:cNvPicPr>
                        <a:picLocks noChangeAspect="1" noChangeArrowheads="1"/>
                      </p:cNvPicPr>
                      <p:nvPr/>
                    </p:nvPicPr>
                    <p:blipFill>
                      <a:blip r:embed="rId7"/>
                      <a:srcRect/>
                      <a:stretch>
                        <a:fillRect/>
                      </a:stretch>
                    </p:blipFill>
                    <p:spPr bwMode="auto">
                      <a:xfrm>
                        <a:off x="3806010" y="2724146"/>
                        <a:ext cx="3220723" cy="698836"/>
                      </a:xfrm>
                      <a:prstGeom prst="rect">
                        <a:avLst/>
                      </a:prstGeom>
                      <a:noFill/>
                      <a:ln>
                        <a:noFill/>
                      </a:ln>
                      <a:effectLst/>
                    </p:spPr>
                  </p:pic>
                </p:oleObj>
              </mc:Fallback>
            </mc:AlternateContent>
          </a:graphicData>
        </a:graphic>
      </p:graphicFrame>
      <p:graphicFrame>
        <p:nvGraphicFramePr>
          <p:cNvPr id="58435" name="Object 67"/>
          <p:cNvGraphicFramePr>
            <a:graphicFrameLocks noChangeAspect="1"/>
          </p:cNvGraphicFramePr>
          <p:nvPr/>
        </p:nvGraphicFramePr>
        <p:xfrm>
          <a:off x="1545684" y="3378836"/>
          <a:ext cx="8293100" cy="577850"/>
        </p:xfrm>
        <a:graphic>
          <a:graphicData uri="http://schemas.openxmlformats.org/presentationml/2006/ole">
            <mc:AlternateContent xmlns:mc="http://schemas.openxmlformats.org/markup-compatibility/2006">
              <mc:Choice xmlns:v="urn:schemas-microsoft-com:vml" Requires="v">
                <p:oleObj spid="_x0000_s313422" name="Equation" r:id="rId8" imgW="83210400" imgH="5791200" progId="Equation.DSMT4">
                  <p:embed/>
                </p:oleObj>
              </mc:Choice>
              <mc:Fallback>
                <p:oleObj name="Equation" r:id="rId8" imgW="83210400" imgH="5791200" progId="Equation.DSMT4">
                  <p:embed/>
                  <p:pic>
                    <p:nvPicPr>
                      <p:cNvPr id="0" name="Object 67"/>
                      <p:cNvPicPr>
                        <a:picLocks noChangeAspect="1" noChangeArrowheads="1"/>
                      </p:cNvPicPr>
                      <p:nvPr/>
                    </p:nvPicPr>
                    <p:blipFill>
                      <a:blip r:embed="rId9"/>
                      <a:srcRect/>
                      <a:stretch>
                        <a:fillRect/>
                      </a:stretch>
                    </p:blipFill>
                    <p:spPr bwMode="auto">
                      <a:xfrm>
                        <a:off x="1545684" y="3378836"/>
                        <a:ext cx="8293100" cy="577850"/>
                      </a:xfrm>
                      <a:prstGeom prst="rect">
                        <a:avLst/>
                      </a:prstGeom>
                      <a:noFill/>
                      <a:ln>
                        <a:noFill/>
                      </a:ln>
                      <a:effectLst/>
                    </p:spPr>
                  </p:pic>
                </p:oleObj>
              </mc:Fallback>
            </mc:AlternateContent>
          </a:graphicData>
        </a:graphic>
      </p:graphicFrame>
      <p:sp>
        <p:nvSpPr>
          <p:cNvPr id="58436" name="Text Box 68"/>
          <p:cNvSpPr txBox="1">
            <a:spLocks noChangeArrowheads="1"/>
          </p:cNvSpPr>
          <p:nvPr/>
        </p:nvSpPr>
        <p:spPr bwMode="auto">
          <a:xfrm>
            <a:off x="1419020" y="4141881"/>
            <a:ext cx="11445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性质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8437" name="Object 69"/>
          <p:cNvGraphicFramePr>
            <a:graphicFrameLocks noChangeAspect="1"/>
          </p:cNvGraphicFramePr>
          <p:nvPr/>
        </p:nvGraphicFramePr>
        <p:xfrm>
          <a:off x="1624332" y="4788046"/>
          <a:ext cx="9008172" cy="1182986"/>
        </p:xfrm>
        <a:graphic>
          <a:graphicData uri="http://schemas.openxmlformats.org/presentationml/2006/ole">
            <mc:AlternateContent xmlns:mc="http://schemas.openxmlformats.org/markup-compatibility/2006">
              <mc:Choice xmlns:v="urn:schemas-microsoft-com:vml" Requires="v">
                <p:oleObj spid="_x0000_s313423" name="Equation" r:id="rId10" imgW="94792800" imgH="11582400" progId="Equation.DSMT4">
                  <p:embed/>
                </p:oleObj>
              </mc:Choice>
              <mc:Fallback>
                <p:oleObj name="Equation" r:id="rId10" imgW="94792800" imgH="11582400" progId="Equation.DSMT4">
                  <p:embed/>
                  <p:pic>
                    <p:nvPicPr>
                      <p:cNvPr id="0" name="Object 69"/>
                      <p:cNvPicPr>
                        <a:picLocks noChangeAspect="1" noChangeArrowheads="1"/>
                      </p:cNvPicPr>
                      <p:nvPr/>
                    </p:nvPicPr>
                    <p:blipFill>
                      <a:blip r:embed="rId11"/>
                      <a:srcRect/>
                      <a:stretch>
                        <a:fillRect/>
                      </a:stretch>
                    </p:blipFill>
                    <p:spPr bwMode="auto">
                      <a:xfrm>
                        <a:off x="1624332" y="4788046"/>
                        <a:ext cx="9008172" cy="1182986"/>
                      </a:xfrm>
                      <a:prstGeom prst="rect">
                        <a:avLst/>
                      </a:prstGeom>
                      <a:noFill/>
                      <a:ln>
                        <a:noFill/>
                      </a:ln>
                      <a:effectLst/>
                    </p:spPr>
                  </p:pic>
                </p:oleObj>
              </mc:Fallback>
            </mc:AlternateContent>
          </a:graphicData>
        </a:graphic>
      </p:graphicFrame>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4799694"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二、依概率收敛定义及性质 </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430"/>
                                        </p:tgtEl>
                                        <p:attrNameLst>
                                          <p:attrName>style.visibility</p:attrName>
                                        </p:attrNameLst>
                                      </p:cBhvr>
                                      <p:to>
                                        <p:strVal val="visible"/>
                                      </p:to>
                                    </p:set>
                                    <p:animEffect transition="in" filter="wipe(left)">
                                      <p:cBhvr>
                                        <p:cTn id="7" dur="500"/>
                                        <p:tgtEl>
                                          <p:spTgt spid="584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433"/>
                                        </p:tgtEl>
                                        <p:attrNameLst>
                                          <p:attrName>style.visibility</p:attrName>
                                        </p:attrNameLst>
                                      </p:cBhvr>
                                      <p:to>
                                        <p:strVal val="visible"/>
                                      </p:to>
                                    </p:set>
                                    <p:animEffect transition="in" filter="wipe(left)">
                                      <p:cBhvr>
                                        <p:cTn id="12" dur="500"/>
                                        <p:tgtEl>
                                          <p:spTgt spid="584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434"/>
                                        </p:tgtEl>
                                        <p:attrNameLst>
                                          <p:attrName>style.visibility</p:attrName>
                                        </p:attrNameLst>
                                      </p:cBhvr>
                                      <p:to>
                                        <p:strVal val="visible"/>
                                      </p:to>
                                    </p:set>
                                    <p:animEffect transition="in" filter="wipe(left)">
                                      <p:cBhvr>
                                        <p:cTn id="17" dur="500"/>
                                        <p:tgtEl>
                                          <p:spTgt spid="584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8435"/>
                                        </p:tgtEl>
                                        <p:attrNameLst>
                                          <p:attrName>style.visibility</p:attrName>
                                        </p:attrNameLst>
                                      </p:cBhvr>
                                      <p:to>
                                        <p:strVal val="visible"/>
                                      </p:to>
                                    </p:set>
                                    <p:animEffect transition="in" filter="wipe(left)">
                                      <p:cBhvr>
                                        <p:cTn id="22" dur="500"/>
                                        <p:tgtEl>
                                          <p:spTgt spid="584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8436"/>
                                        </p:tgtEl>
                                        <p:attrNameLst>
                                          <p:attrName>style.visibility</p:attrName>
                                        </p:attrNameLst>
                                      </p:cBhvr>
                                      <p:to>
                                        <p:strVal val="visible"/>
                                      </p:to>
                                    </p:set>
                                    <p:animEffect transition="in" filter="wipe(down)">
                                      <p:cBhvr>
                                        <p:cTn id="27" dur="500"/>
                                        <p:tgtEl>
                                          <p:spTgt spid="584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437"/>
                                        </p:tgtEl>
                                        <p:attrNameLst>
                                          <p:attrName>style.visibility</p:attrName>
                                        </p:attrNameLst>
                                      </p:cBhvr>
                                      <p:to>
                                        <p:strVal val="visible"/>
                                      </p:to>
                                    </p:set>
                                    <p:animEffect transition="in" filter="wipe(left)">
                                      <p:cBhvr>
                                        <p:cTn id="32" dur="500"/>
                                        <p:tgtEl>
                                          <p:spTgt spid="5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30" grpId="0"/>
      <p:bldP spid="584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7" name="Text Box 71"/>
          <p:cNvSpPr txBox="1">
            <a:spLocks noChangeArrowheads="1"/>
          </p:cNvSpPr>
          <p:nvPr/>
        </p:nvSpPr>
        <p:spPr bwMode="auto">
          <a:xfrm>
            <a:off x="1335307" y="1148277"/>
            <a:ext cx="17287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请注意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408" name="Object 72"/>
          <p:cNvGraphicFramePr>
            <a:graphicFrameLocks noChangeAspect="1"/>
          </p:cNvGraphicFramePr>
          <p:nvPr/>
        </p:nvGraphicFramePr>
        <p:xfrm>
          <a:off x="1481959" y="1994934"/>
          <a:ext cx="8788400" cy="2132012"/>
        </p:xfrm>
        <a:graphic>
          <a:graphicData uri="http://schemas.openxmlformats.org/presentationml/2006/ole">
            <mc:AlternateContent xmlns:mc="http://schemas.openxmlformats.org/markup-compatibility/2006">
              <mc:Choice xmlns:v="urn:schemas-microsoft-com:vml" Requires="v">
                <p:oleObj spid="_x0000_s314394" name="Equation" r:id="rId1" imgW="92964000" imgH="22555200" progId="Equation.DSMT4">
                  <p:embed/>
                </p:oleObj>
              </mc:Choice>
              <mc:Fallback>
                <p:oleObj name="Equation" r:id="rId1" imgW="92964000" imgH="22555200" progId="Equation.DSMT4">
                  <p:embed/>
                  <p:pic>
                    <p:nvPicPr>
                      <p:cNvPr id="0" name="Object 72"/>
                      <p:cNvPicPr>
                        <a:picLocks noChangeAspect="1" noChangeArrowheads="1"/>
                      </p:cNvPicPr>
                      <p:nvPr/>
                    </p:nvPicPr>
                    <p:blipFill>
                      <a:blip r:embed="rId2"/>
                      <a:srcRect/>
                      <a:stretch>
                        <a:fillRect/>
                      </a:stretch>
                    </p:blipFill>
                    <p:spPr bwMode="auto">
                      <a:xfrm>
                        <a:off x="1481959" y="1994934"/>
                        <a:ext cx="8788400" cy="2132012"/>
                      </a:xfrm>
                      <a:prstGeom prst="rect">
                        <a:avLst/>
                      </a:prstGeom>
                      <a:noFill/>
                      <a:ln>
                        <a:noFill/>
                      </a:ln>
                      <a:effectLst/>
                    </p:spPr>
                  </p:pic>
                </p:oleObj>
              </mc:Fallback>
            </mc:AlternateContent>
          </a:graphicData>
        </a:graphic>
      </p:graphicFrame>
      <p:graphicFrame>
        <p:nvGraphicFramePr>
          <p:cNvPr id="14409" name="Object 73"/>
          <p:cNvGraphicFramePr>
            <a:graphicFrameLocks noChangeAspect="1"/>
          </p:cNvGraphicFramePr>
          <p:nvPr/>
        </p:nvGraphicFramePr>
        <p:xfrm>
          <a:off x="1481959" y="4144302"/>
          <a:ext cx="8870950" cy="981075"/>
        </p:xfrm>
        <a:graphic>
          <a:graphicData uri="http://schemas.openxmlformats.org/presentationml/2006/ole">
            <mc:AlternateContent xmlns:mc="http://schemas.openxmlformats.org/markup-compatibility/2006">
              <mc:Choice xmlns:v="urn:schemas-microsoft-com:vml" Requires="v">
                <p:oleObj spid="_x0000_s314395" name="Equation" r:id="rId3" imgW="90220800" imgH="10363200" progId="Equation.DSMT4">
                  <p:embed/>
                </p:oleObj>
              </mc:Choice>
              <mc:Fallback>
                <p:oleObj name="Equation" r:id="rId3" imgW="90220800" imgH="10363200" progId="Equation.DSMT4">
                  <p:embed/>
                  <p:pic>
                    <p:nvPicPr>
                      <p:cNvPr id="0" name="Object 73"/>
                      <p:cNvPicPr>
                        <a:picLocks noChangeAspect="1" noChangeArrowheads="1"/>
                      </p:cNvPicPr>
                      <p:nvPr/>
                    </p:nvPicPr>
                    <p:blipFill>
                      <a:blip r:embed="rId4"/>
                      <a:srcRect/>
                      <a:stretch>
                        <a:fillRect/>
                      </a:stretch>
                    </p:blipFill>
                    <p:spPr bwMode="auto">
                      <a:xfrm>
                        <a:off x="1481959" y="4144302"/>
                        <a:ext cx="8870950" cy="981075"/>
                      </a:xfrm>
                      <a:prstGeom prst="rect">
                        <a:avLst/>
                      </a:prstGeom>
                      <a:noFill/>
                      <a:ln>
                        <a:noFill/>
                      </a:ln>
                      <a:effectLst/>
                    </p:spPr>
                  </p:pic>
                </p:oleObj>
              </mc:Fallback>
            </mc:AlternateContent>
          </a:graphicData>
        </a:graphic>
      </p:graphicFrame>
      <p:cxnSp>
        <p:nvCxnSpPr>
          <p:cNvPr id="5"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a:spLocks noChangeArrowheads="1"/>
          </p:cNvSpPr>
          <p:nvPr/>
        </p:nvSpPr>
        <p:spPr bwMode="auto">
          <a:xfrm>
            <a:off x="1406163" y="255069"/>
            <a:ext cx="4799694"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二、依概率收敛定义及性质 </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408"/>
                                        </p:tgtEl>
                                        <p:attrNameLst>
                                          <p:attrName>style.visibility</p:attrName>
                                        </p:attrNameLst>
                                      </p:cBhvr>
                                      <p:to>
                                        <p:strVal val="visible"/>
                                      </p:to>
                                    </p:set>
                                    <p:animEffect transition="in" filter="wipe(left)">
                                      <p:cBhvr>
                                        <p:cTn id="7" dur="500"/>
                                        <p:tgtEl>
                                          <p:spTgt spid="144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409"/>
                                        </p:tgtEl>
                                        <p:attrNameLst>
                                          <p:attrName>style.visibility</p:attrName>
                                        </p:attrNameLst>
                                      </p:cBhvr>
                                      <p:to>
                                        <p:strVal val="visible"/>
                                      </p:to>
                                    </p:set>
                                    <p:animEffect transition="in" filter="wipe(left)">
                                      <p:cBhvr>
                                        <p:cTn id="12" dur="500"/>
                                        <p:tgtEl>
                                          <p:spTgt spid="14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8" name="Object 6"/>
          <p:cNvGraphicFramePr>
            <a:graphicFrameLocks noChangeAspect="1"/>
          </p:cNvGraphicFramePr>
          <p:nvPr/>
        </p:nvGraphicFramePr>
        <p:xfrm>
          <a:off x="1417999" y="2132856"/>
          <a:ext cx="8958262" cy="2241550"/>
        </p:xfrm>
        <a:graphic>
          <a:graphicData uri="http://schemas.openxmlformats.org/presentationml/2006/ole">
            <mc:AlternateContent xmlns:mc="http://schemas.openxmlformats.org/markup-compatibility/2006">
              <mc:Choice xmlns:v="urn:schemas-microsoft-com:vml" Requires="v">
                <p:oleObj spid="_x0000_s315406" name="Equation" r:id="rId1" imgW="89001600" imgH="22250400" progId="Equation.DSMT4">
                  <p:embed/>
                </p:oleObj>
              </mc:Choice>
              <mc:Fallback>
                <p:oleObj name="Equation" r:id="rId1" imgW="89001600" imgH="22250400" progId="Equation.DSMT4">
                  <p:embed/>
                  <p:pic>
                    <p:nvPicPr>
                      <p:cNvPr id="0" name="Object 6"/>
                      <p:cNvPicPr>
                        <a:picLocks noChangeAspect="1" noChangeArrowheads="1"/>
                      </p:cNvPicPr>
                      <p:nvPr/>
                    </p:nvPicPr>
                    <p:blipFill>
                      <a:blip r:embed="rId2"/>
                      <a:srcRect/>
                      <a:stretch>
                        <a:fillRect/>
                      </a:stretch>
                    </p:blipFill>
                    <p:spPr bwMode="auto">
                      <a:xfrm>
                        <a:off x="1417999" y="2132856"/>
                        <a:ext cx="8958262" cy="2241550"/>
                      </a:xfrm>
                      <a:prstGeom prst="rect">
                        <a:avLst/>
                      </a:prstGeom>
                      <a:noFill/>
                      <a:ln>
                        <a:noFill/>
                      </a:ln>
                      <a:effectLst/>
                    </p:spPr>
                  </p:pic>
                </p:oleObj>
              </mc:Fallback>
            </mc:AlternateContent>
          </a:graphicData>
        </a:graphic>
      </p:graphicFrame>
      <p:sp>
        <p:nvSpPr>
          <p:cNvPr id="4" name="Text Box 71"/>
          <p:cNvSpPr txBox="1">
            <a:spLocks noChangeArrowheads="1"/>
          </p:cNvSpPr>
          <p:nvPr/>
        </p:nvSpPr>
        <p:spPr bwMode="auto">
          <a:xfrm>
            <a:off x="1335307" y="1278560"/>
            <a:ext cx="44006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的另一种叙述形式</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5"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a:spLocks noChangeArrowheads="1"/>
          </p:cNvSpPr>
          <p:nvPr/>
        </p:nvSpPr>
        <p:spPr bwMode="auto">
          <a:xfrm>
            <a:off x="1406163" y="255069"/>
            <a:ext cx="4799694"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二、依概率收敛定义及性质 </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transition="in" filter="wipe(left)">
                                      <p:cBhvr>
                                        <p:cTn id="7"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71214" y="2806734"/>
            <a:ext cx="5040000" cy="923330"/>
          </a:xfrm>
          <a:prstGeom prst="rect">
            <a:avLst/>
          </a:prstGeom>
          <a:noFill/>
        </p:spPr>
        <p:txBody>
          <a:bodyPr wrap="square" rtlCol="0">
            <a:spAutoFit/>
          </a:bodyPr>
          <a:lstStyle/>
          <a:p>
            <a:pPr algn="ct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伯努利大数定律</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03</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58508" y="1247237"/>
            <a:ext cx="1995120" cy="3786428"/>
            <a:chOff x="9058508" y="1247237"/>
            <a:chExt cx="1995120" cy="3786428"/>
          </a:xfrm>
        </p:grpSpPr>
        <p:pic>
          <p:nvPicPr>
            <p:cNvPr id="15433" name="Picture 73" descr="贝努里"/>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58508" y="1247237"/>
              <a:ext cx="1995120" cy="315578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5434" name="Rectangle 74"/>
            <p:cNvSpPr>
              <a:spLocks noChangeArrowheads="1"/>
            </p:cNvSpPr>
            <p:nvPr/>
          </p:nvSpPr>
          <p:spPr bwMode="auto">
            <a:xfrm>
              <a:off x="9408368" y="4572000"/>
              <a:ext cx="1295400"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5435" name="Rectangle 75"/>
          <p:cNvSpPr>
            <a:spLocks noChangeArrowheads="1"/>
          </p:cNvSpPr>
          <p:nvPr/>
        </p:nvSpPr>
        <p:spPr bwMode="auto">
          <a:xfrm>
            <a:off x="1406163" y="1690265"/>
            <a:ext cx="6706061"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lnSpc>
                <a:spcPct val="150000"/>
              </a:lnSpc>
              <a:spcBef>
                <a:spcPct val="50000"/>
              </a:spcBef>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4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重贝努里试验中事件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发生的次数，</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发生的概率，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5436" name="Object 76"/>
          <p:cNvGraphicFramePr>
            <a:graphicFrameLocks noChangeAspect="1"/>
          </p:cNvGraphicFramePr>
          <p:nvPr/>
        </p:nvGraphicFramePr>
        <p:xfrm>
          <a:off x="2111256" y="3022017"/>
          <a:ext cx="774700" cy="1038723"/>
        </p:xfrm>
        <a:graphic>
          <a:graphicData uri="http://schemas.openxmlformats.org/presentationml/2006/ole">
            <mc:AlternateContent xmlns:mc="http://schemas.openxmlformats.org/markup-compatibility/2006">
              <mc:Choice xmlns:v="urn:schemas-microsoft-com:vml" Requires="v">
                <p:oleObj spid="_x0000_s316430" name="Equation" r:id="rId2" imgW="5181600" imgH="9448800" progId="Equation.DSMT4">
                  <p:embed/>
                </p:oleObj>
              </mc:Choice>
              <mc:Fallback>
                <p:oleObj name="Equation" r:id="rId2" imgW="5181600" imgH="9448800" progId="Equation.DSMT4">
                  <p:embed/>
                  <p:pic>
                    <p:nvPicPr>
                      <p:cNvPr id="0" name="Object 76"/>
                      <p:cNvPicPr>
                        <a:picLocks noChangeAspect="1" noChangeArrowheads="1"/>
                      </p:cNvPicPr>
                      <p:nvPr/>
                    </p:nvPicPr>
                    <p:blipFill>
                      <a:blip r:embed="rId3"/>
                      <a:srcRect/>
                      <a:stretch>
                        <a:fillRect/>
                      </a:stretch>
                    </p:blipFill>
                    <p:spPr bwMode="auto">
                      <a:xfrm>
                        <a:off x="2111256" y="3022017"/>
                        <a:ext cx="774700" cy="1038723"/>
                      </a:xfrm>
                      <a:prstGeom prst="rect">
                        <a:avLst/>
                      </a:prstGeom>
                      <a:noFill/>
                      <a:ln>
                        <a:noFill/>
                      </a:ln>
                      <a:effectLst/>
                    </p:spPr>
                  </p:pic>
                </p:oleObj>
              </mc:Fallback>
            </mc:AlternateContent>
          </a:graphicData>
        </a:graphic>
      </p:graphicFrame>
      <p:sp>
        <p:nvSpPr>
          <p:cNvPr id="15437" name="Rectangle 77"/>
          <p:cNvSpPr>
            <a:spLocks noChangeArrowheads="1"/>
          </p:cNvSpPr>
          <p:nvPr/>
        </p:nvSpPr>
        <p:spPr bwMode="auto">
          <a:xfrm>
            <a:off x="3003924" y="3323995"/>
            <a:ext cx="29466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发生的频率</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4" name="Text Box 71"/>
          <p:cNvSpPr txBox="1">
            <a:spLocks noChangeArrowheads="1"/>
          </p:cNvSpPr>
          <p:nvPr/>
        </p:nvSpPr>
        <p:spPr bwMode="auto">
          <a:xfrm>
            <a:off x="1352124" y="1133688"/>
            <a:ext cx="19951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问题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Rectangle 75"/>
          <p:cNvSpPr>
            <a:spLocks noChangeArrowheads="1"/>
          </p:cNvSpPr>
          <p:nvPr/>
        </p:nvSpPr>
        <p:spPr bwMode="auto">
          <a:xfrm>
            <a:off x="1406163" y="4307469"/>
            <a:ext cx="6850078"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lnSpc>
                <a:spcPct val="150000"/>
              </a:lnSpc>
              <a:spcBef>
                <a:spcPct val="5000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事件发生的频率能否代替事件的概率，频率是否具有稳定性呢？</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矩形 14"/>
          <p:cNvSpPr>
            <a:spLocks noChangeArrowheads="1"/>
          </p:cNvSpPr>
          <p:nvPr/>
        </p:nvSpPr>
        <p:spPr bwMode="auto">
          <a:xfrm>
            <a:off x="1364343" y="255069"/>
            <a:ext cx="3852460"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a:t>
            </a:r>
            <a:r>
              <a:rPr lang="zh-CN" altLang="en-US"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35"/>
                                        </p:tgtEl>
                                        <p:attrNameLst>
                                          <p:attrName>style.visibility</p:attrName>
                                        </p:attrNameLst>
                                      </p:cBhvr>
                                      <p:to>
                                        <p:strVal val="visible"/>
                                      </p:to>
                                    </p:set>
                                    <p:animEffect transition="in" filter="wipe(left)">
                                      <p:cBhvr>
                                        <p:cTn id="7" dur="500"/>
                                        <p:tgtEl>
                                          <p:spTgt spid="154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436"/>
                                        </p:tgtEl>
                                        <p:attrNameLst>
                                          <p:attrName>style.visibility</p:attrName>
                                        </p:attrNameLst>
                                      </p:cBhvr>
                                      <p:to>
                                        <p:strVal val="visible"/>
                                      </p:to>
                                    </p:set>
                                    <p:animEffect transition="in" filter="wipe(left)">
                                      <p:cBhvr>
                                        <p:cTn id="12" dur="500"/>
                                        <p:tgtEl>
                                          <p:spTgt spid="154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37"/>
                                        </p:tgtEl>
                                        <p:attrNameLst>
                                          <p:attrName>style.visibility</p:attrName>
                                        </p:attrNameLst>
                                      </p:cBhvr>
                                      <p:to>
                                        <p:strVal val="visible"/>
                                      </p:to>
                                    </p:set>
                                    <p:animEffect transition="in" filter="wipe(left)">
                                      <p:cBhvr>
                                        <p:cTn id="17" dur="500"/>
                                        <p:tgtEl>
                                          <p:spTgt spid="154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5" grpId="0" autoUpdateAnimBg="0"/>
      <p:bldP spid="15437" grpId="0"/>
      <p:bldP spid="1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21" name="Object 81"/>
          <p:cNvGraphicFramePr>
            <a:graphicFrameLocks noChangeAspect="1"/>
          </p:cNvGraphicFramePr>
          <p:nvPr/>
        </p:nvGraphicFramePr>
        <p:xfrm>
          <a:off x="5970588" y="3568701"/>
          <a:ext cx="112712" cy="214313"/>
        </p:xfrm>
        <a:graphic>
          <a:graphicData uri="http://schemas.openxmlformats.org/presentationml/2006/ole">
            <mc:AlternateContent xmlns:mc="http://schemas.openxmlformats.org/markup-compatibility/2006">
              <mc:Choice xmlns:v="urn:schemas-microsoft-com:vml" Requires="v">
                <p:oleObj spid="_x0000_s317490" name="公式" r:id="rId1" imgW="114300" imgH="215900" progId="Equation.3">
                  <p:embed/>
                </p:oleObj>
              </mc:Choice>
              <mc:Fallback>
                <p:oleObj name="公式" r:id="rId1" imgW="114300" imgH="215900" progId="Equation.3">
                  <p:embed/>
                  <p:pic>
                    <p:nvPicPr>
                      <p:cNvPr id="0" name="Object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588" y="3568701"/>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22" name="Object 82"/>
          <p:cNvGraphicFramePr>
            <a:graphicFrameLocks noChangeAspect="1"/>
          </p:cNvGraphicFramePr>
          <p:nvPr/>
        </p:nvGraphicFramePr>
        <p:xfrm>
          <a:off x="5970588" y="3568701"/>
          <a:ext cx="112712" cy="214313"/>
        </p:xfrm>
        <a:graphic>
          <a:graphicData uri="http://schemas.openxmlformats.org/presentationml/2006/ole">
            <mc:AlternateContent xmlns:mc="http://schemas.openxmlformats.org/markup-compatibility/2006">
              <mc:Choice xmlns:v="urn:schemas-microsoft-com:vml" Requires="v">
                <p:oleObj spid="_x0000_s317491" name="公式" r:id="rId3" imgW="114300" imgH="215900" progId="Equation.3">
                  <p:embed/>
                </p:oleObj>
              </mc:Choice>
              <mc:Fallback>
                <p:oleObj name="公式" r:id="rId3" imgW="114300" imgH="215900" progId="Equation.3">
                  <p:embed/>
                  <p:pic>
                    <p:nvPicPr>
                      <p:cNvPr id="0" name="Object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588" y="3568701"/>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23" name="Rectangle 83"/>
          <p:cNvSpPr>
            <a:spLocks noChangeArrowheads="1"/>
          </p:cNvSpPr>
          <p:nvPr/>
        </p:nvSpPr>
        <p:spPr bwMode="auto">
          <a:xfrm>
            <a:off x="1401218" y="1517009"/>
            <a:ext cx="6913213" cy="203132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 </a:t>
            </a:r>
            <a:r>
              <a:rPr lang="en-US" altLang="zh-CN" sz="3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3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40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次独立重复试验中事件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发生的次数，</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在每次试验中发生的概率，则对于任意正数</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 0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 </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25" name="Object 85"/>
          <p:cNvGraphicFramePr>
            <a:graphicFrameLocks noChangeAspect="1"/>
          </p:cNvGraphicFramePr>
          <p:nvPr/>
        </p:nvGraphicFramePr>
        <p:xfrm>
          <a:off x="3460073" y="3229729"/>
          <a:ext cx="3715580" cy="1031731"/>
        </p:xfrm>
        <a:graphic>
          <a:graphicData uri="http://schemas.openxmlformats.org/presentationml/2006/ole">
            <mc:AlternateContent xmlns:mc="http://schemas.openxmlformats.org/markup-compatibility/2006">
              <mc:Choice xmlns:v="urn:schemas-microsoft-com:vml" Requires="v">
                <p:oleObj spid="_x0000_s317492" name="Equation" r:id="rId4" imgW="33832800" imgH="9448800" progId="Equation.DSMT4">
                  <p:embed/>
                </p:oleObj>
              </mc:Choice>
              <mc:Fallback>
                <p:oleObj name="Equation" r:id="rId4" imgW="33832800" imgH="9448800" progId="Equation.DSMT4">
                  <p:embed/>
                  <p:pic>
                    <p:nvPicPr>
                      <p:cNvPr id="0" name="Object 85"/>
                      <p:cNvPicPr>
                        <a:picLocks noChangeAspect="1" noChangeArrowheads="1"/>
                      </p:cNvPicPr>
                      <p:nvPr/>
                    </p:nvPicPr>
                    <p:blipFill>
                      <a:blip r:embed="rId5"/>
                      <a:srcRect/>
                      <a:stretch>
                        <a:fillRect/>
                      </a:stretch>
                    </p:blipFill>
                    <p:spPr bwMode="auto">
                      <a:xfrm>
                        <a:off x="3460073" y="3229729"/>
                        <a:ext cx="3715580" cy="1031731"/>
                      </a:xfrm>
                      <a:prstGeom prst="rect">
                        <a:avLst/>
                      </a:prstGeom>
                      <a:noFill/>
                      <a:ln>
                        <a:noFill/>
                      </a:ln>
                      <a:effectLst/>
                    </p:spPr>
                  </p:pic>
                </p:oleObj>
              </mc:Fallback>
            </mc:AlternateContent>
          </a:graphicData>
        </a:graphic>
      </p:graphicFrame>
      <p:sp>
        <p:nvSpPr>
          <p:cNvPr id="35926" name="Rectangle 86"/>
          <p:cNvSpPr>
            <a:spLocks noChangeArrowheads="1"/>
          </p:cNvSpPr>
          <p:nvPr/>
        </p:nvSpPr>
        <p:spPr bwMode="auto">
          <a:xfrm>
            <a:off x="2543846" y="4688049"/>
            <a:ext cx="492443"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或</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29" name="Object 89"/>
          <p:cNvGraphicFramePr>
            <a:graphicFrameLocks noChangeAspect="1"/>
          </p:cNvGraphicFramePr>
          <p:nvPr/>
        </p:nvGraphicFramePr>
        <p:xfrm>
          <a:off x="3426356" y="4403017"/>
          <a:ext cx="3783013" cy="1031731"/>
        </p:xfrm>
        <a:graphic>
          <a:graphicData uri="http://schemas.openxmlformats.org/presentationml/2006/ole">
            <mc:AlternateContent xmlns:mc="http://schemas.openxmlformats.org/markup-compatibility/2006">
              <mc:Choice xmlns:v="urn:schemas-microsoft-com:vml" Requires="v">
                <p:oleObj spid="_x0000_s317493" name="Equation" r:id="rId6" imgW="34442400" imgH="9448800" progId="Equation.DSMT4">
                  <p:embed/>
                </p:oleObj>
              </mc:Choice>
              <mc:Fallback>
                <p:oleObj name="Equation" r:id="rId6" imgW="34442400" imgH="9448800" progId="Equation.DSMT4">
                  <p:embed/>
                  <p:pic>
                    <p:nvPicPr>
                      <p:cNvPr id="0" name="Object 89"/>
                      <p:cNvPicPr>
                        <a:picLocks noChangeAspect="1" noChangeArrowheads="1"/>
                      </p:cNvPicPr>
                      <p:nvPr/>
                    </p:nvPicPr>
                    <p:blipFill>
                      <a:blip r:embed="rId7"/>
                      <a:srcRect/>
                      <a:stretch>
                        <a:fillRect/>
                      </a:stretch>
                    </p:blipFill>
                    <p:spPr bwMode="auto">
                      <a:xfrm>
                        <a:off x="3426356" y="4403017"/>
                        <a:ext cx="3783013" cy="1031731"/>
                      </a:xfrm>
                      <a:prstGeom prst="rect">
                        <a:avLst/>
                      </a:prstGeom>
                      <a:noFill/>
                      <a:ln>
                        <a:noFill/>
                      </a:ln>
                      <a:effectLst/>
                    </p:spPr>
                  </p:pic>
                </p:oleObj>
              </mc:Fallback>
            </mc:AlternateContent>
          </a:graphicData>
        </a:graphic>
      </p:graphicFrame>
      <p:grpSp>
        <p:nvGrpSpPr>
          <p:cNvPr id="14" name="组合 13"/>
          <p:cNvGrpSpPr/>
          <p:nvPr/>
        </p:nvGrpSpPr>
        <p:grpSpPr>
          <a:xfrm>
            <a:off x="9058508" y="1247237"/>
            <a:ext cx="1995120" cy="3786428"/>
            <a:chOff x="9058508" y="1247237"/>
            <a:chExt cx="1995120" cy="3786428"/>
          </a:xfrm>
        </p:grpSpPr>
        <p:pic>
          <p:nvPicPr>
            <p:cNvPr id="15" name="Picture 73" descr="贝努里"/>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58508" y="1247237"/>
              <a:ext cx="1995120" cy="315578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6" name="Rectangle 74"/>
            <p:cNvSpPr>
              <a:spLocks noChangeArrowheads="1"/>
            </p:cNvSpPr>
            <p:nvPr/>
          </p:nvSpPr>
          <p:spPr bwMode="auto">
            <a:xfrm>
              <a:off x="9408368" y="4572000"/>
              <a:ext cx="1295400"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364343" y="255069"/>
            <a:ext cx="3852460"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a:t>
            </a:r>
            <a:r>
              <a:rPr lang="zh-CN" altLang="en-US"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2" name="Text Box 71"/>
          <p:cNvSpPr txBox="1">
            <a:spLocks noChangeArrowheads="1"/>
          </p:cNvSpPr>
          <p:nvPr/>
        </p:nvSpPr>
        <p:spPr bwMode="auto">
          <a:xfrm>
            <a:off x="1335307" y="1063183"/>
            <a:ext cx="47479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5923"/>
                                        </p:tgtEl>
                                        <p:attrNameLst>
                                          <p:attrName>style.visibility</p:attrName>
                                        </p:attrNameLst>
                                      </p:cBhvr>
                                      <p:to>
                                        <p:strVal val="visible"/>
                                      </p:to>
                                    </p:set>
                                    <p:animEffect transition="in" filter="barn(outVertical)">
                                      <p:cBhvr>
                                        <p:cTn id="7" dur="500"/>
                                        <p:tgtEl>
                                          <p:spTgt spid="359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925"/>
                                        </p:tgtEl>
                                        <p:attrNameLst>
                                          <p:attrName>style.visibility</p:attrName>
                                        </p:attrNameLst>
                                      </p:cBhvr>
                                      <p:to>
                                        <p:strVal val="visible"/>
                                      </p:to>
                                    </p:set>
                                    <p:animEffect transition="in" filter="wipe(left)">
                                      <p:cBhvr>
                                        <p:cTn id="12" dur="500"/>
                                        <p:tgtEl>
                                          <p:spTgt spid="3592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5926"/>
                                        </p:tgtEl>
                                        <p:attrNameLst>
                                          <p:attrName>style.visibility</p:attrName>
                                        </p:attrNameLst>
                                      </p:cBhvr>
                                      <p:to>
                                        <p:strVal val="visible"/>
                                      </p:to>
                                    </p:set>
                                    <p:anim calcmode="lin" valueType="num">
                                      <p:cBhvr additive="base">
                                        <p:cTn id="17" dur="500" fill="hold"/>
                                        <p:tgtEl>
                                          <p:spTgt spid="35926"/>
                                        </p:tgtEl>
                                        <p:attrNameLst>
                                          <p:attrName>ppt_x</p:attrName>
                                        </p:attrNameLst>
                                      </p:cBhvr>
                                      <p:tavLst>
                                        <p:tav tm="0">
                                          <p:val>
                                            <p:strVal val="0-#ppt_w/2"/>
                                          </p:val>
                                        </p:tav>
                                        <p:tav tm="100000">
                                          <p:val>
                                            <p:strVal val="#ppt_x"/>
                                          </p:val>
                                        </p:tav>
                                      </p:tavLst>
                                    </p:anim>
                                    <p:anim calcmode="lin" valueType="num">
                                      <p:cBhvr additive="base">
                                        <p:cTn id="18" dur="500" fill="hold"/>
                                        <p:tgtEl>
                                          <p:spTgt spid="3592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5929"/>
                                        </p:tgtEl>
                                        <p:attrNameLst>
                                          <p:attrName>style.visibility</p:attrName>
                                        </p:attrNameLst>
                                      </p:cBhvr>
                                      <p:to>
                                        <p:strVal val="visible"/>
                                      </p:to>
                                    </p:set>
                                    <p:animEffect transition="in" filter="wipe(left)">
                                      <p:cBhvr>
                                        <p:cTn id="23" dur="500"/>
                                        <p:tgtEl>
                                          <p:spTgt spid="35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23" grpId="0" autoUpdateAnimBg="0"/>
      <p:bldP spid="3592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21" name="Object 81"/>
          <p:cNvGraphicFramePr>
            <a:graphicFrameLocks noChangeAspect="1"/>
          </p:cNvGraphicFramePr>
          <p:nvPr/>
        </p:nvGraphicFramePr>
        <p:xfrm>
          <a:off x="5970588" y="3568701"/>
          <a:ext cx="112712" cy="214313"/>
        </p:xfrm>
        <a:graphic>
          <a:graphicData uri="http://schemas.openxmlformats.org/presentationml/2006/ole">
            <mc:AlternateContent xmlns:mc="http://schemas.openxmlformats.org/markup-compatibility/2006">
              <mc:Choice xmlns:v="urn:schemas-microsoft-com:vml" Requires="v">
                <p:oleObj spid="_x0000_s318502" name="公式" r:id="rId1" imgW="114300" imgH="215900" progId="Equation.3">
                  <p:embed/>
                </p:oleObj>
              </mc:Choice>
              <mc:Fallback>
                <p:oleObj name="公式" r:id="rId1" imgW="114300" imgH="215900" progId="Equation.3">
                  <p:embed/>
                  <p:pic>
                    <p:nvPicPr>
                      <p:cNvPr id="0" name="Object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588" y="3568701"/>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22" name="Object 82"/>
          <p:cNvGraphicFramePr>
            <a:graphicFrameLocks noChangeAspect="1"/>
          </p:cNvGraphicFramePr>
          <p:nvPr/>
        </p:nvGraphicFramePr>
        <p:xfrm>
          <a:off x="5970588" y="3568701"/>
          <a:ext cx="112712" cy="214313"/>
        </p:xfrm>
        <a:graphic>
          <a:graphicData uri="http://schemas.openxmlformats.org/presentationml/2006/ole">
            <mc:AlternateContent xmlns:mc="http://schemas.openxmlformats.org/markup-compatibility/2006">
              <mc:Choice xmlns:v="urn:schemas-microsoft-com:vml" Requires="v">
                <p:oleObj spid="_x0000_s318503" name="公式" r:id="rId3" imgW="114300" imgH="215900" progId="Equation.3">
                  <p:embed/>
                </p:oleObj>
              </mc:Choice>
              <mc:Fallback>
                <p:oleObj name="公式" r:id="rId3" imgW="114300" imgH="215900" progId="Equation.3">
                  <p:embed/>
                  <p:pic>
                    <p:nvPicPr>
                      <p:cNvPr id="0" name="Object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588" y="3568701"/>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30" name="Text Box 90"/>
          <p:cNvSpPr txBox="1">
            <a:spLocks noChangeArrowheads="1"/>
          </p:cNvSpPr>
          <p:nvPr/>
        </p:nvSpPr>
        <p:spPr bwMode="auto">
          <a:xfrm>
            <a:off x="1406163" y="1879445"/>
            <a:ext cx="10001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证明</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31" name="Object 91"/>
          <p:cNvGraphicFramePr>
            <a:graphicFrameLocks noChangeAspect="1"/>
          </p:cNvGraphicFramePr>
          <p:nvPr/>
        </p:nvGraphicFramePr>
        <p:xfrm>
          <a:off x="1080577" y="1922657"/>
          <a:ext cx="5947875" cy="1021110"/>
        </p:xfrm>
        <a:graphic>
          <a:graphicData uri="http://schemas.openxmlformats.org/presentationml/2006/ole">
            <mc:AlternateContent xmlns:mc="http://schemas.openxmlformats.org/markup-compatibility/2006">
              <mc:Choice xmlns:v="urn:schemas-microsoft-com:vml" Requires="v">
                <p:oleObj spid="_x0000_s318504" name="Equation" r:id="rId4" imgW="64008000" imgH="10972800" progId="Equation.DSMT4">
                  <p:embed/>
                </p:oleObj>
              </mc:Choice>
              <mc:Fallback>
                <p:oleObj name="Equation" r:id="rId4" imgW="64008000" imgH="10972800" progId="Equation.DSMT4">
                  <p:embed/>
                  <p:pic>
                    <p:nvPicPr>
                      <p:cNvPr id="0" name="Object 91"/>
                      <p:cNvPicPr>
                        <a:picLocks noChangeAspect="1" noChangeArrowheads="1"/>
                      </p:cNvPicPr>
                      <p:nvPr/>
                    </p:nvPicPr>
                    <p:blipFill>
                      <a:blip r:embed="rId5"/>
                      <a:srcRect/>
                      <a:stretch>
                        <a:fillRect/>
                      </a:stretch>
                    </p:blipFill>
                    <p:spPr bwMode="auto">
                      <a:xfrm>
                        <a:off x="1080577" y="1922657"/>
                        <a:ext cx="5947875" cy="1021110"/>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35932" name="Object 92"/>
              <p:cNvSpPr txBox="1"/>
              <p:nvPr/>
            </p:nvSpPr>
            <p:spPr bwMode="auto">
              <a:xfrm>
                <a:off x="1488232" y="3397136"/>
                <a:ext cx="6408712" cy="159990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其中相互独立，且都服从以</m:t>
                      </m:r>
                      <m:r>
                        <a:rPr lang="zh-CN" altLang="en-US" sz="2800" i="1" smtClean="0">
                          <a:solidFill>
                            <a:srgbClr val="000000"/>
                          </a:solidFill>
                          <a:latin typeface="Cambria Math" panose="02040503050406030204" pitchFamily="18" charset="0"/>
                        </a:rPr>
                        <m:t>𝑝</m:t>
                      </m:r>
                      <m:r>
                        <a:rPr lang="zh-CN" altLang="en-US" sz="2800" i="1" smtClean="0">
                          <a:solidFill>
                            <a:srgbClr val="000000"/>
                          </a:solidFill>
                          <a:latin typeface="Cambria Math" panose="02040503050406030204" pitchFamily="18" charset="0"/>
                        </a:rPr>
                        <m:t>以为参数的</m:t>
                      </m:r>
                      <m:d>
                        <m:dPr>
                          <m:begChr m:val="（"/>
                          <m:endChr m:val="）"/>
                          <m:ctrlPr>
                            <a:rPr lang="zh-CN" altLang="en-US" sz="2800" i="1">
                              <a:solidFill>
                                <a:srgbClr val="000000"/>
                              </a:solidFill>
                              <a:latin typeface="Cambria Math" panose="02040503050406030204" pitchFamily="18" charset="0"/>
                            </a:rPr>
                          </m:ctrlPr>
                        </m:dPr>
                        <m:e>
                          <m:r>
                            <a:rPr lang="zh-CN" altLang="en-US" sz="2800" i="0">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r>
                            <a:rPr lang="zh-CN" altLang="en-US" sz="2800" i="0">
                              <a:solidFill>
                                <a:srgbClr val="000000"/>
                              </a:solidFill>
                              <a:latin typeface="Cambria Math" panose="02040503050406030204" pitchFamily="18" charset="0"/>
                            </a:rPr>
                            <m:t>1</m:t>
                          </m:r>
                        </m:e>
                      </m:d>
                      <m:r>
                        <a:rPr lang="zh-CN" altLang="en-US" sz="2800" i="1">
                          <a:solidFill>
                            <a:srgbClr val="000000"/>
                          </a:solidFill>
                          <a:latin typeface="Cambria Math" panose="02040503050406030204" pitchFamily="18" charset="0"/>
                        </a:rPr>
                        <m:t>分布。</m:t>
                      </m:r>
                    </m:oMath>
                  </m:oMathPara>
                </a14:m>
                <a:endParaRPr lang="en-US" altLang="zh-CN" sz="2800" i="1" dirty="0">
                  <a:solidFill>
                    <a:srgbClr val="000000"/>
                  </a:solidFill>
                  <a:latin typeface="Cambria Math" panose="02040503050406030204" pitchFamily="18" charset="0"/>
                </a:endParaRPr>
              </a:p>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因而</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𝑋</m:t>
                          </m:r>
                        </m:e>
                        <m:sub>
                          <m:r>
                            <a:rPr lang="zh-CN" altLang="en-US" sz="2800" i="1">
                              <a:solidFill>
                                <a:srgbClr val="000000"/>
                              </a:solidFill>
                              <a:latin typeface="Cambria Math" panose="02040503050406030204" pitchFamily="18" charset="0"/>
                            </a:rPr>
                            <m:t>𝑘</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𝐷</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𝑋</m:t>
                          </m:r>
                        </m:e>
                        <m:sub>
                          <m:r>
                            <a:rPr lang="zh-CN" altLang="en-US" sz="2800" i="1">
                              <a:solidFill>
                                <a:srgbClr val="000000"/>
                              </a:solidFill>
                              <a:latin typeface="Cambria Math" panose="02040503050406030204" pitchFamily="18" charset="0"/>
                            </a:rPr>
                            <m:t>𝑘</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p:sp>
            <p:nvSpPr>
              <p:cNvPr id="35932" name="Object 92"/>
              <p:cNvSpPr txBox="1">
                <a:spLocks noRot="1" noChangeAspect="1" noMove="1" noResize="1" noEditPoints="1" noAdjustHandles="1" noChangeArrowheads="1" noChangeShapeType="1" noTextEdit="1"/>
              </p:cNvSpPr>
              <p:nvPr/>
            </p:nvSpPr>
            <p:spPr bwMode="auto">
              <a:xfrm>
                <a:off x="1488232" y="3397136"/>
                <a:ext cx="6408712" cy="1599902"/>
              </a:xfrm>
              <a:prstGeom prst="rect">
                <a:avLst/>
              </a:prstGeom>
              <a:blipFill rotWithShape="1">
                <a:blip r:embed="rId6"/>
                <a:stretch>
                  <a:fillRect l="-7" t="-33" r="1" b="14"/>
                </a:stretch>
              </a:blipFill>
              <a:ln>
                <a:noFill/>
              </a:ln>
              <a:effectLst/>
            </p:spPr>
            <p:txBody>
              <a:bodyPr/>
              <a:lstStyle/>
              <a:p>
                <a:r>
                  <a:rPr lang="zh-CN" altLang="en-US">
                    <a:noFill/>
                  </a:rPr>
                  <a:t> </a:t>
                </a:r>
              </a:p>
            </p:txBody>
          </p:sp>
        </mc:Fallback>
      </mc:AlternateContent>
      <p:grpSp>
        <p:nvGrpSpPr>
          <p:cNvPr id="14" name="组合 13"/>
          <p:cNvGrpSpPr/>
          <p:nvPr/>
        </p:nvGrpSpPr>
        <p:grpSpPr>
          <a:xfrm>
            <a:off x="9058508" y="1247237"/>
            <a:ext cx="1995120" cy="3786428"/>
            <a:chOff x="9058508" y="1247237"/>
            <a:chExt cx="1995120" cy="3786428"/>
          </a:xfrm>
        </p:grpSpPr>
        <p:pic>
          <p:nvPicPr>
            <p:cNvPr id="15" name="Picture 73" descr="贝努里"/>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58508" y="1247237"/>
              <a:ext cx="1995120" cy="315578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6" name="Rectangle 74"/>
            <p:cNvSpPr>
              <a:spLocks noChangeArrowheads="1"/>
            </p:cNvSpPr>
            <p:nvPr/>
          </p:nvSpPr>
          <p:spPr bwMode="auto">
            <a:xfrm>
              <a:off x="9408368" y="4572000"/>
              <a:ext cx="1295400"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2" name="Text Box 71"/>
          <p:cNvSpPr txBox="1">
            <a:spLocks noChangeArrowheads="1"/>
          </p:cNvSpPr>
          <p:nvPr/>
        </p:nvSpPr>
        <p:spPr bwMode="auto">
          <a:xfrm>
            <a:off x="1335307" y="1063183"/>
            <a:ext cx="47479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矩形 22"/>
          <p:cNvSpPr>
            <a:spLocks noChangeArrowheads="1"/>
          </p:cNvSpPr>
          <p:nvPr/>
        </p:nvSpPr>
        <p:spPr bwMode="auto">
          <a:xfrm>
            <a:off x="1364343" y="255069"/>
            <a:ext cx="3852460"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a:t>
            </a:r>
            <a:r>
              <a:rPr lang="zh-CN" altLang="en-US"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930"/>
                                        </p:tgtEl>
                                        <p:attrNameLst>
                                          <p:attrName>style.visibility</p:attrName>
                                        </p:attrNameLst>
                                      </p:cBhvr>
                                      <p:to>
                                        <p:strVal val="visible"/>
                                      </p:to>
                                    </p:set>
                                    <p:animEffect transition="in" filter="wipe(down)">
                                      <p:cBhvr>
                                        <p:cTn id="7" dur="500"/>
                                        <p:tgtEl>
                                          <p:spTgt spid="359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931"/>
                                        </p:tgtEl>
                                        <p:attrNameLst>
                                          <p:attrName>style.visibility</p:attrName>
                                        </p:attrNameLst>
                                      </p:cBhvr>
                                      <p:to>
                                        <p:strVal val="visible"/>
                                      </p:to>
                                    </p:set>
                                    <p:animEffect transition="in" filter="wipe(left)">
                                      <p:cBhvr>
                                        <p:cTn id="12" dur="500"/>
                                        <p:tgtEl>
                                          <p:spTgt spid="3593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5932"/>
                                        </p:tgtEl>
                                        <p:attrNameLst>
                                          <p:attrName>style.visibility</p:attrName>
                                        </p:attrNameLst>
                                      </p:cBhvr>
                                      <p:to>
                                        <p:strVal val="visible"/>
                                      </p:to>
                                    </p:set>
                                    <p:animEffect transition="in" filter="barn(inVertical)">
                                      <p:cBhvr>
                                        <p:cTn id="17" dur="500"/>
                                        <p:tgtEl>
                                          <p:spTgt spid="35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30" grpId="0"/>
      <p:bldP spid="359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67" name="Object 83"/>
          <p:cNvGraphicFramePr>
            <a:graphicFrameLocks noChangeAspect="1"/>
          </p:cNvGraphicFramePr>
          <p:nvPr/>
        </p:nvGraphicFramePr>
        <p:xfrm>
          <a:off x="4524282" y="1845023"/>
          <a:ext cx="6887851" cy="1021643"/>
        </p:xfrm>
        <a:graphic>
          <a:graphicData uri="http://schemas.openxmlformats.org/presentationml/2006/ole">
            <mc:AlternateContent xmlns:mc="http://schemas.openxmlformats.org/markup-compatibility/2006">
              <mc:Choice xmlns:v="urn:schemas-microsoft-com:vml" Requires="v">
                <p:oleObj spid="_x0000_s319526" name="Equation" r:id="rId1" imgW="63703200" imgH="9448800" progId="Equation.DSMT4">
                  <p:embed/>
                </p:oleObj>
              </mc:Choice>
              <mc:Fallback>
                <p:oleObj name="Equation" r:id="rId1" imgW="63703200" imgH="9448800" progId="Equation.DSMT4">
                  <p:embed/>
                  <p:pic>
                    <p:nvPicPr>
                      <p:cNvPr id="0" name="Object 83"/>
                      <p:cNvPicPr>
                        <a:picLocks noChangeAspect="1" noChangeArrowheads="1"/>
                      </p:cNvPicPr>
                      <p:nvPr/>
                    </p:nvPicPr>
                    <p:blipFill>
                      <a:blip r:embed="rId2"/>
                      <a:srcRect/>
                      <a:stretch>
                        <a:fillRect/>
                      </a:stretch>
                    </p:blipFill>
                    <p:spPr bwMode="auto">
                      <a:xfrm>
                        <a:off x="4524282" y="1845023"/>
                        <a:ext cx="6887851" cy="1021643"/>
                      </a:xfrm>
                      <a:prstGeom prst="rect">
                        <a:avLst/>
                      </a:prstGeom>
                      <a:noFill/>
                      <a:ln>
                        <a:noFill/>
                      </a:ln>
                      <a:effectLst/>
                    </p:spPr>
                  </p:pic>
                </p:oleObj>
              </mc:Fallback>
            </mc:AlternateContent>
          </a:graphicData>
        </a:graphic>
      </p:graphicFrame>
      <p:graphicFrame>
        <p:nvGraphicFramePr>
          <p:cNvPr id="16468" name="Object 84"/>
          <p:cNvGraphicFramePr>
            <a:graphicFrameLocks noChangeAspect="1"/>
          </p:cNvGraphicFramePr>
          <p:nvPr/>
        </p:nvGraphicFramePr>
        <p:xfrm>
          <a:off x="550987" y="1845024"/>
          <a:ext cx="3954747" cy="1021643"/>
        </p:xfrm>
        <a:graphic>
          <a:graphicData uri="http://schemas.openxmlformats.org/presentationml/2006/ole">
            <mc:AlternateContent xmlns:mc="http://schemas.openxmlformats.org/markup-compatibility/2006">
              <mc:Choice xmlns:v="urn:schemas-microsoft-com:vml" Requires="v">
                <p:oleObj spid="_x0000_s319527" name="Equation" r:id="rId3" imgW="36576000" imgH="9448800" progId="Equation.DSMT4">
                  <p:embed/>
                </p:oleObj>
              </mc:Choice>
              <mc:Fallback>
                <p:oleObj name="Equation" r:id="rId3" imgW="36576000" imgH="9448800" progId="Equation.DSMT4">
                  <p:embed/>
                  <p:pic>
                    <p:nvPicPr>
                      <p:cNvPr id="0" name="Object 84"/>
                      <p:cNvPicPr>
                        <a:picLocks noChangeAspect="1" noChangeArrowheads="1"/>
                      </p:cNvPicPr>
                      <p:nvPr/>
                    </p:nvPicPr>
                    <p:blipFill>
                      <a:blip r:embed="rId4"/>
                      <a:srcRect/>
                      <a:stretch>
                        <a:fillRect/>
                      </a:stretch>
                    </p:blipFill>
                    <p:spPr bwMode="auto">
                      <a:xfrm>
                        <a:off x="550987" y="1845024"/>
                        <a:ext cx="3954747" cy="1021643"/>
                      </a:xfrm>
                      <a:prstGeom prst="rect">
                        <a:avLst/>
                      </a:prstGeom>
                      <a:noFill/>
                      <a:ln>
                        <a:noFill/>
                      </a:ln>
                      <a:effectLst/>
                    </p:spPr>
                  </p:pic>
                </p:oleObj>
              </mc:Fallback>
            </mc:AlternateContent>
          </a:graphicData>
        </a:graphic>
      </p:graphicFrame>
      <p:sp>
        <p:nvSpPr>
          <p:cNvPr id="16469" name="Text Box 85"/>
          <p:cNvSpPr txBox="1">
            <a:spLocks noChangeArrowheads="1"/>
          </p:cNvSpPr>
          <p:nvPr/>
        </p:nvSpPr>
        <p:spPr bwMode="auto">
          <a:xfrm>
            <a:off x="7968208" y="3132637"/>
            <a:ext cx="1152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证毕</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71" name="Rectangle 87"/>
          <p:cNvSpPr>
            <a:spLocks noChangeArrowheads="1"/>
          </p:cNvSpPr>
          <p:nvPr/>
        </p:nvSpPr>
        <p:spPr bwMode="auto">
          <a:xfrm>
            <a:off x="1404778" y="3910995"/>
            <a:ext cx="9433048" cy="122168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贝努里大数定律表明，当重复试验次数</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充分大时，事件</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发生的频率</a:t>
            </a:r>
            <a:r>
              <a:rPr lang="en-US" altLang="zh-CN" sz="2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与事件</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有较大偏差的概率很小。</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6472" name="Object 88"/>
          <p:cNvGraphicFramePr>
            <a:graphicFrameLocks noChangeAspect="1"/>
          </p:cNvGraphicFramePr>
          <p:nvPr/>
        </p:nvGraphicFramePr>
        <p:xfrm>
          <a:off x="3127500" y="2808065"/>
          <a:ext cx="4428491" cy="1149347"/>
        </p:xfrm>
        <a:graphic>
          <a:graphicData uri="http://schemas.openxmlformats.org/presentationml/2006/ole">
            <mc:AlternateContent xmlns:mc="http://schemas.openxmlformats.org/markup-compatibility/2006">
              <mc:Choice xmlns:v="urn:schemas-microsoft-com:vml" Requires="v">
                <p:oleObj spid="_x0000_s319528" name="Equation" r:id="rId5" imgW="34442400" imgH="9448800" progId="Equation.DSMT4">
                  <p:embed/>
                </p:oleObj>
              </mc:Choice>
              <mc:Fallback>
                <p:oleObj name="Equation" r:id="rId5" imgW="34442400" imgH="9448800" progId="Equation.DSMT4">
                  <p:embed/>
                  <p:pic>
                    <p:nvPicPr>
                      <p:cNvPr id="0" name="Object 88"/>
                      <p:cNvPicPr>
                        <a:picLocks noChangeAspect="1" noChangeArrowheads="1"/>
                      </p:cNvPicPr>
                      <p:nvPr/>
                    </p:nvPicPr>
                    <p:blipFill>
                      <a:blip r:embed="rId6"/>
                      <a:srcRect/>
                      <a:stretch>
                        <a:fillRect/>
                      </a:stretch>
                    </p:blipFill>
                    <p:spPr bwMode="auto">
                      <a:xfrm>
                        <a:off x="3127500" y="2808065"/>
                        <a:ext cx="4428491" cy="1149347"/>
                      </a:xfrm>
                      <a:prstGeom prst="rect">
                        <a:avLst/>
                      </a:prstGeom>
                      <a:noFill/>
                      <a:ln>
                        <a:noFill/>
                      </a:ln>
                      <a:effectLst/>
                    </p:spPr>
                  </p:pic>
                </p:oleObj>
              </mc:Fallback>
            </mc:AlternateContent>
          </a:graphicData>
        </a:graphic>
      </p:graphicFrame>
      <p:sp>
        <p:nvSpPr>
          <p:cNvPr id="16473" name="Rectangle 89"/>
          <p:cNvSpPr>
            <a:spLocks noChangeArrowheads="1"/>
          </p:cNvSpPr>
          <p:nvPr/>
        </p:nvSpPr>
        <p:spPr bwMode="auto">
          <a:xfrm>
            <a:off x="2423592" y="3183359"/>
            <a:ext cx="492443"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或</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Rectangle 75"/>
          <p:cNvSpPr>
            <a:spLocks noChangeArrowheads="1"/>
          </p:cNvSpPr>
          <p:nvPr/>
        </p:nvSpPr>
        <p:spPr bwMode="auto">
          <a:xfrm>
            <a:off x="1479733" y="5132676"/>
            <a:ext cx="7064737"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事件发生的频率可以代替事件的概率。</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 Box 71"/>
          <p:cNvSpPr txBox="1">
            <a:spLocks noChangeArrowheads="1"/>
          </p:cNvSpPr>
          <p:nvPr/>
        </p:nvSpPr>
        <p:spPr bwMode="auto">
          <a:xfrm>
            <a:off x="1348007" y="1321803"/>
            <a:ext cx="47479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由定理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即得</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6" name="矩形 15"/>
          <p:cNvSpPr>
            <a:spLocks noChangeArrowheads="1"/>
          </p:cNvSpPr>
          <p:nvPr/>
        </p:nvSpPr>
        <p:spPr bwMode="auto">
          <a:xfrm>
            <a:off x="1364343" y="255069"/>
            <a:ext cx="3852460"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a:t>
            </a:r>
            <a:r>
              <a:rPr lang="zh-CN" altLang="en-US"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468"/>
                                        </p:tgtEl>
                                        <p:attrNameLst>
                                          <p:attrName>style.visibility</p:attrName>
                                        </p:attrNameLst>
                                      </p:cBhvr>
                                      <p:to>
                                        <p:strVal val="visible"/>
                                      </p:to>
                                    </p:set>
                                    <p:animEffect transition="in" filter="wipe(down)">
                                      <p:cBhvr>
                                        <p:cTn id="12" dur="500"/>
                                        <p:tgtEl>
                                          <p:spTgt spid="164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467"/>
                                        </p:tgtEl>
                                        <p:attrNameLst>
                                          <p:attrName>style.visibility</p:attrName>
                                        </p:attrNameLst>
                                      </p:cBhvr>
                                      <p:to>
                                        <p:strVal val="visible"/>
                                      </p:to>
                                    </p:set>
                                    <p:animEffect transition="in" filter="wipe(down)">
                                      <p:cBhvr>
                                        <p:cTn id="17" dur="500"/>
                                        <p:tgtEl>
                                          <p:spTgt spid="1646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6473"/>
                                        </p:tgtEl>
                                        <p:attrNameLst>
                                          <p:attrName>style.visibility</p:attrName>
                                        </p:attrNameLst>
                                      </p:cBhvr>
                                      <p:to>
                                        <p:strVal val="visible"/>
                                      </p:to>
                                    </p:set>
                                    <p:anim calcmode="lin" valueType="num">
                                      <p:cBhvr additive="base">
                                        <p:cTn id="22" dur="500" fill="hold"/>
                                        <p:tgtEl>
                                          <p:spTgt spid="16473"/>
                                        </p:tgtEl>
                                        <p:attrNameLst>
                                          <p:attrName>ppt_x</p:attrName>
                                        </p:attrNameLst>
                                      </p:cBhvr>
                                      <p:tavLst>
                                        <p:tav tm="0">
                                          <p:val>
                                            <p:strVal val="0-#ppt_w/2"/>
                                          </p:val>
                                        </p:tav>
                                        <p:tav tm="100000">
                                          <p:val>
                                            <p:strVal val="#ppt_x"/>
                                          </p:val>
                                        </p:tav>
                                      </p:tavLst>
                                    </p:anim>
                                    <p:anim calcmode="lin" valueType="num">
                                      <p:cBhvr additive="base">
                                        <p:cTn id="23" dur="500" fill="hold"/>
                                        <p:tgtEl>
                                          <p:spTgt spid="1647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6472"/>
                                        </p:tgtEl>
                                        <p:attrNameLst>
                                          <p:attrName>style.visibility</p:attrName>
                                        </p:attrNameLst>
                                      </p:cBhvr>
                                      <p:to>
                                        <p:strVal val="visible"/>
                                      </p:to>
                                    </p:set>
                                    <p:animEffect transition="in" filter="wipe(down)">
                                      <p:cBhvr>
                                        <p:cTn id="28" dur="500"/>
                                        <p:tgtEl>
                                          <p:spTgt spid="1647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6469"/>
                                        </p:tgtEl>
                                        <p:attrNameLst>
                                          <p:attrName>style.visibility</p:attrName>
                                        </p:attrNameLst>
                                      </p:cBhvr>
                                      <p:to>
                                        <p:strVal val="visible"/>
                                      </p:to>
                                    </p:set>
                                    <p:animEffect transition="in" filter="wipe(down)">
                                      <p:cBhvr>
                                        <p:cTn id="33" dur="500"/>
                                        <p:tgtEl>
                                          <p:spTgt spid="1646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6471"/>
                                        </p:tgtEl>
                                        <p:attrNameLst>
                                          <p:attrName>style.visibility</p:attrName>
                                        </p:attrNameLst>
                                      </p:cBhvr>
                                      <p:to>
                                        <p:strVal val="visible"/>
                                      </p:to>
                                    </p:set>
                                    <p:animEffect transition="in" filter="wipe(down)">
                                      <p:cBhvr>
                                        <p:cTn id="38" dur="500"/>
                                        <p:tgtEl>
                                          <p:spTgt spid="1647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69" grpId="0"/>
      <p:bldP spid="16471" grpId="0"/>
      <p:bldP spid="16473" grpId="0" autoUpdateAnimBg="0"/>
      <p:bldP spid="11" grpId="0" autoUpdateAnimBg="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9922" y="954846"/>
            <a:ext cx="12182078" cy="49584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66" name="Group 82"/>
          <p:cNvGraphicFramePr>
            <a:graphicFrameLocks noGrp="1"/>
          </p:cNvGraphicFramePr>
          <p:nvPr>
            <p:custDataLst>
              <p:tags r:id="rId1"/>
            </p:custDataLst>
          </p:nvPr>
        </p:nvGraphicFramePr>
        <p:xfrm>
          <a:off x="1005205" y="1196975"/>
          <a:ext cx="6553200" cy="3971290"/>
        </p:xfrm>
        <a:graphic>
          <a:graphicData uri="http://schemas.openxmlformats.org/drawingml/2006/table">
            <a:tbl>
              <a:tblPr/>
              <a:tblGrid>
                <a:gridCol w="1357630"/>
                <a:gridCol w="1297940"/>
                <a:gridCol w="1947545"/>
                <a:gridCol w="1950085"/>
              </a:tblGrid>
              <a:tr h="97536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ts val="0"/>
                        </a:spcAft>
                        <a:buClrTx/>
                        <a:buSzTx/>
                        <a:buFontTx/>
                        <a:buNone/>
                      </a:pP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试验者</a:t>
                      </a:r>
                      <a:endPar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抛币次数</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”正面向上”次数</a:t>
                      </a:r>
                      <a:endPar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频率 </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f </a:t>
                      </a:r>
                      <a:r>
                        <a:rPr kumimoji="1" lang="en-US" altLang="zh-CN" sz="2400" b="1" i="1" u="none" strike="noStrike" cap="none" normalizeH="0" baseline="-2500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 </a:t>
                      </a: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6390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De Morgan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2084</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1064</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0.518</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1691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err="1">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Bufen</a:t>
                      </a:r>
                      <a:endParaRPr kumimoji="1" lang="en-US" altLang="zh-CN" sz="2400" b="1" i="1" u="none" strike="noStrike" cap="none" normalizeH="0" baseline="0" dirty="0" err="1">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4040</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2048</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0.5069</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3533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Pearson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12000</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6019</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0.5016</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3596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Pearson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24000</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12012</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0.5005</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bl>
          </a:graphicData>
        </a:graphic>
      </p:graphicFrame>
      <p:cxnSp>
        <p:nvCxnSpPr>
          <p:cNvPr id="6"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抛掷钱币试验记录</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Text Box 55"/>
          <p:cNvSpPr txBox="1">
            <a:spLocks noChangeArrowheads="1"/>
          </p:cNvSpPr>
          <p:nvPr/>
        </p:nvSpPr>
        <p:spPr bwMode="auto">
          <a:xfrm>
            <a:off x="7823815" y="1341086"/>
            <a:ext cx="4032448"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从上表中可以看出，出现</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正面向上 </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kumimoji="1"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f</a:t>
            </a:r>
            <a:r>
              <a:rPr kumimoji="1"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的频率虽然随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的不同而变动，但是总的趋势是随着试验次数的增加而逐渐稳定在</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0.5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这个数值上。</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Text Box 55"/>
          <p:cNvSpPr txBox="1">
            <a:spLocks noChangeArrowheads="1"/>
          </p:cNvSpPr>
          <p:nvPr/>
        </p:nvSpPr>
        <p:spPr bwMode="auto">
          <a:xfrm>
            <a:off x="1005127" y="5158584"/>
            <a:ext cx="10491473"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可见，在大量重复的试验中，随机事件出现的</a:t>
            </a:r>
            <a:r>
              <a:rPr kumimoji="1"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频率具有稳定性，</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即通常所说的</a:t>
            </a:r>
            <a:r>
              <a:rPr kumimoji="1"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统计规律性。</a:t>
            </a:r>
            <a:endParaRPr kumimoji="1"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466"/>
                                        </p:tgtEl>
                                        <p:attrNameLst>
                                          <p:attrName>style.visibility</p:attrName>
                                        </p:attrNameLst>
                                      </p:cBhvr>
                                      <p:to>
                                        <p:strVal val="visible"/>
                                      </p:to>
                                    </p:set>
                                    <p:animEffect transition="in" filter="wipe(left)">
                                      <p:cBhvr>
                                        <p:cTn id="7" dur="500"/>
                                        <p:tgtEl>
                                          <p:spTgt spid="16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1"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88035" y="908685"/>
            <a:ext cx="10970895" cy="5405755"/>
          </a:xfrm>
          <a:prstGeom prst="rect">
            <a:avLst/>
          </a:prstGeom>
          <a:noFill/>
        </p:spPr>
        <p:txBody>
          <a:bodyPr wrap="square" rtlCol="0" anchor="t">
            <a:spAutoFit/>
          </a:bodyPr>
          <a:p>
            <a:pPr>
              <a:lnSpc>
                <a:spcPct val="180000"/>
              </a:lnSpc>
              <a:spcAft>
                <a:spcPts val="0"/>
              </a:spcAft>
            </a:pP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在今天的课堂上，我们看到了前人数学家们进行的动手实验，在佩服他们对于数学的求知精神之余，大家是否有想过，结合计算机编程来对数学实验进行验证？</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a:p>
            <a:pPr>
              <a:lnSpc>
                <a:spcPct val="180000"/>
              </a:lnSpc>
              <a:spcBef>
                <a:spcPts val="0"/>
              </a:spcBef>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线性代数课上曾经提到过，1973年诺贝尔经济学奖获得者列昂惕夫</a:t>
            </a:r>
            <a:b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b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（Wassily Leontief）用计算机计算出了由美国统计局的25万条经济数据所组成的42个未知数的42个方程的方程组，打开了研究经济数学模型的新时代的大门。计算机对于复杂数学问题的验证，一直以来都是很给力的，那我们就来试试，请大家用编程模拟抛硬币实验，并且验证实验结果是否如书上所述。</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6" name="直接连接符 8"/>
          <p:cNvCxnSpPr/>
          <p:nvPr>
            <p:custDataLst>
              <p:tags r:id="rId1"/>
            </p:custDataLst>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custDataLst>
              <p:tags r:id="rId2"/>
            </p:custDataLst>
          </p:nvPr>
        </p:nvSpPr>
        <p:spPr bwMode="auto">
          <a:xfrm>
            <a:off x="1406163" y="255069"/>
            <a:ext cx="466217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拓展任务1  模拟抛硬币实验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custDataLst>
                <p:tags r:id="rId3"/>
              </p:custDataLst>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custDataLst>
                <p:tags r:id="rId4"/>
              </p:custDataLst>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文本框 100"/>
          <p:cNvSpPr txBox="1"/>
          <p:nvPr/>
        </p:nvSpPr>
        <p:spPr>
          <a:xfrm>
            <a:off x="1127760" y="260985"/>
            <a:ext cx="6698615" cy="1863725"/>
          </a:xfrm>
          <a:prstGeom prst="rect">
            <a:avLst/>
          </a:prstGeom>
          <a:noFill/>
          <a:ln w="9525">
            <a:noFill/>
          </a:ln>
        </p:spPr>
        <p:txBody>
          <a:bodyPr wrap="square">
            <a:spAutoFit/>
          </a:bodyPr>
          <a:p>
            <a:pPr marL="266700" indent="-266700">
              <a:lnSpc>
                <a:spcPct val="120000"/>
              </a:lnSpc>
              <a:spcAft>
                <a:spcPts val="0"/>
              </a:spcAft>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lang="en-US" sz="2400">
                <a:latin typeface="Wingdings" panose="05000000000000000000" charset="0"/>
                <a:ea typeface="宋体" panose="02010600030101010101" pitchFamily="2" charset="-122"/>
                <a:sym typeface="+mn-ea"/>
              </a:rPr>
              <a:t>l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问题：1. 假设抛10次硬币，每次得到正反面都是随机2. 记录50000次模拟3. head[i]记录得到i次正面的次数</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sp>
        <p:nvSpPr>
          <p:cNvPr id="102" name="文本框 101"/>
          <p:cNvSpPr txBox="1"/>
          <p:nvPr/>
        </p:nvSpPr>
        <p:spPr>
          <a:xfrm>
            <a:off x="1199515" y="2277110"/>
            <a:ext cx="5080000" cy="460375"/>
          </a:xfrm>
          <a:prstGeom prst="rect">
            <a:avLst/>
          </a:prstGeom>
          <a:noFill/>
          <a:ln w="9525">
            <a:noFill/>
          </a:ln>
        </p:spPr>
        <p:txBody>
          <a:bodyPr>
            <a:spAutoFit/>
          </a:bodyPr>
          <a:p>
            <a:pPr marL="0" indent="0">
              <a:spcAft>
                <a:spcPts val="0"/>
              </a:spcAft>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mn-ea"/>
              </a:rPr>
              <a:t> </a:t>
            </a:r>
            <a:r>
              <a:rPr lang="en-US" sz="2400">
                <a:latin typeface="Wingdings" panose="05000000000000000000" charset="0"/>
                <a:ea typeface="宋体" panose="02010600030101010101" pitchFamily="2" charset="-122"/>
                <a:sym typeface="+mn-ea"/>
              </a:rPr>
              <a:t>l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输出结果：</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pic>
        <p:nvPicPr>
          <p:cNvPr id="4" name="图片 3"/>
          <p:cNvPicPr/>
          <p:nvPr/>
        </p:nvPicPr>
        <p:blipFill>
          <a:blip r:embed="rId1"/>
          <a:srcRect l="14750"/>
          <a:stretch>
            <a:fillRect/>
          </a:stretch>
        </p:blipFill>
        <p:spPr>
          <a:xfrm>
            <a:off x="4295775" y="2348865"/>
            <a:ext cx="4161790" cy="4083050"/>
          </a:xfrm>
          <a:prstGeom prst="rect">
            <a:avLst/>
          </a:prstGeom>
          <a:noFill/>
          <a:ln w="9525">
            <a:noFill/>
          </a:ln>
        </p:spPr>
      </p:pic>
      <p:sp>
        <p:nvSpPr>
          <p:cNvPr id="5" name="矩形 4"/>
          <p:cNvSpPr/>
          <p:nvPr/>
        </p:nvSpPr>
        <p:spPr>
          <a:xfrm>
            <a:off x="4305300" y="6021070"/>
            <a:ext cx="134620" cy="4324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图表 1"/>
          <p:cNvGraphicFramePr/>
          <p:nvPr/>
        </p:nvGraphicFramePr>
        <p:xfrm>
          <a:off x="838835" y="549275"/>
          <a:ext cx="4826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 name="图表 2"/>
          <p:cNvGraphicFramePr/>
          <p:nvPr/>
        </p:nvGraphicFramePr>
        <p:xfrm>
          <a:off x="838835" y="3861435"/>
          <a:ext cx="4826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表格 6"/>
          <p:cNvGraphicFramePr/>
          <p:nvPr/>
        </p:nvGraphicFramePr>
        <p:xfrm>
          <a:off x="7535545" y="476885"/>
          <a:ext cx="2089150" cy="2359660"/>
        </p:xfrm>
        <a:graphic>
          <a:graphicData uri="http://schemas.openxmlformats.org/drawingml/2006/table">
            <a:tbl>
              <a:tblPr/>
              <a:tblGrid>
                <a:gridCol w="869950"/>
                <a:gridCol w="609600"/>
                <a:gridCol w="609600"/>
              </a:tblGrid>
              <a:tr h="226060">
                <a:tc>
                  <a:txBody>
                    <a:bodyPr/>
                    <a:p>
                      <a:pPr indent="0">
                        <a:spcAft>
                          <a:spcPts val="0"/>
                        </a:spcAft>
                        <a:buNone/>
                      </a:pPr>
                      <a:r>
                        <a:rPr lang="zh-CN" sz="1100" b="1">
                          <a:solidFill>
                            <a:srgbClr val="000000"/>
                          </a:solidFill>
                          <a:latin typeface="Arial" panose="020B0604020202020204" pitchFamily="34" charset="0"/>
                          <a:ea typeface="宋体" panose="02010600030101010101" pitchFamily="2" charset="-122"/>
                        </a:rPr>
                        <a:t>正面朝上次数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出现次数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频率</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3</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0.07</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0.16</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5</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25</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0.25</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18</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8</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0.07</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zh-CN" sz="1100" b="1">
                          <a:solidFill>
                            <a:srgbClr val="000000"/>
                          </a:solidFill>
                          <a:latin typeface="Arial" panose="020B0604020202020204" pitchFamily="34" charset="0"/>
                          <a:ea typeface="宋体" panose="02010600030101010101" pitchFamily="2" charset="-122"/>
                        </a:rPr>
                        <a:t>总计</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8" name="表格 7"/>
          <p:cNvGraphicFramePr/>
          <p:nvPr/>
        </p:nvGraphicFramePr>
        <p:xfrm>
          <a:off x="7536180" y="3665855"/>
          <a:ext cx="2089150" cy="2311400"/>
        </p:xfrm>
        <a:graphic>
          <a:graphicData uri="http://schemas.openxmlformats.org/drawingml/2006/table">
            <a:tbl>
              <a:tblPr/>
              <a:tblGrid>
                <a:gridCol w="869950"/>
                <a:gridCol w="609600"/>
                <a:gridCol w="609600"/>
              </a:tblGrid>
              <a:tr h="177800">
                <a:tc>
                  <a:txBody>
                    <a:bodyPr/>
                    <a:p>
                      <a:pPr indent="0">
                        <a:spcAft>
                          <a:spcPts val="0"/>
                        </a:spcAft>
                        <a:buNone/>
                      </a:pPr>
                      <a:r>
                        <a:rPr lang="zh-CN" sz="1100" b="1">
                          <a:solidFill>
                            <a:srgbClr val="000000"/>
                          </a:solidFill>
                          <a:latin typeface="Arial" panose="020B0604020202020204" pitchFamily="34" charset="0"/>
                          <a:ea typeface="宋体" panose="02010600030101010101" pitchFamily="2" charset="-122"/>
                        </a:rPr>
                        <a:t>正面朝上次数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出现次数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频率</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0.052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3</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111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0.111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211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0.211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5</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233</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0.233</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214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0.214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8</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0.052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zh-CN" sz="1100" b="1">
                          <a:solidFill>
                            <a:srgbClr val="000000"/>
                          </a:solidFill>
                          <a:latin typeface="Arial" panose="020B0604020202020204" pitchFamily="34" charset="0"/>
                          <a:ea typeface="宋体" panose="02010600030101010101" pitchFamily="2" charset="-122"/>
                        </a:rPr>
                        <a:t>总计</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1000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表 4"/>
          <p:cNvGraphicFramePr/>
          <p:nvPr/>
        </p:nvGraphicFramePr>
        <p:xfrm>
          <a:off x="1055370" y="549275"/>
          <a:ext cx="4826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图表 5"/>
          <p:cNvGraphicFramePr/>
          <p:nvPr/>
        </p:nvGraphicFramePr>
        <p:xfrm>
          <a:off x="1055370" y="3645535"/>
          <a:ext cx="4826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表格 3"/>
          <p:cNvGraphicFramePr/>
          <p:nvPr/>
        </p:nvGraphicFramePr>
        <p:xfrm>
          <a:off x="7752080" y="405765"/>
          <a:ext cx="2089150" cy="2359660"/>
        </p:xfrm>
        <a:graphic>
          <a:graphicData uri="http://schemas.openxmlformats.org/drawingml/2006/table">
            <a:tbl>
              <a:tblPr/>
              <a:tblGrid>
                <a:gridCol w="869950"/>
                <a:gridCol w="609600"/>
                <a:gridCol w="609600"/>
              </a:tblGrid>
              <a:tr h="226060">
                <a:tc>
                  <a:txBody>
                    <a:bodyPr/>
                    <a:p>
                      <a:pPr indent="0">
                        <a:spcAft>
                          <a:spcPts val="0"/>
                        </a:spcAft>
                        <a:buNone/>
                      </a:pPr>
                      <a:r>
                        <a:rPr lang="zh-CN" sz="1100" b="1">
                          <a:solidFill>
                            <a:srgbClr val="000000"/>
                          </a:solidFill>
                          <a:latin typeface="Arial" panose="020B0604020202020204" pitchFamily="34" charset="0"/>
                          <a:ea typeface="宋体" panose="02010600030101010101" pitchFamily="2" charset="-122"/>
                        </a:rPr>
                        <a:t>正面朝上次数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出现次数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频率</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0.0018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46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0.0092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199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0.0398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3</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592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0.1184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1066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0.2132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5</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1217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0.2434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1019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0.2038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562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0.1124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8</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242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0.0484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45</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0.009</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3</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0.0006</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zh-CN" sz="1100" b="1">
                          <a:solidFill>
                            <a:srgbClr val="000000"/>
                          </a:solidFill>
                          <a:latin typeface="Arial" panose="020B0604020202020204" pitchFamily="34" charset="0"/>
                          <a:ea typeface="宋体" panose="02010600030101010101" pitchFamily="2" charset="-122"/>
                        </a:rPr>
                        <a:t>总计</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5000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8" name="表格 7"/>
          <p:cNvGraphicFramePr/>
          <p:nvPr/>
        </p:nvGraphicFramePr>
        <p:xfrm>
          <a:off x="7752080" y="3547745"/>
          <a:ext cx="2089150" cy="2311400"/>
        </p:xfrm>
        <a:graphic>
          <a:graphicData uri="http://schemas.openxmlformats.org/drawingml/2006/table">
            <a:tbl>
              <a:tblPr/>
              <a:tblGrid>
                <a:gridCol w="869950"/>
                <a:gridCol w="609600"/>
                <a:gridCol w="609600"/>
              </a:tblGrid>
              <a:tr h="177800">
                <a:tc>
                  <a:txBody>
                    <a:bodyPr/>
                    <a:p>
                      <a:pPr indent="0">
                        <a:spcAft>
                          <a:spcPts val="0"/>
                        </a:spcAft>
                        <a:buNone/>
                      </a:pPr>
                      <a:r>
                        <a:rPr lang="zh-CN" sz="1100" b="1">
                          <a:solidFill>
                            <a:srgbClr val="000000"/>
                          </a:solidFill>
                          <a:latin typeface="Arial" panose="020B0604020202020204" pitchFamily="34" charset="0"/>
                          <a:ea typeface="宋体" panose="02010600030101010101" pitchFamily="2" charset="-122"/>
                        </a:rPr>
                        <a:t>正面朝上次数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出现次数</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1">
                          <a:solidFill>
                            <a:srgbClr val="000000"/>
                          </a:solidFill>
                          <a:latin typeface="Arial" panose="020B0604020202020204" pitchFamily="34" charset="0"/>
                          <a:ea typeface="宋体" panose="02010600030101010101" pitchFamily="2" charset="-122"/>
                        </a:rPr>
                        <a:t>频率</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34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0.00068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526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0.01052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2176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0.04352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3</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5809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0.11618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10226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0.20452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5</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12282</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0.24564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10299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0.20598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5846</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0.11692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8</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2244</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0.04488</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9</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501</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0.01002</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en-US" sz="1100" b="1">
                          <a:solidFill>
                            <a:srgbClr val="000000"/>
                          </a:solidFill>
                          <a:latin typeface="宋体" panose="02010600030101010101" pitchFamily="2" charset="-122"/>
                        </a:rPr>
                        <a:t>10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57</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0.00114</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177800">
                <a:tc>
                  <a:txBody>
                    <a:bodyPr/>
                    <a:p>
                      <a:pPr indent="0">
                        <a:buNone/>
                      </a:pPr>
                      <a:r>
                        <a:rPr lang="zh-CN" sz="1100" b="1">
                          <a:solidFill>
                            <a:srgbClr val="000000"/>
                          </a:solidFill>
                          <a:latin typeface="Arial" panose="020B0604020202020204" pitchFamily="34" charset="0"/>
                          <a:ea typeface="宋体" panose="02010600030101010101" pitchFamily="2" charset="-122"/>
                        </a:rPr>
                        <a:t>总计</a:t>
                      </a:r>
                      <a:endParaRPr lang="zh-CN" altLang="en-US" sz="1100" b="1">
                        <a:solidFill>
                          <a:srgbClr val="000000"/>
                        </a:solidFill>
                        <a:latin typeface="Arial" panose="020B0604020202020204" pitchFamily="34" charset="0"/>
                        <a:ea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50000</a:t>
                      </a:r>
                      <a:endParaRPr lang="en-US" altLang="en-US" sz="1100" b="1">
                        <a:solidFill>
                          <a:srgbClr val="000000"/>
                        </a:solidFill>
                        <a:latin typeface="宋体" panose="02010600030101010101" pitchFamily="2"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1">
                          <a:solidFill>
                            <a:srgbClr val="000000"/>
                          </a:solidFill>
                          <a:latin typeface="宋体" panose="02010600030101010101" pitchFamily="2" charset="-122"/>
                        </a:rPr>
                        <a:t>1</a:t>
                      </a:r>
                      <a:endParaRPr lang="en-US" altLang="en-US" sz="1100" b="1">
                        <a:solidFill>
                          <a:srgbClr val="000000"/>
                        </a:solidFill>
                        <a:latin typeface="宋体" panose="02010600030101010101" pitchFamily="2"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1371600" y="1204595"/>
            <a:ext cx="9448800" cy="44481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71214" y="2806734"/>
            <a:ext cx="5040000" cy="923330"/>
          </a:xfrm>
          <a:prstGeom prst="rect">
            <a:avLst/>
          </a:prstGeom>
          <a:noFill/>
        </p:spPr>
        <p:txBody>
          <a:bodyPr wrap="square" rtlCol="0">
            <a:spAutoFit/>
          </a:bodyPr>
          <a:lstStyle/>
          <a:p>
            <a:pPr algn="ct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辛钦大数定律</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04</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50" name="Object 42"/>
          <p:cNvGraphicFramePr>
            <a:graphicFrameLocks noChangeAspect="1"/>
          </p:cNvGraphicFramePr>
          <p:nvPr/>
        </p:nvGraphicFramePr>
        <p:xfrm>
          <a:off x="5981701" y="3822701"/>
          <a:ext cx="112713" cy="214313"/>
        </p:xfrm>
        <a:graphic>
          <a:graphicData uri="http://schemas.openxmlformats.org/presentationml/2006/ole">
            <mc:AlternateContent xmlns:mc="http://schemas.openxmlformats.org/markup-compatibility/2006">
              <mc:Choice xmlns:v="urn:schemas-microsoft-com:vml" Requires="v">
                <p:oleObj spid="_x0000_s320540" name="公式" r:id="rId1" imgW="114300" imgH="215900" progId="Equation.3">
                  <p:embed/>
                </p:oleObj>
              </mc:Choice>
              <mc:Fallback>
                <p:oleObj name="公式" r:id="rId1" imgW="114300" imgH="215900" progId="Equation.3">
                  <p:embed/>
                  <p:pic>
                    <p:nvPicPr>
                      <p:cNvPr id="0" name="Object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1701" y="38227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1" name="Object 43"/>
          <p:cNvGraphicFramePr>
            <a:graphicFrameLocks noChangeAspect="1"/>
          </p:cNvGraphicFramePr>
          <p:nvPr/>
        </p:nvGraphicFramePr>
        <p:xfrm>
          <a:off x="5981701" y="3822701"/>
          <a:ext cx="112713" cy="214313"/>
        </p:xfrm>
        <a:graphic>
          <a:graphicData uri="http://schemas.openxmlformats.org/presentationml/2006/ole">
            <mc:AlternateContent xmlns:mc="http://schemas.openxmlformats.org/markup-compatibility/2006">
              <mc:Choice xmlns:v="urn:schemas-microsoft-com:vml" Requires="v">
                <p:oleObj spid="_x0000_s320541" name="公式" r:id="rId3" imgW="114300" imgH="215900" progId="Equation.3">
                  <p:embed/>
                </p:oleObj>
              </mc:Choice>
              <mc:Fallback>
                <p:oleObj name="公式" r:id="rId3" imgW="114300" imgH="215900" progId="Equation.3">
                  <p:embed/>
                  <p:pic>
                    <p:nvPicPr>
                      <p:cNvPr id="0" name="Object 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1701" y="38227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2" name="Rectangle 44"/>
          <p:cNvSpPr>
            <a:spLocks noChangeArrowheads="1"/>
          </p:cNvSpPr>
          <p:nvPr/>
        </p:nvSpPr>
        <p:spPr bwMode="auto">
          <a:xfrm>
            <a:off x="1335307" y="1340768"/>
            <a:ext cx="9873261" cy="461664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a:lnSpc>
                <a:spcPct val="15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       贝努里大数定律建立了在大量重复独立试验中事件出现频率的稳定性，正因为这种稳定性，概率的概念才有客观意义，贝努里大数定律还提供了通过试验来确定事件概率的方法，既然频率</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n</a:t>
            </a:r>
            <a:r>
              <a:rPr lang="en-US" altLang="zh-CN" sz="2600" i="1" baseline="-25000" dirty="0" err="1">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与概率</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p</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有较大偏差的可能性很小，我们便可以通过做试验确定某事件发生的频率并把它作为相应的概率估计，这种方法即是在第</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7</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rPr>
              <a:t>章将要介绍的参数估计法，参数估计的重要理论基础之一就是大数定理。</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四、大数定律的重要意义</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452"/>
                                        </p:tgtEl>
                                        <p:attrNameLst>
                                          <p:attrName>style.visibility</p:attrName>
                                        </p:attrNameLst>
                                      </p:cBhvr>
                                      <p:to>
                                        <p:strVal val="visible"/>
                                      </p:to>
                                    </p:set>
                                    <p:animEffect transition="in" filter="wipe(down)">
                                      <p:cBhvr>
                                        <p:cTn id="7" dur="500"/>
                                        <p:tgtEl>
                                          <p:spTgt spid="17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50" name="Object 42"/>
          <p:cNvGraphicFramePr>
            <a:graphicFrameLocks noChangeAspect="1"/>
          </p:cNvGraphicFramePr>
          <p:nvPr/>
        </p:nvGraphicFramePr>
        <p:xfrm>
          <a:off x="5981701" y="3822701"/>
          <a:ext cx="112713" cy="214313"/>
        </p:xfrm>
        <a:graphic>
          <a:graphicData uri="http://schemas.openxmlformats.org/presentationml/2006/ole">
            <mc:AlternateContent xmlns:mc="http://schemas.openxmlformats.org/markup-compatibility/2006">
              <mc:Choice xmlns:v="urn:schemas-microsoft-com:vml" Requires="v">
                <p:oleObj spid="_x0000_s321577" name="公式" r:id="rId1" imgW="114300" imgH="215900" progId="Equation.3">
                  <p:embed/>
                </p:oleObj>
              </mc:Choice>
              <mc:Fallback>
                <p:oleObj name="公式" r:id="rId1" imgW="114300" imgH="215900" progId="Equation.3">
                  <p:embed/>
                  <p:pic>
                    <p:nvPicPr>
                      <p:cNvPr id="0" name="Object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1701" y="38227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1" name="Object 43"/>
          <p:cNvGraphicFramePr>
            <a:graphicFrameLocks noChangeAspect="1"/>
          </p:cNvGraphicFramePr>
          <p:nvPr/>
        </p:nvGraphicFramePr>
        <p:xfrm>
          <a:off x="5981701" y="3822701"/>
          <a:ext cx="112713" cy="214313"/>
        </p:xfrm>
        <a:graphic>
          <a:graphicData uri="http://schemas.openxmlformats.org/presentationml/2006/ole">
            <mc:AlternateContent xmlns:mc="http://schemas.openxmlformats.org/markup-compatibility/2006">
              <mc:Choice xmlns:v="urn:schemas-microsoft-com:vml" Requires="v">
                <p:oleObj spid="_x0000_s321578" name="公式" r:id="rId3" imgW="114300" imgH="215900" progId="Equation.3">
                  <p:embed/>
                </p:oleObj>
              </mc:Choice>
              <mc:Fallback>
                <p:oleObj name="公式" r:id="rId3" imgW="114300" imgH="215900" progId="Equation.3">
                  <p:embed/>
                  <p:pic>
                    <p:nvPicPr>
                      <p:cNvPr id="0" name="Object 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1701" y="38227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2" name="Rectangle 44"/>
          <p:cNvSpPr>
            <a:spLocks noChangeArrowheads="1"/>
          </p:cNvSpPr>
          <p:nvPr/>
        </p:nvSpPr>
        <p:spPr bwMode="auto">
          <a:xfrm>
            <a:off x="1335307" y="1042546"/>
            <a:ext cx="6885226" cy="11348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       下面给出的独立同分布下的大数定律，不要求随机变量的方差存在。</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53" name="Rectangle 45"/>
          <p:cNvSpPr>
            <a:spLocks noChangeArrowheads="1"/>
          </p:cNvSpPr>
          <p:nvPr/>
        </p:nvSpPr>
        <p:spPr bwMode="auto">
          <a:xfrm>
            <a:off x="1396349" y="2778609"/>
            <a:ext cx="6885226" cy="178119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设随机变量序列</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相互独立，服从同一分布，具有数学期</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μ,</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dirty="0" err="1">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=1,2,…</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 则对于任意正数</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ε</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，有</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54" name="Rectangle 46"/>
          <p:cNvSpPr>
            <a:spLocks noChangeArrowheads="1"/>
          </p:cNvSpPr>
          <p:nvPr/>
        </p:nvSpPr>
        <p:spPr bwMode="auto">
          <a:xfrm>
            <a:off x="1371014" y="2346795"/>
            <a:ext cx="5689381"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（辛钦大数定律）</a:t>
            </a:r>
            <a:endPar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5" name="Object 47"/>
          <p:cNvGraphicFramePr>
            <a:graphicFrameLocks noChangeAspect="1"/>
          </p:cNvGraphicFramePr>
          <p:nvPr/>
        </p:nvGraphicFramePr>
        <p:xfrm>
          <a:off x="2790068" y="4572000"/>
          <a:ext cx="4234154" cy="976424"/>
        </p:xfrm>
        <a:graphic>
          <a:graphicData uri="http://schemas.openxmlformats.org/presentationml/2006/ole">
            <mc:AlternateContent xmlns:mc="http://schemas.openxmlformats.org/markup-compatibility/2006">
              <mc:Choice xmlns:v="urn:schemas-microsoft-com:vml" Requires="v">
                <p:oleObj spid="_x0000_s321579" name="Equation" r:id="rId4" imgW="40233600" imgH="10363200" progId="Equation.DSMT4">
                  <p:embed/>
                </p:oleObj>
              </mc:Choice>
              <mc:Fallback>
                <p:oleObj name="Equation" r:id="rId4" imgW="40233600" imgH="10363200" progId="Equation.DSMT4">
                  <p:embed/>
                  <p:pic>
                    <p:nvPicPr>
                      <p:cNvPr id="0" name="Object 47"/>
                      <p:cNvPicPr>
                        <a:picLocks noChangeAspect="1" noChangeArrowheads="1"/>
                      </p:cNvPicPr>
                      <p:nvPr/>
                    </p:nvPicPr>
                    <p:blipFill>
                      <a:blip r:embed="rId5"/>
                      <a:srcRect/>
                      <a:stretch>
                        <a:fillRect/>
                      </a:stretch>
                    </p:blipFill>
                    <p:spPr bwMode="auto">
                      <a:xfrm>
                        <a:off x="2790068" y="4572000"/>
                        <a:ext cx="4234154" cy="976424"/>
                      </a:xfrm>
                      <a:prstGeom prst="rect">
                        <a:avLst/>
                      </a:prstGeom>
                      <a:noFill/>
                      <a:ln>
                        <a:noFill/>
                      </a:ln>
                      <a:effectLst/>
                    </p:spPr>
                  </p:pic>
                </p:oleObj>
              </mc:Fallback>
            </mc:AlternateContent>
          </a:graphicData>
        </a:graphic>
      </p:graphicFrame>
      <p:grpSp>
        <p:nvGrpSpPr>
          <p:cNvPr id="17457" name="Group 49"/>
          <p:cNvGrpSpPr/>
          <p:nvPr/>
        </p:nvGrpSpPr>
        <p:grpSpPr bwMode="auto">
          <a:xfrm>
            <a:off x="8904312" y="1067210"/>
            <a:ext cx="2351706" cy="4051165"/>
            <a:chOff x="4574" y="96"/>
            <a:chExt cx="1042" cy="1795"/>
          </a:xfrm>
        </p:grpSpPr>
        <p:pic>
          <p:nvPicPr>
            <p:cNvPr id="17458" name="Picture 50" descr="xinqi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4" y="96"/>
              <a:ext cx="1042" cy="149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7459" name="Rectangle 51"/>
            <p:cNvSpPr>
              <a:spLocks noChangeArrowheads="1"/>
            </p:cNvSpPr>
            <p:nvPr/>
          </p:nvSpPr>
          <p:spPr bwMode="auto">
            <a:xfrm>
              <a:off x="4917" y="1686"/>
              <a:ext cx="355" cy="20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a:t>
              </a:r>
              <a:endPar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四、辛钦大数定律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452"/>
                                        </p:tgtEl>
                                        <p:attrNameLst>
                                          <p:attrName>style.visibility</p:attrName>
                                        </p:attrNameLst>
                                      </p:cBhvr>
                                      <p:to>
                                        <p:strVal val="visible"/>
                                      </p:to>
                                    </p:set>
                                    <p:animEffect transition="in" filter="wipe(down)">
                                      <p:cBhvr>
                                        <p:cTn id="7" dur="500"/>
                                        <p:tgtEl>
                                          <p:spTgt spid="17452"/>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7457"/>
                                        </p:tgtEl>
                                        <p:attrNameLst>
                                          <p:attrName>style.visibility</p:attrName>
                                        </p:attrNameLst>
                                      </p:cBhvr>
                                      <p:to>
                                        <p:strVal val="visible"/>
                                      </p:to>
                                    </p:set>
                                    <p:anim calcmode="lin" valueType="num">
                                      <p:cBhvr additive="base">
                                        <p:cTn id="11" dur="500" fill="hold"/>
                                        <p:tgtEl>
                                          <p:spTgt spid="17457"/>
                                        </p:tgtEl>
                                        <p:attrNameLst>
                                          <p:attrName>ppt_x</p:attrName>
                                        </p:attrNameLst>
                                      </p:cBhvr>
                                      <p:tavLst>
                                        <p:tav tm="0">
                                          <p:val>
                                            <p:strVal val="1+#ppt_w/2"/>
                                          </p:val>
                                        </p:tav>
                                        <p:tav tm="100000">
                                          <p:val>
                                            <p:strVal val="#ppt_x"/>
                                          </p:val>
                                        </p:tav>
                                      </p:tavLst>
                                    </p:anim>
                                    <p:anim calcmode="lin" valueType="num">
                                      <p:cBhvr additive="base">
                                        <p:cTn id="12" dur="500" fill="hold"/>
                                        <p:tgtEl>
                                          <p:spTgt spid="1745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454"/>
                                        </p:tgtEl>
                                        <p:attrNameLst>
                                          <p:attrName>style.visibility</p:attrName>
                                        </p:attrNameLst>
                                      </p:cBhvr>
                                      <p:to>
                                        <p:strVal val="visible"/>
                                      </p:to>
                                    </p:set>
                                    <p:animEffect transition="in" filter="wipe(down)">
                                      <p:cBhvr>
                                        <p:cTn id="17" dur="500"/>
                                        <p:tgtEl>
                                          <p:spTgt spid="174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453"/>
                                        </p:tgtEl>
                                        <p:attrNameLst>
                                          <p:attrName>style.visibility</p:attrName>
                                        </p:attrNameLst>
                                      </p:cBhvr>
                                      <p:to>
                                        <p:strVal val="visible"/>
                                      </p:to>
                                    </p:set>
                                    <p:animEffect transition="in" filter="wipe(down)">
                                      <p:cBhvr>
                                        <p:cTn id="22" dur="500"/>
                                        <p:tgtEl>
                                          <p:spTgt spid="174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455"/>
                                        </p:tgtEl>
                                        <p:attrNameLst>
                                          <p:attrName>style.visibility</p:attrName>
                                        </p:attrNameLst>
                                      </p:cBhvr>
                                      <p:to>
                                        <p:strVal val="visible"/>
                                      </p:to>
                                    </p:set>
                                    <p:animEffect transition="in" filter="wipe(down)">
                                      <p:cBhvr>
                                        <p:cTn id="27" dur="500"/>
                                        <p:tgtEl>
                                          <p:spTgt spid="17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p:bldP spid="17453" grpId="0"/>
      <p:bldP spid="1745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p:cNvSpPr txBox="1">
            <a:spLocks noChangeArrowheads="1"/>
          </p:cNvSpPr>
          <p:nvPr/>
        </p:nvSpPr>
        <p:spPr bwMode="auto">
          <a:xfrm>
            <a:off x="1335307" y="1091555"/>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6262" name="Text Box 6"/>
          <p:cNvSpPr txBox="1">
            <a:spLocks noChangeArrowheads="1"/>
          </p:cNvSpPr>
          <p:nvPr/>
        </p:nvSpPr>
        <p:spPr bwMode="auto">
          <a:xfrm>
            <a:off x="1362976" y="1614775"/>
            <a:ext cx="9773583" cy="168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辛钦大数定律为寻找随机变量的期望值提供了一条实际可行的途径。</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伯努利大数定律是辛钦定理的特殊情况。</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辛钦定理具有广泛的适用性。</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6264" name="Rectangle 8"/>
          <p:cNvSpPr>
            <a:spLocks noChangeArrowheads="1"/>
          </p:cNvSpPr>
          <p:nvPr/>
        </p:nvSpPr>
        <p:spPr bwMode="auto">
          <a:xfrm>
            <a:off x="1406163" y="3475608"/>
            <a:ext cx="5760105" cy="224285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要估计某地区的平均亩产量 ，要收割某些有代表性块，例如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块地。计算其平均亩产量，则当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较大时，可用它作为整个地区平均亩产量的一个估计。</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96265" name="Picture 9" descr="收割"/>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52183" y="2402834"/>
            <a:ext cx="3384376" cy="3626117"/>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cxnSp>
        <p:nvCxnSpPr>
          <p:cNvPr id="8" name="直接连接符 7"/>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51761" y="364781"/>
            <a:ext cx="263341" cy="395013"/>
            <a:chOff x="5284519" y="1508166"/>
            <a:chExt cx="213756" cy="427512"/>
          </a:xfrm>
        </p:grpSpPr>
        <p:cxnSp>
          <p:nvCxnSpPr>
            <p:cNvPr id="11" name="直接连接符 1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2" name="直接连接符 1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3" name="矩形 12"/>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四、辛钦大数定律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6262"/>
                                        </p:tgtEl>
                                        <p:attrNameLst>
                                          <p:attrName>style.visibility</p:attrName>
                                        </p:attrNameLst>
                                      </p:cBhvr>
                                      <p:to>
                                        <p:strVal val="visible"/>
                                      </p:to>
                                    </p:set>
                                    <p:animEffect transition="in" filter="wipe(down)">
                                      <p:cBhvr>
                                        <p:cTn id="7" dur="500"/>
                                        <p:tgtEl>
                                          <p:spTgt spid="962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6265"/>
                                        </p:tgtEl>
                                        <p:attrNameLst>
                                          <p:attrName>style.visibility</p:attrName>
                                        </p:attrNameLst>
                                      </p:cBhvr>
                                      <p:to>
                                        <p:strVal val="visible"/>
                                      </p:to>
                                    </p:set>
                                    <p:animEffect transition="in" filter="wipe(down)">
                                      <p:cBhvr>
                                        <p:cTn id="12" dur="500"/>
                                        <p:tgtEl>
                                          <p:spTgt spid="962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6264"/>
                                        </p:tgtEl>
                                        <p:attrNameLst>
                                          <p:attrName>style.visibility</p:attrName>
                                        </p:attrNameLst>
                                      </p:cBhvr>
                                      <p:to>
                                        <p:strVal val="visible"/>
                                      </p:to>
                                    </p:set>
                                    <p:animEffect transition="in" filter="wipe(down)">
                                      <p:cBhvr>
                                        <p:cTn id="17" dur="500"/>
                                        <p:tgtEl>
                                          <p:spTgt spid="96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p:bldP spid="9626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5" name="Object 5"/>
          <p:cNvGraphicFramePr>
            <a:graphicFrameLocks noChangeAspect="1"/>
          </p:cNvGraphicFramePr>
          <p:nvPr/>
        </p:nvGraphicFramePr>
        <p:xfrm>
          <a:off x="6073775" y="3321050"/>
          <a:ext cx="190500" cy="419100"/>
        </p:xfrm>
        <a:graphic>
          <a:graphicData uri="http://schemas.openxmlformats.org/presentationml/2006/ole">
            <mc:AlternateContent xmlns:mc="http://schemas.openxmlformats.org/markup-compatibility/2006">
              <mc:Choice xmlns:v="urn:schemas-microsoft-com:vml" Requires="v">
                <p:oleObj spid="_x0000_s322586" name="公式" r:id="rId1" imgW="190500" imgH="419100" progId="Equation.3">
                  <p:embed/>
                </p:oleObj>
              </mc:Choice>
              <mc:Fallback>
                <p:oleObj name="公式" r:id="rId1" imgW="190500" imgH="419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3775" y="33210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6" name="Rectangle 6"/>
          <p:cNvSpPr>
            <a:spLocks noChangeArrowheads="1"/>
          </p:cNvSpPr>
          <p:nvPr/>
        </p:nvSpPr>
        <p:spPr bwMode="auto">
          <a:xfrm>
            <a:off x="1335307" y="1035468"/>
            <a:ext cx="9585229" cy="11348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在一个罐子中，装有</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10</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个编号为</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0-9</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的同样的球，从罐中有放回地抽取若干次，每次抽一个，并记下号码。</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97287" name="Group 7"/>
          <p:cNvGrpSpPr/>
          <p:nvPr/>
        </p:nvGrpSpPr>
        <p:grpSpPr bwMode="auto">
          <a:xfrm>
            <a:off x="2063552" y="2378701"/>
            <a:ext cx="6532562" cy="1192213"/>
            <a:chOff x="470" y="2678"/>
            <a:chExt cx="4115" cy="751"/>
          </a:xfrm>
        </p:grpSpPr>
        <p:sp>
          <p:nvSpPr>
            <p:cNvPr id="97288" name="Rectangle 8"/>
            <p:cNvSpPr>
              <a:spLocks noChangeArrowheads="1"/>
            </p:cNvSpPr>
            <p:nvPr/>
          </p:nvSpPr>
          <p:spPr bwMode="auto">
            <a:xfrm>
              <a:off x="1998" y="2678"/>
              <a:ext cx="1328"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lvl="2"/>
              <a:r>
                <a:rPr lang="en-US" altLang="zh-CN"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7289" name="Object 9"/>
            <p:cNvGraphicFramePr>
              <a:graphicFrameLocks noChangeAspect="1"/>
            </p:cNvGraphicFramePr>
            <p:nvPr/>
          </p:nvGraphicFramePr>
          <p:xfrm>
            <a:off x="858" y="2712"/>
            <a:ext cx="2573" cy="717"/>
          </p:xfrm>
          <a:graphic>
            <a:graphicData uri="http://schemas.openxmlformats.org/presentationml/2006/ole">
              <mc:AlternateContent xmlns:mc="http://schemas.openxmlformats.org/markup-compatibility/2006">
                <mc:Choice xmlns:v="urn:schemas-microsoft-com:vml" Requires="v">
                  <p:oleObj spid="_x0000_s322587" name="Equation" r:id="rId3" imgW="41452800" imgH="11582400" progId="Equation.DSMT4">
                    <p:embed/>
                  </p:oleObj>
                </mc:Choice>
                <mc:Fallback>
                  <p:oleObj name="Equation" r:id="rId3" imgW="41452800" imgH="11582400" progId="Equation.DSMT4">
                    <p:embed/>
                    <p:pic>
                      <p:nvPicPr>
                        <p:cNvPr id="0" name="Object 9"/>
                        <p:cNvPicPr>
                          <a:picLocks noChangeAspect="1" noChangeArrowheads="1"/>
                        </p:cNvPicPr>
                        <p:nvPr/>
                      </p:nvPicPr>
                      <p:blipFill>
                        <a:blip r:embed="rId4"/>
                        <a:srcRect/>
                        <a:stretch>
                          <a:fillRect/>
                        </a:stretch>
                      </p:blipFill>
                      <p:spPr bwMode="auto">
                        <a:xfrm>
                          <a:off x="858" y="2712"/>
                          <a:ext cx="2573" cy="717"/>
                        </a:xfrm>
                        <a:prstGeom prst="rect">
                          <a:avLst/>
                        </a:prstGeom>
                        <a:noFill/>
                        <a:ln>
                          <a:noFill/>
                        </a:ln>
                        <a:effectLst/>
                      </p:spPr>
                    </p:pic>
                  </p:oleObj>
                </mc:Fallback>
              </mc:AlternateContent>
            </a:graphicData>
          </a:graphic>
        </p:graphicFrame>
        <p:sp>
          <p:nvSpPr>
            <p:cNvPr id="97290" name="Rectangle 10"/>
            <p:cNvSpPr>
              <a:spLocks noChangeArrowheads="1"/>
            </p:cNvSpPr>
            <p:nvPr/>
          </p:nvSpPr>
          <p:spPr bwMode="auto">
            <a:xfrm>
              <a:off x="470" y="2904"/>
              <a:ext cx="359"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endParaRPr lang="zh-CN" altLang="en-US"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7291" name="Text Box 11"/>
            <p:cNvSpPr txBox="1">
              <a:spLocks noChangeArrowheads="1"/>
            </p:cNvSpPr>
            <p:nvPr/>
          </p:nvSpPr>
          <p:spPr bwMode="auto">
            <a:xfrm>
              <a:off x="3535" y="2897"/>
              <a:ext cx="1050"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 …</a:t>
              </a:r>
              <a:endParaRPr lang="en-US" altLang="zh-CN"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97292" name="Rectangle 12"/>
          <p:cNvSpPr>
            <a:spLocks noChangeArrowheads="1"/>
          </p:cNvSpPr>
          <p:nvPr/>
        </p:nvSpPr>
        <p:spPr bwMode="auto">
          <a:xfrm>
            <a:off x="2063552" y="3907227"/>
            <a:ext cx="6192838"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问对序列</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能否应用大数定律？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9" name="直接连接符 1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851761" y="364781"/>
            <a:ext cx="263341" cy="395013"/>
            <a:chOff x="5284519" y="1508166"/>
            <a:chExt cx="213756" cy="427512"/>
          </a:xfrm>
        </p:grpSpPr>
        <p:cxnSp>
          <p:nvCxnSpPr>
            <p:cNvPr id="22" name="直接连接符 2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3" name="直接连接符 2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5" name="矩形 14"/>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四、辛钦大数定律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7287"/>
                                        </p:tgtEl>
                                        <p:attrNameLst>
                                          <p:attrName>style.visibility</p:attrName>
                                        </p:attrNameLst>
                                      </p:cBhvr>
                                      <p:to>
                                        <p:strVal val="visible"/>
                                      </p:to>
                                    </p:set>
                                    <p:animEffect transition="in" filter="wipe(down)">
                                      <p:cBhvr>
                                        <p:cTn id="7" dur="500"/>
                                        <p:tgtEl>
                                          <p:spTgt spid="972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92"/>
                                        </p:tgtEl>
                                        <p:attrNameLst>
                                          <p:attrName>style.visibility</p:attrName>
                                        </p:attrNameLst>
                                      </p:cBhvr>
                                      <p:to>
                                        <p:strVal val="visible"/>
                                      </p:to>
                                    </p:set>
                                    <p:animEffect transition="in" filter="wipe(left)">
                                      <p:cBhvr>
                                        <p:cTn id="12" dur="500"/>
                                        <p:tgtEl>
                                          <p:spTgt spid="97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93" name="Object 13"/>
          <p:cNvGraphicFramePr>
            <a:graphicFrameLocks noChangeAspect="1"/>
          </p:cNvGraphicFramePr>
          <p:nvPr/>
        </p:nvGraphicFramePr>
        <p:xfrm>
          <a:off x="3215680" y="4507717"/>
          <a:ext cx="4489450" cy="1122362"/>
        </p:xfrm>
        <a:graphic>
          <a:graphicData uri="http://schemas.openxmlformats.org/presentationml/2006/ole">
            <mc:AlternateContent xmlns:mc="http://schemas.openxmlformats.org/markup-compatibility/2006">
              <mc:Choice xmlns:v="urn:schemas-microsoft-com:vml" Requires="v">
                <p:oleObj spid="_x0000_s323610" name="Equation" r:id="rId1" imgW="43281600" imgH="10363200" progId="Equation.DSMT4">
                  <p:embed/>
                </p:oleObj>
              </mc:Choice>
              <mc:Fallback>
                <p:oleObj name="Equation" r:id="rId1" imgW="43281600" imgH="10363200" progId="Equation.DSMT4">
                  <p:embed/>
                  <p:pic>
                    <p:nvPicPr>
                      <p:cNvPr id="0" name="Object 13"/>
                      <p:cNvPicPr>
                        <a:picLocks noChangeAspect="1" noChangeArrowheads="1"/>
                      </p:cNvPicPr>
                      <p:nvPr/>
                    </p:nvPicPr>
                    <p:blipFill>
                      <a:blip r:embed="rId2"/>
                      <a:srcRect/>
                      <a:stretch>
                        <a:fillRect/>
                      </a:stretch>
                    </p:blipFill>
                    <p:spPr bwMode="auto">
                      <a:xfrm>
                        <a:off x="3215680" y="4507717"/>
                        <a:ext cx="4489450" cy="1122362"/>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94" name="Rectangle 14"/>
          <p:cNvSpPr>
            <a:spLocks noChangeArrowheads="1"/>
          </p:cNvSpPr>
          <p:nvPr/>
        </p:nvSpPr>
        <p:spPr bwMode="auto">
          <a:xfrm>
            <a:off x="1698695" y="3933541"/>
            <a:ext cx="358140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r>
              <a:rPr lang="zh-CN"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对</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任意的</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&gt;0,</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7296" name="Rectangle 16"/>
          <p:cNvSpPr>
            <a:spLocks noChangeArrowheads="1"/>
          </p:cNvSpPr>
          <p:nvPr/>
        </p:nvSpPr>
        <p:spPr bwMode="auto">
          <a:xfrm>
            <a:off x="1677987" y="1303643"/>
            <a:ext cx="931863" cy="4619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zh-CN" altLang="en-US"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r>
              <a:rPr lang="en-US" altLang="zh-CN"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7297" name="Object 17"/>
          <p:cNvGraphicFramePr>
            <a:graphicFrameLocks noChangeAspect="1"/>
          </p:cNvGraphicFramePr>
          <p:nvPr/>
        </p:nvGraphicFramePr>
        <p:xfrm>
          <a:off x="2449809" y="1788623"/>
          <a:ext cx="2487613" cy="1033462"/>
        </p:xfrm>
        <a:graphic>
          <a:graphicData uri="http://schemas.openxmlformats.org/presentationml/2006/ole">
            <mc:AlternateContent xmlns:mc="http://schemas.openxmlformats.org/markup-compatibility/2006">
              <mc:Choice xmlns:v="urn:schemas-microsoft-com:vml" Requires="v">
                <p:oleObj spid="_x0000_s323611" name="Equation" r:id="rId3" imgW="26517600" imgH="10972800" progId="Equation.DSMT4">
                  <p:embed/>
                </p:oleObj>
              </mc:Choice>
              <mc:Fallback>
                <p:oleObj name="Equation" r:id="rId3" imgW="26517600" imgH="10972800" progId="Equation.DSMT4">
                  <p:embed/>
                  <p:pic>
                    <p:nvPicPr>
                      <p:cNvPr id="0" name="Object 17"/>
                      <p:cNvPicPr>
                        <a:picLocks noChangeAspect="1" noChangeArrowheads="1"/>
                      </p:cNvPicPr>
                      <p:nvPr/>
                    </p:nvPicPr>
                    <p:blipFill>
                      <a:blip r:embed="rId4"/>
                      <a:srcRect/>
                      <a:stretch>
                        <a:fillRect/>
                      </a:stretch>
                    </p:blipFill>
                    <p:spPr bwMode="auto">
                      <a:xfrm>
                        <a:off x="2449809" y="1788623"/>
                        <a:ext cx="2487613"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7298" name="Group 18"/>
          <p:cNvGrpSpPr/>
          <p:nvPr/>
        </p:nvGrpSpPr>
        <p:grpSpPr bwMode="auto">
          <a:xfrm>
            <a:off x="5231904" y="2028335"/>
            <a:ext cx="3487738" cy="508001"/>
            <a:chOff x="2943" y="2168"/>
            <a:chExt cx="2197" cy="320"/>
          </a:xfrm>
        </p:grpSpPr>
        <p:sp>
          <p:nvSpPr>
            <p:cNvPr id="97299" name="Text Box 19"/>
            <p:cNvSpPr txBox="1">
              <a:spLocks noChangeArrowheads="1"/>
            </p:cNvSpPr>
            <p:nvPr/>
          </p:nvSpPr>
          <p:spPr bwMode="auto">
            <a:xfrm>
              <a:off x="4284" y="2168"/>
              <a:ext cx="856"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 …</a:t>
              </a:r>
              <a:endParaRPr lang="en-US" altLang="zh-CN" sz="24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7300" name="Rectangle 20"/>
            <p:cNvSpPr>
              <a:spLocks noChangeArrowheads="1"/>
            </p:cNvSpPr>
            <p:nvPr/>
          </p:nvSpPr>
          <p:spPr bwMode="auto">
            <a:xfrm>
              <a:off x="2943" y="2197"/>
              <a:ext cx="970" cy="291"/>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endParaRPr lang="en-US" altLang="zh-CN" sz="24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97301" name="Text Box 21"/>
          <p:cNvSpPr txBox="1">
            <a:spLocks noChangeArrowheads="1"/>
          </p:cNvSpPr>
          <p:nvPr/>
        </p:nvSpPr>
        <p:spPr bwMode="auto">
          <a:xfrm>
            <a:off x="1698696" y="3186419"/>
            <a:ext cx="8076808"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spcBef>
                <a:spcPct val="50000"/>
              </a:spcBef>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诸</a:t>
            </a: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独立同分布，且期望存在，故能使用大数定律。</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9" name="直接连接符 1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851761" y="364781"/>
            <a:ext cx="263341" cy="395013"/>
            <a:chOff x="5284519" y="1508166"/>
            <a:chExt cx="213756" cy="427512"/>
          </a:xfrm>
        </p:grpSpPr>
        <p:cxnSp>
          <p:nvCxnSpPr>
            <p:cNvPr id="22" name="直接连接符 2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3" name="直接连接符 2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5" name="矩形 14"/>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四、辛钦大数定律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7298"/>
                                        </p:tgtEl>
                                        <p:attrNameLst>
                                          <p:attrName>style.visibility</p:attrName>
                                        </p:attrNameLst>
                                      </p:cBhvr>
                                      <p:to>
                                        <p:strVal val="visible"/>
                                      </p:to>
                                    </p:set>
                                    <p:anim calcmode="lin" valueType="num">
                                      <p:cBhvr additive="base">
                                        <p:cTn id="7" dur="500" fill="hold"/>
                                        <p:tgtEl>
                                          <p:spTgt spid="97298"/>
                                        </p:tgtEl>
                                        <p:attrNameLst>
                                          <p:attrName>ppt_x</p:attrName>
                                        </p:attrNameLst>
                                      </p:cBhvr>
                                      <p:tavLst>
                                        <p:tav tm="0">
                                          <p:val>
                                            <p:strVal val="1+#ppt_w/2"/>
                                          </p:val>
                                        </p:tav>
                                        <p:tav tm="100000">
                                          <p:val>
                                            <p:strVal val="#ppt_x"/>
                                          </p:val>
                                        </p:tav>
                                      </p:tavLst>
                                    </p:anim>
                                    <p:anim calcmode="lin" valueType="num">
                                      <p:cBhvr additive="base">
                                        <p:cTn id="8" dur="500" fill="hold"/>
                                        <p:tgtEl>
                                          <p:spTgt spid="972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7301"/>
                                        </p:tgtEl>
                                        <p:attrNameLst>
                                          <p:attrName>style.visibility</p:attrName>
                                        </p:attrNameLst>
                                      </p:cBhvr>
                                      <p:to>
                                        <p:strVal val="visible"/>
                                      </p:to>
                                    </p:set>
                                    <p:animEffect transition="in" filter="wipe(left)">
                                      <p:cBhvr>
                                        <p:cTn id="13" dur="500"/>
                                        <p:tgtEl>
                                          <p:spTgt spid="9730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97294"/>
                                        </p:tgtEl>
                                        <p:attrNameLst>
                                          <p:attrName>style.visibility</p:attrName>
                                        </p:attrNameLst>
                                      </p:cBhvr>
                                      <p:to>
                                        <p:strVal val="visible"/>
                                      </p:to>
                                    </p:set>
                                    <p:animEffect transition="in" filter="wipe(down)">
                                      <p:cBhvr>
                                        <p:cTn id="18" dur="500"/>
                                        <p:tgtEl>
                                          <p:spTgt spid="9729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97293"/>
                                        </p:tgtEl>
                                        <p:attrNameLst>
                                          <p:attrName>style.visibility</p:attrName>
                                        </p:attrNameLst>
                                      </p:cBhvr>
                                      <p:to>
                                        <p:strVal val="visible"/>
                                      </p:to>
                                    </p:set>
                                    <p:animEffect transition="in" filter="wipe(down)">
                                      <p:cBhvr>
                                        <p:cTn id="23" dur="500"/>
                                        <p:tgtEl>
                                          <p:spTgt spid="97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4" grpId="0"/>
      <p:bldP spid="97301"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5313" y="2951717"/>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归纳总结</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05</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9" name="Rectangle 15"/>
          <p:cNvSpPr>
            <a:spLocks noChangeArrowheads="1"/>
          </p:cNvSpPr>
          <p:nvPr/>
        </p:nvSpPr>
        <p:spPr bwMode="auto">
          <a:xfrm>
            <a:off x="1262440" y="1718500"/>
            <a:ext cx="647700" cy="206210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律</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60" name="Rectangle 16"/>
          <p:cNvSpPr>
            <a:spLocks noChangeArrowheads="1"/>
          </p:cNvSpPr>
          <p:nvPr/>
        </p:nvSpPr>
        <p:spPr bwMode="auto">
          <a:xfrm>
            <a:off x="1945089" y="4880975"/>
            <a:ext cx="9550325" cy="4977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2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大数定律以严格的数学形式表达了随机现象最根本的性质之一：</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61" name="Rectangle 17"/>
          <p:cNvSpPr>
            <a:spLocks noChangeArrowheads="1"/>
          </p:cNvSpPr>
          <p:nvPr/>
        </p:nvSpPr>
        <p:spPr bwMode="auto">
          <a:xfrm>
            <a:off x="4244829" y="5707144"/>
            <a:ext cx="4321175" cy="523220"/>
          </a:xfrm>
          <a:prstGeom prst="rect">
            <a:avLst/>
          </a:prstGeom>
          <a:solidFill>
            <a:srgbClr val="C00000"/>
          </a:solidFill>
          <a:ln>
            <a:noFill/>
          </a:ln>
          <a:effectLst/>
        </p:spPr>
        <p:txBody>
          <a:bodyPr anchor="ctr">
            <a:spAutoFit/>
          </a:bodyPr>
          <a:lstStyle/>
          <a:p>
            <a:pPr algn="ctr" eaLnBrk="1" hangingPunct="1"/>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平均结果的稳定性</a:t>
            </a:r>
            <a:endPar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2968" name="Object 24"/>
          <p:cNvGraphicFramePr>
            <a:graphicFrameLocks noChangeAspect="1"/>
          </p:cNvGraphicFramePr>
          <p:nvPr/>
        </p:nvGraphicFramePr>
        <p:xfrm>
          <a:off x="1945089" y="1156525"/>
          <a:ext cx="502567" cy="3618485"/>
        </p:xfrm>
        <a:graphic>
          <a:graphicData uri="http://schemas.openxmlformats.org/presentationml/2006/ole">
            <mc:AlternateContent xmlns:mc="http://schemas.openxmlformats.org/markup-compatibility/2006">
              <mc:Choice xmlns:v="urn:schemas-microsoft-com:vml" Requires="v">
                <p:oleObj spid="_x0000_s324694" name="Equation" r:id="rId1" imgW="4572000" imgH="32918400" progId="Equation.DSMT4">
                  <p:embed/>
                </p:oleObj>
              </mc:Choice>
              <mc:Fallback>
                <p:oleObj name="Equation" r:id="rId1" imgW="4572000" imgH="32918400" progId="Equation.DSMT4">
                  <p:embed/>
                  <p:pic>
                    <p:nvPicPr>
                      <p:cNvPr id="0" name="Object 24"/>
                      <p:cNvPicPr>
                        <a:picLocks noChangeAspect="1" noChangeArrowheads="1"/>
                      </p:cNvPicPr>
                      <p:nvPr/>
                    </p:nvPicPr>
                    <p:blipFill>
                      <a:blip r:embed="rId2"/>
                      <a:srcRect/>
                      <a:stretch>
                        <a:fillRect/>
                      </a:stretch>
                    </p:blipFill>
                    <p:spPr bwMode="auto">
                      <a:xfrm>
                        <a:off x="1945089" y="1156525"/>
                        <a:ext cx="502567" cy="3618485"/>
                      </a:xfrm>
                      <a:prstGeom prst="rect">
                        <a:avLst/>
                      </a:prstGeom>
                      <a:noFill/>
                      <a:ln>
                        <a:noFill/>
                      </a:ln>
                      <a:effectLst/>
                    </p:spPr>
                  </p:pic>
                </p:oleObj>
              </mc:Fallback>
            </mc:AlternateContent>
          </a:graphicData>
        </a:graphic>
      </p:graphicFrame>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三、归纳总结</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4" name="组合 3"/>
          <p:cNvGrpSpPr/>
          <p:nvPr/>
        </p:nvGrpSpPr>
        <p:grpSpPr>
          <a:xfrm>
            <a:off x="2482605" y="3671748"/>
            <a:ext cx="7437348" cy="1306512"/>
            <a:chOff x="2482605" y="3671748"/>
            <a:chExt cx="7437348" cy="1306512"/>
          </a:xfrm>
        </p:grpSpPr>
        <p:graphicFrame>
          <p:nvGraphicFramePr>
            <p:cNvPr id="82963" name="Object 19"/>
            <p:cNvGraphicFramePr>
              <a:graphicFrameLocks noChangeAspect="1"/>
            </p:cNvGraphicFramePr>
            <p:nvPr/>
          </p:nvGraphicFramePr>
          <p:xfrm>
            <a:off x="8202807" y="3797072"/>
            <a:ext cx="1717146" cy="561975"/>
          </p:xfrm>
          <a:graphic>
            <a:graphicData uri="http://schemas.openxmlformats.org/presentationml/2006/ole">
              <mc:AlternateContent xmlns:mc="http://schemas.openxmlformats.org/markup-compatibility/2006">
                <mc:Choice xmlns:v="urn:schemas-microsoft-com:vml" Requires="v">
                  <p:oleObj spid="_x0000_s324695" name="Equation" r:id="rId3" imgW="16764000" imgH="5486400" progId="Equation.DSMT4">
                    <p:embed/>
                  </p:oleObj>
                </mc:Choice>
                <mc:Fallback>
                  <p:oleObj name="Equation" r:id="rId3" imgW="16764000" imgH="5486400" progId="Equation.DSMT4">
                    <p:embed/>
                    <p:pic>
                      <p:nvPicPr>
                        <p:cNvPr id="0" name="Object 19"/>
                        <p:cNvPicPr>
                          <a:picLocks noChangeAspect="1" noChangeArrowheads="1"/>
                        </p:cNvPicPr>
                        <p:nvPr/>
                      </p:nvPicPr>
                      <p:blipFill>
                        <a:blip r:embed="rId4"/>
                        <a:srcRect/>
                        <a:stretch>
                          <a:fillRect/>
                        </a:stretch>
                      </p:blipFill>
                      <p:spPr bwMode="auto">
                        <a:xfrm>
                          <a:off x="8202807" y="3797072"/>
                          <a:ext cx="1717146" cy="561975"/>
                        </a:xfrm>
                        <a:prstGeom prst="rect">
                          <a:avLst/>
                        </a:prstGeom>
                        <a:noFill/>
                        <a:ln>
                          <a:noFill/>
                        </a:ln>
                        <a:effectLst/>
                      </p:spPr>
                    </p:pic>
                  </p:oleObj>
                </mc:Fallback>
              </mc:AlternateContent>
            </a:graphicData>
          </a:graphic>
        </p:graphicFrame>
        <p:grpSp>
          <p:nvGrpSpPr>
            <p:cNvPr id="3" name="组合 2"/>
            <p:cNvGrpSpPr/>
            <p:nvPr/>
          </p:nvGrpSpPr>
          <p:grpSpPr>
            <a:xfrm>
              <a:off x="2482605" y="3671748"/>
              <a:ext cx="4944344" cy="1306512"/>
              <a:chOff x="2482605" y="3671748"/>
              <a:chExt cx="4944344" cy="1306512"/>
            </a:xfrm>
          </p:grpSpPr>
          <p:graphicFrame>
            <p:nvGraphicFramePr>
              <p:cNvPr id="82967" name="Object 23"/>
              <p:cNvGraphicFramePr>
                <a:graphicFrameLocks noChangeAspect="1"/>
              </p:cNvGraphicFramePr>
              <p:nvPr/>
            </p:nvGraphicFramePr>
            <p:xfrm>
              <a:off x="4305924" y="3671748"/>
              <a:ext cx="3121025" cy="1306512"/>
            </p:xfrm>
            <a:graphic>
              <a:graphicData uri="http://schemas.openxmlformats.org/presentationml/2006/ole">
                <mc:AlternateContent xmlns:mc="http://schemas.openxmlformats.org/markup-compatibility/2006">
                  <mc:Choice xmlns:v="urn:schemas-microsoft-com:vml" Requires="v">
                    <p:oleObj spid="_x0000_s324696" name="Equation" r:id="rId5" imgW="40538400" imgH="15849600" progId="Equation.DSMT4">
                      <p:embed/>
                    </p:oleObj>
                  </mc:Choice>
                  <mc:Fallback>
                    <p:oleObj name="Equation" r:id="rId5" imgW="40538400" imgH="15849600" progId="Equation.DSMT4">
                      <p:embed/>
                      <p:pic>
                        <p:nvPicPr>
                          <p:cNvPr id="0" name="Object 23"/>
                          <p:cNvPicPr>
                            <a:picLocks noChangeAspect="1" noChangeArrowheads="1"/>
                          </p:cNvPicPr>
                          <p:nvPr/>
                        </p:nvPicPr>
                        <p:blipFill>
                          <a:blip r:embed="rId6"/>
                          <a:srcRect/>
                          <a:stretch>
                            <a:fillRect/>
                          </a:stretch>
                        </p:blipFill>
                        <p:spPr bwMode="auto">
                          <a:xfrm>
                            <a:off x="4305924" y="3671748"/>
                            <a:ext cx="3121025" cy="1306512"/>
                          </a:xfrm>
                          <a:prstGeom prst="rect">
                            <a:avLst/>
                          </a:prstGeom>
                          <a:noFill/>
                          <a:ln>
                            <a:noFill/>
                          </a:ln>
                          <a:effectLst/>
                        </p:spPr>
                      </p:pic>
                    </p:oleObj>
                  </mc:Fallback>
                </mc:AlternateContent>
              </a:graphicData>
            </a:graphic>
          </p:graphicFrame>
          <p:sp>
            <p:nvSpPr>
              <p:cNvPr id="18" name="Rectangle 16"/>
              <p:cNvSpPr>
                <a:spLocks noChangeArrowheads="1"/>
              </p:cNvSpPr>
              <p:nvPr/>
            </p:nvSpPr>
            <p:spPr bwMode="auto">
              <a:xfrm>
                <a:off x="2482605" y="3688647"/>
                <a:ext cx="1514490" cy="9787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graphicFrame>
        <p:nvGraphicFramePr>
          <p:cNvPr id="82964" name="Object 20"/>
          <p:cNvGraphicFramePr>
            <a:graphicFrameLocks noChangeAspect="1"/>
          </p:cNvGraphicFramePr>
          <p:nvPr/>
        </p:nvGraphicFramePr>
        <p:xfrm>
          <a:off x="8202807" y="1311098"/>
          <a:ext cx="1873250" cy="561975"/>
        </p:xfrm>
        <a:graphic>
          <a:graphicData uri="http://schemas.openxmlformats.org/presentationml/2006/ole">
            <mc:AlternateContent xmlns:mc="http://schemas.openxmlformats.org/markup-compatibility/2006">
              <mc:Choice xmlns:v="urn:schemas-microsoft-com:vml" Requires="v">
                <p:oleObj spid="_x0000_s324697" name="Equation" r:id="rId7" imgW="18288000" imgH="5486400" progId="Equation.DSMT4">
                  <p:embed/>
                </p:oleObj>
              </mc:Choice>
              <mc:Fallback>
                <p:oleObj name="Equation" r:id="rId7" imgW="18288000" imgH="5486400" progId="Equation.DSMT4">
                  <p:embed/>
                  <p:pic>
                    <p:nvPicPr>
                      <p:cNvPr id="0" name="Object 20"/>
                      <p:cNvPicPr>
                        <a:picLocks noChangeAspect="1" noChangeArrowheads="1"/>
                      </p:cNvPicPr>
                      <p:nvPr/>
                    </p:nvPicPr>
                    <p:blipFill>
                      <a:blip r:embed="rId8"/>
                      <a:srcRect/>
                      <a:stretch>
                        <a:fillRect/>
                      </a:stretch>
                    </p:blipFill>
                    <p:spPr bwMode="auto">
                      <a:xfrm>
                        <a:off x="8202807" y="1311098"/>
                        <a:ext cx="1873250" cy="561975"/>
                      </a:xfrm>
                      <a:prstGeom prst="rect">
                        <a:avLst/>
                      </a:prstGeom>
                      <a:noFill/>
                      <a:ln>
                        <a:noFill/>
                      </a:ln>
                      <a:effectLst/>
                    </p:spPr>
                  </p:pic>
                </p:oleObj>
              </mc:Fallback>
            </mc:AlternateContent>
          </a:graphicData>
        </a:graphic>
      </p:graphicFrame>
      <p:grpSp>
        <p:nvGrpSpPr>
          <p:cNvPr id="2" name="组合 1"/>
          <p:cNvGrpSpPr/>
          <p:nvPr/>
        </p:nvGrpSpPr>
        <p:grpSpPr>
          <a:xfrm>
            <a:off x="2482605" y="1145217"/>
            <a:ext cx="4928563" cy="978729"/>
            <a:chOff x="2555313" y="1493138"/>
            <a:chExt cx="4928563" cy="978729"/>
          </a:xfrm>
        </p:grpSpPr>
        <p:graphicFrame>
          <p:nvGraphicFramePr>
            <p:cNvPr id="82965" name="Object 21"/>
            <p:cNvGraphicFramePr>
              <a:graphicFrameLocks noChangeAspect="1"/>
            </p:cNvGraphicFramePr>
            <p:nvPr/>
          </p:nvGraphicFramePr>
          <p:xfrm>
            <a:off x="4358089" y="1565783"/>
            <a:ext cx="3125787" cy="833438"/>
          </p:xfrm>
          <a:graphic>
            <a:graphicData uri="http://schemas.openxmlformats.org/presentationml/2006/ole">
              <mc:AlternateContent xmlns:mc="http://schemas.openxmlformats.org/markup-compatibility/2006">
                <mc:Choice xmlns:v="urn:schemas-microsoft-com:vml" Requires="v">
                  <p:oleObj spid="_x0000_s324698" name="Equation" r:id="rId9" imgW="34747200" imgH="9448800" progId="Equation.DSMT4">
                    <p:embed/>
                  </p:oleObj>
                </mc:Choice>
                <mc:Fallback>
                  <p:oleObj name="Equation" r:id="rId9" imgW="34747200" imgH="9448800" progId="Equation.DSMT4">
                    <p:embed/>
                    <p:pic>
                      <p:nvPicPr>
                        <p:cNvPr id="0" name="Object 21"/>
                        <p:cNvPicPr>
                          <a:picLocks noChangeAspect="1" noChangeArrowheads="1"/>
                        </p:cNvPicPr>
                        <p:nvPr/>
                      </p:nvPicPr>
                      <p:blipFill>
                        <a:blip r:embed="rId10"/>
                        <a:srcRect/>
                        <a:stretch>
                          <a:fillRect/>
                        </a:stretch>
                      </p:blipFill>
                      <p:spPr bwMode="auto">
                        <a:xfrm>
                          <a:off x="4358089" y="1565783"/>
                          <a:ext cx="3125787" cy="833438"/>
                        </a:xfrm>
                        <a:prstGeom prst="rect">
                          <a:avLst/>
                        </a:prstGeom>
                        <a:noFill/>
                        <a:ln>
                          <a:noFill/>
                        </a:ln>
                        <a:effectLst/>
                      </p:spPr>
                    </p:pic>
                  </p:oleObj>
                </mc:Fallback>
              </mc:AlternateContent>
            </a:graphicData>
          </a:graphic>
        </p:graphicFrame>
        <p:sp>
          <p:nvSpPr>
            <p:cNvPr id="19" name="Rectangle 16"/>
            <p:cNvSpPr>
              <a:spLocks noChangeArrowheads="1"/>
            </p:cNvSpPr>
            <p:nvPr/>
          </p:nvSpPr>
          <p:spPr bwMode="auto">
            <a:xfrm>
              <a:off x="2555313" y="1493138"/>
              <a:ext cx="1514490" cy="9787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5" name="组合 4"/>
          <p:cNvGrpSpPr/>
          <p:nvPr/>
        </p:nvGrpSpPr>
        <p:grpSpPr>
          <a:xfrm>
            <a:off x="2482605" y="2223676"/>
            <a:ext cx="7843219" cy="1186392"/>
            <a:chOff x="2482605" y="2223676"/>
            <a:chExt cx="7843219" cy="1186392"/>
          </a:xfrm>
        </p:grpSpPr>
        <p:graphicFrame>
          <p:nvGraphicFramePr>
            <p:cNvPr id="82962" name="Object 18"/>
            <p:cNvGraphicFramePr>
              <a:graphicFrameLocks noChangeAspect="1"/>
            </p:cNvGraphicFramePr>
            <p:nvPr/>
          </p:nvGraphicFramePr>
          <p:xfrm>
            <a:off x="8202807" y="2223676"/>
            <a:ext cx="2123017" cy="1186392"/>
          </p:xfrm>
          <a:graphic>
            <a:graphicData uri="http://schemas.openxmlformats.org/presentationml/2006/ole">
              <mc:AlternateContent xmlns:mc="http://schemas.openxmlformats.org/markup-compatibility/2006">
                <mc:Choice xmlns:v="urn:schemas-microsoft-com:vml" Requires="v">
                  <p:oleObj spid="_x0000_s324699" name="Equation" r:id="rId11" imgW="20726400" imgH="11582400" progId="Equation.DSMT4">
                    <p:embed/>
                  </p:oleObj>
                </mc:Choice>
                <mc:Fallback>
                  <p:oleObj name="Equation" r:id="rId11" imgW="20726400" imgH="11582400" progId="Equation.DSMT4">
                    <p:embed/>
                    <p:pic>
                      <p:nvPicPr>
                        <p:cNvPr id="0" name="Object 18"/>
                        <p:cNvPicPr>
                          <a:picLocks noChangeAspect="1" noChangeArrowheads="1"/>
                        </p:cNvPicPr>
                        <p:nvPr/>
                      </p:nvPicPr>
                      <p:blipFill>
                        <a:blip r:embed="rId12"/>
                        <a:srcRect/>
                        <a:stretch>
                          <a:fillRect/>
                        </a:stretch>
                      </p:blipFill>
                      <p:spPr bwMode="auto">
                        <a:xfrm>
                          <a:off x="8202807" y="2223676"/>
                          <a:ext cx="2123017" cy="1186392"/>
                        </a:xfrm>
                        <a:prstGeom prst="rect">
                          <a:avLst/>
                        </a:prstGeom>
                        <a:noFill/>
                        <a:ln>
                          <a:noFill/>
                        </a:ln>
                        <a:effectLst/>
                      </p:spPr>
                    </p:pic>
                  </p:oleObj>
                </mc:Fallback>
              </mc:AlternateContent>
            </a:graphicData>
          </a:graphic>
        </p:graphicFrame>
        <p:graphicFrame>
          <p:nvGraphicFramePr>
            <p:cNvPr id="82966" name="Object 22"/>
            <p:cNvGraphicFramePr>
              <a:graphicFrameLocks noChangeAspect="1"/>
            </p:cNvGraphicFramePr>
            <p:nvPr/>
          </p:nvGraphicFramePr>
          <p:xfrm>
            <a:off x="4271569" y="2380681"/>
            <a:ext cx="3595687" cy="890587"/>
          </p:xfrm>
          <a:graphic>
            <a:graphicData uri="http://schemas.openxmlformats.org/presentationml/2006/ole">
              <mc:AlternateContent xmlns:mc="http://schemas.openxmlformats.org/markup-compatibility/2006">
                <mc:Choice xmlns:v="urn:schemas-microsoft-com:vml" Requires="v">
                  <p:oleObj spid="_x0000_s324700" name="Equation" r:id="rId13" imgW="40843200" imgH="10363200" progId="Equation.DSMT4">
                    <p:embed/>
                  </p:oleObj>
                </mc:Choice>
                <mc:Fallback>
                  <p:oleObj name="Equation" r:id="rId13" imgW="40843200" imgH="10363200" progId="Equation.DSMT4">
                    <p:embed/>
                    <p:pic>
                      <p:nvPicPr>
                        <p:cNvPr id="0" name="Object 22"/>
                        <p:cNvPicPr>
                          <a:picLocks noChangeAspect="1" noChangeArrowheads="1"/>
                        </p:cNvPicPr>
                        <p:nvPr/>
                      </p:nvPicPr>
                      <p:blipFill>
                        <a:blip r:embed="rId14"/>
                        <a:srcRect/>
                        <a:stretch>
                          <a:fillRect/>
                        </a:stretch>
                      </p:blipFill>
                      <p:spPr bwMode="auto">
                        <a:xfrm>
                          <a:off x="4271569" y="2380681"/>
                          <a:ext cx="3595687" cy="890587"/>
                        </a:xfrm>
                        <a:prstGeom prst="rect">
                          <a:avLst/>
                        </a:prstGeom>
                        <a:noFill/>
                        <a:ln>
                          <a:noFill/>
                        </a:ln>
                        <a:effectLst/>
                      </p:spPr>
                    </p:pic>
                  </p:oleObj>
                </mc:Fallback>
              </mc:AlternateContent>
            </a:graphicData>
          </a:graphic>
        </p:graphicFrame>
        <p:sp>
          <p:nvSpPr>
            <p:cNvPr id="20" name="Rectangle 16"/>
            <p:cNvSpPr>
              <a:spLocks noChangeArrowheads="1"/>
            </p:cNvSpPr>
            <p:nvPr/>
          </p:nvSpPr>
          <p:spPr bwMode="auto">
            <a:xfrm>
              <a:off x="2482605" y="2394055"/>
              <a:ext cx="1514490" cy="94096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2959"/>
                                        </p:tgtEl>
                                        <p:attrNameLst>
                                          <p:attrName>style.visibility</p:attrName>
                                        </p:attrNameLst>
                                      </p:cBhvr>
                                      <p:to>
                                        <p:strVal val="visible"/>
                                      </p:to>
                                    </p:set>
                                    <p:animEffect transition="in" filter="wipe(down)">
                                      <p:cBhvr>
                                        <p:cTn id="7" dur="500"/>
                                        <p:tgtEl>
                                          <p:spTgt spid="829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968"/>
                                        </p:tgtEl>
                                        <p:attrNameLst>
                                          <p:attrName>style.visibility</p:attrName>
                                        </p:attrNameLst>
                                      </p:cBhvr>
                                      <p:to>
                                        <p:strVal val="visible"/>
                                      </p:to>
                                    </p:set>
                                    <p:animEffect transition="in" filter="blinds(horizontal)">
                                      <p:cBhvr>
                                        <p:cTn id="12" dur="500"/>
                                        <p:tgtEl>
                                          <p:spTgt spid="829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2964"/>
                                        </p:tgtEl>
                                        <p:attrNameLst>
                                          <p:attrName>style.visibility</p:attrName>
                                        </p:attrNameLst>
                                      </p:cBhvr>
                                      <p:to>
                                        <p:strVal val="visible"/>
                                      </p:to>
                                    </p:set>
                                    <p:animEffect transition="in" filter="wipe(down)">
                                      <p:cBhvr>
                                        <p:cTn id="22" dur="500"/>
                                        <p:tgtEl>
                                          <p:spTgt spid="829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2960"/>
                                        </p:tgtEl>
                                        <p:attrNameLst>
                                          <p:attrName>style.visibility</p:attrName>
                                        </p:attrNameLst>
                                      </p:cBhvr>
                                      <p:to>
                                        <p:strVal val="visible"/>
                                      </p:to>
                                    </p:set>
                                    <p:animEffect transition="in" filter="wipe(left)">
                                      <p:cBhvr>
                                        <p:cTn id="37" dur="500"/>
                                        <p:tgtEl>
                                          <p:spTgt spid="8296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2961"/>
                                        </p:tgtEl>
                                        <p:attrNameLst>
                                          <p:attrName>style.visibility</p:attrName>
                                        </p:attrNameLst>
                                      </p:cBhvr>
                                      <p:to>
                                        <p:strVal val="visible"/>
                                      </p:to>
                                    </p:set>
                                    <p:animEffect transition="in" filter="wipe(down)">
                                      <p:cBhvr>
                                        <p:cTn id="42" dur="500"/>
                                        <p:tgtEl>
                                          <p:spTgt spid="82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9" grpId="0"/>
      <p:bldP spid="82960" grpId="0" autoUpdateAnimBg="0"/>
      <p:bldP spid="8296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endParaRPr lang="zh-CN" altLang="en-US" sz="2400"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334473" y="3081773"/>
            <a:ext cx="4978298" cy="830997"/>
          </a:xfrm>
          <a:prstGeom prst="rect">
            <a:avLst/>
          </a:prstGeom>
          <a:noFill/>
        </p:spPr>
        <p:txBody>
          <a:bodyPr wrap="square" rtlCol="0">
            <a:spAutoFit/>
          </a:bodyPr>
          <a:lstStyle/>
          <a:p>
            <a:pPr algn="dist" defTabSz="685800"/>
            <a:r>
              <a:rPr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kumimoji="0"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0" name="文本框 369"/>
          <p:cNvSpPr txBox="1"/>
          <p:nvPr/>
        </p:nvSpPr>
        <p:spPr>
          <a:xfrm>
            <a:off x="1777321" y="2073508"/>
            <a:ext cx="4559680" cy="830997"/>
          </a:xfrm>
          <a:prstGeom prst="rect">
            <a:avLst/>
          </a:prstGeom>
          <a:noFill/>
          <a:effectLst/>
        </p:spPr>
        <p:txBody>
          <a:bodyPr wrap="square" rtlCol="0">
            <a:spAutoFit/>
          </a:bodyPr>
          <a:lstStyle/>
          <a:p>
            <a:pPr algn="dist"/>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lang="en-US" altLang="zh-CN"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1018492" y="4013600"/>
            <a:ext cx="5628092" cy="669863"/>
          </a:xfrm>
          <a:prstGeom prst="rect">
            <a:avLst/>
          </a:prstGeom>
        </p:spPr>
        <p:txBody>
          <a:bodyPr wrap="square">
            <a:spAutoFit/>
          </a:bodyPr>
          <a:lstStyle/>
          <a:p>
            <a:pPr algn="ctr">
              <a:lnSpc>
                <a:spcPct val="150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5187"/>
            <a:chOff x="8226111" y="1728368"/>
            <a:chExt cx="3881691" cy="343518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4775"/>
            </a:xfrm>
            <a:prstGeom prst="rect">
              <a:avLst/>
            </a:prstGeom>
            <a:noFill/>
            <a:effectLst/>
          </p:spPr>
          <p:txBody>
            <a:bodyPr wrap="square" rtlCol="0">
              <a:spAutoFit/>
            </a:bodyPr>
            <a:lstStyle/>
            <a:p>
              <a:pPr algn="dist"/>
              <a:r>
                <a:rPr lang="zh-CN" altLang="en-US" sz="32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信息学院</a:t>
              </a:r>
              <a:endPar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0"/>
            <a:ext cx="3949908" cy="685800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组合 5"/>
          <p:cNvGrpSpPr/>
          <p:nvPr/>
        </p:nvGrpSpPr>
        <p:grpSpPr>
          <a:xfrm>
            <a:off x="0" y="5764053"/>
            <a:ext cx="3949910" cy="1043740"/>
            <a:chOff x="4782847" y="4094267"/>
            <a:chExt cx="4170084" cy="782805"/>
          </a:xfrm>
        </p:grpSpPr>
        <p:sp>
          <p:nvSpPr>
            <p:cNvPr id="7" name="矩形 6"/>
            <p:cNvSpPr/>
            <p:nvPr/>
          </p:nvSpPr>
          <p:spPr>
            <a:xfrm flipH="1">
              <a:off x="4972448" y="4396100"/>
              <a:ext cx="3980483" cy="36000"/>
            </a:xfrm>
            <a:prstGeom prst="rect">
              <a:avLst/>
            </a:prstGeom>
            <a:gradFill flip="none" rotWithShape="1">
              <a:gsLst>
                <a:gs pos="0">
                  <a:schemeClr val="bg1">
                    <a:lumMod val="95000"/>
                    <a:alpha val="0"/>
                  </a:schemeClr>
                </a:gs>
                <a:gs pos="48000">
                  <a:schemeClr val="bg1">
                    <a:lumMod val="95000"/>
                    <a:alpha val="55000"/>
                  </a:schemeClr>
                </a:gs>
                <a:gs pos="100000">
                  <a:schemeClr val="bg1">
                    <a:lumMod val="95000"/>
                    <a:alpha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8" name="直接连接符 7"/>
            <p:cNvCxnSpPr/>
            <p:nvPr/>
          </p:nvCxnSpPr>
          <p:spPr>
            <a:xfrm>
              <a:off x="5622744" y="4472521"/>
              <a:ext cx="3151522" cy="0"/>
            </a:xfrm>
            <a:prstGeom prst="line">
              <a:avLst/>
            </a:prstGeom>
            <a:ln w="19050">
              <a:gradFill flip="none" rotWithShape="1">
                <a:gsLst>
                  <a:gs pos="0">
                    <a:schemeClr val="accent1">
                      <a:lumMod val="5000"/>
                      <a:lumOff val="95000"/>
                      <a:alpha val="16000"/>
                    </a:schemeClr>
                  </a:gs>
                  <a:gs pos="60000">
                    <a:schemeClr val="bg1">
                      <a:lumMod val="95000"/>
                      <a:alpha val="55000"/>
                    </a:schemeClr>
                  </a:gs>
                  <a:gs pos="100000">
                    <a:schemeClr val="bg1">
                      <a:lumMod val="95000"/>
                      <a:alpha val="13000"/>
                    </a:schemeClr>
                  </a:gs>
                </a:gsLst>
                <a:lin ang="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768612" y="4645497"/>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723086" y="4559944"/>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7467298" y="4279163"/>
              <a:ext cx="260022" cy="422967"/>
            </a:xfrm>
            <a:custGeom>
              <a:avLst/>
              <a:gdLst>
                <a:gd name="connsiteX0" fmla="*/ 87369 w 260022"/>
                <a:gd name="connsiteY0" fmla="*/ 59184 h 422967"/>
                <a:gd name="connsiteX1" fmla="*/ 120540 w 260022"/>
                <a:gd name="connsiteY1" fmla="*/ 59184 h 422967"/>
                <a:gd name="connsiteX2" fmla="*/ 120540 w 260022"/>
                <a:gd name="connsiteY2" fmla="*/ 419184 h 422967"/>
                <a:gd name="connsiteX3" fmla="*/ 87369 w 260022"/>
                <a:gd name="connsiteY3" fmla="*/ 419184 h 422967"/>
                <a:gd name="connsiteX4" fmla="*/ 0 w 260022"/>
                <a:gd name="connsiteY4" fmla="*/ 59184 h 422967"/>
                <a:gd name="connsiteX5" fmla="*/ 33171 w 260022"/>
                <a:gd name="connsiteY5" fmla="*/ 59184 h 422967"/>
                <a:gd name="connsiteX6" fmla="*/ 33171 w 260022"/>
                <a:gd name="connsiteY6" fmla="*/ 419184 h 422967"/>
                <a:gd name="connsiteX7" fmla="*/ 0 w 260022"/>
                <a:gd name="connsiteY7" fmla="*/ 419184 h 422967"/>
                <a:gd name="connsiteX8" fmla="*/ 226851 w 260022"/>
                <a:gd name="connsiteY8" fmla="*/ 0 h 422967"/>
                <a:gd name="connsiteX9" fmla="*/ 260022 w 260022"/>
                <a:gd name="connsiteY9" fmla="*/ 0 h 422967"/>
                <a:gd name="connsiteX10" fmla="*/ 260022 w 260022"/>
                <a:gd name="connsiteY10" fmla="*/ 422967 h 422967"/>
                <a:gd name="connsiteX11" fmla="*/ 226851 w 260022"/>
                <a:gd name="connsiteY11" fmla="*/ 422967 h 42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022" h="422967">
                  <a:moveTo>
                    <a:pt x="87369" y="59184"/>
                  </a:moveTo>
                  <a:lnTo>
                    <a:pt x="120540" y="59184"/>
                  </a:lnTo>
                  <a:lnTo>
                    <a:pt x="120540" y="419184"/>
                  </a:lnTo>
                  <a:lnTo>
                    <a:pt x="87369" y="419184"/>
                  </a:lnTo>
                  <a:close/>
                  <a:moveTo>
                    <a:pt x="0" y="59184"/>
                  </a:moveTo>
                  <a:lnTo>
                    <a:pt x="33171" y="59184"/>
                  </a:lnTo>
                  <a:lnTo>
                    <a:pt x="33171" y="419184"/>
                  </a:lnTo>
                  <a:lnTo>
                    <a:pt x="0" y="419184"/>
                  </a:lnTo>
                  <a:close/>
                  <a:moveTo>
                    <a:pt x="226851" y="0"/>
                  </a:moveTo>
                  <a:lnTo>
                    <a:pt x="260022" y="0"/>
                  </a:lnTo>
                  <a:lnTo>
                    <a:pt x="260022" y="422967"/>
                  </a:lnTo>
                  <a:lnTo>
                    <a:pt x="226851" y="422967"/>
                  </a:lnTo>
                  <a:close/>
                </a:path>
              </a:pathLst>
            </a:custGeom>
            <a:solidFill>
              <a:schemeClr val="bg1">
                <a:lumMod val="9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任意多边形 11"/>
            <p:cNvSpPr/>
            <p:nvPr/>
          </p:nvSpPr>
          <p:spPr>
            <a:xfrm>
              <a:off x="6862061" y="4110149"/>
              <a:ext cx="248780" cy="241514"/>
            </a:xfrm>
            <a:custGeom>
              <a:avLst/>
              <a:gdLst>
                <a:gd name="connsiteX0" fmla="*/ 15832 w 270000"/>
                <a:gd name="connsiteY0" fmla="*/ 216314 h 241514"/>
                <a:gd name="connsiteX1" fmla="*/ 238570 w 270000"/>
                <a:gd name="connsiteY1" fmla="*/ 216314 h 241514"/>
                <a:gd name="connsiteX2" fmla="*/ 238570 w 270000"/>
                <a:gd name="connsiteY2" fmla="*/ 241514 h 241514"/>
                <a:gd name="connsiteX3" fmla="*/ 15832 w 270000"/>
                <a:gd name="connsiteY3" fmla="*/ 241514 h 241514"/>
                <a:gd name="connsiteX4" fmla="*/ 0 w 270000"/>
                <a:gd name="connsiteY4" fmla="*/ 177270 h 241514"/>
                <a:gd name="connsiteX5" fmla="*/ 270000 w 270000"/>
                <a:gd name="connsiteY5" fmla="*/ 177270 h 241514"/>
                <a:gd name="connsiteX6" fmla="*/ 270000 w 270000"/>
                <a:gd name="connsiteY6" fmla="*/ 202470 h 241514"/>
                <a:gd name="connsiteX7" fmla="*/ 0 w 270000"/>
                <a:gd name="connsiteY7" fmla="*/ 202470 h 241514"/>
                <a:gd name="connsiteX8" fmla="*/ 0 w 270000"/>
                <a:gd name="connsiteY8" fmla="*/ 135151 h 241514"/>
                <a:gd name="connsiteX9" fmla="*/ 270000 w 270000"/>
                <a:gd name="connsiteY9" fmla="*/ 135151 h 241514"/>
                <a:gd name="connsiteX10" fmla="*/ 270000 w 270000"/>
                <a:gd name="connsiteY10" fmla="*/ 160351 h 241514"/>
                <a:gd name="connsiteX11" fmla="*/ 0 w 270000"/>
                <a:gd name="connsiteY11" fmla="*/ 160351 h 241514"/>
                <a:gd name="connsiteX12" fmla="*/ 0 w 270000"/>
                <a:gd name="connsiteY12" fmla="*/ 94740 h 241514"/>
                <a:gd name="connsiteX13" fmla="*/ 270000 w 270000"/>
                <a:gd name="connsiteY13" fmla="*/ 94740 h 241514"/>
                <a:gd name="connsiteX14" fmla="*/ 270000 w 270000"/>
                <a:gd name="connsiteY14" fmla="*/ 119940 h 241514"/>
                <a:gd name="connsiteX15" fmla="*/ 0 w 270000"/>
                <a:gd name="connsiteY15" fmla="*/ 119940 h 241514"/>
                <a:gd name="connsiteX16" fmla="*/ 0 w 270000"/>
                <a:gd name="connsiteY16" fmla="*/ 50253 h 241514"/>
                <a:gd name="connsiteX17" fmla="*/ 270000 w 270000"/>
                <a:gd name="connsiteY17" fmla="*/ 50253 h 241514"/>
                <a:gd name="connsiteX18" fmla="*/ 270000 w 270000"/>
                <a:gd name="connsiteY18" fmla="*/ 75453 h 241514"/>
                <a:gd name="connsiteX19" fmla="*/ 0 w 270000"/>
                <a:gd name="connsiteY19" fmla="*/ 75453 h 241514"/>
                <a:gd name="connsiteX20" fmla="*/ 15832 w 270000"/>
                <a:gd name="connsiteY20" fmla="*/ 0 h 241514"/>
                <a:gd name="connsiteX21" fmla="*/ 238570 w 270000"/>
                <a:gd name="connsiteY21" fmla="*/ 0 h 241514"/>
                <a:gd name="connsiteX22" fmla="*/ 238570 w 270000"/>
                <a:gd name="connsiteY22" fmla="*/ 25200 h 241514"/>
                <a:gd name="connsiteX23" fmla="*/ 15832 w 270000"/>
                <a:gd name="connsiteY23" fmla="*/ 25200 h 24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0000" h="241514">
                  <a:moveTo>
                    <a:pt x="15832" y="216314"/>
                  </a:moveTo>
                  <a:lnTo>
                    <a:pt x="238570" y="216314"/>
                  </a:lnTo>
                  <a:lnTo>
                    <a:pt x="238570" y="241514"/>
                  </a:lnTo>
                  <a:lnTo>
                    <a:pt x="15832" y="241514"/>
                  </a:lnTo>
                  <a:close/>
                  <a:moveTo>
                    <a:pt x="0" y="177270"/>
                  </a:moveTo>
                  <a:lnTo>
                    <a:pt x="270000" y="177270"/>
                  </a:lnTo>
                  <a:lnTo>
                    <a:pt x="270000" y="202470"/>
                  </a:lnTo>
                  <a:lnTo>
                    <a:pt x="0" y="202470"/>
                  </a:lnTo>
                  <a:close/>
                  <a:moveTo>
                    <a:pt x="0" y="135151"/>
                  </a:moveTo>
                  <a:lnTo>
                    <a:pt x="270000" y="135151"/>
                  </a:lnTo>
                  <a:lnTo>
                    <a:pt x="270000" y="160351"/>
                  </a:lnTo>
                  <a:lnTo>
                    <a:pt x="0" y="160351"/>
                  </a:lnTo>
                  <a:close/>
                  <a:moveTo>
                    <a:pt x="0" y="94740"/>
                  </a:moveTo>
                  <a:lnTo>
                    <a:pt x="270000" y="94740"/>
                  </a:lnTo>
                  <a:lnTo>
                    <a:pt x="270000" y="119940"/>
                  </a:lnTo>
                  <a:lnTo>
                    <a:pt x="0" y="119940"/>
                  </a:lnTo>
                  <a:close/>
                  <a:moveTo>
                    <a:pt x="0" y="50253"/>
                  </a:moveTo>
                  <a:lnTo>
                    <a:pt x="270000" y="50253"/>
                  </a:lnTo>
                  <a:lnTo>
                    <a:pt x="270000" y="75453"/>
                  </a:lnTo>
                  <a:lnTo>
                    <a:pt x="0" y="75453"/>
                  </a:lnTo>
                  <a:close/>
                  <a:moveTo>
                    <a:pt x="15832" y="0"/>
                  </a:moveTo>
                  <a:lnTo>
                    <a:pt x="238570" y="0"/>
                  </a:lnTo>
                  <a:lnTo>
                    <a:pt x="238570" y="25200"/>
                  </a:lnTo>
                  <a:lnTo>
                    <a:pt x="15832" y="25200"/>
                  </a:lnTo>
                  <a:close/>
                </a:path>
              </a:pathLst>
            </a:custGeom>
            <a:gradFill flip="none" rotWithShape="1">
              <a:gsLst>
                <a:gs pos="0">
                  <a:schemeClr val="accent3">
                    <a:lumMod val="5000"/>
                    <a:lumOff val="95000"/>
                    <a:alpha val="25000"/>
                  </a:schemeClr>
                </a:gs>
                <a:gs pos="45000">
                  <a:schemeClr val="bg1">
                    <a:lumMod val="95000"/>
                    <a:alpha val="50000"/>
                  </a:schemeClr>
                </a:gs>
                <a:gs pos="73000">
                  <a:schemeClr val="bg1">
                    <a:lumMod val="95000"/>
                    <a:alpha val="48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7847564" y="4665047"/>
              <a:ext cx="551121" cy="0"/>
            </a:xfrm>
            <a:prstGeom prst="line">
              <a:avLst/>
            </a:prstGeom>
            <a:ln w="19050">
              <a:gradFill flip="none" rotWithShape="1">
                <a:gsLst>
                  <a:gs pos="0">
                    <a:schemeClr val="accent1">
                      <a:lumMod val="5000"/>
                      <a:lumOff val="95000"/>
                      <a:alpha val="0"/>
                    </a:schemeClr>
                  </a:gs>
                  <a:gs pos="55000">
                    <a:schemeClr val="bg1">
                      <a:lumMod val="95000"/>
                      <a:alpha val="52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052185" y="4523125"/>
              <a:ext cx="819227"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5" name="任意多边形 14"/>
            <p:cNvSpPr/>
            <p:nvPr/>
          </p:nvSpPr>
          <p:spPr>
            <a:xfrm>
              <a:off x="7366021" y="4804172"/>
              <a:ext cx="139317"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1000"/>
                  </a:schemeClr>
                </a:gs>
                <a:gs pos="55000">
                  <a:schemeClr val="bg1">
                    <a:lumMod val="95000"/>
                    <a:alpha val="52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矩形 15"/>
            <p:cNvSpPr/>
            <p:nvPr/>
          </p:nvSpPr>
          <p:spPr>
            <a:xfrm>
              <a:off x="6303499" y="4176900"/>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7" name="直接连接符 16"/>
            <p:cNvCxnSpPr/>
            <p:nvPr/>
          </p:nvCxnSpPr>
          <p:spPr>
            <a:xfrm>
              <a:off x="7903128" y="4323221"/>
              <a:ext cx="275560"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8707918" y="4304986"/>
              <a:ext cx="72976"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4000"/>
                  </a:schemeClr>
                </a:gs>
                <a:gs pos="55000">
                  <a:schemeClr val="bg1">
                    <a:lumMod val="95000"/>
                    <a:alpha val="55000"/>
                  </a:schemeClr>
                </a:gs>
                <a:gs pos="100000">
                  <a:schemeClr val="bg1">
                    <a:lumMod val="95000"/>
                    <a:alpha val="24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9" name="直接连接符 18"/>
            <p:cNvCxnSpPr/>
            <p:nvPr/>
          </p:nvCxnSpPr>
          <p:spPr>
            <a:xfrm>
              <a:off x="7985344" y="4609497"/>
              <a:ext cx="866267" cy="0"/>
            </a:xfrm>
            <a:prstGeom prst="line">
              <a:avLst/>
            </a:prstGeom>
            <a:ln w="19050">
              <a:gradFill flip="none" rotWithShape="1">
                <a:gsLst>
                  <a:gs pos="0">
                    <a:schemeClr val="accent1">
                      <a:lumMod val="5000"/>
                      <a:lumOff val="95000"/>
                      <a:alpha val="12000"/>
                    </a:schemeClr>
                  </a:gs>
                  <a:gs pos="66000">
                    <a:srgbClr val="F2F2F2">
                      <a:alpha val="0"/>
                    </a:srgbClr>
                  </a:gs>
                  <a:gs pos="28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782847" y="4262142"/>
              <a:ext cx="139317" cy="25200"/>
            </a:xfrm>
            <a:prstGeom prst="rect">
              <a:avLst/>
            </a:prstGeom>
            <a:gradFill>
              <a:gsLst>
                <a:gs pos="0">
                  <a:schemeClr val="accent1">
                    <a:lumMod val="5000"/>
                    <a:lumOff val="95000"/>
                    <a:alpha val="12000"/>
                  </a:schemeClr>
                </a:gs>
                <a:gs pos="47000">
                  <a:schemeClr val="bg1">
                    <a:lumMod val="95000"/>
                    <a:alpha val="4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矩形 20"/>
            <p:cNvSpPr/>
            <p:nvPr/>
          </p:nvSpPr>
          <p:spPr>
            <a:xfrm>
              <a:off x="5913529" y="4094267"/>
              <a:ext cx="139317" cy="25200"/>
            </a:xfrm>
            <a:prstGeom prst="rect">
              <a:avLst/>
            </a:prstGeom>
            <a:gradFill>
              <a:gsLst>
                <a:gs pos="0">
                  <a:schemeClr val="accent1">
                    <a:lumMod val="5000"/>
                    <a:lumOff val="95000"/>
                    <a:alpha val="12000"/>
                  </a:schemeClr>
                </a:gs>
                <a:gs pos="47000">
                  <a:schemeClr val="bg1">
                    <a:lumMod val="95000"/>
                    <a:alpha val="40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矩形 21"/>
            <p:cNvSpPr/>
            <p:nvPr/>
          </p:nvSpPr>
          <p:spPr>
            <a:xfrm>
              <a:off x="6909857" y="4707644"/>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任意多边形 22"/>
            <p:cNvSpPr/>
            <p:nvPr/>
          </p:nvSpPr>
          <p:spPr>
            <a:xfrm>
              <a:off x="5113517" y="4164613"/>
              <a:ext cx="258731" cy="195058"/>
            </a:xfrm>
            <a:custGeom>
              <a:avLst/>
              <a:gdLst>
                <a:gd name="connsiteX0" fmla="*/ 19495 w 280800"/>
                <a:gd name="connsiteY0" fmla="*/ 169858 h 195058"/>
                <a:gd name="connsiteX1" fmla="*/ 242233 w 280800"/>
                <a:gd name="connsiteY1" fmla="*/ 169858 h 195058"/>
                <a:gd name="connsiteX2" fmla="*/ 242233 w 280800"/>
                <a:gd name="connsiteY2" fmla="*/ 195058 h 195058"/>
                <a:gd name="connsiteX3" fmla="*/ 19495 w 280800"/>
                <a:gd name="connsiteY3" fmla="*/ 195058 h 195058"/>
                <a:gd name="connsiteX4" fmla="*/ 11590 w 280800"/>
                <a:gd name="connsiteY4" fmla="*/ 129551 h 195058"/>
                <a:gd name="connsiteX5" fmla="*/ 263590 w 280800"/>
                <a:gd name="connsiteY5" fmla="*/ 129551 h 195058"/>
                <a:gd name="connsiteX6" fmla="*/ 263590 w 280800"/>
                <a:gd name="connsiteY6" fmla="*/ 154751 h 195058"/>
                <a:gd name="connsiteX7" fmla="*/ 11590 w 280800"/>
                <a:gd name="connsiteY7" fmla="*/ 154751 h 195058"/>
                <a:gd name="connsiteX8" fmla="*/ 912 w 280800"/>
                <a:gd name="connsiteY8" fmla="*/ 91334 h 195058"/>
                <a:gd name="connsiteX9" fmla="*/ 274512 w 280800"/>
                <a:gd name="connsiteY9" fmla="*/ 91334 h 195058"/>
                <a:gd name="connsiteX10" fmla="*/ 274512 w 280800"/>
                <a:gd name="connsiteY10" fmla="*/ 116534 h 195058"/>
                <a:gd name="connsiteX11" fmla="*/ 912 w 280800"/>
                <a:gd name="connsiteY11" fmla="*/ 116534 h 195058"/>
                <a:gd name="connsiteX12" fmla="*/ 0 w 280800"/>
                <a:gd name="connsiteY12" fmla="*/ 48059 h 195058"/>
                <a:gd name="connsiteX13" fmla="*/ 280800 w 280800"/>
                <a:gd name="connsiteY13" fmla="*/ 48059 h 195058"/>
                <a:gd name="connsiteX14" fmla="*/ 280800 w 280800"/>
                <a:gd name="connsiteY14" fmla="*/ 73259 h 195058"/>
                <a:gd name="connsiteX15" fmla="*/ 0 w 280800"/>
                <a:gd name="connsiteY15" fmla="*/ 73259 h 195058"/>
                <a:gd name="connsiteX16" fmla="*/ 19495 w 280800"/>
                <a:gd name="connsiteY16" fmla="*/ 0 h 195058"/>
                <a:gd name="connsiteX17" fmla="*/ 242233 w 280800"/>
                <a:gd name="connsiteY17" fmla="*/ 0 h 195058"/>
                <a:gd name="connsiteX18" fmla="*/ 242233 w 280800"/>
                <a:gd name="connsiteY18" fmla="*/ 25200 h 195058"/>
                <a:gd name="connsiteX19" fmla="*/ 19495 w 280800"/>
                <a:gd name="connsiteY19" fmla="*/ 25200 h 1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0800" h="195058">
                  <a:moveTo>
                    <a:pt x="19495" y="169858"/>
                  </a:moveTo>
                  <a:lnTo>
                    <a:pt x="242233" y="169858"/>
                  </a:lnTo>
                  <a:lnTo>
                    <a:pt x="242233" y="195058"/>
                  </a:lnTo>
                  <a:lnTo>
                    <a:pt x="19495" y="195058"/>
                  </a:lnTo>
                  <a:close/>
                  <a:moveTo>
                    <a:pt x="11590" y="129551"/>
                  </a:moveTo>
                  <a:lnTo>
                    <a:pt x="263590" y="129551"/>
                  </a:lnTo>
                  <a:lnTo>
                    <a:pt x="263590" y="154751"/>
                  </a:lnTo>
                  <a:lnTo>
                    <a:pt x="11590" y="154751"/>
                  </a:lnTo>
                  <a:close/>
                  <a:moveTo>
                    <a:pt x="912" y="91334"/>
                  </a:moveTo>
                  <a:lnTo>
                    <a:pt x="274512" y="91334"/>
                  </a:lnTo>
                  <a:lnTo>
                    <a:pt x="274512" y="116534"/>
                  </a:lnTo>
                  <a:lnTo>
                    <a:pt x="912" y="116534"/>
                  </a:lnTo>
                  <a:close/>
                  <a:moveTo>
                    <a:pt x="0" y="48059"/>
                  </a:moveTo>
                  <a:lnTo>
                    <a:pt x="280800" y="48059"/>
                  </a:lnTo>
                  <a:lnTo>
                    <a:pt x="280800" y="73259"/>
                  </a:lnTo>
                  <a:lnTo>
                    <a:pt x="0" y="73259"/>
                  </a:lnTo>
                  <a:close/>
                  <a:moveTo>
                    <a:pt x="19495" y="0"/>
                  </a:moveTo>
                  <a:lnTo>
                    <a:pt x="242233" y="0"/>
                  </a:lnTo>
                  <a:lnTo>
                    <a:pt x="242233" y="25200"/>
                  </a:lnTo>
                  <a:lnTo>
                    <a:pt x="19495" y="25200"/>
                  </a:lnTo>
                  <a:close/>
                </a:path>
              </a:pathLst>
            </a:custGeom>
            <a:gradFill flip="none" rotWithShape="1">
              <a:gsLst>
                <a:gs pos="0">
                  <a:schemeClr val="accent3">
                    <a:lumMod val="5000"/>
                    <a:lumOff val="95000"/>
                    <a:alpha val="25000"/>
                  </a:schemeClr>
                </a:gs>
                <a:gs pos="45000">
                  <a:schemeClr val="bg1">
                    <a:lumMod val="95000"/>
                    <a:alpha val="60000"/>
                  </a:schemeClr>
                </a:gs>
                <a:gs pos="73000">
                  <a:schemeClr val="bg1">
                    <a:lumMod val="95000"/>
                    <a:alpha val="70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4" name="组合 23"/>
          <p:cNvGrpSpPr/>
          <p:nvPr/>
        </p:nvGrpSpPr>
        <p:grpSpPr>
          <a:xfrm>
            <a:off x="319548" y="5249589"/>
            <a:ext cx="1104000" cy="1689600"/>
            <a:chOff x="5152583" y="3833274"/>
            <a:chExt cx="828000" cy="1267200"/>
          </a:xfrm>
        </p:grpSpPr>
        <p:sp>
          <p:nvSpPr>
            <p:cNvPr id="25" name="椭圆 24"/>
            <p:cNvSpPr/>
            <p:nvPr/>
          </p:nvSpPr>
          <p:spPr>
            <a:xfrm>
              <a:off x="5175983" y="4076274"/>
              <a:ext cx="781200" cy="781200"/>
            </a:xfrm>
            <a:prstGeom prst="ellipse">
              <a:avLst/>
            </a:prstGeom>
            <a:no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空心弧 25"/>
            <p:cNvSpPr/>
            <p:nvPr/>
          </p:nvSpPr>
          <p:spPr>
            <a:xfrm>
              <a:off x="5152583" y="4052874"/>
              <a:ext cx="828000" cy="828000"/>
            </a:xfrm>
            <a:prstGeom prst="blockArc">
              <a:avLst>
                <a:gd name="adj1" fmla="val 20421311"/>
                <a:gd name="adj2" fmla="val 4186973"/>
                <a:gd name="adj3" fmla="val 5992"/>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空心弧 26"/>
            <p:cNvSpPr/>
            <p:nvPr/>
          </p:nvSpPr>
          <p:spPr>
            <a:xfrm>
              <a:off x="5262793" y="4163084"/>
              <a:ext cx="607581" cy="607581"/>
            </a:xfrm>
            <a:prstGeom prst="blockArc">
              <a:avLst>
                <a:gd name="adj1" fmla="val 3457982"/>
                <a:gd name="adj2" fmla="val 696183"/>
                <a:gd name="adj3" fmla="val 13291"/>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p:cNvSpPr/>
            <p:nvPr/>
          </p:nvSpPr>
          <p:spPr>
            <a:xfrm rot="2700000" flipV="1">
              <a:off x="4932983" y="4452474"/>
              <a:ext cx="1267200" cy="28800"/>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18" name="组合 217"/>
          <p:cNvGrpSpPr/>
          <p:nvPr/>
        </p:nvGrpSpPr>
        <p:grpSpPr>
          <a:xfrm>
            <a:off x="6110990" y="2039631"/>
            <a:ext cx="684290" cy="654310"/>
            <a:chOff x="6130971" y="1234452"/>
            <a:chExt cx="684290" cy="654310"/>
          </a:xfrm>
        </p:grpSpPr>
        <p:sp>
          <p:nvSpPr>
            <p:cNvPr id="219" name="圆角矩形 218"/>
            <p:cNvSpPr/>
            <p:nvPr/>
          </p:nvSpPr>
          <p:spPr>
            <a:xfrm>
              <a:off x="6175941" y="1249442"/>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文本框 219"/>
            <p:cNvSpPr txBox="1"/>
            <p:nvPr/>
          </p:nvSpPr>
          <p:spPr>
            <a:xfrm>
              <a:off x="6130971" y="1234452"/>
              <a:ext cx="620683" cy="646331"/>
            </a:xfrm>
            <a:prstGeom prst="rect">
              <a:avLst/>
            </a:prstGeom>
            <a:noFill/>
            <a:effectLst/>
          </p:spPr>
          <p:txBody>
            <a:bodyPr wrap="none" rtlCol="0">
              <a:spAutoFit/>
            </a:bodyPr>
            <a:lstStyle/>
            <a:p>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21" name="组合 220"/>
          <p:cNvGrpSpPr/>
          <p:nvPr/>
        </p:nvGrpSpPr>
        <p:grpSpPr>
          <a:xfrm>
            <a:off x="6110990" y="3101845"/>
            <a:ext cx="699280" cy="654310"/>
            <a:chOff x="6115981" y="2180826"/>
            <a:chExt cx="699280" cy="654310"/>
          </a:xfrm>
        </p:grpSpPr>
        <p:sp>
          <p:nvSpPr>
            <p:cNvPr id="222" name="圆角矩形 221"/>
            <p:cNvSpPr/>
            <p:nvPr/>
          </p:nvSpPr>
          <p:spPr>
            <a:xfrm>
              <a:off x="6175941" y="2195816"/>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文本框 222"/>
            <p:cNvSpPr txBox="1"/>
            <p:nvPr/>
          </p:nvSpPr>
          <p:spPr>
            <a:xfrm>
              <a:off x="6115981" y="2180826"/>
              <a:ext cx="620683" cy="646331"/>
            </a:xfrm>
            <a:prstGeom prst="rect">
              <a:avLst/>
            </a:prstGeom>
            <a:noFill/>
            <a:effectLst/>
          </p:spPr>
          <p:txBody>
            <a:bodyPr wrap="none" rtlCol="0">
              <a:spAutoFit/>
            </a:bodyPr>
            <a:lstStyle/>
            <a:p>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24" name="组合 223"/>
          <p:cNvGrpSpPr/>
          <p:nvPr/>
        </p:nvGrpSpPr>
        <p:grpSpPr>
          <a:xfrm>
            <a:off x="6096000" y="4142327"/>
            <a:ext cx="699280" cy="654310"/>
            <a:chOff x="6115981" y="3147492"/>
            <a:chExt cx="699280" cy="654310"/>
          </a:xfrm>
        </p:grpSpPr>
        <p:sp>
          <p:nvSpPr>
            <p:cNvPr id="225" name="圆角矩形 224"/>
            <p:cNvSpPr/>
            <p:nvPr/>
          </p:nvSpPr>
          <p:spPr>
            <a:xfrm>
              <a:off x="6175941" y="3162482"/>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文本框 225"/>
            <p:cNvSpPr txBox="1"/>
            <p:nvPr/>
          </p:nvSpPr>
          <p:spPr>
            <a:xfrm>
              <a:off x="6115981" y="3147492"/>
              <a:ext cx="615874" cy="646331"/>
            </a:xfrm>
            <a:prstGeom prst="rect">
              <a:avLst/>
            </a:prstGeom>
            <a:noFill/>
            <a:effectLst/>
          </p:spPr>
          <p:txBody>
            <a:bodyPr wrap="none" rtlCol="0">
              <a:spAutoFit/>
            </a:bodyPr>
            <a:lstStyle/>
            <a:p>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27" name="组合 226"/>
          <p:cNvGrpSpPr/>
          <p:nvPr/>
        </p:nvGrpSpPr>
        <p:grpSpPr>
          <a:xfrm>
            <a:off x="6096000" y="5121790"/>
            <a:ext cx="699280" cy="654310"/>
            <a:chOff x="6115981" y="4126955"/>
            <a:chExt cx="699280" cy="654310"/>
          </a:xfrm>
        </p:grpSpPr>
        <p:sp>
          <p:nvSpPr>
            <p:cNvPr id="228"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文本框 228"/>
            <p:cNvSpPr txBox="1"/>
            <p:nvPr/>
          </p:nvSpPr>
          <p:spPr>
            <a:xfrm>
              <a:off x="6115981" y="4126955"/>
              <a:ext cx="620683" cy="646331"/>
            </a:xfrm>
            <a:prstGeom prst="rect">
              <a:avLst/>
            </a:prstGeom>
            <a:noFill/>
            <a:effectLst/>
          </p:spPr>
          <p:txBody>
            <a:bodyPr wrap="none" rtlCol="0">
              <a:spAutoFit/>
            </a:bodyPr>
            <a:lstStyle/>
            <a:p>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3" name="文本框 232"/>
          <p:cNvSpPr txBox="1"/>
          <p:nvPr/>
        </p:nvSpPr>
        <p:spPr>
          <a:xfrm>
            <a:off x="7254340" y="2070408"/>
            <a:ext cx="2339102" cy="523220"/>
          </a:xfrm>
          <a:prstGeom prst="rect">
            <a:avLst/>
          </a:prstGeom>
          <a:noFill/>
        </p:spPr>
        <p:txBody>
          <a:bodyPr wrap="non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文本框 233"/>
          <p:cNvSpPr txBox="1"/>
          <p:nvPr/>
        </p:nvSpPr>
        <p:spPr>
          <a:xfrm>
            <a:off x="7254340" y="4173104"/>
            <a:ext cx="1620957" cy="523220"/>
          </a:xfrm>
          <a:prstGeom prst="rect">
            <a:avLst/>
          </a:prstGeom>
          <a:noFill/>
        </p:spPr>
        <p:txBody>
          <a:bodyPr wrap="non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课堂练习</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文本框 235"/>
          <p:cNvSpPr txBox="1"/>
          <p:nvPr/>
        </p:nvSpPr>
        <p:spPr>
          <a:xfrm>
            <a:off x="7254340" y="5152567"/>
            <a:ext cx="3147015" cy="523220"/>
          </a:xfrm>
          <a:prstGeom prst="rect">
            <a:avLst/>
          </a:prstGeom>
          <a:noFill/>
        </p:spPr>
        <p:txBody>
          <a:bodyPr wrap="non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归纳总结 布置作业</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文本框 237"/>
          <p:cNvSpPr txBox="1"/>
          <p:nvPr/>
        </p:nvSpPr>
        <p:spPr>
          <a:xfrm>
            <a:off x="1506344" y="513425"/>
            <a:ext cx="4461478" cy="1015663"/>
          </a:xfrm>
          <a:prstGeom prst="rect">
            <a:avLst/>
          </a:prstGeom>
          <a:noFill/>
        </p:spPr>
        <p:txBody>
          <a:bodyPr wrap="none" rtlCol="0">
            <a:spAutoFit/>
          </a:bodyPr>
          <a:lstStyle/>
          <a:p>
            <a:r>
              <a:rPr lang="en-US" altLang="zh-CN" sz="6000" b="1" dirty="0">
                <a:solidFill>
                  <a:srgbClr val="FFFFFF"/>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CONC</a:t>
            </a:r>
            <a:r>
              <a:rPr lang="en-US" altLang="zh-CN"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ENTS</a:t>
            </a:r>
            <a:endParaRPr lang="zh-CN" altLang="en-US"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endParaRPr>
          </a:p>
        </p:txBody>
      </p:sp>
      <p:sp>
        <p:nvSpPr>
          <p:cNvPr id="239" name="文本框 20"/>
          <p:cNvSpPr>
            <a:spLocks noChangeArrowheads="1"/>
          </p:cNvSpPr>
          <p:nvPr/>
        </p:nvSpPr>
        <p:spPr bwMode="auto">
          <a:xfrm>
            <a:off x="698481" y="2769188"/>
            <a:ext cx="251222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目   录</a:t>
            </a:r>
            <a:endParaRPr 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文本框 234"/>
          <p:cNvSpPr txBox="1"/>
          <p:nvPr/>
        </p:nvSpPr>
        <p:spPr>
          <a:xfrm>
            <a:off x="7254340" y="3163400"/>
            <a:ext cx="2586076"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例题</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750"/>
                                        <p:tgtEl>
                                          <p:spTgt spid="5"/>
                                        </p:tgtEl>
                                      </p:cBhvr>
                                    </p:animEffect>
                                  </p:childTnLst>
                                </p:cTn>
                              </p:par>
                              <p:par>
                                <p:cTn id="8" presetID="22" presetClass="entr" presetSubtype="2"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1000"/>
                                        <p:tgtEl>
                                          <p:spTgt spid="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par>
                          <p:cTn id="15" fill="hold">
                            <p:stCondLst>
                              <p:cond delay="1500"/>
                            </p:stCondLst>
                            <p:childTnLst>
                              <p:par>
                                <p:cTn id="16" presetID="8" presetClass="emph" presetSubtype="0" repeatCount="indefinite" fill="hold" nodeType="afterEffect">
                                  <p:stCondLst>
                                    <p:cond delay="0"/>
                                  </p:stCondLst>
                                  <p:childTnLst>
                                    <p:animRot by="21600000">
                                      <p:cBhvr>
                                        <p:cTn id="17" dur="2500" fill="hold"/>
                                        <p:tgtEl>
                                          <p:spTgt spid="24"/>
                                        </p:tgtEl>
                                        <p:attrNameLst>
                                          <p:attrName>r</p:attrName>
                                        </p:attrNameLst>
                                      </p:cBhvr>
                                    </p:animRot>
                                  </p:childTnLst>
                                </p:cTn>
                              </p:par>
                              <p:par>
                                <p:cTn id="18" presetID="22" presetClass="entr" presetSubtype="8" fill="hold" grpId="0" nodeType="withEffect">
                                  <p:stCondLst>
                                    <p:cond delay="0"/>
                                  </p:stCondLst>
                                  <p:childTnLst>
                                    <p:set>
                                      <p:cBhvr>
                                        <p:cTn id="19" dur="1" fill="hold">
                                          <p:stCondLst>
                                            <p:cond delay="0"/>
                                          </p:stCondLst>
                                        </p:cTn>
                                        <p:tgtEl>
                                          <p:spTgt spid="238"/>
                                        </p:tgtEl>
                                        <p:attrNameLst>
                                          <p:attrName>style.visibility</p:attrName>
                                        </p:attrNameLst>
                                      </p:cBhvr>
                                      <p:to>
                                        <p:strVal val="visible"/>
                                      </p:to>
                                    </p:set>
                                    <p:animEffect transition="in" filter="wipe(left)">
                                      <p:cBhvr>
                                        <p:cTn id="20" dur="750"/>
                                        <p:tgtEl>
                                          <p:spTgt spid="2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9"/>
                                        </p:tgtEl>
                                        <p:attrNameLst>
                                          <p:attrName>style.visibility</p:attrName>
                                        </p:attrNameLst>
                                      </p:cBhvr>
                                      <p:to>
                                        <p:strVal val="visible"/>
                                      </p:to>
                                    </p:set>
                                    <p:animEffect transition="in" filter="fade">
                                      <p:cBhvr>
                                        <p:cTn id="23" dur="750"/>
                                        <p:tgtEl>
                                          <p:spTgt spid="23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218"/>
                                        </p:tgtEl>
                                        <p:attrNameLst>
                                          <p:attrName>style.visibility</p:attrName>
                                        </p:attrNameLst>
                                      </p:cBhvr>
                                      <p:to>
                                        <p:strVal val="visible"/>
                                      </p:to>
                                    </p:set>
                                    <p:anim calcmode="lin" valueType="num">
                                      <p:cBhvr additive="base">
                                        <p:cTn id="28" dur="750" fill="hold"/>
                                        <p:tgtEl>
                                          <p:spTgt spid="218"/>
                                        </p:tgtEl>
                                        <p:attrNameLst>
                                          <p:attrName>ppt_x</p:attrName>
                                        </p:attrNameLst>
                                      </p:cBhvr>
                                      <p:tavLst>
                                        <p:tav tm="0">
                                          <p:val>
                                            <p:strVal val="0-#ppt_w/2"/>
                                          </p:val>
                                        </p:tav>
                                        <p:tav tm="100000">
                                          <p:val>
                                            <p:strVal val="#ppt_x"/>
                                          </p:val>
                                        </p:tav>
                                      </p:tavLst>
                                    </p:anim>
                                    <p:anim calcmode="lin" valueType="num">
                                      <p:cBhvr additive="base">
                                        <p:cTn id="29" dur="750" fill="hold"/>
                                        <p:tgtEl>
                                          <p:spTgt spid="218"/>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233"/>
                                        </p:tgtEl>
                                        <p:attrNameLst>
                                          <p:attrName>style.visibility</p:attrName>
                                        </p:attrNameLst>
                                      </p:cBhvr>
                                      <p:to>
                                        <p:strVal val="visible"/>
                                      </p:to>
                                    </p:set>
                                    <p:anim calcmode="lin" valueType="num">
                                      <p:cBhvr additive="base">
                                        <p:cTn id="32" dur="750" fill="hold"/>
                                        <p:tgtEl>
                                          <p:spTgt spid="233"/>
                                        </p:tgtEl>
                                        <p:attrNameLst>
                                          <p:attrName>ppt_x</p:attrName>
                                        </p:attrNameLst>
                                      </p:cBhvr>
                                      <p:tavLst>
                                        <p:tav tm="0">
                                          <p:val>
                                            <p:strVal val="1+#ppt_w/2"/>
                                          </p:val>
                                        </p:tav>
                                        <p:tav tm="100000">
                                          <p:val>
                                            <p:strVal val="#ppt_x"/>
                                          </p:val>
                                        </p:tav>
                                      </p:tavLst>
                                    </p:anim>
                                    <p:anim calcmode="lin" valueType="num">
                                      <p:cBhvr additive="base">
                                        <p:cTn id="33" dur="750" fill="hold"/>
                                        <p:tgtEl>
                                          <p:spTgt spid="23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 presetClass="entr" presetSubtype="8" fill="hold" nodeType="afterEffect">
                                  <p:stCondLst>
                                    <p:cond delay="0"/>
                                  </p:stCondLst>
                                  <p:childTnLst>
                                    <p:set>
                                      <p:cBhvr>
                                        <p:cTn id="36" dur="1" fill="hold">
                                          <p:stCondLst>
                                            <p:cond delay="0"/>
                                          </p:stCondLst>
                                        </p:cTn>
                                        <p:tgtEl>
                                          <p:spTgt spid="221"/>
                                        </p:tgtEl>
                                        <p:attrNameLst>
                                          <p:attrName>style.visibility</p:attrName>
                                        </p:attrNameLst>
                                      </p:cBhvr>
                                      <p:to>
                                        <p:strVal val="visible"/>
                                      </p:to>
                                    </p:set>
                                    <p:anim calcmode="lin" valueType="num">
                                      <p:cBhvr additive="base">
                                        <p:cTn id="37" dur="750" fill="hold"/>
                                        <p:tgtEl>
                                          <p:spTgt spid="221"/>
                                        </p:tgtEl>
                                        <p:attrNameLst>
                                          <p:attrName>ppt_x</p:attrName>
                                        </p:attrNameLst>
                                      </p:cBhvr>
                                      <p:tavLst>
                                        <p:tav tm="0">
                                          <p:val>
                                            <p:strVal val="0-#ppt_w/2"/>
                                          </p:val>
                                        </p:tav>
                                        <p:tav tm="100000">
                                          <p:val>
                                            <p:strVal val="#ppt_x"/>
                                          </p:val>
                                        </p:tav>
                                      </p:tavLst>
                                    </p:anim>
                                    <p:anim calcmode="lin" valueType="num">
                                      <p:cBhvr additive="base">
                                        <p:cTn id="38" dur="750" fill="hold"/>
                                        <p:tgtEl>
                                          <p:spTgt spid="221"/>
                                        </p:tgtEl>
                                        <p:attrNameLst>
                                          <p:attrName>ppt_y</p:attrName>
                                        </p:attrNameLst>
                                      </p:cBhvr>
                                      <p:tavLst>
                                        <p:tav tm="0">
                                          <p:val>
                                            <p:strVal val="#ppt_y"/>
                                          </p:val>
                                        </p:tav>
                                        <p:tav tm="100000">
                                          <p:val>
                                            <p:strVal val="#ppt_y"/>
                                          </p:val>
                                        </p:tav>
                                      </p:tavLst>
                                    </p:anim>
                                  </p:childTnLst>
                                </p:cTn>
                              </p:par>
                            </p:childTnLst>
                          </p:cTn>
                        </p:par>
                        <p:par>
                          <p:cTn id="39" fill="hold">
                            <p:stCondLst>
                              <p:cond delay="2000"/>
                            </p:stCondLst>
                            <p:childTnLst>
                              <p:par>
                                <p:cTn id="40" presetID="2" presetClass="entr" presetSubtype="8" fill="hold" nodeType="afterEffect">
                                  <p:stCondLst>
                                    <p:cond delay="0"/>
                                  </p:stCondLst>
                                  <p:childTnLst>
                                    <p:set>
                                      <p:cBhvr>
                                        <p:cTn id="41" dur="1" fill="hold">
                                          <p:stCondLst>
                                            <p:cond delay="0"/>
                                          </p:stCondLst>
                                        </p:cTn>
                                        <p:tgtEl>
                                          <p:spTgt spid="224"/>
                                        </p:tgtEl>
                                        <p:attrNameLst>
                                          <p:attrName>style.visibility</p:attrName>
                                        </p:attrNameLst>
                                      </p:cBhvr>
                                      <p:to>
                                        <p:strVal val="visible"/>
                                      </p:to>
                                    </p:set>
                                    <p:anim calcmode="lin" valueType="num">
                                      <p:cBhvr additive="base">
                                        <p:cTn id="42" dur="750" fill="hold"/>
                                        <p:tgtEl>
                                          <p:spTgt spid="224"/>
                                        </p:tgtEl>
                                        <p:attrNameLst>
                                          <p:attrName>ppt_x</p:attrName>
                                        </p:attrNameLst>
                                      </p:cBhvr>
                                      <p:tavLst>
                                        <p:tav tm="0">
                                          <p:val>
                                            <p:strVal val="0-#ppt_w/2"/>
                                          </p:val>
                                        </p:tav>
                                        <p:tav tm="100000">
                                          <p:val>
                                            <p:strVal val="#ppt_x"/>
                                          </p:val>
                                        </p:tav>
                                      </p:tavLst>
                                    </p:anim>
                                    <p:anim calcmode="lin" valueType="num">
                                      <p:cBhvr additive="base">
                                        <p:cTn id="43" dur="750" fill="hold"/>
                                        <p:tgtEl>
                                          <p:spTgt spid="224"/>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234"/>
                                        </p:tgtEl>
                                        <p:attrNameLst>
                                          <p:attrName>style.visibility</p:attrName>
                                        </p:attrNameLst>
                                      </p:cBhvr>
                                      <p:to>
                                        <p:strVal val="visible"/>
                                      </p:to>
                                    </p:set>
                                    <p:anim calcmode="lin" valueType="num">
                                      <p:cBhvr additive="base">
                                        <p:cTn id="46" dur="750" fill="hold"/>
                                        <p:tgtEl>
                                          <p:spTgt spid="234"/>
                                        </p:tgtEl>
                                        <p:attrNameLst>
                                          <p:attrName>ppt_x</p:attrName>
                                        </p:attrNameLst>
                                      </p:cBhvr>
                                      <p:tavLst>
                                        <p:tav tm="0">
                                          <p:val>
                                            <p:strVal val="1+#ppt_w/2"/>
                                          </p:val>
                                        </p:tav>
                                        <p:tav tm="100000">
                                          <p:val>
                                            <p:strVal val="#ppt_x"/>
                                          </p:val>
                                        </p:tav>
                                      </p:tavLst>
                                    </p:anim>
                                    <p:anim calcmode="lin" valueType="num">
                                      <p:cBhvr additive="base">
                                        <p:cTn id="47" dur="750" fill="hold"/>
                                        <p:tgtEl>
                                          <p:spTgt spid="234"/>
                                        </p:tgtEl>
                                        <p:attrNameLst>
                                          <p:attrName>ppt_y</p:attrName>
                                        </p:attrNameLst>
                                      </p:cBhvr>
                                      <p:tavLst>
                                        <p:tav tm="0">
                                          <p:val>
                                            <p:strVal val="#ppt_y"/>
                                          </p:val>
                                        </p:tav>
                                        <p:tav tm="100000">
                                          <p:val>
                                            <p:strVal val="#ppt_y"/>
                                          </p:val>
                                        </p:tav>
                                      </p:tavLst>
                                    </p:anim>
                                  </p:childTnLst>
                                </p:cTn>
                              </p:par>
                            </p:childTnLst>
                          </p:cTn>
                        </p:par>
                        <p:par>
                          <p:cTn id="48" fill="hold">
                            <p:stCondLst>
                              <p:cond delay="3000"/>
                            </p:stCondLst>
                            <p:childTnLst>
                              <p:par>
                                <p:cTn id="49" presetID="2" presetClass="entr" presetSubtype="8" fill="hold" nodeType="afterEffect">
                                  <p:stCondLst>
                                    <p:cond delay="0"/>
                                  </p:stCondLst>
                                  <p:childTnLst>
                                    <p:set>
                                      <p:cBhvr>
                                        <p:cTn id="50" dur="1" fill="hold">
                                          <p:stCondLst>
                                            <p:cond delay="0"/>
                                          </p:stCondLst>
                                        </p:cTn>
                                        <p:tgtEl>
                                          <p:spTgt spid="227"/>
                                        </p:tgtEl>
                                        <p:attrNameLst>
                                          <p:attrName>style.visibility</p:attrName>
                                        </p:attrNameLst>
                                      </p:cBhvr>
                                      <p:to>
                                        <p:strVal val="visible"/>
                                      </p:to>
                                    </p:set>
                                    <p:anim calcmode="lin" valueType="num">
                                      <p:cBhvr additive="base">
                                        <p:cTn id="51" dur="750" fill="hold"/>
                                        <p:tgtEl>
                                          <p:spTgt spid="227"/>
                                        </p:tgtEl>
                                        <p:attrNameLst>
                                          <p:attrName>ppt_x</p:attrName>
                                        </p:attrNameLst>
                                      </p:cBhvr>
                                      <p:tavLst>
                                        <p:tav tm="0">
                                          <p:val>
                                            <p:strVal val="0-#ppt_w/2"/>
                                          </p:val>
                                        </p:tav>
                                        <p:tav tm="100000">
                                          <p:val>
                                            <p:strVal val="#ppt_x"/>
                                          </p:val>
                                        </p:tav>
                                      </p:tavLst>
                                    </p:anim>
                                    <p:anim calcmode="lin" valueType="num">
                                      <p:cBhvr additive="base">
                                        <p:cTn id="52" dur="750" fill="hold"/>
                                        <p:tgtEl>
                                          <p:spTgt spid="22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236"/>
                                        </p:tgtEl>
                                        <p:attrNameLst>
                                          <p:attrName>style.visibility</p:attrName>
                                        </p:attrNameLst>
                                      </p:cBhvr>
                                      <p:to>
                                        <p:strVal val="visible"/>
                                      </p:to>
                                    </p:set>
                                    <p:anim calcmode="lin" valueType="num">
                                      <p:cBhvr additive="base">
                                        <p:cTn id="55" dur="750" fill="hold"/>
                                        <p:tgtEl>
                                          <p:spTgt spid="236"/>
                                        </p:tgtEl>
                                        <p:attrNameLst>
                                          <p:attrName>ppt_x</p:attrName>
                                        </p:attrNameLst>
                                      </p:cBhvr>
                                      <p:tavLst>
                                        <p:tav tm="0">
                                          <p:val>
                                            <p:strVal val="1+#ppt_w/2"/>
                                          </p:val>
                                        </p:tav>
                                        <p:tav tm="100000">
                                          <p:val>
                                            <p:strVal val="#ppt_x"/>
                                          </p:val>
                                        </p:tav>
                                      </p:tavLst>
                                    </p:anim>
                                    <p:anim calcmode="lin" valueType="num">
                                      <p:cBhvr additive="base">
                                        <p:cTn id="56" dur="750" fill="hold"/>
                                        <p:tgtEl>
                                          <p:spTgt spid="2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3" grpId="0"/>
      <p:bldP spid="234" grpId="0"/>
      <p:bldP spid="236" grpId="0"/>
      <p:bldP spid="238" grpId="0"/>
      <p:bldP spid="23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5313" y="2951717"/>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5" name="Text Box 107"/>
          <p:cNvSpPr txBox="1">
            <a:spLocks noChangeArrowheads="1"/>
          </p:cNvSpPr>
          <p:nvPr/>
        </p:nvSpPr>
        <p:spPr bwMode="auto">
          <a:xfrm>
            <a:off x="2424113" y="1855788"/>
            <a:ext cx="7162800"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en-US" altLang="zh-CN" b="1">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76" name="Text Box 108"/>
          <p:cNvSpPr txBox="1">
            <a:spLocks noChangeArrowheads="1"/>
          </p:cNvSpPr>
          <p:nvPr/>
        </p:nvSpPr>
        <p:spPr bwMode="auto">
          <a:xfrm>
            <a:off x="671513" y="712788"/>
            <a:ext cx="8077201"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1">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78" name="Rectangle 110"/>
          <p:cNvSpPr>
            <a:spLocks noChangeArrowheads="1"/>
          </p:cNvSpPr>
          <p:nvPr/>
        </p:nvSpPr>
        <p:spPr bwMode="auto">
          <a:xfrm>
            <a:off x="1335307" y="1020332"/>
            <a:ext cx="9873261" cy="12003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在实际问题中许多随机变量是由相互独立随机因素的综合（或和）影响所形成的。</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81" name="Rectangle 113"/>
          <p:cNvSpPr>
            <a:spLocks noChangeArrowheads="1"/>
          </p:cNvSpPr>
          <p:nvPr/>
        </p:nvSpPr>
        <p:spPr bwMode="auto">
          <a:xfrm>
            <a:off x="1368574" y="2402954"/>
            <a:ext cx="9454851" cy="33508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例如：炮弹射击的</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落点与目标的偏差，</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就受着许多随机因</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素（如瞄准，空气</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阻力，炮弹或炮身结构等）综合影响的。</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每个随机因素</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的对弹着点（随机变量和）</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所起的作用都是很小的</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。那么弹着点服从怎样分布哪 ？</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7279" name="Picture 111" descr="火炮"/>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75589" y="2349501"/>
            <a:ext cx="2020887" cy="2087563"/>
          </a:xfrm>
          <a:prstGeom prst="rect">
            <a:avLst/>
          </a:prstGeom>
          <a:noFill/>
          <a:extLst>
            <a:ext uri="{909E8E84-426E-40DD-AFC4-6F175D3DCCD1}">
              <a14:hiddenFill xmlns:a14="http://schemas.microsoft.com/office/drawing/2010/main">
                <a:solidFill>
                  <a:srgbClr val="FFFFFF"/>
                </a:solidFill>
              </a14:hiddenFill>
            </a:ext>
          </a:extLst>
        </p:spPr>
      </p:pic>
      <p:pic>
        <p:nvPicPr>
          <p:cNvPr id="7280" name="Picture 112" descr="射击误差"/>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9989" y="2420939"/>
            <a:ext cx="2568575" cy="2008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8"/>
                                        </p:tgtEl>
                                        <p:attrNameLst>
                                          <p:attrName>style.visibility</p:attrName>
                                        </p:attrNameLst>
                                      </p:cBhvr>
                                      <p:to>
                                        <p:strVal val="visible"/>
                                      </p:to>
                                    </p:set>
                                    <p:animEffect transition="in" filter="wipe(left)">
                                      <p:cBhvr>
                                        <p:cTn id="7" dur="500"/>
                                        <p:tgtEl>
                                          <p:spTgt spid="727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7280"/>
                                        </p:tgtEl>
                                        <p:attrNameLst>
                                          <p:attrName>style.visibility</p:attrName>
                                        </p:attrNameLst>
                                      </p:cBhvr>
                                      <p:to>
                                        <p:strVal val="visible"/>
                                      </p:to>
                                    </p:set>
                                  </p:childTnLst>
                                  <p:subTnLst>
                                    <p:audio>
                                      <p:cMediaNode>
                                        <p:cTn display="0" masterRel="sameClick">
                                          <p:stCondLst>
                                            <p:cond evt="begin" delay="0">
                                              <p:tn val="10"/>
                                            </p:cond>
                                          </p:stCondLst>
                                          <p:endCondLst>
                                            <p:cond evt="onStopAudio" delay="0">
                                              <p:tgtEl>
                                                <p:sldTgt/>
                                              </p:tgtEl>
                                            </p:cond>
                                          </p:endCondLst>
                                        </p:cTn>
                                        <p:tgtEl>
                                          <p:sndTgt r:embed="rId3" name="炮声.wav"/>
                                        </p:tgtEl>
                                      </p:cMediaNode>
                                    </p:audio>
                                  </p:sub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7279"/>
                                        </p:tgtEl>
                                        <p:attrNameLst>
                                          <p:attrName>style.visibility</p:attrName>
                                        </p:attrNameLst>
                                      </p:cBhvr>
                                      <p:to>
                                        <p:strVal val="visible"/>
                                      </p:to>
                                    </p:se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7281"/>
                                        </p:tgtEl>
                                        <p:attrNameLst>
                                          <p:attrName>style.visibility</p:attrName>
                                        </p:attrNameLst>
                                      </p:cBhvr>
                                      <p:to>
                                        <p:strVal val="visible"/>
                                      </p:to>
                                    </p:set>
                                    <p:animEffect transition="in" filter="wipe(left)">
                                      <p:cBhvr>
                                        <p:cTn id="18" dur="500"/>
                                        <p:tgtEl>
                                          <p:spTgt spid="7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8" grpId="0" autoUpdateAnimBg="0"/>
      <p:bldP spid="728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7" name="Rectangle 57"/>
          <p:cNvSpPr>
            <a:spLocks noChangeArrowheads="1"/>
          </p:cNvSpPr>
          <p:nvPr/>
        </p:nvSpPr>
        <p:spPr bwMode="auto">
          <a:xfrm>
            <a:off x="1343473" y="974827"/>
            <a:ext cx="9433047" cy="11348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自从高斯指出测量误差服从正态分布之后，人们发现，正态分布在自然界中极为常见。</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79" name="Text Box 59"/>
          <p:cNvSpPr txBox="1">
            <a:spLocks noChangeArrowheads="1"/>
          </p:cNvSpPr>
          <p:nvPr/>
        </p:nvSpPr>
        <p:spPr bwMode="auto">
          <a:xfrm>
            <a:off x="4007768" y="4288753"/>
            <a:ext cx="6768752" cy="11348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现在我们就来研究独立随机变量之和所特有的规律性问题。</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76" name="Text Box 56"/>
          <p:cNvSpPr txBox="1">
            <a:spLocks noChangeArrowheads="1"/>
          </p:cNvSpPr>
          <p:nvPr/>
        </p:nvSpPr>
        <p:spPr bwMode="auto">
          <a:xfrm>
            <a:off x="4007768" y="2060848"/>
            <a:ext cx="6768752" cy="224285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如果一个随机变量是由大量相互独立的随机因素的综合影响所造成，而每一个别因素对这种综合影响中所起的作用不大。则这种随机变量一般都服从或近似服从正态分布。</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2" name="Group 5"/>
          <p:cNvGrpSpPr/>
          <p:nvPr/>
        </p:nvGrpSpPr>
        <p:grpSpPr bwMode="auto">
          <a:xfrm>
            <a:off x="1559496" y="2236560"/>
            <a:ext cx="1652587" cy="2788384"/>
            <a:chOff x="3840" y="1056"/>
            <a:chExt cx="1041" cy="1895"/>
          </a:xfrm>
        </p:grpSpPr>
        <p:pic>
          <p:nvPicPr>
            <p:cNvPr id="13" name="Picture 6" descr="GAOS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40" y="1056"/>
              <a:ext cx="1041" cy="14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sp>
          <p:nvSpPr>
            <p:cNvPr id="14" name="Rectangle 7"/>
            <p:cNvSpPr>
              <a:spLocks noChangeArrowheads="1"/>
            </p:cNvSpPr>
            <p:nvPr/>
          </p:nvSpPr>
          <p:spPr bwMode="auto">
            <a:xfrm>
              <a:off x="3962" y="2557"/>
              <a:ext cx="785"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dirty="0">
                  <a:solidFill>
                    <a:srgbClr val="C00000"/>
                  </a:solidFill>
                  <a:ea typeface="微软雅黑" panose="020B0503020204020204" pitchFamily="34" charset="-122"/>
                  <a:sym typeface="Times New Roman" panose="02020603050405020304" pitchFamily="18" charset="0"/>
                </a:rPr>
                <a:t>Gauss</a:t>
              </a:r>
              <a:endParaRPr lang="en-US" altLang="zh-CN" sz="3200" b="1" dirty="0">
                <a:solidFill>
                  <a:srgbClr val="C00000"/>
                </a:solidFill>
                <a:ea typeface="微软雅黑" panose="020B0503020204020204" pitchFamily="34" charset="-122"/>
                <a:sym typeface="Times New Roman" panose="02020603050405020304" pitchFamily="18" charset="0"/>
              </a:endParaRPr>
            </a:p>
          </p:txBody>
        </p:sp>
      </p:grpSp>
      <p:sp>
        <p:nvSpPr>
          <p:cNvPr id="56381" name="Rectangle 61"/>
          <p:cNvSpPr>
            <a:spLocks noChangeArrowheads="1"/>
          </p:cNvSpPr>
          <p:nvPr/>
        </p:nvSpPr>
        <p:spPr bwMode="auto">
          <a:xfrm>
            <a:off x="1343473" y="5523403"/>
            <a:ext cx="8875611" cy="5808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当 </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无限增大时，这个和的极限分布是什么呢？</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5" name="直接连接符 14"/>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7" name="组合 16"/>
          <p:cNvGrpSpPr/>
          <p:nvPr/>
        </p:nvGrpSpPr>
        <p:grpSpPr>
          <a:xfrm>
            <a:off x="851761" y="364781"/>
            <a:ext cx="263341" cy="395013"/>
            <a:chOff x="5284519" y="1508166"/>
            <a:chExt cx="213756" cy="427512"/>
          </a:xfrm>
        </p:grpSpPr>
        <p:cxnSp>
          <p:nvCxnSpPr>
            <p:cNvPr id="18" name="直接连接符 1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9" name="直接连接符 1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6377"/>
                                        </p:tgtEl>
                                        <p:attrNameLst>
                                          <p:attrName>style.visibility</p:attrName>
                                        </p:attrNameLst>
                                      </p:cBhvr>
                                      <p:to>
                                        <p:strVal val="visible"/>
                                      </p:to>
                                    </p:set>
                                    <p:animEffect transition="in" filter="barn(outVertical)">
                                      <p:cBhvr>
                                        <p:cTn id="7" dur="500"/>
                                        <p:tgtEl>
                                          <p:spTgt spid="563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376"/>
                                        </p:tgtEl>
                                        <p:attrNameLst>
                                          <p:attrName>style.visibility</p:attrName>
                                        </p:attrNameLst>
                                      </p:cBhvr>
                                      <p:to>
                                        <p:strVal val="visible"/>
                                      </p:to>
                                    </p:set>
                                    <p:animEffect transition="in" filter="wipe(left)">
                                      <p:cBhvr>
                                        <p:cTn id="12" dur="500"/>
                                        <p:tgtEl>
                                          <p:spTgt spid="56376"/>
                                        </p:tgtEl>
                                      </p:cBhvr>
                                    </p:animEffect>
                                  </p:childTnLst>
                                </p:cTn>
                              </p:par>
                            </p:childTnLst>
                          </p:cTn>
                        </p:par>
                        <p:par>
                          <p:cTn id="13" fill="hold">
                            <p:stCondLst>
                              <p:cond delay="500"/>
                            </p:stCondLst>
                            <p:childTnLst>
                              <p:par>
                                <p:cTn id="14" presetID="16" presetClass="entr" presetSubtype="37" fill="hold" grpId="0" nodeType="afterEffect">
                                  <p:stCondLst>
                                    <p:cond delay="0"/>
                                  </p:stCondLst>
                                  <p:childTnLst>
                                    <p:set>
                                      <p:cBhvr>
                                        <p:cTn id="15" dur="1" fill="hold">
                                          <p:stCondLst>
                                            <p:cond delay="0"/>
                                          </p:stCondLst>
                                        </p:cTn>
                                        <p:tgtEl>
                                          <p:spTgt spid="56379"/>
                                        </p:tgtEl>
                                        <p:attrNameLst>
                                          <p:attrName>style.visibility</p:attrName>
                                        </p:attrNameLst>
                                      </p:cBhvr>
                                      <p:to>
                                        <p:strVal val="visible"/>
                                      </p:to>
                                    </p:set>
                                    <p:animEffect transition="in" filter="barn(outVertical)">
                                      <p:cBhvr>
                                        <p:cTn id="16" dur="500"/>
                                        <p:tgtEl>
                                          <p:spTgt spid="5637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6381"/>
                                        </p:tgtEl>
                                        <p:attrNameLst>
                                          <p:attrName>style.visibility</p:attrName>
                                        </p:attrNameLst>
                                      </p:cBhvr>
                                      <p:to>
                                        <p:strVal val="visible"/>
                                      </p:to>
                                    </p:set>
                                    <p:animEffect transition="in" filter="wipe(down)">
                                      <p:cBhvr>
                                        <p:cTn id="21" dur="500"/>
                                        <p:tgtEl>
                                          <p:spTgt spid="56381"/>
                                        </p:tgtEl>
                                      </p:cBhvr>
                                    </p:animEffect>
                                  </p:childTnLst>
                                </p:cTn>
                              </p:par>
                            </p:childTnLst>
                          </p:cTn>
                        </p:par>
                        <p:par>
                          <p:cTn id="22" fill="hold">
                            <p:stCondLst>
                              <p:cond delay="500"/>
                            </p:stCondLst>
                            <p:childTnLst>
                              <p:par>
                                <p:cTn id="23" presetID="2" presetClass="entr" presetSubtype="2"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1+#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77" grpId="0" autoUpdateAnimBg="0"/>
      <p:bldP spid="56379" grpId="0" autoUpdateAnimBg="0"/>
      <p:bldP spid="56376" grpId="0" autoUpdateAnimBg="0"/>
      <p:bldP spid="5638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06" name="Text Box 98"/>
          <p:cNvSpPr txBox="1">
            <a:spLocks noChangeArrowheads="1"/>
          </p:cNvSpPr>
          <p:nvPr/>
        </p:nvSpPr>
        <p:spPr bwMode="auto">
          <a:xfrm>
            <a:off x="1335307" y="950684"/>
            <a:ext cx="9585229" cy="113486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由于无穷个随机变量之和可能趋于∞，故我们不研究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个随机变量之和本身而考虑它的标准化的随机变量。</a:t>
            </a:r>
            <a:endParaRPr lang="en-US" altLang="zh-CN"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3107" name="Object 99"/>
          <p:cNvGraphicFramePr>
            <a:graphicFrameLocks noChangeAspect="1"/>
          </p:cNvGraphicFramePr>
          <p:nvPr/>
        </p:nvGraphicFramePr>
        <p:xfrm>
          <a:off x="3305970" y="2872324"/>
          <a:ext cx="3096344" cy="1697321"/>
        </p:xfrm>
        <a:graphic>
          <a:graphicData uri="http://schemas.openxmlformats.org/presentationml/2006/ole">
            <mc:AlternateContent xmlns:mc="http://schemas.openxmlformats.org/markup-compatibility/2006">
              <mc:Choice xmlns:v="urn:schemas-microsoft-com:vml" Requires="v">
                <p:oleObj spid="_x0000_s325658" name="Equation" r:id="rId1" imgW="34442400" imgH="21031200" progId="Equation.DSMT4">
                  <p:embed/>
                </p:oleObj>
              </mc:Choice>
              <mc:Fallback>
                <p:oleObj name="Equation" r:id="rId1" imgW="34442400" imgH="21031200" progId="Equation.DSMT4">
                  <p:embed/>
                  <p:pic>
                    <p:nvPicPr>
                      <p:cNvPr id="0" name="Object 99"/>
                      <p:cNvPicPr>
                        <a:picLocks noChangeAspect="1" noChangeArrowheads="1"/>
                      </p:cNvPicPr>
                      <p:nvPr/>
                    </p:nvPicPr>
                    <p:blipFill>
                      <a:blip r:embed="rId2"/>
                      <a:srcRect/>
                      <a:stretch>
                        <a:fillRect/>
                      </a:stretch>
                    </p:blipFill>
                    <p:spPr bwMode="auto">
                      <a:xfrm>
                        <a:off x="3305970" y="2872324"/>
                        <a:ext cx="3096344" cy="1697321"/>
                      </a:xfrm>
                      <a:prstGeom prst="rect">
                        <a:avLst/>
                      </a:prstGeom>
                      <a:solidFill>
                        <a:srgbClr val="C00000"/>
                      </a:solidFill>
                      <a:ln>
                        <a:noFill/>
                      </a:ln>
                      <a:effectLst/>
                    </p:spPr>
                  </p:pic>
                </p:oleObj>
              </mc:Fallback>
            </mc:AlternateContent>
          </a:graphicData>
        </a:graphic>
      </p:graphicFrame>
      <p:sp>
        <p:nvSpPr>
          <p:cNvPr id="43109" name="Rectangle 101"/>
          <p:cNvSpPr>
            <a:spLocks noChangeArrowheads="1"/>
          </p:cNvSpPr>
          <p:nvPr/>
        </p:nvSpPr>
        <p:spPr bwMode="auto">
          <a:xfrm>
            <a:off x="1406163" y="5294225"/>
            <a:ext cx="9514373" cy="12003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在概率论中，习惯于把和的分布收敛于正态分布这一类定理都叫做</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Rectangle 101"/>
          <p:cNvSpPr>
            <a:spLocks noChangeArrowheads="1"/>
          </p:cNvSpPr>
          <p:nvPr/>
        </p:nvSpPr>
        <p:spPr bwMode="auto">
          <a:xfrm>
            <a:off x="2063553" y="4666770"/>
            <a:ext cx="6120680" cy="5808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讨论的极限分布是否为标准的正态分布</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1991544" y="1999901"/>
            <a:ext cx="6120680" cy="1046163"/>
            <a:chOff x="1991544" y="1999901"/>
            <a:chExt cx="6120680" cy="1046163"/>
          </a:xfrm>
        </p:grpSpPr>
        <p:graphicFrame>
          <p:nvGraphicFramePr>
            <p:cNvPr id="43110" name="Object 102"/>
            <p:cNvGraphicFramePr>
              <a:graphicFrameLocks noChangeAspect="1"/>
            </p:cNvGraphicFramePr>
            <p:nvPr/>
          </p:nvGraphicFramePr>
          <p:xfrm>
            <a:off x="6672064" y="1999901"/>
            <a:ext cx="1028700" cy="1046163"/>
          </p:xfrm>
          <a:graphic>
            <a:graphicData uri="http://schemas.openxmlformats.org/presentationml/2006/ole">
              <mc:AlternateContent xmlns:mc="http://schemas.openxmlformats.org/markup-compatibility/2006">
                <mc:Choice xmlns:v="urn:schemas-microsoft-com:vml" Requires="v">
                  <p:oleObj spid="_x0000_s325659" name="Equation" r:id="rId3" imgW="10058400" imgH="10363200" progId="Equation.DSMT4">
                    <p:embed/>
                  </p:oleObj>
                </mc:Choice>
                <mc:Fallback>
                  <p:oleObj name="Equation" r:id="rId3" imgW="10058400" imgH="10363200" progId="Equation.DSMT4">
                    <p:embed/>
                    <p:pic>
                      <p:nvPicPr>
                        <p:cNvPr id="0" name="Object 102"/>
                        <p:cNvPicPr>
                          <a:picLocks noChangeAspect="1" noChangeArrowheads="1"/>
                        </p:cNvPicPr>
                        <p:nvPr/>
                      </p:nvPicPr>
                      <p:blipFill>
                        <a:blip r:embed="rId4"/>
                        <a:srcRect/>
                        <a:stretch>
                          <a:fillRect/>
                        </a:stretch>
                      </p:blipFill>
                      <p:spPr bwMode="auto">
                        <a:xfrm>
                          <a:off x="6672064" y="1999901"/>
                          <a:ext cx="1028700" cy="1046163"/>
                        </a:xfrm>
                        <a:prstGeom prst="rect">
                          <a:avLst/>
                        </a:prstGeom>
                        <a:noFill/>
                        <a:ln>
                          <a:noFill/>
                        </a:ln>
                        <a:effectLst/>
                      </p:spPr>
                    </p:pic>
                  </p:oleObj>
                </mc:Fallback>
              </mc:AlternateContent>
            </a:graphicData>
          </a:graphic>
        </p:graphicFrame>
        <p:sp>
          <p:nvSpPr>
            <p:cNvPr id="13" name="Rectangle 101"/>
            <p:cNvSpPr>
              <a:spLocks noChangeArrowheads="1"/>
            </p:cNvSpPr>
            <p:nvPr/>
          </p:nvSpPr>
          <p:spPr bwMode="auto">
            <a:xfrm>
              <a:off x="1991544" y="2155827"/>
              <a:ext cx="6120680" cy="5808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即考虑随机变量</a:t>
              </a: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k=1,…n</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的和</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106"/>
                                        </p:tgtEl>
                                        <p:attrNameLst>
                                          <p:attrName>style.visibility</p:attrName>
                                        </p:attrNameLst>
                                      </p:cBhvr>
                                      <p:to>
                                        <p:strVal val="visible"/>
                                      </p:to>
                                    </p:set>
                                    <p:animEffect transition="in" filter="wipe(left)">
                                      <p:cBhvr>
                                        <p:cTn id="7" dur="500"/>
                                        <p:tgtEl>
                                          <p:spTgt spid="431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3107"/>
                                        </p:tgtEl>
                                        <p:attrNameLst>
                                          <p:attrName>style.visibility</p:attrName>
                                        </p:attrNameLst>
                                      </p:cBhvr>
                                      <p:to>
                                        <p:strVal val="visible"/>
                                      </p:to>
                                    </p:set>
                                    <p:animEffect transition="in" filter="wipe(down)">
                                      <p:cBhvr>
                                        <p:cTn id="12" dur="500"/>
                                        <p:tgtEl>
                                          <p:spTgt spid="431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3109"/>
                                        </p:tgtEl>
                                        <p:attrNameLst>
                                          <p:attrName>style.visibility</p:attrName>
                                        </p:attrNameLst>
                                      </p:cBhvr>
                                      <p:to>
                                        <p:strVal val="visible"/>
                                      </p:to>
                                    </p:set>
                                    <p:animEffect transition="in" filter="wipe(down)">
                                      <p:cBhvr>
                                        <p:cTn id="17" dur="500"/>
                                        <p:tgtEl>
                                          <p:spTgt spid="431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06" grpId="0" autoUpdateAnimBg="0"/>
      <p:bldP spid="43109" grpId="0"/>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5313" y="2951717"/>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429" name="Object 61"/>
          <p:cNvGraphicFramePr>
            <a:graphicFrameLocks noChangeAspect="1"/>
          </p:cNvGraphicFramePr>
          <p:nvPr/>
        </p:nvGraphicFramePr>
        <p:xfrm>
          <a:off x="6038851" y="3609976"/>
          <a:ext cx="248562" cy="472617"/>
        </p:xfrm>
        <a:graphic>
          <a:graphicData uri="http://schemas.openxmlformats.org/presentationml/2006/ole">
            <mc:AlternateContent xmlns:mc="http://schemas.openxmlformats.org/markup-compatibility/2006">
              <mc:Choice xmlns:v="urn:schemas-microsoft-com:vml" Requires="v">
                <p:oleObj spid="_x0000_s326775" name="公式" r:id="rId1" imgW="114300" imgH="215900" progId="Equation.3">
                  <p:embed/>
                </p:oleObj>
              </mc:Choice>
              <mc:Fallback>
                <p:oleObj name="公式" r:id="rId1" imgW="114300" imgH="215900" progId="Equation.3">
                  <p:embed/>
                  <p:pic>
                    <p:nvPicPr>
                      <p:cNvPr id="0" name="Object 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1" y="3609976"/>
                        <a:ext cx="248562" cy="472617"/>
                      </a:xfrm>
                      <a:prstGeom prst="rect">
                        <a:avLst/>
                      </a:prstGeom>
                      <a:noFill/>
                      <a:ln>
                        <a:noFill/>
                      </a:ln>
                      <a:effectLst/>
                    </p:spPr>
                  </p:pic>
                </p:oleObj>
              </mc:Fallback>
            </mc:AlternateContent>
          </a:graphicData>
        </a:graphic>
      </p:graphicFrame>
      <p:graphicFrame>
        <p:nvGraphicFramePr>
          <p:cNvPr id="58430" name="Object 62"/>
          <p:cNvGraphicFramePr>
            <a:graphicFrameLocks noChangeAspect="1"/>
          </p:cNvGraphicFramePr>
          <p:nvPr/>
        </p:nvGraphicFramePr>
        <p:xfrm>
          <a:off x="6038851" y="3609976"/>
          <a:ext cx="248562" cy="472617"/>
        </p:xfrm>
        <a:graphic>
          <a:graphicData uri="http://schemas.openxmlformats.org/presentationml/2006/ole">
            <mc:AlternateContent xmlns:mc="http://schemas.openxmlformats.org/markup-compatibility/2006">
              <mc:Choice xmlns:v="urn:schemas-microsoft-com:vml" Requires="v">
                <p:oleObj spid="_x0000_s326776" name="公式" r:id="rId3" imgW="114300" imgH="215900" progId="Equation.3">
                  <p:embed/>
                </p:oleObj>
              </mc:Choice>
              <mc:Fallback>
                <p:oleObj name="公式" r:id="rId3" imgW="114300" imgH="215900" progId="Equation.3">
                  <p:embed/>
                  <p:pic>
                    <p:nvPicPr>
                      <p:cNvPr id="0" name="Object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1" y="3609976"/>
                        <a:ext cx="248562" cy="472617"/>
                      </a:xfrm>
                      <a:prstGeom prst="rect">
                        <a:avLst/>
                      </a:prstGeom>
                      <a:noFill/>
                      <a:ln>
                        <a:noFill/>
                      </a:ln>
                      <a:effectLst/>
                    </p:spPr>
                  </p:pic>
                </p:oleObj>
              </mc:Fallback>
            </mc:AlternateContent>
          </a:graphicData>
        </a:graphic>
      </p:graphicFrame>
      <p:sp>
        <p:nvSpPr>
          <p:cNvPr id="58433" name="Rectangle 65"/>
          <p:cNvSpPr>
            <a:spLocks noChangeArrowheads="1"/>
          </p:cNvSpPr>
          <p:nvPr/>
        </p:nvSpPr>
        <p:spPr bwMode="auto">
          <a:xfrm>
            <a:off x="1335307" y="1108225"/>
            <a:ext cx="7649943"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（独立同分布下的中心极限定理）</a:t>
            </a:r>
            <a:endPar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8434" name="Object 66"/>
          <p:cNvGraphicFramePr>
            <a:graphicFrameLocks noChangeAspect="1"/>
          </p:cNvGraphicFramePr>
          <p:nvPr/>
        </p:nvGraphicFramePr>
        <p:xfrm>
          <a:off x="1419733" y="1748907"/>
          <a:ext cx="8813800" cy="1439863"/>
        </p:xfrm>
        <a:graphic>
          <a:graphicData uri="http://schemas.openxmlformats.org/presentationml/2006/ole">
            <mc:AlternateContent xmlns:mc="http://schemas.openxmlformats.org/markup-compatibility/2006">
              <mc:Choice xmlns:v="urn:schemas-microsoft-com:vml" Requires="v">
                <p:oleObj spid="_x0000_s326777" name="Equation" r:id="rId4" imgW="98450400" imgH="16764000" progId="Equation.DSMT4">
                  <p:embed/>
                </p:oleObj>
              </mc:Choice>
              <mc:Fallback>
                <p:oleObj name="Equation" r:id="rId4" imgW="98450400" imgH="16764000" progId="Equation.DSMT4">
                  <p:embed/>
                  <p:pic>
                    <p:nvPicPr>
                      <p:cNvPr id="0" name="Object 66"/>
                      <p:cNvPicPr>
                        <a:picLocks noChangeAspect="1" noChangeArrowheads="1"/>
                      </p:cNvPicPr>
                      <p:nvPr/>
                    </p:nvPicPr>
                    <p:blipFill>
                      <a:blip r:embed="rId5"/>
                      <a:srcRect/>
                      <a:stretch>
                        <a:fillRect/>
                      </a:stretch>
                    </p:blipFill>
                    <p:spPr bwMode="auto">
                      <a:xfrm>
                        <a:off x="1419733" y="1748907"/>
                        <a:ext cx="8813800" cy="1439863"/>
                      </a:xfrm>
                      <a:prstGeom prst="rect">
                        <a:avLst/>
                      </a:prstGeom>
                      <a:noFill/>
                      <a:ln>
                        <a:noFill/>
                      </a:ln>
                      <a:effectLst/>
                    </p:spPr>
                  </p:pic>
                </p:oleObj>
              </mc:Fallback>
            </mc:AlternateContent>
          </a:graphicData>
        </a:graphic>
      </p:graphicFrame>
      <p:graphicFrame>
        <p:nvGraphicFramePr>
          <p:cNvPr id="58435" name="Object 67"/>
          <p:cNvGraphicFramePr>
            <a:graphicFrameLocks noChangeAspect="1"/>
          </p:cNvGraphicFramePr>
          <p:nvPr/>
        </p:nvGraphicFramePr>
        <p:xfrm>
          <a:off x="5638799" y="3508375"/>
          <a:ext cx="2016493" cy="924226"/>
        </p:xfrm>
        <a:graphic>
          <a:graphicData uri="http://schemas.openxmlformats.org/presentationml/2006/ole">
            <mc:AlternateContent xmlns:mc="http://schemas.openxmlformats.org/markup-compatibility/2006">
              <mc:Choice xmlns:v="urn:schemas-microsoft-com:vml" Requires="v">
                <p:oleObj spid="_x0000_s326778" name="公式" r:id="rId6" imgW="190500" imgH="419100" progId="Equation.3">
                  <p:embed/>
                </p:oleObj>
              </mc:Choice>
              <mc:Fallback>
                <p:oleObj name="公式" r:id="rId6" imgW="190500" imgH="419100" progId="Equation.3">
                  <p:embed/>
                  <p:pic>
                    <p:nvPicPr>
                      <p:cNvPr id="0" name="Object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799" y="3508375"/>
                        <a:ext cx="2016493" cy="924226"/>
                      </a:xfrm>
                      <a:prstGeom prst="rect">
                        <a:avLst/>
                      </a:prstGeom>
                      <a:noFill/>
                      <a:ln>
                        <a:noFill/>
                      </a:ln>
                      <a:effectLst/>
                    </p:spPr>
                  </p:pic>
                </p:oleObj>
              </mc:Fallback>
            </mc:AlternateContent>
          </a:graphicData>
        </a:graphic>
      </p:graphicFrame>
      <p:graphicFrame>
        <p:nvGraphicFramePr>
          <p:cNvPr id="58436" name="Object 68"/>
          <p:cNvGraphicFramePr>
            <a:graphicFrameLocks noChangeAspect="1"/>
          </p:cNvGraphicFramePr>
          <p:nvPr/>
        </p:nvGraphicFramePr>
        <p:xfrm>
          <a:off x="2202713" y="3427693"/>
          <a:ext cx="2295525" cy="1400175"/>
        </p:xfrm>
        <a:graphic>
          <a:graphicData uri="http://schemas.openxmlformats.org/presentationml/2006/ole">
            <mc:AlternateContent xmlns:mc="http://schemas.openxmlformats.org/markup-compatibility/2006">
              <mc:Choice xmlns:v="urn:schemas-microsoft-com:vml" Requires="v">
                <p:oleObj spid="_x0000_s326779" name="Equation" r:id="rId8" imgW="24993600" imgH="15240000" progId="Equation.DSMT4">
                  <p:embed/>
                </p:oleObj>
              </mc:Choice>
              <mc:Fallback>
                <p:oleObj name="Equation" r:id="rId8" imgW="24993600" imgH="15240000" progId="Equation.DSMT4">
                  <p:embed/>
                  <p:pic>
                    <p:nvPicPr>
                      <p:cNvPr id="0" name="Object 68"/>
                      <p:cNvPicPr>
                        <a:picLocks noChangeAspect="1" noChangeArrowheads="1"/>
                      </p:cNvPicPr>
                      <p:nvPr/>
                    </p:nvPicPr>
                    <p:blipFill>
                      <a:blip r:embed="rId9"/>
                      <a:srcRect/>
                      <a:stretch>
                        <a:fillRect/>
                      </a:stretch>
                    </p:blipFill>
                    <p:spPr bwMode="auto">
                      <a:xfrm>
                        <a:off x="2202713" y="3427693"/>
                        <a:ext cx="2295525" cy="1400175"/>
                      </a:xfrm>
                      <a:prstGeom prst="rect">
                        <a:avLst/>
                      </a:prstGeom>
                      <a:noFill/>
                      <a:ln>
                        <a:noFill/>
                      </a:ln>
                      <a:effectLst/>
                    </p:spPr>
                  </p:pic>
                </p:oleObj>
              </mc:Fallback>
            </mc:AlternateContent>
          </a:graphicData>
        </a:graphic>
      </p:graphicFrame>
      <p:graphicFrame>
        <p:nvGraphicFramePr>
          <p:cNvPr id="58437" name="Object 69"/>
          <p:cNvGraphicFramePr>
            <a:graphicFrameLocks noChangeAspect="1"/>
          </p:cNvGraphicFramePr>
          <p:nvPr/>
        </p:nvGraphicFramePr>
        <p:xfrm>
          <a:off x="4545465" y="3942023"/>
          <a:ext cx="4439785" cy="484341"/>
        </p:xfrm>
        <a:graphic>
          <a:graphicData uri="http://schemas.openxmlformats.org/presentationml/2006/ole">
            <mc:AlternateContent xmlns:mc="http://schemas.openxmlformats.org/markup-compatibility/2006">
              <mc:Choice xmlns:v="urn:schemas-microsoft-com:vml" Requires="v">
                <p:oleObj spid="_x0000_s326780" name="Equation" r:id="rId10" imgW="50292000" imgH="5486400" progId="Equation.DSMT4">
                  <p:embed/>
                </p:oleObj>
              </mc:Choice>
              <mc:Fallback>
                <p:oleObj name="Equation" r:id="rId10" imgW="50292000" imgH="5486400" progId="Equation.DSMT4">
                  <p:embed/>
                  <p:pic>
                    <p:nvPicPr>
                      <p:cNvPr id="0" name="Object 69"/>
                      <p:cNvPicPr>
                        <a:picLocks noChangeAspect="1" noChangeArrowheads="1"/>
                      </p:cNvPicPr>
                      <p:nvPr/>
                    </p:nvPicPr>
                    <p:blipFill>
                      <a:blip r:embed="rId11"/>
                      <a:srcRect/>
                      <a:stretch>
                        <a:fillRect/>
                      </a:stretch>
                    </p:blipFill>
                    <p:spPr bwMode="auto">
                      <a:xfrm>
                        <a:off x="4545465" y="3942023"/>
                        <a:ext cx="4439785" cy="484341"/>
                      </a:xfrm>
                      <a:prstGeom prst="rect">
                        <a:avLst/>
                      </a:prstGeom>
                      <a:noFill/>
                      <a:ln>
                        <a:noFill/>
                      </a:ln>
                      <a:effectLst/>
                    </p:spPr>
                  </p:pic>
                </p:oleObj>
              </mc:Fallback>
            </mc:AlternateContent>
          </a:graphicData>
        </a:graphic>
      </p:graphicFrame>
      <p:graphicFrame>
        <p:nvGraphicFramePr>
          <p:cNvPr id="58438" name="Object 70"/>
          <p:cNvGraphicFramePr>
            <a:graphicFrameLocks noChangeAspect="1"/>
          </p:cNvGraphicFramePr>
          <p:nvPr/>
        </p:nvGraphicFramePr>
        <p:xfrm>
          <a:off x="4440882" y="2757537"/>
          <a:ext cx="2771501" cy="914864"/>
        </p:xfrm>
        <a:graphic>
          <a:graphicData uri="http://schemas.openxmlformats.org/presentationml/2006/ole">
            <mc:AlternateContent xmlns:mc="http://schemas.openxmlformats.org/markup-compatibility/2006">
              <mc:Choice xmlns:v="urn:schemas-microsoft-com:vml" Requires="v">
                <p:oleObj spid="_x0000_s326781" name="Equation" r:id="rId12" imgW="31394400" imgH="10363200" progId="Equation.DSMT4">
                  <p:embed/>
                </p:oleObj>
              </mc:Choice>
              <mc:Fallback>
                <p:oleObj name="Equation" r:id="rId12" imgW="31394400" imgH="10363200" progId="Equation.DSMT4">
                  <p:embed/>
                  <p:pic>
                    <p:nvPicPr>
                      <p:cNvPr id="0" name="Object 70"/>
                      <p:cNvPicPr>
                        <a:picLocks noChangeAspect="1" noChangeArrowheads="1"/>
                      </p:cNvPicPr>
                      <p:nvPr/>
                    </p:nvPicPr>
                    <p:blipFill>
                      <a:blip r:embed="rId13"/>
                      <a:srcRect/>
                      <a:stretch>
                        <a:fillRect/>
                      </a:stretch>
                    </p:blipFill>
                    <p:spPr bwMode="auto">
                      <a:xfrm>
                        <a:off x="4440882" y="2757537"/>
                        <a:ext cx="2771501" cy="914864"/>
                      </a:xfrm>
                      <a:prstGeom prst="rect">
                        <a:avLst/>
                      </a:prstGeom>
                      <a:noFill/>
                      <a:ln>
                        <a:noFill/>
                      </a:ln>
                      <a:effectLst/>
                    </p:spPr>
                  </p:pic>
                </p:oleObj>
              </mc:Fallback>
            </mc:AlternateContent>
          </a:graphicData>
        </a:graphic>
      </p:graphicFrame>
      <p:cxnSp>
        <p:nvCxnSpPr>
          <p:cNvPr id="14" name="直接连接符 1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4" name="组合 3"/>
          <p:cNvGrpSpPr/>
          <p:nvPr/>
        </p:nvGrpSpPr>
        <p:grpSpPr>
          <a:xfrm>
            <a:off x="2567608" y="5013176"/>
            <a:ext cx="7056784" cy="1439862"/>
            <a:chOff x="2567608" y="5013176"/>
            <a:chExt cx="7056784" cy="1439862"/>
          </a:xfrm>
        </p:grpSpPr>
        <p:grpSp>
          <p:nvGrpSpPr>
            <p:cNvPr id="2" name="组合 1"/>
            <p:cNvGrpSpPr/>
            <p:nvPr/>
          </p:nvGrpSpPr>
          <p:grpSpPr>
            <a:xfrm>
              <a:off x="2927648" y="5053066"/>
              <a:ext cx="6391496" cy="1366600"/>
              <a:chOff x="2927648" y="5053066"/>
              <a:chExt cx="6391496" cy="1366600"/>
            </a:xfrm>
          </p:grpSpPr>
          <p:graphicFrame>
            <p:nvGraphicFramePr>
              <p:cNvPr id="58432" name="Object 64"/>
              <p:cNvGraphicFramePr>
                <a:graphicFrameLocks noChangeAspect="1"/>
              </p:cNvGraphicFramePr>
              <p:nvPr/>
            </p:nvGraphicFramePr>
            <p:xfrm>
              <a:off x="2927648" y="5053066"/>
              <a:ext cx="3572714" cy="1366600"/>
            </p:xfrm>
            <a:graphic>
              <a:graphicData uri="http://schemas.openxmlformats.org/presentationml/2006/ole">
                <mc:AlternateContent xmlns:mc="http://schemas.openxmlformats.org/markup-compatibility/2006">
                  <mc:Choice xmlns:v="urn:schemas-microsoft-com:vml" Requires="v">
                    <p:oleObj spid="_x0000_s326782" name="Equation" r:id="rId14" imgW="52120800" imgH="20726400" progId="Equation.DSMT4">
                      <p:embed/>
                    </p:oleObj>
                  </mc:Choice>
                  <mc:Fallback>
                    <p:oleObj name="Equation" r:id="rId14" imgW="52120800" imgH="20726400" progId="Equation.DSMT4">
                      <p:embed/>
                      <p:pic>
                        <p:nvPicPr>
                          <p:cNvPr id="0" name="Object 64"/>
                          <p:cNvPicPr>
                            <a:picLocks noChangeAspect="1" noChangeArrowheads="1"/>
                          </p:cNvPicPr>
                          <p:nvPr/>
                        </p:nvPicPr>
                        <p:blipFill>
                          <a:blip r:embed="rId15"/>
                          <a:srcRect/>
                          <a:stretch>
                            <a:fillRect/>
                          </a:stretch>
                        </p:blipFill>
                        <p:spPr bwMode="auto">
                          <a:xfrm>
                            <a:off x="2927648" y="5053066"/>
                            <a:ext cx="3572714" cy="1366600"/>
                          </a:xfrm>
                          <a:prstGeom prst="rect">
                            <a:avLst/>
                          </a:prstGeom>
                          <a:noFill/>
                          <a:ln>
                            <a:noFill/>
                          </a:ln>
                          <a:effectLst/>
                        </p:spPr>
                      </p:pic>
                    </p:oleObj>
                  </mc:Fallback>
                </mc:AlternateContent>
              </a:graphicData>
            </a:graphic>
          </p:graphicFrame>
          <p:graphicFrame>
            <p:nvGraphicFramePr>
              <p:cNvPr id="58439" name="Object 71"/>
              <p:cNvGraphicFramePr>
                <a:graphicFrameLocks noChangeAspect="1"/>
              </p:cNvGraphicFramePr>
              <p:nvPr/>
            </p:nvGraphicFramePr>
            <p:xfrm>
              <a:off x="6655113" y="5406045"/>
              <a:ext cx="2664031" cy="660641"/>
            </p:xfrm>
            <a:graphic>
              <a:graphicData uri="http://schemas.openxmlformats.org/presentationml/2006/ole">
                <mc:AlternateContent xmlns:mc="http://schemas.openxmlformats.org/markup-compatibility/2006">
                  <mc:Choice xmlns:v="urn:schemas-microsoft-com:vml" Requires="v">
                    <p:oleObj spid="_x0000_s326783" name="Equation" r:id="rId16" imgW="36576000" imgH="10058400" progId="Equation.DSMT4">
                      <p:embed/>
                    </p:oleObj>
                  </mc:Choice>
                  <mc:Fallback>
                    <p:oleObj name="Equation" r:id="rId16" imgW="36576000" imgH="10058400" progId="Equation.DSMT4">
                      <p:embed/>
                      <p:pic>
                        <p:nvPicPr>
                          <p:cNvPr id="0" name="Object 71"/>
                          <p:cNvPicPr>
                            <a:picLocks noChangeAspect="1" noChangeArrowheads="1"/>
                          </p:cNvPicPr>
                          <p:nvPr/>
                        </p:nvPicPr>
                        <p:blipFill>
                          <a:blip r:embed="rId17"/>
                          <a:srcRect/>
                          <a:stretch>
                            <a:fillRect/>
                          </a:stretch>
                        </p:blipFill>
                        <p:spPr bwMode="auto">
                          <a:xfrm>
                            <a:off x="6655113" y="5406045"/>
                            <a:ext cx="2664031" cy="660641"/>
                          </a:xfrm>
                          <a:prstGeom prst="rect">
                            <a:avLst/>
                          </a:prstGeom>
                          <a:noFill/>
                          <a:ln>
                            <a:noFill/>
                          </a:ln>
                          <a:effectLst/>
                        </p:spPr>
                      </p:pic>
                    </p:oleObj>
                  </mc:Fallback>
                </mc:AlternateContent>
              </a:graphicData>
            </a:graphic>
          </p:graphicFrame>
        </p:grpSp>
        <p:sp>
          <p:nvSpPr>
            <p:cNvPr id="3" name="矩形 2"/>
            <p:cNvSpPr/>
            <p:nvPr/>
          </p:nvSpPr>
          <p:spPr>
            <a:xfrm>
              <a:off x="2567608" y="5013176"/>
              <a:ext cx="7056784" cy="143986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433"/>
                                        </p:tgtEl>
                                        <p:attrNameLst>
                                          <p:attrName>style.visibility</p:attrName>
                                        </p:attrNameLst>
                                      </p:cBhvr>
                                      <p:to>
                                        <p:strVal val="visible"/>
                                      </p:to>
                                    </p:set>
                                    <p:animEffect transition="in" filter="wipe(down)">
                                      <p:cBhvr>
                                        <p:cTn id="7" dur="500"/>
                                        <p:tgtEl>
                                          <p:spTgt spid="584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8434"/>
                                        </p:tgtEl>
                                        <p:attrNameLst>
                                          <p:attrName>style.visibility</p:attrName>
                                        </p:attrNameLst>
                                      </p:cBhvr>
                                      <p:to>
                                        <p:strVal val="visible"/>
                                      </p:to>
                                    </p:set>
                                    <p:animEffect transition="in" filter="wipe(down)">
                                      <p:cBhvr>
                                        <p:cTn id="12" dur="500"/>
                                        <p:tgtEl>
                                          <p:spTgt spid="584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8438"/>
                                        </p:tgtEl>
                                        <p:attrNameLst>
                                          <p:attrName>style.visibility</p:attrName>
                                        </p:attrNameLst>
                                      </p:cBhvr>
                                      <p:to>
                                        <p:strVal val="visible"/>
                                      </p:to>
                                    </p:set>
                                    <p:animEffect transition="in" filter="wipe(down)">
                                      <p:cBhvr>
                                        <p:cTn id="17" dur="500"/>
                                        <p:tgtEl>
                                          <p:spTgt spid="584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8436"/>
                                        </p:tgtEl>
                                        <p:attrNameLst>
                                          <p:attrName>style.visibility</p:attrName>
                                        </p:attrNameLst>
                                      </p:cBhvr>
                                      <p:to>
                                        <p:strVal val="visible"/>
                                      </p:to>
                                    </p:set>
                                    <p:animEffect transition="in" filter="wipe(down)">
                                      <p:cBhvr>
                                        <p:cTn id="22" dur="500"/>
                                        <p:tgtEl>
                                          <p:spTgt spid="584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8437"/>
                                        </p:tgtEl>
                                        <p:attrNameLst>
                                          <p:attrName>style.visibility</p:attrName>
                                        </p:attrNameLst>
                                      </p:cBhvr>
                                      <p:to>
                                        <p:strVal val="visible"/>
                                      </p:to>
                                    </p:set>
                                    <p:animEffect transition="in" filter="wipe(down)">
                                      <p:cBhvr>
                                        <p:cTn id="27" dur="500"/>
                                        <p:tgtEl>
                                          <p:spTgt spid="5843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3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7" name="Text Box 71"/>
          <p:cNvSpPr txBox="1">
            <a:spLocks noChangeArrowheads="1"/>
          </p:cNvSpPr>
          <p:nvPr/>
        </p:nvSpPr>
        <p:spPr bwMode="auto">
          <a:xfrm>
            <a:off x="1391682" y="1095182"/>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408" name="Object 72"/>
          <p:cNvGraphicFramePr>
            <a:graphicFrameLocks noChangeAspect="1"/>
          </p:cNvGraphicFramePr>
          <p:nvPr/>
        </p:nvGraphicFramePr>
        <p:xfrm>
          <a:off x="2418110" y="3762672"/>
          <a:ext cx="3994150" cy="1057275"/>
        </p:xfrm>
        <a:graphic>
          <a:graphicData uri="http://schemas.openxmlformats.org/presentationml/2006/ole">
            <mc:AlternateContent xmlns:mc="http://schemas.openxmlformats.org/markup-compatibility/2006">
              <mc:Choice xmlns:v="urn:schemas-microsoft-com:vml" Requires="v">
                <p:oleObj spid="_x0000_s327730" name="Equation" r:id="rId1" imgW="37490400" imgH="10363200" progId="Equation.DSMT4">
                  <p:embed/>
                </p:oleObj>
              </mc:Choice>
              <mc:Fallback>
                <p:oleObj name="Equation" r:id="rId1" imgW="37490400" imgH="10363200" progId="Equation.DSMT4">
                  <p:embed/>
                  <p:pic>
                    <p:nvPicPr>
                      <p:cNvPr id="0" name="Object 72"/>
                      <p:cNvPicPr>
                        <a:picLocks noChangeAspect="1" noChangeArrowheads="1"/>
                      </p:cNvPicPr>
                      <p:nvPr/>
                    </p:nvPicPr>
                    <p:blipFill>
                      <a:blip r:embed="rId2"/>
                      <a:srcRect/>
                      <a:stretch>
                        <a:fillRect/>
                      </a:stretch>
                    </p:blipFill>
                    <p:spPr bwMode="auto">
                      <a:xfrm>
                        <a:off x="2418110" y="3762672"/>
                        <a:ext cx="3994150" cy="1057275"/>
                      </a:xfrm>
                      <a:prstGeom prst="rect">
                        <a:avLst/>
                      </a:prstGeom>
                      <a:noFill/>
                      <a:ln>
                        <a:noFill/>
                      </a:ln>
                      <a:effectLst/>
                    </p:spPr>
                  </p:pic>
                </p:oleObj>
              </mc:Fallback>
            </mc:AlternateContent>
          </a:graphicData>
        </a:graphic>
      </p:graphicFrame>
      <p:graphicFrame>
        <p:nvGraphicFramePr>
          <p:cNvPr id="14411" name="Object 75"/>
          <p:cNvGraphicFramePr>
            <a:graphicFrameLocks noChangeAspect="1"/>
          </p:cNvGraphicFramePr>
          <p:nvPr/>
        </p:nvGraphicFramePr>
        <p:xfrm>
          <a:off x="5851525" y="3219450"/>
          <a:ext cx="190500" cy="419100"/>
        </p:xfrm>
        <a:graphic>
          <a:graphicData uri="http://schemas.openxmlformats.org/presentationml/2006/ole">
            <mc:AlternateContent xmlns:mc="http://schemas.openxmlformats.org/markup-compatibility/2006">
              <mc:Choice xmlns:v="urn:schemas-microsoft-com:vml" Requires="v">
                <p:oleObj spid="_x0000_s327731" name="公式" r:id="rId3" imgW="190500" imgH="419100" progId="Equation.3">
                  <p:embed/>
                </p:oleObj>
              </mc:Choice>
              <mc:Fallback>
                <p:oleObj name="公式" r:id="rId3" imgW="190500" imgH="419100" progId="Equation.3">
                  <p:embed/>
                  <p:pic>
                    <p:nvPicPr>
                      <p:cNvPr id="0" name="Object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1525" y="32194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76"/>
          <p:cNvSpPr>
            <a:spLocks noChangeArrowheads="1"/>
          </p:cNvSpPr>
          <p:nvPr/>
        </p:nvSpPr>
        <p:spPr bwMode="auto">
          <a:xfrm>
            <a:off x="1843088" y="1656647"/>
            <a:ext cx="9077447" cy="14580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marL="457200" indent="-457200" algn="l" eaLnBrk="1" hangingPunct="1">
              <a:lnSpc>
                <a:spcPct val="200000"/>
              </a:lnSpc>
              <a:buFont typeface="+mj-lt"/>
              <a:buAutoNum type="arabicPeriod"/>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定理表明，独立同分布的随机变量之和             ，当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充分大时，随机变量之和与其标准化变量分别有</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0" name="Object 77"/>
          <p:cNvGraphicFramePr>
            <a:graphicFrameLocks noChangeAspect="1"/>
          </p:cNvGraphicFramePr>
          <p:nvPr/>
        </p:nvGraphicFramePr>
        <p:xfrm>
          <a:off x="7608168" y="1656647"/>
          <a:ext cx="921455" cy="949378"/>
        </p:xfrm>
        <a:graphic>
          <a:graphicData uri="http://schemas.openxmlformats.org/presentationml/2006/ole">
            <mc:AlternateContent xmlns:mc="http://schemas.openxmlformats.org/markup-compatibility/2006">
              <mc:Choice xmlns:v="urn:schemas-microsoft-com:vml" Requires="v">
                <p:oleObj spid="_x0000_s327732" name="Equation" r:id="rId5" imgW="10058400" imgH="10363200" progId="Equation.DSMT4">
                  <p:embed/>
                </p:oleObj>
              </mc:Choice>
              <mc:Fallback>
                <p:oleObj name="Equation" r:id="rId5" imgW="10058400" imgH="10363200" progId="Equation.DSMT4">
                  <p:embed/>
                  <p:pic>
                    <p:nvPicPr>
                      <p:cNvPr id="0" name="Object 77"/>
                      <p:cNvPicPr>
                        <a:picLocks noChangeAspect="1" noChangeArrowheads="1"/>
                      </p:cNvPicPr>
                      <p:nvPr/>
                    </p:nvPicPr>
                    <p:blipFill>
                      <a:blip r:embed="rId6"/>
                      <a:srcRect/>
                      <a:stretch>
                        <a:fillRect/>
                      </a:stretch>
                    </p:blipFill>
                    <p:spPr bwMode="auto">
                      <a:xfrm>
                        <a:off x="7608168" y="1656647"/>
                        <a:ext cx="921455" cy="949378"/>
                      </a:xfrm>
                      <a:prstGeom prst="rect">
                        <a:avLst/>
                      </a:prstGeom>
                      <a:noFill/>
                      <a:ln>
                        <a:noFill/>
                      </a:ln>
                      <a:effectLst/>
                    </p:spPr>
                  </p:pic>
                </p:oleObj>
              </mc:Fallback>
            </mc:AlternateContent>
          </a:graphicData>
        </a:graphic>
      </p:graphicFrame>
      <p:graphicFrame>
        <p:nvGraphicFramePr>
          <p:cNvPr id="11" name="Object 72"/>
          <p:cNvGraphicFramePr>
            <a:graphicFrameLocks noChangeAspect="1"/>
          </p:cNvGraphicFramePr>
          <p:nvPr/>
        </p:nvGraphicFramePr>
        <p:xfrm>
          <a:off x="6600056" y="3583608"/>
          <a:ext cx="3400425" cy="1306513"/>
        </p:xfrm>
        <a:graphic>
          <a:graphicData uri="http://schemas.openxmlformats.org/presentationml/2006/ole">
            <mc:AlternateContent xmlns:mc="http://schemas.openxmlformats.org/markup-compatibility/2006">
              <mc:Choice xmlns:v="urn:schemas-microsoft-com:vml" Requires="v">
                <p:oleObj spid="_x0000_s327733" name="Equation" r:id="rId7" imgW="38100000" imgH="15240000" progId="Equation.DSMT4">
                  <p:embed/>
                </p:oleObj>
              </mc:Choice>
              <mc:Fallback>
                <p:oleObj name="Equation" r:id="rId7" imgW="38100000" imgH="15240000" progId="Equation.DSMT4">
                  <p:embed/>
                  <p:pic>
                    <p:nvPicPr>
                      <p:cNvPr id="0" name="Object 72"/>
                      <p:cNvPicPr>
                        <a:picLocks noChangeAspect="1" noChangeArrowheads="1"/>
                      </p:cNvPicPr>
                      <p:nvPr/>
                    </p:nvPicPr>
                    <p:blipFill>
                      <a:blip r:embed="rId8"/>
                      <a:srcRect/>
                      <a:stretch>
                        <a:fillRect/>
                      </a:stretch>
                    </p:blipFill>
                    <p:spPr bwMode="auto">
                      <a:xfrm>
                        <a:off x="6600056" y="3583608"/>
                        <a:ext cx="3400425" cy="1306513"/>
                      </a:xfrm>
                      <a:prstGeom prst="rect">
                        <a:avLst/>
                      </a:prstGeom>
                      <a:noFill/>
                      <a:ln>
                        <a:noFill/>
                      </a:ln>
                      <a:effectLst/>
                    </p:spPr>
                  </p:pic>
                </p:oleObj>
              </mc:Fallback>
            </mc:AlternateContent>
          </a:graphicData>
        </a:graphic>
      </p:graphicFrame>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408"/>
                                        </p:tgtEl>
                                        <p:attrNameLst>
                                          <p:attrName>style.visibility</p:attrName>
                                        </p:attrNameLst>
                                      </p:cBhvr>
                                      <p:to>
                                        <p:strVal val="visible"/>
                                      </p:to>
                                    </p:set>
                                    <p:animEffect transition="in" filter="wipe(down)">
                                      <p:cBhvr>
                                        <p:cTn id="7" dur="500"/>
                                        <p:tgtEl>
                                          <p:spTgt spid="14408"/>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outVertic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11" name="Object 75"/>
          <p:cNvGraphicFramePr>
            <a:graphicFrameLocks noChangeAspect="1"/>
          </p:cNvGraphicFramePr>
          <p:nvPr/>
        </p:nvGraphicFramePr>
        <p:xfrm>
          <a:off x="5851525" y="3219450"/>
          <a:ext cx="190500" cy="419100"/>
        </p:xfrm>
        <a:graphic>
          <a:graphicData uri="http://schemas.openxmlformats.org/presentationml/2006/ole">
            <mc:AlternateContent xmlns:mc="http://schemas.openxmlformats.org/markup-compatibility/2006">
              <mc:Choice xmlns:v="urn:schemas-microsoft-com:vml" Requires="v">
                <p:oleObj spid="_x0000_s328766" name="公式" r:id="rId1" imgW="190500" imgH="419100" progId="Equation.3">
                  <p:embed/>
                </p:oleObj>
              </mc:Choice>
              <mc:Fallback>
                <p:oleObj name="公式" r:id="rId1" imgW="190500" imgH="419100" progId="Equation.3">
                  <p:embed/>
                  <p:pic>
                    <p:nvPicPr>
                      <p:cNvPr id="0" name="Object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1525" y="32194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74"/>
          <p:cNvGraphicFramePr>
            <a:graphicFrameLocks noChangeAspect="1"/>
          </p:cNvGraphicFramePr>
          <p:nvPr/>
        </p:nvGraphicFramePr>
        <p:xfrm>
          <a:off x="2434337" y="3353431"/>
          <a:ext cx="2271787" cy="887825"/>
        </p:xfrm>
        <a:graphic>
          <a:graphicData uri="http://schemas.openxmlformats.org/presentationml/2006/ole">
            <mc:AlternateContent xmlns:mc="http://schemas.openxmlformats.org/markup-compatibility/2006">
              <mc:Choice xmlns:v="urn:schemas-microsoft-com:vml" Requires="v">
                <p:oleObj spid="_x0000_s328767" name="Equation" r:id="rId3" imgW="26517600" imgH="10363200" progId="Equation.DSMT4">
                  <p:embed/>
                </p:oleObj>
              </mc:Choice>
              <mc:Fallback>
                <p:oleObj name="Equation" r:id="rId3" imgW="26517600" imgH="10363200" progId="Equation.DSMT4">
                  <p:embed/>
                  <p:pic>
                    <p:nvPicPr>
                      <p:cNvPr id="0" name="Object 74"/>
                      <p:cNvPicPr>
                        <a:picLocks noChangeAspect="1" noChangeArrowheads="1"/>
                      </p:cNvPicPr>
                      <p:nvPr/>
                    </p:nvPicPr>
                    <p:blipFill>
                      <a:blip r:embed="rId4"/>
                      <a:srcRect/>
                      <a:stretch>
                        <a:fillRect/>
                      </a:stretch>
                    </p:blipFill>
                    <p:spPr bwMode="auto">
                      <a:xfrm>
                        <a:off x="2434337" y="3353431"/>
                        <a:ext cx="2271787" cy="887825"/>
                      </a:xfrm>
                      <a:prstGeom prst="rect">
                        <a:avLst/>
                      </a:prstGeom>
                      <a:noFill/>
                      <a:ln>
                        <a:noFill/>
                      </a:ln>
                      <a:effectLst/>
                    </p:spPr>
                  </p:pic>
                </p:oleObj>
              </mc:Fallback>
            </mc:AlternateContent>
          </a:graphicData>
        </a:graphic>
      </p:graphicFrame>
      <p:grpSp>
        <p:nvGrpSpPr>
          <p:cNvPr id="2" name="组合 1"/>
          <p:cNvGrpSpPr/>
          <p:nvPr/>
        </p:nvGrpSpPr>
        <p:grpSpPr>
          <a:xfrm>
            <a:off x="1861732" y="1658797"/>
            <a:ext cx="9077447" cy="1741624"/>
            <a:chOff x="1843088" y="1884381"/>
            <a:chExt cx="9077447" cy="1741624"/>
          </a:xfrm>
        </p:grpSpPr>
        <p:sp>
          <p:nvSpPr>
            <p:cNvPr id="9" name="Rectangle 76"/>
            <p:cNvSpPr>
              <a:spLocks noChangeArrowheads="1"/>
            </p:cNvSpPr>
            <p:nvPr/>
          </p:nvSpPr>
          <p:spPr bwMode="auto">
            <a:xfrm>
              <a:off x="1843088" y="1884381"/>
              <a:ext cx="9077447"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marL="457200" indent="-457200" algn="l" eaLnBrk="1" hangingPunct="1">
                <a:buFont typeface="+mj-lt"/>
                <a:buAutoNum type="arabicPeriod" startAt="2"/>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独立同分布中心极限定理的另一种形式可写为</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 name="Object 73"/>
            <p:cNvGraphicFramePr>
              <a:graphicFrameLocks noChangeAspect="1"/>
            </p:cNvGraphicFramePr>
            <p:nvPr/>
          </p:nvGraphicFramePr>
          <p:xfrm>
            <a:off x="2129509" y="2602166"/>
            <a:ext cx="3365572" cy="840902"/>
          </p:xfrm>
          <a:graphic>
            <a:graphicData uri="http://schemas.openxmlformats.org/presentationml/2006/ole">
              <mc:AlternateContent xmlns:mc="http://schemas.openxmlformats.org/markup-compatibility/2006">
                <mc:Choice xmlns:v="urn:schemas-microsoft-com:vml" Requires="v">
                  <p:oleObj spid="_x0000_s328768" name="Equation" r:id="rId5" imgW="31394400" imgH="7924800" progId="Equation.DSMT4">
                    <p:embed/>
                  </p:oleObj>
                </mc:Choice>
                <mc:Fallback>
                  <p:oleObj name="Equation" r:id="rId5" imgW="31394400" imgH="7924800" progId="Equation.DSMT4">
                    <p:embed/>
                    <p:pic>
                      <p:nvPicPr>
                        <p:cNvPr id="0" name="Object 73"/>
                        <p:cNvPicPr>
                          <a:picLocks noChangeAspect="1" noChangeArrowheads="1"/>
                        </p:cNvPicPr>
                        <p:nvPr/>
                      </p:nvPicPr>
                      <p:blipFill>
                        <a:blip r:embed="rId6"/>
                        <a:srcRect/>
                        <a:stretch>
                          <a:fillRect/>
                        </a:stretch>
                      </p:blipFill>
                      <p:spPr bwMode="auto">
                        <a:xfrm>
                          <a:off x="2129509" y="2602166"/>
                          <a:ext cx="3365572" cy="840902"/>
                        </a:xfrm>
                        <a:prstGeom prst="rect">
                          <a:avLst/>
                        </a:prstGeom>
                        <a:noFill/>
                        <a:ln>
                          <a:noFill/>
                        </a:ln>
                        <a:effectLst/>
                      </p:spPr>
                    </p:pic>
                  </p:oleObj>
                </mc:Fallback>
              </mc:AlternateContent>
            </a:graphicData>
          </a:graphic>
        </p:graphicFrame>
        <p:graphicFrame>
          <p:nvGraphicFramePr>
            <p:cNvPr id="13" name="Object 73"/>
            <p:cNvGraphicFramePr>
              <a:graphicFrameLocks noChangeAspect="1"/>
            </p:cNvGraphicFramePr>
            <p:nvPr/>
          </p:nvGraphicFramePr>
          <p:xfrm>
            <a:off x="6168008" y="2462888"/>
            <a:ext cx="3104265" cy="1163117"/>
          </p:xfrm>
          <a:graphic>
            <a:graphicData uri="http://schemas.openxmlformats.org/presentationml/2006/ole">
              <mc:AlternateContent xmlns:mc="http://schemas.openxmlformats.org/markup-compatibility/2006">
                <mc:Choice xmlns:v="urn:schemas-microsoft-com:vml" Requires="v">
                  <p:oleObj spid="_x0000_s328769" name="Equation" r:id="rId7" imgW="28956000" imgH="10972800" progId="Equation.DSMT4">
                    <p:embed/>
                  </p:oleObj>
                </mc:Choice>
                <mc:Fallback>
                  <p:oleObj name="Equation" r:id="rId7" imgW="28956000" imgH="10972800" progId="Equation.DSMT4">
                    <p:embed/>
                    <p:pic>
                      <p:nvPicPr>
                        <p:cNvPr id="0" name="Object 73"/>
                        <p:cNvPicPr>
                          <a:picLocks noChangeAspect="1" noChangeArrowheads="1"/>
                        </p:cNvPicPr>
                        <p:nvPr/>
                      </p:nvPicPr>
                      <p:blipFill>
                        <a:blip r:embed="rId8"/>
                        <a:srcRect/>
                        <a:stretch>
                          <a:fillRect/>
                        </a:stretch>
                      </p:blipFill>
                      <p:spPr bwMode="auto">
                        <a:xfrm>
                          <a:off x="6168008" y="2462888"/>
                          <a:ext cx="3104265" cy="1163117"/>
                        </a:xfrm>
                        <a:prstGeom prst="rect">
                          <a:avLst/>
                        </a:prstGeom>
                        <a:noFill/>
                        <a:ln>
                          <a:noFill/>
                        </a:ln>
                        <a:effectLst/>
                      </p:spPr>
                    </p:pic>
                  </p:oleObj>
                </mc:Fallback>
              </mc:AlternateContent>
            </a:graphicData>
          </a:graphic>
        </p:graphicFrame>
        <p:sp>
          <p:nvSpPr>
            <p:cNvPr id="14" name="Rectangle 76"/>
            <p:cNvSpPr>
              <a:spLocks noChangeArrowheads="1"/>
            </p:cNvSpPr>
            <p:nvPr/>
          </p:nvSpPr>
          <p:spPr bwMode="auto">
            <a:xfrm>
              <a:off x="5541292" y="2791784"/>
              <a:ext cx="580504"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或</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 name="组合 2"/>
          <p:cNvGrpSpPr/>
          <p:nvPr/>
        </p:nvGrpSpPr>
        <p:grpSpPr>
          <a:xfrm>
            <a:off x="1843088" y="4149080"/>
            <a:ext cx="9077447" cy="1602398"/>
            <a:chOff x="1843087" y="4250378"/>
            <a:chExt cx="9077447" cy="1602398"/>
          </a:xfrm>
        </p:grpSpPr>
        <p:sp>
          <p:nvSpPr>
            <p:cNvPr id="15" name="Rectangle 76"/>
            <p:cNvSpPr>
              <a:spLocks noChangeArrowheads="1"/>
            </p:cNvSpPr>
            <p:nvPr/>
          </p:nvSpPr>
          <p:spPr bwMode="auto">
            <a:xfrm>
              <a:off x="1843087" y="4394748"/>
              <a:ext cx="9077447" cy="14580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marL="457200" indent="-457200" algn="l" eaLnBrk="1" hangingPunct="1">
                <a:lnSpc>
                  <a:spcPct val="200000"/>
                </a:lnSpc>
                <a:buFont typeface="+mj-lt"/>
                <a:buAutoNum type="arabicPeriod" startAt="3"/>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虽然在一般情况下，我们很难求出  </a:t>
              </a:r>
              <a:r>
                <a:rPr lang="zh-CN" altLang="en-US"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的分布的确切形式，但当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很大时，可以求出近似分布。</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6" name="Object 77"/>
            <p:cNvGraphicFramePr>
              <a:graphicFrameLocks noChangeAspect="1"/>
            </p:cNvGraphicFramePr>
            <p:nvPr/>
          </p:nvGraphicFramePr>
          <p:xfrm>
            <a:off x="6960095" y="4250378"/>
            <a:ext cx="1184175" cy="1220059"/>
          </p:xfrm>
          <a:graphic>
            <a:graphicData uri="http://schemas.openxmlformats.org/presentationml/2006/ole">
              <mc:AlternateContent xmlns:mc="http://schemas.openxmlformats.org/markup-compatibility/2006">
                <mc:Choice xmlns:v="urn:schemas-microsoft-com:vml" Requires="v">
                  <p:oleObj spid="_x0000_s328770" name="Equation" r:id="rId9" imgW="10058400" imgH="10363200" progId="Equation.DSMT4">
                    <p:embed/>
                  </p:oleObj>
                </mc:Choice>
                <mc:Fallback>
                  <p:oleObj name="Equation" r:id="rId9" imgW="10058400" imgH="10363200" progId="Equation.DSMT4">
                    <p:embed/>
                    <p:pic>
                      <p:nvPicPr>
                        <p:cNvPr id="0" name="Object 77"/>
                        <p:cNvPicPr>
                          <a:picLocks noChangeAspect="1" noChangeArrowheads="1"/>
                        </p:cNvPicPr>
                        <p:nvPr/>
                      </p:nvPicPr>
                      <p:blipFill>
                        <a:blip r:embed="rId10"/>
                        <a:srcRect/>
                        <a:stretch>
                          <a:fillRect/>
                        </a:stretch>
                      </p:blipFill>
                      <p:spPr bwMode="auto">
                        <a:xfrm>
                          <a:off x="6960095" y="4250378"/>
                          <a:ext cx="1184175" cy="1220059"/>
                        </a:xfrm>
                        <a:prstGeom prst="rect">
                          <a:avLst/>
                        </a:prstGeom>
                        <a:noFill/>
                        <a:ln>
                          <a:noFill/>
                        </a:ln>
                        <a:effectLst/>
                      </p:spPr>
                    </p:pic>
                  </p:oleObj>
                </mc:Fallback>
              </mc:AlternateContent>
            </a:graphicData>
          </a:graphic>
        </p:graphicFrame>
      </p:gr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2" name="Text Box 71"/>
          <p:cNvSpPr txBox="1">
            <a:spLocks noChangeArrowheads="1"/>
          </p:cNvSpPr>
          <p:nvPr/>
        </p:nvSpPr>
        <p:spPr bwMode="auto">
          <a:xfrm>
            <a:off x="1391682" y="1095182"/>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4" name="Text Box 74"/>
          <p:cNvSpPr txBox="1">
            <a:spLocks noChangeArrowheads="1"/>
          </p:cNvSpPr>
          <p:nvPr/>
        </p:nvSpPr>
        <p:spPr bwMode="auto">
          <a:xfrm>
            <a:off x="1335307" y="1126204"/>
            <a:ext cx="54168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（李雅普诺夫</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Liapounov</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5435" name="Object 75"/>
          <p:cNvGraphicFramePr>
            <a:graphicFrameLocks noChangeAspect="1"/>
          </p:cNvGraphicFramePr>
          <p:nvPr/>
        </p:nvGraphicFramePr>
        <p:xfrm>
          <a:off x="1417912" y="1936170"/>
          <a:ext cx="8774112" cy="1012825"/>
        </p:xfrm>
        <a:graphic>
          <a:graphicData uri="http://schemas.openxmlformats.org/presentationml/2006/ole">
            <mc:AlternateContent xmlns:mc="http://schemas.openxmlformats.org/markup-compatibility/2006">
              <mc:Choice xmlns:v="urn:schemas-microsoft-com:vml" Requires="v">
                <p:oleObj spid="_x0000_s329766" name="Equation" r:id="rId1" imgW="97840800" imgH="11582400" progId="Equation.DSMT4">
                  <p:embed/>
                </p:oleObj>
              </mc:Choice>
              <mc:Fallback>
                <p:oleObj name="Equation" r:id="rId1" imgW="97840800" imgH="11582400" progId="Equation.DSMT4">
                  <p:embed/>
                  <p:pic>
                    <p:nvPicPr>
                      <p:cNvPr id="0" name="Object 75"/>
                      <p:cNvPicPr>
                        <a:picLocks noChangeAspect="1" noChangeArrowheads="1"/>
                      </p:cNvPicPr>
                      <p:nvPr/>
                    </p:nvPicPr>
                    <p:blipFill>
                      <a:blip r:embed="rId2"/>
                      <a:srcRect/>
                      <a:stretch>
                        <a:fillRect/>
                      </a:stretch>
                    </p:blipFill>
                    <p:spPr bwMode="auto">
                      <a:xfrm>
                        <a:off x="1417912" y="1936170"/>
                        <a:ext cx="8774112" cy="1012825"/>
                      </a:xfrm>
                      <a:prstGeom prst="rect">
                        <a:avLst/>
                      </a:prstGeom>
                      <a:noFill/>
                      <a:ln>
                        <a:noFill/>
                      </a:ln>
                      <a:effectLst/>
                    </p:spPr>
                  </p:pic>
                </p:oleObj>
              </mc:Fallback>
            </mc:AlternateContent>
          </a:graphicData>
        </a:graphic>
      </p:graphicFrame>
      <p:graphicFrame>
        <p:nvGraphicFramePr>
          <p:cNvPr id="15436" name="Object 76"/>
          <p:cNvGraphicFramePr>
            <a:graphicFrameLocks noChangeAspect="1"/>
          </p:cNvGraphicFramePr>
          <p:nvPr/>
        </p:nvGraphicFramePr>
        <p:xfrm>
          <a:off x="2152362" y="3061334"/>
          <a:ext cx="3327400" cy="904875"/>
        </p:xfrm>
        <a:graphic>
          <a:graphicData uri="http://schemas.openxmlformats.org/presentationml/2006/ole">
            <mc:AlternateContent xmlns:mc="http://schemas.openxmlformats.org/markup-compatibility/2006">
              <mc:Choice xmlns:v="urn:schemas-microsoft-com:vml" Requires="v">
                <p:oleObj spid="_x0000_s329767" name="Equation" r:id="rId3" imgW="38100000" imgH="10363200" progId="Equation.DSMT4">
                  <p:embed/>
                </p:oleObj>
              </mc:Choice>
              <mc:Fallback>
                <p:oleObj name="Equation" r:id="rId3" imgW="38100000" imgH="10363200" progId="Equation.DSMT4">
                  <p:embed/>
                  <p:pic>
                    <p:nvPicPr>
                      <p:cNvPr id="0" name="Object 76"/>
                      <p:cNvPicPr>
                        <a:picLocks noChangeAspect="1" noChangeArrowheads="1"/>
                      </p:cNvPicPr>
                      <p:nvPr/>
                    </p:nvPicPr>
                    <p:blipFill>
                      <a:blip r:embed="rId4"/>
                      <a:srcRect/>
                      <a:stretch>
                        <a:fillRect/>
                      </a:stretch>
                    </p:blipFill>
                    <p:spPr bwMode="auto">
                      <a:xfrm>
                        <a:off x="2152362" y="3061334"/>
                        <a:ext cx="3327400" cy="904875"/>
                      </a:xfrm>
                      <a:prstGeom prst="rect">
                        <a:avLst/>
                      </a:prstGeom>
                      <a:noFill/>
                      <a:ln>
                        <a:noFill/>
                      </a:ln>
                      <a:effectLst/>
                    </p:spPr>
                  </p:pic>
                </p:oleObj>
              </mc:Fallback>
            </mc:AlternateContent>
          </a:graphicData>
        </a:graphic>
      </p:graphicFrame>
      <p:graphicFrame>
        <p:nvGraphicFramePr>
          <p:cNvPr id="15437" name="Object 77"/>
          <p:cNvGraphicFramePr>
            <a:graphicFrameLocks noChangeAspect="1"/>
          </p:cNvGraphicFramePr>
          <p:nvPr/>
        </p:nvGraphicFramePr>
        <p:xfrm>
          <a:off x="2152362" y="4285470"/>
          <a:ext cx="5508625" cy="1436688"/>
        </p:xfrm>
        <a:graphic>
          <a:graphicData uri="http://schemas.openxmlformats.org/presentationml/2006/ole">
            <mc:AlternateContent xmlns:mc="http://schemas.openxmlformats.org/markup-compatibility/2006">
              <mc:Choice xmlns:v="urn:schemas-microsoft-com:vml" Requires="v">
                <p:oleObj spid="_x0000_s329768" name="Equation" r:id="rId5" imgW="63093600" imgH="16459200" progId="Equation.DSMT4">
                  <p:embed/>
                </p:oleObj>
              </mc:Choice>
              <mc:Fallback>
                <p:oleObj name="Equation" r:id="rId5" imgW="63093600" imgH="16459200" progId="Equation.DSMT4">
                  <p:embed/>
                  <p:pic>
                    <p:nvPicPr>
                      <p:cNvPr id="0" name="Object 77"/>
                      <p:cNvPicPr>
                        <a:picLocks noChangeAspect="1" noChangeArrowheads="1"/>
                      </p:cNvPicPr>
                      <p:nvPr/>
                    </p:nvPicPr>
                    <p:blipFill>
                      <a:blip r:embed="rId6"/>
                      <a:srcRect/>
                      <a:stretch>
                        <a:fillRect/>
                      </a:stretch>
                    </p:blipFill>
                    <p:spPr bwMode="auto">
                      <a:xfrm>
                        <a:off x="2152362" y="4285470"/>
                        <a:ext cx="5508625" cy="1436688"/>
                      </a:xfrm>
                      <a:prstGeom prst="rect">
                        <a:avLst/>
                      </a:prstGeom>
                      <a:noFill/>
                      <a:ln>
                        <a:noFill/>
                      </a:ln>
                      <a:effectLst/>
                    </p:spPr>
                  </p:pic>
                </p:oleObj>
              </mc:Fallback>
            </mc:AlternateContent>
          </a:graphicData>
        </a:graphic>
      </p:graphicFrame>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435"/>
                                        </p:tgtEl>
                                        <p:attrNameLst>
                                          <p:attrName>style.visibility</p:attrName>
                                        </p:attrNameLst>
                                      </p:cBhvr>
                                      <p:to>
                                        <p:strVal val="visible"/>
                                      </p:to>
                                    </p:set>
                                    <p:animEffect transition="in" filter="wipe(left)">
                                      <p:cBhvr>
                                        <p:cTn id="7" dur="500"/>
                                        <p:tgtEl>
                                          <p:spTgt spid="154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436"/>
                                        </p:tgtEl>
                                        <p:attrNameLst>
                                          <p:attrName>style.visibility</p:attrName>
                                        </p:attrNameLst>
                                      </p:cBhvr>
                                      <p:to>
                                        <p:strVal val="visible"/>
                                      </p:to>
                                    </p:set>
                                    <p:animEffect transition="in" filter="wipe(left)">
                                      <p:cBhvr>
                                        <p:cTn id="12" dur="500"/>
                                        <p:tgtEl>
                                          <p:spTgt spid="154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437"/>
                                        </p:tgtEl>
                                        <p:attrNameLst>
                                          <p:attrName>style.visibility</p:attrName>
                                        </p:attrNameLst>
                                      </p:cBhvr>
                                      <p:to>
                                        <p:strVal val="visible"/>
                                      </p:to>
                                    </p:set>
                                    <p:animEffect transition="in" filter="wipe(left)">
                                      <p:cBhvr>
                                        <p:cTn id="17" dur="500"/>
                                        <p:tgtEl>
                                          <p:spTgt spid="15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21" name="Object 81"/>
          <p:cNvGraphicFramePr>
            <a:graphicFrameLocks noChangeAspect="1"/>
          </p:cNvGraphicFramePr>
          <p:nvPr/>
        </p:nvGraphicFramePr>
        <p:xfrm>
          <a:off x="3198021" y="1938935"/>
          <a:ext cx="5162336" cy="1826673"/>
        </p:xfrm>
        <a:graphic>
          <a:graphicData uri="http://schemas.openxmlformats.org/presentationml/2006/ole">
            <mc:AlternateContent xmlns:mc="http://schemas.openxmlformats.org/markup-compatibility/2006">
              <mc:Choice xmlns:v="urn:schemas-microsoft-com:vml" Requires="v">
                <p:oleObj spid="_x0000_s330814" name="Equation" r:id="rId1" imgW="59436000" imgH="21031200" progId="Equation.DSMT4">
                  <p:embed/>
                </p:oleObj>
              </mc:Choice>
              <mc:Fallback>
                <p:oleObj name="Equation" r:id="rId1" imgW="59436000" imgH="21031200" progId="Equation.DSMT4">
                  <p:embed/>
                  <p:pic>
                    <p:nvPicPr>
                      <p:cNvPr id="0" name="Object 81"/>
                      <p:cNvPicPr>
                        <a:picLocks noChangeAspect="1" noChangeArrowheads="1"/>
                      </p:cNvPicPr>
                      <p:nvPr/>
                    </p:nvPicPr>
                    <p:blipFill>
                      <a:blip r:embed="rId2"/>
                      <a:srcRect/>
                      <a:stretch>
                        <a:fillRect/>
                      </a:stretch>
                    </p:blipFill>
                    <p:spPr bwMode="auto">
                      <a:xfrm>
                        <a:off x="3198021" y="1938935"/>
                        <a:ext cx="5162336" cy="1826673"/>
                      </a:xfrm>
                      <a:prstGeom prst="rect">
                        <a:avLst/>
                      </a:prstGeom>
                      <a:noFill/>
                      <a:ln>
                        <a:noFill/>
                      </a:ln>
                      <a:effectLst/>
                    </p:spPr>
                  </p:pic>
                </p:oleObj>
              </mc:Fallback>
            </mc:AlternateContent>
          </a:graphicData>
        </a:graphic>
      </p:graphicFrame>
      <p:graphicFrame>
        <p:nvGraphicFramePr>
          <p:cNvPr id="35922" name="Object 82"/>
          <p:cNvGraphicFramePr>
            <a:graphicFrameLocks noChangeAspect="1"/>
          </p:cNvGraphicFramePr>
          <p:nvPr/>
        </p:nvGraphicFramePr>
        <p:xfrm>
          <a:off x="2027751" y="3967537"/>
          <a:ext cx="4659344" cy="476524"/>
        </p:xfrm>
        <a:graphic>
          <a:graphicData uri="http://schemas.openxmlformats.org/presentationml/2006/ole">
            <mc:AlternateContent xmlns:mc="http://schemas.openxmlformats.org/markup-compatibility/2006">
              <mc:Choice xmlns:v="urn:schemas-microsoft-com:vml" Requires="v">
                <p:oleObj spid="_x0000_s330815" name="Equation" r:id="rId3" imgW="53644800" imgH="5486400" progId="Equation.DSMT4">
                  <p:embed/>
                </p:oleObj>
              </mc:Choice>
              <mc:Fallback>
                <p:oleObj name="Equation" r:id="rId3" imgW="53644800" imgH="5486400" progId="Equation.DSMT4">
                  <p:embed/>
                  <p:pic>
                    <p:nvPicPr>
                      <p:cNvPr id="0" name="Object 82"/>
                      <p:cNvPicPr>
                        <a:picLocks noChangeAspect="1" noChangeArrowheads="1"/>
                      </p:cNvPicPr>
                      <p:nvPr/>
                    </p:nvPicPr>
                    <p:blipFill>
                      <a:blip r:embed="rId4"/>
                      <a:srcRect/>
                      <a:stretch>
                        <a:fillRect/>
                      </a:stretch>
                    </p:blipFill>
                    <p:spPr bwMode="auto">
                      <a:xfrm>
                        <a:off x="2027751" y="3967537"/>
                        <a:ext cx="4659344" cy="476524"/>
                      </a:xfrm>
                      <a:prstGeom prst="rect">
                        <a:avLst/>
                      </a:prstGeom>
                      <a:noFill/>
                      <a:ln>
                        <a:noFill/>
                      </a:ln>
                      <a:effectLst/>
                    </p:spPr>
                  </p:pic>
                </p:oleObj>
              </mc:Fallback>
            </mc:AlternateContent>
          </a:graphicData>
        </a:graphic>
      </p:graphicFrame>
      <p:graphicFrame>
        <p:nvGraphicFramePr>
          <p:cNvPr id="35923" name="Object 83"/>
          <p:cNvGraphicFramePr>
            <a:graphicFrameLocks noChangeAspect="1"/>
          </p:cNvGraphicFramePr>
          <p:nvPr/>
        </p:nvGraphicFramePr>
        <p:xfrm>
          <a:off x="1952531" y="4509120"/>
          <a:ext cx="4924076" cy="1800200"/>
        </p:xfrm>
        <a:graphic>
          <a:graphicData uri="http://schemas.openxmlformats.org/presentationml/2006/ole">
            <mc:AlternateContent xmlns:mc="http://schemas.openxmlformats.org/markup-compatibility/2006">
              <mc:Choice xmlns:v="urn:schemas-microsoft-com:vml" Requires="v">
                <p:oleObj spid="_x0000_s330816" name="Equation" r:id="rId5" imgW="56692800" imgH="20726400" progId="Equation.DSMT4">
                  <p:embed/>
                </p:oleObj>
              </mc:Choice>
              <mc:Fallback>
                <p:oleObj name="Equation" r:id="rId5" imgW="56692800" imgH="20726400" progId="Equation.DSMT4">
                  <p:embed/>
                  <p:pic>
                    <p:nvPicPr>
                      <p:cNvPr id="0" name="Object 83"/>
                      <p:cNvPicPr>
                        <a:picLocks noChangeAspect="1" noChangeArrowheads="1"/>
                      </p:cNvPicPr>
                      <p:nvPr/>
                    </p:nvPicPr>
                    <p:blipFill>
                      <a:blip r:embed="rId6"/>
                      <a:srcRect/>
                      <a:stretch>
                        <a:fillRect/>
                      </a:stretch>
                    </p:blipFill>
                    <p:spPr bwMode="auto">
                      <a:xfrm>
                        <a:off x="1952531" y="4509120"/>
                        <a:ext cx="4924076" cy="1800200"/>
                      </a:xfrm>
                      <a:prstGeom prst="rect">
                        <a:avLst/>
                      </a:prstGeom>
                      <a:noFill/>
                      <a:ln>
                        <a:noFill/>
                      </a:ln>
                      <a:effectLst/>
                    </p:spPr>
                  </p:pic>
                </p:oleObj>
              </mc:Fallback>
            </mc:AlternateContent>
          </a:graphicData>
        </a:graphic>
      </p:graphicFrame>
      <p:graphicFrame>
        <p:nvGraphicFramePr>
          <p:cNvPr id="35924" name="Object 84"/>
          <p:cNvGraphicFramePr>
            <a:graphicFrameLocks noChangeAspect="1"/>
          </p:cNvGraphicFramePr>
          <p:nvPr/>
        </p:nvGraphicFramePr>
        <p:xfrm>
          <a:off x="7053872" y="4998361"/>
          <a:ext cx="3176823" cy="873626"/>
        </p:xfrm>
        <a:graphic>
          <a:graphicData uri="http://schemas.openxmlformats.org/presentationml/2006/ole">
            <mc:AlternateContent xmlns:mc="http://schemas.openxmlformats.org/markup-compatibility/2006">
              <mc:Choice xmlns:v="urn:schemas-microsoft-com:vml" Requires="v">
                <p:oleObj spid="_x0000_s330817" name="Equation" r:id="rId7" imgW="36576000" imgH="10058400" progId="Equation.DSMT4">
                  <p:embed/>
                </p:oleObj>
              </mc:Choice>
              <mc:Fallback>
                <p:oleObj name="Equation" r:id="rId7" imgW="36576000" imgH="10058400" progId="Equation.DSMT4">
                  <p:embed/>
                  <p:pic>
                    <p:nvPicPr>
                      <p:cNvPr id="0" name="Object 84"/>
                      <p:cNvPicPr>
                        <a:picLocks noChangeAspect="1" noChangeArrowheads="1"/>
                      </p:cNvPicPr>
                      <p:nvPr/>
                    </p:nvPicPr>
                    <p:blipFill>
                      <a:blip r:embed="rId8"/>
                      <a:srcRect/>
                      <a:stretch>
                        <a:fillRect/>
                      </a:stretch>
                    </p:blipFill>
                    <p:spPr bwMode="auto">
                      <a:xfrm>
                        <a:off x="7053872" y="4998361"/>
                        <a:ext cx="3176823" cy="873626"/>
                      </a:xfrm>
                      <a:prstGeom prst="rect">
                        <a:avLst/>
                      </a:prstGeom>
                      <a:noFill/>
                      <a:ln>
                        <a:noFill/>
                      </a:ln>
                      <a:effectLst/>
                    </p:spPr>
                  </p:pic>
                </p:oleObj>
              </mc:Fallback>
            </mc:AlternateContent>
          </a:graphicData>
        </a:graphic>
      </p:graphicFrame>
      <p:graphicFrame>
        <p:nvGraphicFramePr>
          <p:cNvPr id="7" name="Object 78"/>
          <p:cNvGraphicFramePr>
            <a:graphicFrameLocks noChangeAspect="1"/>
          </p:cNvGraphicFramePr>
          <p:nvPr/>
        </p:nvGraphicFramePr>
        <p:xfrm>
          <a:off x="1847528" y="956333"/>
          <a:ext cx="5400600" cy="904702"/>
        </p:xfrm>
        <a:graphic>
          <a:graphicData uri="http://schemas.openxmlformats.org/presentationml/2006/ole">
            <mc:AlternateContent xmlns:mc="http://schemas.openxmlformats.org/markup-compatibility/2006">
              <mc:Choice xmlns:v="urn:schemas-microsoft-com:vml" Requires="v">
                <p:oleObj spid="_x0000_s330818" name="Equation" r:id="rId9" imgW="57607200" imgH="10363200" progId="Equation.DSMT4">
                  <p:embed/>
                </p:oleObj>
              </mc:Choice>
              <mc:Fallback>
                <p:oleObj name="Equation" r:id="rId9" imgW="57607200" imgH="10363200" progId="Equation.DSMT4">
                  <p:embed/>
                  <p:pic>
                    <p:nvPicPr>
                      <p:cNvPr id="0" name="Object 78"/>
                      <p:cNvPicPr>
                        <a:picLocks noChangeAspect="1" noChangeArrowheads="1"/>
                      </p:cNvPicPr>
                      <p:nvPr/>
                    </p:nvPicPr>
                    <p:blipFill>
                      <a:blip r:embed="rId10"/>
                      <a:srcRect/>
                      <a:stretch>
                        <a:fillRect/>
                      </a:stretch>
                    </p:blipFill>
                    <p:spPr bwMode="auto">
                      <a:xfrm>
                        <a:off x="1847528" y="956333"/>
                        <a:ext cx="5400600" cy="904702"/>
                      </a:xfrm>
                      <a:prstGeom prst="rect">
                        <a:avLst/>
                      </a:prstGeom>
                      <a:noFill/>
                      <a:ln>
                        <a:noFill/>
                      </a:ln>
                      <a:effectLst/>
                    </p:spPr>
                  </p:pic>
                </p:oleObj>
              </mc:Fallback>
            </mc:AlternateContent>
          </a:graphicData>
        </a:graphic>
      </p:graphicFrame>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922"/>
                                        </p:tgtEl>
                                        <p:attrNameLst>
                                          <p:attrName>style.visibility</p:attrName>
                                        </p:attrNameLst>
                                      </p:cBhvr>
                                      <p:to>
                                        <p:strVal val="visible"/>
                                      </p:to>
                                    </p:set>
                                    <p:animEffect transition="in" filter="wipe(left)">
                                      <p:cBhvr>
                                        <p:cTn id="7" dur="500"/>
                                        <p:tgtEl>
                                          <p:spTgt spid="359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923"/>
                                        </p:tgtEl>
                                        <p:attrNameLst>
                                          <p:attrName>style.visibility</p:attrName>
                                        </p:attrNameLst>
                                      </p:cBhvr>
                                      <p:to>
                                        <p:strVal val="visible"/>
                                      </p:to>
                                    </p:set>
                                    <p:animEffect transition="in" filter="wipe(left)">
                                      <p:cBhvr>
                                        <p:cTn id="12" dur="500"/>
                                        <p:tgtEl>
                                          <p:spTgt spid="359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5924"/>
                                        </p:tgtEl>
                                        <p:attrNameLst>
                                          <p:attrName>style.visibility</p:attrName>
                                        </p:attrNameLst>
                                      </p:cBhvr>
                                      <p:to>
                                        <p:strVal val="visible"/>
                                      </p:to>
                                    </p:set>
                                    <p:animEffect transition="in" filter="blinds(vertical)">
                                      <p:cBhvr>
                                        <p:cTn id="17" dur="500"/>
                                        <p:tgtEl>
                                          <p:spTgt spid="35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66" name="Text Box 82"/>
          <p:cNvSpPr txBox="1">
            <a:spLocks noChangeArrowheads="1"/>
          </p:cNvSpPr>
          <p:nvPr/>
        </p:nvSpPr>
        <p:spPr bwMode="auto">
          <a:xfrm>
            <a:off x="1558131" y="1067310"/>
            <a:ext cx="12875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请注意 </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6467" name="Object 83"/>
          <p:cNvGraphicFramePr>
            <a:graphicFrameLocks noChangeAspect="1"/>
          </p:cNvGraphicFramePr>
          <p:nvPr/>
        </p:nvGraphicFramePr>
        <p:xfrm>
          <a:off x="1558131" y="1500796"/>
          <a:ext cx="8956675" cy="1292225"/>
        </p:xfrm>
        <a:graphic>
          <a:graphicData uri="http://schemas.openxmlformats.org/presentationml/2006/ole">
            <mc:AlternateContent xmlns:mc="http://schemas.openxmlformats.org/markup-compatibility/2006">
              <mc:Choice xmlns:v="urn:schemas-microsoft-com:vml" Requires="v">
                <p:oleObj spid="_x0000_s331826" name="Equation" r:id="rId1" imgW="100279200" imgH="15240000" progId="Equation.DSMT4">
                  <p:embed/>
                </p:oleObj>
              </mc:Choice>
              <mc:Fallback>
                <p:oleObj name="Equation" r:id="rId1" imgW="100279200" imgH="15240000" progId="Equation.DSMT4">
                  <p:embed/>
                  <p:pic>
                    <p:nvPicPr>
                      <p:cNvPr id="0" name="Object 83"/>
                      <p:cNvPicPr>
                        <a:picLocks noChangeAspect="1" noChangeArrowheads="1"/>
                      </p:cNvPicPr>
                      <p:nvPr/>
                    </p:nvPicPr>
                    <p:blipFill>
                      <a:blip r:embed="rId2"/>
                      <a:srcRect/>
                      <a:stretch>
                        <a:fillRect/>
                      </a:stretch>
                    </p:blipFill>
                    <p:spPr bwMode="auto">
                      <a:xfrm>
                        <a:off x="1558131" y="1500796"/>
                        <a:ext cx="8956675" cy="1292225"/>
                      </a:xfrm>
                      <a:prstGeom prst="rect">
                        <a:avLst/>
                      </a:prstGeom>
                      <a:noFill/>
                      <a:ln>
                        <a:noFill/>
                      </a:ln>
                      <a:effectLst/>
                    </p:spPr>
                  </p:pic>
                </p:oleObj>
              </mc:Fallback>
            </mc:AlternateContent>
          </a:graphicData>
        </a:graphic>
      </p:graphicFrame>
      <p:graphicFrame>
        <p:nvGraphicFramePr>
          <p:cNvPr id="16468" name="Object 84"/>
          <p:cNvGraphicFramePr>
            <a:graphicFrameLocks noChangeAspect="1"/>
          </p:cNvGraphicFramePr>
          <p:nvPr/>
        </p:nvGraphicFramePr>
        <p:xfrm>
          <a:off x="3489326" y="3646290"/>
          <a:ext cx="1862326" cy="853566"/>
        </p:xfrm>
        <a:graphic>
          <a:graphicData uri="http://schemas.openxmlformats.org/presentationml/2006/ole">
            <mc:AlternateContent xmlns:mc="http://schemas.openxmlformats.org/markup-compatibility/2006">
              <mc:Choice xmlns:v="urn:schemas-microsoft-com:vml" Requires="v">
                <p:oleObj spid="_x0000_s331827" name="公式" r:id="rId3" imgW="190500" imgH="419100" progId="Equation.3">
                  <p:embed/>
                </p:oleObj>
              </mc:Choice>
              <mc:Fallback>
                <p:oleObj name="公式" r:id="rId3" imgW="190500" imgH="419100" progId="Equation.3">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9326" y="3646290"/>
                        <a:ext cx="1862326" cy="853566"/>
                      </a:xfrm>
                      <a:prstGeom prst="rect">
                        <a:avLst/>
                      </a:prstGeom>
                      <a:noFill/>
                      <a:ln>
                        <a:noFill/>
                      </a:ln>
                      <a:effectLst/>
                    </p:spPr>
                  </p:pic>
                </p:oleObj>
              </mc:Fallback>
            </mc:AlternateContent>
          </a:graphicData>
        </a:graphic>
      </p:graphicFrame>
      <p:graphicFrame>
        <p:nvGraphicFramePr>
          <p:cNvPr id="16469" name="Object 85"/>
          <p:cNvGraphicFramePr>
            <a:graphicFrameLocks noChangeAspect="1"/>
          </p:cNvGraphicFramePr>
          <p:nvPr/>
        </p:nvGraphicFramePr>
        <p:xfrm>
          <a:off x="3287688" y="2921748"/>
          <a:ext cx="6233621" cy="879432"/>
        </p:xfrm>
        <a:graphic>
          <a:graphicData uri="http://schemas.openxmlformats.org/presentationml/2006/ole">
            <mc:AlternateContent xmlns:mc="http://schemas.openxmlformats.org/markup-compatibility/2006">
              <mc:Choice xmlns:v="urn:schemas-microsoft-com:vml" Requires="v">
                <p:oleObj spid="_x0000_s331828" name="Equation" r:id="rId5" imgW="73456800" imgH="10363200" progId="Equation.DSMT4">
                  <p:embed/>
                </p:oleObj>
              </mc:Choice>
              <mc:Fallback>
                <p:oleObj name="Equation" r:id="rId5" imgW="73456800" imgH="10363200" progId="Equation.DSMT4">
                  <p:embed/>
                  <p:pic>
                    <p:nvPicPr>
                      <p:cNvPr id="0" name="Object 85"/>
                      <p:cNvPicPr>
                        <a:picLocks noChangeAspect="1" noChangeArrowheads="1"/>
                      </p:cNvPicPr>
                      <p:nvPr/>
                    </p:nvPicPr>
                    <p:blipFill>
                      <a:blip r:embed="rId6"/>
                      <a:srcRect/>
                      <a:stretch>
                        <a:fillRect/>
                      </a:stretch>
                    </p:blipFill>
                    <p:spPr bwMode="auto">
                      <a:xfrm>
                        <a:off x="3287688" y="2921748"/>
                        <a:ext cx="6233621" cy="879432"/>
                      </a:xfrm>
                      <a:prstGeom prst="rect">
                        <a:avLst/>
                      </a:prstGeom>
                      <a:noFill/>
                      <a:ln>
                        <a:noFill/>
                      </a:ln>
                      <a:effectLst/>
                    </p:spPr>
                  </p:pic>
                </p:oleObj>
              </mc:Fallback>
            </mc:AlternateContent>
          </a:graphicData>
        </a:graphic>
      </p:graphicFrame>
      <p:graphicFrame>
        <p:nvGraphicFramePr>
          <p:cNvPr id="16470" name="Object 86"/>
          <p:cNvGraphicFramePr>
            <a:graphicFrameLocks noChangeAspect="1"/>
          </p:cNvGraphicFramePr>
          <p:nvPr/>
        </p:nvGraphicFramePr>
        <p:xfrm>
          <a:off x="1558131" y="4221088"/>
          <a:ext cx="9075738" cy="1809750"/>
        </p:xfrm>
        <a:graphic>
          <a:graphicData uri="http://schemas.openxmlformats.org/presentationml/2006/ole">
            <mc:AlternateContent xmlns:mc="http://schemas.openxmlformats.org/markup-compatibility/2006">
              <mc:Choice xmlns:v="urn:schemas-microsoft-com:vml" Requires="v">
                <p:oleObj spid="_x0000_s331829" name="Equation" r:id="rId7" imgW="103936800" imgH="21336000" progId="Equation.DSMT4">
                  <p:embed/>
                </p:oleObj>
              </mc:Choice>
              <mc:Fallback>
                <p:oleObj name="Equation" r:id="rId7" imgW="103936800" imgH="21336000" progId="Equation.DSMT4">
                  <p:embed/>
                  <p:pic>
                    <p:nvPicPr>
                      <p:cNvPr id="0" name="Object 86"/>
                      <p:cNvPicPr>
                        <a:picLocks noChangeAspect="1" noChangeArrowheads="1"/>
                      </p:cNvPicPr>
                      <p:nvPr/>
                    </p:nvPicPr>
                    <p:blipFill>
                      <a:blip r:embed="rId8"/>
                      <a:srcRect/>
                      <a:stretch>
                        <a:fillRect/>
                      </a:stretch>
                    </p:blipFill>
                    <p:spPr bwMode="auto">
                      <a:xfrm>
                        <a:off x="1558131" y="4221088"/>
                        <a:ext cx="9075738" cy="1809750"/>
                      </a:xfrm>
                      <a:prstGeom prst="rect">
                        <a:avLst/>
                      </a:prstGeom>
                      <a:noFill/>
                      <a:ln>
                        <a:noFill/>
                      </a:ln>
                      <a:effectLst/>
                    </p:spPr>
                  </p:pic>
                </p:oleObj>
              </mc:Fallback>
            </mc:AlternateContent>
          </a:graphicData>
        </a:graphic>
      </p:graphicFrame>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467"/>
                                        </p:tgtEl>
                                        <p:attrNameLst>
                                          <p:attrName>style.visibility</p:attrName>
                                        </p:attrNameLst>
                                      </p:cBhvr>
                                      <p:to>
                                        <p:strVal val="visible"/>
                                      </p:to>
                                    </p:set>
                                    <p:animEffect transition="in" filter="wipe(left)">
                                      <p:cBhvr>
                                        <p:cTn id="7" dur="500"/>
                                        <p:tgtEl>
                                          <p:spTgt spid="164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469"/>
                                        </p:tgtEl>
                                        <p:attrNameLst>
                                          <p:attrName>style.visibility</p:attrName>
                                        </p:attrNameLst>
                                      </p:cBhvr>
                                      <p:to>
                                        <p:strVal val="visible"/>
                                      </p:to>
                                    </p:set>
                                    <p:animEffect transition="in" filter="wipe(left)">
                                      <p:cBhvr>
                                        <p:cTn id="12" dur="500"/>
                                        <p:tgtEl>
                                          <p:spTgt spid="164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470"/>
                                        </p:tgtEl>
                                        <p:attrNameLst>
                                          <p:attrName>style.visibility</p:attrName>
                                        </p:attrNameLst>
                                      </p:cBhvr>
                                      <p:to>
                                        <p:strVal val="visible"/>
                                      </p:to>
                                    </p:set>
                                    <p:animEffect transition="in" filter="wipe(left)">
                                      <p:cBhvr>
                                        <p:cTn id="17" dur="500"/>
                                        <p:tgtEl>
                                          <p:spTgt spid="16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0" name="Text Box 42"/>
          <p:cNvSpPr txBox="1">
            <a:spLocks noChangeArrowheads="1"/>
          </p:cNvSpPr>
          <p:nvPr/>
        </p:nvSpPr>
        <p:spPr bwMode="auto">
          <a:xfrm>
            <a:off x="1309305" y="1355209"/>
            <a:ext cx="76946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6(</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棣莫佛－拉普拉斯（</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De Laplace</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endPar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7452" name="Group 44"/>
          <p:cNvGrpSpPr/>
          <p:nvPr/>
        </p:nvGrpSpPr>
        <p:grpSpPr bwMode="auto">
          <a:xfrm>
            <a:off x="1406163" y="1794332"/>
            <a:ext cx="9521825" cy="1951035"/>
            <a:chOff x="340" y="527"/>
            <a:chExt cx="5998" cy="1229"/>
          </a:xfrm>
        </p:grpSpPr>
        <p:sp>
          <p:nvSpPr>
            <p:cNvPr id="17453" name="Text Box 45"/>
            <p:cNvSpPr txBox="1">
              <a:spLocks noChangeArrowheads="1"/>
            </p:cNvSpPr>
            <p:nvPr/>
          </p:nvSpPr>
          <p:spPr bwMode="auto">
            <a:xfrm>
              <a:off x="340" y="527"/>
              <a:ext cx="5998" cy="1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200000"/>
                </a:lnSpc>
              </a:pPr>
              <a:r>
                <a:rPr lang="en-US" altLang="zh-CN" sz="40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设随机变量      </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(n=1,2,‥‥)</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服从参数</a:t>
              </a:r>
              <a:r>
                <a:rPr lang="en-US" altLang="zh-CN" sz="3200" b="1" i="1" dirty="0" err="1">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(0&lt;</a:t>
              </a:r>
              <a:r>
                <a:rPr lang="en-US" altLang="zh-CN" sz="32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&lt;1)</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的二项分布，则对任意</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，有</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4" name="Object 46"/>
            <p:cNvGraphicFramePr>
              <a:graphicFrameLocks noChangeAspect="1"/>
            </p:cNvGraphicFramePr>
            <p:nvPr/>
          </p:nvGraphicFramePr>
          <p:xfrm>
            <a:off x="1751" y="847"/>
            <a:ext cx="345" cy="424"/>
          </p:xfrm>
          <a:graphic>
            <a:graphicData uri="http://schemas.openxmlformats.org/presentationml/2006/ole">
              <mc:AlternateContent xmlns:mc="http://schemas.openxmlformats.org/markup-compatibility/2006">
                <mc:Choice xmlns:v="urn:schemas-microsoft-com:vml" Requires="v">
                  <p:oleObj spid="_x0000_s332826" name="Equation" r:id="rId1" imgW="4267200" imgH="5486400" progId="Equation.DSMT4">
                    <p:embed/>
                  </p:oleObj>
                </mc:Choice>
                <mc:Fallback>
                  <p:oleObj name="Equation" r:id="rId1" imgW="4267200" imgH="5486400" progId="Equation.DSMT4">
                    <p:embed/>
                    <p:pic>
                      <p:nvPicPr>
                        <p:cNvPr id="0" name="Object 46"/>
                        <p:cNvPicPr>
                          <a:picLocks noChangeAspect="1" noChangeArrowheads="1"/>
                        </p:cNvPicPr>
                        <p:nvPr/>
                      </p:nvPicPr>
                      <p:blipFill>
                        <a:blip r:embed="rId2"/>
                        <a:srcRect/>
                        <a:stretch>
                          <a:fillRect/>
                        </a:stretch>
                      </p:blipFill>
                      <p:spPr bwMode="auto">
                        <a:xfrm>
                          <a:off x="1751" y="847"/>
                          <a:ext cx="345" cy="424"/>
                        </a:xfrm>
                        <a:prstGeom prst="rect">
                          <a:avLst/>
                        </a:prstGeom>
                        <a:noFill/>
                        <a:ln>
                          <a:noFill/>
                        </a:ln>
                        <a:effectLst/>
                      </p:spPr>
                    </p:pic>
                  </p:oleObj>
                </mc:Fallback>
              </mc:AlternateContent>
            </a:graphicData>
          </a:graphic>
        </p:graphicFrame>
      </p:grpSp>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7451" name="Object 43"/>
          <p:cNvGraphicFramePr>
            <a:graphicFrameLocks noChangeAspect="1"/>
          </p:cNvGraphicFramePr>
          <p:nvPr/>
        </p:nvGraphicFramePr>
        <p:xfrm>
          <a:off x="3006129" y="3881206"/>
          <a:ext cx="5903813" cy="1272259"/>
        </p:xfrm>
        <a:graphic>
          <a:graphicData uri="http://schemas.openxmlformats.org/presentationml/2006/ole">
            <mc:AlternateContent xmlns:mc="http://schemas.openxmlformats.org/markup-compatibility/2006">
              <mc:Choice xmlns:v="urn:schemas-microsoft-com:vml" Requires="v">
                <p:oleObj spid="_x0000_s332827" name="Equation" r:id="rId3" imgW="69189600" imgH="11887200" progId="Equation.DSMT4">
                  <p:embed/>
                </p:oleObj>
              </mc:Choice>
              <mc:Fallback>
                <p:oleObj name="Equation" r:id="rId3" imgW="69189600" imgH="11887200" progId="Equation.DSMT4">
                  <p:embed/>
                  <p:pic>
                    <p:nvPicPr>
                      <p:cNvPr id="0" name="Object 43"/>
                      <p:cNvPicPr>
                        <a:picLocks noChangeAspect="1" noChangeArrowheads="1"/>
                      </p:cNvPicPr>
                      <p:nvPr/>
                    </p:nvPicPr>
                    <p:blipFill>
                      <a:blip r:embed="rId4"/>
                      <a:srcRect/>
                      <a:stretch>
                        <a:fillRect/>
                      </a:stretch>
                    </p:blipFill>
                    <p:spPr bwMode="auto">
                      <a:xfrm>
                        <a:off x="3006129" y="3881206"/>
                        <a:ext cx="5903813" cy="1272259"/>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452"/>
                                        </p:tgtEl>
                                        <p:attrNameLst>
                                          <p:attrName>style.visibility</p:attrName>
                                        </p:attrNameLst>
                                      </p:cBhvr>
                                      <p:to>
                                        <p:strVal val="visible"/>
                                      </p:to>
                                    </p:set>
                                    <p:animEffect transition="in" filter="wipe(down)">
                                      <p:cBhvr>
                                        <p:cTn id="7" dur="500"/>
                                        <p:tgtEl>
                                          <p:spTgt spid="174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451"/>
                                        </p:tgtEl>
                                        <p:attrNameLst>
                                          <p:attrName>style.visibility</p:attrName>
                                        </p:attrNameLst>
                                      </p:cBhvr>
                                      <p:to>
                                        <p:strVal val="visible"/>
                                      </p:to>
                                    </p:set>
                                    <p:anim calcmode="lin" valueType="num">
                                      <p:cBhvr additive="base">
                                        <p:cTn id="12" dur="500" fill="hold"/>
                                        <p:tgtEl>
                                          <p:spTgt spid="17451"/>
                                        </p:tgtEl>
                                        <p:attrNameLst>
                                          <p:attrName>ppt_x</p:attrName>
                                        </p:attrNameLst>
                                      </p:cBhvr>
                                      <p:tavLst>
                                        <p:tav tm="0">
                                          <p:val>
                                            <p:strVal val="0-#ppt_w/2"/>
                                          </p:val>
                                        </p:tav>
                                        <p:tav tm="100000">
                                          <p:val>
                                            <p:strVal val="#ppt_x"/>
                                          </p:val>
                                        </p:tav>
                                      </p:tavLst>
                                    </p:anim>
                                    <p:anim calcmode="lin" valueType="num">
                                      <p:cBhvr additive="base">
                                        <p:cTn id="13" dur="500" fill="hold"/>
                                        <p:tgtEl>
                                          <p:spTgt spid="174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7" name="Text Box 49"/>
          <p:cNvSpPr txBox="1">
            <a:spLocks noChangeArrowheads="1"/>
          </p:cNvSpPr>
          <p:nvPr/>
        </p:nvSpPr>
        <p:spPr bwMode="auto">
          <a:xfrm>
            <a:off x="1703512" y="2130136"/>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证：</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19" name="Group 44"/>
          <p:cNvGrpSpPr/>
          <p:nvPr/>
        </p:nvGrpSpPr>
        <p:grpSpPr bwMode="auto">
          <a:xfrm>
            <a:off x="2580810" y="2058209"/>
            <a:ext cx="8025213" cy="1135061"/>
            <a:chOff x="340" y="527"/>
            <a:chExt cx="5998" cy="715"/>
          </a:xfrm>
        </p:grpSpPr>
        <p:sp>
          <p:nvSpPr>
            <p:cNvPr id="20" name="Text Box 45"/>
            <p:cNvSpPr txBox="1">
              <a:spLocks noChangeArrowheads="1"/>
            </p:cNvSpPr>
            <p:nvPr/>
          </p:nvSpPr>
          <p:spPr bwMode="auto">
            <a:xfrm>
              <a:off x="340" y="527"/>
              <a:ext cx="5998"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由第四章知识知可将      分解成为</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个互相独立、服从同一</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 分布的诸随机变量 </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之和，</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1" name="Object 46"/>
            <p:cNvGraphicFramePr>
              <a:graphicFrameLocks noChangeAspect="1"/>
            </p:cNvGraphicFramePr>
            <p:nvPr/>
          </p:nvGraphicFramePr>
          <p:xfrm>
            <a:off x="2488" y="527"/>
            <a:ext cx="345" cy="424"/>
          </p:xfrm>
          <a:graphic>
            <a:graphicData uri="http://schemas.openxmlformats.org/presentationml/2006/ole">
              <mc:AlternateContent xmlns:mc="http://schemas.openxmlformats.org/markup-compatibility/2006">
                <mc:Choice xmlns:v="urn:schemas-microsoft-com:vml" Requires="v">
                  <p:oleObj spid="_x0000_s333850" name="Equation" r:id="rId1" imgW="4267200" imgH="5486400" progId="Equation.DSMT4">
                    <p:embed/>
                  </p:oleObj>
                </mc:Choice>
                <mc:Fallback>
                  <p:oleObj name="Equation" r:id="rId1" imgW="4267200" imgH="5486400" progId="Equation.DSMT4">
                    <p:embed/>
                    <p:pic>
                      <p:nvPicPr>
                        <p:cNvPr id="0" name="Object 46"/>
                        <p:cNvPicPr>
                          <a:picLocks noChangeAspect="1" noChangeArrowheads="1"/>
                        </p:cNvPicPr>
                        <p:nvPr/>
                      </p:nvPicPr>
                      <p:blipFill>
                        <a:blip r:embed="rId2"/>
                        <a:srcRect/>
                        <a:stretch>
                          <a:fillRect/>
                        </a:stretch>
                      </p:blipFill>
                      <p:spPr bwMode="auto">
                        <a:xfrm>
                          <a:off x="2488" y="527"/>
                          <a:ext cx="345" cy="424"/>
                        </a:xfrm>
                        <a:prstGeom prst="rect">
                          <a:avLst/>
                        </a:prstGeom>
                        <a:noFill/>
                        <a:ln>
                          <a:noFill/>
                        </a:ln>
                        <a:effectLst/>
                      </p:spPr>
                    </p:pic>
                  </p:oleObj>
                </mc:Fallback>
              </mc:AlternateContent>
            </a:graphicData>
          </a:graphic>
        </p:graphicFrame>
      </p:grpSp>
      <p:grpSp>
        <p:nvGrpSpPr>
          <p:cNvPr id="2" name="组合 1"/>
          <p:cNvGrpSpPr/>
          <p:nvPr/>
        </p:nvGrpSpPr>
        <p:grpSpPr>
          <a:xfrm>
            <a:off x="2592016" y="3220689"/>
            <a:ext cx="4566165" cy="998538"/>
            <a:chOff x="2592016" y="3220689"/>
            <a:chExt cx="4566165" cy="998538"/>
          </a:xfrm>
        </p:grpSpPr>
        <p:graphicFrame>
          <p:nvGraphicFramePr>
            <p:cNvPr id="17459" name="Object 51"/>
            <p:cNvGraphicFramePr>
              <a:graphicFrameLocks noChangeAspect="1"/>
            </p:cNvGraphicFramePr>
            <p:nvPr/>
          </p:nvGraphicFramePr>
          <p:xfrm>
            <a:off x="5454794" y="3220689"/>
            <a:ext cx="1703387" cy="998538"/>
          </p:xfrm>
          <a:graphic>
            <a:graphicData uri="http://schemas.openxmlformats.org/presentationml/2006/ole">
              <mc:AlternateContent xmlns:mc="http://schemas.openxmlformats.org/markup-compatibility/2006">
                <mc:Choice xmlns:v="urn:schemas-microsoft-com:vml" Requires="v">
                  <p:oleObj spid="_x0000_s333851" name="Equation" r:id="rId3" imgW="17678400" imgH="10363200" progId="Equation.DSMT4">
                    <p:embed/>
                  </p:oleObj>
                </mc:Choice>
                <mc:Fallback>
                  <p:oleObj name="Equation" r:id="rId3" imgW="17678400" imgH="10363200" progId="Equation.DSMT4">
                    <p:embed/>
                    <p:pic>
                      <p:nvPicPr>
                        <p:cNvPr id="0" name="Object 51"/>
                        <p:cNvPicPr>
                          <a:picLocks noChangeAspect="1" noChangeArrowheads="1"/>
                        </p:cNvPicPr>
                        <p:nvPr/>
                      </p:nvPicPr>
                      <p:blipFill>
                        <a:blip r:embed="rId4"/>
                        <a:srcRect/>
                        <a:stretch>
                          <a:fillRect/>
                        </a:stretch>
                      </p:blipFill>
                      <p:spPr bwMode="auto">
                        <a:xfrm>
                          <a:off x="5454794" y="3220689"/>
                          <a:ext cx="1703387" cy="998538"/>
                        </a:xfrm>
                        <a:prstGeom prst="rect">
                          <a:avLst/>
                        </a:prstGeom>
                        <a:noFill/>
                        <a:ln>
                          <a:noFill/>
                        </a:ln>
                        <a:effectLst/>
                      </p:spPr>
                    </p:pic>
                  </p:oleObj>
                </mc:Fallback>
              </mc:AlternateContent>
            </a:graphicData>
          </a:graphic>
        </p:graphicFrame>
        <p:sp>
          <p:nvSpPr>
            <p:cNvPr id="23" name="Text Box 45"/>
            <p:cNvSpPr txBox="1">
              <a:spLocks noChangeArrowheads="1"/>
            </p:cNvSpPr>
            <p:nvPr/>
          </p:nvSpPr>
          <p:spPr bwMode="auto">
            <a:xfrm>
              <a:off x="2592016" y="3374219"/>
              <a:ext cx="897389" cy="58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即有</a:t>
              </a:r>
              <a:endPar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5" name="Text Box 45"/>
          <p:cNvSpPr txBox="1">
            <a:spLocks noChangeArrowheads="1"/>
          </p:cNvSpPr>
          <p:nvPr/>
        </p:nvSpPr>
        <p:spPr bwMode="auto">
          <a:xfrm>
            <a:off x="1703512" y="4136192"/>
            <a:ext cx="8902511" cy="1215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其中</a:t>
            </a:r>
            <a:r>
              <a:rPr lang="en-US" altLang="zh-CN" sz="2400" b="1" i="1" dirty="0" err="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=1,2,…,</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的分布律为</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                                   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i="1" baseline="30000"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baseline="30000" dirty="0">
                <a:latin typeface="Times New Roman" panose="02020603050405020304" pitchFamily="18" charset="0"/>
                <a:ea typeface="微软雅黑" panose="020B0503020204020204" pitchFamily="34" charset="-122"/>
                <a:sym typeface="Times New Roman" panose="02020603050405020304" pitchFamily="18" charset="0"/>
              </a:rPr>
              <a:t>1-i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=0,1</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Text Box 42"/>
          <p:cNvSpPr txBox="1">
            <a:spLocks noChangeArrowheads="1"/>
          </p:cNvSpPr>
          <p:nvPr/>
        </p:nvSpPr>
        <p:spPr bwMode="auto">
          <a:xfrm>
            <a:off x="1309305" y="1355209"/>
            <a:ext cx="76946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6(</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棣莫佛－拉普拉斯（</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De Laplace</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endPar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457"/>
                                        </p:tgtEl>
                                        <p:attrNameLst>
                                          <p:attrName>style.visibility</p:attrName>
                                        </p:attrNameLst>
                                      </p:cBhvr>
                                      <p:to>
                                        <p:strVal val="visible"/>
                                      </p:to>
                                    </p:set>
                                    <p:animEffect transition="in" filter="wipe(down)">
                                      <p:cBhvr>
                                        <p:cTn id="7" dur="500"/>
                                        <p:tgtEl>
                                          <p:spTgt spid="174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7" grpId="0"/>
      <p:bldP spid="2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212" name="Group 4"/>
          <p:cNvGrpSpPr/>
          <p:nvPr/>
        </p:nvGrpSpPr>
        <p:grpSpPr bwMode="auto">
          <a:xfrm>
            <a:off x="1729224" y="3850948"/>
            <a:ext cx="9020175" cy="1189038"/>
            <a:chOff x="476" y="2341"/>
            <a:chExt cx="5682" cy="749"/>
          </a:xfrm>
        </p:grpSpPr>
        <p:sp>
          <p:nvSpPr>
            <p:cNvPr id="94213" name="Rectangle 5"/>
            <p:cNvSpPr>
              <a:spLocks noChangeArrowheads="1"/>
            </p:cNvSpPr>
            <p:nvPr/>
          </p:nvSpPr>
          <p:spPr bwMode="auto">
            <a:xfrm>
              <a:off x="476" y="2341"/>
              <a:ext cx="5682"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定理表明</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很大，</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0&lt;</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&lt;1</a:t>
              </a:r>
              <a:r>
                <a:rPr lang="zh-CN"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是一个定值时（或者说，</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也不太小时），</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二项变量      的分布近似正态分布 </a:t>
              </a:r>
              <a:r>
                <a:rPr lang="en-US" altLang="zh-CN" sz="24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24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4214" name="Object 6"/>
            <p:cNvGraphicFramePr>
              <a:graphicFrameLocks noChangeAspect="1"/>
            </p:cNvGraphicFramePr>
            <p:nvPr/>
          </p:nvGraphicFramePr>
          <p:xfrm>
            <a:off x="2635" y="2676"/>
            <a:ext cx="335" cy="414"/>
          </p:xfrm>
          <a:graphic>
            <a:graphicData uri="http://schemas.openxmlformats.org/presentationml/2006/ole">
              <mc:AlternateContent xmlns:mc="http://schemas.openxmlformats.org/markup-compatibility/2006">
                <mc:Choice xmlns:v="urn:schemas-microsoft-com:vml" Requires="v">
                  <p:oleObj spid="_x0000_s334898" name="Equation" r:id="rId1" imgW="4267200" imgH="5486400" progId="Equation.DSMT4">
                    <p:embed/>
                  </p:oleObj>
                </mc:Choice>
                <mc:Fallback>
                  <p:oleObj name="Equation" r:id="rId1" imgW="4267200" imgH="5486400" progId="Equation.DSMT4">
                    <p:embed/>
                    <p:pic>
                      <p:nvPicPr>
                        <p:cNvPr id="0" name="Object 6"/>
                        <p:cNvPicPr>
                          <a:picLocks noChangeAspect="1" noChangeArrowheads="1"/>
                        </p:cNvPicPr>
                        <p:nvPr/>
                      </p:nvPicPr>
                      <p:blipFill>
                        <a:blip r:embed="rId2"/>
                        <a:srcRect/>
                        <a:stretch>
                          <a:fillRect/>
                        </a:stretch>
                      </p:blipFill>
                      <p:spPr bwMode="auto">
                        <a:xfrm>
                          <a:off x="2635" y="2676"/>
                          <a:ext cx="335" cy="414"/>
                        </a:xfrm>
                        <a:prstGeom prst="rect">
                          <a:avLst/>
                        </a:prstGeom>
                        <a:noFill/>
                        <a:ln>
                          <a:noFill/>
                        </a:ln>
                        <a:effectLst/>
                      </p:spPr>
                    </p:pic>
                  </p:oleObj>
                </mc:Fallback>
              </mc:AlternateContent>
            </a:graphicData>
          </a:graphic>
        </p:graphicFrame>
      </p:grpSp>
      <p:graphicFrame>
        <p:nvGraphicFramePr>
          <p:cNvPr id="94217" name="Object 9"/>
          <p:cNvGraphicFramePr>
            <a:graphicFrameLocks noChangeAspect="1"/>
          </p:cNvGraphicFramePr>
          <p:nvPr/>
        </p:nvGraphicFramePr>
        <p:xfrm>
          <a:off x="2279576" y="2101623"/>
          <a:ext cx="4920828" cy="1398465"/>
        </p:xfrm>
        <a:graphic>
          <a:graphicData uri="http://schemas.openxmlformats.org/presentationml/2006/ole">
            <mc:AlternateContent xmlns:mc="http://schemas.openxmlformats.org/markup-compatibility/2006">
              <mc:Choice xmlns:v="urn:schemas-microsoft-com:vml" Requires="v">
                <p:oleObj spid="_x0000_s334899" name="Equation" r:id="rId3" imgW="69799200" imgH="15849600" progId="Equation.DSMT4">
                  <p:embed/>
                </p:oleObj>
              </mc:Choice>
              <mc:Fallback>
                <p:oleObj name="Equation" r:id="rId3" imgW="69799200" imgH="15849600" progId="Equation.DSMT4">
                  <p:embed/>
                  <p:pic>
                    <p:nvPicPr>
                      <p:cNvPr id="0" name="Object 9"/>
                      <p:cNvPicPr>
                        <a:picLocks noChangeAspect="1" noChangeArrowheads="1"/>
                      </p:cNvPicPr>
                      <p:nvPr/>
                    </p:nvPicPr>
                    <p:blipFill>
                      <a:blip r:embed="rId4"/>
                      <a:srcRect/>
                      <a:stretch>
                        <a:fillRect/>
                      </a:stretch>
                    </p:blipFill>
                    <p:spPr bwMode="auto">
                      <a:xfrm>
                        <a:off x="2279576" y="2101623"/>
                        <a:ext cx="4920828" cy="1398465"/>
                      </a:xfrm>
                      <a:prstGeom prst="rect">
                        <a:avLst/>
                      </a:prstGeom>
                      <a:noFill/>
                      <a:ln>
                        <a:noFill/>
                      </a:ln>
                      <a:effectLst/>
                    </p:spPr>
                  </p:pic>
                </p:oleObj>
              </mc:Fallback>
            </mc:AlternateContent>
          </a:graphicData>
        </a:graphic>
      </p:graphicFrame>
      <p:graphicFrame>
        <p:nvGraphicFramePr>
          <p:cNvPr id="94218" name="Object 10"/>
          <p:cNvGraphicFramePr>
            <a:graphicFrameLocks noChangeAspect="1"/>
          </p:cNvGraphicFramePr>
          <p:nvPr/>
        </p:nvGraphicFramePr>
        <p:xfrm>
          <a:off x="7320136" y="2345151"/>
          <a:ext cx="3581759" cy="1123376"/>
        </p:xfrm>
        <a:graphic>
          <a:graphicData uri="http://schemas.openxmlformats.org/presentationml/2006/ole">
            <mc:AlternateContent xmlns:mc="http://schemas.openxmlformats.org/markup-compatibility/2006">
              <mc:Choice xmlns:v="urn:schemas-microsoft-com:vml" Requires="v">
                <p:oleObj spid="_x0000_s334900" name="Equation" r:id="rId5" imgW="35966400" imgH="11277600" progId="Equation.DSMT4">
                  <p:embed/>
                </p:oleObj>
              </mc:Choice>
              <mc:Fallback>
                <p:oleObj name="Equation" r:id="rId5" imgW="35966400" imgH="11277600" progId="Equation.DSMT4">
                  <p:embed/>
                  <p:pic>
                    <p:nvPicPr>
                      <p:cNvPr id="0" name="Object 10"/>
                      <p:cNvPicPr>
                        <a:picLocks noChangeAspect="1" noChangeArrowheads="1"/>
                      </p:cNvPicPr>
                      <p:nvPr/>
                    </p:nvPicPr>
                    <p:blipFill>
                      <a:blip r:embed="rId6"/>
                      <a:srcRect/>
                      <a:stretch>
                        <a:fillRect/>
                      </a:stretch>
                    </p:blipFill>
                    <p:spPr bwMode="auto">
                      <a:xfrm>
                        <a:off x="7320136" y="2345151"/>
                        <a:ext cx="3581759" cy="1123376"/>
                      </a:xfrm>
                      <a:prstGeom prst="rect">
                        <a:avLst/>
                      </a:prstGeom>
                      <a:noFill/>
                      <a:ln>
                        <a:noFill/>
                      </a:ln>
                      <a:effectLst/>
                    </p:spPr>
                  </p:pic>
                </p:oleObj>
              </mc:Fallback>
            </mc:AlternateContent>
          </a:graphicData>
        </a:graphic>
      </p:graphicFrame>
      <p:grpSp>
        <p:nvGrpSpPr>
          <p:cNvPr id="2" name="组合 1"/>
          <p:cNvGrpSpPr/>
          <p:nvPr/>
        </p:nvGrpSpPr>
        <p:grpSpPr>
          <a:xfrm>
            <a:off x="3171094" y="5301208"/>
            <a:ext cx="5613763" cy="1032880"/>
            <a:chOff x="3171094" y="5301208"/>
            <a:chExt cx="5613763" cy="1032880"/>
          </a:xfrm>
        </p:grpSpPr>
        <p:graphicFrame>
          <p:nvGraphicFramePr>
            <p:cNvPr id="94222" name="Object 14"/>
            <p:cNvGraphicFramePr>
              <a:graphicFrameLocks noChangeAspect="1"/>
            </p:cNvGraphicFramePr>
            <p:nvPr/>
          </p:nvGraphicFramePr>
          <p:xfrm>
            <a:off x="4295800" y="5301208"/>
            <a:ext cx="4489057" cy="1032880"/>
          </p:xfrm>
          <a:graphic>
            <a:graphicData uri="http://schemas.openxmlformats.org/presentationml/2006/ole">
              <mc:AlternateContent xmlns:mc="http://schemas.openxmlformats.org/markup-compatibility/2006">
                <mc:Choice xmlns:v="urn:schemas-microsoft-com:vml" Requires="v">
                  <p:oleObj spid="_x0000_s334901" name="Equation" r:id="rId7" imgW="34442400" imgH="7924800" progId="Equation.DSMT4">
                    <p:embed/>
                  </p:oleObj>
                </mc:Choice>
                <mc:Fallback>
                  <p:oleObj name="Equation" r:id="rId7" imgW="34442400" imgH="7924800" progId="Equation.DSMT4">
                    <p:embed/>
                    <p:pic>
                      <p:nvPicPr>
                        <p:cNvPr id="0" name="Object 14"/>
                        <p:cNvPicPr>
                          <a:picLocks noChangeAspect="1" noChangeArrowheads="1"/>
                        </p:cNvPicPr>
                        <p:nvPr/>
                      </p:nvPicPr>
                      <p:blipFill>
                        <a:blip r:embed="rId8"/>
                        <a:srcRect/>
                        <a:stretch>
                          <a:fillRect/>
                        </a:stretch>
                      </p:blipFill>
                      <p:spPr bwMode="auto">
                        <a:xfrm>
                          <a:off x="4295800" y="5301208"/>
                          <a:ext cx="4489057" cy="1032880"/>
                        </a:xfrm>
                        <a:prstGeom prst="rect">
                          <a:avLst/>
                        </a:prstGeom>
                        <a:noFill/>
                        <a:ln>
                          <a:noFill/>
                        </a:ln>
                        <a:effectLst/>
                      </p:spPr>
                    </p:pic>
                  </p:oleObj>
                </mc:Fallback>
              </mc:AlternateContent>
            </a:graphicData>
          </a:graphic>
        </p:graphicFrame>
        <p:sp>
          <p:nvSpPr>
            <p:cNvPr id="94223" name="Text Box 15"/>
            <p:cNvSpPr txBox="1">
              <a:spLocks noChangeArrowheads="1"/>
            </p:cNvSpPr>
            <p:nvPr/>
          </p:nvSpPr>
          <p:spPr bwMode="auto">
            <a:xfrm>
              <a:off x="3171094" y="565910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3" name="矩形 2"/>
          <p:cNvSpPr/>
          <p:nvPr/>
        </p:nvSpPr>
        <p:spPr>
          <a:xfrm>
            <a:off x="1729224" y="1846990"/>
            <a:ext cx="1596912" cy="461665"/>
          </a:xfrm>
          <a:prstGeom prst="rect">
            <a:avLst/>
          </a:prstGeom>
        </p:spPr>
        <p:txBody>
          <a:bodyPr wrap="none">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由定理</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4</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得</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2338904" y="1195982"/>
            <a:ext cx="7069564" cy="523220"/>
          </a:xfrm>
          <a:prstGeom prst="rect">
            <a:avLst/>
          </a:prstGeom>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由于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rPr>
              <a:t>X</a:t>
            </a:r>
            <a:r>
              <a:rPr lang="en-US" altLang="zh-CN" sz="2800" b="1" i="1" baseline="-25000" dirty="0" err="1">
                <a:solidFill>
                  <a:schemeClr val="tx1">
                    <a:lumMod val="85000"/>
                    <a:lumOff val="15000"/>
                  </a:schemeClr>
                </a:solidFill>
                <a:latin typeface="Times New Roman" panose="02020603050405020304" pitchFamily="18" charset="0"/>
                <a:ea typeface="微软雅黑" panose="020B0503020204020204" pitchFamily="34" charset="-122"/>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p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rPr>
              <a:t>X</a:t>
            </a:r>
            <a:r>
              <a:rPr lang="en-US" altLang="zh-CN" sz="2800" b="1" i="1" baseline="-25000" dirty="0" err="1">
                <a:solidFill>
                  <a:schemeClr val="tx1">
                    <a:lumMod val="85000"/>
                    <a:lumOff val="15000"/>
                  </a:schemeClr>
                </a:solidFill>
                <a:latin typeface="Times New Roman" panose="02020603050405020304" pitchFamily="18" charset="0"/>
                <a:ea typeface="微软雅黑" panose="020B0503020204020204" pitchFamily="34" charset="-122"/>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p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(1-</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=1,2,…,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16" name="直接连接符 1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8" name="组合 17"/>
          <p:cNvGrpSpPr/>
          <p:nvPr/>
        </p:nvGrpSpPr>
        <p:grpSpPr>
          <a:xfrm>
            <a:off x="851761" y="364781"/>
            <a:ext cx="263341" cy="395013"/>
            <a:chOff x="5284519" y="1508166"/>
            <a:chExt cx="213756" cy="427512"/>
          </a:xfrm>
        </p:grpSpPr>
        <p:cxnSp>
          <p:nvCxnSpPr>
            <p:cNvPr id="19" name="直接连接符 1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0" name="直接连接符 1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4217"/>
                                        </p:tgtEl>
                                        <p:attrNameLst>
                                          <p:attrName>style.visibility</p:attrName>
                                        </p:attrNameLst>
                                      </p:cBhvr>
                                      <p:to>
                                        <p:strVal val="visible"/>
                                      </p:to>
                                    </p:set>
                                    <p:anim calcmode="lin" valueType="num">
                                      <p:cBhvr additive="base">
                                        <p:cTn id="7" dur="500" fill="hold"/>
                                        <p:tgtEl>
                                          <p:spTgt spid="94217"/>
                                        </p:tgtEl>
                                        <p:attrNameLst>
                                          <p:attrName>ppt_x</p:attrName>
                                        </p:attrNameLst>
                                      </p:cBhvr>
                                      <p:tavLst>
                                        <p:tav tm="0">
                                          <p:val>
                                            <p:strVal val="0-#ppt_w/2"/>
                                          </p:val>
                                        </p:tav>
                                        <p:tav tm="100000">
                                          <p:val>
                                            <p:strVal val="#ppt_x"/>
                                          </p:val>
                                        </p:tav>
                                      </p:tavLst>
                                    </p:anim>
                                    <p:anim calcmode="lin" valueType="num">
                                      <p:cBhvr additive="base">
                                        <p:cTn id="8" dur="500" fill="hold"/>
                                        <p:tgtEl>
                                          <p:spTgt spid="942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4218"/>
                                        </p:tgtEl>
                                        <p:attrNameLst>
                                          <p:attrName>style.visibility</p:attrName>
                                        </p:attrNameLst>
                                      </p:cBhvr>
                                      <p:to>
                                        <p:strVal val="visible"/>
                                      </p:to>
                                    </p:set>
                                    <p:anim calcmode="lin" valueType="num">
                                      <p:cBhvr additive="base">
                                        <p:cTn id="13" dur="500" fill="hold"/>
                                        <p:tgtEl>
                                          <p:spTgt spid="94218"/>
                                        </p:tgtEl>
                                        <p:attrNameLst>
                                          <p:attrName>ppt_x</p:attrName>
                                        </p:attrNameLst>
                                      </p:cBhvr>
                                      <p:tavLst>
                                        <p:tav tm="0">
                                          <p:val>
                                            <p:strVal val="1+#ppt_w/2"/>
                                          </p:val>
                                        </p:tav>
                                        <p:tav tm="100000">
                                          <p:val>
                                            <p:strVal val="#ppt_x"/>
                                          </p:val>
                                        </p:tav>
                                      </p:tavLst>
                                    </p:anim>
                                    <p:anim calcmode="lin" valueType="num">
                                      <p:cBhvr additive="base">
                                        <p:cTn id="14" dur="500" fill="hold"/>
                                        <p:tgtEl>
                                          <p:spTgt spid="9421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4212"/>
                                        </p:tgtEl>
                                        <p:attrNameLst>
                                          <p:attrName>style.visibility</p:attrName>
                                        </p:attrNameLst>
                                      </p:cBhvr>
                                      <p:to>
                                        <p:strVal val="visible"/>
                                      </p:to>
                                    </p:set>
                                    <p:animEffect transition="in" filter="wipe(left)">
                                      <p:cBhvr>
                                        <p:cTn id="19" dur="500"/>
                                        <p:tgtEl>
                                          <p:spTgt spid="94212"/>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arn(inVertic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4"/>
          <p:cNvSpPr>
            <a:spLocks noChangeArrowheads="1"/>
          </p:cNvSpPr>
          <p:nvPr/>
        </p:nvSpPr>
        <p:spPr bwMode="auto">
          <a:xfrm>
            <a:off x="1155734" y="1131617"/>
            <a:ext cx="9692794"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中心极限定理的客观背景</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 name="组合 2"/>
          <p:cNvGrpSpPr/>
          <p:nvPr/>
        </p:nvGrpSpPr>
        <p:grpSpPr>
          <a:xfrm>
            <a:off x="1033757" y="2310891"/>
            <a:ext cx="4495800" cy="2593033"/>
            <a:chOff x="1631950" y="1701800"/>
            <a:chExt cx="4495800" cy="2593033"/>
          </a:xfrm>
        </p:grpSpPr>
        <p:grpSp>
          <p:nvGrpSpPr>
            <p:cNvPr id="2" name="组合 1"/>
            <p:cNvGrpSpPr/>
            <p:nvPr/>
          </p:nvGrpSpPr>
          <p:grpSpPr>
            <a:xfrm>
              <a:off x="1631950" y="1701800"/>
              <a:ext cx="4495800" cy="1905000"/>
              <a:chOff x="1631950" y="1701800"/>
              <a:chExt cx="4495800" cy="1905000"/>
            </a:xfrm>
          </p:grpSpPr>
          <p:sp>
            <p:nvSpPr>
              <p:cNvPr id="95241" name="Line 9"/>
              <p:cNvSpPr>
                <a:spLocks noChangeShapeType="1"/>
              </p:cNvSpPr>
              <p:nvPr/>
            </p:nvSpPr>
            <p:spPr bwMode="auto">
              <a:xfrm>
                <a:off x="1631950" y="3454400"/>
                <a:ext cx="44958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2" name="Line 10"/>
              <p:cNvSpPr>
                <a:spLocks noChangeShapeType="1"/>
              </p:cNvSpPr>
              <p:nvPr/>
            </p:nvSpPr>
            <p:spPr bwMode="auto">
              <a:xfrm flipV="1">
                <a:off x="1936750" y="1701800"/>
                <a:ext cx="0" cy="19050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3" name="Line 11"/>
              <p:cNvSpPr>
                <a:spLocks noChangeShapeType="1"/>
              </p:cNvSpPr>
              <p:nvPr/>
            </p:nvSpPr>
            <p:spPr bwMode="auto">
              <a:xfrm>
                <a:off x="4146550" y="2540000"/>
                <a:ext cx="0" cy="9144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4" name="Line 12"/>
              <p:cNvSpPr>
                <a:spLocks noChangeShapeType="1"/>
              </p:cNvSpPr>
              <p:nvPr/>
            </p:nvSpPr>
            <p:spPr bwMode="auto">
              <a:xfrm>
                <a:off x="3994150" y="2692400"/>
                <a:ext cx="0" cy="7620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5" name="Line 13"/>
              <p:cNvSpPr>
                <a:spLocks noChangeShapeType="1"/>
              </p:cNvSpPr>
              <p:nvPr/>
            </p:nvSpPr>
            <p:spPr bwMode="auto">
              <a:xfrm>
                <a:off x="4298950" y="2616200"/>
                <a:ext cx="0" cy="8382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6" name="Line 14"/>
              <p:cNvSpPr>
                <a:spLocks noChangeShapeType="1"/>
              </p:cNvSpPr>
              <p:nvPr/>
            </p:nvSpPr>
            <p:spPr bwMode="auto">
              <a:xfrm>
                <a:off x="3841750" y="2921000"/>
                <a:ext cx="0" cy="5334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7" name="Line 15"/>
              <p:cNvSpPr>
                <a:spLocks noChangeShapeType="1"/>
              </p:cNvSpPr>
              <p:nvPr/>
            </p:nvSpPr>
            <p:spPr bwMode="auto">
              <a:xfrm>
                <a:off x="3689350" y="3073400"/>
                <a:ext cx="0" cy="3810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8" name="Line 16"/>
              <p:cNvSpPr>
                <a:spLocks noChangeShapeType="1"/>
              </p:cNvSpPr>
              <p:nvPr/>
            </p:nvSpPr>
            <p:spPr bwMode="auto">
              <a:xfrm>
                <a:off x="3536950" y="3225800"/>
                <a:ext cx="0" cy="2286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9" name="Line 17"/>
              <p:cNvSpPr>
                <a:spLocks noChangeShapeType="1"/>
              </p:cNvSpPr>
              <p:nvPr/>
            </p:nvSpPr>
            <p:spPr bwMode="auto">
              <a:xfrm>
                <a:off x="4451350" y="2844800"/>
                <a:ext cx="0" cy="6096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0" name="Line 18"/>
              <p:cNvSpPr>
                <a:spLocks noChangeShapeType="1"/>
              </p:cNvSpPr>
              <p:nvPr/>
            </p:nvSpPr>
            <p:spPr bwMode="auto">
              <a:xfrm>
                <a:off x="4603750" y="3149600"/>
                <a:ext cx="0" cy="3048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1" name="Line 19"/>
              <p:cNvSpPr>
                <a:spLocks noChangeShapeType="1"/>
              </p:cNvSpPr>
              <p:nvPr/>
            </p:nvSpPr>
            <p:spPr bwMode="auto">
              <a:xfrm>
                <a:off x="4756150" y="3302000"/>
                <a:ext cx="0" cy="1524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2" name="Line 20"/>
              <p:cNvSpPr>
                <a:spLocks noChangeShapeType="1"/>
              </p:cNvSpPr>
              <p:nvPr/>
            </p:nvSpPr>
            <p:spPr bwMode="auto">
              <a:xfrm>
                <a:off x="3384550" y="3378200"/>
                <a:ext cx="0" cy="762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3" name="Line 21"/>
              <p:cNvSpPr>
                <a:spLocks noChangeShapeType="1"/>
              </p:cNvSpPr>
              <p:nvPr/>
            </p:nvSpPr>
            <p:spPr bwMode="auto">
              <a:xfrm>
                <a:off x="4908550" y="3378200"/>
                <a:ext cx="0" cy="762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95254" name="Rectangle 22"/>
            <p:cNvSpPr>
              <a:spLocks noChangeArrowheads="1"/>
            </p:cNvSpPr>
            <p:nvPr/>
          </p:nvSpPr>
          <p:spPr bwMode="auto">
            <a:xfrm>
              <a:off x="1852613" y="3833168"/>
              <a:ext cx="3980577" cy="4616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20</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分布的和的分布</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95255" name="Group 23"/>
          <p:cNvGrpSpPr/>
          <p:nvPr/>
        </p:nvGrpSpPr>
        <p:grpSpPr bwMode="auto">
          <a:xfrm>
            <a:off x="6675733" y="5137156"/>
            <a:ext cx="3340100" cy="1125538"/>
            <a:chOff x="3078" y="2495"/>
            <a:chExt cx="2104" cy="709"/>
          </a:xfrm>
        </p:grpSpPr>
        <p:sp>
          <p:nvSpPr>
            <p:cNvPr id="95256" name="Rectangle 24"/>
            <p:cNvSpPr>
              <a:spLocks noChangeArrowheads="1"/>
            </p:cNvSpPr>
            <p:nvPr/>
          </p:nvSpPr>
          <p:spPr bwMode="auto">
            <a:xfrm>
              <a:off x="3078" y="2495"/>
              <a:ext cx="734" cy="291"/>
            </a:xfrm>
            <a:prstGeom prst="rect">
              <a:avLst/>
            </a:prstGeom>
            <a:solidFill>
              <a:srgbClr val="C00000"/>
            </a:solidFill>
            <a:ln w="9525">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f</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7" name="Rectangle 25"/>
            <p:cNvSpPr>
              <a:spLocks noChangeArrowheads="1"/>
            </p:cNvSpPr>
            <p:nvPr/>
          </p:nvSpPr>
          <p:spPr bwMode="auto">
            <a:xfrm>
              <a:off x="4111" y="2495"/>
              <a:ext cx="1071" cy="291"/>
            </a:xfrm>
            <a:prstGeom prst="rect">
              <a:avLst/>
            </a:prstGeom>
            <a:solidFill>
              <a:srgbClr val="C00000"/>
            </a:solidFill>
            <a:ln w="9525">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g</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8" name="Rectangle 26"/>
            <p:cNvSpPr>
              <a:spLocks noChangeArrowheads="1"/>
            </p:cNvSpPr>
            <p:nvPr/>
          </p:nvSpPr>
          <p:spPr bwMode="auto">
            <a:xfrm>
              <a:off x="3351" y="2913"/>
              <a:ext cx="1434" cy="291"/>
            </a:xfrm>
            <a:prstGeom prst="rect">
              <a:avLst/>
            </a:prstGeom>
            <a:solidFill>
              <a:srgbClr val="C00000"/>
            </a:solidFill>
            <a:ln w="9525">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95260" name="Rectangle 28"/>
          <p:cNvSpPr>
            <a:spLocks noChangeArrowheads="1"/>
          </p:cNvSpPr>
          <p:nvPr/>
        </p:nvSpPr>
        <p:spPr bwMode="auto">
          <a:xfrm>
            <a:off x="5834357" y="4444491"/>
            <a:ext cx="4445000" cy="4572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几个</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上均匀分布的和的分布</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3" name="Line 31"/>
          <p:cNvSpPr>
            <a:spLocks noChangeShapeType="1"/>
          </p:cNvSpPr>
          <p:nvPr/>
        </p:nvSpPr>
        <p:spPr bwMode="auto">
          <a:xfrm>
            <a:off x="6445545" y="3779329"/>
            <a:ext cx="3286125"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4" name="Line 32"/>
          <p:cNvSpPr>
            <a:spLocks noChangeShapeType="1"/>
          </p:cNvSpPr>
          <p:nvPr/>
        </p:nvSpPr>
        <p:spPr bwMode="auto">
          <a:xfrm flipV="1">
            <a:off x="6736058" y="2309304"/>
            <a:ext cx="0" cy="15748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5" name="Line 33"/>
          <p:cNvSpPr>
            <a:spLocks noChangeShapeType="1"/>
          </p:cNvSpPr>
          <p:nvPr/>
        </p:nvSpPr>
        <p:spPr bwMode="auto">
          <a:xfrm flipH="1">
            <a:off x="6750345" y="2623629"/>
            <a:ext cx="773113" cy="11557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6" name="Rectangle 34"/>
          <p:cNvSpPr>
            <a:spLocks noChangeArrowheads="1"/>
          </p:cNvSpPr>
          <p:nvPr/>
        </p:nvSpPr>
        <p:spPr bwMode="auto">
          <a:xfrm>
            <a:off x="6645570" y="3757104"/>
            <a:ext cx="339725" cy="46196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0</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7" name="Rectangle 35"/>
          <p:cNvSpPr>
            <a:spLocks noChangeArrowheads="1"/>
          </p:cNvSpPr>
          <p:nvPr/>
        </p:nvSpPr>
        <p:spPr bwMode="auto">
          <a:xfrm>
            <a:off x="7432970" y="3787267"/>
            <a:ext cx="314325" cy="4000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8" name="Rectangle 36"/>
          <p:cNvSpPr>
            <a:spLocks noChangeArrowheads="1"/>
          </p:cNvSpPr>
          <p:nvPr/>
        </p:nvSpPr>
        <p:spPr bwMode="auto">
          <a:xfrm>
            <a:off x="8217195" y="3745992"/>
            <a:ext cx="314325" cy="4000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000" b="1">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9" name="Rectangle 37"/>
          <p:cNvSpPr>
            <a:spLocks noChangeArrowheads="1"/>
          </p:cNvSpPr>
          <p:nvPr/>
        </p:nvSpPr>
        <p:spPr bwMode="auto">
          <a:xfrm>
            <a:off x="8998245" y="3745992"/>
            <a:ext cx="314325" cy="4000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000" b="1">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0" name="Rectangle 38"/>
          <p:cNvSpPr>
            <a:spLocks noChangeArrowheads="1"/>
          </p:cNvSpPr>
          <p:nvPr/>
        </p:nvSpPr>
        <p:spPr bwMode="auto">
          <a:xfrm>
            <a:off x="9860258" y="3539617"/>
            <a:ext cx="311150" cy="3968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000" b="1">
                <a:latin typeface="Times New Roman" panose="02020603050405020304" pitchFamily="18" charset="0"/>
                <a:ea typeface="微软雅黑" panose="020B0503020204020204" pitchFamily="34" charset="-122"/>
                <a:sym typeface="Times New Roman" panose="02020603050405020304" pitchFamily="18" charset="0"/>
              </a:rPr>
              <a:t>x</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1" name="Line 39"/>
          <p:cNvSpPr>
            <a:spLocks noChangeShapeType="1"/>
          </p:cNvSpPr>
          <p:nvPr/>
        </p:nvSpPr>
        <p:spPr bwMode="auto">
          <a:xfrm>
            <a:off x="6750345" y="2614104"/>
            <a:ext cx="762000" cy="0"/>
          </a:xfrm>
          <a:prstGeom prst="line">
            <a:avLst/>
          </a:prstGeom>
          <a:noFill/>
          <a:ln w="28575">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2" name="Line 40"/>
          <p:cNvSpPr>
            <a:spLocks noChangeShapeType="1"/>
          </p:cNvSpPr>
          <p:nvPr/>
        </p:nvSpPr>
        <p:spPr bwMode="auto">
          <a:xfrm>
            <a:off x="7512345" y="2614104"/>
            <a:ext cx="838200" cy="11430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3" name="Freeform 41"/>
          <p:cNvSpPr/>
          <p:nvPr/>
        </p:nvSpPr>
        <p:spPr bwMode="auto">
          <a:xfrm>
            <a:off x="6750345" y="2920492"/>
            <a:ext cx="1219200" cy="838200"/>
          </a:xfrm>
          <a:custGeom>
            <a:avLst/>
            <a:gdLst>
              <a:gd name="T0" fmla="*/ 0 w 768"/>
              <a:gd name="T1" fmla="*/ 528 h 528"/>
              <a:gd name="T2" fmla="*/ 336 w 768"/>
              <a:gd name="T3" fmla="*/ 480 h 528"/>
              <a:gd name="T4" fmla="*/ 576 w 768"/>
              <a:gd name="T5" fmla="*/ 240 h 528"/>
              <a:gd name="T6" fmla="*/ 672 w 768"/>
              <a:gd name="T7" fmla="*/ 48 h 528"/>
              <a:gd name="T8" fmla="*/ 768 w 768"/>
              <a:gd name="T9" fmla="*/ 0 h 528"/>
            </a:gdLst>
            <a:ahLst/>
            <a:cxnLst>
              <a:cxn ang="0">
                <a:pos x="T0" y="T1"/>
              </a:cxn>
              <a:cxn ang="0">
                <a:pos x="T2" y="T3"/>
              </a:cxn>
              <a:cxn ang="0">
                <a:pos x="T4" y="T5"/>
              </a:cxn>
              <a:cxn ang="0">
                <a:pos x="T6" y="T7"/>
              </a:cxn>
              <a:cxn ang="0">
                <a:pos x="T8" y="T9"/>
              </a:cxn>
            </a:cxnLst>
            <a:rect l="0" t="0" r="r" b="b"/>
            <a:pathLst>
              <a:path w="768" h="528">
                <a:moveTo>
                  <a:pt x="0" y="528"/>
                </a:moveTo>
                <a:cubicBezTo>
                  <a:pt x="120" y="528"/>
                  <a:pt x="240" y="528"/>
                  <a:pt x="336" y="480"/>
                </a:cubicBezTo>
                <a:cubicBezTo>
                  <a:pt x="432" y="432"/>
                  <a:pt x="520" y="312"/>
                  <a:pt x="576" y="240"/>
                </a:cubicBezTo>
                <a:cubicBezTo>
                  <a:pt x="632" y="168"/>
                  <a:pt x="640" y="88"/>
                  <a:pt x="672" y="48"/>
                </a:cubicBezTo>
                <a:cubicBezTo>
                  <a:pt x="704" y="8"/>
                  <a:pt x="752" y="8"/>
                  <a:pt x="768" y="0"/>
                </a:cubicBezTo>
              </a:path>
            </a:pathLst>
          </a:custGeom>
          <a:noFill/>
          <a:ln w="28575" cap="flat" cmpd="sng">
            <a:solidFill>
              <a:srgbClr val="C00000"/>
            </a:solidFill>
            <a:prstDash val="solid"/>
            <a:round/>
          </a:ln>
          <a:effectLst/>
          <a:extLst>
            <a:ext uri="{909E8E84-426E-40DD-AFC4-6F175D3DCCD1}">
              <a14:hiddenFill xmlns:a14="http://schemas.microsoft.com/office/drawing/2010/main">
                <a:solidFill>
                  <a:srgbClr val="0000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4" name="Freeform 42"/>
          <p:cNvSpPr/>
          <p:nvPr/>
        </p:nvSpPr>
        <p:spPr bwMode="auto">
          <a:xfrm flipH="1">
            <a:off x="8045745" y="2920492"/>
            <a:ext cx="1219200" cy="838200"/>
          </a:xfrm>
          <a:custGeom>
            <a:avLst/>
            <a:gdLst>
              <a:gd name="T0" fmla="*/ 0 w 768"/>
              <a:gd name="T1" fmla="*/ 528 h 528"/>
              <a:gd name="T2" fmla="*/ 336 w 768"/>
              <a:gd name="T3" fmla="*/ 480 h 528"/>
              <a:gd name="T4" fmla="*/ 576 w 768"/>
              <a:gd name="T5" fmla="*/ 240 h 528"/>
              <a:gd name="T6" fmla="*/ 672 w 768"/>
              <a:gd name="T7" fmla="*/ 48 h 528"/>
              <a:gd name="T8" fmla="*/ 768 w 768"/>
              <a:gd name="T9" fmla="*/ 0 h 528"/>
            </a:gdLst>
            <a:ahLst/>
            <a:cxnLst>
              <a:cxn ang="0">
                <a:pos x="T0" y="T1"/>
              </a:cxn>
              <a:cxn ang="0">
                <a:pos x="T2" y="T3"/>
              </a:cxn>
              <a:cxn ang="0">
                <a:pos x="T4" y="T5"/>
              </a:cxn>
              <a:cxn ang="0">
                <a:pos x="T6" y="T7"/>
              </a:cxn>
              <a:cxn ang="0">
                <a:pos x="T8" y="T9"/>
              </a:cxn>
            </a:cxnLst>
            <a:rect l="0" t="0" r="r" b="b"/>
            <a:pathLst>
              <a:path w="768" h="528">
                <a:moveTo>
                  <a:pt x="0" y="528"/>
                </a:moveTo>
                <a:cubicBezTo>
                  <a:pt x="120" y="528"/>
                  <a:pt x="240" y="528"/>
                  <a:pt x="336" y="480"/>
                </a:cubicBezTo>
                <a:cubicBezTo>
                  <a:pt x="432" y="432"/>
                  <a:pt x="520" y="312"/>
                  <a:pt x="576" y="240"/>
                </a:cubicBezTo>
                <a:cubicBezTo>
                  <a:pt x="632" y="168"/>
                  <a:pt x="640" y="88"/>
                  <a:pt x="672" y="48"/>
                </a:cubicBezTo>
                <a:cubicBezTo>
                  <a:pt x="704" y="8"/>
                  <a:pt x="752" y="8"/>
                  <a:pt x="768" y="0"/>
                </a:cubicBezTo>
              </a:path>
            </a:pathLst>
          </a:custGeom>
          <a:noFill/>
          <a:ln w="28575" cap="flat" cmpd="sng">
            <a:solidFill>
              <a:srgbClr val="C00000"/>
            </a:solidFill>
            <a:prstDash val="solid"/>
            <a:round/>
          </a:ln>
          <a:effectLst/>
          <a:extLst>
            <a:ext uri="{909E8E84-426E-40DD-AFC4-6F175D3DCCD1}">
              <a14:hiddenFill xmlns:a14="http://schemas.microsoft.com/office/drawing/2010/main">
                <a:solidFill>
                  <a:srgbClr val="0000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5" name="Line 43"/>
          <p:cNvSpPr>
            <a:spLocks noChangeShapeType="1"/>
          </p:cNvSpPr>
          <p:nvPr/>
        </p:nvSpPr>
        <p:spPr bwMode="auto">
          <a:xfrm>
            <a:off x="7969545" y="2920492"/>
            <a:ext cx="76200" cy="0"/>
          </a:xfrm>
          <a:prstGeom prst="line">
            <a:avLst/>
          </a:prstGeom>
          <a:noFill/>
          <a:ln w="28575">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6" name="Rectangle 44"/>
          <p:cNvSpPr>
            <a:spLocks noChangeArrowheads="1"/>
          </p:cNvSpPr>
          <p:nvPr/>
        </p:nvSpPr>
        <p:spPr bwMode="auto">
          <a:xfrm>
            <a:off x="6921795" y="2234691"/>
            <a:ext cx="285750" cy="4572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f</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7" name="Rectangle 45"/>
          <p:cNvSpPr>
            <a:spLocks noChangeArrowheads="1"/>
          </p:cNvSpPr>
          <p:nvPr/>
        </p:nvSpPr>
        <p:spPr bwMode="auto">
          <a:xfrm>
            <a:off x="6794795" y="2844291"/>
            <a:ext cx="336550" cy="4572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rPr>
              <a:t>g</a:t>
            </a:r>
            <a:endParaRPr lang="en-US" altLang="zh-CN" sz="2400"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8" name="Rectangle 46"/>
          <p:cNvSpPr>
            <a:spLocks noChangeArrowheads="1"/>
          </p:cNvSpPr>
          <p:nvPr/>
        </p:nvSpPr>
        <p:spPr bwMode="auto">
          <a:xfrm>
            <a:off x="8301333" y="2768091"/>
            <a:ext cx="354013" cy="4572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4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h</a:t>
            </a:r>
            <a:endParaRPr lang="en-US" altLang="zh-CN" sz="24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47" name="直接连接符 4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8" name="矩形 47"/>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49" name="组合 48"/>
          <p:cNvGrpSpPr/>
          <p:nvPr/>
        </p:nvGrpSpPr>
        <p:grpSpPr>
          <a:xfrm>
            <a:off x="851761" y="364781"/>
            <a:ext cx="263341" cy="395013"/>
            <a:chOff x="5284519" y="1508166"/>
            <a:chExt cx="213756" cy="427512"/>
          </a:xfrm>
        </p:grpSpPr>
        <p:cxnSp>
          <p:nvCxnSpPr>
            <p:cNvPr id="50" name="直接连接符 4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1" name="直接连接符 5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5236"/>
                                        </p:tgtEl>
                                        <p:attrNameLst>
                                          <p:attrName>style.visibility</p:attrName>
                                        </p:attrNameLst>
                                      </p:cBhvr>
                                      <p:to>
                                        <p:strVal val="visible"/>
                                      </p:to>
                                    </p:set>
                                    <p:animEffect transition="in" filter="barn(outVertical)">
                                      <p:cBhvr>
                                        <p:cTn id="7" dur="500"/>
                                        <p:tgtEl>
                                          <p:spTgt spid="952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95255"/>
                                        </p:tgtEl>
                                        <p:attrNameLst>
                                          <p:attrName>style.visibility</p:attrName>
                                        </p:attrNameLst>
                                      </p:cBhvr>
                                      <p:to>
                                        <p:strVal val="visible"/>
                                      </p:to>
                                    </p:set>
                                    <p:anim calcmode="lin" valueType="num">
                                      <p:cBhvr additive="base">
                                        <p:cTn id="12" dur="500" fill="hold"/>
                                        <p:tgtEl>
                                          <p:spTgt spid="95255"/>
                                        </p:tgtEl>
                                        <p:attrNameLst>
                                          <p:attrName>ppt_x</p:attrName>
                                        </p:attrNameLst>
                                      </p:cBhvr>
                                      <p:tavLst>
                                        <p:tav tm="0">
                                          <p:val>
                                            <p:strVal val="1+#ppt_w/2"/>
                                          </p:val>
                                        </p:tav>
                                        <p:tav tm="100000">
                                          <p:val>
                                            <p:strVal val="#ppt_x"/>
                                          </p:val>
                                        </p:tav>
                                      </p:tavLst>
                                    </p:anim>
                                    <p:anim calcmode="lin" valueType="num">
                                      <p:cBhvr additive="base">
                                        <p:cTn id="13" dur="500" fill="hold"/>
                                        <p:tgtEl>
                                          <p:spTgt spid="952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 y="2077752"/>
            <a:ext cx="12191998" cy="284166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defTabSz="912495">
              <a:defRPr kumimoji="1" sz="2400">
                <a:solidFill>
                  <a:schemeClr val="tx1"/>
                </a:solidFill>
                <a:latin typeface="Times New Roman" panose="02020603050405020304" pitchFamily="18" charset="0"/>
                <a:ea typeface="宋体" panose="02010600030101010101" pitchFamily="2" charset="-122"/>
              </a:defRPr>
            </a:lvl1pPr>
            <a:lvl2pPr marL="742950" indent="-285750" defTabSz="912495">
              <a:defRPr kumimoji="1" sz="2400">
                <a:solidFill>
                  <a:schemeClr val="tx1"/>
                </a:solidFill>
                <a:latin typeface="Times New Roman" panose="02020603050405020304" pitchFamily="18" charset="0"/>
                <a:ea typeface="宋体" panose="02010600030101010101" pitchFamily="2" charset="-122"/>
              </a:defRPr>
            </a:lvl2pPr>
            <a:lvl3pPr marL="1143000" indent="-228600" defTabSz="912495">
              <a:defRPr kumimoji="1" sz="2400">
                <a:solidFill>
                  <a:schemeClr val="tx1"/>
                </a:solidFill>
                <a:latin typeface="Times New Roman" panose="02020603050405020304" pitchFamily="18" charset="0"/>
                <a:ea typeface="宋体" panose="02010600030101010101" pitchFamily="2" charset="-122"/>
              </a:defRPr>
            </a:lvl3pPr>
            <a:lvl4pPr marL="1600200" indent="-228600" defTabSz="912495">
              <a:defRPr kumimoji="1" sz="2400">
                <a:solidFill>
                  <a:schemeClr val="tx1"/>
                </a:solidFill>
                <a:latin typeface="Times New Roman" panose="02020603050405020304" pitchFamily="18" charset="0"/>
                <a:ea typeface="宋体" panose="02010600030101010101" pitchFamily="2" charset="-122"/>
              </a:defRPr>
            </a:lvl4pPr>
            <a:lvl5pPr marL="2057400" indent="-228600" defTabSz="912495">
              <a:defRPr kumimoji="1" sz="2400">
                <a:solidFill>
                  <a:schemeClr val="tx1"/>
                </a:solidFill>
                <a:latin typeface="Times New Roman" panose="02020603050405020304" pitchFamily="18" charset="0"/>
                <a:ea typeface="宋体" panose="02010600030101010101" pitchFamily="2" charset="-122"/>
              </a:defRPr>
            </a:lvl5pPr>
            <a:lvl6pPr marL="25146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buFontTx/>
              <a:buNone/>
              <a:defRPr/>
            </a:pPr>
            <a:endParaRPr lang="zh-CN" altLang="en-US" sz="1800">
              <a:solidFill>
                <a:srgbClr val="FFFFFF"/>
              </a:solidFill>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886184" y="2495916"/>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grpSp>
      <p:sp>
        <p:nvSpPr>
          <p:cNvPr id="23" name="文本框 22"/>
          <p:cNvSpPr txBox="1">
            <a:spLocks noChangeArrowheads="1"/>
          </p:cNvSpPr>
          <p:nvPr/>
        </p:nvSpPr>
        <p:spPr bwMode="auto">
          <a:xfrm>
            <a:off x="3825875" y="2905125"/>
            <a:ext cx="47879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eaLnBrk="0" hangingPunct="0">
              <a:defRPr sz="2400">
                <a:solidFill>
                  <a:schemeClr val="tx1"/>
                </a:solidFill>
                <a:latin typeface="Times New Roman" panose="02020603050405020304" pitchFamily="18" charset="0"/>
                <a:ea typeface="宋体" panose="02010600030101010101" pitchFamily="2" charset="-122"/>
              </a:defRPr>
            </a:lvl1pPr>
            <a:lvl2pPr defTabSz="913130" eaLnBrk="0" hangingPunct="0">
              <a:defRPr sz="2400">
                <a:solidFill>
                  <a:schemeClr val="tx1"/>
                </a:solidFill>
                <a:latin typeface="Times New Roman" panose="02020603050405020304" pitchFamily="18" charset="0"/>
                <a:ea typeface="宋体" panose="02010600030101010101" pitchFamily="2" charset="-122"/>
              </a:defRPr>
            </a:lvl2pPr>
            <a:lvl3pPr defTabSz="913130" eaLnBrk="0" hangingPunct="0">
              <a:defRPr sz="2400">
                <a:solidFill>
                  <a:schemeClr val="tx1"/>
                </a:solidFill>
                <a:latin typeface="Times New Roman" panose="02020603050405020304" pitchFamily="18" charset="0"/>
                <a:ea typeface="宋体" panose="02010600030101010101" pitchFamily="2" charset="-122"/>
              </a:defRPr>
            </a:lvl3pPr>
            <a:lvl4pPr defTabSz="913130" eaLnBrk="0" hangingPunct="0">
              <a:defRPr sz="2400">
                <a:solidFill>
                  <a:schemeClr val="tx1"/>
                </a:solidFill>
                <a:latin typeface="Times New Roman" panose="02020603050405020304" pitchFamily="18" charset="0"/>
                <a:ea typeface="宋体" panose="02010600030101010101" pitchFamily="2" charset="-122"/>
              </a:defRPr>
            </a:lvl4pPr>
            <a:lvl5pPr defTabSz="913130" eaLnBrk="0" hangingPunct="0">
              <a:defRPr sz="2400">
                <a:solidFill>
                  <a:schemeClr val="tx1"/>
                </a:solidFill>
                <a:latin typeface="Times New Roman" panose="02020603050405020304" pitchFamily="18" charset="0"/>
                <a:ea typeface="宋体" panose="02010600030101010101" pitchFamily="2" charset="-122"/>
              </a:defRPr>
            </a:lvl5pPr>
            <a:lvl6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dist"/>
            <a:r>
              <a:rPr lang="zh-CN" altLang="en-US" sz="6600" b="1">
                <a:solidFill>
                  <a:srgbClr val="F2F2F2"/>
                </a:solidFill>
                <a:cs typeface="Kartika" panose="02020503030404060203" pitchFamily="18" charset="0"/>
                <a:sym typeface="Times New Roman" panose="02020603050405020304" pitchFamily="18" charset="0"/>
              </a:rPr>
              <a:t>谢谢大家</a:t>
            </a:r>
            <a:endParaRPr lang="zh-CN" altLang="en-US" sz="6600" b="1">
              <a:solidFill>
                <a:srgbClr val="F2F2F2"/>
              </a:solidFill>
              <a:cs typeface="Kartika" panose="02020503030404060203" pitchFamily="18" charset="0"/>
              <a:sym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250"/>
                                  </p:stCondLst>
                                  <p:childTnLst>
                                    <p:set>
                                      <p:cBhvr>
                                        <p:cTn id="6" dur="1" fill="hold">
                                          <p:stCondLst>
                                            <p:cond delay="0"/>
                                          </p:stCondLst>
                                        </p:cTn>
                                        <p:tgtEl>
                                          <p:spTgt spid="23"/>
                                        </p:tgtEl>
                                        <p:attrNameLst>
                                          <p:attrName>style.visibility</p:attrName>
                                        </p:attrNameLst>
                                      </p:cBhvr>
                                      <p:to>
                                        <p:strVal val="visible"/>
                                      </p:to>
                                    </p:set>
                                    <p:animScale>
                                      <p:cBhvr>
                                        <p:cTn id="7" dur="15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8" dur="1500" decel="50000" fill="hold">
                                          <p:stCondLst>
                                            <p:cond delay="0"/>
                                          </p:stCondLst>
                                        </p:cTn>
                                        <p:tgtEl>
                                          <p:spTgt spid="23"/>
                                        </p:tgtEl>
                                        <p:attrNameLst>
                                          <p:attrName>ppt_x</p:attrName>
                                          <p:attrName>ppt_y</p:attrName>
                                        </p:attrNameLst>
                                      </p:cBhvr>
                                      <p:rCtr x="0" y="0"/>
                                    </p:animMotion>
                                    <p:animEffect transition="in" filter="fade">
                                      <p:cBhvr>
                                        <p:cTn id="9" dur="1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10"/>
          <p:cNvPicPr>
            <a:picLocks noChangeAspect="1"/>
          </p:cNvPicPr>
          <p:nvPr>
            <p:custDataLst>
              <p:tags r:id="rId1"/>
            </p:custDataLst>
          </p:nvPr>
        </p:nvPicPr>
        <p:blipFill>
          <a:blip r:embed="rId2"/>
          <a:stretch>
            <a:fillRect/>
          </a:stretch>
        </p:blipFill>
        <p:spPr>
          <a:xfrm>
            <a:off x="0" y="-318"/>
            <a:ext cx="12192000" cy="6858000"/>
          </a:xfrm>
          <a:prstGeom prst="rect">
            <a:avLst/>
          </a:prstGeom>
        </p:spPr>
      </p:pic>
      <p:pic>
        <p:nvPicPr>
          <p:cNvPr id="6" name="图片 5" descr="7"/>
          <p:cNvPicPr/>
          <p:nvPr>
            <p:custDataLst>
              <p:tags r:id="rId3"/>
            </p:custDataLst>
          </p:nvPr>
        </p:nvPicPr>
        <p:blipFill>
          <a:blip r:embed="rId4"/>
          <a:srcRect r="-62930" b="-63332"/>
          <a:stretch>
            <a:fillRect/>
          </a:stretch>
        </p:blipFill>
        <p:spPr>
          <a:xfrm>
            <a:off x="2540" y="0"/>
            <a:ext cx="2200038" cy="1987576"/>
          </a:xfrm>
          <a:prstGeom prst="rect">
            <a:avLst/>
          </a:prstGeom>
        </p:spPr>
      </p:pic>
      <p:pic>
        <p:nvPicPr>
          <p:cNvPr id="7" name="图片 6" descr="8"/>
          <p:cNvPicPr/>
          <p:nvPr>
            <p:custDataLst>
              <p:tags r:id="rId5"/>
            </p:custDataLst>
          </p:nvPr>
        </p:nvPicPr>
        <p:blipFill>
          <a:blip r:embed="rId6"/>
          <a:srcRect l="-49681" t="-44755" r="5219"/>
          <a:stretch>
            <a:fillRect/>
          </a:stretch>
        </p:blipFill>
        <p:spPr>
          <a:xfrm>
            <a:off x="9979905" y="4862866"/>
            <a:ext cx="2214635" cy="1995121"/>
          </a:xfrm>
          <a:prstGeom prst="rect">
            <a:avLst/>
          </a:prstGeom>
        </p:spPr>
      </p:pic>
      <p:pic>
        <p:nvPicPr>
          <p:cNvPr id="2" name="图片 1"/>
          <p:cNvPicPr>
            <a:picLocks noChangeAspect="1"/>
          </p:cNvPicPr>
          <p:nvPr>
            <p:custDataLst>
              <p:tags r:id="rId7"/>
            </p:custDataLst>
          </p:nvPr>
        </p:nvPicPr>
        <p:blipFill>
          <a:blip r:embed="rId8"/>
          <a:stretch>
            <a:fillRect/>
          </a:stretch>
        </p:blipFill>
        <p:spPr>
          <a:xfrm>
            <a:off x="1090295" y="893445"/>
            <a:ext cx="10011410" cy="5129530"/>
          </a:xfrm>
          <a:prstGeom prst="rect">
            <a:avLst/>
          </a:prstGeom>
        </p:spPr>
      </p:pic>
    </p:spTree>
    <p:custDataLst>
      <p:tags r:id="rId9"/>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10"/>
          <p:cNvPicPr>
            <a:picLocks noChangeAspect="1"/>
          </p:cNvPicPr>
          <p:nvPr>
            <p:custDataLst>
              <p:tags r:id="rId1"/>
            </p:custDataLst>
          </p:nvPr>
        </p:nvPicPr>
        <p:blipFill>
          <a:blip r:embed="rId2"/>
          <a:stretch>
            <a:fillRect/>
          </a:stretch>
        </p:blipFill>
        <p:spPr>
          <a:xfrm>
            <a:off x="0" y="-318"/>
            <a:ext cx="12192000" cy="6858000"/>
          </a:xfrm>
          <a:prstGeom prst="rect">
            <a:avLst/>
          </a:prstGeom>
        </p:spPr>
      </p:pic>
      <p:pic>
        <p:nvPicPr>
          <p:cNvPr id="6" name="图片 5" descr="7"/>
          <p:cNvPicPr/>
          <p:nvPr>
            <p:custDataLst>
              <p:tags r:id="rId3"/>
            </p:custDataLst>
          </p:nvPr>
        </p:nvPicPr>
        <p:blipFill>
          <a:blip r:embed="rId4"/>
          <a:srcRect r="-62930" b="-63332"/>
          <a:stretch>
            <a:fillRect/>
          </a:stretch>
        </p:blipFill>
        <p:spPr>
          <a:xfrm>
            <a:off x="2540" y="0"/>
            <a:ext cx="2200038" cy="1987576"/>
          </a:xfrm>
          <a:prstGeom prst="rect">
            <a:avLst/>
          </a:prstGeom>
        </p:spPr>
      </p:pic>
      <p:pic>
        <p:nvPicPr>
          <p:cNvPr id="7" name="图片 6" descr="8"/>
          <p:cNvPicPr/>
          <p:nvPr>
            <p:custDataLst>
              <p:tags r:id="rId5"/>
            </p:custDataLst>
          </p:nvPr>
        </p:nvPicPr>
        <p:blipFill>
          <a:blip r:embed="rId6"/>
          <a:srcRect l="-49681" t="-44755" r="5219"/>
          <a:stretch>
            <a:fillRect/>
          </a:stretch>
        </p:blipFill>
        <p:spPr>
          <a:xfrm>
            <a:off x="9979905" y="4862866"/>
            <a:ext cx="2214635" cy="1995121"/>
          </a:xfrm>
          <a:prstGeom prst="rect">
            <a:avLst/>
          </a:prstGeom>
        </p:spPr>
      </p:pic>
      <p:pic>
        <p:nvPicPr>
          <p:cNvPr id="2" name="图片 1"/>
          <p:cNvPicPr>
            <a:picLocks noChangeAspect="1"/>
          </p:cNvPicPr>
          <p:nvPr>
            <p:custDataLst>
              <p:tags r:id="rId7"/>
            </p:custDataLst>
          </p:nvPr>
        </p:nvPicPr>
        <p:blipFill>
          <a:blip r:embed="rId8"/>
          <a:stretch>
            <a:fillRect/>
          </a:stretch>
        </p:blipFill>
        <p:spPr>
          <a:xfrm>
            <a:off x="606425" y="1097915"/>
            <a:ext cx="10979150" cy="4395470"/>
          </a:xfrm>
          <a:prstGeom prst="rect">
            <a:avLst/>
          </a:prstGeom>
        </p:spPr>
      </p:pic>
    </p:spTree>
    <p:custDataLst>
      <p:tags r:id="rId9"/>
    </p:custDataLst>
  </p:cSld>
  <p:clrMapOvr>
    <a:masterClrMapping/>
  </p:clrMapOvr>
</p:sld>
</file>

<file path=ppt/tags/tag1.xml><?xml version="1.0" encoding="utf-8"?>
<p:tagLst xmlns:p="http://schemas.openxmlformats.org/presentationml/2006/main">
  <p:tag name="KSO_WM_UNIT_TABLE_BEAUTIFY" val="smartTable{a4210cb0-1b29-422e-b6b2-dba745a6a940}"/>
  <p:tag name="TABLE_ENDDRAG_ORIGIN_RECT" val="487*279"/>
  <p:tag name="TABLE_ENDDRAG_RECT" val="79*112*487*279"/>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SUBTYPE" val="v"/>
  <p:tag name="KSO_WM_TEMPLATE_CATEGORY" val="chip"/>
  <p:tag name="KSO_WM_TEMPLATE_INDEX" val="20227033"/>
  <p:tag name="KSO_WM_UNIT_TYPE" val="i"/>
  <p:tag name="KSO_WM_UNIT_INDEX" val="1"/>
  <p:tag name="KSO_WM_UNIT_ID" val="chip20227033_2*i*1"/>
  <p:tag name="KSO_WM_BEAUTIFY_FLAG" val="#wm#"/>
  <p:tag name="KSO_WM_TAG_VERSION" val="1.0"/>
  <p:tag name="KSO_WM_CHIP_GROUPID" val="63032f00a35593066dcb4e04"/>
  <p:tag name="KSO_WM_CHIP_XID" val="63032f00a35593066dcb4e10"/>
  <p:tag name="KSO_WM_UNIT_DEC_AREA_ID" val="875affec92bf42a28094ab494f25189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18facf37c07847e79a7406c7af311ada"/>
  <p:tag name="KSO_WM_SLIDE_BACKGROUND_TYPE" val="general"/>
</p:tagLst>
</file>

<file path=ppt/tags/tag7.xml><?xml version="1.0" encoding="utf-8"?>
<p:tagLst xmlns:p="http://schemas.openxmlformats.org/presentationml/2006/main">
  <p:tag name="KSO_WM_UNIT_SUBTYPE" val="t"/>
  <p:tag name="KSO_WM_TEMPLATE_CATEGORY" val="chip"/>
  <p:tag name="KSO_WM_TEMPLATE_INDEX" val="20227033"/>
  <p:tag name="KSO_WM_UNIT_TYPE" val="i"/>
  <p:tag name="KSO_WM_UNIT_INDEX" val="1"/>
  <p:tag name="KSO_WM_UNIT_ID" val="chip20227033_3*i*1"/>
  <p:tag name="KSO_WM_BEAUTIFY_FLAG" val="#wm#"/>
  <p:tag name="KSO_WM_TAG_VERSION" val="1.0"/>
  <p:tag name="KSO_WM_CHIP_GROUPID" val="63032f00a35593066dcb4e04"/>
  <p:tag name="KSO_WM_CHIP_XID" val="63032f00a35593066dcb4e0e"/>
  <p:tag name="KSO_WM_UNIT_DEC_AREA_ID" val="350ca58759bf42db877910ee175bb7e1"/>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cb4e7e11a816430482b1b801b49230f3"/>
  <p:tag name="KSO_WM_SLIDE_BACKGROUND_TYPE" val="general"/>
</p:tagLst>
</file>

<file path=ppt/tags/tag8.xml><?xml version="1.0" encoding="utf-8"?>
<p:tagLst xmlns:p="http://schemas.openxmlformats.org/presentationml/2006/main">
  <p:tag name="KSO_WM_UNIT_SUBTYPE" val="t"/>
  <p:tag name="KSO_WM_TEMPLATE_CATEGORY" val="chip"/>
  <p:tag name="KSO_WM_TEMPLATE_INDEX" val="20227033"/>
  <p:tag name="KSO_WM_UNIT_TYPE" val="i"/>
  <p:tag name="KSO_WM_UNIT_INDEX" val="1"/>
  <p:tag name="KSO_WM_UNIT_ID" val="chip20227033_4*i*1"/>
  <p:tag name="KSO_WM_BEAUTIFY_FLAG" val="#wm#"/>
  <p:tag name="KSO_WM_TAG_VERSION" val="1.0"/>
  <p:tag name="KSO_WM_CHIP_GROUPID" val="63032f00a35593066dcb4e04"/>
  <p:tag name="KSO_WM_CHIP_XID" val="63032f00a35593066dcb4e0f"/>
  <p:tag name="KSO_WM_UNIT_DEC_AREA_ID" val="a01b7b2c0f9a45089376ea788c2de35c"/>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ba163314f19f4dc09cd1024c6c6671ca"/>
  <p:tag name="KSO_WM_SLIDE_BACKGROUND_TYPE" val="gener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11.xml><?xml version="1.0" encoding="utf-8"?>
<p:tagLst xmlns:p="http://schemas.openxmlformats.org/presentationml/2006/main">
  <p:tag name="KSO_WM_UNIT_SUBTYPE" val="v"/>
  <p:tag name="KSO_WM_TEMPLATE_CATEGORY" val="chip"/>
  <p:tag name="KSO_WM_TEMPLATE_INDEX" val="20227033"/>
  <p:tag name="KSO_WM_UNIT_TYPE" val="i"/>
  <p:tag name="KSO_WM_UNIT_INDEX" val="1"/>
  <p:tag name="KSO_WM_UNIT_ID" val="chip20227033_2*i*1"/>
  <p:tag name="KSO_WM_BEAUTIFY_FLAG" val="#wm#"/>
  <p:tag name="KSO_WM_TAG_VERSION" val="1.0"/>
  <p:tag name="KSO_WM_CHIP_GROUPID" val="63032f00a35593066dcb4e04"/>
  <p:tag name="KSO_WM_CHIP_XID" val="63032f00a35593066dcb4e10"/>
  <p:tag name="KSO_WM_UNIT_DEC_AREA_ID" val="875affec92bf42a28094ab494f25189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18facf37c07847e79a7406c7af311ada"/>
  <p:tag name="KSO_WM_SLIDE_BACKGROUND_TYPE" val="general"/>
</p:tagLst>
</file>

<file path=ppt/tags/tag12.xml><?xml version="1.0" encoding="utf-8"?>
<p:tagLst xmlns:p="http://schemas.openxmlformats.org/presentationml/2006/main">
  <p:tag name="KSO_WM_UNIT_SUBTYPE" val="t"/>
  <p:tag name="KSO_WM_TEMPLATE_CATEGORY" val="chip"/>
  <p:tag name="KSO_WM_TEMPLATE_INDEX" val="20227033"/>
  <p:tag name="KSO_WM_UNIT_TYPE" val="i"/>
  <p:tag name="KSO_WM_UNIT_INDEX" val="1"/>
  <p:tag name="KSO_WM_UNIT_ID" val="chip20227033_3*i*1"/>
  <p:tag name="KSO_WM_BEAUTIFY_FLAG" val="#wm#"/>
  <p:tag name="KSO_WM_TAG_VERSION" val="1.0"/>
  <p:tag name="KSO_WM_CHIP_GROUPID" val="63032f00a35593066dcb4e04"/>
  <p:tag name="KSO_WM_CHIP_XID" val="63032f00a35593066dcb4e0e"/>
  <p:tag name="KSO_WM_UNIT_DEC_AREA_ID" val="350ca58759bf42db877910ee175bb7e1"/>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cb4e7e11a816430482b1b801b49230f3"/>
  <p:tag name="KSO_WM_SLIDE_BACKGROUND_TYPE" val="general"/>
</p:tagLst>
</file>

<file path=ppt/tags/tag13.xml><?xml version="1.0" encoding="utf-8"?>
<p:tagLst xmlns:p="http://schemas.openxmlformats.org/presentationml/2006/main">
  <p:tag name="KSO_WM_UNIT_SUBTYPE" val="t"/>
  <p:tag name="KSO_WM_TEMPLATE_CATEGORY" val="chip"/>
  <p:tag name="KSO_WM_TEMPLATE_INDEX" val="20227033"/>
  <p:tag name="KSO_WM_UNIT_TYPE" val="i"/>
  <p:tag name="KSO_WM_UNIT_INDEX" val="1"/>
  <p:tag name="KSO_WM_UNIT_ID" val="chip20227033_4*i*1"/>
  <p:tag name="KSO_WM_BEAUTIFY_FLAG" val="#wm#"/>
  <p:tag name="KSO_WM_TAG_VERSION" val="1.0"/>
  <p:tag name="KSO_WM_CHIP_GROUPID" val="63032f00a35593066dcb4e04"/>
  <p:tag name="KSO_WM_CHIP_XID" val="63032f00a35593066dcb4e0f"/>
  <p:tag name="KSO_WM_UNIT_DEC_AREA_ID" val="a01b7b2c0f9a45089376ea788c2de35c"/>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ba163314f19f4dc09cd1024c6c6671ca"/>
  <p:tag name="KSO_WM_SLIDE_BACKGROUND_TYPE" val="gener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16.xml><?xml version="1.0" encoding="utf-8"?>
<p:tagLst xmlns:p="http://schemas.openxmlformats.org/presentationml/2006/main">
  <p:tag name="KSO_WPP_MARK_KEY" val="a7ec0b94-46de-4be3-b453-191d8931f09b"/>
  <p:tag name="COMMONDATA" val="eyJoZGlkIjoiN2M3ZjA1YmVjZmY1YzBmYjc3NTczZWMyYWYzNGE4MTcifQ=="/>
</p:tagLst>
</file>

<file path=ppt/theme/theme1.xml><?xml version="1.0" encoding="utf-8"?>
<a:theme xmlns:a="http://schemas.openxmlformats.org/drawingml/2006/main" name="11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3952</Words>
  <Application>WPS 演示</Application>
  <PresentationFormat>宽屏</PresentationFormat>
  <Paragraphs>737</Paragraphs>
  <Slides>55</Slides>
  <Notes>18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92</vt:i4>
      </vt:variant>
      <vt:variant>
        <vt:lpstr>幻灯片标题</vt:lpstr>
      </vt:variant>
      <vt:variant>
        <vt:i4>55</vt:i4>
      </vt:variant>
    </vt:vector>
  </HeadingPairs>
  <TitlesOfParts>
    <vt:vector size="162" baseType="lpstr">
      <vt:lpstr>Arial</vt:lpstr>
      <vt:lpstr>宋体</vt:lpstr>
      <vt:lpstr>Wingdings</vt:lpstr>
      <vt:lpstr>Times New Roman</vt:lpstr>
      <vt:lpstr>微软雅黑</vt:lpstr>
      <vt:lpstr>Calibri</vt:lpstr>
      <vt:lpstr>Kartika</vt:lpstr>
      <vt:lpstr>DejaVu Math TeX Gyre</vt:lpstr>
      <vt:lpstr>等线</vt:lpstr>
      <vt:lpstr>Arial Unicode MS</vt:lpstr>
      <vt:lpstr>等线 Light</vt:lpstr>
      <vt:lpstr>Calibri Light</vt:lpstr>
      <vt:lpstr>Cambria Math</vt:lpstr>
      <vt:lpstr>Wingdings</vt:lpstr>
      <vt:lpstr>111</vt:lpstr>
      <vt:lpstr>Equation.3</vt:lpstr>
      <vt:lpstr>Equation.DSMT4</vt:lpstr>
      <vt:lpstr>Equation.DSMT4</vt:lpstr>
      <vt:lpstr>Equation.DSMT4</vt:lpstr>
      <vt:lpstr>Equation.3</vt:lpstr>
      <vt:lpstr>Equation.DSMT4</vt:lpstr>
      <vt:lpstr>Equation.DSMT4</vt:lpstr>
      <vt:lpstr>Equation.DSMT4</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Equation.3</vt:lpstr>
      <vt:lpstr>Equation.3</vt:lpstr>
      <vt:lpstr>Equation.DSMT4</vt:lpstr>
      <vt:lpstr>Equation.DSMT4</vt:lpstr>
      <vt:lpstr>Equation.DSMT4</vt:lpstr>
      <vt:lpstr>Equation.DSMT4</vt:lpstr>
      <vt:lpstr>Equation.3</vt:lpstr>
      <vt:lpstr>Equation.3</vt:lpstr>
      <vt:lpstr>Equation.3</vt:lpstr>
      <vt:lpstr>Equation.DSMT4</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哈理工概率论与数理统计课题组</dc:creator>
  <cp:lastModifiedBy>eye</cp:lastModifiedBy>
  <cp:revision>553</cp:revision>
  <cp:lastPrinted>2020-03-18T15:54:00Z</cp:lastPrinted>
  <dcterms:created xsi:type="dcterms:W3CDTF">2020-03-18T15:54:00Z</dcterms:created>
  <dcterms:modified xsi:type="dcterms:W3CDTF">2026-05-07T09:36:24Z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70EBA83998F54A60B1C1EB4EF02857DC_13</vt:lpwstr>
  </property>
</Properties>
</file>